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Poppins"/>
      <p:regular r:id="rId17"/>
      <p:bold r:id="rId18"/>
      <p:italic r:id="rId19"/>
      <p:boldItalic r:id="rId20"/>
    </p:embeddedFont>
    <p:embeddedFont>
      <p:font typeface="Instrument Sans Medium"/>
      <p:regular r:id="rId21"/>
      <p:bold r:id="rId22"/>
      <p:italic r:id="rId23"/>
      <p:boldItalic r:id="rId24"/>
    </p:embeddedFont>
    <p:embeddedFont>
      <p:font typeface="Poppins Medium"/>
      <p:regular r:id="rId25"/>
      <p:bold r:id="rId26"/>
      <p:italic r:id="rId27"/>
      <p:boldItalic r:id="rId28"/>
    </p:embeddedFont>
    <p:embeddedFont>
      <p:font typeface="Instrument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5" name="Carlos Andrade"/>
  <p:cmAuthor clrIdx="1" id="1" initials="" lastIdx="1" name="John Flin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InstrumentSansMedium-bold.fntdata"/><Relationship Id="rId21" Type="http://schemas.openxmlformats.org/officeDocument/2006/relationships/font" Target="fonts/InstrumentSansMedium-regular.fntdata"/><Relationship Id="rId24" Type="http://schemas.openxmlformats.org/officeDocument/2006/relationships/font" Target="fonts/InstrumentSansMedium-boldItalic.fntdata"/><Relationship Id="rId23" Type="http://schemas.openxmlformats.org/officeDocument/2006/relationships/font" Target="fonts/InstrumentSans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PoppinsMedium-bold.fntdata"/><Relationship Id="rId25" Type="http://schemas.openxmlformats.org/officeDocument/2006/relationships/font" Target="fonts/PoppinsMedium-regular.fntdata"/><Relationship Id="rId28" Type="http://schemas.openxmlformats.org/officeDocument/2006/relationships/font" Target="fonts/PoppinsMedium-boldItalic.fntdata"/><Relationship Id="rId27" Type="http://schemas.openxmlformats.org/officeDocument/2006/relationships/font" Target="fonts/Poppins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strument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strumentSans-italic.fntdata"/><Relationship Id="rId30" Type="http://schemas.openxmlformats.org/officeDocument/2006/relationships/font" Target="fonts/InstrumentSans-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Instrument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oppins-regular.fntdata"/><Relationship Id="rId16" Type="http://schemas.openxmlformats.org/officeDocument/2006/relationships/slide" Target="slides/slide10.xml"/><Relationship Id="rId19" Type="http://schemas.openxmlformats.org/officeDocument/2006/relationships/font" Target="fonts/Poppins-italic.fntdata"/><Relationship Id="rId18" Type="http://schemas.openxmlformats.org/officeDocument/2006/relationships/font" Target="fonts/Poppins-bold.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1T00:02:55.393">
    <p:pos x="598" y="2193"/>
    <p:text>Something weird going on with the vertical spacing, the parenthesis is too close to the text above</p:text>
  </p:cm>
  <p:cm authorId="0" idx="2" dt="2026-05-01T00:03:44.517">
    <p:pos x="196" y="598"/>
    <p:text>Finally got access to this. https://youtu.be/HkpS2Sdu2io?si=s3hpI14elf5YT_KE</p:text>
  </p:cm>
  <p:cm authorId="0" idx="3" dt="2026-05-01T00:30:23.235">
    <p:pos x="153" y="254"/>
    <p:text>Thank you for adding this!
1 total reaction
Gi Young Back reacted with 🙂 at 2026-05-01 00:30 AM</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5-01T00:05:51.641">
    <p:pos x="196" y="1855"/>
    <p:text>I wish! This makes it look like I am managing a large OSS project. The motivation statement you want here is that Kaiaulu has many *short-term* contributors (i.e. ICS students). Your team, rather than piling more features, is massaging the work by refactoring the architecture.</p:text>
  </p:cm>
  <p:cm authorId="0" idx="5" dt="2026-05-01T00:05:51.641">
    <p:pos x="196" y="1855"/>
    <p:text>Note this is also the case for any intern in a company. Don't sell your work short!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5-01T00:14:48.788">
    <p:pos x="196" y="197"/>
    <p:text>Didn't you lose marks for not having something that showcased how your work changed the status quo of Kaiaulu? How is this being addressed here?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5-01T00:16:40.299">
    <p:pos x="3734" y="1019"/>
    <p:text>This undervalues the work you did: The cheatsheet helps users understand the new re-design across *ALL* Kaiaulu current and *FUTURE* capabilities, not just "your work".</p:text>
  </p:cm>
  <p:cm authorId="0" idx="8" dt="2026-05-01T00:18:21.757">
    <p:pos x="360" y="652"/>
    <p:text>I think a more interesting display of your cheatsheets would be 4 small rectangles for each cheatsheet, with some arrow mapping to the "Refactoring" leften side: So the point you get across is that not only you changed the status quo, but also left documentation on how users can appreciate what you did. 
Although 1 cheatsheet gives you more visual detail, since you won't have time to read it anyway, emphasizing the "1 to 1" may net you more points by showing your contribution was more than 1 pager.</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5-01T00:19:26.413">
    <p:pos x="2880" y="836"/>
    <p:text>Could be beneficial to use Colby's PR diagram to the righten side of this image to show how you were all part of each ther's code review (and / or replace this altogether). 
Up to you!</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5-01T00:19:44.613">
    <p:pos x="191" y="751"/>
    <p:text>Agree!</p:text>
  </p:cm>
  <p:cm authorId="0" idx="11" dt="2026-05-01T00:20:44.895">
    <p:pos x="2916" y="778"/>
    <p:text>In the end we never used this properly, food for thought for a better solution in the future I guess. 
Don't forget we also had milestones but that also did not work as intended. Something for me to also work on for next session, I appreciate the team willingness to try it out!</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5-01T10:19:42.114">
    <p:pos x="343" y="998"/>
    <p:text>lol</p:text>
  </p:cm>
  <p:cm authorId="1" idx="1" dt="2026-05-01T10:19:42.114">
    <p:pos x="343" y="998"/>
    <p:text>😂</p:text>
  </p:cm>
  <p:cm authorId="0" idx="13" dt="2026-05-01T00:22:03.858">
    <p:pos x="3126" y="998"/>
    <p:text>This also somewhat fell apart and I can't gauge exactly if it worked or not!</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5-01T00:23:53.902">
    <p:pos x="2" y="1574"/>
    <p:text>Just say you are expanding the schema to additional modules in Kaiaulu. Mentioning "GitHub sub-issues" is too cryptic!</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5" dt="2026-05-01T00:02:12.719">
    <p:pos x="4053" y="1944"/>
    <p:text>Shidler School of Business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66c827ca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66c827ca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APIS are not standardized, these inconsistencies make it difficult to maintain Kaiaulu and add new features while working together cleanly.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66c827ca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66c827ca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66c827ca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66c827ca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66c827c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66c827c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66c827ca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66c827caa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66c827caa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e66c827caa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66c827ca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e66c827ca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6c191a2cd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6c191a2cd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6c191a2cd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e6c191a2cd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3.xml"/><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4.xml"/><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omments" Target="../comments/comment5.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8.pn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6.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7.xml"/><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comments" Target="../comments/comment8.xml"/><Relationship Id="rId4" Type="http://schemas.openxmlformats.org/officeDocument/2006/relationships/image" Target="../media/image2.png"/><Relationship Id="rId9"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6.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9.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891450" y="3158425"/>
            <a:ext cx="7361100" cy="12516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950675" y="3482775"/>
            <a:ext cx="71337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 sz="2000">
                <a:latin typeface="Poppins Medium"/>
                <a:ea typeface="Poppins Medium"/>
                <a:cs typeface="Poppins Medium"/>
                <a:sym typeface="Poppins Medium"/>
              </a:rPr>
              <a:t>By: Cohen Ruport, Colby Fuke, </a:t>
            </a:r>
            <a:r>
              <a:rPr lang="en" sz="2000">
                <a:latin typeface="Poppins Medium"/>
                <a:ea typeface="Poppins Medium"/>
                <a:cs typeface="Poppins Medium"/>
                <a:sym typeface="Poppins Medium"/>
              </a:rPr>
              <a:t>Gi Young </a:t>
            </a:r>
            <a:r>
              <a:rPr lang="en" sz="2000">
                <a:latin typeface="Poppins Medium"/>
                <a:ea typeface="Poppins Medium"/>
                <a:cs typeface="Poppins Medium"/>
                <a:sym typeface="Poppins Medium"/>
              </a:rPr>
              <a:t>(</a:t>
            </a:r>
            <a:r>
              <a:rPr lang="en" sz="2000">
                <a:latin typeface="Poppins Medium"/>
                <a:ea typeface="Poppins Medium"/>
                <a:cs typeface="Poppins Medium"/>
                <a:sym typeface="Poppins Medium"/>
              </a:rPr>
              <a:t>Michelle) Back </a:t>
            </a:r>
            <a:r>
              <a:rPr lang="en" sz="2000">
                <a:latin typeface="Poppins Medium"/>
                <a:ea typeface="Poppins Medium"/>
                <a:cs typeface="Poppins Medium"/>
                <a:sym typeface="Poppins Medium"/>
              </a:rPr>
              <a:t>and John Flinn</a:t>
            </a:r>
            <a:endParaRPr sz="2000">
              <a:latin typeface="Poppins Medium"/>
              <a:ea typeface="Poppins Medium"/>
              <a:cs typeface="Poppins Medium"/>
              <a:sym typeface="Poppins Medium"/>
            </a:endParaRPr>
          </a:p>
        </p:txBody>
      </p:sp>
      <p:pic>
        <p:nvPicPr>
          <p:cNvPr id="56" name="Google Shape;56;p13"/>
          <p:cNvPicPr preferRelativeResize="0"/>
          <p:nvPr/>
        </p:nvPicPr>
        <p:blipFill>
          <a:blip r:embed="rId4">
            <a:alphaModFix/>
          </a:blip>
          <a:stretch>
            <a:fillRect/>
          </a:stretch>
        </p:blipFill>
        <p:spPr>
          <a:xfrm>
            <a:off x="5625968" y="-423232"/>
            <a:ext cx="3518028" cy="1879600"/>
          </a:xfrm>
          <a:prstGeom prst="rect">
            <a:avLst/>
          </a:prstGeom>
          <a:noFill/>
          <a:ln>
            <a:noFill/>
          </a:ln>
        </p:spPr>
      </p:pic>
      <p:pic>
        <p:nvPicPr>
          <p:cNvPr id="57" name="Google Shape;57;p13"/>
          <p:cNvPicPr preferRelativeResize="0"/>
          <p:nvPr/>
        </p:nvPicPr>
        <p:blipFill>
          <a:blip r:embed="rId5">
            <a:alphaModFix/>
          </a:blip>
          <a:stretch>
            <a:fillRect/>
          </a:stretch>
        </p:blipFill>
        <p:spPr>
          <a:xfrm>
            <a:off x="7973175" y="139197"/>
            <a:ext cx="971550" cy="1132101"/>
          </a:xfrm>
          <a:prstGeom prst="rect">
            <a:avLst/>
          </a:prstGeom>
          <a:noFill/>
          <a:ln>
            <a:noFill/>
          </a:ln>
        </p:spPr>
      </p:pic>
      <p:sp>
        <p:nvSpPr>
          <p:cNvPr id="58" name="Google Shape;58;p13"/>
          <p:cNvSpPr txBox="1"/>
          <p:nvPr>
            <p:ph type="ctrTitle"/>
          </p:nvPr>
        </p:nvSpPr>
        <p:spPr>
          <a:xfrm>
            <a:off x="311708" y="9506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3D85C6"/>
                </a:solidFill>
                <a:latin typeface="Poppins"/>
                <a:ea typeface="Poppins"/>
                <a:cs typeface="Poppins"/>
                <a:sym typeface="Poppins"/>
              </a:rPr>
              <a:t>Refactoring</a:t>
            </a:r>
            <a:r>
              <a:rPr b="1" lang="en">
                <a:solidFill>
                  <a:srgbClr val="3D85C6"/>
                </a:solidFill>
                <a:latin typeface="Poppins"/>
                <a:ea typeface="Poppins"/>
                <a:cs typeface="Poppins"/>
                <a:sym typeface="Poppins"/>
              </a:rPr>
              <a:t> Kaiaulu Architecture</a:t>
            </a:r>
            <a:endParaRPr b="1">
              <a:solidFill>
                <a:srgbClr val="3D85C6"/>
              </a:solidFill>
              <a:latin typeface="Poppins"/>
              <a:ea typeface="Poppins"/>
              <a:cs typeface="Poppins"/>
              <a:sym typeface="Poppins"/>
            </a:endParaRPr>
          </a:p>
        </p:txBody>
      </p:sp>
      <p:sp>
        <p:nvSpPr>
          <p:cNvPr id="59" name="Google Shape;59;p13"/>
          <p:cNvSpPr txBox="1"/>
          <p:nvPr>
            <p:ph idx="4294967295" type="body"/>
          </p:nvPr>
        </p:nvSpPr>
        <p:spPr>
          <a:xfrm>
            <a:off x="243025" y="403525"/>
            <a:ext cx="2954400" cy="439800"/>
          </a:xfrm>
          <a:prstGeom prst="rect">
            <a:avLst/>
          </a:prstGeom>
          <a:ln cap="flat" cmpd="sng" w="19050">
            <a:solidFill>
              <a:srgbClr val="3D85C6"/>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50">
                <a:solidFill>
                  <a:srgbClr val="666666"/>
                </a:solidFill>
                <a:latin typeface="Instrument Sans"/>
                <a:ea typeface="Instrument Sans"/>
                <a:cs typeface="Instrument Sans"/>
                <a:sym typeface="Instrument Sans"/>
              </a:rPr>
              <a:t>github.com/sailuh/kaiaulu</a:t>
            </a:r>
            <a:endParaRPr sz="1750">
              <a:solidFill>
                <a:srgbClr val="666666"/>
              </a:solidFill>
              <a:latin typeface="Instrument Sans"/>
              <a:ea typeface="Instrument Sans"/>
              <a:cs typeface="Instrument Sans"/>
              <a:sym typeface="Instrument Sans"/>
            </a:endParaRPr>
          </a:p>
        </p:txBody>
      </p:sp>
      <p:pic>
        <p:nvPicPr>
          <p:cNvPr id="60" name="Google Shape;60;p13"/>
          <p:cNvPicPr preferRelativeResize="0"/>
          <p:nvPr/>
        </p:nvPicPr>
        <p:blipFill>
          <a:blip r:embed="rId6">
            <a:alphaModFix/>
          </a:blip>
          <a:stretch>
            <a:fillRect/>
          </a:stretch>
        </p:blipFill>
        <p:spPr>
          <a:xfrm rot="-5399994">
            <a:off x="3250064" y="230875"/>
            <a:ext cx="557676" cy="571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p:cNvPicPr preferRelativeResize="0"/>
          <p:nvPr/>
        </p:nvPicPr>
        <p:blipFill>
          <a:blip r:embed="rId4">
            <a:alphaModFix/>
          </a:blip>
          <a:stretch>
            <a:fillRect/>
          </a:stretch>
        </p:blipFill>
        <p:spPr>
          <a:xfrm>
            <a:off x="5625968" y="-423232"/>
            <a:ext cx="3518028" cy="1879600"/>
          </a:xfrm>
          <a:prstGeom prst="rect">
            <a:avLst/>
          </a:prstGeom>
          <a:noFill/>
          <a:ln>
            <a:noFill/>
          </a:ln>
        </p:spPr>
      </p:pic>
      <p:sp>
        <p:nvSpPr>
          <p:cNvPr id="66" name="Google Shape;66;p14"/>
          <p:cNvSpPr/>
          <p:nvPr/>
        </p:nvSpPr>
        <p:spPr>
          <a:xfrm>
            <a:off x="-4650" y="1389000"/>
            <a:ext cx="9144000" cy="3754500"/>
          </a:xfrm>
          <a:prstGeom prst="rect">
            <a:avLst/>
          </a:prstGeom>
          <a:solidFill>
            <a:srgbClr val="CFE2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txBox="1"/>
          <p:nvPr>
            <p:ph idx="1" type="body"/>
          </p:nvPr>
        </p:nvSpPr>
        <p:spPr>
          <a:xfrm>
            <a:off x="311700" y="1538275"/>
            <a:ext cx="8581800" cy="1462800"/>
          </a:xfrm>
          <a:prstGeom prst="rect">
            <a:avLst/>
          </a:prstGeom>
        </p:spPr>
        <p:txBody>
          <a:bodyPr anchorCtr="0" anchor="t" bIns="91425" lIns="91425" spcFirstLastPara="1" rIns="91425" wrap="square" tIns="91425">
            <a:normAutofit/>
          </a:bodyPr>
          <a:lstStyle/>
          <a:p>
            <a:pPr indent="0" lvl="0" marL="0" rtl="0" algn="l">
              <a:spcBef>
                <a:spcPts val="700"/>
              </a:spcBef>
              <a:spcAft>
                <a:spcPts val="1400"/>
              </a:spcAft>
              <a:buClr>
                <a:schemeClr val="dk1"/>
              </a:buClr>
              <a:buSzPts val="1100"/>
              <a:buFont typeface="Arial"/>
              <a:buNone/>
            </a:pPr>
            <a:r>
              <a:rPr lang="en" sz="2100">
                <a:solidFill>
                  <a:srgbClr val="666666"/>
                </a:solidFill>
                <a:latin typeface="Instrument Sans"/>
                <a:ea typeface="Instrument Sans"/>
                <a:cs typeface="Instrument Sans"/>
                <a:sym typeface="Instrument Sans"/>
              </a:rPr>
              <a:t>Kaiaulu is an R package and common interface that helps developers in mining software repositories to better understand the evolving software development communities and the artifacts they produce.</a:t>
            </a:r>
            <a:endParaRPr sz="1700">
              <a:solidFill>
                <a:srgbClr val="666666"/>
              </a:solidFill>
            </a:endParaRPr>
          </a:p>
        </p:txBody>
      </p:sp>
      <p:sp>
        <p:nvSpPr>
          <p:cNvPr id="68" name="Google Shape;68;p14"/>
          <p:cNvSpPr txBox="1"/>
          <p:nvPr>
            <p:ph type="title"/>
          </p:nvPr>
        </p:nvSpPr>
        <p:spPr>
          <a:xfrm>
            <a:off x="311700" y="3141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3D85C6"/>
                </a:solidFill>
                <a:latin typeface="Poppins"/>
                <a:ea typeface="Poppins"/>
                <a:cs typeface="Poppins"/>
                <a:sym typeface="Poppins"/>
              </a:rPr>
              <a:t>What is Kaiaulu?</a:t>
            </a:r>
            <a:endParaRPr b="1" sz="4000">
              <a:solidFill>
                <a:srgbClr val="3D85C6"/>
              </a:solidFill>
              <a:latin typeface="Poppins"/>
              <a:ea typeface="Poppins"/>
              <a:cs typeface="Poppins"/>
              <a:sym typeface="Poppins"/>
            </a:endParaRPr>
          </a:p>
        </p:txBody>
      </p:sp>
      <p:pic>
        <p:nvPicPr>
          <p:cNvPr id="69" name="Google Shape;69;p14"/>
          <p:cNvPicPr preferRelativeResize="0"/>
          <p:nvPr/>
        </p:nvPicPr>
        <p:blipFill>
          <a:blip r:embed="rId5">
            <a:alphaModFix/>
          </a:blip>
          <a:stretch>
            <a:fillRect/>
          </a:stretch>
        </p:blipFill>
        <p:spPr>
          <a:xfrm>
            <a:off x="7973175" y="139197"/>
            <a:ext cx="971550" cy="1132101"/>
          </a:xfrm>
          <a:prstGeom prst="rect">
            <a:avLst/>
          </a:prstGeom>
          <a:noFill/>
          <a:ln>
            <a:noFill/>
          </a:ln>
        </p:spPr>
      </p:pic>
      <p:cxnSp>
        <p:nvCxnSpPr>
          <p:cNvPr id="70" name="Google Shape;70;p14"/>
          <p:cNvCxnSpPr/>
          <p:nvPr/>
        </p:nvCxnSpPr>
        <p:spPr>
          <a:xfrm>
            <a:off x="0" y="1371600"/>
            <a:ext cx="9134700" cy="0"/>
          </a:xfrm>
          <a:prstGeom prst="straightConnector1">
            <a:avLst/>
          </a:prstGeom>
          <a:noFill/>
          <a:ln cap="flat" cmpd="sng" w="19050">
            <a:solidFill>
              <a:srgbClr val="3D85C6"/>
            </a:solidFill>
            <a:prstDash val="solid"/>
            <a:round/>
            <a:headEnd len="med" w="med" type="none"/>
            <a:tailEnd len="med" w="med" type="none"/>
          </a:ln>
        </p:spPr>
      </p:cxnSp>
      <p:sp>
        <p:nvSpPr>
          <p:cNvPr id="71" name="Google Shape;71;p14"/>
          <p:cNvSpPr txBox="1"/>
          <p:nvPr>
            <p:ph idx="1" type="body"/>
          </p:nvPr>
        </p:nvSpPr>
        <p:spPr>
          <a:xfrm>
            <a:off x="311700" y="2945675"/>
            <a:ext cx="8581800" cy="1749900"/>
          </a:xfrm>
          <a:prstGeom prst="rect">
            <a:avLst/>
          </a:prstGeom>
          <a:solidFill>
            <a:schemeClr val="lt1"/>
          </a:solidFill>
          <a:ln cap="flat" cmpd="sng" w="19050">
            <a:solidFill>
              <a:srgbClr val="3D85C6"/>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400">
                <a:solidFill>
                  <a:srgbClr val="666666"/>
                </a:solidFill>
                <a:latin typeface="Instrument Sans"/>
                <a:ea typeface="Instrument Sans"/>
                <a:cs typeface="Instrument Sans"/>
                <a:sym typeface="Instrument Sans"/>
              </a:rPr>
              <a:t>Problem Statement:</a:t>
            </a:r>
            <a:endParaRPr b="1" sz="2400">
              <a:solidFill>
                <a:srgbClr val="666666"/>
              </a:solidFill>
              <a:latin typeface="Instrument Sans"/>
              <a:ea typeface="Instrument Sans"/>
              <a:cs typeface="Instrument Sans"/>
              <a:sym typeface="Instrument Sans"/>
            </a:endParaRPr>
          </a:p>
          <a:p>
            <a:pPr indent="0" lvl="0" marL="0" rtl="0" algn="l">
              <a:lnSpc>
                <a:spcPct val="100000"/>
              </a:lnSpc>
              <a:spcBef>
                <a:spcPts val="1200"/>
              </a:spcBef>
              <a:spcAft>
                <a:spcPts val="0"/>
              </a:spcAft>
              <a:buClr>
                <a:schemeClr val="dk1"/>
              </a:buClr>
              <a:buSzPts val="1100"/>
              <a:buFont typeface="Arial"/>
              <a:buNone/>
            </a:pPr>
            <a:r>
              <a:rPr lang="en" sz="2000">
                <a:solidFill>
                  <a:srgbClr val="666666"/>
                </a:solidFill>
                <a:highlight>
                  <a:srgbClr val="FDFDFC"/>
                </a:highlight>
                <a:latin typeface="Instrument Sans"/>
                <a:ea typeface="Instrument Sans"/>
                <a:cs typeface="Instrument Sans"/>
                <a:sym typeface="Instrument Sans"/>
              </a:rPr>
              <a:t>With many short term contributors (e.g. ICS students at UHM), Kaiaulu </a:t>
            </a:r>
            <a:r>
              <a:rPr lang="en" sz="2000">
                <a:solidFill>
                  <a:srgbClr val="666666"/>
                </a:solidFill>
                <a:highlight>
                  <a:srgbClr val="FDFDFC"/>
                </a:highlight>
                <a:latin typeface="Instrument Sans"/>
                <a:ea typeface="Instrument Sans"/>
                <a:cs typeface="Instrument Sans"/>
                <a:sym typeface="Instrument Sans"/>
              </a:rPr>
              <a:t>has grown with many </a:t>
            </a:r>
            <a:r>
              <a:rPr lang="en" sz="2000">
                <a:solidFill>
                  <a:srgbClr val="666666"/>
                </a:solidFill>
                <a:highlight>
                  <a:srgbClr val="FDFDFC"/>
                </a:highlight>
                <a:latin typeface="Instrument Sans"/>
                <a:ea typeface="Instrument Sans"/>
                <a:cs typeface="Instrument Sans"/>
                <a:sym typeface="Instrument Sans"/>
              </a:rPr>
              <a:t>added </a:t>
            </a:r>
            <a:r>
              <a:rPr lang="en" sz="2000">
                <a:solidFill>
                  <a:srgbClr val="666666"/>
                </a:solidFill>
                <a:highlight>
                  <a:srgbClr val="FDFDFC"/>
                </a:highlight>
                <a:latin typeface="Instrument Sans"/>
                <a:ea typeface="Instrument Sans"/>
                <a:cs typeface="Instrument Sans"/>
                <a:sym typeface="Instrument Sans"/>
              </a:rPr>
              <a:t>features. This, in turn led to Kaiaulu accruing technical debt and inconsistent internal interfaces, motivating the need for architectural refactoring.</a:t>
            </a:r>
            <a:endParaRPr sz="1900">
              <a:solidFill>
                <a:srgbClr val="666666"/>
              </a:solidFill>
              <a:latin typeface="Instrument Sans"/>
              <a:ea typeface="Instrument Sans"/>
              <a:cs typeface="Instrument Sans"/>
              <a:sym typeface="Instrumen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5"/>
          <p:cNvPicPr preferRelativeResize="0"/>
          <p:nvPr/>
        </p:nvPicPr>
        <p:blipFill>
          <a:blip r:embed="rId4">
            <a:alphaModFix/>
          </a:blip>
          <a:stretch>
            <a:fillRect/>
          </a:stretch>
        </p:blipFill>
        <p:spPr>
          <a:xfrm>
            <a:off x="5625968" y="-423232"/>
            <a:ext cx="3518028" cy="1879600"/>
          </a:xfrm>
          <a:prstGeom prst="rect">
            <a:avLst/>
          </a:prstGeom>
          <a:noFill/>
          <a:ln>
            <a:noFill/>
          </a:ln>
        </p:spPr>
      </p:pic>
      <p:pic>
        <p:nvPicPr>
          <p:cNvPr id="77" name="Google Shape;77;p15"/>
          <p:cNvPicPr preferRelativeResize="0"/>
          <p:nvPr/>
        </p:nvPicPr>
        <p:blipFill>
          <a:blip r:embed="rId5">
            <a:alphaModFix/>
          </a:blip>
          <a:stretch>
            <a:fillRect/>
          </a:stretch>
        </p:blipFill>
        <p:spPr>
          <a:xfrm>
            <a:off x="7973175" y="139197"/>
            <a:ext cx="971550" cy="1132101"/>
          </a:xfrm>
          <a:prstGeom prst="rect">
            <a:avLst/>
          </a:prstGeom>
          <a:noFill/>
          <a:ln>
            <a:noFill/>
          </a:ln>
        </p:spPr>
      </p:pic>
      <p:sp>
        <p:nvSpPr>
          <p:cNvPr id="78" name="Google Shape;78;p15"/>
          <p:cNvSpPr txBox="1"/>
          <p:nvPr>
            <p:ph idx="4294967295" type="title"/>
          </p:nvPr>
        </p:nvSpPr>
        <p:spPr>
          <a:xfrm>
            <a:off x="311700" y="314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3D85C6"/>
                </a:solidFill>
                <a:latin typeface="Poppins"/>
                <a:ea typeface="Poppins"/>
                <a:cs typeface="Poppins"/>
                <a:sym typeface="Poppins"/>
              </a:rPr>
              <a:t>Technical Solution Overview</a:t>
            </a:r>
            <a:endParaRPr b="1" sz="4000">
              <a:solidFill>
                <a:srgbClr val="3D85C6"/>
              </a:solidFill>
              <a:latin typeface="Poppins"/>
              <a:ea typeface="Poppins"/>
              <a:cs typeface="Poppins"/>
              <a:sym typeface="Poppins"/>
            </a:endParaRPr>
          </a:p>
        </p:txBody>
      </p:sp>
      <p:sp>
        <p:nvSpPr>
          <p:cNvPr id="79" name="Google Shape;79;p15"/>
          <p:cNvSpPr txBox="1"/>
          <p:nvPr/>
        </p:nvSpPr>
        <p:spPr>
          <a:xfrm>
            <a:off x="7179303" y="4078818"/>
            <a:ext cx="575100" cy="365700"/>
          </a:xfrm>
          <a:prstGeom prst="rect">
            <a:avLst/>
          </a:prstGeom>
          <a:noFill/>
          <a:ln>
            <a:noFill/>
          </a:ln>
        </p:spPr>
        <p:txBody>
          <a:bodyPr anchorCtr="0" anchor="t" bIns="84775" lIns="84775" spcFirstLastPara="1" rIns="84775" wrap="square" tIns="84775">
            <a:noAutofit/>
          </a:bodyPr>
          <a:lstStyle/>
          <a:p>
            <a:pPr indent="0" lvl="0" marL="0" rtl="0" algn="r">
              <a:spcBef>
                <a:spcPts val="0"/>
              </a:spcBef>
              <a:spcAft>
                <a:spcPts val="0"/>
              </a:spcAft>
              <a:buNone/>
            </a:pPr>
            <a:fld id="{00000000-1234-1234-1234-123412341234}" type="slidenum">
              <a:rPr lang="en" sz="556">
                <a:solidFill>
                  <a:srgbClr val="541301"/>
                </a:solidFill>
                <a:latin typeface="Poppins"/>
                <a:ea typeface="Poppins"/>
                <a:cs typeface="Poppins"/>
                <a:sym typeface="Poppins"/>
              </a:rPr>
              <a:t>‹#›</a:t>
            </a:fld>
            <a:endParaRPr sz="556">
              <a:solidFill>
                <a:srgbClr val="541301"/>
              </a:solidFill>
              <a:latin typeface="Poppins"/>
              <a:ea typeface="Poppins"/>
              <a:cs typeface="Poppins"/>
              <a:sym typeface="Poppins"/>
            </a:endParaRPr>
          </a:p>
        </p:txBody>
      </p:sp>
      <p:sp>
        <p:nvSpPr>
          <p:cNvPr id="80" name="Google Shape;80;p15"/>
          <p:cNvSpPr/>
          <p:nvPr/>
        </p:nvSpPr>
        <p:spPr>
          <a:xfrm>
            <a:off x="750413" y="2624050"/>
            <a:ext cx="4354200" cy="1940100"/>
          </a:xfrm>
          <a:prstGeom prst="rect">
            <a:avLst/>
          </a:prstGeom>
          <a:solidFill>
            <a:srgbClr val="A9B0FE"/>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t/>
            </a:r>
            <a:endParaRPr sz="1298">
              <a:latin typeface="Instrument Sans"/>
              <a:ea typeface="Instrument Sans"/>
              <a:cs typeface="Instrument Sans"/>
              <a:sym typeface="Instrument Sans"/>
            </a:endParaRPr>
          </a:p>
        </p:txBody>
      </p:sp>
      <p:sp>
        <p:nvSpPr>
          <p:cNvPr id="81" name="Google Shape;81;p15"/>
          <p:cNvSpPr/>
          <p:nvPr/>
        </p:nvSpPr>
        <p:spPr>
          <a:xfrm>
            <a:off x="3677376" y="3262693"/>
            <a:ext cx="1269600" cy="1195200"/>
          </a:xfrm>
          <a:prstGeom prst="rect">
            <a:avLst/>
          </a:prstGeom>
          <a:solidFill>
            <a:srgbClr val="F4BBAD"/>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t/>
            </a:r>
            <a:endParaRPr sz="1298">
              <a:latin typeface="Instrument Sans"/>
              <a:ea typeface="Instrument Sans"/>
              <a:cs typeface="Instrument Sans"/>
              <a:sym typeface="Instrument Sans"/>
            </a:endParaRPr>
          </a:p>
        </p:txBody>
      </p:sp>
      <p:sp>
        <p:nvSpPr>
          <p:cNvPr id="82" name="Google Shape;82;p15"/>
          <p:cNvSpPr/>
          <p:nvPr/>
        </p:nvSpPr>
        <p:spPr>
          <a:xfrm>
            <a:off x="750413" y="2636572"/>
            <a:ext cx="658200" cy="242700"/>
          </a:xfrm>
          <a:prstGeom prst="rect">
            <a:avLst/>
          </a:prstGeom>
          <a:solidFill>
            <a:srgbClr val="D5D7FF"/>
          </a:solidFill>
          <a:ln cap="flat" cmpd="sng" w="1765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Git Module</a:t>
            </a:r>
            <a:endParaRPr sz="835">
              <a:latin typeface="Instrument Sans"/>
              <a:ea typeface="Instrument Sans"/>
              <a:cs typeface="Instrument Sans"/>
              <a:sym typeface="Instrument Sans"/>
            </a:endParaRPr>
          </a:p>
        </p:txBody>
      </p:sp>
      <p:sp>
        <p:nvSpPr>
          <p:cNvPr id="83" name="Google Shape;83;p15"/>
          <p:cNvSpPr/>
          <p:nvPr/>
        </p:nvSpPr>
        <p:spPr>
          <a:xfrm>
            <a:off x="3845085" y="3665687"/>
            <a:ext cx="909600" cy="293700"/>
          </a:xfrm>
          <a:prstGeom prst="rect">
            <a:avLst/>
          </a:prstGeom>
          <a:solidFill>
            <a:srgbClr val="D6FFD7"/>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742">
                <a:latin typeface="Instrument Sans"/>
                <a:ea typeface="Instrument Sans"/>
                <a:cs typeface="Instrument Sans"/>
                <a:sym typeface="Instrument Sans"/>
              </a:rPr>
              <a:t>Git Log Submodule</a:t>
            </a:r>
            <a:endParaRPr sz="742">
              <a:latin typeface="Instrument Sans"/>
              <a:ea typeface="Instrument Sans"/>
              <a:cs typeface="Instrument Sans"/>
              <a:sym typeface="Instrument Sans"/>
            </a:endParaRPr>
          </a:p>
        </p:txBody>
      </p:sp>
      <p:sp>
        <p:nvSpPr>
          <p:cNvPr id="84" name="Google Shape;84;p15"/>
          <p:cNvSpPr/>
          <p:nvPr/>
        </p:nvSpPr>
        <p:spPr>
          <a:xfrm>
            <a:off x="3845085" y="4074729"/>
            <a:ext cx="909600" cy="242700"/>
          </a:xfrm>
          <a:prstGeom prst="rect">
            <a:avLst/>
          </a:prstGeom>
          <a:solidFill>
            <a:srgbClr val="D6FFD7"/>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742">
                <a:latin typeface="Instrument Sans"/>
                <a:ea typeface="Instrument Sans"/>
                <a:cs typeface="Instrument Sans"/>
                <a:sym typeface="Instrument Sans"/>
              </a:rPr>
              <a:t>Git Command Submodule</a:t>
            </a:r>
            <a:endParaRPr sz="742">
              <a:latin typeface="Instrument Sans"/>
              <a:ea typeface="Instrument Sans"/>
              <a:cs typeface="Instrument Sans"/>
              <a:sym typeface="Instrument Sans"/>
            </a:endParaRPr>
          </a:p>
        </p:txBody>
      </p:sp>
      <p:sp>
        <p:nvSpPr>
          <p:cNvPr id="85" name="Google Shape;85;p15"/>
          <p:cNvSpPr/>
          <p:nvPr/>
        </p:nvSpPr>
        <p:spPr>
          <a:xfrm>
            <a:off x="1757426" y="1306000"/>
            <a:ext cx="1157100" cy="503100"/>
          </a:xfrm>
          <a:prstGeom prst="roundRect">
            <a:avLst>
              <a:gd fmla="val 16667" name="adj"/>
            </a:avLst>
          </a:prstGeom>
          <a:solidFill>
            <a:srgbClr val="FCE5CD"/>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Config(.yml files)</a:t>
            </a:r>
            <a:endParaRPr sz="835">
              <a:latin typeface="Instrument Sans"/>
              <a:ea typeface="Instrument Sans"/>
              <a:cs typeface="Instrument Sans"/>
              <a:sym typeface="Instrument Sans"/>
            </a:endParaRPr>
          </a:p>
        </p:txBody>
      </p:sp>
      <p:sp>
        <p:nvSpPr>
          <p:cNvPr id="86" name="Google Shape;86;p15"/>
          <p:cNvSpPr/>
          <p:nvPr/>
        </p:nvSpPr>
        <p:spPr>
          <a:xfrm>
            <a:off x="1344088" y="2027625"/>
            <a:ext cx="909600" cy="365700"/>
          </a:xfrm>
          <a:prstGeom prst="roundRect">
            <a:avLst>
              <a:gd fmla="val 16667" name="adj"/>
            </a:avLst>
          </a:prstGeom>
          <a:solidFill>
            <a:srgbClr val="FCE5CD"/>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Immutable Data</a:t>
            </a:r>
            <a:endParaRPr sz="835">
              <a:latin typeface="Instrument Sans"/>
              <a:ea typeface="Instrument Sans"/>
              <a:cs typeface="Instrument Sans"/>
              <a:sym typeface="Instrument Sans"/>
            </a:endParaRPr>
          </a:p>
        </p:txBody>
      </p:sp>
      <p:sp>
        <p:nvSpPr>
          <p:cNvPr id="87" name="Google Shape;87;p15"/>
          <p:cNvSpPr/>
          <p:nvPr/>
        </p:nvSpPr>
        <p:spPr>
          <a:xfrm>
            <a:off x="2417767" y="2027625"/>
            <a:ext cx="909600" cy="365700"/>
          </a:xfrm>
          <a:prstGeom prst="roundRect">
            <a:avLst>
              <a:gd fmla="val 16667" name="adj"/>
            </a:avLst>
          </a:prstGeom>
          <a:solidFill>
            <a:srgbClr val="FCE5CD"/>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Analysis Specific</a:t>
            </a:r>
            <a:endParaRPr sz="835">
              <a:latin typeface="Instrument Sans"/>
              <a:ea typeface="Instrument Sans"/>
              <a:cs typeface="Instrument Sans"/>
              <a:sym typeface="Instrument Sans"/>
            </a:endParaRPr>
          </a:p>
        </p:txBody>
      </p:sp>
      <p:sp>
        <p:nvSpPr>
          <p:cNvPr id="88" name="Google Shape;88;p15"/>
          <p:cNvSpPr/>
          <p:nvPr/>
        </p:nvSpPr>
        <p:spPr>
          <a:xfrm>
            <a:off x="6488463" y="2628150"/>
            <a:ext cx="1391400" cy="1940100"/>
          </a:xfrm>
          <a:prstGeom prst="rect">
            <a:avLst/>
          </a:prstGeom>
          <a:solidFill>
            <a:srgbClr val="A9B0FE"/>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t/>
            </a:r>
            <a:endParaRPr sz="1298">
              <a:latin typeface="Instrument Sans"/>
              <a:ea typeface="Instrument Sans"/>
              <a:cs typeface="Instrument Sans"/>
              <a:sym typeface="Instrument Sans"/>
            </a:endParaRPr>
          </a:p>
        </p:txBody>
      </p:sp>
      <p:sp>
        <p:nvSpPr>
          <p:cNvPr id="89" name="Google Shape;89;p15"/>
          <p:cNvSpPr/>
          <p:nvPr/>
        </p:nvSpPr>
        <p:spPr>
          <a:xfrm>
            <a:off x="6497664" y="2640663"/>
            <a:ext cx="744600" cy="242700"/>
          </a:xfrm>
          <a:prstGeom prst="rect">
            <a:avLst/>
          </a:prstGeom>
          <a:solidFill>
            <a:srgbClr val="D5D7FF"/>
          </a:solidFill>
          <a:ln cap="flat" cmpd="sng" w="1765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Other Modules</a:t>
            </a:r>
            <a:endParaRPr sz="835">
              <a:latin typeface="Instrument Sans"/>
              <a:ea typeface="Instrument Sans"/>
              <a:cs typeface="Instrument Sans"/>
              <a:sym typeface="Instrument Sans"/>
            </a:endParaRPr>
          </a:p>
        </p:txBody>
      </p:sp>
      <p:cxnSp>
        <p:nvCxnSpPr>
          <p:cNvPr id="90" name="Google Shape;90;p15"/>
          <p:cNvCxnSpPr/>
          <p:nvPr/>
        </p:nvCxnSpPr>
        <p:spPr>
          <a:xfrm>
            <a:off x="1984131" y="1806818"/>
            <a:ext cx="2100" cy="233400"/>
          </a:xfrm>
          <a:prstGeom prst="straightConnector1">
            <a:avLst/>
          </a:prstGeom>
          <a:noFill/>
          <a:ln cap="flat" cmpd="sng" w="8825">
            <a:solidFill>
              <a:srgbClr val="1B1311"/>
            </a:solidFill>
            <a:prstDash val="solid"/>
            <a:round/>
            <a:headEnd len="med" w="med" type="none"/>
            <a:tailEnd len="med" w="med" type="triangle"/>
          </a:ln>
        </p:spPr>
      </p:cxnSp>
      <p:cxnSp>
        <p:nvCxnSpPr>
          <p:cNvPr id="91" name="Google Shape;91;p15"/>
          <p:cNvCxnSpPr/>
          <p:nvPr/>
        </p:nvCxnSpPr>
        <p:spPr>
          <a:xfrm>
            <a:off x="2649133" y="1806818"/>
            <a:ext cx="2100" cy="233400"/>
          </a:xfrm>
          <a:prstGeom prst="straightConnector1">
            <a:avLst/>
          </a:prstGeom>
          <a:noFill/>
          <a:ln cap="flat" cmpd="sng" w="8825">
            <a:solidFill>
              <a:srgbClr val="1B1311"/>
            </a:solidFill>
            <a:prstDash val="solid"/>
            <a:round/>
            <a:headEnd len="med" w="med" type="none"/>
            <a:tailEnd len="med" w="med" type="triangle"/>
          </a:ln>
        </p:spPr>
      </p:cxnSp>
      <p:cxnSp>
        <p:nvCxnSpPr>
          <p:cNvPr id="92" name="Google Shape;92;p15"/>
          <p:cNvCxnSpPr/>
          <p:nvPr/>
        </p:nvCxnSpPr>
        <p:spPr>
          <a:xfrm>
            <a:off x="1984131" y="2403284"/>
            <a:ext cx="2100" cy="233400"/>
          </a:xfrm>
          <a:prstGeom prst="straightConnector1">
            <a:avLst/>
          </a:prstGeom>
          <a:noFill/>
          <a:ln cap="flat" cmpd="sng" w="8825">
            <a:solidFill>
              <a:srgbClr val="1B1311"/>
            </a:solidFill>
            <a:prstDash val="solid"/>
            <a:round/>
            <a:headEnd len="med" w="med" type="none"/>
            <a:tailEnd len="med" w="med" type="triangle"/>
          </a:ln>
        </p:spPr>
      </p:cxnSp>
      <p:cxnSp>
        <p:nvCxnSpPr>
          <p:cNvPr id="93" name="Google Shape;93;p15"/>
          <p:cNvCxnSpPr/>
          <p:nvPr/>
        </p:nvCxnSpPr>
        <p:spPr>
          <a:xfrm>
            <a:off x="2649133" y="2403296"/>
            <a:ext cx="2100" cy="233400"/>
          </a:xfrm>
          <a:prstGeom prst="straightConnector1">
            <a:avLst/>
          </a:prstGeom>
          <a:noFill/>
          <a:ln cap="flat" cmpd="sng" w="8825">
            <a:solidFill>
              <a:srgbClr val="1B1311"/>
            </a:solidFill>
            <a:prstDash val="solid"/>
            <a:round/>
            <a:headEnd len="med" w="med" type="none"/>
            <a:tailEnd len="med" w="med" type="triangle"/>
          </a:ln>
        </p:spPr>
      </p:cxnSp>
      <p:sp>
        <p:nvSpPr>
          <p:cNvPr id="94" name="Google Shape;94;p15"/>
          <p:cNvSpPr/>
          <p:nvPr/>
        </p:nvSpPr>
        <p:spPr>
          <a:xfrm>
            <a:off x="3148002" y="2907678"/>
            <a:ext cx="108900" cy="91500"/>
          </a:xfrm>
          <a:prstGeom prst="ellipse">
            <a:avLst/>
          </a:prstGeom>
          <a:solidFill>
            <a:srgbClr val="FFD966"/>
          </a:solidFill>
          <a:ln cap="flat" cmpd="sng" w="13175">
            <a:solidFill>
              <a:srgbClr val="1B1311"/>
            </a:solidFill>
            <a:prstDash val="solid"/>
            <a:round/>
            <a:headEnd len="sm" w="sm" type="none"/>
            <a:tailEnd len="sm" w="sm" type="none"/>
          </a:ln>
        </p:spPr>
        <p:txBody>
          <a:bodyPr anchorCtr="0" anchor="ctr" bIns="63250" lIns="63250" spcFirstLastPara="1" rIns="63250" wrap="square" tIns="63250">
            <a:noAutofit/>
          </a:bodyPr>
          <a:lstStyle/>
          <a:p>
            <a:pPr indent="0" lvl="0" marL="0" rtl="0" algn="ctr">
              <a:spcBef>
                <a:spcPts val="0"/>
              </a:spcBef>
              <a:spcAft>
                <a:spcPts val="0"/>
              </a:spcAft>
              <a:buNone/>
            </a:pPr>
            <a:r>
              <a:t/>
            </a:r>
            <a:endParaRPr sz="968">
              <a:latin typeface="Instrument Sans"/>
              <a:ea typeface="Instrument Sans"/>
              <a:cs typeface="Instrument Sans"/>
              <a:sym typeface="Instrument Sans"/>
            </a:endParaRPr>
          </a:p>
        </p:txBody>
      </p:sp>
      <p:sp>
        <p:nvSpPr>
          <p:cNvPr id="95" name="Google Shape;95;p15"/>
          <p:cNvSpPr/>
          <p:nvPr/>
        </p:nvSpPr>
        <p:spPr>
          <a:xfrm>
            <a:off x="3148002" y="3393277"/>
            <a:ext cx="108900" cy="91500"/>
          </a:xfrm>
          <a:prstGeom prst="ellipse">
            <a:avLst/>
          </a:prstGeom>
          <a:solidFill>
            <a:srgbClr val="FFD966"/>
          </a:solidFill>
          <a:ln cap="flat" cmpd="sng" w="13175">
            <a:solidFill>
              <a:srgbClr val="1B1311"/>
            </a:solidFill>
            <a:prstDash val="solid"/>
            <a:round/>
            <a:headEnd len="sm" w="sm" type="none"/>
            <a:tailEnd len="sm" w="sm" type="none"/>
          </a:ln>
        </p:spPr>
        <p:txBody>
          <a:bodyPr anchorCtr="0" anchor="ctr" bIns="63250" lIns="63250" spcFirstLastPara="1" rIns="63250" wrap="square" tIns="63250">
            <a:noAutofit/>
          </a:bodyPr>
          <a:lstStyle/>
          <a:p>
            <a:pPr indent="0" lvl="0" marL="0" rtl="0" algn="ctr">
              <a:spcBef>
                <a:spcPts val="0"/>
              </a:spcBef>
              <a:spcAft>
                <a:spcPts val="0"/>
              </a:spcAft>
              <a:buNone/>
            </a:pPr>
            <a:r>
              <a:t/>
            </a:r>
            <a:endParaRPr sz="968">
              <a:latin typeface="Instrument Sans"/>
              <a:ea typeface="Instrument Sans"/>
              <a:cs typeface="Instrument Sans"/>
              <a:sym typeface="Instrument Sans"/>
            </a:endParaRPr>
          </a:p>
        </p:txBody>
      </p:sp>
      <p:cxnSp>
        <p:nvCxnSpPr>
          <p:cNvPr id="96" name="Google Shape;96;p15"/>
          <p:cNvCxnSpPr/>
          <p:nvPr/>
        </p:nvCxnSpPr>
        <p:spPr>
          <a:xfrm flipH="1">
            <a:off x="3434721" y="3651869"/>
            <a:ext cx="232500" cy="4800"/>
          </a:xfrm>
          <a:prstGeom prst="straightConnector1">
            <a:avLst/>
          </a:prstGeom>
          <a:noFill/>
          <a:ln cap="flat" cmpd="sng" w="8825">
            <a:solidFill>
              <a:srgbClr val="1B1311"/>
            </a:solidFill>
            <a:prstDash val="solid"/>
            <a:round/>
            <a:headEnd len="med" w="med" type="none"/>
            <a:tailEnd len="med" w="med" type="triangle"/>
          </a:ln>
        </p:spPr>
      </p:cxnSp>
      <p:sp>
        <p:nvSpPr>
          <p:cNvPr id="97" name="Google Shape;97;p15"/>
          <p:cNvSpPr/>
          <p:nvPr/>
        </p:nvSpPr>
        <p:spPr>
          <a:xfrm>
            <a:off x="1679937" y="4254673"/>
            <a:ext cx="108900" cy="91500"/>
          </a:xfrm>
          <a:prstGeom prst="ellipse">
            <a:avLst/>
          </a:prstGeom>
          <a:solidFill>
            <a:srgbClr val="FFD966"/>
          </a:solidFill>
          <a:ln cap="flat" cmpd="sng" w="13175">
            <a:solidFill>
              <a:srgbClr val="1B1311"/>
            </a:solidFill>
            <a:prstDash val="solid"/>
            <a:round/>
            <a:headEnd len="sm" w="sm" type="none"/>
            <a:tailEnd len="sm" w="sm" type="none"/>
          </a:ln>
        </p:spPr>
        <p:txBody>
          <a:bodyPr anchorCtr="0" anchor="ctr" bIns="63250" lIns="63250" spcFirstLastPara="1" rIns="63250" wrap="square" tIns="63250">
            <a:noAutofit/>
          </a:bodyPr>
          <a:lstStyle/>
          <a:p>
            <a:pPr indent="0" lvl="0" marL="0" rtl="0" algn="ctr">
              <a:spcBef>
                <a:spcPts val="0"/>
              </a:spcBef>
              <a:spcAft>
                <a:spcPts val="0"/>
              </a:spcAft>
              <a:buNone/>
            </a:pPr>
            <a:r>
              <a:t/>
            </a:r>
            <a:endParaRPr sz="968">
              <a:latin typeface="Instrument Sans"/>
              <a:ea typeface="Instrument Sans"/>
              <a:cs typeface="Instrument Sans"/>
              <a:sym typeface="Instrument Sans"/>
            </a:endParaRPr>
          </a:p>
        </p:txBody>
      </p:sp>
      <p:sp>
        <p:nvSpPr>
          <p:cNvPr id="98" name="Google Shape;98;p15"/>
          <p:cNvSpPr/>
          <p:nvPr/>
        </p:nvSpPr>
        <p:spPr>
          <a:xfrm>
            <a:off x="3677379" y="3268105"/>
            <a:ext cx="744600" cy="242700"/>
          </a:xfrm>
          <a:prstGeom prst="rect">
            <a:avLst/>
          </a:prstGeom>
          <a:solidFill>
            <a:srgbClr val="D6FFD7"/>
          </a:solidFill>
          <a:ln cap="flat" cmpd="sng" w="1765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R/git.R</a:t>
            </a:r>
            <a:endParaRPr sz="835">
              <a:latin typeface="Instrument Sans"/>
              <a:ea typeface="Instrument Sans"/>
              <a:cs typeface="Instrument Sans"/>
              <a:sym typeface="Instrument Sans"/>
            </a:endParaRPr>
          </a:p>
        </p:txBody>
      </p:sp>
      <p:sp>
        <p:nvSpPr>
          <p:cNvPr id="99" name="Google Shape;99;p15"/>
          <p:cNvSpPr/>
          <p:nvPr/>
        </p:nvSpPr>
        <p:spPr>
          <a:xfrm>
            <a:off x="2106350" y="2750500"/>
            <a:ext cx="1318200" cy="1195200"/>
          </a:xfrm>
          <a:prstGeom prst="rect">
            <a:avLst/>
          </a:prstGeom>
          <a:solidFill>
            <a:srgbClr val="CFE2F3"/>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t/>
            </a:r>
            <a:endParaRPr sz="1298">
              <a:latin typeface="Instrument Sans"/>
              <a:ea typeface="Instrument Sans"/>
              <a:cs typeface="Instrument Sans"/>
              <a:sym typeface="Instrument Sans"/>
            </a:endParaRPr>
          </a:p>
        </p:txBody>
      </p:sp>
      <p:sp>
        <p:nvSpPr>
          <p:cNvPr id="100" name="Google Shape;100;p15"/>
          <p:cNvSpPr/>
          <p:nvPr/>
        </p:nvSpPr>
        <p:spPr>
          <a:xfrm>
            <a:off x="2104226" y="2744347"/>
            <a:ext cx="877500" cy="233400"/>
          </a:xfrm>
          <a:prstGeom prst="rect">
            <a:avLst/>
          </a:prstGeom>
          <a:solidFill>
            <a:srgbClr val="FFFFFF"/>
          </a:solidFill>
          <a:ln cap="flat" cmpd="sng" w="1765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vignettes/git_*</a:t>
            </a:r>
            <a:endParaRPr sz="835">
              <a:latin typeface="Instrument Sans"/>
              <a:ea typeface="Instrument Sans"/>
              <a:cs typeface="Instrument Sans"/>
              <a:sym typeface="Instrument Sans"/>
            </a:endParaRPr>
          </a:p>
        </p:txBody>
      </p:sp>
      <p:cxnSp>
        <p:nvCxnSpPr>
          <p:cNvPr id="101" name="Google Shape;101;p15"/>
          <p:cNvCxnSpPr/>
          <p:nvPr/>
        </p:nvCxnSpPr>
        <p:spPr>
          <a:xfrm rot="10800000">
            <a:off x="1866113" y="4180450"/>
            <a:ext cx="1811700" cy="9900"/>
          </a:xfrm>
          <a:prstGeom prst="straightConnector1">
            <a:avLst/>
          </a:prstGeom>
          <a:noFill/>
          <a:ln cap="flat" cmpd="sng" w="9525">
            <a:solidFill>
              <a:srgbClr val="1B1311"/>
            </a:solidFill>
            <a:prstDash val="solid"/>
            <a:round/>
            <a:headEnd len="med" w="med" type="none"/>
            <a:tailEnd len="med" w="med" type="triangle"/>
          </a:ln>
        </p:spPr>
      </p:cxnSp>
      <p:sp>
        <p:nvSpPr>
          <p:cNvPr id="102" name="Google Shape;102;p15"/>
          <p:cNvSpPr/>
          <p:nvPr/>
        </p:nvSpPr>
        <p:spPr>
          <a:xfrm>
            <a:off x="3677288" y="2831125"/>
            <a:ext cx="1269600" cy="437100"/>
          </a:xfrm>
          <a:prstGeom prst="rect">
            <a:avLst/>
          </a:prstGeom>
          <a:solidFill>
            <a:srgbClr val="EA9999"/>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t/>
            </a:r>
            <a:endParaRPr sz="1298">
              <a:latin typeface="Instrument Sans"/>
              <a:ea typeface="Instrument Sans"/>
              <a:cs typeface="Instrument Sans"/>
              <a:sym typeface="Instrument Sans"/>
            </a:endParaRPr>
          </a:p>
        </p:txBody>
      </p:sp>
      <p:sp>
        <p:nvSpPr>
          <p:cNvPr id="103" name="Google Shape;103;p15"/>
          <p:cNvSpPr/>
          <p:nvPr/>
        </p:nvSpPr>
        <p:spPr>
          <a:xfrm>
            <a:off x="3677388" y="2840925"/>
            <a:ext cx="997800" cy="206100"/>
          </a:xfrm>
          <a:prstGeom prst="rect">
            <a:avLst/>
          </a:prstGeom>
          <a:solidFill>
            <a:srgbClr val="D6FFD7"/>
          </a:solidFill>
          <a:ln cap="flat" cmpd="sng" w="1765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test/test-git.R</a:t>
            </a:r>
            <a:endParaRPr sz="835">
              <a:latin typeface="Instrument Sans"/>
              <a:ea typeface="Instrument Sans"/>
              <a:cs typeface="Instrument Sans"/>
              <a:sym typeface="Instrument Sans"/>
            </a:endParaRPr>
          </a:p>
        </p:txBody>
      </p:sp>
      <p:cxnSp>
        <p:nvCxnSpPr>
          <p:cNvPr id="104" name="Google Shape;104;p15"/>
          <p:cNvCxnSpPr/>
          <p:nvPr/>
        </p:nvCxnSpPr>
        <p:spPr>
          <a:xfrm flipH="1">
            <a:off x="763063" y="1871475"/>
            <a:ext cx="3038700" cy="740700"/>
          </a:xfrm>
          <a:prstGeom prst="straightConnector1">
            <a:avLst/>
          </a:prstGeom>
          <a:noFill/>
          <a:ln cap="flat" cmpd="sng" w="9525">
            <a:solidFill>
              <a:srgbClr val="1B1311"/>
            </a:solidFill>
            <a:prstDash val="dashDot"/>
            <a:round/>
            <a:headEnd len="med" w="med" type="none"/>
            <a:tailEnd len="med" w="med" type="none"/>
          </a:ln>
        </p:spPr>
      </p:cxnSp>
      <p:cxnSp>
        <p:nvCxnSpPr>
          <p:cNvPr id="105" name="Google Shape;105;p15"/>
          <p:cNvCxnSpPr/>
          <p:nvPr/>
        </p:nvCxnSpPr>
        <p:spPr>
          <a:xfrm>
            <a:off x="5023913" y="1876225"/>
            <a:ext cx="80400" cy="727800"/>
          </a:xfrm>
          <a:prstGeom prst="straightConnector1">
            <a:avLst/>
          </a:prstGeom>
          <a:noFill/>
          <a:ln cap="flat" cmpd="sng" w="9525">
            <a:solidFill>
              <a:srgbClr val="1B1311"/>
            </a:solidFill>
            <a:prstDash val="dashDot"/>
            <a:round/>
            <a:headEnd len="med" w="med" type="none"/>
            <a:tailEnd len="med" w="med" type="none"/>
          </a:ln>
        </p:spPr>
      </p:cxnSp>
      <p:sp>
        <p:nvSpPr>
          <p:cNvPr id="106" name="Google Shape;106;p15"/>
          <p:cNvSpPr/>
          <p:nvPr/>
        </p:nvSpPr>
        <p:spPr>
          <a:xfrm>
            <a:off x="3781763" y="1271300"/>
            <a:ext cx="1243200" cy="600300"/>
          </a:xfrm>
          <a:prstGeom prst="rect">
            <a:avLst/>
          </a:prstGeom>
          <a:solidFill>
            <a:srgbClr val="FDFDFC"/>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cxnSp>
        <p:nvCxnSpPr>
          <p:cNvPr id="107" name="Google Shape;107;p15"/>
          <p:cNvCxnSpPr/>
          <p:nvPr/>
        </p:nvCxnSpPr>
        <p:spPr>
          <a:xfrm>
            <a:off x="6493100" y="1843300"/>
            <a:ext cx="9300" cy="763200"/>
          </a:xfrm>
          <a:prstGeom prst="straightConnector1">
            <a:avLst/>
          </a:prstGeom>
          <a:noFill/>
          <a:ln cap="flat" cmpd="sng" w="9525">
            <a:solidFill>
              <a:srgbClr val="1B1311"/>
            </a:solidFill>
            <a:prstDash val="dashDot"/>
            <a:round/>
            <a:headEnd len="med" w="med" type="none"/>
            <a:tailEnd len="med" w="med" type="none"/>
          </a:ln>
        </p:spPr>
      </p:cxnSp>
      <p:sp>
        <p:nvSpPr>
          <p:cNvPr id="108" name="Google Shape;108;p15"/>
          <p:cNvSpPr/>
          <p:nvPr/>
        </p:nvSpPr>
        <p:spPr>
          <a:xfrm>
            <a:off x="944039" y="3042275"/>
            <a:ext cx="909600" cy="1449000"/>
          </a:xfrm>
          <a:prstGeom prst="rect">
            <a:avLst/>
          </a:prstGeom>
          <a:solidFill>
            <a:srgbClr val="CCCCCC"/>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t/>
            </a:r>
            <a:endParaRPr sz="1298">
              <a:latin typeface="Instrument Sans"/>
              <a:ea typeface="Instrument Sans"/>
              <a:cs typeface="Instrument Sans"/>
              <a:sym typeface="Instrument Sans"/>
            </a:endParaRPr>
          </a:p>
        </p:txBody>
      </p:sp>
      <p:sp>
        <p:nvSpPr>
          <p:cNvPr id="109" name="Google Shape;109;p15"/>
          <p:cNvSpPr/>
          <p:nvPr/>
        </p:nvSpPr>
        <p:spPr>
          <a:xfrm>
            <a:off x="943930" y="3039902"/>
            <a:ext cx="744600" cy="242700"/>
          </a:xfrm>
          <a:prstGeom prst="rect">
            <a:avLst/>
          </a:prstGeom>
          <a:solidFill>
            <a:srgbClr val="EAD1DC"/>
          </a:solidFill>
          <a:ln cap="flat" cmpd="sng" w="1765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835">
                <a:latin typeface="Instrument Sans"/>
                <a:ea typeface="Instrument Sans"/>
                <a:cs typeface="Instrument Sans"/>
                <a:sym typeface="Instrument Sans"/>
              </a:rPr>
              <a:t>exec/git.R</a:t>
            </a:r>
            <a:endParaRPr sz="835">
              <a:latin typeface="Instrument Sans"/>
              <a:ea typeface="Instrument Sans"/>
              <a:cs typeface="Instrument Sans"/>
              <a:sym typeface="Instrument Sans"/>
            </a:endParaRPr>
          </a:p>
        </p:txBody>
      </p:sp>
      <p:cxnSp>
        <p:nvCxnSpPr>
          <p:cNvPr id="110" name="Google Shape;110;p15"/>
          <p:cNvCxnSpPr/>
          <p:nvPr/>
        </p:nvCxnSpPr>
        <p:spPr>
          <a:xfrm>
            <a:off x="7707200" y="1870125"/>
            <a:ext cx="186900" cy="739500"/>
          </a:xfrm>
          <a:prstGeom prst="straightConnector1">
            <a:avLst/>
          </a:prstGeom>
          <a:noFill/>
          <a:ln cap="flat" cmpd="sng" w="9525">
            <a:solidFill>
              <a:srgbClr val="1B1311"/>
            </a:solidFill>
            <a:prstDash val="dashDot"/>
            <a:round/>
            <a:headEnd len="med" w="med" type="none"/>
            <a:tailEnd len="med" w="med" type="none"/>
          </a:ln>
        </p:spPr>
      </p:cxnSp>
      <p:sp>
        <p:nvSpPr>
          <p:cNvPr id="111" name="Google Shape;111;p15"/>
          <p:cNvSpPr/>
          <p:nvPr/>
        </p:nvSpPr>
        <p:spPr>
          <a:xfrm>
            <a:off x="6494273" y="1271475"/>
            <a:ext cx="1202700" cy="588300"/>
          </a:xfrm>
          <a:prstGeom prst="rect">
            <a:avLst/>
          </a:prstGeom>
          <a:solidFill>
            <a:srgbClr val="FDFDFC"/>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12" name="Google Shape;112;p15"/>
          <p:cNvSpPr/>
          <p:nvPr/>
        </p:nvSpPr>
        <p:spPr>
          <a:xfrm>
            <a:off x="1009412" y="3672800"/>
            <a:ext cx="744600" cy="242700"/>
          </a:xfrm>
          <a:prstGeom prst="rect">
            <a:avLst/>
          </a:prstGeom>
          <a:solidFill>
            <a:srgbClr val="EAD1DC"/>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742">
                <a:latin typeface="Instrument Sans"/>
                <a:ea typeface="Instrument Sans"/>
                <a:cs typeface="Instrument Sans"/>
                <a:sym typeface="Instrument Sans"/>
              </a:rPr>
              <a:t>git.R</a:t>
            </a:r>
            <a:endParaRPr sz="742">
              <a:latin typeface="Instrument Sans"/>
              <a:ea typeface="Instrument Sans"/>
              <a:cs typeface="Instrument Sans"/>
              <a:sym typeface="Instrument Sans"/>
            </a:endParaRPr>
          </a:p>
        </p:txBody>
      </p:sp>
      <p:sp>
        <p:nvSpPr>
          <p:cNvPr id="113" name="Google Shape;113;p15"/>
          <p:cNvSpPr/>
          <p:nvPr/>
        </p:nvSpPr>
        <p:spPr>
          <a:xfrm>
            <a:off x="6789775" y="1508475"/>
            <a:ext cx="192300" cy="293700"/>
          </a:xfrm>
          <a:prstGeom prst="rect">
            <a:avLst/>
          </a:prstGeom>
          <a:solidFill>
            <a:srgbClr val="FDFDFC"/>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cxnSp>
        <p:nvCxnSpPr>
          <p:cNvPr id="114" name="Google Shape;114;p15"/>
          <p:cNvCxnSpPr>
            <a:stCxn id="113" idx="1"/>
          </p:cNvCxnSpPr>
          <p:nvPr/>
        </p:nvCxnSpPr>
        <p:spPr>
          <a:xfrm flipH="1">
            <a:off x="4802575" y="1655325"/>
            <a:ext cx="1987200" cy="81900"/>
          </a:xfrm>
          <a:prstGeom prst="straightConnector1">
            <a:avLst/>
          </a:prstGeom>
          <a:noFill/>
          <a:ln cap="flat" cmpd="sng" w="9525">
            <a:solidFill>
              <a:srgbClr val="1B1311"/>
            </a:solidFill>
            <a:prstDash val="dashDot"/>
            <a:round/>
            <a:headEnd len="med" w="med" type="none"/>
            <a:tailEnd len="med" w="med" type="none"/>
          </a:ln>
        </p:spPr>
      </p:cxnSp>
      <p:sp>
        <p:nvSpPr>
          <p:cNvPr id="115" name="Google Shape;115;p15"/>
          <p:cNvSpPr/>
          <p:nvPr/>
        </p:nvSpPr>
        <p:spPr>
          <a:xfrm>
            <a:off x="2310660" y="3088462"/>
            <a:ext cx="909600" cy="293700"/>
          </a:xfrm>
          <a:prstGeom prst="rect">
            <a:avLst/>
          </a:prstGeom>
          <a:solidFill>
            <a:srgbClr val="B9FFFF"/>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690">
                <a:latin typeface="Instrument Sans"/>
                <a:ea typeface="Instrument Sans"/>
                <a:cs typeface="Instrument Sans"/>
                <a:sym typeface="Instrument Sans"/>
              </a:rPr>
              <a:t>gitlog_showcase.Rmd</a:t>
            </a:r>
            <a:endParaRPr sz="742">
              <a:latin typeface="Instrument Sans"/>
              <a:ea typeface="Instrument Sans"/>
              <a:cs typeface="Instrument Sans"/>
              <a:sym typeface="Instrument Sans"/>
            </a:endParaRPr>
          </a:p>
        </p:txBody>
      </p:sp>
      <p:sp>
        <p:nvSpPr>
          <p:cNvPr id="116" name="Google Shape;116;p15"/>
          <p:cNvSpPr/>
          <p:nvPr/>
        </p:nvSpPr>
        <p:spPr>
          <a:xfrm>
            <a:off x="2310710" y="3471437"/>
            <a:ext cx="909600" cy="293700"/>
          </a:xfrm>
          <a:prstGeom prst="rect">
            <a:avLst/>
          </a:prstGeom>
          <a:solidFill>
            <a:srgbClr val="B9FFFF"/>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690">
                <a:latin typeface="Instrument Sans"/>
                <a:ea typeface="Instrument Sans"/>
                <a:cs typeface="Instrument Sans"/>
                <a:sym typeface="Instrument Sans"/>
              </a:rPr>
              <a:t>gitlog_entity_showcase.Rmd</a:t>
            </a:r>
            <a:endParaRPr sz="742">
              <a:latin typeface="Instrument Sans"/>
              <a:ea typeface="Instrument Sans"/>
              <a:cs typeface="Instrument Sans"/>
              <a:sym typeface="Instrument Sans"/>
            </a:endParaRPr>
          </a:p>
        </p:txBody>
      </p:sp>
      <p:sp>
        <p:nvSpPr>
          <p:cNvPr id="117" name="Google Shape;117;p15"/>
          <p:cNvSpPr/>
          <p:nvPr/>
        </p:nvSpPr>
        <p:spPr>
          <a:xfrm>
            <a:off x="3784338" y="1271475"/>
            <a:ext cx="783900" cy="167700"/>
          </a:xfrm>
          <a:prstGeom prst="rect">
            <a:avLst/>
          </a:prstGeom>
          <a:solidFill>
            <a:srgbClr val="FDFDFC"/>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Instrument Sans"/>
                <a:ea typeface="Instrument Sans"/>
                <a:cs typeface="Instrument Sans"/>
                <a:sym typeface="Instrument Sans"/>
              </a:rPr>
              <a:t>Data Schema</a:t>
            </a:r>
            <a:endParaRPr sz="700">
              <a:latin typeface="Instrument Sans"/>
              <a:ea typeface="Instrument Sans"/>
              <a:cs typeface="Instrument Sans"/>
              <a:sym typeface="Instrument Sans"/>
            </a:endParaRPr>
          </a:p>
        </p:txBody>
      </p:sp>
      <p:sp>
        <p:nvSpPr>
          <p:cNvPr id="118" name="Google Shape;118;p15"/>
          <p:cNvSpPr/>
          <p:nvPr/>
        </p:nvSpPr>
        <p:spPr>
          <a:xfrm>
            <a:off x="4262225" y="1519525"/>
            <a:ext cx="282300" cy="293700"/>
          </a:xfrm>
          <a:prstGeom prst="rect">
            <a:avLst/>
          </a:prstGeom>
          <a:solidFill>
            <a:srgbClr val="FDFDFC"/>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19" name="Google Shape;119;p15"/>
          <p:cNvSpPr/>
          <p:nvPr/>
        </p:nvSpPr>
        <p:spPr>
          <a:xfrm>
            <a:off x="4610125" y="1519525"/>
            <a:ext cx="192300" cy="293700"/>
          </a:xfrm>
          <a:prstGeom prst="rect">
            <a:avLst/>
          </a:prstGeom>
          <a:solidFill>
            <a:srgbClr val="FDFDFC"/>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20" name="Google Shape;120;p15"/>
          <p:cNvSpPr/>
          <p:nvPr/>
        </p:nvSpPr>
        <p:spPr>
          <a:xfrm>
            <a:off x="7088025" y="1508475"/>
            <a:ext cx="389400" cy="293700"/>
          </a:xfrm>
          <a:prstGeom prst="rect">
            <a:avLst/>
          </a:prstGeom>
          <a:solidFill>
            <a:srgbClr val="FDFDFC"/>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21" name="Google Shape;121;p15"/>
          <p:cNvSpPr/>
          <p:nvPr/>
        </p:nvSpPr>
        <p:spPr>
          <a:xfrm>
            <a:off x="5341760" y="2902837"/>
            <a:ext cx="909600" cy="293700"/>
          </a:xfrm>
          <a:prstGeom prst="rect">
            <a:avLst/>
          </a:prstGeom>
          <a:solidFill>
            <a:srgbClr val="B9FFFF"/>
          </a:solidFill>
          <a:ln cap="flat" cmpd="sng" w="26500">
            <a:solidFill>
              <a:srgbClr val="1B1311"/>
            </a:solidFill>
            <a:prstDash val="solid"/>
            <a:round/>
            <a:headEnd len="sm" w="sm" type="none"/>
            <a:tailEnd len="sm" w="sm" type="none"/>
          </a:ln>
        </p:spPr>
        <p:txBody>
          <a:bodyPr anchorCtr="0" anchor="ctr" bIns="84775" lIns="84775" spcFirstLastPara="1" rIns="84775" wrap="square" tIns="84775">
            <a:noAutofit/>
          </a:bodyPr>
          <a:lstStyle/>
          <a:p>
            <a:pPr indent="0" lvl="0" marL="0" rtl="0" algn="ctr">
              <a:spcBef>
                <a:spcPts val="0"/>
              </a:spcBef>
              <a:spcAft>
                <a:spcPts val="0"/>
              </a:spcAft>
              <a:buNone/>
            </a:pPr>
            <a:r>
              <a:rPr lang="en" sz="690">
                <a:latin typeface="Instrument Sans"/>
                <a:ea typeface="Instrument Sans"/>
                <a:cs typeface="Instrument Sans"/>
                <a:sym typeface="Instrument Sans"/>
              </a:rPr>
              <a:t>*</a:t>
            </a:r>
            <a:r>
              <a:rPr lang="en" sz="690">
                <a:latin typeface="Instrument Sans"/>
                <a:ea typeface="Instrument Sans"/>
                <a:cs typeface="Instrument Sans"/>
                <a:sym typeface="Instrument Sans"/>
              </a:rPr>
              <a:t>.Rmd</a:t>
            </a:r>
            <a:endParaRPr sz="742">
              <a:latin typeface="Instrument Sans"/>
              <a:ea typeface="Instrument Sans"/>
              <a:cs typeface="Instrument Sans"/>
              <a:sym typeface="Instrument Sans"/>
            </a:endParaRPr>
          </a:p>
        </p:txBody>
      </p:sp>
      <p:cxnSp>
        <p:nvCxnSpPr>
          <p:cNvPr id="122" name="Google Shape;122;p15"/>
          <p:cNvCxnSpPr>
            <a:endCxn id="121" idx="0"/>
          </p:cNvCxnSpPr>
          <p:nvPr/>
        </p:nvCxnSpPr>
        <p:spPr>
          <a:xfrm>
            <a:off x="5790560" y="1711537"/>
            <a:ext cx="6000" cy="1191300"/>
          </a:xfrm>
          <a:prstGeom prst="straightConnector1">
            <a:avLst/>
          </a:prstGeom>
          <a:noFill/>
          <a:ln cap="flat" cmpd="sng" w="9525">
            <a:solidFill>
              <a:srgbClr val="1B1311"/>
            </a:solidFill>
            <a:prstDash val="dashDot"/>
            <a:round/>
            <a:headEnd len="med" w="med" type="none"/>
            <a:tailEnd len="med" w="med" type="none"/>
          </a:ln>
        </p:spPr>
      </p:cxnSp>
      <p:sp>
        <p:nvSpPr>
          <p:cNvPr id="123" name="Google Shape;123;p15"/>
          <p:cNvSpPr/>
          <p:nvPr/>
        </p:nvSpPr>
        <p:spPr>
          <a:xfrm>
            <a:off x="4693675" y="1519525"/>
            <a:ext cx="108900" cy="293700"/>
          </a:xfrm>
          <a:prstGeom prst="rect">
            <a:avLst/>
          </a:prstGeom>
          <a:solidFill>
            <a:srgbClr val="D5D7FF"/>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24" name="Google Shape;124;p15"/>
          <p:cNvSpPr/>
          <p:nvPr/>
        </p:nvSpPr>
        <p:spPr>
          <a:xfrm>
            <a:off x="6789925" y="1508475"/>
            <a:ext cx="108900" cy="293700"/>
          </a:xfrm>
          <a:prstGeom prst="rect">
            <a:avLst/>
          </a:prstGeom>
          <a:solidFill>
            <a:srgbClr val="D5D7FF"/>
          </a:solidFill>
          <a:ln cap="flat" cmpd="sng" w="9525">
            <a:solidFill>
              <a:srgbClr val="1B131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25" name="Google Shape;125;p15"/>
          <p:cNvSpPr txBox="1"/>
          <p:nvPr/>
        </p:nvSpPr>
        <p:spPr>
          <a:xfrm>
            <a:off x="5438075" y="1374700"/>
            <a:ext cx="8481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rgbClr val="1B1311"/>
                </a:solidFill>
                <a:latin typeface="Instrument Sans"/>
                <a:ea typeface="Instrument Sans"/>
                <a:cs typeface="Instrument Sans"/>
                <a:sym typeface="Instrument Sans"/>
              </a:rPr>
              <a:t>Table Layer Connection </a:t>
            </a:r>
            <a:endParaRPr sz="700">
              <a:solidFill>
                <a:srgbClr val="1B1311"/>
              </a:solidFill>
              <a:latin typeface="Instrument Sans"/>
              <a:ea typeface="Instrument Sans"/>
              <a:cs typeface="Instrument Sans"/>
              <a:sym typeface="Instrumen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p:nvPr/>
        </p:nvSpPr>
        <p:spPr>
          <a:xfrm>
            <a:off x="4532950" y="1602600"/>
            <a:ext cx="4611000" cy="3540900"/>
          </a:xfrm>
          <a:prstGeom prst="rect">
            <a:avLst/>
          </a:prstGeom>
          <a:solidFill>
            <a:srgbClr val="CFE2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6"/>
          <p:cNvSpPr/>
          <p:nvPr/>
        </p:nvSpPr>
        <p:spPr>
          <a:xfrm>
            <a:off x="0" y="1602600"/>
            <a:ext cx="9144000" cy="3540900"/>
          </a:xfrm>
          <a:prstGeom prst="rect">
            <a:avLst/>
          </a:prstGeom>
          <a:solidFill>
            <a:srgbClr val="CFE2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2" name="Google Shape;132;p16"/>
          <p:cNvPicPr preferRelativeResize="0"/>
          <p:nvPr/>
        </p:nvPicPr>
        <p:blipFill>
          <a:blip r:embed="rId4">
            <a:alphaModFix/>
          </a:blip>
          <a:stretch>
            <a:fillRect/>
          </a:stretch>
        </p:blipFill>
        <p:spPr>
          <a:xfrm>
            <a:off x="5625968" y="-423232"/>
            <a:ext cx="3518028" cy="1879600"/>
          </a:xfrm>
          <a:prstGeom prst="rect">
            <a:avLst/>
          </a:prstGeom>
          <a:noFill/>
          <a:ln>
            <a:noFill/>
          </a:ln>
        </p:spPr>
      </p:pic>
      <p:pic>
        <p:nvPicPr>
          <p:cNvPr id="133" name="Google Shape;133;p16"/>
          <p:cNvPicPr preferRelativeResize="0"/>
          <p:nvPr/>
        </p:nvPicPr>
        <p:blipFill>
          <a:blip r:embed="rId5">
            <a:alphaModFix/>
          </a:blip>
          <a:stretch>
            <a:fillRect/>
          </a:stretch>
        </p:blipFill>
        <p:spPr>
          <a:xfrm>
            <a:off x="7973175" y="139197"/>
            <a:ext cx="971550" cy="1132101"/>
          </a:xfrm>
          <a:prstGeom prst="rect">
            <a:avLst/>
          </a:prstGeom>
          <a:noFill/>
          <a:ln>
            <a:noFill/>
          </a:ln>
        </p:spPr>
      </p:pic>
      <p:sp>
        <p:nvSpPr>
          <p:cNvPr id="134" name="Google Shape;134;p16"/>
          <p:cNvSpPr txBox="1"/>
          <p:nvPr>
            <p:ph idx="4294967295" type="title"/>
          </p:nvPr>
        </p:nvSpPr>
        <p:spPr>
          <a:xfrm>
            <a:off x="1113150" y="139200"/>
            <a:ext cx="694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3D85C6"/>
                </a:solidFill>
                <a:latin typeface="Poppins"/>
                <a:ea typeface="Poppins"/>
                <a:cs typeface="Poppins"/>
                <a:sym typeface="Poppins"/>
              </a:rPr>
              <a:t>Major Accomplishments</a:t>
            </a:r>
            <a:endParaRPr b="1" sz="4000">
              <a:solidFill>
                <a:srgbClr val="3D85C6"/>
              </a:solidFill>
              <a:latin typeface="Poppins"/>
              <a:ea typeface="Poppins"/>
              <a:cs typeface="Poppins"/>
              <a:sym typeface="Poppins"/>
            </a:endParaRPr>
          </a:p>
        </p:txBody>
      </p:sp>
      <p:sp>
        <p:nvSpPr>
          <p:cNvPr id="135" name="Google Shape;135;p16"/>
          <p:cNvSpPr txBox="1"/>
          <p:nvPr/>
        </p:nvSpPr>
        <p:spPr>
          <a:xfrm>
            <a:off x="4893163" y="964800"/>
            <a:ext cx="2552100" cy="637800"/>
          </a:xfrm>
          <a:prstGeom prst="rect">
            <a:avLst/>
          </a:prstGeom>
          <a:noFill/>
          <a:ln>
            <a:noFill/>
          </a:ln>
        </p:spPr>
        <p:txBody>
          <a:bodyPr anchorCtr="0" anchor="t" bIns="91425" lIns="182875" spcFirstLastPara="1" rIns="91425" wrap="square" tIns="182875">
            <a:noAutofit/>
          </a:bodyPr>
          <a:lstStyle/>
          <a:p>
            <a:pPr indent="0" lvl="0" marL="0" rtl="0" algn="l">
              <a:spcBef>
                <a:spcPts val="0"/>
              </a:spcBef>
              <a:spcAft>
                <a:spcPts val="0"/>
              </a:spcAft>
              <a:buNone/>
            </a:pPr>
            <a:r>
              <a:rPr lang="en" sz="2700">
                <a:solidFill>
                  <a:srgbClr val="666666"/>
                </a:solidFill>
                <a:latin typeface="Instrument Sans"/>
                <a:ea typeface="Instrument Sans"/>
                <a:cs typeface="Instrument Sans"/>
                <a:sym typeface="Instrument Sans"/>
              </a:rPr>
              <a:t>Cheatsheets</a:t>
            </a:r>
            <a:endParaRPr sz="2700">
              <a:solidFill>
                <a:srgbClr val="666666"/>
              </a:solidFill>
              <a:latin typeface="Instrument Sans"/>
              <a:ea typeface="Instrument Sans"/>
              <a:cs typeface="Instrument Sans"/>
              <a:sym typeface="Instrument Sans"/>
            </a:endParaRPr>
          </a:p>
        </p:txBody>
      </p:sp>
      <p:sp>
        <p:nvSpPr>
          <p:cNvPr id="136" name="Google Shape;136;p16"/>
          <p:cNvSpPr txBox="1"/>
          <p:nvPr/>
        </p:nvSpPr>
        <p:spPr>
          <a:xfrm>
            <a:off x="413750" y="964800"/>
            <a:ext cx="3585000" cy="572700"/>
          </a:xfrm>
          <a:prstGeom prst="rect">
            <a:avLst/>
          </a:prstGeom>
          <a:noFill/>
          <a:ln>
            <a:noFill/>
          </a:ln>
        </p:spPr>
        <p:txBody>
          <a:bodyPr anchorCtr="0" anchor="t" bIns="91425" lIns="182875" spcFirstLastPara="1" rIns="91425" wrap="square" tIns="182875">
            <a:noAutofit/>
          </a:bodyPr>
          <a:lstStyle/>
          <a:p>
            <a:pPr indent="0" lvl="0" marL="0" rtl="0" algn="l">
              <a:spcBef>
                <a:spcPts val="0"/>
              </a:spcBef>
              <a:spcAft>
                <a:spcPts val="0"/>
              </a:spcAft>
              <a:buNone/>
            </a:pPr>
            <a:r>
              <a:rPr lang="en" sz="2700">
                <a:solidFill>
                  <a:srgbClr val="666666"/>
                </a:solidFill>
                <a:latin typeface="Instrument Sans"/>
                <a:ea typeface="Instrument Sans"/>
                <a:cs typeface="Instrument Sans"/>
                <a:sym typeface="Instrument Sans"/>
              </a:rPr>
              <a:t>Project Refactoring</a:t>
            </a:r>
            <a:endParaRPr sz="2700">
              <a:solidFill>
                <a:srgbClr val="666666"/>
              </a:solidFill>
              <a:latin typeface="Instrument Sans"/>
              <a:ea typeface="Instrument Sans"/>
              <a:cs typeface="Instrument Sans"/>
              <a:sym typeface="Instrument Sans"/>
            </a:endParaRPr>
          </a:p>
        </p:txBody>
      </p:sp>
      <p:sp>
        <p:nvSpPr>
          <p:cNvPr id="137" name="Google Shape;137;p16"/>
          <p:cNvSpPr txBox="1"/>
          <p:nvPr/>
        </p:nvSpPr>
        <p:spPr>
          <a:xfrm>
            <a:off x="76150" y="1537500"/>
            <a:ext cx="4456800" cy="2344500"/>
          </a:xfrm>
          <a:prstGeom prst="rect">
            <a:avLst/>
          </a:prstGeom>
          <a:noFill/>
          <a:ln>
            <a:noFill/>
          </a:ln>
        </p:spPr>
        <p:txBody>
          <a:bodyPr anchorCtr="0" anchor="t" bIns="91425" lIns="182875" spcFirstLastPara="1" rIns="91425" wrap="square" tIns="182875">
            <a:noAutofit/>
          </a:bodyPr>
          <a:lstStyle/>
          <a:p>
            <a:pPr indent="-330200" lvl="0" marL="4572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Config Files</a:t>
            </a:r>
            <a:endParaRPr sz="1600">
              <a:solidFill>
                <a:srgbClr val="666666"/>
              </a:solidFill>
              <a:latin typeface="Instrument Sans"/>
              <a:ea typeface="Instrument Sans"/>
              <a:cs typeface="Instrument Sans"/>
              <a:sym typeface="Instrument Sans"/>
            </a:endParaRPr>
          </a:p>
          <a:p>
            <a:pPr indent="-323850" lvl="1" marL="914400" rtl="0" algn="l">
              <a:spcBef>
                <a:spcPts val="0"/>
              </a:spcBef>
              <a:spcAft>
                <a:spcPts val="0"/>
              </a:spcAft>
              <a:buClr>
                <a:srgbClr val="666666"/>
              </a:buClr>
              <a:buSzPts val="1500"/>
              <a:buFont typeface="Instrument Sans"/>
              <a:buChar char="○"/>
            </a:pPr>
            <a:r>
              <a:rPr lang="en" sz="1500">
                <a:solidFill>
                  <a:srgbClr val="666666"/>
                </a:solidFill>
                <a:latin typeface="Instrument Sans"/>
                <a:ea typeface="Instrument Sans"/>
                <a:cs typeface="Instrument Sans"/>
                <a:sym typeface="Instrument Sans"/>
              </a:rPr>
              <a:t>Split configuration .yml files into project and analysis</a:t>
            </a:r>
            <a:endParaRPr sz="1500">
              <a:solidFill>
                <a:srgbClr val="666666"/>
              </a:solidFill>
              <a:latin typeface="Instrument Sans"/>
              <a:ea typeface="Instrument Sans"/>
              <a:cs typeface="Instrument Sans"/>
              <a:sym typeface="Instrument Sans"/>
            </a:endParaRPr>
          </a:p>
          <a:p>
            <a:pPr indent="-330200" lvl="0" marL="4572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Data Schema</a:t>
            </a:r>
            <a:endParaRPr sz="1600">
              <a:solidFill>
                <a:srgbClr val="666666"/>
              </a:solidFill>
              <a:latin typeface="Instrument Sans"/>
              <a:ea typeface="Instrument Sans"/>
              <a:cs typeface="Instrument Sans"/>
              <a:sym typeface="Instrument Sans"/>
            </a:endParaRPr>
          </a:p>
          <a:p>
            <a:pPr indent="-330200" lvl="1" marL="9144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System for documenting tables and their merges</a:t>
            </a:r>
            <a:endParaRPr sz="1600">
              <a:solidFill>
                <a:srgbClr val="666666"/>
              </a:solidFill>
              <a:latin typeface="Instrument Sans"/>
              <a:ea typeface="Instrument Sans"/>
              <a:cs typeface="Instrument Sans"/>
              <a:sym typeface="Instrument Sans"/>
            </a:endParaRPr>
          </a:p>
          <a:p>
            <a:pPr indent="-330200" lvl="0" marL="4572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Executable Files</a:t>
            </a:r>
            <a:endParaRPr sz="1600">
              <a:solidFill>
                <a:srgbClr val="666666"/>
              </a:solidFill>
              <a:latin typeface="Instrument Sans"/>
              <a:ea typeface="Instrument Sans"/>
              <a:cs typeface="Instrument Sans"/>
              <a:sym typeface="Instrument Sans"/>
            </a:endParaRPr>
          </a:p>
          <a:p>
            <a:pPr indent="-330200" lvl="1" marL="9144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Created new executables and standardized existing ones</a:t>
            </a:r>
            <a:endParaRPr sz="1600">
              <a:solidFill>
                <a:srgbClr val="666666"/>
              </a:solidFill>
              <a:latin typeface="Instrument Sans"/>
              <a:ea typeface="Instrument Sans"/>
              <a:cs typeface="Instrument Sans"/>
              <a:sym typeface="Instrument Sans"/>
            </a:endParaRPr>
          </a:p>
          <a:p>
            <a:pPr indent="-330200" lvl="0" marL="4572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Unit Tests</a:t>
            </a:r>
            <a:endParaRPr sz="1600">
              <a:solidFill>
                <a:srgbClr val="666666"/>
              </a:solidFill>
              <a:latin typeface="Instrument Sans"/>
              <a:ea typeface="Instrument Sans"/>
              <a:cs typeface="Instrument Sans"/>
              <a:sym typeface="Instrument Sans"/>
            </a:endParaRPr>
          </a:p>
          <a:p>
            <a:pPr indent="-330200" lvl="1" marL="9144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Created new tests, and implemented new types of tests</a:t>
            </a:r>
            <a:endParaRPr sz="1600">
              <a:solidFill>
                <a:srgbClr val="666666"/>
              </a:solidFill>
              <a:latin typeface="Instrument Sans"/>
              <a:ea typeface="Instrument Sans"/>
              <a:cs typeface="Instrument Sans"/>
              <a:sym typeface="Instrument Sans"/>
            </a:endParaRPr>
          </a:p>
          <a:p>
            <a:pPr indent="0" lvl="0" marL="914400" rtl="0" algn="l">
              <a:spcBef>
                <a:spcPts val="0"/>
              </a:spcBef>
              <a:spcAft>
                <a:spcPts val="0"/>
              </a:spcAft>
              <a:buNone/>
            </a:pPr>
            <a:r>
              <a:t/>
            </a:r>
            <a:endParaRPr sz="1600">
              <a:solidFill>
                <a:srgbClr val="666666"/>
              </a:solidFill>
              <a:latin typeface="Instrument Sans"/>
              <a:ea typeface="Instrument Sans"/>
              <a:cs typeface="Instrument Sans"/>
              <a:sym typeface="Instrument Sans"/>
            </a:endParaRPr>
          </a:p>
        </p:txBody>
      </p:sp>
      <p:sp>
        <p:nvSpPr>
          <p:cNvPr id="138" name="Google Shape;138;p16"/>
          <p:cNvSpPr txBox="1"/>
          <p:nvPr/>
        </p:nvSpPr>
        <p:spPr>
          <a:xfrm>
            <a:off x="5929100" y="1618663"/>
            <a:ext cx="3178800" cy="2194800"/>
          </a:xfrm>
          <a:prstGeom prst="rect">
            <a:avLst/>
          </a:prstGeom>
          <a:noFill/>
          <a:ln>
            <a:noFill/>
          </a:ln>
        </p:spPr>
        <p:txBody>
          <a:bodyPr anchorCtr="0" anchor="t" bIns="91425" lIns="182875" spcFirstLastPara="1" rIns="91425" wrap="square" tIns="182875">
            <a:noAutofit/>
          </a:bodyPr>
          <a:lstStyle/>
          <a:p>
            <a:pPr indent="-330200" lvl="0" marL="4572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We each created our own cheatsheets and saved them to Kaiaulu’s cheatsheet repo</a:t>
            </a:r>
            <a:endParaRPr sz="1600">
              <a:solidFill>
                <a:srgbClr val="666666"/>
              </a:solidFill>
              <a:latin typeface="Instrument Sans"/>
              <a:ea typeface="Instrument Sans"/>
              <a:cs typeface="Instrument Sans"/>
              <a:sym typeface="Instrument Sans"/>
            </a:endParaRPr>
          </a:p>
          <a:p>
            <a:pPr indent="-330200" lvl="0" marL="457200" rtl="0" algn="l">
              <a:spcBef>
                <a:spcPts val="0"/>
              </a:spcBef>
              <a:spcAft>
                <a:spcPts val="0"/>
              </a:spcAft>
              <a:buClr>
                <a:srgbClr val="666666"/>
              </a:buClr>
              <a:buSzPts val="1600"/>
              <a:buFont typeface="Instrument Sans"/>
              <a:buChar char="●"/>
            </a:pPr>
            <a:r>
              <a:rPr lang="en" sz="1600">
                <a:solidFill>
                  <a:srgbClr val="666666"/>
                </a:solidFill>
                <a:latin typeface="Instrument Sans"/>
                <a:ea typeface="Instrument Sans"/>
                <a:cs typeface="Instrument Sans"/>
                <a:sym typeface="Instrument Sans"/>
              </a:rPr>
              <a:t>This helps users and developers understand how Kaiaulu work</a:t>
            </a:r>
            <a:r>
              <a:rPr lang="en" sz="1600">
                <a:solidFill>
                  <a:srgbClr val="666666"/>
                </a:solidFill>
                <a:latin typeface="Instrument Sans"/>
                <a:ea typeface="Instrument Sans"/>
                <a:cs typeface="Instrument Sans"/>
                <a:sym typeface="Instrument Sans"/>
              </a:rPr>
              <a:t>s</a:t>
            </a:r>
            <a:endParaRPr sz="1600">
              <a:solidFill>
                <a:srgbClr val="666666"/>
              </a:solidFill>
              <a:latin typeface="Instrument Sans"/>
              <a:ea typeface="Instrument Sans"/>
              <a:cs typeface="Instrument Sans"/>
              <a:sym typeface="Instrument Sans"/>
            </a:endParaRPr>
          </a:p>
          <a:p>
            <a:pPr indent="0" lvl="0" marL="914400" rtl="0" algn="l">
              <a:spcBef>
                <a:spcPts val="0"/>
              </a:spcBef>
              <a:spcAft>
                <a:spcPts val="0"/>
              </a:spcAft>
              <a:buNone/>
            </a:pPr>
            <a:r>
              <a:t/>
            </a:r>
            <a:endParaRPr sz="1600">
              <a:solidFill>
                <a:srgbClr val="666666"/>
              </a:solidFill>
              <a:latin typeface="Instrument Sans"/>
              <a:ea typeface="Instrument Sans"/>
              <a:cs typeface="Instrument Sans"/>
              <a:sym typeface="Instrument Sans"/>
            </a:endParaRPr>
          </a:p>
        </p:txBody>
      </p:sp>
      <p:sp>
        <p:nvSpPr>
          <p:cNvPr id="139" name="Google Shape;139;p16"/>
          <p:cNvSpPr txBox="1"/>
          <p:nvPr/>
        </p:nvSpPr>
        <p:spPr>
          <a:xfrm>
            <a:off x="0" y="-2425"/>
            <a:ext cx="1021800" cy="1038000"/>
          </a:xfrm>
          <a:prstGeom prst="rect">
            <a:avLst/>
          </a:prstGeom>
          <a:solidFill>
            <a:srgbClr val="541301"/>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t/>
            </a:r>
            <a:endParaRPr sz="1126">
              <a:solidFill>
                <a:srgbClr val="FDFDFC"/>
              </a:solidFill>
              <a:latin typeface="Poppins"/>
              <a:ea typeface="Poppins"/>
              <a:cs typeface="Poppins"/>
              <a:sym typeface="Poppins"/>
            </a:endParaRPr>
          </a:p>
        </p:txBody>
      </p:sp>
      <p:sp>
        <p:nvSpPr>
          <p:cNvPr id="140" name="Google Shape;140;p16"/>
          <p:cNvSpPr txBox="1"/>
          <p:nvPr/>
        </p:nvSpPr>
        <p:spPr>
          <a:xfrm>
            <a:off x="3941" y="2543"/>
            <a:ext cx="1014000" cy="1029900"/>
          </a:xfrm>
          <a:prstGeom prst="rect">
            <a:avLst/>
          </a:prstGeom>
          <a:solidFill>
            <a:schemeClr val="accent1"/>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rPr lang="en" sz="1930">
                <a:solidFill>
                  <a:srgbClr val="FDFDFC"/>
                </a:solidFill>
                <a:latin typeface="Instrument Sans"/>
                <a:ea typeface="Instrument Sans"/>
                <a:cs typeface="Instrument Sans"/>
                <a:sym typeface="Instrument Sans"/>
              </a:rPr>
              <a:t>01</a:t>
            </a:r>
            <a:endParaRPr sz="1930">
              <a:solidFill>
                <a:srgbClr val="FDFDFC"/>
              </a:solidFill>
              <a:latin typeface="Instrument Sans"/>
              <a:ea typeface="Instrument Sans"/>
              <a:cs typeface="Instrument Sans"/>
              <a:sym typeface="Instrument Sans"/>
            </a:endParaRPr>
          </a:p>
        </p:txBody>
      </p:sp>
      <p:cxnSp>
        <p:nvCxnSpPr>
          <p:cNvPr id="141" name="Google Shape;141;p16"/>
          <p:cNvCxnSpPr/>
          <p:nvPr/>
        </p:nvCxnSpPr>
        <p:spPr>
          <a:xfrm>
            <a:off x="572325" y="1035563"/>
            <a:ext cx="7265100" cy="9000"/>
          </a:xfrm>
          <a:prstGeom prst="straightConnector1">
            <a:avLst/>
          </a:prstGeom>
          <a:noFill/>
          <a:ln cap="flat" cmpd="sng" w="9525">
            <a:solidFill>
              <a:schemeClr val="dk2"/>
            </a:solidFill>
            <a:prstDash val="solid"/>
            <a:round/>
            <a:headEnd len="med" w="med" type="none"/>
            <a:tailEnd len="med" w="med" type="none"/>
          </a:ln>
        </p:spPr>
      </p:cxnSp>
      <p:pic>
        <p:nvPicPr>
          <p:cNvPr id="142" name="Google Shape;142;p16"/>
          <p:cNvPicPr preferRelativeResize="0"/>
          <p:nvPr/>
        </p:nvPicPr>
        <p:blipFill>
          <a:blip r:embed="rId6">
            <a:alphaModFix/>
          </a:blip>
          <a:stretch>
            <a:fillRect/>
          </a:stretch>
        </p:blipFill>
        <p:spPr>
          <a:xfrm>
            <a:off x="4698075" y="1602600"/>
            <a:ext cx="1341669" cy="1038001"/>
          </a:xfrm>
          <a:prstGeom prst="rect">
            <a:avLst/>
          </a:prstGeom>
          <a:solidFill>
            <a:srgbClr val="CFE2F3"/>
          </a:solidFill>
          <a:ln cap="flat" cmpd="sng" w="9525">
            <a:solidFill>
              <a:schemeClr val="lt1"/>
            </a:solidFill>
            <a:prstDash val="solid"/>
            <a:round/>
            <a:headEnd len="sm" w="sm" type="none"/>
            <a:tailEnd len="sm" w="sm" type="none"/>
          </a:ln>
        </p:spPr>
      </p:pic>
      <p:pic>
        <p:nvPicPr>
          <p:cNvPr id="143" name="Google Shape;143;p16" title="john cheatsheet.png"/>
          <p:cNvPicPr preferRelativeResize="0"/>
          <p:nvPr/>
        </p:nvPicPr>
        <p:blipFill rotWithShape="1">
          <a:blip r:embed="rId7">
            <a:alphaModFix/>
          </a:blip>
          <a:srcRect b="0" l="150" r="150" t="0"/>
          <a:stretch/>
        </p:blipFill>
        <p:spPr>
          <a:xfrm>
            <a:off x="4698075" y="2697425"/>
            <a:ext cx="1341669" cy="1038001"/>
          </a:xfrm>
          <a:prstGeom prst="rect">
            <a:avLst/>
          </a:prstGeom>
          <a:solidFill>
            <a:srgbClr val="CFE2F3"/>
          </a:solidFill>
          <a:ln cap="flat" cmpd="sng" w="9525">
            <a:solidFill>
              <a:schemeClr val="lt1"/>
            </a:solidFill>
            <a:prstDash val="solid"/>
            <a:round/>
            <a:headEnd len="sm" w="sm" type="none"/>
            <a:tailEnd len="sm" w="sm" type="none"/>
          </a:ln>
        </p:spPr>
      </p:pic>
      <p:pic>
        <p:nvPicPr>
          <p:cNvPr id="144" name="Google Shape;144;p16" title="cohen cheatsheet.png"/>
          <p:cNvPicPr preferRelativeResize="0"/>
          <p:nvPr/>
        </p:nvPicPr>
        <p:blipFill rotWithShape="1">
          <a:blip r:embed="rId8">
            <a:alphaModFix/>
          </a:blip>
          <a:srcRect b="0" l="120" r="130" t="0"/>
          <a:stretch/>
        </p:blipFill>
        <p:spPr>
          <a:xfrm>
            <a:off x="4698075" y="3829525"/>
            <a:ext cx="1341670" cy="1038002"/>
          </a:xfrm>
          <a:prstGeom prst="rect">
            <a:avLst/>
          </a:prstGeom>
          <a:solidFill>
            <a:srgbClr val="CFE2F3"/>
          </a:solidFill>
          <a:ln cap="flat" cmpd="sng" w="9525">
            <a:solidFill>
              <a:schemeClr val="lt1"/>
            </a:solidFill>
            <a:prstDash val="solid"/>
            <a:round/>
            <a:headEnd len="sm" w="sm" type="none"/>
            <a:tailEnd len="sm" w="sm" type="none"/>
          </a:ln>
        </p:spPr>
      </p:pic>
      <p:pic>
        <p:nvPicPr>
          <p:cNvPr id="145" name="Google Shape;145;p16" title="colby cheatsheet.png"/>
          <p:cNvPicPr preferRelativeResize="0"/>
          <p:nvPr/>
        </p:nvPicPr>
        <p:blipFill rotWithShape="1">
          <a:blip r:embed="rId9">
            <a:alphaModFix/>
          </a:blip>
          <a:srcRect b="60" l="0" r="0" t="60"/>
          <a:stretch/>
        </p:blipFill>
        <p:spPr>
          <a:xfrm>
            <a:off x="6142737" y="3829525"/>
            <a:ext cx="1341670" cy="1038001"/>
          </a:xfrm>
          <a:prstGeom prst="rect">
            <a:avLst/>
          </a:prstGeom>
          <a:solidFill>
            <a:srgbClr val="CFE2F3"/>
          </a:solidFill>
          <a:ln cap="flat" cmpd="sng" w="9525">
            <a:solidFill>
              <a:schemeClr val="lt1"/>
            </a:solidFill>
            <a:prstDash val="solid"/>
            <a:round/>
            <a:headEnd len="sm" w="sm" type="none"/>
            <a:tailEnd len="sm" w="sm" type="none"/>
          </a:ln>
        </p:spPr>
      </p:pic>
      <p:cxnSp>
        <p:nvCxnSpPr>
          <p:cNvPr id="146" name="Google Shape;146;p16"/>
          <p:cNvCxnSpPr/>
          <p:nvPr/>
        </p:nvCxnSpPr>
        <p:spPr>
          <a:xfrm>
            <a:off x="1966675" y="1872350"/>
            <a:ext cx="2714100" cy="1440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p16"/>
          <p:cNvCxnSpPr/>
          <p:nvPr/>
        </p:nvCxnSpPr>
        <p:spPr>
          <a:xfrm>
            <a:off x="2075550" y="2576275"/>
            <a:ext cx="2525400" cy="464400"/>
          </a:xfrm>
          <a:prstGeom prst="bentConnector3">
            <a:avLst>
              <a:gd fmla="val 86497" name="adj1"/>
            </a:avLst>
          </a:prstGeom>
          <a:noFill/>
          <a:ln cap="flat" cmpd="sng" w="9525">
            <a:solidFill>
              <a:schemeClr val="dk2"/>
            </a:solidFill>
            <a:prstDash val="solid"/>
            <a:round/>
            <a:headEnd len="med" w="med" type="none"/>
            <a:tailEnd len="med" w="med" type="none"/>
          </a:ln>
        </p:spPr>
      </p:cxnSp>
      <p:cxnSp>
        <p:nvCxnSpPr>
          <p:cNvPr id="148" name="Google Shape;148;p16"/>
          <p:cNvCxnSpPr/>
          <p:nvPr/>
        </p:nvCxnSpPr>
        <p:spPr>
          <a:xfrm>
            <a:off x="4250075" y="3033475"/>
            <a:ext cx="391800" cy="720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p16"/>
          <p:cNvCxnSpPr/>
          <p:nvPr/>
        </p:nvCxnSpPr>
        <p:spPr>
          <a:xfrm>
            <a:off x="2329550" y="3302000"/>
            <a:ext cx="2286000" cy="645900"/>
          </a:xfrm>
          <a:prstGeom prst="bentConnector3">
            <a:avLst>
              <a:gd fmla="val 83809" name="adj1"/>
            </a:avLst>
          </a:prstGeom>
          <a:noFill/>
          <a:ln cap="flat" cmpd="sng" w="9525">
            <a:solidFill>
              <a:schemeClr val="dk2"/>
            </a:solidFill>
            <a:prstDash val="solid"/>
            <a:round/>
            <a:headEnd len="med" w="med" type="none"/>
            <a:tailEnd len="med" w="med" type="none"/>
          </a:ln>
        </p:spPr>
      </p:cxnSp>
      <p:cxnSp>
        <p:nvCxnSpPr>
          <p:cNvPr id="150" name="Google Shape;150;p16"/>
          <p:cNvCxnSpPr/>
          <p:nvPr/>
        </p:nvCxnSpPr>
        <p:spPr>
          <a:xfrm>
            <a:off x="4231925" y="3947900"/>
            <a:ext cx="428100" cy="72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16"/>
          <p:cNvCxnSpPr>
            <a:endCxn id="145" idx="2"/>
          </p:cNvCxnSpPr>
          <p:nvPr/>
        </p:nvCxnSpPr>
        <p:spPr>
          <a:xfrm>
            <a:off x="1734572" y="4064126"/>
            <a:ext cx="5079000" cy="803400"/>
          </a:xfrm>
          <a:prstGeom prst="bentConnector4">
            <a:avLst>
              <a:gd fmla="val 49722" name="adj1"/>
              <a:gd fmla="val 116511" name="adj2"/>
            </a:avLst>
          </a:prstGeom>
          <a:noFill/>
          <a:ln cap="flat" cmpd="sng" w="9525">
            <a:solidFill>
              <a:schemeClr val="dk2"/>
            </a:solidFill>
            <a:prstDash val="solid"/>
            <a:round/>
            <a:headEnd len="med" w="med" type="none"/>
            <a:tailEnd len="med" w="med" type="none"/>
          </a:ln>
        </p:spPr>
      </p:cxnSp>
      <p:cxnSp>
        <p:nvCxnSpPr>
          <p:cNvPr id="152" name="Google Shape;152;p16"/>
          <p:cNvCxnSpPr/>
          <p:nvPr/>
        </p:nvCxnSpPr>
        <p:spPr>
          <a:xfrm flipH="1" rot="10800000">
            <a:off x="6809963" y="4867525"/>
            <a:ext cx="7200" cy="123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17"/>
          <p:cNvPicPr preferRelativeResize="0"/>
          <p:nvPr/>
        </p:nvPicPr>
        <p:blipFill>
          <a:blip r:embed="rId4">
            <a:alphaModFix/>
          </a:blip>
          <a:stretch>
            <a:fillRect/>
          </a:stretch>
        </p:blipFill>
        <p:spPr>
          <a:xfrm>
            <a:off x="5625968" y="-423232"/>
            <a:ext cx="3518028" cy="1879600"/>
          </a:xfrm>
          <a:prstGeom prst="rect">
            <a:avLst/>
          </a:prstGeom>
          <a:noFill/>
          <a:ln>
            <a:noFill/>
          </a:ln>
        </p:spPr>
      </p:pic>
      <p:pic>
        <p:nvPicPr>
          <p:cNvPr id="158" name="Google Shape;158;p17"/>
          <p:cNvPicPr preferRelativeResize="0"/>
          <p:nvPr/>
        </p:nvPicPr>
        <p:blipFill>
          <a:blip r:embed="rId5">
            <a:alphaModFix/>
          </a:blip>
          <a:stretch>
            <a:fillRect/>
          </a:stretch>
        </p:blipFill>
        <p:spPr>
          <a:xfrm>
            <a:off x="7973175" y="139197"/>
            <a:ext cx="971550" cy="1132101"/>
          </a:xfrm>
          <a:prstGeom prst="rect">
            <a:avLst/>
          </a:prstGeom>
          <a:noFill/>
          <a:ln>
            <a:noFill/>
          </a:ln>
        </p:spPr>
      </p:pic>
      <p:sp>
        <p:nvSpPr>
          <p:cNvPr id="159" name="Google Shape;159;p17"/>
          <p:cNvSpPr txBox="1"/>
          <p:nvPr>
            <p:ph idx="4294967295" type="title"/>
          </p:nvPr>
        </p:nvSpPr>
        <p:spPr>
          <a:xfrm>
            <a:off x="503850" y="139200"/>
            <a:ext cx="8136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800">
                <a:solidFill>
                  <a:srgbClr val="3D85C6"/>
                </a:solidFill>
                <a:latin typeface="Poppins"/>
                <a:ea typeface="Poppins"/>
                <a:cs typeface="Poppins"/>
                <a:sym typeface="Poppins"/>
              </a:rPr>
              <a:t>Quality Assurance Metrics</a:t>
            </a:r>
            <a:endParaRPr b="1" sz="3800">
              <a:solidFill>
                <a:srgbClr val="3D85C6"/>
              </a:solidFill>
              <a:latin typeface="Poppins"/>
              <a:ea typeface="Poppins"/>
              <a:cs typeface="Poppins"/>
              <a:sym typeface="Poppins"/>
            </a:endParaRPr>
          </a:p>
        </p:txBody>
      </p:sp>
      <p:sp>
        <p:nvSpPr>
          <p:cNvPr id="160" name="Google Shape;160;p17"/>
          <p:cNvSpPr txBox="1"/>
          <p:nvPr/>
        </p:nvSpPr>
        <p:spPr>
          <a:xfrm>
            <a:off x="372875" y="1016275"/>
            <a:ext cx="3813000" cy="440100"/>
          </a:xfrm>
          <a:prstGeom prst="rect">
            <a:avLst/>
          </a:prstGeom>
          <a:noFill/>
          <a:ln>
            <a:noFill/>
          </a:ln>
        </p:spPr>
        <p:txBody>
          <a:bodyPr anchorCtr="0" anchor="t" bIns="91425" lIns="182875" spcFirstLastPara="1" rIns="91425" wrap="square" tIns="182875">
            <a:noAutofit/>
          </a:bodyPr>
          <a:lstStyle/>
          <a:p>
            <a:pPr indent="0" lvl="0" marL="0" rtl="0" algn="l">
              <a:spcBef>
                <a:spcPts val="0"/>
              </a:spcBef>
              <a:spcAft>
                <a:spcPts val="0"/>
              </a:spcAft>
              <a:buNone/>
            </a:pPr>
            <a:r>
              <a:rPr lang="en" sz="2700">
                <a:solidFill>
                  <a:srgbClr val="666666"/>
                </a:solidFill>
                <a:latin typeface="Instrument Sans"/>
                <a:ea typeface="Instrument Sans"/>
                <a:cs typeface="Instrument Sans"/>
                <a:sym typeface="Instrument Sans"/>
              </a:rPr>
              <a:t>Roles</a:t>
            </a:r>
            <a:endParaRPr sz="2700">
              <a:solidFill>
                <a:srgbClr val="666666"/>
              </a:solidFill>
              <a:latin typeface="Instrument Sans"/>
              <a:ea typeface="Instrument Sans"/>
              <a:cs typeface="Instrument Sans"/>
              <a:sym typeface="Instrument Sans"/>
            </a:endParaRPr>
          </a:p>
        </p:txBody>
      </p:sp>
      <p:sp>
        <p:nvSpPr>
          <p:cNvPr id="161" name="Google Shape;161;p17"/>
          <p:cNvSpPr txBox="1"/>
          <p:nvPr/>
        </p:nvSpPr>
        <p:spPr>
          <a:xfrm>
            <a:off x="545975" y="1585800"/>
            <a:ext cx="3813000" cy="2944800"/>
          </a:xfrm>
          <a:prstGeom prst="rect">
            <a:avLst/>
          </a:prstGeom>
          <a:noFill/>
          <a:ln>
            <a:noFill/>
          </a:ln>
        </p:spPr>
        <p:txBody>
          <a:bodyPr anchorCtr="0" anchor="t" bIns="91425" lIns="182875" spcFirstLastPara="1" rIns="91425" wrap="square" tIns="91425">
            <a:noAutofit/>
          </a:bodyPr>
          <a:lstStyle/>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Code </a:t>
            </a:r>
            <a:r>
              <a:rPr lang="en" sz="1600">
                <a:solidFill>
                  <a:schemeClr val="dk2"/>
                </a:solidFill>
                <a:latin typeface="Instrument Sans"/>
                <a:ea typeface="Instrument Sans"/>
                <a:cs typeface="Instrument Sans"/>
                <a:sym typeface="Instrument Sans"/>
              </a:rPr>
              <a:t>Architect: Design and style consistency in the codebase</a:t>
            </a:r>
            <a:endParaRPr sz="1600">
              <a:solidFill>
                <a:schemeClr val="dk2"/>
              </a:solidFill>
              <a:latin typeface="Instrument Sans"/>
              <a:ea typeface="Instrument Sans"/>
              <a:cs typeface="Instrument Sans"/>
              <a:sym typeface="Instrument Sans"/>
            </a:endParaRPr>
          </a:p>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Quality Manager: Runs code with unit tests</a:t>
            </a:r>
            <a:endParaRPr sz="1600">
              <a:solidFill>
                <a:schemeClr val="dk2"/>
              </a:solidFill>
              <a:latin typeface="Instrument Sans"/>
              <a:ea typeface="Instrument Sans"/>
              <a:cs typeface="Instrument Sans"/>
              <a:sym typeface="Instrument Sans"/>
            </a:endParaRPr>
          </a:p>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Project Manager: Timeline management</a:t>
            </a:r>
            <a:endParaRPr sz="1600">
              <a:solidFill>
                <a:schemeClr val="dk2"/>
              </a:solidFill>
              <a:latin typeface="Instrument Sans"/>
              <a:ea typeface="Instrument Sans"/>
              <a:cs typeface="Instrument Sans"/>
              <a:sym typeface="Instrument Sans"/>
            </a:endParaRPr>
          </a:p>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Liaison: Communication with the sponsor and group members</a:t>
            </a:r>
            <a:endParaRPr sz="1600">
              <a:solidFill>
                <a:schemeClr val="dk2"/>
              </a:solidFill>
              <a:latin typeface="Instrument Sans"/>
              <a:ea typeface="Instrument Sans"/>
              <a:cs typeface="Instrument Sans"/>
              <a:sym typeface="Instrument Sans"/>
            </a:endParaRPr>
          </a:p>
          <a:p>
            <a:pPr indent="0" lvl="0" marL="0" rtl="0" algn="l">
              <a:spcBef>
                <a:spcPts val="0"/>
              </a:spcBef>
              <a:spcAft>
                <a:spcPts val="0"/>
              </a:spcAft>
              <a:buNone/>
            </a:pPr>
            <a:r>
              <a:rPr lang="en" sz="1600">
                <a:solidFill>
                  <a:schemeClr val="dk2"/>
                </a:solidFill>
                <a:latin typeface="Instrument Sans"/>
                <a:ea typeface="Instrument Sans"/>
                <a:cs typeface="Instrument Sans"/>
                <a:sym typeface="Instrument Sans"/>
              </a:rPr>
              <a:t>Roles can be transferred to other members of the group depending on their background and the specific section of the code</a:t>
            </a:r>
            <a:endParaRPr sz="1600">
              <a:solidFill>
                <a:schemeClr val="dk2"/>
              </a:solidFill>
              <a:latin typeface="Instrument Sans"/>
              <a:ea typeface="Instrument Sans"/>
              <a:cs typeface="Instrument Sans"/>
              <a:sym typeface="Instrument Sans"/>
            </a:endParaRPr>
          </a:p>
        </p:txBody>
      </p:sp>
      <p:pic>
        <p:nvPicPr>
          <p:cNvPr id="162" name="Google Shape;162;p17"/>
          <p:cNvPicPr preferRelativeResize="0"/>
          <p:nvPr/>
        </p:nvPicPr>
        <p:blipFill>
          <a:blip r:embed="rId6">
            <a:alphaModFix/>
          </a:blip>
          <a:stretch>
            <a:fillRect/>
          </a:stretch>
        </p:blipFill>
        <p:spPr>
          <a:xfrm>
            <a:off x="4572000" y="1327850"/>
            <a:ext cx="4082924" cy="3034274"/>
          </a:xfrm>
          <a:prstGeom prst="rect">
            <a:avLst/>
          </a:prstGeom>
          <a:noFill/>
          <a:ln>
            <a:noFill/>
          </a:ln>
        </p:spPr>
      </p:pic>
      <p:sp>
        <p:nvSpPr>
          <p:cNvPr id="163" name="Google Shape;163;p17"/>
          <p:cNvSpPr txBox="1"/>
          <p:nvPr/>
        </p:nvSpPr>
        <p:spPr>
          <a:xfrm>
            <a:off x="0" y="-2425"/>
            <a:ext cx="1021800" cy="1038000"/>
          </a:xfrm>
          <a:prstGeom prst="rect">
            <a:avLst/>
          </a:prstGeom>
          <a:solidFill>
            <a:srgbClr val="541301"/>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t/>
            </a:r>
            <a:endParaRPr sz="1126">
              <a:solidFill>
                <a:srgbClr val="FDFDFC"/>
              </a:solidFill>
              <a:latin typeface="Poppins"/>
              <a:ea typeface="Poppins"/>
              <a:cs typeface="Poppins"/>
              <a:sym typeface="Poppins"/>
            </a:endParaRPr>
          </a:p>
        </p:txBody>
      </p:sp>
      <p:sp>
        <p:nvSpPr>
          <p:cNvPr id="164" name="Google Shape;164;p17"/>
          <p:cNvSpPr txBox="1"/>
          <p:nvPr/>
        </p:nvSpPr>
        <p:spPr>
          <a:xfrm>
            <a:off x="3941" y="2543"/>
            <a:ext cx="1014000" cy="1029900"/>
          </a:xfrm>
          <a:prstGeom prst="rect">
            <a:avLst/>
          </a:prstGeom>
          <a:solidFill>
            <a:srgbClr val="A9B0FE"/>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rPr lang="en" sz="1930">
                <a:solidFill>
                  <a:srgbClr val="FDFDFC"/>
                </a:solidFill>
                <a:latin typeface="Instrument Sans"/>
                <a:ea typeface="Instrument Sans"/>
                <a:cs typeface="Instrument Sans"/>
                <a:sym typeface="Instrument Sans"/>
              </a:rPr>
              <a:t>02</a:t>
            </a:r>
            <a:endParaRPr sz="1930">
              <a:solidFill>
                <a:srgbClr val="FDFDFC"/>
              </a:solidFill>
              <a:latin typeface="Instrument Sans"/>
              <a:ea typeface="Instrument Sans"/>
              <a:cs typeface="Instrument Sans"/>
              <a:sym typeface="Instrument Sans"/>
            </a:endParaRPr>
          </a:p>
        </p:txBody>
      </p:sp>
      <p:cxnSp>
        <p:nvCxnSpPr>
          <p:cNvPr id="165" name="Google Shape;165;p17"/>
          <p:cNvCxnSpPr/>
          <p:nvPr/>
        </p:nvCxnSpPr>
        <p:spPr>
          <a:xfrm>
            <a:off x="572325" y="1035563"/>
            <a:ext cx="7265100" cy="9000"/>
          </a:xfrm>
          <a:prstGeom prst="straightConnector1">
            <a:avLst/>
          </a:prstGeom>
          <a:noFill/>
          <a:ln cap="flat" cmpd="sng" w="9525">
            <a:solidFill>
              <a:schemeClr val="dk2"/>
            </a:solidFill>
            <a:prstDash val="solid"/>
            <a:round/>
            <a:headEnd len="med" w="med" type="none"/>
            <a:tailEnd len="med" w="med" type="none"/>
          </a:ln>
        </p:spPr>
      </p:cxnSp>
      <p:pic>
        <p:nvPicPr>
          <p:cNvPr id="166" name="Google Shape;166;p17"/>
          <p:cNvPicPr preferRelativeResize="0"/>
          <p:nvPr/>
        </p:nvPicPr>
        <p:blipFill>
          <a:blip r:embed="rId7">
            <a:alphaModFix/>
          </a:blip>
          <a:stretch>
            <a:fillRect/>
          </a:stretch>
        </p:blipFill>
        <p:spPr>
          <a:xfrm>
            <a:off x="4358975" y="3875300"/>
            <a:ext cx="2578525" cy="1172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8"/>
          <p:cNvPicPr preferRelativeResize="0"/>
          <p:nvPr/>
        </p:nvPicPr>
        <p:blipFill>
          <a:blip r:embed="rId4">
            <a:alphaModFix/>
          </a:blip>
          <a:stretch>
            <a:fillRect/>
          </a:stretch>
        </p:blipFill>
        <p:spPr>
          <a:xfrm>
            <a:off x="5625968" y="-423232"/>
            <a:ext cx="3518028" cy="1879600"/>
          </a:xfrm>
          <a:prstGeom prst="rect">
            <a:avLst/>
          </a:prstGeom>
          <a:noFill/>
          <a:ln>
            <a:noFill/>
          </a:ln>
        </p:spPr>
      </p:pic>
      <p:pic>
        <p:nvPicPr>
          <p:cNvPr id="172" name="Google Shape;172;p18"/>
          <p:cNvPicPr preferRelativeResize="0"/>
          <p:nvPr/>
        </p:nvPicPr>
        <p:blipFill>
          <a:blip r:embed="rId5">
            <a:alphaModFix/>
          </a:blip>
          <a:stretch>
            <a:fillRect/>
          </a:stretch>
        </p:blipFill>
        <p:spPr>
          <a:xfrm>
            <a:off x="7973175" y="139197"/>
            <a:ext cx="971550" cy="1132101"/>
          </a:xfrm>
          <a:prstGeom prst="rect">
            <a:avLst/>
          </a:prstGeom>
          <a:noFill/>
          <a:ln>
            <a:noFill/>
          </a:ln>
        </p:spPr>
      </p:pic>
      <p:sp>
        <p:nvSpPr>
          <p:cNvPr id="173" name="Google Shape;173;p18"/>
          <p:cNvSpPr txBox="1"/>
          <p:nvPr>
            <p:ph idx="4294967295" type="title"/>
          </p:nvPr>
        </p:nvSpPr>
        <p:spPr>
          <a:xfrm>
            <a:off x="174325" y="54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3D85C6"/>
                </a:solidFill>
                <a:latin typeface="Poppins"/>
                <a:ea typeface="Poppins"/>
                <a:cs typeface="Poppins"/>
                <a:sym typeface="Poppins"/>
              </a:rPr>
              <a:t>PM and Delivery</a:t>
            </a:r>
            <a:endParaRPr b="1" sz="4000">
              <a:solidFill>
                <a:srgbClr val="3D85C6"/>
              </a:solidFill>
              <a:latin typeface="Poppins"/>
              <a:ea typeface="Poppins"/>
              <a:cs typeface="Poppins"/>
              <a:sym typeface="Poppins"/>
            </a:endParaRPr>
          </a:p>
        </p:txBody>
      </p:sp>
      <p:sp>
        <p:nvSpPr>
          <p:cNvPr id="174" name="Google Shape;174;p18"/>
          <p:cNvSpPr txBox="1"/>
          <p:nvPr/>
        </p:nvSpPr>
        <p:spPr>
          <a:xfrm>
            <a:off x="0" y="-2425"/>
            <a:ext cx="1021800" cy="1038000"/>
          </a:xfrm>
          <a:prstGeom prst="rect">
            <a:avLst/>
          </a:prstGeom>
          <a:solidFill>
            <a:srgbClr val="541301"/>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t/>
            </a:r>
            <a:endParaRPr sz="1126">
              <a:solidFill>
                <a:srgbClr val="FDFDFC"/>
              </a:solidFill>
              <a:latin typeface="Poppins"/>
              <a:ea typeface="Poppins"/>
              <a:cs typeface="Poppins"/>
              <a:sym typeface="Poppins"/>
            </a:endParaRPr>
          </a:p>
        </p:txBody>
      </p:sp>
      <p:sp>
        <p:nvSpPr>
          <p:cNvPr id="175" name="Google Shape;175;p18"/>
          <p:cNvSpPr txBox="1"/>
          <p:nvPr/>
        </p:nvSpPr>
        <p:spPr>
          <a:xfrm>
            <a:off x="3941" y="2543"/>
            <a:ext cx="1014000" cy="1029900"/>
          </a:xfrm>
          <a:prstGeom prst="rect">
            <a:avLst/>
          </a:prstGeom>
          <a:solidFill>
            <a:srgbClr val="B9FFFF"/>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rPr lang="en" sz="1930">
                <a:solidFill>
                  <a:schemeClr val="dk1"/>
                </a:solidFill>
                <a:latin typeface="Instrument Sans"/>
                <a:ea typeface="Instrument Sans"/>
                <a:cs typeface="Instrument Sans"/>
                <a:sym typeface="Instrument Sans"/>
              </a:rPr>
              <a:t>03</a:t>
            </a:r>
            <a:endParaRPr sz="1930">
              <a:solidFill>
                <a:schemeClr val="dk1"/>
              </a:solidFill>
              <a:latin typeface="Instrument Sans"/>
              <a:ea typeface="Instrument Sans"/>
              <a:cs typeface="Instrument Sans"/>
              <a:sym typeface="Instrument Sans"/>
            </a:endParaRPr>
          </a:p>
        </p:txBody>
      </p:sp>
      <p:cxnSp>
        <p:nvCxnSpPr>
          <p:cNvPr id="176" name="Google Shape;176;p18"/>
          <p:cNvCxnSpPr/>
          <p:nvPr/>
        </p:nvCxnSpPr>
        <p:spPr>
          <a:xfrm>
            <a:off x="572325" y="1035563"/>
            <a:ext cx="7265100" cy="9000"/>
          </a:xfrm>
          <a:prstGeom prst="straightConnector1">
            <a:avLst/>
          </a:prstGeom>
          <a:noFill/>
          <a:ln cap="flat" cmpd="sng" w="9525">
            <a:solidFill>
              <a:schemeClr val="dk2"/>
            </a:solidFill>
            <a:prstDash val="solid"/>
            <a:round/>
            <a:headEnd len="med" w="med" type="none"/>
            <a:tailEnd len="med" w="med" type="none"/>
          </a:ln>
        </p:spPr>
      </p:cxnSp>
      <p:pic>
        <p:nvPicPr>
          <p:cNvPr id="177" name="Google Shape;177;p18" title="Screenshot 2026-03-03 at 6.47.20 PM.png"/>
          <p:cNvPicPr preferRelativeResize="0"/>
          <p:nvPr/>
        </p:nvPicPr>
        <p:blipFill rotWithShape="1">
          <a:blip r:embed="rId6">
            <a:alphaModFix/>
          </a:blip>
          <a:srcRect b="6350" l="0" r="0" t="0"/>
          <a:stretch/>
        </p:blipFill>
        <p:spPr>
          <a:xfrm>
            <a:off x="291175" y="2571750"/>
            <a:ext cx="4016850" cy="2343799"/>
          </a:xfrm>
          <a:prstGeom prst="rect">
            <a:avLst/>
          </a:prstGeom>
          <a:noFill/>
          <a:ln>
            <a:noFill/>
          </a:ln>
        </p:spPr>
      </p:pic>
      <p:pic>
        <p:nvPicPr>
          <p:cNvPr id="178" name="Google Shape;178;p18" title="Screenshot 2026-04-30 at 11.55.08 AM.png"/>
          <p:cNvPicPr preferRelativeResize="0"/>
          <p:nvPr/>
        </p:nvPicPr>
        <p:blipFill>
          <a:blip r:embed="rId7">
            <a:alphaModFix/>
          </a:blip>
          <a:stretch>
            <a:fillRect/>
          </a:stretch>
        </p:blipFill>
        <p:spPr>
          <a:xfrm>
            <a:off x="4668459" y="2571750"/>
            <a:ext cx="4177664" cy="2343799"/>
          </a:xfrm>
          <a:prstGeom prst="rect">
            <a:avLst/>
          </a:prstGeom>
          <a:noFill/>
          <a:ln>
            <a:noFill/>
          </a:ln>
        </p:spPr>
      </p:pic>
      <p:sp>
        <p:nvSpPr>
          <p:cNvPr id="179" name="Google Shape;179;p18"/>
          <p:cNvSpPr txBox="1"/>
          <p:nvPr/>
        </p:nvSpPr>
        <p:spPr>
          <a:xfrm>
            <a:off x="304600" y="1192325"/>
            <a:ext cx="4017000" cy="12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Calendar Milestone Tracker</a:t>
            </a:r>
            <a:endParaRPr sz="18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Overcomplicated</a:t>
            </a:r>
            <a:r>
              <a:rPr lang="en" sz="1200">
                <a:solidFill>
                  <a:schemeClr val="dk2"/>
                </a:solidFill>
              </a:rPr>
              <a:t> milestones by having separate issues to track progress</a:t>
            </a:r>
            <a:endParaRPr sz="1200">
              <a:solidFill>
                <a:schemeClr val="dk2"/>
              </a:solidFill>
            </a:endParaRPr>
          </a:p>
          <a:p>
            <a:pPr indent="-304800" lvl="0" marL="457200" rtl="0" algn="l">
              <a:spcBef>
                <a:spcPts val="0"/>
              </a:spcBef>
              <a:spcAft>
                <a:spcPts val="0"/>
              </a:spcAft>
              <a:buClr>
                <a:schemeClr val="dk2"/>
              </a:buClr>
              <a:buSzPts val="1200"/>
              <a:buChar char="●"/>
            </a:pPr>
            <a:r>
              <a:t/>
            </a:r>
            <a:endParaRPr sz="1200">
              <a:solidFill>
                <a:schemeClr val="dk2"/>
              </a:solidFill>
            </a:endParaRPr>
          </a:p>
        </p:txBody>
      </p:sp>
      <p:sp>
        <p:nvSpPr>
          <p:cNvPr id="180" name="Google Shape;180;p18"/>
          <p:cNvSpPr txBox="1"/>
          <p:nvPr/>
        </p:nvSpPr>
        <p:spPr>
          <a:xfrm>
            <a:off x="4630025" y="1235675"/>
            <a:ext cx="4177800" cy="11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Kanban Issue Tracker</a:t>
            </a:r>
            <a:endParaRPr sz="18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Linked directly to issues</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Easy to track progress</a:t>
            </a:r>
            <a:endParaRPr sz="12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p:nvPr/>
        </p:nvSpPr>
        <p:spPr>
          <a:xfrm>
            <a:off x="4854425" y="1602600"/>
            <a:ext cx="4076100" cy="3119700"/>
          </a:xfrm>
          <a:prstGeom prst="rect">
            <a:avLst/>
          </a:prstGeom>
          <a:solidFill>
            <a:srgbClr val="CFE2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19"/>
          <p:cNvSpPr/>
          <p:nvPr/>
        </p:nvSpPr>
        <p:spPr>
          <a:xfrm>
            <a:off x="236575" y="1602600"/>
            <a:ext cx="4076100" cy="3119700"/>
          </a:xfrm>
          <a:prstGeom prst="rect">
            <a:avLst/>
          </a:prstGeom>
          <a:solidFill>
            <a:srgbClr val="CFE2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7" name="Google Shape;187;p19"/>
          <p:cNvPicPr preferRelativeResize="0"/>
          <p:nvPr/>
        </p:nvPicPr>
        <p:blipFill>
          <a:blip r:embed="rId4">
            <a:alphaModFix/>
          </a:blip>
          <a:stretch>
            <a:fillRect/>
          </a:stretch>
        </p:blipFill>
        <p:spPr>
          <a:xfrm>
            <a:off x="5931218" y="-423232"/>
            <a:ext cx="3518028" cy="1879600"/>
          </a:xfrm>
          <a:prstGeom prst="rect">
            <a:avLst/>
          </a:prstGeom>
          <a:noFill/>
          <a:ln>
            <a:noFill/>
          </a:ln>
        </p:spPr>
      </p:pic>
      <p:pic>
        <p:nvPicPr>
          <p:cNvPr id="188" name="Google Shape;188;p19"/>
          <p:cNvPicPr preferRelativeResize="0"/>
          <p:nvPr/>
        </p:nvPicPr>
        <p:blipFill>
          <a:blip r:embed="rId5">
            <a:alphaModFix/>
          </a:blip>
          <a:stretch>
            <a:fillRect/>
          </a:stretch>
        </p:blipFill>
        <p:spPr>
          <a:xfrm>
            <a:off x="7973175" y="139197"/>
            <a:ext cx="971550" cy="1132101"/>
          </a:xfrm>
          <a:prstGeom prst="rect">
            <a:avLst/>
          </a:prstGeom>
          <a:noFill/>
          <a:ln>
            <a:noFill/>
          </a:ln>
        </p:spPr>
      </p:pic>
      <p:sp>
        <p:nvSpPr>
          <p:cNvPr id="189" name="Google Shape;189;p19"/>
          <p:cNvSpPr txBox="1"/>
          <p:nvPr>
            <p:ph idx="4294967295" type="title"/>
          </p:nvPr>
        </p:nvSpPr>
        <p:spPr>
          <a:xfrm>
            <a:off x="98000" y="1392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3D85C6"/>
                </a:solidFill>
                <a:latin typeface="Poppins"/>
                <a:ea typeface="Poppins"/>
                <a:cs typeface="Poppins"/>
                <a:sym typeface="Poppins"/>
              </a:rPr>
              <a:t>Reflections</a:t>
            </a:r>
            <a:endParaRPr b="1" sz="4000">
              <a:solidFill>
                <a:srgbClr val="3D85C6"/>
              </a:solidFill>
              <a:latin typeface="Poppins"/>
              <a:ea typeface="Poppins"/>
              <a:cs typeface="Poppins"/>
              <a:sym typeface="Poppins"/>
            </a:endParaRPr>
          </a:p>
        </p:txBody>
      </p:sp>
      <p:sp>
        <p:nvSpPr>
          <p:cNvPr id="190" name="Google Shape;190;p19"/>
          <p:cNvSpPr txBox="1"/>
          <p:nvPr/>
        </p:nvSpPr>
        <p:spPr>
          <a:xfrm>
            <a:off x="545975" y="1585800"/>
            <a:ext cx="3813000" cy="2944800"/>
          </a:xfrm>
          <a:prstGeom prst="rect">
            <a:avLst/>
          </a:prstGeom>
          <a:noFill/>
          <a:ln>
            <a:noFill/>
          </a:ln>
        </p:spPr>
        <p:txBody>
          <a:bodyPr anchorCtr="0" anchor="t" bIns="91425" lIns="182875" spcFirstLastPara="1" rIns="91425" wrap="square" tIns="91425">
            <a:noAutofit/>
          </a:bodyPr>
          <a:lstStyle/>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Communication </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Time zones</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Vague project specifications</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Team mates</a:t>
            </a:r>
            <a:endParaRPr sz="1600">
              <a:solidFill>
                <a:schemeClr val="dk2"/>
              </a:solidFill>
              <a:latin typeface="Instrument Sans"/>
              <a:ea typeface="Instrument Sans"/>
              <a:cs typeface="Instrument Sans"/>
              <a:sym typeface="Instrument Sans"/>
            </a:endParaRPr>
          </a:p>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Effective teamwork</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Project work is </a:t>
            </a:r>
            <a:r>
              <a:rPr lang="en" sz="1600">
                <a:solidFill>
                  <a:schemeClr val="dk2"/>
                </a:solidFill>
                <a:latin typeface="Instrument Sans"/>
                <a:ea typeface="Instrument Sans"/>
                <a:cs typeface="Instrument Sans"/>
                <a:sym typeface="Instrument Sans"/>
              </a:rPr>
              <a:t>disconnected</a:t>
            </a:r>
            <a:r>
              <a:rPr lang="en" sz="1600">
                <a:solidFill>
                  <a:schemeClr val="dk2"/>
                </a:solidFill>
                <a:latin typeface="Instrument Sans"/>
                <a:ea typeface="Instrument Sans"/>
                <a:cs typeface="Instrument Sans"/>
                <a:sym typeface="Instrument Sans"/>
              </a:rPr>
              <a:t> from each other</a:t>
            </a:r>
            <a:endParaRPr sz="1600">
              <a:solidFill>
                <a:schemeClr val="dk2"/>
              </a:solidFill>
              <a:latin typeface="Instrument Sans"/>
              <a:ea typeface="Instrument Sans"/>
              <a:cs typeface="Instrument Sans"/>
              <a:sym typeface="Instrument Sans"/>
            </a:endParaRPr>
          </a:p>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Timeline management</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Falling behind on deadlines</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without a end product</a:t>
            </a:r>
            <a:endParaRPr sz="1600">
              <a:solidFill>
                <a:schemeClr val="dk2"/>
              </a:solidFill>
              <a:latin typeface="Instrument Sans"/>
              <a:ea typeface="Instrument Sans"/>
              <a:cs typeface="Instrument Sans"/>
              <a:sym typeface="Instrument Sans"/>
            </a:endParaRPr>
          </a:p>
        </p:txBody>
      </p:sp>
      <p:sp>
        <p:nvSpPr>
          <p:cNvPr id="191" name="Google Shape;191;p19"/>
          <p:cNvSpPr txBox="1"/>
          <p:nvPr/>
        </p:nvSpPr>
        <p:spPr>
          <a:xfrm>
            <a:off x="368125" y="978100"/>
            <a:ext cx="3813000" cy="440100"/>
          </a:xfrm>
          <a:prstGeom prst="rect">
            <a:avLst/>
          </a:prstGeom>
          <a:noFill/>
          <a:ln>
            <a:noFill/>
          </a:ln>
        </p:spPr>
        <p:txBody>
          <a:bodyPr anchorCtr="0" anchor="t" bIns="91425" lIns="182875" spcFirstLastPara="1" rIns="91425" wrap="square" tIns="182875">
            <a:noAutofit/>
          </a:bodyPr>
          <a:lstStyle/>
          <a:p>
            <a:pPr indent="0" lvl="0" marL="0" rtl="0" algn="l">
              <a:spcBef>
                <a:spcPts val="0"/>
              </a:spcBef>
              <a:spcAft>
                <a:spcPts val="0"/>
              </a:spcAft>
              <a:buNone/>
            </a:pPr>
            <a:r>
              <a:rPr lang="en" sz="2700">
                <a:solidFill>
                  <a:srgbClr val="666666"/>
                </a:solidFill>
                <a:latin typeface="Instrument Sans"/>
                <a:ea typeface="Instrument Sans"/>
                <a:cs typeface="Instrument Sans"/>
                <a:sym typeface="Instrument Sans"/>
              </a:rPr>
              <a:t>Challenges</a:t>
            </a:r>
            <a:endParaRPr sz="2700">
              <a:solidFill>
                <a:srgbClr val="666666"/>
              </a:solidFill>
              <a:latin typeface="Instrument Sans"/>
              <a:ea typeface="Instrument Sans"/>
              <a:cs typeface="Instrument Sans"/>
              <a:sym typeface="Instrument Sans"/>
            </a:endParaRPr>
          </a:p>
        </p:txBody>
      </p:sp>
      <p:sp>
        <p:nvSpPr>
          <p:cNvPr id="192" name="Google Shape;192;p19"/>
          <p:cNvSpPr txBox="1"/>
          <p:nvPr/>
        </p:nvSpPr>
        <p:spPr>
          <a:xfrm>
            <a:off x="4854425" y="978100"/>
            <a:ext cx="3813000" cy="440100"/>
          </a:xfrm>
          <a:prstGeom prst="rect">
            <a:avLst/>
          </a:prstGeom>
          <a:noFill/>
          <a:ln>
            <a:noFill/>
          </a:ln>
        </p:spPr>
        <p:txBody>
          <a:bodyPr anchorCtr="0" anchor="t" bIns="91425" lIns="182875" spcFirstLastPara="1" rIns="91425" wrap="square" tIns="182875">
            <a:noAutofit/>
          </a:bodyPr>
          <a:lstStyle/>
          <a:p>
            <a:pPr indent="0" lvl="0" marL="0" rtl="0" algn="l">
              <a:spcBef>
                <a:spcPts val="0"/>
              </a:spcBef>
              <a:spcAft>
                <a:spcPts val="0"/>
              </a:spcAft>
              <a:buNone/>
            </a:pPr>
            <a:r>
              <a:rPr lang="en" sz="2700">
                <a:solidFill>
                  <a:srgbClr val="666666"/>
                </a:solidFill>
                <a:latin typeface="Instrument Sans"/>
                <a:ea typeface="Instrument Sans"/>
                <a:cs typeface="Instrument Sans"/>
                <a:sym typeface="Instrument Sans"/>
              </a:rPr>
              <a:t>Key Takeaways</a:t>
            </a:r>
            <a:endParaRPr sz="2700">
              <a:solidFill>
                <a:srgbClr val="666666"/>
              </a:solidFill>
              <a:latin typeface="Instrument Sans"/>
              <a:ea typeface="Instrument Sans"/>
              <a:cs typeface="Instrument Sans"/>
              <a:sym typeface="Instrument Sans"/>
            </a:endParaRPr>
          </a:p>
        </p:txBody>
      </p:sp>
      <p:sp>
        <p:nvSpPr>
          <p:cNvPr id="193" name="Google Shape;193;p19"/>
          <p:cNvSpPr txBox="1"/>
          <p:nvPr/>
        </p:nvSpPr>
        <p:spPr>
          <a:xfrm>
            <a:off x="4963200" y="1585800"/>
            <a:ext cx="3813000" cy="2944800"/>
          </a:xfrm>
          <a:prstGeom prst="rect">
            <a:avLst/>
          </a:prstGeom>
          <a:noFill/>
          <a:ln>
            <a:noFill/>
          </a:ln>
        </p:spPr>
        <p:txBody>
          <a:bodyPr anchorCtr="0" anchor="t" bIns="91425" lIns="182875" spcFirstLastPara="1" rIns="91425" wrap="square" tIns="91425">
            <a:noAutofit/>
          </a:bodyPr>
          <a:lstStyle/>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Meeting preparedness</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Detailed note taking</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Specific questions with context</a:t>
            </a:r>
            <a:endParaRPr sz="1600">
              <a:solidFill>
                <a:schemeClr val="dk2"/>
              </a:solidFill>
              <a:latin typeface="Instrument Sans"/>
              <a:ea typeface="Instrument Sans"/>
              <a:cs typeface="Instrument Sans"/>
              <a:sym typeface="Instrument Sans"/>
            </a:endParaRPr>
          </a:p>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Effective teamwork</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Moving through modules as a group</a:t>
            </a:r>
            <a:endParaRPr sz="1600">
              <a:solidFill>
                <a:schemeClr val="dk2"/>
              </a:solidFill>
              <a:latin typeface="Instrument Sans"/>
              <a:ea typeface="Instrument Sans"/>
              <a:cs typeface="Instrument Sans"/>
              <a:sym typeface="Instrument Sans"/>
            </a:endParaRPr>
          </a:p>
          <a:p>
            <a:pPr indent="-284480" lvl="0" marL="27432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Timeline management</a:t>
            </a:r>
            <a:endParaRPr sz="1600">
              <a:solidFill>
                <a:schemeClr val="dk2"/>
              </a:solidFill>
              <a:latin typeface="Instrument Sans"/>
              <a:ea typeface="Instrument Sans"/>
              <a:cs typeface="Instrument Sans"/>
              <a:sym typeface="Instrument Sans"/>
            </a:endParaRPr>
          </a:p>
          <a:p>
            <a:pPr indent="-330200" lvl="0" marL="457200" rtl="0" algn="l">
              <a:spcBef>
                <a:spcPts val="0"/>
              </a:spcBef>
              <a:spcAft>
                <a:spcPts val="0"/>
              </a:spcAft>
              <a:buClr>
                <a:schemeClr val="dk2"/>
              </a:buClr>
              <a:buSzPts val="1600"/>
              <a:buFont typeface="Instrument Sans"/>
              <a:buChar char="-"/>
            </a:pPr>
            <a:r>
              <a:rPr lang="en" sz="1600">
                <a:solidFill>
                  <a:schemeClr val="dk2"/>
                </a:solidFill>
                <a:latin typeface="Instrument Sans"/>
                <a:ea typeface="Instrument Sans"/>
                <a:cs typeface="Instrument Sans"/>
                <a:sym typeface="Instrument Sans"/>
              </a:rPr>
              <a:t>A collaborative effort to support one another and stay on track with project timelines</a:t>
            </a:r>
            <a:endParaRPr sz="1600">
              <a:solidFill>
                <a:schemeClr val="dk2"/>
              </a:solidFill>
              <a:latin typeface="Instrument Sans"/>
              <a:ea typeface="Instrument Sans"/>
              <a:cs typeface="Instrument Sans"/>
              <a:sym typeface="Instrument Sans"/>
            </a:endParaRPr>
          </a:p>
        </p:txBody>
      </p:sp>
      <p:sp>
        <p:nvSpPr>
          <p:cNvPr id="194" name="Google Shape;194;p19"/>
          <p:cNvSpPr txBox="1"/>
          <p:nvPr/>
        </p:nvSpPr>
        <p:spPr>
          <a:xfrm>
            <a:off x="0" y="-2425"/>
            <a:ext cx="1021800" cy="1038000"/>
          </a:xfrm>
          <a:prstGeom prst="rect">
            <a:avLst/>
          </a:prstGeom>
          <a:solidFill>
            <a:srgbClr val="541301"/>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t/>
            </a:r>
            <a:endParaRPr sz="1126">
              <a:solidFill>
                <a:srgbClr val="FDFDFC"/>
              </a:solidFill>
              <a:latin typeface="Poppins"/>
              <a:ea typeface="Poppins"/>
              <a:cs typeface="Poppins"/>
              <a:sym typeface="Poppins"/>
            </a:endParaRPr>
          </a:p>
        </p:txBody>
      </p:sp>
      <p:sp>
        <p:nvSpPr>
          <p:cNvPr id="195" name="Google Shape;195;p19"/>
          <p:cNvSpPr txBox="1"/>
          <p:nvPr/>
        </p:nvSpPr>
        <p:spPr>
          <a:xfrm>
            <a:off x="3941" y="2543"/>
            <a:ext cx="1014000" cy="1029900"/>
          </a:xfrm>
          <a:prstGeom prst="rect">
            <a:avLst/>
          </a:prstGeom>
          <a:solidFill>
            <a:srgbClr val="D6FFD7"/>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rPr lang="en" sz="1930">
                <a:solidFill>
                  <a:schemeClr val="dk1"/>
                </a:solidFill>
                <a:latin typeface="Instrument Sans"/>
                <a:ea typeface="Instrument Sans"/>
                <a:cs typeface="Instrument Sans"/>
                <a:sym typeface="Instrument Sans"/>
              </a:rPr>
              <a:t>04</a:t>
            </a:r>
            <a:endParaRPr sz="1930">
              <a:solidFill>
                <a:schemeClr val="dk1"/>
              </a:solidFill>
              <a:latin typeface="Instrument Sans"/>
              <a:ea typeface="Instrument Sans"/>
              <a:cs typeface="Instrument Sans"/>
              <a:sym typeface="Instrument Sans"/>
            </a:endParaRPr>
          </a:p>
        </p:txBody>
      </p:sp>
      <p:cxnSp>
        <p:nvCxnSpPr>
          <p:cNvPr id="196" name="Google Shape;196;p19"/>
          <p:cNvCxnSpPr/>
          <p:nvPr/>
        </p:nvCxnSpPr>
        <p:spPr>
          <a:xfrm>
            <a:off x="572325" y="1035563"/>
            <a:ext cx="7265100" cy="9000"/>
          </a:xfrm>
          <a:prstGeom prst="straightConnector1">
            <a:avLst/>
          </a:prstGeom>
          <a:noFill/>
          <a:ln cap="flat" cmpd="sng" w="9525">
            <a:solidFill>
              <a:schemeClr val="dk2"/>
            </a:solidFill>
            <a:prstDash val="solid"/>
            <a:round/>
            <a:headEnd len="med" w="med" type="none"/>
            <a:tailEnd len="med" w="med" type="none"/>
          </a:ln>
        </p:spPr>
      </p:cxnSp>
      <p:cxnSp>
        <p:nvCxnSpPr>
          <p:cNvPr id="197" name="Google Shape;197;p19"/>
          <p:cNvCxnSpPr/>
          <p:nvPr/>
        </p:nvCxnSpPr>
        <p:spPr>
          <a:xfrm>
            <a:off x="4486663" y="1368250"/>
            <a:ext cx="23100" cy="3304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0"/>
          <p:cNvPicPr preferRelativeResize="0"/>
          <p:nvPr/>
        </p:nvPicPr>
        <p:blipFill>
          <a:blip r:embed="rId4">
            <a:alphaModFix/>
          </a:blip>
          <a:stretch>
            <a:fillRect/>
          </a:stretch>
        </p:blipFill>
        <p:spPr>
          <a:xfrm>
            <a:off x="5625968" y="-423232"/>
            <a:ext cx="3518028" cy="1879600"/>
          </a:xfrm>
          <a:prstGeom prst="rect">
            <a:avLst/>
          </a:prstGeom>
          <a:noFill/>
          <a:ln>
            <a:noFill/>
          </a:ln>
        </p:spPr>
      </p:pic>
      <p:sp>
        <p:nvSpPr>
          <p:cNvPr id="203" name="Google Shape;203;p20"/>
          <p:cNvSpPr txBox="1"/>
          <p:nvPr>
            <p:ph type="title"/>
          </p:nvPr>
        </p:nvSpPr>
        <p:spPr>
          <a:xfrm>
            <a:off x="197225" y="1358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3D85C6"/>
                </a:solidFill>
                <a:latin typeface="Poppins"/>
                <a:ea typeface="Poppins"/>
                <a:cs typeface="Poppins"/>
                <a:sym typeface="Poppins"/>
              </a:rPr>
              <a:t>Next Steps</a:t>
            </a:r>
            <a:endParaRPr b="1" sz="4000">
              <a:solidFill>
                <a:srgbClr val="3D85C6"/>
              </a:solidFill>
              <a:latin typeface="Poppins"/>
              <a:ea typeface="Poppins"/>
              <a:cs typeface="Poppins"/>
              <a:sym typeface="Poppins"/>
            </a:endParaRPr>
          </a:p>
        </p:txBody>
      </p:sp>
      <p:pic>
        <p:nvPicPr>
          <p:cNvPr id="204" name="Google Shape;204;p20"/>
          <p:cNvPicPr preferRelativeResize="0"/>
          <p:nvPr/>
        </p:nvPicPr>
        <p:blipFill>
          <a:blip r:embed="rId5">
            <a:alphaModFix/>
          </a:blip>
          <a:stretch>
            <a:fillRect/>
          </a:stretch>
        </p:blipFill>
        <p:spPr>
          <a:xfrm>
            <a:off x="7973175" y="139197"/>
            <a:ext cx="971550" cy="1132101"/>
          </a:xfrm>
          <a:prstGeom prst="rect">
            <a:avLst/>
          </a:prstGeom>
          <a:noFill/>
          <a:ln>
            <a:noFill/>
          </a:ln>
        </p:spPr>
      </p:pic>
      <p:cxnSp>
        <p:nvCxnSpPr>
          <p:cNvPr id="205" name="Google Shape;205;p20"/>
          <p:cNvCxnSpPr/>
          <p:nvPr/>
        </p:nvCxnSpPr>
        <p:spPr>
          <a:xfrm>
            <a:off x="0" y="2058250"/>
            <a:ext cx="9134700" cy="0"/>
          </a:xfrm>
          <a:prstGeom prst="straightConnector1">
            <a:avLst/>
          </a:prstGeom>
          <a:noFill/>
          <a:ln cap="flat" cmpd="sng" w="19050">
            <a:solidFill>
              <a:srgbClr val="3D85C6"/>
            </a:solidFill>
            <a:prstDash val="solid"/>
            <a:round/>
            <a:headEnd len="med" w="med" type="none"/>
            <a:tailEnd len="med" w="med" type="none"/>
          </a:ln>
        </p:spPr>
      </p:cxnSp>
      <p:cxnSp>
        <p:nvCxnSpPr>
          <p:cNvPr id="206" name="Google Shape;206;p20"/>
          <p:cNvCxnSpPr/>
          <p:nvPr/>
        </p:nvCxnSpPr>
        <p:spPr>
          <a:xfrm>
            <a:off x="4650" y="3088200"/>
            <a:ext cx="9134700" cy="0"/>
          </a:xfrm>
          <a:prstGeom prst="straightConnector1">
            <a:avLst/>
          </a:prstGeom>
          <a:noFill/>
          <a:ln cap="flat" cmpd="sng" w="19050">
            <a:solidFill>
              <a:srgbClr val="3D85C6"/>
            </a:solidFill>
            <a:prstDash val="solid"/>
            <a:round/>
            <a:headEnd len="med" w="med" type="none"/>
            <a:tailEnd len="med" w="med" type="none"/>
          </a:ln>
        </p:spPr>
      </p:cxnSp>
      <p:cxnSp>
        <p:nvCxnSpPr>
          <p:cNvPr id="207" name="Google Shape;207;p20"/>
          <p:cNvCxnSpPr/>
          <p:nvPr/>
        </p:nvCxnSpPr>
        <p:spPr>
          <a:xfrm>
            <a:off x="0" y="4118200"/>
            <a:ext cx="9134700" cy="0"/>
          </a:xfrm>
          <a:prstGeom prst="straightConnector1">
            <a:avLst/>
          </a:prstGeom>
          <a:noFill/>
          <a:ln cap="flat" cmpd="sng" w="19050">
            <a:solidFill>
              <a:srgbClr val="3D85C6"/>
            </a:solidFill>
            <a:prstDash val="solid"/>
            <a:round/>
            <a:headEnd len="med" w="med" type="none"/>
            <a:tailEnd len="med" w="med" type="none"/>
          </a:ln>
        </p:spPr>
      </p:cxnSp>
      <p:sp>
        <p:nvSpPr>
          <p:cNvPr id="208" name="Google Shape;208;p20"/>
          <p:cNvSpPr txBox="1"/>
          <p:nvPr>
            <p:ph idx="1" type="body"/>
          </p:nvPr>
        </p:nvSpPr>
        <p:spPr>
          <a:xfrm>
            <a:off x="14000" y="1032450"/>
            <a:ext cx="2389800" cy="422400"/>
          </a:xfrm>
          <a:prstGeom prst="rect">
            <a:avLst/>
          </a:prstGeom>
        </p:spPr>
        <p:txBody>
          <a:bodyPr anchorCtr="0" anchor="t" bIns="91425" lIns="91425" spcFirstLastPara="1" rIns="91425" wrap="square" tIns="91425">
            <a:noAutofit/>
          </a:bodyPr>
          <a:lstStyle/>
          <a:p>
            <a:pPr indent="0" lvl="0" marL="0" rtl="0" algn="l">
              <a:spcBef>
                <a:spcPts val="700"/>
              </a:spcBef>
              <a:spcAft>
                <a:spcPts val="1400"/>
              </a:spcAft>
              <a:buNone/>
            </a:pPr>
            <a:r>
              <a:rPr lang="en" sz="2000">
                <a:solidFill>
                  <a:srgbClr val="666666"/>
                </a:solidFill>
                <a:latin typeface="Instrument Sans Medium"/>
                <a:ea typeface="Instrument Sans Medium"/>
                <a:cs typeface="Instrument Sans Medium"/>
                <a:sym typeface="Instrument Sans Medium"/>
              </a:rPr>
              <a:t>Configs</a:t>
            </a:r>
            <a:endParaRPr sz="2000">
              <a:solidFill>
                <a:srgbClr val="666666"/>
              </a:solidFill>
              <a:latin typeface="Instrument Sans Medium"/>
              <a:ea typeface="Instrument Sans Medium"/>
              <a:cs typeface="Instrument Sans Medium"/>
              <a:sym typeface="Instrument Sans Medium"/>
            </a:endParaRPr>
          </a:p>
        </p:txBody>
      </p:sp>
      <p:sp>
        <p:nvSpPr>
          <p:cNvPr id="209" name="Google Shape;209;p20"/>
          <p:cNvSpPr txBox="1"/>
          <p:nvPr>
            <p:ph idx="1" type="body"/>
          </p:nvPr>
        </p:nvSpPr>
        <p:spPr>
          <a:xfrm>
            <a:off x="4650" y="2058238"/>
            <a:ext cx="3099600" cy="452700"/>
          </a:xfrm>
          <a:prstGeom prst="rect">
            <a:avLst/>
          </a:prstGeom>
        </p:spPr>
        <p:txBody>
          <a:bodyPr anchorCtr="0" anchor="t" bIns="91425" lIns="91425" spcFirstLastPara="1" rIns="91425" wrap="square" tIns="91425">
            <a:noAutofit/>
          </a:bodyPr>
          <a:lstStyle/>
          <a:p>
            <a:pPr indent="0" lvl="0" marL="0" rtl="0" algn="l">
              <a:spcBef>
                <a:spcPts val="700"/>
              </a:spcBef>
              <a:spcAft>
                <a:spcPts val="1400"/>
              </a:spcAft>
              <a:buNone/>
            </a:pPr>
            <a:r>
              <a:rPr lang="en" sz="2000">
                <a:solidFill>
                  <a:srgbClr val="666666"/>
                </a:solidFill>
                <a:latin typeface="Instrument Sans Medium"/>
                <a:ea typeface="Instrument Sans Medium"/>
                <a:cs typeface="Instrument Sans Medium"/>
                <a:sym typeface="Instrument Sans Medium"/>
              </a:rPr>
              <a:t>Data Schema</a:t>
            </a:r>
            <a:endParaRPr sz="2000">
              <a:solidFill>
                <a:srgbClr val="666666"/>
              </a:solidFill>
              <a:latin typeface="Instrument Sans Medium"/>
              <a:ea typeface="Instrument Sans Medium"/>
              <a:cs typeface="Instrument Sans Medium"/>
              <a:sym typeface="Instrument Sans Medium"/>
            </a:endParaRPr>
          </a:p>
        </p:txBody>
      </p:sp>
      <p:sp>
        <p:nvSpPr>
          <p:cNvPr id="210" name="Google Shape;210;p20"/>
          <p:cNvSpPr txBox="1"/>
          <p:nvPr>
            <p:ph idx="1" type="body"/>
          </p:nvPr>
        </p:nvSpPr>
        <p:spPr>
          <a:xfrm>
            <a:off x="4650" y="3088225"/>
            <a:ext cx="2328600" cy="452700"/>
          </a:xfrm>
          <a:prstGeom prst="rect">
            <a:avLst/>
          </a:prstGeom>
        </p:spPr>
        <p:txBody>
          <a:bodyPr anchorCtr="0" anchor="t" bIns="91425" lIns="91425" spcFirstLastPara="1" rIns="91425" wrap="square" tIns="91425">
            <a:noAutofit/>
          </a:bodyPr>
          <a:lstStyle/>
          <a:p>
            <a:pPr indent="0" lvl="0" marL="0" rtl="0" algn="l">
              <a:spcBef>
                <a:spcPts val="700"/>
              </a:spcBef>
              <a:spcAft>
                <a:spcPts val="1400"/>
              </a:spcAft>
              <a:buNone/>
            </a:pPr>
            <a:r>
              <a:rPr lang="en" sz="2000">
                <a:solidFill>
                  <a:srgbClr val="666666"/>
                </a:solidFill>
                <a:latin typeface="Instrument Sans Medium"/>
                <a:ea typeface="Instrument Sans Medium"/>
                <a:cs typeface="Instrument Sans Medium"/>
                <a:sym typeface="Instrument Sans Medium"/>
              </a:rPr>
              <a:t>Exec</a:t>
            </a:r>
            <a:endParaRPr sz="2000">
              <a:solidFill>
                <a:srgbClr val="666666"/>
              </a:solidFill>
              <a:latin typeface="Instrument Sans Medium"/>
              <a:ea typeface="Instrument Sans Medium"/>
              <a:cs typeface="Instrument Sans Medium"/>
              <a:sym typeface="Instrument Sans Medium"/>
            </a:endParaRPr>
          </a:p>
        </p:txBody>
      </p:sp>
      <p:sp>
        <p:nvSpPr>
          <p:cNvPr id="211" name="Google Shape;211;p20"/>
          <p:cNvSpPr txBox="1"/>
          <p:nvPr>
            <p:ph idx="1" type="body"/>
          </p:nvPr>
        </p:nvSpPr>
        <p:spPr>
          <a:xfrm>
            <a:off x="44600" y="4118200"/>
            <a:ext cx="2389800" cy="452700"/>
          </a:xfrm>
          <a:prstGeom prst="rect">
            <a:avLst/>
          </a:prstGeom>
        </p:spPr>
        <p:txBody>
          <a:bodyPr anchorCtr="0" anchor="t" bIns="91425" lIns="91425" spcFirstLastPara="1" rIns="91425" wrap="square" tIns="91425">
            <a:noAutofit/>
          </a:bodyPr>
          <a:lstStyle/>
          <a:p>
            <a:pPr indent="0" lvl="0" marL="0" rtl="0" algn="l">
              <a:spcBef>
                <a:spcPts val="700"/>
              </a:spcBef>
              <a:spcAft>
                <a:spcPts val="1400"/>
              </a:spcAft>
              <a:buNone/>
            </a:pPr>
            <a:r>
              <a:rPr lang="en" sz="2000">
                <a:solidFill>
                  <a:srgbClr val="666666"/>
                </a:solidFill>
                <a:latin typeface="Instrument Sans Medium"/>
                <a:ea typeface="Instrument Sans Medium"/>
                <a:cs typeface="Instrument Sans Medium"/>
                <a:sym typeface="Instrument Sans Medium"/>
              </a:rPr>
              <a:t>Unit Testing</a:t>
            </a:r>
            <a:endParaRPr sz="2000">
              <a:solidFill>
                <a:srgbClr val="666666"/>
              </a:solidFill>
              <a:latin typeface="Instrument Sans Medium"/>
              <a:ea typeface="Instrument Sans Medium"/>
              <a:cs typeface="Instrument Sans Medium"/>
              <a:sym typeface="Instrument Sans Medium"/>
            </a:endParaRPr>
          </a:p>
        </p:txBody>
      </p:sp>
      <p:sp>
        <p:nvSpPr>
          <p:cNvPr id="212" name="Google Shape;212;p20"/>
          <p:cNvSpPr txBox="1"/>
          <p:nvPr>
            <p:ph idx="1" type="body"/>
          </p:nvPr>
        </p:nvSpPr>
        <p:spPr>
          <a:xfrm>
            <a:off x="4650" y="1420300"/>
            <a:ext cx="7265100" cy="452700"/>
          </a:xfrm>
          <a:prstGeom prst="rect">
            <a:avLst/>
          </a:prstGeom>
        </p:spPr>
        <p:txBody>
          <a:bodyPr anchorCtr="0" anchor="t" bIns="91425" lIns="91425" spcFirstLastPara="1" rIns="91425" wrap="square" tIns="91425">
            <a:noAutofit/>
          </a:bodyPr>
          <a:lstStyle/>
          <a:p>
            <a:pPr indent="-298450" lvl="0" marL="457200" rtl="0" algn="l">
              <a:spcBef>
                <a:spcPts val="700"/>
              </a:spcBef>
              <a:spcAft>
                <a:spcPts val="0"/>
              </a:spcAft>
              <a:buClr>
                <a:srgbClr val="666666"/>
              </a:buClr>
              <a:buSzPts val="1100"/>
              <a:buFont typeface="Instrument Sans"/>
              <a:buChar char="●"/>
            </a:pPr>
            <a:r>
              <a:rPr lang="en" sz="1100">
                <a:solidFill>
                  <a:srgbClr val="666666"/>
                </a:solidFill>
                <a:latin typeface="Instrument Sans"/>
                <a:ea typeface="Instrument Sans"/>
                <a:cs typeface="Instrument Sans"/>
                <a:sym typeface="Instrument Sans"/>
              </a:rPr>
              <a:t>The configurations have been split into project and analysis .yml files so the next step is to fully integrate this new system across all the remaining Kaiaulu notebooks.</a:t>
            </a:r>
            <a:endParaRPr sz="1100">
              <a:solidFill>
                <a:srgbClr val="666666"/>
              </a:solidFill>
            </a:endParaRPr>
          </a:p>
        </p:txBody>
      </p:sp>
      <p:sp>
        <p:nvSpPr>
          <p:cNvPr id="213" name="Google Shape;213;p20"/>
          <p:cNvSpPr txBox="1"/>
          <p:nvPr>
            <p:ph idx="1" type="body"/>
          </p:nvPr>
        </p:nvSpPr>
        <p:spPr>
          <a:xfrm>
            <a:off x="4650" y="3495275"/>
            <a:ext cx="7367100" cy="452700"/>
          </a:xfrm>
          <a:prstGeom prst="rect">
            <a:avLst/>
          </a:prstGeom>
        </p:spPr>
        <p:txBody>
          <a:bodyPr anchorCtr="0" anchor="t" bIns="91425" lIns="91425" spcFirstLastPara="1" rIns="91425" wrap="square" tIns="91425">
            <a:noAutofit/>
          </a:bodyPr>
          <a:lstStyle/>
          <a:p>
            <a:pPr indent="-298450" lvl="0" marL="457200" rtl="0" algn="l">
              <a:spcBef>
                <a:spcPts val="700"/>
              </a:spcBef>
              <a:spcAft>
                <a:spcPts val="0"/>
              </a:spcAft>
              <a:buClr>
                <a:srgbClr val="666666"/>
              </a:buClr>
              <a:buSzPts val="1100"/>
              <a:buFont typeface="Instrument Sans"/>
              <a:buChar char="●"/>
            </a:pPr>
            <a:r>
              <a:rPr lang="en" sz="1100">
                <a:solidFill>
                  <a:srgbClr val="666666"/>
                </a:solidFill>
                <a:latin typeface="Instrument Sans"/>
                <a:ea typeface="Instrument Sans"/>
                <a:cs typeface="Instrument Sans"/>
                <a:sym typeface="Instrument Sans"/>
              </a:rPr>
              <a:t>Continue expanding Kaiaulu’s data pipelines through creating more exec files</a:t>
            </a:r>
            <a:endParaRPr sz="1100">
              <a:solidFill>
                <a:srgbClr val="666666"/>
              </a:solidFill>
            </a:endParaRPr>
          </a:p>
        </p:txBody>
      </p:sp>
      <p:sp>
        <p:nvSpPr>
          <p:cNvPr id="214" name="Google Shape;214;p20"/>
          <p:cNvSpPr txBox="1"/>
          <p:nvPr>
            <p:ph idx="1" type="body"/>
          </p:nvPr>
        </p:nvSpPr>
        <p:spPr>
          <a:xfrm>
            <a:off x="4650" y="2500100"/>
            <a:ext cx="7687800" cy="452700"/>
          </a:xfrm>
          <a:prstGeom prst="rect">
            <a:avLst/>
          </a:prstGeom>
        </p:spPr>
        <p:txBody>
          <a:bodyPr anchorCtr="0" anchor="t" bIns="91425" lIns="91425" spcFirstLastPara="1" rIns="91425" wrap="square" tIns="91425">
            <a:noAutofit/>
          </a:bodyPr>
          <a:lstStyle/>
          <a:p>
            <a:pPr indent="-298450" lvl="0" marL="457200" rtl="0" algn="l">
              <a:spcBef>
                <a:spcPts val="700"/>
              </a:spcBef>
              <a:spcAft>
                <a:spcPts val="0"/>
              </a:spcAft>
              <a:buClr>
                <a:srgbClr val="666666"/>
              </a:buClr>
              <a:buSzPts val="1100"/>
              <a:buFont typeface="Instrument Sans"/>
              <a:buChar char="●"/>
            </a:pPr>
            <a:r>
              <a:rPr lang="en" sz="1100">
                <a:solidFill>
                  <a:srgbClr val="666666"/>
                </a:solidFill>
                <a:latin typeface="Instrument Sans"/>
                <a:ea typeface="Instrument Sans"/>
                <a:cs typeface="Instrument Sans"/>
                <a:sym typeface="Instrument Sans"/>
              </a:rPr>
              <a:t>Expanding the schema to additional modules in Kaiaulu</a:t>
            </a:r>
            <a:r>
              <a:rPr lang="en" sz="1100">
                <a:solidFill>
                  <a:srgbClr val="666666"/>
                </a:solidFill>
                <a:latin typeface="Instrument Sans"/>
                <a:ea typeface="Instrument Sans"/>
                <a:cs typeface="Instrument Sans"/>
                <a:sym typeface="Instrument Sans"/>
              </a:rPr>
              <a:t>,</a:t>
            </a:r>
            <a:r>
              <a:rPr lang="en" sz="1100">
                <a:solidFill>
                  <a:srgbClr val="666666"/>
                </a:solidFill>
                <a:latin typeface="Instrument Sans"/>
                <a:ea typeface="Instrument Sans"/>
                <a:cs typeface="Instrument Sans"/>
                <a:sym typeface="Instrument Sans"/>
              </a:rPr>
              <a:t> using the documentation system laid out in the main branch.</a:t>
            </a:r>
            <a:endParaRPr sz="1100">
              <a:solidFill>
                <a:srgbClr val="666666"/>
              </a:solidFill>
            </a:endParaRPr>
          </a:p>
        </p:txBody>
      </p:sp>
      <p:sp>
        <p:nvSpPr>
          <p:cNvPr id="215" name="Google Shape;215;p20"/>
          <p:cNvSpPr txBox="1"/>
          <p:nvPr>
            <p:ph idx="1" type="body"/>
          </p:nvPr>
        </p:nvSpPr>
        <p:spPr>
          <a:xfrm>
            <a:off x="4650" y="4490450"/>
            <a:ext cx="7832700" cy="452700"/>
          </a:xfrm>
          <a:prstGeom prst="rect">
            <a:avLst/>
          </a:prstGeom>
        </p:spPr>
        <p:txBody>
          <a:bodyPr anchorCtr="0" anchor="t" bIns="91425" lIns="91425" spcFirstLastPara="1" rIns="91425" wrap="square" tIns="91425">
            <a:noAutofit/>
          </a:bodyPr>
          <a:lstStyle/>
          <a:p>
            <a:pPr indent="-298450" lvl="0" marL="457200" rtl="0" algn="l">
              <a:spcBef>
                <a:spcPts val="700"/>
              </a:spcBef>
              <a:spcAft>
                <a:spcPts val="0"/>
              </a:spcAft>
              <a:buClr>
                <a:srgbClr val="666666"/>
              </a:buClr>
              <a:buSzPts val="1100"/>
              <a:buFont typeface="Instrument Sans"/>
              <a:buChar char="●"/>
            </a:pPr>
            <a:r>
              <a:rPr lang="en" sz="1100">
                <a:solidFill>
                  <a:srgbClr val="666666"/>
                </a:solidFill>
                <a:latin typeface="Instrument Sans"/>
                <a:ea typeface="Instrument Sans"/>
                <a:cs typeface="Instrument Sans"/>
                <a:sym typeface="Instrument Sans"/>
              </a:rPr>
              <a:t>Expanding the tests into more .R files to test their functionality, and implement other code stability features into Kaiaulu</a:t>
            </a:r>
            <a:endParaRPr sz="1100">
              <a:solidFill>
                <a:srgbClr val="666666"/>
              </a:solidFill>
            </a:endParaRPr>
          </a:p>
        </p:txBody>
      </p:sp>
      <p:sp>
        <p:nvSpPr>
          <p:cNvPr id="216" name="Google Shape;216;p20"/>
          <p:cNvSpPr txBox="1"/>
          <p:nvPr/>
        </p:nvSpPr>
        <p:spPr>
          <a:xfrm>
            <a:off x="0" y="-2425"/>
            <a:ext cx="1021800" cy="1038000"/>
          </a:xfrm>
          <a:prstGeom prst="rect">
            <a:avLst/>
          </a:prstGeom>
          <a:solidFill>
            <a:srgbClr val="541301"/>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t/>
            </a:r>
            <a:endParaRPr sz="1126">
              <a:solidFill>
                <a:srgbClr val="FDFDFC"/>
              </a:solidFill>
              <a:latin typeface="Poppins"/>
              <a:ea typeface="Poppins"/>
              <a:cs typeface="Poppins"/>
              <a:sym typeface="Poppins"/>
            </a:endParaRPr>
          </a:p>
        </p:txBody>
      </p:sp>
      <p:sp>
        <p:nvSpPr>
          <p:cNvPr id="217" name="Google Shape;217;p20"/>
          <p:cNvSpPr txBox="1"/>
          <p:nvPr/>
        </p:nvSpPr>
        <p:spPr>
          <a:xfrm>
            <a:off x="3941" y="2543"/>
            <a:ext cx="1014000" cy="1029900"/>
          </a:xfrm>
          <a:prstGeom prst="rect">
            <a:avLst/>
          </a:prstGeom>
          <a:solidFill>
            <a:srgbClr val="D9D2E9"/>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rPr lang="en" sz="1930">
                <a:solidFill>
                  <a:schemeClr val="dk1"/>
                </a:solidFill>
                <a:latin typeface="Instrument Sans"/>
                <a:ea typeface="Instrument Sans"/>
                <a:cs typeface="Instrument Sans"/>
                <a:sym typeface="Instrument Sans"/>
              </a:rPr>
              <a:t>05</a:t>
            </a:r>
            <a:endParaRPr sz="1930">
              <a:solidFill>
                <a:schemeClr val="dk1"/>
              </a:solidFill>
              <a:latin typeface="Instrument Sans"/>
              <a:ea typeface="Instrument Sans"/>
              <a:cs typeface="Instrument Sans"/>
              <a:sym typeface="Instrument Sans"/>
            </a:endParaRPr>
          </a:p>
        </p:txBody>
      </p:sp>
      <p:cxnSp>
        <p:nvCxnSpPr>
          <p:cNvPr id="218" name="Google Shape;218;p20"/>
          <p:cNvCxnSpPr/>
          <p:nvPr/>
        </p:nvCxnSpPr>
        <p:spPr>
          <a:xfrm>
            <a:off x="572325" y="1035563"/>
            <a:ext cx="7265100" cy="9000"/>
          </a:xfrm>
          <a:prstGeom prst="straightConnector1">
            <a:avLst/>
          </a:prstGeom>
          <a:noFill/>
          <a:ln cap="flat" cmpd="sng" w="9525">
            <a:solidFill>
              <a:schemeClr val="dk2"/>
            </a:solidFill>
            <a:prstDash val="solid"/>
            <a:round/>
            <a:headEnd len="med" w="med" type="none"/>
            <a:tailEnd len="med" w="med" type="none"/>
          </a:ln>
        </p:spPr>
      </p:cxnSp>
      <p:pic>
        <p:nvPicPr>
          <p:cNvPr id="219" name="Google Shape;219;p20"/>
          <p:cNvPicPr preferRelativeResize="0"/>
          <p:nvPr/>
        </p:nvPicPr>
        <p:blipFill>
          <a:blip r:embed="rId6">
            <a:alphaModFix/>
          </a:blip>
          <a:stretch>
            <a:fillRect/>
          </a:stretch>
        </p:blipFill>
        <p:spPr>
          <a:xfrm>
            <a:off x="7223974" y="1107524"/>
            <a:ext cx="887775" cy="887800"/>
          </a:xfrm>
          <a:prstGeom prst="rect">
            <a:avLst/>
          </a:prstGeom>
          <a:noFill/>
          <a:ln>
            <a:noFill/>
          </a:ln>
        </p:spPr>
      </p:pic>
      <p:pic>
        <p:nvPicPr>
          <p:cNvPr id="220" name="Google Shape;220;p20"/>
          <p:cNvPicPr preferRelativeResize="0"/>
          <p:nvPr/>
        </p:nvPicPr>
        <p:blipFill>
          <a:blip r:embed="rId7">
            <a:alphaModFix/>
          </a:blip>
          <a:stretch>
            <a:fillRect/>
          </a:stretch>
        </p:blipFill>
        <p:spPr>
          <a:xfrm>
            <a:off x="7837424" y="2129337"/>
            <a:ext cx="887775" cy="887775"/>
          </a:xfrm>
          <a:prstGeom prst="rect">
            <a:avLst/>
          </a:prstGeom>
          <a:noFill/>
          <a:ln>
            <a:noFill/>
          </a:ln>
        </p:spPr>
      </p:pic>
      <p:pic>
        <p:nvPicPr>
          <p:cNvPr id="221" name="Google Shape;221;p20"/>
          <p:cNvPicPr preferRelativeResize="0"/>
          <p:nvPr/>
        </p:nvPicPr>
        <p:blipFill>
          <a:blip r:embed="rId8">
            <a:alphaModFix/>
          </a:blip>
          <a:stretch>
            <a:fillRect/>
          </a:stretch>
        </p:blipFill>
        <p:spPr>
          <a:xfrm>
            <a:off x="7837418" y="3159305"/>
            <a:ext cx="887775" cy="887775"/>
          </a:xfrm>
          <a:prstGeom prst="rect">
            <a:avLst/>
          </a:prstGeom>
          <a:noFill/>
          <a:ln>
            <a:noFill/>
          </a:ln>
        </p:spPr>
      </p:pic>
      <p:pic>
        <p:nvPicPr>
          <p:cNvPr id="222" name="Google Shape;222;p20"/>
          <p:cNvPicPr preferRelativeResize="0"/>
          <p:nvPr/>
        </p:nvPicPr>
        <p:blipFill>
          <a:blip r:embed="rId9">
            <a:alphaModFix/>
          </a:blip>
          <a:stretch>
            <a:fillRect/>
          </a:stretch>
        </p:blipFill>
        <p:spPr>
          <a:xfrm>
            <a:off x="7890443" y="4189318"/>
            <a:ext cx="887775" cy="887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1"/>
          <p:cNvPicPr preferRelativeResize="0"/>
          <p:nvPr/>
        </p:nvPicPr>
        <p:blipFill>
          <a:blip r:embed="rId4">
            <a:alphaModFix/>
          </a:blip>
          <a:stretch>
            <a:fillRect/>
          </a:stretch>
        </p:blipFill>
        <p:spPr>
          <a:xfrm>
            <a:off x="5625968" y="-423232"/>
            <a:ext cx="3518028" cy="1879600"/>
          </a:xfrm>
          <a:prstGeom prst="rect">
            <a:avLst/>
          </a:prstGeom>
          <a:noFill/>
          <a:ln>
            <a:noFill/>
          </a:ln>
        </p:spPr>
      </p:pic>
      <p:pic>
        <p:nvPicPr>
          <p:cNvPr id="228" name="Google Shape;228;p21"/>
          <p:cNvPicPr preferRelativeResize="0"/>
          <p:nvPr/>
        </p:nvPicPr>
        <p:blipFill>
          <a:blip r:embed="rId5">
            <a:alphaModFix/>
          </a:blip>
          <a:stretch>
            <a:fillRect/>
          </a:stretch>
        </p:blipFill>
        <p:spPr>
          <a:xfrm>
            <a:off x="7973175" y="139197"/>
            <a:ext cx="971550" cy="1132101"/>
          </a:xfrm>
          <a:prstGeom prst="rect">
            <a:avLst/>
          </a:prstGeom>
          <a:noFill/>
          <a:ln>
            <a:noFill/>
          </a:ln>
        </p:spPr>
      </p:pic>
      <p:sp>
        <p:nvSpPr>
          <p:cNvPr id="229" name="Google Shape;229;p21"/>
          <p:cNvSpPr txBox="1"/>
          <p:nvPr>
            <p:ph idx="4294967295" type="title"/>
          </p:nvPr>
        </p:nvSpPr>
        <p:spPr>
          <a:xfrm>
            <a:off x="311700" y="1392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3D85C6"/>
                </a:solidFill>
                <a:latin typeface="Poppins"/>
                <a:ea typeface="Poppins"/>
                <a:cs typeface="Poppins"/>
                <a:sym typeface="Poppins"/>
              </a:rPr>
              <a:t>Acknowledgements</a:t>
            </a:r>
            <a:endParaRPr b="1" sz="4000">
              <a:solidFill>
                <a:srgbClr val="3D85C6"/>
              </a:solidFill>
              <a:latin typeface="Poppins"/>
              <a:ea typeface="Poppins"/>
              <a:cs typeface="Poppins"/>
              <a:sym typeface="Poppins"/>
            </a:endParaRPr>
          </a:p>
        </p:txBody>
      </p:sp>
      <p:sp>
        <p:nvSpPr>
          <p:cNvPr id="230" name="Google Shape;230;p21"/>
          <p:cNvSpPr txBox="1"/>
          <p:nvPr/>
        </p:nvSpPr>
        <p:spPr>
          <a:xfrm>
            <a:off x="0" y="-6925"/>
            <a:ext cx="1021800" cy="1038000"/>
          </a:xfrm>
          <a:prstGeom prst="rect">
            <a:avLst/>
          </a:prstGeom>
          <a:solidFill>
            <a:srgbClr val="541301"/>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t/>
            </a:r>
            <a:endParaRPr sz="1126">
              <a:solidFill>
                <a:srgbClr val="FDFDFC"/>
              </a:solidFill>
              <a:latin typeface="Poppins"/>
              <a:ea typeface="Poppins"/>
              <a:cs typeface="Poppins"/>
              <a:sym typeface="Poppins"/>
            </a:endParaRPr>
          </a:p>
        </p:txBody>
      </p:sp>
      <p:sp>
        <p:nvSpPr>
          <p:cNvPr id="231" name="Google Shape;231;p21"/>
          <p:cNvSpPr txBox="1"/>
          <p:nvPr/>
        </p:nvSpPr>
        <p:spPr>
          <a:xfrm>
            <a:off x="3941" y="-1957"/>
            <a:ext cx="1014000" cy="1029900"/>
          </a:xfrm>
          <a:prstGeom prst="rect">
            <a:avLst/>
          </a:prstGeom>
          <a:solidFill>
            <a:schemeClr val="accent5"/>
          </a:solidFill>
          <a:ln>
            <a:noFill/>
          </a:ln>
        </p:spPr>
        <p:txBody>
          <a:bodyPr anchorCtr="0" anchor="ctr" bIns="73525" lIns="73525" spcFirstLastPara="1" rIns="73525" wrap="square" tIns="73525">
            <a:noAutofit/>
          </a:bodyPr>
          <a:lstStyle/>
          <a:p>
            <a:pPr indent="0" lvl="0" marL="0" rtl="0" algn="ctr">
              <a:lnSpc>
                <a:spcPct val="90000"/>
              </a:lnSpc>
              <a:spcBef>
                <a:spcPts val="0"/>
              </a:spcBef>
              <a:spcAft>
                <a:spcPts val="0"/>
              </a:spcAft>
              <a:buNone/>
            </a:pPr>
            <a:r>
              <a:rPr lang="en" sz="1930">
                <a:solidFill>
                  <a:schemeClr val="lt1"/>
                </a:solidFill>
                <a:latin typeface="Instrument Sans"/>
                <a:ea typeface="Instrument Sans"/>
                <a:cs typeface="Instrument Sans"/>
                <a:sym typeface="Instrument Sans"/>
              </a:rPr>
              <a:t>06</a:t>
            </a:r>
            <a:endParaRPr sz="1930">
              <a:solidFill>
                <a:schemeClr val="lt1"/>
              </a:solidFill>
              <a:latin typeface="Instrument Sans"/>
              <a:ea typeface="Instrument Sans"/>
              <a:cs typeface="Instrument Sans"/>
              <a:sym typeface="Instrument Sans"/>
            </a:endParaRPr>
          </a:p>
        </p:txBody>
      </p:sp>
      <p:cxnSp>
        <p:nvCxnSpPr>
          <p:cNvPr id="232" name="Google Shape;232;p21"/>
          <p:cNvCxnSpPr/>
          <p:nvPr/>
        </p:nvCxnSpPr>
        <p:spPr>
          <a:xfrm>
            <a:off x="7625" y="1030225"/>
            <a:ext cx="7829700" cy="9900"/>
          </a:xfrm>
          <a:prstGeom prst="straightConnector1">
            <a:avLst/>
          </a:prstGeom>
          <a:noFill/>
          <a:ln cap="flat" cmpd="sng" w="9525">
            <a:solidFill>
              <a:schemeClr val="dk2"/>
            </a:solidFill>
            <a:prstDash val="solid"/>
            <a:round/>
            <a:headEnd len="med" w="med" type="none"/>
            <a:tailEnd len="med" w="med" type="none"/>
          </a:ln>
        </p:spPr>
      </p:cxnSp>
      <p:sp>
        <p:nvSpPr>
          <p:cNvPr id="233" name="Google Shape;233;p21"/>
          <p:cNvSpPr/>
          <p:nvPr/>
        </p:nvSpPr>
        <p:spPr>
          <a:xfrm>
            <a:off x="236575" y="2092975"/>
            <a:ext cx="4076100" cy="2730600"/>
          </a:xfrm>
          <a:prstGeom prst="rect">
            <a:avLst/>
          </a:prstGeom>
          <a:solidFill>
            <a:srgbClr val="CFE2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4" name="Google Shape;234;p21"/>
          <p:cNvPicPr preferRelativeResize="0"/>
          <p:nvPr/>
        </p:nvPicPr>
        <p:blipFill>
          <a:blip r:embed="rId6">
            <a:alphaModFix/>
          </a:blip>
          <a:stretch>
            <a:fillRect/>
          </a:stretch>
        </p:blipFill>
        <p:spPr>
          <a:xfrm>
            <a:off x="389925" y="2718392"/>
            <a:ext cx="1219200" cy="1219200"/>
          </a:xfrm>
          <a:prstGeom prst="rect">
            <a:avLst/>
          </a:prstGeom>
          <a:solidFill>
            <a:srgbClr val="CFE2F3"/>
          </a:solidFill>
          <a:ln cap="flat" cmpd="sng" w="9525">
            <a:solidFill>
              <a:schemeClr val="lt1"/>
            </a:solidFill>
            <a:prstDash val="solid"/>
            <a:round/>
            <a:headEnd len="sm" w="sm" type="none"/>
            <a:tailEnd len="sm" w="sm" type="none"/>
          </a:ln>
        </p:spPr>
      </p:pic>
      <p:sp>
        <p:nvSpPr>
          <p:cNvPr id="235" name="Google Shape;235;p21"/>
          <p:cNvSpPr txBox="1"/>
          <p:nvPr>
            <p:ph idx="4294967295" type="body"/>
          </p:nvPr>
        </p:nvSpPr>
        <p:spPr>
          <a:xfrm>
            <a:off x="311700" y="1141450"/>
            <a:ext cx="8581800" cy="850200"/>
          </a:xfrm>
          <a:prstGeom prst="rect">
            <a:avLst/>
          </a:prstGeom>
        </p:spPr>
        <p:txBody>
          <a:bodyPr anchorCtr="0" anchor="t" bIns="91425" lIns="91425" spcFirstLastPara="1" rIns="91425" wrap="square" tIns="91425">
            <a:normAutofit lnSpcReduction="10000"/>
          </a:bodyPr>
          <a:lstStyle/>
          <a:p>
            <a:pPr indent="0" lvl="0" marL="0" rtl="0" algn="l">
              <a:spcBef>
                <a:spcPts val="700"/>
              </a:spcBef>
              <a:spcAft>
                <a:spcPts val="1400"/>
              </a:spcAft>
              <a:buClr>
                <a:schemeClr val="dk1"/>
              </a:buClr>
              <a:buSzPts val="1100"/>
              <a:buFont typeface="Arial"/>
              <a:buNone/>
            </a:pPr>
            <a:r>
              <a:rPr lang="en" sz="2100">
                <a:solidFill>
                  <a:srgbClr val="666666"/>
                </a:solidFill>
                <a:latin typeface="Instrument Sans"/>
                <a:ea typeface="Instrument Sans"/>
                <a:cs typeface="Instrument Sans"/>
                <a:sym typeface="Instrument Sans"/>
              </a:rPr>
              <a:t>Thank you to our sponsors Carlos and Rick for their guidance, feedback, and support throughout this project! </a:t>
            </a:r>
            <a:r>
              <a:rPr lang="en" sz="2100">
                <a:solidFill>
                  <a:srgbClr val="666666"/>
                </a:solidFill>
                <a:latin typeface="Instrument Sans"/>
                <a:ea typeface="Instrument Sans"/>
                <a:cs typeface="Instrument Sans"/>
                <a:sym typeface="Instrument Sans"/>
              </a:rPr>
              <a:t>😊</a:t>
            </a:r>
            <a:endParaRPr sz="1700">
              <a:solidFill>
                <a:srgbClr val="666666"/>
              </a:solidFill>
            </a:endParaRPr>
          </a:p>
        </p:txBody>
      </p:sp>
      <p:sp>
        <p:nvSpPr>
          <p:cNvPr id="236" name="Google Shape;236;p21"/>
          <p:cNvSpPr txBox="1"/>
          <p:nvPr>
            <p:ph idx="4294967295" type="body"/>
          </p:nvPr>
        </p:nvSpPr>
        <p:spPr>
          <a:xfrm>
            <a:off x="1868950" y="2308338"/>
            <a:ext cx="2497800" cy="850200"/>
          </a:xfrm>
          <a:prstGeom prst="rect">
            <a:avLst/>
          </a:prstGeom>
        </p:spPr>
        <p:txBody>
          <a:bodyPr anchorCtr="0" anchor="t" bIns="91425" lIns="91425" spcFirstLastPara="1" rIns="91425" wrap="square" tIns="91425">
            <a:noAutofit/>
          </a:bodyPr>
          <a:lstStyle/>
          <a:p>
            <a:pPr indent="0" lvl="0" marL="0" rtl="0" algn="l">
              <a:spcBef>
                <a:spcPts val="700"/>
              </a:spcBef>
              <a:spcAft>
                <a:spcPts val="1400"/>
              </a:spcAft>
              <a:buClr>
                <a:schemeClr val="dk1"/>
              </a:buClr>
              <a:buSzPts val="1100"/>
              <a:buFont typeface="Arial"/>
              <a:buNone/>
            </a:pPr>
            <a:r>
              <a:rPr b="1" lang="en" sz="2500">
                <a:solidFill>
                  <a:srgbClr val="666666"/>
                </a:solidFill>
                <a:latin typeface="Instrument Sans"/>
                <a:ea typeface="Instrument Sans"/>
                <a:cs typeface="Instrument Sans"/>
                <a:sym typeface="Instrument Sans"/>
              </a:rPr>
              <a:t>Carlos Paradis</a:t>
            </a:r>
            <a:endParaRPr b="1" sz="2100">
              <a:solidFill>
                <a:srgbClr val="666666"/>
              </a:solidFill>
            </a:endParaRPr>
          </a:p>
        </p:txBody>
      </p:sp>
      <p:sp>
        <p:nvSpPr>
          <p:cNvPr id="237" name="Google Shape;237;p21"/>
          <p:cNvSpPr txBox="1"/>
          <p:nvPr>
            <p:ph idx="4294967295" type="body"/>
          </p:nvPr>
        </p:nvSpPr>
        <p:spPr>
          <a:xfrm>
            <a:off x="1868950" y="2986850"/>
            <a:ext cx="2397000" cy="850200"/>
          </a:xfrm>
          <a:prstGeom prst="rect">
            <a:avLst/>
          </a:prstGeom>
        </p:spPr>
        <p:txBody>
          <a:bodyPr anchorCtr="0" anchor="t" bIns="91425" lIns="91425" spcFirstLastPara="1" rIns="91425" wrap="square" tIns="91425">
            <a:noAutofit/>
          </a:bodyPr>
          <a:lstStyle/>
          <a:p>
            <a:pPr indent="0" lvl="0" marL="0" rtl="0" algn="l">
              <a:spcBef>
                <a:spcPts val="700"/>
              </a:spcBef>
              <a:spcAft>
                <a:spcPts val="0"/>
              </a:spcAft>
              <a:buNone/>
            </a:pPr>
            <a:r>
              <a:rPr lang="en" sz="2100">
                <a:solidFill>
                  <a:srgbClr val="666666"/>
                </a:solidFill>
                <a:latin typeface="Instrument Sans"/>
                <a:ea typeface="Instrument Sans"/>
                <a:cs typeface="Instrument Sans"/>
                <a:sym typeface="Instrument Sans"/>
              </a:rPr>
              <a:t>Data Scientist at KBR, Inc.</a:t>
            </a:r>
            <a:endParaRPr sz="2100">
              <a:solidFill>
                <a:srgbClr val="666666"/>
              </a:solidFill>
              <a:latin typeface="Instrument Sans"/>
              <a:ea typeface="Instrument Sans"/>
              <a:cs typeface="Instrument Sans"/>
              <a:sym typeface="Instrument Sans"/>
            </a:endParaRPr>
          </a:p>
          <a:p>
            <a:pPr indent="0" lvl="0" marL="0" rtl="0" algn="l">
              <a:spcBef>
                <a:spcPts val="1400"/>
              </a:spcBef>
              <a:spcAft>
                <a:spcPts val="1400"/>
              </a:spcAft>
              <a:buNone/>
            </a:pPr>
            <a:r>
              <a:rPr lang="en" sz="2100">
                <a:solidFill>
                  <a:srgbClr val="666666"/>
                </a:solidFill>
                <a:latin typeface="Instrument Sans"/>
                <a:ea typeface="Instrument Sans"/>
                <a:cs typeface="Instrument Sans"/>
                <a:sym typeface="Instrument Sans"/>
              </a:rPr>
              <a:t>Graduate of UHM</a:t>
            </a:r>
            <a:endParaRPr sz="2100">
              <a:solidFill>
                <a:srgbClr val="666666"/>
              </a:solidFill>
              <a:latin typeface="Instrument Sans"/>
              <a:ea typeface="Instrument Sans"/>
              <a:cs typeface="Instrument Sans"/>
              <a:sym typeface="Instrument Sans"/>
            </a:endParaRPr>
          </a:p>
        </p:txBody>
      </p:sp>
      <p:cxnSp>
        <p:nvCxnSpPr>
          <p:cNvPr id="238" name="Google Shape;238;p21"/>
          <p:cNvCxnSpPr/>
          <p:nvPr/>
        </p:nvCxnSpPr>
        <p:spPr>
          <a:xfrm>
            <a:off x="1770475" y="2113875"/>
            <a:ext cx="7500" cy="2716800"/>
          </a:xfrm>
          <a:prstGeom prst="straightConnector1">
            <a:avLst/>
          </a:prstGeom>
          <a:noFill/>
          <a:ln cap="flat" cmpd="sng" w="9525">
            <a:solidFill>
              <a:schemeClr val="dk2"/>
            </a:solidFill>
            <a:prstDash val="solid"/>
            <a:round/>
            <a:headEnd len="med" w="med" type="none"/>
            <a:tailEnd len="med" w="med" type="none"/>
          </a:ln>
        </p:spPr>
      </p:cxnSp>
      <p:sp>
        <p:nvSpPr>
          <p:cNvPr id="239" name="Google Shape;239;p21"/>
          <p:cNvSpPr/>
          <p:nvPr/>
        </p:nvSpPr>
        <p:spPr>
          <a:xfrm>
            <a:off x="4763325" y="2092975"/>
            <a:ext cx="4076100" cy="2730600"/>
          </a:xfrm>
          <a:prstGeom prst="rect">
            <a:avLst/>
          </a:prstGeom>
          <a:solidFill>
            <a:srgbClr val="CFE2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0" name="Google Shape;240;p21" title="RICK.jpg"/>
          <p:cNvPicPr preferRelativeResize="0"/>
          <p:nvPr/>
        </p:nvPicPr>
        <p:blipFill rotWithShape="1">
          <a:blip r:embed="rId7">
            <a:alphaModFix/>
          </a:blip>
          <a:srcRect b="0" l="0" r="0" t="0"/>
          <a:stretch/>
        </p:blipFill>
        <p:spPr>
          <a:xfrm>
            <a:off x="4916675" y="2718392"/>
            <a:ext cx="1219200" cy="1219200"/>
          </a:xfrm>
          <a:prstGeom prst="rect">
            <a:avLst/>
          </a:prstGeom>
          <a:solidFill>
            <a:srgbClr val="CFE2F3"/>
          </a:solidFill>
          <a:ln cap="flat" cmpd="sng" w="9525">
            <a:solidFill>
              <a:schemeClr val="lt1"/>
            </a:solidFill>
            <a:prstDash val="solid"/>
            <a:round/>
            <a:headEnd len="sm" w="sm" type="none"/>
            <a:tailEnd len="sm" w="sm" type="none"/>
          </a:ln>
        </p:spPr>
      </p:pic>
      <p:sp>
        <p:nvSpPr>
          <p:cNvPr id="241" name="Google Shape;241;p21"/>
          <p:cNvSpPr txBox="1"/>
          <p:nvPr>
            <p:ph idx="4294967295" type="body"/>
          </p:nvPr>
        </p:nvSpPr>
        <p:spPr>
          <a:xfrm>
            <a:off x="6540700" y="2308338"/>
            <a:ext cx="2497800" cy="850200"/>
          </a:xfrm>
          <a:prstGeom prst="rect">
            <a:avLst/>
          </a:prstGeom>
        </p:spPr>
        <p:txBody>
          <a:bodyPr anchorCtr="0" anchor="t" bIns="91425" lIns="91425" spcFirstLastPara="1" rIns="91425" wrap="square" tIns="91425">
            <a:noAutofit/>
          </a:bodyPr>
          <a:lstStyle/>
          <a:p>
            <a:pPr indent="0" lvl="0" marL="0" rtl="0" algn="l">
              <a:spcBef>
                <a:spcPts val="700"/>
              </a:spcBef>
              <a:spcAft>
                <a:spcPts val="1400"/>
              </a:spcAft>
              <a:buClr>
                <a:schemeClr val="dk1"/>
              </a:buClr>
              <a:buSzPts val="1100"/>
              <a:buFont typeface="Arial"/>
              <a:buNone/>
            </a:pPr>
            <a:r>
              <a:rPr b="1" lang="en" sz="2500">
                <a:solidFill>
                  <a:srgbClr val="666666"/>
                </a:solidFill>
                <a:latin typeface="Instrument Sans"/>
                <a:ea typeface="Instrument Sans"/>
                <a:cs typeface="Instrument Sans"/>
                <a:sym typeface="Instrument Sans"/>
              </a:rPr>
              <a:t>Rick Kazman</a:t>
            </a:r>
            <a:endParaRPr b="1" sz="2100">
              <a:solidFill>
                <a:srgbClr val="666666"/>
              </a:solidFill>
            </a:endParaRPr>
          </a:p>
        </p:txBody>
      </p:sp>
      <p:sp>
        <p:nvSpPr>
          <p:cNvPr id="242" name="Google Shape;242;p21"/>
          <p:cNvSpPr txBox="1"/>
          <p:nvPr>
            <p:ph idx="4294967295" type="body"/>
          </p:nvPr>
        </p:nvSpPr>
        <p:spPr>
          <a:xfrm>
            <a:off x="6435300" y="3087400"/>
            <a:ext cx="2397000" cy="850200"/>
          </a:xfrm>
          <a:prstGeom prst="rect">
            <a:avLst/>
          </a:prstGeom>
        </p:spPr>
        <p:txBody>
          <a:bodyPr anchorCtr="0" anchor="t" bIns="91425" lIns="91425" spcFirstLastPara="1" rIns="91425" wrap="square" tIns="91425">
            <a:noAutofit/>
          </a:bodyPr>
          <a:lstStyle/>
          <a:p>
            <a:pPr indent="0" lvl="0" marL="0" rtl="0" algn="l">
              <a:spcBef>
                <a:spcPts val="700"/>
              </a:spcBef>
              <a:spcAft>
                <a:spcPts val="0"/>
              </a:spcAft>
              <a:buNone/>
            </a:pPr>
            <a:r>
              <a:rPr lang="en" sz="2100">
                <a:solidFill>
                  <a:srgbClr val="666666"/>
                </a:solidFill>
                <a:latin typeface="Instrument Sans"/>
                <a:ea typeface="Instrument Sans"/>
                <a:cs typeface="Instrument Sans"/>
                <a:sym typeface="Instrument Sans"/>
              </a:rPr>
              <a:t>Professor </a:t>
            </a:r>
            <a:r>
              <a:rPr lang="en" sz="2100">
                <a:solidFill>
                  <a:srgbClr val="666666"/>
                </a:solidFill>
                <a:latin typeface="Instrument Sans"/>
                <a:ea typeface="Instrument Sans"/>
                <a:cs typeface="Instrument Sans"/>
                <a:sym typeface="Instrument Sans"/>
              </a:rPr>
              <a:t>in Shidler School of Business</a:t>
            </a:r>
            <a:endParaRPr sz="2100">
              <a:solidFill>
                <a:srgbClr val="666666"/>
              </a:solidFill>
              <a:latin typeface="Instrument Sans"/>
              <a:ea typeface="Instrument Sans"/>
              <a:cs typeface="Instrument Sans"/>
              <a:sym typeface="Instrument Sans"/>
            </a:endParaRPr>
          </a:p>
          <a:p>
            <a:pPr indent="0" lvl="0" marL="0" rtl="0" algn="l">
              <a:spcBef>
                <a:spcPts val="1400"/>
              </a:spcBef>
              <a:spcAft>
                <a:spcPts val="1400"/>
              </a:spcAft>
              <a:buNone/>
            </a:pPr>
            <a:r>
              <a:t/>
            </a:r>
            <a:endParaRPr sz="2100">
              <a:solidFill>
                <a:srgbClr val="666666"/>
              </a:solidFill>
              <a:latin typeface="Instrument Sans"/>
              <a:ea typeface="Instrument Sans"/>
              <a:cs typeface="Instrument Sans"/>
              <a:sym typeface="Instrument Sans"/>
            </a:endParaRPr>
          </a:p>
        </p:txBody>
      </p:sp>
      <p:cxnSp>
        <p:nvCxnSpPr>
          <p:cNvPr id="243" name="Google Shape;243;p21"/>
          <p:cNvCxnSpPr/>
          <p:nvPr/>
        </p:nvCxnSpPr>
        <p:spPr>
          <a:xfrm>
            <a:off x="6297225" y="2113875"/>
            <a:ext cx="7500" cy="2716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47" name="Shape 247"/>
        <p:cNvGrpSpPr/>
        <p:nvPr/>
      </p:nvGrpSpPr>
      <p:grpSpPr>
        <a:xfrm>
          <a:off x="0" y="0"/>
          <a:ext cx="0" cy="0"/>
          <a:chOff x="0" y="0"/>
          <a:chExt cx="0" cy="0"/>
        </a:xfrm>
      </p:grpSpPr>
      <p:sp>
        <p:nvSpPr>
          <p:cNvPr id="248" name="Google Shape;248;p22"/>
          <p:cNvSpPr/>
          <p:nvPr/>
        </p:nvSpPr>
        <p:spPr>
          <a:xfrm>
            <a:off x="990625" y="1945950"/>
            <a:ext cx="7361100" cy="1251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22"/>
          <p:cNvSpPr txBox="1"/>
          <p:nvPr>
            <p:ph idx="4294967295" type="title"/>
          </p:nvPr>
        </p:nvSpPr>
        <p:spPr>
          <a:xfrm>
            <a:off x="410875" y="20524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5000">
                <a:latin typeface="Poppins"/>
                <a:ea typeface="Poppins"/>
                <a:cs typeface="Poppins"/>
                <a:sym typeface="Poppins"/>
              </a:rPr>
              <a:t>THANK YOU!</a:t>
            </a:r>
            <a:endParaRPr b="1" sz="5000">
              <a:latin typeface="Poppins"/>
              <a:ea typeface="Poppins"/>
              <a:cs typeface="Poppins"/>
              <a:sym typeface="Poppins"/>
            </a:endParaRPr>
          </a:p>
        </p:txBody>
      </p:sp>
      <p:pic>
        <p:nvPicPr>
          <p:cNvPr id="250" name="Google Shape;250;p22"/>
          <p:cNvPicPr preferRelativeResize="0"/>
          <p:nvPr/>
        </p:nvPicPr>
        <p:blipFill>
          <a:blip r:embed="rId3">
            <a:alphaModFix/>
          </a:blip>
          <a:stretch>
            <a:fillRect/>
          </a:stretch>
        </p:blipFill>
        <p:spPr>
          <a:xfrm>
            <a:off x="4086225" y="433747"/>
            <a:ext cx="971550" cy="1132101"/>
          </a:xfrm>
          <a:prstGeom prst="rect">
            <a:avLst/>
          </a:prstGeom>
          <a:noFill/>
          <a:ln>
            <a:noFill/>
          </a:ln>
        </p:spPr>
      </p:pic>
      <p:pic>
        <p:nvPicPr>
          <p:cNvPr id="251" name="Google Shape;251;p22" title="sailuh.png"/>
          <p:cNvPicPr preferRelativeResize="0"/>
          <p:nvPr>
            <p:ph idx="2" type="pic"/>
          </p:nvPr>
        </p:nvPicPr>
        <p:blipFill rotWithShape="1">
          <a:blip r:embed="rId4">
            <a:alphaModFix/>
          </a:blip>
          <a:srcRect b="0" l="1324" r="1314" t="0"/>
          <a:stretch/>
        </p:blipFill>
        <p:spPr>
          <a:xfrm>
            <a:off x="3942150" y="3493712"/>
            <a:ext cx="1259700" cy="1293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