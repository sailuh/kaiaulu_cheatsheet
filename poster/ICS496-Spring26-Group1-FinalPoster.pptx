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438912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i4hE9fge+aGJzSPYWET7MQ4PRG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9" autoAdjust="0"/>
    <p:restoredTop sz="89831" autoAdjust="0"/>
  </p:normalViewPr>
  <p:slideViewPr>
    <p:cSldViewPr snapToGrid="0">
      <p:cViewPr>
        <p:scale>
          <a:sx n="26" d="100"/>
          <a:sy n="26" d="100"/>
        </p:scale>
        <p:origin x="2442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0" Type="http://customschemas.google.com/relationships/presentationmetadata" Target="meta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0"/>
              <a:buFont typeface="Calibri"/>
              <a:buNone/>
              <a:defRPr sz="2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/>
            </a:lvl1pPr>
            <a:lvl2pPr lvl="1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None/>
              <a:defRPr sz="6480"/>
            </a:lvl3pPr>
            <a:lvl4pPr lvl="3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4pPr>
            <a:lvl5pPr lvl="4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6pPr>
            <a:lvl7pPr lvl="6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7pPr>
            <a:lvl8pPr lvl="7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8pPr>
            <a:lvl9pPr lvl="8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0"/>
              <a:buFont typeface="Calibri"/>
              <a:buNone/>
              <a:defRPr sz="2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  <a:defRPr sz="72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6480"/>
              <a:buNone/>
              <a:defRPr sz="648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263140" y="11684000"/>
            <a:ext cx="13990320" cy="2784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6664940" y="11684000"/>
            <a:ext cx="13990320" cy="2784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 b="1"/>
            </a:lvl1pPr>
            <a:lvl2pPr marL="914400" lvl="1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2pPr>
            <a:lvl3pPr marL="1371600" lvl="2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None/>
              <a:defRPr sz="6480" b="1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6pPr>
            <a:lvl7pPr marL="3200400" lvl="6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7pPr>
            <a:lvl8pPr marL="3657600" lvl="7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8pPr>
            <a:lvl9pPr marL="4114800" lvl="8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267431" y="16032480"/>
            <a:ext cx="13926024" cy="23581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6664942" y="10759443"/>
            <a:ext cx="13994608" cy="5273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 b="1"/>
            </a:lvl1pPr>
            <a:lvl2pPr marL="914400" lvl="1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2pPr>
            <a:lvl3pPr marL="1371600" lvl="2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None/>
              <a:defRPr sz="6480" b="1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6pPr>
            <a:lvl7pPr marL="3200400" lvl="6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7pPr>
            <a:lvl8pPr marL="3657600" lvl="7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8pPr>
            <a:lvl9pPr marL="4114800" lvl="8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6664942" y="16032480"/>
            <a:ext cx="13994608" cy="23581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Calibri"/>
              <a:buNone/>
              <a:defRPr sz="11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994608" y="6319530"/>
            <a:ext cx="16664940" cy="311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96012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11520"/>
            </a:lvl1pPr>
            <a:lvl2pPr marL="914400" lvl="1" indent="-86868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 sz="10080"/>
            </a:lvl2pPr>
            <a:lvl3pPr marL="1371600" lvl="2" indent="-77724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640"/>
              <a:buChar char="•"/>
              <a:defRPr sz="8640"/>
            </a:lvl3pPr>
            <a:lvl4pPr marL="1828800" lvl="3" indent="-685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4pPr>
            <a:lvl5pPr marL="2286000" lvl="4" indent="-685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5pPr>
            <a:lvl6pPr marL="2743200" lvl="5" indent="-685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6pPr>
            <a:lvl7pPr marL="3200400" lvl="6" indent="-685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7pPr>
            <a:lvl8pPr marL="3657600" lvl="7" indent="-685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8pPr>
            <a:lvl9pPr marL="4114800" lvl="8" indent="-685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67428" y="13167360"/>
            <a:ext cx="10617041" cy="2439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1pPr>
            <a:lvl2pPr marL="914400" lvl="1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2pPr>
            <a:lvl3pPr marL="1371600" lvl="2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320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marL="3200400" lvl="6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marL="3657600" lvl="7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marL="4114800" lvl="8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Calibri"/>
              <a:buNone/>
              <a:defRPr sz="11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994608" y="6319530"/>
            <a:ext cx="16664940" cy="3119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67428" y="13167360"/>
            <a:ext cx="10617041" cy="2439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1pPr>
            <a:lvl2pPr marL="914400" lvl="1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2pPr>
            <a:lvl3pPr marL="1371600" lvl="2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320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marL="3200400" lvl="6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marL="3657600" lvl="7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marL="4114800" lvl="8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534919" y="11412222"/>
            <a:ext cx="27848563" cy="2839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508365" y="17385667"/>
            <a:ext cx="37195763" cy="7098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893434" y="10493377"/>
            <a:ext cx="37195763" cy="2088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40"/>
              <a:buFont typeface="Calibri"/>
              <a:buNone/>
              <a:defRPr sz="158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68680" algn="l" rtl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chemeClr val="dk1"/>
              </a:buClr>
              <a:buSzPts val="10080"/>
              <a:buFont typeface="Arial"/>
              <a:buChar char="•"/>
              <a:defRPr sz="100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7724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858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4008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sz="64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4008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sz="64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4008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sz="64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4008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sz="64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4008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sz="64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4008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480"/>
              <a:buFont typeface="Arial"/>
              <a:buChar char="•"/>
              <a:defRPr sz="64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20"/>
              <a:buFont typeface="Arial"/>
              <a:buNone/>
              <a:defRPr sz="4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811738" y="2823325"/>
            <a:ext cx="185397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endParaRPr sz="53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4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Cohen Ruport, Gi Young (Michelle) Back, Colby Fuke, John Flinn</a:t>
            </a:r>
            <a:endParaRPr sz="4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Sponsors: Carlos Paradis and Rick Kazman</a:t>
            </a:r>
            <a:endParaRPr sz="43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ICS 496 Capstone Project - Spring 2026</a:t>
            </a:r>
            <a:endParaRPr sz="43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200" y="53065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0" y="783475"/>
            <a:ext cx="32918400" cy="25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Kaiaulu Config, Executable, </a:t>
            </a:r>
            <a:endParaRPr sz="80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 Test, and Data Schema Refactoring</a:t>
            </a:r>
            <a:endParaRPr sz="80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9" name="Google Shape;89;p1" title="sailuh_q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8761" y="3357876"/>
            <a:ext cx="205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2914363" y="5587066"/>
            <a:ext cx="5830536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325" tIns="79325" rIns="79325" bIns="793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71"/>
              <a:buFont typeface="Arial"/>
              <a:buNone/>
            </a:pPr>
            <a:r>
              <a:rPr lang="en-US" sz="345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github.com/</a:t>
            </a:r>
            <a:r>
              <a:rPr lang="en-US" sz="345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sailuh</a:t>
            </a:r>
            <a:endParaRPr sz="3471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44198" y="36012050"/>
            <a:ext cx="4211668" cy="7696270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 Used</a:t>
            </a:r>
            <a:endParaRPr sz="60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81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Developer Tools: </a:t>
            </a:r>
          </a:p>
          <a:p>
            <a:pPr marL="381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Rstudio,</a:t>
            </a:r>
            <a:endParaRPr lang="en-US" sz="3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81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MySQL Workbench, </a:t>
            </a:r>
            <a:r>
              <a:rPr lang="en-US" sz="3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GitHub,</a:t>
            </a:r>
            <a:endParaRPr lang="en-US" sz="3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81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Codecov, </a:t>
            </a:r>
            <a:r>
              <a:rPr lang="en-US" sz="3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</a:t>
            </a:r>
            <a:endParaRPr sz="3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81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Languages:</a:t>
            </a:r>
          </a:p>
          <a:p>
            <a:pPr marL="381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R, Python</a:t>
            </a:r>
            <a:endParaRPr sz="3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81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Third-Party Tools:</a:t>
            </a:r>
            <a:r>
              <a:rPr lang="en-US" sz="3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381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Perceval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3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Depends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3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Scitools, Understand, Jira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3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SCC, DV8</a:t>
            </a:r>
            <a:endParaRPr sz="3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3606316" y="36023072"/>
            <a:ext cx="8982858" cy="7685246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Learnings &amp; Conclusion</a:t>
            </a:r>
            <a:endParaRPr sz="60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indent="-419100">
              <a:spcBef>
                <a:spcPts val="1000"/>
              </a:spcBef>
              <a:buFont typeface="Helvetica Neue,Sans-Serif"/>
              <a:buChar char="●"/>
            </a:pPr>
            <a:r>
              <a:rPr lang="en-US" sz="3000" dirty="0">
                <a:solidFill>
                  <a:schemeClr val="dk1"/>
                </a:solidFill>
                <a:latin typeface="Helvetica Neue"/>
              </a:rPr>
              <a:t>We learned how to more effectively work in a group setting with clearly defined roles and responsibilities, as well as assisting each other when necessary</a:t>
            </a:r>
            <a:endParaRPr lang="en-US" sz="6000" b="1" dirty="0">
              <a:solidFill>
                <a:schemeClr val="dk1"/>
              </a:solidFill>
              <a:latin typeface="Helvetica Neue"/>
            </a:endParaRPr>
          </a:p>
          <a:p>
            <a:pPr marL="457200" indent="-419100">
              <a:spcBef>
                <a:spcPts val="1000"/>
              </a:spcBef>
              <a:buFont typeface="Helvetica Neue,Sans-Serif"/>
              <a:buChar char="●"/>
            </a:pPr>
            <a:r>
              <a:rPr lang="en-US" sz="3000" dirty="0">
                <a:solidFill>
                  <a:schemeClr val="dk1"/>
                </a:solidFill>
                <a:latin typeface="Helvetica Neue"/>
              </a:rPr>
              <a:t>We gained project management experience by using multiple different scheduling methods </a:t>
            </a:r>
          </a:p>
          <a:p>
            <a:pPr marL="457200" indent="-419100">
              <a:buFont typeface="Helvetica Neue,Sans-Serif"/>
              <a:buChar char="●"/>
            </a:pPr>
            <a:r>
              <a:rPr lang="en-US" sz="3000" dirty="0">
                <a:solidFill>
                  <a:schemeClr val="dk1"/>
                </a:solidFill>
                <a:latin typeface="Helvetica Neue"/>
              </a:rPr>
              <a:t>Iterating with our sponsor gave us invaluable experience with professional communication</a:t>
            </a:r>
          </a:p>
          <a:p>
            <a:pPr marL="457200" indent="-419100">
              <a:buFont typeface="Helvetica Neue,Sans-Serif"/>
              <a:buChar char="●"/>
            </a:pPr>
            <a:r>
              <a:rPr lang="en-US" sz="3000" dirty="0">
                <a:solidFill>
                  <a:schemeClr val="dk1"/>
                </a:solidFill>
                <a:latin typeface="Helvetica Neue"/>
              </a:rPr>
              <a:t>By the end of the semester, we were familiar with R, RStudio, and Python notebooks, and the process of how quality code makes its way into an open-source project</a:t>
            </a:r>
          </a:p>
          <a:p>
            <a:pPr>
              <a:buFont typeface="Arial,Sans-Serif"/>
            </a:pPr>
            <a:endParaRPr lang="en-US" sz="3000" dirty="0">
              <a:solidFill>
                <a:schemeClr val="dk1"/>
              </a:solidFill>
              <a:latin typeface="Helvetica Neue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5004592" y="36012049"/>
            <a:ext cx="4290984" cy="7696270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Challenges</a:t>
            </a:r>
            <a:endParaRPr sz="60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Clearly defining the scope and detail of our refactoring work</a:t>
            </a: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Becoming familiar with how Kaiaulu was built and documented</a:t>
            </a:r>
            <a:endParaRPr sz="3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team members were unfamiliar with the R language</a:t>
            </a:r>
          </a:p>
          <a:p>
            <a:pPr marL="457200" indent="-419100"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Ensuring clear communication and collaboration between all team members</a:t>
            </a:r>
          </a:p>
        </p:txBody>
      </p:sp>
      <p:sp>
        <p:nvSpPr>
          <p:cNvPr id="20" name="Google Shape;95;p1">
            <a:extLst>
              <a:ext uri="{FF2B5EF4-FFF2-40B4-BE49-F238E27FC236}">
                <a16:creationId xmlns:a16="http://schemas.microsoft.com/office/drawing/2014/main" id="{155844E2-3A77-59D4-8716-917D8A593390}"/>
              </a:ext>
            </a:extLst>
          </p:cNvPr>
          <p:cNvSpPr txBox="1"/>
          <p:nvPr/>
        </p:nvSpPr>
        <p:spPr>
          <a:xfrm>
            <a:off x="7142723" y="6752213"/>
            <a:ext cx="12585251" cy="547737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buSzPts val="6000"/>
            </a:pPr>
            <a:r>
              <a:rPr lang="en-US" sz="6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Objectives</a:t>
            </a:r>
            <a:endParaRPr lang="en-US" sz="36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indent="-419100"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Refactor Kaiaulu's configurations into reusable project and analysis .yml files. </a:t>
            </a:r>
            <a:endParaRPr lang="en-US" sz="3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  <a:p>
            <a:pPr marL="457200" indent="-419100"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Refactor/create executables which provide command line access to the functions which Kaiaulu has.</a:t>
            </a:r>
            <a:endParaRPr lang="en-US" sz="3000" dirty="0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Refactor/create new unit tests as well as contribute to the already existing stability measures in place</a:t>
            </a:r>
          </a:p>
          <a:p>
            <a:pPr marL="457200" lvl="0" indent="-419100"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MySQL Workbench diagram to document table and module connections, along with a guide for future contributors to follow</a:t>
            </a:r>
            <a:endParaRPr lang="en-US" sz="3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" name="Google Shape;95;p1">
            <a:extLst>
              <a:ext uri="{FF2B5EF4-FFF2-40B4-BE49-F238E27FC236}">
                <a16:creationId xmlns:a16="http://schemas.microsoft.com/office/drawing/2014/main" id="{927A2845-F645-088A-32C0-BB39A7DB1FBD}"/>
              </a:ext>
            </a:extLst>
          </p:cNvPr>
          <p:cNvSpPr txBox="1"/>
          <p:nvPr/>
        </p:nvSpPr>
        <p:spPr>
          <a:xfrm>
            <a:off x="444199" y="6781161"/>
            <a:ext cx="6390430" cy="541806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buSzPts val="6000"/>
            </a:pPr>
            <a:r>
              <a:rPr lang="en-US" sz="6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What is Kaiaulu?</a:t>
            </a:r>
          </a:p>
          <a:p>
            <a:pPr marL="38100">
              <a:buSzPts val="3000"/>
            </a:pP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Kaiaulu is an R package and common interface that helps developers in mining software repositories to better understand the evolving software development communities and the artifacts they produce.</a:t>
            </a:r>
            <a:endParaRPr lang="en-US" sz="3000" dirty="0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Char char="●"/>
            </a:pPr>
            <a:endParaRPr sz="3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" name="Google Shape;96;p1">
            <a:extLst>
              <a:ext uri="{FF2B5EF4-FFF2-40B4-BE49-F238E27FC236}">
                <a16:creationId xmlns:a16="http://schemas.microsoft.com/office/drawing/2014/main" id="{CC67CDFB-3094-53A9-DC7F-128E55BDA012}"/>
              </a:ext>
            </a:extLst>
          </p:cNvPr>
          <p:cNvSpPr txBox="1"/>
          <p:nvPr/>
        </p:nvSpPr>
        <p:spPr>
          <a:xfrm>
            <a:off x="9703614" y="36012049"/>
            <a:ext cx="13563338" cy="769626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Tasks Accomplished</a:t>
            </a:r>
            <a:endParaRPr sz="60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indent="-419100">
              <a:spcBef>
                <a:spcPts val="1000"/>
              </a:spcBef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Config Refactoring: 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Separated configurations into project and analysis .yml files, enabling users interchangeable use across notebooks and execs.</a:t>
            </a:r>
            <a:endParaRPr lang="en-US" sz="300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457200" indent="-419100"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Executable Refactoring: 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Standardized executables and created new executable files which provide users access to 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Kaiaulu's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functions through a command line interface.</a:t>
            </a:r>
            <a:endParaRPr lang="en-US" sz="300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"/>
                </a:ext>
              </a:extLst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</a:ext>
                </a:extLst>
              </a:rPr>
              <a:t>Unit Test Refactoring: 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</a:ext>
                </a:extLst>
              </a:rPr>
              <a:t>Proposed and created new unit tests, fake data example functions, try catch statements, and created a new type of test to test the third-party tools that 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</a:ext>
                </a:extLst>
              </a:rPr>
              <a:t>Kaiaulu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</a:ext>
                </a:extLst>
              </a:rPr>
              <a:t> uses. </a:t>
            </a:r>
            <a:endParaRPr sz="3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</a:ext>
              </a:extLst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Schema Refactoring: 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Developed and implemented a documentation system for module tables and their corresponding merges.</a:t>
            </a:r>
            <a:endParaRPr lang="en-US" sz="30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indent="-419100"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Cheatsheet Creation: 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member of the group created a cheatsheet that encapsulates the entirety of our work, allowing users to quickly become familiar our contributions.</a:t>
            </a:r>
            <a:endParaRPr lang="en-US" sz="3000" dirty="0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Google Shape;95;p1">
            <a:extLst>
              <a:ext uri="{FF2B5EF4-FFF2-40B4-BE49-F238E27FC236}">
                <a16:creationId xmlns:a16="http://schemas.microsoft.com/office/drawing/2014/main" id="{F9DC2EF0-200F-7AE0-907F-DFC8DCE307B5}"/>
              </a:ext>
            </a:extLst>
          </p:cNvPr>
          <p:cNvSpPr txBox="1"/>
          <p:nvPr/>
        </p:nvSpPr>
        <p:spPr>
          <a:xfrm>
            <a:off x="20036068" y="6763236"/>
            <a:ext cx="12553106" cy="547737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buSzPts val="6000"/>
            </a:pPr>
            <a:r>
              <a:rPr lang="en-US" sz="6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Methodology</a:t>
            </a:r>
            <a:endParaRPr lang="en-US" sz="3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3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Management</a:t>
            </a:r>
          </a:p>
          <a:p>
            <a:pPr marL="457200" indent="-419100"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Both weekly group meetings internally as well as with our sponsor</a:t>
            </a:r>
            <a:endParaRPr lang="en-US" sz="3000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  <a:p>
            <a:pPr marL="457200" lvl="0" indent="-419100"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Documentation with GitHub Issues + PRs + Kanban Project Manager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3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Roles</a:t>
            </a:r>
          </a:p>
          <a:p>
            <a:pPr marL="457200" lvl="0" indent="-419100"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Manager: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Cohen</a:t>
            </a:r>
          </a:p>
          <a:p>
            <a:pPr marL="457200" lvl="0" indent="-419100"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Liaison: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Michelle</a:t>
            </a:r>
          </a:p>
          <a:p>
            <a:pPr marL="457200" lvl="0" indent="-419100"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Quality Manager: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Colby</a:t>
            </a:r>
          </a:p>
          <a:p>
            <a:pPr marL="457200" lvl="0" indent="-419100">
              <a:buClr>
                <a:schemeClr val="dk1"/>
              </a:buClr>
              <a:buSzPts val="3000"/>
              <a:buFont typeface="Helvetica Neue"/>
              <a:buChar char="●"/>
            </a:pPr>
            <a:r>
              <a:rPr lang="en-US" sz="3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Architect:</a:t>
            </a: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John</a:t>
            </a:r>
            <a:endParaRPr lang="en-US"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" name="Picture 1" descr="A blue jellyfish with text&#10;&#10;AI-generated content may be incorrect.">
            <a:extLst>
              <a:ext uri="{FF2B5EF4-FFF2-40B4-BE49-F238E27FC236}">
                <a16:creationId xmlns:a16="http://schemas.microsoft.com/office/drawing/2014/main" id="{92087EAD-FF59-3EA9-1D46-ABE9E7148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0664" y="3110633"/>
            <a:ext cx="2632298" cy="3090785"/>
          </a:xfrm>
          <a:prstGeom prst="rect">
            <a:avLst/>
          </a:prstGeom>
        </p:spPr>
      </p:pic>
      <p:pic>
        <p:nvPicPr>
          <p:cNvPr id="4" name="Picture 3" descr="A logo with green circles&#10;&#10;AI-generated content may be incorrect.">
            <a:extLst>
              <a:ext uri="{FF2B5EF4-FFF2-40B4-BE49-F238E27FC236}">
                <a16:creationId xmlns:a16="http://schemas.microsoft.com/office/drawing/2014/main" id="{D6120513-5A6A-9C4F-35F1-F50C7B0791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94359" y="272672"/>
            <a:ext cx="3962400" cy="3962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E1D1EC-89DA-9B21-FE6F-34B744EC2C0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93859" y="12536134"/>
            <a:ext cx="14754094" cy="113963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1084E1-44F4-75BD-E269-376A96F19FB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785925" y="12545056"/>
            <a:ext cx="14734675" cy="1137854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E465EB2-DD52-00DB-08A7-40F14CB22E6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388613" y="24344781"/>
            <a:ext cx="14764587" cy="1132506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CD61A8-591E-35D0-B984-B12F8638B0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72902" y="24299809"/>
            <a:ext cx="14764585" cy="1140305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475</Words>
  <Application>Microsoft Office PowerPoint</Application>
  <PresentationFormat>Custom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Arial,Sans-Serif</vt:lpstr>
      <vt:lpstr>Calibri</vt:lpstr>
      <vt:lpstr>Helvetica Neue</vt:lpstr>
      <vt:lpstr>Helvetica Neue,Sans-Serif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Adam G</dc:creator>
  <cp:lastModifiedBy>Gi Young Back</cp:lastModifiedBy>
  <cp:revision>259</cp:revision>
  <dcterms:created xsi:type="dcterms:W3CDTF">2026-04-20T19:43:25Z</dcterms:created>
  <dcterms:modified xsi:type="dcterms:W3CDTF">2026-05-09T12:23:06Z</dcterms:modified>
</cp:coreProperties>
</file>