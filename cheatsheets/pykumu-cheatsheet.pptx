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5" r:id="rId2"/>
  </p:sldIdLst>
  <p:sldSz cx="13970000" cy="10795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1pPr>
    <a:lvl2pPr marL="0" marR="0" indent="2286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2pPr>
    <a:lvl3pPr marL="0" marR="0" indent="4572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3pPr>
    <a:lvl4pPr marL="0" marR="0" indent="6858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4pPr>
    <a:lvl5pPr marL="0" marR="0" indent="9144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5pPr>
    <a:lvl6pPr marL="0" marR="0" indent="11430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6pPr>
    <a:lvl7pPr marL="0" marR="0" indent="13716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7pPr>
    <a:lvl8pPr marL="0" marR="0" indent="16002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8pPr>
    <a:lvl9pPr marL="0" marR="0" indent="18288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4C4C"/>
    <a:srgbClr val="0365C0"/>
    <a:srgbClr val="F07D61"/>
    <a:srgbClr val="000000"/>
    <a:srgbClr val="C945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02DABC-3B2C-4A85-945C-EB104FA5F375}" v="144" dt="2026-05-01T02:28:26.864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16" autoAdjust="0"/>
    <p:restoredTop sz="96247" autoAdjust="0"/>
  </p:normalViewPr>
  <p:slideViewPr>
    <p:cSldViewPr snapToGrid="0" snapToObjects="1">
      <p:cViewPr varScale="1">
        <p:scale>
          <a:sx n="71" d="100"/>
          <a:sy n="71" d="100"/>
        </p:scale>
        <p:origin x="18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6" name="Shape 12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1pPr>
    <a:lvl2pPr indent="2286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2pPr>
    <a:lvl3pPr indent="4572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3pPr>
    <a:lvl4pPr indent="6858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4pPr>
    <a:lvl5pPr indent="9144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5pPr>
    <a:lvl6pPr indent="11430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6pPr>
    <a:lvl7pPr indent="13716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7pPr>
    <a:lvl8pPr indent="16002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8pPr>
    <a:lvl9pPr indent="18288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EB9A0-235D-611B-4918-4849E23ED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B729E2-800D-5459-B62E-2FD7ACFF6B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9675" y="685800"/>
            <a:ext cx="443865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F10DA3-EEB3-74C6-FC32-D36EA2AAA3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345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13"/>
          </p:nvPr>
        </p:nvSpPr>
        <p:spPr>
          <a:xfrm>
            <a:off x="1725786" y="840878"/>
            <a:ext cx="10504786" cy="6357443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1364257" y="7375673"/>
            <a:ext cx="11241486" cy="152797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64257" y="8958212"/>
            <a:ext cx="11241486" cy="1214191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790156" y="10090546"/>
            <a:ext cx="376045" cy="38854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364257" y="3623964"/>
            <a:ext cx="11241486" cy="354707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sz="half" idx="13"/>
          </p:nvPr>
        </p:nvSpPr>
        <p:spPr>
          <a:xfrm>
            <a:off x="7216923" y="840878"/>
            <a:ext cx="5729884" cy="884039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023193" y="840878"/>
            <a:ext cx="5729884" cy="4283771"/>
          </a:xfrm>
          <a:prstGeom prst="rect">
            <a:avLst/>
          </a:prstGeom>
        </p:spPr>
        <p:txBody>
          <a:bodyPr anchor="b"/>
          <a:lstStyle>
            <a:lvl1pPr>
              <a:defRPr sz="3300"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23193" y="5274716"/>
            <a:ext cx="5729884" cy="4406554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7216923" y="2955478"/>
            <a:ext cx="5729884" cy="675307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23193" y="2955478"/>
            <a:ext cx="5729884" cy="6753077"/>
          </a:xfrm>
          <a:prstGeom prst="rect">
            <a:avLst/>
          </a:prstGeom>
        </p:spPr>
        <p:txBody>
          <a:bodyPr/>
          <a:lstStyle>
            <a:lvl1pPr marL="146957" indent="-146957">
              <a:defRPr b="1"/>
            </a:lvl1pPr>
            <a:lvl2pPr marL="489857" indent="-146957">
              <a:defRPr b="1"/>
            </a:lvl2pPr>
            <a:lvl3pPr marL="832757" indent="-146957">
              <a:defRPr b="1"/>
            </a:lvl3pPr>
            <a:lvl4pPr marL="1175657" indent="-146957">
              <a:defRPr b="1"/>
            </a:lvl4pPr>
            <a:lvl5pPr marL="1518557" indent="-146957">
              <a:defRPr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1023193" y="1523007"/>
            <a:ext cx="11923614" cy="7748986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half" idx="13"/>
          </p:nvPr>
        </p:nvSpPr>
        <p:spPr>
          <a:xfrm>
            <a:off x="1023193" y="1113730"/>
            <a:ext cx="5729884" cy="856754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7216923" y="5629423"/>
            <a:ext cx="5729884" cy="405184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sz="quarter" idx="15"/>
          </p:nvPr>
        </p:nvSpPr>
        <p:spPr>
          <a:xfrm>
            <a:off x="7223603" y="1113730"/>
            <a:ext cx="5729884" cy="405184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>
            <a:spLocks noGrp="1"/>
          </p:cNvSpPr>
          <p:nvPr>
            <p:ph type="body" sz="quarter" idx="13"/>
          </p:nvPr>
        </p:nvSpPr>
        <p:spPr>
          <a:xfrm>
            <a:off x="1364257" y="6993681"/>
            <a:ext cx="11241486" cy="50800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r">
              <a:lnSpc>
                <a:spcPct val="90000"/>
              </a:lnSpc>
              <a:buSzTx/>
              <a:buNone/>
              <a:defRPr sz="900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>
            <a:spLocks noGrp="1"/>
          </p:cNvSpPr>
          <p:nvPr>
            <p:ph type="body" sz="quarter" idx="14"/>
          </p:nvPr>
        </p:nvSpPr>
        <p:spPr>
          <a:xfrm>
            <a:off x="1364257" y="4742656"/>
            <a:ext cx="11241486" cy="7367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SzTx/>
              <a:buNone/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0" y="158750"/>
            <a:ext cx="13964218" cy="10477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207721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023193" y="636240"/>
            <a:ext cx="11923614" cy="231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023193" y="2955478"/>
            <a:ext cx="11923614" cy="6753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790156" y="10097368"/>
            <a:ext cx="376045" cy="388541"/>
          </a:xfrm>
          <a:prstGeom prst="rect">
            <a:avLst/>
          </a:prstGeom>
          <a:ln w="12700">
            <a:miter lim="400000"/>
          </a:ln>
        </p:spPr>
        <p:txBody>
          <a:bodyPr wrap="none" lIns="54570" tIns="54570" rIns="54570" bIns="54570">
            <a:spAutoFit/>
          </a:bodyPr>
          <a:lstStyle>
            <a:lvl1pPr algn="ctr">
              <a:spcBef>
                <a:spcPts val="0"/>
              </a:spcBef>
              <a:defRPr sz="1800" b="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ransition spd="med"/>
  <p:txStyles>
    <p:titleStyle>
      <a:lvl1pPr marL="0" marR="0" indent="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1pPr>
      <a:lvl2pPr marL="0" marR="0" indent="2286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2pPr>
      <a:lvl3pPr marL="0" marR="0" indent="4572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3pPr>
      <a:lvl4pPr marL="0" marR="0" indent="6858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4pPr>
      <a:lvl5pPr marL="0" marR="0" indent="9144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5pPr>
      <a:lvl6pPr marL="0" marR="0" indent="11430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6pPr>
      <a:lvl7pPr marL="0" marR="0" indent="13716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7pPr>
      <a:lvl8pPr marL="0" marR="0" indent="16002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8pPr>
      <a:lvl9pPr marL="0" marR="0" indent="18288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9pPr>
    </p:titleStyle>
    <p:bodyStyle>
      <a:lvl1pPr marL="148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1pPr>
      <a:lvl2pPr marL="592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2pPr>
      <a:lvl3pPr marL="1037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3pPr>
      <a:lvl4pPr marL="1481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4pPr>
      <a:lvl5pPr marL="1926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5pPr>
      <a:lvl6pPr marL="2370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6pPr>
      <a:lvl7pPr marL="2815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7pPr>
      <a:lvl8pPr marL="3259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8pPr>
      <a:lvl9pPr marL="3704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creativecommons.org/licenses/by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2C115-EDD9-1EF0-7D0E-2852B235C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Create a visual hierarchy. Help users navigate the page with titles, subtitles, and subsubtitles">
            <a:extLst>
              <a:ext uri="{FF2B5EF4-FFF2-40B4-BE49-F238E27FC236}">
                <a16:creationId xmlns:a16="http://schemas.microsoft.com/office/drawing/2014/main" id="{E069B74A-B950-FDDE-9124-61B906C52171}"/>
              </a:ext>
            </a:extLst>
          </p:cNvPr>
          <p:cNvSpPr txBox="1"/>
          <p:nvPr/>
        </p:nvSpPr>
        <p:spPr>
          <a:xfrm>
            <a:off x="182880" y="5120640"/>
            <a:ext cx="4001355" cy="14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wraps the Tetrad Java API through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JPype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, exposing individual modules in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/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api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(data, score, algorithm, graph, knowledge, bootstrapping) that provide direct function level control over each step of the causal search pipeline. Pykumu uses an R Package architecture, like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Kaiaulu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, with API, Notebooks, and Scripts. Its scripts and Notebooks also support interfaces to other tools in the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Sailuh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tools ecosystem. </a:t>
            </a: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</p:txBody>
      </p:sp>
      <p:sp>
        <p:nvSpPr>
          <p:cNvPr id="924" name="Folded Corner 5">
            <a:extLst>
              <a:ext uri="{FF2B5EF4-FFF2-40B4-BE49-F238E27FC236}">
                <a16:creationId xmlns:a16="http://schemas.microsoft.com/office/drawing/2014/main" id="{8DC431BB-4054-8B29-7D8F-9D2EE87F5E61}"/>
              </a:ext>
            </a:extLst>
          </p:cNvPr>
          <p:cNvSpPr/>
          <p:nvPr/>
        </p:nvSpPr>
        <p:spPr>
          <a:xfrm rot="10800000" flipH="1">
            <a:off x="5199804" y="8600070"/>
            <a:ext cx="944261" cy="1140881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35" name="Rectangle 934">
            <a:extLst>
              <a:ext uri="{FF2B5EF4-FFF2-40B4-BE49-F238E27FC236}">
                <a16:creationId xmlns:a16="http://schemas.microsoft.com/office/drawing/2014/main" id="{177546A7-34A3-5448-84D2-607E5941CF6A}"/>
              </a:ext>
            </a:extLst>
          </p:cNvPr>
          <p:cNvSpPr/>
          <p:nvPr/>
        </p:nvSpPr>
        <p:spPr>
          <a:xfrm>
            <a:off x="7718005" y="6805672"/>
            <a:ext cx="416903" cy="565648"/>
          </a:xfrm>
          <a:prstGeom prst="rect">
            <a:avLst/>
          </a:prstGeom>
          <a:solidFill>
            <a:srgbClr val="FFFFFF"/>
          </a:solidFill>
          <a:ln w="25400" cap="flat">
            <a:solidFill>
              <a:srgbClr val="0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936" name="Image" descr="Image">
            <a:extLst>
              <a:ext uri="{FF2B5EF4-FFF2-40B4-BE49-F238E27FC236}">
                <a16:creationId xmlns:a16="http://schemas.microsoft.com/office/drawing/2014/main" id="{A6A7C1DE-D346-15D5-673C-9F9B67E2E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568" y="-661924"/>
            <a:ext cx="5598432" cy="2990088"/>
          </a:xfrm>
          <a:prstGeom prst="rect">
            <a:avLst/>
          </a:prstGeom>
          <a:ln w="12700">
            <a:miter lim="400000"/>
          </a:ln>
        </p:spPr>
      </p:pic>
      <p:sp>
        <p:nvSpPr>
          <p:cNvPr id="937" name="Line">
            <a:extLst>
              <a:ext uri="{FF2B5EF4-FFF2-40B4-BE49-F238E27FC236}">
                <a16:creationId xmlns:a16="http://schemas.microsoft.com/office/drawing/2014/main" id="{F9A70F9B-7A7E-2C4B-6A1C-2E9BB56BDA21}"/>
              </a:ext>
            </a:extLst>
          </p:cNvPr>
          <p:cNvSpPr/>
          <p:nvPr/>
        </p:nvSpPr>
        <p:spPr>
          <a:xfrm flipV="1">
            <a:off x="213255" y="10296246"/>
            <a:ext cx="13462982" cy="39499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938" name="YOUR LOGO…">
            <a:extLst>
              <a:ext uri="{FF2B5EF4-FFF2-40B4-BE49-F238E27FC236}">
                <a16:creationId xmlns:a16="http://schemas.microsoft.com/office/drawing/2014/main" id="{86E34F88-6E8A-464E-02F9-EF86D0D4AB60}"/>
              </a:ext>
            </a:extLst>
          </p:cNvPr>
          <p:cNvSpPr/>
          <p:nvPr/>
        </p:nvSpPr>
        <p:spPr>
          <a:xfrm>
            <a:off x="170343" y="10207710"/>
            <a:ext cx="1757945" cy="528270"/>
          </a:xfrm>
          <a:prstGeom prst="roundRect">
            <a:avLst>
              <a:gd name="adj" fmla="val 36061"/>
            </a:avLst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defRPr>
                <a:solidFill>
                  <a:srgbClr val="407A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sz="2400" dirty="0"/>
              <a:t>Kumu</a:t>
            </a:r>
            <a:endParaRPr sz="2400" dirty="0"/>
          </a:p>
        </p:txBody>
      </p:sp>
      <p:sp>
        <p:nvSpPr>
          <p:cNvPr id="939" name="Three Column Layout: : CHEAT SHEET">
            <a:extLst>
              <a:ext uri="{FF2B5EF4-FFF2-40B4-BE49-F238E27FC236}">
                <a16:creationId xmlns:a16="http://schemas.microsoft.com/office/drawing/2014/main" id="{93A7F124-9228-6103-5A68-4386574F6CAB}"/>
              </a:ext>
            </a:extLst>
          </p:cNvPr>
          <p:cNvSpPr txBox="1">
            <a:spLocks/>
          </p:cNvSpPr>
          <p:nvPr/>
        </p:nvSpPr>
        <p:spPr>
          <a:xfrm>
            <a:off x="275721" y="361177"/>
            <a:ext cx="10898129" cy="803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>
            <a:normAutofit/>
          </a:bodyPr>
          <a:lstStyle>
            <a:lvl1pPr marL="0" marR="0" indent="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1pPr>
            <a:lvl2pPr marL="0" marR="0" indent="2286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2pPr>
            <a:lvl3pPr marL="0" marR="0" indent="4572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3pPr>
            <a:lvl4pPr marL="0" marR="0" indent="6858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4pPr>
            <a:lvl5pPr marL="0" marR="0" indent="9144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5pPr>
            <a:lvl6pPr marL="0" marR="0" indent="11430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6pPr>
            <a:lvl7pPr marL="0" marR="0" indent="13716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7pPr>
            <a:lvl8pPr marL="0" marR="0" indent="16002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8pPr>
            <a:lvl9pPr marL="0" marR="0" indent="182880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 u="none" strike="noStrike" cap="none" spc="0" baseline="0">
                <a:ln>
                  <a:noFill/>
                </a:ln>
                <a:solidFill>
                  <a:srgbClr val="585858"/>
                </a:solidFill>
                <a:uFillTx/>
                <a:latin typeface="+mn-lt"/>
                <a:ea typeface="+mn-ea"/>
                <a:cs typeface="+mn-cs"/>
                <a:sym typeface="Source Sans Pro Light"/>
              </a:defRPr>
            </a:lvl9pPr>
          </a:lstStyle>
          <a:p>
            <a:pPr hangingPunct="1"/>
            <a:r>
              <a:rPr lang="en-US"/>
              <a:t>Pykumu : : </a:t>
            </a:r>
            <a:r>
              <a:rPr lang="en-US" sz="3300"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CHEAT SHEET</a:t>
            </a:r>
            <a:r>
              <a:rPr lang="en-US"/>
              <a:t> </a:t>
            </a:r>
            <a:endParaRPr lang="en-US" dirty="0"/>
          </a:p>
        </p:txBody>
      </p:sp>
      <p:sp>
        <p:nvSpPr>
          <p:cNvPr id="941" name="Layout Suggestions">
            <a:extLst>
              <a:ext uri="{FF2B5EF4-FFF2-40B4-BE49-F238E27FC236}">
                <a16:creationId xmlns:a16="http://schemas.microsoft.com/office/drawing/2014/main" id="{4441B3E6-274E-E156-7EFA-7E6EF0631203}"/>
              </a:ext>
            </a:extLst>
          </p:cNvPr>
          <p:cNvSpPr txBox="1"/>
          <p:nvPr/>
        </p:nvSpPr>
        <p:spPr>
          <a:xfrm>
            <a:off x="182880" y="1463040"/>
            <a:ext cx="2621281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About</a:t>
            </a:r>
            <a:endParaRPr dirty="0"/>
          </a:p>
        </p:txBody>
      </p:sp>
      <p:sp>
        <p:nvSpPr>
          <p:cNvPr id="943" name="TextBox 942">
            <a:extLst>
              <a:ext uri="{FF2B5EF4-FFF2-40B4-BE49-F238E27FC236}">
                <a16:creationId xmlns:a16="http://schemas.microsoft.com/office/drawing/2014/main" id="{8E75FACA-9AA0-BFE1-435A-C83DC5C2DB41}"/>
              </a:ext>
            </a:extLst>
          </p:cNvPr>
          <p:cNvSpPr txBox="1"/>
          <p:nvPr/>
        </p:nvSpPr>
        <p:spPr>
          <a:xfrm>
            <a:off x="6080760" y="10327008"/>
            <a:ext cx="7747698" cy="5000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1000" b="0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SA</a:t>
            </a:r>
            <a:r>
              <a:rPr lang="en-US" sz="1000" b="0" dirty="0">
                <a:solidFill>
                  <a:schemeClr val="tx1"/>
                </a:solidFill>
              </a:rPr>
              <a:t> Phuong Pham,</a:t>
            </a: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Carlos Paradis</a:t>
            </a:r>
            <a:r>
              <a:rPr lang="en-US" sz="1000" b="0" dirty="0">
                <a:solidFill>
                  <a:schemeClr val="tx1"/>
                </a:solidFill>
              </a:rPr>
              <a:t>, Adam Graham, Jared Seto</a:t>
            </a: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• Kai</a:t>
            </a:r>
            <a:r>
              <a:rPr kumimoji="0" lang="haw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ā</a:t>
            </a: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ulu package version 0.0.0.9700 (in development) •  Updated: 2026-04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44" name="Logistics">
            <a:extLst>
              <a:ext uri="{FF2B5EF4-FFF2-40B4-BE49-F238E27FC236}">
                <a16:creationId xmlns:a16="http://schemas.microsoft.com/office/drawing/2014/main" id="{8129606E-347E-E975-CE14-DD70F1AF1D32}"/>
              </a:ext>
            </a:extLst>
          </p:cNvPr>
          <p:cNvSpPr txBox="1"/>
          <p:nvPr/>
        </p:nvSpPr>
        <p:spPr>
          <a:xfrm>
            <a:off x="9601200" y="1463040"/>
            <a:ext cx="4053967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API</a:t>
            </a:r>
          </a:p>
        </p:txBody>
      </p:sp>
      <p:sp>
        <p:nvSpPr>
          <p:cNvPr id="945" name="Logistics">
            <a:extLst>
              <a:ext uri="{FF2B5EF4-FFF2-40B4-BE49-F238E27FC236}">
                <a16:creationId xmlns:a16="http://schemas.microsoft.com/office/drawing/2014/main" id="{9CA9B140-9568-28FC-3204-5FFF05012D4D}"/>
              </a:ext>
            </a:extLst>
          </p:cNvPr>
          <p:cNvSpPr txBox="1"/>
          <p:nvPr/>
        </p:nvSpPr>
        <p:spPr>
          <a:xfrm>
            <a:off x="182880" y="6675120"/>
            <a:ext cx="3321422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Command Line Interface</a:t>
            </a:r>
          </a:p>
        </p:txBody>
      </p:sp>
      <p:sp>
        <p:nvSpPr>
          <p:cNvPr id="947" name="Basics">
            <a:extLst>
              <a:ext uri="{FF2B5EF4-FFF2-40B4-BE49-F238E27FC236}">
                <a16:creationId xmlns:a16="http://schemas.microsoft.com/office/drawing/2014/main" id="{6103A952-C7B1-D13D-752F-026CE41197D2}"/>
              </a:ext>
            </a:extLst>
          </p:cNvPr>
          <p:cNvSpPr txBox="1"/>
          <p:nvPr/>
        </p:nvSpPr>
        <p:spPr>
          <a:xfrm>
            <a:off x="182880" y="2834640"/>
            <a:ext cx="1699183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lc="http://schemas.openxmlformats.org/drawingml/2006/lockedCanvas"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12700" tIns="12700" rIns="12700" bIns="1270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 err="1"/>
              <a:t>Pykumu</a:t>
            </a:r>
            <a:r>
              <a:rPr lang="en-US" dirty="0"/>
              <a:t> API </a:t>
            </a:r>
            <a:endParaRPr dirty="0"/>
          </a:p>
        </p:txBody>
      </p:sp>
      <p:sp>
        <p:nvSpPr>
          <p:cNvPr id="948" name="Manipulate Variables">
            <a:extLst>
              <a:ext uri="{FF2B5EF4-FFF2-40B4-BE49-F238E27FC236}">
                <a16:creationId xmlns:a16="http://schemas.microsoft.com/office/drawing/2014/main" id="{FB87A8B2-9EBC-69F0-F9C5-796DD90F9A97}"/>
              </a:ext>
            </a:extLst>
          </p:cNvPr>
          <p:cNvSpPr txBox="1"/>
          <p:nvPr/>
        </p:nvSpPr>
        <p:spPr>
          <a:xfrm>
            <a:off x="4754880" y="1463040"/>
            <a:ext cx="3414396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/>
              <a:t>Causal Analysis Workflow</a:t>
            </a:r>
          </a:p>
        </p:txBody>
      </p:sp>
      <p:graphicFrame>
        <p:nvGraphicFramePr>
          <p:cNvPr id="952" name="Table">
            <a:extLst>
              <a:ext uri="{FF2B5EF4-FFF2-40B4-BE49-F238E27FC236}">
                <a16:creationId xmlns:a16="http://schemas.microsoft.com/office/drawing/2014/main" id="{969B1CE4-DE8C-93ED-9C38-8E45791BB9C4}"/>
              </a:ext>
            </a:extLst>
          </p:cNvPr>
          <p:cNvGraphicFramePr/>
          <p:nvPr/>
        </p:nvGraphicFramePr>
        <p:xfrm>
          <a:off x="7572970" y="2138385"/>
          <a:ext cx="627864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53" name="Table">
            <a:extLst>
              <a:ext uri="{FF2B5EF4-FFF2-40B4-BE49-F238E27FC236}">
                <a16:creationId xmlns:a16="http://schemas.microsoft.com/office/drawing/2014/main" id="{8546FBD8-A7E5-CC3B-B223-EA8FCFD803D2}"/>
              </a:ext>
            </a:extLst>
          </p:cNvPr>
          <p:cNvGraphicFramePr/>
          <p:nvPr/>
        </p:nvGraphicFramePr>
        <p:xfrm>
          <a:off x="8061338" y="3435621"/>
          <a:ext cx="646626" cy="63799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07771">
                  <a:extLst>
                    <a:ext uri="{9D8B030D-6E8A-4147-A177-3AD203B41FA5}">
                      <a16:colId xmlns:a16="http://schemas.microsoft.com/office/drawing/2014/main" val="3530728205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2262694748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3819122332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3296678260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1322319369"/>
                    </a:ext>
                  </a:extLst>
                </a:gridCol>
                <a:gridCol w="107771">
                  <a:extLst>
                    <a:ext uri="{9D8B030D-6E8A-4147-A177-3AD203B41FA5}">
                      <a16:colId xmlns:a16="http://schemas.microsoft.com/office/drawing/2014/main" val="117903980"/>
                    </a:ext>
                  </a:extLst>
                </a:gridCol>
              </a:tblGrid>
              <a:tr h="127598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598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54" name="Table">
            <a:extLst>
              <a:ext uri="{FF2B5EF4-FFF2-40B4-BE49-F238E27FC236}">
                <a16:creationId xmlns:a16="http://schemas.microsoft.com/office/drawing/2014/main" id="{FBBD847E-B307-EAEE-4DAD-4EAD11FCFE0E}"/>
              </a:ext>
            </a:extLst>
          </p:cNvPr>
          <p:cNvGraphicFramePr/>
          <p:nvPr/>
        </p:nvGraphicFramePr>
        <p:xfrm>
          <a:off x="5772224" y="3376010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55" name="Table">
            <a:extLst>
              <a:ext uri="{FF2B5EF4-FFF2-40B4-BE49-F238E27FC236}">
                <a16:creationId xmlns:a16="http://schemas.microsoft.com/office/drawing/2014/main" id="{023AE83B-0EAA-8CF8-AD16-A57DE6339795}"/>
              </a:ext>
            </a:extLst>
          </p:cNvPr>
          <p:cNvGraphicFramePr/>
          <p:nvPr/>
        </p:nvGraphicFramePr>
        <p:xfrm>
          <a:off x="7118882" y="3440044"/>
          <a:ext cx="627864" cy="64008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6933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933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102988"/>
                  </a:ext>
                </a:extLst>
              </a:tr>
            </a:tbl>
          </a:graphicData>
        </a:graphic>
      </p:graphicFrame>
      <p:graphicFrame>
        <p:nvGraphicFramePr>
          <p:cNvPr id="956" name="Table">
            <a:extLst>
              <a:ext uri="{FF2B5EF4-FFF2-40B4-BE49-F238E27FC236}">
                <a16:creationId xmlns:a16="http://schemas.microsoft.com/office/drawing/2014/main" id="{E38DBFCB-E866-A938-519C-B74682825FD5}"/>
              </a:ext>
            </a:extLst>
          </p:cNvPr>
          <p:cNvGraphicFramePr/>
          <p:nvPr/>
        </p:nvGraphicFramePr>
        <p:xfrm>
          <a:off x="5348324" y="3376010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57" name="Plus Sign 956">
            <a:extLst>
              <a:ext uri="{FF2B5EF4-FFF2-40B4-BE49-F238E27FC236}">
                <a16:creationId xmlns:a16="http://schemas.microsoft.com/office/drawing/2014/main" id="{457633A9-2CE2-862E-1573-F927DFF16BBC}"/>
              </a:ext>
            </a:extLst>
          </p:cNvPr>
          <p:cNvSpPr/>
          <p:nvPr/>
        </p:nvSpPr>
        <p:spPr>
          <a:xfrm>
            <a:off x="5608866" y="3614601"/>
            <a:ext cx="118473" cy="124938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58" name="Plus Sign 957">
            <a:extLst>
              <a:ext uri="{FF2B5EF4-FFF2-40B4-BE49-F238E27FC236}">
                <a16:creationId xmlns:a16="http://schemas.microsoft.com/office/drawing/2014/main" id="{EE5A902F-9665-AD80-C8D6-36A3B16E60FD}"/>
              </a:ext>
            </a:extLst>
          </p:cNvPr>
          <p:cNvSpPr/>
          <p:nvPr/>
        </p:nvSpPr>
        <p:spPr>
          <a:xfrm>
            <a:off x="7845219" y="3691378"/>
            <a:ext cx="117646" cy="122062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59" name="Left Brace 958">
            <a:extLst>
              <a:ext uri="{FF2B5EF4-FFF2-40B4-BE49-F238E27FC236}">
                <a16:creationId xmlns:a16="http://schemas.microsoft.com/office/drawing/2014/main" id="{A3B1FB1A-C9D8-B538-03B1-2F9054E2C9BF}"/>
              </a:ext>
            </a:extLst>
          </p:cNvPr>
          <p:cNvSpPr/>
          <p:nvPr/>
        </p:nvSpPr>
        <p:spPr>
          <a:xfrm>
            <a:off x="7013808" y="3446222"/>
            <a:ext cx="45719" cy="623765"/>
          </a:xfrm>
          <a:prstGeom prst="leftBrace">
            <a:avLst/>
          </a:prstGeom>
          <a:noFill/>
          <a:ln w="952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960" name="TextBox 959">
            <a:extLst>
              <a:ext uri="{FF2B5EF4-FFF2-40B4-BE49-F238E27FC236}">
                <a16:creationId xmlns:a16="http://schemas.microsoft.com/office/drawing/2014/main" id="{A853A30A-7F64-F1D1-9250-63F9FF3AE7AE}"/>
              </a:ext>
            </a:extLst>
          </p:cNvPr>
          <p:cNvSpPr txBox="1"/>
          <p:nvPr/>
        </p:nvSpPr>
        <p:spPr>
          <a:xfrm>
            <a:off x="6843820" y="3579764"/>
            <a:ext cx="153362" cy="330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x</a:t>
            </a:r>
          </a:p>
        </p:txBody>
      </p:sp>
      <p:sp>
        <p:nvSpPr>
          <p:cNvPr id="961" name="Left Brace 960">
            <a:extLst>
              <a:ext uri="{FF2B5EF4-FFF2-40B4-BE49-F238E27FC236}">
                <a16:creationId xmlns:a16="http://schemas.microsoft.com/office/drawing/2014/main" id="{401DE3FD-D151-2DBD-AAE4-FACE2FA110B6}"/>
              </a:ext>
            </a:extLst>
          </p:cNvPr>
          <p:cNvSpPr/>
          <p:nvPr/>
        </p:nvSpPr>
        <p:spPr>
          <a:xfrm rot="5400000">
            <a:off x="8355720" y="3029143"/>
            <a:ext cx="51104" cy="639868"/>
          </a:xfrm>
          <a:prstGeom prst="leftBrace">
            <a:avLst/>
          </a:prstGeom>
          <a:noFill/>
          <a:ln w="952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962" name="TextBox 961">
            <a:extLst>
              <a:ext uri="{FF2B5EF4-FFF2-40B4-BE49-F238E27FC236}">
                <a16:creationId xmlns:a16="http://schemas.microsoft.com/office/drawing/2014/main" id="{F6E53A6D-FCCD-334E-A749-CCF8FB0E1E6A}"/>
              </a:ext>
            </a:extLst>
          </p:cNvPr>
          <p:cNvSpPr txBox="1"/>
          <p:nvPr/>
        </p:nvSpPr>
        <p:spPr>
          <a:xfrm>
            <a:off x="8298111" y="3068841"/>
            <a:ext cx="153362" cy="330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x</a:t>
            </a:r>
          </a:p>
        </p:txBody>
      </p:sp>
      <p:sp>
        <p:nvSpPr>
          <p:cNvPr id="963" name="TextBox 962">
            <a:extLst>
              <a:ext uri="{FF2B5EF4-FFF2-40B4-BE49-F238E27FC236}">
                <a16:creationId xmlns:a16="http://schemas.microsoft.com/office/drawing/2014/main" id="{0DAC07AE-BD65-A042-FED4-8E255CB2BDAD}"/>
              </a:ext>
            </a:extLst>
          </p:cNvPr>
          <p:cNvSpPr txBox="1"/>
          <p:nvPr/>
        </p:nvSpPr>
        <p:spPr>
          <a:xfrm>
            <a:off x="7059527" y="3181679"/>
            <a:ext cx="458095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CVE_ID</a:t>
            </a:r>
          </a:p>
        </p:txBody>
      </p:sp>
      <p:sp>
        <p:nvSpPr>
          <p:cNvPr id="964" name="TextBox 963">
            <a:extLst>
              <a:ext uri="{FF2B5EF4-FFF2-40B4-BE49-F238E27FC236}">
                <a16:creationId xmlns:a16="http://schemas.microsoft.com/office/drawing/2014/main" id="{C2261B69-A8CA-F533-DD68-C413EDE3290B}"/>
              </a:ext>
            </a:extLst>
          </p:cNvPr>
          <p:cNvSpPr txBox="1"/>
          <p:nvPr/>
        </p:nvSpPr>
        <p:spPr>
          <a:xfrm>
            <a:off x="5375035" y="3916044"/>
            <a:ext cx="155573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700" dirty="0"/>
              <a:t>t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65" name="TextBox 964">
            <a:extLst>
              <a:ext uri="{FF2B5EF4-FFF2-40B4-BE49-F238E27FC236}">
                <a16:creationId xmlns:a16="http://schemas.microsoft.com/office/drawing/2014/main" id="{1DF5F6AB-905D-5043-3893-BCA105B2CBA2}"/>
              </a:ext>
            </a:extLst>
          </p:cNvPr>
          <p:cNvSpPr txBox="1"/>
          <p:nvPr/>
        </p:nvSpPr>
        <p:spPr>
          <a:xfrm>
            <a:off x="8265907" y="5236526"/>
            <a:ext cx="303287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 + 1</a:t>
            </a:r>
          </a:p>
        </p:txBody>
      </p:sp>
      <p:sp>
        <p:nvSpPr>
          <p:cNvPr id="966" name="TextBox 965">
            <a:extLst>
              <a:ext uri="{FF2B5EF4-FFF2-40B4-BE49-F238E27FC236}">
                <a16:creationId xmlns:a16="http://schemas.microsoft.com/office/drawing/2014/main" id="{7EC81BB4-19F4-C8FB-8F8C-7C9111693D56}"/>
              </a:ext>
            </a:extLst>
          </p:cNvPr>
          <p:cNvSpPr txBox="1"/>
          <p:nvPr/>
        </p:nvSpPr>
        <p:spPr>
          <a:xfrm>
            <a:off x="7061575" y="4047273"/>
            <a:ext cx="1841009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dirty="0"/>
              <a:t>4. Indicator Features (IF) </a:t>
            </a: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67" name="TextBox 966">
            <a:extLst>
              <a:ext uri="{FF2B5EF4-FFF2-40B4-BE49-F238E27FC236}">
                <a16:creationId xmlns:a16="http://schemas.microsoft.com/office/drawing/2014/main" id="{487BBB33-E117-A114-0F69-2702880D5146}"/>
              </a:ext>
            </a:extLst>
          </p:cNvPr>
          <p:cNvSpPr txBox="1"/>
          <p:nvPr/>
        </p:nvSpPr>
        <p:spPr>
          <a:xfrm>
            <a:off x="5218291" y="4040163"/>
            <a:ext cx="872964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/>
              <a:t>3. Time Lag</a:t>
            </a:r>
          </a:p>
        </p:txBody>
      </p:sp>
      <p:sp>
        <p:nvSpPr>
          <p:cNvPr id="968" name="TextBox 967">
            <a:extLst>
              <a:ext uri="{FF2B5EF4-FFF2-40B4-BE49-F238E27FC236}">
                <a16:creationId xmlns:a16="http://schemas.microsoft.com/office/drawing/2014/main" id="{35130DEC-7A14-9D31-DB4F-2B8E9267D73D}"/>
              </a:ext>
            </a:extLst>
          </p:cNvPr>
          <p:cNvSpPr txBox="1"/>
          <p:nvPr/>
        </p:nvSpPr>
        <p:spPr>
          <a:xfrm>
            <a:off x="7464986" y="2727847"/>
            <a:ext cx="168110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2. Dataset</a:t>
            </a: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969" name="Connector: Elbow 968">
            <a:extLst>
              <a:ext uri="{FF2B5EF4-FFF2-40B4-BE49-F238E27FC236}">
                <a16:creationId xmlns:a16="http://schemas.microsoft.com/office/drawing/2014/main" id="{E6417101-7B44-3BA1-AD3D-D80903879ED2}"/>
              </a:ext>
            </a:extLst>
          </p:cNvPr>
          <p:cNvCxnSpPr>
            <a:cxnSpLocks/>
            <a:endCxn id="995" idx="1"/>
          </p:cNvCxnSpPr>
          <p:nvPr/>
        </p:nvCxnSpPr>
        <p:spPr>
          <a:xfrm flipH="1">
            <a:off x="5209590" y="2556636"/>
            <a:ext cx="3498712" cy="1167195"/>
          </a:xfrm>
          <a:prstGeom prst="bentConnector5">
            <a:avLst>
              <a:gd name="adj1" fmla="val -9550"/>
              <a:gd name="adj2" fmla="val 50000"/>
              <a:gd name="adj3" fmla="val 112547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70" name="Rectangle 969">
            <a:extLst>
              <a:ext uri="{FF2B5EF4-FFF2-40B4-BE49-F238E27FC236}">
                <a16:creationId xmlns:a16="http://schemas.microsoft.com/office/drawing/2014/main" id="{6F0FDB0A-002A-AC8D-166F-1BB05DDE425F}"/>
              </a:ext>
            </a:extLst>
          </p:cNvPr>
          <p:cNvSpPr/>
          <p:nvPr/>
        </p:nvSpPr>
        <p:spPr>
          <a:xfrm>
            <a:off x="7370620" y="1800587"/>
            <a:ext cx="1443262" cy="996921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aphicFrame>
        <p:nvGraphicFramePr>
          <p:cNvPr id="971" name="Table">
            <a:extLst>
              <a:ext uri="{FF2B5EF4-FFF2-40B4-BE49-F238E27FC236}">
                <a16:creationId xmlns:a16="http://schemas.microsoft.com/office/drawing/2014/main" id="{92BF1CFC-67E2-0182-7E83-23456BD7A4E0}"/>
              </a:ext>
            </a:extLst>
          </p:cNvPr>
          <p:cNvGraphicFramePr/>
          <p:nvPr/>
        </p:nvGraphicFramePr>
        <p:xfrm>
          <a:off x="5798497" y="4767713"/>
          <a:ext cx="213224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13224">
                  <a:extLst>
                    <a:ext uri="{9D8B030D-6E8A-4147-A177-3AD203B41FA5}">
                      <a16:colId xmlns:a16="http://schemas.microsoft.com/office/drawing/2014/main" val="3530728205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72" name="Table">
            <a:extLst>
              <a:ext uri="{FF2B5EF4-FFF2-40B4-BE49-F238E27FC236}">
                <a16:creationId xmlns:a16="http://schemas.microsoft.com/office/drawing/2014/main" id="{6DEA6F83-4C39-91B0-FEB6-304696E0A87E}"/>
              </a:ext>
            </a:extLst>
          </p:cNvPr>
          <p:cNvGraphicFramePr/>
          <p:nvPr/>
        </p:nvGraphicFramePr>
        <p:xfrm>
          <a:off x="5305505" y="4776645"/>
          <a:ext cx="213224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13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73" name="Plus Sign 972">
            <a:extLst>
              <a:ext uri="{FF2B5EF4-FFF2-40B4-BE49-F238E27FC236}">
                <a16:creationId xmlns:a16="http://schemas.microsoft.com/office/drawing/2014/main" id="{C856C3FA-0492-641E-4B9A-8D13F21A57AB}"/>
              </a:ext>
            </a:extLst>
          </p:cNvPr>
          <p:cNvSpPr/>
          <p:nvPr/>
        </p:nvSpPr>
        <p:spPr>
          <a:xfrm>
            <a:off x="5599687" y="4767713"/>
            <a:ext cx="120996" cy="122062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74" name="TextBox 973">
            <a:extLst>
              <a:ext uri="{FF2B5EF4-FFF2-40B4-BE49-F238E27FC236}">
                <a16:creationId xmlns:a16="http://schemas.microsoft.com/office/drawing/2014/main" id="{9AD219A3-2FCF-6066-7093-23CDF07E5939}"/>
              </a:ext>
            </a:extLst>
          </p:cNvPr>
          <p:cNvSpPr txBox="1"/>
          <p:nvPr/>
        </p:nvSpPr>
        <p:spPr>
          <a:xfrm>
            <a:off x="5103638" y="5345212"/>
            <a:ext cx="1255608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5. Null Features</a:t>
            </a:r>
          </a:p>
        </p:txBody>
      </p:sp>
      <p:cxnSp>
        <p:nvCxnSpPr>
          <p:cNvPr id="975" name="Straight Arrow Connector 974">
            <a:extLst>
              <a:ext uri="{FF2B5EF4-FFF2-40B4-BE49-F238E27FC236}">
                <a16:creationId xmlns:a16="http://schemas.microsoft.com/office/drawing/2014/main" id="{A5F99B8E-EE7E-E92D-B7AC-E3F3F6C1B933}"/>
              </a:ext>
            </a:extLst>
          </p:cNvPr>
          <p:cNvCxnSpPr>
            <a:cxnSpLocks/>
          </p:cNvCxnSpPr>
          <p:nvPr/>
        </p:nvCxnSpPr>
        <p:spPr>
          <a:xfrm>
            <a:off x="5512825" y="4942585"/>
            <a:ext cx="285672" cy="357737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6" name="Straight Arrow Connector 975">
            <a:extLst>
              <a:ext uri="{FF2B5EF4-FFF2-40B4-BE49-F238E27FC236}">
                <a16:creationId xmlns:a16="http://schemas.microsoft.com/office/drawing/2014/main" id="{0A2618CF-6879-0962-FCF1-AA2D2047C854}"/>
              </a:ext>
            </a:extLst>
          </p:cNvPr>
          <p:cNvCxnSpPr>
            <a:cxnSpLocks/>
          </p:cNvCxnSpPr>
          <p:nvPr/>
        </p:nvCxnSpPr>
        <p:spPr>
          <a:xfrm>
            <a:off x="5512825" y="5076174"/>
            <a:ext cx="285672" cy="113646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7" name="Straight Arrow Connector 976">
            <a:extLst>
              <a:ext uri="{FF2B5EF4-FFF2-40B4-BE49-F238E27FC236}">
                <a16:creationId xmlns:a16="http://schemas.microsoft.com/office/drawing/2014/main" id="{21ADDA0E-8BBF-A37A-B92F-F9576029E066}"/>
              </a:ext>
            </a:extLst>
          </p:cNvPr>
          <p:cNvCxnSpPr>
            <a:cxnSpLocks/>
            <a:endCxn id="971" idx="1"/>
          </p:cNvCxnSpPr>
          <p:nvPr/>
        </p:nvCxnSpPr>
        <p:spPr>
          <a:xfrm flipV="1">
            <a:off x="5506921" y="5064590"/>
            <a:ext cx="291576" cy="122086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8" name="Straight Arrow Connector 977">
            <a:extLst>
              <a:ext uri="{FF2B5EF4-FFF2-40B4-BE49-F238E27FC236}">
                <a16:creationId xmlns:a16="http://schemas.microsoft.com/office/drawing/2014/main" id="{81042ECC-82D6-6004-7E43-16D48FB4247E}"/>
              </a:ext>
            </a:extLst>
          </p:cNvPr>
          <p:cNvCxnSpPr>
            <a:cxnSpLocks/>
          </p:cNvCxnSpPr>
          <p:nvPr/>
        </p:nvCxnSpPr>
        <p:spPr>
          <a:xfrm flipV="1">
            <a:off x="5509148" y="4942585"/>
            <a:ext cx="289349" cy="366096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none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9" name="Connector: Elbow 978">
            <a:extLst>
              <a:ext uri="{FF2B5EF4-FFF2-40B4-BE49-F238E27FC236}">
                <a16:creationId xmlns:a16="http://schemas.microsoft.com/office/drawing/2014/main" id="{9E8DD5C5-C66D-D30D-E9AE-6146206606CB}"/>
              </a:ext>
            </a:extLst>
          </p:cNvPr>
          <p:cNvCxnSpPr>
            <a:cxnSpLocks/>
            <a:stCxn id="992" idx="3"/>
            <a:endCxn id="993" idx="1"/>
          </p:cNvCxnSpPr>
          <p:nvPr/>
        </p:nvCxnSpPr>
        <p:spPr>
          <a:xfrm flipH="1">
            <a:off x="5202130" y="3774861"/>
            <a:ext cx="3609346" cy="1247213"/>
          </a:xfrm>
          <a:prstGeom prst="bentConnector5">
            <a:avLst>
              <a:gd name="adj1" fmla="val -6334"/>
              <a:gd name="adj2" fmla="val 54130"/>
              <a:gd name="adj3" fmla="val 111841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80" name="TextBox 979">
            <a:extLst>
              <a:ext uri="{FF2B5EF4-FFF2-40B4-BE49-F238E27FC236}">
                <a16:creationId xmlns:a16="http://schemas.microsoft.com/office/drawing/2014/main" id="{FBA9E099-A473-4C4A-FD69-5F0EA3EB7403}"/>
              </a:ext>
            </a:extLst>
          </p:cNvPr>
          <p:cNvSpPr txBox="1"/>
          <p:nvPr/>
        </p:nvSpPr>
        <p:spPr>
          <a:xfrm>
            <a:off x="5731442" y="4562041"/>
            <a:ext cx="807445" cy="2000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700" dirty="0" err="1"/>
              <a:t>nv</a:t>
            </a:r>
            <a:r>
              <a:rPr lang="en-US" sz="700" dirty="0"/>
              <a:t>-*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981" name="Picture 980" descr="A picture containing text&#10;&#10;Description automatically generated">
            <a:extLst>
              <a:ext uri="{FF2B5EF4-FFF2-40B4-BE49-F238E27FC236}">
                <a16:creationId xmlns:a16="http://schemas.microsoft.com/office/drawing/2014/main" id="{1CAD5C0B-CEFD-CC8E-912E-21AE0164E9C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501" y="2070865"/>
            <a:ext cx="575884" cy="668768"/>
          </a:xfrm>
          <a:prstGeom prst="rect">
            <a:avLst/>
          </a:prstGeom>
        </p:spPr>
      </p:pic>
      <p:sp>
        <p:nvSpPr>
          <p:cNvPr id="982" name="TextBox 981">
            <a:extLst>
              <a:ext uri="{FF2B5EF4-FFF2-40B4-BE49-F238E27FC236}">
                <a16:creationId xmlns:a16="http://schemas.microsoft.com/office/drawing/2014/main" id="{1C6BED93-CCF9-546D-CA84-A4BDA4F5C1DB}"/>
              </a:ext>
            </a:extLst>
          </p:cNvPr>
          <p:cNvSpPr txBox="1"/>
          <p:nvPr/>
        </p:nvSpPr>
        <p:spPr>
          <a:xfrm>
            <a:off x="5004947" y="2700916"/>
            <a:ext cx="1311388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1. </a:t>
            </a:r>
            <a:r>
              <a:rPr lang="en-US" dirty="0" err="1"/>
              <a:t>sailuh</a:t>
            </a:r>
            <a:r>
              <a:rPr lang="en-US" dirty="0"/>
              <a:t>/</a:t>
            </a:r>
            <a:r>
              <a:rPr lang="en-US" dirty="0" err="1"/>
              <a:t>kaiaulu</a:t>
            </a: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83" name="TextBox 982">
            <a:extLst>
              <a:ext uri="{FF2B5EF4-FFF2-40B4-BE49-F238E27FC236}">
                <a16:creationId xmlns:a16="http://schemas.microsoft.com/office/drawing/2014/main" id="{D9D1D4C7-61D0-BE2C-841E-B0E3943E2A49}"/>
              </a:ext>
            </a:extLst>
          </p:cNvPr>
          <p:cNvSpPr txBox="1"/>
          <p:nvPr/>
        </p:nvSpPr>
        <p:spPr>
          <a:xfrm>
            <a:off x="7046974" y="7342669"/>
            <a:ext cx="1831781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7.2 Domain Knowledge</a:t>
            </a:r>
          </a:p>
        </p:txBody>
      </p:sp>
      <p:cxnSp>
        <p:nvCxnSpPr>
          <p:cNvPr id="984" name="Connector: Elbow 983">
            <a:extLst>
              <a:ext uri="{FF2B5EF4-FFF2-40B4-BE49-F238E27FC236}">
                <a16:creationId xmlns:a16="http://schemas.microsoft.com/office/drawing/2014/main" id="{F496BB88-D9B8-7731-00E6-793122EFA3DB}"/>
              </a:ext>
            </a:extLst>
          </p:cNvPr>
          <p:cNvCxnSpPr>
            <a:cxnSpLocks/>
            <a:endCxn id="1102" idx="3"/>
          </p:cNvCxnSpPr>
          <p:nvPr/>
        </p:nvCxnSpPr>
        <p:spPr>
          <a:xfrm flipH="1">
            <a:off x="8451473" y="5509532"/>
            <a:ext cx="266193" cy="568100"/>
          </a:xfrm>
          <a:prstGeom prst="bentConnector3">
            <a:avLst>
              <a:gd name="adj1" fmla="val -120229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5" name="Connector: Elbow 984">
            <a:extLst>
              <a:ext uri="{FF2B5EF4-FFF2-40B4-BE49-F238E27FC236}">
                <a16:creationId xmlns:a16="http://schemas.microsoft.com/office/drawing/2014/main" id="{8119C4F1-F05E-337C-7EBF-8530F54161B8}"/>
              </a:ext>
            </a:extLst>
          </p:cNvPr>
          <p:cNvCxnSpPr>
            <a:cxnSpLocks/>
          </p:cNvCxnSpPr>
          <p:nvPr/>
        </p:nvCxnSpPr>
        <p:spPr>
          <a:xfrm rot="10800000">
            <a:off x="6191032" y="6366021"/>
            <a:ext cx="1339738" cy="753131"/>
          </a:xfrm>
          <a:prstGeom prst="bentConnector3">
            <a:avLst>
              <a:gd name="adj1" fmla="val 64339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6" name="Connector: Elbow 985">
            <a:extLst>
              <a:ext uri="{FF2B5EF4-FFF2-40B4-BE49-F238E27FC236}">
                <a16:creationId xmlns:a16="http://schemas.microsoft.com/office/drawing/2014/main" id="{FB728F09-EAE9-64A7-14A7-88EF2D079B71}"/>
              </a:ext>
            </a:extLst>
          </p:cNvPr>
          <p:cNvCxnSpPr>
            <a:cxnSpLocks/>
            <a:stCxn id="1103" idx="1"/>
          </p:cNvCxnSpPr>
          <p:nvPr/>
        </p:nvCxnSpPr>
        <p:spPr>
          <a:xfrm rot="10800000" flipV="1">
            <a:off x="6191031" y="6055666"/>
            <a:ext cx="1218821" cy="310351"/>
          </a:xfrm>
          <a:prstGeom prst="bentConnector3">
            <a:avLst>
              <a:gd name="adj1" fmla="val 61094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7" name="Connector: Elbow 986">
            <a:extLst>
              <a:ext uri="{FF2B5EF4-FFF2-40B4-BE49-F238E27FC236}">
                <a16:creationId xmlns:a16="http://schemas.microsoft.com/office/drawing/2014/main" id="{EC5A03D9-DF3C-84CD-987F-D673AC1BB1DB}"/>
              </a:ext>
            </a:extLst>
          </p:cNvPr>
          <p:cNvCxnSpPr>
            <a:cxnSpLocks/>
            <a:stCxn id="997" idx="1"/>
          </p:cNvCxnSpPr>
          <p:nvPr/>
        </p:nvCxnSpPr>
        <p:spPr>
          <a:xfrm rot="10800000" flipV="1">
            <a:off x="6191031" y="4236004"/>
            <a:ext cx="868497" cy="2130014"/>
          </a:xfrm>
          <a:prstGeom prst="bentConnector3">
            <a:avLst>
              <a:gd name="adj1" fmla="val 44736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8" name="Connector: Elbow 987">
            <a:extLst>
              <a:ext uri="{FF2B5EF4-FFF2-40B4-BE49-F238E27FC236}">
                <a16:creationId xmlns:a16="http://schemas.microsoft.com/office/drawing/2014/main" id="{A70521EA-0A05-AAB5-DA96-5D617CC69FBC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5146994" y="6375941"/>
            <a:ext cx="1516881" cy="1905124"/>
          </a:xfrm>
          <a:prstGeom prst="bentConnector4">
            <a:avLst>
              <a:gd name="adj1" fmla="val -25117"/>
              <a:gd name="adj2" fmla="val 73163"/>
            </a:avLst>
          </a:prstGeom>
          <a:noFill/>
          <a:ln w="952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9" name="Straight Arrow Connector 988">
            <a:extLst>
              <a:ext uri="{FF2B5EF4-FFF2-40B4-BE49-F238E27FC236}">
                <a16:creationId xmlns:a16="http://schemas.microsoft.com/office/drawing/2014/main" id="{71E05029-CDE1-8919-C38D-AE4E9FBD3013}"/>
              </a:ext>
            </a:extLst>
          </p:cNvPr>
          <p:cNvCxnSpPr>
            <a:cxnSpLocks/>
          </p:cNvCxnSpPr>
          <p:nvPr/>
        </p:nvCxnSpPr>
        <p:spPr>
          <a:xfrm>
            <a:off x="6463103" y="5011930"/>
            <a:ext cx="5405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0" name="Straight Arrow Connector 989">
            <a:extLst>
              <a:ext uri="{FF2B5EF4-FFF2-40B4-BE49-F238E27FC236}">
                <a16:creationId xmlns:a16="http://schemas.microsoft.com/office/drawing/2014/main" id="{C73D7024-FB93-7906-65B2-96D2E5E15A20}"/>
              </a:ext>
            </a:extLst>
          </p:cNvPr>
          <p:cNvCxnSpPr>
            <a:cxnSpLocks/>
          </p:cNvCxnSpPr>
          <p:nvPr/>
        </p:nvCxnSpPr>
        <p:spPr>
          <a:xfrm>
            <a:off x="6578363" y="2457822"/>
            <a:ext cx="355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1" name="TextBox 990">
            <a:extLst>
              <a:ext uri="{FF2B5EF4-FFF2-40B4-BE49-F238E27FC236}">
                <a16:creationId xmlns:a16="http://schemas.microsoft.com/office/drawing/2014/main" id="{3FFC9200-6EBE-3480-C3D4-C2C78D24353C}"/>
              </a:ext>
            </a:extLst>
          </p:cNvPr>
          <p:cNvSpPr txBox="1"/>
          <p:nvPr/>
        </p:nvSpPr>
        <p:spPr>
          <a:xfrm>
            <a:off x="8573910" y="2131849"/>
            <a:ext cx="130496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2" name="TextBox 991">
            <a:extLst>
              <a:ext uri="{FF2B5EF4-FFF2-40B4-BE49-F238E27FC236}">
                <a16:creationId xmlns:a16="http://schemas.microsoft.com/office/drawing/2014/main" id="{40CF0F3A-8373-FE5B-496D-741FC5382E3E}"/>
              </a:ext>
            </a:extLst>
          </p:cNvPr>
          <p:cNvSpPr txBox="1"/>
          <p:nvPr/>
        </p:nvSpPr>
        <p:spPr>
          <a:xfrm>
            <a:off x="8701206" y="3614601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3" name="TextBox 992">
            <a:extLst>
              <a:ext uri="{FF2B5EF4-FFF2-40B4-BE49-F238E27FC236}">
                <a16:creationId xmlns:a16="http://schemas.microsoft.com/office/drawing/2014/main" id="{8DDB0811-4B3C-7D91-C955-436F31177074}"/>
              </a:ext>
            </a:extLst>
          </p:cNvPr>
          <p:cNvSpPr txBox="1"/>
          <p:nvPr/>
        </p:nvSpPr>
        <p:spPr>
          <a:xfrm>
            <a:off x="5202130" y="4861814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994" name="Straight Arrow Connector 993">
            <a:extLst>
              <a:ext uri="{FF2B5EF4-FFF2-40B4-BE49-F238E27FC236}">
                <a16:creationId xmlns:a16="http://schemas.microsoft.com/office/drawing/2014/main" id="{2F2C44CF-616A-7127-5105-9DE5B4548CF5}"/>
              </a:ext>
            </a:extLst>
          </p:cNvPr>
          <p:cNvCxnSpPr>
            <a:cxnSpLocks/>
          </p:cNvCxnSpPr>
          <p:nvPr/>
        </p:nvCxnSpPr>
        <p:spPr>
          <a:xfrm>
            <a:off x="6304400" y="3745305"/>
            <a:ext cx="355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5" name="TextBox 994">
            <a:extLst>
              <a:ext uri="{FF2B5EF4-FFF2-40B4-BE49-F238E27FC236}">
                <a16:creationId xmlns:a16="http://schemas.microsoft.com/office/drawing/2014/main" id="{7C1A33F2-359E-4754-158D-D654D110316C}"/>
              </a:ext>
            </a:extLst>
          </p:cNvPr>
          <p:cNvSpPr txBox="1"/>
          <p:nvPr/>
        </p:nvSpPr>
        <p:spPr>
          <a:xfrm>
            <a:off x="5209590" y="3563571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6" name="TextBox 995">
            <a:extLst>
              <a:ext uri="{FF2B5EF4-FFF2-40B4-BE49-F238E27FC236}">
                <a16:creationId xmlns:a16="http://schemas.microsoft.com/office/drawing/2014/main" id="{21CCBE70-88FF-963F-C1F2-351E2548A52B}"/>
              </a:ext>
            </a:extLst>
          </p:cNvPr>
          <p:cNvSpPr txBox="1"/>
          <p:nvPr/>
        </p:nvSpPr>
        <p:spPr>
          <a:xfrm rot="5400000">
            <a:off x="7893098" y="4105963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7" name="TextBox 996">
            <a:extLst>
              <a:ext uri="{FF2B5EF4-FFF2-40B4-BE49-F238E27FC236}">
                <a16:creationId xmlns:a16="http://schemas.microsoft.com/office/drawing/2014/main" id="{5BD8DE1E-D382-5236-CFBD-82CCF6D63407}"/>
              </a:ext>
            </a:extLst>
          </p:cNvPr>
          <p:cNvSpPr txBox="1"/>
          <p:nvPr/>
        </p:nvSpPr>
        <p:spPr>
          <a:xfrm>
            <a:off x="7059527" y="4075744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8" name="TextBox 997">
            <a:extLst>
              <a:ext uri="{FF2B5EF4-FFF2-40B4-BE49-F238E27FC236}">
                <a16:creationId xmlns:a16="http://schemas.microsoft.com/office/drawing/2014/main" id="{F59BF033-21B6-1BAC-A7C9-F998B87D3E1A}"/>
              </a:ext>
            </a:extLst>
          </p:cNvPr>
          <p:cNvSpPr txBox="1"/>
          <p:nvPr/>
        </p:nvSpPr>
        <p:spPr>
          <a:xfrm rot="5400000">
            <a:off x="6616888" y="8103281"/>
            <a:ext cx="97008" cy="2312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999" name="Graphic 998" descr="Cmd Terminal with solid fill">
            <a:extLst>
              <a:ext uri="{FF2B5EF4-FFF2-40B4-BE49-F238E27FC236}">
                <a16:creationId xmlns:a16="http://schemas.microsoft.com/office/drawing/2014/main" id="{8321CAB0-8C80-0F3B-90A8-A422002F14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1761" y="8669687"/>
            <a:ext cx="451448" cy="455550"/>
          </a:xfrm>
          <a:prstGeom prst="rect">
            <a:avLst/>
          </a:prstGeom>
        </p:spPr>
      </p:pic>
      <p:pic>
        <p:nvPicPr>
          <p:cNvPr id="1000" name="Graphic 999" descr="Paper outline">
            <a:extLst>
              <a:ext uri="{FF2B5EF4-FFF2-40B4-BE49-F238E27FC236}">
                <a16:creationId xmlns:a16="http://schemas.microsoft.com/office/drawing/2014/main" id="{E5AA7693-1C9A-E29A-B2D3-A03322FA35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37240" y="7920731"/>
            <a:ext cx="261597" cy="261597"/>
          </a:xfrm>
          <a:prstGeom prst="rect">
            <a:avLst/>
          </a:prstGeom>
        </p:spPr>
      </p:pic>
      <p:sp>
        <p:nvSpPr>
          <p:cNvPr id="1001" name="TextBox 1000">
            <a:extLst>
              <a:ext uri="{FF2B5EF4-FFF2-40B4-BE49-F238E27FC236}">
                <a16:creationId xmlns:a16="http://schemas.microsoft.com/office/drawing/2014/main" id="{456307BF-C0C0-E3F5-C348-09A02945A52E}"/>
              </a:ext>
            </a:extLst>
          </p:cNvPr>
          <p:cNvSpPr txBox="1"/>
          <p:nvPr/>
        </p:nvSpPr>
        <p:spPr>
          <a:xfrm>
            <a:off x="1861850" y="8123988"/>
            <a:ext cx="687081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800" b="0" dirty="0" err="1">
                <a:solidFill>
                  <a:schemeClr val="bg2">
                    <a:lumMod val="10000"/>
                  </a:schemeClr>
                </a:solidFill>
              </a:rPr>
              <a:t>Pykumu</a:t>
            </a: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 API</a:t>
            </a:r>
          </a:p>
        </p:txBody>
      </p:sp>
      <p:pic>
        <p:nvPicPr>
          <p:cNvPr id="1002" name="Graphic 1001" descr="Paper outline">
            <a:extLst>
              <a:ext uri="{FF2B5EF4-FFF2-40B4-BE49-F238E27FC236}">
                <a16:creationId xmlns:a16="http://schemas.microsoft.com/office/drawing/2014/main" id="{F8A47CDB-F8F5-BA45-A8A1-70834372A9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22978" y="8635193"/>
            <a:ext cx="527267" cy="527267"/>
          </a:xfrm>
          <a:prstGeom prst="rect">
            <a:avLst/>
          </a:prstGeom>
        </p:spPr>
      </p:pic>
      <p:sp>
        <p:nvSpPr>
          <p:cNvPr id="1003" name="TextBox 1002">
            <a:extLst>
              <a:ext uri="{FF2B5EF4-FFF2-40B4-BE49-F238E27FC236}">
                <a16:creationId xmlns:a16="http://schemas.microsoft.com/office/drawing/2014/main" id="{BCC4F527-202E-D0C6-5885-6168F4061B2F}"/>
              </a:ext>
            </a:extLst>
          </p:cNvPr>
          <p:cNvSpPr txBox="1"/>
          <p:nvPr/>
        </p:nvSpPr>
        <p:spPr>
          <a:xfrm>
            <a:off x="1457097" y="9067171"/>
            <a:ext cx="571349" cy="4077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800" b="0" dirty="0">
                <a:solidFill>
                  <a:schemeClr val="tx1">
                    <a:lumMod val="50000"/>
                  </a:schemeClr>
                </a:solidFill>
              </a:rPr>
              <a:t>exec/*.R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800" b="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283F60E0-90A8-D4D3-50FD-4925EBF520A7}"/>
              </a:ext>
            </a:extLst>
          </p:cNvPr>
          <p:cNvSpPr/>
          <p:nvPr/>
        </p:nvSpPr>
        <p:spPr>
          <a:xfrm>
            <a:off x="185141" y="8047725"/>
            <a:ext cx="710936" cy="20869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&lt;</a:t>
            </a:r>
            <a:r>
              <a:rPr lang="en-US" sz="800" b="0" dirty="0" err="1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File_paths</a:t>
            </a:r>
            <a:r>
              <a:rPr lang="en-US" sz="800" b="0" dirty="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&gt;</a:t>
            </a:r>
            <a:endParaRPr kumimoji="0" lang="en-US" sz="800" b="0" i="0" u="none" strike="noStrike" cap="none" spc="0" normalizeH="0" baseline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009" name="Straight Arrow Connector 1008">
            <a:extLst>
              <a:ext uri="{FF2B5EF4-FFF2-40B4-BE49-F238E27FC236}">
                <a16:creationId xmlns:a16="http://schemas.microsoft.com/office/drawing/2014/main" id="{D0CEBB86-306F-3926-D461-7DD65C1119E0}"/>
              </a:ext>
            </a:extLst>
          </p:cNvPr>
          <p:cNvCxnSpPr>
            <a:cxnSpLocks/>
          </p:cNvCxnSpPr>
          <p:nvPr/>
        </p:nvCxnSpPr>
        <p:spPr>
          <a:xfrm>
            <a:off x="1292611" y="8891633"/>
            <a:ext cx="164486" cy="7194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10" name="Straight Arrow Connector 1009">
            <a:extLst>
              <a:ext uri="{FF2B5EF4-FFF2-40B4-BE49-F238E27FC236}">
                <a16:creationId xmlns:a16="http://schemas.microsoft.com/office/drawing/2014/main" id="{4E8C6A86-4BD2-8229-1FCB-51662005EC8B}"/>
              </a:ext>
            </a:extLst>
          </p:cNvPr>
          <p:cNvCxnSpPr>
            <a:cxnSpLocks/>
          </p:cNvCxnSpPr>
          <p:nvPr/>
        </p:nvCxnSpPr>
        <p:spPr>
          <a:xfrm>
            <a:off x="540609" y="8364927"/>
            <a:ext cx="251152" cy="274997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15" name="Create a visual hierarchy. Help users navigate the page with titles, subtitles, and subsubtitles">
            <a:extLst>
              <a:ext uri="{FF2B5EF4-FFF2-40B4-BE49-F238E27FC236}">
                <a16:creationId xmlns:a16="http://schemas.microsoft.com/office/drawing/2014/main" id="{047F3A9D-DA27-B709-5BDC-2374D6B965F6}"/>
              </a:ext>
            </a:extLst>
          </p:cNvPr>
          <p:cNvSpPr txBox="1"/>
          <p:nvPr/>
        </p:nvSpPr>
        <p:spPr>
          <a:xfrm>
            <a:off x="182880" y="9326880"/>
            <a:ext cx="4001355" cy="775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Exec scripts provides command line access to </a:t>
            </a:r>
            <a:r>
              <a:rPr lang="en-US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Pykumu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API package, allowing its causal analysis capabilities to be accessed via the terminal or server side without requiring Python code knowledge. 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</p:txBody>
      </p:sp>
      <p:sp>
        <p:nvSpPr>
          <p:cNvPr id="1019" name="TextBox 1018">
            <a:extLst>
              <a:ext uri="{FF2B5EF4-FFF2-40B4-BE49-F238E27FC236}">
                <a16:creationId xmlns:a16="http://schemas.microsoft.com/office/drawing/2014/main" id="{06952AA5-71CE-5B05-554A-C3F3237B88A0}"/>
              </a:ext>
            </a:extLst>
          </p:cNvPr>
          <p:cNvSpPr txBox="1"/>
          <p:nvPr/>
        </p:nvSpPr>
        <p:spPr>
          <a:xfrm>
            <a:off x="232303" y="3937415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>
                <a:solidFill>
                  <a:schemeClr val="bg2">
                    <a:lumMod val="10000"/>
                  </a:schemeClr>
                </a:solidFill>
              </a:rPr>
              <a:t>Tetrad Java API</a:t>
            </a:r>
          </a:p>
        </p:txBody>
      </p:sp>
      <p:pic>
        <p:nvPicPr>
          <p:cNvPr id="1020" name="Graphic 1019" descr="Paper outline">
            <a:extLst>
              <a:ext uri="{FF2B5EF4-FFF2-40B4-BE49-F238E27FC236}">
                <a16:creationId xmlns:a16="http://schemas.microsoft.com/office/drawing/2014/main" id="{D022EE58-1FC2-B7CB-6303-9A5D134DB0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10954" y="4265041"/>
            <a:ext cx="527267" cy="527267"/>
          </a:xfrm>
          <a:prstGeom prst="rect">
            <a:avLst/>
          </a:prstGeom>
        </p:spPr>
      </p:pic>
      <p:cxnSp>
        <p:nvCxnSpPr>
          <p:cNvPr id="1023" name="Straight Arrow Connector 1022">
            <a:extLst>
              <a:ext uri="{FF2B5EF4-FFF2-40B4-BE49-F238E27FC236}">
                <a16:creationId xmlns:a16="http://schemas.microsoft.com/office/drawing/2014/main" id="{AC381A2E-540F-87A3-76A6-5D5FCFF5149B}"/>
              </a:ext>
            </a:extLst>
          </p:cNvPr>
          <p:cNvCxnSpPr>
            <a:cxnSpLocks/>
          </p:cNvCxnSpPr>
          <p:nvPr/>
        </p:nvCxnSpPr>
        <p:spPr>
          <a:xfrm>
            <a:off x="1028993" y="3837479"/>
            <a:ext cx="909228" cy="0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82F355AC-93FF-70C8-614C-3C3011E86201}"/>
              </a:ext>
            </a:extLst>
          </p:cNvPr>
          <p:cNvCxnSpPr>
            <a:cxnSpLocks/>
          </p:cNvCxnSpPr>
          <p:nvPr/>
        </p:nvCxnSpPr>
        <p:spPr>
          <a:xfrm>
            <a:off x="1023055" y="3972100"/>
            <a:ext cx="340872" cy="391832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25" name="TextBox 1024">
            <a:extLst>
              <a:ext uri="{FF2B5EF4-FFF2-40B4-BE49-F238E27FC236}">
                <a16:creationId xmlns:a16="http://schemas.microsoft.com/office/drawing/2014/main" id="{5A3A2118-18E8-0BE7-E0D6-9A69098B114A}"/>
              </a:ext>
            </a:extLst>
          </p:cNvPr>
          <p:cNvSpPr txBox="1"/>
          <p:nvPr/>
        </p:nvSpPr>
        <p:spPr>
          <a:xfrm>
            <a:off x="815127" y="4126651"/>
            <a:ext cx="536637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tx1">
                    <a:lumMod val="50000"/>
                  </a:schemeClr>
                </a:solidFill>
              </a:rPr>
              <a:t>Jpype</a:t>
            </a:r>
            <a:endParaRPr lang="en-US" sz="800" b="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26" name="TextBox 1025">
            <a:extLst>
              <a:ext uri="{FF2B5EF4-FFF2-40B4-BE49-F238E27FC236}">
                <a16:creationId xmlns:a16="http://schemas.microsoft.com/office/drawing/2014/main" id="{FA98F80A-F434-F632-C21D-DF46097BA8FF}"/>
              </a:ext>
            </a:extLst>
          </p:cNvPr>
          <p:cNvSpPr txBox="1"/>
          <p:nvPr/>
        </p:nvSpPr>
        <p:spPr>
          <a:xfrm>
            <a:off x="1510648" y="4422940"/>
            <a:ext cx="371960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00" b="0" dirty="0" err="1">
                <a:solidFill>
                  <a:schemeClr val="tx1">
                    <a:lumMod val="50000"/>
                  </a:schemeClr>
                </a:solidFill>
              </a:rPr>
              <a:t>TetradSearch</a:t>
            </a:r>
            <a:r>
              <a:rPr lang="en-US" sz="300" b="0" dirty="0">
                <a:solidFill>
                  <a:schemeClr val="tx1">
                    <a:lumMod val="50000"/>
                  </a:schemeClr>
                </a:solidFill>
              </a:rPr>
              <a:t> Class</a:t>
            </a: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B7D656B8-CA37-48A1-E306-709FF7A156B9}"/>
              </a:ext>
            </a:extLst>
          </p:cNvPr>
          <p:cNvSpPr txBox="1"/>
          <p:nvPr/>
        </p:nvSpPr>
        <p:spPr>
          <a:xfrm>
            <a:off x="2385334" y="3867687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bg2">
                    <a:lumMod val="10000"/>
                  </a:schemeClr>
                </a:solidFill>
              </a:rPr>
              <a:t>Pykumu</a:t>
            </a: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  API</a:t>
            </a:r>
          </a:p>
        </p:txBody>
      </p:sp>
      <p:cxnSp>
        <p:nvCxnSpPr>
          <p:cNvPr id="1029" name="Straight Arrow Connector 1028">
            <a:extLst>
              <a:ext uri="{FF2B5EF4-FFF2-40B4-BE49-F238E27FC236}">
                <a16:creationId xmlns:a16="http://schemas.microsoft.com/office/drawing/2014/main" id="{09A20764-0166-94E2-866B-F6F243210F1B}"/>
              </a:ext>
            </a:extLst>
          </p:cNvPr>
          <p:cNvCxnSpPr>
            <a:cxnSpLocks/>
          </p:cNvCxnSpPr>
          <p:nvPr/>
        </p:nvCxnSpPr>
        <p:spPr>
          <a:xfrm flipV="1">
            <a:off x="1979305" y="4126651"/>
            <a:ext cx="450843" cy="239726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41" name="Folded Corner 3">
            <a:extLst>
              <a:ext uri="{FF2B5EF4-FFF2-40B4-BE49-F238E27FC236}">
                <a16:creationId xmlns:a16="http://schemas.microsoft.com/office/drawing/2014/main" id="{61A20C43-2A20-F1F3-E087-7C61B6BA4909}"/>
              </a:ext>
            </a:extLst>
          </p:cNvPr>
          <p:cNvSpPr/>
          <p:nvPr/>
        </p:nvSpPr>
        <p:spPr>
          <a:xfrm rot="10800000" flipH="1">
            <a:off x="2129004" y="3377224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2" name="Folded Corner 4">
            <a:extLst>
              <a:ext uri="{FF2B5EF4-FFF2-40B4-BE49-F238E27FC236}">
                <a16:creationId xmlns:a16="http://schemas.microsoft.com/office/drawing/2014/main" id="{CA8CCC2D-ECB0-EA9E-15DC-AA2B2693B12F}"/>
              </a:ext>
            </a:extLst>
          </p:cNvPr>
          <p:cNvSpPr/>
          <p:nvPr/>
        </p:nvSpPr>
        <p:spPr>
          <a:xfrm rot="10800000" flipH="1">
            <a:off x="2095922" y="3405690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3" name="Folded Corner 5">
            <a:extLst>
              <a:ext uri="{FF2B5EF4-FFF2-40B4-BE49-F238E27FC236}">
                <a16:creationId xmlns:a16="http://schemas.microsoft.com/office/drawing/2014/main" id="{372AC90C-3F4D-02E7-64B5-A50532345C83}"/>
              </a:ext>
            </a:extLst>
          </p:cNvPr>
          <p:cNvSpPr/>
          <p:nvPr/>
        </p:nvSpPr>
        <p:spPr>
          <a:xfrm rot="10800000" flipH="1">
            <a:off x="2055485" y="3439466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96D6FB16-CCF4-B373-B2FB-C8A3300C8119}"/>
              </a:ext>
            </a:extLst>
          </p:cNvPr>
          <p:cNvSpPr txBox="1"/>
          <p:nvPr/>
        </p:nvSpPr>
        <p:spPr>
          <a:xfrm>
            <a:off x="2026720" y="3586245"/>
            <a:ext cx="40676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tetrad.py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69FD1FD0-9C5C-15A6-4657-C0C5B2F627E2}"/>
              </a:ext>
            </a:extLst>
          </p:cNvPr>
          <p:cNvSpPr txBox="1"/>
          <p:nvPr/>
        </p:nvSpPr>
        <p:spPr>
          <a:xfrm>
            <a:off x="1285591" y="4702185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TetradSearch.py</a:t>
            </a:r>
          </a:p>
        </p:txBody>
      </p:sp>
      <p:pic>
        <p:nvPicPr>
          <p:cNvPr id="1047" name="Picture 1046">
            <a:extLst>
              <a:ext uri="{FF2B5EF4-FFF2-40B4-BE49-F238E27FC236}">
                <a16:creationId xmlns:a16="http://schemas.microsoft.com/office/drawing/2014/main" id="{3B94A97B-A1BE-E809-0004-55EBF18926C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6384" y="118872"/>
            <a:ext cx="1444661" cy="1673352"/>
          </a:xfrm>
          <a:prstGeom prst="rect">
            <a:avLst/>
          </a:prstGeom>
        </p:spPr>
      </p:pic>
      <p:sp>
        <p:nvSpPr>
          <p:cNvPr id="1065" name="TextBox 1064">
            <a:extLst>
              <a:ext uri="{FF2B5EF4-FFF2-40B4-BE49-F238E27FC236}">
                <a16:creationId xmlns:a16="http://schemas.microsoft.com/office/drawing/2014/main" id="{09AAE757-6C4E-84F3-3FB2-671F448AA6E7}"/>
              </a:ext>
            </a:extLst>
          </p:cNvPr>
          <p:cNvSpPr txBox="1"/>
          <p:nvPr/>
        </p:nvSpPr>
        <p:spPr>
          <a:xfrm>
            <a:off x="7318302" y="5333585"/>
            <a:ext cx="1255608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6. Causal Search</a:t>
            </a:r>
          </a:p>
        </p:txBody>
      </p:sp>
      <p:graphicFrame>
        <p:nvGraphicFramePr>
          <p:cNvPr id="1066" name="Table">
            <a:extLst>
              <a:ext uri="{FF2B5EF4-FFF2-40B4-BE49-F238E27FC236}">
                <a16:creationId xmlns:a16="http://schemas.microsoft.com/office/drawing/2014/main" id="{57D0F6AA-9B42-B430-44F2-6321966283AC}"/>
              </a:ext>
            </a:extLst>
          </p:cNvPr>
          <p:cNvGraphicFramePr/>
          <p:nvPr/>
        </p:nvGraphicFramePr>
        <p:xfrm>
          <a:off x="8297833" y="4713079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67" name="Table">
            <a:extLst>
              <a:ext uri="{FF2B5EF4-FFF2-40B4-BE49-F238E27FC236}">
                <a16:creationId xmlns:a16="http://schemas.microsoft.com/office/drawing/2014/main" id="{9B42850D-7440-8560-5E21-948883748CC1}"/>
              </a:ext>
            </a:extLst>
          </p:cNvPr>
          <p:cNvGraphicFramePr/>
          <p:nvPr/>
        </p:nvGraphicFramePr>
        <p:xfrm>
          <a:off x="7722129" y="4710539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68" name="Arrow: Right 1067">
            <a:extLst>
              <a:ext uri="{FF2B5EF4-FFF2-40B4-BE49-F238E27FC236}">
                <a16:creationId xmlns:a16="http://schemas.microsoft.com/office/drawing/2014/main" id="{B459C27C-257A-C8D0-BF77-92AD6E76E504}"/>
              </a:ext>
            </a:extLst>
          </p:cNvPr>
          <p:cNvSpPr/>
          <p:nvPr/>
        </p:nvSpPr>
        <p:spPr>
          <a:xfrm>
            <a:off x="8027045" y="4971930"/>
            <a:ext cx="186581" cy="91456"/>
          </a:xfrm>
          <a:prstGeom prst="rightArrow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aphicFrame>
        <p:nvGraphicFramePr>
          <p:cNvPr id="1069" name="Table">
            <a:extLst>
              <a:ext uri="{FF2B5EF4-FFF2-40B4-BE49-F238E27FC236}">
                <a16:creationId xmlns:a16="http://schemas.microsoft.com/office/drawing/2014/main" id="{683B2797-5FCE-04C0-71A9-7A30B7576097}"/>
              </a:ext>
            </a:extLst>
          </p:cNvPr>
          <p:cNvGraphicFramePr/>
          <p:nvPr/>
        </p:nvGraphicFramePr>
        <p:xfrm>
          <a:off x="7343385" y="4712836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70" name="Plus Sign 1069">
            <a:extLst>
              <a:ext uri="{FF2B5EF4-FFF2-40B4-BE49-F238E27FC236}">
                <a16:creationId xmlns:a16="http://schemas.microsoft.com/office/drawing/2014/main" id="{090F1815-7945-099F-50E4-B70C0C2DB169}"/>
              </a:ext>
            </a:extLst>
          </p:cNvPr>
          <p:cNvSpPr/>
          <p:nvPr/>
        </p:nvSpPr>
        <p:spPr>
          <a:xfrm>
            <a:off x="7572970" y="4950186"/>
            <a:ext cx="117646" cy="122062"/>
          </a:xfrm>
          <a:prstGeom prst="mathPlus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2465E906-3868-FF7C-5DB1-8B17CDF8A417}"/>
              </a:ext>
            </a:extLst>
          </p:cNvPr>
          <p:cNvSpPr txBox="1"/>
          <p:nvPr/>
        </p:nvSpPr>
        <p:spPr>
          <a:xfrm>
            <a:off x="7370545" y="5235155"/>
            <a:ext cx="155573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700" dirty="0"/>
              <a:t>t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1FAF9444-43C5-CCC7-E326-FF649F39D9CB}"/>
              </a:ext>
            </a:extLst>
          </p:cNvPr>
          <p:cNvSpPr txBox="1"/>
          <p:nvPr/>
        </p:nvSpPr>
        <p:spPr>
          <a:xfrm>
            <a:off x="7731829" y="5245590"/>
            <a:ext cx="424651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IF</a:t>
            </a:r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920432C9-F886-F722-CD36-5EDD9417EBCA}"/>
              </a:ext>
            </a:extLst>
          </p:cNvPr>
          <p:cNvSpPr txBox="1"/>
          <p:nvPr/>
        </p:nvSpPr>
        <p:spPr>
          <a:xfrm>
            <a:off x="7948233" y="4792837"/>
            <a:ext cx="458095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causes</a:t>
            </a:r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64C5FF0F-64FF-37BF-909B-45B50FE41A73}"/>
              </a:ext>
            </a:extLst>
          </p:cNvPr>
          <p:cNvSpPr txBox="1"/>
          <p:nvPr/>
        </p:nvSpPr>
        <p:spPr>
          <a:xfrm>
            <a:off x="7194148" y="6252456"/>
            <a:ext cx="1619559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7.1 1-PNEF Threshold</a:t>
            </a:r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34425893-E462-90FD-4EE8-BF62B3800C29}"/>
              </a:ext>
            </a:extLst>
          </p:cNvPr>
          <p:cNvSpPr txBox="1"/>
          <p:nvPr/>
        </p:nvSpPr>
        <p:spPr>
          <a:xfrm>
            <a:off x="5731442" y="3915231"/>
            <a:ext cx="303287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 + 1</a:t>
            </a:r>
          </a:p>
        </p:txBody>
      </p:sp>
      <p:sp>
        <p:nvSpPr>
          <p:cNvPr id="1076" name="TextBox 1075">
            <a:extLst>
              <a:ext uri="{FF2B5EF4-FFF2-40B4-BE49-F238E27FC236}">
                <a16:creationId xmlns:a16="http://schemas.microsoft.com/office/drawing/2014/main" id="{3C543DC6-0412-19B1-8E7E-5597106F5EAE}"/>
              </a:ext>
            </a:extLst>
          </p:cNvPr>
          <p:cNvSpPr txBox="1"/>
          <p:nvPr/>
        </p:nvSpPr>
        <p:spPr>
          <a:xfrm>
            <a:off x="4766552" y="6764122"/>
            <a:ext cx="1831781" cy="5051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8. Domain Knowledge Causal Search</a:t>
            </a:r>
          </a:p>
        </p:txBody>
      </p:sp>
      <p:graphicFrame>
        <p:nvGraphicFramePr>
          <p:cNvPr id="1077" name="Table">
            <a:extLst>
              <a:ext uri="{FF2B5EF4-FFF2-40B4-BE49-F238E27FC236}">
                <a16:creationId xmlns:a16="http://schemas.microsoft.com/office/drawing/2014/main" id="{5240F448-4959-5E2C-145C-5FD9AEF411A7}"/>
              </a:ext>
            </a:extLst>
          </p:cNvPr>
          <p:cNvGraphicFramePr/>
          <p:nvPr/>
        </p:nvGraphicFramePr>
        <p:xfrm>
          <a:off x="5269967" y="6090704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78" name="Table">
            <a:extLst>
              <a:ext uri="{FF2B5EF4-FFF2-40B4-BE49-F238E27FC236}">
                <a16:creationId xmlns:a16="http://schemas.microsoft.com/office/drawing/2014/main" id="{2A59AC70-CB33-B79C-2E99-0027A8B0E130}"/>
              </a:ext>
            </a:extLst>
          </p:cNvPr>
          <p:cNvGraphicFramePr/>
          <p:nvPr/>
        </p:nvGraphicFramePr>
        <p:xfrm>
          <a:off x="5828244" y="6090704"/>
          <a:ext cx="209288" cy="593755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751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1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>
                        <a:noFill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79" name="TextBox 1078">
            <a:extLst>
              <a:ext uri="{FF2B5EF4-FFF2-40B4-BE49-F238E27FC236}">
                <a16:creationId xmlns:a16="http://schemas.microsoft.com/office/drawing/2014/main" id="{15FA31E5-7234-A5DF-9902-790B738284FA}"/>
              </a:ext>
            </a:extLst>
          </p:cNvPr>
          <p:cNvSpPr txBox="1"/>
          <p:nvPr/>
        </p:nvSpPr>
        <p:spPr>
          <a:xfrm>
            <a:off x="5856148" y="6607227"/>
            <a:ext cx="155573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700" dirty="0"/>
              <a:t>t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6DF6AD8A-DF4D-838D-096E-E412B83ACD69}"/>
              </a:ext>
            </a:extLst>
          </p:cNvPr>
          <p:cNvSpPr txBox="1"/>
          <p:nvPr/>
        </p:nvSpPr>
        <p:spPr>
          <a:xfrm>
            <a:off x="5242857" y="6611348"/>
            <a:ext cx="303287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 + 1</a:t>
            </a:r>
          </a:p>
        </p:txBody>
      </p:sp>
      <p:sp>
        <p:nvSpPr>
          <p:cNvPr id="1081" name="Arrow: Right 1080">
            <a:extLst>
              <a:ext uri="{FF2B5EF4-FFF2-40B4-BE49-F238E27FC236}">
                <a16:creationId xmlns:a16="http://schemas.microsoft.com/office/drawing/2014/main" id="{90ED5E58-2562-A722-912F-2E8F04095849}"/>
              </a:ext>
            </a:extLst>
          </p:cNvPr>
          <p:cNvSpPr/>
          <p:nvPr/>
        </p:nvSpPr>
        <p:spPr>
          <a:xfrm rot="10800000">
            <a:off x="5552507" y="6327476"/>
            <a:ext cx="186581" cy="91456"/>
          </a:xfrm>
          <a:prstGeom prst="rightArrow">
            <a:avLst/>
          </a:prstGeom>
          <a:solidFill>
            <a:schemeClr val="tx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2" name="TextBox 1081">
            <a:extLst>
              <a:ext uri="{FF2B5EF4-FFF2-40B4-BE49-F238E27FC236}">
                <a16:creationId xmlns:a16="http://schemas.microsoft.com/office/drawing/2014/main" id="{91269FB9-B7EF-3AA0-BF51-5A9E63AA121E}"/>
              </a:ext>
            </a:extLst>
          </p:cNvPr>
          <p:cNvSpPr txBox="1"/>
          <p:nvPr/>
        </p:nvSpPr>
        <p:spPr>
          <a:xfrm>
            <a:off x="5490560" y="6137634"/>
            <a:ext cx="339664" cy="228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causes</a:t>
            </a:r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E24BB62D-0CE3-FC42-4B79-2DFE4F469E98}"/>
              </a:ext>
            </a:extLst>
          </p:cNvPr>
          <p:cNvSpPr/>
          <p:nvPr/>
        </p:nvSpPr>
        <p:spPr>
          <a:xfrm>
            <a:off x="8040579" y="6029734"/>
            <a:ext cx="206996" cy="62104"/>
          </a:xfrm>
          <a:prstGeom prst="rect">
            <a:avLst/>
          </a:prstGeom>
          <a:solidFill>
            <a:schemeClr val="bg2">
              <a:lumMod val="1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084" name="Straight Connector 1083">
            <a:extLst>
              <a:ext uri="{FF2B5EF4-FFF2-40B4-BE49-F238E27FC236}">
                <a16:creationId xmlns:a16="http://schemas.microsoft.com/office/drawing/2014/main" id="{4A81D013-B26D-B27A-26CD-0FB5E5618DF7}"/>
              </a:ext>
            </a:extLst>
          </p:cNvPr>
          <p:cNvCxnSpPr>
            <a:cxnSpLocks/>
          </p:cNvCxnSpPr>
          <p:nvPr/>
        </p:nvCxnSpPr>
        <p:spPr>
          <a:xfrm>
            <a:off x="8010337" y="5964765"/>
            <a:ext cx="0" cy="188119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85" name="Straight Connector 1084">
            <a:extLst>
              <a:ext uri="{FF2B5EF4-FFF2-40B4-BE49-F238E27FC236}">
                <a16:creationId xmlns:a16="http://schemas.microsoft.com/office/drawing/2014/main" id="{015625F6-D812-A725-CA85-7BF5F06AB520}"/>
              </a:ext>
            </a:extLst>
          </p:cNvPr>
          <p:cNvCxnSpPr>
            <a:cxnSpLocks/>
          </p:cNvCxnSpPr>
          <p:nvPr/>
        </p:nvCxnSpPr>
        <p:spPr>
          <a:xfrm flipH="1">
            <a:off x="7599385" y="6056405"/>
            <a:ext cx="375263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86" name="TextBox 1085">
            <a:extLst>
              <a:ext uri="{FF2B5EF4-FFF2-40B4-BE49-F238E27FC236}">
                <a16:creationId xmlns:a16="http://schemas.microsoft.com/office/drawing/2014/main" id="{B9164B78-BFBB-7656-10B6-70ACE4E26532}"/>
              </a:ext>
            </a:extLst>
          </p:cNvPr>
          <p:cNvSpPr txBox="1"/>
          <p:nvPr/>
        </p:nvSpPr>
        <p:spPr>
          <a:xfrm>
            <a:off x="7544037" y="6089732"/>
            <a:ext cx="941475" cy="243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0" normalizeH="0" baseline="0" dirty="0" err="1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n.edges</a:t>
            </a:r>
            <a:r>
              <a:rPr kumimoji="0" lang="en-US" sz="7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&lt; x</a:t>
            </a:r>
            <a:r>
              <a:rPr lang="en-US" sz="700" dirty="0"/>
              <a:t>%</a:t>
            </a:r>
            <a:endParaRPr kumimoji="0" lang="en-US" sz="7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4C78AE67-CB6B-5484-E92C-C9C363DC1DDF}"/>
              </a:ext>
            </a:extLst>
          </p:cNvPr>
          <p:cNvSpPr/>
          <p:nvPr/>
        </p:nvSpPr>
        <p:spPr>
          <a:xfrm>
            <a:off x="7747498" y="6924733"/>
            <a:ext cx="365642" cy="86767"/>
          </a:xfrm>
          <a:prstGeom prst="rect">
            <a:avLst/>
          </a:prstGeom>
          <a:solidFill>
            <a:schemeClr val="bg1"/>
          </a:solidFill>
          <a:ln w="2540" cap="flat">
            <a:solidFill>
              <a:srgbClr val="000000"/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7818CACC-4FB0-C360-1DAC-74B70D8A591E}"/>
              </a:ext>
            </a:extLst>
          </p:cNvPr>
          <p:cNvSpPr/>
          <p:nvPr/>
        </p:nvSpPr>
        <p:spPr>
          <a:xfrm>
            <a:off x="7766196" y="6953275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4ACA924E-164B-7C06-ADF4-24E2DF406B91}"/>
              </a:ext>
            </a:extLst>
          </p:cNvPr>
          <p:cNvSpPr/>
          <p:nvPr/>
        </p:nvSpPr>
        <p:spPr>
          <a:xfrm>
            <a:off x="7882271" y="6953275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A9C97C4B-9F05-1C29-D840-211FA8BBFE86}"/>
              </a:ext>
            </a:extLst>
          </p:cNvPr>
          <p:cNvSpPr/>
          <p:nvPr/>
        </p:nvSpPr>
        <p:spPr>
          <a:xfrm>
            <a:off x="8006330" y="6953274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1" name="TextBox 1090">
            <a:extLst>
              <a:ext uri="{FF2B5EF4-FFF2-40B4-BE49-F238E27FC236}">
                <a16:creationId xmlns:a16="http://schemas.microsoft.com/office/drawing/2014/main" id="{6EA91F55-D974-70C1-9D85-12C7C6AFBA02}"/>
              </a:ext>
            </a:extLst>
          </p:cNvPr>
          <p:cNvSpPr txBox="1"/>
          <p:nvPr/>
        </p:nvSpPr>
        <p:spPr>
          <a:xfrm>
            <a:off x="7709321" y="6786070"/>
            <a:ext cx="241944" cy="1820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Tier 1</a:t>
            </a:r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C421BADA-81A1-A775-B52E-283D61AB698F}"/>
              </a:ext>
            </a:extLst>
          </p:cNvPr>
          <p:cNvSpPr/>
          <p:nvPr/>
        </p:nvSpPr>
        <p:spPr>
          <a:xfrm>
            <a:off x="7745715" y="7081218"/>
            <a:ext cx="365642" cy="86767"/>
          </a:xfrm>
          <a:prstGeom prst="rect">
            <a:avLst/>
          </a:prstGeom>
          <a:solidFill>
            <a:schemeClr val="bg1"/>
          </a:solidFill>
          <a:ln w="2540" cap="flat">
            <a:solidFill>
              <a:srgbClr val="000000"/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4A6631EA-B352-E2B6-33A0-09B5194D7A4F}"/>
              </a:ext>
            </a:extLst>
          </p:cNvPr>
          <p:cNvSpPr/>
          <p:nvPr/>
        </p:nvSpPr>
        <p:spPr>
          <a:xfrm>
            <a:off x="7764413" y="7109760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752AB869-6FEA-C560-8E58-F135F2F3E3F4}"/>
              </a:ext>
            </a:extLst>
          </p:cNvPr>
          <p:cNvSpPr/>
          <p:nvPr/>
        </p:nvSpPr>
        <p:spPr>
          <a:xfrm>
            <a:off x="7880488" y="7109760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84FCFD74-C847-04D6-0739-2905ED757FCB}"/>
              </a:ext>
            </a:extLst>
          </p:cNvPr>
          <p:cNvSpPr/>
          <p:nvPr/>
        </p:nvSpPr>
        <p:spPr>
          <a:xfrm>
            <a:off x="8004547" y="7109759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6" name="TextBox 1095">
            <a:extLst>
              <a:ext uri="{FF2B5EF4-FFF2-40B4-BE49-F238E27FC236}">
                <a16:creationId xmlns:a16="http://schemas.microsoft.com/office/drawing/2014/main" id="{E7BA808F-A1AF-F4C1-0AA9-D90702B5661C}"/>
              </a:ext>
            </a:extLst>
          </p:cNvPr>
          <p:cNvSpPr txBox="1"/>
          <p:nvPr/>
        </p:nvSpPr>
        <p:spPr>
          <a:xfrm>
            <a:off x="7707538" y="6942555"/>
            <a:ext cx="241944" cy="1820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Tier 2</a:t>
            </a:r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D1F363BA-F8C4-85FA-E214-E2450969D82B}"/>
              </a:ext>
            </a:extLst>
          </p:cNvPr>
          <p:cNvSpPr/>
          <p:nvPr/>
        </p:nvSpPr>
        <p:spPr>
          <a:xfrm>
            <a:off x="7746658" y="7232608"/>
            <a:ext cx="365642" cy="86767"/>
          </a:xfrm>
          <a:prstGeom prst="rect">
            <a:avLst/>
          </a:prstGeom>
          <a:solidFill>
            <a:schemeClr val="bg1"/>
          </a:solidFill>
          <a:ln w="2540" cap="flat">
            <a:solidFill>
              <a:srgbClr val="000000"/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075E9328-93C6-5067-B983-6DAD6DC3FC19}"/>
              </a:ext>
            </a:extLst>
          </p:cNvPr>
          <p:cNvSpPr/>
          <p:nvPr/>
        </p:nvSpPr>
        <p:spPr>
          <a:xfrm>
            <a:off x="7765356" y="7261150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76650B32-7F56-FF4E-48AA-55997CBC0225}"/>
              </a:ext>
            </a:extLst>
          </p:cNvPr>
          <p:cNvSpPr/>
          <p:nvPr/>
        </p:nvSpPr>
        <p:spPr>
          <a:xfrm>
            <a:off x="7881431" y="7261150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1CD546EA-4D62-8FFC-0639-682294FFEFF2}"/>
              </a:ext>
            </a:extLst>
          </p:cNvPr>
          <p:cNvSpPr/>
          <p:nvPr/>
        </p:nvSpPr>
        <p:spPr>
          <a:xfrm>
            <a:off x="8005490" y="7261149"/>
            <a:ext cx="88370" cy="4571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1" name="TextBox 1100">
            <a:extLst>
              <a:ext uri="{FF2B5EF4-FFF2-40B4-BE49-F238E27FC236}">
                <a16:creationId xmlns:a16="http://schemas.microsoft.com/office/drawing/2014/main" id="{14ACDDF5-E707-780B-2E64-96A0A54592EA}"/>
              </a:ext>
            </a:extLst>
          </p:cNvPr>
          <p:cNvSpPr txBox="1"/>
          <p:nvPr/>
        </p:nvSpPr>
        <p:spPr>
          <a:xfrm>
            <a:off x="7708481" y="7093945"/>
            <a:ext cx="241944" cy="1820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Tier 3</a:t>
            </a:r>
          </a:p>
        </p:txBody>
      </p:sp>
      <p:sp>
        <p:nvSpPr>
          <p:cNvPr id="1102" name="TextBox 1101">
            <a:extLst>
              <a:ext uri="{FF2B5EF4-FFF2-40B4-BE49-F238E27FC236}">
                <a16:creationId xmlns:a16="http://schemas.microsoft.com/office/drawing/2014/main" id="{087960DE-4E16-AD56-7966-82ACA7262A89}"/>
              </a:ext>
            </a:extLst>
          </p:cNvPr>
          <p:cNvSpPr txBox="1"/>
          <p:nvPr/>
        </p:nvSpPr>
        <p:spPr>
          <a:xfrm>
            <a:off x="8341203" y="5917372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3" name="TextBox 1102">
            <a:extLst>
              <a:ext uri="{FF2B5EF4-FFF2-40B4-BE49-F238E27FC236}">
                <a16:creationId xmlns:a16="http://schemas.microsoft.com/office/drawing/2014/main" id="{42B7D5C4-DE4C-6840-1D37-F6169FDEDEF5}"/>
              </a:ext>
            </a:extLst>
          </p:cNvPr>
          <p:cNvSpPr txBox="1"/>
          <p:nvPr/>
        </p:nvSpPr>
        <p:spPr>
          <a:xfrm>
            <a:off x="7409851" y="5895407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4" name="TextBox 1103">
            <a:extLst>
              <a:ext uri="{FF2B5EF4-FFF2-40B4-BE49-F238E27FC236}">
                <a16:creationId xmlns:a16="http://schemas.microsoft.com/office/drawing/2014/main" id="{CAF98ADC-54F4-23ED-1FB1-797F93AA8A88}"/>
              </a:ext>
            </a:extLst>
          </p:cNvPr>
          <p:cNvSpPr txBox="1"/>
          <p:nvPr/>
        </p:nvSpPr>
        <p:spPr>
          <a:xfrm>
            <a:off x="7672781" y="6617707"/>
            <a:ext cx="580165" cy="2127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0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Knowledge Box</a:t>
            </a:r>
          </a:p>
        </p:txBody>
      </p:sp>
      <p:sp>
        <p:nvSpPr>
          <p:cNvPr id="1105" name="Logistics">
            <a:extLst>
              <a:ext uri="{FF2B5EF4-FFF2-40B4-BE49-F238E27FC236}">
                <a16:creationId xmlns:a16="http://schemas.microsoft.com/office/drawing/2014/main" id="{60C4E484-2F1D-4FEF-4EBC-0F3221432E46}"/>
              </a:ext>
            </a:extLst>
          </p:cNvPr>
          <p:cNvSpPr txBox="1"/>
          <p:nvPr/>
        </p:nvSpPr>
        <p:spPr>
          <a:xfrm>
            <a:off x="9601200" y="2717072"/>
            <a:ext cx="4053967" cy="2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sz="1800" dirty="0">
                <a:solidFill>
                  <a:schemeClr val="bg2">
                    <a:lumMod val="25000"/>
                  </a:schemeClr>
                </a:solidFill>
              </a:rPr>
              <a:t>tetrad.py</a:t>
            </a:r>
          </a:p>
        </p:txBody>
      </p:sp>
      <p:sp>
        <p:nvSpPr>
          <p:cNvPr id="1106" name="Logistics">
            <a:extLst>
              <a:ext uri="{FF2B5EF4-FFF2-40B4-BE49-F238E27FC236}">
                <a16:creationId xmlns:a16="http://schemas.microsoft.com/office/drawing/2014/main" id="{549B8A9E-682F-B8AB-E80D-816AB185C9FD}"/>
              </a:ext>
            </a:extLst>
          </p:cNvPr>
          <p:cNvSpPr txBox="1"/>
          <p:nvPr/>
        </p:nvSpPr>
        <p:spPr>
          <a:xfrm>
            <a:off x="9601200" y="4520820"/>
            <a:ext cx="4053967" cy="2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sz="1800" dirty="0">
                <a:solidFill>
                  <a:schemeClr val="bg2">
                    <a:lumMod val="25000"/>
                  </a:schemeClr>
                </a:solidFill>
              </a:rPr>
              <a:t>causal.py</a:t>
            </a:r>
          </a:p>
        </p:txBody>
      </p:sp>
      <p:sp>
        <p:nvSpPr>
          <p:cNvPr id="1107" name="Logistics">
            <a:extLst>
              <a:ext uri="{FF2B5EF4-FFF2-40B4-BE49-F238E27FC236}">
                <a16:creationId xmlns:a16="http://schemas.microsoft.com/office/drawing/2014/main" id="{F30C77DF-987C-0EE5-EE9C-E86774368A70}"/>
              </a:ext>
            </a:extLst>
          </p:cNvPr>
          <p:cNvSpPr txBox="1"/>
          <p:nvPr/>
        </p:nvSpPr>
        <p:spPr>
          <a:xfrm>
            <a:off x="9601200" y="6993458"/>
            <a:ext cx="4053967" cy="2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sz="1800" dirty="0">
                <a:solidFill>
                  <a:schemeClr val="bg2">
                    <a:lumMod val="25000"/>
                  </a:schemeClr>
                </a:solidFill>
              </a:rPr>
              <a:t>knowledge.py</a:t>
            </a:r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4B65B256-0C02-F782-4FC0-1816F4B8FEF0}"/>
              </a:ext>
            </a:extLst>
          </p:cNvPr>
          <p:cNvSpPr txBox="1"/>
          <p:nvPr/>
        </p:nvSpPr>
        <p:spPr>
          <a:xfrm>
            <a:off x="9601200" y="4738596"/>
            <a:ext cx="4237460" cy="2187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Causal search is run on dataset including null features, used to derive 1-PNEF.</a:t>
            </a:r>
            <a:endParaRPr lang="en-US" dirty="0"/>
          </a:p>
          <a:p>
            <a:r>
              <a:rPr lang="en-US" dirty="0"/>
              <a:t>1. </a:t>
            </a:r>
            <a:r>
              <a:rPr lang="en-US" dirty="0" err="1"/>
              <a:t>score_sem_bic</a:t>
            </a:r>
            <a:r>
              <a:rPr lang="en-US" dirty="0"/>
              <a:t>()</a:t>
            </a:r>
          </a:p>
          <a:p>
            <a:r>
              <a:rPr lang="en-US" b="0" dirty="0"/>
              <a:t>Configure SEM BIC score.</a:t>
            </a:r>
          </a:p>
          <a:p>
            <a:r>
              <a:rPr lang="en-US" dirty="0"/>
              <a:t>2. bootstrapping()</a:t>
            </a:r>
          </a:p>
          <a:p>
            <a:r>
              <a:rPr lang="en-US" b="0" dirty="0"/>
              <a:t>Configure bootstrapping parameters.</a:t>
            </a:r>
          </a:p>
          <a:p>
            <a:r>
              <a:rPr lang="en-US" dirty="0"/>
              <a:t>3. </a:t>
            </a:r>
            <a:r>
              <a:rPr lang="en-US" dirty="0" err="1"/>
              <a:t>algorithm_fges</a:t>
            </a:r>
            <a:r>
              <a:rPr lang="en-US" dirty="0"/>
              <a:t>()</a:t>
            </a:r>
          </a:p>
          <a:p>
            <a:r>
              <a:rPr lang="en-US" b="0" dirty="0"/>
              <a:t>Performs Fast Greedy Equivalence Search (FGES) algorithm.</a:t>
            </a:r>
          </a:p>
          <a:p>
            <a:r>
              <a:rPr lang="en-US" dirty="0"/>
              <a:t>4. </a:t>
            </a:r>
            <a:r>
              <a:rPr lang="en-US" dirty="0" err="1"/>
              <a:t>algorithm_boss</a:t>
            </a:r>
            <a:r>
              <a:rPr lang="en-US" dirty="0"/>
              <a:t>()</a:t>
            </a:r>
          </a:p>
          <a:p>
            <a:r>
              <a:rPr lang="en-US" b="0" dirty="0"/>
              <a:t>Performs Best Order Score Search (BOSS) algorithm.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58C2C9FE-23BA-D8D7-AE06-A59D72BB9767}"/>
              </a:ext>
            </a:extLst>
          </p:cNvPr>
          <p:cNvSpPr txBox="1"/>
          <p:nvPr/>
        </p:nvSpPr>
        <p:spPr>
          <a:xfrm>
            <a:off x="9601200" y="2934848"/>
            <a:ext cx="4237460" cy="1531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After applying time lag and features, </a:t>
            </a:r>
            <a:r>
              <a:rPr lang="en-US" b="0" dirty="0" err="1"/>
              <a:t>jpype</a:t>
            </a:r>
            <a:r>
              <a:rPr lang="en-US" b="0" dirty="0"/>
              <a:t> is imported to utilize API and turn the dataset into a Tetrad compatible format. </a:t>
            </a:r>
            <a:endParaRPr lang="en-US" dirty="0"/>
          </a:p>
          <a:p>
            <a:r>
              <a:rPr lang="en-US" dirty="0"/>
              <a:t>1. </a:t>
            </a:r>
            <a:r>
              <a:rPr lang="en-US" dirty="0" err="1"/>
              <a:t>tetrad_jvm_start</a:t>
            </a:r>
            <a:r>
              <a:rPr lang="en-US" dirty="0"/>
              <a:t>()</a:t>
            </a:r>
          </a:p>
          <a:p>
            <a:r>
              <a:rPr lang="en-US" b="0" dirty="0"/>
              <a:t>Import </a:t>
            </a:r>
            <a:r>
              <a:rPr lang="en-US" b="0" dirty="0" err="1"/>
              <a:t>jpype</a:t>
            </a:r>
            <a:r>
              <a:rPr lang="en-US" b="0" dirty="0"/>
              <a:t> to start JVM and load Tetrad jar file.</a:t>
            </a:r>
          </a:p>
          <a:p>
            <a:r>
              <a:rPr lang="en-US" dirty="0"/>
              <a:t>2. </a:t>
            </a:r>
            <a:r>
              <a:rPr lang="en-US" dirty="0" err="1"/>
              <a:t>transform_pandasdf_to_tetrad_boxdataset</a:t>
            </a:r>
            <a:r>
              <a:rPr lang="en-US" dirty="0"/>
              <a:t>()</a:t>
            </a:r>
          </a:p>
          <a:p>
            <a:r>
              <a:rPr lang="en-US" b="0" dirty="0"/>
              <a:t>Convert pandas </a:t>
            </a:r>
            <a:r>
              <a:rPr lang="en-US" b="0" dirty="0" err="1"/>
              <a:t>DataFrames</a:t>
            </a:r>
            <a:r>
              <a:rPr lang="en-US" b="0" dirty="0"/>
              <a:t> into Tetrad </a:t>
            </a:r>
            <a:r>
              <a:rPr lang="en-US" b="0" dirty="0" err="1"/>
              <a:t>BoxDataset</a:t>
            </a:r>
            <a:r>
              <a:rPr lang="en-US" b="0" dirty="0"/>
              <a:t> and initialize search state.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7F07F7A5-3BF0-0FD7-59F6-E7EDDD3F398F}"/>
              </a:ext>
            </a:extLst>
          </p:cNvPr>
          <p:cNvSpPr txBox="1"/>
          <p:nvPr/>
        </p:nvSpPr>
        <p:spPr>
          <a:xfrm>
            <a:off x="9601200" y="7232335"/>
            <a:ext cx="4237460" cy="9258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Causal search can be used with domain knowledge applied.</a:t>
            </a:r>
          </a:p>
          <a:p>
            <a:r>
              <a:rPr lang="en-US" dirty="0"/>
              <a:t>1. </a:t>
            </a:r>
            <a:r>
              <a:rPr lang="en-US" dirty="0" err="1"/>
              <a:t>parse_knowledge_txt</a:t>
            </a:r>
            <a:r>
              <a:rPr lang="en-US" dirty="0"/>
              <a:t>()</a:t>
            </a:r>
          </a:p>
          <a:p>
            <a:r>
              <a:rPr lang="en-US" b="0" dirty="0"/>
              <a:t>Load forbidden/required edges and temporal tiers from a .txt file into Tetrad knowledge object.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B6B2D5DA-13C7-5843-9756-AF486643FE84}"/>
              </a:ext>
            </a:extLst>
          </p:cNvPr>
          <p:cNvSpPr txBox="1"/>
          <p:nvPr/>
        </p:nvSpPr>
        <p:spPr>
          <a:xfrm>
            <a:off x="9601200" y="1814685"/>
            <a:ext cx="4264574" cy="8745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 err="1"/>
              <a:t>Pykumu</a:t>
            </a:r>
            <a:r>
              <a:rPr lang="en-US" b="0" dirty="0"/>
              <a:t> more closely interfaces with </a:t>
            </a:r>
            <a:r>
              <a:rPr lang="en-US" b="0" dirty="0" err="1"/>
              <a:t>Kaiaulu</a:t>
            </a:r>
            <a:r>
              <a:rPr lang="en-US" b="0" dirty="0"/>
              <a:t> but can use any other dataset. For an example of a dataset, see </a:t>
            </a:r>
            <a:r>
              <a:rPr lang="en-US" dirty="0" err="1"/>
              <a:t>issue_social_smell_showcase.Rmd</a:t>
            </a:r>
            <a:r>
              <a:rPr lang="en-US" b="0" dirty="0"/>
              <a:t>. Refer to </a:t>
            </a:r>
            <a:r>
              <a:rPr lang="en-US" b="0" dirty="0" err="1"/>
              <a:t>cheatsheets</a:t>
            </a:r>
            <a:r>
              <a:rPr lang="en-US" b="0" dirty="0"/>
              <a:t>/social-smells-</a:t>
            </a:r>
            <a:r>
              <a:rPr lang="en-US" b="0" dirty="0" err="1"/>
              <a:t>cheatsheet.pdf</a:t>
            </a:r>
            <a:endParaRPr lang="en-US" b="0" dirty="0"/>
          </a:p>
        </p:txBody>
      </p:sp>
      <p:cxnSp>
        <p:nvCxnSpPr>
          <p:cNvPr id="1112" name="Connector: Elbow 1111">
            <a:extLst>
              <a:ext uri="{FF2B5EF4-FFF2-40B4-BE49-F238E27FC236}">
                <a16:creationId xmlns:a16="http://schemas.microsoft.com/office/drawing/2014/main" id="{6CD5DC9E-FCF1-89A3-C042-B5E452FA00AC}"/>
              </a:ext>
            </a:extLst>
          </p:cNvPr>
          <p:cNvCxnSpPr>
            <a:cxnSpLocks/>
            <a:stCxn id="991" idx="3"/>
            <a:endCxn id="944" idx="1"/>
          </p:cNvCxnSpPr>
          <p:nvPr/>
        </p:nvCxnSpPr>
        <p:spPr>
          <a:xfrm flipV="1">
            <a:off x="8704406" y="1633055"/>
            <a:ext cx="896794" cy="659054"/>
          </a:xfrm>
          <a:prstGeom prst="bentConnector3">
            <a:avLst>
              <a:gd name="adj1" fmla="val 34636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E69391C-4661-AC8E-39B1-3933B982A2B5}"/>
              </a:ext>
            </a:extLst>
          </p:cNvPr>
          <p:cNvSpPr txBox="1"/>
          <p:nvPr/>
        </p:nvSpPr>
        <p:spPr>
          <a:xfrm>
            <a:off x="1275037" y="3586245"/>
            <a:ext cx="81941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tx1">
                    <a:lumMod val="50000"/>
                  </a:schemeClr>
                </a:solidFill>
              </a:rPr>
              <a:t>Jpype</a:t>
            </a:r>
            <a:endParaRPr lang="en-US" sz="800" b="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4" name="Folded Corner 3">
            <a:extLst>
              <a:ext uri="{FF2B5EF4-FFF2-40B4-BE49-F238E27FC236}">
                <a16:creationId xmlns:a16="http://schemas.microsoft.com/office/drawing/2014/main" id="{94F826D2-FE81-24AC-C978-547CFB8875F6}"/>
              </a:ext>
            </a:extLst>
          </p:cNvPr>
          <p:cNvSpPr/>
          <p:nvPr/>
        </p:nvSpPr>
        <p:spPr>
          <a:xfrm rot="10800000" flipH="1">
            <a:off x="2629874" y="3381012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5" name="Folded Corner 4">
            <a:extLst>
              <a:ext uri="{FF2B5EF4-FFF2-40B4-BE49-F238E27FC236}">
                <a16:creationId xmlns:a16="http://schemas.microsoft.com/office/drawing/2014/main" id="{A60F9644-8BD2-F4BC-4D37-225E34AAEA94}"/>
              </a:ext>
            </a:extLst>
          </p:cNvPr>
          <p:cNvSpPr/>
          <p:nvPr/>
        </p:nvSpPr>
        <p:spPr>
          <a:xfrm rot="10800000" flipH="1">
            <a:off x="2596792" y="3409478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6" name="Folded Corner 5">
            <a:extLst>
              <a:ext uri="{FF2B5EF4-FFF2-40B4-BE49-F238E27FC236}">
                <a16:creationId xmlns:a16="http://schemas.microsoft.com/office/drawing/2014/main" id="{2FDE42B7-29D5-236E-4A0E-C06A50BFC1FF}"/>
              </a:ext>
            </a:extLst>
          </p:cNvPr>
          <p:cNvSpPr/>
          <p:nvPr/>
        </p:nvSpPr>
        <p:spPr>
          <a:xfrm rot="10800000" flipH="1">
            <a:off x="2556355" y="3443254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F90AEEE5-3686-CB48-A2FB-DDAD6BF9C0FC}"/>
              </a:ext>
            </a:extLst>
          </p:cNvPr>
          <p:cNvSpPr txBox="1"/>
          <p:nvPr/>
        </p:nvSpPr>
        <p:spPr>
          <a:xfrm>
            <a:off x="2486995" y="3589370"/>
            <a:ext cx="482382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algorithm.py</a:t>
            </a:r>
          </a:p>
        </p:txBody>
      </p:sp>
      <p:sp>
        <p:nvSpPr>
          <p:cNvPr id="27" name="Folded Corner 3">
            <a:extLst>
              <a:ext uri="{FF2B5EF4-FFF2-40B4-BE49-F238E27FC236}">
                <a16:creationId xmlns:a16="http://schemas.microsoft.com/office/drawing/2014/main" id="{4BB04979-445C-E56C-0EA7-6462F7B0B8AB}"/>
              </a:ext>
            </a:extLst>
          </p:cNvPr>
          <p:cNvSpPr/>
          <p:nvPr/>
        </p:nvSpPr>
        <p:spPr>
          <a:xfrm rot="10800000" flipH="1">
            <a:off x="3124045" y="3361136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8" name="Folded Corner 4">
            <a:extLst>
              <a:ext uri="{FF2B5EF4-FFF2-40B4-BE49-F238E27FC236}">
                <a16:creationId xmlns:a16="http://schemas.microsoft.com/office/drawing/2014/main" id="{67DDE09A-5D81-8900-2935-4451550B4441}"/>
              </a:ext>
            </a:extLst>
          </p:cNvPr>
          <p:cNvSpPr/>
          <p:nvPr/>
        </p:nvSpPr>
        <p:spPr>
          <a:xfrm rot="10800000" flipH="1">
            <a:off x="3090963" y="3389602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9" name="Folded Corner 5">
            <a:extLst>
              <a:ext uri="{FF2B5EF4-FFF2-40B4-BE49-F238E27FC236}">
                <a16:creationId xmlns:a16="http://schemas.microsoft.com/office/drawing/2014/main" id="{81F5CB06-DD26-E4B1-F35A-C22CD69A37CA}"/>
              </a:ext>
            </a:extLst>
          </p:cNvPr>
          <p:cNvSpPr/>
          <p:nvPr/>
        </p:nvSpPr>
        <p:spPr>
          <a:xfrm rot="10800000" flipH="1">
            <a:off x="3050526" y="3423378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D31EE5CA-3B79-148C-AFEA-DA67620DC563}"/>
              </a:ext>
            </a:extLst>
          </p:cNvPr>
          <p:cNvSpPr txBox="1"/>
          <p:nvPr/>
        </p:nvSpPr>
        <p:spPr>
          <a:xfrm>
            <a:off x="3041735" y="3581215"/>
            <a:ext cx="40676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score.py</a:t>
            </a:r>
          </a:p>
        </p:txBody>
      </p:sp>
      <p:sp>
        <p:nvSpPr>
          <p:cNvPr id="30" name="Folded Corner 3">
            <a:extLst>
              <a:ext uri="{FF2B5EF4-FFF2-40B4-BE49-F238E27FC236}">
                <a16:creationId xmlns:a16="http://schemas.microsoft.com/office/drawing/2014/main" id="{031F6FB7-42FF-0D17-D5DF-AF64BE714234}"/>
              </a:ext>
            </a:extLst>
          </p:cNvPr>
          <p:cNvSpPr/>
          <p:nvPr/>
        </p:nvSpPr>
        <p:spPr>
          <a:xfrm rot="10800000" flipH="1">
            <a:off x="489099" y="3477311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" name="Folded Corner 4">
            <a:extLst>
              <a:ext uri="{FF2B5EF4-FFF2-40B4-BE49-F238E27FC236}">
                <a16:creationId xmlns:a16="http://schemas.microsoft.com/office/drawing/2014/main" id="{72468F55-40F2-2405-FE7F-F47ECACAD4BC}"/>
              </a:ext>
            </a:extLst>
          </p:cNvPr>
          <p:cNvSpPr/>
          <p:nvPr/>
        </p:nvSpPr>
        <p:spPr>
          <a:xfrm rot="10800000" flipH="1">
            <a:off x="456017" y="3505777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2" name="Folded Corner 5">
            <a:extLst>
              <a:ext uri="{FF2B5EF4-FFF2-40B4-BE49-F238E27FC236}">
                <a16:creationId xmlns:a16="http://schemas.microsoft.com/office/drawing/2014/main" id="{810C4047-D381-04BD-A2E4-BD4CA1A6ABD1}"/>
              </a:ext>
            </a:extLst>
          </p:cNvPr>
          <p:cNvSpPr/>
          <p:nvPr/>
        </p:nvSpPr>
        <p:spPr>
          <a:xfrm rot="10800000" flipH="1">
            <a:off x="415580" y="3539553"/>
            <a:ext cx="347768" cy="432547"/>
          </a:xfrm>
          <a:prstGeom prst="foldedCorner">
            <a:avLst>
              <a:gd name="adj" fmla="val 29505"/>
            </a:avLst>
          </a:prstGeom>
          <a:solidFill>
            <a:schemeClr val="bg1"/>
          </a:solidFill>
          <a:ln w="6350" cap="flat">
            <a:solidFill>
              <a:schemeClr val="bg2">
                <a:lumMod val="10000"/>
              </a:scheme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54570" tIns="54570" rIns="54570" bIns="5457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FEDEBD0C-17BD-BF4C-70CA-57664FD58297}"/>
              </a:ext>
            </a:extLst>
          </p:cNvPr>
          <p:cNvSpPr txBox="1"/>
          <p:nvPr/>
        </p:nvSpPr>
        <p:spPr>
          <a:xfrm>
            <a:off x="391503" y="3700338"/>
            <a:ext cx="46034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 err="1">
                <a:solidFill>
                  <a:schemeClr val="tx1">
                    <a:lumMod val="50000"/>
                  </a:schemeClr>
                </a:solidFill>
              </a:rPr>
              <a:t>edu.cmu</a:t>
            </a:r>
            <a:r>
              <a:rPr lang="en-US" sz="400" dirty="0">
                <a:solidFill>
                  <a:schemeClr val="tx1">
                    <a:lumMod val="50000"/>
                  </a:schemeClr>
                </a:solidFill>
              </a:rPr>
              <a:t>…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402FEC6-3C4B-9CF2-EA89-72AC81080B24}"/>
              </a:ext>
            </a:extLst>
          </p:cNvPr>
          <p:cNvSpPr txBox="1"/>
          <p:nvPr/>
        </p:nvSpPr>
        <p:spPr>
          <a:xfrm>
            <a:off x="2058159" y="4229130"/>
            <a:ext cx="621043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b="0" dirty="0" err="1">
                <a:solidFill>
                  <a:schemeClr val="bg2">
                    <a:lumMod val="10000"/>
                  </a:schemeClr>
                </a:solidFill>
              </a:rPr>
              <a:t>run_fges</a:t>
            </a:r>
            <a:r>
              <a:rPr lang="en-US" sz="800" b="0" dirty="0">
                <a:solidFill>
                  <a:schemeClr val="bg2">
                    <a:lumMod val="10000"/>
                  </a:schemeClr>
                </a:solidFill>
              </a:rPr>
              <a:t>()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93D2D5B-7389-E333-A8B7-469AC5A19703}"/>
              </a:ext>
            </a:extLst>
          </p:cNvPr>
          <p:cNvSpPr txBox="1"/>
          <p:nvPr/>
        </p:nvSpPr>
        <p:spPr>
          <a:xfrm>
            <a:off x="8607799" y="5014851"/>
            <a:ext cx="110270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4B43F8BE-25FC-CE90-4090-76B00161AB7D}"/>
              </a:ext>
            </a:extLst>
          </p:cNvPr>
          <p:cNvCxnSpPr>
            <a:cxnSpLocks/>
            <a:stCxn id="51" idx="3"/>
            <a:endCxn id="1106" idx="1"/>
          </p:cNvCxnSpPr>
          <p:nvPr/>
        </p:nvCxnSpPr>
        <p:spPr>
          <a:xfrm flipV="1">
            <a:off x="8718069" y="4646816"/>
            <a:ext cx="883131" cy="528295"/>
          </a:xfrm>
          <a:prstGeom prst="bentConnector3">
            <a:avLst>
              <a:gd name="adj1" fmla="val 35816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99" name="TextBox 898">
            <a:extLst>
              <a:ext uri="{FF2B5EF4-FFF2-40B4-BE49-F238E27FC236}">
                <a16:creationId xmlns:a16="http://schemas.microsoft.com/office/drawing/2014/main" id="{8D625990-E0A2-6B58-170F-E97153237F90}"/>
              </a:ext>
            </a:extLst>
          </p:cNvPr>
          <p:cNvSpPr txBox="1"/>
          <p:nvPr/>
        </p:nvSpPr>
        <p:spPr>
          <a:xfrm>
            <a:off x="9601200" y="8412480"/>
            <a:ext cx="4244990" cy="1900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b="0" dirty="0"/>
              <a:t>Parsing graph data into nodes</a:t>
            </a:r>
            <a:r>
              <a:rPr lang="en-US" b="0"/>
              <a:t>, an edge set, and edge-type probabilities enables </a:t>
            </a:r>
            <a:r>
              <a:rPr lang="en-US" b="0" dirty="0"/>
              <a:t>1-PNEF to be applied. Causal search graph outputs can be saved as JSON, which can be loaded and viewed in the Tetrad GUI. </a:t>
            </a:r>
          </a:p>
          <a:p>
            <a:r>
              <a:rPr lang="en-US" dirty="0"/>
              <a:t>1. </a:t>
            </a:r>
            <a:r>
              <a:rPr lang="en-US" dirty="0" err="1"/>
              <a:t>transform_graph_java_to_graph_json</a:t>
            </a:r>
            <a:r>
              <a:rPr lang="en-US" dirty="0"/>
              <a:t>()</a:t>
            </a:r>
          </a:p>
          <a:p>
            <a:r>
              <a:rPr lang="en-US" b="0" dirty="0"/>
              <a:t>Convert Tetrad graph object to JSON format.</a:t>
            </a:r>
          </a:p>
          <a:p>
            <a:r>
              <a:rPr lang="en-US" dirty="0"/>
              <a:t>2. </a:t>
            </a:r>
            <a:r>
              <a:rPr lang="en-US" dirty="0" err="1"/>
              <a:t>parse_graph_json</a:t>
            </a:r>
            <a:r>
              <a:rPr lang="en-US" dirty="0"/>
              <a:t>()</a:t>
            </a:r>
          </a:p>
          <a:p>
            <a:r>
              <a:rPr lang="en-US" b="0" dirty="0"/>
              <a:t>Parse Tetrad JSON data into nodes, </a:t>
            </a:r>
            <a:r>
              <a:rPr lang="en-US" b="0" dirty="0" err="1"/>
              <a:t>edgeset</a:t>
            </a:r>
            <a:r>
              <a:rPr lang="en-US" b="0" dirty="0"/>
              <a:t>, and </a:t>
            </a:r>
            <a:r>
              <a:rPr lang="en-US" b="0" dirty="0" err="1"/>
              <a:t>edge_type_probabilities</a:t>
            </a:r>
            <a:r>
              <a:rPr lang="en-US" b="0" dirty="0"/>
              <a:t> datasets.</a:t>
            </a:r>
          </a:p>
        </p:txBody>
      </p:sp>
      <p:sp>
        <p:nvSpPr>
          <p:cNvPr id="900" name="Logistics">
            <a:extLst>
              <a:ext uri="{FF2B5EF4-FFF2-40B4-BE49-F238E27FC236}">
                <a16:creationId xmlns:a16="http://schemas.microsoft.com/office/drawing/2014/main" id="{560F751C-0892-0CE1-185E-0BE3B3D3DE48}"/>
              </a:ext>
            </a:extLst>
          </p:cNvPr>
          <p:cNvSpPr txBox="1"/>
          <p:nvPr/>
        </p:nvSpPr>
        <p:spPr>
          <a:xfrm>
            <a:off x="9601200" y="8182178"/>
            <a:ext cx="4053967" cy="2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sz="1800" dirty="0">
                <a:solidFill>
                  <a:schemeClr val="bg2">
                    <a:lumMod val="25000"/>
                  </a:schemeClr>
                </a:solidFill>
              </a:rPr>
              <a:t>graph.py</a:t>
            </a:r>
          </a:p>
        </p:txBody>
      </p:sp>
      <p:sp>
        <p:nvSpPr>
          <p:cNvPr id="905" name="Create a visual hierarchy. Help users navigate the page with titles, subtitles, and subsubtitles">
            <a:extLst>
              <a:ext uri="{FF2B5EF4-FFF2-40B4-BE49-F238E27FC236}">
                <a16:creationId xmlns:a16="http://schemas.microsoft.com/office/drawing/2014/main" id="{8EB52327-588C-81E4-BBB0-4BFB049E86DF}"/>
              </a:ext>
            </a:extLst>
          </p:cNvPr>
          <p:cNvSpPr txBox="1"/>
          <p:nvPr/>
        </p:nvSpPr>
        <p:spPr>
          <a:xfrm>
            <a:off x="182880" y="1865550"/>
            <a:ext cx="4001355" cy="775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is a Python package that serves as a wrapper over the Tetrad Java API (via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JPype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), providing an interface for causal analysis algorithms.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Pykumu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 is a fork of 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-tetrad/</a:t>
            </a:r>
            <a:r>
              <a:rPr lang="en-US" b="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pytetrad</a:t>
            </a:r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 Light"/>
              </a:rPr>
              <a:t>.</a:t>
            </a: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Source Sans Pro"/>
            </a:endParaRPr>
          </a:p>
        </p:txBody>
      </p:sp>
      <p:grpSp>
        <p:nvGrpSpPr>
          <p:cNvPr id="909" name="Group 908">
            <a:extLst>
              <a:ext uri="{FF2B5EF4-FFF2-40B4-BE49-F238E27FC236}">
                <a16:creationId xmlns:a16="http://schemas.microsoft.com/office/drawing/2014/main" id="{C52833F6-1CAE-BD5F-6AD7-DAD45CC28531}"/>
              </a:ext>
            </a:extLst>
          </p:cNvPr>
          <p:cNvGrpSpPr/>
          <p:nvPr/>
        </p:nvGrpSpPr>
        <p:grpSpPr>
          <a:xfrm>
            <a:off x="5279608" y="8859034"/>
            <a:ext cx="818142" cy="583040"/>
            <a:chOff x="3300333" y="6875181"/>
            <a:chExt cx="2140200" cy="1512332"/>
          </a:xfrm>
        </p:grpSpPr>
        <p:sp>
          <p:nvSpPr>
            <p:cNvPr id="910" name="TextBox 909">
              <a:extLst>
                <a:ext uri="{FF2B5EF4-FFF2-40B4-BE49-F238E27FC236}">
                  <a16:creationId xmlns:a16="http://schemas.microsoft.com/office/drawing/2014/main" id="{5DF6DAB7-4731-7FF2-09E7-F0E1CC2DE85C}"/>
                </a:ext>
              </a:extLst>
            </p:cNvPr>
            <p:cNvSpPr txBox="1"/>
            <p:nvPr/>
          </p:nvSpPr>
          <p:spPr>
            <a:xfrm rot="5400000">
              <a:off x="4253091" y="6808046"/>
              <a:ext cx="97008" cy="2312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911" name="Google Shape;162;p1">
              <a:extLst>
                <a:ext uri="{FF2B5EF4-FFF2-40B4-BE49-F238E27FC236}">
                  <a16:creationId xmlns:a16="http://schemas.microsoft.com/office/drawing/2014/main" id="{66D43623-D83C-FF47-AEC9-5B93B73E50CF}"/>
                </a:ext>
              </a:extLst>
            </p:cNvPr>
            <p:cNvSpPr/>
            <p:nvPr/>
          </p:nvSpPr>
          <p:spPr>
            <a:xfrm>
              <a:off x="4841825" y="7060644"/>
              <a:ext cx="192300" cy="198000"/>
            </a:xfrm>
            <a:prstGeom prst="ellipse">
              <a:avLst/>
            </a:prstGeom>
            <a:solidFill>
              <a:srgbClr val="9FC5E8"/>
            </a:solidFill>
            <a:ln w="5715" cap="flat" cmpd="sng">
              <a:solidFill>
                <a:srgbClr val="26262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912" name="Google Shape;163;p1">
              <a:extLst>
                <a:ext uri="{FF2B5EF4-FFF2-40B4-BE49-F238E27FC236}">
                  <a16:creationId xmlns:a16="http://schemas.microsoft.com/office/drawing/2014/main" id="{8C46AF84-0587-17DE-7FB4-229F3BF53C10}"/>
                </a:ext>
              </a:extLst>
            </p:cNvPr>
            <p:cNvSpPr/>
            <p:nvPr/>
          </p:nvSpPr>
          <p:spPr>
            <a:xfrm>
              <a:off x="5112333" y="7980811"/>
              <a:ext cx="328200" cy="336900"/>
            </a:xfrm>
            <a:prstGeom prst="ellipse">
              <a:avLst/>
            </a:prstGeom>
            <a:solidFill>
              <a:srgbClr val="1155CC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913" name="Google Shape;164;p1">
              <a:extLst>
                <a:ext uri="{FF2B5EF4-FFF2-40B4-BE49-F238E27FC236}">
                  <a16:creationId xmlns:a16="http://schemas.microsoft.com/office/drawing/2014/main" id="{5E814E5F-4A7B-93C7-7059-CC7C95E7AFB7}"/>
                </a:ext>
              </a:extLst>
            </p:cNvPr>
            <p:cNvSpPr/>
            <p:nvPr/>
          </p:nvSpPr>
          <p:spPr>
            <a:xfrm>
              <a:off x="4740710" y="8189513"/>
              <a:ext cx="192300" cy="198000"/>
            </a:xfrm>
            <a:prstGeom prst="ellipse">
              <a:avLst/>
            </a:prstGeom>
            <a:solidFill>
              <a:srgbClr val="1155CC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914" name="Google Shape;165;p1">
              <a:extLst>
                <a:ext uri="{FF2B5EF4-FFF2-40B4-BE49-F238E27FC236}">
                  <a16:creationId xmlns:a16="http://schemas.microsoft.com/office/drawing/2014/main" id="{FC08743D-7ACC-0B6B-F7D3-EF87AA5A705C}"/>
                </a:ext>
              </a:extLst>
            </p:cNvPr>
            <p:cNvSpPr/>
            <p:nvPr/>
          </p:nvSpPr>
          <p:spPr>
            <a:xfrm>
              <a:off x="5175393" y="7515529"/>
              <a:ext cx="192300" cy="198000"/>
            </a:xfrm>
            <a:prstGeom prst="ellipse">
              <a:avLst/>
            </a:prstGeom>
            <a:solidFill>
              <a:srgbClr val="9FC5E8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915" name="Google Shape;171;p1">
              <a:extLst>
                <a:ext uri="{FF2B5EF4-FFF2-40B4-BE49-F238E27FC236}">
                  <a16:creationId xmlns:a16="http://schemas.microsoft.com/office/drawing/2014/main" id="{DDC2077F-8410-4301-05BC-51C7ADFC8734}"/>
                </a:ext>
              </a:extLst>
            </p:cNvPr>
            <p:cNvSpPr/>
            <p:nvPr/>
          </p:nvSpPr>
          <p:spPr>
            <a:xfrm>
              <a:off x="3300333" y="7716417"/>
              <a:ext cx="553500" cy="567900"/>
            </a:xfrm>
            <a:prstGeom prst="ellipse">
              <a:avLst/>
            </a:prstGeom>
            <a:solidFill>
              <a:srgbClr val="FFE599"/>
            </a:solidFill>
            <a:ln w="14224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916" name="Google Shape;187;p1">
              <a:extLst>
                <a:ext uri="{FF2B5EF4-FFF2-40B4-BE49-F238E27FC236}">
                  <a16:creationId xmlns:a16="http://schemas.microsoft.com/office/drawing/2014/main" id="{28B96B55-6B5A-3901-9F43-1762F9337134}"/>
                </a:ext>
              </a:extLst>
            </p:cNvPr>
            <p:cNvCxnSpPr>
              <a:stCxn id="917" idx="6"/>
              <a:endCxn id="911" idx="2"/>
            </p:cNvCxnSpPr>
            <p:nvPr/>
          </p:nvCxnSpPr>
          <p:spPr>
            <a:xfrm rot="10800000" flipH="1">
              <a:off x="4404860" y="7159528"/>
              <a:ext cx="437100" cy="19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917" name="Google Shape;188;p1">
              <a:extLst>
                <a:ext uri="{FF2B5EF4-FFF2-40B4-BE49-F238E27FC236}">
                  <a16:creationId xmlns:a16="http://schemas.microsoft.com/office/drawing/2014/main" id="{175FCB1E-FA1D-1535-280A-0F849A1AF4A1}"/>
                </a:ext>
              </a:extLst>
            </p:cNvPr>
            <p:cNvSpPr/>
            <p:nvPr/>
          </p:nvSpPr>
          <p:spPr>
            <a:xfrm>
              <a:off x="4212560" y="7260328"/>
              <a:ext cx="192300" cy="198000"/>
            </a:xfrm>
            <a:prstGeom prst="ellipse">
              <a:avLst/>
            </a:prstGeom>
            <a:solidFill>
              <a:srgbClr val="262626"/>
            </a:solidFill>
            <a:ln w="571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918" name="Google Shape;196;p1">
              <a:extLst>
                <a:ext uri="{FF2B5EF4-FFF2-40B4-BE49-F238E27FC236}">
                  <a16:creationId xmlns:a16="http://schemas.microsoft.com/office/drawing/2014/main" id="{2C06782A-7D67-5E60-F563-5CFBEF867B15}"/>
                </a:ext>
              </a:extLst>
            </p:cNvPr>
            <p:cNvCxnSpPr>
              <a:stCxn id="917" idx="5"/>
              <a:endCxn id="913" idx="1"/>
            </p:cNvCxnSpPr>
            <p:nvPr/>
          </p:nvCxnSpPr>
          <p:spPr>
            <a:xfrm>
              <a:off x="4376698" y="7429332"/>
              <a:ext cx="392100" cy="789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919" name="Google Shape;198;p1">
              <a:extLst>
                <a:ext uri="{FF2B5EF4-FFF2-40B4-BE49-F238E27FC236}">
                  <a16:creationId xmlns:a16="http://schemas.microsoft.com/office/drawing/2014/main" id="{094DDEF4-5545-28FE-78DD-A14729D8F367}"/>
                </a:ext>
              </a:extLst>
            </p:cNvPr>
            <p:cNvCxnSpPr>
              <a:stCxn id="917" idx="6"/>
              <a:endCxn id="914" idx="2"/>
            </p:cNvCxnSpPr>
            <p:nvPr/>
          </p:nvCxnSpPr>
          <p:spPr>
            <a:xfrm>
              <a:off x="4404860" y="7359328"/>
              <a:ext cx="770400" cy="25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920" name="Google Shape;199;p1">
              <a:extLst>
                <a:ext uri="{FF2B5EF4-FFF2-40B4-BE49-F238E27FC236}">
                  <a16:creationId xmlns:a16="http://schemas.microsoft.com/office/drawing/2014/main" id="{4F3DB3B9-6479-49FE-E252-32B2C7769B4F}"/>
                </a:ext>
              </a:extLst>
            </p:cNvPr>
            <p:cNvCxnSpPr>
              <a:stCxn id="917" idx="3"/>
              <a:endCxn id="915" idx="7"/>
            </p:cNvCxnSpPr>
            <p:nvPr/>
          </p:nvCxnSpPr>
          <p:spPr>
            <a:xfrm flipH="1">
              <a:off x="3772722" y="7429332"/>
              <a:ext cx="468000" cy="370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921" name="Google Shape;200;p1">
              <a:extLst>
                <a:ext uri="{FF2B5EF4-FFF2-40B4-BE49-F238E27FC236}">
                  <a16:creationId xmlns:a16="http://schemas.microsoft.com/office/drawing/2014/main" id="{CEE8F0AB-F791-630B-08CF-D0F776FA158A}"/>
                </a:ext>
              </a:extLst>
            </p:cNvPr>
            <p:cNvCxnSpPr>
              <a:stCxn id="917" idx="6"/>
              <a:endCxn id="912" idx="1"/>
            </p:cNvCxnSpPr>
            <p:nvPr/>
          </p:nvCxnSpPr>
          <p:spPr>
            <a:xfrm>
              <a:off x="4404860" y="7359328"/>
              <a:ext cx="755400" cy="670800"/>
            </a:xfrm>
            <a:prstGeom prst="straightConnector1">
              <a:avLst/>
            </a:prstGeom>
            <a:noFill/>
            <a:ln w="179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sp>
        <p:nvSpPr>
          <p:cNvPr id="926" name="TextBox 925">
            <a:extLst>
              <a:ext uri="{FF2B5EF4-FFF2-40B4-BE49-F238E27FC236}">
                <a16:creationId xmlns:a16="http://schemas.microsoft.com/office/drawing/2014/main" id="{0A209465-0B40-3B3A-973D-948FF842583B}"/>
              </a:ext>
            </a:extLst>
          </p:cNvPr>
          <p:cNvSpPr txBox="1"/>
          <p:nvPr/>
        </p:nvSpPr>
        <p:spPr>
          <a:xfrm>
            <a:off x="4745786" y="9782386"/>
            <a:ext cx="1831781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.</a:t>
            </a:r>
            <a:r>
              <a:rPr lang="en-US" dirty="0" err="1"/>
              <a:t>json</a:t>
            </a:r>
            <a:endParaRPr lang="en-US" dirty="0"/>
          </a:p>
        </p:txBody>
      </p:sp>
      <p:cxnSp>
        <p:nvCxnSpPr>
          <p:cNvPr id="927" name="Straight Arrow Connector 926">
            <a:extLst>
              <a:ext uri="{FF2B5EF4-FFF2-40B4-BE49-F238E27FC236}">
                <a16:creationId xmlns:a16="http://schemas.microsoft.com/office/drawing/2014/main" id="{9A18DEC0-5B20-CA7B-3B9D-CDA840B83ECB}"/>
              </a:ext>
            </a:extLst>
          </p:cNvPr>
          <p:cNvCxnSpPr>
            <a:cxnSpLocks/>
          </p:cNvCxnSpPr>
          <p:nvPr/>
        </p:nvCxnSpPr>
        <p:spPr>
          <a:xfrm>
            <a:off x="6437738" y="9220143"/>
            <a:ext cx="355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8" name="Flowchart: Internal Storage 927">
            <a:extLst>
              <a:ext uri="{FF2B5EF4-FFF2-40B4-BE49-F238E27FC236}">
                <a16:creationId xmlns:a16="http://schemas.microsoft.com/office/drawing/2014/main" id="{B434B8CC-80BF-B139-4E71-8818D707DF95}"/>
              </a:ext>
            </a:extLst>
          </p:cNvPr>
          <p:cNvSpPr/>
          <p:nvPr/>
        </p:nvSpPr>
        <p:spPr>
          <a:xfrm>
            <a:off x="7070339" y="8588772"/>
            <a:ext cx="1472339" cy="1138122"/>
          </a:xfrm>
          <a:prstGeom prst="flowChartInternalStorage">
            <a:avLst/>
          </a:prstGeom>
          <a:noFill/>
          <a:ln w="12700" cap="flat">
            <a:solidFill>
              <a:schemeClr val="tx1">
                <a:lumMod val="50000"/>
              </a:schemeClr>
            </a:solidFill>
            <a:miter lim="400000"/>
          </a:ln>
          <a:effectLst>
            <a:outerShdw blurRad="381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94252386-295F-482C-2B68-748CB4FF3C37}"/>
              </a:ext>
            </a:extLst>
          </p:cNvPr>
          <p:cNvGrpSpPr/>
          <p:nvPr/>
        </p:nvGrpSpPr>
        <p:grpSpPr>
          <a:xfrm>
            <a:off x="7473200" y="8878990"/>
            <a:ext cx="818142" cy="583040"/>
            <a:chOff x="3300333" y="6875181"/>
            <a:chExt cx="2140200" cy="1512332"/>
          </a:xfrm>
        </p:grpSpPr>
        <p:sp>
          <p:nvSpPr>
            <p:cNvPr id="1032" name="TextBox 1031">
              <a:extLst>
                <a:ext uri="{FF2B5EF4-FFF2-40B4-BE49-F238E27FC236}">
                  <a16:creationId xmlns:a16="http://schemas.microsoft.com/office/drawing/2014/main" id="{2141814B-B369-B101-19E4-59436332919C}"/>
                </a:ext>
              </a:extLst>
            </p:cNvPr>
            <p:cNvSpPr txBox="1"/>
            <p:nvPr/>
          </p:nvSpPr>
          <p:spPr>
            <a:xfrm rot="5400000">
              <a:off x="4253091" y="6808046"/>
              <a:ext cx="97008" cy="2312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1" i="0" u="none" strike="noStrike" cap="none" spc="0" normalizeH="0" baseline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033" name="Google Shape;162;p1">
              <a:extLst>
                <a:ext uri="{FF2B5EF4-FFF2-40B4-BE49-F238E27FC236}">
                  <a16:creationId xmlns:a16="http://schemas.microsoft.com/office/drawing/2014/main" id="{8415CC06-0334-6E0E-309D-83F11C9BDECF}"/>
                </a:ext>
              </a:extLst>
            </p:cNvPr>
            <p:cNvSpPr/>
            <p:nvPr/>
          </p:nvSpPr>
          <p:spPr>
            <a:xfrm>
              <a:off x="4841825" y="7060644"/>
              <a:ext cx="192300" cy="198000"/>
            </a:xfrm>
            <a:prstGeom prst="ellipse">
              <a:avLst/>
            </a:prstGeom>
            <a:solidFill>
              <a:srgbClr val="9FC5E8"/>
            </a:solidFill>
            <a:ln w="5715" cap="flat" cmpd="sng">
              <a:solidFill>
                <a:srgbClr val="26262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1034" name="Google Shape;163;p1">
              <a:extLst>
                <a:ext uri="{FF2B5EF4-FFF2-40B4-BE49-F238E27FC236}">
                  <a16:creationId xmlns:a16="http://schemas.microsoft.com/office/drawing/2014/main" id="{32E4339A-7AD7-E8EA-E58E-0135D26C7588}"/>
                </a:ext>
              </a:extLst>
            </p:cNvPr>
            <p:cNvSpPr/>
            <p:nvPr/>
          </p:nvSpPr>
          <p:spPr>
            <a:xfrm>
              <a:off x="5112333" y="7980811"/>
              <a:ext cx="328200" cy="336900"/>
            </a:xfrm>
            <a:prstGeom prst="ellipse">
              <a:avLst/>
            </a:prstGeom>
            <a:solidFill>
              <a:srgbClr val="1155CC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1036" name="Google Shape;164;p1">
              <a:extLst>
                <a:ext uri="{FF2B5EF4-FFF2-40B4-BE49-F238E27FC236}">
                  <a16:creationId xmlns:a16="http://schemas.microsoft.com/office/drawing/2014/main" id="{10A85EB3-7D33-F2C1-A0ED-D4CB42A6D09A}"/>
                </a:ext>
              </a:extLst>
            </p:cNvPr>
            <p:cNvSpPr/>
            <p:nvPr/>
          </p:nvSpPr>
          <p:spPr>
            <a:xfrm>
              <a:off x="4740710" y="8189513"/>
              <a:ext cx="192300" cy="198000"/>
            </a:xfrm>
            <a:prstGeom prst="ellipse">
              <a:avLst/>
            </a:prstGeom>
            <a:solidFill>
              <a:srgbClr val="1155CC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1037" name="Google Shape;165;p1">
              <a:extLst>
                <a:ext uri="{FF2B5EF4-FFF2-40B4-BE49-F238E27FC236}">
                  <a16:creationId xmlns:a16="http://schemas.microsoft.com/office/drawing/2014/main" id="{A4C475B2-2B09-34F7-7648-13C4935B4A61}"/>
                </a:ext>
              </a:extLst>
            </p:cNvPr>
            <p:cNvSpPr/>
            <p:nvPr/>
          </p:nvSpPr>
          <p:spPr>
            <a:xfrm>
              <a:off x="5175393" y="7515529"/>
              <a:ext cx="192300" cy="198000"/>
            </a:xfrm>
            <a:prstGeom prst="ellipse">
              <a:avLst/>
            </a:prstGeom>
            <a:solidFill>
              <a:srgbClr val="9FC5E8"/>
            </a:solidFill>
            <a:ln w="571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1038" name="Google Shape;171;p1">
              <a:extLst>
                <a:ext uri="{FF2B5EF4-FFF2-40B4-BE49-F238E27FC236}">
                  <a16:creationId xmlns:a16="http://schemas.microsoft.com/office/drawing/2014/main" id="{4CA4DE2B-4585-2FF2-2C02-B9E8F92F193D}"/>
                </a:ext>
              </a:extLst>
            </p:cNvPr>
            <p:cNvSpPr/>
            <p:nvPr/>
          </p:nvSpPr>
          <p:spPr>
            <a:xfrm>
              <a:off x="3300333" y="7716417"/>
              <a:ext cx="553500" cy="567900"/>
            </a:xfrm>
            <a:prstGeom prst="ellipse">
              <a:avLst/>
            </a:prstGeom>
            <a:solidFill>
              <a:srgbClr val="FFE599"/>
            </a:solidFill>
            <a:ln w="14224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1115" name="Google Shape;187;p1">
              <a:extLst>
                <a:ext uri="{FF2B5EF4-FFF2-40B4-BE49-F238E27FC236}">
                  <a16:creationId xmlns:a16="http://schemas.microsoft.com/office/drawing/2014/main" id="{3BA4D3B9-172A-1EAC-1F41-47C62457304D}"/>
                </a:ext>
              </a:extLst>
            </p:cNvPr>
            <p:cNvCxnSpPr>
              <a:stCxn id="1116" idx="6"/>
              <a:endCxn id="1033" idx="2"/>
            </p:cNvCxnSpPr>
            <p:nvPr/>
          </p:nvCxnSpPr>
          <p:spPr>
            <a:xfrm rot="10800000" flipH="1">
              <a:off x="4404860" y="7159528"/>
              <a:ext cx="437100" cy="19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116" name="Google Shape;188;p1">
              <a:extLst>
                <a:ext uri="{FF2B5EF4-FFF2-40B4-BE49-F238E27FC236}">
                  <a16:creationId xmlns:a16="http://schemas.microsoft.com/office/drawing/2014/main" id="{386CA9AF-55E4-94E6-C1D6-472FA42F482D}"/>
                </a:ext>
              </a:extLst>
            </p:cNvPr>
            <p:cNvSpPr/>
            <p:nvPr/>
          </p:nvSpPr>
          <p:spPr>
            <a:xfrm>
              <a:off x="4212560" y="7260328"/>
              <a:ext cx="192300" cy="198000"/>
            </a:xfrm>
            <a:prstGeom prst="ellipse">
              <a:avLst/>
            </a:prstGeom>
            <a:solidFill>
              <a:srgbClr val="262626"/>
            </a:solidFill>
            <a:ln w="571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400" tIns="65400" rIns="65400" bIns="6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1"/>
                <a:buFont typeface="Arial"/>
                <a:buNone/>
              </a:pPr>
              <a:endParaRPr sz="1001" b="0" i="0" u="none" strike="noStrike" cap="none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Arial"/>
              </a:endParaRPr>
            </a:p>
          </p:txBody>
        </p:sp>
        <p:cxnSp>
          <p:nvCxnSpPr>
            <p:cNvPr id="1117" name="Google Shape;196;p1">
              <a:extLst>
                <a:ext uri="{FF2B5EF4-FFF2-40B4-BE49-F238E27FC236}">
                  <a16:creationId xmlns:a16="http://schemas.microsoft.com/office/drawing/2014/main" id="{572781E4-758C-63EB-CCA8-B18EB0D49FB1}"/>
                </a:ext>
              </a:extLst>
            </p:cNvPr>
            <p:cNvCxnSpPr>
              <a:stCxn id="1116" idx="5"/>
              <a:endCxn id="1036" idx="1"/>
            </p:cNvCxnSpPr>
            <p:nvPr/>
          </p:nvCxnSpPr>
          <p:spPr>
            <a:xfrm>
              <a:off x="4376698" y="7429332"/>
              <a:ext cx="392100" cy="789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118" name="Google Shape;198;p1">
              <a:extLst>
                <a:ext uri="{FF2B5EF4-FFF2-40B4-BE49-F238E27FC236}">
                  <a16:creationId xmlns:a16="http://schemas.microsoft.com/office/drawing/2014/main" id="{2269E73F-3580-2B8D-4B85-A60ED6274D41}"/>
                </a:ext>
              </a:extLst>
            </p:cNvPr>
            <p:cNvCxnSpPr>
              <a:stCxn id="1116" idx="6"/>
              <a:endCxn id="1037" idx="2"/>
            </p:cNvCxnSpPr>
            <p:nvPr/>
          </p:nvCxnSpPr>
          <p:spPr>
            <a:xfrm>
              <a:off x="4404860" y="7359328"/>
              <a:ext cx="770400" cy="25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119" name="Google Shape;199;p1">
              <a:extLst>
                <a:ext uri="{FF2B5EF4-FFF2-40B4-BE49-F238E27FC236}">
                  <a16:creationId xmlns:a16="http://schemas.microsoft.com/office/drawing/2014/main" id="{87ECBFB6-76FC-B6DB-A495-920A7F8F2E13}"/>
                </a:ext>
              </a:extLst>
            </p:cNvPr>
            <p:cNvCxnSpPr>
              <a:stCxn id="1116" idx="3"/>
              <a:endCxn id="1038" idx="7"/>
            </p:cNvCxnSpPr>
            <p:nvPr/>
          </p:nvCxnSpPr>
          <p:spPr>
            <a:xfrm flipH="1">
              <a:off x="3772722" y="7429332"/>
              <a:ext cx="468000" cy="370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120" name="Google Shape;200;p1">
              <a:extLst>
                <a:ext uri="{FF2B5EF4-FFF2-40B4-BE49-F238E27FC236}">
                  <a16:creationId xmlns:a16="http://schemas.microsoft.com/office/drawing/2014/main" id="{38E6D06A-4985-CD2D-B25D-3A1155B8D93E}"/>
                </a:ext>
              </a:extLst>
            </p:cNvPr>
            <p:cNvCxnSpPr>
              <a:stCxn id="1116" idx="6"/>
              <a:endCxn id="1034" idx="1"/>
            </p:cNvCxnSpPr>
            <p:nvPr/>
          </p:nvCxnSpPr>
          <p:spPr>
            <a:xfrm>
              <a:off x="4404860" y="7359328"/>
              <a:ext cx="755400" cy="670800"/>
            </a:xfrm>
            <a:prstGeom prst="straightConnector1">
              <a:avLst/>
            </a:prstGeom>
            <a:noFill/>
            <a:ln w="179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sp>
        <p:nvSpPr>
          <p:cNvPr id="1121" name="TextBox 1120">
            <a:extLst>
              <a:ext uri="{FF2B5EF4-FFF2-40B4-BE49-F238E27FC236}">
                <a16:creationId xmlns:a16="http://schemas.microsoft.com/office/drawing/2014/main" id="{5C5234CA-376B-FCC6-E655-FEAE55C803E0}"/>
              </a:ext>
            </a:extLst>
          </p:cNvPr>
          <p:cNvSpPr txBox="1"/>
          <p:nvPr/>
        </p:nvSpPr>
        <p:spPr>
          <a:xfrm>
            <a:off x="6892923" y="9740951"/>
            <a:ext cx="1831781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Tetrad GUI</a:t>
            </a:r>
          </a:p>
        </p:txBody>
      </p:sp>
      <p:sp>
        <p:nvSpPr>
          <p:cNvPr id="1122" name="TextBox 1121">
            <a:extLst>
              <a:ext uri="{FF2B5EF4-FFF2-40B4-BE49-F238E27FC236}">
                <a16:creationId xmlns:a16="http://schemas.microsoft.com/office/drawing/2014/main" id="{7824EA88-3756-4780-6BE5-F6460FF169C5}"/>
              </a:ext>
            </a:extLst>
          </p:cNvPr>
          <p:cNvSpPr txBox="1"/>
          <p:nvPr/>
        </p:nvSpPr>
        <p:spPr>
          <a:xfrm>
            <a:off x="7071481" y="8735666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Graph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3" name="TextBox 1122">
            <a:extLst>
              <a:ext uri="{FF2B5EF4-FFF2-40B4-BE49-F238E27FC236}">
                <a16:creationId xmlns:a16="http://schemas.microsoft.com/office/drawing/2014/main" id="{7A706FC3-5699-8A1A-E8DA-FD11EE1FC653}"/>
              </a:ext>
            </a:extLst>
          </p:cNvPr>
          <p:cNvSpPr txBox="1"/>
          <p:nvPr/>
        </p:nvSpPr>
        <p:spPr>
          <a:xfrm>
            <a:off x="7061235" y="8808698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Compare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4" name="TextBox 1123">
            <a:extLst>
              <a:ext uri="{FF2B5EF4-FFF2-40B4-BE49-F238E27FC236}">
                <a16:creationId xmlns:a16="http://schemas.microsoft.com/office/drawing/2014/main" id="{2B342B23-2100-4E27-4DE1-1719DDAC8377}"/>
              </a:ext>
            </a:extLst>
          </p:cNvPr>
          <p:cNvSpPr txBox="1"/>
          <p:nvPr/>
        </p:nvSpPr>
        <p:spPr>
          <a:xfrm>
            <a:off x="7048685" y="8887677"/>
            <a:ext cx="251336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Grid Search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375F7FD7-50B3-EB70-5D93-910196E8561F}"/>
              </a:ext>
            </a:extLst>
          </p:cNvPr>
          <p:cNvSpPr txBox="1"/>
          <p:nvPr/>
        </p:nvSpPr>
        <p:spPr>
          <a:xfrm>
            <a:off x="7046974" y="8955604"/>
            <a:ext cx="303972" cy="197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Parametric Model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7" name="TextBox 1126">
            <a:extLst>
              <a:ext uri="{FF2B5EF4-FFF2-40B4-BE49-F238E27FC236}">
                <a16:creationId xmlns:a16="http://schemas.microsoft.com/office/drawing/2014/main" id="{95DCB8E8-4B1A-1302-F1F3-3623DB2FA4BD}"/>
              </a:ext>
            </a:extLst>
          </p:cNvPr>
          <p:cNvSpPr txBox="1"/>
          <p:nvPr/>
        </p:nvSpPr>
        <p:spPr>
          <a:xfrm>
            <a:off x="7052833" y="9069294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Simulation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8" name="TextBox 1127">
            <a:extLst>
              <a:ext uri="{FF2B5EF4-FFF2-40B4-BE49-F238E27FC236}">
                <a16:creationId xmlns:a16="http://schemas.microsoft.com/office/drawing/2014/main" id="{FFBD0A61-1371-CD59-BB54-BE260571DC47}"/>
              </a:ext>
            </a:extLst>
          </p:cNvPr>
          <p:cNvSpPr txBox="1"/>
          <p:nvPr/>
        </p:nvSpPr>
        <p:spPr>
          <a:xfrm>
            <a:off x="7070339" y="9144108"/>
            <a:ext cx="235741" cy="197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Latent Cluster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29" name="TextBox 1128">
            <a:extLst>
              <a:ext uri="{FF2B5EF4-FFF2-40B4-BE49-F238E27FC236}">
                <a16:creationId xmlns:a16="http://schemas.microsoft.com/office/drawing/2014/main" id="{EF85735C-0D49-9240-E9BA-B17279CC0E2B}"/>
              </a:ext>
            </a:extLst>
          </p:cNvPr>
          <p:cNvSpPr txBox="1"/>
          <p:nvPr/>
        </p:nvSpPr>
        <p:spPr>
          <a:xfrm>
            <a:off x="7063846" y="9240472"/>
            <a:ext cx="260604" cy="197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Latent Structure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0" name="TextBox 1129">
            <a:extLst>
              <a:ext uri="{FF2B5EF4-FFF2-40B4-BE49-F238E27FC236}">
                <a16:creationId xmlns:a16="http://schemas.microsoft.com/office/drawing/2014/main" id="{E031BEB1-DC34-CDDA-5032-DACD3025F862}"/>
              </a:ext>
            </a:extLst>
          </p:cNvPr>
          <p:cNvSpPr txBox="1"/>
          <p:nvPr/>
        </p:nvSpPr>
        <p:spPr>
          <a:xfrm>
            <a:off x="7055007" y="9341517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Knowledge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1" name="TextBox 1130">
            <a:extLst>
              <a:ext uri="{FF2B5EF4-FFF2-40B4-BE49-F238E27FC236}">
                <a16:creationId xmlns:a16="http://schemas.microsoft.com/office/drawing/2014/main" id="{EBDD080B-2543-C693-0C71-B8C57A7ED00B}"/>
              </a:ext>
            </a:extLst>
          </p:cNvPr>
          <p:cNvSpPr txBox="1"/>
          <p:nvPr/>
        </p:nvSpPr>
        <p:spPr>
          <a:xfrm>
            <a:off x="7061235" y="9418166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Updater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2" name="TextBox 1131">
            <a:extLst>
              <a:ext uri="{FF2B5EF4-FFF2-40B4-BE49-F238E27FC236}">
                <a16:creationId xmlns:a16="http://schemas.microsoft.com/office/drawing/2014/main" id="{12617E51-0273-E3FF-7EAD-1772CEBBB196}"/>
              </a:ext>
            </a:extLst>
          </p:cNvPr>
          <p:cNvSpPr txBox="1"/>
          <p:nvPr/>
        </p:nvSpPr>
        <p:spPr>
          <a:xfrm>
            <a:off x="7048685" y="9504932"/>
            <a:ext cx="303972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Regression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3" name="TextBox 1132">
            <a:extLst>
              <a:ext uri="{FF2B5EF4-FFF2-40B4-BE49-F238E27FC236}">
                <a16:creationId xmlns:a16="http://schemas.microsoft.com/office/drawing/2014/main" id="{DB0AD4F7-C90C-17EF-0630-F359E4763947}"/>
              </a:ext>
            </a:extLst>
          </p:cNvPr>
          <p:cNvSpPr txBox="1"/>
          <p:nvPr/>
        </p:nvSpPr>
        <p:spPr>
          <a:xfrm>
            <a:off x="7233495" y="8567085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File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4" name="TextBox 1133">
            <a:extLst>
              <a:ext uri="{FF2B5EF4-FFF2-40B4-BE49-F238E27FC236}">
                <a16:creationId xmlns:a16="http://schemas.microsoft.com/office/drawing/2014/main" id="{20DD9CEC-F9F5-9D78-9C0A-D469E99872FA}"/>
              </a:ext>
            </a:extLst>
          </p:cNvPr>
          <p:cNvSpPr txBox="1"/>
          <p:nvPr/>
        </p:nvSpPr>
        <p:spPr>
          <a:xfrm>
            <a:off x="7303218" y="8569626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Edit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5" name="TextBox 1134">
            <a:extLst>
              <a:ext uri="{FF2B5EF4-FFF2-40B4-BE49-F238E27FC236}">
                <a16:creationId xmlns:a16="http://schemas.microsoft.com/office/drawing/2014/main" id="{F13D2685-1F6A-12B7-1BE4-A8978A6B050F}"/>
              </a:ext>
            </a:extLst>
          </p:cNvPr>
          <p:cNvSpPr txBox="1"/>
          <p:nvPr/>
        </p:nvSpPr>
        <p:spPr>
          <a:xfrm>
            <a:off x="7383126" y="8569473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Logging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6" name="TextBox 1135">
            <a:extLst>
              <a:ext uri="{FF2B5EF4-FFF2-40B4-BE49-F238E27FC236}">
                <a16:creationId xmlns:a16="http://schemas.microsoft.com/office/drawing/2014/main" id="{7BE2B1AD-C7A9-1150-0199-F7374221A566}"/>
              </a:ext>
            </a:extLst>
          </p:cNvPr>
          <p:cNvSpPr txBox="1"/>
          <p:nvPr/>
        </p:nvSpPr>
        <p:spPr>
          <a:xfrm>
            <a:off x="7505552" y="8569922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Pipelines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37" name="TextBox 1136">
            <a:extLst>
              <a:ext uri="{FF2B5EF4-FFF2-40B4-BE49-F238E27FC236}">
                <a16:creationId xmlns:a16="http://schemas.microsoft.com/office/drawing/2014/main" id="{4BCA19C1-EBB4-E40D-BB79-C1BC4C50C611}"/>
              </a:ext>
            </a:extLst>
          </p:cNvPr>
          <p:cNvSpPr txBox="1"/>
          <p:nvPr/>
        </p:nvSpPr>
        <p:spPr>
          <a:xfrm>
            <a:off x="7637493" y="8572676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Window</a:t>
            </a:r>
          </a:p>
        </p:txBody>
      </p:sp>
      <p:sp>
        <p:nvSpPr>
          <p:cNvPr id="1138" name="TextBox 1137">
            <a:extLst>
              <a:ext uri="{FF2B5EF4-FFF2-40B4-BE49-F238E27FC236}">
                <a16:creationId xmlns:a16="http://schemas.microsoft.com/office/drawing/2014/main" id="{D1B5644D-BC88-51BA-86BE-F116A6D75A2C}"/>
              </a:ext>
            </a:extLst>
          </p:cNvPr>
          <p:cNvSpPr txBox="1"/>
          <p:nvPr/>
        </p:nvSpPr>
        <p:spPr>
          <a:xfrm>
            <a:off x="7754912" y="8572676"/>
            <a:ext cx="217093" cy="166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" dirty="0"/>
              <a:t>Help</a:t>
            </a:r>
            <a:endParaRPr kumimoji="0" lang="en-US" sz="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1150" name="Group 1149">
            <a:extLst>
              <a:ext uri="{FF2B5EF4-FFF2-40B4-BE49-F238E27FC236}">
                <a16:creationId xmlns:a16="http://schemas.microsoft.com/office/drawing/2014/main" id="{64D84E9C-BB38-BBCF-4179-14703F9769FC}"/>
              </a:ext>
            </a:extLst>
          </p:cNvPr>
          <p:cNvGrpSpPr/>
          <p:nvPr/>
        </p:nvGrpSpPr>
        <p:grpSpPr>
          <a:xfrm>
            <a:off x="1195787" y="7283830"/>
            <a:ext cx="358133" cy="449780"/>
            <a:chOff x="3801693" y="7065060"/>
            <a:chExt cx="465922" cy="575948"/>
          </a:xfrm>
        </p:grpSpPr>
        <p:sp>
          <p:nvSpPr>
            <p:cNvPr id="1151" name="Flowchart: Internal Storage 1150">
              <a:extLst>
                <a:ext uri="{FF2B5EF4-FFF2-40B4-BE49-F238E27FC236}">
                  <a16:creationId xmlns:a16="http://schemas.microsoft.com/office/drawing/2014/main" id="{B45F9938-0975-0D79-CBD9-58322A728220}"/>
                </a:ext>
              </a:extLst>
            </p:cNvPr>
            <p:cNvSpPr/>
            <p:nvPr/>
          </p:nvSpPr>
          <p:spPr>
            <a:xfrm>
              <a:off x="3824554" y="7065060"/>
              <a:ext cx="443061" cy="575948"/>
            </a:xfrm>
            <a:prstGeom prst="flowChartInternalStorage">
              <a:avLst/>
            </a:prstGeom>
            <a:noFill/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152" name="TextBox 1151">
              <a:extLst>
                <a:ext uri="{FF2B5EF4-FFF2-40B4-BE49-F238E27FC236}">
                  <a16:creationId xmlns:a16="http://schemas.microsoft.com/office/drawing/2014/main" id="{138DD4C7-9D55-3EBE-A5F5-FE3CB034B652}"/>
                </a:ext>
              </a:extLst>
            </p:cNvPr>
            <p:cNvSpPr txBox="1"/>
            <p:nvPr/>
          </p:nvSpPr>
          <p:spPr>
            <a:xfrm>
              <a:off x="3801693" y="7065060"/>
              <a:ext cx="45719" cy="289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1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  <a:endPara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153" name="TextBox 1152">
              <a:extLst>
                <a:ext uri="{FF2B5EF4-FFF2-40B4-BE49-F238E27FC236}">
                  <a16:creationId xmlns:a16="http://schemas.microsoft.com/office/drawing/2014/main" id="{CB63947B-AB84-7642-4C2F-C3CAE65537E4}"/>
                </a:ext>
              </a:extLst>
            </p:cNvPr>
            <p:cNvSpPr txBox="1"/>
            <p:nvPr/>
          </p:nvSpPr>
          <p:spPr>
            <a:xfrm>
              <a:off x="3801693" y="7191227"/>
              <a:ext cx="45719" cy="289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1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  <a:endPara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154" name="TextBox 1153">
              <a:extLst>
                <a:ext uri="{FF2B5EF4-FFF2-40B4-BE49-F238E27FC236}">
                  <a16:creationId xmlns:a16="http://schemas.microsoft.com/office/drawing/2014/main" id="{1754DFEF-E6E1-CD94-C62D-3A2D080420C5}"/>
                </a:ext>
              </a:extLst>
            </p:cNvPr>
            <p:cNvSpPr txBox="1"/>
            <p:nvPr/>
          </p:nvSpPr>
          <p:spPr>
            <a:xfrm>
              <a:off x="3801693" y="7336099"/>
              <a:ext cx="45719" cy="289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1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  <a:endParaRPr kumimoji="0" lang="en-US" sz="12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cxnSp>
          <p:nvCxnSpPr>
            <p:cNvPr id="1155" name="Straight Connector 1154">
              <a:extLst>
                <a:ext uri="{FF2B5EF4-FFF2-40B4-BE49-F238E27FC236}">
                  <a16:creationId xmlns:a16="http://schemas.microsoft.com/office/drawing/2014/main" id="{DBB67E2E-E680-DF37-617D-65DD9A2A5432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197601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6" name="Straight Connector 1155">
              <a:extLst>
                <a:ext uri="{FF2B5EF4-FFF2-40B4-BE49-F238E27FC236}">
                  <a16:creationId xmlns:a16="http://schemas.microsoft.com/office/drawing/2014/main" id="{D8F1C379-EFD6-2F62-75D5-5FD2B6D95E6C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269790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7" name="Straight Connector 1156">
              <a:extLst>
                <a:ext uri="{FF2B5EF4-FFF2-40B4-BE49-F238E27FC236}">
                  <a16:creationId xmlns:a16="http://schemas.microsoft.com/office/drawing/2014/main" id="{F36E2BCD-7CD4-4654-8CEF-20C483F775BF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344697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8" name="Straight Connector 1157">
              <a:extLst>
                <a:ext uri="{FF2B5EF4-FFF2-40B4-BE49-F238E27FC236}">
                  <a16:creationId xmlns:a16="http://schemas.microsoft.com/office/drawing/2014/main" id="{E798A0B6-13D4-51B7-5A30-35A0CE231F3D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426201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9" name="Straight Connector 1158">
              <a:extLst>
                <a:ext uri="{FF2B5EF4-FFF2-40B4-BE49-F238E27FC236}">
                  <a16:creationId xmlns:a16="http://schemas.microsoft.com/office/drawing/2014/main" id="{EAB60A75-D3DB-974D-D713-FC6FBB60FB94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501852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60" name="Straight Connector 1159">
              <a:extLst>
                <a:ext uri="{FF2B5EF4-FFF2-40B4-BE49-F238E27FC236}">
                  <a16:creationId xmlns:a16="http://schemas.microsoft.com/office/drawing/2014/main" id="{194F87E3-517F-20F9-A478-E0E624647D30}"/>
                </a:ext>
              </a:extLst>
            </p:cNvPr>
            <p:cNvCxnSpPr>
              <a:cxnSpLocks/>
            </p:cNvCxnSpPr>
            <p:nvPr/>
          </p:nvCxnSpPr>
          <p:spPr>
            <a:xfrm>
              <a:off x="3935934" y="7581085"/>
              <a:ext cx="265128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213" name="Group 1212">
            <a:extLst>
              <a:ext uri="{FF2B5EF4-FFF2-40B4-BE49-F238E27FC236}">
                <a16:creationId xmlns:a16="http://schemas.microsoft.com/office/drawing/2014/main" id="{5898DEB4-2ECE-B6C4-782E-D996288D43F9}"/>
              </a:ext>
            </a:extLst>
          </p:cNvPr>
          <p:cNvGrpSpPr/>
          <p:nvPr/>
        </p:nvGrpSpPr>
        <p:grpSpPr>
          <a:xfrm>
            <a:off x="2661632" y="7915578"/>
            <a:ext cx="1625672" cy="724346"/>
            <a:chOff x="4898186" y="8463563"/>
            <a:chExt cx="3978918" cy="1588036"/>
          </a:xfrm>
        </p:grpSpPr>
        <p:sp>
          <p:nvSpPr>
            <p:cNvPr id="1165" name="Folded Corner 5">
              <a:extLst>
                <a:ext uri="{FF2B5EF4-FFF2-40B4-BE49-F238E27FC236}">
                  <a16:creationId xmlns:a16="http://schemas.microsoft.com/office/drawing/2014/main" id="{F439BAE2-ECA5-ABB7-196C-14FCB77EA3C6}"/>
                </a:ext>
              </a:extLst>
            </p:cNvPr>
            <p:cNvSpPr/>
            <p:nvPr/>
          </p:nvSpPr>
          <p:spPr>
            <a:xfrm rot="10800000" flipH="1">
              <a:off x="5352204" y="8474861"/>
              <a:ext cx="944261" cy="1140881"/>
            </a:xfrm>
            <a:prstGeom prst="foldedCorner">
              <a:avLst>
                <a:gd name="adj" fmla="val 29505"/>
              </a:avLst>
            </a:prstGeom>
            <a:solidFill>
              <a:schemeClr val="bg1"/>
            </a:solidFill>
            <a:ln w="6350" cap="flat">
              <a:solidFill>
                <a:schemeClr val="bg2">
                  <a:lumMod val="1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="horz" wrap="square" lIns="54570" tIns="54570" rIns="54570" bIns="54570" numCol="1" spcCol="38100" rtlCol="0" anchor="ctr">
              <a:sp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1pPr>
              <a:lvl2pPr marL="0" marR="0" indent="2286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2pPr>
              <a:lvl3pPr marL="0" marR="0" indent="4572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3pPr>
              <a:lvl4pPr marL="0" marR="0" indent="6858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4pPr>
              <a:lvl5pPr marL="0" marR="0" indent="9144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5pPr>
              <a:lvl6pPr marL="0" marR="0" indent="11430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6pPr>
              <a:lvl7pPr marL="0" marR="0" indent="13716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7pPr>
              <a:lvl8pPr marL="0" marR="0" indent="16002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8pPr>
              <a:lvl9pPr marL="0" marR="0" indent="182880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defRPr>
              </a:lvl9pPr>
            </a:lstStyle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grpSp>
          <p:nvGrpSpPr>
            <p:cNvPr id="1166" name="Group 1165">
              <a:extLst>
                <a:ext uri="{FF2B5EF4-FFF2-40B4-BE49-F238E27FC236}">
                  <a16:creationId xmlns:a16="http://schemas.microsoft.com/office/drawing/2014/main" id="{EA18D094-C13A-CE31-1B4A-9D562041F085}"/>
                </a:ext>
              </a:extLst>
            </p:cNvPr>
            <p:cNvGrpSpPr/>
            <p:nvPr/>
          </p:nvGrpSpPr>
          <p:grpSpPr>
            <a:xfrm>
              <a:off x="5432008" y="8733825"/>
              <a:ext cx="818142" cy="583040"/>
              <a:chOff x="3300333" y="6875181"/>
              <a:chExt cx="2140200" cy="1512332"/>
            </a:xfrm>
          </p:grpSpPr>
          <p:sp>
            <p:nvSpPr>
              <p:cNvPr id="1167" name="TextBox 1166">
                <a:extLst>
                  <a:ext uri="{FF2B5EF4-FFF2-40B4-BE49-F238E27FC236}">
                    <a16:creationId xmlns:a16="http://schemas.microsoft.com/office/drawing/2014/main" id="{8DCBFCD3-81E3-2DD2-D547-18132C2D257B}"/>
                  </a:ext>
                </a:extLst>
              </p:cNvPr>
              <p:cNvSpPr txBox="1"/>
              <p:nvPr/>
            </p:nvSpPr>
            <p:spPr>
              <a:xfrm rot="5400000">
                <a:off x="4253091" y="6808046"/>
                <a:ext cx="97008" cy="2312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1168" name="Google Shape;162;p1">
                <a:extLst>
                  <a:ext uri="{FF2B5EF4-FFF2-40B4-BE49-F238E27FC236}">
                    <a16:creationId xmlns:a16="http://schemas.microsoft.com/office/drawing/2014/main" id="{A8C0BF98-4FCC-4173-CBC3-4CE1FD7B76C4}"/>
                  </a:ext>
                </a:extLst>
              </p:cNvPr>
              <p:cNvSpPr/>
              <p:nvPr/>
            </p:nvSpPr>
            <p:spPr>
              <a:xfrm>
                <a:off x="4841825" y="7060644"/>
                <a:ext cx="192300" cy="198000"/>
              </a:xfrm>
              <a:prstGeom prst="ellipse">
                <a:avLst/>
              </a:prstGeom>
              <a:solidFill>
                <a:srgbClr val="9FC5E8"/>
              </a:solidFill>
              <a:ln w="5715" cap="flat" cmpd="sng">
                <a:solidFill>
                  <a:srgbClr val="26262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69" name="Google Shape;163;p1">
                <a:extLst>
                  <a:ext uri="{FF2B5EF4-FFF2-40B4-BE49-F238E27FC236}">
                    <a16:creationId xmlns:a16="http://schemas.microsoft.com/office/drawing/2014/main" id="{8CA721DD-8F20-F0DB-4AB6-7260E92741DF}"/>
                  </a:ext>
                </a:extLst>
              </p:cNvPr>
              <p:cNvSpPr/>
              <p:nvPr/>
            </p:nvSpPr>
            <p:spPr>
              <a:xfrm>
                <a:off x="5112333" y="7980811"/>
                <a:ext cx="328200" cy="336900"/>
              </a:xfrm>
              <a:prstGeom prst="ellipse">
                <a:avLst/>
              </a:prstGeom>
              <a:solidFill>
                <a:srgbClr val="1155CC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70" name="Google Shape;164;p1">
                <a:extLst>
                  <a:ext uri="{FF2B5EF4-FFF2-40B4-BE49-F238E27FC236}">
                    <a16:creationId xmlns:a16="http://schemas.microsoft.com/office/drawing/2014/main" id="{E800544C-8424-B0F8-CD97-24158E0870A4}"/>
                  </a:ext>
                </a:extLst>
              </p:cNvPr>
              <p:cNvSpPr/>
              <p:nvPr/>
            </p:nvSpPr>
            <p:spPr>
              <a:xfrm>
                <a:off x="4740710" y="8189513"/>
                <a:ext cx="192300" cy="198000"/>
              </a:xfrm>
              <a:prstGeom prst="ellipse">
                <a:avLst/>
              </a:prstGeom>
              <a:solidFill>
                <a:srgbClr val="1155CC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71" name="Google Shape;165;p1">
                <a:extLst>
                  <a:ext uri="{FF2B5EF4-FFF2-40B4-BE49-F238E27FC236}">
                    <a16:creationId xmlns:a16="http://schemas.microsoft.com/office/drawing/2014/main" id="{2BB7632F-D2A4-4AD6-61C6-FA59196AE305}"/>
                  </a:ext>
                </a:extLst>
              </p:cNvPr>
              <p:cNvSpPr/>
              <p:nvPr/>
            </p:nvSpPr>
            <p:spPr>
              <a:xfrm>
                <a:off x="5175393" y="7515529"/>
                <a:ext cx="192300" cy="198000"/>
              </a:xfrm>
              <a:prstGeom prst="ellipse">
                <a:avLst/>
              </a:prstGeom>
              <a:solidFill>
                <a:srgbClr val="9FC5E8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 dirty="0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72" name="Google Shape;171;p1">
                <a:extLst>
                  <a:ext uri="{FF2B5EF4-FFF2-40B4-BE49-F238E27FC236}">
                    <a16:creationId xmlns:a16="http://schemas.microsoft.com/office/drawing/2014/main" id="{00092B25-0B80-F0A4-DFD3-E83FA71D2BF7}"/>
                  </a:ext>
                </a:extLst>
              </p:cNvPr>
              <p:cNvSpPr/>
              <p:nvPr/>
            </p:nvSpPr>
            <p:spPr>
              <a:xfrm>
                <a:off x="3300333" y="7716417"/>
                <a:ext cx="553500" cy="567900"/>
              </a:xfrm>
              <a:prstGeom prst="ellipse">
                <a:avLst/>
              </a:prstGeom>
              <a:solidFill>
                <a:srgbClr val="FFE599"/>
              </a:solidFill>
              <a:ln w="14224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 dirty="0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cxnSp>
            <p:nvCxnSpPr>
              <p:cNvPr id="1173" name="Google Shape;187;p1">
                <a:extLst>
                  <a:ext uri="{FF2B5EF4-FFF2-40B4-BE49-F238E27FC236}">
                    <a16:creationId xmlns:a16="http://schemas.microsoft.com/office/drawing/2014/main" id="{698493E0-C68E-3FD2-188F-8A2F6AEDE727}"/>
                  </a:ext>
                </a:extLst>
              </p:cNvPr>
              <p:cNvCxnSpPr>
                <a:cxnSpLocks/>
                <a:stCxn id="1174" idx="6"/>
                <a:endCxn id="1168" idx="2"/>
              </p:cNvCxnSpPr>
              <p:nvPr/>
            </p:nvCxnSpPr>
            <p:spPr>
              <a:xfrm rot="10800000" flipH="1">
                <a:off x="4404860" y="7159528"/>
                <a:ext cx="437100" cy="19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1174" name="Google Shape;188;p1">
                <a:extLst>
                  <a:ext uri="{FF2B5EF4-FFF2-40B4-BE49-F238E27FC236}">
                    <a16:creationId xmlns:a16="http://schemas.microsoft.com/office/drawing/2014/main" id="{EF82E5C6-AB89-60FE-F92E-D4F955FE6BD4}"/>
                  </a:ext>
                </a:extLst>
              </p:cNvPr>
              <p:cNvSpPr/>
              <p:nvPr/>
            </p:nvSpPr>
            <p:spPr>
              <a:xfrm>
                <a:off x="4212560" y="7260328"/>
                <a:ext cx="192300" cy="198000"/>
              </a:xfrm>
              <a:prstGeom prst="ellipse">
                <a:avLst/>
              </a:prstGeom>
              <a:solidFill>
                <a:srgbClr val="262626"/>
              </a:solidFill>
              <a:ln w="571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cxnSp>
            <p:nvCxnSpPr>
              <p:cNvPr id="1175" name="Google Shape;196;p1">
                <a:extLst>
                  <a:ext uri="{FF2B5EF4-FFF2-40B4-BE49-F238E27FC236}">
                    <a16:creationId xmlns:a16="http://schemas.microsoft.com/office/drawing/2014/main" id="{AE603436-BA56-A43F-FD77-3ED6B333ACFD}"/>
                  </a:ext>
                </a:extLst>
              </p:cNvPr>
              <p:cNvCxnSpPr>
                <a:cxnSpLocks/>
                <a:stCxn id="1174" idx="5"/>
                <a:endCxn id="1170" idx="1"/>
              </p:cNvCxnSpPr>
              <p:nvPr/>
            </p:nvCxnSpPr>
            <p:spPr>
              <a:xfrm>
                <a:off x="4376698" y="7429332"/>
                <a:ext cx="392100" cy="78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76" name="Google Shape;198;p1">
                <a:extLst>
                  <a:ext uri="{FF2B5EF4-FFF2-40B4-BE49-F238E27FC236}">
                    <a16:creationId xmlns:a16="http://schemas.microsoft.com/office/drawing/2014/main" id="{2B801B53-8908-F300-69B5-83E2C253F5BF}"/>
                  </a:ext>
                </a:extLst>
              </p:cNvPr>
              <p:cNvCxnSpPr>
                <a:cxnSpLocks/>
                <a:stCxn id="1174" idx="6"/>
                <a:endCxn id="1171" idx="2"/>
              </p:cNvCxnSpPr>
              <p:nvPr/>
            </p:nvCxnSpPr>
            <p:spPr>
              <a:xfrm>
                <a:off x="4404860" y="7359328"/>
                <a:ext cx="770400" cy="255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77" name="Google Shape;199;p1">
                <a:extLst>
                  <a:ext uri="{FF2B5EF4-FFF2-40B4-BE49-F238E27FC236}">
                    <a16:creationId xmlns:a16="http://schemas.microsoft.com/office/drawing/2014/main" id="{7B843A58-D61B-F615-2B26-A0DC31637C7D}"/>
                  </a:ext>
                </a:extLst>
              </p:cNvPr>
              <p:cNvCxnSpPr>
                <a:cxnSpLocks/>
                <a:stCxn id="1174" idx="3"/>
                <a:endCxn id="1172" idx="7"/>
              </p:cNvCxnSpPr>
              <p:nvPr/>
            </p:nvCxnSpPr>
            <p:spPr>
              <a:xfrm flipH="1">
                <a:off x="3772722" y="7429332"/>
                <a:ext cx="468000" cy="370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78" name="Google Shape;200;p1">
                <a:extLst>
                  <a:ext uri="{FF2B5EF4-FFF2-40B4-BE49-F238E27FC236}">
                    <a16:creationId xmlns:a16="http://schemas.microsoft.com/office/drawing/2014/main" id="{EF883E5A-672A-9E84-3E1F-9360EF19B821}"/>
                  </a:ext>
                </a:extLst>
              </p:cNvPr>
              <p:cNvCxnSpPr>
                <a:cxnSpLocks/>
                <a:stCxn id="1174" idx="6"/>
                <a:endCxn id="1169" idx="1"/>
              </p:cNvCxnSpPr>
              <p:nvPr/>
            </p:nvCxnSpPr>
            <p:spPr>
              <a:xfrm>
                <a:off x="4404860" y="7359328"/>
                <a:ext cx="755400" cy="670800"/>
              </a:xfrm>
              <a:prstGeom prst="straightConnector1">
                <a:avLst/>
              </a:prstGeom>
              <a:noFill/>
              <a:ln w="179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1179" name="TextBox 1178">
              <a:extLst>
                <a:ext uri="{FF2B5EF4-FFF2-40B4-BE49-F238E27FC236}">
                  <a16:creationId xmlns:a16="http://schemas.microsoft.com/office/drawing/2014/main" id="{EC7C6EFE-6D47-F64F-62D4-972BC68E6550}"/>
                </a:ext>
              </a:extLst>
            </p:cNvPr>
            <p:cNvSpPr txBox="1"/>
            <p:nvPr/>
          </p:nvSpPr>
          <p:spPr>
            <a:xfrm>
              <a:off x="4898186" y="9385556"/>
              <a:ext cx="1831780" cy="6556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000" dirty="0"/>
                <a:t>.</a:t>
              </a:r>
              <a:r>
                <a:rPr lang="en-US" sz="700" dirty="0" err="1"/>
                <a:t>json</a:t>
              </a:r>
              <a:endParaRPr lang="en-US" sz="1000" dirty="0"/>
            </a:p>
          </p:txBody>
        </p:sp>
        <p:sp>
          <p:nvSpPr>
            <p:cNvPr id="1181" name="Flowchart: Internal Storage 1180">
              <a:extLst>
                <a:ext uri="{FF2B5EF4-FFF2-40B4-BE49-F238E27FC236}">
                  <a16:creationId xmlns:a16="http://schemas.microsoft.com/office/drawing/2014/main" id="{5D1E7BE1-6020-0FEE-841B-101E13745873}"/>
                </a:ext>
              </a:extLst>
            </p:cNvPr>
            <p:cNvSpPr/>
            <p:nvPr/>
          </p:nvSpPr>
          <p:spPr>
            <a:xfrm>
              <a:off x="7222739" y="8463563"/>
              <a:ext cx="1472339" cy="1138122"/>
            </a:xfrm>
            <a:prstGeom prst="flowChartInternalStorage">
              <a:avLst/>
            </a:prstGeom>
            <a:noFill/>
            <a:ln w="12700" cap="flat">
              <a:solidFill>
                <a:schemeClr val="tx1">
                  <a:lumMod val="50000"/>
                </a:schemeClr>
              </a:solidFill>
              <a:miter lim="400000"/>
            </a:ln>
            <a:effectLst>
              <a:outerShdw blurRad="38100" dist="25400" dir="5400000" rotWithShape="0">
                <a:schemeClr val="bg1">
                  <a:alpha val="50000"/>
                </a:scheme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grpSp>
          <p:nvGrpSpPr>
            <p:cNvPr id="1182" name="Group 1181">
              <a:extLst>
                <a:ext uri="{FF2B5EF4-FFF2-40B4-BE49-F238E27FC236}">
                  <a16:creationId xmlns:a16="http://schemas.microsoft.com/office/drawing/2014/main" id="{566BEE9E-E5DB-A382-D4D8-EF1BCAA625A0}"/>
                </a:ext>
              </a:extLst>
            </p:cNvPr>
            <p:cNvGrpSpPr/>
            <p:nvPr/>
          </p:nvGrpSpPr>
          <p:grpSpPr>
            <a:xfrm>
              <a:off x="7625600" y="8753781"/>
              <a:ext cx="818142" cy="583040"/>
              <a:chOff x="3300333" y="6875181"/>
              <a:chExt cx="2140200" cy="1512332"/>
            </a:xfrm>
          </p:grpSpPr>
          <p:sp>
            <p:nvSpPr>
              <p:cNvPr id="1183" name="TextBox 1182">
                <a:extLst>
                  <a:ext uri="{FF2B5EF4-FFF2-40B4-BE49-F238E27FC236}">
                    <a16:creationId xmlns:a16="http://schemas.microsoft.com/office/drawing/2014/main" id="{E50E0B4B-C958-ED73-C975-E98F8686D9AA}"/>
                  </a:ext>
                </a:extLst>
              </p:cNvPr>
              <p:cNvSpPr txBox="1"/>
              <p:nvPr/>
            </p:nvSpPr>
            <p:spPr>
              <a:xfrm rot="5400000">
                <a:off x="4253091" y="6808046"/>
                <a:ext cx="97008" cy="2312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200" b="1" i="0" u="none" strike="noStrike" cap="none" spc="0" normalizeH="0" baseline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1184" name="Google Shape;162;p1">
                <a:extLst>
                  <a:ext uri="{FF2B5EF4-FFF2-40B4-BE49-F238E27FC236}">
                    <a16:creationId xmlns:a16="http://schemas.microsoft.com/office/drawing/2014/main" id="{060AB68B-C69A-9BCD-D817-6DAE52BE5D48}"/>
                  </a:ext>
                </a:extLst>
              </p:cNvPr>
              <p:cNvSpPr/>
              <p:nvPr/>
            </p:nvSpPr>
            <p:spPr>
              <a:xfrm>
                <a:off x="4841825" y="7060644"/>
                <a:ext cx="192300" cy="198000"/>
              </a:xfrm>
              <a:prstGeom prst="ellipse">
                <a:avLst/>
              </a:prstGeom>
              <a:solidFill>
                <a:srgbClr val="9FC5E8"/>
              </a:solidFill>
              <a:ln w="5715" cap="flat" cmpd="sng">
                <a:solidFill>
                  <a:srgbClr val="26262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85" name="Google Shape;163;p1">
                <a:extLst>
                  <a:ext uri="{FF2B5EF4-FFF2-40B4-BE49-F238E27FC236}">
                    <a16:creationId xmlns:a16="http://schemas.microsoft.com/office/drawing/2014/main" id="{70C16D57-7D18-A119-1F41-486602BA255B}"/>
                  </a:ext>
                </a:extLst>
              </p:cNvPr>
              <p:cNvSpPr/>
              <p:nvPr/>
            </p:nvSpPr>
            <p:spPr>
              <a:xfrm>
                <a:off x="5112333" y="7980811"/>
                <a:ext cx="328200" cy="336900"/>
              </a:xfrm>
              <a:prstGeom prst="ellipse">
                <a:avLst/>
              </a:prstGeom>
              <a:solidFill>
                <a:srgbClr val="1155CC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86" name="Google Shape;164;p1">
                <a:extLst>
                  <a:ext uri="{FF2B5EF4-FFF2-40B4-BE49-F238E27FC236}">
                    <a16:creationId xmlns:a16="http://schemas.microsoft.com/office/drawing/2014/main" id="{FBC41F07-9E62-8D2F-B9E0-293A4E15C80F}"/>
                  </a:ext>
                </a:extLst>
              </p:cNvPr>
              <p:cNvSpPr/>
              <p:nvPr/>
            </p:nvSpPr>
            <p:spPr>
              <a:xfrm>
                <a:off x="4740710" y="8189513"/>
                <a:ext cx="192300" cy="198000"/>
              </a:xfrm>
              <a:prstGeom prst="ellipse">
                <a:avLst/>
              </a:prstGeom>
              <a:solidFill>
                <a:srgbClr val="1155CC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87" name="Google Shape;165;p1">
                <a:extLst>
                  <a:ext uri="{FF2B5EF4-FFF2-40B4-BE49-F238E27FC236}">
                    <a16:creationId xmlns:a16="http://schemas.microsoft.com/office/drawing/2014/main" id="{9A9B9277-6946-EF6D-4564-FE502B2CDEC1}"/>
                  </a:ext>
                </a:extLst>
              </p:cNvPr>
              <p:cNvSpPr/>
              <p:nvPr/>
            </p:nvSpPr>
            <p:spPr>
              <a:xfrm>
                <a:off x="5175393" y="7515529"/>
                <a:ext cx="192300" cy="198000"/>
              </a:xfrm>
              <a:prstGeom prst="ellipse">
                <a:avLst/>
              </a:prstGeom>
              <a:solidFill>
                <a:srgbClr val="9FC5E8"/>
              </a:solidFill>
              <a:ln w="571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 dirty="0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sp>
            <p:nvSpPr>
              <p:cNvPr id="1188" name="Google Shape;171;p1">
                <a:extLst>
                  <a:ext uri="{FF2B5EF4-FFF2-40B4-BE49-F238E27FC236}">
                    <a16:creationId xmlns:a16="http://schemas.microsoft.com/office/drawing/2014/main" id="{18F94A82-1DAE-43A4-1D8B-36E16CB2CCA8}"/>
                  </a:ext>
                </a:extLst>
              </p:cNvPr>
              <p:cNvSpPr/>
              <p:nvPr/>
            </p:nvSpPr>
            <p:spPr>
              <a:xfrm>
                <a:off x="3300333" y="7716417"/>
                <a:ext cx="553500" cy="567900"/>
              </a:xfrm>
              <a:prstGeom prst="ellipse">
                <a:avLst/>
              </a:prstGeom>
              <a:solidFill>
                <a:srgbClr val="FFE599"/>
              </a:solidFill>
              <a:ln w="14224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 dirty="0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cxnSp>
            <p:nvCxnSpPr>
              <p:cNvPr id="1189" name="Google Shape;187;p1">
                <a:extLst>
                  <a:ext uri="{FF2B5EF4-FFF2-40B4-BE49-F238E27FC236}">
                    <a16:creationId xmlns:a16="http://schemas.microsoft.com/office/drawing/2014/main" id="{B9FE082B-B4DB-1921-4080-EA4F066F4E56}"/>
                  </a:ext>
                </a:extLst>
              </p:cNvPr>
              <p:cNvCxnSpPr>
                <a:cxnSpLocks/>
                <a:stCxn id="1190" idx="6"/>
                <a:endCxn id="1184" idx="2"/>
              </p:cNvCxnSpPr>
              <p:nvPr/>
            </p:nvCxnSpPr>
            <p:spPr>
              <a:xfrm rot="10800000" flipH="1">
                <a:off x="4404860" y="7159528"/>
                <a:ext cx="437100" cy="19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1190" name="Google Shape;188;p1">
                <a:extLst>
                  <a:ext uri="{FF2B5EF4-FFF2-40B4-BE49-F238E27FC236}">
                    <a16:creationId xmlns:a16="http://schemas.microsoft.com/office/drawing/2014/main" id="{E82E02AB-E4B1-BB68-8A70-8794123ABC18}"/>
                  </a:ext>
                </a:extLst>
              </p:cNvPr>
              <p:cNvSpPr/>
              <p:nvPr/>
            </p:nvSpPr>
            <p:spPr>
              <a:xfrm>
                <a:off x="4212560" y="7260328"/>
                <a:ext cx="192300" cy="198000"/>
              </a:xfrm>
              <a:prstGeom prst="ellipse">
                <a:avLst/>
              </a:prstGeom>
              <a:solidFill>
                <a:srgbClr val="262626"/>
              </a:solidFill>
              <a:ln w="571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5400" tIns="65400" rIns="65400" bIns="6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1"/>
                  <a:buFont typeface="Arial"/>
                  <a:buNone/>
                </a:pPr>
                <a:endParaRPr sz="1001" b="0" i="0" u="none" strike="noStrike" cap="none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Arial"/>
                </a:endParaRPr>
              </a:p>
            </p:txBody>
          </p:sp>
          <p:cxnSp>
            <p:nvCxnSpPr>
              <p:cNvPr id="1191" name="Google Shape;196;p1">
                <a:extLst>
                  <a:ext uri="{FF2B5EF4-FFF2-40B4-BE49-F238E27FC236}">
                    <a16:creationId xmlns:a16="http://schemas.microsoft.com/office/drawing/2014/main" id="{A5533D02-2697-83AF-4B9C-C2B6D5422C25}"/>
                  </a:ext>
                </a:extLst>
              </p:cNvPr>
              <p:cNvCxnSpPr>
                <a:cxnSpLocks/>
                <a:stCxn id="1190" idx="5"/>
                <a:endCxn id="1186" idx="1"/>
              </p:cNvCxnSpPr>
              <p:nvPr/>
            </p:nvCxnSpPr>
            <p:spPr>
              <a:xfrm>
                <a:off x="4376698" y="7429332"/>
                <a:ext cx="392100" cy="78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92" name="Google Shape;198;p1">
                <a:extLst>
                  <a:ext uri="{FF2B5EF4-FFF2-40B4-BE49-F238E27FC236}">
                    <a16:creationId xmlns:a16="http://schemas.microsoft.com/office/drawing/2014/main" id="{5663AC1C-4A6D-FE6F-2784-8D9A755708E6}"/>
                  </a:ext>
                </a:extLst>
              </p:cNvPr>
              <p:cNvCxnSpPr>
                <a:cxnSpLocks/>
                <a:stCxn id="1190" idx="6"/>
                <a:endCxn id="1187" idx="2"/>
              </p:cNvCxnSpPr>
              <p:nvPr/>
            </p:nvCxnSpPr>
            <p:spPr>
              <a:xfrm>
                <a:off x="4404860" y="7359328"/>
                <a:ext cx="770400" cy="255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93" name="Google Shape;199;p1">
                <a:extLst>
                  <a:ext uri="{FF2B5EF4-FFF2-40B4-BE49-F238E27FC236}">
                    <a16:creationId xmlns:a16="http://schemas.microsoft.com/office/drawing/2014/main" id="{03623C69-A462-DD03-9399-CB674EE15198}"/>
                  </a:ext>
                </a:extLst>
              </p:cNvPr>
              <p:cNvCxnSpPr>
                <a:cxnSpLocks/>
                <a:stCxn id="1190" idx="3"/>
                <a:endCxn id="1188" idx="7"/>
              </p:cNvCxnSpPr>
              <p:nvPr/>
            </p:nvCxnSpPr>
            <p:spPr>
              <a:xfrm flipH="1">
                <a:off x="3772722" y="7429332"/>
                <a:ext cx="468000" cy="370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1194" name="Google Shape;200;p1">
                <a:extLst>
                  <a:ext uri="{FF2B5EF4-FFF2-40B4-BE49-F238E27FC236}">
                    <a16:creationId xmlns:a16="http://schemas.microsoft.com/office/drawing/2014/main" id="{B6ED8837-9C93-ED53-226B-7AF1F83B1CD0}"/>
                  </a:ext>
                </a:extLst>
              </p:cNvPr>
              <p:cNvCxnSpPr>
                <a:cxnSpLocks/>
                <a:stCxn id="1190" idx="6"/>
                <a:endCxn id="1185" idx="1"/>
              </p:cNvCxnSpPr>
              <p:nvPr/>
            </p:nvCxnSpPr>
            <p:spPr>
              <a:xfrm>
                <a:off x="4404860" y="7359328"/>
                <a:ext cx="755400" cy="670800"/>
              </a:xfrm>
              <a:prstGeom prst="straightConnector1">
                <a:avLst/>
              </a:prstGeom>
              <a:noFill/>
              <a:ln w="179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1195" name="TextBox 1194">
              <a:extLst>
                <a:ext uri="{FF2B5EF4-FFF2-40B4-BE49-F238E27FC236}">
                  <a16:creationId xmlns:a16="http://schemas.microsoft.com/office/drawing/2014/main" id="{37830246-355B-5921-2970-CF168AE2369C}"/>
                </a:ext>
              </a:extLst>
            </p:cNvPr>
            <p:cNvSpPr txBox="1"/>
            <p:nvPr/>
          </p:nvSpPr>
          <p:spPr>
            <a:xfrm>
              <a:off x="7045323" y="9500399"/>
              <a:ext cx="1831781" cy="551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700" dirty="0"/>
                <a:t>Tetrad GUI</a:t>
              </a:r>
            </a:p>
          </p:txBody>
        </p:sp>
      </p:grpSp>
      <p:cxnSp>
        <p:nvCxnSpPr>
          <p:cNvPr id="1220" name="Straight Arrow Connector 1219">
            <a:extLst>
              <a:ext uri="{FF2B5EF4-FFF2-40B4-BE49-F238E27FC236}">
                <a16:creationId xmlns:a16="http://schemas.microsoft.com/office/drawing/2014/main" id="{9EAB41A4-5007-C80A-D62F-E3EC9FA41A8A}"/>
              </a:ext>
            </a:extLst>
          </p:cNvPr>
          <p:cNvCxnSpPr>
            <a:cxnSpLocks/>
          </p:cNvCxnSpPr>
          <p:nvPr/>
        </p:nvCxnSpPr>
        <p:spPr>
          <a:xfrm flipV="1">
            <a:off x="540609" y="7563144"/>
            <a:ext cx="542836" cy="383885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21" name="Straight Arrow Connector 1220">
            <a:extLst>
              <a:ext uri="{FF2B5EF4-FFF2-40B4-BE49-F238E27FC236}">
                <a16:creationId xmlns:a16="http://schemas.microsoft.com/office/drawing/2014/main" id="{1665B829-1B72-087C-1D91-C1A5EA5F14E4}"/>
              </a:ext>
            </a:extLst>
          </p:cNvPr>
          <p:cNvCxnSpPr>
            <a:cxnSpLocks/>
          </p:cNvCxnSpPr>
          <p:nvPr/>
        </p:nvCxnSpPr>
        <p:spPr>
          <a:xfrm>
            <a:off x="1686611" y="7544809"/>
            <a:ext cx="371548" cy="283991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24" name="Straight Arrow Connector 1223">
            <a:extLst>
              <a:ext uri="{FF2B5EF4-FFF2-40B4-BE49-F238E27FC236}">
                <a16:creationId xmlns:a16="http://schemas.microsoft.com/office/drawing/2014/main" id="{978D955E-8984-7591-AF5F-F4A7E5F81E50}"/>
              </a:ext>
            </a:extLst>
          </p:cNvPr>
          <p:cNvCxnSpPr>
            <a:cxnSpLocks/>
          </p:cNvCxnSpPr>
          <p:nvPr/>
        </p:nvCxnSpPr>
        <p:spPr>
          <a:xfrm flipV="1">
            <a:off x="1950245" y="8460671"/>
            <a:ext cx="178758" cy="303084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26" name="Straight Arrow Connector 1225">
            <a:extLst>
              <a:ext uri="{FF2B5EF4-FFF2-40B4-BE49-F238E27FC236}">
                <a16:creationId xmlns:a16="http://schemas.microsoft.com/office/drawing/2014/main" id="{6D2905DC-CB90-2191-A020-9E248504CD14}"/>
              </a:ext>
            </a:extLst>
          </p:cNvPr>
          <p:cNvCxnSpPr>
            <a:cxnSpLocks/>
          </p:cNvCxnSpPr>
          <p:nvPr/>
        </p:nvCxnSpPr>
        <p:spPr>
          <a:xfrm>
            <a:off x="2446049" y="8192009"/>
            <a:ext cx="321536" cy="0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29" name="Straight Arrow Connector 1228">
            <a:extLst>
              <a:ext uri="{FF2B5EF4-FFF2-40B4-BE49-F238E27FC236}">
                <a16:creationId xmlns:a16="http://schemas.microsoft.com/office/drawing/2014/main" id="{64EE332A-A526-0BF3-5CC3-DB19D421CFA0}"/>
              </a:ext>
            </a:extLst>
          </p:cNvPr>
          <p:cNvCxnSpPr>
            <a:cxnSpLocks/>
          </p:cNvCxnSpPr>
          <p:nvPr/>
        </p:nvCxnSpPr>
        <p:spPr>
          <a:xfrm>
            <a:off x="3325817" y="8210499"/>
            <a:ext cx="211828" cy="0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33" name="TextBox 1232">
            <a:extLst>
              <a:ext uri="{FF2B5EF4-FFF2-40B4-BE49-F238E27FC236}">
                <a16:creationId xmlns:a16="http://schemas.microsoft.com/office/drawing/2014/main" id="{08D333D2-0C04-6E5A-98D0-F9271094A8E7}"/>
              </a:ext>
            </a:extLst>
          </p:cNvPr>
          <p:cNvSpPr txBox="1"/>
          <p:nvPr/>
        </p:nvSpPr>
        <p:spPr>
          <a:xfrm>
            <a:off x="1137303" y="7698560"/>
            <a:ext cx="571349" cy="4077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800" b="0" dirty="0">
                <a:solidFill>
                  <a:schemeClr val="tx1">
                    <a:lumMod val="50000"/>
                  </a:schemeClr>
                </a:solidFill>
              </a:rPr>
              <a:t>notebook/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800" b="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F8B614-E9B2-E7EC-9330-2C2CF1BA1C98}"/>
              </a:ext>
            </a:extLst>
          </p:cNvPr>
          <p:cNvSpPr txBox="1"/>
          <p:nvPr/>
        </p:nvSpPr>
        <p:spPr>
          <a:xfrm>
            <a:off x="872730" y="9003638"/>
            <a:ext cx="571349" cy="4077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r>
              <a:rPr lang="en-US" sz="800" b="0" dirty="0">
                <a:solidFill>
                  <a:schemeClr val="tx1">
                    <a:lumMod val="50000"/>
                  </a:schemeClr>
                </a:solidFill>
              </a:rPr>
              <a:t>CLI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800" b="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16FE481C-3AD0-89C9-E384-28AD5DD02AF3}"/>
              </a:ext>
            </a:extLst>
          </p:cNvPr>
          <p:cNvSpPr/>
          <p:nvPr/>
        </p:nvSpPr>
        <p:spPr>
          <a:xfrm>
            <a:off x="146304" y="3191986"/>
            <a:ext cx="4170149" cy="9585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" name="Line">
            <a:extLst>
              <a:ext uri="{FF2B5EF4-FFF2-40B4-BE49-F238E27FC236}">
                <a16:creationId xmlns:a16="http://schemas.microsoft.com/office/drawing/2014/main" id="{FE4B3F64-1DED-FC4C-03AD-0FB8F3151EE6}"/>
              </a:ext>
            </a:extLst>
          </p:cNvPr>
          <p:cNvSpPr/>
          <p:nvPr/>
        </p:nvSpPr>
        <p:spPr>
          <a:xfrm>
            <a:off x="146304" y="1817077"/>
            <a:ext cx="4170149" cy="9585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9C62DA02-86F1-20DD-9B6A-FB724DAEA5FB}"/>
              </a:ext>
            </a:extLst>
          </p:cNvPr>
          <p:cNvSpPr/>
          <p:nvPr/>
        </p:nvSpPr>
        <p:spPr>
          <a:xfrm>
            <a:off x="146304" y="7039728"/>
            <a:ext cx="4170149" cy="9585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9A8DF42-4D05-9751-A99F-F495EA87806B}"/>
              </a:ext>
            </a:extLst>
          </p:cNvPr>
          <p:cNvCxnSpPr>
            <a:cxnSpLocks/>
            <a:endCxn id="1107" idx="1"/>
          </p:cNvCxnSpPr>
          <p:nvPr/>
        </p:nvCxnSpPr>
        <p:spPr>
          <a:xfrm flipV="1">
            <a:off x="8322143" y="7119454"/>
            <a:ext cx="1279057" cy="5121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5" name="Line">
            <a:extLst>
              <a:ext uri="{FF2B5EF4-FFF2-40B4-BE49-F238E27FC236}">
                <a16:creationId xmlns:a16="http://schemas.microsoft.com/office/drawing/2014/main" id="{4EB94286-F0C8-DCC3-4E9B-E9D5965CE6E4}"/>
              </a:ext>
            </a:extLst>
          </p:cNvPr>
          <p:cNvSpPr/>
          <p:nvPr/>
        </p:nvSpPr>
        <p:spPr>
          <a:xfrm>
            <a:off x="4775825" y="1819656"/>
            <a:ext cx="4170149" cy="9585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37" name="Line">
            <a:extLst>
              <a:ext uri="{FF2B5EF4-FFF2-40B4-BE49-F238E27FC236}">
                <a16:creationId xmlns:a16="http://schemas.microsoft.com/office/drawing/2014/main" id="{48547223-F4EA-B44C-0F6E-7EA39721FAA1}"/>
              </a:ext>
            </a:extLst>
          </p:cNvPr>
          <p:cNvSpPr/>
          <p:nvPr/>
        </p:nvSpPr>
        <p:spPr>
          <a:xfrm>
            <a:off x="9576628" y="1817315"/>
            <a:ext cx="4170149" cy="9585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98146342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4C4C4C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F7DCA7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Source Sans Pro Light"/>
        <a:ea typeface="Source Sans Pro Light"/>
        <a:cs typeface="Source Sans Pro Light"/>
      </a:majorFont>
      <a:minorFont>
        <a:latin typeface="Source Sans Pro Light"/>
        <a:ea typeface="Source Sans Pro Light"/>
        <a:cs typeface="Source Sans Pro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200"/>
          </a:spcBef>
          <a:spcAft>
            <a:spcPts val="0"/>
          </a:spcAft>
          <a:buClrTx/>
          <a:buSzTx/>
          <a:buFontTx/>
          <a:buNone/>
          <a:tabLst/>
          <a:defRPr kumimoji="0" sz="1200" b="1" i="0" u="none" strike="noStrike" cap="none" spc="0" normalizeH="0" baseline="0">
            <a:ln>
              <a:noFill/>
            </a:ln>
            <a:solidFill>
              <a:srgbClr val="4C4C4C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F7DCA7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Source Sans Pro Light"/>
        <a:ea typeface="Source Sans Pro Light"/>
        <a:cs typeface="Source Sans Pro Light"/>
      </a:majorFont>
      <a:minorFont>
        <a:latin typeface="Source Sans Pro Light"/>
        <a:ea typeface="Source Sans Pro Light"/>
        <a:cs typeface="Source Sans Pro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200"/>
          </a:spcBef>
          <a:spcAft>
            <a:spcPts val="0"/>
          </a:spcAft>
          <a:buClrTx/>
          <a:buSzTx/>
          <a:buFontTx/>
          <a:buNone/>
          <a:tabLst/>
          <a:defRPr kumimoji="0" sz="1200" b="1" i="0" u="none" strike="noStrike" cap="none" spc="0" normalizeH="0" baseline="0">
            <a:ln>
              <a:noFill/>
            </a:ln>
            <a:solidFill>
              <a:srgbClr val="4C4C4C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6875</TotalTime>
  <Words>644</Words>
  <Application>Microsoft Office PowerPoint</Application>
  <PresentationFormat>Custom</PresentationFormat>
  <Paragraphs>104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Avenir</vt:lpstr>
      <vt:lpstr>Helvetica Light</vt:lpstr>
      <vt:lpstr>Source Sans Pro</vt:lpstr>
      <vt:lpstr>Source Sans Pro Light</vt:lpstr>
      <vt:lpstr>Source Sans Pro Semibold</vt:lpstr>
      <vt:lpstr>White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Four Column Layout : : CHEAT SHEET</dc:title>
  <dc:creator>phuong pham</dc:creator>
  <cp:lastModifiedBy>Phuong Pham</cp:lastModifiedBy>
  <cp:revision>235</cp:revision>
  <dcterms:modified xsi:type="dcterms:W3CDTF">2026-05-10T04:52:42Z</dcterms:modified>
</cp:coreProperties>
</file>