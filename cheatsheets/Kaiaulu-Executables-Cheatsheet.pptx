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71" r:id="rId2"/>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15:guide id="1" orient="horz" pos="6496" userDrawn="1">
          <p15:clr>
            <a:srgbClr val="A4A3A4"/>
          </p15:clr>
        </p15:guide>
        <p15:guide id="2" pos="71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7DCA7"/>
    <a:srgbClr val="E0E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F41954-6C01-8E6C-EDFA-B8846F6A8DCA}" v="13" dt="2026-05-09T12:29:14.760"/>
    <p1510:client id="{B98FC04E-60E3-4062-B59B-56E31ACC9CA9}" v="357" dt="2026-05-09T12:21:53.88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99"/>
    <p:restoredTop sz="94651"/>
  </p:normalViewPr>
  <p:slideViewPr>
    <p:cSldViewPr snapToGrid="0">
      <p:cViewPr>
        <p:scale>
          <a:sx n="153" d="100"/>
          <a:sy n="153" d="100"/>
        </p:scale>
        <p:origin x="-3432" y="-5680"/>
      </p:cViewPr>
      <p:guideLst>
        <p:guide orient="horz" pos="6496"/>
        <p:guide pos="71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F6DEB-79D9-D705-8228-5D8CAA2AB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CD32A-F213-C9E4-008A-E5318E5301B6}"/>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1C559817-D356-EC61-30FD-A8BEE071A8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16070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customXml" Target="../ink/ink1.xml"/><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EE9C-DD1C-646F-723E-8C2DB68ADD42}"/>
            </a:ext>
          </a:extLst>
        </p:cNvPr>
        <p:cNvGrpSpPr/>
        <p:nvPr/>
      </p:nvGrpSpPr>
      <p:grpSpPr>
        <a:xfrm>
          <a:off x="0" y="0"/>
          <a:ext cx="0" cy="0"/>
          <a:chOff x="0" y="0"/>
          <a:chExt cx="0" cy="0"/>
        </a:xfrm>
      </p:grpSpPr>
      <p:sp>
        <p:nvSpPr>
          <p:cNvPr id="349" name="TextBox 348">
            <a:extLst>
              <a:ext uri="{FF2B5EF4-FFF2-40B4-BE49-F238E27FC236}">
                <a16:creationId xmlns:a16="http://schemas.microsoft.com/office/drawing/2014/main" id="{DE900629-5DC6-02D6-B709-0E4672B66BF8}"/>
              </a:ext>
            </a:extLst>
          </p:cNvPr>
          <p:cNvSpPr txBox="1"/>
          <p:nvPr/>
        </p:nvSpPr>
        <p:spPr>
          <a:xfrm>
            <a:off x="275783" y="7476898"/>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1" name="TextBox 370">
            <a:extLst>
              <a:ext uri="{FF2B5EF4-FFF2-40B4-BE49-F238E27FC236}">
                <a16:creationId xmlns:a16="http://schemas.microsoft.com/office/drawing/2014/main" id="{97D5C78D-C90E-64E0-EBDD-4ADB1093AFD6}"/>
              </a:ext>
            </a:extLst>
          </p:cNvPr>
          <p:cNvSpPr txBox="1"/>
          <p:nvPr/>
        </p:nvSpPr>
        <p:spPr>
          <a:xfrm>
            <a:off x="4685424" y="3778567"/>
            <a:ext cx="4534280" cy="5105264"/>
          </a:xfrm>
          <a:prstGeom prst="rect">
            <a:avLst/>
          </a:prstGeom>
          <a:noFill/>
          <a:ln w="1270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3" name="TextBox 372">
            <a:extLst>
              <a:ext uri="{FF2B5EF4-FFF2-40B4-BE49-F238E27FC236}">
                <a16:creationId xmlns:a16="http://schemas.microsoft.com/office/drawing/2014/main" id="{1418B6F5-C545-DB44-ACE7-7344D9B1597C}"/>
              </a:ext>
            </a:extLst>
          </p:cNvPr>
          <p:cNvSpPr txBox="1"/>
          <p:nvPr/>
        </p:nvSpPr>
        <p:spPr>
          <a:xfrm>
            <a:off x="4821857" y="4262778"/>
            <a:ext cx="2428745" cy="28623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4BACA8D5-C67A-ED36-8BF1-485E1F638A2E}"/>
              </a:ext>
            </a:extLst>
          </p:cNvPr>
          <p:cNvPicPr>
            <a:picLocks noChangeAspect="1"/>
          </p:cNvPicPr>
          <p:nvPr/>
        </p:nvPicPr>
        <p:blipFill>
          <a:blip r:embed="rId3"/>
          <a:stretch>
            <a:fillRect/>
          </a:stretch>
        </p:blipFill>
        <p:spPr>
          <a:xfrm>
            <a:off x="12836408" y="3797106"/>
            <a:ext cx="763378" cy="807934"/>
          </a:xfrm>
          <a:prstGeom prst="rect">
            <a:avLst/>
          </a:prstGeom>
        </p:spPr>
      </p:pic>
      <p:pic>
        <p:nvPicPr>
          <p:cNvPr id="292" name="Image" descr="Image">
            <a:extLst>
              <a:ext uri="{FF2B5EF4-FFF2-40B4-BE49-F238E27FC236}">
                <a16:creationId xmlns:a16="http://schemas.microsoft.com/office/drawing/2014/main" id="{94D65301-9B96-2398-7701-987F3780883B}"/>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90DB967C-28BB-EC99-78D2-28470565DCD7}"/>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F24F3110-E9BF-E83C-88F4-10F4074E706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a:extLst>
              <a:ext uri="{FF2B5EF4-FFF2-40B4-BE49-F238E27FC236}">
                <a16:creationId xmlns:a16="http://schemas.microsoft.com/office/drawing/2014/main" id="{B19BB907-64F1-8672-2114-566C9243D238}"/>
              </a:ext>
            </a:extLst>
          </p:cNvPr>
          <p:cNvSpPr/>
          <p:nvPr/>
        </p:nvSpPr>
        <p:spPr>
          <a:xfrm>
            <a:off x="220479" y="2480214"/>
            <a:ext cx="4355409" cy="1450198"/>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EB96D967-0F51-2FDD-4293-71799E89CEEC}"/>
              </a:ext>
            </a:extLst>
          </p:cNvPr>
          <p:cNvSpPr txBox="1"/>
          <p:nvPr/>
        </p:nvSpPr>
        <p:spPr>
          <a:xfrm>
            <a:off x="297901" y="2562901"/>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DEECA408-EDE9-DB46-80ED-E20085A4C205}"/>
              </a:ext>
            </a:extLst>
          </p:cNvPr>
          <p:cNvSpPr txBox="1"/>
          <p:nvPr/>
        </p:nvSpPr>
        <p:spPr>
          <a:xfrm>
            <a:off x="319410" y="2892812"/>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dirty="0">
                <a:cs typeface="Arial"/>
              </a:rPr>
              <a:t>The first part of running any vignette is setting up your project </a:t>
            </a:r>
            <a:r>
              <a:rPr lang="en-US" b="0">
                <a:cs typeface="Arial"/>
              </a:rPr>
              <a:t>configuration file (examples in /conf).</a:t>
            </a:r>
            <a:r>
              <a:rPr dirty="0">
                <a:cs typeface="Arial"/>
              </a:rPr>
              <a:t> </a:t>
            </a:r>
            <a:endParaRPr lang="en-US" dirty="0">
              <a:cs typeface="Arial"/>
            </a:endParaRPr>
          </a:p>
        </p:txBody>
      </p:sp>
      <p:sp>
        <p:nvSpPr>
          <p:cNvPr id="324" name="Cheatsheets make it easy for R users…">
            <a:extLst>
              <a:ext uri="{FF2B5EF4-FFF2-40B4-BE49-F238E27FC236}">
                <a16:creationId xmlns:a16="http://schemas.microsoft.com/office/drawing/2014/main" id="{263EBE19-A732-AD3A-999E-727716D3DF97}"/>
              </a:ext>
            </a:extLst>
          </p:cNvPr>
          <p:cNvSpPr txBox="1"/>
          <p:nvPr/>
        </p:nvSpPr>
        <p:spPr>
          <a:xfrm>
            <a:off x="312386" y="3284054"/>
            <a:ext cx="4122651" cy="602800"/>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mailing_list:     ...</a:t>
            </a:r>
          </a:p>
          <a:p>
            <a:pPr marL="171450" lvl="3" indent="-171450">
              <a:lnSpc>
                <a:spcPct val="90000"/>
              </a:lnSpc>
              <a:spcBef>
                <a:spcPts val="0"/>
              </a:spcBef>
              <a:buFont typeface="Arial" panose="020B0604020202020204" pitchFamily="34" charset="0"/>
              <a:buChar char="•"/>
              <a:defRPr>
                <a:solidFill>
                  <a:srgbClr val="000000"/>
                </a:solidFill>
              </a:defRPr>
            </a:pPr>
            <a:r>
              <a:rPr lang="en-US">
                <a:cs typeface="Arial"/>
              </a:rPr>
              <a:t>issue_tracker: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6304369A-8388-2477-0B3D-468F616488A2}"/>
              </a:ext>
            </a:extLst>
          </p:cNvPr>
          <p:cNvSpPr txBox="1"/>
          <p:nvPr/>
        </p:nvSpPr>
        <p:spPr>
          <a:xfrm>
            <a:off x="260834" y="6468545"/>
            <a:ext cx="25519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Exec </a:t>
            </a:r>
            <a:r>
              <a:rPr lang="en-US" noProof="1">
                <a:cs typeface="Arial"/>
              </a:rPr>
              <a:t>Configuration</a:t>
            </a:r>
            <a:endParaRPr lang="en-US" noProof="1"/>
          </a:p>
        </p:txBody>
      </p:sp>
      <p:sp>
        <p:nvSpPr>
          <p:cNvPr id="334" name="Three Column Layout: : CHEAT SHEET">
            <a:extLst>
              <a:ext uri="{FF2B5EF4-FFF2-40B4-BE49-F238E27FC236}">
                <a16:creationId xmlns:a16="http://schemas.microsoft.com/office/drawing/2014/main" id="{F3570B2C-C799-4726-D77B-86F88452CFFA}"/>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E5FEBCCF-9882-0F58-9BEB-0B54D69733E5}"/>
              </a:ext>
            </a:extLst>
          </p:cNvPr>
          <p:cNvSpPr txBox="1"/>
          <p:nvPr/>
        </p:nvSpPr>
        <p:spPr>
          <a:xfrm>
            <a:off x="4681179" y="2700666"/>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C5A13D59-C1F5-6498-10D4-1FCE5A5E9DDB}"/>
              </a:ext>
            </a:extLst>
          </p:cNvPr>
          <p:cNvSpPr txBox="1"/>
          <p:nvPr/>
        </p:nvSpPr>
        <p:spPr>
          <a:xfrm>
            <a:off x="257982" y="1466006"/>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884D0C51-A776-CDA3-801C-4A5FDFD35E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50574A3A-9486-E791-A460-4300AEFA9DCB}"/>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sng" strike="noStrike" cap="none" spc="0" normalizeH="0" baseline="0" dirty="0">
                <a:ln>
                  <a:noFill/>
                </a:ln>
                <a:solidFill>
                  <a:schemeClr val="tx1"/>
                </a:solidFill>
                <a:effectLst/>
                <a:uFillTx/>
                <a:latin typeface="Source Sans Pro"/>
                <a:ea typeface="Source Sans Pro"/>
                <a:cs typeface="Source Sans Pro"/>
                <a:sym typeface="Source Sans Pro"/>
              </a:rPr>
              <a:t>CC BY </a:t>
            </a:r>
            <a:r>
              <a:rPr lang="en-US" sz="1000" b="0" u="sng" dirty="0">
                <a:solidFill>
                  <a:schemeClr val="tx1"/>
                </a:solidFill>
              </a:rPr>
              <a:t>SA</a:t>
            </a:r>
            <a:r>
              <a:rPr lang="en-US" sz="1000" b="0" dirty="0">
                <a:solidFill>
                  <a:schemeClr val="tx1"/>
                </a:solidFill>
              </a:rPr>
              <a:t> Cohen Ruport,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noProof="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Updated: </a:t>
            </a:r>
            <a:r>
              <a:rPr lang="en-US" sz="1000" b="0" dirty="0">
                <a:solidFill>
                  <a:schemeClr val="tx1"/>
                </a:solidFill>
              </a:rPr>
              <a:t>2026-4</a:t>
            </a:r>
            <a:endParaRPr lang="en-US" sz="1000" b="0" i="0" u="none" strike="noStrike" cap="none" spc="0" normalizeH="0" baseline="0" dirty="0">
              <a:ln>
                <a:noFill/>
              </a:ln>
              <a:solidFill>
                <a:schemeClr val="tx1"/>
              </a:solidFill>
              <a:effectLst/>
              <a:uFillTx/>
              <a:latin typeface="Source Sans Pro"/>
              <a:ea typeface="Source Sans Pro"/>
              <a:cs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B202E9CE-0B04-4816-7176-8ECE71A5E8B1}"/>
              </a:ext>
            </a:extLst>
          </p:cNvPr>
          <p:cNvSpPr/>
          <p:nvPr/>
        </p:nvSpPr>
        <p:spPr>
          <a:xfrm>
            <a:off x="222735" y="5285299"/>
            <a:ext cx="4355706" cy="118521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B1CF2957-0573-6CF5-3A09-21F9E55BFFBE}"/>
              </a:ext>
            </a:extLst>
          </p:cNvPr>
          <p:cNvSpPr txBox="1"/>
          <p:nvPr/>
        </p:nvSpPr>
        <p:spPr>
          <a:xfrm>
            <a:off x="347617" y="5334634"/>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FB4C4855-9DD3-9869-63F2-F99109CD9F2C}"/>
              </a:ext>
            </a:extLst>
          </p:cNvPr>
          <p:cNvSpPr txBox="1"/>
          <p:nvPr/>
        </p:nvSpPr>
        <p:spPr>
          <a:xfrm>
            <a:off x="339098" y="5930519"/>
            <a:ext cx="4105332" cy="432239"/>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a:cs typeface="Arial"/>
              </a:rPr>
              <a:t>perceval</a:t>
            </a:r>
            <a:r>
              <a:rPr lang="en-US">
                <a:cs typeface="Arial"/>
              </a:rPr>
              <a:t>: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46C0D462-FA5F-5B00-85AF-564DDE9FBF87}"/>
              </a:ext>
            </a:extLst>
          </p:cNvPr>
          <p:cNvPicPr>
            <a:picLocks noChangeAspect="1"/>
          </p:cNvPicPr>
          <p:nvPr/>
        </p:nvPicPr>
        <p:blipFill>
          <a:blip r:embed="rId6"/>
          <a:stretch>
            <a:fillRect/>
          </a:stretch>
        </p:blipFill>
        <p:spPr>
          <a:xfrm>
            <a:off x="11535616" y="506116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B3B35B90-2D1B-7F4A-1761-E89E284437FD}"/>
              </a:ext>
            </a:extLst>
          </p:cNvPr>
          <p:cNvSpPr txBox="1"/>
          <p:nvPr/>
        </p:nvSpPr>
        <p:spPr>
          <a:xfrm>
            <a:off x="328655" y="5646170"/>
            <a:ext cx="4369511"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b="0" dirty="0">
                <a:solidFill>
                  <a:srgbClr val="000000"/>
                </a:solidFill>
                <a:cs typeface="Arial"/>
              </a:rPr>
              <a:t>The required external tools must be specified in </a:t>
            </a:r>
            <a:r>
              <a:rPr lang="en-US" b="0" dirty="0" err="1">
                <a:solidFill>
                  <a:srgbClr val="000000"/>
                </a:solidFill>
                <a:cs typeface="Arial"/>
              </a:rPr>
              <a:t>tools.yml</a:t>
            </a:r>
            <a:r>
              <a:rPr lang="en-US" b="0" dirty="0">
                <a:solidFill>
                  <a:srgbClr val="000000"/>
                </a:solidFill>
                <a:cs typeface="Arial"/>
              </a:rPr>
              <a:t>.</a:t>
            </a:r>
            <a:endParaRPr lang="en-US" b="0" u="sng" dirty="0">
              <a:solidFill>
                <a:srgbClr val="000000"/>
              </a:solidFill>
              <a:cs typeface="Arial"/>
            </a:endParaRPr>
          </a:p>
        </p:txBody>
      </p:sp>
      <p:pic>
        <p:nvPicPr>
          <p:cNvPr id="17" name="Picture 16">
            <a:extLst>
              <a:ext uri="{FF2B5EF4-FFF2-40B4-BE49-F238E27FC236}">
                <a16:creationId xmlns:a16="http://schemas.microsoft.com/office/drawing/2014/main" id="{9FD0F218-4E68-F311-10AA-B6404ECFE030}"/>
              </a:ext>
            </a:extLst>
          </p:cNvPr>
          <p:cNvPicPr>
            <a:picLocks noChangeAspect="1"/>
          </p:cNvPicPr>
          <p:nvPr/>
        </p:nvPicPr>
        <p:blipFill>
          <a:blip r:embed="rId7"/>
          <a:stretch>
            <a:fillRect/>
          </a:stretch>
        </p:blipFill>
        <p:spPr>
          <a:xfrm>
            <a:off x="11550620" y="2749374"/>
            <a:ext cx="546328" cy="546436"/>
          </a:xfrm>
          <a:prstGeom prst="rect">
            <a:avLst/>
          </a:prstGeom>
        </p:spPr>
      </p:pic>
      <p:pic>
        <p:nvPicPr>
          <p:cNvPr id="23" name="Picture 22">
            <a:extLst>
              <a:ext uri="{FF2B5EF4-FFF2-40B4-BE49-F238E27FC236}">
                <a16:creationId xmlns:a16="http://schemas.microsoft.com/office/drawing/2014/main" id="{6E529211-1B04-630F-1012-B8D154FFB622}"/>
              </a:ext>
            </a:extLst>
          </p:cNvPr>
          <p:cNvPicPr>
            <a:picLocks noChangeAspect="1"/>
          </p:cNvPicPr>
          <p:nvPr/>
        </p:nvPicPr>
        <p:blipFill>
          <a:blip r:embed="rId8"/>
          <a:stretch>
            <a:fillRect/>
          </a:stretch>
        </p:blipFill>
        <p:spPr>
          <a:xfrm>
            <a:off x="9398319" y="4743260"/>
            <a:ext cx="544372" cy="486505"/>
          </a:xfrm>
          <a:prstGeom prst="rect">
            <a:avLst/>
          </a:prstGeom>
        </p:spPr>
      </p:pic>
      <p:pic>
        <p:nvPicPr>
          <p:cNvPr id="24" name="Picture 23">
            <a:extLst>
              <a:ext uri="{FF2B5EF4-FFF2-40B4-BE49-F238E27FC236}">
                <a16:creationId xmlns:a16="http://schemas.microsoft.com/office/drawing/2014/main" id="{40D85F67-A19C-B2B6-EC29-D417F7FF7EBE}"/>
              </a:ext>
            </a:extLst>
          </p:cNvPr>
          <p:cNvPicPr>
            <a:picLocks noChangeAspect="1"/>
          </p:cNvPicPr>
          <p:nvPr/>
        </p:nvPicPr>
        <p:blipFill>
          <a:blip r:embed="rId9"/>
          <a:stretch>
            <a:fillRect/>
          </a:stretch>
        </p:blipFill>
        <p:spPr>
          <a:xfrm>
            <a:off x="9543024" y="4118620"/>
            <a:ext cx="742783" cy="609600"/>
          </a:xfrm>
          <a:prstGeom prst="rect">
            <a:avLst/>
          </a:prstGeom>
        </p:spPr>
      </p:pic>
      <p:pic>
        <p:nvPicPr>
          <p:cNvPr id="25" name="Picture 24">
            <a:extLst>
              <a:ext uri="{FF2B5EF4-FFF2-40B4-BE49-F238E27FC236}">
                <a16:creationId xmlns:a16="http://schemas.microsoft.com/office/drawing/2014/main" id="{22FE55FB-240E-B0BC-3534-62252EA2957A}"/>
              </a:ext>
            </a:extLst>
          </p:cNvPr>
          <p:cNvPicPr>
            <a:picLocks noChangeAspect="1"/>
          </p:cNvPicPr>
          <p:nvPr/>
        </p:nvPicPr>
        <p:blipFill>
          <a:blip r:embed="rId10"/>
          <a:stretch>
            <a:fillRect/>
          </a:stretch>
        </p:blipFill>
        <p:spPr>
          <a:xfrm>
            <a:off x="12021419" y="3235853"/>
            <a:ext cx="372044" cy="354363"/>
          </a:xfrm>
          <a:prstGeom prst="rect">
            <a:avLst/>
          </a:prstGeom>
        </p:spPr>
      </p:pic>
      <p:pic>
        <p:nvPicPr>
          <p:cNvPr id="38" name="Picture 37">
            <a:extLst>
              <a:ext uri="{FF2B5EF4-FFF2-40B4-BE49-F238E27FC236}">
                <a16:creationId xmlns:a16="http://schemas.microsoft.com/office/drawing/2014/main" id="{5919BFFF-C518-40F6-38F0-7E25C0A000E1}"/>
              </a:ext>
            </a:extLst>
          </p:cNvPr>
          <p:cNvPicPr>
            <a:picLocks noChangeAspect="1"/>
          </p:cNvPicPr>
          <p:nvPr/>
        </p:nvPicPr>
        <p:blipFill>
          <a:blip r:embed="rId9"/>
          <a:stretch>
            <a:fillRect/>
          </a:stretch>
        </p:blipFill>
        <p:spPr>
          <a:xfrm rot="10800000">
            <a:off x="9913619" y="4435494"/>
            <a:ext cx="742783" cy="609600"/>
          </a:xfrm>
          <a:prstGeom prst="rect">
            <a:avLst/>
          </a:prstGeom>
        </p:spPr>
      </p:pic>
      <p:pic>
        <p:nvPicPr>
          <p:cNvPr id="39" name="Picture 38">
            <a:extLst>
              <a:ext uri="{FF2B5EF4-FFF2-40B4-BE49-F238E27FC236}">
                <a16:creationId xmlns:a16="http://schemas.microsoft.com/office/drawing/2014/main" id="{D8ECF58A-A7B1-DAEE-8659-A0745DF74506}"/>
              </a:ext>
            </a:extLst>
          </p:cNvPr>
          <p:cNvPicPr>
            <a:picLocks noChangeAspect="1"/>
          </p:cNvPicPr>
          <p:nvPr/>
        </p:nvPicPr>
        <p:blipFill>
          <a:blip r:embed="rId11"/>
          <a:stretch>
            <a:fillRect/>
          </a:stretch>
        </p:blipFill>
        <p:spPr>
          <a:xfrm>
            <a:off x="10892178" y="4118426"/>
            <a:ext cx="560207" cy="171450"/>
          </a:xfrm>
          <a:prstGeom prst="rect">
            <a:avLst/>
          </a:prstGeom>
        </p:spPr>
      </p:pic>
      <p:pic>
        <p:nvPicPr>
          <p:cNvPr id="40" name="Picture 39">
            <a:extLst>
              <a:ext uri="{FF2B5EF4-FFF2-40B4-BE49-F238E27FC236}">
                <a16:creationId xmlns:a16="http://schemas.microsoft.com/office/drawing/2014/main" id="{5A12496A-BE90-B9FF-D576-1BDD8D2B718B}"/>
              </a:ext>
            </a:extLst>
          </p:cNvPr>
          <p:cNvPicPr>
            <a:picLocks noChangeAspect="1"/>
          </p:cNvPicPr>
          <p:nvPr/>
        </p:nvPicPr>
        <p:blipFill>
          <a:blip r:embed="rId11"/>
          <a:stretch>
            <a:fillRect/>
          </a:stretch>
        </p:blipFill>
        <p:spPr>
          <a:xfrm rot="10800000">
            <a:off x="12257860" y="4121569"/>
            <a:ext cx="571524" cy="171450"/>
          </a:xfrm>
          <a:prstGeom prst="rect">
            <a:avLst/>
          </a:prstGeom>
        </p:spPr>
      </p:pic>
      <p:pic>
        <p:nvPicPr>
          <p:cNvPr id="41" name="Picture 40">
            <a:extLst>
              <a:ext uri="{FF2B5EF4-FFF2-40B4-BE49-F238E27FC236}">
                <a16:creationId xmlns:a16="http://schemas.microsoft.com/office/drawing/2014/main" id="{927CE544-C5DF-F5EC-AF3F-ADF27F94721D}"/>
              </a:ext>
            </a:extLst>
          </p:cNvPr>
          <p:cNvPicPr>
            <a:picLocks noChangeAspect="1"/>
          </p:cNvPicPr>
          <p:nvPr/>
        </p:nvPicPr>
        <p:blipFill>
          <a:blip r:embed="rId11"/>
          <a:stretch>
            <a:fillRect/>
          </a:stretch>
        </p:blipFill>
        <p:spPr>
          <a:xfrm rot="5400000">
            <a:off x="11535414" y="3476923"/>
            <a:ext cx="571524" cy="171450"/>
          </a:xfrm>
          <a:prstGeom prst="rect">
            <a:avLst/>
          </a:prstGeom>
        </p:spPr>
      </p:pic>
      <p:sp>
        <p:nvSpPr>
          <p:cNvPr id="42" name="TextBox 41">
            <a:extLst>
              <a:ext uri="{FF2B5EF4-FFF2-40B4-BE49-F238E27FC236}">
                <a16:creationId xmlns:a16="http://schemas.microsoft.com/office/drawing/2014/main" id="{A1A8FC4A-429A-CFCF-2A79-3A224888C32E}"/>
              </a:ext>
            </a:extLst>
          </p:cNvPr>
          <p:cNvSpPr txBox="1"/>
          <p:nvPr/>
        </p:nvSpPr>
        <p:spPr>
          <a:xfrm>
            <a:off x="9686582" y="428721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Activity</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7AFF4256-148A-38E9-57B8-39E679D30480}"/>
              </a:ext>
            </a:extLst>
          </p:cNvPr>
          <p:cNvSpPr txBox="1"/>
          <p:nvPr/>
        </p:nvSpPr>
        <p:spPr>
          <a:xfrm>
            <a:off x="12978381" y="4033696"/>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54BCF959-AC25-5217-242A-F5D1E73AF99A}"/>
              </a:ext>
            </a:extLst>
          </p:cNvPr>
          <p:cNvPicPr>
            <a:picLocks noChangeAspect="1"/>
          </p:cNvPicPr>
          <p:nvPr/>
        </p:nvPicPr>
        <p:blipFill>
          <a:blip r:embed="rId11"/>
          <a:stretch>
            <a:fillRect/>
          </a:stretch>
        </p:blipFill>
        <p:spPr>
          <a:xfrm rot="5400000">
            <a:off x="11540938" y="4650191"/>
            <a:ext cx="571524" cy="171450"/>
          </a:xfrm>
          <a:prstGeom prst="rect">
            <a:avLst/>
          </a:prstGeom>
        </p:spPr>
      </p:pic>
      <p:sp>
        <p:nvSpPr>
          <p:cNvPr id="51" name="TextBox 50">
            <a:extLst>
              <a:ext uri="{FF2B5EF4-FFF2-40B4-BE49-F238E27FC236}">
                <a16:creationId xmlns:a16="http://schemas.microsoft.com/office/drawing/2014/main" id="{47843AB2-686F-0FC8-1245-59C10777B3E6}"/>
              </a:ext>
            </a:extLst>
          </p:cNvPr>
          <p:cNvSpPr txBox="1"/>
          <p:nvPr/>
        </p:nvSpPr>
        <p:spPr>
          <a:xfrm>
            <a:off x="10292164" y="4045603"/>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D878419A-AB16-D9D8-D8AC-41F1914690BA}"/>
              </a:ext>
            </a:extLst>
          </p:cNvPr>
          <p:cNvSpPr txBox="1"/>
          <p:nvPr/>
        </p:nvSpPr>
        <p:spPr>
          <a:xfrm>
            <a:off x="12351538" y="323831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1F7FF6C1-4AFE-1E7D-83B6-1D98BD6B85F8}"/>
              </a:ext>
            </a:extLst>
          </p:cNvPr>
          <p:cNvSpPr txBox="1"/>
          <p:nvPr/>
        </p:nvSpPr>
        <p:spPr>
          <a:xfrm>
            <a:off x="11400376" y="568409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1A6BD873-269A-641F-B977-74DBE13067B9}"/>
              </a:ext>
            </a:extLst>
          </p:cNvPr>
          <p:cNvSpPr txBox="1"/>
          <p:nvPr/>
        </p:nvSpPr>
        <p:spPr>
          <a:xfrm>
            <a:off x="9473435" y="1463040"/>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Server Side Execution</a:t>
            </a:r>
            <a:endParaRPr lang="en-US" dirty="0"/>
          </a:p>
        </p:txBody>
      </p:sp>
      <p:sp>
        <p:nvSpPr>
          <p:cNvPr id="30" name="TextBox 29">
            <a:extLst>
              <a:ext uri="{FF2B5EF4-FFF2-40B4-BE49-F238E27FC236}">
                <a16:creationId xmlns:a16="http://schemas.microsoft.com/office/drawing/2014/main" id="{486DD16B-0700-95E2-E792-6413A839A84A}"/>
              </a:ext>
            </a:extLst>
          </p:cNvPr>
          <p:cNvSpPr txBox="1"/>
          <p:nvPr/>
        </p:nvSpPr>
        <p:spPr>
          <a:xfrm>
            <a:off x="4827038" y="4268998"/>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Sailuh/kaiaulu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260F14F5-E0F7-3F14-3D35-B84C9395AFC9}"/>
              </a:ext>
            </a:extLst>
          </p:cNvPr>
          <p:cNvSpPr txBox="1"/>
          <p:nvPr/>
        </p:nvSpPr>
        <p:spPr>
          <a:xfrm>
            <a:off x="5129309" y="849341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C396C345-A0F2-19C8-D039-72852C53F4FE}"/>
              </a:ext>
            </a:extLst>
          </p:cNvPr>
          <p:cNvSpPr txBox="1"/>
          <p:nvPr/>
        </p:nvSpPr>
        <p:spPr>
          <a:xfrm>
            <a:off x="7559088" y="7949626"/>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ADE6DCB3-F363-12F2-8346-DFEE4647659C}"/>
              </a:ext>
            </a:extLst>
          </p:cNvPr>
          <p:cNvSpPr txBox="1"/>
          <p:nvPr/>
        </p:nvSpPr>
        <p:spPr>
          <a:xfrm>
            <a:off x="6913055" y="8514433"/>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Sailuh/sentiment_classifier</a:t>
            </a:r>
          </a:p>
        </p:txBody>
      </p:sp>
      <p:sp>
        <p:nvSpPr>
          <p:cNvPr id="272" name="TextBox 271">
            <a:extLst>
              <a:ext uri="{FF2B5EF4-FFF2-40B4-BE49-F238E27FC236}">
                <a16:creationId xmlns:a16="http://schemas.microsoft.com/office/drawing/2014/main" id="{1380A8AB-2A2A-A2D9-F622-FA904830F0D7}"/>
              </a:ext>
            </a:extLst>
          </p:cNvPr>
          <p:cNvSpPr txBox="1"/>
          <p:nvPr/>
        </p:nvSpPr>
        <p:spPr>
          <a:xfrm>
            <a:off x="6237179" y="9393013"/>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B735E371-2466-8F54-B9C9-B71063989AFF}"/>
              </a:ext>
            </a:extLst>
          </p:cNvPr>
          <p:cNvSpPr txBox="1"/>
          <p:nvPr/>
        </p:nvSpPr>
        <p:spPr>
          <a:xfrm>
            <a:off x="222484" y="1742785"/>
            <a:ext cx="435228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cs typeface="Helvetica"/>
              </a:rPr>
              <a:t>Executables provide access to </a:t>
            </a:r>
            <a:r>
              <a:rPr lang="en-US" b="0" dirty="0" err="1">
                <a:solidFill>
                  <a:srgbClr val="000000"/>
                </a:solidFill>
                <a:cs typeface="Helvetica"/>
              </a:rPr>
              <a:t>Kaiaulu's</a:t>
            </a:r>
            <a:r>
              <a:rPr lang="en-US" b="0" dirty="0">
                <a:solidFill>
                  <a:srgbClr val="000000"/>
                </a:solidFill>
                <a:cs typeface="Helvetica"/>
              </a:rPr>
              <a:t> functions through a command line interface. This allows other tools to build on </a:t>
            </a:r>
            <a:r>
              <a:rPr lang="en-US" b="0" dirty="0" err="1">
                <a:solidFill>
                  <a:srgbClr val="000000"/>
                </a:solidFill>
                <a:cs typeface="Helvetica"/>
              </a:rPr>
              <a:t>Kaiaulu</a:t>
            </a:r>
            <a:r>
              <a:rPr lang="en-US" b="0" dirty="0">
                <a:solidFill>
                  <a:srgbClr val="000000"/>
                </a:solidFill>
                <a:cs typeface="Helvetica"/>
              </a:rPr>
              <a:t> capabilities or use it server-side.</a:t>
            </a:r>
            <a:endParaRPr lang="en-US" b="0" i="0" u="none" strike="noStrike" cap="none" spc="0" normalizeH="0" baseline="0" dirty="0">
              <a:ln>
                <a:noFill/>
              </a:ln>
              <a:solidFill>
                <a:srgbClr val="000000"/>
              </a:solidFill>
              <a:effectLst/>
              <a:uFillTx/>
              <a:cs typeface="Helvetica"/>
            </a:endParaRPr>
          </a:p>
        </p:txBody>
      </p:sp>
      <p:sp>
        <p:nvSpPr>
          <p:cNvPr id="274" name="TextBox 273">
            <a:extLst>
              <a:ext uri="{FF2B5EF4-FFF2-40B4-BE49-F238E27FC236}">
                <a16:creationId xmlns:a16="http://schemas.microsoft.com/office/drawing/2014/main" id="{E5377576-1D2F-9E84-EAEF-B991E7F34771}"/>
              </a:ext>
            </a:extLst>
          </p:cNvPr>
          <p:cNvSpPr txBox="1"/>
          <p:nvPr/>
        </p:nvSpPr>
        <p:spPr>
          <a:xfrm>
            <a:off x="9473688" y="1774363"/>
            <a:ext cx="3717165"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cs typeface="Helvetica"/>
              </a:rPr>
              <a:t>Cron jobs can be used to call executable download scripts every x minutes (E.g., 60 minutes) using the refresher API. This can be combined to the </a:t>
            </a:r>
            <a:r>
              <a:rPr lang="en-US" b="0" dirty="0" err="1">
                <a:solidFill>
                  <a:srgbClr val="000000"/>
                </a:solidFill>
                <a:cs typeface="Helvetica"/>
              </a:rPr>
              <a:t>sailuh</a:t>
            </a:r>
            <a:r>
              <a:rPr lang="en-US" b="0" dirty="0">
                <a:solidFill>
                  <a:srgbClr val="000000"/>
                </a:solidFill>
                <a:cs typeface="Helvetica"/>
              </a:rPr>
              <a:t>/</a:t>
            </a:r>
            <a:r>
              <a:rPr lang="en-US" b="0" dirty="0" err="1">
                <a:solidFill>
                  <a:srgbClr val="000000"/>
                </a:solidFill>
                <a:cs typeface="Helvetica"/>
              </a:rPr>
              <a:t>kaiaulu_react</a:t>
            </a:r>
            <a:r>
              <a:rPr lang="en-US" b="0" dirty="0">
                <a:solidFill>
                  <a:srgbClr val="000000"/>
                </a:solidFill>
                <a:cs typeface="Helvetica"/>
              </a:rPr>
              <a:t> to monitor project health or create data warehouses.</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B2918E18-1386-4D0B-C784-CF28313515FC}"/>
              </a:ext>
            </a:extLst>
          </p:cNvPr>
          <p:cNvSpPr txBox="1"/>
          <p:nvPr/>
        </p:nvSpPr>
        <p:spPr>
          <a:xfrm>
            <a:off x="4663205" y="3031185"/>
            <a:ext cx="4541719"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noProof="1">
                <a:solidFill>
                  <a:srgbClr val="000000"/>
                </a:solidFill>
                <a:cs typeface="Helvetica"/>
              </a:rPr>
              <a:t>Sailuh tools in tools.yml rely on kaiaulu executables to download and refresh data. Kaiaulu executables also expose capabilities to other tools outside of the sailuh ecosystem.</a:t>
            </a:r>
          </a:p>
        </p:txBody>
      </p:sp>
      <p:sp>
        <p:nvSpPr>
          <p:cNvPr id="298" name="TextBox 297">
            <a:extLst>
              <a:ext uri="{FF2B5EF4-FFF2-40B4-BE49-F238E27FC236}">
                <a16:creationId xmlns:a16="http://schemas.microsoft.com/office/drawing/2014/main" id="{359229B8-4E95-2569-F6C2-B8900AE90033}"/>
              </a:ext>
            </a:extLst>
          </p:cNvPr>
          <p:cNvSpPr txBox="1"/>
          <p:nvPr/>
        </p:nvSpPr>
        <p:spPr>
          <a:xfrm>
            <a:off x="261884" y="6791866"/>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dirty="0">
                <a:solidFill>
                  <a:srgbClr val="000000"/>
                </a:solidFill>
              </a:rPr>
              <a:t>.</a:t>
            </a:r>
            <a:endParaRPr lang="en-US" dirty="0">
              <a:solidFill>
                <a:srgbClr val="000000"/>
              </a:solidFill>
            </a:endParaRPr>
          </a:p>
          <a:p>
            <a:pPr marL="0" marR="0" indent="0" algn="l" defTabSz="584200" rtl="0" fontAlgn="auto" latinLnBrk="0" hangingPunct="0">
              <a:lnSpc>
                <a:spcPct val="100000"/>
              </a:lnSpc>
              <a:spcBef>
                <a:spcPts val="200"/>
              </a:spcBef>
              <a:spcAft>
                <a:spcPts val="0"/>
              </a:spcAft>
              <a:buClrTx/>
              <a:buSzTx/>
              <a:buFontTx/>
              <a:buNone/>
              <a:tabLst/>
            </a:pPr>
            <a:endParaRPr lang="en-US" sz="1200" b="1" i="0" u="none" strike="noStrike" cap="none" spc="0" normalizeH="0" baseline="0" dirty="0">
              <a:ln>
                <a:noFill/>
              </a:ln>
              <a:solidFill>
                <a:srgbClr val="000000"/>
              </a:solidFill>
              <a:effectLst/>
              <a:uFillTx/>
              <a:latin typeface="Source Sans Pro"/>
              <a:ea typeface="Source Sans Pro"/>
              <a:cs typeface="Source Sans Pro"/>
            </a:endParaRPr>
          </a:p>
        </p:txBody>
      </p:sp>
      <p:sp>
        <p:nvSpPr>
          <p:cNvPr id="9" name="Group">
            <a:extLst>
              <a:ext uri="{FF2B5EF4-FFF2-40B4-BE49-F238E27FC236}">
                <a16:creationId xmlns:a16="http://schemas.microsoft.com/office/drawing/2014/main" id="{BBAA5F44-4B8F-3B15-D36C-65E0F0516B40}"/>
              </a:ext>
            </a:extLst>
          </p:cNvPr>
          <p:cNvSpPr/>
          <p:nvPr/>
        </p:nvSpPr>
        <p:spPr>
          <a:xfrm>
            <a:off x="219985" y="3943057"/>
            <a:ext cx="4358600" cy="132623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5DCBE908-BD3F-99FD-E05F-32FA7C3C6C0C}"/>
              </a:ext>
            </a:extLst>
          </p:cNvPr>
          <p:cNvSpPr txBox="1"/>
          <p:nvPr/>
        </p:nvSpPr>
        <p:spPr>
          <a:xfrm>
            <a:off x="297334" y="4013712"/>
            <a:ext cx="364653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67CE2F31-E201-C70F-C8C3-13D35453AAC7}"/>
              </a:ext>
            </a:extLst>
          </p:cNvPr>
          <p:cNvSpPr txBox="1"/>
          <p:nvPr/>
        </p:nvSpPr>
        <p:spPr>
          <a:xfrm>
            <a:off x="315323" y="4360481"/>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dirty="0">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191CB485-8AD9-8FB5-8970-4D5413FFC337}"/>
              </a:ext>
            </a:extLst>
          </p:cNvPr>
          <p:cNvSpPr txBox="1"/>
          <p:nvPr/>
        </p:nvSpPr>
        <p:spPr>
          <a:xfrm>
            <a:off x="310787" y="4560831"/>
            <a:ext cx="4127831" cy="6370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F7DEADA-BA86-8E2D-C974-0A022C0DD4D3}"/>
              </a:ext>
            </a:extLst>
          </p:cNvPr>
          <p:cNvSpPr txBox="1"/>
          <p:nvPr/>
        </p:nvSpPr>
        <p:spPr>
          <a:xfrm>
            <a:off x="4735369" y="7929869"/>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Sailuh/pykumu</a:t>
            </a:r>
          </a:p>
        </p:txBody>
      </p:sp>
      <p:sp>
        <p:nvSpPr>
          <p:cNvPr id="22" name="TextBox 21">
            <a:extLst>
              <a:ext uri="{FF2B5EF4-FFF2-40B4-BE49-F238E27FC236}">
                <a16:creationId xmlns:a16="http://schemas.microsoft.com/office/drawing/2014/main" id="{FCF4E90E-3713-64EB-C1DD-E27B14DC52D3}"/>
              </a:ext>
            </a:extLst>
          </p:cNvPr>
          <p:cNvSpPr txBox="1"/>
          <p:nvPr/>
        </p:nvSpPr>
        <p:spPr>
          <a:xfrm>
            <a:off x="4710551" y="9719486"/>
            <a:ext cx="4522961"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err="1">
                <a:solidFill>
                  <a:srgbClr val="000000"/>
                </a:solidFill>
                <a:cs typeface="Helvetica"/>
              </a:rPr>
              <a:t>Kaiaulu</a:t>
            </a:r>
            <a:r>
              <a:rPr lang="en-US" b="0" dirty="0">
                <a:solidFill>
                  <a:srgbClr val="000000"/>
                </a:solidFill>
                <a:cs typeface="Helvetica"/>
              </a:rPr>
              <a:t> executables provide data from sources such as Mail, JIRA, GitHub, and other analyses, including social smells. </a:t>
            </a:r>
          </a:p>
        </p:txBody>
      </p:sp>
      <p:pic>
        <p:nvPicPr>
          <p:cNvPr id="60" name="Picture 59" descr="A close-up of a letter&#10;&#10;AI-generated content may be incorrect.">
            <a:extLst>
              <a:ext uri="{FF2B5EF4-FFF2-40B4-BE49-F238E27FC236}">
                <a16:creationId xmlns:a16="http://schemas.microsoft.com/office/drawing/2014/main" id="{ABB4BEF7-3DAA-BA77-7378-B34F253B3C48}"/>
              </a:ext>
            </a:extLst>
          </p:cNvPr>
          <p:cNvPicPr>
            <a:picLocks noChangeAspect="1"/>
          </p:cNvPicPr>
          <p:nvPr/>
        </p:nvPicPr>
        <p:blipFill>
          <a:blip r:embed="rId12"/>
          <a:stretch>
            <a:fillRect/>
          </a:stretch>
        </p:blipFill>
        <p:spPr>
          <a:xfrm>
            <a:off x="7419116" y="4462452"/>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CA03B833-2405-DB84-AA59-0E7D11FC0508}"/>
              </a:ext>
            </a:extLst>
          </p:cNvPr>
          <p:cNvPicPr>
            <a:picLocks noChangeAspect="1"/>
          </p:cNvPicPr>
          <p:nvPr/>
        </p:nvPicPr>
        <p:blipFill>
          <a:blip r:embed="rId13"/>
          <a:stretch>
            <a:fillRect/>
          </a:stretch>
        </p:blipFill>
        <p:spPr>
          <a:xfrm>
            <a:off x="6243124" y="6167317"/>
            <a:ext cx="914258" cy="905585"/>
          </a:xfrm>
          <a:prstGeom prst="rect">
            <a:avLst/>
          </a:prstGeom>
        </p:spPr>
      </p:pic>
      <p:pic>
        <p:nvPicPr>
          <p:cNvPr id="43" name="Picture 42">
            <a:extLst>
              <a:ext uri="{FF2B5EF4-FFF2-40B4-BE49-F238E27FC236}">
                <a16:creationId xmlns:a16="http://schemas.microsoft.com/office/drawing/2014/main" id="{8F598E05-D238-4C0F-D32E-DE52D3F32E91}"/>
              </a:ext>
            </a:extLst>
          </p:cNvPr>
          <p:cNvPicPr>
            <a:picLocks noChangeAspect="1"/>
          </p:cNvPicPr>
          <p:nvPr/>
        </p:nvPicPr>
        <p:blipFill>
          <a:blip r:embed="rId14"/>
          <a:stretch>
            <a:fillRect/>
          </a:stretch>
        </p:blipFill>
        <p:spPr>
          <a:xfrm>
            <a:off x="8508987" y="4481030"/>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660E531D-F62F-DCA3-AC9E-740BC1A024BD}"/>
              </a:ext>
            </a:extLst>
          </p:cNvPr>
          <p:cNvSpPr txBox="1"/>
          <p:nvPr/>
        </p:nvSpPr>
        <p:spPr>
          <a:xfrm>
            <a:off x="8509461" y="485904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6E6A05E2-B224-1735-F643-2B4E4A26D0C9}"/>
              </a:ext>
            </a:extLst>
          </p:cNvPr>
          <p:cNvSpPr txBox="1"/>
          <p:nvPr/>
        </p:nvSpPr>
        <p:spPr>
          <a:xfrm>
            <a:off x="7981261" y="484903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52801169-F0E0-01C6-9A95-71D7173E6983}"/>
              </a:ext>
            </a:extLst>
          </p:cNvPr>
          <p:cNvSpPr txBox="1"/>
          <p:nvPr/>
        </p:nvSpPr>
        <p:spPr>
          <a:xfrm>
            <a:off x="7417908" y="483482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mc:AlternateContent xmlns:mc="http://schemas.openxmlformats.org/markup-compatibility/2006" xmlns:p14="http://schemas.microsoft.com/office/powerpoint/2010/main">
        <mc:Choice Requires="p14">
          <p:contentPart p14:bwMode="auto" r:id="rId15">
            <p14:nvContentPartPr>
              <p14:cNvPr id="300" name="Ink 299">
                <a:extLst>
                  <a:ext uri="{FF2B5EF4-FFF2-40B4-BE49-F238E27FC236}">
                    <a16:creationId xmlns:a16="http://schemas.microsoft.com/office/drawing/2014/main" id="{AE22036C-25B8-FAEB-ED41-7836637D79ED}"/>
                  </a:ext>
                </a:extLst>
              </p14:cNvPr>
              <p14:cNvContentPartPr/>
              <p14:nvPr/>
            </p14:nvContentPartPr>
            <p14:xfrm>
              <a:off x="8237478" y="6581665"/>
              <a:ext cx="13744" cy="13744"/>
            </p14:xfrm>
          </p:contentPart>
        </mc:Choice>
        <mc:Fallback xmlns="">
          <p:pic>
            <p:nvPicPr>
              <p:cNvPr id="300" name="Ink 299">
                <a:extLst>
                  <a:ext uri="{FF2B5EF4-FFF2-40B4-BE49-F238E27FC236}">
                    <a16:creationId xmlns:a16="http://schemas.microsoft.com/office/drawing/2014/main" id="{AE22036C-25B8-FAEB-ED41-7836637D79ED}"/>
                  </a:ext>
                </a:extLst>
              </p:cNvPr>
              <p:cNvPicPr/>
              <p:nvPr/>
            </p:nvPicPr>
            <p:blipFill>
              <a:blip r:embed="rId16"/>
              <a:stretch>
                <a:fillRect/>
              </a:stretch>
            </p:blipFill>
            <p:spPr>
              <a:xfrm>
                <a:off x="7550278" y="5894465"/>
                <a:ext cx="1374400" cy="1374400"/>
              </a:xfrm>
              <a:prstGeom prst="rect">
                <a:avLst/>
              </a:prstGeom>
            </p:spPr>
          </p:pic>
        </mc:Fallback>
      </mc:AlternateContent>
      <p:sp>
        <p:nvSpPr>
          <p:cNvPr id="318" name="Rectangle 317">
            <a:extLst>
              <a:ext uri="{FF2B5EF4-FFF2-40B4-BE49-F238E27FC236}">
                <a16:creationId xmlns:a16="http://schemas.microsoft.com/office/drawing/2014/main" id="{BBA18696-96D1-B6BF-47D9-288BB1426368}"/>
              </a:ext>
            </a:extLst>
          </p:cNvPr>
          <p:cNvSpPr/>
          <p:nvPr/>
        </p:nvSpPr>
        <p:spPr>
          <a:xfrm>
            <a:off x="3004804" y="763620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DC7D4716-BC43-9BD7-D7D0-1709311BD5E7}"/>
              </a:ext>
            </a:extLst>
          </p:cNvPr>
          <p:cNvSpPr/>
          <p:nvPr/>
        </p:nvSpPr>
        <p:spPr>
          <a:xfrm>
            <a:off x="2499832" y="803890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317E450A-CE4D-2540-472D-A8FB2353CD22}"/>
              </a:ext>
            </a:extLst>
          </p:cNvPr>
          <p:cNvSpPr/>
          <p:nvPr/>
        </p:nvSpPr>
        <p:spPr>
          <a:xfrm>
            <a:off x="3340229" y="8038908"/>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28352C37-2158-ACFB-400C-0C74D659E9A2}"/>
              </a:ext>
            </a:extLst>
          </p:cNvPr>
          <p:cNvCxnSpPr/>
          <p:nvPr/>
        </p:nvCxnSpPr>
        <p:spPr>
          <a:xfrm rot="16200000" flipH="1">
            <a:off x="3812006" y="7802510"/>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54D55608-C7AF-2290-6DE7-A97BC385F5D1}"/>
              </a:ext>
            </a:extLst>
          </p:cNvPr>
          <p:cNvCxnSpPr>
            <a:cxnSpLocks/>
          </p:cNvCxnSpPr>
          <p:nvPr/>
        </p:nvCxnSpPr>
        <p:spPr>
          <a:xfrm rot="10800000" flipH="1">
            <a:off x="2783498" y="7808928"/>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368AA11D-9D07-7F72-5A3A-64F61190E28A}"/>
              </a:ext>
            </a:extLst>
          </p:cNvPr>
          <p:cNvCxnSpPr>
            <a:cxnSpLocks/>
          </p:cNvCxnSpPr>
          <p:nvPr/>
        </p:nvCxnSpPr>
        <p:spPr>
          <a:xfrm rot="2700000" flipH="1">
            <a:off x="3168733" y="828288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776FD395-0226-8C9F-1151-CF943F563A40}"/>
              </a:ext>
            </a:extLst>
          </p:cNvPr>
          <p:cNvSpPr txBox="1"/>
          <p:nvPr/>
        </p:nvSpPr>
        <p:spPr>
          <a:xfrm>
            <a:off x="3008743" y="7560173"/>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AE7450D8-FF8B-EAB2-748F-EF574B3B32AB}"/>
              </a:ext>
            </a:extLst>
          </p:cNvPr>
          <p:cNvSpPr txBox="1"/>
          <p:nvPr/>
        </p:nvSpPr>
        <p:spPr>
          <a:xfrm>
            <a:off x="2523213" y="7964355"/>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EADC233F-1F61-D171-8754-FC44B80A7E38}"/>
              </a:ext>
            </a:extLst>
          </p:cNvPr>
          <p:cNvSpPr txBox="1"/>
          <p:nvPr/>
        </p:nvSpPr>
        <p:spPr>
          <a:xfrm>
            <a:off x="3357192" y="797209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57" name="Rectangle 56">
            <a:extLst>
              <a:ext uri="{FF2B5EF4-FFF2-40B4-BE49-F238E27FC236}">
                <a16:creationId xmlns:a16="http://schemas.microsoft.com/office/drawing/2014/main" id="{68E42369-F2DD-0C81-9EB5-59F51B16AE5A}"/>
              </a:ext>
            </a:extLst>
          </p:cNvPr>
          <p:cNvSpPr/>
          <p:nvPr/>
        </p:nvSpPr>
        <p:spPr>
          <a:xfrm>
            <a:off x="2918994" y="9225807"/>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BC08D9B1-76C0-9844-B6F9-306DCF23CE3A}"/>
              </a:ext>
            </a:extLst>
          </p:cNvPr>
          <p:cNvSpPr txBox="1"/>
          <p:nvPr/>
        </p:nvSpPr>
        <p:spPr>
          <a:xfrm>
            <a:off x="2914837" y="9323536"/>
            <a:ext cx="1357903" cy="818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kumimoji="0" lang="en-US" sz="1900" i="0" u="none" strike="noStrike" cap="none" spc="0" normalizeH="0" baseline="0" dirty="0">
                <a:ln>
                  <a:noFill/>
                </a:ln>
                <a:solidFill>
                  <a:srgbClr val="000000"/>
                </a:solidFill>
                <a:effectLst/>
                <a:uFillTx/>
                <a:latin typeface="Source Sans Pro"/>
                <a:ea typeface="Source Sans Pro"/>
                <a:cs typeface="Source Sans Pro"/>
                <a:sym typeface="Source Sans Pro"/>
              </a:rPr>
              <a:t>&gt;</a:t>
            </a:r>
            <a:r>
              <a:rPr kumimoji="0" lang="en-US" sz="1100" b="1" i="0" u="none" strike="noStrike" cap="none" spc="0" normalizeH="0" baseline="0" dirty="0">
                <a:ln>
                  <a:noFill/>
                </a:ln>
                <a:solidFill>
                  <a:srgbClr val="000000"/>
                </a:solidFill>
                <a:effectLst/>
                <a:uFillTx/>
                <a:latin typeface="Source Sans Pro"/>
                <a:ea typeface="Source Sans Pro"/>
                <a:cs typeface="Source Sans Pro"/>
                <a:sym typeface="Source Sans Pro"/>
              </a:rPr>
              <a:t> </a:t>
            </a:r>
            <a:r>
              <a:rPr kumimoji="0" lang="en-US" sz="1100" b="1" i="0" u="none" strike="noStrike" cap="none" spc="0" normalizeH="0" baseline="0" dirty="0" err="1">
                <a:ln>
                  <a:noFill/>
                </a:ln>
                <a:solidFill>
                  <a:srgbClr val="000000"/>
                </a:solidFill>
                <a:effectLst/>
                <a:uFillTx/>
                <a:latin typeface="Source Sans Pro"/>
                <a:ea typeface="Source Sans Pro"/>
                <a:cs typeface="Source Sans Pro"/>
                <a:sym typeface="Source Sans Pro"/>
              </a:rPr>
              <a:t>Rscript</a:t>
            </a:r>
            <a:r>
              <a:rPr lang="en-US" sz="1100" dirty="0">
                <a:solidFill>
                  <a:srgbClr val="000000"/>
                </a:solidFill>
              </a:rPr>
              <a:t> </a:t>
            </a:r>
            <a:r>
              <a:rPr lang="en-US" dirty="0">
                <a:solidFill>
                  <a:srgbClr val="0B4EB2"/>
                </a:solidFill>
              </a:rPr>
              <a:t>exec/*.R</a:t>
            </a:r>
            <a:endParaRPr lang="en-US" b="0" dirty="0">
              <a:solidFill>
                <a:srgbClr val="000000"/>
              </a:solidFill>
            </a:endParaRPr>
          </a:p>
          <a:p>
            <a:r>
              <a:rPr lang="en-US" sz="1100" dirty="0">
                <a:solidFill>
                  <a:srgbClr val="000000"/>
                </a:solidFill>
              </a:rPr>
              <a:t> </a:t>
            </a:r>
            <a:r>
              <a:rPr kumimoji="0" lang="en-US" sz="1100" b="1" i="0" u="none" strike="noStrike" cap="none" spc="0" normalizeH="0" baseline="0" dirty="0">
                <a:ln>
                  <a:noFill/>
                </a:ln>
                <a:solidFill>
                  <a:srgbClr val="000000"/>
                </a:solidFill>
                <a:effectLst/>
                <a:uFillTx/>
                <a:latin typeface="Source Sans Pro"/>
                <a:ea typeface="Source Sans Pro"/>
                <a:cs typeface="Source Sans Pro"/>
                <a:sym typeface="Source Sans Pro"/>
              </a:rPr>
              <a:t>project1.yml</a:t>
            </a:r>
            <a:endParaRPr lang="en-US" dirty="0"/>
          </a:p>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rgbClr val="000000"/>
                </a:solidFill>
              </a:rPr>
              <a:t>analysisB.yml</a:t>
            </a:r>
            <a:endParaRPr lang="en-US" sz="1100" b="1" i="0" u="none" strike="noStrike" cap="none" spc="0" normalizeH="0" baseline="0" dirty="0">
              <a:ln>
                <a:noFill/>
              </a:ln>
              <a:solidFill>
                <a:srgbClr val="000000"/>
              </a:solidFill>
              <a:effectLst/>
              <a:uFillTx/>
              <a:latin typeface="Source Sans Pro"/>
              <a:ea typeface="Source Sans Pro"/>
              <a:cs typeface="Source Sans Pro"/>
            </a:endParaRPr>
          </a:p>
        </p:txBody>
      </p:sp>
      <p:sp>
        <p:nvSpPr>
          <p:cNvPr id="258" name="TextBox 766">
            <a:extLst>
              <a:ext uri="{FF2B5EF4-FFF2-40B4-BE49-F238E27FC236}">
                <a16:creationId xmlns:a16="http://schemas.microsoft.com/office/drawing/2014/main" id="{5552F0C6-5C1E-F9A5-65EB-6E3687CEEEFD}"/>
              </a:ext>
            </a:extLst>
          </p:cNvPr>
          <p:cNvSpPr txBox="1"/>
          <p:nvPr/>
        </p:nvSpPr>
        <p:spPr>
          <a:xfrm>
            <a:off x="484057" y="747880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451DA07C-308B-C557-592F-082C6266A2EE}"/>
              </a:ext>
            </a:extLst>
          </p:cNvPr>
          <p:cNvSpPr txBox="1"/>
          <p:nvPr/>
        </p:nvSpPr>
        <p:spPr>
          <a:xfrm>
            <a:off x="2910994" y="8937743"/>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27268C1F-35C6-538D-53E9-9177C60E0B1A}"/>
              </a:ext>
            </a:extLst>
          </p:cNvPr>
          <p:cNvSpPr txBox="1"/>
          <p:nvPr/>
        </p:nvSpPr>
        <p:spPr>
          <a:xfrm>
            <a:off x="2509455" y="747244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FBD6ABE1-3003-83A2-E473-28B5256C9596}"/>
              </a:ext>
            </a:extLst>
          </p:cNvPr>
          <p:cNvSpPr txBox="1"/>
          <p:nvPr/>
        </p:nvSpPr>
        <p:spPr>
          <a:xfrm>
            <a:off x="292087" y="8470716"/>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CDE60857-8810-5F4A-10EB-B94C65B4AD16}"/>
              </a:ext>
            </a:extLst>
          </p:cNvPr>
          <p:cNvGrpSpPr/>
          <p:nvPr/>
        </p:nvGrpSpPr>
        <p:grpSpPr>
          <a:xfrm>
            <a:off x="299450" y="8693770"/>
            <a:ext cx="1454607" cy="1359206"/>
            <a:chOff x="4888883" y="5320096"/>
            <a:chExt cx="1741511" cy="1781653"/>
          </a:xfrm>
        </p:grpSpPr>
        <p:sp>
          <p:nvSpPr>
            <p:cNvPr id="277" name="Rectangle 276">
              <a:extLst>
                <a:ext uri="{FF2B5EF4-FFF2-40B4-BE49-F238E27FC236}">
                  <a16:creationId xmlns:a16="http://schemas.microsoft.com/office/drawing/2014/main" id="{C9A5E9CF-C974-7C88-6B0D-20F0BE9B339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9" name="Rectangle 288">
              <a:extLst>
                <a:ext uri="{FF2B5EF4-FFF2-40B4-BE49-F238E27FC236}">
                  <a16:creationId xmlns:a16="http://schemas.microsoft.com/office/drawing/2014/main" id="{EF74A674-BB84-2980-869D-FA0565645F90}"/>
                </a:ext>
              </a:extLst>
            </p:cNvPr>
            <p:cNvSpPr/>
            <p:nvPr/>
          </p:nvSpPr>
          <p:spPr>
            <a:xfrm>
              <a:off x="4993880" y="6280151"/>
              <a:ext cx="1199524" cy="448998"/>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4" name="TextBox 5">
              <a:extLst>
                <a:ext uri="{FF2B5EF4-FFF2-40B4-BE49-F238E27FC236}">
                  <a16:creationId xmlns:a16="http://schemas.microsoft.com/office/drawing/2014/main" id="{2DC3A4BF-6A40-374D-49FC-D69ECD878F19}"/>
                </a:ext>
              </a:extLst>
            </p:cNvPr>
            <p:cNvSpPr txBox="1"/>
            <p:nvPr/>
          </p:nvSpPr>
          <p:spPr>
            <a:xfrm>
              <a:off x="4982573" y="6243478"/>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sp>
          <p:nvSpPr>
            <p:cNvPr id="281" name="TextBox 754">
              <a:extLst>
                <a:ext uri="{FF2B5EF4-FFF2-40B4-BE49-F238E27FC236}">
                  <a16:creationId xmlns:a16="http://schemas.microsoft.com/office/drawing/2014/main" id="{34C24F6F-B82A-E579-3596-39891A5D3A4F}"/>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28E946CC-EAA7-1714-F89C-53215DE1D3B9}"/>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47D6FA88-D211-5AFB-034C-423C05C7C152}"/>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DF234E55-823C-9F26-DB0B-B4814AF5CB30}"/>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CE7D6008-F7FA-594E-EB5C-668132E4DF0D}"/>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404BF60E-4D84-0FA0-8A94-887336E91271}"/>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CA89452C-5051-D000-01BC-B255940DCF89}"/>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91" name="Rectangle 290">
              <a:extLst>
                <a:ext uri="{FF2B5EF4-FFF2-40B4-BE49-F238E27FC236}">
                  <a16:creationId xmlns:a16="http://schemas.microsoft.com/office/drawing/2014/main" id="{51656023-70D6-416F-AE5E-B18357B0963D}"/>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57F6E9C0-DF68-48B4-C5F5-8659410E0E32}"/>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grpSp>
          <p:nvGrpSpPr>
            <p:cNvPr id="295" name="Group 294">
              <a:extLst>
                <a:ext uri="{FF2B5EF4-FFF2-40B4-BE49-F238E27FC236}">
                  <a16:creationId xmlns:a16="http://schemas.microsoft.com/office/drawing/2014/main" id="{DDF8E54D-EDA2-C335-ADB6-50532ACCD11B}"/>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ACC26051-ADEF-9A77-5E0F-D287CDC5DBA6}"/>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BE901A3B-A8DF-1B8C-9731-2E658981A693}"/>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67813DE7-E7F1-C076-C925-07237BE8BD15}"/>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53C4964F-C1A6-1934-859E-3BF0695BC069}"/>
              </a:ext>
            </a:extLst>
          </p:cNvPr>
          <p:cNvSpPr/>
          <p:nvPr/>
        </p:nvSpPr>
        <p:spPr>
          <a:xfrm>
            <a:off x="892950" y="763625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1F589179-A5B8-E2AD-CECC-CDB71AD2D335}"/>
              </a:ext>
            </a:extLst>
          </p:cNvPr>
          <p:cNvSpPr/>
          <p:nvPr/>
        </p:nvSpPr>
        <p:spPr>
          <a:xfrm>
            <a:off x="387877" y="803896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657FD141-D727-9579-917A-DF8E4E24F469}"/>
              </a:ext>
            </a:extLst>
          </p:cNvPr>
          <p:cNvSpPr/>
          <p:nvPr/>
        </p:nvSpPr>
        <p:spPr>
          <a:xfrm>
            <a:off x="1228441" y="8038960"/>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B531469A-FE06-F88D-34F9-1DA2E84F2444}"/>
              </a:ext>
            </a:extLst>
          </p:cNvPr>
          <p:cNvCxnSpPr>
            <a:cxnSpLocks/>
          </p:cNvCxnSpPr>
          <p:nvPr/>
        </p:nvCxnSpPr>
        <p:spPr>
          <a:xfrm rot="16200000" flipH="1">
            <a:off x="1700312" y="7802561"/>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4218741F-2936-4CE5-A0BB-335B91D10673}"/>
              </a:ext>
            </a:extLst>
          </p:cNvPr>
          <p:cNvCxnSpPr>
            <a:cxnSpLocks/>
          </p:cNvCxnSpPr>
          <p:nvPr/>
        </p:nvCxnSpPr>
        <p:spPr>
          <a:xfrm rot="10800000" flipH="1">
            <a:off x="671600" y="7808980"/>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0D58ACD1-B904-6A18-981C-4CCB85C4BB15}"/>
              </a:ext>
            </a:extLst>
          </p:cNvPr>
          <p:cNvCxnSpPr>
            <a:cxnSpLocks/>
          </p:cNvCxnSpPr>
          <p:nvPr/>
        </p:nvCxnSpPr>
        <p:spPr>
          <a:xfrm rot="2700000" flipH="1">
            <a:off x="1056911" y="8282936"/>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D08C86BB-32C7-3FF2-FACC-01F8B4696791}"/>
              </a:ext>
            </a:extLst>
          </p:cNvPr>
          <p:cNvSpPr txBox="1"/>
          <p:nvPr/>
        </p:nvSpPr>
        <p:spPr>
          <a:xfrm>
            <a:off x="896889" y="7560225"/>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B5E2BA11-32F4-7923-F937-A1CDA5DFC27F}"/>
              </a:ext>
            </a:extLst>
          </p:cNvPr>
          <p:cNvSpPr txBox="1"/>
          <p:nvPr/>
        </p:nvSpPr>
        <p:spPr>
          <a:xfrm>
            <a:off x="411263" y="7964406"/>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509B9B95-61B1-BDA9-6DA2-9BE76C7A6814}"/>
              </a:ext>
            </a:extLst>
          </p:cNvPr>
          <p:cNvSpPr txBox="1"/>
          <p:nvPr/>
        </p:nvSpPr>
        <p:spPr>
          <a:xfrm>
            <a:off x="1245408" y="797214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50" name="Straight Arrow Connector 349">
            <a:extLst>
              <a:ext uri="{FF2B5EF4-FFF2-40B4-BE49-F238E27FC236}">
                <a16:creationId xmlns:a16="http://schemas.microsoft.com/office/drawing/2014/main" id="{73101DA8-A3D0-9170-ECA6-AB110756890C}"/>
              </a:ext>
            </a:extLst>
          </p:cNvPr>
          <p:cNvCxnSpPr/>
          <p:nvPr/>
        </p:nvCxnSpPr>
        <p:spPr>
          <a:xfrm>
            <a:off x="3416547" y="8541264"/>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BFD013EC-D705-2FC5-8E71-F27BA8D8F8CE}"/>
              </a:ext>
            </a:extLst>
          </p:cNvPr>
          <p:cNvSpPr txBox="1"/>
          <p:nvPr/>
        </p:nvSpPr>
        <p:spPr>
          <a:xfrm>
            <a:off x="3488746" y="8620398"/>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BD6F1853-0CFD-7757-4952-4B1FE37364B4}"/>
              </a:ext>
            </a:extLst>
          </p:cNvPr>
          <p:cNvSpPr txBox="1"/>
          <p:nvPr/>
        </p:nvSpPr>
        <p:spPr>
          <a:xfrm>
            <a:off x="2915551" y="9216125"/>
            <a:ext cx="1340573"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AAB5F834-CF2A-DA4C-9DF4-A7B96EFB2E1E}"/>
              </a:ext>
            </a:extLst>
          </p:cNvPr>
          <p:cNvSpPr txBox="1"/>
          <p:nvPr/>
        </p:nvSpPr>
        <p:spPr>
          <a:xfrm>
            <a:off x="3738365" y="8821827"/>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986ABA7F-0CDC-22F2-C2B8-35D8DB345452}"/>
              </a:ext>
            </a:extLst>
          </p:cNvPr>
          <p:cNvSpPr txBox="1"/>
          <p:nvPr/>
        </p:nvSpPr>
        <p:spPr>
          <a:xfrm>
            <a:off x="1996975" y="8592927"/>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8C0B5DF2-0BE9-19C5-DF42-8DB87EDB077A}"/>
              </a:ext>
            </a:extLst>
          </p:cNvPr>
          <p:cNvCxnSpPr/>
          <p:nvPr/>
        </p:nvCxnSpPr>
        <p:spPr>
          <a:xfrm flipH="1">
            <a:off x="1713673" y="9575828"/>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86998E1E-60C5-4837-1769-D43E3F0E2B3E}"/>
              </a:ext>
            </a:extLst>
          </p:cNvPr>
          <p:cNvCxnSpPr/>
          <p:nvPr/>
        </p:nvCxnSpPr>
        <p:spPr>
          <a:xfrm flipH="1">
            <a:off x="1983283" y="8527771"/>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3BBA75B9-AD4C-18D5-DE84-906A03298FDF}"/>
              </a:ext>
            </a:extLst>
          </p:cNvPr>
          <p:cNvSpPr txBox="1"/>
          <p:nvPr/>
        </p:nvSpPr>
        <p:spPr>
          <a:xfrm>
            <a:off x="5011890" y="5454558"/>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FD4B199C-CC7E-27E1-4353-DC262335685A}"/>
              </a:ext>
            </a:extLst>
          </p:cNvPr>
          <p:cNvSpPr txBox="1"/>
          <p:nvPr/>
        </p:nvSpPr>
        <p:spPr>
          <a:xfrm>
            <a:off x="6022638" y="5455499"/>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analysis.yml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EC651565-A812-E7ED-EA1E-F018713E96E1}"/>
              </a:ext>
            </a:extLst>
          </p:cNvPr>
          <p:cNvPicPr>
            <a:picLocks noChangeAspect="1"/>
          </p:cNvPicPr>
          <p:nvPr/>
        </p:nvPicPr>
        <p:blipFill>
          <a:blip r:embed="rId17"/>
          <a:stretch>
            <a:fillRect/>
          </a:stretch>
        </p:blipFill>
        <p:spPr>
          <a:xfrm>
            <a:off x="5161656" y="4700873"/>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1CF413F4-4C8F-96C0-4796-4466DE0A29D4}"/>
              </a:ext>
            </a:extLst>
          </p:cNvPr>
          <p:cNvPicPr>
            <a:picLocks noChangeAspect="1"/>
          </p:cNvPicPr>
          <p:nvPr/>
        </p:nvPicPr>
        <p:blipFill>
          <a:blip r:embed="rId17"/>
          <a:stretch>
            <a:fillRect/>
          </a:stretch>
        </p:blipFill>
        <p:spPr>
          <a:xfrm>
            <a:off x="6146433" y="4700873"/>
            <a:ext cx="666623" cy="838200"/>
          </a:xfrm>
          <a:prstGeom prst="rect">
            <a:avLst/>
          </a:prstGeom>
        </p:spPr>
      </p:pic>
      <p:pic>
        <p:nvPicPr>
          <p:cNvPr id="359" name="Picture 358">
            <a:extLst>
              <a:ext uri="{FF2B5EF4-FFF2-40B4-BE49-F238E27FC236}">
                <a16:creationId xmlns:a16="http://schemas.microsoft.com/office/drawing/2014/main" id="{D9D353C7-35F6-29B0-8A7A-CB53F7511B98}"/>
              </a:ext>
            </a:extLst>
          </p:cNvPr>
          <p:cNvPicPr>
            <a:picLocks noChangeAspect="1"/>
          </p:cNvPicPr>
          <p:nvPr/>
        </p:nvPicPr>
        <p:blipFill>
          <a:blip r:embed="rId14"/>
          <a:stretch>
            <a:fillRect/>
          </a:stretch>
        </p:blipFill>
        <p:spPr>
          <a:xfrm>
            <a:off x="7909422" y="4481066"/>
            <a:ext cx="554321" cy="415604"/>
          </a:xfrm>
          <a:prstGeom prst="rect">
            <a:avLst/>
          </a:prstGeom>
          <a:ln w="28575">
            <a:solidFill>
              <a:schemeClr val="bg1"/>
            </a:solidFill>
          </a:ln>
        </p:spPr>
      </p:pic>
      <p:pic>
        <p:nvPicPr>
          <p:cNvPr id="363" name="Picture 362">
            <a:extLst>
              <a:ext uri="{FF2B5EF4-FFF2-40B4-BE49-F238E27FC236}">
                <a16:creationId xmlns:a16="http://schemas.microsoft.com/office/drawing/2014/main" id="{6AE1E4D7-DFBB-FDD1-8562-90B0CCB13077}"/>
              </a:ext>
            </a:extLst>
          </p:cNvPr>
          <p:cNvPicPr>
            <a:picLocks noChangeAspect="1"/>
          </p:cNvPicPr>
          <p:nvPr/>
        </p:nvPicPr>
        <p:blipFill>
          <a:blip r:embed="rId13"/>
          <a:stretch>
            <a:fillRect/>
          </a:stretch>
        </p:blipFill>
        <p:spPr>
          <a:xfrm>
            <a:off x="11585418" y="3795869"/>
            <a:ext cx="538060" cy="507646"/>
          </a:xfrm>
          <a:prstGeom prst="rect">
            <a:avLst/>
          </a:prstGeom>
        </p:spPr>
      </p:pic>
      <p:sp>
        <p:nvSpPr>
          <p:cNvPr id="365" name="TextBox 364">
            <a:extLst>
              <a:ext uri="{FF2B5EF4-FFF2-40B4-BE49-F238E27FC236}">
                <a16:creationId xmlns:a16="http://schemas.microsoft.com/office/drawing/2014/main" id="{3EC82527-426F-3F0C-ABEA-D739C63DF29D}"/>
              </a:ext>
            </a:extLst>
          </p:cNvPr>
          <p:cNvSpPr txBox="1"/>
          <p:nvPr/>
        </p:nvSpPr>
        <p:spPr>
          <a:xfrm>
            <a:off x="11534104" y="4168473"/>
            <a:ext cx="940417"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solidFill>
                  <a:srgbClr val="0B4EB2"/>
                </a:solidFill>
              </a:rPr>
              <a:t>exec/*.R</a:t>
            </a:r>
            <a:endParaRPr lang="en-US" b="0">
              <a:solidFill>
                <a:srgbClr val="000000"/>
              </a:solidFill>
            </a:endParaRPr>
          </a:p>
          <a:p>
            <a:pPr marL="0" marR="0" indent="0" algn="l" defTabSz="584200">
              <a:lnSpc>
                <a:spcPct val="100000"/>
              </a:lnSpc>
              <a:spcBef>
                <a:spcPts val="200"/>
              </a:spcBef>
              <a:spcAft>
                <a:spcPts val="0"/>
              </a:spcAft>
              <a:buClrTx/>
              <a:buSzTx/>
              <a:buFontTx/>
              <a:buNone/>
              <a:tabLst/>
            </a:pP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A4B6C6D2-47F3-92EB-B7A9-75EDE957AA50}"/>
              </a:ext>
            </a:extLst>
          </p:cNvPr>
          <p:cNvSpPr txBox="1"/>
          <p:nvPr/>
        </p:nvSpPr>
        <p:spPr>
          <a:xfrm>
            <a:off x="9507228" y="6472353"/>
            <a:ext cx="24609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Pipelines</a:t>
            </a:r>
            <a:endParaRPr lang="en-US"/>
          </a:p>
        </p:txBody>
      </p:sp>
      <p:sp>
        <p:nvSpPr>
          <p:cNvPr id="367" name="TextBox 366">
            <a:extLst>
              <a:ext uri="{FF2B5EF4-FFF2-40B4-BE49-F238E27FC236}">
                <a16:creationId xmlns:a16="http://schemas.microsoft.com/office/drawing/2014/main" id="{0C34E4C1-6463-D292-8897-8E412FB3D48C}"/>
              </a:ext>
            </a:extLst>
          </p:cNvPr>
          <p:cNvSpPr txBox="1"/>
          <p:nvPr/>
        </p:nvSpPr>
        <p:spPr>
          <a:xfrm>
            <a:off x="9489530" y="6848377"/>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cs typeface="Helvetica"/>
              </a:rPr>
              <a:t>Executables can also be chained together to construct more complex pipelines. By using different combinations of </a:t>
            </a:r>
            <a:r>
              <a:rPr lang="en-US" b="0" dirty="0" err="1">
                <a:solidFill>
                  <a:srgbClr val="000000"/>
                </a:solidFill>
                <a:cs typeface="Helvetica"/>
              </a:rPr>
              <a:t>project.yml</a:t>
            </a:r>
            <a:r>
              <a:rPr lang="en-US" b="0" dirty="0">
                <a:solidFill>
                  <a:srgbClr val="000000"/>
                </a:solidFill>
                <a:cs typeface="Helvetica"/>
              </a:rPr>
              <a:t> and </a:t>
            </a:r>
            <a:r>
              <a:rPr lang="en-US" b="0" dirty="0" err="1">
                <a:solidFill>
                  <a:srgbClr val="000000"/>
                </a:solidFill>
                <a:cs typeface="Helvetica"/>
              </a:rPr>
              <a:t>analysis.yml</a:t>
            </a:r>
            <a:r>
              <a:rPr lang="en-US" b="0" dirty="0">
                <a:solidFill>
                  <a:srgbClr val="000000"/>
                </a:solidFill>
                <a:cs typeface="Helvetica"/>
              </a:rPr>
              <a:t> files, this can facilitate extending data pipelines, much like chaining commands in bash. </a:t>
            </a:r>
            <a:endParaRPr lang="en-US" dirty="0">
              <a:solidFill>
                <a:srgbClr val="000000"/>
              </a:solidFill>
            </a:endParaRPr>
          </a:p>
        </p:txBody>
      </p:sp>
      <p:sp>
        <p:nvSpPr>
          <p:cNvPr id="372" name="TextBox 371">
            <a:extLst>
              <a:ext uri="{FF2B5EF4-FFF2-40B4-BE49-F238E27FC236}">
                <a16:creationId xmlns:a16="http://schemas.microsoft.com/office/drawing/2014/main" id="{8DB97A55-2CF0-4119-9CDC-D6B86978C245}"/>
              </a:ext>
            </a:extLst>
          </p:cNvPr>
          <p:cNvSpPr txBox="1"/>
          <p:nvPr/>
        </p:nvSpPr>
        <p:spPr>
          <a:xfrm>
            <a:off x="4672584" y="1688503"/>
            <a:ext cx="4547018" cy="12610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Any project.yml files (1) can be combined with any analysis.yml files (2). This allows users to run the same analysis on multiple projects or run different analyses on the same project, reducing duplication of configuration sections. See Configuration (.yml) cheatsheet for more information.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4438DBAA-186E-F800-433E-6CFD2C160DCF}"/>
              </a:ext>
            </a:extLst>
          </p:cNvPr>
          <p:cNvSpPr txBox="1"/>
          <p:nvPr/>
        </p:nvSpPr>
        <p:spPr>
          <a:xfrm>
            <a:off x="4461143" y="1463040"/>
            <a:ext cx="4070303" cy="528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t">
            <a:spAutoFit/>
          </a:bodyPr>
          <a:lstStyle/>
          <a:p>
            <a:pPr lvl="1">
              <a:defRPr sz="2500" b="0">
                <a:solidFill>
                  <a:srgbClr val="628DB5"/>
                </a:solidFill>
              </a:defRPr>
            </a:pPr>
            <a:r>
              <a:rPr lang="en-US" sz="1800" dirty="0">
                <a:solidFill>
                  <a:schemeClr val="tx1"/>
                </a:solidFill>
                <a:cs typeface="Arial"/>
              </a:rPr>
              <a:t>Interchangeable Configurations</a:t>
            </a:r>
            <a:endParaRPr lang="en-US" sz="1800" dirty="0">
              <a:solidFill>
                <a:schemeClr val="tx1"/>
              </a:solidFill>
            </a:endParaRPr>
          </a:p>
          <a:p>
            <a:pPr lvl="1" indent="0">
              <a:lnSpc>
                <a:spcPct val="80000"/>
              </a:lnSpc>
              <a:spcBef>
                <a:spcPts val="0"/>
              </a:spcBef>
              <a:defRPr sz="2500" b="0">
                <a:solidFill>
                  <a:srgbClr val="628DB5"/>
                </a:solidFill>
              </a:defRPr>
            </a:pPr>
            <a:endParaRPr lang="en-US" sz="1800" dirty="0">
              <a:solidFill>
                <a:schemeClr val="tx1"/>
              </a:solidFill>
              <a:cs typeface="Arial"/>
            </a:endParaRPr>
          </a:p>
        </p:txBody>
      </p:sp>
      <p:sp>
        <p:nvSpPr>
          <p:cNvPr id="21" name="TextBox 20">
            <a:extLst>
              <a:ext uri="{FF2B5EF4-FFF2-40B4-BE49-F238E27FC236}">
                <a16:creationId xmlns:a16="http://schemas.microsoft.com/office/drawing/2014/main" id="{AA9BE487-107A-8404-41B2-E6AFB398D087}"/>
              </a:ext>
            </a:extLst>
          </p:cNvPr>
          <p:cNvSpPr txBox="1"/>
          <p:nvPr/>
        </p:nvSpPr>
        <p:spPr>
          <a:xfrm>
            <a:off x="6339064" y="6847726"/>
            <a:ext cx="718914"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a:solidFill>
                  <a:srgbClr val="0B4EB2"/>
                </a:solidFill>
                <a:cs typeface="Helvetica"/>
              </a:rPr>
              <a:t>exec/*.R</a:t>
            </a:r>
            <a:endParaRPr lang="en-US" b="1">
              <a:solidFill>
                <a:srgbClr val="0B4EB2"/>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a:extLst>
              <a:ext uri="{FF2B5EF4-FFF2-40B4-BE49-F238E27FC236}">
                <a16:creationId xmlns:a16="http://schemas.microsoft.com/office/drawing/2014/main" id="{CF3E97C7-6B57-D548-8EC8-5E8BD0C9470B}"/>
              </a:ext>
            </a:extLst>
          </p:cNvPr>
          <p:cNvPicPr>
            <a:picLocks noChangeAspect="1"/>
          </p:cNvPicPr>
          <p:nvPr/>
        </p:nvPicPr>
        <p:blipFill>
          <a:blip r:embed="rId13"/>
          <a:stretch>
            <a:fillRect/>
          </a:stretch>
        </p:blipFill>
        <p:spPr>
          <a:xfrm>
            <a:off x="10199549" y="8507016"/>
            <a:ext cx="538060" cy="507646"/>
          </a:xfrm>
          <a:prstGeom prst="rect">
            <a:avLst/>
          </a:prstGeom>
        </p:spPr>
      </p:pic>
      <p:pic>
        <p:nvPicPr>
          <p:cNvPr id="36" name="Picture 35">
            <a:extLst>
              <a:ext uri="{FF2B5EF4-FFF2-40B4-BE49-F238E27FC236}">
                <a16:creationId xmlns:a16="http://schemas.microsoft.com/office/drawing/2014/main" id="{9AB51507-4668-9192-3D64-28BC3F24E34C}"/>
              </a:ext>
            </a:extLst>
          </p:cNvPr>
          <p:cNvPicPr>
            <a:picLocks noChangeAspect="1"/>
          </p:cNvPicPr>
          <p:nvPr/>
        </p:nvPicPr>
        <p:blipFill>
          <a:blip r:embed="rId13"/>
          <a:stretch>
            <a:fillRect/>
          </a:stretch>
        </p:blipFill>
        <p:spPr>
          <a:xfrm>
            <a:off x="10199637" y="7868327"/>
            <a:ext cx="538060" cy="507646"/>
          </a:xfrm>
          <a:prstGeom prst="rect">
            <a:avLst/>
          </a:prstGeom>
        </p:spPr>
      </p:pic>
      <p:pic>
        <p:nvPicPr>
          <p:cNvPr id="46" name="Picture 45">
            <a:extLst>
              <a:ext uri="{FF2B5EF4-FFF2-40B4-BE49-F238E27FC236}">
                <a16:creationId xmlns:a16="http://schemas.microsoft.com/office/drawing/2014/main" id="{60A7490F-3CB7-6B9D-BBEF-C69EE9F0464A}"/>
              </a:ext>
            </a:extLst>
          </p:cNvPr>
          <p:cNvPicPr>
            <a:picLocks noChangeAspect="1"/>
          </p:cNvPicPr>
          <p:nvPr/>
        </p:nvPicPr>
        <p:blipFill>
          <a:blip r:embed="rId13"/>
          <a:stretch>
            <a:fillRect/>
          </a:stretch>
        </p:blipFill>
        <p:spPr>
          <a:xfrm>
            <a:off x="11441446" y="7850639"/>
            <a:ext cx="538060" cy="507646"/>
          </a:xfrm>
          <a:prstGeom prst="rect">
            <a:avLst/>
          </a:prstGeom>
        </p:spPr>
      </p:pic>
      <p:pic>
        <p:nvPicPr>
          <p:cNvPr id="59" name="Picture 58">
            <a:extLst>
              <a:ext uri="{FF2B5EF4-FFF2-40B4-BE49-F238E27FC236}">
                <a16:creationId xmlns:a16="http://schemas.microsoft.com/office/drawing/2014/main" id="{79022F78-7700-EAC4-D60C-98D3225FE9A1}"/>
              </a:ext>
            </a:extLst>
          </p:cNvPr>
          <p:cNvPicPr>
            <a:picLocks noChangeAspect="1"/>
          </p:cNvPicPr>
          <p:nvPr/>
        </p:nvPicPr>
        <p:blipFill>
          <a:blip r:embed="rId13"/>
          <a:stretch>
            <a:fillRect/>
          </a:stretch>
        </p:blipFill>
        <p:spPr>
          <a:xfrm>
            <a:off x="11477011" y="8507180"/>
            <a:ext cx="538060" cy="507646"/>
          </a:xfrm>
          <a:prstGeom prst="rect">
            <a:avLst/>
          </a:prstGeom>
        </p:spPr>
      </p:pic>
      <p:pic>
        <p:nvPicPr>
          <p:cNvPr id="61" name="table">
            <a:extLst>
              <a:ext uri="{FF2B5EF4-FFF2-40B4-BE49-F238E27FC236}">
                <a16:creationId xmlns:a16="http://schemas.microsoft.com/office/drawing/2014/main" id="{C8B0ECF8-2923-7DF5-4303-078D5C0012BA}"/>
              </a:ext>
            </a:extLst>
          </p:cNvPr>
          <p:cNvPicPr>
            <a:picLocks noChangeAspect="1"/>
          </p:cNvPicPr>
          <p:nvPr/>
        </p:nvPicPr>
        <p:blipFill>
          <a:blip r:embed="rId6"/>
          <a:stretch>
            <a:fillRect/>
          </a:stretch>
        </p:blipFill>
        <p:spPr>
          <a:xfrm>
            <a:off x="10965727" y="7980540"/>
            <a:ext cx="267508" cy="302355"/>
          </a:xfrm>
          <a:prstGeom prst="rect">
            <a:avLst/>
          </a:prstGeom>
        </p:spPr>
      </p:pic>
      <p:pic>
        <p:nvPicPr>
          <p:cNvPr id="62" name="table">
            <a:extLst>
              <a:ext uri="{FF2B5EF4-FFF2-40B4-BE49-F238E27FC236}">
                <a16:creationId xmlns:a16="http://schemas.microsoft.com/office/drawing/2014/main" id="{9C97E918-F51D-FE78-E08F-2F947EC4669E}"/>
              </a:ext>
            </a:extLst>
          </p:cNvPr>
          <p:cNvPicPr>
            <a:picLocks noChangeAspect="1"/>
          </p:cNvPicPr>
          <p:nvPr/>
        </p:nvPicPr>
        <p:blipFill>
          <a:blip r:embed="rId6"/>
          <a:stretch>
            <a:fillRect/>
          </a:stretch>
        </p:blipFill>
        <p:spPr>
          <a:xfrm>
            <a:off x="13575937" y="8849995"/>
            <a:ext cx="267508" cy="302355"/>
          </a:xfrm>
          <a:prstGeom prst="rect">
            <a:avLst/>
          </a:prstGeom>
        </p:spPr>
      </p:pic>
      <p:pic>
        <p:nvPicPr>
          <p:cNvPr id="63" name="table">
            <a:extLst>
              <a:ext uri="{FF2B5EF4-FFF2-40B4-BE49-F238E27FC236}">
                <a16:creationId xmlns:a16="http://schemas.microsoft.com/office/drawing/2014/main" id="{F2000093-683C-CBC4-2725-B4E1DD0431DA}"/>
              </a:ext>
            </a:extLst>
          </p:cNvPr>
          <p:cNvPicPr>
            <a:picLocks noChangeAspect="1"/>
          </p:cNvPicPr>
          <p:nvPr/>
        </p:nvPicPr>
        <p:blipFill>
          <a:blip r:embed="rId6"/>
          <a:stretch>
            <a:fillRect/>
          </a:stretch>
        </p:blipFill>
        <p:spPr>
          <a:xfrm>
            <a:off x="10968405" y="8646007"/>
            <a:ext cx="267508" cy="302355"/>
          </a:xfrm>
          <a:prstGeom prst="rect">
            <a:avLst/>
          </a:prstGeom>
        </p:spPr>
      </p:pic>
      <p:pic>
        <p:nvPicPr>
          <p:cNvPr id="256" name="table">
            <a:extLst>
              <a:ext uri="{FF2B5EF4-FFF2-40B4-BE49-F238E27FC236}">
                <a16:creationId xmlns:a16="http://schemas.microsoft.com/office/drawing/2014/main" id="{31C39AD7-3E55-B14D-5D3A-688B0D059B91}"/>
              </a:ext>
            </a:extLst>
          </p:cNvPr>
          <p:cNvPicPr>
            <a:picLocks noChangeAspect="1"/>
          </p:cNvPicPr>
          <p:nvPr/>
        </p:nvPicPr>
        <p:blipFill>
          <a:blip r:embed="rId6"/>
          <a:stretch>
            <a:fillRect/>
          </a:stretch>
        </p:blipFill>
        <p:spPr>
          <a:xfrm>
            <a:off x="12192476" y="7936346"/>
            <a:ext cx="267508" cy="302355"/>
          </a:xfrm>
          <a:prstGeom prst="rect">
            <a:avLst/>
          </a:prstGeom>
        </p:spPr>
      </p:pic>
      <p:pic>
        <p:nvPicPr>
          <p:cNvPr id="257" name="table">
            <a:extLst>
              <a:ext uri="{FF2B5EF4-FFF2-40B4-BE49-F238E27FC236}">
                <a16:creationId xmlns:a16="http://schemas.microsoft.com/office/drawing/2014/main" id="{46A5C4EE-FF6A-F6D1-5394-20AD21A63B5D}"/>
              </a:ext>
            </a:extLst>
          </p:cNvPr>
          <p:cNvPicPr>
            <a:picLocks noChangeAspect="1"/>
          </p:cNvPicPr>
          <p:nvPr/>
        </p:nvPicPr>
        <p:blipFill>
          <a:blip r:embed="rId6"/>
          <a:stretch>
            <a:fillRect/>
          </a:stretch>
        </p:blipFill>
        <p:spPr>
          <a:xfrm>
            <a:off x="12201431" y="8619501"/>
            <a:ext cx="267508" cy="302355"/>
          </a:xfrm>
          <a:prstGeom prst="rect">
            <a:avLst/>
          </a:prstGeom>
        </p:spPr>
      </p:pic>
      <p:pic>
        <p:nvPicPr>
          <p:cNvPr id="263" name="Picture 262">
            <a:extLst>
              <a:ext uri="{FF2B5EF4-FFF2-40B4-BE49-F238E27FC236}">
                <a16:creationId xmlns:a16="http://schemas.microsoft.com/office/drawing/2014/main" id="{65587AA4-A274-2167-9581-3AAAF1ADF4E5}"/>
              </a:ext>
            </a:extLst>
          </p:cNvPr>
          <p:cNvPicPr>
            <a:picLocks noChangeAspect="1"/>
          </p:cNvPicPr>
          <p:nvPr/>
        </p:nvPicPr>
        <p:blipFill>
          <a:blip r:embed="rId13"/>
          <a:stretch>
            <a:fillRect/>
          </a:stretch>
        </p:blipFill>
        <p:spPr>
          <a:xfrm>
            <a:off x="12836644" y="8764452"/>
            <a:ext cx="538060" cy="507646"/>
          </a:xfrm>
          <a:prstGeom prst="rect">
            <a:avLst/>
          </a:prstGeom>
        </p:spPr>
      </p:pic>
      <p:pic>
        <p:nvPicPr>
          <p:cNvPr id="267" name="Picture 266" descr="A close-up of a letter&#10;&#10;AI-generated content may be incorrect.">
            <a:extLst>
              <a:ext uri="{FF2B5EF4-FFF2-40B4-BE49-F238E27FC236}">
                <a16:creationId xmlns:a16="http://schemas.microsoft.com/office/drawing/2014/main" id="{878132F5-3389-78E5-B846-6D490CD4BD1F}"/>
              </a:ext>
            </a:extLst>
          </p:cNvPr>
          <p:cNvPicPr>
            <a:picLocks noChangeAspect="1"/>
          </p:cNvPicPr>
          <p:nvPr/>
        </p:nvPicPr>
        <p:blipFill>
          <a:blip r:embed="rId12"/>
          <a:stretch>
            <a:fillRect/>
          </a:stretch>
        </p:blipFill>
        <p:spPr>
          <a:xfrm>
            <a:off x="9495569" y="8532644"/>
            <a:ext cx="396915" cy="386557"/>
          </a:xfrm>
          <a:prstGeom prst="rect">
            <a:avLst/>
          </a:prstGeom>
          <a:ln w="28575">
            <a:solidFill>
              <a:schemeClr val="bg1"/>
            </a:solidFill>
          </a:ln>
        </p:spPr>
      </p:pic>
      <p:pic>
        <p:nvPicPr>
          <p:cNvPr id="278" name="Picture 277">
            <a:extLst>
              <a:ext uri="{FF2B5EF4-FFF2-40B4-BE49-F238E27FC236}">
                <a16:creationId xmlns:a16="http://schemas.microsoft.com/office/drawing/2014/main" id="{36EC99FC-0D7A-7700-CDA8-3F9A54D1FE61}"/>
              </a:ext>
            </a:extLst>
          </p:cNvPr>
          <p:cNvPicPr>
            <a:picLocks noChangeAspect="1"/>
          </p:cNvPicPr>
          <p:nvPr/>
        </p:nvPicPr>
        <p:blipFill>
          <a:blip r:embed="rId14"/>
          <a:stretch>
            <a:fillRect/>
          </a:stretch>
        </p:blipFill>
        <p:spPr>
          <a:xfrm>
            <a:off x="9494497" y="7930221"/>
            <a:ext cx="554321" cy="415604"/>
          </a:xfrm>
          <a:prstGeom prst="rect">
            <a:avLst/>
          </a:prstGeom>
          <a:ln w="28575">
            <a:solidFill>
              <a:schemeClr val="bg1"/>
            </a:solidFill>
          </a:ln>
        </p:spPr>
      </p:pic>
      <p:cxnSp>
        <p:nvCxnSpPr>
          <p:cNvPr id="279" name="Straight Arrow Connector 278">
            <a:extLst>
              <a:ext uri="{FF2B5EF4-FFF2-40B4-BE49-F238E27FC236}">
                <a16:creationId xmlns:a16="http://schemas.microsoft.com/office/drawing/2014/main" id="{4AB638C6-D00E-6E29-E3DB-FE40D0E71478}"/>
              </a:ext>
            </a:extLst>
          </p:cNvPr>
          <p:cNvCxnSpPr/>
          <p:nvPr/>
        </p:nvCxnSpPr>
        <p:spPr>
          <a:xfrm>
            <a:off x="10029205" y="811939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671B2D31-A5CD-AF34-86EC-A491A53C8369}"/>
              </a:ext>
            </a:extLst>
          </p:cNvPr>
          <p:cNvCxnSpPr>
            <a:cxnSpLocks/>
          </p:cNvCxnSpPr>
          <p:nvPr/>
        </p:nvCxnSpPr>
        <p:spPr>
          <a:xfrm>
            <a:off x="10696753" y="812832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0663ADFA-2B68-52D2-7E25-D58964BC77E3}"/>
              </a:ext>
            </a:extLst>
          </p:cNvPr>
          <p:cNvCxnSpPr>
            <a:cxnSpLocks/>
          </p:cNvCxnSpPr>
          <p:nvPr/>
        </p:nvCxnSpPr>
        <p:spPr>
          <a:xfrm>
            <a:off x="9969544" y="87937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3A686611-9251-97B1-F4BF-EE848475E2EC}"/>
              </a:ext>
            </a:extLst>
          </p:cNvPr>
          <p:cNvCxnSpPr>
            <a:cxnSpLocks/>
          </p:cNvCxnSpPr>
          <p:nvPr/>
        </p:nvCxnSpPr>
        <p:spPr>
          <a:xfrm>
            <a:off x="10696926" y="881153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DFF22EAB-9FB8-16BD-EBA1-3C30B0AE4A33}"/>
              </a:ext>
            </a:extLst>
          </p:cNvPr>
          <p:cNvCxnSpPr>
            <a:cxnSpLocks/>
          </p:cNvCxnSpPr>
          <p:nvPr/>
        </p:nvCxnSpPr>
        <p:spPr>
          <a:xfrm>
            <a:off x="11246918" y="811961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BB686367-5FE5-7606-A969-E865AFB50A81}"/>
              </a:ext>
            </a:extLst>
          </p:cNvPr>
          <p:cNvCxnSpPr>
            <a:cxnSpLocks/>
          </p:cNvCxnSpPr>
          <p:nvPr/>
        </p:nvCxnSpPr>
        <p:spPr>
          <a:xfrm>
            <a:off x="11238135" y="879389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9" name="Straight Arrow Connector 298">
            <a:extLst>
              <a:ext uri="{FF2B5EF4-FFF2-40B4-BE49-F238E27FC236}">
                <a16:creationId xmlns:a16="http://schemas.microsoft.com/office/drawing/2014/main" id="{661552C2-C8BF-223E-06FF-2EF05B198EE7}"/>
              </a:ext>
            </a:extLst>
          </p:cNvPr>
          <p:cNvCxnSpPr>
            <a:cxnSpLocks/>
          </p:cNvCxnSpPr>
          <p:nvPr/>
        </p:nvCxnSpPr>
        <p:spPr>
          <a:xfrm>
            <a:off x="11965517" y="879395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1" name="Straight Arrow Connector 300">
            <a:extLst>
              <a:ext uri="{FF2B5EF4-FFF2-40B4-BE49-F238E27FC236}">
                <a16:creationId xmlns:a16="http://schemas.microsoft.com/office/drawing/2014/main" id="{A218B5F7-7675-77AB-0D42-3F97E3D70D55}"/>
              </a:ext>
            </a:extLst>
          </p:cNvPr>
          <p:cNvCxnSpPr>
            <a:cxnSpLocks/>
          </p:cNvCxnSpPr>
          <p:nvPr/>
        </p:nvCxnSpPr>
        <p:spPr>
          <a:xfrm>
            <a:off x="11956735" y="812864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1" name="Straight Arrow Connector 310">
            <a:extLst>
              <a:ext uri="{FF2B5EF4-FFF2-40B4-BE49-F238E27FC236}">
                <a16:creationId xmlns:a16="http://schemas.microsoft.com/office/drawing/2014/main" id="{7057EEAA-AF3B-3195-0AF9-8A2F897A66B2}"/>
              </a:ext>
            </a:extLst>
          </p:cNvPr>
          <p:cNvCxnSpPr>
            <a:cxnSpLocks/>
          </p:cNvCxnSpPr>
          <p:nvPr/>
        </p:nvCxnSpPr>
        <p:spPr>
          <a:xfrm>
            <a:off x="13340455" y="901584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3" name="TextBox 332">
            <a:extLst>
              <a:ext uri="{FF2B5EF4-FFF2-40B4-BE49-F238E27FC236}">
                <a16:creationId xmlns:a16="http://schemas.microsoft.com/office/drawing/2014/main" id="{BDE26BEE-7FF5-5741-7452-A81BF6A19A94}"/>
              </a:ext>
            </a:extLst>
          </p:cNvPr>
          <p:cNvSpPr txBox="1"/>
          <p:nvPr/>
        </p:nvSpPr>
        <p:spPr>
          <a:xfrm>
            <a:off x="6674440" y="9077251"/>
            <a:ext cx="3206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336" name="Straight Arrow Connector 335">
            <a:extLst>
              <a:ext uri="{FF2B5EF4-FFF2-40B4-BE49-F238E27FC236}">
                <a16:creationId xmlns:a16="http://schemas.microsoft.com/office/drawing/2014/main" id="{4D4C9F69-B6CF-7F08-6010-4BDD30F0BE79}"/>
              </a:ext>
            </a:extLst>
          </p:cNvPr>
          <p:cNvCxnSpPr/>
          <p:nvPr/>
        </p:nvCxnSpPr>
        <p:spPr>
          <a:xfrm>
            <a:off x="5476160" y="5990099"/>
            <a:ext cx="2786744" cy="2054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Arrow Connector 338">
            <a:extLst>
              <a:ext uri="{FF2B5EF4-FFF2-40B4-BE49-F238E27FC236}">
                <a16:creationId xmlns:a16="http://schemas.microsoft.com/office/drawing/2014/main" id="{33AC309D-62D4-34C6-E9EC-BA7B92451202}"/>
              </a:ext>
            </a:extLst>
          </p:cNvPr>
          <p:cNvCxnSpPr/>
          <p:nvPr/>
        </p:nvCxnSpPr>
        <p:spPr>
          <a:xfrm>
            <a:off x="8240318" y="5254399"/>
            <a:ext cx="4975" cy="74632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0" name="Straight Arrow Connector 339">
            <a:extLst>
              <a:ext uri="{FF2B5EF4-FFF2-40B4-BE49-F238E27FC236}">
                <a16:creationId xmlns:a16="http://schemas.microsoft.com/office/drawing/2014/main" id="{6EB6D909-E0EA-A523-98D0-BD1B3E93FC63}"/>
              </a:ext>
            </a:extLst>
          </p:cNvPr>
          <p:cNvCxnSpPr/>
          <p:nvPr/>
        </p:nvCxnSpPr>
        <p:spPr>
          <a:xfrm flipH="1" flipV="1">
            <a:off x="5476491" y="5738690"/>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5" name="Straight Arrow Connector 354">
            <a:extLst>
              <a:ext uri="{FF2B5EF4-FFF2-40B4-BE49-F238E27FC236}">
                <a16:creationId xmlns:a16="http://schemas.microsoft.com/office/drawing/2014/main" id="{222DA967-868D-0B7A-A275-0D370047D32B}"/>
              </a:ext>
            </a:extLst>
          </p:cNvPr>
          <p:cNvCxnSpPr>
            <a:cxnSpLocks/>
          </p:cNvCxnSpPr>
          <p:nvPr/>
        </p:nvCxnSpPr>
        <p:spPr>
          <a:xfrm flipH="1" flipV="1">
            <a:off x="6452587" y="5731053"/>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6" name="Straight Arrow Connector 355">
            <a:extLst>
              <a:ext uri="{FF2B5EF4-FFF2-40B4-BE49-F238E27FC236}">
                <a16:creationId xmlns:a16="http://schemas.microsoft.com/office/drawing/2014/main" id="{05642E6A-A47A-8025-9F29-E31AE3663E2C}"/>
              </a:ext>
            </a:extLst>
          </p:cNvPr>
          <p:cNvCxnSpPr/>
          <p:nvPr/>
        </p:nvCxnSpPr>
        <p:spPr>
          <a:xfrm>
            <a:off x="6722531" y="5989650"/>
            <a:ext cx="4972" cy="2879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1CBA1AF2-C38F-7D07-EED4-4D59F5B0D3B6}"/>
              </a:ext>
            </a:extLst>
          </p:cNvPr>
          <p:cNvSpPr txBox="1"/>
          <p:nvPr/>
        </p:nvSpPr>
        <p:spPr>
          <a:xfrm rot="5400000">
            <a:off x="9399955" y="9171237"/>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 . .</a:t>
            </a:r>
          </a:p>
        </p:txBody>
      </p:sp>
      <p:pic>
        <p:nvPicPr>
          <p:cNvPr id="20" name="Picture 19">
            <a:extLst>
              <a:ext uri="{FF2B5EF4-FFF2-40B4-BE49-F238E27FC236}">
                <a16:creationId xmlns:a16="http://schemas.microsoft.com/office/drawing/2014/main" id="{D9BD99B7-E5F5-2DDC-130E-2F5101074375}"/>
              </a:ext>
            </a:extLst>
          </p:cNvPr>
          <p:cNvPicPr>
            <a:picLocks noChangeAspect="1"/>
          </p:cNvPicPr>
          <p:nvPr/>
        </p:nvPicPr>
        <p:blipFill>
          <a:blip r:embed="rId13"/>
          <a:stretch>
            <a:fillRect/>
          </a:stretch>
        </p:blipFill>
        <p:spPr>
          <a:xfrm>
            <a:off x="10193141" y="9536212"/>
            <a:ext cx="538060" cy="507646"/>
          </a:xfrm>
          <a:prstGeom prst="rect">
            <a:avLst/>
          </a:prstGeom>
        </p:spPr>
      </p:pic>
      <p:pic>
        <p:nvPicPr>
          <p:cNvPr id="26" name="Picture 25">
            <a:extLst>
              <a:ext uri="{FF2B5EF4-FFF2-40B4-BE49-F238E27FC236}">
                <a16:creationId xmlns:a16="http://schemas.microsoft.com/office/drawing/2014/main" id="{ABC68B19-DFF0-D7C6-E5D2-F49BBEAFFA5D}"/>
              </a:ext>
            </a:extLst>
          </p:cNvPr>
          <p:cNvPicPr>
            <a:picLocks noChangeAspect="1"/>
          </p:cNvPicPr>
          <p:nvPr/>
        </p:nvPicPr>
        <p:blipFill>
          <a:blip r:embed="rId13"/>
          <a:stretch>
            <a:fillRect/>
          </a:stretch>
        </p:blipFill>
        <p:spPr>
          <a:xfrm>
            <a:off x="11435228" y="9518524"/>
            <a:ext cx="538060" cy="507646"/>
          </a:xfrm>
          <a:prstGeom prst="rect">
            <a:avLst/>
          </a:prstGeom>
        </p:spPr>
      </p:pic>
      <p:pic>
        <p:nvPicPr>
          <p:cNvPr id="29" name="table">
            <a:extLst>
              <a:ext uri="{FF2B5EF4-FFF2-40B4-BE49-F238E27FC236}">
                <a16:creationId xmlns:a16="http://schemas.microsoft.com/office/drawing/2014/main" id="{856963DD-7A98-E87B-991B-BE4F3CA87AAE}"/>
              </a:ext>
            </a:extLst>
          </p:cNvPr>
          <p:cNvPicPr>
            <a:picLocks noChangeAspect="1"/>
          </p:cNvPicPr>
          <p:nvPr/>
        </p:nvPicPr>
        <p:blipFill>
          <a:blip r:embed="rId6"/>
          <a:stretch>
            <a:fillRect/>
          </a:stretch>
        </p:blipFill>
        <p:spPr>
          <a:xfrm>
            <a:off x="10959403" y="9648425"/>
            <a:ext cx="267508" cy="302355"/>
          </a:xfrm>
          <a:prstGeom prst="rect">
            <a:avLst/>
          </a:prstGeom>
        </p:spPr>
      </p:pic>
      <p:pic>
        <p:nvPicPr>
          <p:cNvPr id="34" name="table">
            <a:extLst>
              <a:ext uri="{FF2B5EF4-FFF2-40B4-BE49-F238E27FC236}">
                <a16:creationId xmlns:a16="http://schemas.microsoft.com/office/drawing/2014/main" id="{50D9F939-C086-BDAA-CF9E-555287D08576}"/>
              </a:ext>
            </a:extLst>
          </p:cNvPr>
          <p:cNvPicPr>
            <a:picLocks noChangeAspect="1"/>
          </p:cNvPicPr>
          <p:nvPr/>
        </p:nvPicPr>
        <p:blipFill>
          <a:blip r:embed="rId6"/>
          <a:stretch>
            <a:fillRect/>
          </a:stretch>
        </p:blipFill>
        <p:spPr>
          <a:xfrm>
            <a:off x="12186427" y="9604231"/>
            <a:ext cx="267508" cy="302355"/>
          </a:xfrm>
          <a:prstGeom prst="rect">
            <a:avLst/>
          </a:prstGeom>
        </p:spPr>
      </p:pic>
      <p:pic>
        <p:nvPicPr>
          <p:cNvPr id="35" name="Picture 34">
            <a:extLst>
              <a:ext uri="{FF2B5EF4-FFF2-40B4-BE49-F238E27FC236}">
                <a16:creationId xmlns:a16="http://schemas.microsoft.com/office/drawing/2014/main" id="{9876AACD-3CF3-C5BA-D3C9-BE28EDDF3CB1}"/>
              </a:ext>
            </a:extLst>
          </p:cNvPr>
          <p:cNvPicPr>
            <a:picLocks noChangeAspect="1"/>
          </p:cNvPicPr>
          <p:nvPr/>
        </p:nvPicPr>
        <p:blipFill>
          <a:blip r:embed="rId14"/>
          <a:stretch>
            <a:fillRect/>
          </a:stretch>
        </p:blipFill>
        <p:spPr>
          <a:xfrm>
            <a:off x="9487843" y="9598106"/>
            <a:ext cx="554321" cy="415604"/>
          </a:xfrm>
          <a:prstGeom prst="rect">
            <a:avLst/>
          </a:prstGeom>
          <a:ln w="28575">
            <a:solidFill>
              <a:schemeClr val="bg1"/>
            </a:solidFill>
          </a:ln>
        </p:spPr>
      </p:pic>
      <p:cxnSp>
        <p:nvCxnSpPr>
          <p:cNvPr id="268" name="Straight Arrow Connector 267">
            <a:extLst>
              <a:ext uri="{FF2B5EF4-FFF2-40B4-BE49-F238E27FC236}">
                <a16:creationId xmlns:a16="http://schemas.microsoft.com/office/drawing/2014/main" id="{EB193343-3617-BDA4-785B-1F8278A04249}"/>
              </a:ext>
            </a:extLst>
          </p:cNvPr>
          <p:cNvCxnSpPr>
            <a:cxnSpLocks/>
          </p:cNvCxnSpPr>
          <p:nvPr/>
        </p:nvCxnSpPr>
        <p:spPr>
          <a:xfrm>
            <a:off x="10022671" y="978728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7C4FF55D-D3D1-E3C7-554A-A1CA53F0A3CE}"/>
              </a:ext>
            </a:extLst>
          </p:cNvPr>
          <p:cNvCxnSpPr>
            <a:cxnSpLocks/>
          </p:cNvCxnSpPr>
          <p:nvPr/>
        </p:nvCxnSpPr>
        <p:spPr>
          <a:xfrm>
            <a:off x="10690368" y="979620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0" name="Straight Arrow Connector 269">
            <a:extLst>
              <a:ext uri="{FF2B5EF4-FFF2-40B4-BE49-F238E27FC236}">
                <a16:creationId xmlns:a16="http://schemas.microsoft.com/office/drawing/2014/main" id="{E7A72DDB-692C-CB01-7005-D05CDFF9E177}"/>
              </a:ext>
            </a:extLst>
          </p:cNvPr>
          <p:cNvCxnSpPr>
            <a:cxnSpLocks/>
          </p:cNvCxnSpPr>
          <p:nvPr/>
        </p:nvCxnSpPr>
        <p:spPr>
          <a:xfrm>
            <a:off x="11240657" y="978749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12716C29-01F1-4CCE-7393-13EE76B90218}"/>
              </a:ext>
            </a:extLst>
          </p:cNvPr>
          <p:cNvCxnSpPr>
            <a:cxnSpLocks/>
          </p:cNvCxnSpPr>
          <p:nvPr/>
        </p:nvCxnSpPr>
        <p:spPr>
          <a:xfrm>
            <a:off x="11950633" y="97965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B6D49C2D-95E8-9C99-C795-E1F5999ABB3E}"/>
              </a:ext>
            </a:extLst>
          </p:cNvPr>
          <p:cNvCxnSpPr/>
          <p:nvPr/>
        </p:nvCxnSpPr>
        <p:spPr>
          <a:xfrm>
            <a:off x="12480161" y="8108336"/>
            <a:ext cx="417374" cy="861135"/>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EA2D1540-7292-0608-1ABB-FCB079A54D07}"/>
              </a:ext>
            </a:extLst>
          </p:cNvPr>
          <p:cNvCxnSpPr/>
          <p:nvPr/>
        </p:nvCxnSpPr>
        <p:spPr>
          <a:xfrm flipV="1">
            <a:off x="12472261" y="9058034"/>
            <a:ext cx="399623" cy="727931"/>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9" name="Connector: Elbow 308">
            <a:extLst>
              <a:ext uri="{FF2B5EF4-FFF2-40B4-BE49-F238E27FC236}">
                <a16:creationId xmlns:a16="http://schemas.microsoft.com/office/drawing/2014/main" id="{61EE8D8F-CE65-2171-0FB0-E73E038B3459}"/>
              </a:ext>
            </a:extLst>
          </p:cNvPr>
          <p:cNvCxnSpPr/>
          <p:nvPr/>
        </p:nvCxnSpPr>
        <p:spPr>
          <a:xfrm>
            <a:off x="12490386" y="8810533"/>
            <a:ext cx="399622" cy="15981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61" name="Line">
            <a:extLst>
              <a:ext uri="{FF2B5EF4-FFF2-40B4-BE49-F238E27FC236}">
                <a16:creationId xmlns:a16="http://schemas.microsoft.com/office/drawing/2014/main" id="{3D32F354-E2A3-4C00-4A5E-7B60C5F9BB2E}"/>
              </a:ext>
            </a:extLst>
          </p:cNvPr>
          <p:cNvSpPr/>
          <p:nvPr/>
        </p:nvSpPr>
        <p:spPr>
          <a:xfrm>
            <a:off x="9547069" y="6815396"/>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362" name="Straight Arrow Connector 361">
            <a:extLst>
              <a:ext uri="{FF2B5EF4-FFF2-40B4-BE49-F238E27FC236}">
                <a16:creationId xmlns:a16="http://schemas.microsoft.com/office/drawing/2014/main" id="{1D043507-EC71-D93D-5E65-D6BB6B2FE67C}"/>
              </a:ext>
            </a:extLst>
          </p:cNvPr>
          <p:cNvCxnSpPr/>
          <p:nvPr/>
        </p:nvCxnSpPr>
        <p:spPr>
          <a:xfrm flipH="1">
            <a:off x="6709005" y="7154130"/>
            <a:ext cx="8649" cy="190867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26D92D08-B4D5-1400-694D-32A3B9725D3A}"/>
              </a:ext>
            </a:extLst>
          </p:cNvPr>
          <p:cNvCxnSpPr/>
          <p:nvPr/>
        </p:nvCxnSpPr>
        <p:spPr>
          <a:xfrm>
            <a:off x="5288449" y="7375062"/>
            <a:ext cx="3184194" cy="1211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5" name="Straight Arrow Connector 314">
            <a:extLst>
              <a:ext uri="{FF2B5EF4-FFF2-40B4-BE49-F238E27FC236}">
                <a16:creationId xmlns:a16="http://schemas.microsoft.com/office/drawing/2014/main" id="{A03BEF48-AD53-C75A-D8AA-9016145E4847}"/>
              </a:ext>
            </a:extLst>
          </p:cNvPr>
          <p:cNvCxnSpPr/>
          <p:nvPr/>
        </p:nvCxnSpPr>
        <p:spPr>
          <a:xfrm>
            <a:off x="8463956" y="7377647"/>
            <a:ext cx="1002" cy="34058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6" name="Straight Arrow Connector 315">
            <a:extLst>
              <a:ext uri="{FF2B5EF4-FFF2-40B4-BE49-F238E27FC236}">
                <a16:creationId xmlns:a16="http://schemas.microsoft.com/office/drawing/2014/main" id="{7A835425-B9F5-6974-1886-31ECBFEB5DD1}"/>
              </a:ext>
            </a:extLst>
          </p:cNvPr>
          <p:cNvCxnSpPr/>
          <p:nvPr/>
        </p:nvCxnSpPr>
        <p:spPr>
          <a:xfrm>
            <a:off x="5286998" y="7374285"/>
            <a:ext cx="9102" cy="36399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4" name="Straight Arrow Connector 363">
            <a:extLst>
              <a:ext uri="{FF2B5EF4-FFF2-40B4-BE49-F238E27FC236}">
                <a16:creationId xmlns:a16="http://schemas.microsoft.com/office/drawing/2014/main" id="{6D76EAC5-39AE-4BFE-E5A6-03E8C3234188}"/>
              </a:ext>
            </a:extLst>
          </p:cNvPr>
          <p:cNvCxnSpPr/>
          <p:nvPr/>
        </p:nvCxnSpPr>
        <p:spPr>
          <a:xfrm>
            <a:off x="7426823" y="7392884"/>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8" name="Straight Arrow Connector 367">
            <a:extLst>
              <a:ext uri="{FF2B5EF4-FFF2-40B4-BE49-F238E27FC236}">
                <a16:creationId xmlns:a16="http://schemas.microsoft.com/office/drawing/2014/main" id="{FC927F23-5B4B-D463-7FF1-7EEB0F8BEAEE}"/>
              </a:ext>
            </a:extLst>
          </p:cNvPr>
          <p:cNvCxnSpPr>
            <a:cxnSpLocks/>
          </p:cNvCxnSpPr>
          <p:nvPr/>
        </p:nvCxnSpPr>
        <p:spPr>
          <a:xfrm>
            <a:off x="6000593" y="7384066"/>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76" name="TextBox 375">
            <a:extLst>
              <a:ext uri="{FF2B5EF4-FFF2-40B4-BE49-F238E27FC236}">
                <a16:creationId xmlns:a16="http://schemas.microsoft.com/office/drawing/2014/main" id="{3ED91360-D0D9-54FB-9CF8-04252596ED98}"/>
              </a:ext>
            </a:extLst>
          </p:cNvPr>
          <p:cNvSpPr txBox="1"/>
          <p:nvPr/>
        </p:nvSpPr>
        <p:spPr>
          <a:xfrm>
            <a:off x="4719010" y="3769481"/>
            <a:ext cx="2770949"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endParaRPr lang="en-US" sz="2400" b="1" i="0" u="none" strike="noStrike" cap="none" spc="0" normalizeH="0" baseline="0">
              <a:ln>
                <a:noFill/>
              </a:ln>
              <a:solidFill>
                <a:srgbClr val="4C4C4C"/>
              </a:solidFill>
              <a:effectLst/>
              <a:uFillTx/>
              <a:latin typeface="Source Sans Pro"/>
              <a:ea typeface="Source Sans Pro"/>
              <a:cs typeface="Source Sans Pro"/>
            </a:endParaRPr>
          </a:p>
        </p:txBody>
      </p:sp>
      <p:pic>
        <p:nvPicPr>
          <p:cNvPr id="7" name="Picture 6" descr="A white symbol on a black background&#10;&#10;AI-generated content may be incorrect.">
            <a:extLst>
              <a:ext uri="{FF2B5EF4-FFF2-40B4-BE49-F238E27FC236}">
                <a16:creationId xmlns:a16="http://schemas.microsoft.com/office/drawing/2014/main" id="{CC049600-643C-CF60-0D65-C8DF49D02125}"/>
              </a:ext>
            </a:extLst>
          </p:cNvPr>
          <p:cNvPicPr>
            <a:picLocks noChangeAspect="1"/>
          </p:cNvPicPr>
          <p:nvPr/>
        </p:nvPicPr>
        <p:blipFill>
          <a:blip r:embed="rId18"/>
          <a:stretch>
            <a:fillRect/>
          </a:stretch>
        </p:blipFill>
        <p:spPr>
          <a:xfrm>
            <a:off x="5867239" y="8278371"/>
            <a:ext cx="280697" cy="279423"/>
          </a:xfrm>
          <a:prstGeom prst="rect">
            <a:avLst/>
          </a:prstGeom>
        </p:spPr>
      </p:pic>
      <p:pic>
        <p:nvPicPr>
          <p:cNvPr id="369" name="Picture 368" descr="A white symbol on a black background&#10;&#10;AI-generated content may be incorrect.">
            <a:extLst>
              <a:ext uri="{FF2B5EF4-FFF2-40B4-BE49-F238E27FC236}">
                <a16:creationId xmlns:a16="http://schemas.microsoft.com/office/drawing/2014/main" id="{995CCC7E-65EB-6841-3767-0C1B2B8EEE42}"/>
              </a:ext>
            </a:extLst>
          </p:cNvPr>
          <p:cNvPicPr>
            <a:picLocks noChangeAspect="1"/>
          </p:cNvPicPr>
          <p:nvPr/>
        </p:nvPicPr>
        <p:blipFill>
          <a:blip r:embed="rId18"/>
          <a:stretch>
            <a:fillRect/>
          </a:stretch>
        </p:blipFill>
        <p:spPr>
          <a:xfrm>
            <a:off x="8306166" y="7746138"/>
            <a:ext cx="280697" cy="279423"/>
          </a:xfrm>
          <a:prstGeom prst="rect">
            <a:avLst/>
          </a:prstGeom>
        </p:spPr>
      </p:pic>
      <p:pic>
        <p:nvPicPr>
          <p:cNvPr id="370" name="Picture 369" descr="A white symbol on a black background&#10;&#10;AI-generated content may be incorrect.">
            <a:extLst>
              <a:ext uri="{FF2B5EF4-FFF2-40B4-BE49-F238E27FC236}">
                <a16:creationId xmlns:a16="http://schemas.microsoft.com/office/drawing/2014/main" id="{1D30CD02-24F3-E570-4BAB-EDFF60CC4652}"/>
              </a:ext>
            </a:extLst>
          </p:cNvPr>
          <p:cNvPicPr>
            <a:picLocks noChangeAspect="1"/>
          </p:cNvPicPr>
          <p:nvPr/>
        </p:nvPicPr>
        <p:blipFill>
          <a:blip r:embed="rId18"/>
          <a:stretch>
            <a:fillRect/>
          </a:stretch>
        </p:blipFill>
        <p:spPr>
          <a:xfrm>
            <a:off x="5157596" y="7746193"/>
            <a:ext cx="280697" cy="279423"/>
          </a:xfrm>
          <a:prstGeom prst="rect">
            <a:avLst/>
          </a:prstGeom>
        </p:spPr>
      </p:pic>
      <p:pic>
        <p:nvPicPr>
          <p:cNvPr id="375" name="Picture 374" descr="A white symbol on a black background&#10;&#10;AI-generated content may be incorrect.">
            <a:extLst>
              <a:ext uri="{FF2B5EF4-FFF2-40B4-BE49-F238E27FC236}">
                <a16:creationId xmlns:a16="http://schemas.microsoft.com/office/drawing/2014/main" id="{B5279219-FDC2-2978-1B33-464FE8042823}"/>
              </a:ext>
            </a:extLst>
          </p:cNvPr>
          <p:cNvPicPr>
            <a:picLocks noChangeAspect="1"/>
          </p:cNvPicPr>
          <p:nvPr/>
        </p:nvPicPr>
        <p:blipFill>
          <a:blip r:embed="rId18"/>
          <a:stretch>
            <a:fillRect/>
          </a:stretch>
        </p:blipFill>
        <p:spPr>
          <a:xfrm>
            <a:off x="6355059" y="9130193"/>
            <a:ext cx="280697" cy="279423"/>
          </a:xfrm>
          <a:prstGeom prst="rect">
            <a:avLst/>
          </a:prstGeom>
        </p:spPr>
      </p:pic>
      <p:pic>
        <p:nvPicPr>
          <p:cNvPr id="377" name="Picture 376" descr="A white symbol on a black background&#10;&#10;AI-generated content may be incorrect.">
            <a:extLst>
              <a:ext uri="{FF2B5EF4-FFF2-40B4-BE49-F238E27FC236}">
                <a16:creationId xmlns:a16="http://schemas.microsoft.com/office/drawing/2014/main" id="{55A67D17-3DB0-0DF1-B49A-AC973DF42D0A}"/>
              </a:ext>
            </a:extLst>
          </p:cNvPr>
          <p:cNvPicPr>
            <a:picLocks noChangeAspect="1"/>
          </p:cNvPicPr>
          <p:nvPr/>
        </p:nvPicPr>
        <p:blipFill>
          <a:blip r:embed="rId18"/>
          <a:stretch>
            <a:fillRect/>
          </a:stretch>
        </p:blipFill>
        <p:spPr>
          <a:xfrm>
            <a:off x="7286438" y="8314074"/>
            <a:ext cx="280697" cy="279423"/>
          </a:xfrm>
          <a:prstGeom prst="rect">
            <a:avLst/>
          </a:prstGeom>
        </p:spPr>
      </p:pic>
      <p:pic>
        <p:nvPicPr>
          <p:cNvPr id="378" name="Picture 377" descr="A white symbol on a black background&#10;&#10;AI-generated content may be incorrect.">
            <a:extLst>
              <a:ext uri="{FF2B5EF4-FFF2-40B4-BE49-F238E27FC236}">
                <a16:creationId xmlns:a16="http://schemas.microsoft.com/office/drawing/2014/main" id="{905477A6-2740-FF53-189C-12A3248A3E01}"/>
              </a:ext>
            </a:extLst>
          </p:cNvPr>
          <p:cNvPicPr>
            <a:picLocks noChangeAspect="1"/>
          </p:cNvPicPr>
          <p:nvPr/>
        </p:nvPicPr>
        <p:blipFill>
          <a:blip r:embed="rId18"/>
          <a:stretch>
            <a:fillRect/>
          </a:stretch>
        </p:blipFill>
        <p:spPr>
          <a:xfrm>
            <a:off x="5964975" y="9130302"/>
            <a:ext cx="280697" cy="279423"/>
          </a:xfrm>
          <a:prstGeom prst="rect">
            <a:avLst/>
          </a:prstGeom>
        </p:spPr>
      </p:pic>
      <p:pic>
        <p:nvPicPr>
          <p:cNvPr id="379" name="Picture 378" descr="A white symbol on a black background&#10;&#10;AI-generated content may be incorrect.">
            <a:extLst>
              <a:ext uri="{FF2B5EF4-FFF2-40B4-BE49-F238E27FC236}">
                <a16:creationId xmlns:a16="http://schemas.microsoft.com/office/drawing/2014/main" id="{4F8B7F36-92C5-EC00-7626-6363C439B4E4}"/>
              </a:ext>
            </a:extLst>
          </p:cNvPr>
          <p:cNvPicPr>
            <a:picLocks noChangeAspect="1"/>
          </p:cNvPicPr>
          <p:nvPr/>
        </p:nvPicPr>
        <p:blipFill>
          <a:blip r:embed="rId18"/>
          <a:stretch>
            <a:fillRect/>
          </a:stretch>
        </p:blipFill>
        <p:spPr>
          <a:xfrm>
            <a:off x="6949572" y="9130357"/>
            <a:ext cx="280697" cy="279423"/>
          </a:xfrm>
          <a:prstGeom prst="rect">
            <a:avLst/>
          </a:prstGeom>
        </p:spPr>
      </p:pic>
      <p:cxnSp>
        <p:nvCxnSpPr>
          <p:cNvPr id="12" name="Straight Arrow Connector 11">
            <a:extLst>
              <a:ext uri="{FF2B5EF4-FFF2-40B4-BE49-F238E27FC236}">
                <a16:creationId xmlns:a16="http://schemas.microsoft.com/office/drawing/2014/main" id="{02308E54-8E7A-51D2-C24D-42EFED596073}"/>
              </a:ext>
            </a:extLst>
          </p:cNvPr>
          <p:cNvCxnSpPr/>
          <p:nvPr/>
        </p:nvCxnSpPr>
        <p:spPr>
          <a:xfrm>
            <a:off x="2240413" y="7850757"/>
            <a:ext cx="3214" cy="36230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4" name="Straight Arrow Connector 303">
            <a:extLst>
              <a:ext uri="{FF2B5EF4-FFF2-40B4-BE49-F238E27FC236}">
                <a16:creationId xmlns:a16="http://schemas.microsoft.com/office/drawing/2014/main" id="{A19E78D8-B712-F65C-6505-05CFAA869516}"/>
              </a:ext>
            </a:extLst>
          </p:cNvPr>
          <p:cNvCxnSpPr>
            <a:cxnSpLocks/>
          </p:cNvCxnSpPr>
          <p:nvPr/>
        </p:nvCxnSpPr>
        <p:spPr>
          <a:xfrm flipH="1">
            <a:off x="2057480" y="8024558"/>
            <a:ext cx="377998" cy="7211"/>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05" name="Line">
            <a:extLst>
              <a:ext uri="{FF2B5EF4-FFF2-40B4-BE49-F238E27FC236}">
                <a16:creationId xmlns:a16="http://schemas.microsoft.com/office/drawing/2014/main" id="{EB35B2C3-4494-1DE2-CDCD-9685CC62D771}"/>
              </a:ext>
            </a:extLst>
          </p:cNvPr>
          <p:cNvSpPr/>
          <p:nvPr/>
        </p:nvSpPr>
        <p:spPr>
          <a:xfrm>
            <a:off x="9501009" y="1782655"/>
            <a:ext cx="3261928"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6" name="Line">
            <a:extLst>
              <a:ext uri="{FF2B5EF4-FFF2-40B4-BE49-F238E27FC236}">
                <a16:creationId xmlns:a16="http://schemas.microsoft.com/office/drawing/2014/main" id="{FAF06C92-8FAA-46CD-C8FA-5F29DC75BC90}"/>
              </a:ext>
            </a:extLst>
          </p:cNvPr>
          <p:cNvSpPr/>
          <p:nvPr/>
        </p:nvSpPr>
        <p:spPr>
          <a:xfrm flipV="1">
            <a:off x="4726617" y="2985342"/>
            <a:ext cx="4497071" cy="2547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7" name="Line">
            <a:extLst>
              <a:ext uri="{FF2B5EF4-FFF2-40B4-BE49-F238E27FC236}">
                <a16:creationId xmlns:a16="http://schemas.microsoft.com/office/drawing/2014/main" id="{3D32F354-E2A3-4C00-4A5E-7B60C5F9BB2E}"/>
              </a:ext>
            </a:extLst>
          </p:cNvPr>
          <p:cNvSpPr/>
          <p:nvPr/>
        </p:nvSpPr>
        <p:spPr>
          <a:xfrm>
            <a:off x="265904" y="1775276"/>
            <a:ext cx="4310238" cy="25480"/>
          </a:xfrm>
          <a:prstGeom prst="line">
            <a:avLst/>
          </a:prstGeom>
          <a:ln w="12700">
            <a:solidFill>
              <a:srgbClr val="E4E4E3"/>
            </a:solidFill>
            <a:miter lim="400000"/>
          </a:ln>
        </p:spPr>
        <p:txBody>
          <a:bodyPr lIns="54570" tIns="54570" rIns="54570" bIns="5457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80000"/>
              </a:lnSpc>
              <a:spcBef>
                <a:spcPts val="600"/>
              </a:spcBef>
              <a:defRPr b="0">
                <a:solidFill>
                  <a:srgbClr val="000000"/>
                </a:solidFill>
              </a:defRPr>
            </a:pPr>
            <a:endParaRPr/>
          </a:p>
        </p:txBody>
      </p:sp>
      <p:sp>
        <p:nvSpPr>
          <p:cNvPr id="331" name="Line">
            <a:extLst>
              <a:ext uri="{FF2B5EF4-FFF2-40B4-BE49-F238E27FC236}">
                <a16:creationId xmlns:a16="http://schemas.microsoft.com/office/drawing/2014/main" id="{934B1E9C-139F-7DF3-A963-D397F18EF41F}"/>
              </a:ext>
            </a:extLst>
          </p:cNvPr>
          <p:cNvSpPr/>
          <p:nvPr/>
        </p:nvSpPr>
        <p:spPr>
          <a:xfrm flipV="1">
            <a:off x="260109" y="6792080"/>
            <a:ext cx="4318731" cy="33971"/>
          </a:xfrm>
          <a:prstGeom prst="line">
            <a:avLst/>
          </a:prstGeom>
          <a:ln w="12700">
            <a:solidFill>
              <a:srgbClr val="E4E4E3"/>
            </a:solidFill>
            <a:miter lim="400000"/>
          </a:ln>
        </p:spPr>
        <p:txBody>
          <a:bodyPr lIns="54570" tIns="54570" rIns="54570" bIns="5457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12581322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TotalTime>
  <Words>482</Words>
  <Application>Microsoft Office PowerPoint</Application>
  <PresentationFormat>Custom</PresentationFormat>
  <Paragraphs>72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White</vt:lpstr>
      <vt:lpstr>Kaiaulu Executables: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 </dc:title>
  <cp:lastModifiedBy>Carlos P.</cp:lastModifiedBy>
  <cp:revision>66</cp:revision>
  <dcterms:modified xsi:type="dcterms:W3CDTF">2026-05-10T00:56:24Z</dcterms:modified>
</cp:coreProperties>
</file>