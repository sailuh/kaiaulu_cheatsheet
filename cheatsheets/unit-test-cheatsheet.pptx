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81" r:id="rId2"/>
  </p:sldIdLst>
  <p:sldSz cx="13970000" cy="10795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1pPr>
    <a:lvl2pPr marL="0" marR="0" indent="228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2pPr>
    <a:lvl3pPr marL="0" marR="0" indent="457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3pPr>
    <a:lvl4pPr marL="0" marR="0" indent="685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4pPr>
    <a:lvl5pPr marL="0" marR="0" indent="9144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5pPr>
    <a:lvl6pPr marL="0" marR="0" indent="11430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6pPr>
    <a:lvl7pPr marL="0" marR="0" indent="1371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7pPr>
    <a:lvl8pPr marL="0" marR="0" indent="1600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8pPr>
    <a:lvl9pPr marL="0" marR="0" indent="1828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2A07992-44BC-E5C6-5874-4E6FB9D91CC9}" name="Colby F" initials="CF" userId="d8d0c4c9dc85948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0265BF"/>
    <a:srgbClr val="00872B"/>
    <a:srgbClr val="DF9660"/>
    <a:srgbClr val="C78758"/>
    <a:srgbClr val="F5A468"/>
    <a:srgbClr val="499FB8"/>
    <a:srgbClr val="8BC34A"/>
    <a:srgbClr val="C8D6C2"/>
    <a:srgbClr val="0088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44" autoAdjust="0"/>
    <p:restoredTop sz="95859"/>
  </p:normalViewPr>
  <p:slideViewPr>
    <p:cSldViewPr snapToGrid="0" snapToObjects="1">
      <p:cViewPr>
        <p:scale>
          <a:sx n="66" d="100"/>
          <a:sy n="66" d="100"/>
        </p:scale>
        <p:origin x="1066" y="-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6" name="Shape 12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1pPr>
    <a:lvl2pPr indent="228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2pPr>
    <a:lvl3pPr indent="457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3pPr>
    <a:lvl4pPr indent="685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4pPr>
    <a:lvl5pPr indent="9144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5pPr>
    <a:lvl6pPr indent="11430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6pPr>
    <a:lvl7pPr indent="1371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7pPr>
    <a:lvl8pPr indent="1600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8pPr>
    <a:lvl9pPr indent="1828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64711-C638-AEBF-6E98-7261FE7CA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C352C9-6329-0098-1CCE-0DFCCCE90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9675" y="685800"/>
            <a:ext cx="443865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B3FD2-7658-B9D9-7163-C38625C30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111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364257" y="3623964"/>
            <a:ext cx="11241486" cy="354707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7216923" y="840878"/>
            <a:ext cx="5729884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023193" y="840878"/>
            <a:ext cx="5729884" cy="4283771"/>
          </a:xfrm>
          <a:prstGeom prst="rect">
            <a:avLst/>
          </a:prstGeom>
        </p:spPr>
        <p:txBody>
          <a:bodyPr anchor="b"/>
          <a:lstStyle>
            <a:lvl1pPr>
              <a:defRPr sz="3300"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23193" y="5274716"/>
            <a:ext cx="5729884" cy="4406554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7216923" y="2955478"/>
            <a:ext cx="5729884" cy="675307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23193" y="2955478"/>
            <a:ext cx="5729884" cy="6753077"/>
          </a:xfrm>
          <a:prstGeom prst="rect">
            <a:avLst/>
          </a:prstGeom>
        </p:spPr>
        <p:txBody>
          <a:bodyPr/>
          <a:lstStyle>
            <a:lvl1pPr marL="146957" indent="-146957">
              <a:defRPr b="1"/>
            </a:lvl1pPr>
            <a:lvl2pPr marL="489857" indent="-146957">
              <a:defRPr b="1"/>
            </a:lvl2pPr>
            <a:lvl3pPr marL="832757" indent="-146957">
              <a:defRPr b="1"/>
            </a:lvl3pPr>
            <a:lvl4pPr marL="1175657" indent="-146957">
              <a:defRPr b="1"/>
            </a:lvl4pPr>
            <a:lvl5pPr marL="1518557" indent="-146957">
              <a:defRPr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1523007"/>
            <a:ext cx="11923614" cy="774898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half" idx="13"/>
          </p:nvPr>
        </p:nvSpPr>
        <p:spPr>
          <a:xfrm>
            <a:off x="1023193" y="1113730"/>
            <a:ext cx="5729884" cy="856754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7216923" y="5629423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quarter" idx="15"/>
          </p:nvPr>
        </p:nvSpPr>
        <p:spPr>
          <a:xfrm>
            <a:off x="7223603" y="1113730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>
            <a:spLocks noGrp="1"/>
          </p:cNvSpPr>
          <p:nvPr>
            <p:ph type="body" sz="quarter" idx="13"/>
          </p:nvPr>
        </p:nvSpPr>
        <p:spPr>
          <a:xfrm>
            <a:off x="1364257" y="6993681"/>
            <a:ext cx="11241486" cy="50800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r">
              <a:lnSpc>
                <a:spcPct val="90000"/>
              </a:lnSpc>
              <a:buSzTx/>
              <a:buNone/>
              <a:defRPr sz="900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>
            <a:spLocks noGrp="1"/>
          </p:cNvSpPr>
          <p:nvPr>
            <p:ph type="body" sz="quarter" idx="14"/>
          </p:nvPr>
        </p:nvSpPr>
        <p:spPr>
          <a:xfrm>
            <a:off x="1364257" y="4742656"/>
            <a:ext cx="11241486" cy="7367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158750"/>
            <a:ext cx="13964218" cy="10477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023193" y="636240"/>
            <a:ext cx="11923614" cy="231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2955478"/>
            <a:ext cx="11923614" cy="6753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7368"/>
            <a:ext cx="376045" cy="388541"/>
          </a:xfrm>
          <a:prstGeom prst="rect">
            <a:avLst/>
          </a:prstGeom>
          <a:ln w="12700">
            <a:miter lim="400000"/>
          </a:ln>
        </p:spPr>
        <p:txBody>
          <a:bodyPr wrap="none" lIns="54570" tIns="54570" rIns="54570" bIns="54570">
            <a:spAutoFit/>
          </a:bodyPr>
          <a:lstStyle>
            <a:lvl1pPr algn="ctr">
              <a:spcBef>
                <a:spcPts val="0"/>
              </a:spcBef>
              <a:defRPr sz="18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transition spd="med"/>
  <p:txStyles>
    <p:titleStyle>
      <a:lvl1pPr marL="0" marR="0" indent="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1pPr>
      <a:lvl2pPr marL="0" marR="0" indent="228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2pPr>
      <a:lvl3pPr marL="0" marR="0" indent="457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3pPr>
      <a:lvl4pPr marL="0" marR="0" indent="685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4pPr>
      <a:lvl5pPr marL="0" marR="0" indent="9144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5pPr>
      <a:lvl6pPr marL="0" marR="0" indent="11430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6pPr>
      <a:lvl7pPr marL="0" marR="0" indent="1371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7pPr>
      <a:lvl8pPr marL="0" marR="0" indent="1600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8pPr>
      <a:lvl9pPr marL="0" marR="0" indent="1828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9pPr>
    </p:titleStyle>
    <p:bodyStyle>
      <a:lvl1pPr marL="148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1pPr>
      <a:lvl2pPr marL="592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2pPr>
      <a:lvl3pPr marL="1037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3pPr>
      <a:lvl4pPr marL="1481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4pPr>
      <a:lvl5pPr marL="1926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5pPr>
      <a:lvl6pPr marL="2370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6pPr>
      <a:lvl7pPr marL="2815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7pPr>
      <a:lvl8pPr marL="3259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8pPr>
      <a:lvl9pPr marL="3704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hyperlink" Target="http://fortawesome.github.io/Font-Awesome/get-started/" TargetMode="Externa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hyperlink" Target="https://creativecommons.org/licenses/by-sa/4.0/" TargetMode="External"/><Relationship Id="rId15" Type="http://schemas.openxmlformats.org/officeDocument/2006/relationships/image" Target="../media/image12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36D34-9A7C-8472-AA9B-43DE2AF95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Image" descr="Image">
            <a:extLst>
              <a:ext uri="{FF2B5EF4-FFF2-40B4-BE49-F238E27FC236}">
                <a16:creationId xmlns:a16="http://schemas.microsoft.com/office/drawing/2014/main" id="{FAC8F07A-87F9-9BEB-393A-0A458D7F9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839" y="-668860"/>
            <a:ext cx="5598432" cy="2990088"/>
          </a:xfrm>
          <a:prstGeom prst="rect">
            <a:avLst/>
          </a:prstGeom>
          <a:ln w="12700">
            <a:miter lim="400000"/>
          </a:ln>
        </p:spPr>
      </p:pic>
      <p:sp>
        <p:nvSpPr>
          <p:cNvPr id="312" name="Line">
            <a:extLst>
              <a:ext uri="{FF2B5EF4-FFF2-40B4-BE49-F238E27FC236}">
                <a16:creationId xmlns:a16="http://schemas.microsoft.com/office/drawing/2014/main" id="{D194F033-B843-9990-F984-3F93F2B009D4}"/>
              </a:ext>
            </a:extLst>
          </p:cNvPr>
          <p:cNvSpPr/>
          <p:nvPr/>
        </p:nvSpPr>
        <p:spPr>
          <a:xfrm flipV="1">
            <a:off x="213255" y="10296246"/>
            <a:ext cx="13462982" cy="39499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13" name="YOUR LOGO…">
            <a:extLst>
              <a:ext uri="{FF2B5EF4-FFF2-40B4-BE49-F238E27FC236}">
                <a16:creationId xmlns:a16="http://schemas.microsoft.com/office/drawing/2014/main" id="{5261692A-FA45-579E-E145-0E83B9FFD03A}"/>
              </a:ext>
            </a:extLst>
          </p:cNvPr>
          <p:cNvSpPr/>
          <p:nvPr/>
        </p:nvSpPr>
        <p:spPr>
          <a:xfrm>
            <a:off x="170343" y="10207710"/>
            <a:ext cx="1757945" cy="528270"/>
          </a:xfrm>
          <a:prstGeom prst="roundRect">
            <a:avLst>
              <a:gd name="adj" fmla="val 36061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407A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sz="2400" dirty="0"/>
              <a:t>Kaiāulu</a:t>
            </a:r>
            <a:endParaRPr sz="2400" dirty="0"/>
          </a:p>
        </p:txBody>
      </p:sp>
      <p:sp>
        <p:nvSpPr>
          <p:cNvPr id="326" name="Manipulate Variables">
            <a:extLst>
              <a:ext uri="{FF2B5EF4-FFF2-40B4-BE49-F238E27FC236}">
                <a16:creationId xmlns:a16="http://schemas.microsoft.com/office/drawing/2014/main" id="{B96B6CBE-D5FC-B3A3-C215-4598B021549F}"/>
              </a:ext>
            </a:extLst>
          </p:cNvPr>
          <p:cNvSpPr txBox="1"/>
          <p:nvPr/>
        </p:nvSpPr>
        <p:spPr>
          <a:xfrm>
            <a:off x="4556304" y="3855333"/>
            <a:ext cx="3048912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Code Review Workflow</a:t>
            </a:r>
          </a:p>
        </p:txBody>
      </p:sp>
      <p:sp>
        <p:nvSpPr>
          <p:cNvPr id="334" name="Three Column Layout: : CHEAT SHEET">
            <a:extLst>
              <a:ext uri="{FF2B5EF4-FFF2-40B4-BE49-F238E27FC236}">
                <a16:creationId xmlns:a16="http://schemas.microsoft.com/office/drawing/2014/main" id="{9415AD5B-7756-53BB-FC9D-08EE61E01E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721" y="361177"/>
            <a:ext cx="10898129" cy="803346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dirty="0"/>
              <a:t>Unit Tests </a:t>
            </a:r>
            <a:r>
              <a:rPr dirty="0"/>
              <a:t>: : </a:t>
            </a:r>
            <a:r>
              <a:rPr sz="3300" dirty="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CHEAT SHEET</a:t>
            </a:r>
            <a:r>
              <a:rPr dirty="0"/>
              <a:t> </a:t>
            </a:r>
          </a:p>
        </p:txBody>
      </p:sp>
      <p:sp>
        <p:nvSpPr>
          <p:cNvPr id="341" name="Use headers, colors, and/or backgrounds to separate or group together sections.">
            <a:extLst>
              <a:ext uri="{FF2B5EF4-FFF2-40B4-BE49-F238E27FC236}">
                <a16:creationId xmlns:a16="http://schemas.microsoft.com/office/drawing/2014/main" id="{B3DF4511-174E-7E10-51CB-FD8B35BE940B}"/>
              </a:ext>
            </a:extLst>
          </p:cNvPr>
          <p:cNvSpPr txBox="1"/>
          <p:nvPr/>
        </p:nvSpPr>
        <p:spPr>
          <a:xfrm>
            <a:off x="209328" y="1835513"/>
            <a:ext cx="3949153" cy="1350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Kaiaulu has multiple measures in place to ensure that its codebase remains maintainable. </a:t>
            </a:r>
          </a:p>
          <a:p>
            <a:pPr>
              <a:lnSpc>
                <a:spcPct val="90000"/>
              </a:lnSpc>
              <a:spcBef>
                <a:spcPts val="300"/>
              </a:spcBef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Try-catch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statements</a:t>
            </a:r>
            <a:r>
              <a:rPr lang="en-US" b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and tests let functions fail gracefully and ensure functions work as intended. </a:t>
            </a:r>
          </a:p>
          <a:p>
            <a:pPr>
              <a:lnSpc>
                <a:spcPct val="90000"/>
              </a:lnSpc>
              <a:spcBef>
                <a:spcPts val="300"/>
              </a:spcBef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Codecov and GitHub Actions run tests and other checks for every commit in a Pull Request, checking whether any tests fail, docs are missing, or other conditions are not met.</a:t>
            </a:r>
            <a:endParaRPr lang="en-US" b="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82" name="Logistics">
            <a:extLst>
              <a:ext uri="{FF2B5EF4-FFF2-40B4-BE49-F238E27FC236}">
                <a16:creationId xmlns:a16="http://schemas.microsoft.com/office/drawing/2014/main" id="{08B71A1A-23F0-016C-EA47-383EA12BFFC5}"/>
              </a:ext>
            </a:extLst>
          </p:cNvPr>
          <p:cNvSpPr txBox="1"/>
          <p:nvPr/>
        </p:nvSpPr>
        <p:spPr>
          <a:xfrm>
            <a:off x="214630" y="5722887"/>
            <a:ext cx="2152833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Test Framework</a:t>
            </a:r>
          </a:p>
        </p:txBody>
      </p:sp>
      <p:sp>
        <p:nvSpPr>
          <p:cNvPr id="384" name="Layout Suggestions">
            <a:extLst>
              <a:ext uri="{FF2B5EF4-FFF2-40B4-BE49-F238E27FC236}">
                <a16:creationId xmlns:a16="http://schemas.microsoft.com/office/drawing/2014/main" id="{AF51BBE2-F0CB-BD1F-B526-5E5B8819E752}"/>
              </a:ext>
            </a:extLst>
          </p:cNvPr>
          <p:cNvSpPr txBox="1"/>
          <p:nvPr/>
        </p:nvSpPr>
        <p:spPr>
          <a:xfrm>
            <a:off x="213255" y="1519045"/>
            <a:ext cx="2621281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About</a:t>
            </a:r>
            <a:endParaRPr dirty="0"/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745F2EA5-C374-ADEB-6EEA-9258B079C2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4310" y="122459"/>
            <a:ext cx="1443262" cy="167604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D1B5839-42AA-62E3-D978-6F134335404C}"/>
              </a:ext>
            </a:extLst>
          </p:cNvPr>
          <p:cNvSpPr txBox="1"/>
          <p:nvPr/>
        </p:nvSpPr>
        <p:spPr>
          <a:xfrm>
            <a:off x="6080760" y="10327008"/>
            <a:ext cx="7747698" cy="5000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0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r>
              <a:rPr lang="en-US" sz="1000" b="0" dirty="0">
                <a:solidFill>
                  <a:schemeClr val="tx1"/>
                </a:solidFill>
              </a:rPr>
              <a:t> Colby Fuke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, Carlos Paradis • Kai</a:t>
            </a:r>
            <a:r>
              <a:rPr kumimoji="0" lang="haw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ā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ulu package version 0.0.0.9700 (in development) •  Updated: 2026-04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229042A-0041-5A0B-373A-EA5F56414A1D}"/>
              </a:ext>
            </a:extLst>
          </p:cNvPr>
          <p:cNvGrpSpPr/>
          <p:nvPr/>
        </p:nvGrpSpPr>
        <p:grpSpPr>
          <a:xfrm>
            <a:off x="9554259" y="3866817"/>
            <a:ext cx="3848844" cy="6172184"/>
            <a:chOff x="870417" y="3616023"/>
            <a:chExt cx="3848844" cy="6172184"/>
          </a:xfrm>
        </p:grpSpPr>
        <p:sp>
          <p:nvSpPr>
            <p:cNvPr id="449" name="Rectangle 448">
              <a:extLst>
                <a:ext uri="{FF2B5EF4-FFF2-40B4-BE49-F238E27FC236}">
                  <a16:creationId xmlns:a16="http://schemas.microsoft.com/office/drawing/2014/main" id="{D5732C22-8A2D-971C-20CC-94B764EB4146}"/>
                </a:ext>
              </a:extLst>
            </p:cNvPr>
            <p:cNvSpPr/>
            <p:nvPr/>
          </p:nvSpPr>
          <p:spPr>
            <a:xfrm>
              <a:off x="870417" y="3627271"/>
              <a:ext cx="3848844" cy="6160936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="horz" wrap="square" lIns="54570" tIns="54570" rIns="54570" bIns="54570" numCol="1" spcCol="38100" rtlCol="0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chemeClr val="dk1"/>
                  </a:solidFill>
                  <a:effectLst/>
                  <a:uFillTx/>
                  <a:latin typeface="+mn-lt"/>
                  <a:ea typeface="+mn-ea"/>
                  <a:cs typeface="+mn-cs"/>
                  <a:sym typeface="Source Sans Pro"/>
                </a:defRPr>
              </a:lvl1pPr>
              <a:lvl2pPr marL="0" marR="0" indent="2286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chemeClr val="dk1"/>
                  </a:solidFill>
                  <a:effectLst/>
                  <a:uFillTx/>
                  <a:latin typeface="+mn-lt"/>
                  <a:ea typeface="+mn-ea"/>
                  <a:cs typeface="+mn-cs"/>
                  <a:sym typeface="Source Sans Pro"/>
                </a:defRPr>
              </a:lvl2pPr>
              <a:lvl3pPr marL="0" marR="0" indent="4572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chemeClr val="dk1"/>
                  </a:solidFill>
                  <a:effectLst/>
                  <a:uFillTx/>
                  <a:latin typeface="+mn-lt"/>
                  <a:ea typeface="+mn-ea"/>
                  <a:cs typeface="+mn-cs"/>
                  <a:sym typeface="Source Sans Pro"/>
                </a:defRPr>
              </a:lvl3pPr>
              <a:lvl4pPr marL="0" marR="0" indent="6858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chemeClr val="dk1"/>
                  </a:solidFill>
                  <a:effectLst/>
                  <a:uFillTx/>
                  <a:latin typeface="+mn-lt"/>
                  <a:ea typeface="+mn-ea"/>
                  <a:cs typeface="+mn-cs"/>
                  <a:sym typeface="Source Sans Pro"/>
                </a:defRPr>
              </a:lvl4pPr>
              <a:lvl5pPr marL="0" marR="0" indent="9144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chemeClr val="dk1"/>
                  </a:solidFill>
                  <a:effectLst/>
                  <a:uFillTx/>
                  <a:latin typeface="+mn-lt"/>
                  <a:ea typeface="+mn-ea"/>
                  <a:cs typeface="+mn-cs"/>
                  <a:sym typeface="Source Sans Pro"/>
                </a:defRPr>
              </a:lvl5pPr>
              <a:lvl6pPr marL="0" marR="0" indent="11430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chemeClr val="dk1"/>
                  </a:solidFill>
                  <a:effectLst/>
                  <a:uFillTx/>
                  <a:latin typeface="+mn-lt"/>
                  <a:ea typeface="+mn-ea"/>
                  <a:cs typeface="+mn-cs"/>
                  <a:sym typeface="Source Sans Pro"/>
                </a:defRPr>
              </a:lvl6pPr>
              <a:lvl7pPr marL="0" marR="0" indent="13716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chemeClr val="dk1"/>
                  </a:solidFill>
                  <a:effectLst/>
                  <a:uFillTx/>
                  <a:latin typeface="+mn-lt"/>
                  <a:ea typeface="+mn-ea"/>
                  <a:cs typeface="+mn-cs"/>
                  <a:sym typeface="Source Sans Pro"/>
                </a:defRPr>
              </a:lvl7pPr>
              <a:lvl8pPr marL="0" marR="0" indent="16002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chemeClr val="dk1"/>
                  </a:solidFill>
                  <a:effectLst/>
                  <a:uFillTx/>
                  <a:latin typeface="+mn-lt"/>
                  <a:ea typeface="+mn-ea"/>
                  <a:cs typeface="+mn-cs"/>
                  <a:sym typeface="Source Sans Pro"/>
                </a:defRPr>
              </a:lvl8pPr>
              <a:lvl9pPr marL="0" marR="0" indent="18288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chemeClr val="dk1"/>
                  </a:solidFill>
                  <a:effectLst/>
                  <a:uFillTx/>
                  <a:latin typeface="+mn-lt"/>
                  <a:ea typeface="+mn-ea"/>
                  <a:cs typeface="+mn-cs"/>
                  <a:sym typeface="Source Sans Pro"/>
                </a:defRPr>
              </a:lvl9pPr>
            </a:lstStyle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pic>
          <p:nvPicPr>
            <p:cNvPr id="450" name="Picture 449" descr="Account ">
              <a:extLst>
                <a:ext uri="{FF2B5EF4-FFF2-40B4-BE49-F238E27FC236}">
                  <a16:creationId xmlns:a16="http://schemas.microsoft.com/office/drawing/2014/main" id="{0B2FAB31-0C8B-0F07-700A-75FA7AA78A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1912" y="4195042"/>
              <a:ext cx="306136" cy="3061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1" name="TextBox 1284">
              <a:extLst>
                <a:ext uri="{FF2B5EF4-FFF2-40B4-BE49-F238E27FC236}">
                  <a16:creationId xmlns:a16="http://schemas.microsoft.com/office/drawing/2014/main" id="{B132B070-1516-33A5-236D-B18426E2AD53}"/>
                </a:ext>
              </a:extLst>
            </p:cNvPr>
            <p:cNvSpPr txBox="1"/>
            <p:nvPr/>
          </p:nvSpPr>
          <p:spPr>
            <a:xfrm>
              <a:off x="991912" y="3616023"/>
              <a:ext cx="37208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1pPr>
              <a:lvl2pPr marL="0" marR="0" indent="2286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2pPr>
              <a:lvl3pPr marL="0" marR="0" indent="4572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3pPr>
              <a:lvl4pPr marL="0" marR="0" indent="6858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4pPr>
              <a:lvl5pPr marL="0" marR="0" indent="9144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5pPr>
              <a:lvl6pPr marL="0" marR="0" indent="11430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6pPr>
              <a:lvl7pPr marL="0" marR="0" indent="13716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7pPr>
              <a:lvl8pPr marL="0" marR="0" indent="16002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8pPr>
              <a:lvl9pPr marL="0" marR="0" indent="18288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9pPr>
            </a:lstStyle>
            <a:p>
              <a:r>
                <a:rPr lang="en-US" sz="800" dirty="0"/>
                <a:t>Code          Issues          </a:t>
              </a:r>
              <a:r>
                <a:rPr lang="en-US" sz="1100" b="1" dirty="0"/>
                <a:t>Pull Requests          </a:t>
              </a:r>
              <a:r>
                <a:rPr lang="en-US" sz="800" dirty="0"/>
                <a:t>Actions          Wiki          Security  </a:t>
              </a:r>
            </a:p>
          </p:txBody>
        </p: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895A01D3-BF74-B166-E326-8202EC938610}"/>
                </a:ext>
              </a:extLst>
            </p:cNvPr>
            <p:cNvCxnSpPr>
              <a:cxnSpLocks/>
            </p:cNvCxnSpPr>
            <p:nvPr/>
          </p:nvCxnSpPr>
          <p:spPr>
            <a:xfrm>
              <a:off x="870417" y="3877633"/>
              <a:ext cx="384238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453" name="Use headers, colors, and/or backgrounds to separate or group together sections.">
              <a:extLst>
                <a:ext uri="{FF2B5EF4-FFF2-40B4-BE49-F238E27FC236}">
                  <a16:creationId xmlns:a16="http://schemas.microsoft.com/office/drawing/2014/main" id="{CAC75263-85F7-6285-1423-882D19A956A2}"/>
                </a:ext>
              </a:extLst>
            </p:cNvPr>
            <p:cNvSpPr txBox="1"/>
            <p:nvPr/>
          </p:nvSpPr>
          <p:spPr>
            <a:xfrm>
              <a:off x="1455985" y="3883746"/>
              <a:ext cx="1356960" cy="25624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4570" tIns="54570" rIns="54570" bIns="54570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1pPr>
              <a:lvl2pPr marL="0" marR="0" indent="2286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2pPr>
              <a:lvl3pPr marL="0" marR="0" indent="4572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3pPr>
              <a:lvl4pPr marL="0" marR="0" indent="6858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4pPr>
              <a:lvl5pPr marL="0" marR="0" indent="9144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5pPr>
              <a:lvl6pPr marL="0" marR="0" indent="11430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6pPr>
              <a:lvl7pPr marL="0" marR="0" indent="13716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7pPr>
              <a:lvl8pPr marL="0" marR="0" indent="16002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8pPr>
              <a:lvl9pPr marL="0" marR="0" indent="18288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9pPr>
            </a:lstStyle>
            <a:p>
              <a:pPr>
                <a:lnSpc>
                  <a:spcPct val="90000"/>
                </a:lnSpc>
                <a:buSzPts val="3700"/>
              </a:pPr>
              <a:r>
                <a:rPr lang="en-US" b="0" dirty="0">
                  <a:latin typeface="Source Sans Pro" panose="020B0503030403020204" pitchFamily="34" charset="0"/>
                  <a:ea typeface="Source Sans Pro" panose="020B0503030403020204" pitchFamily="34" charset="0"/>
                  <a:cs typeface="Arial" panose="020B0604020202020204" pitchFamily="34" charset="0"/>
                </a:rPr>
                <a:t>Pull Request #330</a:t>
              </a:r>
              <a:endParaRPr lang="en-US" b="0" u="sng" dirty="0">
                <a:solidFill>
                  <a:schemeClr val="hlink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  <a:sym typeface="Arial"/>
                <a:hlinkClick r:id="rId7"/>
              </a:endParaRPr>
            </a:p>
            <a:p>
              <a:pPr lvl="0">
                <a:lnSpc>
                  <a:spcPct val="90000"/>
                </a:lnSpc>
                <a:buSzPts val="3700"/>
              </a:pPr>
              <a:endParaRPr lang="en-US" b="0" u="sng" dirty="0">
                <a:solidFill>
                  <a:schemeClr val="hlink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  <a:hlinkClick r:id="rId7"/>
              </a:endParaRPr>
            </a:p>
          </p:txBody>
        </p:sp>
        <p:pic>
          <p:nvPicPr>
            <p:cNvPr id="454" name="Google Shape;214;p15">
              <a:extLst>
                <a:ext uri="{FF2B5EF4-FFF2-40B4-BE49-F238E27FC236}">
                  <a16:creationId xmlns:a16="http://schemas.microsoft.com/office/drawing/2014/main" id="{B3347952-F13C-29B8-71DB-FD6944C8FB78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914022" y="4784929"/>
              <a:ext cx="476766" cy="456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216;p15">
              <a:extLst>
                <a:ext uri="{FF2B5EF4-FFF2-40B4-BE49-F238E27FC236}">
                  <a16:creationId xmlns:a16="http://schemas.microsoft.com/office/drawing/2014/main" id="{8D379D49-5C66-FB5A-E843-8F557F4BDF22}"/>
                </a:ext>
              </a:extLst>
            </p:cNvPr>
            <p:cNvSpPr/>
            <p:nvPr/>
          </p:nvSpPr>
          <p:spPr>
            <a:xfrm>
              <a:off x="1469668" y="4973530"/>
              <a:ext cx="3025431" cy="652091"/>
            </a:xfrm>
            <a:prstGeom prst="rect">
              <a:avLst/>
            </a:prstGeom>
            <a:solidFill>
              <a:schemeClr val="lt1"/>
            </a:solidFill>
            <a:ln w="87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7722" tIns="127722" rIns="127722" bIns="127722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endParaRPr sz="1956"/>
            </a:p>
          </p:txBody>
        </p:sp>
        <p:sp>
          <p:nvSpPr>
            <p:cNvPr id="456" name="Google Shape;215;p15">
              <a:extLst>
                <a:ext uri="{FF2B5EF4-FFF2-40B4-BE49-F238E27FC236}">
                  <a16:creationId xmlns:a16="http://schemas.microsoft.com/office/drawing/2014/main" id="{C5AE2B27-9224-FA12-47B8-7E6F669303F0}"/>
                </a:ext>
              </a:extLst>
            </p:cNvPr>
            <p:cNvSpPr/>
            <p:nvPr/>
          </p:nvSpPr>
          <p:spPr>
            <a:xfrm>
              <a:off x="1467748" y="4759190"/>
              <a:ext cx="3025431" cy="232375"/>
            </a:xfrm>
            <a:prstGeom prst="rect">
              <a:avLst/>
            </a:prstGeom>
            <a:solidFill>
              <a:schemeClr val="lt2"/>
            </a:solidFill>
            <a:ln w="87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7722" tIns="127722" rIns="127722" bIns="127722" anchor="ctr" anchorCtr="0">
              <a:noAutofit/>
            </a:bodyPr>
            <a:lstStyle/>
            <a:p>
              <a:pPr>
                <a:spcBef>
                  <a:spcPts val="0"/>
                </a:spcBef>
              </a:pPr>
              <a:endParaRPr sz="839" dirty="0"/>
            </a:p>
            <a:p>
              <a:pPr>
                <a:spcBef>
                  <a:spcPts val="0"/>
                </a:spcBef>
              </a:pPr>
              <a:endParaRPr sz="839" dirty="0"/>
            </a:p>
            <a:p>
              <a:pPr>
                <a:spcBef>
                  <a:spcPts val="0"/>
                </a:spcBef>
              </a:pPr>
              <a:r>
                <a:rPr lang="en" sz="839" dirty="0">
                  <a:solidFill>
                    <a:schemeClr val="tx1">
                      <a:lumMod val="50000"/>
                    </a:schemeClr>
                  </a:solidFill>
                </a:rPr>
                <a:t>Codecov </a:t>
              </a:r>
              <a:r>
                <a:rPr lang="en" sz="839" b="0" dirty="0">
                  <a:solidFill>
                    <a:schemeClr val="tx1">
                      <a:lumMod val="50000"/>
                    </a:schemeClr>
                  </a:solidFill>
                </a:rPr>
                <a:t>commented on Mar 27</a:t>
              </a:r>
              <a:endParaRPr sz="839" b="0" dirty="0">
                <a:solidFill>
                  <a:schemeClr val="tx1">
                    <a:lumMod val="50000"/>
                  </a:schemeClr>
                </a:solidFill>
              </a:endParaRPr>
            </a:p>
            <a:p>
              <a:pPr>
                <a:spcBef>
                  <a:spcPts val="0"/>
                </a:spcBef>
              </a:pPr>
              <a:endParaRPr sz="1956" dirty="0"/>
            </a:p>
          </p:txBody>
        </p:sp>
        <p:sp>
          <p:nvSpPr>
            <p:cNvPr id="457" name="Google Shape;217;p15">
              <a:extLst>
                <a:ext uri="{FF2B5EF4-FFF2-40B4-BE49-F238E27FC236}">
                  <a16:creationId xmlns:a16="http://schemas.microsoft.com/office/drawing/2014/main" id="{E57D9244-3029-ED72-3D57-1457F1AD2FAF}"/>
                </a:ext>
              </a:extLst>
            </p:cNvPr>
            <p:cNvSpPr txBox="1"/>
            <p:nvPr/>
          </p:nvSpPr>
          <p:spPr>
            <a:xfrm>
              <a:off x="1396836" y="4941265"/>
              <a:ext cx="2116583" cy="554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722" tIns="127722" rIns="127722" bIns="127722" anchor="t" anchorCtr="0">
              <a:noAutofit/>
            </a:bodyPr>
            <a:lstStyle/>
            <a:p>
              <a:pPr>
                <a:spcBef>
                  <a:spcPts val="0"/>
                </a:spcBef>
              </a:pPr>
              <a:r>
                <a:rPr lang="en" sz="839" dirty="0">
                  <a:solidFill>
                    <a:srgbClr val="1F2328"/>
                  </a:solidFill>
                  <a:highlight>
                    <a:srgbClr val="FFFFFF"/>
                  </a:highlight>
                </a:rPr>
                <a:t>❌ Patch coverage is…</a:t>
              </a:r>
              <a:endParaRPr sz="839" dirty="0">
                <a:solidFill>
                  <a:srgbClr val="1F2328"/>
                </a:solidFill>
                <a:highlight>
                  <a:srgbClr val="FFFFFF"/>
                </a:highlight>
              </a:endParaRPr>
            </a:p>
            <a:p>
              <a:pPr>
                <a:spcBef>
                  <a:spcPts val="0"/>
                </a:spcBef>
              </a:pPr>
              <a:r>
                <a:rPr lang="en" sz="839" dirty="0">
                  <a:solidFill>
                    <a:srgbClr val="1F2328"/>
                  </a:solidFill>
                  <a:highlight>
                    <a:srgbClr val="FFFFFF"/>
                  </a:highlight>
                </a:rPr>
                <a:t>✅ Project coverage is…</a:t>
              </a:r>
              <a:endParaRPr sz="839" dirty="0">
                <a:solidFill>
                  <a:srgbClr val="1F2328"/>
                </a:solidFill>
                <a:highlight>
                  <a:srgbClr val="FFFFFF"/>
                </a:highlight>
              </a:endParaRPr>
            </a:p>
            <a:p>
              <a:pPr>
                <a:spcBef>
                  <a:spcPts val="0"/>
                </a:spcBef>
              </a:pPr>
              <a:r>
                <a:rPr lang="en" sz="839" dirty="0">
                  <a:solidFill>
                    <a:srgbClr val="1F2328"/>
                  </a:solidFill>
                  <a:highlight>
                    <a:srgbClr val="FFFFFF"/>
                  </a:highlight>
                </a:rPr>
                <a:t>⚠️ Report is…</a:t>
              </a:r>
              <a:endParaRPr sz="839" dirty="0">
                <a:solidFill>
                  <a:srgbClr val="1F2328"/>
                </a:solidFill>
                <a:highlight>
                  <a:srgbClr val="FFFFFF"/>
                </a:highlight>
              </a:endParaRPr>
            </a:p>
          </p:txBody>
        </p:sp>
        <p:pic>
          <p:nvPicPr>
            <p:cNvPr id="458" name="Google Shape;227;p15">
              <a:extLst>
                <a:ext uri="{FF2B5EF4-FFF2-40B4-BE49-F238E27FC236}">
                  <a16:creationId xmlns:a16="http://schemas.microsoft.com/office/drawing/2014/main" id="{ED824919-4D78-2D10-1FC5-52939B379CFB}"/>
                </a:ext>
              </a:extLst>
            </p:cNvPr>
            <p:cNvPicPr preferRelativeResize="0"/>
            <p:nvPr/>
          </p:nvPicPr>
          <p:blipFill>
            <a:blip r:embed="rId9">
              <a:alphaModFix/>
            </a:blip>
            <a:srcRect l="9422" t="6057" r="10362" b="6496"/>
            <a:stretch>
              <a:fillRect/>
            </a:stretch>
          </p:blipFill>
          <p:spPr>
            <a:xfrm>
              <a:off x="991912" y="5826679"/>
              <a:ext cx="382451" cy="3795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9" name="Google Shape;206;p15">
              <a:extLst>
                <a:ext uri="{FF2B5EF4-FFF2-40B4-BE49-F238E27FC236}">
                  <a16:creationId xmlns:a16="http://schemas.microsoft.com/office/drawing/2014/main" id="{ADB2148E-BAC0-186F-18C2-13C4894AC360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 r="56805" b="59527"/>
            <a:stretch/>
          </p:blipFill>
          <p:spPr>
            <a:xfrm>
              <a:off x="1474313" y="8180149"/>
              <a:ext cx="3020786" cy="7379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1" name="Google Shape;208;p15">
              <a:extLst>
                <a:ext uri="{FF2B5EF4-FFF2-40B4-BE49-F238E27FC236}">
                  <a16:creationId xmlns:a16="http://schemas.microsoft.com/office/drawing/2014/main" id="{8BD17268-421C-FB4D-D702-3A35AD3172FF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 r="51536" b="66346"/>
            <a:stretch/>
          </p:blipFill>
          <p:spPr>
            <a:xfrm>
              <a:off x="1478995" y="6325833"/>
              <a:ext cx="3018340" cy="1245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2" name="Google Shape;226;p15">
              <a:extLst>
                <a:ext uri="{FF2B5EF4-FFF2-40B4-BE49-F238E27FC236}">
                  <a16:creationId xmlns:a16="http://schemas.microsoft.com/office/drawing/2014/main" id="{8845D1DF-9740-66A1-CEEB-75A0B399DD07}"/>
                </a:ext>
              </a:extLst>
            </p:cNvPr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520465" y="5876512"/>
              <a:ext cx="418118" cy="3974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3" name="Google Shape;228;p15">
              <a:extLst>
                <a:ext uri="{FF2B5EF4-FFF2-40B4-BE49-F238E27FC236}">
                  <a16:creationId xmlns:a16="http://schemas.microsoft.com/office/drawing/2014/main" id="{CB0C1970-BC28-2C4B-66F3-C30EFE582545}"/>
                </a:ext>
              </a:extLst>
            </p:cNvPr>
            <p:cNvSpPr txBox="1"/>
            <p:nvPr/>
          </p:nvSpPr>
          <p:spPr>
            <a:xfrm>
              <a:off x="1866920" y="5853986"/>
              <a:ext cx="1995583" cy="2044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722" tIns="127722" rIns="127722" bIns="127722" anchor="t" anchorCtr="0">
              <a:noAutofit/>
            </a:bodyPr>
            <a:lstStyle/>
            <a:p>
              <a:pPr>
                <a:spcBef>
                  <a:spcPts val="0"/>
                </a:spcBef>
              </a:pPr>
              <a:r>
                <a:rPr lang="en" sz="1117" dirty="0">
                  <a:solidFill>
                    <a:schemeClr val="dk1"/>
                  </a:solidFill>
                </a:rPr>
                <a:t>Changes Reviewed</a:t>
              </a:r>
              <a:endParaRPr sz="1117" dirty="0">
                <a:solidFill>
                  <a:schemeClr val="dk1"/>
                </a:solidFill>
              </a:endParaRPr>
            </a:p>
          </p:txBody>
        </p:sp>
        <p:cxnSp>
          <p:nvCxnSpPr>
            <p:cNvPr id="464" name="Google Shape;229;p15">
              <a:extLst>
                <a:ext uri="{FF2B5EF4-FFF2-40B4-BE49-F238E27FC236}">
                  <a16:creationId xmlns:a16="http://schemas.microsoft.com/office/drawing/2014/main" id="{60F60EA5-7AE5-A8A1-2264-22E0F83BA178}"/>
                </a:ext>
              </a:extLst>
            </p:cNvPr>
            <p:cNvCxnSpPr/>
            <p:nvPr/>
          </p:nvCxnSpPr>
          <p:spPr>
            <a:xfrm>
              <a:off x="1467748" y="6324819"/>
              <a:ext cx="3040125" cy="0"/>
            </a:xfrm>
            <a:prstGeom prst="straightConnector1">
              <a:avLst/>
            </a:prstGeom>
            <a:noFill/>
            <a:ln w="87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465" name="Google Shape;230;p15">
              <a:extLst>
                <a:ext uri="{FF2B5EF4-FFF2-40B4-BE49-F238E27FC236}">
                  <a16:creationId xmlns:a16="http://schemas.microsoft.com/office/drawing/2014/main" id="{83B36D5C-87F4-1EE1-443C-6936F6CBCAE0}"/>
                </a:ext>
              </a:extLst>
            </p:cNvPr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1576377" y="6953035"/>
              <a:ext cx="233220" cy="273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6" name="Google Shape;231;p15">
              <a:extLst>
                <a:ext uri="{FF2B5EF4-FFF2-40B4-BE49-F238E27FC236}">
                  <a16:creationId xmlns:a16="http://schemas.microsoft.com/office/drawing/2014/main" id="{72068F9D-240F-99B0-CFCE-7C932EE08CC1}"/>
                </a:ext>
              </a:extLst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530785" y="6396970"/>
              <a:ext cx="288926" cy="2118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" name="Google Shape;232;p15">
              <a:extLst>
                <a:ext uri="{FF2B5EF4-FFF2-40B4-BE49-F238E27FC236}">
                  <a16:creationId xmlns:a16="http://schemas.microsoft.com/office/drawing/2014/main" id="{FD0DE4EA-B2B6-0E88-37D6-412DB0499298}"/>
                </a:ext>
              </a:extLst>
            </p:cNvPr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1523888" y="6653098"/>
              <a:ext cx="275348" cy="2326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234;p15">
              <a:extLst>
                <a:ext uri="{FF2B5EF4-FFF2-40B4-BE49-F238E27FC236}">
                  <a16:creationId xmlns:a16="http://schemas.microsoft.com/office/drawing/2014/main" id="{46A1E66C-AA02-B97A-CE89-026EAD9E0A97}"/>
                </a:ext>
              </a:extLst>
            </p:cNvPr>
            <p:cNvSpPr/>
            <p:nvPr/>
          </p:nvSpPr>
          <p:spPr>
            <a:xfrm>
              <a:off x="1629407" y="8282439"/>
              <a:ext cx="2788500" cy="232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722" tIns="127722" rIns="127722" bIns="127722" anchor="ctr" anchorCtr="0">
              <a:noAutofit/>
            </a:bodyPr>
            <a:lstStyle/>
            <a:p>
              <a:pPr>
                <a:spcBef>
                  <a:spcPts val="0"/>
                </a:spcBef>
                <a:buClr>
                  <a:schemeClr val="dk1"/>
                </a:buClr>
                <a:buSzPts val="1006"/>
              </a:pPr>
              <a:r>
                <a:rPr lang="en" sz="839" dirty="0">
                  <a:solidFill>
                    <a:schemeClr val="dk1"/>
                  </a:solidFill>
                </a:rPr>
                <a:t>   </a:t>
              </a:r>
              <a:r>
                <a:rPr lang="en" sz="839" dirty="0">
                  <a:solidFill>
                    <a:srgbClr val="1F2328"/>
                  </a:solidFill>
                </a:rPr>
                <a:t>           test-coverage/test-coverage(4.4)</a:t>
              </a:r>
              <a:endParaRPr sz="1956" dirty="0"/>
            </a:p>
          </p:txBody>
        </p:sp>
        <p:sp>
          <p:nvSpPr>
            <p:cNvPr id="470" name="Google Shape;235;p15">
              <a:extLst>
                <a:ext uri="{FF2B5EF4-FFF2-40B4-BE49-F238E27FC236}">
                  <a16:creationId xmlns:a16="http://schemas.microsoft.com/office/drawing/2014/main" id="{94D8C3EC-CB3D-A638-6C5D-4EE107893D37}"/>
                </a:ext>
              </a:extLst>
            </p:cNvPr>
            <p:cNvSpPr/>
            <p:nvPr/>
          </p:nvSpPr>
          <p:spPr>
            <a:xfrm>
              <a:off x="1629374" y="8621717"/>
              <a:ext cx="2788500" cy="232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722" tIns="127722" rIns="127722" bIns="127722" anchor="ctr" anchorCtr="0">
              <a:noAutofit/>
            </a:bodyPr>
            <a:lstStyle/>
            <a:p>
              <a:pPr>
                <a:spcBef>
                  <a:spcPts val="0"/>
                </a:spcBef>
              </a:pPr>
              <a:r>
                <a:rPr lang="en" sz="839"/>
                <a:t>              R-CMD-check</a:t>
              </a:r>
              <a:endParaRPr sz="839"/>
            </a:p>
          </p:txBody>
        </p:sp>
        <p:sp>
          <p:nvSpPr>
            <p:cNvPr id="471" name="Google Shape;236;p15">
              <a:extLst>
                <a:ext uri="{FF2B5EF4-FFF2-40B4-BE49-F238E27FC236}">
                  <a16:creationId xmlns:a16="http://schemas.microsoft.com/office/drawing/2014/main" id="{3D328611-66BE-605F-2369-B53DF004F0B4}"/>
                </a:ext>
              </a:extLst>
            </p:cNvPr>
            <p:cNvSpPr/>
            <p:nvPr/>
          </p:nvSpPr>
          <p:spPr>
            <a:xfrm>
              <a:off x="1830220" y="8318797"/>
              <a:ext cx="165458" cy="162708"/>
            </a:xfrm>
            <a:prstGeom prst="roundRect">
              <a:avLst>
                <a:gd name="adj" fmla="val 16667"/>
              </a:avLst>
            </a:prstGeom>
            <a:solidFill>
              <a:schemeClr val="bg2">
                <a:lumMod val="10000"/>
              </a:schemeClr>
            </a:solidFill>
            <a:ln w="87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7722" tIns="127722" rIns="127722" bIns="127722" anchor="ctr" anchorCtr="0">
              <a:noAutofit/>
            </a:bodyPr>
            <a:lstStyle/>
            <a:p>
              <a:pPr>
                <a:spcBef>
                  <a:spcPts val="0"/>
                </a:spcBef>
              </a:pPr>
              <a:endParaRPr sz="1117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472" name="Google Shape;237;p15">
              <a:extLst>
                <a:ext uri="{FF2B5EF4-FFF2-40B4-BE49-F238E27FC236}">
                  <a16:creationId xmlns:a16="http://schemas.microsoft.com/office/drawing/2014/main" id="{FD736B9E-E03F-EA6E-98AC-2B54D00818D0}"/>
                </a:ext>
              </a:extLst>
            </p:cNvPr>
            <p:cNvSpPr txBox="1"/>
            <p:nvPr/>
          </p:nvSpPr>
          <p:spPr>
            <a:xfrm>
              <a:off x="1729524" y="8229908"/>
              <a:ext cx="416167" cy="232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722" tIns="127722" rIns="127722" bIns="127722" anchor="t" anchorCtr="0">
              <a:noAutofit/>
            </a:bodyPr>
            <a:lstStyle/>
            <a:p>
              <a:pPr>
                <a:spcBef>
                  <a:spcPts val="0"/>
                </a:spcBef>
              </a:pPr>
              <a:r>
                <a:rPr lang="en" sz="698" dirty="0">
                  <a:solidFill>
                    <a:schemeClr val="lt1"/>
                  </a:solidFill>
                </a:rPr>
                <a:t>GH</a:t>
              </a:r>
              <a:endParaRPr sz="698" dirty="0">
                <a:solidFill>
                  <a:schemeClr val="lt1"/>
                </a:solidFill>
              </a:endParaRPr>
            </a:p>
          </p:txBody>
        </p:sp>
        <p:sp>
          <p:nvSpPr>
            <p:cNvPr id="473" name="Google Shape;238;p15">
              <a:extLst>
                <a:ext uri="{FF2B5EF4-FFF2-40B4-BE49-F238E27FC236}">
                  <a16:creationId xmlns:a16="http://schemas.microsoft.com/office/drawing/2014/main" id="{01373E37-A823-3E21-2D1A-24352AF39C2C}"/>
                </a:ext>
              </a:extLst>
            </p:cNvPr>
            <p:cNvSpPr/>
            <p:nvPr/>
          </p:nvSpPr>
          <p:spPr>
            <a:xfrm>
              <a:off x="1835613" y="8653245"/>
              <a:ext cx="165458" cy="162708"/>
            </a:xfrm>
            <a:prstGeom prst="roundRect">
              <a:avLst>
                <a:gd name="adj" fmla="val 16667"/>
              </a:avLst>
            </a:prstGeom>
            <a:solidFill>
              <a:schemeClr val="bg2">
                <a:lumMod val="10000"/>
              </a:schemeClr>
            </a:solidFill>
            <a:ln w="87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7722" tIns="127722" rIns="127722" bIns="127722" anchor="ctr" anchorCtr="0">
              <a:noAutofit/>
            </a:bodyPr>
            <a:lstStyle/>
            <a:p>
              <a:pPr>
                <a:spcBef>
                  <a:spcPts val="0"/>
                </a:spcBef>
              </a:pPr>
              <a:endParaRPr sz="1117">
                <a:solidFill>
                  <a:schemeClr val="lt1"/>
                </a:solidFill>
              </a:endParaRPr>
            </a:p>
          </p:txBody>
        </p:sp>
        <p:sp>
          <p:nvSpPr>
            <p:cNvPr id="474" name="Google Shape;239;p15">
              <a:extLst>
                <a:ext uri="{FF2B5EF4-FFF2-40B4-BE49-F238E27FC236}">
                  <a16:creationId xmlns:a16="http://schemas.microsoft.com/office/drawing/2014/main" id="{930D7B43-D015-3EB1-ACBC-6A41CCC92275}"/>
                </a:ext>
              </a:extLst>
            </p:cNvPr>
            <p:cNvSpPr txBox="1"/>
            <p:nvPr/>
          </p:nvSpPr>
          <p:spPr>
            <a:xfrm>
              <a:off x="1730499" y="8555049"/>
              <a:ext cx="416167" cy="232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722" tIns="127722" rIns="127722" bIns="127722" anchor="t" anchorCtr="0">
              <a:noAutofit/>
            </a:bodyPr>
            <a:lstStyle/>
            <a:p>
              <a:pPr>
                <a:spcBef>
                  <a:spcPts val="0"/>
                </a:spcBef>
              </a:pPr>
              <a:r>
                <a:rPr lang="en" sz="698" dirty="0">
                  <a:solidFill>
                    <a:schemeClr val="lt1"/>
                  </a:solidFill>
                </a:rPr>
                <a:t>GH</a:t>
              </a:r>
              <a:endParaRPr sz="698" dirty="0">
                <a:solidFill>
                  <a:schemeClr val="lt1"/>
                </a:solidFill>
              </a:endParaRPr>
            </a:p>
          </p:txBody>
        </p:sp>
        <p:sp>
          <p:nvSpPr>
            <p:cNvPr id="475" name="Google Shape;240;p15">
              <a:extLst>
                <a:ext uri="{FF2B5EF4-FFF2-40B4-BE49-F238E27FC236}">
                  <a16:creationId xmlns:a16="http://schemas.microsoft.com/office/drawing/2014/main" id="{D01263E1-174D-D658-97DB-8C45CD167F87}"/>
                </a:ext>
              </a:extLst>
            </p:cNvPr>
            <p:cNvSpPr txBox="1"/>
            <p:nvPr/>
          </p:nvSpPr>
          <p:spPr>
            <a:xfrm>
              <a:off x="1694050" y="6325762"/>
              <a:ext cx="970292" cy="374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722" tIns="127722" rIns="127722" bIns="127722" anchor="t" anchorCtr="0">
              <a:noAutofit/>
            </a:bodyPr>
            <a:lstStyle/>
            <a:p>
              <a:pPr>
                <a:spcBef>
                  <a:spcPts val="0"/>
                </a:spcBef>
              </a:pPr>
              <a:r>
                <a:rPr lang="en" sz="978">
                  <a:solidFill>
                    <a:srgbClr val="999999"/>
                  </a:solidFill>
                </a:rPr>
                <a:t>1 approval</a:t>
              </a:r>
              <a:endParaRPr sz="978">
                <a:solidFill>
                  <a:srgbClr val="999999"/>
                </a:solidFill>
              </a:endParaRPr>
            </a:p>
            <a:p>
              <a:pPr>
                <a:spcBef>
                  <a:spcPts val="0"/>
                </a:spcBef>
              </a:pPr>
              <a:endParaRPr sz="978">
                <a:solidFill>
                  <a:srgbClr val="999999"/>
                </a:solidFill>
              </a:endParaRPr>
            </a:p>
            <a:p>
              <a:pPr>
                <a:spcBef>
                  <a:spcPts val="0"/>
                </a:spcBef>
              </a:pPr>
              <a:r>
                <a:rPr lang="en" sz="978">
                  <a:solidFill>
                    <a:srgbClr val="999999"/>
                  </a:solidFill>
                </a:rPr>
                <a:t> </a:t>
              </a:r>
              <a:endParaRPr sz="978">
                <a:solidFill>
                  <a:srgbClr val="999999"/>
                </a:solidFill>
              </a:endParaRPr>
            </a:p>
          </p:txBody>
        </p:sp>
        <p:sp>
          <p:nvSpPr>
            <p:cNvPr id="476" name="Google Shape;241;p15">
              <a:extLst>
                <a:ext uri="{FF2B5EF4-FFF2-40B4-BE49-F238E27FC236}">
                  <a16:creationId xmlns:a16="http://schemas.microsoft.com/office/drawing/2014/main" id="{2DB063EB-01DD-6061-2EFD-11AE3B7B9591}"/>
                </a:ext>
              </a:extLst>
            </p:cNvPr>
            <p:cNvSpPr txBox="1"/>
            <p:nvPr/>
          </p:nvSpPr>
          <p:spPr>
            <a:xfrm>
              <a:off x="1707043" y="6907723"/>
              <a:ext cx="1532667" cy="374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722" tIns="127722" rIns="127722" bIns="127722" anchor="t" anchorCtr="0">
              <a:noAutofit/>
            </a:bodyPr>
            <a:lstStyle/>
            <a:p>
              <a:pPr>
                <a:spcBef>
                  <a:spcPts val="0"/>
                </a:spcBef>
              </a:pPr>
              <a:r>
                <a:rPr lang="en" sz="978">
                  <a:solidFill>
                    <a:srgbClr val="999999"/>
                  </a:solidFill>
                </a:rPr>
                <a:t>1 requested change</a:t>
              </a:r>
              <a:endParaRPr sz="978">
                <a:solidFill>
                  <a:srgbClr val="999999"/>
                </a:solidFill>
              </a:endParaRPr>
            </a:p>
          </p:txBody>
        </p:sp>
        <p:sp>
          <p:nvSpPr>
            <p:cNvPr id="477" name="Google Shape;242;p15">
              <a:extLst>
                <a:ext uri="{FF2B5EF4-FFF2-40B4-BE49-F238E27FC236}">
                  <a16:creationId xmlns:a16="http://schemas.microsoft.com/office/drawing/2014/main" id="{1D90797A-0004-0E78-485B-509DC1BD60AA}"/>
                </a:ext>
              </a:extLst>
            </p:cNvPr>
            <p:cNvSpPr txBox="1"/>
            <p:nvPr/>
          </p:nvSpPr>
          <p:spPr>
            <a:xfrm>
              <a:off x="1705960" y="6587163"/>
              <a:ext cx="2640000" cy="374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722" tIns="127722" rIns="127722" bIns="127722" anchor="t" anchorCtr="0">
              <a:noAutofit/>
            </a:bodyPr>
            <a:lstStyle/>
            <a:p>
              <a:pPr>
                <a:spcBef>
                  <a:spcPts val="0"/>
                </a:spcBef>
              </a:pPr>
              <a:r>
                <a:rPr lang="en" sz="978" dirty="0">
                  <a:solidFill>
                    <a:schemeClr val="dk1"/>
                  </a:solidFill>
                </a:rPr>
                <a:t>Quality Reviewer    </a:t>
              </a:r>
              <a:r>
                <a:rPr lang="en" sz="839" dirty="0">
                  <a:solidFill>
                    <a:schemeClr val="dk1"/>
                  </a:solidFill>
                </a:rPr>
                <a:t> </a:t>
              </a:r>
              <a:r>
                <a:rPr lang="en" sz="839" dirty="0">
                  <a:solidFill>
                    <a:srgbClr val="999999"/>
                  </a:solidFill>
                </a:rPr>
                <a:t> Approved these changes</a:t>
              </a:r>
              <a:endParaRPr sz="839" dirty="0">
                <a:solidFill>
                  <a:srgbClr val="999999"/>
                </a:solidFill>
              </a:endParaRPr>
            </a:p>
            <a:p>
              <a:pPr>
                <a:spcBef>
                  <a:spcPts val="0"/>
                </a:spcBef>
              </a:pPr>
              <a:endParaRPr sz="978" dirty="0">
                <a:solidFill>
                  <a:srgbClr val="999999"/>
                </a:solidFill>
              </a:endParaRPr>
            </a:p>
            <a:p>
              <a:pPr>
                <a:spcBef>
                  <a:spcPts val="0"/>
                </a:spcBef>
              </a:pPr>
              <a:r>
                <a:rPr lang="en" sz="978" dirty="0">
                  <a:solidFill>
                    <a:srgbClr val="999999"/>
                  </a:solidFill>
                </a:rPr>
                <a:t> </a:t>
              </a:r>
              <a:endParaRPr sz="978" dirty="0">
                <a:solidFill>
                  <a:srgbClr val="999999"/>
                </a:solidFill>
              </a:endParaRPr>
            </a:p>
          </p:txBody>
        </p:sp>
        <p:pic>
          <p:nvPicPr>
            <p:cNvPr id="478" name="Google Shape;243;p15">
              <a:extLst>
                <a:ext uri="{FF2B5EF4-FFF2-40B4-BE49-F238E27FC236}">
                  <a16:creationId xmlns:a16="http://schemas.microsoft.com/office/drawing/2014/main" id="{1F64504C-2EA7-50AC-81D4-274EBEA0978F}"/>
                </a:ext>
              </a:extLst>
            </p:cNvPr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1535831" y="7247141"/>
              <a:ext cx="275348" cy="2326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9" name="Google Shape;244;p15">
              <a:extLst>
                <a:ext uri="{FF2B5EF4-FFF2-40B4-BE49-F238E27FC236}">
                  <a16:creationId xmlns:a16="http://schemas.microsoft.com/office/drawing/2014/main" id="{3E4A799E-CBDD-FFF9-91B0-FE3736943F57}"/>
                </a:ext>
              </a:extLst>
            </p:cNvPr>
            <p:cNvSpPr txBox="1"/>
            <p:nvPr/>
          </p:nvSpPr>
          <p:spPr>
            <a:xfrm>
              <a:off x="1703969" y="7146562"/>
              <a:ext cx="2640000" cy="374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722" tIns="127722" rIns="127722" bIns="127722" anchor="t" anchorCtr="0">
              <a:noAutofit/>
            </a:bodyPr>
            <a:lstStyle/>
            <a:p>
              <a:pPr>
                <a:spcBef>
                  <a:spcPts val="0"/>
                </a:spcBef>
              </a:pPr>
              <a:r>
                <a:rPr lang="en" sz="978" dirty="0">
                  <a:solidFill>
                    <a:schemeClr val="dk1"/>
                  </a:solidFill>
                </a:rPr>
                <a:t>Code Architect    </a:t>
              </a:r>
              <a:r>
                <a:rPr lang="en" sz="839" dirty="0">
                  <a:solidFill>
                    <a:schemeClr val="dk1"/>
                  </a:solidFill>
                </a:rPr>
                <a:t> </a:t>
              </a:r>
              <a:r>
                <a:rPr lang="en" sz="839" dirty="0">
                  <a:solidFill>
                    <a:srgbClr val="999999"/>
                  </a:solidFill>
                </a:rPr>
                <a:t>     Requested changes</a:t>
              </a:r>
              <a:endParaRPr sz="839" dirty="0">
                <a:solidFill>
                  <a:srgbClr val="999999"/>
                </a:solidFill>
              </a:endParaRPr>
            </a:p>
            <a:p>
              <a:pPr>
                <a:spcBef>
                  <a:spcPts val="0"/>
                </a:spcBef>
              </a:pPr>
              <a:endParaRPr sz="978" dirty="0">
                <a:solidFill>
                  <a:srgbClr val="999999"/>
                </a:solidFill>
              </a:endParaRPr>
            </a:p>
            <a:p>
              <a:pPr>
                <a:spcBef>
                  <a:spcPts val="0"/>
                </a:spcBef>
              </a:pPr>
              <a:r>
                <a:rPr lang="en" sz="978" dirty="0">
                  <a:solidFill>
                    <a:srgbClr val="999999"/>
                  </a:solidFill>
                </a:rPr>
                <a:t> </a:t>
              </a:r>
              <a:endParaRPr sz="978" dirty="0">
                <a:solidFill>
                  <a:srgbClr val="999999"/>
                </a:solidFill>
              </a:endParaRPr>
            </a:p>
          </p:txBody>
        </p:sp>
        <p:cxnSp>
          <p:nvCxnSpPr>
            <p:cNvPr id="480" name="Google Shape;245;p15">
              <a:extLst>
                <a:ext uri="{FF2B5EF4-FFF2-40B4-BE49-F238E27FC236}">
                  <a16:creationId xmlns:a16="http://schemas.microsoft.com/office/drawing/2014/main" id="{892D677F-DCED-F702-E269-F2D0EF2C48E3}"/>
                </a:ext>
              </a:extLst>
            </p:cNvPr>
            <p:cNvCxnSpPr/>
            <p:nvPr/>
          </p:nvCxnSpPr>
          <p:spPr>
            <a:xfrm>
              <a:off x="1477667" y="7575104"/>
              <a:ext cx="3040125" cy="0"/>
            </a:xfrm>
            <a:prstGeom prst="straightConnector1">
              <a:avLst/>
            </a:prstGeom>
            <a:noFill/>
            <a:ln w="87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482" name="Google Shape;246;p15">
              <a:extLst>
                <a:ext uri="{FF2B5EF4-FFF2-40B4-BE49-F238E27FC236}">
                  <a16:creationId xmlns:a16="http://schemas.microsoft.com/office/drawing/2014/main" id="{ACBD18A7-11D3-81B7-584A-3DD57788CD37}"/>
                </a:ext>
              </a:extLst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529318" y="8636978"/>
              <a:ext cx="288926" cy="21187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84" name="Google Shape;247;p15">
              <a:extLst>
                <a:ext uri="{FF2B5EF4-FFF2-40B4-BE49-F238E27FC236}">
                  <a16:creationId xmlns:a16="http://schemas.microsoft.com/office/drawing/2014/main" id="{5F0287C2-50F4-AC02-7038-F5AF883F9305}"/>
                </a:ext>
              </a:extLst>
            </p:cNvPr>
            <p:cNvCxnSpPr/>
            <p:nvPr/>
          </p:nvCxnSpPr>
          <p:spPr>
            <a:xfrm>
              <a:off x="1458389" y="8163071"/>
              <a:ext cx="3040125" cy="0"/>
            </a:xfrm>
            <a:prstGeom prst="straightConnector1">
              <a:avLst/>
            </a:prstGeom>
            <a:noFill/>
            <a:ln w="87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485" name="Google Shape;248;p15" title="download.png">
              <a:extLst>
                <a:ext uri="{FF2B5EF4-FFF2-40B4-BE49-F238E27FC236}">
                  <a16:creationId xmlns:a16="http://schemas.microsoft.com/office/drawing/2014/main" id="{D65A2A00-9EAD-E9A1-ABDF-3C39D2E1BD54}"/>
                </a:ext>
              </a:extLst>
            </p:cNvPr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1524726" y="8948407"/>
              <a:ext cx="344920" cy="3449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249;p15">
              <a:extLst>
                <a:ext uri="{FF2B5EF4-FFF2-40B4-BE49-F238E27FC236}">
                  <a16:creationId xmlns:a16="http://schemas.microsoft.com/office/drawing/2014/main" id="{CA6A2372-E17C-0B02-10BA-8A67A6D76E42}"/>
                </a:ext>
              </a:extLst>
            </p:cNvPr>
            <p:cNvSpPr txBox="1"/>
            <p:nvPr/>
          </p:nvSpPr>
          <p:spPr>
            <a:xfrm>
              <a:off x="1798191" y="8820046"/>
              <a:ext cx="1821875" cy="3483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722" tIns="127722" rIns="127722" bIns="127722" anchor="t" anchorCtr="0">
              <a:noAutofit/>
            </a:bodyPr>
            <a:lstStyle/>
            <a:p>
              <a:pPr>
                <a:spcBef>
                  <a:spcPts val="0"/>
                </a:spcBef>
              </a:pPr>
              <a:r>
                <a:rPr lang="en" sz="1257">
                  <a:solidFill>
                    <a:schemeClr val="dk1"/>
                  </a:solidFill>
                </a:rPr>
                <a:t>No conflicts with base branch</a:t>
              </a:r>
              <a:endParaRPr sz="1257">
                <a:solidFill>
                  <a:schemeClr val="dk1"/>
                </a:solidFill>
              </a:endParaRPr>
            </a:p>
            <a:p>
              <a:pPr>
                <a:spcBef>
                  <a:spcPts val="0"/>
                </a:spcBef>
              </a:pPr>
              <a:endParaRPr sz="1257">
                <a:solidFill>
                  <a:schemeClr val="dk1"/>
                </a:solidFill>
              </a:endParaRPr>
            </a:p>
          </p:txBody>
        </p:sp>
        <p:cxnSp>
          <p:nvCxnSpPr>
            <p:cNvPr id="489" name="Google Shape;250;p15">
              <a:extLst>
                <a:ext uri="{FF2B5EF4-FFF2-40B4-BE49-F238E27FC236}">
                  <a16:creationId xmlns:a16="http://schemas.microsoft.com/office/drawing/2014/main" id="{70BCF6BD-3DFC-C79C-819A-BB5C3978D7E4}"/>
                </a:ext>
              </a:extLst>
            </p:cNvPr>
            <p:cNvCxnSpPr/>
            <p:nvPr/>
          </p:nvCxnSpPr>
          <p:spPr>
            <a:xfrm>
              <a:off x="1474802" y="8902850"/>
              <a:ext cx="3040125" cy="0"/>
            </a:xfrm>
            <a:prstGeom prst="straightConnector1">
              <a:avLst/>
            </a:prstGeom>
            <a:noFill/>
            <a:ln w="87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92" name="Google Shape;216;p15">
              <a:extLst>
                <a:ext uri="{FF2B5EF4-FFF2-40B4-BE49-F238E27FC236}">
                  <a16:creationId xmlns:a16="http://schemas.microsoft.com/office/drawing/2014/main" id="{843082B8-B0CE-7A0F-1A48-759AF2C6E481}"/>
                </a:ext>
              </a:extLst>
            </p:cNvPr>
            <p:cNvSpPr/>
            <p:nvPr/>
          </p:nvSpPr>
          <p:spPr>
            <a:xfrm>
              <a:off x="1466614" y="5802822"/>
              <a:ext cx="3030718" cy="3579582"/>
            </a:xfrm>
            <a:prstGeom prst="rect">
              <a:avLst/>
            </a:prstGeom>
            <a:noFill/>
            <a:ln w="87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7722" tIns="127722" rIns="127722" bIns="127722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endParaRPr sz="1956"/>
            </a:p>
          </p:txBody>
        </p:sp>
      </p:grpSp>
      <p:sp>
        <p:nvSpPr>
          <p:cNvPr id="62" name="Google Shape;215;p15">
            <a:extLst>
              <a:ext uri="{FF2B5EF4-FFF2-40B4-BE49-F238E27FC236}">
                <a16:creationId xmlns:a16="http://schemas.microsoft.com/office/drawing/2014/main" id="{B1DBD441-EE80-BA3A-C250-FFAEBF451BB4}"/>
              </a:ext>
            </a:extLst>
          </p:cNvPr>
          <p:cNvSpPr/>
          <p:nvPr/>
        </p:nvSpPr>
        <p:spPr>
          <a:xfrm>
            <a:off x="10152799" y="4409250"/>
            <a:ext cx="3024222" cy="232375"/>
          </a:xfrm>
          <a:prstGeom prst="rect">
            <a:avLst/>
          </a:prstGeom>
          <a:solidFill>
            <a:schemeClr val="lt2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7722" tIns="127722" rIns="127722" bIns="127722" anchor="ctr" anchorCtr="0">
            <a:noAutofit/>
          </a:bodyPr>
          <a:lstStyle/>
          <a:p>
            <a:pPr>
              <a:spcBef>
                <a:spcPts val="0"/>
              </a:spcBef>
            </a:pPr>
            <a:endParaRPr sz="839" dirty="0"/>
          </a:p>
          <a:p>
            <a:pPr>
              <a:spcBef>
                <a:spcPts val="0"/>
              </a:spcBef>
            </a:pPr>
            <a:endParaRPr sz="839" dirty="0"/>
          </a:p>
          <a:p>
            <a:pPr>
              <a:spcBef>
                <a:spcPts val="0"/>
              </a:spcBef>
            </a:pPr>
            <a:r>
              <a:rPr lang="en" sz="839" dirty="0">
                <a:solidFill>
                  <a:schemeClr val="tx1">
                    <a:lumMod val="50000"/>
                  </a:schemeClr>
                </a:solidFill>
              </a:rPr>
              <a:t>Username </a:t>
            </a:r>
            <a:r>
              <a:rPr lang="en" sz="839" b="0" dirty="0">
                <a:solidFill>
                  <a:schemeClr val="tx1">
                    <a:lumMod val="50000"/>
                  </a:schemeClr>
                </a:solidFill>
              </a:rPr>
              <a:t>commented on Mar 15</a:t>
            </a:r>
            <a:endParaRPr sz="839" b="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0"/>
              </a:spcBef>
            </a:pPr>
            <a:endParaRPr sz="1956" dirty="0"/>
          </a:p>
        </p:txBody>
      </p:sp>
      <p:sp>
        <p:nvSpPr>
          <p:cNvPr id="63" name="Google Shape;216;p15">
            <a:extLst>
              <a:ext uri="{FF2B5EF4-FFF2-40B4-BE49-F238E27FC236}">
                <a16:creationId xmlns:a16="http://schemas.microsoft.com/office/drawing/2014/main" id="{649DDA6C-DF7E-57E5-5E66-4A5554D1620F}"/>
              </a:ext>
            </a:extLst>
          </p:cNvPr>
          <p:cNvSpPr/>
          <p:nvPr/>
        </p:nvSpPr>
        <p:spPr>
          <a:xfrm>
            <a:off x="10152799" y="4641625"/>
            <a:ext cx="3024222" cy="227593"/>
          </a:xfrm>
          <a:prstGeom prst="rect">
            <a:avLst/>
          </a:prstGeom>
          <a:solidFill>
            <a:schemeClr val="lt1"/>
          </a:solidFill>
          <a:ln w="8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7722" tIns="127722" rIns="127722" bIns="127722" anchor="ctr" anchorCtr="0">
            <a:noAutofit/>
          </a:bodyPr>
          <a:lstStyle/>
          <a:p>
            <a:pPr algn="ctr">
              <a:spcBef>
                <a:spcPts val="0"/>
              </a:spcBef>
            </a:pPr>
            <a:endParaRPr sz="1956"/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A1FAE269-DA00-00C2-4981-97F1CA0B1155}"/>
              </a:ext>
            </a:extLst>
          </p:cNvPr>
          <p:cNvSpPr txBox="1"/>
          <p:nvPr/>
        </p:nvSpPr>
        <p:spPr>
          <a:xfrm>
            <a:off x="10177672" y="4576663"/>
            <a:ext cx="409004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…</a:t>
            </a:r>
          </a:p>
        </p:txBody>
      </p:sp>
      <p:sp>
        <p:nvSpPr>
          <p:cNvPr id="499" name="Use headers, colors, and/or backgrounds to separate or group together sections.">
            <a:extLst>
              <a:ext uri="{FF2B5EF4-FFF2-40B4-BE49-F238E27FC236}">
                <a16:creationId xmlns:a16="http://schemas.microsoft.com/office/drawing/2014/main" id="{1F7640FE-A16A-AD71-650D-A4CE85C81C12}"/>
              </a:ext>
            </a:extLst>
          </p:cNvPr>
          <p:cNvSpPr txBox="1"/>
          <p:nvPr/>
        </p:nvSpPr>
        <p:spPr>
          <a:xfrm>
            <a:off x="4697117" y="1826486"/>
            <a:ext cx="4251862" cy="442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Fake Data Generation functions are at the bottom of each R/ file. They are called in </a:t>
            </a:r>
            <a:r>
              <a:rPr lang="en-US" b="0" dirty="0" err="1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Example.R</a:t>
            </a:r>
            <a:r>
              <a:rPr lang="en-US" b="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to create the fake data cases. </a:t>
            </a:r>
          </a:p>
        </p:txBody>
      </p:sp>
      <p:sp>
        <p:nvSpPr>
          <p:cNvPr id="36" name="Use headers, colors, and/or backgrounds to separate or group together sections.">
            <a:extLst>
              <a:ext uri="{FF2B5EF4-FFF2-40B4-BE49-F238E27FC236}">
                <a16:creationId xmlns:a16="http://schemas.microsoft.com/office/drawing/2014/main" id="{64DB58E5-CC98-4452-472C-556180590148}"/>
              </a:ext>
            </a:extLst>
          </p:cNvPr>
          <p:cNvSpPr txBox="1"/>
          <p:nvPr/>
        </p:nvSpPr>
        <p:spPr>
          <a:xfrm>
            <a:off x="9487615" y="1986968"/>
            <a:ext cx="4251862" cy="2053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practice, the Code Review Workflow happens in the Pull Request. </a:t>
            </a:r>
            <a:r>
              <a:rPr lang="en-US" b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Codecov</a:t>
            </a:r>
            <a:r>
              <a:rPr lang="en-US" b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represented by a bot comment on the pull request.</a:t>
            </a:r>
            <a:br>
              <a:rPr lang="en-US" b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US" b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GitHub Actions (R-CMD-Check, test-coverage) respectively assess whether the docs are presented for the added API and whether the tests pass. </a:t>
            </a:r>
            <a:br>
              <a:rPr lang="en-US" b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US" b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The Quality Reviewer and Code Architect then perform full code review.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b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Manipulate Variables">
            <a:extLst>
              <a:ext uri="{FF2B5EF4-FFF2-40B4-BE49-F238E27FC236}">
                <a16:creationId xmlns:a16="http://schemas.microsoft.com/office/drawing/2014/main" id="{1AAC7D92-E94D-46FF-0ADA-FED3484CF600}"/>
              </a:ext>
            </a:extLst>
          </p:cNvPr>
          <p:cNvSpPr txBox="1"/>
          <p:nvPr/>
        </p:nvSpPr>
        <p:spPr>
          <a:xfrm>
            <a:off x="9421011" y="1557249"/>
            <a:ext cx="300402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Pull Request Workflow</a:t>
            </a:r>
          </a:p>
        </p:txBody>
      </p:sp>
      <p:sp>
        <p:nvSpPr>
          <p:cNvPr id="45" name="Use headers, colors, and/or backgrounds to separate or group together sections.">
            <a:extLst>
              <a:ext uri="{FF2B5EF4-FFF2-40B4-BE49-F238E27FC236}">
                <a16:creationId xmlns:a16="http://schemas.microsoft.com/office/drawing/2014/main" id="{7DE36B8E-CBFC-5989-FDDD-0E9B0EDF06A1}"/>
              </a:ext>
            </a:extLst>
          </p:cNvPr>
          <p:cNvSpPr txBox="1"/>
          <p:nvPr/>
        </p:nvSpPr>
        <p:spPr>
          <a:xfrm>
            <a:off x="4666444" y="4206322"/>
            <a:ext cx="4251862" cy="442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The Kaiaulu code review workflow follows a multiple step process. </a:t>
            </a:r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64919E5F-E0F3-4AAD-DA73-06A172DA0948}"/>
              </a:ext>
            </a:extLst>
          </p:cNvPr>
          <p:cNvSpPr txBox="1"/>
          <p:nvPr/>
        </p:nvSpPr>
        <p:spPr>
          <a:xfrm>
            <a:off x="191776" y="3672442"/>
            <a:ext cx="4184378" cy="5051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>
                <a:solidFill>
                  <a:schemeClr val="bg2">
                    <a:lumMod val="10000"/>
                  </a:schemeClr>
                </a:solidFill>
              </a:rPr>
              <a:t>Try catch statements allow errors that propagate through files to be caught gracefully. </a:t>
            </a:r>
            <a:endParaRPr lang="en-US" b="0" dirty="0">
              <a:solidFill>
                <a:schemeClr val="bg2">
                  <a:lumMod val="10000"/>
                </a:schemeClr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5" name="Manipulate Variables">
            <a:extLst>
              <a:ext uri="{FF2B5EF4-FFF2-40B4-BE49-F238E27FC236}">
                <a16:creationId xmlns:a16="http://schemas.microsoft.com/office/drawing/2014/main" id="{241C93F7-BF47-529D-53B3-2BFE61B64617}"/>
              </a:ext>
            </a:extLst>
          </p:cNvPr>
          <p:cNvSpPr txBox="1"/>
          <p:nvPr/>
        </p:nvSpPr>
        <p:spPr>
          <a:xfrm>
            <a:off x="198229" y="3332413"/>
            <a:ext cx="3754233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Failing Gracefully: Try Catch</a:t>
            </a:r>
          </a:p>
        </p:txBody>
      </p:sp>
      <p:sp>
        <p:nvSpPr>
          <p:cNvPr id="582" name="Freeform: Shape 581">
            <a:extLst>
              <a:ext uri="{FF2B5EF4-FFF2-40B4-BE49-F238E27FC236}">
                <a16:creationId xmlns:a16="http://schemas.microsoft.com/office/drawing/2014/main" id="{373424A1-CD0E-FCC3-00D3-8643766F39B9}"/>
              </a:ext>
            </a:extLst>
          </p:cNvPr>
          <p:cNvSpPr/>
          <p:nvPr/>
        </p:nvSpPr>
        <p:spPr>
          <a:xfrm>
            <a:off x="2091543" y="4559498"/>
            <a:ext cx="577524" cy="221931"/>
          </a:xfrm>
          <a:custGeom>
            <a:avLst/>
            <a:gdLst>
              <a:gd name="csX0" fmla="*/ 723267 w 723267"/>
              <a:gd name="csY0" fmla="*/ 309363 h 309363"/>
              <a:gd name="csX1" fmla="*/ 327968 w 723267"/>
              <a:gd name="csY1" fmla="*/ 92166 h 309363"/>
              <a:gd name="csX2" fmla="*/ 228057 w 723267"/>
              <a:gd name="csY2" fmla="*/ 233344 h 309363"/>
              <a:gd name="csX3" fmla="*/ 401815 w 723267"/>
              <a:gd name="csY3" fmla="*/ 281127 h 309363"/>
              <a:gd name="csX4" fmla="*/ 393127 w 723267"/>
              <a:gd name="csY4" fmla="*/ 155153 h 309363"/>
              <a:gd name="csX5" fmla="*/ 173758 w 723267"/>
              <a:gd name="csY5" fmla="*/ 5287 h 309363"/>
              <a:gd name="csX6" fmla="*/ 76019 w 723267"/>
              <a:gd name="csY6" fmla="*/ 40038 h 309363"/>
              <a:gd name="csX7" fmla="*/ 0 w 723267"/>
              <a:gd name="csY7" fmla="*/ 100853 h 3093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723267" h="309363">
                <a:moveTo>
                  <a:pt x="723267" y="309363"/>
                </a:moveTo>
                <a:cubicBezTo>
                  <a:pt x="566885" y="207099"/>
                  <a:pt x="410503" y="104836"/>
                  <a:pt x="327968" y="92166"/>
                </a:cubicBezTo>
                <a:cubicBezTo>
                  <a:pt x="245433" y="79496"/>
                  <a:pt x="215749" y="201850"/>
                  <a:pt x="228057" y="233344"/>
                </a:cubicBezTo>
                <a:cubicBezTo>
                  <a:pt x="240365" y="264837"/>
                  <a:pt x="374303" y="294159"/>
                  <a:pt x="401815" y="281127"/>
                </a:cubicBezTo>
                <a:cubicBezTo>
                  <a:pt x="429327" y="268095"/>
                  <a:pt x="431136" y="201126"/>
                  <a:pt x="393127" y="155153"/>
                </a:cubicBezTo>
                <a:cubicBezTo>
                  <a:pt x="355117" y="109180"/>
                  <a:pt x="226609" y="24473"/>
                  <a:pt x="173758" y="5287"/>
                </a:cubicBezTo>
                <a:cubicBezTo>
                  <a:pt x="120907" y="-13899"/>
                  <a:pt x="104979" y="24110"/>
                  <a:pt x="76019" y="40038"/>
                </a:cubicBezTo>
                <a:cubicBezTo>
                  <a:pt x="47059" y="55966"/>
                  <a:pt x="23529" y="78409"/>
                  <a:pt x="0" y="100853"/>
                </a:cubicBezTo>
              </a:path>
            </a:pathLst>
          </a:custGeom>
          <a:noFill/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8" name="Group 597">
            <a:extLst>
              <a:ext uri="{FF2B5EF4-FFF2-40B4-BE49-F238E27FC236}">
                <a16:creationId xmlns:a16="http://schemas.microsoft.com/office/drawing/2014/main" id="{7CAFC7BC-CBA3-94B0-2599-FF63C8C8C4CE}"/>
              </a:ext>
            </a:extLst>
          </p:cNvPr>
          <p:cNvGrpSpPr>
            <a:grpSpLocks noChangeAspect="1"/>
          </p:cNvGrpSpPr>
          <p:nvPr/>
        </p:nvGrpSpPr>
        <p:grpSpPr>
          <a:xfrm>
            <a:off x="793232" y="4104383"/>
            <a:ext cx="2689275" cy="882365"/>
            <a:chOff x="4950934" y="1968399"/>
            <a:chExt cx="3846889" cy="1262183"/>
          </a:xfrm>
        </p:grpSpPr>
        <p:sp>
          <p:nvSpPr>
            <p:cNvPr id="607" name="Rectangle: Rounded Corners 606">
              <a:extLst>
                <a:ext uri="{FF2B5EF4-FFF2-40B4-BE49-F238E27FC236}">
                  <a16:creationId xmlns:a16="http://schemas.microsoft.com/office/drawing/2014/main" id="{E660A6C9-D556-7650-0064-96AAB0807B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22430" y="2237356"/>
              <a:ext cx="209841" cy="211365"/>
            </a:xfrm>
            <a:prstGeom prst="roundRect">
              <a:avLst/>
            </a:prstGeom>
            <a:solidFill>
              <a:schemeClr val="bg1"/>
            </a:solidFill>
            <a:ln w="6350" cap="flat">
              <a:solidFill>
                <a:schemeClr val="bg2">
                  <a:lumMod val="10000"/>
                </a:schemeClr>
              </a:solidFill>
              <a:prstDash val="sys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pic>
          <p:nvPicPr>
            <p:cNvPr id="611" name="Graphic 610" descr="Paper outline">
              <a:extLst>
                <a:ext uri="{FF2B5EF4-FFF2-40B4-BE49-F238E27FC236}">
                  <a16:creationId xmlns:a16="http://schemas.microsoft.com/office/drawing/2014/main" id="{9A8FA4F5-6BD6-9D19-B46B-69FBF0D16B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812176" y="1986019"/>
              <a:ext cx="985647" cy="985647"/>
            </a:xfrm>
            <a:prstGeom prst="rect">
              <a:avLst/>
            </a:prstGeom>
          </p:spPr>
        </p:pic>
        <p:pic>
          <p:nvPicPr>
            <p:cNvPr id="612" name="Graphic 611" descr="Paper outline">
              <a:extLst>
                <a:ext uri="{FF2B5EF4-FFF2-40B4-BE49-F238E27FC236}">
                  <a16:creationId xmlns:a16="http://schemas.microsoft.com/office/drawing/2014/main" id="{58B7B06A-0139-0A48-6320-1F1768DEE7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198996" y="1968399"/>
              <a:ext cx="985647" cy="985647"/>
            </a:xfrm>
            <a:prstGeom prst="rect">
              <a:avLst/>
            </a:prstGeom>
          </p:spPr>
        </p:pic>
        <p:sp>
          <p:nvSpPr>
            <p:cNvPr id="616" name="Rectangle: Rounded Corners 615">
              <a:extLst>
                <a:ext uri="{FF2B5EF4-FFF2-40B4-BE49-F238E27FC236}">
                  <a16:creationId xmlns:a16="http://schemas.microsoft.com/office/drawing/2014/main" id="{5AF9652D-EFA2-B7DF-302B-818281F83D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43463" y="2199522"/>
              <a:ext cx="210311" cy="210313"/>
            </a:xfrm>
            <a:prstGeom prst="roundRect">
              <a:avLst/>
            </a:prstGeom>
            <a:solidFill>
              <a:schemeClr val="bg2">
                <a:lumMod val="10000"/>
              </a:schemeClr>
            </a:solidFill>
            <a:ln w="6350" cap="flat">
              <a:solidFill>
                <a:schemeClr val="bg2">
                  <a:lumMod val="1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617" name="TextBox 616">
              <a:extLst>
                <a:ext uri="{FF2B5EF4-FFF2-40B4-BE49-F238E27FC236}">
                  <a16:creationId xmlns:a16="http://schemas.microsoft.com/office/drawing/2014/main" id="{C10C901D-6BCD-FEA6-4D29-A55D296DCA82}"/>
                </a:ext>
              </a:extLst>
            </p:cNvPr>
            <p:cNvSpPr txBox="1"/>
            <p:nvPr/>
          </p:nvSpPr>
          <p:spPr>
            <a:xfrm>
              <a:off x="5190527" y="2647353"/>
              <a:ext cx="1380450" cy="5832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Incorrect Git Log </a:t>
              </a:r>
            </a:p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Path specified</a:t>
              </a:r>
            </a:p>
          </p:txBody>
        </p:sp>
        <p:pic>
          <p:nvPicPr>
            <p:cNvPr id="2" name="Picture 1" descr="Account ">
              <a:extLst>
                <a:ext uri="{FF2B5EF4-FFF2-40B4-BE49-F238E27FC236}">
                  <a16:creationId xmlns:a16="http://schemas.microsoft.com/office/drawing/2014/main" id="{118A31F0-D86A-271F-B966-1F0AC734D4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0934" y="2244779"/>
              <a:ext cx="437146" cy="4371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3CE9AF4F-11D4-A08E-7E27-6DA541F5A8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50904" y="2353437"/>
              <a:ext cx="503898" cy="318580"/>
            </a:xfrm>
            <a:custGeom>
              <a:avLst/>
              <a:gdLst>
                <a:gd name="csX0" fmla="*/ 503898 w 503898"/>
                <a:gd name="csY0" fmla="*/ 314936 h 318580"/>
                <a:gd name="csX1" fmla="*/ 356204 w 503898"/>
                <a:gd name="csY1" fmla="*/ 45611 h 318580"/>
                <a:gd name="csX2" fmla="*/ 121631 w 503898"/>
                <a:gd name="csY2" fmla="*/ 108598 h 318580"/>
                <a:gd name="csX3" fmla="*/ 134663 w 503898"/>
                <a:gd name="csY3" fmla="*/ 297560 h 318580"/>
                <a:gd name="csX4" fmla="*/ 323624 w 503898"/>
                <a:gd name="csY4" fmla="*/ 293216 h 318580"/>
                <a:gd name="csX5" fmla="*/ 345344 w 503898"/>
                <a:gd name="csY5" fmla="*/ 112942 h 318580"/>
                <a:gd name="csX6" fmla="*/ 0 w 503898"/>
                <a:gd name="csY6" fmla="*/ 0 h 318580"/>
                <a:gd name="csX7" fmla="*/ 0 w 503898"/>
                <a:gd name="csY7" fmla="*/ 0 h 3185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03898" h="318580" extrusionOk="0">
                  <a:moveTo>
                    <a:pt x="503898" y="314936"/>
                  </a:moveTo>
                  <a:cubicBezTo>
                    <a:pt x="453006" y="191978"/>
                    <a:pt x="414467" y="82046"/>
                    <a:pt x="356204" y="45611"/>
                  </a:cubicBezTo>
                  <a:cubicBezTo>
                    <a:pt x="295391" y="11831"/>
                    <a:pt x="155867" y="66692"/>
                    <a:pt x="121631" y="108598"/>
                  </a:cubicBezTo>
                  <a:cubicBezTo>
                    <a:pt x="81145" y="154068"/>
                    <a:pt x="99822" y="273283"/>
                    <a:pt x="134663" y="297560"/>
                  </a:cubicBezTo>
                  <a:cubicBezTo>
                    <a:pt x="164724" y="326358"/>
                    <a:pt x="291600" y="325462"/>
                    <a:pt x="323624" y="293216"/>
                  </a:cubicBezTo>
                  <a:cubicBezTo>
                    <a:pt x="364880" y="263175"/>
                    <a:pt x="404818" y="150415"/>
                    <a:pt x="345344" y="112942"/>
                  </a:cubicBezTo>
                  <a:cubicBezTo>
                    <a:pt x="291407" y="64073"/>
                    <a:pt x="-1" y="1"/>
                    <a:pt x="0" y="0"/>
                  </a:cubicBez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2">
                  <a:lumMod val="10000"/>
                </a:schemeClr>
              </a:solidFill>
              <a:prstDash val="dash"/>
              <a:miter lim="400000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503898 w 503898"/>
                        <a:gd name="csY0" fmla="*/ 314936 h 318580"/>
                        <a:gd name="csX1" fmla="*/ 356204 w 503898"/>
                        <a:gd name="csY1" fmla="*/ 45611 h 318580"/>
                        <a:gd name="csX2" fmla="*/ 121631 w 503898"/>
                        <a:gd name="csY2" fmla="*/ 108598 h 318580"/>
                        <a:gd name="csX3" fmla="*/ 134663 w 503898"/>
                        <a:gd name="csY3" fmla="*/ 297560 h 318580"/>
                        <a:gd name="csX4" fmla="*/ 323624 w 503898"/>
                        <a:gd name="csY4" fmla="*/ 293216 h 318580"/>
                        <a:gd name="csX5" fmla="*/ 345344 w 503898"/>
                        <a:gd name="csY5" fmla="*/ 112942 h 318580"/>
                        <a:gd name="csX6" fmla="*/ 0 w 503898"/>
                        <a:gd name="csY6" fmla="*/ 0 h 318580"/>
                        <a:gd name="csX7" fmla="*/ 0 w 503898"/>
                        <a:gd name="csY7" fmla="*/ 0 h 31858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</a:cxnLst>
                      <a:rect l="l" t="t" r="r" b="b"/>
                      <a:pathLst>
                        <a:path w="503898" h="318580">
                          <a:moveTo>
                            <a:pt x="503898" y="314936"/>
                          </a:moveTo>
                          <a:cubicBezTo>
                            <a:pt x="461906" y="197468"/>
                            <a:pt x="419915" y="80001"/>
                            <a:pt x="356204" y="45611"/>
                          </a:cubicBezTo>
                          <a:cubicBezTo>
                            <a:pt x="292493" y="11221"/>
                            <a:pt x="158554" y="66607"/>
                            <a:pt x="121631" y="108598"/>
                          </a:cubicBezTo>
                          <a:cubicBezTo>
                            <a:pt x="84708" y="150589"/>
                            <a:pt x="100997" y="266790"/>
                            <a:pt x="134663" y="297560"/>
                          </a:cubicBezTo>
                          <a:cubicBezTo>
                            <a:pt x="168329" y="328330"/>
                            <a:pt x="288511" y="323986"/>
                            <a:pt x="323624" y="293216"/>
                          </a:cubicBezTo>
                          <a:cubicBezTo>
                            <a:pt x="358737" y="262446"/>
                            <a:pt x="399281" y="161811"/>
                            <a:pt x="345344" y="112942"/>
                          </a:cubicBezTo>
                          <a:cubicBezTo>
                            <a:pt x="291407" y="64073"/>
                            <a:pt x="0" y="0"/>
                            <a:pt x="0" y="0"/>
                          </a:cubicBezTo>
                          <a:lnTo>
                            <a:pt x="0" y="0"/>
                          </a:lnTo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E08C7715-88ED-0501-CA61-558D01F1B07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73452" y="2306777"/>
              <a:ext cx="503898" cy="318580"/>
            </a:xfrm>
            <a:custGeom>
              <a:avLst/>
              <a:gdLst>
                <a:gd name="csX0" fmla="*/ 503898 w 503898"/>
                <a:gd name="csY0" fmla="*/ 314936 h 318580"/>
                <a:gd name="csX1" fmla="*/ 356204 w 503898"/>
                <a:gd name="csY1" fmla="*/ 45611 h 318580"/>
                <a:gd name="csX2" fmla="*/ 121631 w 503898"/>
                <a:gd name="csY2" fmla="*/ 108598 h 318580"/>
                <a:gd name="csX3" fmla="*/ 134663 w 503898"/>
                <a:gd name="csY3" fmla="*/ 297560 h 318580"/>
                <a:gd name="csX4" fmla="*/ 323624 w 503898"/>
                <a:gd name="csY4" fmla="*/ 293216 h 318580"/>
                <a:gd name="csX5" fmla="*/ 345344 w 503898"/>
                <a:gd name="csY5" fmla="*/ 112942 h 318580"/>
                <a:gd name="csX6" fmla="*/ 0 w 503898"/>
                <a:gd name="csY6" fmla="*/ 0 h 318580"/>
                <a:gd name="csX7" fmla="*/ 0 w 503898"/>
                <a:gd name="csY7" fmla="*/ 0 h 3185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03898" h="318580" extrusionOk="0">
                  <a:moveTo>
                    <a:pt x="503898" y="314936"/>
                  </a:moveTo>
                  <a:cubicBezTo>
                    <a:pt x="453006" y="191978"/>
                    <a:pt x="414467" y="82046"/>
                    <a:pt x="356204" y="45611"/>
                  </a:cubicBezTo>
                  <a:cubicBezTo>
                    <a:pt x="295391" y="11831"/>
                    <a:pt x="155867" y="66692"/>
                    <a:pt x="121631" y="108598"/>
                  </a:cubicBezTo>
                  <a:cubicBezTo>
                    <a:pt x="81145" y="154068"/>
                    <a:pt x="99822" y="273283"/>
                    <a:pt x="134663" y="297560"/>
                  </a:cubicBezTo>
                  <a:cubicBezTo>
                    <a:pt x="164724" y="326358"/>
                    <a:pt x="291600" y="325462"/>
                    <a:pt x="323624" y="293216"/>
                  </a:cubicBezTo>
                  <a:cubicBezTo>
                    <a:pt x="364880" y="263175"/>
                    <a:pt x="404818" y="150415"/>
                    <a:pt x="345344" y="112942"/>
                  </a:cubicBezTo>
                  <a:cubicBezTo>
                    <a:pt x="291407" y="64073"/>
                    <a:pt x="-1" y="1"/>
                    <a:pt x="0" y="0"/>
                  </a:cubicBez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2">
                  <a:lumMod val="10000"/>
                </a:schemeClr>
              </a:solidFill>
              <a:prstDash val="dash"/>
              <a:miter lim="400000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503898 w 503898"/>
                        <a:gd name="csY0" fmla="*/ 314936 h 318580"/>
                        <a:gd name="csX1" fmla="*/ 356204 w 503898"/>
                        <a:gd name="csY1" fmla="*/ 45611 h 318580"/>
                        <a:gd name="csX2" fmla="*/ 121631 w 503898"/>
                        <a:gd name="csY2" fmla="*/ 108598 h 318580"/>
                        <a:gd name="csX3" fmla="*/ 134663 w 503898"/>
                        <a:gd name="csY3" fmla="*/ 297560 h 318580"/>
                        <a:gd name="csX4" fmla="*/ 323624 w 503898"/>
                        <a:gd name="csY4" fmla="*/ 293216 h 318580"/>
                        <a:gd name="csX5" fmla="*/ 345344 w 503898"/>
                        <a:gd name="csY5" fmla="*/ 112942 h 318580"/>
                        <a:gd name="csX6" fmla="*/ 0 w 503898"/>
                        <a:gd name="csY6" fmla="*/ 0 h 318580"/>
                        <a:gd name="csX7" fmla="*/ 0 w 503898"/>
                        <a:gd name="csY7" fmla="*/ 0 h 31858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</a:cxnLst>
                      <a:rect l="l" t="t" r="r" b="b"/>
                      <a:pathLst>
                        <a:path w="503898" h="318580">
                          <a:moveTo>
                            <a:pt x="503898" y="314936"/>
                          </a:moveTo>
                          <a:cubicBezTo>
                            <a:pt x="461906" y="197468"/>
                            <a:pt x="419915" y="80001"/>
                            <a:pt x="356204" y="45611"/>
                          </a:cubicBezTo>
                          <a:cubicBezTo>
                            <a:pt x="292493" y="11221"/>
                            <a:pt x="158554" y="66607"/>
                            <a:pt x="121631" y="108598"/>
                          </a:cubicBezTo>
                          <a:cubicBezTo>
                            <a:pt x="84708" y="150589"/>
                            <a:pt x="100997" y="266790"/>
                            <a:pt x="134663" y="297560"/>
                          </a:cubicBezTo>
                          <a:cubicBezTo>
                            <a:pt x="168329" y="328330"/>
                            <a:pt x="288511" y="323986"/>
                            <a:pt x="323624" y="293216"/>
                          </a:cubicBezTo>
                          <a:cubicBezTo>
                            <a:pt x="358737" y="262446"/>
                            <a:pt x="399281" y="161811"/>
                            <a:pt x="345344" y="112942"/>
                          </a:cubicBezTo>
                          <a:cubicBezTo>
                            <a:pt x="291407" y="64073"/>
                            <a:pt x="0" y="0"/>
                            <a:pt x="0" y="0"/>
                          </a:cubicBezTo>
                          <a:lnTo>
                            <a:pt x="0" y="0"/>
                          </a:lnTo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9DB1402-05B8-9F78-2B26-84EBEE1384A6}"/>
              </a:ext>
            </a:extLst>
          </p:cNvPr>
          <p:cNvSpPr txBox="1"/>
          <p:nvPr/>
        </p:nvSpPr>
        <p:spPr>
          <a:xfrm>
            <a:off x="198229" y="4876625"/>
            <a:ext cx="4184378" cy="6898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>
                <a:solidFill>
                  <a:schemeClr val="tx1">
                    <a:lumMod val="50000"/>
                  </a:schemeClr>
                </a:solidFill>
              </a:rPr>
              <a:t>A common example in Kaiaulu is an invalid Git Log Path specified in a parser, which eventually throws an error in an .</a:t>
            </a:r>
            <a:r>
              <a:rPr lang="en-US" b="0" dirty="0" err="1">
                <a:solidFill>
                  <a:schemeClr val="tx1">
                    <a:lumMod val="50000"/>
                  </a:schemeClr>
                </a:solidFill>
              </a:rPr>
              <a:t>Rmd</a:t>
            </a:r>
            <a:r>
              <a:rPr lang="en-US" b="0" dirty="0">
                <a:solidFill>
                  <a:schemeClr val="tx1">
                    <a:lumMod val="50000"/>
                  </a:schemeClr>
                </a:solidFill>
              </a:rPr>
              <a:t> file. </a:t>
            </a:r>
            <a:endParaRPr lang="en-US" b="0" dirty="0">
              <a:solidFill>
                <a:schemeClr val="tx1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01E8CFA-13BE-92CF-6479-2F9A9F3DAC07}"/>
              </a:ext>
            </a:extLst>
          </p:cNvPr>
          <p:cNvGrpSpPr/>
          <p:nvPr/>
        </p:nvGrpSpPr>
        <p:grpSpPr>
          <a:xfrm>
            <a:off x="147267" y="6043688"/>
            <a:ext cx="4625034" cy="3456118"/>
            <a:chOff x="4579241" y="1386286"/>
            <a:chExt cx="4625034" cy="3456118"/>
          </a:xfrm>
        </p:grpSpPr>
        <p:sp>
          <p:nvSpPr>
            <p:cNvPr id="500" name="Google Shape;318;p17">
              <a:extLst>
                <a:ext uri="{FF2B5EF4-FFF2-40B4-BE49-F238E27FC236}">
                  <a16:creationId xmlns:a16="http://schemas.microsoft.com/office/drawing/2014/main" id="{03F01F18-FF65-463F-5A7B-1737EC1B0C47}"/>
                </a:ext>
              </a:extLst>
            </p:cNvPr>
            <p:cNvSpPr txBox="1"/>
            <p:nvPr/>
          </p:nvSpPr>
          <p:spPr>
            <a:xfrm>
              <a:off x="7569011" y="4385763"/>
              <a:ext cx="1635264" cy="405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95319" tIns="295319" rIns="295319" bIns="295319" anchor="t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-US" sz="1400" dirty="0"/>
                <a:t>Tests/**</a:t>
              </a:r>
              <a:endParaRPr sz="1400" dirty="0"/>
            </a:p>
          </p:txBody>
        </p:sp>
        <p:pic>
          <p:nvPicPr>
            <p:cNvPr id="46" name="Graphic 45" descr="Paper outline">
              <a:extLst>
                <a:ext uri="{FF2B5EF4-FFF2-40B4-BE49-F238E27FC236}">
                  <a16:creationId xmlns:a16="http://schemas.microsoft.com/office/drawing/2014/main" id="{82637ED8-A87D-1F99-3105-6B48CD0A7E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472828" y="3511751"/>
              <a:ext cx="1118249" cy="1118249"/>
            </a:xfrm>
            <a:prstGeom prst="rect">
              <a:avLst/>
            </a:prstGeom>
          </p:spPr>
        </p:pic>
        <p:pic>
          <p:nvPicPr>
            <p:cNvPr id="47" name="Graphic 46" descr="Paper outline">
              <a:extLst>
                <a:ext uri="{FF2B5EF4-FFF2-40B4-BE49-F238E27FC236}">
                  <a16:creationId xmlns:a16="http://schemas.microsoft.com/office/drawing/2014/main" id="{B95F889D-2FF4-447C-A6DD-906D249426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308249" y="1729662"/>
              <a:ext cx="1731153" cy="1731153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C60F8AB-4583-57C0-7309-5E22D4B400E9}"/>
                </a:ext>
              </a:extLst>
            </p:cNvPr>
            <p:cNvSpPr txBox="1"/>
            <p:nvPr/>
          </p:nvSpPr>
          <p:spPr>
            <a:xfrm>
              <a:off x="6628421" y="1816169"/>
              <a:ext cx="1159502" cy="2589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Downloaders</a:t>
              </a:r>
              <a:endParaRPr lang="en-US" sz="800" b="0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1C85C9E-99AA-A876-0DE5-55E85265F287}"/>
                </a:ext>
              </a:extLst>
            </p:cNvPr>
            <p:cNvSpPr txBox="1"/>
            <p:nvPr/>
          </p:nvSpPr>
          <p:spPr>
            <a:xfrm>
              <a:off x="6632322" y="1915620"/>
              <a:ext cx="1607827" cy="464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600" b="0" dirty="0"/>
                <a:t>f</a:t>
              </a:r>
              <a:r>
                <a:rPr kumimoji="0" lang="en-US" sz="600" b="0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unction() …</a:t>
              </a:r>
            </a:p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600" b="0" dirty="0"/>
                <a:t>function() …</a:t>
              </a:r>
            </a:p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600" b="0" dirty="0"/>
                <a:t>function() …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91104B3-01C3-3271-F89D-81702A8A5A68}"/>
                </a:ext>
              </a:extLst>
            </p:cNvPr>
            <p:cNvSpPr txBox="1"/>
            <p:nvPr/>
          </p:nvSpPr>
          <p:spPr>
            <a:xfrm>
              <a:off x="6632904" y="2330550"/>
              <a:ext cx="1607827" cy="464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600" b="0" dirty="0"/>
                <a:t>f</a:t>
              </a:r>
              <a:r>
                <a:rPr kumimoji="0" lang="en-US" sz="600" b="0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unction() …</a:t>
              </a:r>
            </a:p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600" b="0" dirty="0"/>
                <a:t>function() …</a:t>
              </a:r>
            </a:p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600" b="0" dirty="0"/>
                <a:t>function() …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42B7040-EE2B-C2AD-2AE5-62DD45251790}"/>
                </a:ext>
              </a:extLst>
            </p:cNvPr>
            <p:cNvSpPr txBox="1"/>
            <p:nvPr/>
          </p:nvSpPr>
          <p:spPr>
            <a:xfrm>
              <a:off x="6628421" y="2224455"/>
              <a:ext cx="1159502" cy="2589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Parsers</a:t>
              </a:r>
              <a:endParaRPr lang="en-US" sz="800" b="0" dirty="0"/>
            </a:p>
          </p:txBody>
        </p:sp>
        <p:sp>
          <p:nvSpPr>
            <p:cNvPr id="494" name="TextBox 493">
              <a:extLst>
                <a:ext uri="{FF2B5EF4-FFF2-40B4-BE49-F238E27FC236}">
                  <a16:creationId xmlns:a16="http://schemas.microsoft.com/office/drawing/2014/main" id="{7D99F91A-096C-7213-0A41-D41B0F2C728C}"/>
                </a:ext>
              </a:extLst>
            </p:cNvPr>
            <p:cNvSpPr txBox="1"/>
            <p:nvPr/>
          </p:nvSpPr>
          <p:spPr>
            <a:xfrm>
              <a:off x="6637886" y="2739482"/>
              <a:ext cx="1607827" cy="464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600" b="0" dirty="0"/>
                <a:t>f</a:t>
              </a:r>
              <a:r>
                <a:rPr kumimoji="0" lang="en-US" sz="600" b="0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unction() …</a:t>
              </a:r>
            </a:p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600" b="0" dirty="0"/>
                <a:t>function() …</a:t>
              </a:r>
            </a:p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600" b="0" dirty="0"/>
                <a:t>function() …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CF98DEAF-9A1E-16DB-76F1-2A4275BE5F41}"/>
                </a:ext>
              </a:extLst>
            </p:cNvPr>
            <p:cNvSpPr txBox="1"/>
            <p:nvPr/>
          </p:nvSpPr>
          <p:spPr>
            <a:xfrm>
              <a:off x="6632322" y="2635186"/>
              <a:ext cx="1159502" cy="2589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Transforms</a:t>
              </a:r>
              <a:endParaRPr lang="en-US" sz="800" b="0" dirty="0"/>
            </a:p>
          </p:txBody>
        </p:sp>
        <p:pic>
          <p:nvPicPr>
            <p:cNvPr id="497" name="Graphic 496" descr="Paper outline">
              <a:extLst>
                <a:ext uri="{FF2B5EF4-FFF2-40B4-BE49-F238E27FC236}">
                  <a16:creationId xmlns:a16="http://schemas.microsoft.com/office/drawing/2014/main" id="{3D92D0A9-4A65-063D-207E-6AC4CBF7B0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767401" y="3574257"/>
              <a:ext cx="1118249" cy="1118249"/>
            </a:xfrm>
            <a:prstGeom prst="rect">
              <a:avLst/>
            </a:prstGeom>
          </p:spPr>
        </p:pic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D91B20E7-66D1-0461-EFFC-AA262B2A1904}"/>
                </a:ext>
              </a:extLst>
            </p:cNvPr>
            <p:cNvSpPr txBox="1"/>
            <p:nvPr/>
          </p:nvSpPr>
          <p:spPr>
            <a:xfrm>
              <a:off x="7988311" y="3948985"/>
              <a:ext cx="676428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algn="ctr"/>
              <a:r>
                <a:rPr lang="en-US" sz="1000" b="0" dirty="0"/>
                <a:t>testthat</a:t>
              </a:r>
              <a:endParaRPr kumimoji="0" lang="en-US" sz="1000" b="0" i="0" u="none" strike="noStrike" cap="none" spc="0" normalizeH="0" baseline="0" dirty="0">
                <a:ln>
                  <a:noFill/>
                </a:ln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05" name="Google Shape;346;p17">
              <a:extLst>
                <a:ext uri="{FF2B5EF4-FFF2-40B4-BE49-F238E27FC236}">
                  <a16:creationId xmlns:a16="http://schemas.microsoft.com/office/drawing/2014/main" id="{832E26D1-9346-A8BF-2B66-B04E07A4B3EC}"/>
                </a:ext>
              </a:extLst>
            </p:cNvPr>
            <p:cNvSpPr/>
            <p:nvPr/>
          </p:nvSpPr>
          <p:spPr>
            <a:xfrm>
              <a:off x="8058998" y="3974643"/>
              <a:ext cx="549624" cy="255847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9677" tIns="139677" rIns="139677" bIns="139677" anchor="ctr" anchorCtr="0">
              <a:noAutofit/>
            </a:bodyPr>
            <a:lstStyle/>
            <a:p>
              <a:pPr>
                <a:spcBef>
                  <a:spcPts val="0"/>
                </a:spcBef>
              </a:pPr>
              <a:endParaRPr sz="1833"/>
            </a:p>
          </p:txBody>
        </p:sp>
        <p:sp>
          <p:nvSpPr>
            <p:cNvPr id="506" name="Google Shape;317;p17">
              <a:extLst>
                <a:ext uri="{FF2B5EF4-FFF2-40B4-BE49-F238E27FC236}">
                  <a16:creationId xmlns:a16="http://schemas.microsoft.com/office/drawing/2014/main" id="{65EB1868-5E08-0B6C-EC00-1B63569E6E38}"/>
                </a:ext>
              </a:extLst>
            </p:cNvPr>
            <p:cNvSpPr txBox="1"/>
            <p:nvPr/>
          </p:nvSpPr>
          <p:spPr>
            <a:xfrm>
              <a:off x="5374535" y="3665296"/>
              <a:ext cx="1320250" cy="5419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95319" tIns="295319" rIns="295319" bIns="295319" anchor="t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800" b="0" dirty="0"/>
                <a:t>Example Fake Data</a:t>
              </a:r>
              <a:endParaRPr sz="800" b="0" dirty="0"/>
            </a:p>
          </p:txBody>
        </p:sp>
        <p:sp>
          <p:nvSpPr>
            <p:cNvPr id="507" name="Google Shape;306;p17">
              <a:extLst>
                <a:ext uri="{FF2B5EF4-FFF2-40B4-BE49-F238E27FC236}">
                  <a16:creationId xmlns:a16="http://schemas.microsoft.com/office/drawing/2014/main" id="{49F5A67F-AA14-BABB-4405-6BEBF8CA3ECB}"/>
                </a:ext>
              </a:extLst>
            </p:cNvPr>
            <p:cNvSpPr txBox="1"/>
            <p:nvPr/>
          </p:nvSpPr>
          <p:spPr>
            <a:xfrm>
              <a:off x="6553295" y="3060003"/>
              <a:ext cx="1136939" cy="6107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95319" tIns="295319" rIns="295319" bIns="295319" anchor="t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400" dirty="0">
                  <a:solidFill>
                    <a:schemeClr val="dk2"/>
                  </a:solidFill>
                </a:rPr>
                <a:t>Git.R</a:t>
              </a:r>
              <a:endParaRPr sz="1400" dirty="0">
                <a:solidFill>
                  <a:schemeClr val="dk2"/>
                </a:solidFill>
              </a:endParaRPr>
            </a:p>
          </p:txBody>
        </p:sp>
        <p:sp>
          <p:nvSpPr>
            <p:cNvPr id="513" name="Google Shape;306;p17">
              <a:extLst>
                <a:ext uri="{FF2B5EF4-FFF2-40B4-BE49-F238E27FC236}">
                  <a16:creationId xmlns:a16="http://schemas.microsoft.com/office/drawing/2014/main" id="{DF44DD4C-5BC5-52E4-EA75-250213AF4331}"/>
                </a:ext>
              </a:extLst>
            </p:cNvPr>
            <p:cNvSpPr txBox="1"/>
            <p:nvPr/>
          </p:nvSpPr>
          <p:spPr>
            <a:xfrm>
              <a:off x="4592292" y="2759838"/>
              <a:ext cx="961423" cy="2126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95319" tIns="295319" rIns="295319" bIns="295319" anchor="t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000" b="0" dirty="0">
                  <a:solidFill>
                    <a:schemeClr val="dk2"/>
                  </a:solidFill>
                </a:rPr>
                <a:t>JIRA.R</a:t>
              </a:r>
              <a:endParaRPr sz="1000" b="0" dirty="0">
                <a:solidFill>
                  <a:schemeClr val="dk2"/>
                </a:solidFill>
              </a:endParaRPr>
            </a:p>
          </p:txBody>
        </p:sp>
        <p:cxnSp>
          <p:nvCxnSpPr>
            <p:cNvPr id="514" name="Connector: Elbow 513">
              <a:extLst>
                <a:ext uri="{FF2B5EF4-FFF2-40B4-BE49-F238E27FC236}">
                  <a16:creationId xmlns:a16="http://schemas.microsoft.com/office/drawing/2014/main" id="{A1B5E119-CC49-44DB-A2DF-2AE8E468F05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061823" y="2181018"/>
              <a:ext cx="1650573" cy="1223096"/>
            </a:xfrm>
            <a:prstGeom prst="bentConnector3">
              <a:avLst>
                <a:gd name="adj1" fmla="val 864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15" name="Connector: Elbow 514">
              <a:extLst>
                <a:ext uri="{FF2B5EF4-FFF2-40B4-BE49-F238E27FC236}">
                  <a16:creationId xmlns:a16="http://schemas.microsoft.com/office/drawing/2014/main" id="{DC54CBC7-3EED-7219-B1E2-60FB37A84A0E}"/>
                </a:ext>
              </a:extLst>
            </p:cNvPr>
            <p:cNvCxnSpPr>
              <a:cxnSpLocks/>
            </p:cNvCxnSpPr>
            <p:nvPr/>
          </p:nvCxnSpPr>
          <p:spPr>
            <a:xfrm>
              <a:off x="7027821" y="2361669"/>
              <a:ext cx="1301263" cy="1256183"/>
            </a:xfrm>
            <a:prstGeom prst="bentConnector3">
              <a:avLst>
                <a:gd name="adj1" fmla="val 99800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17" name="Connector: Elbow 516">
              <a:extLst>
                <a:ext uri="{FF2B5EF4-FFF2-40B4-BE49-F238E27FC236}">
                  <a16:creationId xmlns:a16="http://schemas.microsoft.com/office/drawing/2014/main" id="{8B063B3A-DD2D-DB79-B198-25C6173C62D3}"/>
                </a:ext>
              </a:extLst>
            </p:cNvPr>
            <p:cNvCxnSpPr>
              <a:cxnSpLocks/>
            </p:cNvCxnSpPr>
            <p:nvPr/>
          </p:nvCxnSpPr>
          <p:spPr>
            <a:xfrm>
              <a:off x="7186626" y="2777000"/>
              <a:ext cx="973858" cy="840853"/>
            </a:xfrm>
            <a:prstGeom prst="bentConnector3">
              <a:avLst>
                <a:gd name="adj1" fmla="val 99805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37974DA1-7922-C744-6655-220DE105675B}"/>
                </a:ext>
              </a:extLst>
            </p:cNvPr>
            <p:cNvSpPr txBox="1"/>
            <p:nvPr/>
          </p:nvSpPr>
          <p:spPr>
            <a:xfrm>
              <a:off x="6637886" y="3048963"/>
              <a:ext cx="1159502" cy="2589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Fake Data Generator</a:t>
              </a:r>
              <a:endParaRPr lang="en-US" sz="800" dirty="0"/>
            </a:p>
          </p:txBody>
        </p:sp>
        <p:cxnSp>
          <p:nvCxnSpPr>
            <p:cNvPr id="522" name="Connector: Elbow 521">
              <a:extLst>
                <a:ext uri="{FF2B5EF4-FFF2-40B4-BE49-F238E27FC236}">
                  <a16:creationId xmlns:a16="http://schemas.microsoft.com/office/drawing/2014/main" id="{4B5476CF-1B4E-640A-F9CD-7F1CDF0EBF35}"/>
                </a:ext>
              </a:extLst>
            </p:cNvPr>
            <p:cNvCxnSpPr>
              <a:cxnSpLocks/>
              <a:endCxn id="46" idx="0"/>
            </p:cNvCxnSpPr>
            <p:nvPr/>
          </p:nvCxnSpPr>
          <p:spPr>
            <a:xfrm rot="10800000" flipV="1">
              <a:off x="6031953" y="3190853"/>
              <a:ext cx="650776" cy="320897"/>
            </a:xfrm>
            <a:prstGeom prst="bentConnector2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23" name="Google Shape;445;p18">
              <a:extLst>
                <a:ext uri="{FF2B5EF4-FFF2-40B4-BE49-F238E27FC236}">
                  <a16:creationId xmlns:a16="http://schemas.microsoft.com/office/drawing/2014/main" id="{2473A369-4C4A-D4E9-F225-637B96EBBECF}"/>
                </a:ext>
              </a:extLst>
            </p:cNvPr>
            <p:cNvCxnSpPr>
              <a:cxnSpLocks/>
            </p:cNvCxnSpPr>
            <p:nvPr/>
          </p:nvCxnSpPr>
          <p:spPr>
            <a:xfrm>
              <a:off x="6430915" y="4093856"/>
              <a:ext cx="1475409" cy="0"/>
            </a:xfrm>
            <a:prstGeom prst="straightConnector1">
              <a:avLst/>
            </a:prstGeom>
            <a:noFill/>
            <a:ln w="28575" cap="flat" cmpd="sng">
              <a:solidFill>
                <a:srgbClr val="1B131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pic>
          <p:nvPicPr>
            <p:cNvPr id="575" name="Graphic 574" descr="Paper outline">
              <a:extLst>
                <a:ext uri="{FF2B5EF4-FFF2-40B4-BE49-F238E27FC236}">
                  <a16:creationId xmlns:a16="http://schemas.microsoft.com/office/drawing/2014/main" id="{921B29C5-525B-AB05-4E51-31F90FA52D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376995" y="1947050"/>
              <a:ext cx="388976" cy="388976"/>
            </a:xfrm>
            <a:prstGeom prst="rect">
              <a:avLst/>
            </a:prstGeom>
          </p:spPr>
        </p:pic>
        <p:sp>
          <p:nvSpPr>
            <p:cNvPr id="576" name="Google Shape;306;p17">
              <a:extLst>
                <a:ext uri="{FF2B5EF4-FFF2-40B4-BE49-F238E27FC236}">
                  <a16:creationId xmlns:a16="http://schemas.microsoft.com/office/drawing/2014/main" id="{5F0E6427-31E7-118F-555E-3A47235262D5}"/>
                </a:ext>
              </a:extLst>
            </p:cNvPr>
            <p:cNvSpPr txBox="1"/>
            <p:nvPr/>
          </p:nvSpPr>
          <p:spPr>
            <a:xfrm>
              <a:off x="4599760" y="3512382"/>
              <a:ext cx="928261" cy="405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95319" tIns="295319" rIns="295319" bIns="295319" anchor="t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000" b="0" dirty="0">
                  <a:solidFill>
                    <a:schemeClr val="dk2"/>
                  </a:solidFill>
                </a:rPr>
                <a:t>src.R</a:t>
              </a:r>
              <a:endParaRPr sz="1000" b="0" dirty="0">
                <a:solidFill>
                  <a:schemeClr val="dk2"/>
                </a:solidFill>
              </a:endParaRPr>
            </a:p>
          </p:txBody>
        </p:sp>
        <p:pic>
          <p:nvPicPr>
            <p:cNvPr id="577" name="Graphic 576" descr="Paper outline">
              <a:extLst>
                <a:ext uri="{FF2B5EF4-FFF2-40B4-BE49-F238E27FC236}">
                  <a16:creationId xmlns:a16="http://schemas.microsoft.com/office/drawing/2014/main" id="{55848146-4C4D-77AE-4E04-67490A9EAC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878516" y="1954410"/>
              <a:ext cx="388976" cy="388976"/>
            </a:xfrm>
            <a:prstGeom prst="rect">
              <a:avLst/>
            </a:prstGeom>
          </p:spPr>
        </p:pic>
        <p:pic>
          <p:nvPicPr>
            <p:cNvPr id="578" name="Graphic 577" descr="Paper outline">
              <a:extLst>
                <a:ext uri="{FF2B5EF4-FFF2-40B4-BE49-F238E27FC236}">
                  <a16:creationId xmlns:a16="http://schemas.microsoft.com/office/drawing/2014/main" id="{67C4D7BF-CD0F-3CDC-0A3E-69C8F928C5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878516" y="2516445"/>
              <a:ext cx="388976" cy="388976"/>
            </a:xfrm>
            <a:prstGeom prst="rect">
              <a:avLst/>
            </a:prstGeom>
          </p:spPr>
        </p:pic>
        <p:pic>
          <p:nvPicPr>
            <p:cNvPr id="579" name="Graphic 578" descr="Paper outline">
              <a:extLst>
                <a:ext uri="{FF2B5EF4-FFF2-40B4-BE49-F238E27FC236}">
                  <a16:creationId xmlns:a16="http://schemas.microsoft.com/office/drawing/2014/main" id="{BAD4E5A7-752E-9B40-829E-90A1354C8A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869403" y="3375411"/>
              <a:ext cx="388976" cy="388976"/>
            </a:xfrm>
            <a:prstGeom prst="rect">
              <a:avLst/>
            </a:prstGeom>
          </p:spPr>
        </p:pic>
        <p:sp>
          <p:nvSpPr>
            <p:cNvPr id="580" name="Google Shape;306;p17">
              <a:extLst>
                <a:ext uri="{FF2B5EF4-FFF2-40B4-BE49-F238E27FC236}">
                  <a16:creationId xmlns:a16="http://schemas.microsoft.com/office/drawing/2014/main" id="{BF1AEB91-BC76-46DD-9DE6-A5BDABD487D4}"/>
                </a:ext>
              </a:extLst>
            </p:cNvPr>
            <p:cNvSpPr txBox="1"/>
            <p:nvPr/>
          </p:nvSpPr>
          <p:spPr>
            <a:xfrm>
              <a:off x="5098334" y="2170878"/>
              <a:ext cx="940079" cy="240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95319" tIns="295319" rIns="295319" bIns="295319" anchor="t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000" b="0" dirty="0">
                  <a:solidFill>
                    <a:schemeClr val="dk2"/>
                  </a:solidFill>
                </a:rPr>
                <a:t>Git.R</a:t>
              </a:r>
              <a:endParaRPr sz="1000" b="0" dirty="0">
                <a:solidFill>
                  <a:schemeClr val="dk2"/>
                </a:solidFill>
              </a:endParaRPr>
            </a:p>
          </p:txBody>
        </p:sp>
        <p:sp>
          <p:nvSpPr>
            <p:cNvPr id="581" name="Google Shape;306;p17">
              <a:extLst>
                <a:ext uri="{FF2B5EF4-FFF2-40B4-BE49-F238E27FC236}">
                  <a16:creationId xmlns:a16="http://schemas.microsoft.com/office/drawing/2014/main" id="{4B1568E8-BB16-37B5-6617-5539011E1AB6}"/>
                </a:ext>
              </a:extLst>
            </p:cNvPr>
            <p:cNvSpPr txBox="1"/>
            <p:nvPr/>
          </p:nvSpPr>
          <p:spPr>
            <a:xfrm>
              <a:off x="4579241" y="2100827"/>
              <a:ext cx="987526" cy="405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95319" tIns="295319" rIns="295319" bIns="295319" anchor="t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000" b="0" dirty="0">
                  <a:solidFill>
                    <a:schemeClr val="dk2"/>
                  </a:solidFill>
                </a:rPr>
                <a:t>Mail.R</a:t>
              </a:r>
              <a:endParaRPr sz="1000" b="0" dirty="0">
                <a:solidFill>
                  <a:schemeClr val="dk2"/>
                </a:solidFill>
              </a:endParaRPr>
            </a:p>
          </p:txBody>
        </p:sp>
        <p:sp>
          <p:nvSpPr>
            <p:cNvPr id="585" name="Oval 584">
              <a:extLst>
                <a:ext uri="{FF2B5EF4-FFF2-40B4-BE49-F238E27FC236}">
                  <a16:creationId xmlns:a16="http://schemas.microsoft.com/office/drawing/2014/main" id="{7D296947-2AD8-062B-0C00-74084360223D}"/>
                </a:ext>
              </a:extLst>
            </p:cNvPr>
            <p:cNvSpPr/>
            <p:nvPr/>
          </p:nvSpPr>
          <p:spPr>
            <a:xfrm>
              <a:off x="5299585" y="1931604"/>
              <a:ext cx="550867" cy="525694"/>
            </a:xfrm>
            <a:prstGeom prst="ellipse">
              <a:avLst/>
            </a:prstGeom>
            <a:noFill/>
            <a:ln w="12700" cap="flat">
              <a:solidFill>
                <a:srgbClr val="4C4C4C"/>
              </a:solidFill>
              <a:prstDash val="sys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86" name="Oval 585">
              <a:extLst>
                <a:ext uri="{FF2B5EF4-FFF2-40B4-BE49-F238E27FC236}">
                  <a16:creationId xmlns:a16="http://schemas.microsoft.com/office/drawing/2014/main" id="{F9E6C114-E6C4-6357-9E5A-016161C95878}"/>
                </a:ext>
              </a:extLst>
            </p:cNvPr>
            <p:cNvSpPr/>
            <p:nvPr/>
          </p:nvSpPr>
          <p:spPr>
            <a:xfrm>
              <a:off x="6052480" y="1577156"/>
              <a:ext cx="2158097" cy="2196943"/>
            </a:xfrm>
            <a:prstGeom prst="ellipse">
              <a:avLst/>
            </a:prstGeom>
            <a:noFill/>
            <a:ln w="12700" cap="flat">
              <a:solidFill>
                <a:srgbClr val="4C4C4C"/>
              </a:solidFill>
              <a:prstDash val="sys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cxnSp>
          <p:nvCxnSpPr>
            <p:cNvPr id="587" name="Straight Connector 586">
              <a:extLst>
                <a:ext uri="{FF2B5EF4-FFF2-40B4-BE49-F238E27FC236}">
                  <a16:creationId xmlns:a16="http://schemas.microsoft.com/office/drawing/2014/main" id="{B9B2AFC5-1C9C-446C-7DA8-3D5930E225FA}"/>
                </a:ext>
              </a:extLst>
            </p:cNvPr>
            <p:cNvCxnSpPr>
              <a:cxnSpLocks/>
              <a:endCxn id="585" idx="3"/>
            </p:cNvCxnSpPr>
            <p:nvPr/>
          </p:nvCxnSpPr>
          <p:spPr>
            <a:xfrm flipH="1" flipV="1">
              <a:off x="5380258" y="2380312"/>
              <a:ext cx="756816" cy="744979"/>
            </a:xfrm>
            <a:prstGeom prst="line">
              <a:avLst/>
            </a:prstGeom>
            <a:ln w="1270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91" name="Straight Connector 590">
              <a:extLst>
                <a:ext uri="{FF2B5EF4-FFF2-40B4-BE49-F238E27FC236}">
                  <a16:creationId xmlns:a16="http://schemas.microsoft.com/office/drawing/2014/main" id="{2177D889-3122-FD24-8C95-74BF28ACB466}"/>
                </a:ext>
              </a:extLst>
            </p:cNvPr>
            <p:cNvCxnSpPr>
              <a:cxnSpLocks/>
              <a:endCxn id="585" idx="0"/>
            </p:cNvCxnSpPr>
            <p:nvPr/>
          </p:nvCxnSpPr>
          <p:spPr>
            <a:xfrm flipH="1">
              <a:off x="5575019" y="1642390"/>
              <a:ext cx="1215870" cy="289214"/>
            </a:xfrm>
            <a:prstGeom prst="line">
              <a:avLst/>
            </a:prstGeom>
            <a:ln w="1270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594" name="TextBox 593">
              <a:extLst>
                <a:ext uri="{FF2B5EF4-FFF2-40B4-BE49-F238E27FC236}">
                  <a16:creationId xmlns:a16="http://schemas.microsoft.com/office/drawing/2014/main" id="{CAB2492D-7EFB-A5DE-CF3B-02FFEB8BC82C}"/>
                </a:ext>
              </a:extLst>
            </p:cNvPr>
            <p:cNvSpPr txBox="1"/>
            <p:nvPr/>
          </p:nvSpPr>
          <p:spPr>
            <a:xfrm>
              <a:off x="4914543" y="2980917"/>
              <a:ext cx="536368" cy="5308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/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95" name="Google Shape;312;p17">
              <a:extLst>
                <a:ext uri="{FF2B5EF4-FFF2-40B4-BE49-F238E27FC236}">
                  <a16:creationId xmlns:a16="http://schemas.microsoft.com/office/drawing/2014/main" id="{02CCCE64-AAC9-9120-7C8A-62F2B5CAF100}"/>
                </a:ext>
              </a:extLst>
            </p:cNvPr>
            <p:cNvSpPr txBox="1"/>
            <p:nvPr/>
          </p:nvSpPr>
          <p:spPr>
            <a:xfrm>
              <a:off x="4927776" y="4336877"/>
              <a:ext cx="2240541" cy="405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95319" tIns="295319" rIns="295319" bIns="295319" anchor="t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400" dirty="0"/>
                <a:t>Example.R</a:t>
              </a:r>
              <a:endParaRPr sz="1400" dirty="0"/>
            </a:p>
          </p:txBody>
        </p:sp>
        <p:sp>
          <p:nvSpPr>
            <p:cNvPr id="597" name="TextBox 596">
              <a:extLst>
                <a:ext uri="{FF2B5EF4-FFF2-40B4-BE49-F238E27FC236}">
                  <a16:creationId xmlns:a16="http://schemas.microsoft.com/office/drawing/2014/main" id="{66C44D99-9880-3BEE-83B3-41C8F34B149E}"/>
                </a:ext>
              </a:extLst>
            </p:cNvPr>
            <p:cNvSpPr txBox="1"/>
            <p:nvPr/>
          </p:nvSpPr>
          <p:spPr>
            <a:xfrm>
              <a:off x="4913160" y="2879763"/>
              <a:ext cx="366168" cy="7411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/>
                <a:t>.</a:t>
              </a:r>
            </a:p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</a:p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3B21469-8867-C732-67CA-636523E753D7}"/>
                </a:ext>
              </a:extLst>
            </p:cNvPr>
            <p:cNvSpPr/>
            <p:nvPr/>
          </p:nvSpPr>
          <p:spPr>
            <a:xfrm>
              <a:off x="4687649" y="1449980"/>
              <a:ext cx="4067130" cy="3392424"/>
            </a:xfrm>
            <a:prstGeom prst="rect">
              <a:avLst/>
            </a:prstGeom>
            <a:noFill/>
            <a:ln w="12700" cap="flat">
              <a:solidFill>
                <a:schemeClr val="bg2">
                  <a:lumMod val="10000"/>
                </a:schemeClr>
              </a:solidFill>
              <a:prstDash val="sys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7" name="Google Shape;236;p15">
              <a:extLst>
                <a:ext uri="{FF2B5EF4-FFF2-40B4-BE49-F238E27FC236}">
                  <a16:creationId xmlns:a16="http://schemas.microsoft.com/office/drawing/2014/main" id="{EF4C859B-A1A1-1F01-923B-C150B8AE9ACD}"/>
                </a:ext>
              </a:extLst>
            </p:cNvPr>
            <p:cNvSpPr/>
            <p:nvPr/>
          </p:nvSpPr>
          <p:spPr>
            <a:xfrm>
              <a:off x="4717134" y="1477850"/>
              <a:ext cx="322763" cy="299514"/>
            </a:xfrm>
            <a:prstGeom prst="roundRect">
              <a:avLst>
                <a:gd name="adj" fmla="val 16667"/>
              </a:avLst>
            </a:prstGeom>
            <a:solidFill>
              <a:schemeClr val="bg2">
                <a:lumMod val="10000"/>
              </a:schemeClr>
            </a:solidFill>
            <a:ln w="87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7722" tIns="127722" rIns="127722" bIns="127722" anchor="ctr" anchorCtr="0">
              <a:noAutofit/>
            </a:bodyPr>
            <a:lstStyle/>
            <a:p>
              <a:pPr>
                <a:spcBef>
                  <a:spcPts val="0"/>
                </a:spcBef>
              </a:pPr>
              <a:endParaRPr sz="1117">
                <a:solidFill>
                  <a:schemeClr val="lt1"/>
                </a:solidFill>
              </a:endParaRPr>
            </a:p>
          </p:txBody>
        </p:sp>
        <p:sp>
          <p:nvSpPr>
            <p:cNvPr id="9" name="Google Shape;237;p15">
              <a:extLst>
                <a:ext uri="{FF2B5EF4-FFF2-40B4-BE49-F238E27FC236}">
                  <a16:creationId xmlns:a16="http://schemas.microsoft.com/office/drawing/2014/main" id="{1CFED1A8-EC9F-1DAA-FB55-DDC425FDF08D}"/>
                </a:ext>
              </a:extLst>
            </p:cNvPr>
            <p:cNvSpPr txBox="1"/>
            <p:nvPr/>
          </p:nvSpPr>
          <p:spPr>
            <a:xfrm>
              <a:off x="4649821" y="1386286"/>
              <a:ext cx="547745" cy="2740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722" tIns="127722" rIns="127722" bIns="127722" anchor="t" anchorCtr="0">
              <a:noAutofit/>
            </a:bodyPr>
            <a:lstStyle/>
            <a:p>
              <a:pPr>
                <a:spcBef>
                  <a:spcPts val="0"/>
                </a:spcBef>
              </a:pPr>
              <a:r>
                <a:rPr lang="en" sz="1400" dirty="0">
                  <a:solidFill>
                    <a:schemeClr val="lt1"/>
                  </a:solidFill>
                </a:rPr>
                <a:t>GH</a:t>
              </a:r>
              <a:endParaRPr sz="1400" dirty="0">
                <a:solidFill>
                  <a:schemeClr val="lt1"/>
                </a:solidFill>
              </a:endParaRPr>
            </a:p>
          </p:txBody>
        </p:sp>
      </p:grpSp>
      <p:sp>
        <p:nvSpPr>
          <p:cNvPr id="13" name="Use headers, colors, and/or backgrounds to separate or group together sections.">
            <a:extLst>
              <a:ext uri="{FF2B5EF4-FFF2-40B4-BE49-F238E27FC236}">
                <a16:creationId xmlns:a16="http://schemas.microsoft.com/office/drawing/2014/main" id="{3DE6AF9A-BC85-A053-4899-1EB88808CF64}"/>
              </a:ext>
            </a:extLst>
          </p:cNvPr>
          <p:cNvSpPr txBox="1"/>
          <p:nvPr/>
        </p:nvSpPr>
        <p:spPr>
          <a:xfrm>
            <a:off x="4705325" y="3231443"/>
            <a:ext cx="4251862" cy="442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Tests for Kaiaulu are made using R’s testthat framework. Fake examples are used for parser tests, which parse fake data.</a:t>
            </a:r>
          </a:p>
        </p:txBody>
      </p:sp>
      <p:sp>
        <p:nvSpPr>
          <p:cNvPr id="14" name="Use headers, colors, and/or backgrounds to separate or group together sections.">
            <a:extLst>
              <a:ext uri="{FF2B5EF4-FFF2-40B4-BE49-F238E27FC236}">
                <a16:creationId xmlns:a16="http://schemas.microsoft.com/office/drawing/2014/main" id="{8E613189-A4D6-51F1-6CFC-0AA43F4EC99B}"/>
              </a:ext>
            </a:extLst>
          </p:cNvPr>
          <p:cNvSpPr txBox="1"/>
          <p:nvPr/>
        </p:nvSpPr>
        <p:spPr>
          <a:xfrm>
            <a:off x="4703078" y="2524315"/>
            <a:ext cx="4251862" cy="442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Kaiaulu’s </a:t>
            </a:r>
            <a:r>
              <a:rPr lang="en-US" b="0" dirty="0" err="1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Example.R</a:t>
            </a:r>
            <a:r>
              <a:rPr lang="en-US" b="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is used to create fake data examples. These mimic real raw data unexpected cases. </a:t>
            </a:r>
          </a:p>
        </p:txBody>
      </p:sp>
      <p:pic>
        <p:nvPicPr>
          <p:cNvPr id="16" name="Picture 15" descr="The image depicts a simple, clean design featuring two intertwined, colorless circles.&#10;&#10;AI-generated content may be incorrect.">
            <a:extLst>
              <a:ext uri="{FF2B5EF4-FFF2-40B4-BE49-F238E27FC236}">
                <a16:creationId xmlns:a16="http://schemas.microsoft.com/office/drawing/2014/main" id="{B3B68DEE-EE78-4301-E11E-08CA174E7DE8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3050" r="4779"/>
          <a:stretch>
            <a:fillRect/>
          </a:stretch>
        </p:blipFill>
        <p:spPr>
          <a:xfrm>
            <a:off x="10212730" y="7933337"/>
            <a:ext cx="341640" cy="348057"/>
          </a:xfrm>
          <a:prstGeom prst="rect">
            <a:avLst/>
          </a:prstGeom>
        </p:spPr>
      </p:pic>
      <p:sp>
        <p:nvSpPr>
          <p:cNvPr id="17" name="Use headers, colors, and/or backgrounds to separate or group together sections.">
            <a:extLst>
              <a:ext uri="{FF2B5EF4-FFF2-40B4-BE49-F238E27FC236}">
                <a16:creationId xmlns:a16="http://schemas.microsoft.com/office/drawing/2014/main" id="{5CD37BDE-4D5C-0119-6FC4-CB153D7E61E1}"/>
              </a:ext>
            </a:extLst>
          </p:cNvPr>
          <p:cNvSpPr txBox="1"/>
          <p:nvPr/>
        </p:nvSpPr>
        <p:spPr>
          <a:xfrm>
            <a:off x="10553488" y="7879773"/>
            <a:ext cx="2703651" cy="290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3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Some checks were not successful</a:t>
            </a:r>
          </a:p>
        </p:txBody>
      </p:sp>
      <p:sp>
        <p:nvSpPr>
          <p:cNvPr id="18" name="Google Shape;244;p15">
            <a:extLst>
              <a:ext uri="{FF2B5EF4-FFF2-40B4-BE49-F238E27FC236}">
                <a16:creationId xmlns:a16="http://schemas.microsoft.com/office/drawing/2014/main" id="{A6EDCABC-868F-1214-B99D-4B85DC9E864F}"/>
              </a:ext>
            </a:extLst>
          </p:cNvPr>
          <p:cNvSpPr txBox="1"/>
          <p:nvPr/>
        </p:nvSpPr>
        <p:spPr>
          <a:xfrm>
            <a:off x="10483111" y="7996936"/>
            <a:ext cx="2232410" cy="321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722" tIns="127722" rIns="127722" bIns="127722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srgbClr val="999999"/>
                </a:solidFill>
              </a:rPr>
              <a:t>1 failing, 1 successful checks</a:t>
            </a:r>
            <a:endParaRPr dirty="0">
              <a:solidFill>
                <a:srgbClr val="999999"/>
              </a:solidFill>
            </a:endParaRPr>
          </a:p>
          <a:p>
            <a:pPr>
              <a:spcBef>
                <a:spcPts val="0"/>
              </a:spcBef>
            </a:pPr>
            <a:endParaRPr sz="978" dirty="0">
              <a:solidFill>
                <a:srgbClr val="999999"/>
              </a:solidFill>
            </a:endParaRPr>
          </a:p>
          <a:p>
            <a:pPr>
              <a:spcBef>
                <a:spcPts val="0"/>
              </a:spcBef>
            </a:pPr>
            <a:r>
              <a:rPr lang="en" sz="978" dirty="0">
                <a:solidFill>
                  <a:srgbClr val="999999"/>
                </a:solidFill>
              </a:rPr>
              <a:t> </a:t>
            </a:r>
            <a:endParaRPr sz="978" dirty="0">
              <a:solidFill>
                <a:srgbClr val="999999"/>
              </a:solidFill>
            </a:endParaRPr>
          </a:p>
        </p:txBody>
      </p:sp>
      <p:sp>
        <p:nvSpPr>
          <p:cNvPr id="15" name="FONTS">
            <a:extLst>
              <a:ext uri="{FF2B5EF4-FFF2-40B4-BE49-F238E27FC236}">
                <a16:creationId xmlns:a16="http://schemas.microsoft.com/office/drawing/2014/main" id="{66F50FDB-4E97-23C6-E82D-A9FCD7E01CD9}"/>
              </a:ext>
            </a:extLst>
          </p:cNvPr>
          <p:cNvSpPr txBox="1"/>
          <p:nvPr/>
        </p:nvSpPr>
        <p:spPr>
          <a:xfrm>
            <a:off x="4540206" y="1544753"/>
            <a:ext cx="3457951" cy="3026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/>
            <a:r>
              <a:rPr lang="en-US" sz="1800" b="0" dirty="0"/>
              <a:t>Fake Data Generator</a:t>
            </a:r>
          </a:p>
        </p:txBody>
      </p:sp>
      <p:sp>
        <p:nvSpPr>
          <p:cNvPr id="19" name="FONTS">
            <a:extLst>
              <a:ext uri="{FF2B5EF4-FFF2-40B4-BE49-F238E27FC236}">
                <a16:creationId xmlns:a16="http://schemas.microsoft.com/office/drawing/2014/main" id="{5D391BD5-7CFE-388C-318A-912622D750DC}"/>
              </a:ext>
            </a:extLst>
          </p:cNvPr>
          <p:cNvSpPr txBox="1"/>
          <p:nvPr/>
        </p:nvSpPr>
        <p:spPr>
          <a:xfrm>
            <a:off x="4540206" y="2250885"/>
            <a:ext cx="2901855" cy="3026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/>
            <a:r>
              <a:rPr lang="en-US" sz="1800" b="0" dirty="0"/>
              <a:t>Examples</a:t>
            </a:r>
            <a:endParaRPr sz="1800" b="0" dirty="0"/>
          </a:p>
        </p:txBody>
      </p:sp>
      <p:sp>
        <p:nvSpPr>
          <p:cNvPr id="20" name="FONTS">
            <a:extLst>
              <a:ext uri="{FF2B5EF4-FFF2-40B4-BE49-F238E27FC236}">
                <a16:creationId xmlns:a16="http://schemas.microsoft.com/office/drawing/2014/main" id="{DC9F30AC-8902-8C7D-8676-40ACD1BD3BE5}"/>
              </a:ext>
            </a:extLst>
          </p:cNvPr>
          <p:cNvSpPr txBox="1"/>
          <p:nvPr/>
        </p:nvSpPr>
        <p:spPr>
          <a:xfrm>
            <a:off x="4517488" y="2936506"/>
            <a:ext cx="1950490" cy="3026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/>
            <a:r>
              <a:rPr lang="en-US" sz="1800" b="0" dirty="0"/>
              <a:t>Tests</a:t>
            </a:r>
            <a:endParaRPr sz="1800" b="0" dirty="0"/>
          </a:p>
        </p:txBody>
      </p:sp>
      <p:sp>
        <p:nvSpPr>
          <p:cNvPr id="498" name="FONTS">
            <a:extLst>
              <a:ext uri="{FF2B5EF4-FFF2-40B4-BE49-F238E27FC236}">
                <a16:creationId xmlns:a16="http://schemas.microsoft.com/office/drawing/2014/main" id="{1755852B-FC43-C229-16B1-86CF2272D003}"/>
              </a:ext>
            </a:extLst>
          </p:cNvPr>
          <p:cNvSpPr txBox="1"/>
          <p:nvPr/>
        </p:nvSpPr>
        <p:spPr>
          <a:xfrm>
            <a:off x="4641523" y="7660876"/>
            <a:ext cx="1570137" cy="3026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/>
            <a:r>
              <a:rPr lang="en-US" sz="1800" b="0" dirty="0"/>
              <a:t>GitHub Actions</a:t>
            </a:r>
            <a:endParaRPr sz="1800" b="0" dirty="0"/>
          </a:p>
        </p:txBody>
      </p:sp>
      <p:sp>
        <p:nvSpPr>
          <p:cNvPr id="508" name="FONTS">
            <a:extLst>
              <a:ext uri="{FF2B5EF4-FFF2-40B4-BE49-F238E27FC236}">
                <a16:creationId xmlns:a16="http://schemas.microsoft.com/office/drawing/2014/main" id="{5BE737B0-F740-9DEE-8138-89C5355EECCF}"/>
              </a:ext>
            </a:extLst>
          </p:cNvPr>
          <p:cNvSpPr txBox="1"/>
          <p:nvPr/>
        </p:nvSpPr>
        <p:spPr>
          <a:xfrm>
            <a:off x="4651141" y="8302794"/>
            <a:ext cx="1738418" cy="3026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/>
            <a:r>
              <a:rPr lang="en-US" sz="1800" b="0" dirty="0"/>
              <a:t>Quality Reviewer</a:t>
            </a:r>
            <a:endParaRPr sz="1800" b="0" dirty="0"/>
          </a:p>
        </p:txBody>
      </p:sp>
      <p:sp>
        <p:nvSpPr>
          <p:cNvPr id="510" name="FONTS">
            <a:extLst>
              <a:ext uri="{FF2B5EF4-FFF2-40B4-BE49-F238E27FC236}">
                <a16:creationId xmlns:a16="http://schemas.microsoft.com/office/drawing/2014/main" id="{BEC26ABF-FD5E-FC00-EFC5-78455A7014E1}"/>
              </a:ext>
            </a:extLst>
          </p:cNvPr>
          <p:cNvSpPr txBox="1"/>
          <p:nvPr/>
        </p:nvSpPr>
        <p:spPr>
          <a:xfrm>
            <a:off x="4651415" y="9165396"/>
            <a:ext cx="1738418" cy="3026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/>
            <a:r>
              <a:rPr lang="en-US" sz="1800" b="0" dirty="0"/>
              <a:t>Code Architect</a:t>
            </a:r>
            <a:endParaRPr sz="1800" b="0" dirty="0"/>
          </a:p>
        </p:txBody>
      </p:sp>
      <p:sp>
        <p:nvSpPr>
          <p:cNvPr id="511" name="Google Shape;234;p15">
            <a:extLst>
              <a:ext uri="{FF2B5EF4-FFF2-40B4-BE49-F238E27FC236}">
                <a16:creationId xmlns:a16="http://schemas.microsoft.com/office/drawing/2014/main" id="{54D91AE6-22DE-4129-17F9-A10E9028D0B1}"/>
              </a:ext>
            </a:extLst>
          </p:cNvPr>
          <p:cNvSpPr/>
          <p:nvPr/>
        </p:nvSpPr>
        <p:spPr>
          <a:xfrm>
            <a:off x="237460" y="6121474"/>
            <a:ext cx="2788500" cy="232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722" tIns="127722" rIns="127722" bIns="127722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1006"/>
            </a:pPr>
            <a:r>
              <a:rPr lang="en" sz="839" dirty="0">
                <a:solidFill>
                  <a:schemeClr val="dk1"/>
                </a:solidFill>
              </a:rPr>
              <a:t>   </a:t>
            </a:r>
            <a:r>
              <a:rPr lang="en" sz="839" dirty="0">
                <a:solidFill>
                  <a:srgbClr val="1F2328"/>
                </a:solidFill>
              </a:rPr>
              <a:t>           test-coverage/test-coverage(4.4)</a:t>
            </a:r>
            <a:endParaRPr sz="1956" dirty="0"/>
          </a:p>
        </p:txBody>
      </p:sp>
      <p:sp>
        <p:nvSpPr>
          <p:cNvPr id="512" name="FONTS">
            <a:extLst>
              <a:ext uri="{FF2B5EF4-FFF2-40B4-BE49-F238E27FC236}">
                <a16:creationId xmlns:a16="http://schemas.microsoft.com/office/drawing/2014/main" id="{2FA1B053-5301-D2E4-029B-549C130040E8}"/>
              </a:ext>
            </a:extLst>
          </p:cNvPr>
          <p:cNvSpPr txBox="1"/>
          <p:nvPr/>
        </p:nvSpPr>
        <p:spPr>
          <a:xfrm>
            <a:off x="4639814" y="7074828"/>
            <a:ext cx="1570137" cy="3026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/>
            <a:r>
              <a:rPr lang="en-US" sz="1800" b="0" dirty="0"/>
              <a:t>Codecov</a:t>
            </a:r>
            <a:endParaRPr sz="1800" b="0" dirty="0"/>
          </a:p>
        </p:txBody>
      </p:sp>
      <p:sp>
        <p:nvSpPr>
          <p:cNvPr id="518" name="Use headers, colors, and/or backgrounds to separate or group together sections.">
            <a:extLst>
              <a:ext uri="{FF2B5EF4-FFF2-40B4-BE49-F238E27FC236}">
                <a16:creationId xmlns:a16="http://schemas.microsoft.com/office/drawing/2014/main" id="{D588381E-B86C-C4E8-A147-239EF946E333}"/>
              </a:ext>
            </a:extLst>
          </p:cNvPr>
          <p:cNvSpPr txBox="1"/>
          <p:nvPr/>
        </p:nvSpPr>
        <p:spPr>
          <a:xfrm>
            <a:off x="226361" y="9481655"/>
            <a:ext cx="4251862" cy="442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Fake Data Generator </a:t>
            </a:r>
            <a:r>
              <a:rPr lang="en-US" b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is used to construct examples, and those examples are used to test parsers for raw data. </a:t>
            </a:r>
          </a:p>
        </p:txBody>
      </p:sp>
      <p:sp>
        <p:nvSpPr>
          <p:cNvPr id="519" name="Use headers, colors, and/or backgrounds to separate or group together sections.">
            <a:extLst>
              <a:ext uri="{FF2B5EF4-FFF2-40B4-BE49-F238E27FC236}">
                <a16:creationId xmlns:a16="http://schemas.microsoft.com/office/drawing/2014/main" id="{44449DDF-3B61-1B9C-7E94-4595963C7783}"/>
              </a:ext>
            </a:extLst>
          </p:cNvPr>
          <p:cNvSpPr txBox="1"/>
          <p:nvPr/>
        </p:nvSpPr>
        <p:spPr>
          <a:xfrm>
            <a:off x="4729523" y="7331083"/>
            <a:ext cx="4251862" cy="276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Codecov will deny a commit based on code test coverage.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CF92746-DFB0-6AC6-9F55-488149B61814}"/>
              </a:ext>
            </a:extLst>
          </p:cNvPr>
          <p:cNvGrpSpPr/>
          <p:nvPr/>
        </p:nvGrpSpPr>
        <p:grpSpPr>
          <a:xfrm>
            <a:off x="4485948" y="4746959"/>
            <a:ext cx="4998104" cy="2204924"/>
            <a:chOff x="4445694" y="4710784"/>
            <a:chExt cx="4998104" cy="220492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EBA6BFD-36CC-9DCE-1B5E-BE6E285E419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445694" y="4710784"/>
              <a:ext cx="4998104" cy="2204924"/>
              <a:chOff x="4754545" y="7592221"/>
              <a:chExt cx="4800860" cy="2117909"/>
            </a:xfrm>
          </p:grpSpPr>
          <p:sp>
            <p:nvSpPr>
              <p:cNvPr id="491" name="Create a visual hierarchy. Help users navigate the page with titles, subtitles, and subsubtitles">
                <a:extLst>
                  <a:ext uri="{FF2B5EF4-FFF2-40B4-BE49-F238E27FC236}">
                    <a16:creationId xmlns:a16="http://schemas.microsoft.com/office/drawing/2014/main" id="{EBA1D913-E675-F0B9-1DC6-62206292681C}"/>
                  </a:ext>
                </a:extLst>
              </p:cNvPr>
              <p:cNvSpPr txBox="1"/>
              <p:nvPr/>
            </p:nvSpPr>
            <p:spPr>
              <a:xfrm>
                <a:off x="8264043" y="8100908"/>
                <a:ext cx="1200148" cy="27640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4570" tIns="54570" rIns="54570" bIns="5457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ts val="300"/>
                  </a:spcBef>
                  <a:buClr>
                    <a:schemeClr val="bg2">
                      <a:lumMod val="10000"/>
                    </a:schemeClr>
                  </a:buClr>
                  <a:defRPr b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  <a:sym typeface="Source Sans Pro Light"/>
                  </a:defRPr>
                </a:pPr>
                <a:r>
                  <a:rPr lang="en-US" b="0" dirty="0">
                    <a:solidFill>
                      <a:srgbClr val="00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sym typeface="Source Sans Pro"/>
                  </a:rPr>
                  <a:t>Code Architect</a:t>
                </a: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  <a:sym typeface="Source Sans Pro"/>
                </a:endParaRPr>
              </a:p>
            </p:txBody>
          </p:sp>
          <p:sp>
            <p:nvSpPr>
              <p:cNvPr id="342" name="Create a visual hierarchy. Help users navigate the page with titles, subtitles, and subsubtitles">
                <a:extLst>
                  <a:ext uri="{FF2B5EF4-FFF2-40B4-BE49-F238E27FC236}">
                    <a16:creationId xmlns:a16="http://schemas.microsoft.com/office/drawing/2014/main" id="{CC7B7707-D4D0-5FB5-6A05-042A9F249FFB}"/>
                  </a:ext>
                </a:extLst>
              </p:cNvPr>
              <p:cNvSpPr txBox="1"/>
              <p:nvPr/>
            </p:nvSpPr>
            <p:spPr>
              <a:xfrm>
                <a:off x="5966355" y="7592221"/>
                <a:ext cx="1603122" cy="44260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4570" tIns="54570" rIns="54570" bIns="5457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ts val="300"/>
                  </a:spcBef>
                  <a:buClr>
                    <a:schemeClr val="bg2">
                      <a:lumMod val="10000"/>
                    </a:schemeClr>
                  </a:buClr>
                  <a:defRPr b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  <a:sym typeface="Source Sans Pro Light"/>
                  </a:defRPr>
                </a:pP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Pull Request Created + Commit Pushed</a:t>
                </a:r>
              </a:p>
            </p:txBody>
          </p:sp>
          <p:sp>
            <p:nvSpPr>
              <p:cNvPr id="504" name="Create a visual hierarchy. Help users navigate the page with titles, subtitles, and subsubtitles">
                <a:extLst>
                  <a:ext uri="{FF2B5EF4-FFF2-40B4-BE49-F238E27FC236}">
                    <a16:creationId xmlns:a16="http://schemas.microsoft.com/office/drawing/2014/main" id="{C64C3354-3281-90DE-087D-EBB1D93F7C4C}"/>
                  </a:ext>
                </a:extLst>
              </p:cNvPr>
              <p:cNvSpPr txBox="1"/>
              <p:nvPr/>
            </p:nvSpPr>
            <p:spPr>
              <a:xfrm>
                <a:off x="5986391" y="8110685"/>
                <a:ext cx="1138332" cy="27640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4570" tIns="54570" rIns="54570" bIns="5457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ts val="300"/>
                  </a:spcBef>
                  <a:buClr>
                    <a:schemeClr val="bg2">
                      <a:lumMod val="10000"/>
                    </a:schemeClr>
                  </a:buClr>
                  <a:defRPr b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  <a:sym typeface="Source Sans Pro Light"/>
                  </a:defRPr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GitHub Actions</a:t>
                </a: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  <a:sym typeface="Source Sans Pro"/>
                </a:endParaRPr>
              </a:p>
            </p:txBody>
          </p:sp>
          <p:pic>
            <p:nvPicPr>
              <p:cNvPr id="50" name="Picture 49" descr="Account ">
                <a:extLst>
                  <a:ext uri="{FF2B5EF4-FFF2-40B4-BE49-F238E27FC236}">
                    <a16:creationId xmlns:a16="http://schemas.microsoft.com/office/drawing/2014/main" id="{40EB04E5-86F6-EFEB-7FC5-1FD7C2EBCF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80018" y="8330059"/>
                <a:ext cx="306136" cy="3061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81" name="Google Shape;214;p15">
                <a:extLst>
                  <a:ext uri="{FF2B5EF4-FFF2-40B4-BE49-F238E27FC236}">
                    <a16:creationId xmlns:a16="http://schemas.microsoft.com/office/drawing/2014/main" id="{609FBBAB-CB3C-4232-5643-BFADC414F3F8}"/>
                  </a:ext>
                </a:extLst>
              </p:cNvPr>
              <p:cNvPicPr preferRelativeResize="0"/>
              <p:nvPr/>
            </p:nvPicPr>
            <p:blipFill>
              <a:blip r:embed="rId8">
                <a:alphaModFix/>
              </a:blip>
              <a:srcRect l="10328" r="5548" b="12675"/>
              <a:stretch>
                <a:fillRect/>
              </a:stretch>
            </p:blipFill>
            <p:spPr>
              <a:xfrm>
                <a:off x="5442555" y="8273887"/>
                <a:ext cx="401071" cy="39899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520" name="Group 519">
                <a:extLst>
                  <a:ext uri="{FF2B5EF4-FFF2-40B4-BE49-F238E27FC236}">
                    <a16:creationId xmlns:a16="http://schemas.microsoft.com/office/drawing/2014/main" id="{41ECF5DB-29FD-F4C4-80C3-25283AE9A54D}"/>
                  </a:ext>
                </a:extLst>
              </p:cNvPr>
              <p:cNvGrpSpPr/>
              <p:nvPr/>
            </p:nvGrpSpPr>
            <p:grpSpPr>
              <a:xfrm>
                <a:off x="6430077" y="8245501"/>
                <a:ext cx="526129" cy="378927"/>
                <a:chOff x="9474949" y="3367098"/>
                <a:chExt cx="526129" cy="378927"/>
              </a:xfrm>
            </p:grpSpPr>
            <p:sp>
              <p:nvSpPr>
                <p:cNvPr id="486" name="Google Shape;236;p15">
                  <a:extLst>
                    <a:ext uri="{FF2B5EF4-FFF2-40B4-BE49-F238E27FC236}">
                      <a16:creationId xmlns:a16="http://schemas.microsoft.com/office/drawing/2014/main" id="{2030DE8A-4CC3-D607-AED1-BDDC44BCE3AA}"/>
                    </a:ext>
                  </a:extLst>
                </p:cNvPr>
                <p:cNvSpPr/>
                <p:nvPr/>
              </p:nvSpPr>
              <p:spPr>
                <a:xfrm>
                  <a:off x="9567136" y="3458331"/>
                  <a:ext cx="310026" cy="287694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2">
                    <a:lumMod val="10000"/>
                  </a:schemeClr>
                </a:solidFill>
                <a:ln w="8700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7722" tIns="127722" rIns="127722" bIns="127722" anchor="ctr" anchorCtr="0">
                  <a:noAutofit/>
                </a:bodyPr>
                <a:lstStyle/>
                <a:p>
                  <a:pPr>
                    <a:spcBef>
                      <a:spcPts val="0"/>
                    </a:spcBef>
                  </a:pPr>
                  <a:endParaRPr sz="1117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483" name="Google Shape;237;p15">
                  <a:extLst>
                    <a:ext uri="{FF2B5EF4-FFF2-40B4-BE49-F238E27FC236}">
                      <a16:creationId xmlns:a16="http://schemas.microsoft.com/office/drawing/2014/main" id="{8BAC6A32-592E-EAE5-467A-B8291F8D3088}"/>
                    </a:ext>
                  </a:extLst>
                </p:cNvPr>
                <p:cNvSpPr txBox="1"/>
                <p:nvPr/>
              </p:nvSpPr>
              <p:spPr>
                <a:xfrm>
                  <a:off x="9474949" y="3367098"/>
                  <a:ext cx="526129" cy="2632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27722" tIns="127722" rIns="127722" bIns="127722" anchor="t" anchorCtr="0">
                  <a:noAutofit/>
                </a:bodyPr>
                <a:lstStyle/>
                <a:p>
                  <a:pPr>
                    <a:spcBef>
                      <a:spcPts val="0"/>
                    </a:spcBef>
                  </a:pPr>
                  <a:r>
                    <a:rPr lang="en" sz="1400" dirty="0">
                      <a:solidFill>
                        <a:schemeClr val="lt1"/>
                      </a:solidFill>
                    </a:rPr>
                    <a:t>GH</a:t>
                  </a:r>
                  <a:endParaRPr sz="1400" dirty="0">
                    <a:solidFill>
                      <a:schemeClr val="lt1"/>
                    </a:solidFill>
                  </a:endParaRPr>
                </a:p>
              </p:txBody>
            </p:sp>
          </p:grpSp>
          <p:pic>
            <p:nvPicPr>
              <p:cNvPr id="487" name="Picture 486" descr="Account ">
                <a:extLst>
                  <a:ext uri="{FF2B5EF4-FFF2-40B4-BE49-F238E27FC236}">
                    <a16:creationId xmlns:a16="http://schemas.microsoft.com/office/drawing/2014/main" id="{2FBF6FED-F257-837C-1F66-6D4806F907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16900" y="8321807"/>
                <a:ext cx="306136" cy="3061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90" name="Create a visual hierarchy. Help users navigate the page with titles, subtitles, and subsubtitles">
                <a:extLst>
                  <a:ext uri="{FF2B5EF4-FFF2-40B4-BE49-F238E27FC236}">
                    <a16:creationId xmlns:a16="http://schemas.microsoft.com/office/drawing/2014/main" id="{56CE7538-45D3-AA92-AA85-8B17FE1474FB}"/>
                  </a:ext>
                </a:extLst>
              </p:cNvPr>
              <p:cNvSpPr txBox="1"/>
              <p:nvPr/>
            </p:nvSpPr>
            <p:spPr>
              <a:xfrm>
                <a:off x="7087984" y="8108356"/>
                <a:ext cx="1241412" cy="27640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4570" tIns="54570" rIns="54570" bIns="5457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ts val="300"/>
                  </a:spcBef>
                  <a:buClr>
                    <a:schemeClr val="bg2">
                      <a:lumMod val="10000"/>
                    </a:schemeClr>
                  </a:buClr>
                  <a:defRPr b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  <a:sym typeface="Source Sans Pro Light"/>
                  </a:defRPr>
                </a:pPr>
                <a:r>
                  <a:rPr lang="en-US" b="0" dirty="0">
                    <a:solidFill>
                      <a:srgbClr val="00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Quality Reviewer</a:t>
                </a: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  <a:sym typeface="Source Sans Pro"/>
                </a:endParaRPr>
              </a:p>
            </p:txBody>
          </p:sp>
          <p:cxnSp>
            <p:nvCxnSpPr>
              <p:cNvPr id="328" name="Google Shape;445;p18">
                <a:extLst>
                  <a:ext uri="{FF2B5EF4-FFF2-40B4-BE49-F238E27FC236}">
                    <a16:creationId xmlns:a16="http://schemas.microsoft.com/office/drawing/2014/main" id="{A156A38A-C55F-3846-F1B9-E3A56E1C5C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36507" y="8012731"/>
                <a:ext cx="0" cy="227228"/>
              </a:xfrm>
              <a:prstGeom prst="straightConnector1">
                <a:avLst/>
              </a:prstGeom>
              <a:noFill/>
              <a:ln w="28575" cap="flat" cmpd="sng">
                <a:solidFill>
                  <a:srgbClr val="1B131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30" name="Google Shape;445;p18">
                <a:extLst>
                  <a:ext uri="{FF2B5EF4-FFF2-40B4-BE49-F238E27FC236}">
                    <a16:creationId xmlns:a16="http://schemas.microsoft.com/office/drawing/2014/main" id="{70240BCD-8805-B9A5-49CE-A959347FBA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3142" y="8692417"/>
                <a:ext cx="0" cy="219033"/>
              </a:xfrm>
              <a:prstGeom prst="straightConnector1">
                <a:avLst/>
              </a:prstGeom>
              <a:noFill/>
              <a:ln w="28575" cap="flat" cmpd="sng">
                <a:solidFill>
                  <a:srgbClr val="1B131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31" name="Google Shape;445;p18">
                <a:extLst>
                  <a:ext uri="{FF2B5EF4-FFF2-40B4-BE49-F238E27FC236}">
                    <a16:creationId xmlns:a16="http://schemas.microsoft.com/office/drawing/2014/main" id="{27018696-8371-AC7D-AEE4-09A3616171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31917" y="8470444"/>
                <a:ext cx="483203" cy="4431"/>
              </a:xfrm>
              <a:prstGeom prst="straightConnector1">
                <a:avLst/>
              </a:prstGeom>
              <a:noFill/>
              <a:ln w="28575" cap="flat" cmpd="sng">
                <a:solidFill>
                  <a:srgbClr val="1B131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24" name="Google Shape;445;p18">
                <a:extLst>
                  <a:ext uri="{FF2B5EF4-FFF2-40B4-BE49-F238E27FC236}">
                    <a16:creationId xmlns:a16="http://schemas.microsoft.com/office/drawing/2014/main" id="{419D99AC-9036-3E73-748E-1856DC4D92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10362" y="8470444"/>
                <a:ext cx="460133" cy="4431"/>
              </a:xfrm>
              <a:prstGeom prst="straightConnector1">
                <a:avLst/>
              </a:prstGeom>
              <a:noFill/>
              <a:ln w="28575" cap="flat" cmpd="sng">
                <a:solidFill>
                  <a:srgbClr val="1B131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27" name="Google Shape;445;p18">
                <a:extLst>
                  <a:ext uri="{FF2B5EF4-FFF2-40B4-BE49-F238E27FC236}">
                    <a16:creationId xmlns:a16="http://schemas.microsoft.com/office/drawing/2014/main" id="{AA9B9519-AD73-E34A-7A2C-55EA450B05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25141" y="8481760"/>
                <a:ext cx="490920" cy="1367"/>
              </a:xfrm>
              <a:prstGeom prst="straightConnector1">
                <a:avLst/>
              </a:prstGeom>
              <a:noFill/>
              <a:ln w="28575" cap="flat" cmpd="sng">
                <a:solidFill>
                  <a:srgbClr val="1B131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528" name="Create a visual hierarchy. Help users navigate the page with titles, subtitles, and subsubtitles">
                <a:extLst>
                  <a:ext uri="{FF2B5EF4-FFF2-40B4-BE49-F238E27FC236}">
                    <a16:creationId xmlns:a16="http://schemas.microsoft.com/office/drawing/2014/main" id="{985A5D8F-E50F-BD82-4047-63F2350E44FD}"/>
                  </a:ext>
                </a:extLst>
              </p:cNvPr>
              <p:cNvSpPr txBox="1"/>
              <p:nvPr/>
            </p:nvSpPr>
            <p:spPr>
              <a:xfrm>
                <a:off x="4754545" y="8371927"/>
                <a:ext cx="788917" cy="27640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4570" tIns="54570" rIns="54570" bIns="5457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ts val="300"/>
                  </a:spcBef>
                  <a:buClr>
                    <a:schemeClr val="bg2">
                      <a:lumMod val="10000"/>
                    </a:schemeClr>
                  </a:buClr>
                  <a:defRPr b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  <a:sym typeface="Source Sans Pro Light"/>
                  </a:defRPr>
                </a:pP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Codecov</a:t>
                </a:r>
              </a:p>
            </p:txBody>
          </p:sp>
          <p:sp>
            <p:nvSpPr>
              <p:cNvPr id="535" name="Create a visual hierarchy. Help users navigate the page with titles, subtitles, and subsubtitles">
                <a:extLst>
                  <a:ext uri="{FF2B5EF4-FFF2-40B4-BE49-F238E27FC236}">
                    <a16:creationId xmlns:a16="http://schemas.microsoft.com/office/drawing/2014/main" id="{4D28BA18-2F0F-29F7-4217-9BD3642B0D00}"/>
                  </a:ext>
                </a:extLst>
              </p:cNvPr>
              <p:cNvSpPr txBox="1"/>
              <p:nvPr/>
            </p:nvSpPr>
            <p:spPr>
              <a:xfrm>
                <a:off x="6166694" y="9433894"/>
                <a:ext cx="1480131" cy="26549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4570" tIns="54570" rIns="54570" bIns="5457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ts val="300"/>
                  </a:spcBef>
                  <a:buClr>
                    <a:schemeClr val="bg2">
                      <a:lumMod val="10000"/>
                    </a:schemeClr>
                  </a:buClr>
                  <a:defRPr b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  <a:sym typeface="Source Sans Pro Light"/>
                  </a:defRPr>
                </a:pP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Pull Request Denie</a:t>
                </a:r>
                <a:r>
                  <a:rPr lang="en-US" b="0" dirty="0">
                    <a:solidFill>
                      <a:srgbClr val="00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</a:t>
                </a:r>
                <a:endParaRPr lang="en-US" b="0" i="0" u="none" strike="noStrike" dirty="0">
                  <a:solidFill>
                    <a:srgbClr val="000000"/>
                  </a:solidFill>
                  <a:effectLst/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  <p:cxnSp>
            <p:nvCxnSpPr>
              <p:cNvPr id="544" name="Google Shape;445;p18">
                <a:extLst>
                  <a:ext uri="{FF2B5EF4-FFF2-40B4-BE49-F238E27FC236}">
                    <a16:creationId xmlns:a16="http://schemas.microsoft.com/office/drawing/2014/main" id="{262D759C-26C8-0410-F4F1-8D0587AAAE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29791" y="9278751"/>
                <a:ext cx="428575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1B131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49" name="Google Shape;445;p18">
                <a:extLst>
                  <a:ext uri="{FF2B5EF4-FFF2-40B4-BE49-F238E27FC236}">
                    <a16:creationId xmlns:a16="http://schemas.microsoft.com/office/drawing/2014/main" id="{0AF65664-4D7B-B2E7-3FCA-B761CF02B7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087984" y="9308489"/>
                <a:ext cx="881273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1B131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57" name="Google Shape;445;p18">
                <a:extLst>
                  <a:ext uri="{FF2B5EF4-FFF2-40B4-BE49-F238E27FC236}">
                    <a16:creationId xmlns:a16="http://schemas.microsoft.com/office/drawing/2014/main" id="{C6C93E39-02F2-B3DA-00E9-591375946E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84901" y="8687064"/>
                <a:ext cx="0" cy="303476"/>
              </a:xfrm>
              <a:prstGeom prst="straightConnector1">
                <a:avLst/>
              </a:prstGeom>
              <a:noFill/>
              <a:ln w="28575" cap="flat" cmpd="sng">
                <a:solidFill>
                  <a:srgbClr val="1B131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560" name="Create a visual hierarchy. Help users navigate the page with titles, subtitles, and subsubtitles">
                <a:extLst>
                  <a:ext uri="{FF2B5EF4-FFF2-40B4-BE49-F238E27FC236}">
                    <a16:creationId xmlns:a16="http://schemas.microsoft.com/office/drawing/2014/main" id="{4A373F35-3A41-DBB8-E007-26269F720416}"/>
                  </a:ext>
                </a:extLst>
              </p:cNvPr>
              <p:cNvSpPr txBox="1"/>
              <p:nvPr/>
            </p:nvSpPr>
            <p:spPr>
              <a:xfrm>
                <a:off x="7916469" y="9402787"/>
                <a:ext cx="1638936" cy="26549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4570" tIns="54570" rIns="54570" bIns="5457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ts val="300"/>
                  </a:spcBef>
                  <a:buClr>
                    <a:schemeClr val="bg2">
                      <a:lumMod val="10000"/>
                    </a:schemeClr>
                  </a:buClr>
                  <a:defRPr b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  <a:sym typeface="Source Sans Pro Light"/>
                  </a:defRPr>
                </a:pP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Pull Request Approved</a:t>
                </a:r>
              </a:p>
            </p:txBody>
          </p:sp>
          <p:cxnSp>
            <p:nvCxnSpPr>
              <p:cNvPr id="574" name="Straight Connector 573">
                <a:extLst>
                  <a:ext uri="{FF2B5EF4-FFF2-40B4-BE49-F238E27FC236}">
                    <a16:creationId xmlns:a16="http://schemas.microsoft.com/office/drawing/2014/main" id="{48DA8D06-3DD9-5253-65D6-7AD9C1D53F9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42180" y="8631247"/>
                <a:ext cx="698769" cy="677242"/>
              </a:xfrm>
              <a:prstGeom prst="line">
                <a:avLst/>
              </a:prstGeom>
              <a:ln w="28575" cap="flat" cmpd="sng" algn="ctr">
                <a:solidFill>
                  <a:schemeClr val="bg2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588" name="Create a visual hierarchy. Help users navigate the page with titles, subtitles, and subsubtitles">
                <a:extLst>
                  <a:ext uri="{FF2B5EF4-FFF2-40B4-BE49-F238E27FC236}">
                    <a16:creationId xmlns:a16="http://schemas.microsoft.com/office/drawing/2014/main" id="{FDF817C8-2681-DF96-2F38-D27FA2931C36}"/>
                  </a:ext>
                </a:extLst>
              </p:cNvPr>
              <p:cNvSpPr txBox="1"/>
              <p:nvPr/>
            </p:nvSpPr>
            <p:spPr>
              <a:xfrm>
                <a:off x="5174316" y="9433725"/>
                <a:ext cx="1184050" cy="27640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4570" tIns="54570" rIns="54570" bIns="5457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ts val="300"/>
                  </a:spcBef>
                  <a:buClr>
                    <a:schemeClr val="bg2">
                      <a:lumMod val="10000"/>
                    </a:schemeClr>
                  </a:buClr>
                  <a:defRPr b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  <a:sym typeface="Source Sans Pro Light"/>
                  </a:defRPr>
                </a:pP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New Commit</a:t>
                </a:r>
              </a:p>
            </p:txBody>
          </p:sp>
          <p:cxnSp>
            <p:nvCxnSpPr>
              <p:cNvPr id="589" name="Google Shape;445;p18">
                <a:extLst>
                  <a:ext uri="{FF2B5EF4-FFF2-40B4-BE49-F238E27FC236}">
                    <a16:creationId xmlns:a16="http://schemas.microsoft.com/office/drawing/2014/main" id="{A36478A8-7C20-26B9-D271-88A6106446C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32994" y="8733946"/>
                <a:ext cx="0" cy="25659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1B131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93" name="Google Shape;445;p18">
                <a:extLst>
                  <a:ext uri="{FF2B5EF4-FFF2-40B4-BE49-F238E27FC236}">
                    <a16:creationId xmlns:a16="http://schemas.microsoft.com/office/drawing/2014/main" id="{658A613F-8EDC-A4AE-3B45-5F7264B7C0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3583" y="8663797"/>
                <a:ext cx="435291" cy="404503"/>
              </a:xfrm>
              <a:prstGeom prst="straightConnector1">
                <a:avLst/>
              </a:prstGeom>
              <a:noFill/>
              <a:ln w="28575" cap="flat" cmpd="sng">
                <a:solidFill>
                  <a:srgbClr val="1B131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00" name="Google Shape;445;p18">
                <a:extLst>
                  <a:ext uri="{FF2B5EF4-FFF2-40B4-BE49-F238E27FC236}">
                    <a16:creationId xmlns:a16="http://schemas.microsoft.com/office/drawing/2014/main" id="{F1A0D0E3-9A2C-34BB-CEA1-12818080DA5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036020" y="8623262"/>
                <a:ext cx="475375" cy="453212"/>
              </a:xfrm>
              <a:prstGeom prst="straightConnector1">
                <a:avLst/>
              </a:prstGeom>
              <a:noFill/>
              <a:ln w="28575" cap="flat" cmpd="sng">
                <a:solidFill>
                  <a:srgbClr val="1B131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39" name="Google Shape;237;p15">
                <a:extLst>
                  <a:ext uri="{FF2B5EF4-FFF2-40B4-BE49-F238E27FC236}">
                    <a16:creationId xmlns:a16="http://schemas.microsoft.com/office/drawing/2014/main" id="{5EE4EBB0-D25B-B073-EDEC-EB3CB5CB23EA}"/>
                  </a:ext>
                </a:extLst>
              </p:cNvPr>
              <p:cNvSpPr txBox="1"/>
              <p:nvPr/>
            </p:nvSpPr>
            <p:spPr>
              <a:xfrm>
                <a:off x="5293468" y="9048567"/>
                <a:ext cx="526129" cy="2632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7722" tIns="127722" rIns="127722" bIns="127722" anchor="t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1400" dirty="0">
                  <a:solidFill>
                    <a:schemeClr val="lt1"/>
                  </a:solidFill>
                </a:endParaRPr>
              </a:p>
            </p:txBody>
          </p:sp>
          <p:pic>
            <p:nvPicPr>
              <p:cNvPr id="3" name="Google Shape;227;p15">
                <a:extLst>
                  <a:ext uri="{FF2B5EF4-FFF2-40B4-BE49-F238E27FC236}">
                    <a16:creationId xmlns:a16="http://schemas.microsoft.com/office/drawing/2014/main" id="{FFECE017-16E7-4B41-330A-DA1516A72DC1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6498830" y="9074476"/>
                <a:ext cx="398269" cy="36260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" name="Google Shape;227;p15">
                <a:extLst>
                  <a:ext uri="{FF2B5EF4-FFF2-40B4-BE49-F238E27FC236}">
                    <a16:creationId xmlns:a16="http://schemas.microsoft.com/office/drawing/2014/main" id="{82F87B28-0618-95D3-54C4-E54AE9755353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8601660" y="9060777"/>
                <a:ext cx="398269" cy="36260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0FA7002-38D3-55DD-7796-6CB5C8207F3A}"/>
                  </a:ext>
                </a:extLst>
              </p:cNvPr>
              <p:cNvSpPr txBox="1"/>
              <p:nvPr/>
            </p:nvSpPr>
            <p:spPr>
              <a:xfrm>
                <a:off x="8457812" y="9199424"/>
                <a:ext cx="189461" cy="30787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r>
                  <a:rPr lang="en-US" dirty="0"/>
                  <a:t>✅</a:t>
                </a:r>
                <a:endParaRPr kumimoji="0" lang="en-US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grpSp>
            <p:nvGrpSpPr>
              <p:cNvPr id="502" name="Group 501">
                <a:extLst>
                  <a:ext uri="{FF2B5EF4-FFF2-40B4-BE49-F238E27FC236}">
                    <a16:creationId xmlns:a16="http://schemas.microsoft.com/office/drawing/2014/main" id="{7FB9F875-8BA9-8C0E-EC11-9637D682CB7A}"/>
                  </a:ext>
                </a:extLst>
              </p:cNvPr>
              <p:cNvGrpSpPr/>
              <p:nvPr/>
            </p:nvGrpSpPr>
            <p:grpSpPr>
              <a:xfrm>
                <a:off x="5491861" y="9109816"/>
                <a:ext cx="296516" cy="294538"/>
                <a:chOff x="5367466" y="9150431"/>
                <a:chExt cx="296516" cy="294538"/>
              </a:xfrm>
            </p:grpSpPr>
            <p:sp>
              <p:nvSpPr>
                <p:cNvPr id="53" name="Google Shape;236;p15">
                  <a:extLst>
                    <a:ext uri="{FF2B5EF4-FFF2-40B4-BE49-F238E27FC236}">
                      <a16:creationId xmlns:a16="http://schemas.microsoft.com/office/drawing/2014/main" id="{4F923E35-FA97-07E6-7B3D-9B86F6F13C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367466" y="9150431"/>
                  <a:ext cx="296516" cy="294538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2">
                    <a:lumMod val="10000"/>
                  </a:schemeClr>
                </a:solidFill>
                <a:ln w="8700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7722" tIns="127722" rIns="127722" bIns="127722" anchor="ctr" anchorCtr="0">
                  <a:noAutofit/>
                </a:bodyPr>
                <a:lstStyle/>
                <a:p>
                  <a:pPr>
                    <a:spcBef>
                      <a:spcPts val="0"/>
                    </a:spcBef>
                  </a:pPr>
                  <a:endParaRPr sz="1117">
                    <a:solidFill>
                      <a:schemeClr val="lt1"/>
                    </a:solidFill>
                  </a:endParaRP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D907C4CF-6C11-97FF-E8CC-6B8508635A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38395" y="9302560"/>
                  <a:ext cx="154656" cy="0"/>
                </a:xfrm>
                <a:prstGeom prst="line">
                  <a:avLst/>
                </a:prstGeom>
                <a:ln w="12700" cap="rnd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BD926776-88FD-5556-0D72-04EE35AD094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482180" y="9269602"/>
                  <a:ext cx="67087" cy="65915"/>
                </a:xfrm>
                <a:prstGeom prst="ellipse">
                  <a:avLst/>
                </a:prstGeom>
                <a:solidFill>
                  <a:schemeClr val="bg2">
                    <a:lumMod val="10000"/>
                  </a:schemeClr>
                </a:solidFill>
                <a:ln w="12700" cap="flat">
                  <a:solidFill>
                    <a:schemeClr val="bg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4570" tIns="54570" rIns="54570" bIns="54570" numCol="1" spcCol="38100" rtlCol="0" anchor="ctr">
                  <a:spAutoFit/>
                </a:bodyPr>
                <a:lstStyle/>
                <a:p>
                  <a:pPr marL="0" marR="0" indent="0" algn="l" defTabSz="584200" rtl="0" fontAlgn="auto" latinLnBrk="0" hangingPunct="0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2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Source Sans Pro"/>
                    <a:ea typeface="Source Sans Pro"/>
                    <a:cs typeface="Source Sans Pro"/>
                    <a:sym typeface="Source Sans Pro"/>
                  </a:endParaRPr>
                </a:p>
              </p:txBody>
            </p:sp>
          </p:grpSp>
          <p:grpSp>
            <p:nvGrpSpPr>
              <p:cNvPr id="495" name="Group 494">
                <a:extLst>
                  <a:ext uri="{FF2B5EF4-FFF2-40B4-BE49-F238E27FC236}">
                    <a16:creationId xmlns:a16="http://schemas.microsoft.com/office/drawing/2014/main" id="{9FDDA48B-E925-5929-0779-E168EAD38540}"/>
                  </a:ext>
                </a:extLst>
              </p:cNvPr>
              <p:cNvGrpSpPr/>
              <p:nvPr/>
            </p:nvGrpSpPr>
            <p:grpSpPr>
              <a:xfrm>
                <a:off x="5653606" y="7661921"/>
                <a:ext cx="296516" cy="294538"/>
                <a:chOff x="5470343" y="7664480"/>
                <a:chExt cx="296516" cy="294538"/>
              </a:xfrm>
            </p:grpSpPr>
            <p:sp>
              <p:nvSpPr>
                <p:cNvPr id="57" name="Google Shape;236;p15">
                  <a:extLst>
                    <a:ext uri="{FF2B5EF4-FFF2-40B4-BE49-F238E27FC236}">
                      <a16:creationId xmlns:a16="http://schemas.microsoft.com/office/drawing/2014/main" id="{3A9DB6F4-C350-D2D7-A49E-302B118ABCD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470343" y="7664480"/>
                  <a:ext cx="296516" cy="294538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2">
                    <a:lumMod val="10000"/>
                  </a:schemeClr>
                </a:solidFill>
                <a:ln w="8700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7722" tIns="127722" rIns="127722" bIns="127722" anchor="ctr" anchorCtr="0">
                  <a:noAutofit/>
                </a:bodyPr>
                <a:lstStyle/>
                <a:p>
                  <a:pPr>
                    <a:spcBef>
                      <a:spcPts val="0"/>
                    </a:spcBef>
                  </a:pPr>
                  <a:endParaRPr sz="1117">
                    <a:solidFill>
                      <a:schemeClr val="lt1"/>
                    </a:solidFill>
                  </a:endParaRPr>
                </a:p>
              </p:txBody>
            </p: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45F8841F-A2A7-3C64-B419-A8EA047595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541272" y="7816609"/>
                  <a:ext cx="154656" cy="0"/>
                </a:xfrm>
                <a:prstGeom prst="line">
                  <a:avLst/>
                </a:prstGeom>
                <a:ln w="12700" cap="rnd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90CFA932-397C-9BA2-2A9B-1EFF7B58A60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585057" y="7783651"/>
                  <a:ext cx="67087" cy="65915"/>
                </a:xfrm>
                <a:prstGeom prst="ellipse">
                  <a:avLst/>
                </a:prstGeom>
                <a:solidFill>
                  <a:schemeClr val="bg2">
                    <a:lumMod val="10000"/>
                  </a:schemeClr>
                </a:solidFill>
                <a:ln w="12700" cap="flat">
                  <a:solidFill>
                    <a:schemeClr val="bg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4570" tIns="54570" rIns="54570" bIns="54570" numCol="1" spcCol="38100" rtlCol="0" anchor="ctr">
                  <a:spAutoFit/>
                </a:bodyPr>
                <a:lstStyle/>
                <a:p>
                  <a:pPr marL="0" marR="0" indent="0" algn="l" defTabSz="584200" rtl="0" fontAlgn="auto" latinLnBrk="0" hangingPunct="0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2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Source Sans Pro"/>
                    <a:ea typeface="Source Sans Pro"/>
                    <a:cs typeface="Source Sans Pro"/>
                    <a:sym typeface="Source Sans Pro"/>
                  </a:endParaRPr>
                </a:p>
              </p:txBody>
            </p:sp>
          </p:grpSp>
          <p:pic>
            <p:nvPicPr>
              <p:cNvPr id="509" name="Google Shape;227;p15">
                <a:extLst>
                  <a:ext uri="{FF2B5EF4-FFF2-40B4-BE49-F238E27FC236}">
                    <a16:creationId xmlns:a16="http://schemas.microsoft.com/office/drawing/2014/main" id="{231FD46D-F062-E886-70E6-F02CBB8D7FD7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5244821" y="7624472"/>
                <a:ext cx="398269" cy="36260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7429E6C-742C-0D8D-2B80-5C65A6E30D72}"/>
                </a:ext>
              </a:extLst>
            </p:cNvPr>
            <p:cNvGrpSpPr/>
            <p:nvPr/>
          </p:nvGrpSpPr>
          <p:grpSpPr>
            <a:xfrm>
              <a:off x="6194824" y="6474863"/>
              <a:ext cx="192024" cy="192024"/>
              <a:chOff x="6194824" y="6474863"/>
              <a:chExt cx="192024" cy="192024"/>
            </a:xfrm>
          </p:grpSpPr>
          <p:sp>
            <p:nvSpPr>
              <p:cNvPr id="525" name="Oval 524">
                <a:extLst>
                  <a:ext uri="{FF2B5EF4-FFF2-40B4-BE49-F238E27FC236}">
                    <a16:creationId xmlns:a16="http://schemas.microsoft.com/office/drawing/2014/main" id="{733B8019-CA21-0E4B-3810-D14F3B1264B8}"/>
                  </a:ext>
                </a:extLst>
              </p:cNvPr>
              <p:cNvSpPr/>
              <p:nvPr/>
            </p:nvSpPr>
            <p:spPr>
              <a:xfrm>
                <a:off x="6194824" y="6474863"/>
                <a:ext cx="192024" cy="192024"/>
              </a:xfrm>
              <a:prstGeom prst="ellipse">
                <a:avLst/>
              </a:pr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526" name="Cross 525">
                <a:extLst>
                  <a:ext uri="{FF2B5EF4-FFF2-40B4-BE49-F238E27FC236}">
                    <a16:creationId xmlns:a16="http://schemas.microsoft.com/office/drawing/2014/main" id="{4388F43C-5229-6588-E71A-5C3978EAEA1A}"/>
                  </a:ext>
                </a:extLst>
              </p:cNvPr>
              <p:cNvSpPr/>
              <p:nvPr/>
            </p:nvSpPr>
            <p:spPr>
              <a:xfrm rot="2700000">
                <a:off x="6220717" y="6501996"/>
                <a:ext cx="141979" cy="137931"/>
              </a:xfrm>
              <a:prstGeom prst="plus">
                <a:avLst>
                  <a:gd name="adj" fmla="val 41232"/>
                </a:avLst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42781A5-B34C-6BCF-A0CD-01CDCDDD0BE7}"/>
              </a:ext>
            </a:extLst>
          </p:cNvPr>
          <p:cNvGrpSpPr/>
          <p:nvPr/>
        </p:nvGrpSpPr>
        <p:grpSpPr>
          <a:xfrm>
            <a:off x="10260219" y="8582099"/>
            <a:ext cx="192024" cy="192024"/>
            <a:chOff x="10260219" y="8582099"/>
            <a:chExt cx="192024" cy="192024"/>
          </a:xfrm>
        </p:grpSpPr>
        <p:sp>
          <p:nvSpPr>
            <p:cNvPr id="531" name="Oval 530">
              <a:extLst>
                <a:ext uri="{FF2B5EF4-FFF2-40B4-BE49-F238E27FC236}">
                  <a16:creationId xmlns:a16="http://schemas.microsoft.com/office/drawing/2014/main" id="{B5AB01FD-C72F-E8BA-FE31-060CEC83C1F3}"/>
                </a:ext>
              </a:extLst>
            </p:cNvPr>
            <p:cNvSpPr/>
            <p:nvPr/>
          </p:nvSpPr>
          <p:spPr>
            <a:xfrm>
              <a:off x="10260219" y="8582099"/>
              <a:ext cx="192024" cy="192024"/>
            </a:xfrm>
            <a:prstGeom prst="ellipse">
              <a:avLst/>
            </a:prstGeom>
            <a:solidFill>
              <a:schemeClr val="accent5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32" name="Cross 531">
              <a:extLst>
                <a:ext uri="{FF2B5EF4-FFF2-40B4-BE49-F238E27FC236}">
                  <a16:creationId xmlns:a16="http://schemas.microsoft.com/office/drawing/2014/main" id="{977785AC-65E5-37D2-171C-340B6A242D49}"/>
                </a:ext>
              </a:extLst>
            </p:cNvPr>
            <p:cNvSpPr/>
            <p:nvPr/>
          </p:nvSpPr>
          <p:spPr>
            <a:xfrm rot="2700000">
              <a:off x="10286112" y="8609232"/>
              <a:ext cx="141979" cy="137931"/>
            </a:xfrm>
            <a:prstGeom prst="plus">
              <a:avLst>
                <a:gd name="adj" fmla="val 41232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533" name="Use headers, colors, and/or backgrounds to separate or group together sections.">
            <a:extLst>
              <a:ext uri="{FF2B5EF4-FFF2-40B4-BE49-F238E27FC236}">
                <a16:creationId xmlns:a16="http://schemas.microsoft.com/office/drawing/2014/main" id="{0E5DA97B-BC77-F366-6B5F-91DB37E6B002}"/>
              </a:ext>
            </a:extLst>
          </p:cNvPr>
          <p:cNvSpPr txBox="1"/>
          <p:nvPr/>
        </p:nvSpPr>
        <p:spPr>
          <a:xfrm>
            <a:off x="4728275" y="7917596"/>
            <a:ext cx="4251862" cy="442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GitHub Actions will deny a commit if any tests from the tests folder fail. </a:t>
            </a:r>
          </a:p>
        </p:txBody>
      </p:sp>
      <p:sp>
        <p:nvSpPr>
          <p:cNvPr id="534" name="Use headers, colors, and/or backgrounds to separate or group together sections.">
            <a:extLst>
              <a:ext uri="{FF2B5EF4-FFF2-40B4-BE49-F238E27FC236}">
                <a16:creationId xmlns:a16="http://schemas.microsoft.com/office/drawing/2014/main" id="{92B422C8-9661-44CE-0CD4-68F0BBC6CFB4}"/>
              </a:ext>
            </a:extLst>
          </p:cNvPr>
          <p:cNvSpPr txBox="1"/>
          <p:nvPr/>
        </p:nvSpPr>
        <p:spPr>
          <a:xfrm>
            <a:off x="4715896" y="8553932"/>
            <a:ext cx="4251862" cy="608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The Quality Reviewer is a developer role that runs the committed code on their own machine, ensuring that users can replicate the capability or analysis. </a:t>
            </a:r>
          </a:p>
        </p:txBody>
      </p:sp>
      <p:sp>
        <p:nvSpPr>
          <p:cNvPr id="536" name="Use headers, colors, and/or backgrounds to separate or group together sections.">
            <a:extLst>
              <a:ext uri="{FF2B5EF4-FFF2-40B4-BE49-F238E27FC236}">
                <a16:creationId xmlns:a16="http://schemas.microsoft.com/office/drawing/2014/main" id="{CCB6D9EC-FAD0-689F-B59D-FD249FD9A543}"/>
              </a:ext>
            </a:extLst>
          </p:cNvPr>
          <p:cNvSpPr txBox="1"/>
          <p:nvPr/>
        </p:nvSpPr>
        <p:spPr>
          <a:xfrm>
            <a:off x="4722403" y="9422582"/>
            <a:ext cx="4251862" cy="608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The Code Architect is a user role that assesses if the committed code matches the conventions of other similar files in </a:t>
            </a:r>
            <a:r>
              <a:rPr lang="en-US" b="0" dirty="0" err="1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Kaiaulu</a:t>
            </a:r>
            <a:r>
              <a:rPr lang="en-US" b="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, such as function signatures, code location, and nomenclature.</a:t>
            </a: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BA156CD6-16FC-804E-72D6-B6EBD8E21B85}"/>
              </a:ext>
            </a:extLst>
          </p:cNvPr>
          <p:cNvSpPr/>
          <p:nvPr/>
        </p:nvSpPr>
        <p:spPr>
          <a:xfrm flipV="1">
            <a:off x="139781" y="3687084"/>
            <a:ext cx="3871128" cy="8185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2" name="Line">
            <a:extLst>
              <a:ext uri="{FF2B5EF4-FFF2-40B4-BE49-F238E27FC236}">
                <a16:creationId xmlns:a16="http://schemas.microsoft.com/office/drawing/2014/main" id="{006C6EC1-7BD1-8E21-29A3-240CB47B7318}"/>
              </a:ext>
            </a:extLst>
          </p:cNvPr>
          <p:cNvSpPr/>
          <p:nvPr/>
        </p:nvSpPr>
        <p:spPr>
          <a:xfrm flipV="1">
            <a:off x="147267" y="1826486"/>
            <a:ext cx="3871128" cy="8185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C5E727EB-401B-8F0E-3C64-26A500609D27}"/>
              </a:ext>
            </a:extLst>
          </p:cNvPr>
          <p:cNvSpPr/>
          <p:nvPr/>
        </p:nvSpPr>
        <p:spPr>
          <a:xfrm flipV="1">
            <a:off x="204797" y="6032688"/>
            <a:ext cx="3871128" cy="8185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5152F7F-4007-7348-237F-B4D8FC07746E}"/>
              </a:ext>
            </a:extLst>
          </p:cNvPr>
          <p:cNvSpPr/>
          <p:nvPr/>
        </p:nvSpPr>
        <p:spPr>
          <a:xfrm flipV="1">
            <a:off x="4540206" y="4193708"/>
            <a:ext cx="3871128" cy="8185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23" name="Line">
            <a:extLst>
              <a:ext uri="{FF2B5EF4-FFF2-40B4-BE49-F238E27FC236}">
                <a16:creationId xmlns:a16="http://schemas.microsoft.com/office/drawing/2014/main" id="{45A7BC58-F341-82C4-6EBC-459BF77F886D}"/>
              </a:ext>
            </a:extLst>
          </p:cNvPr>
          <p:cNvSpPr/>
          <p:nvPr/>
        </p:nvSpPr>
        <p:spPr>
          <a:xfrm flipV="1">
            <a:off x="9412620" y="1893185"/>
            <a:ext cx="3871128" cy="8185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739291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4C4C4C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ln w="19050" cap="flat" cmpd="sng" algn="ctr">
          <a:solidFill>
            <a:schemeClr val="dk1"/>
          </a:solidFill>
          <a:prstDash val="dash"/>
          <a:round/>
          <a:headEnd type="none" w="med" len="med"/>
          <a:tailEnd type="none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15057</TotalTime>
  <Words>593</Words>
  <Application>Microsoft Office PowerPoint</Application>
  <PresentationFormat>Custom</PresentationFormat>
  <Paragraphs>103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Avenir</vt:lpstr>
      <vt:lpstr>Helvetica Light</vt:lpstr>
      <vt:lpstr>Source Sans Pro</vt:lpstr>
      <vt:lpstr>Source Sans Pro Light</vt:lpstr>
      <vt:lpstr>Source Sans Pro Semibold</vt:lpstr>
      <vt:lpstr>White</vt:lpstr>
      <vt:lpstr>Unit Tests : : CHEAT SHEET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 Column Layout : : CHEAT SHEET</dc:title>
  <dc:creator>Nico</dc:creator>
  <cp:lastModifiedBy>Colby F</cp:lastModifiedBy>
  <cp:revision>233</cp:revision>
  <dcterms:modified xsi:type="dcterms:W3CDTF">2026-05-09T09:16:47Z</dcterms:modified>
</cp:coreProperties>
</file>