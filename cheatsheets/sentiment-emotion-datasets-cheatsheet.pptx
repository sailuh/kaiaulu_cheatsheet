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8" r:id="rId2"/>
  </p:sldIdLst>
  <p:sldSz cx="13970000" cy="10795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p:defaultTextStyle>
  <p:extLst>
    <p:ext uri="{EFAFB233-063F-42B5-8137-9DF3F51BA10A}">
      <p15:sldGuideLst xmlns:p15="http://schemas.microsoft.com/office/powerpoint/2012/main">
        <p15:guide id="1" orient="horz" pos="6496" userDrawn="1">
          <p15:clr>
            <a:srgbClr val="A4A3A4"/>
          </p15:clr>
        </p15:guide>
        <p15:guide id="2" pos="71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5F85F20-1AB1-3DFA-4EEC-088869AD13F5}" name="Samantha Limon" initials="SL" userId="S::splimon@hawaii.edu::1cb68a3a-15d5-4a67-839f-c6649e8c0e09" providerId="AD"/>
  <p188:author id="{00381DA6-9065-D171-5CA0-FB9CF094C2E7}" name="Carlos P." initials="CP" userId="435ab8475c8754a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DCA7"/>
    <a:srgbClr val="676F76"/>
    <a:srgbClr val="618DB5"/>
    <a:srgbClr val="E0E0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
          <a:latin typeface="Source Sans Pro"/>
          <a:ea typeface="Source Sans Pro"/>
          <a:cs typeface="Source Sans Pro"/>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
          <a:latin typeface="Source Sans Pro"/>
          <a:ea typeface="Source Sans Pro"/>
          <a:cs typeface="Source Sans Pro"/>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
          <a:latin typeface="Source Sans Pro"/>
          <a:ea typeface="Source Sans Pro"/>
          <a:cs typeface="Source Sans Pro"/>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
          <a:latin typeface="Source Sans Pro"/>
          <a:ea typeface="Source Sans Pro"/>
          <a:cs typeface="Source Sans Pro"/>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729" autoAdjust="0"/>
    <p:restoredTop sz="94607"/>
  </p:normalViewPr>
  <p:slideViewPr>
    <p:cSldViewPr snapToGrid="0" snapToObjects="1">
      <p:cViewPr varScale="1">
        <p:scale>
          <a:sx n="67" d="100"/>
          <a:sy n="67" d="100"/>
        </p:scale>
        <p:origin x="992" y="392"/>
      </p:cViewPr>
      <p:guideLst>
        <p:guide orient="horz" pos="6496"/>
        <p:guide pos="71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5" name="Shape 125"/>
          <p:cNvSpPr>
            <a:spLocks noGrp="1" noRot="1" noChangeAspect="1"/>
          </p:cNvSpPr>
          <p:nvPr>
            <p:ph type="sldImg"/>
          </p:nvPr>
        </p:nvSpPr>
        <p:spPr>
          <a:xfrm>
            <a:off x="1143000" y="685800"/>
            <a:ext cx="4572000" cy="3429000"/>
          </a:xfrm>
          <a:prstGeom prst="rect">
            <a:avLst/>
          </a:prstGeom>
        </p:spPr>
        <p:txBody>
          <a:bodyPr/>
          <a:lstStyle/>
          <a:p>
            <a:endParaRPr/>
          </a:p>
        </p:txBody>
      </p:sp>
      <p:sp>
        <p:nvSpPr>
          <p:cNvPr id="126" name="Shape 12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25000"/>
      </a:lnSpc>
      <a:defRPr sz="2600">
        <a:latin typeface="Avenir"/>
        <a:ea typeface="Avenir"/>
        <a:cs typeface="Avenir"/>
        <a:sym typeface="Avenir Roman"/>
      </a:defRPr>
    </a:lvl1pPr>
    <a:lvl2pPr indent="228600" defTabSz="457200" latinLnBrk="0">
      <a:lnSpc>
        <a:spcPct val="125000"/>
      </a:lnSpc>
      <a:defRPr sz="2600">
        <a:latin typeface="Avenir"/>
        <a:ea typeface="Avenir"/>
        <a:cs typeface="Avenir"/>
        <a:sym typeface="Avenir Roman"/>
      </a:defRPr>
    </a:lvl2pPr>
    <a:lvl3pPr indent="457200" defTabSz="457200" latinLnBrk="0">
      <a:lnSpc>
        <a:spcPct val="125000"/>
      </a:lnSpc>
      <a:defRPr sz="2600">
        <a:latin typeface="Avenir"/>
        <a:ea typeface="Avenir"/>
        <a:cs typeface="Avenir"/>
        <a:sym typeface="Avenir Roman"/>
      </a:defRPr>
    </a:lvl3pPr>
    <a:lvl4pPr indent="685800" defTabSz="457200" latinLnBrk="0">
      <a:lnSpc>
        <a:spcPct val="125000"/>
      </a:lnSpc>
      <a:defRPr sz="2600">
        <a:latin typeface="Avenir"/>
        <a:ea typeface="Avenir"/>
        <a:cs typeface="Avenir"/>
        <a:sym typeface="Avenir Roman"/>
      </a:defRPr>
    </a:lvl4pPr>
    <a:lvl5pPr indent="914400" defTabSz="457200" latinLnBrk="0">
      <a:lnSpc>
        <a:spcPct val="125000"/>
      </a:lnSpc>
      <a:defRPr sz="2600">
        <a:latin typeface="Avenir"/>
        <a:ea typeface="Avenir"/>
        <a:cs typeface="Avenir"/>
        <a:sym typeface="Avenir Roman"/>
      </a:defRPr>
    </a:lvl5pPr>
    <a:lvl6pPr indent="1143000" defTabSz="457200" latinLnBrk="0">
      <a:lnSpc>
        <a:spcPct val="125000"/>
      </a:lnSpc>
      <a:defRPr sz="2600">
        <a:latin typeface="Avenir"/>
        <a:ea typeface="Avenir"/>
        <a:cs typeface="Avenir"/>
        <a:sym typeface="Avenir Roman"/>
      </a:defRPr>
    </a:lvl6pPr>
    <a:lvl7pPr indent="1371600" defTabSz="457200" latinLnBrk="0">
      <a:lnSpc>
        <a:spcPct val="125000"/>
      </a:lnSpc>
      <a:defRPr sz="2600">
        <a:latin typeface="Avenir"/>
        <a:ea typeface="Avenir"/>
        <a:cs typeface="Avenir"/>
        <a:sym typeface="Avenir Roman"/>
      </a:defRPr>
    </a:lvl7pPr>
    <a:lvl8pPr indent="1600200" defTabSz="457200" latinLnBrk="0">
      <a:lnSpc>
        <a:spcPct val="125000"/>
      </a:lnSpc>
      <a:defRPr sz="2600">
        <a:latin typeface="Avenir"/>
        <a:ea typeface="Avenir"/>
        <a:cs typeface="Avenir"/>
        <a:sym typeface="Avenir Roman"/>
      </a:defRPr>
    </a:lvl8pPr>
    <a:lvl9pPr indent="1828800" defTabSz="457200" latinLnBrk="0">
      <a:lnSpc>
        <a:spcPct val="125000"/>
      </a:lnSpc>
      <a:defRPr sz="2600">
        <a:latin typeface="Avenir"/>
        <a:ea typeface="Avenir"/>
        <a:cs typeface="Avenir"/>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9675" y="685800"/>
            <a:ext cx="443865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66545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364257" y="1918642"/>
            <a:ext cx="11241486" cy="3547071"/>
          </a:xfrm>
          <a:prstGeom prst="rect">
            <a:avLst/>
          </a:prstGeom>
        </p:spPr>
        <p:txBody>
          <a:bodyPr anchor="b"/>
          <a:lstStyle/>
          <a:p>
            <a:r>
              <a:t>Title Text</a:t>
            </a:r>
          </a:p>
        </p:txBody>
      </p:sp>
      <p:sp>
        <p:nvSpPr>
          <p:cNvPr id="12" name="Body Level One…"/>
          <p:cNvSpPr txBox="1">
            <a:spLocks noGrp="1"/>
          </p:cNvSpPr>
          <p:nvPr>
            <p:ph type="body" sz="quarter" idx="1"/>
          </p:nvPr>
        </p:nvSpPr>
        <p:spPr>
          <a:xfrm>
            <a:off x="1364257" y="5561210"/>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1725786" y="840878"/>
            <a:ext cx="10504786" cy="6357443"/>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1364257" y="7375673"/>
            <a:ext cx="11241486" cy="1527970"/>
          </a:xfrm>
          <a:prstGeom prst="rect">
            <a:avLst/>
          </a:prstGeom>
        </p:spPr>
        <p:txBody>
          <a:bodyPr anchor="b"/>
          <a:lstStyle/>
          <a:p>
            <a:r>
              <a:t>Title Text</a:t>
            </a:r>
          </a:p>
        </p:txBody>
      </p:sp>
      <p:sp>
        <p:nvSpPr>
          <p:cNvPr id="22" name="Body Level One…"/>
          <p:cNvSpPr txBox="1">
            <a:spLocks noGrp="1"/>
          </p:cNvSpPr>
          <p:nvPr>
            <p:ph type="body" sz="quarter" idx="1"/>
          </p:nvPr>
        </p:nvSpPr>
        <p:spPr>
          <a:xfrm>
            <a:off x="1364257" y="8958212"/>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xfrm>
            <a:off x="6790156" y="10090546"/>
            <a:ext cx="376045" cy="388542"/>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364257" y="3623964"/>
            <a:ext cx="11241486" cy="3547072"/>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sz="half" idx="13"/>
          </p:nvPr>
        </p:nvSpPr>
        <p:spPr>
          <a:xfrm>
            <a:off x="7216923" y="840878"/>
            <a:ext cx="5729884" cy="8840392"/>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1023193" y="840878"/>
            <a:ext cx="5729884" cy="4283771"/>
          </a:xfrm>
          <a:prstGeom prst="rect">
            <a:avLst/>
          </a:prstGeom>
        </p:spPr>
        <p:txBody>
          <a:bodyPr anchor="b"/>
          <a:lstStyle>
            <a:lvl1pPr>
              <a:defRPr sz="3300">
                <a:latin typeface="Source Sans Pro Semibold"/>
                <a:ea typeface="Source Sans Pro Semibold"/>
                <a:cs typeface="Source Sans Pro Semibold"/>
                <a:sym typeface="Source Sans Pro Semibold"/>
              </a:defRPr>
            </a:lvl1pPr>
          </a:lstStyle>
          <a:p>
            <a:r>
              <a:t>Title Text</a:t>
            </a:r>
          </a:p>
        </p:txBody>
      </p:sp>
      <p:sp>
        <p:nvSpPr>
          <p:cNvPr id="40" name="Body Level One…"/>
          <p:cNvSpPr txBox="1">
            <a:spLocks noGrp="1"/>
          </p:cNvSpPr>
          <p:nvPr>
            <p:ph type="body" sz="quarter" idx="1"/>
          </p:nvPr>
        </p:nvSpPr>
        <p:spPr>
          <a:xfrm>
            <a:off x="1023193" y="5274716"/>
            <a:ext cx="5729884" cy="4406554"/>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7216923" y="2955478"/>
            <a:ext cx="5729884" cy="6753077"/>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1023193" y="2955478"/>
            <a:ext cx="5729884" cy="6753077"/>
          </a:xfrm>
          <a:prstGeom prst="rect">
            <a:avLst/>
          </a:prstGeom>
        </p:spPr>
        <p:txBody>
          <a:bodyPr/>
          <a:lstStyle>
            <a:lvl1pPr marL="146957" indent="-146957">
              <a:defRPr b="1"/>
            </a:lvl1pPr>
            <a:lvl2pPr marL="489857" indent="-146957">
              <a:defRPr b="1"/>
            </a:lvl2pPr>
            <a:lvl3pPr marL="832757" indent="-146957">
              <a:defRPr b="1"/>
            </a:lvl3pPr>
            <a:lvl4pPr marL="1175657" indent="-146957">
              <a:defRPr b="1"/>
            </a:lvl4pPr>
            <a:lvl5pPr marL="1518557" indent="-146957">
              <a:defRPr b="1"/>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1023193" y="1523007"/>
            <a:ext cx="11923614" cy="7748986"/>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half" idx="13"/>
          </p:nvPr>
        </p:nvSpPr>
        <p:spPr>
          <a:xfrm>
            <a:off x="1023193" y="1113730"/>
            <a:ext cx="5729884" cy="8567540"/>
          </a:xfrm>
          <a:prstGeom prst="rect">
            <a:avLst/>
          </a:prstGeom>
        </p:spPr>
        <p:txBody>
          <a:bodyPr lIns="91439" tIns="45719" rIns="91439" bIns="45719" anchor="t">
            <a:noAutofit/>
          </a:bodyPr>
          <a:lstStyle/>
          <a:p>
            <a:endParaRPr/>
          </a:p>
        </p:txBody>
      </p:sp>
      <p:sp>
        <p:nvSpPr>
          <p:cNvPr id="84" name="Image"/>
          <p:cNvSpPr>
            <a:spLocks noGrp="1"/>
          </p:cNvSpPr>
          <p:nvPr>
            <p:ph type="pic" sz="quarter" idx="14"/>
          </p:nvPr>
        </p:nvSpPr>
        <p:spPr>
          <a:xfrm>
            <a:off x="7216923" y="5629423"/>
            <a:ext cx="5729884" cy="4051847"/>
          </a:xfrm>
          <a:prstGeom prst="rect">
            <a:avLst/>
          </a:prstGeom>
        </p:spPr>
        <p:txBody>
          <a:bodyPr lIns="91439" tIns="45719" rIns="91439" bIns="45719" anchor="t">
            <a:noAutofit/>
          </a:bodyPr>
          <a:lstStyle/>
          <a:p>
            <a:endParaRPr/>
          </a:p>
        </p:txBody>
      </p:sp>
      <p:sp>
        <p:nvSpPr>
          <p:cNvPr id="85" name="Image"/>
          <p:cNvSpPr>
            <a:spLocks noGrp="1"/>
          </p:cNvSpPr>
          <p:nvPr>
            <p:ph type="pic" sz="quarter" idx="15"/>
          </p:nvPr>
        </p:nvSpPr>
        <p:spPr>
          <a:xfrm>
            <a:off x="7223603" y="1113730"/>
            <a:ext cx="5729884" cy="4051847"/>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a:spLocks noGrp="1"/>
          </p:cNvSpPr>
          <p:nvPr>
            <p:ph type="body" sz="quarter" idx="13"/>
          </p:nvPr>
        </p:nvSpPr>
        <p:spPr>
          <a:xfrm>
            <a:off x="1364257" y="6993681"/>
            <a:ext cx="11241486" cy="508001"/>
          </a:xfrm>
          <a:prstGeom prst="rect">
            <a:avLst/>
          </a:prstGeom>
        </p:spPr>
        <p:txBody>
          <a:bodyPr anchor="t">
            <a:spAutoFit/>
          </a:bodyPr>
          <a:lstStyle>
            <a:lvl1pPr marL="0" indent="0" algn="r">
              <a:lnSpc>
                <a:spcPct val="90000"/>
              </a:lnSpc>
              <a:buSzTx/>
              <a:buNone/>
              <a:defRPr sz="900"/>
            </a:lvl1pPr>
          </a:lstStyle>
          <a:p>
            <a:r>
              <a:t>–Johnny Appleseed</a:t>
            </a:r>
          </a:p>
        </p:txBody>
      </p:sp>
      <p:sp>
        <p:nvSpPr>
          <p:cNvPr id="94" name="“Type a quote here.”"/>
          <p:cNvSpPr>
            <a:spLocks noGrp="1"/>
          </p:cNvSpPr>
          <p:nvPr>
            <p:ph type="body" sz="quarter" idx="14"/>
          </p:nvPr>
        </p:nvSpPr>
        <p:spPr>
          <a:xfrm>
            <a:off x="1364257" y="4742656"/>
            <a:ext cx="11241486" cy="736700"/>
          </a:xfrm>
          <a:prstGeom prst="rect">
            <a:avLst/>
          </a:prstGeom>
        </p:spPr>
        <p:txBody>
          <a:bodyPr>
            <a:spAutoFit/>
          </a:bodyPr>
          <a:lstStyle>
            <a:lvl1pPr marL="0" indent="0">
              <a:buSzTx/>
              <a:buNone/>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0" y="158750"/>
            <a:ext cx="13964218" cy="10477500"/>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023193" y="636240"/>
            <a:ext cx="11923614" cy="23192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4570" tIns="54570" rIns="54570" bIns="54570" anchor="ctr">
            <a:normAutofit/>
          </a:bodyPr>
          <a:lstStyle/>
          <a:p>
            <a:r>
              <a:t>Title Text</a:t>
            </a:r>
          </a:p>
        </p:txBody>
      </p:sp>
      <p:sp>
        <p:nvSpPr>
          <p:cNvPr id="3" name="Body Level One…"/>
          <p:cNvSpPr txBox="1">
            <a:spLocks noGrp="1"/>
          </p:cNvSpPr>
          <p:nvPr>
            <p:ph type="body" idx="1"/>
          </p:nvPr>
        </p:nvSpPr>
        <p:spPr>
          <a:xfrm>
            <a:off x="1023193" y="2955478"/>
            <a:ext cx="11923614" cy="67530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4570" tIns="54570" rIns="54570" bIns="5457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790156" y="10097368"/>
            <a:ext cx="376045" cy="388541"/>
          </a:xfrm>
          <a:prstGeom prst="rect">
            <a:avLst/>
          </a:prstGeom>
          <a:ln w="12700">
            <a:miter lim="400000"/>
          </a:ln>
        </p:spPr>
        <p:txBody>
          <a:bodyPr wrap="none" lIns="54570" tIns="54570" rIns="54570" bIns="54570">
            <a:spAutoFit/>
          </a:bodyPr>
          <a:lstStyle>
            <a:lvl1pPr algn="ctr">
              <a:spcBef>
                <a:spcPts val="0"/>
              </a:spcBef>
              <a:defRPr sz="1800" b="0">
                <a:solidFill>
                  <a:srgbClr val="000000"/>
                </a:solidFill>
                <a:latin typeface="Helvetica Light"/>
                <a:ea typeface="Helvetica Light"/>
                <a:cs typeface="Helvetica Light"/>
                <a:sym typeface="Helvetica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1pPr>
      <a:lvl2pPr marL="0" marR="0" indent="228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2pPr>
      <a:lvl3pPr marL="0" marR="0" indent="457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3pPr>
      <a:lvl4pPr marL="0" marR="0" indent="685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4pPr>
      <a:lvl5pPr marL="0" marR="0" indent="9144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5pPr>
      <a:lvl6pPr marL="0" marR="0" indent="11430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6pPr>
      <a:lvl7pPr marL="0" marR="0" indent="1371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7pPr>
      <a:lvl8pPr marL="0" marR="0" indent="1600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8pPr>
      <a:lvl9pPr marL="0" marR="0" indent="1828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9pPr>
    </p:titleStyle>
    <p:bodyStyle>
      <a:lvl1pPr marL="148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png"/><Relationship Id="rId7"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5" Type="http://schemas.openxmlformats.org/officeDocument/2006/relationships/image" Target="../media/image3.png"/><Relationship Id="rId10" Type="http://schemas.openxmlformats.org/officeDocument/2006/relationships/image" Target="../media/image7.svg"/><Relationship Id="rId4" Type="http://schemas.openxmlformats.org/officeDocument/2006/relationships/hyperlink" Target="http://fortawesome.github.io/Font-Awesome/get-started/" TargetMode="External"/><Relationship Id="rId9"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2" name="Image" descr="Image"/>
          <p:cNvPicPr>
            <a:picLocks noGrp="1" noRot="1" noChangeAspect="1" noMove="1" noResize="1" noEditPoints="1" noAdjustHandles="1" noChangeArrowheads="1" noChangeShapeType="1" noCrop="1"/>
          </p:cNvPicPr>
          <p:nvPr/>
        </p:nvPicPr>
        <p:blipFill>
          <a:blip r:embed="rId3"/>
          <a:stretch>
            <a:fillRect/>
          </a:stretch>
        </p:blipFill>
        <p:spPr>
          <a:xfrm>
            <a:off x="8397917" y="-673983"/>
            <a:ext cx="5598432" cy="2990088"/>
          </a:xfrm>
          <a:prstGeom prst="rect">
            <a:avLst/>
          </a:prstGeom>
          <a:ln w="12700">
            <a:miter lim="400000"/>
          </a:ln>
        </p:spPr>
      </p:pic>
      <p:sp>
        <p:nvSpPr>
          <p:cNvPr id="312" name="Line"/>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err="1"/>
              <a:t>Kaiāulu</a:t>
            </a:r>
            <a:endParaRPr sz="2400" dirty="0"/>
          </a:p>
        </p:txBody>
      </p:sp>
      <p:sp>
        <p:nvSpPr>
          <p:cNvPr id="334" name="Three Column Layout: : CHEAT SHEET"/>
          <p:cNvSpPr txBox="1">
            <a:spLocks noGrp="1"/>
          </p:cNvSpPr>
          <p:nvPr>
            <p:ph type="title"/>
          </p:nvPr>
        </p:nvSpPr>
        <p:spPr>
          <a:xfrm>
            <a:off x="275721" y="361177"/>
            <a:ext cx="10898129" cy="803346"/>
          </a:xfrm>
          <a:prstGeom prst="rect">
            <a:avLst/>
          </a:prstGeom>
        </p:spPr>
        <p:txBody>
          <a:bodyPr lIns="0" tIns="0" rIns="0" bIns="0" anchor="t">
            <a:normAutofit fontScale="90000"/>
          </a:bodyPr>
          <a:lstStyle/>
          <a:p>
            <a:r>
              <a:rPr lang="en-US" dirty="0"/>
              <a:t>Sentiment and Emotion Datasets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p:cNvSpPr txBox="1"/>
          <p:nvPr/>
        </p:nvSpPr>
        <p:spPr>
          <a:xfrm>
            <a:off x="219190" y="1892216"/>
            <a:ext cx="4336216" cy="1439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lvl="0">
              <a:lnSpc>
                <a:spcPct val="90000"/>
              </a:lnSpc>
              <a:buSzPts val="3700"/>
            </a:pPr>
            <a:r>
              <a:rPr lang="en-US" b="0" dirty="0"/>
              <a:t>Manually annotated sentiment/emotion labels can be useful for training and evaluating novel machine learning classifiers. However, these labels lack sufficient metadata to be extended with new observations for the same projects that were created. This </a:t>
            </a:r>
            <a:r>
              <a:rPr lang="en-US" b="0" dirty="0" err="1"/>
              <a:t>cheatsheet</a:t>
            </a:r>
            <a:r>
              <a:rPr lang="en-US" b="0" dirty="0"/>
              <a:t> demonstrates the reconstruction process used to expand labels' metadata, define reproducible project configuration files, and make them usable in </a:t>
            </a:r>
            <a:r>
              <a:rPr lang="en-US" b="0" dirty="0" err="1"/>
              <a:t>Kaiaulu</a:t>
            </a:r>
            <a:r>
              <a:rPr lang="en-US" b="0" dirty="0"/>
              <a:t> for new analyses.</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4"/>
            </a:endParaRPr>
          </a:p>
        </p:txBody>
      </p:sp>
      <p:sp>
        <p:nvSpPr>
          <p:cNvPr id="382" name="Logistics"/>
          <p:cNvSpPr txBox="1"/>
          <p:nvPr/>
        </p:nvSpPr>
        <p:spPr>
          <a:xfrm>
            <a:off x="4672920" y="1544184"/>
            <a:ext cx="4520468" cy="3274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sz="2400" b="0" dirty="0"/>
              <a:t>Reproducing Datasets with </a:t>
            </a:r>
            <a:r>
              <a:rPr lang="en-US" sz="2400" b="0" dirty="0" err="1"/>
              <a:t>Kaiaulu</a:t>
            </a:r>
            <a:endParaRPr sz="2400"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384" name="Layout Suggestions"/>
          <p:cNvSpPr txBox="1"/>
          <p:nvPr/>
        </p:nvSpPr>
        <p:spPr>
          <a:xfrm>
            <a:off x="275721" y="1519235"/>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About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pic>
        <p:nvPicPr>
          <p:cNvPr id="8" name="Picture 7" descr="A picture containing text&#10;&#10;Description automatically generated">
            <a:extLst>
              <a:ext uri="{FF2B5EF4-FFF2-40B4-BE49-F238E27FC236}">
                <a16:creationId xmlns:a16="http://schemas.microsoft.com/office/drawing/2014/main" id="{1C9AB6D2-F69D-1DEC-41BE-05335D7DBE4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198E25CE-0FCD-0F14-DE41-E9F889215D13}"/>
              </a:ext>
            </a:extLst>
          </p:cNvPr>
          <p:cNvSpPr txBox="1"/>
          <p:nvPr/>
        </p:nvSpPr>
        <p:spPr>
          <a:xfrm>
            <a:off x="7369010" y="10301097"/>
            <a:ext cx="6288562"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Samantha </a:t>
            </a:r>
            <a:r>
              <a:rPr lang="en-US" sz="1000" b="0" dirty="0">
                <a:solidFill>
                  <a:schemeClr val="tx1"/>
                </a:solidFill>
              </a:rPr>
              <a:t>Limon,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Carlos Paradis</a:t>
            </a:r>
            <a:r>
              <a:rPr lang="en-US" sz="1000" b="0" dirty="0">
                <a:solidFill>
                  <a:schemeClr val="tx1"/>
                </a:solidFill>
              </a:rPr>
              <a:t>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a:t>
            </a:r>
            <a:r>
              <a:rPr kumimoji="0" lang="en-US" sz="1000" b="0" i="0" u="none" strike="noStrike" cap="none" spc="0" normalizeH="0" baseline="0" dirty="0" err="1">
                <a:ln>
                  <a:noFill/>
                </a:ln>
                <a:solidFill>
                  <a:schemeClr val="tx1"/>
                </a:solidFill>
                <a:effectLst/>
                <a:uFillTx/>
                <a:latin typeface="Source Sans Pro"/>
                <a:ea typeface="Source Sans Pro"/>
                <a:cs typeface="Source Sans Pro"/>
                <a:sym typeface="Source Sans Pro"/>
              </a:rPr>
              <a:t>Kaiaulu</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1" name="Layout Suggestions">
            <a:extLst>
              <a:ext uri="{FF2B5EF4-FFF2-40B4-BE49-F238E27FC236}">
                <a16:creationId xmlns:a16="http://schemas.microsoft.com/office/drawing/2014/main" id="{64427C2A-7634-7F09-6420-74DFB41FE32A}"/>
              </a:ext>
            </a:extLst>
          </p:cNvPr>
          <p:cNvSpPr txBox="1"/>
          <p:nvPr/>
        </p:nvSpPr>
        <p:spPr>
          <a:xfrm>
            <a:off x="258034" y="3385150"/>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Raw Dataset</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2" name="Manipulate Variables">
            <a:extLst>
              <a:ext uri="{FF2B5EF4-FFF2-40B4-BE49-F238E27FC236}">
                <a16:creationId xmlns:a16="http://schemas.microsoft.com/office/drawing/2014/main" id="{EDCE864E-0AE0-40DA-0601-72F8E1C67E76}"/>
              </a:ext>
            </a:extLst>
          </p:cNvPr>
          <p:cNvSpPr txBox="1"/>
          <p:nvPr/>
        </p:nvSpPr>
        <p:spPr>
          <a:xfrm>
            <a:off x="9585321" y="1530186"/>
            <a:ext cx="2585644"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Related Notebooks</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4" name="Create a visual hierarchy. Help users navigate the page with titles, subtitles, and subsubtitles">
            <a:extLst>
              <a:ext uri="{FF2B5EF4-FFF2-40B4-BE49-F238E27FC236}">
                <a16:creationId xmlns:a16="http://schemas.microsoft.com/office/drawing/2014/main" id="{24A7C39C-3DD3-0E00-FE34-2318B2C1F8D5}"/>
              </a:ext>
            </a:extLst>
          </p:cNvPr>
          <p:cNvSpPr txBox="1"/>
          <p:nvPr/>
        </p:nvSpPr>
        <p:spPr>
          <a:xfrm>
            <a:off x="9545296" y="1911334"/>
            <a:ext cx="4001355"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See supplementary notebooks that go in-depth on the documentation on making the </a:t>
            </a:r>
            <a:r>
              <a:rPr lang="en-US" b="0" dirty="0" err="1">
                <a:latin typeface="Source Sans Pro" panose="020B0503030403020204" pitchFamily="34" charset="0"/>
                <a:ea typeface="Source Sans Pro" panose="020B0503030403020204" pitchFamily="34" charset="0"/>
                <a:cs typeface="Arial" panose="020B0604020202020204" pitchFamily="34" charset="0"/>
                <a:sym typeface="Source Sans Pro"/>
              </a:rPr>
              <a:t>Github</a:t>
            </a: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 dataset and Jira Emotion dataset compatible with </a:t>
            </a:r>
            <a:r>
              <a:rPr lang="en-US" b="0" dirty="0" err="1">
                <a:latin typeface="Source Sans Pro" panose="020B0503030403020204" pitchFamily="34" charset="0"/>
                <a:ea typeface="Source Sans Pro" panose="020B0503030403020204" pitchFamily="34" charset="0"/>
                <a:cs typeface="Arial" panose="020B0604020202020204" pitchFamily="34" charset="0"/>
                <a:sym typeface="Source Sans Pro"/>
              </a:rPr>
              <a:t>Kaiaulu</a:t>
            </a:r>
            <a:r>
              <a:rPr lang="en-US" b="0" dirty="0">
                <a:latin typeface="Source Sans Pro" panose="020B0503030403020204" pitchFamily="34" charset="0"/>
                <a:ea typeface="Source Sans Pro" panose="020B0503030403020204" pitchFamily="34" charset="0"/>
                <a:cs typeface="Arial" panose="020B0604020202020204" pitchFamily="34" charset="0"/>
                <a:sym typeface="Source Sans Pro"/>
              </a:rPr>
              <a:t>.</a:t>
            </a:r>
          </a:p>
        </p:txBody>
      </p:sp>
      <p:sp>
        <p:nvSpPr>
          <p:cNvPr id="5" name="TextBox 4">
            <a:extLst>
              <a:ext uri="{FF2B5EF4-FFF2-40B4-BE49-F238E27FC236}">
                <a16:creationId xmlns:a16="http://schemas.microsoft.com/office/drawing/2014/main" id="{C42DD75D-2164-3A23-58BC-787FD42B34E4}"/>
              </a:ext>
            </a:extLst>
          </p:cNvPr>
          <p:cNvSpPr txBox="1"/>
          <p:nvPr/>
        </p:nvSpPr>
        <p:spPr>
          <a:xfrm>
            <a:off x="9585321" y="2775783"/>
            <a:ext cx="3656656" cy="951462"/>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indent="-228600">
              <a:buFont typeface="+mj-lt"/>
              <a:buAutoNum type="arabicPeriod"/>
            </a:pPr>
            <a:r>
              <a:rPr lang="en-US" dirty="0"/>
              <a:t>1_load_sentiment_csv_to_mysql.ipynb</a:t>
            </a:r>
          </a:p>
          <a:p>
            <a:pPr marL="228600" indent="-228600">
              <a:buFont typeface="+mj-lt"/>
              <a:buAutoNum type="arabicPeriod"/>
            </a:pPr>
            <a:r>
              <a:rPr lang="en-US" dirty="0"/>
              <a:t>2_explore_relevant_projects.ipynb</a:t>
            </a:r>
          </a:p>
          <a:p>
            <a:pPr marL="228600" indent="-228600">
              <a:buFont typeface="+mj-lt"/>
              <a:buAutoNum type="arabicPeriod"/>
            </a:pPr>
            <a:r>
              <a:rPr lang="en-US" dirty="0"/>
              <a:t>3_scale_config_files.ipynb</a:t>
            </a:r>
          </a:p>
          <a:p>
            <a:pPr marL="228600" indent="-228600">
              <a:buFont typeface="+mj-lt"/>
              <a:buAutoNum type="arabicPeriod"/>
            </a:pPr>
            <a:r>
              <a:rPr lang="en-US" dirty="0"/>
              <a:t>4_add_sentiment_to_kaiaulu.ipynb</a:t>
            </a:r>
          </a:p>
        </p:txBody>
      </p:sp>
      <p:sp>
        <p:nvSpPr>
          <p:cNvPr id="6" name="Manipulate Variables">
            <a:extLst>
              <a:ext uri="{FF2B5EF4-FFF2-40B4-BE49-F238E27FC236}">
                <a16:creationId xmlns:a16="http://schemas.microsoft.com/office/drawing/2014/main" id="{5F46FB3F-3873-D77E-2F3E-E76E6B5CBBED}"/>
              </a:ext>
            </a:extLst>
          </p:cNvPr>
          <p:cNvSpPr txBox="1"/>
          <p:nvPr/>
        </p:nvSpPr>
        <p:spPr>
          <a:xfrm>
            <a:off x="9542306" y="4660893"/>
            <a:ext cx="210634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latin typeface="Source Sans Pro" panose="020B0503030403020204" pitchFamily="34" charset="0"/>
                <a:ea typeface="Source Sans Pro" panose="020B0503030403020204" pitchFamily="34" charset="0"/>
                <a:cs typeface="Arial" panose="020B0604020202020204" pitchFamily="34" charset="0"/>
              </a:rPr>
              <a:t>Data Expansion</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7" name="Create a visual hierarchy. Help users navigate the page with titles, subtitles, and subsubtitles">
            <a:extLst>
              <a:ext uri="{FF2B5EF4-FFF2-40B4-BE49-F238E27FC236}">
                <a16:creationId xmlns:a16="http://schemas.microsoft.com/office/drawing/2014/main" id="{D6558791-51EC-5B6D-0DA0-775D6A770731}"/>
              </a:ext>
            </a:extLst>
          </p:cNvPr>
          <p:cNvSpPr txBox="1"/>
          <p:nvPr/>
        </p:nvSpPr>
        <p:spPr>
          <a:xfrm>
            <a:off x="9517994" y="5036356"/>
            <a:ext cx="4001355" cy="20491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r>
              <a:rPr lang="en-US" sz="1100" b="0" dirty="0"/>
              <a:t>Through this pipeline, we recover sufficient metadata to re-obtain the data using </a:t>
            </a:r>
            <a:r>
              <a:rPr lang="en-US" sz="1100" b="0" dirty="0" err="1"/>
              <a:t>Kaiaulu</a:t>
            </a:r>
            <a:r>
              <a:rPr lang="en-US" sz="1100" b="0" dirty="0"/>
              <a:t>. This metadata enables two types of dataset expansion using </a:t>
            </a:r>
            <a:r>
              <a:rPr lang="en-US" sz="1100" b="0" dirty="0" err="1"/>
              <a:t>Kaiaulu</a:t>
            </a:r>
            <a:r>
              <a:rPr lang="en-US" sz="1100" b="0" dirty="0"/>
              <a:t>:</a:t>
            </a:r>
          </a:p>
          <a:p>
            <a:pPr marL="228600" indent="-228600">
              <a:buAutoNum type="arabicPeriod"/>
            </a:pPr>
            <a:r>
              <a:rPr lang="en-US" sz="1100" dirty="0"/>
              <a:t>Temporal expansion</a:t>
            </a:r>
            <a:r>
              <a:rPr lang="en-US" sz="1100" b="0" dirty="0"/>
              <a:t>: Re-download the same projects' comments from 2014 through today.</a:t>
            </a:r>
          </a:p>
          <a:p>
            <a:pPr marL="228600" indent="-228600">
              <a:buAutoNum type="arabicPeriod"/>
            </a:pPr>
            <a:r>
              <a:rPr lang="en-US" sz="1100" dirty="0"/>
              <a:t>Horizontal expansion</a:t>
            </a:r>
            <a:r>
              <a:rPr lang="en-US" sz="1100" b="0" dirty="0"/>
              <a:t>: Download additional data sources for those same projects (e.g., source code, version control history) that can be linked back to sentiment labels.</a:t>
            </a:r>
          </a:p>
          <a:p>
            <a:r>
              <a:rPr lang="en-US" sz="1100" b="0" dirty="0"/>
              <a:t>The labeled comments can be used to train the sentiment classifier and for </a:t>
            </a:r>
            <a:r>
              <a:rPr lang="en-US" sz="1100" b="0"/>
              <a:t>developer engagement (</a:t>
            </a:r>
            <a:r>
              <a:rPr lang="en-US" sz="1100" b="0" dirty="0"/>
              <a:t>refer to </a:t>
            </a:r>
            <a:r>
              <a:rPr lang="en-US" sz="1100" b="0" dirty="0" err="1"/>
              <a:t>sailuh</a:t>
            </a:r>
            <a:r>
              <a:rPr lang="en-US" sz="1100" b="0" dirty="0"/>
              <a:t>/sentiment-classifier).</a:t>
            </a:r>
          </a:p>
        </p:txBody>
      </p:sp>
      <p:sp>
        <p:nvSpPr>
          <p:cNvPr id="17" name="Layout Suggestions">
            <a:extLst>
              <a:ext uri="{FF2B5EF4-FFF2-40B4-BE49-F238E27FC236}">
                <a16:creationId xmlns:a16="http://schemas.microsoft.com/office/drawing/2014/main" id="{AB5DF562-4F29-ABBC-1202-676CBBC05A17}"/>
              </a:ext>
            </a:extLst>
          </p:cNvPr>
          <p:cNvSpPr txBox="1"/>
          <p:nvPr/>
        </p:nvSpPr>
        <p:spPr>
          <a:xfrm>
            <a:off x="221504" y="7101794"/>
            <a:ext cx="433390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6467D113-1EDD-1AB6-A35E-D1532A950A83}"/>
              </a:ext>
            </a:extLst>
          </p:cNvPr>
          <p:cNvSpPr txBox="1"/>
          <p:nvPr/>
        </p:nvSpPr>
        <p:spPr>
          <a:xfrm>
            <a:off x="244833" y="3653776"/>
            <a:ext cx="434683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The following must be set up/downloaded:</a:t>
            </a:r>
          </a:p>
        </p:txBody>
      </p:sp>
      <p:sp>
        <p:nvSpPr>
          <p:cNvPr id="19" name="TextBox 18">
            <a:extLst>
              <a:ext uri="{FF2B5EF4-FFF2-40B4-BE49-F238E27FC236}">
                <a16:creationId xmlns:a16="http://schemas.microsoft.com/office/drawing/2014/main" id="{743A3E09-C9AF-D561-C795-B8590874867C}"/>
              </a:ext>
            </a:extLst>
          </p:cNvPr>
          <p:cNvSpPr txBox="1"/>
          <p:nvPr/>
        </p:nvSpPr>
        <p:spPr>
          <a:xfrm>
            <a:off x="4810823" y="3304109"/>
            <a:ext cx="127533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GitHub 2020 CSV</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0" name="Straight Arrow Connector 19">
            <a:extLst>
              <a:ext uri="{FF2B5EF4-FFF2-40B4-BE49-F238E27FC236}">
                <a16:creationId xmlns:a16="http://schemas.microsoft.com/office/drawing/2014/main" id="{122F433E-331E-3EB3-AC04-50FA947B0AAD}"/>
              </a:ext>
            </a:extLst>
          </p:cNvPr>
          <p:cNvCxnSpPr>
            <a:cxnSpLocks/>
          </p:cNvCxnSpPr>
          <p:nvPr/>
        </p:nvCxnSpPr>
        <p:spPr>
          <a:xfrm>
            <a:off x="6040578" y="2739306"/>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3" name="Table">
            <a:extLst>
              <a:ext uri="{FF2B5EF4-FFF2-40B4-BE49-F238E27FC236}">
                <a16:creationId xmlns:a16="http://schemas.microsoft.com/office/drawing/2014/main" id="{AB6A3F0D-FF51-D0FA-ADCC-CAF66764BDDF}"/>
              </a:ext>
            </a:extLst>
          </p:cNvPr>
          <p:cNvGraphicFramePr/>
          <p:nvPr>
            <p:extLst>
              <p:ext uri="{D42A27DB-BD31-4B8C-83A1-F6EECF244321}">
                <p14:modId xmlns:p14="http://schemas.microsoft.com/office/powerpoint/2010/main" val="125021573"/>
              </p:ext>
            </p:extLst>
          </p:nvPr>
        </p:nvGraphicFramePr>
        <p:xfrm>
          <a:off x="5127433" y="2681254"/>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59" name="TextBox 58">
            <a:extLst>
              <a:ext uri="{FF2B5EF4-FFF2-40B4-BE49-F238E27FC236}">
                <a16:creationId xmlns:a16="http://schemas.microsoft.com/office/drawing/2014/main" id="{E2AF1F75-DFD4-1643-726E-4EEF78F5C9D3}"/>
              </a:ext>
            </a:extLst>
          </p:cNvPr>
          <p:cNvSpPr txBox="1"/>
          <p:nvPr/>
        </p:nvSpPr>
        <p:spPr>
          <a:xfrm>
            <a:off x="6073140" y="2512222"/>
            <a:ext cx="1275339"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Q-Insert</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60" name="TextBox 59">
            <a:extLst>
              <a:ext uri="{FF2B5EF4-FFF2-40B4-BE49-F238E27FC236}">
                <a16:creationId xmlns:a16="http://schemas.microsoft.com/office/drawing/2014/main" id="{83CD2BB7-B3F1-0BD5-EE3C-887AF0C0CBE0}"/>
              </a:ext>
            </a:extLst>
          </p:cNvPr>
          <p:cNvSpPr txBox="1"/>
          <p:nvPr/>
        </p:nvSpPr>
        <p:spPr>
          <a:xfrm>
            <a:off x="6078145" y="2758990"/>
            <a:ext cx="144108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Q-Join-Commit-Comments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61" name="TextBox 60">
            <a:extLst>
              <a:ext uri="{FF2B5EF4-FFF2-40B4-BE49-F238E27FC236}">
                <a16:creationId xmlns:a16="http://schemas.microsoft.com/office/drawing/2014/main" id="{DBFD389C-F049-AB41-A5B7-4C397091EE81}"/>
              </a:ext>
            </a:extLst>
          </p:cNvPr>
          <p:cNvSpPr txBox="1"/>
          <p:nvPr/>
        </p:nvSpPr>
        <p:spPr>
          <a:xfrm>
            <a:off x="6004567" y="3030690"/>
            <a:ext cx="1514660" cy="2333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sz="800" b="0" dirty="0"/>
              <a:t>Q-Join-Pull-Request-Comments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60" name="Straight Arrow Connector 259">
            <a:extLst>
              <a:ext uri="{FF2B5EF4-FFF2-40B4-BE49-F238E27FC236}">
                <a16:creationId xmlns:a16="http://schemas.microsoft.com/office/drawing/2014/main" id="{AFEC00DB-4BD7-A5B7-A0F6-2152322EAA19}"/>
              </a:ext>
            </a:extLst>
          </p:cNvPr>
          <p:cNvCxnSpPr>
            <a:cxnSpLocks/>
          </p:cNvCxnSpPr>
          <p:nvPr/>
        </p:nvCxnSpPr>
        <p:spPr>
          <a:xfrm>
            <a:off x="6040578" y="2985359"/>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1" name="Straight Arrow Connector 260">
            <a:extLst>
              <a:ext uri="{FF2B5EF4-FFF2-40B4-BE49-F238E27FC236}">
                <a16:creationId xmlns:a16="http://schemas.microsoft.com/office/drawing/2014/main" id="{774A98AA-DBA4-8169-C700-FC32C28D9042}"/>
              </a:ext>
            </a:extLst>
          </p:cNvPr>
          <p:cNvCxnSpPr>
            <a:cxnSpLocks/>
          </p:cNvCxnSpPr>
          <p:nvPr/>
        </p:nvCxnSpPr>
        <p:spPr>
          <a:xfrm>
            <a:off x="6040578" y="3231412"/>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3" name="TextBox 262">
            <a:extLst>
              <a:ext uri="{FF2B5EF4-FFF2-40B4-BE49-F238E27FC236}">
                <a16:creationId xmlns:a16="http://schemas.microsoft.com/office/drawing/2014/main" id="{AABD4E3E-8091-0B5E-EC96-95E8E9AFB55F}"/>
              </a:ext>
            </a:extLst>
          </p:cNvPr>
          <p:cNvSpPr txBox="1"/>
          <p:nvPr/>
        </p:nvSpPr>
        <p:spPr>
          <a:xfrm>
            <a:off x="7506054" y="3309908"/>
            <a:ext cx="1418243"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err="1"/>
              <a:t>GHTorrent</a:t>
            </a:r>
            <a:r>
              <a:rPr lang="en-US" dirty="0"/>
              <a:t> 2014 DB</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67" name="TextBox 266">
            <a:extLst>
              <a:ext uri="{FF2B5EF4-FFF2-40B4-BE49-F238E27FC236}">
                <a16:creationId xmlns:a16="http://schemas.microsoft.com/office/drawing/2014/main" id="{91787859-DBEC-A4D7-7623-DC7D6D40E8AF}"/>
              </a:ext>
            </a:extLst>
          </p:cNvPr>
          <p:cNvSpPr txBox="1"/>
          <p:nvPr/>
        </p:nvSpPr>
        <p:spPr>
          <a:xfrm>
            <a:off x="4718557" y="4961870"/>
            <a:ext cx="5622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a:t>c</a:t>
            </a: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onf/*.</a:t>
            </a:r>
            <a:r>
              <a:rPr kumimoji="0" lang="en-US" sz="800" b="0"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440" name="Group 439">
            <a:extLst>
              <a:ext uri="{FF2B5EF4-FFF2-40B4-BE49-F238E27FC236}">
                <a16:creationId xmlns:a16="http://schemas.microsoft.com/office/drawing/2014/main" id="{4DAC38BF-72AC-CA5A-CEDB-2E19557E3A29}"/>
              </a:ext>
            </a:extLst>
          </p:cNvPr>
          <p:cNvGrpSpPr/>
          <p:nvPr/>
        </p:nvGrpSpPr>
        <p:grpSpPr>
          <a:xfrm>
            <a:off x="5522624" y="4520518"/>
            <a:ext cx="953200" cy="458010"/>
            <a:chOff x="5528605" y="4530831"/>
            <a:chExt cx="953200" cy="458010"/>
          </a:xfrm>
        </p:grpSpPr>
        <p:graphicFrame>
          <p:nvGraphicFramePr>
            <p:cNvPr id="268" name="Table">
              <a:extLst>
                <a:ext uri="{FF2B5EF4-FFF2-40B4-BE49-F238E27FC236}">
                  <a16:creationId xmlns:a16="http://schemas.microsoft.com/office/drawing/2014/main" id="{931744C7-083A-CA8C-93E8-22DF35C30BF7}"/>
                </a:ext>
              </a:extLst>
            </p:cNvPr>
            <p:cNvGraphicFramePr/>
            <p:nvPr>
              <p:extLst>
                <p:ext uri="{D42A27DB-BD31-4B8C-83A1-F6EECF244321}">
                  <p14:modId xmlns:p14="http://schemas.microsoft.com/office/powerpoint/2010/main" val="2980623543"/>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269" name="Table">
              <a:extLst>
                <a:ext uri="{FF2B5EF4-FFF2-40B4-BE49-F238E27FC236}">
                  <a16:creationId xmlns:a16="http://schemas.microsoft.com/office/drawing/2014/main" id="{2E958EBA-EB33-9C4F-11B8-D376AF3BBBA6}"/>
                </a:ext>
              </a:extLst>
            </p:cNvPr>
            <p:cNvGraphicFramePr/>
            <p:nvPr>
              <p:extLst>
                <p:ext uri="{D42A27DB-BD31-4B8C-83A1-F6EECF244321}">
                  <p14:modId xmlns:p14="http://schemas.microsoft.com/office/powerpoint/2010/main" val="3551661982"/>
                </p:ext>
              </p:extLst>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sp>
        <p:nvSpPr>
          <p:cNvPr id="270" name="TextBox 269">
            <a:extLst>
              <a:ext uri="{FF2B5EF4-FFF2-40B4-BE49-F238E27FC236}">
                <a16:creationId xmlns:a16="http://schemas.microsoft.com/office/drawing/2014/main" id="{672271CA-11E1-5D54-9799-973667DE9C83}"/>
              </a:ext>
            </a:extLst>
          </p:cNvPr>
          <p:cNvSpPr txBox="1"/>
          <p:nvPr/>
        </p:nvSpPr>
        <p:spPr>
          <a:xfrm>
            <a:off x="5296796" y="4960251"/>
            <a:ext cx="1391241"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800" b="0" dirty="0"/>
              <a:t>GitHub 2020 CSV + Columns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278" name="Line">
            <a:extLst>
              <a:ext uri="{FF2B5EF4-FFF2-40B4-BE49-F238E27FC236}">
                <a16:creationId xmlns:a16="http://schemas.microsoft.com/office/drawing/2014/main" id="{9B50CBE6-7C66-07EE-0B9E-526234343707}"/>
              </a:ext>
            </a:extLst>
          </p:cNvPr>
          <p:cNvSpPr/>
          <p:nvPr/>
        </p:nvSpPr>
        <p:spPr>
          <a:xfrm flipV="1">
            <a:off x="4748804" y="5961806"/>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298" name="TextBox 297">
            <a:extLst>
              <a:ext uri="{FF2B5EF4-FFF2-40B4-BE49-F238E27FC236}">
                <a16:creationId xmlns:a16="http://schemas.microsoft.com/office/drawing/2014/main" id="{05EA355F-3B0C-A3C2-76CC-1436457C31E3}"/>
              </a:ext>
            </a:extLst>
          </p:cNvPr>
          <p:cNvSpPr txBox="1"/>
          <p:nvPr/>
        </p:nvSpPr>
        <p:spPr>
          <a:xfrm>
            <a:off x="4672920" y="7339638"/>
            <a:ext cx="1650803"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Jira Emotion 2016 CSV</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299" name="Straight Arrow Connector 298">
            <a:extLst>
              <a:ext uri="{FF2B5EF4-FFF2-40B4-BE49-F238E27FC236}">
                <a16:creationId xmlns:a16="http://schemas.microsoft.com/office/drawing/2014/main" id="{F150919B-C4DF-DA13-61C8-3B8B7F1C20E7}"/>
              </a:ext>
            </a:extLst>
          </p:cNvPr>
          <p:cNvCxnSpPr>
            <a:cxnSpLocks/>
          </p:cNvCxnSpPr>
          <p:nvPr/>
        </p:nvCxnSpPr>
        <p:spPr>
          <a:xfrm>
            <a:off x="6048180" y="6933077"/>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300" name="Table">
            <a:extLst>
              <a:ext uri="{FF2B5EF4-FFF2-40B4-BE49-F238E27FC236}">
                <a16:creationId xmlns:a16="http://schemas.microsoft.com/office/drawing/2014/main" id="{B833D627-36A1-11B4-8294-85984B1F9208}"/>
              </a:ext>
            </a:extLst>
          </p:cNvPr>
          <p:cNvGraphicFramePr/>
          <p:nvPr>
            <p:extLst>
              <p:ext uri="{D42A27DB-BD31-4B8C-83A1-F6EECF244321}">
                <p14:modId xmlns:p14="http://schemas.microsoft.com/office/powerpoint/2010/main" val="2255781049"/>
              </p:ext>
            </p:extLst>
          </p:nvPr>
        </p:nvGraphicFramePr>
        <p:xfrm>
          <a:off x="5136867" y="6753727"/>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cxnSp>
        <p:nvCxnSpPr>
          <p:cNvPr id="303" name="Straight Arrow Connector 302">
            <a:extLst>
              <a:ext uri="{FF2B5EF4-FFF2-40B4-BE49-F238E27FC236}">
                <a16:creationId xmlns:a16="http://schemas.microsoft.com/office/drawing/2014/main" id="{CE14D33E-B213-9FA6-10AD-C44E383D2356}"/>
              </a:ext>
            </a:extLst>
          </p:cNvPr>
          <p:cNvCxnSpPr>
            <a:cxnSpLocks/>
          </p:cNvCxnSpPr>
          <p:nvPr/>
        </p:nvCxnSpPr>
        <p:spPr>
          <a:xfrm>
            <a:off x="6048180" y="7179130"/>
            <a:ext cx="15073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6" name="TextBox 305">
            <a:extLst>
              <a:ext uri="{FF2B5EF4-FFF2-40B4-BE49-F238E27FC236}">
                <a16:creationId xmlns:a16="http://schemas.microsoft.com/office/drawing/2014/main" id="{6E941B6F-FB98-9B18-2FDB-E60F5BEA31F1}"/>
              </a:ext>
            </a:extLst>
          </p:cNvPr>
          <p:cNvSpPr txBox="1"/>
          <p:nvPr/>
        </p:nvSpPr>
        <p:spPr>
          <a:xfrm>
            <a:off x="7290720" y="7331899"/>
            <a:ext cx="176626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Jira PostgreSQL 2016 DB</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18" name="TextBox 317">
            <a:extLst>
              <a:ext uri="{FF2B5EF4-FFF2-40B4-BE49-F238E27FC236}">
                <a16:creationId xmlns:a16="http://schemas.microsoft.com/office/drawing/2014/main" id="{1E7406AF-2FC8-68AD-75AE-595729BE6969}"/>
              </a:ext>
            </a:extLst>
          </p:cNvPr>
          <p:cNvSpPr txBox="1"/>
          <p:nvPr/>
        </p:nvSpPr>
        <p:spPr>
          <a:xfrm>
            <a:off x="6041784" y="6689831"/>
            <a:ext cx="148830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Q-Insert</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19" name="TextBox 318">
            <a:extLst>
              <a:ext uri="{FF2B5EF4-FFF2-40B4-BE49-F238E27FC236}">
                <a16:creationId xmlns:a16="http://schemas.microsoft.com/office/drawing/2014/main" id="{062CFAE6-2E98-9AEC-A74C-2A6A06340FFE}"/>
              </a:ext>
            </a:extLst>
          </p:cNvPr>
          <p:cNvSpPr txBox="1"/>
          <p:nvPr/>
        </p:nvSpPr>
        <p:spPr>
          <a:xfrm>
            <a:off x="6048180" y="6941250"/>
            <a:ext cx="1488307"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Q-Join-Comments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1155" name="TextBox 1154">
            <a:extLst>
              <a:ext uri="{FF2B5EF4-FFF2-40B4-BE49-F238E27FC236}">
                <a16:creationId xmlns:a16="http://schemas.microsoft.com/office/drawing/2014/main" id="{3C5B472E-96DF-778A-54B9-F63A9A08E23F}"/>
              </a:ext>
            </a:extLst>
          </p:cNvPr>
          <p:cNvSpPr txBox="1"/>
          <p:nvPr/>
        </p:nvSpPr>
        <p:spPr>
          <a:xfrm>
            <a:off x="4791847" y="1907656"/>
            <a:ext cx="2727380" cy="3666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500" dirty="0"/>
              <a:t>GitHub Sentiment Dataset</a:t>
            </a:r>
            <a:endParaRPr kumimoji="0" lang="en-US" sz="1500" i="0" strike="noStrike" cap="none" spc="0" normalizeH="0" baseline="0" dirty="0">
              <a:ln>
                <a:noFill/>
              </a:ln>
              <a:effectLst/>
              <a:uFillTx/>
              <a:latin typeface="Source Sans Pro"/>
              <a:ea typeface="Source Sans Pro"/>
              <a:cs typeface="Source Sans Pro"/>
              <a:sym typeface="Source Sans Pro"/>
            </a:endParaRPr>
          </a:p>
        </p:txBody>
      </p:sp>
      <p:sp>
        <p:nvSpPr>
          <p:cNvPr id="1156" name="TextBox 1155">
            <a:extLst>
              <a:ext uri="{FF2B5EF4-FFF2-40B4-BE49-F238E27FC236}">
                <a16:creationId xmlns:a16="http://schemas.microsoft.com/office/drawing/2014/main" id="{EA5D4B51-9387-0DAA-0607-0016E9AEA96F}"/>
              </a:ext>
            </a:extLst>
          </p:cNvPr>
          <p:cNvSpPr txBox="1"/>
          <p:nvPr/>
        </p:nvSpPr>
        <p:spPr>
          <a:xfrm>
            <a:off x="4632534" y="6166156"/>
            <a:ext cx="2170990" cy="3666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500" dirty="0"/>
              <a:t>Jira Emotion Dataset</a:t>
            </a:r>
            <a:endParaRPr kumimoji="0" lang="en-US" sz="1500" b="1" i="0" strike="noStrike" cap="none" spc="0" normalizeH="0" baseline="0" dirty="0">
              <a:ln>
                <a:noFill/>
              </a:ln>
              <a:effectLst/>
              <a:uFillTx/>
              <a:latin typeface="Source Sans Pro"/>
              <a:ea typeface="Source Sans Pro"/>
              <a:cs typeface="Source Sans Pro"/>
              <a:sym typeface="Source Sans Pro"/>
            </a:endParaRPr>
          </a:p>
        </p:txBody>
      </p:sp>
      <p:grpSp>
        <p:nvGrpSpPr>
          <p:cNvPr id="1190" name="Group 1189">
            <a:extLst>
              <a:ext uri="{FF2B5EF4-FFF2-40B4-BE49-F238E27FC236}">
                <a16:creationId xmlns:a16="http://schemas.microsoft.com/office/drawing/2014/main" id="{2D3A51A5-833F-B2AF-3559-6C2A49488EBB}"/>
              </a:ext>
            </a:extLst>
          </p:cNvPr>
          <p:cNvGrpSpPr/>
          <p:nvPr/>
        </p:nvGrpSpPr>
        <p:grpSpPr>
          <a:xfrm>
            <a:off x="8486416" y="3978207"/>
            <a:ext cx="569700" cy="1688313"/>
            <a:chOff x="8715063" y="3858862"/>
            <a:chExt cx="569700" cy="1688313"/>
          </a:xfrm>
        </p:grpSpPr>
        <p:sp>
          <p:nvSpPr>
            <p:cNvPr id="1174" name="Google Shape;375;p18">
              <a:extLst>
                <a:ext uri="{FF2B5EF4-FFF2-40B4-BE49-F238E27FC236}">
                  <a16:creationId xmlns:a16="http://schemas.microsoft.com/office/drawing/2014/main" id="{9DC1913D-992B-8BE0-A5C1-136A589CFA87}"/>
                </a:ext>
              </a:extLst>
            </p:cNvPr>
            <p:cNvSpPr txBox="1"/>
            <p:nvPr/>
          </p:nvSpPr>
          <p:spPr>
            <a:xfrm>
              <a:off x="8778052" y="385886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GitHub</a:t>
              </a:r>
              <a:endParaRPr sz="686" dirty="0">
                <a:solidFill>
                  <a:schemeClr val="dk2"/>
                </a:solidFill>
                <a:latin typeface="Source Sans 3"/>
                <a:ea typeface="Source Sans 3"/>
                <a:cs typeface="Source Sans 3"/>
                <a:sym typeface="Source Sans 3"/>
              </a:endParaRPr>
            </a:p>
          </p:txBody>
        </p:sp>
        <p:sp>
          <p:nvSpPr>
            <p:cNvPr id="1187" name="Google Shape;388;p18">
              <a:extLst>
                <a:ext uri="{FF2B5EF4-FFF2-40B4-BE49-F238E27FC236}">
                  <a16:creationId xmlns:a16="http://schemas.microsoft.com/office/drawing/2014/main" id="{1A52FB3F-1B99-153D-57DD-1B2269599FF8}"/>
                </a:ext>
              </a:extLst>
            </p:cNvPr>
            <p:cNvSpPr txBox="1"/>
            <p:nvPr/>
          </p:nvSpPr>
          <p:spPr>
            <a:xfrm>
              <a:off x="8715063" y="455361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sp>
          <p:nvSpPr>
            <p:cNvPr id="1157" name="Google Shape;324;p18">
              <a:extLst>
                <a:ext uri="{FF2B5EF4-FFF2-40B4-BE49-F238E27FC236}">
                  <a16:creationId xmlns:a16="http://schemas.microsoft.com/office/drawing/2014/main" id="{8FFCC9DC-08FE-9EB4-3530-5F80E298A0D0}"/>
                </a:ext>
              </a:extLst>
            </p:cNvPr>
            <p:cNvSpPr/>
            <p:nvPr/>
          </p:nvSpPr>
          <p:spPr>
            <a:xfrm>
              <a:off x="8785040" y="392267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grpSp>
          <p:nvGrpSpPr>
            <p:cNvPr id="1158" name="Google Shape;359;p18">
              <a:extLst>
                <a:ext uri="{FF2B5EF4-FFF2-40B4-BE49-F238E27FC236}">
                  <a16:creationId xmlns:a16="http://schemas.microsoft.com/office/drawing/2014/main" id="{A15BC61F-4BEB-39C2-9FA8-718F3920A2D0}"/>
                </a:ext>
              </a:extLst>
            </p:cNvPr>
            <p:cNvGrpSpPr/>
            <p:nvPr/>
          </p:nvGrpSpPr>
          <p:grpSpPr>
            <a:xfrm>
              <a:off x="8838265" y="4043887"/>
              <a:ext cx="307200" cy="189300"/>
              <a:chOff x="3007175" y="1757600"/>
              <a:chExt cx="307200" cy="189300"/>
            </a:xfrm>
          </p:grpSpPr>
          <p:sp>
            <p:nvSpPr>
              <p:cNvPr id="1159" name="Google Shape;360;p18">
                <a:extLst>
                  <a:ext uri="{FF2B5EF4-FFF2-40B4-BE49-F238E27FC236}">
                    <a16:creationId xmlns:a16="http://schemas.microsoft.com/office/drawing/2014/main" id="{16936236-91EE-AADB-CF7E-8558BA8AA2F1}"/>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0" name="Google Shape;361;p18">
                <a:extLst>
                  <a:ext uri="{FF2B5EF4-FFF2-40B4-BE49-F238E27FC236}">
                    <a16:creationId xmlns:a16="http://schemas.microsoft.com/office/drawing/2014/main" id="{F14E8C69-8A7A-9908-1CEF-2B96C877EC30}"/>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1" name="Google Shape;362;p18">
                <a:extLst>
                  <a:ext uri="{FF2B5EF4-FFF2-40B4-BE49-F238E27FC236}">
                    <a16:creationId xmlns:a16="http://schemas.microsoft.com/office/drawing/2014/main" id="{1CC3324C-3D89-7B1A-D0BB-3EC2A220F60B}"/>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2" name="Google Shape;363;p18">
                <a:extLst>
                  <a:ext uri="{FF2B5EF4-FFF2-40B4-BE49-F238E27FC236}">
                    <a16:creationId xmlns:a16="http://schemas.microsoft.com/office/drawing/2014/main" id="{FB110EE8-72AC-56A9-AE5C-558B4376BCE6}"/>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163" name="Google Shape;364;p18">
                <a:extLst>
                  <a:ext uri="{FF2B5EF4-FFF2-40B4-BE49-F238E27FC236}">
                    <a16:creationId xmlns:a16="http://schemas.microsoft.com/office/drawing/2014/main" id="{C4920B09-29A8-13CB-5ADB-66C48C7220EB}"/>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164" name="Google Shape;365;p18">
                <a:extLst>
                  <a:ext uri="{FF2B5EF4-FFF2-40B4-BE49-F238E27FC236}">
                    <a16:creationId xmlns:a16="http://schemas.microsoft.com/office/drawing/2014/main" id="{CA7B7519-F601-76BC-7748-5E1F1A44CCD3}"/>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165" name="Google Shape;366;p18">
                <a:extLst>
                  <a:ext uri="{FF2B5EF4-FFF2-40B4-BE49-F238E27FC236}">
                    <a16:creationId xmlns:a16="http://schemas.microsoft.com/office/drawing/2014/main" id="{05B8F95E-C732-3CAB-55BF-7628B92C20E9}"/>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1166" name="Google Shape;367;p18">
              <a:extLst>
                <a:ext uri="{FF2B5EF4-FFF2-40B4-BE49-F238E27FC236}">
                  <a16:creationId xmlns:a16="http://schemas.microsoft.com/office/drawing/2014/main" id="{7AE991CF-386F-E389-9825-A0F620325344}"/>
                </a:ext>
              </a:extLst>
            </p:cNvPr>
            <p:cNvGrpSpPr/>
            <p:nvPr/>
          </p:nvGrpSpPr>
          <p:grpSpPr>
            <a:xfrm>
              <a:off x="8838252" y="4387350"/>
              <a:ext cx="307200" cy="189300"/>
              <a:chOff x="3007175" y="1757600"/>
              <a:chExt cx="307200" cy="189300"/>
            </a:xfrm>
          </p:grpSpPr>
          <p:sp>
            <p:nvSpPr>
              <p:cNvPr id="1167" name="Google Shape;368;p18">
                <a:extLst>
                  <a:ext uri="{FF2B5EF4-FFF2-40B4-BE49-F238E27FC236}">
                    <a16:creationId xmlns:a16="http://schemas.microsoft.com/office/drawing/2014/main" id="{6A836C3E-1304-E45C-179A-2900EAF82FE1}"/>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8" name="Google Shape;369;p18">
                <a:extLst>
                  <a:ext uri="{FF2B5EF4-FFF2-40B4-BE49-F238E27FC236}">
                    <a16:creationId xmlns:a16="http://schemas.microsoft.com/office/drawing/2014/main" id="{D3893E5D-F05F-A488-07E1-A8AABAC342E1}"/>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9" name="Google Shape;370;p18">
                <a:extLst>
                  <a:ext uri="{FF2B5EF4-FFF2-40B4-BE49-F238E27FC236}">
                    <a16:creationId xmlns:a16="http://schemas.microsoft.com/office/drawing/2014/main" id="{07FB941A-C1CB-C3F9-FCF9-040937A8CE12}"/>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0" name="Google Shape;371;p18">
                <a:extLst>
                  <a:ext uri="{FF2B5EF4-FFF2-40B4-BE49-F238E27FC236}">
                    <a16:creationId xmlns:a16="http://schemas.microsoft.com/office/drawing/2014/main" id="{CD590438-A04D-1484-3DEC-A34D71681B36}"/>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171" name="Google Shape;372;p18">
                <a:extLst>
                  <a:ext uri="{FF2B5EF4-FFF2-40B4-BE49-F238E27FC236}">
                    <a16:creationId xmlns:a16="http://schemas.microsoft.com/office/drawing/2014/main" id="{C988C464-D835-44BC-6C1E-1E08818C970C}"/>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172" name="Google Shape;373;p18">
                <a:extLst>
                  <a:ext uri="{FF2B5EF4-FFF2-40B4-BE49-F238E27FC236}">
                    <a16:creationId xmlns:a16="http://schemas.microsoft.com/office/drawing/2014/main" id="{3432E50F-3883-4FDE-339B-4B81C0513547}"/>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173" name="Google Shape;374;p18">
                <a:extLst>
                  <a:ext uri="{FF2B5EF4-FFF2-40B4-BE49-F238E27FC236}">
                    <a16:creationId xmlns:a16="http://schemas.microsoft.com/office/drawing/2014/main" id="{C17F805C-FFF8-A94B-6E85-E1FD2A11E717}"/>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1175" name="Google Shape;376;p18">
              <a:extLst>
                <a:ext uri="{FF2B5EF4-FFF2-40B4-BE49-F238E27FC236}">
                  <a16:creationId xmlns:a16="http://schemas.microsoft.com/office/drawing/2014/main" id="{9E7D658D-F9C8-65B3-B484-A940CA8A5C2E}"/>
                </a:ext>
              </a:extLst>
            </p:cNvPr>
            <p:cNvSpPr txBox="1"/>
            <p:nvPr/>
          </p:nvSpPr>
          <p:spPr>
            <a:xfrm>
              <a:off x="8838265" y="420625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1176" name="Google Shape;377;p18">
              <a:extLst>
                <a:ext uri="{FF2B5EF4-FFF2-40B4-BE49-F238E27FC236}">
                  <a16:creationId xmlns:a16="http://schemas.microsoft.com/office/drawing/2014/main" id="{71C1DF19-5BD7-CA75-AF94-E6C82054777F}"/>
                </a:ext>
              </a:extLst>
            </p:cNvPr>
            <p:cNvGrpSpPr/>
            <p:nvPr/>
          </p:nvGrpSpPr>
          <p:grpSpPr>
            <a:xfrm>
              <a:off x="8846302" y="4841125"/>
              <a:ext cx="307200" cy="297900"/>
              <a:chOff x="3021975" y="2389850"/>
              <a:chExt cx="307200" cy="297900"/>
            </a:xfrm>
          </p:grpSpPr>
          <p:sp>
            <p:nvSpPr>
              <p:cNvPr id="1177" name="Google Shape;378;p18">
                <a:extLst>
                  <a:ext uri="{FF2B5EF4-FFF2-40B4-BE49-F238E27FC236}">
                    <a16:creationId xmlns:a16="http://schemas.microsoft.com/office/drawing/2014/main" id="{A290B157-DCB0-2C63-5703-5573F06A968B}"/>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178" name="Google Shape;379;p18">
                <a:extLst>
                  <a:ext uri="{FF2B5EF4-FFF2-40B4-BE49-F238E27FC236}">
                    <a16:creationId xmlns:a16="http://schemas.microsoft.com/office/drawing/2014/main" id="{7056507E-1AB0-3695-961E-5F71C5BD53B0}"/>
                  </a:ext>
                </a:extLst>
              </p:cNvPr>
              <p:cNvGrpSpPr/>
              <p:nvPr/>
            </p:nvGrpSpPr>
            <p:grpSpPr>
              <a:xfrm>
                <a:off x="3021975" y="2389850"/>
                <a:ext cx="307200" cy="295800"/>
                <a:chOff x="3021975" y="2389850"/>
                <a:chExt cx="307200" cy="295800"/>
              </a:xfrm>
            </p:grpSpPr>
            <p:sp>
              <p:nvSpPr>
                <p:cNvPr id="1179" name="Google Shape;380;p18">
                  <a:extLst>
                    <a:ext uri="{FF2B5EF4-FFF2-40B4-BE49-F238E27FC236}">
                      <a16:creationId xmlns:a16="http://schemas.microsoft.com/office/drawing/2014/main" id="{9ED075C1-5121-CDBE-4AFA-1CB260C672E7}"/>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0" name="Google Shape;381;p18">
                  <a:extLst>
                    <a:ext uri="{FF2B5EF4-FFF2-40B4-BE49-F238E27FC236}">
                      <a16:creationId xmlns:a16="http://schemas.microsoft.com/office/drawing/2014/main" id="{A8F1D9F4-117B-EE01-8CDD-C893217A6A63}"/>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181" name="Google Shape;382;p18">
                  <a:extLst>
                    <a:ext uri="{FF2B5EF4-FFF2-40B4-BE49-F238E27FC236}">
                      <a16:creationId xmlns:a16="http://schemas.microsoft.com/office/drawing/2014/main" id="{828B67F6-B72E-07AA-B60C-0ACD5E3CA09F}"/>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1182" name="Google Shape;383;p18">
                  <a:extLst>
                    <a:ext uri="{FF2B5EF4-FFF2-40B4-BE49-F238E27FC236}">
                      <a16:creationId xmlns:a16="http://schemas.microsoft.com/office/drawing/2014/main" id="{A1E57706-27A4-7AC4-9F4F-5A00F4F2D66D}"/>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1183" name="Google Shape;384;p18">
                  <a:extLst>
                    <a:ext uri="{FF2B5EF4-FFF2-40B4-BE49-F238E27FC236}">
                      <a16:creationId xmlns:a16="http://schemas.microsoft.com/office/drawing/2014/main" id="{68892739-2AFB-8370-E09E-800197E04929}"/>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184" name="Google Shape;385;p18">
                  <a:extLst>
                    <a:ext uri="{FF2B5EF4-FFF2-40B4-BE49-F238E27FC236}">
                      <a16:creationId xmlns:a16="http://schemas.microsoft.com/office/drawing/2014/main" id="{03DD0336-D3C2-C0FB-0331-2A535F8A3448}"/>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185" name="Google Shape;386;p18">
                  <a:extLst>
                    <a:ext uri="{FF2B5EF4-FFF2-40B4-BE49-F238E27FC236}">
                      <a16:creationId xmlns:a16="http://schemas.microsoft.com/office/drawing/2014/main" id="{3CD3683D-819E-D582-ED8A-B5EE15E0360B}"/>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186" name="Google Shape;387;p18">
                  <a:extLst>
                    <a:ext uri="{FF2B5EF4-FFF2-40B4-BE49-F238E27FC236}">
                      <a16:creationId xmlns:a16="http://schemas.microsoft.com/office/drawing/2014/main" id="{4CD5D4A4-FFBD-DD24-A9B4-A35D585923CA}"/>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cxnSp>
          <p:nvCxnSpPr>
            <p:cNvPr id="1188" name="Google Shape;389;p18">
              <a:extLst>
                <a:ext uri="{FF2B5EF4-FFF2-40B4-BE49-F238E27FC236}">
                  <a16:creationId xmlns:a16="http://schemas.microsoft.com/office/drawing/2014/main" id="{4ED4D10D-3423-2B65-1FD1-AFBAC8DBD6E9}"/>
                </a:ext>
              </a:extLst>
            </p:cNvPr>
            <p:cNvCxnSpPr>
              <a:cxnSpLocks/>
            </p:cNvCxnSpPr>
            <p:nvPr/>
          </p:nvCxnSpPr>
          <p:spPr>
            <a:xfrm>
              <a:off x="8995190" y="5178050"/>
              <a:ext cx="0" cy="105900"/>
            </a:xfrm>
            <a:prstGeom prst="straightConnector1">
              <a:avLst/>
            </a:prstGeom>
            <a:noFill/>
            <a:ln w="9525" cap="flat" cmpd="sng">
              <a:solidFill>
                <a:schemeClr val="dk2"/>
              </a:solidFill>
              <a:prstDash val="dot"/>
              <a:round/>
              <a:headEnd type="none" w="med" len="med"/>
              <a:tailEnd type="none" w="med" len="med"/>
            </a:ln>
          </p:spPr>
        </p:cxnSp>
        <p:sp>
          <p:nvSpPr>
            <p:cNvPr id="1189" name="Google Shape;390;p18">
              <a:extLst>
                <a:ext uri="{FF2B5EF4-FFF2-40B4-BE49-F238E27FC236}">
                  <a16:creationId xmlns:a16="http://schemas.microsoft.com/office/drawing/2014/main" id="{CB7CDA54-5FFE-5DC3-092F-4771918B580D}"/>
                </a:ext>
              </a:extLst>
            </p:cNvPr>
            <p:cNvSpPr/>
            <p:nvPr/>
          </p:nvSpPr>
          <p:spPr>
            <a:xfrm>
              <a:off x="8845927" y="530647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cxnSp>
        <p:nvCxnSpPr>
          <p:cNvPr id="1199" name="Straight Arrow Connector 1198">
            <a:extLst>
              <a:ext uri="{FF2B5EF4-FFF2-40B4-BE49-F238E27FC236}">
                <a16:creationId xmlns:a16="http://schemas.microsoft.com/office/drawing/2014/main" id="{EF5883FD-173D-46CA-3726-0C6F72D1F90C}"/>
              </a:ext>
            </a:extLst>
          </p:cNvPr>
          <p:cNvCxnSpPr>
            <a:cxnSpLocks/>
          </p:cNvCxnSpPr>
          <p:nvPr/>
        </p:nvCxnSpPr>
        <p:spPr>
          <a:xfrm flipV="1">
            <a:off x="8036881" y="4262578"/>
            <a:ext cx="486066" cy="30466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374" name="TextBox 373">
            <a:extLst>
              <a:ext uri="{FF2B5EF4-FFF2-40B4-BE49-F238E27FC236}">
                <a16:creationId xmlns:a16="http://schemas.microsoft.com/office/drawing/2014/main" id="{683D4E3C-350F-389F-7CAF-B60A69A6DDE1}"/>
              </a:ext>
            </a:extLst>
          </p:cNvPr>
          <p:cNvSpPr txBox="1"/>
          <p:nvPr/>
        </p:nvSpPr>
        <p:spPr>
          <a:xfrm>
            <a:off x="9558554" y="4159871"/>
            <a:ext cx="3656656" cy="320520"/>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228600" indent="-228600">
              <a:buFont typeface="+mj-lt"/>
              <a:buAutoNum type="arabicPeriod"/>
            </a:pPr>
            <a:r>
              <a:rPr lang="en-US" dirty="0"/>
              <a:t>1_emotion_csv_inter_rater_agreement.ipynb</a:t>
            </a:r>
          </a:p>
        </p:txBody>
      </p:sp>
      <p:sp>
        <p:nvSpPr>
          <p:cNvPr id="375" name="TextBox 374">
            <a:extLst>
              <a:ext uri="{FF2B5EF4-FFF2-40B4-BE49-F238E27FC236}">
                <a16:creationId xmlns:a16="http://schemas.microsoft.com/office/drawing/2014/main" id="{01E68590-F3F7-2A36-305F-4D7D762C3FC2}"/>
              </a:ext>
            </a:extLst>
          </p:cNvPr>
          <p:cNvSpPr txBox="1"/>
          <p:nvPr/>
        </p:nvSpPr>
        <p:spPr>
          <a:xfrm>
            <a:off x="9517994" y="2470516"/>
            <a:ext cx="3400799" cy="3359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1300" dirty="0" err="1"/>
              <a:t>sailuh</a:t>
            </a:r>
            <a:r>
              <a:rPr lang="en-US" sz="1300" dirty="0"/>
              <a:t>/</a:t>
            </a:r>
            <a:r>
              <a:rPr lang="en-US" sz="1300" dirty="0" err="1"/>
              <a:t>sentiment_github_dataset</a:t>
            </a:r>
            <a:endParaRPr kumimoji="0" lang="en-US" sz="1300" b="1" i="0" strike="noStrike" cap="none" spc="0" normalizeH="0" baseline="0" dirty="0">
              <a:ln>
                <a:noFill/>
              </a:ln>
              <a:effectLst/>
              <a:uFillTx/>
              <a:latin typeface="Source Sans Pro"/>
              <a:ea typeface="Source Sans Pro"/>
              <a:cs typeface="Source Sans Pro"/>
              <a:sym typeface="Source Sans Pro"/>
            </a:endParaRPr>
          </a:p>
        </p:txBody>
      </p:sp>
      <p:sp>
        <p:nvSpPr>
          <p:cNvPr id="376" name="TextBox 375">
            <a:extLst>
              <a:ext uri="{FF2B5EF4-FFF2-40B4-BE49-F238E27FC236}">
                <a16:creationId xmlns:a16="http://schemas.microsoft.com/office/drawing/2014/main" id="{B8E09B7F-B65E-0FA3-6EE5-C59BD1CA06E7}"/>
              </a:ext>
            </a:extLst>
          </p:cNvPr>
          <p:cNvSpPr txBox="1"/>
          <p:nvPr/>
        </p:nvSpPr>
        <p:spPr>
          <a:xfrm>
            <a:off x="9517994" y="3859880"/>
            <a:ext cx="3400799" cy="3359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defTabSz="584200" rtl="0" fontAlgn="auto" latinLnBrk="0" hangingPunct="0">
              <a:lnSpc>
                <a:spcPct val="100000"/>
              </a:lnSpc>
              <a:spcBef>
                <a:spcPts val="200"/>
              </a:spcBef>
              <a:spcAft>
                <a:spcPts val="0"/>
              </a:spcAft>
              <a:buClrTx/>
              <a:buSzTx/>
              <a:buFontTx/>
              <a:buNone/>
              <a:tabLst/>
            </a:pPr>
            <a:r>
              <a:rPr lang="en-US" sz="1300" dirty="0" err="1"/>
              <a:t>sailuh</a:t>
            </a:r>
            <a:r>
              <a:rPr lang="en-US" sz="1300" dirty="0"/>
              <a:t>/</a:t>
            </a:r>
            <a:r>
              <a:rPr lang="en-US" sz="1300" dirty="0" err="1"/>
              <a:t>emotion_jira_dataset</a:t>
            </a:r>
            <a:endParaRPr kumimoji="0" lang="en-US" sz="1300" b="1" i="0" strike="noStrike" cap="none" spc="0" normalizeH="0" baseline="0" dirty="0">
              <a:ln>
                <a:noFill/>
              </a:ln>
              <a:effectLst/>
              <a:uFillTx/>
              <a:latin typeface="Source Sans Pro"/>
              <a:ea typeface="Source Sans Pro"/>
              <a:cs typeface="Source Sans Pro"/>
              <a:sym typeface="Source Sans Pro"/>
            </a:endParaRPr>
          </a:p>
        </p:txBody>
      </p:sp>
      <p:pic>
        <p:nvPicPr>
          <p:cNvPr id="379" name="Graphic 378" descr="Paper outline">
            <a:extLst>
              <a:ext uri="{FF2B5EF4-FFF2-40B4-BE49-F238E27FC236}">
                <a16:creationId xmlns:a16="http://schemas.microsoft.com/office/drawing/2014/main" id="{89CCD3B5-7F41-924A-13E3-BDB45B6358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31382" y="4473903"/>
            <a:ext cx="536605" cy="536605"/>
          </a:xfrm>
          <a:prstGeom prst="rect">
            <a:avLst/>
          </a:prstGeom>
        </p:spPr>
      </p:pic>
      <p:graphicFrame>
        <p:nvGraphicFramePr>
          <p:cNvPr id="380" name="Table">
            <a:extLst>
              <a:ext uri="{FF2B5EF4-FFF2-40B4-BE49-F238E27FC236}">
                <a16:creationId xmlns:a16="http://schemas.microsoft.com/office/drawing/2014/main" id="{DBB82267-69A3-2C27-4389-FC899D6D0499}"/>
              </a:ext>
            </a:extLst>
          </p:cNvPr>
          <p:cNvGraphicFramePr/>
          <p:nvPr>
            <p:extLst>
              <p:ext uri="{D42A27DB-BD31-4B8C-83A1-F6EECF244321}">
                <p14:modId xmlns:p14="http://schemas.microsoft.com/office/powerpoint/2010/main" val="2380094938"/>
              </p:ext>
            </p:extLst>
          </p:nvPr>
        </p:nvGraphicFramePr>
        <p:xfrm>
          <a:off x="648007" y="4089140"/>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381" name="TextBox 380">
            <a:extLst>
              <a:ext uri="{FF2B5EF4-FFF2-40B4-BE49-F238E27FC236}">
                <a16:creationId xmlns:a16="http://schemas.microsoft.com/office/drawing/2014/main" id="{5A440B0B-656E-F49F-6191-E924B27F1A39}"/>
              </a:ext>
            </a:extLst>
          </p:cNvPr>
          <p:cNvSpPr txBox="1"/>
          <p:nvPr/>
        </p:nvSpPr>
        <p:spPr>
          <a:xfrm>
            <a:off x="444504" y="4711561"/>
            <a:ext cx="103487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GitHub 2020 CSV</a:t>
            </a:r>
          </a:p>
          <a:p>
            <a:pPr algn="ctr"/>
            <a:r>
              <a:rPr lang="en-US" sz="800" b="0" dirty="0"/>
              <a:t>Novielli et al. [1]</a:t>
            </a:r>
          </a:p>
        </p:txBody>
      </p:sp>
      <p:sp>
        <p:nvSpPr>
          <p:cNvPr id="408" name="TextBox 407">
            <a:extLst>
              <a:ext uri="{FF2B5EF4-FFF2-40B4-BE49-F238E27FC236}">
                <a16:creationId xmlns:a16="http://schemas.microsoft.com/office/drawing/2014/main" id="{2A1E5CBB-9354-FF43-0577-4290A3F3E8BC}"/>
              </a:ext>
            </a:extLst>
          </p:cNvPr>
          <p:cNvSpPr txBox="1"/>
          <p:nvPr/>
        </p:nvSpPr>
        <p:spPr>
          <a:xfrm>
            <a:off x="7247717" y="5045761"/>
            <a:ext cx="72095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err="1"/>
              <a:t>sailuh</a:t>
            </a:r>
            <a:r>
              <a:rPr lang="en-US" sz="800" b="0" dirty="0"/>
              <a:t>/</a:t>
            </a:r>
            <a:r>
              <a:rPr lang="en-US" sz="800" b="0" dirty="0" err="1"/>
              <a:t>kaiaulu</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410" name="TextBox 409">
            <a:extLst>
              <a:ext uri="{FF2B5EF4-FFF2-40B4-BE49-F238E27FC236}">
                <a16:creationId xmlns:a16="http://schemas.microsoft.com/office/drawing/2014/main" id="{22E68E8F-F5A1-513C-02ED-57091640D8A8}"/>
              </a:ext>
            </a:extLst>
          </p:cNvPr>
          <p:cNvSpPr txBox="1"/>
          <p:nvPr/>
        </p:nvSpPr>
        <p:spPr>
          <a:xfrm>
            <a:off x="5280810" y="4613137"/>
            <a:ext cx="15549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411" name="Straight Arrow Connector 410">
            <a:extLst>
              <a:ext uri="{FF2B5EF4-FFF2-40B4-BE49-F238E27FC236}">
                <a16:creationId xmlns:a16="http://schemas.microsoft.com/office/drawing/2014/main" id="{6DB5DF49-02BD-F556-5131-054496936FDD}"/>
              </a:ext>
            </a:extLst>
          </p:cNvPr>
          <p:cNvCxnSpPr>
            <a:cxnSpLocks/>
          </p:cNvCxnSpPr>
          <p:nvPr/>
        </p:nvCxnSpPr>
        <p:spPr>
          <a:xfrm>
            <a:off x="6618730" y="4739740"/>
            <a:ext cx="5207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20" name="Elbow Connector 1219">
            <a:extLst>
              <a:ext uri="{FF2B5EF4-FFF2-40B4-BE49-F238E27FC236}">
                <a16:creationId xmlns:a16="http://schemas.microsoft.com/office/drawing/2014/main" id="{242D6111-4248-66B8-33F0-81B5D3CAB7AB}"/>
              </a:ext>
            </a:extLst>
          </p:cNvPr>
          <p:cNvCxnSpPr>
            <a:cxnSpLocks/>
          </p:cNvCxnSpPr>
          <p:nvPr/>
        </p:nvCxnSpPr>
        <p:spPr>
          <a:xfrm rot="5400000">
            <a:off x="6893652" y="2693604"/>
            <a:ext cx="389103" cy="2253944"/>
          </a:xfrm>
          <a:prstGeom prst="bentConnector2">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30" name="Straight Arrow Connector 1229">
            <a:extLst>
              <a:ext uri="{FF2B5EF4-FFF2-40B4-BE49-F238E27FC236}">
                <a16:creationId xmlns:a16="http://schemas.microsoft.com/office/drawing/2014/main" id="{1DAB5B11-B14D-C721-A7F1-CB1EADCD0F4B}"/>
              </a:ext>
            </a:extLst>
          </p:cNvPr>
          <p:cNvCxnSpPr>
            <a:cxnSpLocks/>
          </p:cNvCxnSpPr>
          <p:nvPr/>
        </p:nvCxnSpPr>
        <p:spPr>
          <a:xfrm flipH="1">
            <a:off x="5961231" y="4019531"/>
            <a:ext cx="1" cy="454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17" name="Elbow Connector 1216">
            <a:extLst>
              <a:ext uri="{FF2B5EF4-FFF2-40B4-BE49-F238E27FC236}">
                <a16:creationId xmlns:a16="http://schemas.microsoft.com/office/drawing/2014/main" id="{21386563-1A95-E106-2B41-02CBCFF20935}"/>
              </a:ext>
            </a:extLst>
          </p:cNvPr>
          <p:cNvCxnSpPr>
            <a:cxnSpLocks/>
            <a:stCxn id="263" idx="1"/>
          </p:cNvCxnSpPr>
          <p:nvPr/>
        </p:nvCxnSpPr>
        <p:spPr>
          <a:xfrm rot="10800000" flipV="1">
            <a:off x="4959812" y="3470167"/>
            <a:ext cx="2546242" cy="338701"/>
          </a:xfrm>
          <a:prstGeom prst="bentConnector3">
            <a:avLst>
              <a:gd name="adj1" fmla="val 13253"/>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36" name="Straight Arrow Connector 1235">
            <a:extLst>
              <a:ext uri="{FF2B5EF4-FFF2-40B4-BE49-F238E27FC236}">
                <a16:creationId xmlns:a16="http://schemas.microsoft.com/office/drawing/2014/main" id="{96ED50FA-597C-5546-ADDA-9D28AD13FC43}"/>
              </a:ext>
            </a:extLst>
          </p:cNvPr>
          <p:cNvCxnSpPr>
            <a:cxnSpLocks/>
          </p:cNvCxnSpPr>
          <p:nvPr/>
        </p:nvCxnSpPr>
        <p:spPr>
          <a:xfrm>
            <a:off x="4959813" y="3809205"/>
            <a:ext cx="0" cy="655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42" name="TextBox 1241">
            <a:extLst>
              <a:ext uri="{FF2B5EF4-FFF2-40B4-BE49-F238E27FC236}">
                <a16:creationId xmlns:a16="http://schemas.microsoft.com/office/drawing/2014/main" id="{ABC1D078-459B-10DF-D377-6E71BCD145D8}"/>
              </a:ext>
            </a:extLst>
          </p:cNvPr>
          <p:cNvSpPr txBox="1"/>
          <p:nvPr/>
        </p:nvSpPr>
        <p:spPr>
          <a:xfrm>
            <a:off x="4632534" y="9025990"/>
            <a:ext cx="562253"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a:t>c</a:t>
            </a: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onf/*.</a:t>
            </a:r>
            <a:r>
              <a:rPr kumimoji="0" lang="en-US" sz="800" b="0" i="0" u="none" strike="noStrike" cap="none" spc="0" normalizeH="0" baseline="0" dirty="0" err="1">
                <a:ln>
                  <a:noFill/>
                </a:ln>
                <a:solidFill>
                  <a:srgbClr val="4C4C4C"/>
                </a:solidFill>
                <a:effectLst/>
                <a:uFillTx/>
                <a:latin typeface="Source Sans Pro"/>
                <a:ea typeface="Source Sans Pro"/>
                <a:cs typeface="Source Sans Pro"/>
                <a:sym typeface="Source Sans Pro"/>
              </a:rPr>
              <a:t>yml</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1243" name="Group 1242">
            <a:extLst>
              <a:ext uri="{FF2B5EF4-FFF2-40B4-BE49-F238E27FC236}">
                <a16:creationId xmlns:a16="http://schemas.microsoft.com/office/drawing/2014/main" id="{B66AEDDF-A71C-BB0A-7065-DFD0D11D198B}"/>
              </a:ext>
            </a:extLst>
          </p:cNvPr>
          <p:cNvGrpSpPr/>
          <p:nvPr/>
        </p:nvGrpSpPr>
        <p:grpSpPr>
          <a:xfrm>
            <a:off x="5436601" y="8584638"/>
            <a:ext cx="953200" cy="458010"/>
            <a:chOff x="5528605" y="4530831"/>
            <a:chExt cx="953200" cy="458010"/>
          </a:xfrm>
        </p:grpSpPr>
        <p:graphicFrame>
          <p:nvGraphicFramePr>
            <p:cNvPr id="1244" name="Table">
              <a:extLst>
                <a:ext uri="{FF2B5EF4-FFF2-40B4-BE49-F238E27FC236}">
                  <a16:creationId xmlns:a16="http://schemas.microsoft.com/office/drawing/2014/main" id="{B384F629-356F-02F8-488F-D4B28FCB1448}"/>
                </a:ext>
              </a:extLst>
            </p:cNvPr>
            <p:cNvGraphicFramePr/>
            <p:nvPr>
              <p:extLst>
                <p:ext uri="{D42A27DB-BD31-4B8C-83A1-F6EECF244321}">
                  <p14:modId xmlns:p14="http://schemas.microsoft.com/office/powerpoint/2010/main" val="2980623543"/>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1245" name="Table">
              <a:extLst>
                <a:ext uri="{FF2B5EF4-FFF2-40B4-BE49-F238E27FC236}">
                  <a16:creationId xmlns:a16="http://schemas.microsoft.com/office/drawing/2014/main" id="{DCF5DDE6-27E6-DB62-9505-7886FC9EB1E4}"/>
                </a:ext>
              </a:extLst>
            </p:cNvPr>
            <p:cNvGraphicFramePr/>
            <p:nvPr>
              <p:extLst>
                <p:ext uri="{D42A27DB-BD31-4B8C-83A1-F6EECF244321}">
                  <p14:modId xmlns:p14="http://schemas.microsoft.com/office/powerpoint/2010/main" val="3551661982"/>
                </p:ext>
              </p:extLst>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sp>
        <p:nvSpPr>
          <p:cNvPr id="1246" name="TextBox 1245">
            <a:extLst>
              <a:ext uri="{FF2B5EF4-FFF2-40B4-BE49-F238E27FC236}">
                <a16:creationId xmlns:a16="http://schemas.microsoft.com/office/drawing/2014/main" id="{6DEA50D5-8C30-55F5-A4ED-0B3417A6B94C}"/>
              </a:ext>
            </a:extLst>
          </p:cNvPr>
          <p:cNvSpPr txBox="1"/>
          <p:nvPr/>
        </p:nvSpPr>
        <p:spPr>
          <a:xfrm>
            <a:off x="5138691" y="9038621"/>
            <a:ext cx="1592748"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800" b="0" dirty="0"/>
              <a:t>Jira Emotion 2016 CSV + Columns</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1247" name="Group 1246">
            <a:extLst>
              <a:ext uri="{FF2B5EF4-FFF2-40B4-BE49-F238E27FC236}">
                <a16:creationId xmlns:a16="http://schemas.microsoft.com/office/drawing/2014/main" id="{CC28567D-416A-B410-3902-F008A338DCA5}"/>
              </a:ext>
            </a:extLst>
          </p:cNvPr>
          <p:cNvGrpSpPr/>
          <p:nvPr/>
        </p:nvGrpSpPr>
        <p:grpSpPr>
          <a:xfrm>
            <a:off x="8439925" y="8193234"/>
            <a:ext cx="569700" cy="1688313"/>
            <a:chOff x="8715063" y="3858862"/>
            <a:chExt cx="569700" cy="1688313"/>
          </a:xfrm>
        </p:grpSpPr>
        <p:sp>
          <p:nvSpPr>
            <p:cNvPr id="1248" name="Google Shape;324;p18">
              <a:extLst>
                <a:ext uri="{FF2B5EF4-FFF2-40B4-BE49-F238E27FC236}">
                  <a16:creationId xmlns:a16="http://schemas.microsoft.com/office/drawing/2014/main" id="{46415B4F-8C58-C8CC-830A-79A090B2F7C5}"/>
                </a:ext>
              </a:extLst>
            </p:cNvPr>
            <p:cNvSpPr/>
            <p:nvPr/>
          </p:nvSpPr>
          <p:spPr>
            <a:xfrm>
              <a:off x="8785040" y="392267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grpSp>
          <p:nvGrpSpPr>
            <p:cNvPr id="1249" name="Google Shape;359;p18">
              <a:extLst>
                <a:ext uri="{FF2B5EF4-FFF2-40B4-BE49-F238E27FC236}">
                  <a16:creationId xmlns:a16="http://schemas.microsoft.com/office/drawing/2014/main" id="{BFB51500-E846-9E5D-6438-F782C2C643C9}"/>
                </a:ext>
              </a:extLst>
            </p:cNvPr>
            <p:cNvGrpSpPr/>
            <p:nvPr/>
          </p:nvGrpSpPr>
          <p:grpSpPr>
            <a:xfrm>
              <a:off x="8838265" y="4043887"/>
              <a:ext cx="307200" cy="189300"/>
              <a:chOff x="3007175" y="1757600"/>
              <a:chExt cx="307200" cy="189300"/>
            </a:xfrm>
          </p:grpSpPr>
          <p:sp>
            <p:nvSpPr>
              <p:cNvPr id="1274" name="Google Shape;360;p18">
                <a:extLst>
                  <a:ext uri="{FF2B5EF4-FFF2-40B4-BE49-F238E27FC236}">
                    <a16:creationId xmlns:a16="http://schemas.microsoft.com/office/drawing/2014/main" id="{43A9E793-0209-ED91-8881-7AA5A5B12A06}"/>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5" name="Google Shape;361;p18">
                <a:extLst>
                  <a:ext uri="{FF2B5EF4-FFF2-40B4-BE49-F238E27FC236}">
                    <a16:creationId xmlns:a16="http://schemas.microsoft.com/office/drawing/2014/main" id="{EA05044D-5D57-71D0-B71D-B0723A38679F}"/>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6" name="Google Shape;362;p18">
                <a:extLst>
                  <a:ext uri="{FF2B5EF4-FFF2-40B4-BE49-F238E27FC236}">
                    <a16:creationId xmlns:a16="http://schemas.microsoft.com/office/drawing/2014/main" id="{0027410D-FB9B-1825-1ED0-0D80AE2F0042}"/>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7" name="Google Shape;363;p18">
                <a:extLst>
                  <a:ext uri="{FF2B5EF4-FFF2-40B4-BE49-F238E27FC236}">
                    <a16:creationId xmlns:a16="http://schemas.microsoft.com/office/drawing/2014/main" id="{048A996F-3C52-5C3D-51F5-DEA47E9CFBA5}"/>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278" name="Google Shape;364;p18">
                <a:extLst>
                  <a:ext uri="{FF2B5EF4-FFF2-40B4-BE49-F238E27FC236}">
                    <a16:creationId xmlns:a16="http://schemas.microsoft.com/office/drawing/2014/main" id="{A30CD243-80C4-F747-B49A-96242F29353E}"/>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279" name="Google Shape;365;p18">
                <a:extLst>
                  <a:ext uri="{FF2B5EF4-FFF2-40B4-BE49-F238E27FC236}">
                    <a16:creationId xmlns:a16="http://schemas.microsoft.com/office/drawing/2014/main" id="{00D182E8-8250-F3B8-A249-B92A7D3F28C7}"/>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280" name="Google Shape;366;p18">
                <a:extLst>
                  <a:ext uri="{FF2B5EF4-FFF2-40B4-BE49-F238E27FC236}">
                    <a16:creationId xmlns:a16="http://schemas.microsoft.com/office/drawing/2014/main" id="{CEFA1C41-A879-07C6-3B7D-A54D827B9B43}"/>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1250" name="Google Shape;367;p18">
              <a:extLst>
                <a:ext uri="{FF2B5EF4-FFF2-40B4-BE49-F238E27FC236}">
                  <a16:creationId xmlns:a16="http://schemas.microsoft.com/office/drawing/2014/main" id="{18C6A909-2433-8F5E-6CD4-B432455BF2FC}"/>
                </a:ext>
              </a:extLst>
            </p:cNvPr>
            <p:cNvGrpSpPr/>
            <p:nvPr/>
          </p:nvGrpSpPr>
          <p:grpSpPr>
            <a:xfrm>
              <a:off x="8838252" y="4387350"/>
              <a:ext cx="307200" cy="189300"/>
              <a:chOff x="3007175" y="1757600"/>
              <a:chExt cx="307200" cy="189300"/>
            </a:xfrm>
          </p:grpSpPr>
          <p:sp>
            <p:nvSpPr>
              <p:cNvPr id="1267" name="Google Shape;368;p18">
                <a:extLst>
                  <a:ext uri="{FF2B5EF4-FFF2-40B4-BE49-F238E27FC236}">
                    <a16:creationId xmlns:a16="http://schemas.microsoft.com/office/drawing/2014/main" id="{19BE136A-67BC-BC52-68DC-9F8DDA15C0C8}"/>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8" name="Google Shape;369;p18">
                <a:extLst>
                  <a:ext uri="{FF2B5EF4-FFF2-40B4-BE49-F238E27FC236}">
                    <a16:creationId xmlns:a16="http://schemas.microsoft.com/office/drawing/2014/main" id="{D1EEC98B-58BD-EE5E-C871-5F6BDAA1DE9A}"/>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9" name="Google Shape;370;p18">
                <a:extLst>
                  <a:ext uri="{FF2B5EF4-FFF2-40B4-BE49-F238E27FC236}">
                    <a16:creationId xmlns:a16="http://schemas.microsoft.com/office/drawing/2014/main" id="{EAA92F61-69B3-B306-CFF0-513E70979DE1}"/>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0" name="Google Shape;371;p18">
                <a:extLst>
                  <a:ext uri="{FF2B5EF4-FFF2-40B4-BE49-F238E27FC236}">
                    <a16:creationId xmlns:a16="http://schemas.microsoft.com/office/drawing/2014/main" id="{3216FE3D-FE42-3572-5A06-6E250A10EFB6}"/>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271" name="Google Shape;372;p18">
                <a:extLst>
                  <a:ext uri="{FF2B5EF4-FFF2-40B4-BE49-F238E27FC236}">
                    <a16:creationId xmlns:a16="http://schemas.microsoft.com/office/drawing/2014/main" id="{C4EBD96C-AE57-B178-1082-3ACADD279FC5}"/>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272" name="Google Shape;373;p18">
                <a:extLst>
                  <a:ext uri="{FF2B5EF4-FFF2-40B4-BE49-F238E27FC236}">
                    <a16:creationId xmlns:a16="http://schemas.microsoft.com/office/drawing/2014/main" id="{52D3F70A-1351-4677-6738-626422E73B44}"/>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273" name="Google Shape;374;p18">
                <a:extLst>
                  <a:ext uri="{FF2B5EF4-FFF2-40B4-BE49-F238E27FC236}">
                    <a16:creationId xmlns:a16="http://schemas.microsoft.com/office/drawing/2014/main" id="{C476296F-15C8-35F4-CD9E-E6A2EC6D4430}"/>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1251" name="Google Shape;375;p18">
              <a:extLst>
                <a:ext uri="{FF2B5EF4-FFF2-40B4-BE49-F238E27FC236}">
                  <a16:creationId xmlns:a16="http://schemas.microsoft.com/office/drawing/2014/main" id="{63CDA81D-6366-5D4F-3023-066E3B6E9726}"/>
                </a:ext>
              </a:extLst>
            </p:cNvPr>
            <p:cNvSpPr txBox="1"/>
            <p:nvPr/>
          </p:nvSpPr>
          <p:spPr>
            <a:xfrm>
              <a:off x="8778052" y="385886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GitHub</a:t>
              </a:r>
              <a:endParaRPr sz="686" dirty="0">
                <a:solidFill>
                  <a:schemeClr val="dk2"/>
                </a:solidFill>
                <a:latin typeface="Source Sans 3"/>
                <a:ea typeface="Source Sans 3"/>
                <a:cs typeface="Source Sans 3"/>
                <a:sym typeface="Source Sans 3"/>
              </a:endParaRPr>
            </a:p>
          </p:txBody>
        </p:sp>
        <p:sp>
          <p:nvSpPr>
            <p:cNvPr id="1252" name="Google Shape;376;p18">
              <a:extLst>
                <a:ext uri="{FF2B5EF4-FFF2-40B4-BE49-F238E27FC236}">
                  <a16:creationId xmlns:a16="http://schemas.microsoft.com/office/drawing/2014/main" id="{982418FD-9F8E-2380-FE7F-96807D9B855C}"/>
                </a:ext>
              </a:extLst>
            </p:cNvPr>
            <p:cNvSpPr txBox="1"/>
            <p:nvPr/>
          </p:nvSpPr>
          <p:spPr>
            <a:xfrm>
              <a:off x="8838265" y="420625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Jira</a:t>
              </a:r>
              <a:endParaRPr sz="686">
                <a:solidFill>
                  <a:schemeClr val="dk2"/>
                </a:solidFill>
                <a:latin typeface="Source Sans 3"/>
                <a:ea typeface="Source Sans 3"/>
                <a:cs typeface="Source Sans 3"/>
                <a:sym typeface="Source Sans 3"/>
              </a:endParaRPr>
            </a:p>
          </p:txBody>
        </p:sp>
        <p:grpSp>
          <p:nvGrpSpPr>
            <p:cNvPr id="1253" name="Google Shape;377;p18">
              <a:extLst>
                <a:ext uri="{FF2B5EF4-FFF2-40B4-BE49-F238E27FC236}">
                  <a16:creationId xmlns:a16="http://schemas.microsoft.com/office/drawing/2014/main" id="{D21FF37A-87B0-A11B-CBF5-234542BB2F13}"/>
                </a:ext>
              </a:extLst>
            </p:cNvPr>
            <p:cNvGrpSpPr/>
            <p:nvPr/>
          </p:nvGrpSpPr>
          <p:grpSpPr>
            <a:xfrm>
              <a:off x="8846302" y="4841125"/>
              <a:ext cx="307200" cy="297900"/>
              <a:chOff x="3021975" y="2389850"/>
              <a:chExt cx="307200" cy="297900"/>
            </a:xfrm>
          </p:grpSpPr>
          <p:sp>
            <p:nvSpPr>
              <p:cNvPr id="1257" name="Google Shape;378;p18">
                <a:extLst>
                  <a:ext uri="{FF2B5EF4-FFF2-40B4-BE49-F238E27FC236}">
                    <a16:creationId xmlns:a16="http://schemas.microsoft.com/office/drawing/2014/main" id="{187EC370-137C-4676-81B8-9F4E61D73328}"/>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258" name="Google Shape;379;p18">
                <a:extLst>
                  <a:ext uri="{FF2B5EF4-FFF2-40B4-BE49-F238E27FC236}">
                    <a16:creationId xmlns:a16="http://schemas.microsoft.com/office/drawing/2014/main" id="{6E9FF8FF-C34A-AB17-274F-165B9CBA265A}"/>
                  </a:ext>
                </a:extLst>
              </p:cNvPr>
              <p:cNvGrpSpPr/>
              <p:nvPr/>
            </p:nvGrpSpPr>
            <p:grpSpPr>
              <a:xfrm>
                <a:off x="3021975" y="2389850"/>
                <a:ext cx="307200" cy="295800"/>
                <a:chOff x="3021975" y="2389850"/>
                <a:chExt cx="307200" cy="295800"/>
              </a:xfrm>
            </p:grpSpPr>
            <p:sp>
              <p:nvSpPr>
                <p:cNvPr id="1259" name="Google Shape;380;p18">
                  <a:extLst>
                    <a:ext uri="{FF2B5EF4-FFF2-40B4-BE49-F238E27FC236}">
                      <a16:creationId xmlns:a16="http://schemas.microsoft.com/office/drawing/2014/main" id="{1027FF26-27DA-80D4-D054-2F394BD4D332}"/>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0" name="Google Shape;381;p18">
                  <a:extLst>
                    <a:ext uri="{FF2B5EF4-FFF2-40B4-BE49-F238E27FC236}">
                      <a16:creationId xmlns:a16="http://schemas.microsoft.com/office/drawing/2014/main" id="{F49E0153-3CC3-3FD1-1D81-F10ECDEE83EB}"/>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261" name="Google Shape;382;p18">
                  <a:extLst>
                    <a:ext uri="{FF2B5EF4-FFF2-40B4-BE49-F238E27FC236}">
                      <a16:creationId xmlns:a16="http://schemas.microsoft.com/office/drawing/2014/main" id="{BFBCC423-668D-B3E3-FDCB-1EFF3BEE2116}"/>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1262" name="Google Shape;383;p18">
                  <a:extLst>
                    <a:ext uri="{FF2B5EF4-FFF2-40B4-BE49-F238E27FC236}">
                      <a16:creationId xmlns:a16="http://schemas.microsoft.com/office/drawing/2014/main" id="{4F27AEAF-C6A7-01E2-A980-66AEEB3F0FA1}"/>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1263" name="Google Shape;384;p18">
                  <a:extLst>
                    <a:ext uri="{FF2B5EF4-FFF2-40B4-BE49-F238E27FC236}">
                      <a16:creationId xmlns:a16="http://schemas.microsoft.com/office/drawing/2014/main" id="{5CDCB220-7990-8BA9-A130-16A01EF9ECCC}"/>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264" name="Google Shape;385;p18">
                  <a:extLst>
                    <a:ext uri="{FF2B5EF4-FFF2-40B4-BE49-F238E27FC236}">
                      <a16:creationId xmlns:a16="http://schemas.microsoft.com/office/drawing/2014/main" id="{93C2D726-D4E8-5750-2AEF-4AA186470A32}"/>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265" name="Google Shape;386;p18">
                  <a:extLst>
                    <a:ext uri="{FF2B5EF4-FFF2-40B4-BE49-F238E27FC236}">
                      <a16:creationId xmlns:a16="http://schemas.microsoft.com/office/drawing/2014/main" id="{2DC2DE77-B77B-7237-3501-BC0A4264E584}"/>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266" name="Google Shape;387;p18">
                  <a:extLst>
                    <a:ext uri="{FF2B5EF4-FFF2-40B4-BE49-F238E27FC236}">
                      <a16:creationId xmlns:a16="http://schemas.microsoft.com/office/drawing/2014/main" id="{1E21BF5D-E705-9A76-7E1E-1BE6787731DD}"/>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1254" name="Google Shape;388;p18">
              <a:extLst>
                <a:ext uri="{FF2B5EF4-FFF2-40B4-BE49-F238E27FC236}">
                  <a16:creationId xmlns:a16="http://schemas.microsoft.com/office/drawing/2014/main" id="{B46FF9A1-C7E3-1335-60BB-83589D2FDD99}"/>
                </a:ext>
              </a:extLst>
            </p:cNvPr>
            <p:cNvSpPr txBox="1"/>
            <p:nvPr/>
          </p:nvSpPr>
          <p:spPr>
            <a:xfrm>
              <a:off x="8715063" y="4553612"/>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cxnSp>
          <p:nvCxnSpPr>
            <p:cNvPr id="1255" name="Google Shape;389;p18">
              <a:extLst>
                <a:ext uri="{FF2B5EF4-FFF2-40B4-BE49-F238E27FC236}">
                  <a16:creationId xmlns:a16="http://schemas.microsoft.com/office/drawing/2014/main" id="{5FF7F050-9A06-4866-DC8B-1161D379F989}"/>
                </a:ext>
              </a:extLst>
            </p:cNvPr>
            <p:cNvCxnSpPr/>
            <p:nvPr/>
          </p:nvCxnSpPr>
          <p:spPr>
            <a:xfrm>
              <a:off x="8995190" y="5178050"/>
              <a:ext cx="0" cy="105900"/>
            </a:xfrm>
            <a:prstGeom prst="straightConnector1">
              <a:avLst/>
            </a:prstGeom>
            <a:noFill/>
            <a:ln w="9525" cap="flat" cmpd="sng">
              <a:solidFill>
                <a:schemeClr val="dk2"/>
              </a:solidFill>
              <a:prstDash val="dot"/>
              <a:round/>
              <a:headEnd type="none" w="med" len="med"/>
              <a:tailEnd type="none" w="med" len="med"/>
            </a:ln>
          </p:spPr>
        </p:cxnSp>
        <p:sp>
          <p:nvSpPr>
            <p:cNvPr id="1256" name="Google Shape;390;p18">
              <a:extLst>
                <a:ext uri="{FF2B5EF4-FFF2-40B4-BE49-F238E27FC236}">
                  <a16:creationId xmlns:a16="http://schemas.microsoft.com/office/drawing/2014/main" id="{2C40EAC4-C849-BFF9-83EE-3185DDCE196A}"/>
                </a:ext>
              </a:extLst>
            </p:cNvPr>
            <p:cNvSpPr/>
            <p:nvPr/>
          </p:nvSpPr>
          <p:spPr>
            <a:xfrm>
              <a:off x="8845927" y="530647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pic>
        <p:nvPicPr>
          <p:cNvPr id="1282" name="Graphic 1281" descr="Paper outline">
            <a:extLst>
              <a:ext uri="{FF2B5EF4-FFF2-40B4-BE49-F238E27FC236}">
                <a16:creationId xmlns:a16="http://schemas.microsoft.com/office/drawing/2014/main" id="{5DCFE9C6-3481-1B46-A504-E72D7B2CF2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45359" y="8538023"/>
            <a:ext cx="536605" cy="536605"/>
          </a:xfrm>
          <a:prstGeom prst="rect">
            <a:avLst/>
          </a:prstGeom>
        </p:spPr>
      </p:pic>
      <p:sp>
        <p:nvSpPr>
          <p:cNvPr id="1285" name="TextBox 1284">
            <a:extLst>
              <a:ext uri="{FF2B5EF4-FFF2-40B4-BE49-F238E27FC236}">
                <a16:creationId xmlns:a16="http://schemas.microsoft.com/office/drawing/2014/main" id="{978F4FCF-B2C7-13A9-7A3A-5BEA204604E2}"/>
              </a:ext>
            </a:extLst>
          </p:cNvPr>
          <p:cNvSpPr txBox="1"/>
          <p:nvPr/>
        </p:nvSpPr>
        <p:spPr>
          <a:xfrm>
            <a:off x="5190237" y="8649598"/>
            <a:ext cx="155499"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dirty="0"/>
              <a:t>+</a:t>
            </a:r>
            <a:endParaRPr kumimoji="0" lang="en-US"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1286" name="Straight Arrow Connector 1285">
            <a:extLst>
              <a:ext uri="{FF2B5EF4-FFF2-40B4-BE49-F238E27FC236}">
                <a16:creationId xmlns:a16="http://schemas.microsoft.com/office/drawing/2014/main" id="{F0A391E5-266C-71AE-C832-F9A6C66AF01C}"/>
              </a:ext>
            </a:extLst>
          </p:cNvPr>
          <p:cNvCxnSpPr>
            <a:cxnSpLocks/>
          </p:cNvCxnSpPr>
          <p:nvPr/>
        </p:nvCxnSpPr>
        <p:spPr>
          <a:xfrm>
            <a:off x="6471063" y="8803860"/>
            <a:ext cx="52075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87" name="Straight Arrow Connector 1286">
            <a:extLst>
              <a:ext uri="{FF2B5EF4-FFF2-40B4-BE49-F238E27FC236}">
                <a16:creationId xmlns:a16="http://schemas.microsoft.com/office/drawing/2014/main" id="{4E6055C8-0304-0BBF-7814-47735C3E9FBF}"/>
              </a:ext>
            </a:extLst>
          </p:cNvPr>
          <p:cNvCxnSpPr>
            <a:cxnSpLocks/>
          </p:cNvCxnSpPr>
          <p:nvPr/>
        </p:nvCxnSpPr>
        <p:spPr>
          <a:xfrm flipH="1">
            <a:off x="5875208" y="8083651"/>
            <a:ext cx="1" cy="454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88" name="Elbow Connector 1287">
            <a:extLst>
              <a:ext uri="{FF2B5EF4-FFF2-40B4-BE49-F238E27FC236}">
                <a16:creationId xmlns:a16="http://schemas.microsoft.com/office/drawing/2014/main" id="{4C7AD8D5-B822-5867-5FE8-49B0F011BEF6}"/>
              </a:ext>
            </a:extLst>
          </p:cNvPr>
          <p:cNvCxnSpPr>
            <a:cxnSpLocks/>
            <a:stCxn id="306" idx="1"/>
          </p:cNvCxnSpPr>
          <p:nvPr/>
        </p:nvCxnSpPr>
        <p:spPr>
          <a:xfrm rot="10800000" flipV="1">
            <a:off x="4901156" y="7492159"/>
            <a:ext cx="2389565" cy="395430"/>
          </a:xfrm>
          <a:prstGeom prst="bentConnector3">
            <a:avLst>
              <a:gd name="adj1" fmla="val 8418"/>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89" name="Straight Arrow Connector 1288">
            <a:extLst>
              <a:ext uri="{FF2B5EF4-FFF2-40B4-BE49-F238E27FC236}">
                <a16:creationId xmlns:a16="http://schemas.microsoft.com/office/drawing/2014/main" id="{228CDCA7-C674-40BA-37F4-EBA94162EF48}"/>
              </a:ext>
            </a:extLst>
          </p:cNvPr>
          <p:cNvCxnSpPr>
            <a:cxnSpLocks/>
          </p:cNvCxnSpPr>
          <p:nvPr/>
        </p:nvCxnSpPr>
        <p:spPr>
          <a:xfrm>
            <a:off x="4901156" y="7887589"/>
            <a:ext cx="0" cy="655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91" name="Elbow Connector 1290">
            <a:extLst>
              <a:ext uri="{FF2B5EF4-FFF2-40B4-BE49-F238E27FC236}">
                <a16:creationId xmlns:a16="http://schemas.microsoft.com/office/drawing/2014/main" id="{3A7F4B89-3E50-7D6A-5131-CCC66F34B47B}"/>
              </a:ext>
            </a:extLst>
          </p:cNvPr>
          <p:cNvCxnSpPr>
            <a:cxnSpLocks/>
          </p:cNvCxnSpPr>
          <p:nvPr/>
        </p:nvCxnSpPr>
        <p:spPr>
          <a:xfrm rot="10800000" flipV="1">
            <a:off x="5875209" y="7689643"/>
            <a:ext cx="2330535" cy="395891"/>
          </a:xfrm>
          <a:prstGeom prst="bentConnector3">
            <a:avLst>
              <a:gd name="adj1" fmla="val 138"/>
            </a:avLst>
          </a:prstGeom>
          <a:noFill/>
          <a:ln w="9525"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297" name="Straight Arrow Connector 1296">
            <a:extLst>
              <a:ext uri="{FF2B5EF4-FFF2-40B4-BE49-F238E27FC236}">
                <a16:creationId xmlns:a16="http://schemas.microsoft.com/office/drawing/2014/main" id="{981ABFB9-6C0D-68BE-AD23-C4C5FCBE36A5}"/>
              </a:ext>
            </a:extLst>
          </p:cNvPr>
          <p:cNvCxnSpPr>
            <a:cxnSpLocks/>
          </p:cNvCxnSpPr>
          <p:nvPr/>
        </p:nvCxnSpPr>
        <p:spPr>
          <a:xfrm>
            <a:off x="7954799" y="8798069"/>
            <a:ext cx="4914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03" name="Can 1302">
            <a:extLst>
              <a:ext uri="{FF2B5EF4-FFF2-40B4-BE49-F238E27FC236}">
                <a16:creationId xmlns:a16="http://schemas.microsoft.com/office/drawing/2014/main" id="{A2A199CB-EA65-D71B-EC4F-CB6CAF5DB6BC}"/>
              </a:ext>
            </a:extLst>
          </p:cNvPr>
          <p:cNvSpPr/>
          <p:nvPr/>
        </p:nvSpPr>
        <p:spPr>
          <a:xfrm>
            <a:off x="2161726" y="4087963"/>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304" name="TextBox 1303">
            <a:extLst>
              <a:ext uri="{FF2B5EF4-FFF2-40B4-BE49-F238E27FC236}">
                <a16:creationId xmlns:a16="http://schemas.microsoft.com/office/drawing/2014/main" id="{4727313C-293A-77AA-E013-469F904AACA9}"/>
              </a:ext>
            </a:extLst>
          </p:cNvPr>
          <p:cNvSpPr txBox="1"/>
          <p:nvPr/>
        </p:nvSpPr>
        <p:spPr>
          <a:xfrm>
            <a:off x="1691738" y="4702673"/>
            <a:ext cx="144929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err="1"/>
              <a:t>GHTorrent</a:t>
            </a:r>
            <a:r>
              <a:rPr lang="en-US" sz="1000" b="0" dirty="0"/>
              <a:t> 2014 DB</a:t>
            </a:r>
          </a:p>
          <a:p>
            <a:pPr algn="ctr"/>
            <a:r>
              <a:rPr lang="en-US" sz="800" b="0" dirty="0"/>
              <a:t>MSR Challenge [2]</a:t>
            </a:r>
          </a:p>
        </p:txBody>
      </p:sp>
      <p:sp>
        <p:nvSpPr>
          <p:cNvPr id="1306" name="Line">
            <a:extLst>
              <a:ext uri="{FF2B5EF4-FFF2-40B4-BE49-F238E27FC236}">
                <a16:creationId xmlns:a16="http://schemas.microsoft.com/office/drawing/2014/main" id="{00364F7D-5922-ABF8-D037-08CBD717ECE8}"/>
              </a:ext>
            </a:extLst>
          </p:cNvPr>
          <p:cNvSpPr/>
          <p:nvPr/>
        </p:nvSpPr>
        <p:spPr>
          <a:xfrm flipV="1">
            <a:off x="252723" y="5254841"/>
            <a:ext cx="3367943" cy="0"/>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aphicFrame>
        <p:nvGraphicFramePr>
          <p:cNvPr id="1307" name="Table">
            <a:extLst>
              <a:ext uri="{FF2B5EF4-FFF2-40B4-BE49-F238E27FC236}">
                <a16:creationId xmlns:a16="http://schemas.microsoft.com/office/drawing/2014/main" id="{AD95578E-FB93-623A-72BD-4BD8E3E383E2}"/>
              </a:ext>
            </a:extLst>
          </p:cNvPr>
          <p:cNvGraphicFramePr/>
          <p:nvPr>
            <p:extLst>
              <p:ext uri="{D42A27DB-BD31-4B8C-83A1-F6EECF244321}">
                <p14:modId xmlns:p14="http://schemas.microsoft.com/office/powerpoint/2010/main" val="2777227733"/>
              </p:ext>
            </p:extLst>
          </p:nvPr>
        </p:nvGraphicFramePr>
        <p:xfrm>
          <a:off x="637915" y="5447796"/>
          <a:ext cx="627864" cy="593755"/>
        </p:xfrm>
        <a:graphic>
          <a:graphicData uri="http://schemas.openxmlformats.org/drawingml/2006/table">
            <a:tbl>
              <a:tblPr firstRow="1">
                <a:tableStyleId>{4C3C2611-4C71-4FC5-86AE-919BDF0F9419}</a:tableStyleId>
              </a:tblPr>
              <a:tblGrid>
                <a:gridCol w="209288">
                  <a:extLst>
                    <a:ext uri="{9D8B030D-6E8A-4147-A177-3AD203B41FA5}">
                      <a16:colId xmlns:a16="http://schemas.microsoft.com/office/drawing/2014/main" val="20000"/>
                    </a:ext>
                  </a:extLst>
                </a:gridCol>
                <a:gridCol w="209288">
                  <a:extLst>
                    <a:ext uri="{9D8B030D-6E8A-4147-A177-3AD203B41FA5}">
                      <a16:colId xmlns:a16="http://schemas.microsoft.com/office/drawing/2014/main" val="20001"/>
                    </a:ext>
                  </a:extLst>
                </a:gridCol>
                <a:gridCol w="209288">
                  <a:extLst>
                    <a:ext uri="{9D8B030D-6E8A-4147-A177-3AD203B41FA5}">
                      <a16:colId xmlns:a16="http://schemas.microsoft.com/office/drawing/2014/main" val="20002"/>
                    </a:ext>
                  </a:extLst>
                </a:gridCol>
              </a:tblGrid>
              <a:tr h="118751">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118751">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118751">
                <a:tc>
                  <a:txBody>
                    <a:bodyPr/>
                    <a:lstStyle/>
                    <a:p>
                      <a:pPr defTabSz="914400">
                        <a:defRPr sz="700">
                          <a:sym typeface="Source Sans Pro Regular"/>
                        </a:defRPr>
                      </a:pPr>
                      <a:endParaRPr>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sp>
        <p:nvSpPr>
          <p:cNvPr id="1308" name="TextBox 1307">
            <a:extLst>
              <a:ext uri="{FF2B5EF4-FFF2-40B4-BE49-F238E27FC236}">
                <a16:creationId xmlns:a16="http://schemas.microsoft.com/office/drawing/2014/main" id="{D95E7635-4FBF-59BF-0832-EDCD28164511}"/>
              </a:ext>
            </a:extLst>
          </p:cNvPr>
          <p:cNvSpPr txBox="1"/>
          <p:nvPr/>
        </p:nvSpPr>
        <p:spPr>
          <a:xfrm>
            <a:off x="275721" y="6080333"/>
            <a:ext cx="1349115"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Jira Emotion 2016 CSV</a:t>
            </a:r>
          </a:p>
          <a:p>
            <a:pPr algn="ctr"/>
            <a:r>
              <a:rPr lang="en-US" sz="800" b="0" dirty="0"/>
              <a:t>Ortu et al. [3]</a:t>
            </a:r>
          </a:p>
        </p:txBody>
      </p:sp>
      <p:sp>
        <p:nvSpPr>
          <p:cNvPr id="1310" name="TextBox 1309">
            <a:extLst>
              <a:ext uri="{FF2B5EF4-FFF2-40B4-BE49-F238E27FC236}">
                <a16:creationId xmlns:a16="http://schemas.microsoft.com/office/drawing/2014/main" id="{436F3AA7-00BA-8BA2-6178-369325BD2FD3}"/>
              </a:ext>
            </a:extLst>
          </p:cNvPr>
          <p:cNvSpPr txBox="1"/>
          <p:nvPr/>
        </p:nvSpPr>
        <p:spPr>
          <a:xfrm>
            <a:off x="1667267" y="6096367"/>
            <a:ext cx="1449290" cy="438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a:t>Jira PostgreSQL 2016 DB</a:t>
            </a:r>
          </a:p>
          <a:p>
            <a:pPr algn="ctr"/>
            <a:r>
              <a:rPr lang="en-US" sz="800" b="0" dirty="0"/>
              <a:t>MSR Challenge [4]</a:t>
            </a:r>
          </a:p>
        </p:txBody>
      </p:sp>
      <p:sp>
        <p:nvSpPr>
          <p:cNvPr id="1318" name="TextBox 1317">
            <a:extLst>
              <a:ext uri="{FF2B5EF4-FFF2-40B4-BE49-F238E27FC236}">
                <a16:creationId xmlns:a16="http://schemas.microsoft.com/office/drawing/2014/main" id="{27EC62C0-2B1D-DB24-BFB1-72B84230E3B6}"/>
              </a:ext>
            </a:extLst>
          </p:cNvPr>
          <p:cNvSpPr txBox="1"/>
          <p:nvPr/>
        </p:nvSpPr>
        <p:spPr>
          <a:xfrm>
            <a:off x="9468971" y="9437117"/>
            <a:ext cx="4207266" cy="8591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600" b="0" dirty="0"/>
              <a:t>[1] N. Novielli, Fabio Calefato, Davide </a:t>
            </a:r>
            <a:r>
              <a:rPr lang="en-US" sz="600" b="0" dirty="0" err="1"/>
              <a:t>Dongiovanni</a:t>
            </a:r>
            <a:r>
              <a:rPr lang="en-US" sz="600" b="0" dirty="0"/>
              <a:t>, D. Girardi, and Filippo Lanubile, “Can We Use SE-specific Sentiment Analysis Tools in a Cross-Platform Setting?,” Jun. 2020, </a:t>
            </a:r>
            <a:r>
              <a:rPr lang="en-US" sz="600" b="0" dirty="0" err="1"/>
              <a:t>doi</a:t>
            </a:r>
            <a:r>
              <a:rPr lang="en-US" sz="600" b="0" dirty="0"/>
              <a:t>: https://doi.org/10.1145/3379597.3387446. </a:t>
            </a:r>
          </a:p>
          <a:p>
            <a:r>
              <a:rPr lang="en-US" sz="600" b="0" dirty="0"/>
              <a:t>[2]https://web.archive.org/web/20210224080543/http://ansymore.uantwerpen.be/system/files/uploads/artefacts/alessandro/MSR16/archive3.zip</a:t>
            </a:r>
          </a:p>
          <a:p>
            <a:r>
              <a:rPr lang="en-US" sz="600" b="0" dirty="0"/>
              <a:t>[3] M. Ortu </a:t>
            </a:r>
            <a:r>
              <a:rPr lang="en-US" sz="600" b="0" i="1" dirty="0"/>
              <a:t>et al.</a:t>
            </a:r>
            <a:r>
              <a:rPr lang="en-US" sz="600" b="0" dirty="0"/>
              <a:t>, “The emotional side of software developers in JIRA,” </a:t>
            </a:r>
            <a:r>
              <a:rPr lang="en-US" sz="600" b="0" i="1" dirty="0"/>
              <a:t>Proceedings of the 13th International Conference on Mining Software Repositories</a:t>
            </a:r>
            <a:r>
              <a:rPr lang="en-US" sz="600" b="0" dirty="0"/>
              <a:t>, May 2016, </a:t>
            </a:r>
            <a:r>
              <a:rPr lang="en-US" sz="600" b="0" dirty="0" err="1"/>
              <a:t>doi</a:t>
            </a:r>
            <a:r>
              <a:rPr lang="en-US" sz="600" b="0" dirty="0"/>
              <a:t>: https://doi.org/10.1145/2901739.2903505. </a:t>
            </a:r>
          </a:p>
          <a:p>
            <a:r>
              <a:rPr lang="en-US" sz="600" b="0" dirty="0"/>
              <a:t>[4]https://web.archive.org/web/20150206005357/http://ghtorrent.org/msr14.html </a:t>
            </a:r>
          </a:p>
        </p:txBody>
      </p:sp>
      <p:grpSp>
        <p:nvGrpSpPr>
          <p:cNvPr id="1469" name="Group 1468">
            <a:extLst>
              <a:ext uri="{FF2B5EF4-FFF2-40B4-BE49-F238E27FC236}">
                <a16:creationId xmlns:a16="http://schemas.microsoft.com/office/drawing/2014/main" id="{C23206C1-875F-259E-6FDC-C4CB60533445}"/>
              </a:ext>
            </a:extLst>
          </p:cNvPr>
          <p:cNvGrpSpPr/>
          <p:nvPr/>
        </p:nvGrpSpPr>
        <p:grpSpPr>
          <a:xfrm>
            <a:off x="9716135" y="7200213"/>
            <a:ext cx="3656845" cy="2142989"/>
            <a:chOff x="8476178" y="1075788"/>
            <a:chExt cx="3245700" cy="1935357"/>
          </a:xfrm>
        </p:grpSpPr>
        <p:sp>
          <p:nvSpPr>
            <p:cNvPr id="1401" name="Google Shape;324;p18">
              <a:extLst>
                <a:ext uri="{FF2B5EF4-FFF2-40B4-BE49-F238E27FC236}">
                  <a16:creationId xmlns:a16="http://schemas.microsoft.com/office/drawing/2014/main" id="{16E76DFA-6516-6338-EB38-7580C7405EC6}"/>
                </a:ext>
              </a:extLst>
            </p:cNvPr>
            <p:cNvSpPr/>
            <p:nvPr/>
          </p:nvSpPr>
          <p:spPr>
            <a:xfrm>
              <a:off x="8547103" y="1333245"/>
              <a:ext cx="413700" cy="16245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sp>
          <p:nvSpPr>
            <p:cNvPr id="1402" name="Google Shape;325;p18">
              <a:extLst>
                <a:ext uri="{FF2B5EF4-FFF2-40B4-BE49-F238E27FC236}">
                  <a16:creationId xmlns:a16="http://schemas.microsoft.com/office/drawing/2014/main" id="{1ABD9D0E-3EBA-04EE-AC70-4A6E0527A6C3}"/>
                </a:ext>
              </a:extLst>
            </p:cNvPr>
            <p:cNvSpPr txBox="1"/>
            <p:nvPr/>
          </p:nvSpPr>
          <p:spPr>
            <a:xfrm>
              <a:off x="8512875" y="1160558"/>
              <a:ext cx="5898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Comments</a:t>
              </a:r>
              <a:endParaRPr sz="686" dirty="0">
                <a:solidFill>
                  <a:schemeClr val="dk2"/>
                </a:solidFill>
                <a:latin typeface="Source Sans 3"/>
                <a:ea typeface="Source Sans 3"/>
                <a:cs typeface="Source Sans 3"/>
                <a:sym typeface="Source Sans 3"/>
              </a:endParaRPr>
            </a:p>
          </p:txBody>
        </p:sp>
        <p:sp>
          <p:nvSpPr>
            <p:cNvPr id="1403" name="Google Shape;326;p18">
              <a:extLst>
                <a:ext uri="{FF2B5EF4-FFF2-40B4-BE49-F238E27FC236}">
                  <a16:creationId xmlns:a16="http://schemas.microsoft.com/office/drawing/2014/main" id="{D4C72C1B-0D28-35A3-9630-33BC0B2CCC7E}"/>
                </a:ext>
              </a:extLst>
            </p:cNvPr>
            <p:cNvSpPr/>
            <p:nvPr/>
          </p:nvSpPr>
          <p:spPr>
            <a:xfrm>
              <a:off x="8476178" y="1114845"/>
              <a:ext cx="3245700" cy="18963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04" name="Google Shape;327;p18">
              <a:extLst>
                <a:ext uri="{FF2B5EF4-FFF2-40B4-BE49-F238E27FC236}">
                  <a16:creationId xmlns:a16="http://schemas.microsoft.com/office/drawing/2014/main" id="{E21B3BA2-1DEE-6D20-A7DC-048C13DE9C43}"/>
                </a:ext>
              </a:extLst>
            </p:cNvPr>
            <p:cNvSpPr/>
            <p:nvPr/>
          </p:nvSpPr>
          <p:spPr>
            <a:xfrm>
              <a:off x="9194189" y="1685753"/>
              <a:ext cx="660000" cy="539400"/>
            </a:xfrm>
            <a:prstGeom prst="rect">
              <a:avLst/>
            </a:prstGeom>
            <a:noFill/>
            <a:ln w="8175" cap="flat" cmpd="sng">
              <a:solidFill>
                <a:schemeClr val="dk2"/>
              </a:solidFill>
              <a:prstDash val="solid"/>
              <a:round/>
              <a:headEnd type="none" w="sm" len="sm"/>
              <a:tailEnd type="none" w="sm" len="sm"/>
            </a:ln>
          </p:spPr>
          <p:txBody>
            <a:bodyPr spcFirstLastPara="1" wrap="square" lIns="78425" tIns="78425" rIns="78425" bIns="78425" anchor="ctr" anchorCtr="0">
              <a:noAutofit/>
            </a:bodyPr>
            <a:lstStyle/>
            <a:p>
              <a:pPr marL="0" lvl="0" indent="0" algn="ctr" rtl="0">
                <a:spcBef>
                  <a:spcPts val="0"/>
                </a:spcBef>
                <a:spcAft>
                  <a:spcPts val="0"/>
                </a:spcAft>
                <a:buNone/>
              </a:pPr>
              <a:endParaRPr sz="1201"/>
            </a:p>
          </p:txBody>
        </p:sp>
        <p:sp>
          <p:nvSpPr>
            <p:cNvPr id="1405" name="Google Shape;328;p18">
              <a:extLst>
                <a:ext uri="{FF2B5EF4-FFF2-40B4-BE49-F238E27FC236}">
                  <a16:creationId xmlns:a16="http://schemas.microsoft.com/office/drawing/2014/main" id="{6A7C0B36-1102-9444-78DA-FB1CB00B5AB1}"/>
                </a:ext>
              </a:extLst>
            </p:cNvPr>
            <p:cNvSpPr txBox="1"/>
            <p:nvPr/>
          </p:nvSpPr>
          <p:spPr>
            <a:xfrm>
              <a:off x="9243730" y="1675030"/>
              <a:ext cx="627577" cy="23835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err="1">
                  <a:solidFill>
                    <a:schemeClr val="dk2"/>
                  </a:solidFill>
                  <a:latin typeface="Source Sans 3"/>
                  <a:ea typeface="Source Sans 3"/>
                  <a:cs typeface="Source Sans 3"/>
                  <a:sym typeface="Source Sans 3"/>
                </a:rPr>
                <a:t>sailuh</a:t>
              </a:r>
              <a:r>
                <a:rPr lang="en" sz="686" dirty="0">
                  <a:solidFill>
                    <a:schemeClr val="dk2"/>
                  </a:solidFill>
                  <a:latin typeface="Source Sans 3"/>
                  <a:ea typeface="Source Sans 3"/>
                  <a:cs typeface="Source Sans 3"/>
                  <a:sym typeface="Source Sans 3"/>
                </a:rPr>
                <a:t>/</a:t>
              </a:r>
              <a:r>
                <a:rPr lang="en" sz="686" dirty="0" err="1">
                  <a:solidFill>
                    <a:schemeClr val="dk2"/>
                  </a:solidFill>
                  <a:latin typeface="Source Sans 3"/>
                  <a:ea typeface="Source Sans 3"/>
                  <a:cs typeface="Source Sans 3"/>
                  <a:sym typeface="Source Sans 3"/>
                </a:rPr>
                <a:t>kaiaulu</a:t>
              </a:r>
              <a:endParaRPr sz="686" dirty="0">
                <a:solidFill>
                  <a:schemeClr val="dk2"/>
                </a:solidFill>
                <a:latin typeface="Source Sans 3"/>
                <a:ea typeface="Source Sans 3"/>
                <a:cs typeface="Source Sans 3"/>
                <a:sym typeface="Source Sans 3"/>
              </a:endParaRPr>
            </a:p>
          </p:txBody>
        </p:sp>
        <p:cxnSp>
          <p:nvCxnSpPr>
            <p:cNvPr id="1406" name="Google Shape;329;p18">
              <a:extLst>
                <a:ext uri="{FF2B5EF4-FFF2-40B4-BE49-F238E27FC236}">
                  <a16:creationId xmlns:a16="http://schemas.microsoft.com/office/drawing/2014/main" id="{84CD3B2C-2AB8-1E9F-4C14-C88803EAE35F}"/>
                </a:ext>
              </a:extLst>
            </p:cNvPr>
            <p:cNvCxnSpPr/>
            <p:nvPr/>
          </p:nvCxnSpPr>
          <p:spPr>
            <a:xfrm>
              <a:off x="9524199" y="2225090"/>
              <a:ext cx="0" cy="297300"/>
            </a:xfrm>
            <a:prstGeom prst="straightConnector1">
              <a:avLst/>
            </a:prstGeom>
            <a:noFill/>
            <a:ln w="8175" cap="flat" cmpd="sng">
              <a:solidFill>
                <a:schemeClr val="dk2"/>
              </a:solidFill>
              <a:prstDash val="solid"/>
              <a:round/>
              <a:headEnd type="none" w="med" len="med"/>
              <a:tailEnd type="triangle" w="med" len="med"/>
            </a:ln>
          </p:spPr>
        </p:cxnSp>
        <p:sp>
          <p:nvSpPr>
            <p:cNvPr id="1407" name="Google Shape;330;p18">
              <a:extLst>
                <a:ext uri="{FF2B5EF4-FFF2-40B4-BE49-F238E27FC236}">
                  <a16:creationId xmlns:a16="http://schemas.microsoft.com/office/drawing/2014/main" id="{2863E1A2-FDF9-20A4-D300-71C956D35F79}"/>
                </a:ext>
              </a:extLst>
            </p:cNvPr>
            <p:cNvSpPr txBox="1"/>
            <p:nvPr/>
          </p:nvSpPr>
          <p:spPr>
            <a:xfrm>
              <a:off x="9029988" y="2467514"/>
              <a:ext cx="1094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rgbClr val="628DB5"/>
                  </a:solidFill>
                  <a:latin typeface="Source Sans 3"/>
                  <a:ea typeface="Source Sans 3"/>
                  <a:cs typeface="Source Sans 3"/>
                  <a:sym typeface="Source Sans 3"/>
                </a:rPr>
                <a:t>engagement_sentiment()</a:t>
              </a:r>
              <a:endParaRPr sz="686">
                <a:solidFill>
                  <a:srgbClr val="628DB5"/>
                </a:solidFill>
                <a:latin typeface="Source Sans 3"/>
                <a:ea typeface="Source Sans 3"/>
                <a:cs typeface="Source Sans 3"/>
                <a:sym typeface="Source Sans 3"/>
              </a:endParaRPr>
            </a:p>
          </p:txBody>
        </p:sp>
        <p:sp>
          <p:nvSpPr>
            <p:cNvPr id="1408" name="Google Shape;331;p18">
              <a:extLst>
                <a:ext uri="{FF2B5EF4-FFF2-40B4-BE49-F238E27FC236}">
                  <a16:creationId xmlns:a16="http://schemas.microsoft.com/office/drawing/2014/main" id="{F927C819-24B8-0288-5820-E5828373DF79}"/>
                </a:ext>
              </a:extLst>
            </p:cNvPr>
            <p:cNvSpPr/>
            <p:nvPr/>
          </p:nvSpPr>
          <p:spPr>
            <a:xfrm>
              <a:off x="10562628" y="1685745"/>
              <a:ext cx="1099800" cy="554100"/>
            </a:xfrm>
            <a:prstGeom prst="rect">
              <a:avLst/>
            </a:prstGeom>
            <a:noFill/>
            <a:ln w="8200" cap="flat" cmpd="sng">
              <a:solidFill>
                <a:schemeClr val="dk2"/>
              </a:solidFill>
              <a:prstDash val="solid"/>
              <a:round/>
              <a:headEnd type="none" w="sm" len="sm"/>
              <a:tailEnd type="none" w="sm" len="sm"/>
            </a:ln>
          </p:spPr>
          <p:txBody>
            <a:bodyPr spcFirstLastPara="1" wrap="square" lIns="78800" tIns="78800" rIns="78800" bIns="78800" anchor="ctr" anchorCtr="0">
              <a:noAutofit/>
            </a:bodyPr>
            <a:lstStyle/>
            <a:p>
              <a:pPr marL="0" lvl="0" indent="0" algn="ctr" rtl="0">
                <a:spcBef>
                  <a:spcPts val="0"/>
                </a:spcBef>
                <a:spcAft>
                  <a:spcPts val="0"/>
                </a:spcAft>
                <a:buNone/>
              </a:pPr>
              <a:endParaRPr sz="1207"/>
            </a:p>
          </p:txBody>
        </p:sp>
        <p:sp>
          <p:nvSpPr>
            <p:cNvPr id="1409" name="Google Shape;332;p18">
              <a:extLst>
                <a:ext uri="{FF2B5EF4-FFF2-40B4-BE49-F238E27FC236}">
                  <a16:creationId xmlns:a16="http://schemas.microsoft.com/office/drawing/2014/main" id="{B44C36FF-23D5-F409-E2D9-9A524EB56F98}"/>
                </a:ext>
              </a:extLst>
            </p:cNvPr>
            <p:cNvSpPr txBox="1"/>
            <p:nvPr/>
          </p:nvSpPr>
          <p:spPr>
            <a:xfrm>
              <a:off x="10544028" y="1682645"/>
              <a:ext cx="1150800" cy="265200"/>
            </a:xfrm>
            <a:prstGeom prst="rect">
              <a:avLst/>
            </a:prstGeom>
            <a:noFill/>
            <a:ln>
              <a:noFill/>
            </a:ln>
          </p:spPr>
          <p:txBody>
            <a:bodyPr spcFirstLastPara="1" wrap="square" lIns="78800" tIns="78800" rIns="78800" bIns="78800" anchor="t" anchorCtr="0">
              <a:spAutoFit/>
            </a:bodyPr>
            <a:lstStyle/>
            <a:p>
              <a:pPr marL="0" lvl="0" indent="0" algn="l" rtl="0">
                <a:spcBef>
                  <a:spcPts val="0"/>
                </a:spcBef>
                <a:spcAft>
                  <a:spcPts val="0"/>
                </a:spcAft>
                <a:buNone/>
              </a:pPr>
              <a:r>
                <a:rPr lang="en" sz="689" dirty="0" err="1">
                  <a:solidFill>
                    <a:schemeClr val="dk2"/>
                  </a:solidFill>
                  <a:latin typeface="Source Sans 3"/>
                  <a:ea typeface="Source Sans 3"/>
                  <a:cs typeface="Source Sans 3"/>
                  <a:sym typeface="Source Sans 3"/>
                </a:rPr>
                <a:t>sailuh</a:t>
              </a:r>
              <a:r>
                <a:rPr lang="en" sz="689" dirty="0">
                  <a:solidFill>
                    <a:schemeClr val="dk2"/>
                  </a:solidFill>
                  <a:latin typeface="Source Sans 3"/>
                  <a:ea typeface="Source Sans 3"/>
                  <a:cs typeface="Source Sans 3"/>
                  <a:sym typeface="Source Sans 3"/>
                </a:rPr>
                <a:t>/</a:t>
              </a:r>
              <a:r>
                <a:rPr lang="en" sz="689" dirty="0" err="1">
                  <a:solidFill>
                    <a:schemeClr val="dk2"/>
                  </a:solidFill>
                  <a:latin typeface="Source Sans 3"/>
                  <a:ea typeface="Source Sans 3"/>
                  <a:cs typeface="Source Sans 3"/>
                  <a:sym typeface="Source Sans 3"/>
                </a:rPr>
                <a:t>sentiment_classifier</a:t>
              </a:r>
              <a:endParaRPr sz="689" dirty="0">
                <a:solidFill>
                  <a:schemeClr val="dk2"/>
                </a:solidFill>
                <a:latin typeface="Source Sans 3"/>
                <a:ea typeface="Source Sans 3"/>
                <a:cs typeface="Source Sans 3"/>
                <a:sym typeface="Source Sans 3"/>
              </a:endParaRPr>
            </a:p>
          </p:txBody>
        </p:sp>
        <p:cxnSp>
          <p:nvCxnSpPr>
            <p:cNvPr id="1410" name="Google Shape;333;p18">
              <a:extLst>
                <a:ext uri="{FF2B5EF4-FFF2-40B4-BE49-F238E27FC236}">
                  <a16:creationId xmlns:a16="http://schemas.microsoft.com/office/drawing/2014/main" id="{ACEAF984-2775-BF17-E76B-2289FED76637}"/>
                </a:ext>
              </a:extLst>
            </p:cNvPr>
            <p:cNvCxnSpPr/>
            <p:nvPr/>
          </p:nvCxnSpPr>
          <p:spPr>
            <a:xfrm rot="10800000" flipH="1">
              <a:off x="9890815" y="1865994"/>
              <a:ext cx="632700" cy="900"/>
            </a:xfrm>
            <a:prstGeom prst="straightConnector1">
              <a:avLst/>
            </a:prstGeom>
            <a:noFill/>
            <a:ln w="9525" cap="flat" cmpd="sng">
              <a:solidFill>
                <a:schemeClr val="dk2"/>
              </a:solidFill>
              <a:prstDash val="solid"/>
              <a:round/>
              <a:headEnd type="none" w="med" len="med"/>
              <a:tailEnd type="triangle" w="med" len="med"/>
            </a:ln>
          </p:spPr>
        </p:cxnSp>
        <p:cxnSp>
          <p:nvCxnSpPr>
            <p:cNvPr id="1411" name="Google Shape;334;p18">
              <a:extLst>
                <a:ext uri="{FF2B5EF4-FFF2-40B4-BE49-F238E27FC236}">
                  <a16:creationId xmlns:a16="http://schemas.microsoft.com/office/drawing/2014/main" id="{0C9B8A2C-D0B7-C8E8-EF66-0FFB1E9C305D}"/>
                </a:ext>
              </a:extLst>
            </p:cNvPr>
            <p:cNvCxnSpPr/>
            <p:nvPr/>
          </p:nvCxnSpPr>
          <p:spPr>
            <a:xfrm rot="10800000">
              <a:off x="9866990" y="2086194"/>
              <a:ext cx="632700" cy="900"/>
            </a:xfrm>
            <a:prstGeom prst="straightConnector1">
              <a:avLst/>
            </a:prstGeom>
            <a:noFill/>
            <a:ln w="9525" cap="flat" cmpd="sng">
              <a:solidFill>
                <a:schemeClr val="dk2"/>
              </a:solidFill>
              <a:prstDash val="solid"/>
              <a:round/>
              <a:headEnd type="none" w="med" len="med"/>
              <a:tailEnd type="triangle" w="med" len="med"/>
            </a:ln>
          </p:spPr>
        </p:cxnSp>
        <p:sp>
          <p:nvSpPr>
            <p:cNvPr id="1412" name="Google Shape;335;p18">
              <a:extLst>
                <a:ext uri="{FF2B5EF4-FFF2-40B4-BE49-F238E27FC236}">
                  <a16:creationId xmlns:a16="http://schemas.microsoft.com/office/drawing/2014/main" id="{59F83158-CBD8-B4D2-149E-241A7B33BA88}"/>
                </a:ext>
              </a:extLst>
            </p:cNvPr>
            <p:cNvSpPr txBox="1"/>
            <p:nvPr/>
          </p:nvSpPr>
          <p:spPr>
            <a:xfrm>
              <a:off x="10046553" y="2123170"/>
              <a:ext cx="3483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label</a:t>
              </a:r>
              <a:endParaRPr sz="686">
                <a:solidFill>
                  <a:schemeClr val="dk2"/>
                </a:solidFill>
                <a:latin typeface="Source Sans 3"/>
                <a:ea typeface="Source Sans 3"/>
                <a:cs typeface="Source Sans 3"/>
                <a:sym typeface="Source Sans 3"/>
              </a:endParaRPr>
            </a:p>
          </p:txBody>
        </p:sp>
        <p:sp>
          <p:nvSpPr>
            <p:cNvPr id="1413" name="Google Shape;336;p18">
              <a:extLst>
                <a:ext uri="{FF2B5EF4-FFF2-40B4-BE49-F238E27FC236}">
                  <a16:creationId xmlns:a16="http://schemas.microsoft.com/office/drawing/2014/main" id="{9AE60197-B0A5-3252-A4C3-8D7D9FC6827D}"/>
                </a:ext>
              </a:extLst>
            </p:cNvPr>
            <p:cNvSpPr/>
            <p:nvPr/>
          </p:nvSpPr>
          <p:spPr>
            <a:xfrm>
              <a:off x="10370240" y="2300395"/>
              <a:ext cx="133800" cy="114600"/>
            </a:xfrm>
            <a:prstGeom prst="wedgeRectCallout">
              <a:avLst>
                <a:gd name="adj1" fmla="val -20833"/>
                <a:gd name="adj2" fmla="val 62500"/>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4" name="Google Shape;337;p18">
              <a:extLst>
                <a:ext uri="{FF2B5EF4-FFF2-40B4-BE49-F238E27FC236}">
                  <a16:creationId xmlns:a16="http://schemas.microsoft.com/office/drawing/2014/main" id="{6D6C2055-C273-32A2-152B-711FC10D184D}"/>
                </a:ext>
              </a:extLst>
            </p:cNvPr>
            <p:cNvSpPr txBox="1"/>
            <p:nvPr/>
          </p:nvSpPr>
          <p:spPr>
            <a:xfrm>
              <a:off x="9829328" y="1578732"/>
              <a:ext cx="8400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pysenti_predict()</a:t>
              </a:r>
              <a:endParaRPr sz="686">
                <a:solidFill>
                  <a:schemeClr val="dk2"/>
                </a:solidFill>
                <a:latin typeface="Source Sans 3"/>
                <a:ea typeface="Source Sans 3"/>
                <a:cs typeface="Source Sans 3"/>
                <a:sym typeface="Source Sans 3"/>
              </a:endParaRPr>
            </a:p>
          </p:txBody>
        </p:sp>
        <p:sp>
          <p:nvSpPr>
            <p:cNvPr id="1415" name="Google Shape;338;p18">
              <a:extLst>
                <a:ext uri="{FF2B5EF4-FFF2-40B4-BE49-F238E27FC236}">
                  <a16:creationId xmlns:a16="http://schemas.microsoft.com/office/drawing/2014/main" id="{C94E76A0-8C32-3341-CB89-6E218CF23DBD}"/>
                </a:ext>
              </a:extLst>
            </p:cNvPr>
            <p:cNvSpPr/>
            <p:nvPr/>
          </p:nvSpPr>
          <p:spPr>
            <a:xfrm>
              <a:off x="10116428" y="1532095"/>
              <a:ext cx="133800" cy="114600"/>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6" name="Google Shape;339;p18">
              <a:extLst>
                <a:ext uri="{FF2B5EF4-FFF2-40B4-BE49-F238E27FC236}">
                  <a16:creationId xmlns:a16="http://schemas.microsoft.com/office/drawing/2014/main" id="{337216D4-D01B-DBCF-C8AE-6218A3DB6357}"/>
                </a:ext>
              </a:extLst>
            </p:cNvPr>
            <p:cNvSpPr/>
            <p:nvPr/>
          </p:nvSpPr>
          <p:spPr>
            <a:xfrm>
              <a:off x="9482353" y="2661807"/>
              <a:ext cx="113100" cy="114600"/>
            </a:xfrm>
            <a:prstGeom prst="ellipse">
              <a:avLst/>
            </a:prstGeom>
            <a:solidFill>
              <a:srgbClr val="628DB5"/>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7" name="Google Shape;340;p18">
              <a:extLst>
                <a:ext uri="{FF2B5EF4-FFF2-40B4-BE49-F238E27FC236}">
                  <a16:creationId xmlns:a16="http://schemas.microsoft.com/office/drawing/2014/main" id="{7BA7B546-F380-6B70-DA23-B1C159E57011}"/>
                </a:ext>
              </a:extLst>
            </p:cNvPr>
            <p:cNvSpPr txBox="1"/>
            <p:nvPr/>
          </p:nvSpPr>
          <p:spPr>
            <a:xfrm>
              <a:off x="9400286" y="2595959"/>
              <a:ext cx="289200" cy="23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00" dirty="0">
                  <a:solidFill>
                    <a:schemeClr val="lt1"/>
                  </a:solidFill>
                </a:rPr>
                <a:t> </a:t>
              </a:r>
              <a:r>
                <a:rPr lang="en" sz="500" dirty="0">
                  <a:solidFill>
                    <a:schemeClr val="lt1"/>
                  </a:solidFill>
                </a:rPr>
                <a:t>0.25</a:t>
              </a:r>
              <a:endParaRPr sz="500" dirty="0">
                <a:solidFill>
                  <a:schemeClr val="lt1"/>
                </a:solidFill>
              </a:endParaRPr>
            </a:p>
          </p:txBody>
        </p:sp>
        <p:sp>
          <p:nvSpPr>
            <p:cNvPr id="1418" name="Google Shape;341;p18">
              <a:extLst>
                <a:ext uri="{FF2B5EF4-FFF2-40B4-BE49-F238E27FC236}">
                  <a16:creationId xmlns:a16="http://schemas.microsoft.com/office/drawing/2014/main" id="{902AB772-4564-8415-06BB-E1AEC035D03C}"/>
                </a:ext>
              </a:extLst>
            </p:cNvPr>
            <p:cNvSpPr/>
            <p:nvPr/>
          </p:nvSpPr>
          <p:spPr>
            <a:xfrm>
              <a:off x="10141503" y="2300395"/>
              <a:ext cx="133800" cy="114600"/>
            </a:xfrm>
            <a:prstGeom prst="wedgeRectCallout">
              <a:avLst>
                <a:gd name="adj1" fmla="val -20833"/>
                <a:gd name="adj2" fmla="val 62500"/>
              </a:avLst>
            </a:prstGeom>
            <a:solidFill>
              <a:srgbClr val="E0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9" name="Google Shape;342;p18">
              <a:extLst>
                <a:ext uri="{FF2B5EF4-FFF2-40B4-BE49-F238E27FC236}">
                  <a16:creationId xmlns:a16="http://schemas.microsoft.com/office/drawing/2014/main" id="{AAAD3820-3DDB-427E-9372-D248E1BA09AF}"/>
                </a:ext>
              </a:extLst>
            </p:cNvPr>
            <p:cNvSpPr/>
            <p:nvPr/>
          </p:nvSpPr>
          <p:spPr>
            <a:xfrm>
              <a:off x="9912740" y="2300395"/>
              <a:ext cx="133800" cy="114600"/>
            </a:xfrm>
            <a:prstGeom prst="wedgeRectCallout">
              <a:avLst>
                <a:gd name="adj1" fmla="val -20833"/>
                <a:gd name="adj2" fmla="val 625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20" name="Google Shape;344;p18">
              <a:extLst>
                <a:ext uri="{FF2B5EF4-FFF2-40B4-BE49-F238E27FC236}">
                  <a16:creationId xmlns:a16="http://schemas.microsoft.com/office/drawing/2014/main" id="{7CD30D0E-3443-10D6-7B9E-22C04A0187A4}"/>
                </a:ext>
              </a:extLst>
            </p:cNvPr>
            <p:cNvSpPr txBox="1"/>
            <p:nvPr/>
          </p:nvSpPr>
          <p:spPr>
            <a:xfrm>
              <a:off x="10062053" y="1668745"/>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(2)</a:t>
              </a:r>
              <a:endParaRPr sz="686" dirty="0">
                <a:solidFill>
                  <a:schemeClr val="dk2"/>
                </a:solidFill>
                <a:latin typeface="Source Sans 3"/>
                <a:ea typeface="Source Sans 3"/>
                <a:cs typeface="Source Sans 3"/>
                <a:sym typeface="Source Sans 3"/>
              </a:endParaRPr>
            </a:p>
          </p:txBody>
        </p:sp>
        <p:sp>
          <p:nvSpPr>
            <p:cNvPr id="1421" name="Google Shape;345;p18">
              <a:extLst>
                <a:ext uri="{FF2B5EF4-FFF2-40B4-BE49-F238E27FC236}">
                  <a16:creationId xmlns:a16="http://schemas.microsoft.com/office/drawing/2014/main" id="{71F81721-BE27-56E0-AD62-D9BA518ADF35}"/>
                </a:ext>
              </a:extLst>
            </p:cNvPr>
            <p:cNvSpPr txBox="1"/>
            <p:nvPr/>
          </p:nvSpPr>
          <p:spPr>
            <a:xfrm>
              <a:off x="10079303" y="2023132"/>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(4)</a:t>
              </a:r>
              <a:endParaRPr sz="686">
                <a:solidFill>
                  <a:schemeClr val="dk2"/>
                </a:solidFill>
                <a:latin typeface="Source Sans 3"/>
                <a:ea typeface="Source Sans 3"/>
                <a:cs typeface="Source Sans 3"/>
                <a:sym typeface="Source Sans 3"/>
              </a:endParaRPr>
            </a:p>
          </p:txBody>
        </p:sp>
        <p:sp>
          <p:nvSpPr>
            <p:cNvPr id="1422" name="Google Shape;346;p18">
              <a:extLst>
                <a:ext uri="{FF2B5EF4-FFF2-40B4-BE49-F238E27FC236}">
                  <a16:creationId xmlns:a16="http://schemas.microsoft.com/office/drawing/2014/main" id="{45CB18BC-E92A-3F6C-A457-0FA4FB41E00E}"/>
                </a:ext>
              </a:extLst>
            </p:cNvPr>
            <p:cNvSpPr txBox="1"/>
            <p:nvPr/>
          </p:nvSpPr>
          <p:spPr>
            <a:xfrm>
              <a:off x="10964278" y="1800070"/>
              <a:ext cx="274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a:solidFill>
                    <a:schemeClr val="dk2"/>
                  </a:solidFill>
                  <a:latin typeface="Source Sans 3"/>
                  <a:ea typeface="Source Sans 3"/>
                  <a:cs typeface="Source Sans 3"/>
                  <a:sym typeface="Source Sans 3"/>
                </a:rPr>
                <a:t>(3)</a:t>
              </a:r>
              <a:endParaRPr sz="686">
                <a:solidFill>
                  <a:schemeClr val="dk2"/>
                </a:solidFill>
                <a:latin typeface="Source Sans 3"/>
                <a:ea typeface="Source Sans 3"/>
                <a:cs typeface="Source Sans 3"/>
                <a:sym typeface="Source Sans 3"/>
              </a:endParaRPr>
            </a:p>
          </p:txBody>
        </p:sp>
        <p:sp>
          <p:nvSpPr>
            <p:cNvPr id="1423" name="Google Shape;347;p18">
              <a:extLst>
                <a:ext uri="{FF2B5EF4-FFF2-40B4-BE49-F238E27FC236}">
                  <a16:creationId xmlns:a16="http://schemas.microsoft.com/office/drawing/2014/main" id="{15891F36-5785-99C8-4193-B8F5DD9B2CAE}"/>
                </a:ext>
              </a:extLst>
            </p:cNvPr>
            <p:cNvSpPr/>
            <p:nvPr/>
          </p:nvSpPr>
          <p:spPr>
            <a:xfrm>
              <a:off x="107684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1424" name="Google Shape;348;p18">
              <a:extLst>
                <a:ext uri="{FF2B5EF4-FFF2-40B4-BE49-F238E27FC236}">
                  <a16:creationId xmlns:a16="http://schemas.microsoft.com/office/drawing/2014/main" id="{7E9EF5CC-6A44-4F30-B718-4151366BDCED}"/>
                </a:ext>
              </a:extLst>
            </p:cNvPr>
            <p:cNvSpPr txBox="1"/>
            <p:nvPr/>
          </p:nvSpPr>
          <p:spPr>
            <a:xfrm>
              <a:off x="10702335" y="1945845"/>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1425" name="Google Shape;349;p18">
              <a:extLst>
                <a:ext uri="{FF2B5EF4-FFF2-40B4-BE49-F238E27FC236}">
                  <a16:creationId xmlns:a16="http://schemas.microsoft.com/office/drawing/2014/main" id="{AB8D50BF-7925-D89F-5861-7E171ED87A52}"/>
                </a:ext>
              </a:extLst>
            </p:cNvPr>
            <p:cNvSpPr txBox="1"/>
            <p:nvPr/>
          </p:nvSpPr>
          <p:spPr>
            <a:xfrm>
              <a:off x="11020518" y="1948023"/>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1426" name="Google Shape;350;p18">
              <a:extLst>
                <a:ext uri="{FF2B5EF4-FFF2-40B4-BE49-F238E27FC236}">
                  <a16:creationId xmlns:a16="http://schemas.microsoft.com/office/drawing/2014/main" id="{BE2FDE6F-C2C7-EA60-A86B-3539F411A33D}"/>
                </a:ext>
              </a:extLst>
            </p:cNvPr>
            <p:cNvSpPr/>
            <p:nvPr/>
          </p:nvSpPr>
          <p:spPr>
            <a:xfrm>
              <a:off x="109289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1427" name="Google Shape;351;p18">
              <a:extLst>
                <a:ext uri="{FF2B5EF4-FFF2-40B4-BE49-F238E27FC236}">
                  <a16:creationId xmlns:a16="http://schemas.microsoft.com/office/drawing/2014/main" id="{2C2AE8CA-2292-CB6C-FBE3-0399AC89D8EF}"/>
                </a:ext>
              </a:extLst>
            </p:cNvPr>
            <p:cNvSpPr/>
            <p:nvPr/>
          </p:nvSpPr>
          <p:spPr>
            <a:xfrm>
              <a:off x="110894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1428" name="Google Shape;352;p18">
              <a:extLst>
                <a:ext uri="{FF2B5EF4-FFF2-40B4-BE49-F238E27FC236}">
                  <a16:creationId xmlns:a16="http://schemas.microsoft.com/office/drawing/2014/main" id="{7D62E4DD-2307-A251-F6F2-771E5DB0F75D}"/>
                </a:ext>
              </a:extLst>
            </p:cNvPr>
            <p:cNvSpPr/>
            <p:nvPr/>
          </p:nvSpPr>
          <p:spPr>
            <a:xfrm>
              <a:off x="11249965" y="2013295"/>
              <a:ext cx="160500" cy="146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600"/>
            </a:p>
          </p:txBody>
        </p:sp>
        <p:sp>
          <p:nvSpPr>
            <p:cNvPr id="1429" name="Google Shape;353;p18">
              <a:extLst>
                <a:ext uri="{FF2B5EF4-FFF2-40B4-BE49-F238E27FC236}">
                  <a16:creationId xmlns:a16="http://schemas.microsoft.com/office/drawing/2014/main" id="{F3B7A8A0-4D9A-1B94-3FE4-89D934EF1B1F}"/>
                </a:ext>
              </a:extLst>
            </p:cNvPr>
            <p:cNvSpPr txBox="1"/>
            <p:nvPr/>
          </p:nvSpPr>
          <p:spPr>
            <a:xfrm>
              <a:off x="10863720" y="1948470"/>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sp>
          <p:nvSpPr>
            <p:cNvPr id="1430" name="Google Shape;354;p18">
              <a:extLst>
                <a:ext uri="{FF2B5EF4-FFF2-40B4-BE49-F238E27FC236}">
                  <a16:creationId xmlns:a16="http://schemas.microsoft.com/office/drawing/2014/main" id="{A2D1637A-BF8F-BE8E-32DB-73EF5D4F1E0D}"/>
                </a:ext>
              </a:extLst>
            </p:cNvPr>
            <p:cNvSpPr txBox="1"/>
            <p:nvPr/>
          </p:nvSpPr>
          <p:spPr>
            <a:xfrm>
              <a:off x="11183172" y="1948019"/>
              <a:ext cx="307200" cy="2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a:solidFill>
                    <a:schemeClr val="dk2"/>
                  </a:solidFill>
                </a:rPr>
                <a:t>ML</a:t>
              </a:r>
              <a:endParaRPr sz="650">
                <a:solidFill>
                  <a:schemeClr val="dk2"/>
                </a:solidFill>
                <a:latin typeface="Source Sans 3"/>
                <a:ea typeface="Source Sans 3"/>
                <a:cs typeface="Source Sans 3"/>
                <a:sym typeface="Source Sans 3"/>
              </a:endParaRPr>
            </a:p>
          </p:txBody>
        </p:sp>
        <p:cxnSp>
          <p:nvCxnSpPr>
            <p:cNvPr id="1431" name="Google Shape;357;p18">
              <a:extLst>
                <a:ext uri="{FF2B5EF4-FFF2-40B4-BE49-F238E27FC236}">
                  <a16:creationId xmlns:a16="http://schemas.microsoft.com/office/drawing/2014/main" id="{CF345E9F-54F8-A693-AEDB-F17A4172765E}"/>
                </a:ext>
              </a:extLst>
            </p:cNvPr>
            <p:cNvCxnSpPr>
              <a:cxnSpLocks/>
              <a:stCxn id="1404" idx="0"/>
              <a:endCxn id="1409" idx="0"/>
            </p:cNvCxnSpPr>
            <p:nvPr/>
          </p:nvCxnSpPr>
          <p:spPr>
            <a:xfrm rot="16200000">
              <a:off x="10320239" y="886703"/>
              <a:ext cx="3000" cy="1595100"/>
            </a:xfrm>
            <a:prstGeom prst="bentConnector3">
              <a:avLst>
                <a:gd name="adj1" fmla="val 8041114"/>
              </a:avLst>
            </a:prstGeom>
            <a:noFill/>
            <a:ln w="9525" cap="flat" cmpd="sng">
              <a:solidFill>
                <a:schemeClr val="dk2"/>
              </a:solidFill>
              <a:prstDash val="solid"/>
              <a:round/>
              <a:headEnd type="none" w="med" len="med"/>
              <a:tailEnd type="triangle" w="med" len="med"/>
            </a:ln>
          </p:spPr>
        </p:cxnSp>
        <p:sp>
          <p:nvSpPr>
            <p:cNvPr id="1432" name="Google Shape;358;p18">
              <a:extLst>
                <a:ext uri="{FF2B5EF4-FFF2-40B4-BE49-F238E27FC236}">
                  <a16:creationId xmlns:a16="http://schemas.microsoft.com/office/drawing/2014/main" id="{E059EA2C-4B0E-5096-6493-8F6ACBB4D48F}"/>
                </a:ext>
              </a:extLst>
            </p:cNvPr>
            <p:cNvSpPr txBox="1"/>
            <p:nvPr/>
          </p:nvSpPr>
          <p:spPr>
            <a:xfrm>
              <a:off x="9795878" y="1222007"/>
              <a:ext cx="972600" cy="18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50" dirty="0" err="1">
                  <a:solidFill>
                    <a:schemeClr val="dk2"/>
                  </a:solidFill>
                  <a:latin typeface="Source Sans 3"/>
                  <a:ea typeface="Source Sans 3"/>
                  <a:cs typeface="Source Sans 3"/>
                  <a:sym typeface="Source Sans 3"/>
                </a:rPr>
                <a:t>pysenti_train_model</a:t>
              </a:r>
              <a:r>
                <a:rPr lang="en" sz="650" dirty="0">
                  <a:solidFill>
                    <a:schemeClr val="dk2"/>
                  </a:solidFill>
                  <a:latin typeface="Source Sans 3"/>
                  <a:ea typeface="Source Sans 3"/>
                  <a:cs typeface="Source Sans 3"/>
                  <a:sym typeface="Source Sans 3"/>
                </a:rPr>
                <a:t>()</a:t>
              </a:r>
              <a:endParaRPr sz="650" dirty="0">
                <a:solidFill>
                  <a:schemeClr val="dk2"/>
                </a:solidFill>
                <a:latin typeface="Source Sans 3"/>
                <a:ea typeface="Source Sans 3"/>
                <a:cs typeface="Source Sans 3"/>
                <a:sym typeface="Source Sans 3"/>
              </a:endParaRPr>
            </a:p>
          </p:txBody>
        </p:sp>
        <p:grpSp>
          <p:nvGrpSpPr>
            <p:cNvPr id="1433" name="Google Shape;359;p18">
              <a:extLst>
                <a:ext uri="{FF2B5EF4-FFF2-40B4-BE49-F238E27FC236}">
                  <a16:creationId xmlns:a16="http://schemas.microsoft.com/office/drawing/2014/main" id="{DAC40BEB-879D-121A-57BC-B0B6167AB8FC}"/>
                </a:ext>
              </a:extLst>
            </p:cNvPr>
            <p:cNvGrpSpPr/>
            <p:nvPr/>
          </p:nvGrpSpPr>
          <p:grpSpPr>
            <a:xfrm>
              <a:off x="8600328" y="1454457"/>
              <a:ext cx="307200" cy="189300"/>
              <a:chOff x="3007175" y="1757600"/>
              <a:chExt cx="307200" cy="189300"/>
            </a:xfrm>
          </p:grpSpPr>
          <p:sp>
            <p:nvSpPr>
              <p:cNvPr id="1434" name="Google Shape;360;p18">
                <a:extLst>
                  <a:ext uri="{FF2B5EF4-FFF2-40B4-BE49-F238E27FC236}">
                    <a16:creationId xmlns:a16="http://schemas.microsoft.com/office/drawing/2014/main" id="{B9C7C553-703A-78B7-44B2-072634E22A2A}"/>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5" name="Google Shape;361;p18">
                <a:extLst>
                  <a:ext uri="{FF2B5EF4-FFF2-40B4-BE49-F238E27FC236}">
                    <a16:creationId xmlns:a16="http://schemas.microsoft.com/office/drawing/2014/main" id="{78EB2DEF-D3C3-7D9B-3632-ABE1196E87ED}"/>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6" name="Google Shape;362;p18">
                <a:extLst>
                  <a:ext uri="{FF2B5EF4-FFF2-40B4-BE49-F238E27FC236}">
                    <a16:creationId xmlns:a16="http://schemas.microsoft.com/office/drawing/2014/main" id="{D23907A0-4B73-DA81-9CD6-F3017A258456}"/>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7" name="Google Shape;363;p18">
                <a:extLst>
                  <a:ext uri="{FF2B5EF4-FFF2-40B4-BE49-F238E27FC236}">
                    <a16:creationId xmlns:a16="http://schemas.microsoft.com/office/drawing/2014/main" id="{5942D78A-A9B2-13F4-E99C-388B76C3A7E5}"/>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438" name="Google Shape;364;p18">
                <a:extLst>
                  <a:ext uri="{FF2B5EF4-FFF2-40B4-BE49-F238E27FC236}">
                    <a16:creationId xmlns:a16="http://schemas.microsoft.com/office/drawing/2014/main" id="{F631DC3D-9BF7-8E68-C8C3-E618D559D7E6}"/>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439" name="Google Shape;365;p18">
                <a:extLst>
                  <a:ext uri="{FF2B5EF4-FFF2-40B4-BE49-F238E27FC236}">
                    <a16:creationId xmlns:a16="http://schemas.microsoft.com/office/drawing/2014/main" id="{3597FD2C-BCBC-A8F8-EAB2-1E5131DFDBD8}"/>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440" name="Google Shape;366;p18">
                <a:extLst>
                  <a:ext uri="{FF2B5EF4-FFF2-40B4-BE49-F238E27FC236}">
                    <a16:creationId xmlns:a16="http://schemas.microsoft.com/office/drawing/2014/main" id="{B4BB8F03-0D18-04C5-AC2B-3147882C2DF5}"/>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grpSp>
          <p:nvGrpSpPr>
            <p:cNvPr id="1441" name="Google Shape;367;p18">
              <a:extLst>
                <a:ext uri="{FF2B5EF4-FFF2-40B4-BE49-F238E27FC236}">
                  <a16:creationId xmlns:a16="http://schemas.microsoft.com/office/drawing/2014/main" id="{8A59197B-43D6-8464-D322-845A5EF357D9}"/>
                </a:ext>
              </a:extLst>
            </p:cNvPr>
            <p:cNvGrpSpPr/>
            <p:nvPr/>
          </p:nvGrpSpPr>
          <p:grpSpPr>
            <a:xfrm>
              <a:off x="8600315" y="1797920"/>
              <a:ext cx="307200" cy="189300"/>
              <a:chOff x="3007175" y="1757600"/>
              <a:chExt cx="307200" cy="189300"/>
            </a:xfrm>
          </p:grpSpPr>
          <p:sp>
            <p:nvSpPr>
              <p:cNvPr id="1442" name="Google Shape;368;p18">
                <a:extLst>
                  <a:ext uri="{FF2B5EF4-FFF2-40B4-BE49-F238E27FC236}">
                    <a16:creationId xmlns:a16="http://schemas.microsoft.com/office/drawing/2014/main" id="{2F7D3DD1-6839-F643-DEB5-662639AE18F5}"/>
                  </a:ext>
                </a:extLst>
              </p:cNvPr>
              <p:cNvSpPr/>
              <p:nvPr/>
            </p:nvSpPr>
            <p:spPr>
              <a:xfrm>
                <a:off x="3007175" y="175760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3" name="Google Shape;369;p18">
                <a:extLst>
                  <a:ext uri="{FF2B5EF4-FFF2-40B4-BE49-F238E27FC236}">
                    <a16:creationId xmlns:a16="http://schemas.microsoft.com/office/drawing/2014/main" id="{7717BD54-F006-8A1F-3A49-A5FBF56A00BD}"/>
                  </a:ext>
                </a:extLst>
              </p:cNvPr>
              <p:cNvSpPr/>
              <p:nvPr/>
            </p:nvSpPr>
            <p:spPr>
              <a:xfrm>
                <a:off x="3026600" y="1784425"/>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4" name="Google Shape;370;p18">
                <a:extLst>
                  <a:ext uri="{FF2B5EF4-FFF2-40B4-BE49-F238E27FC236}">
                    <a16:creationId xmlns:a16="http://schemas.microsoft.com/office/drawing/2014/main" id="{46D708C6-44C1-7427-7B1D-FB321B18D9BD}"/>
                  </a:ext>
                </a:extLst>
              </p:cNvPr>
              <p:cNvSpPr/>
              <p:nvPr/>
            </p:nvSpPr>
            <p:spPr>
              <a:xfrm>
                <a:off x="3026600" y="1840363"/>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5" name="Google Shape;371;p18">
                <a:extLst>
                  <a:ext uri="{FF2B5EF4-FFF2-40B4-BE49-F238E27FC236}">
                    <a16:creationId xmlns:a16="http://schemas.microsoft.com/office/drawing/2014/main" id="{B6690D43-1228-8E07-CEA2-235533CDCB93}"/>
                  </a:ext>
                </a:extLst>
              </p:cNvPr>
              <p:cNvSpPr/>
              <p:nvPr/>
            </p:nvSpPr>
            <p:spPr>
              <a:xfrm>
                <a:off x="3026600" y="1896300"/>
                <a:ext cx="25800" cy="270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446" name="Google Shape;372;p18">
                <a:extLst>
                  <a:ext uri="{FF2B5EF4-FFF2-40B4-BE49-F238E27FC236}">
                    <a16:creationId xmlns:a16="http://schemas.microsoft.com/office/drawing/2014/main" id="{8F9F0E65-2F4F-B905-0FAB-CED13BE47A43}"/>
                  </a:ext>
                </a:extLst>
              </p:cNvPr>
              <p:cNvCxnSpPr/>
              <p:nvPr/>
            </p:nvCxnSpPr>
            <p:spPr>
              <a:xfrm>
                <a:off x="3070825" y="17965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447" name="Google Shape;373;p18">
                <a:extLst>
                  <a:ext uri="{FF2B5EF4-FFF2-40B4-BE49-F238E27FC236}">
                    <a16:creationId xmlns:a16="http://schemas.microsoft.com/office/drawing/2014/main" id="{3A9CCC09-0FBC-495D-BF67-40AC6F11C368}"/>
                  </a:ext>
                </a:extLst>
              </p:cNvPr>
              <p:cNvCxnSpPr/>
              <p:nvPr/>
            </p:nvCxnSpPr>
            <p:spPr>
              <a:xfrm>
                <a:off x="3070825" y="1852250"/>
                <a:ext cx="194100" cy="0"/>
              </a:xfrm>
              <a:prstGeom prst="straightConnector1">
                <a:avLst/>
              </a:prstGeom>
              <a:noFill/>
              <a:ln w="9525" cap="flat" cmpd="sng">
                <a:solidFill>
                  <a:schemeClr val="dk2"/>
                </a:solidFill>
                <a:prstDash val="solid"/>
                <a:round/>
                <a:headEnd type="none" w="med" len="med"/>
                <a:tailEnd type="none" w="med" len="med"/>
              </a:ln>
            </p:spPr>
          </p:cxnSp>
          <p:cxnSp>
            <p:nvCxnSpPr>
              <p:cNvPr id="1448" name="Google Shape;374;p18">
                <a:extLst>
                  <a:ext uri="{FF2B5EF4-FFF2-40B4-BE49-F238E27FC236}">
                    <a16:creationId xmlns:a16="http://schemas.microsoft.com/office/drawing/2014/main" id="{1843E212-C9FD-5E10-B6EA-C3095A5A4261}"/>
                  </a:ext>
                </a:extLst>
              </p:cNvPr>
              <p:cNvCxnSpPr/>
              <p:nvPr/>
            </p:nvCxnSpPr>
            <p:spPr>
              <a:xfrm>
                <a:off x="3070825" y="1909800"/>
                <a:ext cx="194100" cy="0"/>
              </a:xfrm>
              <a:prstGeom prst="straightConnector1">
                <a:avLst/>
              </a:prstGeom>
              <a:noFill/>
              <a:ln w="9525" cap="flat" cmpd="sng">
                <a:solidFill>
                  <a:schemeClr val="dk2"/>
                </a:solidFill>
                <a:prstDash val="solid"/>
                <a:round/>
                <a:headEnd type="none" w="med" len="med"/>
                <a:tailEnd type="none" w="med" len="med"/>
              </a:ln>
            </p:spPr>
          </p:cxnSp>
        </p:grpSp>
        <p:sp>
          <p:nvSpPr>
            <p:cNvPr id="1449" name="Google Shape;375;p18">
              <a:extLst>
                <a:ext uri="{FF2B5EF4-FFF2-40B4-BE49-F238E27FC236}">
                  <a16:creationId xmlns:a16="http://schemas.microsoft.com/office/drawing/2014/main" id="{2EA060D7-AF59-5ADD-4255-3889BCA5825E}"/>
                </a:ext>
              </a:extLst>
            </p:cNvPr>
            <p:cNvSpPr txBox="1"/>
            <p:nvPr/>
          </p:nvSpPr>
          <p:spPr>
            <a:xfrm>
              <a:off x="8540115" y="1269432"/>
              <a:ext cx="4437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GitHub</a:t>
              </a:r>
              <a:endParaRPr sz="686" dirty="0">
                <a:solidFill>
                  <a:schemeClr val="dk2"/>
                </a:solidFill>
                <a:latin typeface="Source Sans 3"/>
                <a:ea typeface="Source Sans 3"/>
                <a:cs typeface="Source Sans 3"/>
                <a:sym typeface="Source Sans 3"/>
              </a:endParaRPr>
            </a:p>
          </p:txBody>
        </p:sp>
        <p:sp>
          <p:nvSpPr>
            <p:cNvPr id="1450" name="Google Shape;376;p18">
              <a:extLst>
                <a:ext uri="{FF2B5EF4-FFF2-40B4-BE49-F238E27FC236}">
                  <a16:creationId xmlns:a16="http://schemas.microsoft.com/office/drawing/2014/main" id="{82CB89C6-6126-1127-7291-F8FB4EC25108}"/>
                </a:ext>
              </a:extLst>
            </p:cNvPr>
            <p:cNvSpPr txBox="1"/>
            <p:nvPr/>
          </p:nvSpPr>
          <p:spPr>
            <a:xfrm>
              <a:off x="8600328" y="1616820"/>
              <a:ext cx="307200" cy="264000"/>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Jira</a:t>
              </a:r>
              <a:endParaRPr sz="686" dirty="0">
                <a:solidFill>
                  <a:schemeClr val="dk2"/>
                </a:solidFill>
                <a:latin typeface="Source Sans 3"/>
                <a:ea typeface="Source Sans 3"/>
                <a:cs typeface="Source Sans 3"/>
                <a:sym typeface="Source Sans 3"/>
              </a:endParaRPr>
            </a:p>
          </p:txBody>
        </p:sp>
        <p:grpSp>
          <p:nvGrpSpPr>
            <p:cNvPr id="1451" name="Google Shape;377;p18">
              <a:extLst>
                <a:ext uri="{FF2B5EF4-FFF2-40B4-BE49-F238E27FC236}">
                  <a16:creationId xmlns:a16="http://schemas.microsoft.com/office/drawing/2014/main" id="{F7A2694C-14CB-4CEF-1A02-FF640E209C1D}"/>
                </a:ext>
              </a:extLst>
            </p:cNvPr>
            <p:cNvGrpSpPr/>
            <p:nvPr/>
          </p:nvGrpSpPr>
          <p:grpSpPr>
            <a:xfrm>
              <a:off x="8608365" y="2251695"/>
              <a:ext cx="307200" cy="297900"/>
              <a:chOff x="3021975" y="2389850"/>
              <a:chExt cx="307200" cy="297900"/>
            </a:xfrm>
          </p:grpSpPr>
          <p:sp>
            <p:nvSpPr>
              <p:cNvPr id="1452" name="Google Shape;378;p18">
                <a:extLst>
                  <a:ext uri="{FF2B5EF4-FFF2-40B4-BE49-F238E27FC236}">
                    <a16:creationId xmlns:a16="http://schemas.microsoft.com/office/drawing/2014/main" id="{AC1BBB56-8B59-BBA9-D029-29959C296767}"/>
                  </a:ext>
                </a:extLst>
              </p:cNvPr>
              <p:cNvSpPr/>
              <p:nvPr/>
            </p:nvSpPr>
            <p:spPr>
              <a:xfrm>
                <a:off x="3021975" y="2498450"/>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453" name="Google Shape;379;p18">
                <a:extLst>
                  <a:ext uri="{FF2B5EF4-FFF2-40B4-BE49-F238E27FC236}">
                    <a16:creationId xmlns:a16="http://schemas.microsoft.com/office/drawing/2014/main" id="{84E685DD-151F-E75E-468B-8DE31315D795}"/>
                  </a:ext>
                </a:extLst>
              </p:cNvPr>
              <p:cNvGrpSpPr/>
              <p:nvPr/>
            </p:nvGrpSpPr>
            <p:grpSpPr>
              <a:xfrm>
                <a:off x="3021975" y="2389850"/>
                <a:ext cx="307200" cy="295800"/>
                <a:chOff x="3021975" y="2389850"/>
                <a:chExt cx="307200" cy="295800"/>
              </a:xfrm>
            </p:grpSpPr>
            <p:sp>
              <p:nvSpPr>
                <p:cNvPr id="1454" name="Google Shape;380;p18">
                  <a:extLst>
                    <a:ext uri="{FF2B5EF4-FFF2-40B4-BE49-F238E27FC236}">
                      <a16:creationId xmlns:a16="http://schemas.microsoft.com/office/drawing/2014/main" id="{99BC4393-EBCC-DD48-EAFB-5DAFBC4326A1}"/>
                    </a:ext>
                  </a:extLst>
                </p:cNvPr>
                <p:cNvSpPr/>
                <p:nvPr/>
              </p:nvSpPr>
              <p:spPr>
                <a:xfrm>
                  <a:off x="3021975" y="23898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5" name="Google Shape;381;p18">
                  <a:extLst>
                    <a:ext uri="{FF2B5EF4-FFF2-40B4-BE49-F238E27FC236}">
                      <a16:creationId xmlns:a16="http://schemas.microsoft.com/office/drawing/2014/main" id="{F81F2B4B-424D-3C1D-CBC6-42A6546490C0}"/>
                    </a:ext>
                  </a:extLst>
                </p:cNvPr>
                <p:cNvSpPr/>
                <p:nvPr/>
              </p:nvSpPr>
              <p:spPr>
                <a:xfrm rot="10800000" flipH="1">
                  <a:off x="3021975" y="2498450"/>
                  <a:ext cx="307200" cy="108600"/>
                </a:xfrm>
                <a:prstGeom prst="triangle">
                  <a:avLst>
                    <a:gd name="adj" fmla="val 50155"/>
                  </a:avLst>
                </a:prstGeom>
                <a:no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456" name="Google Shape;382;p18">
                  <a:extLst>
                    <a:ext uri="{FF2B5EF4-FFF2-40B4-BE49-F238E27FC236}">
                      <a16:creationId xmlns:a16="http://schemas.microsoft.com/office/drawing/2014/main" id="{FA11F5F2-F7EB-0C16-9C64-093723E99F34}"/>
                    </a:ext>
                  </a:extLst>
                </p:cNvPr>
                <p:cNvCxnSpPr/>
                <p:nvPr/>
              </p:nvCxnSpPr>
              <p:spPr>
                <a:xfrm rot="10800000" flipH="1">
                  <a:off x="3025150" y="2588150"/>
                  <a:ext cx="120600" cy="97500"/>
                </a:xfrm>
                <a:prstGeom prst="straightConnector1">
                  <a:avLst/>
                </a:prstGeom>
                <a:noFill/>
                <a:ln w="9525" cap="flat" cmpd="sng">
                  <a:solidFill>
                    <a:schemeClr val="dk2"/>
                  </a:solidFill>
                  <a:prstDash val="solid"/>
                  <a:round/>
                  <a:headEnd type="none" w="med" len="med"/>
                  <a:tailEnd type="none" w="med" len="med"/>
                </a:ln>
              </p:spPr>
            </p:cxnSp>
            <p:cxnSp>
              <p:nvCxnSpPr>
                <p:cNvPr id="1457" name="Google Shape;383;p18">
                  <a:extLst>
                    <a:ext uri="{FF2B5EF4-FFF2-40B4-BE49-F238E27FC236}">
                      <a16:creationId xmlns:a16="http://schemas.microsoft.com/office/drawing/2014/main" id="{488F4C57-3039-6BE3-004B-788A90FC74AE}"/>
                    </a:ext>
                  </a:extLst>
                </p:cNvPr>
                <p:cNvCxnSpPr/>
                <p:nvPr/>
              </p:nvCxnSpPr>
              <p:spPr>
                <a:xfrm rot="10800000">
                  <a:off x="3208563" y="2588150"/>
                  <a:ext cx="120600" cy="97500"/>
                </a:xfrm>
                <a:prstGeom prst="straightConnector1">
                  <a:avLst/>
                </a:prstGeom>
                <a:noFill/>
                <a:ln w="9525" cap="flat" cmpd="sng">
                  <a:solidFill>
                    <a:schemeClr val="dk2"/>
                  </a:solidFill>
                  <a:prstDash val="solid"/>
                  <a:round/>
                  <a:headEnd type="none" w="med" len="med"/>
                  <a:tailEnd type="none" w="med" len="med"/>
                </a:ln>
              </p:spPr>
            </p:cxnSp>
            <p:sp>
              <p:nvSpPr>
                <p:cNvPr id="1458" name="Google Shape;384;p18">
                  <a:extLst>
                    <a:ext uri="{FF2B5EF4-FFF2-40B4-BE49-F238E27FC236}">
                      <a16:creationId xmlns:a16="http://schemas.microsoft.com/office/drawing/2014/main" id="{7470D2BB-D839-6042-2165-DCF5D317B9F8}"/>
                    </a:ext>
                  </a:extLst>
                </p:cNvPr>
                <p:cNvSpPr/>
                <p:nvPr/>
              </p:nvSpPr>
              <p:spPr>
                <a:xfrm>
                  <a:off x="3101475" y="2457225"/>
                  <a:ext cx="148200" cy="91800"/>
                </a:xfrm>
                <a:prstGeom prst="rect">
                  <a:avLst/>
                </a:prstGeom>
                <a:solidFill>
                  <a:schemeClr val="lt2"/>
                </a:solidFill>
                <a:ln w="81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459" name="Google Shape;385;p18">
                  <a:extLst>
                    <a:ext uri="{FF2B5EF4-FFF2-40B4-BE49-F238E27FC236}">
                      <a16:creationId xmlns:a16="http://schemas.microsoft.com/office/drawing/2014/main" id="{4B4FD688-3F54-F3A1-D7C4-D7D6DCAAE3D6}"/>
                    </a:ext>
                  </a:extLst>
                </p:cNvPr>
                <p:cNvCxnSpPr/>
                <p:nvPr/>
              </p:nvCxnSpPr>
              <p:spPr>
                <a:xfrm>
                  <a:off x="3121125" y="2480650"/>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460" name="Google Shape;386;p18">
                  <a:extLst>
                    <a:ext uri="{FF2B5EF4-FFF2-40B4-BE49-F238E27FC236}">
                      <a16:creationId xmlns:a16="http://schemas.microsoft.com/office/drawing/2014/main" id="{EEF8EEA5-75A4-34D4-2C9C-C3B9310121C9}"/>
                    </a:ext>
                  </a:extLst>
                </p:cNvPr>
                <p:cNvCxnSpPr/>
                <p:nvPr/>
              </p:nvCxnSpPr>
              <p:spPr>
                <a:xfrm>
                  <a:off x="3121125" y="2502075"/>
                  <a:ext cx="108900" cy="0"/>
                </a:xfrm>
                <a:prstGeom prst="straightConnector1">
                  <a:avLst/>
                </a:prstGeom>
                <a:noFill/>
                <a:ln w="9525" cap="flat" cmpd="sng">
                  <a:solidFill>
                    <a:schemeClr val="dk2"/>
                  </a:solidFill>
                  <a:prstDash val="solid"/>
                  <a:round/>
                  <a:headEnd type="none" w="med" len="med"/>
                  <a:tailEnd type="none" w="med" len="med"/>
                </a:ln>
              </p:spPr>
            </p:cxnSp>
            <p:cxnSp>
              <p:nvCxnSpPr>
                <p:cNvPr id="1461" name="Google Shape;387;p18">
                  <a:extLst>
                    <a:ext uri="{FF2B5EF4-FFF2-40B4-BE49-F238E27FC236}">
                      <a16:creationId xmlns:a16="http://schemas.microsoft.com/office/drawing/2014/main" id="{8ABB42A6-DDFB-026E-3052-E4E88D4ED2AE}"/>
                    </a:ext>
                  </a:extLst>
                </p:cNvPr>
                <p:cNvCxnSpPr/>
                <p:nvPr/>
              </p:nvCxnSpPr>
              <p:spPr>
                <a:xfrm>
                  <a:off x="3121125" y="2525600"/>
                  <a:ext cx="108900" cy="0"/>
                </a:xfrm>
                <a:prstGeom prst="straightConnector1">
                  <a:avLst/>
                </a:prstGeom>
                <a:noFill/>
                <a:ln w="9525" cap="flat" cmpd="sng">
                  <a:solidFill>
                    <a:schemeClr val="dk2"/>
                  </a:solidFill>
                  <a:prstDash val="solid"/>
                  <a:round/>
                  <a:headEnd type="none" w="med" len="med"/>
                  <a:tailEnd type="none" w="med" len="med"/>
                </a:ln>
              </p:spPr>
            </p:cxnSp>
          </p:grpSp>
        </p:grpSp>
        <p:sp>
          <p:nvSpPr>
            <p:cNvPr id="1462" name="Google Shape;388;p18">
              <a:extLst>
                <a:ext uri="{FF2B5EF4-FFF2-40B4-BE49-F238E27FC236}">
                  <a16:creationId xmlns:a16="http://schemas.microsoft.com/office/drawing/2014/main" id="{3D37F661-6FC8-C71A-630B-0DA0971D4982}"/>
                </a:ext>
              </a:extLst>
            </p:cNvPr>
            <p:cNvSpPr txBox="1"/>
            <p:nvPr/>
          </p:nvSpPr>
          <p:spPr>
            <a:xfrm>
              <a:off x="8477126" y="2049850"/>
              <a:ext cx="569700" cy="369600"/>
            </a:xfrm>
            <a:prstGeom prst="rect">
              <a:avLst/>
            </a:prstGeom>
            <a:noFill/>
            <a:ln>
              <a:noFill/>
            </a:ln>
          </p:spPr>
          <p:txBody>
            <a:bodyPr spcFirstLastPara="1" wrap="square" lIns="78425" tIns="78425" rIns="78425" bIns="78425" anchor="t" anchorCtr="0">
              <a:spAutoFit/>
            </a:bodyPr>
            <a:lstStyle/>
            <a:p>
              <a:pPr marL="0" lvl="0" indent="0" algn="ctr" rtl="0">
                <a:spcBef>
                  <a:spcPts val="0"/>
                </a:spcBef>
                <a:spcAft>
                  <a:spcPts val="0"/>
                </a:spcAft>
                <a:buNone/>
              </a:pPr>
              <a:r>
                <a:rPr lang="en" sz="686" dirty="0">
                  <a:solidFill>
                    <a:schemeClr val="dk2"/>
                  </a:solidFill>
                  <a:latin typeface="Source Sans 3"/>
                  <a:ea typeface="Source Sans 3"/>
                  <a:cs typeface="Source Sans 3"/>
                  <a:sym typeface="Source Sans 3"/>
                </a:rPr>
                <a:t>Mailing Lists</a:t>
              </a:r>
              <a:endParaRPr sz="686" dirty="0">
                <a:solidFill>
                  <a:schemeClr val="dk2"/>
                </a:solidFill>
                <a:latin typeface="Source Sans 3"/>
                <a:ea typeface="Source Sans 3"/>
                <a:cs typeface="Source Sans 3"/>
                <a:sym typeface="Source Sans 3"/>
              </a:endParaRPr>
            </a:p>
          </p:txBody>
        </p:sp>
        <p:cxnSp>
          <p:nvCxnSpPr>
            <p:cNvPr id="1463" name="Google Shape;389;p18">
              <a:extLst>
                <a:ext uri="{FF2B5EF4-FFF2-40B4-BE49-F238E27FC236}">
                  <a16:creationId xmlns:a16="http://schemas.microsoft.com/office/drawing/2014/main" id="{B3AE8614-E8EB-C01C-AF84-FBD2D6A3EBDF}"/>
                </a:ext>
              </a:extLst>
            </p:cNvPr>
            <p:cNvCxnSpPr/>
            <p:nvPr/>
          </p:nvCxnSpPr>
          <p:spPr>
            <a:xfrm>
              <a:off x="8757253" y="2588620"/>
              <a:ext cx="0" cy="105900"/>
            </a:xfrm>
            <a:prstGeom prst="straightConnector1">
              <a:avLst/>
            </a:prstGeom>
            <a:noFill/>
            <a:ln w="9525" cap="flat" cmpd="sng">
              <a:solidFill>
                <a:schemeClr val="dk2"/>
              </a:solidFill>
              <a:prstDash val="dot"/>
              <a:round/>
              <a:headEnd type="none" w="med" len="med"/>
              <a:tailEnd type="none" w="med" len="med"/>
            </a:ln>
          </p:spPr>
        </p:cxnSp>
        <p:sp>
          <p:nvSpPr>
            <p:cNvPr id="1464" name="Google Shape;390;p18">
              <a:extLst>
                <a:ext uri="{FF2B5EF4-FFF2-40B4-BE49-F238E27FC236}">
                  <a16:creationId xmlns:a16="http://schemas.microsoft.com/office/drawing/2014/main" id="{89E28F47-789E-D238-B2CA-DD9DEF4E2920}"/>
                </a:ext>
              </a:extLst>
            </p:cNvPr>
            <p:cNvSpPr/>
            <p:nvPr/>
          </p:nvSpPr>
          <p:spPr>
            <a:xfrm>
              <a:off x="8607990" y="2717045"/>
              <a:ext cx="307200" cy="189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 name="Google Shape;344;p18">
              <a:extLst>
                <a:ext uri="{FF2B5EF4-FFF2-40B4-BE49-F238E27FC236}">
                  <a16:creationId xmlns:a16="http://schemas.microsoft.com/office/drawing/2014/main" id="{03CB0287-6142-1D08-BFBA-94F8A2397EB6}"/>
                </a:ext>
              </a:extLst>
            </p:cNvPr>
            <p:cNvSpPr txBox="1"/>
            <p:nvPr/>
          </p:nvSpPr>
          <p:spPr>
            <a:xfrm>
              <a:off x="8629070" y="1075788"/>
              <a:ext cx="274200" cy="238352"/>
            </a:xfrm>
            <a:prstGeom prst="rect">
              <a:avLst/>
            </a:prstGeom>
            <a:noFill/>
            <a:ln>
              <a:noFill/>
            </a:ln>
          </p:spPr>
          <p:txBody>
            <a:bodyPr spcFirstLastPara="1" wrap="square" lIns="78425" tIns="78425" rIns="78425" bIns="78425" anchor="t" anchorCtr="0">
              <a:spAutoFit/>
            </a:bodyPr>
            <a:lstStyle/>
            <a:p>
              <a:pPr marL="0" lvl="0" indent="0" algn="l" rtl="0">
                <a:spcBef>
                  <a:spcPts val="0"/>
                </a:spcBef>
                <a:spcAft>
                  <a:spcPts val="0"/>
                </a:spcAft>
                <a:buNone/>
              </a:pPr>
              <a:r>
                <a:rPr lang="en" sz="686" dirty="0">
                  <a:solidFill>
                    <a:schemeClr val="dk2"/>
                  </a:solidFill>
                  <a:latin typeface="Source Sans 3"/>
                  <a:ea typeface="Source Sans 3"/>
                  <a:cs typeface="Source Sans 3"/>
                  <a:sym typeface="Source Sans 3"/>
                </a:rPr>
                <a:t>(1)</a:t>
              </a:r>
              <a:endParaRPr sz="686" dirty="0">
                <a:solidFill>
                  <a:schemeClr val="dk2"/>
                </a:solidFill>
                <a:latin typeface="Source Sans 3"/>
                <a:ea typeface="Source Sans 3"/>
                <a:cs typeface="Source Sans 3"/>
                <a:sym typeface="Source Sans 3"/>
              </a:endParaRPr>
            </a:p>
          </p:txBody>
        </p:sp>
      </p:grpSp>
      <p:sp>
        <p:nvSpPr>
          <p:cNvPr id="1470" name="Google Shape;394;p18">
            <a:extLst>
              <a:ext uri="{FF2B5EF4-FFF2-40B4-BE49-F238E27FC236}">
                <a16:creationId xmlns:a16="http://schemas.microsoft.com/office/drawing/2014/main" id="{139D8093-C592-4B18-3277-36A505171D97}"/>
              </a:ext>
            </a:extLst>
          </p:cNvPr>
          <p:cNvSpPr txBox="1"/>
          <p:nvPr/>
        </p:nvSpPr>
        <p:spPr>
          <a:xfrm>
            <a:off x="10963395" y="7010441"/>
            <a:ext cx="1433762" cy="10229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dirty="0" err="1">
                <a:solidFill>
                  <a:schemeClr val="dk2"/>
                </a:solidFill>
                <a:latin typeface="Source Sans 3"/>
                <a:ea typeface="Source Sans 3"/>
                <a:cs typeface="Source Sans 3"/>
                <a:sym typeface="Source Sans 3"/>
              </a:rPr>
              <a:t>sentiment_analysis.Rmd</a:t>
            </a:r>
            <a:endParaRPr sz="800" dirty="0">
              <a:solidFill>
                <a:schemeClr val="dk2"/>
              </a:solidFill>
              <a:latin typeface="Source Sans 3"/>
              <a:ea typeface="Source Sans 3"/>
              <a:cs typeface="Source Sans 3"/>
              <a:sym typeface="Source Sans 3"/>
            </a:endParaRPr>
          </a:p>
        </p:txBody>
      </p:sp>
      <p:sp>
        <p:nvSpPr>
          <p:cNvPr id="1474" name="Layout Suggestions">
            <a:extLst>
              <a:ext uri="{FF2B5EF4-FFF2-40B4-BE49-F238E27FC236}">
                <a16:creationId xmlns:a16="http://schemas.microsoft.com/office/drawing/2014/main" id="{FA42A46D-D6BB-529B-0FF6-32BCB200A4EC}"/>
              </a:ext>
            </a:extLst>
          </p:cNvPr>
          <p:cNvSpPr txBox="1"/>
          <p:nvPr/>
        </p:nvSpPr>
        <p:spPr>
          <a:xfrm>
            <a:off x="159998" y="6661138"/>
            <a:ext cx="423108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sz="2500" b="0" dirty="0"/>
              <a:t>Label Selection Criteria</a:t>
            </a:r>
            <a:endParaRPr dirty="0">
              <a:latin typeface="Source Sans Pro" panose="020B0503030403020204" pitchFamily="34" charset="0"/>
              <a:ea typeface="Source Sans Pro" panose="020B0503030403020204" pitchFamily="34" charset="0"/>
              <a:cs typeface="Arial" panose="020B0604020202020204" pitchFamily="34" charset="0"/>
            </a:endParaRPr>
          </a:p>
        </p:txBody>
      </p:sp>
      <p:sp>
        <p:nvSpPr>
          <p:cNvPr id="1475" name="TextBox 1474">
            <a:extLst>
              <a:ext uri="{FF2B5EF4-FFF2-40B4-BE49-F238E27FC236}">
                <a16:creationId xmlns:a16="http://schemas.microsoft.com/office/drawing/2014/main" id="{AB4C6BCD-9F17-C5DA-4E68-B39D1BA1FBD4}"/>
              </a:ext>
            </a:extLst>
          </p:cNvPr>
          <p:cNvSpPr txBox="1"/>
          <p:nvPr/>
        </p:nvSpPr>
        <p:spPr>
          <a:xfrm>
            <a:off x="132572" y="6906908"/>
            <a:ext cx="4258512" cy="8745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Sentiment labels span both main project repos and their forks. However, since forked repos contain a small fraction (&lt; 10%)  of labeled comments, only comments from the project’s main repo are kept.</a:t>
            </a:r>
          </a:p>
        </p:txBody>
      </p:sp>
      <p:sp>
        <p:nvSpPr>
          <p:cNvPr id="1482" name="TextBox 1481">
            <a:extLst>
              <a:ext uri="{FF2B5EF4-FFF2-40B4-BE49-F238E27FC236}">
                <a16:creationId xmlns:a16="http://schemas.microsoft.com/office/drawing/2014/main" id="{413A87FA-065E-4908-61E4-4A99FAA7DB78}"/>
              </a:ext>
            </a:extLst>
          </p:cNvPr>
          <p:cNvSpPr txBox="1"/>
          <p:nvPr/>
        </p:nvSpPr>
        <p:spPr>
          <a:xfrm>
            <a:off x="1030041" y="8215136"/>
            <a:ext cx="10348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Main Repo</a:t>
            </a:r>
            <a:endParaRPr lang="en-US" sz="800" b="0" dirty="0"/>
          </a:p>
        </p:txBody>
      </p:sp>
      <p:sp>
        <p:nvSpPr>
          <p:cNvPr id="1483" name="TextBox 1482">
            <a:extLst>
              <a:ext uri="{FF2B5EF4-FFF2-40B4-BE49-F238E27FC236}">
                <a16:creationId xmlns:a16="http://schemas.microsoft.com/office/drawing/2014/main" id="{3B6BAF97-3C67-862D-A314-05548381FC08}"/>
              </a:ext>
            </a:extLst>
          </p:cNvPr>
          <p:cNvSpPr txBox="1"/>
          <p:nvPr/>
        </p:nvSpPr>
        <p:spPr>
          <a:xfrm>
            <a:off x="2416383" y="8215136"/>
            <a:ext cx="1034870"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ctr" defTabSz="584200" rtl="0" fontAlgn="auto" latinLnBrk="0" hangingPunct="0">
              <a:lnSpc>
                <a:spcPct val="100000"/>
              </a:lnSpc>
              <a:spcBef>
                <a:spcPts val="200"/>
              </a:spcBef>
              <a:spcAft>
                <a:spcPts val="0"/>
              </a:spcAft>
              <a:buClrTx/>
              <a:buSzTx/>
              <a:buFontTx/>
              <a:buNone/>
              <a:tabLst/>
            </a:pPr>
            <a:r>
              <a:rPr lang="en-US" sz="1000" b="0" dirty="0"/>
              <a:t>Fork Repo</a:t>
            </a:r>
            <a:endParaRPr lang="en-US" sz="800" b="0" dirty="0"/>
          </a:p>
        </p:txBody>
      </p:sp>
      <p:sp>
        <p:nvSpPr>
          <p:cNvPr id="1497" name="TextBox 1496">
            <a:extLst>
              <a:ext uri="{FF2B5EF4-FFF2-40B4-BE49-F238E27FC236}">
                <a16:creationId xmlns:a16="http://schemas.microsoft.com/office/drawing/2014/main" id="{D32D7059-8499-A9B5-58C0-66A351F19DDF}"/>
              </a:ext>
            </a:extLst>
          </p:cNvPr>
          <p:cNvSpPr txBox="1"/>
          <p:nvPr/>
        </p:nvSpPr>
        <p:spPr>
          <a:xfrm>
            <a:off x="123843" y="8472311"/>
            <a:ext cx="4346831"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t>The Jira Emotion CSV contains emotion labels manually determined from multiple raters. Only comments with labels that show higher inter-rater agreement are kept.</a:t>
            </a:r>
          </a:p>
        </p:txBody>
      </p:sp>
      <p:sp>
        <p:nvSpPr>
          <p:cNvPr id="1499" name="Google Shape;338;p18">
            <a:extLst>
              <a:ext uri="{FF2B5EF4-FFF2-40B4-BE49-F238E27FC236}">
                <a16:creationId xmlns:a16="http://schemas.microsoft.com/office/drawing/2014/main" id="{84F95C64-569C-AD3E-14D7-BA27296F1CF4}"/>
              </a:ext>
            </a:extLst>
          </p:cNvPr>
          <p:cNvSpPr/>
          <p:nvPr/>
        </p:nvSpPr>
        <p:spPr>
          <a:xfrm>
            <a:off x="678571" y="9348859"/>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Line">
            <a:extLst>
              <a:ext uri="{FF2B5EF4-FFF2-40B4-BE49-F238E27FC236}">
                <a16:creationId xmlns:a16="http://schemas.microsoft.com/office/drawing/2014/main" id="{439D1F7B-0483-3C64-E55A-0CC91E5AF2DE}"/>
              </a:ext>
            </a:extLst>
          </p:cNvPr>
          <p:cNvSpPr/>
          <p:nvPr/>
        </p:nvSpPr>
        <p:spPr>
          <a:xfrm flipH="1" flipV="1">
            <a:off x="3154971" y="4050753"/>
            <a:ext cx="1" cy="945321"/>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9" name="TextBox 8">
            <a:extLst>
              <a:ext uri="{FF2B5EF4-FFF2-40B4-BE49-F238E27FC236}">
                <a16:creationId xmlns:a16="http://schemas.microsoft.com/office/drawing/2014/main" id="{50AE6384-BD42-3C0C-71C4-2D40C1F1E49E}"/>
              </a:ext>
            </a:extLst>
          </p:cNvPr>
          <p:cNvSpPr txBox="1"/>
          <p:nvPr/>
        </p:nvSpPr>
        <p:spPr>
          <a:xfrm>
            <a:off x="3221935" y="4247371"/>
            <a:ext cx="97054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t>Sentiment</a:t>
            </a:r>
          </a:p>
        </p:txBody>
      </p:sp>
      <p:sp>
        <p:nvSpPr>
          <p:cNvPr id="10" name="Line">
            <a:extLst>
              <a:ext uri="{FF2B5EF4-FFF2-40B4-BE49-F238E27FC236}">
                <a16:creationId xmlns:a16="http://schemas.microsoft.com/office/drawing/2014/main" id="{5721CD24-A0D7-3090-E2BD-A23596E62815}"/>
              </a:ext>
            </a:extLst>
          </p:cNvPr>
          <p:cNvSpPr/>
          <p:nvPr/>
        </p:nvSpPr>
        <p:spPr>
          <a:xfrm flipH="1" flipV="1">
            <a:off x="3162257" y="5448883"/>
            <a:ext cx="1" cy="945321"/>
          </a:xfrm>
          <a:prstGeom prst="line">
            <a:avLst/>
          </a:prstGeom>
          <a:ln w="12700">
            <a:solidFill>
              <a:schemeClr val="tx1">
                <a:lumMod val="60000"/>
                <a:lumOff val="40000"/>
              </a:schemeClr>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1" name="TextBox 10">
            <a:extLst>
              <a:ext uri="{FF2B5EF4-FFF2-40B4-BE49-F238E27FC236}">
                <a16:creationId xmlns:a16="http://schemas.microsoft.com/office/drawing/2014/main" id="{CD7B698A-5E1D-1D2F-F962-E1CF43F9E664}"/>
              </a:ext>
            </a:extLst>
          </p:cNvPr>
          <p:cNvSpPr txBox="1"/>
          <p:nvPr/>
        </p:nvSpPr>
        <p:spPr>
          <a:xfrm>
            <a:off x="3229221" y="5645501"/>
            <a:ext cx="970547"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1000" b="0" dirty="0"/>
              <a:t>Emotion</a:t>
            </a:r>
          </a:p>
        </p:txBody>
      </p:sp>
      <p:pic>
        <p:nvPicPr>
          <p:cNvPr id="12" name="Picture 11" descr="A picture containing text&#10;&#10;Description automatically generated">
            <a:extLst>
              <a:ext uri="{FF2B5EF4-FFF2-40B4-BE49-F238E27FC236}">
                <a16:creationId xmlns:a16="http://schemas.microsoft.com/office/drawing/2014/main" id="{A053E04F-2E61-D334-80F8-F55803C1A72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24189" y="4383757"/>
            <a:ext cx="585008" cy="679364"/>
          </a:xfrm>
          <a:prstGeom prst="rect">
            <a:avLst/>
          </a:prstGeom>
        </p:spPr>
      </p:pic>
      <p:sp>
        <p:nvSpPr>
          <p:cNvPr id="13" name="TextBox 12">
            <a:extLst>
              <a:ext uri="{FF2B5EF4-FFF2-40B4-BE49-F238E27FC236}">
                <a16:creationId xmlns:a16="http://schemas.microsoft.com/office/drawing/2014/main" id="{0772D5B7-845A-647E-0338-B4DD05B9B897}"/>
              </a:ext>
            </a:extLst>
          </p:cNvPr>
          <p:cNvSpPr txBox="1"/>
          <p:nvPr/>
        </p:nvSpPr>
        <p:spPr>
          <a:xfrm>
            <a:off x="7111672" y="9130878"/>
            <a:ext cx="720950"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err="1"/>
              <a:t>sailuh</a:t>
            </a:r>
            <a:r>
              <a:rPr lang="en-US" sz="800" b="0" dirty="0"/>
              <a:t>/</a:t>
            </a:r>
            <a:r>
              <a:rPr lang="en-US" sz="800" b="0" dirty="0" err="1"/>
              <a:t>kaiaulu</a:t>
            </a:r>
            <a:endPar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14" name="Picture 13" descr="A picture containing text&#10;&#10;Description automatically generated">
            <a:extLst>
              <a:ext uri="{FF2B5EF4-FFF2-40B4-BE49-F238E27FC236}">
                <a16:creationId xmlns:a16="http://schemas.microsoft.com/office/drawing/2014/main" id="{2AF2BBF8-C92A-CD8E-62C5-523DE8AB11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88144" y="8468874"/>
            <a:ext cx="585008" cy="679364"/>
          </a:xfrm>
          <a:prstGeom prst="rect">
            <a:avLst/>
          </a:prstGeom>
        </p:spPr>
      </p:pic>
      <p:sp>
        <p:nvSpPr>
          <p:cNvPr id="15" name="Can 14">
            <a:extLst>
              <a:ext uri="{FF2B5EF4-FFF2-40B4-BE49-F238E27FC236}">
                <a16:creationId xmlns:a16="http://schemas.microsoft.com/office/drawing/2014/main" id="{E835E3F1-6A9D-7C8E-16E6-E13B02FFCD14}"/>
              </a:ext>
            </a:extLst>
          </p:cNvPr>
          <p:cNvSpPr/>
          <p:nvPr/>
        </p:nvSpPr>
        <p:spPr>
          <a:xfrm>
            <a:off x="2164242" y="5501642"/>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16" name="Can 15">
            <a:extLst>
              <a:ext uri="{FF2B5EF4-FFF2-40B4-BE49-F238E27FC236}">
                <a16:creationId xmlns:a16="http://schemas.microsoft.com/office/drawing/2014/main" id="{0BBAF880-4911-2DBA-81A6-05CA109EDB8A}"/>
              </a:ext>
            </a:extLst>
          </p:cNvPr>
          <p:cNvSpPr/>
          <p:nvPr/>
        </p:nvSpPr>
        <p:spPr>
          <a:xfrm>
            <a:off x="8020123" y="2662290"/>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21" name="Can 20">
            <a:extLst>
              <a:ext uri="{FF2B5EF4-FFF2-40B4-BE49-F238E27FC236}">
                <a16:creationId xmlns:a16="http://schemas.microsoft.com/office/drawing/2014/main" id="{6F899AAB-696B-3933-09AB-D17D1496082B}"/>
              </a:ext>
            </a:extLst>
          </p:cNvPr>
          <p:cNvSpPr/>
          <p:nvPr/>
        </p:nvSpPr>
        <p:spPr>
          <a:xfrm>
            <a:off x="7973474" y="6674341"/>
            <a:ext cx="517271" cy="621792"/>
          </a:xfrm>
          <a:prstGeom prst="can">
            <a:avLst>
              <a:gd name="adj" fmla="val 23014"/>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cxnSp>
        <p:nvCxnSpPr>
          <p:cNvPr id="26" name="Connector: Elbow 504">
            <a:extLst>
              <a:ext uri="{FF2B5EF4-FFF2-40B4-BE49-F238E27FC236}">
                <a16:creationId xmlns:a16="http://schemas.microsoft.com/office/drawing/2014/main" id="{FD900A59-5108-0BE6-C0C8-DBF6190247DC}"/>
              </a:ext>
            </a:extLst>
          </p:cNvPr>
          <p:cNvCxnSpPr>
            <a:cxnSpLocks/>
            <a:endCxn id="1404" idx="1"/>
          </p:cNvCxnSpPr>
          <p:nvPr/>
        </p:nvCxnSpPr>
        <p:spPr>
          <a:xfrm>
            <a:off x="10264774" y="8108060"/>
            <a:ext cx="260324" cy="6619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27" name="Group 26">
            <a:extLst>
              <a:ext uri="{FF2B5EF4-FFF2-40B4-BE49-F238E27FC236}">
                <a16:creationId xmlns:a16="http://schemas.microsoft.com/office/drawing/2014/main" id="{9CFC91CD-25C8-44FE-6E9A-A6EC4060A9B2}"/>
              </a:ext>
            </a:extLst>
          </p:cNvPr>
          <p:cNvGrpSpPr/>
          <p:nvPr/>
        </p:nvGrpSpPr>
        <p:grpSpPr>
          <a:xfrm>
            <a:off x="10255192" y="8324484"/>
            <a:ext cx="258099" cy="400772"/>
            <a:chOff x="4995414" y="5124450"/>
            <a:chExt cx="279788" cy="627063"/>
          </a:xfrm>
        </p:grpSpPr>
        <p:cxnSp>
          <p:nvCxnSpPr>
            <p:cNvPr id="29" name="Straight Connector 28">
              <a:extLst>
                <a:ext uri="{FF2B5EF4-FFF2-40B4-BE49-F238E27FC236}">
                  <a16:creationId xmlns:a16="http://schemas.microsoft.com/office/drawing/2014/main" id="{D5C08ED6-D023-E51D-E798-0F1211953EA3}"/>
                </a:ext>
              </a:extLst>
            </p:cNvPr>
            <p:cNvCxnSpPr>
              <a:cxnSpLocks/>
            </p:cNvCxnSpPr>
            <p:nvPr/>
          </p:nvCxnSpPr>
          <p:spPr>
            <a:xfrm>
              <a:off x="4995414" y="5748338"/>
              <a:ext cx="157186" cy="0"/>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35C6E970-DF4C-1DAF-CB13-398733F9DEC8}"/>
                </a:ext>
              </a:extLst>
            </p:cNvPr>
            <p:cNvCxnSpPr/>
            <p:nvPr/>
          </p:nvCxnSpPr>
          <p:spPr>
            <a:xfrm flipV="1">
              <a:off x="5152600" y="5124450"/>
              <a:ext cx="0" cy="627063"/>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6681383D-EC1A-79C9-B3A3-948EA947DB9B}"/>
                </a:ext>
              </a:extLst>
            </p:cNvPr>
            <p:cNvCxnSpPr/>
            <p:nvPr/>
          </p:nvCxnSpPr>
          <p:spPr>
            <a:xfrm>
              <a:off x="5152600" y="5129213"/>
              <a:ext cx="1226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33" name="Group 32">
            <a:extLst>
              <a:ext uri="{FF2B5EF4-FFF2-40B4-BE49-F238E27FC236}">
                <a16:creationId xmlns:a16="http://schemas.microsoft.com/office/drawing/2014/main" id="{9EAEA88D-7DFB-5A00-B696-50A67840052E}"/>
              </a:ext>
            </a:extLst>
          </p:cNvPr>
          <p:cNvGrpSpPr/>
          <p:nvPr/>
        </p:nvGrpSpPr>
        <p:grpSpPr>
          <a:xfrm>
            <a:off x="10273320" y="7711032"/>
            <a:ext cx="246605" cy="248161"/>
            <a:chOff x="4995414" y="4014788"/>
            <a:chExt cx="318346" cy="642937"/>
          </a:xfrm>
        </p:grpSpPr>
        <p:cxnSp>
          <p:nvCxnSpPr>
            <p:cNvPr id="34" name="Straight Connector 33">
              <a:extLst>
                <a:ext uri="{FF2B5EF4-FFF2-40B4-BE49-F238E27FC236}">
                  <a16:creationId xmlns:a16="http://schemas.microsoft.com/office/drawing/2014/main" id="{C62D3BB5-60C8-E3D5-D7F6-F38C53F685CF}"/>
                </a:ext>
              </a:extLst>
            </p:cNvPr>
            <p:cNvCxnSpPr>
              <a:cxnSpLocks/>
            </p:cNvCxnSpPr>
            <p:nvPr/>
          </p:nvCxnSpPr>
          <p:spPr>
            <a:xfrm>
              <a:off x="4995414" y="4014788"/>
              <a:ext cx="175470" cy="0"/>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34A5BEF3-6179-EF05-E37B-92491B1BF259}"/>
                </a:ext>
              </a:extLst>
            </p:cNvPr>
            <p:cNvCxnSpPr/>
            <p:nvPr/>
          </p:nvCxnSpPr>
          <p:spPr>
            <a:xfrm>
              <a:off x="5168503" y="4014788"/>
              <a:ext cx="0" cy="642937"/>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C8741DA6-1685-15D0-7258-EC80E753596F}"/>
                </a:ext>
              </a:extLst>
            </p:cNvPr>
            <p:cNvCxnSpPr/>
            <p:nvPr/>
          </p:nvCxnSpPr>
          <p:spPr>
            <a:xfrm>
              <a:off x="5163741" y="4657725"/>
              <a:ext cx="15001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0995880E-FCE6-9B63-D8A6-8B54DC5DCF50}"/>
              </a:ext>
            </a:extLst>
          </p:cNvPr>
          <p:cNvGrpSpPr/>
          <p:nvPr/>
        </p:nvGrpSpPr>
        <p:grpSpPr>
          <a:xfrm>
            <a:off x="1092074" y="7766592"/>
            <a:ext cx="953200" cy="458010"/>
            <a:chOff x="5528605" y="4530831"/>
            <a:chExt cx="953200" cy="458010"/>
          </a:xfrm>
        </p:grpSpPr>
        <p:graphicFrame>
          <p:nvGraphicFramePr>
            <p:cNvPr id="24" name="Table">
              <a:extLst>
                <a:ext uri="{FF2B5EF4-FFF2-40B4-BE49-F238E27FC236}">
                  <a16:creationId xmlns:a16="http://schemas.microsoft.com/office/drawing/2014/main" id="{9972889B-7F49-093A-863C-27FD551216BB}"/>
                </a:ext>
              </a:extLst>
            </p:cNvPr>
            <p:cNvGraphicFramePr/>
            <p:nvPr>
              <p:extLst>
                <p:ext uri="{D42A27DB-BD31-4B8C-83A1-F6EECF244321}">
                  <p14:modId xmlns:p14="http://schemas.microsoft.com/office/powerpoint/2010/main" val="3583615421"/>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25" name="Table">
              <a:extLst>
                <a:ext uri="{FF2B5EF4-FFF2-40B4-BE49-F238E27FC236}">
                  <a16:creationId xmlns:a16="http://schemas.microsoft.com/office/drawing/2014/main" id="{61ABE798-7CE2-6A4C-EEEF-AFD1BBC278D1}"/>
                </a:ext>
              </a:extLst>
            </p:cNvPr>
            <p:cNvGraphicFramePr/>
            <p:nvPr>
              <p:extLst>
                <p:ext uri="{D42A27DB-BD31-4B8C-83A1-F6EECF244321}">
                  <p14:modId xmlns:p14="http://schemas.microsoft.com/office/powerpoint/2010/main" val="3214869731"/>
                </p:ext>
              </p:extLst>
            </p:nvPr>
          </p:nvGraphicFramePr>
          <p:xfrm>
            <a:off x="599748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grpSp>
        <p:nvGrpSpPr>
          <p:cNvPr id="41" name="Group 40">
            <a:extLst>
              <a:ext uri="{FF2B5EF4-FFF2-40B4-BE49-F238E27FC236}">
                <a16:creationId xmlns:a16="http://schemas.microsoft.com/office/drawing/2014/main" id="{51259788-EF46-F764-6775-952E241B4C48}"/>
              </a:ext>
            </a:extLst>
          </p:cNvPr>
          <p:cNvGrpSpPr/>
          <p:nvPr/>
        </p:nvGrpSpPr>
        <p:grpSpPr>
          <a:xfrm>
            <a:off x="2597665" y="7778932"/>
            <a:ext cx="630320" cy="458010"/>
            <a:chOff x="5528605" y="4530831"/>
            <a:chExt cx="630320" cy="458010"/>
          </a:xfrm>
        </p:grpSpPr>
        <p:graphicFrame>
          <p:nvGraphicFramePr>
            <p:cNvPr id="42" name="Table">
              <a:extLst>
                <a:ext uri="{FF2B5EF4-FFF2-40B4-BE49-F238E27FC236}">
                  <a16:creationId xmlns:a16="http://schemas.microsoft.com/office/drawing/2014/main" id="{BAD30588-5813-C3FA-4882-994F26F0B201}"/>
                </a:ext>
              </a:extLst>
            </p:cNvPr>
            <p:cNvGraphicFramePr/>
            <p:nvPr>
              <p:extLst>
                <p:ext uri="{D42A27DB-BD31-4B8C-83A1-F6EECF244321}">
                  <p14:modId xmlns:p14="http://schemas.microsoft.com/office/powerpoint/2010/main" val="3583615421"/>
                </p:ext>
              </p:extLst>
            </p:nvPr>
          </p:nvGraphicFramePr>
          <p:xfrm>
            <a:off x="5528605" y="4530831"/>
            <a:ext cx="48432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gridCol w="161440">
                    <a:extLst>
                      <a:ext uri="{9D8B030D-6E8A-4147-A177-3AD203B41FA5}">
                        <a16:colId xmlns:a16="http://schemas.microsoft.com/office/drawing/2014/main" val="20001"/>
                      </a:ext>
                    </a:extLst>
                  </a:gridCol>
                  <a:gridCol w="161440">
                    <a:extLst>
                      <a:ext uri="{9D8B030D-6E8A-4147-A177-3AD203B41FA5}">
                        <a16:colId xmlns:a16="http://schemas.microsoft.com/office/drawing/2014/main" val="20002"/>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1C1C0"/>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0E0E1"/>
                      </a:solidFill>
                    </a:tcPr>
                  </a:tc>
                  <a:extLst>
                    <a:ext uri="{0D108BD9-81ED-4DB2-BD59-A6C34878D82A}">
                      <a16:rowId xmlns:a16="http://schemas.microsoft.com/office/drawing/2014/main" val="10004"/>
                    </a:ext>
                  </a:extLst>
                </a:tr>
              </a:tbl>
            </a:graphicData>
          </a:graphic>
        </p:graphicFrame>
        <p:graphicFrame>
          <p:nvGraphicFramePr>
            <p:cNvPr id="43" name="Table">
              <a:extLst>
                <a:ext uri="{FF2B5EF4-FFF2-40B4-BE49-F238E27FC236}">
                  <a16:creationId xmlns:a16="http://schemas.microsoft.com/office/drawing/2014/main" id="{80C6A2C2-30FC-F4BC-CDFC-C0C8C8B3A97C}"/>
                </a:ext>
              </a:extLst>
            </p:cNvPr>
            <p:cNvGraphicFramePr/>
            <p:nvPr>
              <p:extLst>
                <p:ext uri="{D42A27DB-BD31-4B8C-83A1-F6EECF244321}">
                  <p14:modId xmlns:p14="http://schemas.microsoft.com/office/powerpoint/2010/main" val="3909538137"/>
                </p:ext>
              </p:extLst>
            </p:nvPr>
          </p:nvGraphicFramePr>
          <p:xfrm>
            <a:off x="5997485" y="4530831"/>
            <a:ext cx="161440" cy="458010"/>
          </p:xfrm>
          <a:graphic>
            <a:graphicData uri="http://schemas.openxmlformats.org/drawingml/2006/table">
              <a:tbl>
                <a:tblPr firstRow="1">
                  <a:tableStyleId>{4C3C2611-4C71-4FC5-86AE-919BDF0F9419}</a:tableStyleId>
                </a:tblPr>
                <a:tblGrid>
                  <a:gridCol w="161440">
                    <a:extLst>
                      <a:ext uri="{9D8B030D-6E8A-4147-A177-3AD203B41FA5}">
                        <a16:colId xmlns:a16="http://schemas.microsoft.com/office/drawing/2014/main" val="20000"/>
                      </a:ext>
                    </a:extLst>
                  </a:gridCol>
                </a:tblGrid>
                <a:tr h="91602">
                  <a:tc>
                    <a:txBody>
                      <a:bodyPr/>
                      <a:lstStyle/>
                      <a:p>
                        <a:pPr defTabSz="914400">
                          <a:defRPr sz="700" b="0">
                            <a:latin typeface="+mj-lt"/>
                            <a:ea typeface="+mj-ea"/>
                            <a:cs typeface="+mj-cs"/>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676F76"/>
                      </a:solidFill>
                    </a:tcPr>
                  </a:tc>
                  <a:extLst>
                    <a:ext uri="{0D108BD9-81ED-4DB2-BD59-A6C34878D82A}">
                      <a16:rowId xmlns:a16="http://schemas.microsoft.com/office/drawing/2014/main" val="10000"/>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1"/>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2"/>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3"/>
                    </a:ext>
                  </a:extLst>
                </a:tr>
                <a:tr h="91602">
                  <a:tc>
                    <a:txBody>
                      <a:bodyPr/>
                      <a:lstStyle/>
                      <a:p>
                        <a:pPr defTabSz="914400">
                          <a:defRPr sz="700">
                            <a:sym typeface="Source Sans Pro Regular"/>
                          </a:defRPr>
                        </a:pPr>
                        <a:endParaRPr sz="500" dirty="0">
                          <a:noFill/>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7DCA7"/>
                      </a:solidFill>
                    </a:tcPr>
                  </a:tc>
                  <a:extLst>
                    <a:ext uri="{0D108BD9-81ED-4DB2-BD59-A6C34878D82A}">
                      <a16:rowId xmlns:a16="http://schemas.microsoft.com/office/drawing/2014/main" val="10004"/>
                    </a:ext>
                  </a:extLst>
                </a:tr>
              </a:tbl>
            </a:graphicData>
          </a:graphic>
        </p:graphicFrame>
      </p:grpSp>
      <p:grpSp>
        <p:nvGrpSpPr>
          <p:cNvPr id="44" name="Group 43">
            <a:extLst>
              <a:ext uri="{FF2B5EF4-FFF2-40B4-BE49-F238E27FC236}">
                <a16:creationId xmlns:a16="http://schemas.microsoft.com/office/drawing/2014/main" id="{E2838FA3-8484-71F8-B81A-82EBA518E548}"/>
              </a:ext>
            </a:extLst>
          </p:cNvPr>
          <p:cNvGrpSpPr/>
          <p:nvPr/>
        </p:nvGrpSpPr>
        <p:grpSpPr>
          <a:xfrm>
            <a:off x="2562975" y="7722007"/>
            <a:ext cx="665010" cy="540204"/>
            <a:chOff x="3045575" y="7702261"/>
            <a:chExt cx="665010" cy="540204"/>
          </a:xfrm>
        </p:grpSpPr>
        <p:cxnSp>
          <p:nvCxnSpPr>
            <p:cNvPr id="1489" name="Straight Connector 1488">
              <a:extLst>
                <a:ext uri="{FF2B5EF4-FFF2-40B4-BE49-F238E27FC236}">
                  <a16:creationId xmlns:a16="http://schemas.microsoft.com/office/drawing/2014/main" id="{C3CCD085-507F-563B-84AF-B94F8806C7AD}"/>
                </a:ext>
              </a:extLst>
            </p:cNvPr>
            <p:cNvCxnSpPr>
              <a:cxnSpLocks/>
            </p:cNvCxnSpPr>
            <p:nvPr/>
          </p:nvCxnSpPr>
          <p:spPr>
            <a:xfrm>
              <a:off x="3045575" y="7702261"/>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cxnSp>
          <p:nvCxnSpPr>
            <p:cNvPr id="1496" name="Straight Connector 1495">
              <a:extLst>
                <a:ext uri="{FF2B5EF4-FFF2-40B4-BE49-F238E27FC236}">
                  <a16:creationId xmlns:a16="http://schemas.microsoft.com/office/drawing/2014/main" id="{7E8A5F24-8D8C-DEB4-67B0-EAA5588E8439}"/>
                </a:ext>
              </a:extLst>
            </p:cNvPr>
            <p:cNvCxnSpPr>
              <a:cxnSpLocks/>
            </p:cNvCxnSpPr>
            <p:nvPr/>
          </p:nvCxnSpPr>
          <p:spPr>
            <a:xfrm flipV="1">
              <a:off x="3058828" y="7710159"/>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grpSp>
      <p:pic>
        <p:nvPicPr>
          <p:cNvPr id="45" name="Graphic 44" descr="User with solid fill">
            <a:extLst>
              <a:ext uri="{FF2B5EF4-FFF2-40B4-BE49-F238E27FC236}">
                <a16:creationId xmlns:a16="http://schemas.microsoft.com/office/drawing/2014/main" id="{DD9333F4-4F39-5EEF-5DE9-399EFFC9DAE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26048" y="9843576"/>
            <a:ext cx="381354" cy="381354"/>
          </a:xfrm>
          <a:prstGeom prst="rect">
            <a:avLst/>
          </a:prstGeom>
        </p:spPr>
      </p:pic>
      <p:pic>
        <p:nvPicPr>
          <p:cNvPr id="46" name="Graphic 45" descr="User with solid fill">
            <a:extLst>
              <a:ext uri="{FF2B5EF4-FFF2-40B4-BE49-F238E27FC236}">
                <a16:creationId xmlns:a16="http://schemas.microsoft.com/office/drawing/2014/main" id="{7C551BFD-8A51-9980-5A2A-F3CEF4CF7E1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76126" y="9848058"/>
            <a:ext cx="381354" cy="381354"/>
          </a:xfrm>
          <a:prstGeom prst="rect">
            <a:avLst/>
          </a:prstGeom>
        </p:spPr>
      </p:pic>
      <p:pic>
        <p:nvPicPr>
          <p:cNvPr id="47" name="Graphic 46" descr="User with solid fill">
            <a:extLst>
              <a:ext uri="{FF2B5EF4-FFF2-40B4-BE49-F238E27FC236}">
                <a16:creationId xmlns:a16="http://schemas.microsoft.com/office/drawing/2014/main" id="{32CE1A3C-EA22-646F-CFDE-DA315C58CFB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434159" y="9856625"/>
            <a:ext cx="381354" cy="381354"/>
          </a:xfrm>
          <a:prstGeom prst="rect">
            <a:avLst/>
          </a:prstGeom>
        </p:spPr>
      </p:pic>
      <p:pic>
        <p:nvPicPr>
          <p:cNvPr id="49" name="Graphic 48" descr="Heart outline">
            <a:extLst>
              <a:ext uri="{FF2B5EF4-FFF2-40B4-BE49-F238E27FC236}">
                <a16:creationId xmlns:a16="http://schemas.microsoft.com/office/drawing/2014/main" id="{E708FA3D-B97E-247C-B618-D87BA304F89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8908" y="9348033"/>
            <a:ext cx="238741" cy="238741"/>
          </a:xfrm>
          <a:prstGeom prst="rect">
            <a:avLst/>
          </a:prstGeom>
        </p:spPr>
      </p:pic>
      <p:sp>
        <p:nvSpPr>
          <p:cNvPr id="50" name="Google Shape;338;p18">
            <a:extLst>
              <a:ext uri="{FF2B5EF4-FFF2-40B4-BE49-F238E27FC236}">
                <a16:creationId xmlns:a16="http://schemas.microsoft.com/office/drawing/2014/main" id="{B34A9CD9-EEF3-6EC9-158C-EFDF52B08741}"/>
              </a:ext>
            </a:extLst>
          </p:cNvPr>
          <p:cNvSpPr/>
          <p:nvPr/>
        </p:nvSpPr>
        <p:spPr>
          <a:xfrm>
            <a:off x="1116634" y="9343884"/>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51" name="Graphic 50" descr="Heart outline">
            <a:extLst>
              <a:ext uri="{FF2B5EF4-FFF2-40B4-BE49-F238E27FC236}">
                <a16:creationId xmlns:a16="http://schemas.microsoft.com/office/drawing/2014/main" id="{4ED946DA-154F-A519-ED3B-FD8C6C1E388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76971" y="9343058"/>
            <a:ext cx="238741" cy="238741"/>
          </a:xfrm>
          <a:prstGeom prst="rect">
            <a:avLst/>
          </a:prstGeom>
        </p:spPr>
      </p:pic>
      <p:sp>
        <p:nvSpPr>
          <p:cNvPr id="52" name="Google Shape;338;p18">
            <a:extLst>
              <a:ext uri="{FF2B5EF4-FFF2-40B4-BE49-F238E27FC236}">
                <a16:creationId xmlns:a16="http://schemas.microsoft.com/office/drawing/2014/main" id="{8A7F38CB-708A-7315-B2EB-0339798D71E7}"/>
              </a:ext>
            </a:extLst>
          </p:cNvPr>
          <p:cNvSpPr/>
          <p:nvPr/>
        </p:nvSpPr>
        <p:spPr>
          <a:xfrm>
            <a:off x="1545096" y="9341912"/>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 name="Rectangle 53">
            <a:extLst>
              <a:ext uri="{FF2B5EF4-FFF2-40B4-BE49-F238E27FC236}">
                <a16:creationId xmlns:a16="http://schemas.microsoft.com/office/drawing/2014/main" id="{3C49E1B7-19FA-AB2B-D75A-1E3BAC80BF7C}"/>
              </a:ext>
            </a:extLst>
          </p:cNvPr>
          <p:cNvSpPr/>
          <p:nvPr/>
        </p:nvSpPr>
        <p:spPr>
          <a:xfrm>
            <a:off x="564675" y="9293640"/>
            <a:ext cx="1492070" cy="36576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56" name="Straight Connector 55">
            <a:extLst>
              <a:ext uri="{FF2B5EF4-FFF2-40B4-BE49-F238E27FC236}">
                <a16:creationId xmlns:a16="http://schemas.microsoft.com/office/drawing/2014/main" id="{55C488BA-6E3B-B52E-ADC3-5A8754688BD9}"/>
              </a:ext>
            </a:extLst>
          </p:cNvPr>
          <p:cNvCxnSpPr>
            <a:cxnSpLocks/>
            <a:endCxn id="45" idx="0"/>
          </p:cNvCxnSpPr>
          <p:nvPr/>
        </p:nvCxnSpPr>
        <p:spPr>
          <a:xfrm>
            <a:off x="857253" y="9656636"/>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2" name="Straight Connector 61">
            <a:extLst>
              <a:ext uri="{FF2B5EF4-FFF2-40B4-BE49-F238E27FC236}">
                <a16:creationId xmlns:a16="http://schemas.microsoft.com/office/drawing/2014/main" id="{3DA76E36-19D5-C6FA-E119-A179026633FA}"/>
              </a:ext>
            </a:extLst>
          </p:cNvPr>
          <p:cNvCxnSpPr>
            <a:cxnSpLocks/>
          </p:cNvCxnSpPr>
          <p:nvPr/>
        </p:nvCxnSpPr>
        <p:spPr>
          <a:xfrm flipV="1">
            <a:off x="1639240" y="9656636"/>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63" name="Straight Connector 62">
            <a:extLst>
              <a:ext uri="{FF2B5EF4-FFF2-40B4-BE49-F238E27FC236}">
                <a16:creationId xmlns:a16="http://schemas.microsoft.com/office/drawing/2014/main" id="{7D278722-8E64-DEB7-18F7-1DAE493FB785}"/>
              </a:ext>
            </a:extLst>
          </p:cNvPr>
          <p:cNvCxnSpPr>
            <a:cxnSpLocks/>
          </p:cNvCxnSpPr>
          <p:nvPr/>
        </p:nvCxnSpPr>
        <p:spPr>
          <a:xfrm flipV="1">
            <a:off x="1268752" y="9662737"/>
            <a:ext cx="0" cy="19030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357" name="Google Shape;338;p18">
            <a:extLst>
              <a:ext uri="{FF2B5EF4-FFF2-40B4-BE49-F238E27FC236}">
                <a16:creationId xmlns:a16="http://schemas.microsoft.com/office/drawing/2014/main" id="{44CF1353-CDB8-4DEC-00F1-A56D35C86DC1}"/>
              </a:ext>
            </a:extLst>
          </p:cNvPr>
          <p:cNvSpPr/>
          <p:nvPr/>
        </p:nvSpPr>
        <p:spPr>
          <a:xfrm>
            <a:off x="2483724" y="9376740"/>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358" name="Graphic 1357" descr="User with solid fill">
            <a:extLst>
              <a:ext uri="{FF2B5EF4-FFF2-40B4-BE49-F238E27FC236}">
                <a16:creationId xmlns:a16="http://schemas.microsoft.com/office/drawing/2014/main" id="{79A1F36B-2E13-72B4-2476-67B84ED5B1D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531201" y="9871457"/>
            <a:ext cx="381354" cy="381354"/>
          </a:xfrm>
          <a:prstGeom prst="rect">
            <a:avLst/>
          </a:prstGeom>
        </p:spPr>
      </p:pic>
      <p:pic>
        <p:nvPicPr>
          <p:cNvPr id="1359" name="Graphic 1358" descr="User with solid fill">
            <a:extLst>
              <a:ext uri="{FF2B5EF4-FFF2-40B4-BE49-F238E27FC236}">
                <a16:creationId xmlns:a16="http://schemas.microsoft.com/office/drawing/2014/main" id="{56C06095-2755-6477-EC7D-1EE75443FFE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881279" y="9875939"/>
            <a:ext cx="381354" cy="381354"/>
          </a:xfrm>
          <a:prstGeom prst="rect">
            <a:avLst/>
          </a:prstGeom>
        </p:spPr>
      </p:pic>
      <p:pic>
        <p:nvPicPr>
          <p:cNvPr id="1360" name="Graphic 1359" descr="User with solid fill">
            <a:extLst>
              <a:ext uri="{FF2B5EF4-FFF2-40B4-BE49-F238E27FC236}">
                <a16:creationId xmlns:a16="http://schemas.microsoft.com/office/drawing/2014/main" id="{40D9E317-408C-9C92-551C-3BABEF4A5B2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239312" y="9884506"/>
            <a:ext cx="381354" cy="381354"/>
          </a:xfrm>
          <a:prstGeom prst="rect">
            <a:avLst/>
          </a:prstGeom>
        </p:spPr>
      </p:pic>
      <p:pic>
        <p:nvPicPr>
          <p:cNvPr id="1361" name="Graphic 1360" descr="Heart outline">
            <a:extLst>
              <a:ext uri="{FF2B5EF4-FFF2-40B4-BE49-F238E27FC236}">
                <a16:creationId xmlns:a16="http://schemas.microsoft.com/office/drawing/2014/main" id="{7E0C3731-5F06-CB73-25EB-E7A1501CEB6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544061" y="9375914"/>
            <a:ext cx="238741" cy="238741"/>
          </a:xfrm>
          <a:prstGeom prst="rect">
            <a:avLst/>
          </a:prstGeom>
        </p:spPr>
      </p:pic>
      <p:sp>
        <p:nvSpPr>
          <p:cNvPr id="1362" name="Google Shape;338;p18">
            <a:extLst>
              <a:ext uri="{FF2B5EF4-FFF2-40B4-BE49-F238E27FC236}">
                <a16:creationId xmlns:a16="http://schemas.microsoft.com/office/drawing/2014/main" id="{592F89AF-7F95-1780-0E69-2E57D2CDA78D}"/>
              </a:ext>
            </a:extLst>
          </p:cNvPr>
          <p:cNvSpPr/>
          <p:nvPr/>
        </p:nvSpPr>
        <p:spPr>
          <a:xfrm>
            <a:off x="2921787" y="9371765"/>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363" name="Graphic 1362" descr="Heart outline">
            <a:extLst>
              <a:ext uri="{FF2B5EF4-FFF2-40B4-BE49-F238E27FC236}">
                <a16:creationId xmlns:a16="http://schemas.microsoft.com/office/drawing/2014/main" id="{B4A82A53-971F-AFBB-8CE4-618BE4D7712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982124" y="9370939"/>
            <a:ext cx="238741" cy="238741"/>
          </a:xfrm>
          <a:prstGeom prst="rect">
            <a:avLst/>
          </a:prstGeom>
        </p:spPr>
      </p:pic>
      <p:sp>
        <p:nvSpPr>
          <p:cNvPr id="1364" name="Google Shape;338;p18">
            <a:extLst>
              <a:ext uri="{FF2B5EF4-FFF2-40B4-BE49-F238E27FC236}">
                <a16:creationId xmlns:a16="http://schemas.microsoft.com/office/drawing/2014/main" id="{3AD5033A-122E-E594-07B3-19B6B7FEE2A5}"/>
              </a:ext>
            </a:extLst>
          </p:cNvPr>
          <p:cNvSpPr/>
          <p:nvPr/>
        </p:nvSpPr>
        <p:spPr>
          <a:xfrm>
            <a:off x="3350249" y="9369793"/>
            <a:ext cx="359417" cy="239887"/>
          </a:xfrm>
          <a:prstGeom prst="wedgeRectCallout">
            <a:avLst>
              <a:gd name="adj1" fmla="val -20833"/>
              <a:gd name="adj2" fmla="val 625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365" name="Graphic 1364" descr="Heart outline">
            <a:extLst>
              <a:ext uri="{FF2B5EF4-FFF2-40B4-BE49-F238E27FC236}">
                <a16:creationId xmlns:a16="http://schemas.microsoft.com/office/drawing/2014/main" id="{64F23DA5-F030-466E-B3B4-2736AB202F7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01738" y="9348230"/>
            <a:ext cx="238741" cy="238741"/>
          </a:xfrm>
          <a:prstGeom prst="rect">
            <a:avLst/>
          </a:prstGeom>
        </p:spPr>
      </p:pic>
      <p:sp>
        <p:nvSpPr>
          <p:cNvPr id="1366" name="Rectangle 1365">
            <a:extLst>
              <a:ext uri="{FF2B5EF4-FFF2-40B4-BE49-F238E27FC236}">
                <a16:creationId xmlns:a16="http://schemas.microsoft.com/office/drawing/2014/main" id="{FE84DC6B-B0F2-51CD-CE09-D8451FD6155B}"/>
              </a:ext>
            </a:extLst>
          </p:cNvPr>
          <p:cNvSpPr/>
          <p:nvPr/>
        </p:nvSpPr>
        <p:spPr>
          <a:xfrm>
            <a:off x="2369828" y="9321521"/>
            <a:ext cx="1492070" cy="365760"/>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1367" name="Straight Connector 1366">
            <a:extLst>
              <a:ext uri="{FF2B5EF4-FFF2-40B4-BE49-F238E27FC236}">
                <a16:creationId xmlns:a16="http://schemas.microsoft.com/office/drawing/2014/main" id="{9029C490-B2E7-CDE7-4981-96207C9DFCE4}"/>
              </a:ext>
            </a:extLst>
          </p:cNvPr>
          <p:cNvCxnSpPr>
            <a:cxnSpLocks/>
            <a:endCxn id="1358" idx="0"/>
          </p:cNvCxnSpPr>
          <p:nvPr/>
        </p:nvCxnSpPr>
        <p:spPr>
          <a:xfrm>
            <a:off x="2662406" y="9684517"/>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368" name="Straight Connector 1367">
            <a:extLst>
              <a:ext uri="{FF2B5EF4-FFF2-40B4-BE49-F238E27FC236}">
                <a16:creationId xmlns:a16="http://schemas.microsoft.com/office/drawing/2014/main" id="{E5F0A35A-C8D4-867B-2985-18E47530388E}"/>
              </a:ext>
            </a:extLst>
          </p:cNvPr>
          <p:cNvCxnSpPr>
            <a:cxnSpLocks/>
          </p:cNvCxnSpPr>
          <p:nvPr/>
        </p:nvCxnSpPr>
        <p:spPr>
          <a:xfrm flipV="1">
            <a:off x="3444393" y="9684517"/>
            <a:ext cx="59472" cy="18694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cxnSp>
        <p:nvCxnSpPr>
          <p:cNvPr id="1369" name="Straight Connector 1368">
            <a:extLst>
              <a:ext uri="{FF2B5EF4-FFF2-40B4-BE49-F238E27FC236}">
                <a16:creationId xmlns:a16="http://schemas.microsoft.com/office/drawing/2014/main" id="{BC539DF7-B1BC-2F6C-F159-A62A28068643}"/>
              </a:ext>
            </a:extLst>
          </p:cNvPr>
          <p:cNvCxnSpPr>
            <a:cxnSpLocks/>
          </p:cNvCxnSpPr>
          <p:nvPr/>
        </p:nvCxnSpPr>
        <p:spPr>
          <a:xfrm flipV="1">
            <a:off x="3073905" y="9690618"/>
            <a:ext cx="0" cy="190309"/>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pic>
        <p:nvPicPr>
          <p:cNvPr id="1371" name="Graphic 1370" descr="Angry face outline with solid fill">
            <a:extLst>
              <a:ext uri="{FF2B5EF4-FFF2-40B4-BE49-F238E27FC236}">
                <a16:creationId xmlns:a16="http://schemas.microsoft.com/office/drawing/2014/main" id="{86503A19-D980-626C-F089-4D045BA5210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419525" y="9368586"/>
            <a:ext cx="239887" cy="239887"/>
          </a:xfrm>
          <a:prstGeom prst="rect">
            <a:avLst/>
          </a:prstGeom>
        </p:spPr>
      </p:pic>
      <p:grpSp>
        <p:nvGrpSpPr>
          <p:cNvPr id="1375" name="Group 1374">
            <a:extLst>
              <a:ext uri="{FF2B5EF4-FFF2-40B4-BE49-F238E27FC236}">
                <a16:creationId xmlns:a16="http://schemas.microsoft.com/office/drawing/2014/main" id="{96067A7C-1A5C-3CB1-9111-DDA2E3981EA9}"/>
              </a:ext>
            </a:extLst>
          </p:cNvPr>
          <p:cNvGrpSpPr/>
          <p:nvPr/>
        </p:nvGrpSpPr>
        <p:grpSpPr>
          <a:xfrm>
            <a:off x="2410008" y="9223247"/>
            <a:ext cx="1413097" cy="540204"/>
            <a:chOff x="3045575" y="7702261"/>
            <a:chExt cx="665010" cy="540204"/>
          </a:xfrm>
        </p:grpSpPr>
        <p:cxnSp>
          <p:nvCxnSpPr>
            <p:cNvPr id="1376" name="Straight Connector 1375">
              <a:extLst>
                <a:ext uri="{FF2B5EF4-FFF2-40B4-BE49-F238E27FC236}">
                  <a16:creationId xmlns:a16="http://schemas.microsoft.com/office/drawing/2014/main" id="{F49A0244-DC1A-E36A-6B8E-6EA02F637522}"/>
                </a:ext>
              </a:extLst>
            </p:cNvPr>
            <p:cNvCxnSpPr>
              <a:cxnSpLocks/>
            </p:cNvCxnSpPr>
            <p:nvPr/>
          </p:nvCxnSpPr>
          <p:spPr>
            <a:xfrm>
              <a:off x="3045575" y="7702261"/>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cxnSp>
          <p:nvCxnSpPr>
            <p:cNvPr id="1377" name="Straight Connector 1376">
              <a:extLst>
                <a:ext uri="{FF2B5EF4-FFF2-40B4-BE49-F238E27FC236}">
                  <a16:creationId xmlns:a16="http://schemas.microsoft.com/office/drawing/2014/main" id="{3E0E7CCD-6B1C-1482-AD2E-65F35FACDAB8}"/>
                </a:ext>
              </a:extLst>
            </p:cNvPr>
            <p:cNvCxnSpPr>
              <a:cxnSpLocks/>
            </p:cNvCxnSpPr>
            <p:nvPr/>
          </p:nvCxnSpPr>
          <p:spPr>
            <a:xfrm flipV="1">
              <a:off x="3058828" y="7710159"/>
              <a:ext cx="651757" cy="532306"/>
            </a:xfrm>
            <a:prstGeom prst="line">
              <a:avLst/>
            </a:prstGeom>
            <a:noFill/>
            <a:ln w="9525" cap="flat">
              <a:solidFill>
                <a:srgbClr val="C00000"/>
              </a:solidFill>
              <a:prstDash val="solid"/>
              <a:miter lim="400000"/>
            </a:ln>
            <a:effectLst/>
            <a:sp3d/>
          </p:spPr>
          <p:style>
            <a:lnRef idx="0">
              <a:scrgbClr r="0" g="0" b="0"/>
            </a:lnRef>
            <a:fillRef idx="0">
              <a:scrgbClr r="0" g="0" b="0"/>
            </a:fillRef>
            <a:effectRef idx="0">
              <a:scrgbClr r="0" g="0" b="0"/>
            </a:effectRef>
            <a:fontRef idx="none"/>
          </p:style>
        </p:cxnSp>
      </p:grpSp>
      <p:pic>
        <p:nvPicPr>
          <p:cNvPr id="37" name="Picture 36" descr="A picture containing text&#10;&#10;Description automatically generated">
            <a:extLst>
              <a:ext uri="{FF2B5EF4-FFF2-40B4-BE49-F238E27FC236}">
                <a16:creationId xmlns:a16="http://schemas.microsoft.com/office/drawing/2014/main" id="{E9E02676-A4F0-D01B-6F11-03066388E46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731243" y="8088668"/>
            <a:ext cx="297372" cy="345335"/>
          </a:xfrm>
          <a:prstGeom prst="rect">
            <a:avLst/>
          </a:prstGeom>
        </p:spPr>
      </p:pic>
      <p:sp>
        <p:nvSpPr>
          <p:cNvPr id="38" name="Line">
            <a:extLst>
              <a:ext uri="{FF2B5EF4-FFF2-40B4-BE49-F238E27FC236}">
                <a16:creationId xmlns:a16="http://schemas.microsoft.com/office/drawing/2014/main" id="{A4E74B09-162F-6146-5F3F-AF6DE6946BE7}"/>
              </a:ext>
            </a:extLst>
          </p:cNvPr>
          <p:cNvSpPr/>
          <p:nvPr/>
        </p:nvSpPr>
        <p:spPr>
          <a:xfrm flipV="1">
            <a:off x="9585321" y="1870215"/>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8" name="Line">
            <a:extLst>
              <a:ext uri="{FF2B5EF4-FFF2-40B4-BE49-F238E27FC236}">
                <a16:creationId xmlns:a16="http://schemas.microsoft.com/office/drawing/2014/main" id="{FB76A840-EE49-BFAE-0FB7-E4B92E4C2459}"/>
              </a:ext>
            </a:extLst>
          </p:cNvPr>
          <p:cNvSpPr/>
          <p:nvPr/>
        </p:nvSpPr>
        <p:spPr>
          <a:xfrm flipV="1">
            <a:off x="159998" y="1859264"/>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53" name="Line">
            <a:extLst>
              <a:ext uri="{FF2B5EF4-FFF2-40B4-BE49-F238E27FC236}">
                <a16:creationId xmlns:a16="http://schemas.microsoft.com/office/drawing/2014/main" id="{3901C664-5A65-EB00-6E70-4D1F28E39A77}"/>
              </a:ext>
            </a:extLst>
          </p:cNvPr>
          <p:cNvSpPr/>
          <p:nvPr/>
        </p:nvSpPr>
        <p:spPr>
          <a:xfrm>
            <a:off x="4691904" y="1851784"/>
            <a:ext cx="4490686" cy="1017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55" name="Line">
            <a:extLst>
              <a:ext uri="{FF2B5EF4-FFF2-40B4-BE49-F238E27FC236}">
                <a16:creationId xmlns:a16="http://schemas.microsoft.com/office/drawing/2014/main" id="{9BBFD2A2-0FF1-D6FE-0DA6-51EDC7DE8320}"/>
              </a:ext>
            </a:extLst>
          </p:cNvPr>
          <p:cNvSpPr/>
          <p:nvPr/>
        </p:nvSpPr>
        <p:spPr>
          <a:xfrm flipV="1">
            <a:off x="190921" y="3689156"/>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57" name="Line">
            <a:extLst>
              <a:ext uri="{FF2B5EF4-FFF2-40B4-BE49-F238E27FC236}">
                <a16:creationId xmlns:a16="http://schemas.microsoft.com/office/drawing/2014/main" id="{8F810AE3-8007-75C4-B4FC-CF9D34B6CB4C}"/>
              </a:ext>
            </a:extLst>
          </p:cNvPr>
          <p:cNvSpPr/>
          <p:nvPr/>
        </p:nvSpPr>
        <p:spPr>
          <a:xfrm flipV="1">
            <a:off x="132572" y="6981443"/>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58" name="Line">
            <a:extLst>
              <a:ext uri="{FF2B5EF4-FFF2-40B4-BE49-F238E27FC236}">
                <a16:creationId xmlns:a16="http://schemas.microsoft.com/office/drawing/2014/main" id="{FD265EEF-8592-F915-B594-0C221B07E66B}"/>
              </a:ext>
            </a:extLst>
          </p:cNvPr>
          <p:cNvSpPr/>
          <p:nvPr/>
        </p:nvSpPr>
        <p:spPr>
          <a:xfrm flipV="1">
            <a:off x="9542306" y="5027342"/>
            <a:ext cx="416966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Tree>
    <p:extLst>
      <p:ext uri="{BB962C8B-B14F-4D97-AF65-F5344CB8AC3E}">
        <p14:creationId xmlns:p14="http://schemas.microsoft.com/office/powerpoint/2010/main" val="1308751145"/>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4C4C4C"/>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10390</TotalTime>
  <Words>674</Words>
  <Application>Microsoft Macintosh PowerPoint</Application>
  <PresentationFormat>Custom</PresentationFormat>
  <Paragraphs>86</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Source Sans 3</vt:lpstr>
      <vt:lpstr>Avenir</vt:lpstr>
      <vt:lpstr>Helvetica Light</vt:lpstr>
      <vt:lpstr>Source Sans Pro</vt:lpstr>
      <vt:lpstr>Source Sans Pro Light</vt:lpstr>
      <vt:lpstr>Source Sans Pro Semibold</vt:lpstr>
      <vt:lpstr>White</vt:lpstr>
      <vt:lpstr>Sentiment and Emotion Datasets : : CHEAT SHEET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Four Column Layout : : CHEAT SHEET </dc:title>
  <cp:lastModifiedBy>Samantha Limon</cp:lastModifiedBy>
  <cp:revision>252</cp:revision>
  <cp:lastPrinted>2026-04-17T15:14:53Z</cp:lastPrinted>
  <dcterms:modified xsi:type="dcterms:W3CDTF">2026-05-10T03:00:15Z</dcterms:modified>
</cp:coreProperties>
</file>