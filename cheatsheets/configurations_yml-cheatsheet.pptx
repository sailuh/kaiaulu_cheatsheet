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68" r:id="rId2"/>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381DA6-9065-D171-5CA0-FB9CF094C2E7}" name="Carlos P." initials="CP" userId="435ab8475c8754a4" providerId="Windows Live"/>
  <p188:author id="{229879DC-142A-035D-C338-8FFDF36050D0}" name="Gi Young Back" initials="GB" userId="S::giyoung7@hawaii.edu::45f75ba2-d105-4297-afa9-f6ac45e3d1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365C0"/>
    <a:srgbClr val="F07D61"/>
    <a:srgbClr val="C945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5854"/>
    <p:restoredTop sz="96966" autoAdjust="0"/>
  </p:normalViewPr>
  <p:slideViewPr>
    <p:cSldViewPr snapToGrid="0" snapToObjects="1">
      <p:cViewPr varScale="1">
        <p:scale>
          <a:sx n="68" d="100"/>
          <a:sy n="68" d="100"/>
        </p:scale>
        <p:origin x="153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8CB04-88CE-FF51-4917-DA582D88A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99A2D-524A-D33D-DBD3-3FA12C3EEFDD}"/>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09A07C5A-56A2-AA10-DFB3-E8CE631617C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29891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hyperlink" Target="https://creativecommons.org/licenses/by-sa/4.0/"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4A447-9733-F0DF-7FBD-F9E8C7888A57}"/>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A5A9A25A-52AF-3403-744C-E40EF8C7689E}"/>
              </a:ext>
            </a:extLst>
          </p:cNvPr>
          <p:cNvPicPr>
            <a:picLocks noChangeAspect="1"/>
          </p:cNvPicPr>
          <p:nvPr/>
        </p:nvPicPr>
        <p:blipFill>
          <a:blip r:embed="rId3"/>
          <a:stretch>
            <a:fillRect/>
          </a:stretch>
        </p:blipFill>
        <p:spPr>
          <a:xfrm>
            <a:off x="8371568" y="-682083"/>
            <a:ext cx="5598432" cy="2990088"/>
          </a:xfrm>
          <a:prstGeom prst="rect">
            <a:avLst/>
          </a:prstGeom>
          <a:ln w="12700">
            <a:miter lim="400000"/>
          </a:ln>
        </p:spPr>
      </p:pic>
      <p:sp>
        <p:nvSpPr>
          <p:cNvPr id="312" name="Line">
            <a:extLst>
              <a:ext uri="{FF2B5EF4-FFF2-40B4-BE49-F238E27FC236}">
                <a16:creationId xmlns:a16="http://schemas.microsoft.com/office/drawing/2014/main" id="{E4202349-B614-B9D5-928B-CD1A5FCA39F9}"/>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810DDE6A-D199-1048-9A70-EBF83EE56F36}"/>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56B5E8CA-A552-1E9E-395A-1D1A18D84697}"/>
              </a:ext>
            </a:extLst>
          </p:cNvPr>
          <p:cNvSpPr txBox="1"/>
          <p:nvPr/>
        </p:nvSpPr>
        <p:spPr>
          <a:xfrm>
            <a:off x="9576575" y="1453896"/>
            <a:ext cx="139461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Config API</a:t>
            </a:r>
          </a:p>
        </p:txBody>
      </p:sp>
      <p:sp>
        <p:nvSpPr>
          <p:cNvPr id="334" name="Three Column Layout: : CHEAT SHEET">
            <a:extLst>
              <a:ext uri="{FF2B5EF4-FFF2-40B4-BE49-F238E27FC236}">
                <a16:creationId xmlns:a16="http://schemas.microsoft.com/office/drawing/2014/main" id="{A5F7592A-356E-B068-C3B0-2539D0BD4B15}"/>
              </a:ext>
            </a:extLst>
          </p:cNvPr>
          <p:cNvSpPr txBox="1">
            <a:spLocks noGrp="1"/>
          </p:cNvSpPr>
          <p:nvPr>
            <p:ph type="title"/>
          </p:nvPr>
        </p:nvSpPr>
        <p:spPr>
          <a:xfrm>
            <a:off x="275721" y="361177"/>
            <a:ext cx="10898129" cy="803346"/>
          </a:xfrm>
          <a:prstGeom prst="rect">
            <a:avLst/>
          </a:prstGeom>
        </p:spPr>
        <p:txBody>
          <a:bodyPr lIns="0" tIns="0" rIns="0" bIns="0" anchor="t">
            <a:normAutofit/>
          </a:bodyPr>
          <a:lstStyle/>
          <a:p>
            <a:r>
              <a:rPr lang="en-US" dirty="0"/>
              <a:t>Configurations (.</a:t>
            </a:r>
            <a:r>
              <a:rPr lang="en-US" dirty="0" err="1"/>
              <a:t>yml</a:t>
            </a:r>
            <a:r>
              <a:rPr lang="en-US" dirty="0"/>
              <a:t>)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34D0499D-486C-D323-75A9-9D4827924431}"/>
              </a:ext>
            </a:extLst>
          </p:cNvPr>
          <p:cNvSpPr txBox="1"/>
          <p:nvPr/>
        </p:nvSpPr>
        <p:spPr>
          <a:xfrm>
            <a:off x="143526" y="1970497"/>
            <a:ext cx="3949153" cy="18491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err="1">
                <a:solidFill>
                  <a:srgbClr val="000000"/>
                </a:solidFill>
                <a:effectLst/>
                <a:latin typeface="Source Sans Pro" panose="020B0503030403020204" pitchFamily="34" charset="0"/>
                <a:ea typeface="Source Sans Pro" panose="020B0503030403020204" pitchFamily="34" charset="0"/>
              </a:rPr>
              <a:t>Kaiaulu</a:t>
            </a:r>
            <a:r>
              <a:rPr lang="en-US" b="0" i="0" u="none" strike="noStrike" dirty="0">
                <a:solidFill>
                  <a:srgbClr val="000000"/>
                </a:solidFill>
                <a:effectLst/>
                <a:latin typeface="Source Sans Pro" panose="020B0503030403020204" pitchFamily="34" charset="0"/>
                <a:ea typeface="Source Sans Pro" panose="020B0503030403020204" pitchFamily="34" charset="0"/>
              </a:rPr>
              <a:t> uses configuration files to store data parameters that are used to run analyses. Instead of having these values in notebooks or scripts, these configuration files let users reuse the same workflows across different projects and analyses.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By splitting the configurations into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 </a:t>
            </a:r>
            <a:r>
              <a:rPr lang="en-US" b="0" i="0" u="none" strike="noStrike" dirty="0">
                <a:solidFill>
                  <a:srgbClr val="000000"/>
                </a:solidFill>
                <a:effectLst/>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rgbClr val="F07D61"/>
                </a:solidFill>
                <a:latin typeface="Source Sans Pro" panose="020B0503030403020204" pitchFamily="34" charset="0"/>
                <a:ea typeface="Source Sans Pro" panose="020B0503030403020204" pitchFamily="34" charset="0"/>
                <a:sym typeface="Source Sans Pro Light"/>
              </a:rPr>
              <a:t>)</a:t>
            </a:r>
            <a:r>
              <a:rPr lang="en-US" b="0" i="0" u="none" strike="noStrike" dirty="0">
                <a:solidFill>
                  <a:srgbClr val="F07D61"/>
                </a:solidFill>
                <a:effectLst/>
                <a:latin typeface="Source Sans Pro" panose="020B0503030403020204" pitchFamily="34" charset="0"/>
                <a:ea typeface="Source Sans Pro" panose="020B0503030403020204" pitchFamily="34" charset="0"/>
              </a:rPr>
              <a:t> </a:t>
            </a:r>
            <a:r>
              <a:rPr lang="en-US" b="0" i="0" u="none" strike="noStrike" dirty="0">
                <a:solidFill>
                  <a:srgbClr val="000000"/>
                </a:solidFill>
                <a:effectLst/>
                <a:latin typeface="Source Sans Pro" panose="020B0503030403020204" pitchFamily="34" charset="0"/>
                <a:ea typeface="Source Sans Pro" panose="020B0503030403020204" pitchFamily="34" charset="0"/>
              </a:rPr>
              <a:t>files, it reduces the duplication of data parameters and allows users to mix and match different project and analysis configs.</a:t>
            </a:r>
          </a:p>
        </p:txBody>
      </p:sp>
      <p:sp>
        <p:nvSpPr>
          <p:cNvPr id="384" name="Layout Suggestions">
            <a:extLst>
              <a:ext uri="{FF2B5EF4-FFF2-40B4-BE49-F238E27FC236}">
                <a16:creationId xmlns:a16="http://schemas.microsoft.com/office/drawing/2014/main" id="{B5CBD93E-33D4-70DC-2210-31A4F642549F}"/>
              </a:ext>
            </a:extLst>
          </p:cNvPr>
          <p:cNvSpPr txBox="1"/>
          <p:nvPr/>
        </p:nvSpPr>
        <p:spPr>
          <a:xfrm>
            <a:off x="146304" y="145322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2D6B2DD5-CC83-ECDC-9854-6EC9E7776F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B86C2891-FF76-E435-9763-C5F358BA92F4}"/>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Gi Young (Michelle) Back</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 name="Manipulate Variables">
            <a:extLst>
              <a:ext uri="{FF2B5EF4-FFF2-40B4-BE49-F238E27FC236}">
                <a16:creationId xmlns:a16="http://schemas.microsoft.com/office/drawing/2014/main" id="{EB628F8B-3A0E-EBDA-C7A3-454C1FEFE50B}"/>
              </a:ext>
            </a:extLst>
          </p:cNvPr>
          <p:cNvSpPr txBox="1"/>
          <p:nvPr/>
        </p:nvSpPr>
        <p:spPr>
          <a:xfrm>
            <a:off x="4819606" y="1453896"/>
            <a:ext cx="426719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Interchangeable Configurations</a:t>
            </a:r>
          </a:p>
        </p:txBody>
      </p:sp>
      <p:sp>
        <p:nvSpPr>
          <p:cNvPr id="382" name="Logistics">
            <a:extLst>
              <a:ext uri="{FF2B5EF4-FFF2-40B4-BE49-F238E27FC236}">
                <a16:creationId xmlns:a16="http://schemas.microsoft.com/office/drawing/2014/main" id="{83ECAB76-9A6C-A2AA-E4B2-DE6A62CFD8D6}"/>
              </a:ext>
            </a:extLst>
          </p:cNvPr>
          <p:cNvSpPr txBox="1"/>
          <p:nvPr/>
        </p:nvSpPr>
        <p:spPr>
          <a:xfrm>
            <a:off x="146304" y="7137651"/>
            <a:ext cx="3026470"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Analysis Configuration</a:t>
            </a:r>
          </a:p>
        </p:txBody>
      </p:sp>
      <p:sp>
        <p:nvSpPr>
          <p:cNvPr id="441" name="Use headers, colors, and/or backgrounds to separate or group together sections.">
            <a:extLst>
              <a:ext uri="{FF2B5EF4-FFF2-40B4-BE49-F238E27FC236}">
                <a16:creationId xmlns:a16="http://schemas.microsoft.com/office/drawing/2014/main" id="{A0F30D73-5EAE-A14D-EBD7-8666512BCAAB}"/>
              </a:ext>
            </a:extLst>
          </p:cNvPr>
          <p:cNvSpPr txBox="1"/>
          <p:nvPr/>
        </p:nvSpPr>
        <p:spPr>
          <a:xfrm>
            <a:off x="143525" y="7620809"/>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Users can define in the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 </a:t>
            </a:r>
            <a:r>
              <a:rPr lang="en-US" b="0" dirty="0">
                <a:solidFill>
                  <a:srgbClr val="000000"/>
                </a:solidFill>
                <a:latin typeface="Source Sans Pro" panose="020B0503030403020204" pitchFamily="34" charset="0"/>
                <a:ea typeface="Source Sans Pro" panose="020B0503030403020204" pitchFamily="34" charset="0"/>
                <a:sym typeface="Source Sans Pro Light"/>
              </a:rPr>
              <a:t>configuration files</a:t>
            </a:r>
            <a:r>
              <a:rPr lang="en-US" b="0" dirty="0">
                <a:solidFill>
                  <a:schemeClr val="accent5"/>
                </a:solidFill>
                <a:latin typeface="Source Sans Pro" panose="020B0503030403020204" pitchFamily="34" charset="0"/>
                <a:ea typeface="Source Sans Pro" panose="020B0503030403020204" pitchFamily="34" charset="0"/>
                <a:sym typeface="Source Sans Pro Light"/>
              </a:rPr>
              <a:t> </a:t>
            </a:r>
            <a:r>
              <a:rPr lang="en-US" b="0" i="0" u="none" strike="noStrike" dirty="0">
                <a:solidFill>
                  <a:srgbClr val="000000"/>
                </a:solidFill>
                <a:effectLst/>
                <a:latin typeface="Source Sans Pro" panose="020B0503030403020204" pitchFamily="34" charset="0"/>
                <a:ea typeface="Source Sans Pro" panose="020B0503030403020204" pitchFamily="34" charset="0"/>
              </a:rPr>
              <a:t>filters heuristics and tool parameters (e.g. depends, </a:t>
            </a:r>
            <a:r>
              <a:rPr lang="en-US" b="0" i="0" u="none" strike="noStrike" dirty="0" err="1">
                <a:solidFill>
                  <a:srgbClr val="000000"/>
                </a:solidFill>
                <a:effectLst/>
                <a:latin typeface="Source Sans Pro" panose="020B0503030403020204" pitchFamily="34" charset="0"/>
                <a:ea typeface="Source Sans Pro" panose="020B0503030403020204" pitchFamily="34" charset="0"/>
              </a:rPr>
              <a:t>uctags</a:t>
            </a:r>
            <a:r>
              <a:rPr lang="en-US" b="0" i="0" u="none" strike="noStrike" dirty="0">
                <a:solidFill>
                  <a:srgbClr val="000000"/>
                </a:solidFill>
                <a:effectLst/>
                <a:latin typeface="Source Sans Pro" panose="020B0503030403020204" pitchFamily="34" charset="0"/>
                <a:ea typeface="Source Sans Pro" panose="020B0503030403020204" pitchFamily="34" charset="0"/>
              </a:rPr>
              <a:t>).</a:t>
            </a:r>
          </a:p>
        </p:txBody>
      </p:sp>
      <p:sp>
        <p:nvSpPr>
          <p:cNvPr id="770" name="Use headers, colors, and/or backgrounds to separate or group together sections.">
            <a:extLst>
              <a:ext uri="{FF2B5EF4-FFF2-40B4-BE49-F238E27FC236}">
                <a16:creationId xmlns:a16="http://schemas.microsoft.com/office/drawing/2014/main" id="{94B369A0-7400-EBA9-FB19-92B9BA7C99E7}"/>
              </a:ext>
            </a:extLst>
          </p:cNvPr>
          <p:cNvSpPr txBox="1"/>
          <p:nvPr/>
        </p:nvSpPr>
        <p:spPr>
          <a:xfrm>
            <a:off x="146304" y="9732412"/>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can be reused across different projects and define how data is analyzed.</a:t>
            </a:r>
          </a:p>
        </p:txBody>
      </p:sp>
      <p:sp>
        <p:nvSpPr>
          <p:cNvPr id="773" name="Use headers, colors, and/or backgrounds to separate or group together sections.">
            <a:extLst>
              <a:ext uri="{FF2B5EF4-FFF2-40B4-BE49-F238E27FC236}">
                <a16:creationId xmlns:a16="http://schemas.microsoft.com/office/drawing/2014/main" id="{7D945C34-5C9C-D37D-9DE5-2F2BFD243898}"/>
              </a:ext>
            </a:extLst>
          </p:cNvPr>
          <p:cNvSpPr txBox="1"/>
          <p:nvPr/>
        </p:nvSpPr>
        <p:spPr>
          <a:xfrm>
            <a:off x="4823961" y="7410108"/>
            <a:ext cx="4159162" cy="2347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notebooks (3), configuration files can be found near the beginning of the file. The notebook parses </a:t>
            </a:r>
            <a:r>
              <a:rPr lang="en-US" b="0" dirty="0" err="1">
                <a:solidFill>
                  <a:schemeClr val="accent1"/>
                </a:solidFill>
                <a:latin typeface="Source Sans Pro" panose="020B0503030403020204" pitchFamily="34" charset="0"/>
                <a:ea typeface="Source Sans Pro" panose="020B0503030403020204" pitchFamily="34" charset="0"/>
              </a:rPr>
              <a:t>project.yml</a:t>
            </a:r>
            <a:r>
              <a:rPr lang="en-US" b="0" dirty="0">
                <a:solidFill>
                  <a:schemeClr val="accent1"/>
                </a:solidFill>
                <a:latin typeface="Source Sans Pro" panose="020B0503030403020204" pitchFamily="34" charset="0"/>
                <a:ea typeface="Source Sans Pro" panose="020B0503030403020204" pitchFamily="34" charset="0"/>
              </a:rPr>
              <a:t> (1)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rPr>
              <a:t>analysis.yml</a:t>
            </a:r>
            <a:r>
              <a:rPr lang="en-US" b="0" dirty="0">
                <a:solidFill>
                  <a:schemeClr val="accent4"/>
                </a:solidFill>
                <a:latin typeface="Source Sans Pro" panose="020B0503030403020204" pitchFamily="34" charset="0"/>
                <a:ea typeface="Source Sans Pro" panose="020B0503030403020204" pitchFamily="34" charset="0"/>
              </a:rPr>
              <a:t> (2</a:t>
            </a:r>
            <a:r>
              <a:rPr lang="en-US" b="0" dirty="0">
                <a:solidFill>
                  <a:schemeClr val="accent5"/>
                </a:solidFill>
                <a:latin typeface="Source Sans Pro" panose="020B0503030403020204" pitchFamily="34" charset="0"/>
                <a:ea typeface="Source Sans Pro" panose="020B0503030403020204" pitchFamily="34" charset="0"/>
              </a:rPr>
              <a:t>)</a:t>
            </a:r>
            <a:r>
              <a:rPr lang="en-US" b="0" dirty="0">
                <a:solidFill>
                  <a:srgbClr val="000000"/>
                </a:solidFill>
                <a:latin typeface="Source Sans Pro" panose="020B0503030403020204" pitchFamily="34" charset="0"/>
                <a:ea typeface="Source Sans Pro" panose="020B0503030403020204" pitchFamily="34" charset="0"/>
              </a:rPr>
              <a:t> files and gets the values of the parameters with get functions. This allows users to modify parameters in the .</a:t>
            </a:r>
            <a:r>
              <a:rPr lang="en-US" b="0" dirty="0" err="1">
                <a:solidFill>
                  <a:srgbClr val="000000"/>
                </a:solidFill>
                <a:latin typeface="Source Sans Pro" panose="020B0503030403020204" pitchFamily="34" charset="0"/>
                <a:ea typeface="Source Sans Pro" panose="020B0503030403020204" pitchFamily="34" charset="0"/>
              </a:rPr>
              <a:t>yml</a:t>
            </a:r>
            <a:r>
              <a:rPr lang="en-US" b="0" dirty="0">
                <a:solidFill>
                  <a:srgbClr val="000000"/>
                </a:solidFill>
                <a:latin typeface="Source Sans Pro" panose="020B0503030403020204" pitchFamily="34" charset="0"/>
                <a:ea typeface="Source Sans Pro" panose="020B0503030403020204" pitchFamily="34" charset="0"/>
              </a:rPr>
              <a:t> files instead of the notebooks.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executables (4), both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chemeClr val="accent4"/>
                </a:solidFill>
                <a:latin typeface="Source Sans Pro" panose="020B0503030403020204" pitchFamily="34" charset="0"/>
                <a:ea typeface="Source Sans Pro" panose="020B0503030403020204" pitchFamily="34" charset="0"/>
              </a:rPr>
              <a:t> </a:t>
            </a:r>
            <a:r>
              <a:rPr lang="en-US" b="0" dirty="0">
                <a:solidFill>
                  <a:srgbClr val="000000"/>
                </a:solidFill>
                <a:latin typeface="Source Sans Pro" panose="020B0503030403020204" pitchFamily="34" charset="0"/>
                <a:ea typeface="Source Sans Pro" panose="020B0503030403020204" pitchFamily="34" charset="0"/>
              </a:rPr>
              <a:t>files are passed directly as arguments through the command line. The script runs the selected configuration without modification. Although using executables makes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a:t>
            </a:r>
            <a:r>
              <a:rPr lang="en-US" b="0" dirty="0">
                <a:solidFill>
                  <a:schemeClr val="accent1"/>
                </a:solidFill>
                <a:latin typeface="Source Sans Pro" panose="020B0503030403020204" pitchFamily="34" charset="0"/>
                <a:ea typeface="Source Sans Pro" panose="020B0503030403020204" pitchFamily="34" charset="0"/>
              </a:rPr>
              <a:t>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chemeClr val="accent4"/>
                </a:solidFill>
                <a:latin typeface="Source Sans Pro" panose="020B0503030403020204" pitchFamily="34" charset="0"/>
                <a:ea typeface="Source Sans Pro" panose="020B0503030403020204" pitchFamily="34" charset="0"/>
              </a:rPr>
              <a:t> </a:t>
            </a:r>
            <a:r>
              <a:rPr lang="en-US" b="0" dirty="0">
                <a:solidFill>
                  <a:srgbClr val="000000"/>
                </a:solidFill>
                <a:latin typeface="Source Sans Pro" panose="020B0503030403020204" pitchFamily="34" charset="0"/>
                <a:ea typeface="Source Sans Pro" panose="020B0503030403020204" pitchFamily="34" charset="0"/>
              </a:rPr>
              <a:t>files fixed during execution, the advantages of using executables versus notebooks are that they can run on server side and do not require knowledge of R. </a:t>
            </a:r>
          </a:p>
        </p:txBody>
      </p:sp>
      <p:sp>
        <p:nvSpPr>
          <p:cNvPr id="3" name="Use headers, colors, and/or backgrounds to separate or group together sections.">
            <a:extLst>
              <a:ext uri="{FF2B5EF4-FFF2-40B4-BE49-F238E27FC236}">
                <a16:creationId xmlns:a16="http://schemas.microsoft.com/office/drawing/2014/main" id="{31257C4A-E684-2365-E2BC-251C16D27EFA}"/>
              </a:ext>
            </a:extLst>
          </p:cNvPr>
          <p:cNvSpPr txBox="1"/>
          <p:nvPr/>
        </p:nvSpPr>
        <p:spPr>
          <a:xfrm>
            <a:off x="4823961" y="1975104"/>
            <a:ext cx="4159162" cy="941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files (1) </a:t>
            </a:r>
            <a:r>
              <a:rPr lang="en-US" b="0" dirty="0">
                <a:solidFill>
                  <a:srgbClr val="000000"/>
                </a:solidFill>
                <a:latin typeface="Source Sans Pro" panose="020B0503030403020204" pitchFamily="34" charset="0"/>
                <a:ea typeface="Source Sans Pro" panose="020B0503030403020204" pitchFamily="34" charset="0"/>
                <a:sym typeface="Source Sans Pro Light"/>
              </a:rPr>
              <a:t>are combined with any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files (2)</a:t>
            </a:r>
            <a:r>
              <a:rPr lang="en-US" b="0" dirty="0">
                <a:solidFill>
                  <a:srgbClr val="000000"/>
                </a:solidFill>
                <a:latin typeface="Source Sans Pro" panose="020B0503030403020204" pitchFamily="34" charset="0"/>
                <a:ea typeface="Source Sans Pro" panose="020B0503030403020204" pitchFamily="34" charset="0"/>
                <a:sym typeface="Source Sans Pro Light"/>
              </a:rPr>
              <a:t>. This allows users to run the same analysis on multiple projects or run different analyses on the same project, reducing duplication of configuration sections. The combined configuration can be used both in notebooks and scripts.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744" name="Rectangle 743">
            <a:extLst>
              <a:ext uri="{FF2B5EF4-FFF2-40B4-BE49-F238E27FC236}">
                <a16:creationId xmlns:a16="http://schemas.microsoft.com/office/drawing/2014/main" id="{9B3158A5-C8C0-3960-ACFA-55DD296007FB}"/>
              </a:ext>
            </a:extLst>
          </p:cNvPr>
          <p:cNvSpPr/>
          <p:nvPr/>
        </p:nvSpPr>
        <p:spPr>
          <a:xfrm>
            <a:off x="4888883" y="3142989"/>
            <a:ext cx="4304374"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746" name="Group 745">
            <a:extLst>
              <a:ext uri="{FF2B5EF4-FFF2-40B4-BE49-F238E27FC236}">
                <a16:creationId xmlns:a16="http://schemas.microsoft.com/office/drawing/2014/main" id="{89B6EEE1-018C-FC38-24B7-792CD3F900A2}"/>
              </a:ext>
            </a:extLst>
          </p:cNvPr>
          <p:cNvGrpSpPr/>
          <p:nvPr/>
        </p:nvGrpSpPr>
        <p:grpSpPr>
          <a:xfrm>
            <a:off x="5004262" y="3455902"/>
            <a:ext cx="1697185" cy="1138162"/>
            <a:chOff x="2066366" y="1358812"/>
            <a:chExt cx="4087905" cy="2741421"/>
          </a:xfrm>
        </p:grpSpPr>
        <p:sp>
          <p:nvSpPr>
            <p:cNvPr id="340" name="Rectangle 339">
              <a:extLst>
                <a:ext uri="{FF2B5EF4-FFF2-40B4-BE49-F238E27FC236}">
                  <a16:creationId xmlns:a16="http://schemas.microsoft.com/office/drawing/2014/main" id="{E602EE5A-8206-9074-2926-DA1FD542450C}"/>
                </a:ext>
              </a:extLst>
            </p:cNvPr>
            <p:cNvSpPr/>
            <p:nvPr/>
          </p:nvSpPr>
          <p:spPr>
            <a:xfrm>
              <a:off x="3245226" y="1385928"/>
              <a:ext cx="1716740" cy="748836"/>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43" name="Rectangle 342">
              <a:extLst>
                <a:ext uri="{FF2B5EF4-FFF2-40B4-BE49-F238E27FC236}">
                  <a16:creationId xmlns:a16="http://schemas.microsoft.com/office/drawing/2014/main" id="{F70B8215-0FD2-0EDE-0E3E-E509EDDE30BC}"/>
                </a:ext>
              </a:extLst>
            </p:cNvPr>
            <p:cNvSpPr/>
            <p:nvPr/>
          </p:nvSpPr>
          <p:spPr>
            <a:xfrm>
              <a:off x="2066366"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Rectangle 343">
              <a:extLst>
                <a:ext uri="{FF2B5EF4-FFF2-40B4-BE49-F238E27FC236}">
                  <a16:creationId xmlns:a16="http://schemas.microsoft.com/office/drawing/2014/main" id="{3AC9D4C3-6512-44C4-5D74-3F2470A812A2}"/>
                </a:ext>
              </a:extLst>
            </p:cNvPr>
            <p:cNvSpPr/>
            <p:nvPr/>
          </p:nvSpPr>
          <p:spPr>
            <a:xfrm>
              <a:off x="4437531"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345" name="Connector: Curved 344">
              <a:extLst>
                <a:ext uri="{FF2B5EF4-FFF2-40B4-BE49-F238E27FC236}">
                  <a16:creationId xmlns:a16="http://schemas.microsoft.com/office/drawing/2014/main" id="{E373C75E-D92C-F544-B6D3-EFA96A09AAA5}"/>
                </a:ext>
              </a:extLst>
            </p:cNvPr>
            <p:cNvCxnSpPr/>
            <p:nvPr/>
          </p:nvCxnSpPr>
          <p:spPr>
            <a:xfrm rot="16200000" flipH="1">
              <a:off x="5248836" y="1901640"/>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6" name="Connector: Curved 345">
              <a:extLst>
                <a:ext uri="{FF2B5EF4-FFF2-40B4-BE49-F238E27FC236}">
                  <a16:creationId xmlns:a16="http://schemas.microsoft.com/office/drawing/2014/main" id="{86A3A7B8-7721-5025-02CE-E333FADD70E4}"/>
                </a:ext>
              </a:extLst>
            </p:cNvPr>
            <p:cNvCxnSpPr>
              <a:cxnSpLocks/>
            </p:cNvCxnSpPr>
            <p:nvPr/>
          </p:nvCxnSpPr>
          <p:spPr>
            <a:xfrm rot="10800000" flipH="1">
              <a:off x="2458571" y="1926294"/>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7" name="Connector: Curved 346">
              <a:extLst>
                <a:ext uri="{FF2B5EF4-FFF2-40B4-BE49-F238E27FC236}">
                  <a16:creationId xmlns:a16="http://schemas.microsoft.com/office/drawing/2014/main" id="{CEE97725-C260-6436-FCFB-8C84B5D51560}"/>
                </a:ext>
              </a:extLst>
            </p:cNvPr>
            <p:cNvCxnSpPr>
              <a:cxnSpLocks/>
            </p:cNvCxnSpPr>
            <p:nvPr/>
          </p:nvCxnSpPr>
          <p:spPr>
            <a:xfrm rot="2700000" flipH="1">
              <a:off x="3827930" y="3595968"/>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8" name="TextBox 347">
              <a:extLst>
                <a:ext uri="{FF2B5EF4-FFF2-40B4-BE49-F238E27FC236}">
                  <a16:creationId xmlns:a16="http://schemas.microsoft.com/office/drawing/2014/main" id="{E2EEA11D-A2B5-C694-48BB-A881C29DEE70}"/>
                </a:ext>
              </a:extLst>
            </p:cNvPr>
            <p:cNvSpPr txBox="1"/>
            <p:nvPr/>
          </p:nvSpPr>
          <p:spPr>
            <a:xfrm>
              <a:off x="3358162" y="1358812"/>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project1</a:t>
              </a:r>
            </a:p>
          </p:txBody>
        </p:sp>
        <p:sp>
          <p:nvSpPr>
            <p:cNvPr id="349" name="TextBox 348">
              <a:extLst>
                <a:ext uri="{FF2B5EF4-FFF2-40B4-BE49-F238E27FC236}">
                  <a16:creationId xmlns:a16="http://schemas.microsoft.com/office/drawing/2014/main" id="{835469BE-5762-264A-E38A-2F27DB563014}"/>
                </a:ext>
              </a:extLst>
            </p:cNvPr>
            <p:cNvSpPr txBox="1"/>
            <p:nvPr/>
          </p:nvSpPr>
          <p:spPr>
            <a:xfrm>
              <a:off x="4515898" y="2711961"/>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project2</a:t>
              </a:r>
            </a:p>
          </p:txBody>
        </p:sp>
        <p:sp>
          <p:nvSpPr>
            <p:cNvPr id="350" name="TextBox 349">
              <a:extLst>
                <a:ext uri="{FF2B5EF4-FFF2-40B4-BE49-F238E27FC236}">
                  <a16:creationId xmlns:a16="http://schemas.microsoft.com/office/drawing/2014/main" id="{88DB1894-95FA-122B-F84D-3DE224A9F68F}"/>
                </a:ext>
              </a:extLst>
            </p:cNvPr>
            <p:cNvSpPr txBox="1"/>
            <p:nvPr/>
          </p:nvSpPr>
          <p:spPr>
            <a:xfrm>
              <a:off x="2165860" y="2711961"/>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project3</a:t>
              </a:r>
            </a:p>
          </p:txBody>
        </p:sp>
      </p:grpSp>
      <p:grpSp>
        <p:nvGrpSpPr>
          <p:cNvPr id="747" name="Group 746">
            <a:extLst>
              <a:ext uri="{FF2B5EF4-FFF2-40B4-BE49-F238E27FC236}">
                <a16:creationId xmlns:a16="http://schemas.microsoft.com/office/drawing/2014/main" id="{E10507AE-00EA-1C63-4E58-235334F4B94B}"/>
              </a:ext>
            </a:extLst>
          </p:cNvPr>
          <p:cNvGrpSpPr/>
          <p:nvPr/>
        </p:nvGrpSpPr>
        <p:grpSpPr>
          <a:xfrm>
            <a:off x="7380403" y="3428080"/>
            <a:ext cx="1706397" cy="1161233"/>
            <a:chOff x="2066366" y="1303242"/>
            <a:chExt cx="4110093" cy="2796991"/>
          </a:xfrm>
        </p:grpSpPr>
        <p:sp>
          <p:nvSpPr>
            <p:cNvPr id="330" name="Rectangle 329">
              <a:extLst>
                <a:ext uri="{FF2B5EF4-FFF2-40B4-BE49-F238E27FC236}">
                  <a16:creationId xmlns:a16="http://schemas.microsoft.com/office/drawing/2014/main" id="{F625E1E5-3D8B-1EA1-D22C-04DBB203BBF4}"/>
                </a:ext>
              </a:extLst>
            </p:cNvPr>
            <p:cNvSpPr/>
            <p:nvPr/>
          </p:nvSpPr>
          <p:spPr>
            <a:xfrm>
              <a:off x="3245225" y="1317812"/>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1" name="Rectangle 330">
              <a:extLst>
                <a:ext uri="{FF2B5EF4-FFF2-40B4-BE49-F238E27FC236}">
                  <a16:creationId xmlns:a16="http://schemas.microsoft.com/office/drawing/2014/main" id="{011F07CE-DD26-4FA8-4419-3882B510BFD5}"/>
                </a:ext>
              </a:extLst>
            </p:cNvPr>
            <p:cNvSpPr/>
            <p:nvPr/>
          </p:nvSpPr>
          <p:spPr>
            <a:xfrm>
              <a:off x="2066366"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2" name="Rectangle 331">
              <a:extLst>
                <a:ext uri="{FF2B5EF4-FFF2-40B4-BE49-F238E27FC236}">
                  <a16:creationId xmlns:a16="http://schemas.microsoft.com/office/drawing/2014/main" id="{C5D94FAD-BD91-78C8-C41C-4B3A221EF4AA}"/>
                </a:ext>
              </a:extLst>
            </p:cNvPr>
            <p:cNvSpPr/>
            <p:nvPr/>
          </p:nvSpPr>
          <p:spPr>
            <a:xfrm>
              <a:off x="4437531" y="2736479"/>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33" name="Connector: Curved 332">
              <a:extLst>
                <a:ext uri="{FF2B5EF4-FFF2-40B4-BE49-F238E27FC236}">
                  <a16:creationId xmlns:a16="http://schemas.microsoft.com/office/drawing/2014/main" id="{9EB60F85-5FD3-683A-D852-00C49BDE9F04}"/>
                </a:ext>
              </a:extLst>
            </p:cNvPr>
            <p:cNvCxnSpPr/>
            <p:nvPr/>
          </p:nvCxnSpPr>
          <p:spPr>
            <a:xfrm rot="16200000" flipH="1">
              <a:off x="5248836" y="1901640"/>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5" name="Connector: Curved 334">
              <a:extLst>
                <a:ext uri="{FF2B5EF4-FFF2-40B4-BE49-F238E27FC236}">
                  <a16:creationId xmlns:a16="http://schemas.microsoft.com/office/drawing/2014/main" id="{CE1C19A1-231A-57A8-1CB4-409C530AFE80}"/>
                </a:ext>
              </a:extLst>
            </p:cNvPr>
            <p:cNvCxnSpPr>
              <a:cxnSpLocks/>
            </p:cNvCxnSpPr>
            <p:nvPr/>
          </p:nvCxnSpPr>
          <p:spPr>
            <a:xfrm rot="10800000" flipH="1">
              <a:off x="2458571" y="1926294"/>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6" name="Connector: Curved 335">
              <a:extLst>
                <a:ext uri="{FF2B5EF4-FFF2-40B4-BE49-F238E27FC236}">
                  <a16:creationId xmlns:a16="http://schemas.microsoft.com/office/drawing/2014/main" id="{92D7BB3B-6E3A-B8FC-E1A3-9C2FC8F9E9AE}"/>
                </a:ext>
              </a:extLst>
            </p:cNvPr>
            <p:cNvCxnSpPr>
              <a:cxnSpLocks/>
            </p:cNvCxnSpPr>
            <p:nvPr/>
          </p:nvCxnSpPr>
          <p:spPr>
            <a:xfrm rot="2700000" flipH="1">
              <a:off x="3827930" y="3595968"/>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214ADF31-789A-FEC1-1E02-45840991A1E4}"/>
                </a:ext>
              </a:extLst>
            </p:cNvPr>
            <p:cNvSpPr txBox="1"/>
            <p:nvPr/>
          </p:nvSpPr>
          <p:spPr>
            <a:xfrm>
              <a:off x="3287235" y="1303242"/>
              <a:ext cx="1674731"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4"/>
                  </a:solidFill>
                </a:rPr>
                <a:t>analysisA</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338" name="TextBox 337">
              <a:extLst>
                <a:ext uri="{FF2B5EF4-FFF2-40B4-BE49-F238E27FC236}">
                  <a16:creationId xmlns:a16="http://schemas.microsoft.com/office/drawing/2014/main" id="{B92BB6DA-C049-58F0-7CBF-66C03A1705C4}"/>
                </a:ext>
              </a:extLst>
            </p:cNvPr>
            <p:cNvSpPr txBox="1"/>
            <p:nvPr/>
          </p:nvSpPr>
          <p:spPr>
            <a:xfrm>
              <a:off x="4490145" y="2721834"/>
              <a:ext cx="1686314"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4"/>
                  </a:solidFill>
                </a:rPr>
                <a:t>analysisB</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339" name="TextBox 338">
              <a:extLst>
                <a:ext uri="{FF2B5EF4-FFF2-40B4-BE49-F238E27FC236}">
                  <a16:creationId xmlns:a16="http://schemas.microsoft.com/office/drawing/2014/main" id="{A181F184-14F7-E7FE-408A-B2E7C5568B81}"/>
                </a:ext>
              </a:extLst>
            </p:cNvPr>
            <p:cNvSpPr txBox="1"/>
            <p:nvPr/>
          </p:nvSpPr>
          <p:spPr>
            <a:xfrm>
              <a:off x="2093191" y="2703454"/>
              <a:ext cx="1678592"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err="1">
                  <a:ln>
                    <a:noFill/>
                  </a:ln>
                  <a:solidFill>
                    <a:schemeClr val="accent4"/>
                  </a:solidFill>
                  <a:effectLst/>
                  <a:uFillTx/>
                  <a:latin typeface="Source Sans Pro"/>
                  <a:ea typeface="Source Sans Pro"/>
                  <a:cs typeface="Source Sans Pro"/>
                  <a:sym typeface="Source Sans Pro"/>
                </a:rPr>
                <a:t>analysisC</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grpSp>
      <p:cxnSp>
        <p:nvCxnSpPr>
          <p:cNvPr id="748" name="Straight Connector 747">
            <a:extLst>
              <a:ext uri="{FF2B5EF4-FFF2-40B4-BE49-F238E27FC236}">
                <a16:creationId xmlns:a16="http://schemas.microsoft.com/office/drawing/2014/main" id="{12209888-512B-3D37-B719-1BA5CB4B0949}"/>
              </a:ext>
            </a:extLst>
          </p:cNvPr>
          <p:cNvCxnSpPr/>
          <p:nvPr/>
        </p:nvCxnSpPr>
        <p:spPr>
          <a:xfrm>
            <a:off x="7048823" y="3771426"/>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53" name="Straight Connector 752">
            <a:extLst>
              <a:ext uri="{FF2B5EF4-FFF2-40B4-BE49-F238E27FC236}">
                <a16:creationId xmlns:a16="http://schemas.microsoft.com/office/drawing/2014/main" id="{F2DE6B91-022F-343B-2A7B-A3C7E3A30F7D}"/>
              </a:ext>
            </a:extLst>
          </p:cNvPr>
          <p:cNvCxnSpPr>
            <a:cxnSpLocks/>
          </p:cNvCxnSpPr>
          <p:nvPr/>
        </p:nvCxnSpPr>
        <p:spPr>
          <a:xfrm rot="5400000">
            <a:off x="7048823" y="3780267"/>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62" name="Rectangle 761">
            <a:extLst>
              <a:ext uri="{FF2B5EF4-FFF2-40B4-BE49-F238E27FC236}">
                <a16:creationId xmlns:a16="http://schemas.microsoft.com/office/drawing/2014/main" id="{A5CCB213-A2DA-D5AB-931F-521681D809E7}"/>
              </a:ext>
            </a:extLst>
          </p:cNvPr>
          <p:cNvSpPr/>
          <p:nvPr/>
        </p:nvSpPr>
        <p:spPr>
          <a:xfrm>
            <a:off x="7670369" y="6084901"/>
            <a:ext cx="1521295" cy="914400"/>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63" name="TextBox 762">
            <a:extLst>
              <a:ext uri="{FF2B5EF4-FFF2-40B4-BE49-F238E27FC236}">
                <a16:creationId xmlns:a16="http://schemas.microsoft.com/office/drawing/2014/main" id="{DF5D3B46-F51A-4387-3EDC-3BB42439ABC8}"/>
              </a:ext>
            </a:extLst>
          </p:cNvPr>
          <p:cNvSpPr txBox="1"/>
          <p:nvPr/>
        </p:nvSpPr>
        <p:spPr>
          <a:xfrm>
            <a:off x="7760791" y="6280406"/>
            <a:ext cx="1521294" cy="6693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&gt; </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Rscript</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exec/</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git.R</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a:t>
            </a: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project1.yml</a:t>
            </a:r>
          </a:p>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4"/>
                </a:solidFill>
              </a:rPr>
              <a:t>analysisB.yml</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764" name="TextBox 763">
            <a:extLst>
              <a:ext uri="{FF2B5EF4-FFF2-40B4-BE49-F238E27FC236}">
                <a16:creationId xmlns:a16="http://schemas.microsoft.com/office/drawing/2014/main" id="{7FDBFA87-5232-7FB5-B3BD-746E252F1B02}"/>
              </a:ext>
            </a:extLst>
          </p:cNvPr>
          <p:cNvSpPr txBox="1"/>
          <p:nvPr/>
        </p:nvSpPr>
        <p:spPr>
          <a:xfrm rot="5400000">
            <a:off x="5900417" y="5738103"/>
            <a:ext cx="20202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1"/>
                </a:solidFill>
              </a:rPr>
              <a:t>project1.yml </a:t>
            </a:r>
            <a:r>
              <a:rPr lang="en-US" sz="1000" dirty="0"/>
              <a:t>+ </a:t>
            </a:r>
            <a:r>
              <a:rPr lang="en-US" sz="1000" dirty="0" err="1">
                <a:solidFill>
                  <a:schemeClr val="accent4"/>
                </a:solidFill>
              </a:rPr>
              <a:t>analysisB.yml</a:t>
            </a:r>
            <a:endParaRPr kumimoji="0" lang="en-US" sz="10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cxnSp>
        <p:nvCxnSpPr>
          <p:cNvPr id="765" name="Straight Arrow Connector 764">
            <a:extLst>
              <a:ext uri="{FF2B5EF4-FFF2-40B4-BE49-F238E27FC236}">
                <a16:creationId xmlns:a16="http://schemas.microsoft.com/office/drawing/2014/main" id="{4B66B5A9-ED42-8041-1680-C61FD163DDFD}"/>
              </a:ext>
            </a:extLst>
          </p:cNvPr>
          <p:cNvCxnSpPr>
            <a:cxnSpLocks/>
          </p:cNvCxnSpPr>
          <p:nvPr/>
        </p:nvCxnSpPr>
        <p:spPr>
          <a:xfrm flipH="1">
            <a:off x="8353527" y="4850630"/>
            <a:ext cx="11317" cy="1206985"/>
          </a:xfrm>
          <a:prstGeom prst="straightConnector1">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67" name="TextBox 766">
            <a:extLst>
              <a:ext uri="{FF2B5EF4-FFF2-40B4-BE49-F238E27FC236}">
                <a16:creationId xmlns:a16="http://schemas.microsoft.com/office/drawing/2014/main" id="{098B02A7-97AC-86F3-1AD2-9D4A2D6B9854}"/>
              </a:ext>
            </a:extLst>
          </p:cNvPr>
          <p:cNvSpPr txBox="1"/>
          <p:nvPr/>
        </p:nvSpPr>
        <p:spPr>
          <a:xfrm>
            <a:off x="5067865" y="330726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(1)</a:t>
            </a:r>
          </a:p>
        </p:txBody>
      </p:sp>
      <p:sp>
        <p:nvSpPr>
          <p:cNvPr id="322" name="TextBox 321">
            <a:extLst>
              <a:ext uri="{FF2B5EF4-FFF2-40B4-BE49-F238E27FC236}">
                <a16:creationId xmlns:a16="http://schemas.microsoft.com/office/drawing/2014/main" id="{1647B78A-07D9-CBE2-2366-24B41CA0DAF8}"/>
              </a:ext>
            </a:extLst>
          </p:cNvPr>
          <p:cNvSpPr txBox="1"/>
          <p:nvPr/>
        </p:nvSpPr>
        <p:spPr>
          <a:xfrm>
            <a:off x="7639590" y="5720835"/>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(4)</a:t>
            </a:r>
          </a:p>
        </p:txBody>
      </p:sp>
      <p:sp>
        <p:nvSpPr>
          <p:cNvPr id="351" name="TextBox 350">
            <a:extLst>
              <a:ext uri="{FF2B5EF4-FFF2-40B4-BE49-F238E27FC236}">
                <a16:creationId xmlns:a16="http://schemas.microsoft.com/office/drawing/2014/main" id="{B4136D1A-40A8-258F-C1DC-140410F8865F}"/>
              </a:ext>
            </a:extLst>
          </p:cNvPr>
          <p:cNvSpPr txBox="1"/>
          <p:nvPr/>
        </p:nvSpPr>
        <p:spPr>
          <a:xfrm>
            <a:off x="7318687" y="328651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(2)</a:t>
            </a:r>
          </a:p>
        </p:txBody>
      </p:sp>
      <p:sp>
        <p:nvSpPr>
          <p:cNvPr id="352" name="TextBox 351">
            <a:extLst>
              <a:ext uri="{FF2B5EF4-FFF2-40B4-BE49-F238E27FC236}">
                <a16:creationId xmlns:a16="http://schemas.microsoft.com/office/drawing/2014/main" id="{108FA6D4-2044-55A8-08D4-3EFA5E076E14}"/>
              </a:ext>
            </a:extLst>
          </p:cNvPr>
          <p:cNvSpPr txBox="1"/>
          <p:nvPr/>
        </p:nvSpPr>
        <p:spPr>
          <a:xfrm>
            <a:off x="4819295" y="5120751"/>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(3)</a:t>
            </a:r>
          </a:p>
        </p:txBody>
      </p:sp>
      <p:sp>
        <p:nvSpPr>
          <p:cNvPr id="784" name="TextBox 783">
            <a:extLst>
              <a:ext uri="{FF2B5EF4-FFF2-40B4-BE49-F238E27FC236}">
                <a16:creationId xmlns:a16="http://schemas.microsoft.com/office/drawing/2014/main" id="{02810255-4D29-85B0-F8B6-998DAE7BB24D}"/>
              </a:ext>
            </a:extLst>
          </p:cNvPr>
          <p:cNvSpPr txBox="1"/>
          <p:nvPr/>
        </p:nvSpPr>
        <p:spPr>
          <a:xfrm rot="5400000">
            <a:off x="7872368" y="5454017"/>
            <a:ext cx="1453851"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1"/>
                </a:solidFill>
              </a:rPr>
              <a:t>project1.yml </a:t>
            </a:r>
            <a:r>
              <a:rPr lang="en-US" sz="1000" dirty="0"/>
              <a:t>+ </a:t>
            </a:r>
            <a:r>
              <a:rPr lang="en-US" sz="1000" dirty="0" err="1">
                <a:solidFill>
                  <a:schemeClr val="accent4"/>
                </a:solidFill>
              </a:rPr>
              <a:t>analysisB.yml</a:t>
            </a:r>
            <a:endParaRPr kumimoji="0" lang="en-US" sz="10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grpSp>
        <p:nvGrpSpPr>
          <p:cNvPr id="51" name="Group 50">
            <a:extLst>
              <a:ext uri="{FF2B5EF4-FFF2-40B4-BE49-F238E27FC236}">
                <a16:creationId xmlns:a16="http://schemas.microsoft.com/office/drawing/2014/main" id="{5FC19CC4-E6EA-BDE2-59AC-95CF1DAD4A7B}"/>
              </a:ext>
            </a:extLst>
          </p:cNvPr>
          <p:cNvGrpSpPr/>
          <p:nvPr/>
        </p:nvGrpSpPr>
        <p:grpSpPr>
          <a:xfrm>
            <a:off x="258236" y="8605681"/>
            <a:ext cx="964670" cy="583658"/>
            <a:chOff x="373334" y="8333642"/>
            <a:chExt cx="964670" cy="583658"/>
          </a:xfrm>
        </p:grpSpPr>
        <p:grpSp>
          <p:nvGrpSpPr>
            <p:cNvPr id="37" name="Google Shape;359;p18">
              <a:extLst>
                <a:ext uri="{FF2B5EF4-FFF2-40B4-BE49-F238E27FC236}">
                  <a16:creationId xmlns:a16="http://schemas.microsoft.com/office/drawing/2014/main" id="{0943C4FF-D770-63C3-F855-2F13218C4903}"/>
                </a:ext>
              </a:extLst>
            </p:cNvPr>
            <p:cNvGrpSpPr/>
            <p:nvPr/>
          </p:nvGrpSpPr>
          <p:grpSpPr>
            <a:xfrm>
              <a:off x="373334" y="8364964"/>
              <a:ext cx="896341" cy="552336"/>
              <a:chOff x="3007175" y="1757600"/>
              <a:chExt cx="307200" cy="189300"/>
            </a:xfrm>
          </p:grpSpPr>
          <p:sp>
            <p:nvSpPr>
              <p:cNvPr id="38" name="Google Shape;360;p18">
                <a:extLst>
                  <a:ext uri="{FF2B5EF4-FFF2-40B4-BE49-F238E27FC236}">
                    <a16:creationId xmlns:a16="http://schemas.microsoft.com/office/drawing/2014/main" id="{C0B5B9DF-DB23-5047-8FB6-D58DBBDA2484}"/>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 name="Google Shape;364;p18">
                <a:extLst>
                  <a:ext uri="{FF2B5EF4-FFF2-40B4-BE49-F238E27FC236}">
                    <a16:creationId xmlns:a16="http://schemas.microsoft.com/office/drawing/2014/main" id="{563AD2F0-3E20-3064-159E-89245376AA9B}"/>
                  </a:ext>
                </a:extLst>
              </p:cNvPr>
              <p:cNvCxnSpPr>
                <a:cxnSpLocks/>
              </p:cNvCxnSpPr>
              <p:nvPr/>
            </p:nvCxnSpPr>
            <p:spPr>
              <a:xfrm>
                <a:off x="3042981" y="1800281"/>
                <a:ext cx="146367" cy="0"/>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5" name="Google Shape;360;p18">
              <a:extLst>
                <a:ext uri="{FF2B5EF4-FFF2-40B4-BE49-F238E27FC236}">
                  <a16:creationId xmlns:a16="http://schemas.microsoft.com/office/drawing/2014/main" id="{C5A792AF-C434-237A-7E40-063AB5AA791B}"/>
                </a:ext>
              </a:extLst>
            </p:cNvPr>
            <p:cNvSpPr/>
            <p:nvPr/>
          </p:nvSpPr>
          <p:spPr>
            <a:xfrm>
              <a:off x="477807" y="8613965"/>
              <a:ext cx="493743" cy="209988"/>
            </a:xfrm>
            <a:prstGeom prst="rect">
              <a:avLst/>
            </a:prstGeom>
            <a:noFill/>
            <a:ln w="9525" cap="flat" cmpd="sng">
              <a:solidFill>
                <a:schemeClr val="dk2"/>
              </a:solidFill>
              <a:prstDash val="sys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 name="Google Shape;360;p18">
              <a:extLst>
                <a:ext uri="{FF2B5EF4-FFF2-40B4-BE49-F238E27FC236}">
                  <a16:creationId xmlns:a16="http://schemas.microsoft.com/office/drawing/2014/main" id="{D77AFD11-5273-E82B-00FD-9AD15044E5AC}"/>
                </a:ext>
              </a:extLst>
            </p:cNvPr>
            <p:cNvSpPr/>
            <p:nvPr/>
          </p:nvSpPr>
          <p:spPr>
            <a:xfrm>
              <a:off x="1041533" y="8374368"/>
              <a:ext cx="220891" cy="11513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 name="Use headers, colors, and/or backgrounds to separate or group together sections.">
              <a:extLst>
                <a:ext uri="{FF2B5EF4-FFF2-40B4-BE49-F238E27FC236}">
                  <a16:creationId xmlns:a16="http://schemas.microsoft.com/office/drawing/2014/main" id="{B213FB4B-DAB5-BDCC-46C5-722EFC8B94C1}"/>
                </a:ext>
              </a:extLst>
            </p:cNvPr>
            <p:cNvSpPr txBox="1"/>
            <p:nvPr/>
          </p:nvSpPr>
          <p:spPr>
            <a:xfrm>
              <a:off x="1015243" y="8333642"/>
              <a:ext cx="322761" cy="193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600" b="0" dirty="0">
                  <a:solidFill>
                    <a:srgbClr val="000000"/>
                  </a:solidFill>
                  <a:latin typeface="Source Sans Pro" panose="020B0503030403020204" pitchFamily="34" charset="0"/>
                  <a:ea typeface="Source Sans Pro" panose="020B0503030403020204" pitchFamily="34" charset="0"/>
                </a:rPr>
                <a:t>.</a:t>
              </a:r>
              <a:r>
                <a:rPr lang="en-US" sz="600" b="0" i="0" u="none" strike="noStrike" dirty="0" err="1">
                  <a:solidFill>
                    <a:srgbClr val="000000"/>
                  </a:solidFill>
                  <a:effectLst/>
                  <a:latin typeface="Source Sans Pro" panose="020B0503030403020204" pitchFamily="34" charset="0"/>
                  <a:ea typeface="Source Sans Pro" panose="020B0503030403020204" pitchFamily="34" charset="0"/>
                </a:rPr>
                <a:t>Rmd</a:t>
              </a:r>
              <a:endParaRPr lang="en-US" sz="600" b="0" i="0" u="none" strike="noStrike" dirty="0">
                <a:solidFill>
                  <a:srgbClr val="000000"/>
                </a:solidFill>
                <a:effectLst/>
                <a:latin typeface="Source Sans Pro" panose="020B0503030403020204" pitchFamily="34" charset="0"/>
                <a:ea typeface="Source Sans Pro" panose="020B0503030403020204" pitchFamily="34" charset="0"/>
              </a:endParaRPr>
            </a:p>
          </p:txBody>
        </p:sp>
      </p:grpSp>
      <p:grpSp>
        <p:nvGrpSpPr>
          <p:cNvPr id="453" name="Group 452">
            <a:extLst>
              <a:ext uri="{FF2B5EF4-FFF2-40B4-BE49-F238E27FC236}">
                <a16:creationId xmlns:a16="http://schemas.microsoft.com/office/drawing/2014/main" id="{44EFC067-1028-AB5D-4F7D-DAF65D734670}"/>
              </a:ext>
            </a:extLst>
          </p:cNvPr>
          <p:cNvGrpSpPr/>
          <p:nvPr/>
        </p:nvGrpSpPr>
        <p:grpSpPr>
          <a:xfrm>
            <a:off x="3168463" y="9104597"/>
            <a:ext cx="454677" cy="518380"/>
            <a:chOff x="3012598" y="8405060"/>
            <a:chExt cx="454677" cy="518380"/>
          </a:xfrm>
        </p:grpSpPr>
        <p:sp>
          <p:nvSpPr>
            <p:cNvPr id="454" name="Oval 453">
              <a:extLst>
                <a:ext uri="{FF2B5EF4-FFF2-40B4-BE49-F238E27FC236}">
                  <a16:creationId xmlns:a16="http://schemas.microsoft.com/office/drawing/2014/main" id="{DFB182D6-C447-AB33-B054-4EE04346F5F3}"/>
                </a:ext>
              </a:extLst>
            </p:cNvPr>
            <p:cNvSpPr/>
            <p:nvPr/>
          </p:nvSpPr>
          <p:spPr>
            <a:xfrm>
              <a:off x="3017271" y="8405060"/>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Oval 454">
              <a:extLst>
                <a:ext uri="{FF2B5EF4-FFF2-40B4-BE49-F238E27FC236}">
                  <a16:creationId xmlns:a16="http://schemas.microsoft.com/office/drawing/2014/main" id="{052A7BC3-EC89-EFE3-BBE8-EA212E32A665}"/>
                </a:ext>
              </a:extLst>
            </p:cNvPr>
            <p:cNvSpPr/>
            <p:nvPr/>
          </p:nvSpPr>
          <p:spPr>
            <a:xfrm>
              <a:off x="3012598" y="8787923"/>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6" name="Oval 455">
              <a:extLst>
                <a:ext uri="{FF2B5EF4-FFF2-40B4-BE49-F238E27FC236}">
                  <a16:creationId xmlns:a16="http://schemas.microsoft.com/office/drawing/2014/main" id="{94910CCB-022F-DC97-BC16-EE91EF947AC3}"/>
                </a:ext>
              </a:extLst>
            </p:cNvPr>
            <p:cNvSpPr/>
            <p:nvPr/>
          </p:nvSpPr>
          <p:spPr>
            <a:xfrm>
              <a:off x="3316893" y="8568992"/>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459" name="Straight Connector 458">
              <a:extLst>
                <a:ext uri="{FF2B5EF4-FFF2-40B4-BE49-F238E27FC236}">
                  <a16:creationId xmlns:a16="http://schemas.microsoft.com/office/drawing/2014/main" id="{1A9DC0AF-E793-8151-12C0-1B84F5352AF9}"/>
                </a:ext>
              </a:extLst>
            </p:cNvPr>
            <p:cNvCxnSpPr>
              <a:cxnSpLocks/>
              <a:stCxn id="454" idx="5"/>
              <a:endCxn id="456" idx="3"/>
            </p:cNvCxnSpPr>
            <p:nvPr/>
          </p:nvCxnSpPr>
          <p:spPr>
            <a:xfrm>
              <a:off x="3145630" y="8520731"/>
              <a:ext cx="193286" cy="16393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0" name="Straight Connector 459">
              <a:extLst>
                <a:ext uri="{FF2B5EF4-FFF2-40B4-BE49-F238E27FC236}">
                  <a16:creationId xmlns:a16="http://schemas.microsoft.com/office/drawing/2014/main" id="{A12193EF-28BB-82E3-AC86-1AF01F9D75D0}"/>
                </a:ext>
              </a:extLst>
            </p:cNvPr>
            <p:cNvCxnSpPr>
              <a:cxnSpLocks/>
              <a:stCxn id="455" idx="7"/>
              <a:endCxn id="456" idx="3"/>
            </p:cNvCxnSpPr>
            <p:nvPr/>
          </p:nvCxnSpPr>
          <p:spPr>
            <a:xfrm flipV="1">
              <a:off x="3140957" y="8684663"/>
              <a:ext cx="197959" cy="12310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
        <p:nvSpPr>
          <p:cNvPr id="507" name="TextBox 506">
            <a:extLst>
              <a:ext uri="{FF2B5EF4-FFF2-40B4-BE49-F238E27FC236}">
                <a16:creationId xmlns:a16="http://schemas.microsoft.com/office/drawing/2014/main" id="{F39800CC-A7BB-BDB7-8153-2FA8B169DE3F}"/>
              </a:ext>
            </a:extLst>
          </p:cNvPr>
          <p:cNvSpPr txBox="1"/>
          <p:nvPr/>
        </p:nvSpPr>
        <p:spPr>
          <a:xfrm>
            <a:off x="1239919" y="8221059"/>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rgbClr val="0365C0"/>
                </a:solidFill>
              </a:rPr>
              <a:t>project1.yml </a:t>
            </a:r>
            <a:r>
              <a:rPr lang="en-US" sz="900" dirty="0"/>
              <a:t>+ </a:t>
            </a:r>
            <a:r>
              <a:rPr lang="en-US" sz="900" dirty="0" err="1">
                <a:solidFill>
                  <a:schemeClr val="accent4"/>
                </a:solidFill>
              </a:rPr>
              <a:t>analysisA.yml</a:t>
            </a:r>
            <a:endParaRPr kumimoji="0" lang="en-US" sz="9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508" name="TextBox 507">
            <a:extLst>
              <a:ext uri="{FF2B5EF4-FFF2-40B4-BE49-F238E27FC236}">
                <a16:creationId xmlns:a16="http://schemas.microsoft.com/office/drawing/2014/main" id="{75D2919D-4252-340D-995B-E3F6A6C5C277}"/>
              </a:ext>
            </a:extLst>
          </p:cNvPr>
          <p:cNvSpPr txBox="1"/>
          <p:nvPr/>
        </p:nvSpPr>
        <p:spPr>
          <a:xfrm>
            <a:off x="1261172" y="9336054"/>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rgbClr val="0365C0"/>
                </a:solidFill>
              </a:rPr>
              <a:t>project1.yml </a:t>
            </a:r>
            <a:r>
              <a:rPr lang="en-US" sz="900" dirty="0"/>
              <a:t>+ </a:t>
            </a:r>
            <a:r>
              <a:rPr lang="en-US" sz="900" dirty="0" err="1">
                <a:solidFill>
                  <a:schemeClr val="accent4"/>
                </a:solidFill>
              </a:rPr>
              <a:t>analysisB.yml</a:t>
            </a:r>
            <a:endParaRPr kumimoji="0" lang="en-US" sz="9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grpSp>
        <p:nvGrpSpPr>
          <p:cNvPr id="272" name="Group 271">
            <a:extLst>
              <a:ext uri="{FF2B5EF4-FFF2-40B4-BE49-F238E27FC236}">
                <a16:creationId xmlns:a16="http://schemas.microsoft.com/office/drawing/2014/main" id="{20A47B80-459B-35B1-D707-EB8FAB4B412C}"/>
              </a:ext>
            </a:extLst>
          </p:cNvPr>
          <p:cNvGrpSpPr/>
          <p:nvPr/>
        </p:nvGrpSpPr>
        <p:grpSpPr>
          <a:xfrm>
            <a:off x="2919985" y="8370103"/>
            <a:ext cx="883368" cy="555353"/>
            <a:chOff x="2847879" y="8375813"/>
            <a:chExt cx="883368" cy="555353"/>
          </a:xfrm>
        </p:grpSpPr>
        <p:sp>
          <p:nvSpPr>
            <p:cNvPr id="273" name="Oval 272">
              <a:extLst>
                <a:ext uri="{FF2B5EF4-FFF2-40B4-BE49-F238E27FC236}">
                  <a16:creationId xmlns:a16="http://schemas.microsoft.com/office/drawing/2014/main" id="{5D6E4BCC-6485-113D-37A4-00AC482EE5C9}"/>
                </a:ext>
              </a:extLst>
            </p:cNvPr>
            <p:cNvSpPr/>
            <p:nvPr/>
          </p:nvSpPr>
          <p:spPr>
            <a:xfrm>
              <a:off x="2847879" y="8727890"/>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4" name="Oval 273">
              <a:extLst>
                <a:ext uri="{FF2B5EF4-FFF2-40B4-BE49-F238E27FC236}">
                  <a16:creationId xmlns:a16="http://schemas.microsoft.com/office/drawing/2014/main" id="{BED3AE82-7C78-A773-7BBA-8F72CF23B0FE}"/>
                </a:ext>
              </a:extLst>
            </p:cNvPr>
            <p:cNvSpPr/>
            <p:nvPr/>
          </p:nvSpPr>
          <p:spPr>
            <a:xfrm>
              <a:off x="3278436" y="8795649"/>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5" name="Oval 274">
              <a:extLst>
                <a:ext uri="{FF2B5EF4-FFF2-40B4-BE49-F238E27FC236}">
                  <a16:creationId xmlns:a16="http://schemas.microsoft.com/office/drawing/2014/main" id="{B3EC4C99-371F-1C07-C6B7-998CD19D07A0}"/>
                </a:ext>
              </a:extLst>
            </p:cNvPr>
            <p:cNvSpPr/>
            <p:nvPr/>
          </p:nvSpPr>
          <p:spPr>
            <a:xfrm>
              <a:off x="3173314" y="8416186"/>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76" name="Oval 275">
              <a:extLst>
                <a:ext uri="{FF2B5EF4-FFF2-40B4-BE49-F238E27FC236}">
                  <a16:creationId xmlns:a16="http://schemas.microsoft.com/office/drawing/2014/main" id="{6D1998BD-9BFD-99C4-226D-D22D72FFCE73}"/>
                </a:ext>
              </a:extLst>
            </p:cNvPr>
            <p:cNvSpPr/>
            <p:nvPr/>
          </p:nvSpPr>
          <p:spPr>
            <a:xfrm>
              <a:off x="3580865" y="8375813"/>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77" name="Oval 276">
              <a:extLst>
                <a:ext uri="{FF2B5EF4-FFF2-40B4-BE49-F238E27FC236}">
                  <a16:creationId xmlns:a16="http://schemas.microsoft.com/office/drawing/2014/main" id="{F1A0DD9A-8635-7452-010D-129CF482E628}"/>
                </a:ext>
              </a:extLst>
            </p:cNvPr>
            <p:cNvSpPr/>
            <p:nvPr/>
          </p:nvSpPr>
          <p:spPr>
            <a:xfrm>
              <a:off x="3460024" y="8623561"/>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78" name="Straight Connector 277">
              <a:extLst>
                <a:ext uri="{FF2B5EF4-FFF2-40B4-BE49-F238E27FC236}">
                  <a16:creationId xmlns:a16="http://schemas.microsoft.com/office/drawing/2014/main" id="{937DCC13-AA4A-5E55-C22C-E52A4F8583B5}"/>
                </a:ext>
              </a:extLst>
            </p:cNvPr>
            <p:cNvCxnSpPr>
              <a:cxnSpLocks/>
              <a:stCxn id="273" idx="7"/>
              <a:endCxn id="275" idx="3"/>
            </p:cNvCxnSpPr>
            <p:nvPr/>
          </p:nvCxnSpPr>
          <p:spPr>
            <a:xfrm flipV="1">
              <a:off x="2976238" y="8531857"/>
              <a:ext cx="219099" cy="21587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9" name="Straight Connector 278">
              <a:extLst>
                <a:ext uri="{FF2B5EF4-FFF2-40B4-BE49-F238E27FC236}">
                  <a16:creationId xmlns:a16="http://schemas.microsoft.com/office/drawing/2014/main" id="{2DAD31A8-7ACC-0ABD-178A-7C9CCBE99C8D}"/>
                </a:ext>
              </a:extLst>
            </p:cNvPr>
            <p:cNvCxnSpPr>
              <a:cxnSpLocks/>
              <a:stCxn id="274" idx="0"/>
              <a:endCxn id="275" idx="4"/>
            </p:cNvCxnSpPr>
            <p:nvPr/>
          </p:nvCxnSpPr>
          <p:spPr>
            <a:xfrm flipH="1" flipV="1">
              <a:off x="3248505" y="8551703"/>
              <a:ext cx="105122" cy="24394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Connector 279">
              <a:extLst>
                <a:ext uri="{FF2B5EF4-FFF2-40B4-BE49-F238E27FC236}">
                  <a16:creationId xmlns:a16="http://schemas.microsoft.com/office/drawing/2014/main" id="{C8DA3178-367B-4B44-DCB5-CB09178C4FD2}"/>
                </a:ext>
              </a:extLst>
            </p:cNvPr>
            <p:cNvCxnSpPr>
              <a:cxnSpLocks/>
              <a:stCxn id="276" idx="2"/>
              <a:endCxn id="275" idx="6"/>
            </p:cNvCxnSpPr>
            <p:nvPr/>
          </p:nvCxnSpPr>
          <p:spPr>
            <a:xfrm flipH="1">
              <a:off x="3323696" y="8443572"/>
              <a:ext cx="257169" cy="4037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1" name="Straight Connector 280">
              <a:extLst>
                <a:ext uri="{FF2B5EF4-FFF2-40B4-BE49-F238E27FC236}">
                  <a16:creationId xmlns:a16="http://schemas.microsoft.com/office/drawing/2014/main" id="{142BCDB3-64F6-9C0A-C63A-B8FE28BCC9E4}"/>
                </a:ext>
              </a:extLst>
            </p:cNvPr>
            <p:cNvCxnSpPr>
              <a:cxnSpLocks/>
              <a:stCxn id="277" idx="0"/>
              <a:endCxn id="276" idx="4"/>
            </p:cNvCxnSpPr>
            <p:nvPr/>
          </p:nvCxnSpPr>
          <p:spPr>
            <a:xfrm flipV="1">
              <a:off x="3535215" y="8511330"/>
              <a:ext cx="120841" cy="1122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cxnSp>
        <p:nvCxnSpPr>
          <p:cNvPr id="306" name="Connector: Elbow 305">
            <a:extLst>
              <a:ext uri="{FF2B5EF4-FFF2-40B4-BE49-F238E27FC236}">
                <a16:creationId xmlns:a16="http://schemas.microsoft.com/office/drawing/2014/main" id="{9FFE3408-98A9-ABD6-1A8C-5049517BCA89}"/>
              </a:ext>
            </a:extLst>
          </p:cNvPr>
          <p:cNvCxnSpPr>
            <a:stCxn id="45" idx="0"/>
          </p:cNvCxnSpPr>
          <p:nvPr/>
        </p:nvCxnSpPr>
        <p:spPr>
          <a:xfrm rot="5400000" flipH="1" flipV="1">
            <a:off x="1617671" y="7477686"/>
            <a:ext cx="400229" cy="2416409"/>
          </a:xfrm>
          <a:prstGeom prst="bentConnector2">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6782C6F6-305B-CEFF-6C02-E491AB822A88}"/>
              </a:ext>
            </a:extLst>
          </p:cNvPr>
          <p:cNvCxnSpPr>
            <a:cxnSpLocks/>
            <a:stCxn id="45" idx="2"/>
          </p:cNvCxnSpPr>
          <p:nvPr/>
        </p:nvCxnSpPr>
        <p:spPr>
          <a:xfrm rot="16200000" flipH="1">
            <a:off x="1672379" y="8033194"/>
            <a:ext cx="266698" cy="2392294"/>
          </a:xfrm>
          <a:prstGeom prst="bentConnector2">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54" name="Rectangle 753">
            <a:extLst>
              <a:ext uri="{FF2B5EF4-FFF2-40B4-BE49-F238E27FC236}">
                <a16:creationId xmlns:a16="http://schemas.microsoft.com/office/drawing/2014/main" id="{2C2CB05A-62A5-7C07-B875-37BB6C4A293F}"/>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55" name="TextBox 754">
            <a:extLst>
              <a:ext uri="{FF2B5EF4-FFF2-40B4-BE49-F238E27FC236}">
                <a16:creationId xmlns:a16="http://schemas.microsoft.com/office/drawing/2014/main" id="{77723FA1-C410-9CD4-5772-B2FB875FEDDF}"/>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Introduction</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756" name="Straight Connector 755">
            <a:extLst>
              <a:ext uri="{FF2B5EF4-FFF2-40B4-BE49-F238E27FC236}">
                <a16:creationId xmlns:a16="http://schemas.microsoft.com/office/drawing/2014/main" id="{6954E3FD-89E4-3ADA-94DE-6F579DD3AC70}"/>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 name="Group 1">
            <a:extLst>
              <a:ext uri="{FF2B5EF4-FFF2-40B4-BE49-F238E27FC236}">
                <a16:creationId xmlns:a16="http://schemas.microsoft.com/office/drawing/2014/main" id="{B2395398-B53A-5716-0B47-F440D7ABE86E}"/>
              </a:ext>
            </a:extLst>
          </p:cNvPr>
          <p:cNvGrpSpPr/>
          <p:nvPr/>
        </p:nvGrpSpPr>
        <p:grpSpPr>
          <a:xfrm>
            <a:off x="5428649" y="5853301"/>
            <a:ext cx="10229" cy="217570"/>
            <a:chOff x="5239518" y="5808063"/>
            <a:chExt cx="10229" cy="217570"/>
          </a:xfrm>
        </p:grpSpPr>
        <p:sp>
          <p:nvSpPr>
            <p:cNvPr id="327" name="Oval 326">
              <a:extLst>
                <a:ext uri="{FF2B5EF4-FFF2-40B4-BE49-F238E27FC236}">
                  <a16:creationId xmlns:a16="http://schemas.microsoft.com/office/drawing/2014/main" id="{5C474DA5-22A4-FD7F-DB40-85DED77070B5}"/>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8" name="Oval 327">
              <a:extLst>
                <a:ext uri="{FF2B5EF4-FFF2-40B4-BE49-F238E27FC236}">
                  <a16:creationId xmlns:a16="http://schemas.microsoft.com/office/drawing/2014/main" id="{1B83AB55-F67A-7B58-D989-987796FADB6F}"/>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9" name="Oval 328">
              <a:extLst>
                <a:ext uri="{FF2B5EF4-FFF2-40B4-BE49-F238E27FC236}">
                  <a16:creationId xmlns:a16="http://schemas.microsoft.com/office/drawing/2014/main" id="{7CE0ECCE-2553-E5EA-2F06-47678C6612D3}"/>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758" name="TextBox 757">
            <a:extLst>
              <a:ext uri="{FF2B5EF4-FFF2-40B4-BE49-F238E27FC236}">
                <a16:creationId xmlns:a16="http://schemas.microsoft.com/office/drawing/2014/main" id="{24F278AC-81C3-6D02-4543-61584B8A2A3F}"/>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Configuration</a:t>
            </a:r>
          </a:p>
        </p:txBody>
      </p:sp>
      <p:sp>
        <p:nvSpPr>
          <p:cNvPr id="759" name="Rectangle 758">
            <a:extLst>
              <a:ext uri="{FF2B5EF4-FFF2-40B4-BE49-F238E27FC236}">
                <a16:creationId xmlns:a16="http://schemas.microsoft.com/office/drawing/2014/main" id="{F695007F-68D1-8D2E-CB07-C498134D64BA}"/>
              </a:ext>
            </a:extLst>
          </p:cNvPr>
          <p:cNvSpPr/>
          <p:nvPr/>
        </p:nvSpPr>
        <p:spPr>
          <a:xfrm>
            <a:off x="4985662" y="6289146"/>
            <a:ext cx="1109116" cy="448997"/>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15" name="Group 14">
            <a:extLst>
              <a:ext uri="{FF2B5EF4-FFF2-40B4-BE49-F238E27FC236}">
                <a16:creationId xmlns:a16="http://schemas.microsoft.com/office/drawing/2014/main" id="{53F308AB-9D3A-2069-5DA4-4594ABADD71F}"/>
              </a:ext>
            </a:extLst>
          </p:cNvPr>
          <p:cNvGrpSpPr/>
          <p:nvPr/>
        </p:nvGrpSpPr>
        <p:grpSpPr>
          <a:xfrm>
            <a:off x="6114802" y="5367513"/>
            <a:ext cx="440596" cy="305131"/>
            <a:chOff x="6105019" y="5367513"/>
            <a:chExt cx="440596" cy="305131"/>
          </a:xfrm>
        </p:grpSpPr>
        <p:sp>
          <p:nvSpPr>
            <p:cNvPr id="782" name="Rectangle 781">
              <a:extLst>
                <a:ext uri="{FF2B5EF4-FFF2-40B4-BE49-F238E27FC236}">
                  <a16:creationId xmlns:a16="http://schemas.microsoft.com/office/drawing/2014/main" id="{A461C73D-778D-A549-F5A9-989DF56C8F45}"/>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3" name="TextBox 782">
              <a:extLst>
                <a:ext uri="{FF2B5EF4-FFF2-40B4-BE49-F238E27FC236}">
                  <a16:creationId xmlns:a16="http://schemas.microsoft.com/office/drawing/2014/main" id="{3A31293D-B3DF-6783-B7EF-019DDF564C50}"/>
                </a:ext>
              </a:extLst>
            </p:cNvPr>
            <p:cNvSpPr txBox="1"/>
            <p:nvPr/>
          </p:nvSpPr>
          <p:spPr>
            <a:xfrm>
              <a:off x="6105019" y="5367513"/>
              <a:ext cx="4388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Rmd</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6" name="TextBox 5">
            <a:extLst>
              <a:ext uri="{FF2B5EF4-FFF2-40B4-BE49-F238E27FC236}">
                <a16:creationId xmlns:a16="http://schemas.microsoft.com/office/drawing/2014/main" id="{0EC76585-B2C7-F59D-3DB6-43FC688B82BE}"/>
              </a:ext>
            </a:extLst>
          </p:cNvPr>
          <p:cNvSpPr txBox="1"/>
          <p:nvPr/>
        </p:nvSpPr>
        <p:spPr>
          <a:xfrm>
            <a:off x="5050888" y="6291845"/>
            <a:ext cx="987111" cy="4077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800" dirty="0"/>
              <a:t>g</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et(</a:t>
            </a:r>
            <a:r>
              <a:rPr lang="en-US" sz="800" dirty="0">
                <a:solidFill>
                  <a:schemeClr val="accent1"/>
                </a:solidFill>
              </a:rPr>
              <a:t>project1.yml</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r>
              <a:rPr lang="en-US" sz="800" dirty="0"/>
              <a:t>get (</a:t>
            </a:r>
            <a:r>
              <a:rPr lang="en-US" sz="800" dirty="0" err="1">
                <a:solidFill>
                  <a:schemeClr val="accent4"/>
                </a:solidFill>
              </a:rPr>
              <a:t>analysisB.yml</a:t>
            </a:r>
            <a:r>
              <a:rPr lang="en-US" sz="800" dirty="0"/>
              <a:t>)</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4" name="Group 3">
            <a:extLst>
              <a:ext uri="{FF2B5EF4-FFF2-40B4-BE49-F238E27FC236}">
                <a16:creationId xmlns:a16="http://schemas.microsoft.com/office/drawing/2014/main" id="{907BB7D8-321F-A2DE-1DF7-EAB100370367}"/>
              </a:ext>
            </a:extLst>
          </p:cNvPr>
          <p:cNvGrpSpPr/>
          <p:nvPr/>
        </p:nvGrpSpPr>
        <p:grpSpPr>
          <a:xfrm>
            <a:off x="5419505" y="6817298"/>
            <a:ext cx="10229" cy="217570"/>
            <a:chOff x="5239518" y="5808063"/>
            <a:chExt cx="10229" cy="217570"/>
          </a:xfrm>
        </p:grpSpPr>
        <p:sp>
          <p:nvSpPr>
            <p:cNvPr id="11" name="Oval 10">
              <a:extLst>
                <a:ext uri="{FF2B5EF4-FFF2-40B4-BE49-F238E27FC236}">
                  <a16:creationId xmlns:a16="http://schemas.microsoft.com/office/drawing/2014/main" id="{E0BFA792-BC24-9AC9-4B1C-969217D6CCC2}"/>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 name="Oval 12">
              <a:extLst>
                <a:ext uri="{FF2B5EF4-FFF2-40B4-BE49-F238E27FC236}">
                  <a16:creationId xmlns:a16="http://schemas.microsoft.com/office/drawing/2014/main" id="{40730ACA-D53D-1A52-495F-CA00A11244DF}"/>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 name="Oval 13">
              <a:extLst>
                <a:ext uri="{FF2B5EF4-FFF2-40B4-BE49-F238E27FC236}">
                  <a16:creationId xmlns:a16="http://schemas.microsoft.com/office/drawing/2014/main" id="{6BBAA29F-58B8-1DC2-5986-03D618C8B714}"/>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761" name="Connector: Elbow 760">
            <a:extLst>
              <a:ext uri="{FF2B5EF4-FFF2-40B4-BE49-F238E27FC236}">
                <a16:creationId xmlns:a16="http://schemas.microsoft.com/office/drawing/2014/main" id="{C9CBCC5C-1061-49E1-8E7B-FB3530E3BC17}"/>
              </a:ext>
            </a:extLst>
          </p:cNvPr>
          <p:cNvCxnSpPr>
            <a:cxnSpLocks/>
          </p:cNvCxnSpPr>
          <p:nvPr/>
        </p:nvCxnSpPr>
        <p:spPr>
          <a:xfrm rot="5400000">
            <a:off x="5586507" y="5335816"/>
            <a:ext cx="1701384" cy="664359"/>
          </a:xfrm>
          <a:prstGeom prst="bentConnector2">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16" name="Group 15">
            <a:extLst>
              <a:ext uri="{FF2B5EF4-FFF2-40B4-BE49-F238E27FC236}">
                <a16:creationId xmlns:a16="http://schemas.microsoft.com/office/drawing/2014/main" id="{6321178A-1CDC-F620-88B2-85D8E139718F}"/>
              </a:ext>
            </a:extLst>
          </p:cNvPr>
          <p:cNvGrpSpPr/>
          <p:nvPr/>
        </p:nvGrpSpPr>
        <p:grpSpPr>
          <a:xfrm>
            <a:off x="8582576" y="6009558"/>
            <a:ext cx="635991" cy="305131"/>
            <a:chOff x="5934934" y="5364285"/>
            <a:chExt cx="635991" cy="305131"/>
          </a:xfrm>
        </p:grpSpPr>
        <p:sp>
          <p:nvSpPr>
            <p:cNvPr id="23" name="Rectangle 22">
              <a:extLst>
                <a:ext uri="{FF2B5EF4-FFF2-40B4-BE49-F238E27FC236}">
                  <a16:creationId xmlns:a16="http://schemas.microsoft.com/office/drawing/2014/main" id="{59392E39-F461-EADB-3CD7-F0748FC6AC1F}"/>
                </a:ext>
              </a:extLst>
            </p:cNvPr>
            <p:cNvSpPr/>
            <p:nvPr/>
          </p:nvSpPr>
          <p:spPr>
            <a:xfrm>
              <a:off x="5975075" y="5444418"/>
              <a:ext cx="568947"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TextBox 26">
              <a:extLst>
                <a:ext uri="{FF2B5EF4-FFF2-40B4-BE49-F238E27FC236}">
                  <a16:creationId xmlns:a16="http://schemas.microsoft.com/office/drawing/2014/main" id="{2608E326-CE3B-011A-1C71-A4A554358B35}"/>
                </a:ext>
              </a:extLst>
            </p:cNvPr>
            <p:cNvSpPr txBox="1"/>
            <p:nvPr/>
          </p:nvSpPr>
          <p:spPr>
            <a:xfrm>
              <a:off x="5934934" y="5364285"/>
              <a:ext cx="635991"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exec/*.R</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grpSp>
        <p:nvGrpSpPr>
          <p:cNvPr id="30" name="Group 29">
            <a:extLst>
              <a:ext uri="{FF2B5EF4-FFF2-40B4-BE49-F238E27FC236}">
                <a16:creationId xmlns:a16="http://schemas.microsoft.com/office/drawing/2014/main" id="{D0084B93-046A-70EB-6ADA-B3330B49D519}"/>
              </a:ext>
            </a:extLst>
          </p:cNvPr>
          <p:cNvGrpSpPr/>
          <p:nvPr/>
        </p:nvGrpSpPr>
        <p:grpSpPr>
          <a:xfrm>
            <a:off x="8771206" y="3066586"/>
            <a:ext cx="422051" cy="305131"/>
            <a:chOff x="6123564" y="5360212"/>
            <a:chExt cx="422051" cy="305131"/>
          </a:xfrm>
        </p:grpSpPr>
        <p:sp>
          <p:nvSpPr>
            <p:cNvPr id="31" name="Rectangle 30">
              <a:extLst>
                <a:ext uri="{FF2B5EF4-FFF2-40B4-BE49-F238E27FC236}">
                  <a16:creationId xmlns:a16="http://schemas.microsoft.com/office/drawing/2014/main" id="{8D938EFC-8409-988F-0411-26F4657C7123}"/>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TextBox 31">
              <a:extLst>
                <a:ext uri="{FF2B5EF4-FFF2-40B4-BE49-F238E27FC236}">
                  <a16:creationId xmlns:a16="http://schemas.microsoft.com/office/drawing/2014/main" id="{00533DF7-629D-4BCE-B1A8-D12A2FB19D49}"/>
                </a:ext>
              </a:extLst>
            </p:cNvPr>
            <p:cNvSpPr txBox="1"/>
            <p:nvPr/>
          </p:nvSpPr>
          <p:spPr>
            <a:xfrm>
              <a:off x="6138426" y="5360212"/>
              <a:ext cx="3859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lang="en-US" sz="1100" dirty="0" err="1"/>
                <a:t>yml</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342" name="Create a visual hierarchy. Help users navigate the page with titles, subtitles, and subsubtitles">
            <a:extLst>
              <a:ext uri="{FF2B5EF4-FFF2-40B4-BE49-F238E27FC236}">
                <a16:creationId xmlns:a16="http://schemas.microsoft.com/office/drawing/2014/main" id="{9B7226A1-42DC-AA92-04E0-51947A78D4E7}"/>
              </a:ext>
            </a:extLst>
          </p:cNvPr>
          <p:cNvSpPr txBox="1"/>
          <p:nvPr/>
        </p:nvSpPr>
        <p:spPr>
          <a:xfrm>
            <a:off x="9584561" y="1975104"/>
            <a:ext cx="4001355"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err="1">
                <a:latin typeface="Source Sans Pro" panose="020B0503030403020204" pitchFamily="34" charset="0"/>
                <a:ea typeface="Source Sans Pro" panose="020B0503030403020204" pitchFamily="34" charset="0"/>
                <a:sym typeface="Source Sans Pro"/>
              </a:rPr>
              <a:t>Kaiaulu</a:t>
            </a:r>
            <a:r>
              <a:rPr lang="en-US" dirty="0">
                <a:latin typeface="Source Sans Pro" panose="020B0503030403020204" pitchFamily="34" charset="0"/>
                <a:ea typeface="Source Sans Pro" panose="020B0503030403020204" pitchFamily="34" charset="0"/>
                <a:sym typeface="Source Sans Pro"/>
              </a:rPr>
              <a:t> uses get functions to extract values from configuration files. </a:t>
            </a:r>
            <a:r>
              <a:rPr lang="en-US" dirty="0">
                <a:latin typeface="Source Sans Pro" panose="020B0503030403020204" pitchFamily="34" charset="0"/>
                <a:ea typeface="Source Sans Pro" panose="020B0503030403020204" pitchFamily="34" charset="0"/>
              </a:rPr>
              <a:t>These functions allow notebooks and executables to access parameters in</a:t>
            </a:r>
            <a:r>
              <a:rPr lang="en-US" b="0" dirty="0">
                <a:solidFill>
                  <a:schemeClr val="accent2"/>
                </a:solidFill>
                <a:latin typeface="Source Sans Pro" panose="020B0503030403020204" pitchFamily="34" charset="0"/>
                <a:ea typeface="Source Sans Pro" panose="020B0503030403020204" pitchFamily="34" charset="0"/>
                <a:sym typeface="Source Sans Pro Light"/>
              </a:rPr>
              <a:t>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 </a:t>
            </a:r>
            <a:r>
              <a:rPr lang="en-US" b="0" dirty="0">
                <a:solidFill>
                  <a:srgbClr val="000000"/>
                </a:solidFill>
                <a:latin typeface="Source Sans Pro" panose="020B0503030403020204" pitchFamily="34" charset="0"/>
                <a:ea typeface="Source Sans Pro" panose="020B0503030403020204" pitchFamily="34" charset="0"/>
                <a:sym typeface="Source Sans Pro Light"/>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chemeClr val="accent5"/>
                </a:solidFill>
                <a:latin typeface="Source Sans Pro" panose="020B0503030403020204" pitchFamily="34" charset="0"/>
                <a:ea typeface="Source Sans Pro" panose="020B0503030403020204" pitchFamily="34" charset="0"/>
                <a:sym typeface="Source Sans Pro Light"/>
              </a:rPr>
              <a:t>)</a:t>
            </a:r>
            <a:r>
              <a:rPr lang="en-US" b="0" dirty="0">
                <a:solidFill>
                  <a:srgbClr val="000000"/>
                </a:solidFill>
                <a:latin typeface="Source Sans Pro" panose="020B0503030403020204" pitchFamily="34" charset="0"/>
                <a:ea typeface="Source Sans Pro" panose="020B0503030403020204" pitchFamily="34" charset="0"/>
                <a:sym typeface="Source Sans Pro Light"/>
              </a:rPr>
              <a:t> files.</a:t>
            </a:r>
            <a:endParaRPr lang="en-US" dirty="0">
              <a:latin typeface="Source Sans Pro" panose="020B0503030403020204" pitchFamily="34" charset="0"/>
              <a:ea typeface="Source Sans Pro" panose="020B0503030403020204" pitchFamily="34" charset="0"/>
              <a:sym typeface="Source Sans Pro"/>
            </a:endParaRPr>
          </a:p>
        </p:txBody>
      </p:sp>
      <p:grpSp>
        <p:nvGrpSpPr>
          <p:cNvPr id="458" name="Group 457">
            <a:extLst>
              <a:ext uri="{FF2B5EF4-FFF2-40B4-BE49-F238E27FC236}">
                <a16:creationId xmlns:a16="http://schemas.microsoft.com/office/drawing/2014/main" id="{4A00928B-8B97-426F-0685-04701F3040F2}"/>
              </a:ext>
            </a:extLst>
          </p:cNvPr>
          <p:cNvGrpSpPr/>
          <p:nvPr/>
        </p:nvGrpSpPr>
        <p:grpSpPr>
          <a:xfrm>
            <a:off x="9573283" y="7232304"/>
            <a:ext cx="4005641" cy="2884696"/>
            <a:chOff x="9576574" y="7041585"/>
            <a:chExt cx="4005641" cy="2884696"/>
          </a:xfrm>
        </p:grpSpPr>
        <p:grpSp>
          <p:nvGrpSpPr>
            <p:cNvPr id="18" name="Group 17">
              <a:extLst>
                <a:ext uri="{FF2B5EF4-FFF2-40B4-BE49-F238E27FC236}">
                  <a16:creationId xmlns:a16="http://schemas.microsoft.com/office/drawing/2014/main" id="{B3C8C87A-16E2-CEC9-EA30-B0C1F2B74AAB}"/>
                </a:ext>
              </a:extLst>
            </p:cNvPr>
            <p:cNvGrpSpPr/>
            <p:nvPr/>
          </p:nvGrpSpPr>
          <p:grpSpPr>
            <a:xfrm>
              <a:off x="9946172" y="8361502"/>
              <a:ext cx="1433010" cy="1503258"/>
              <a:chOff x="4888883" y="5317055"/>
              <a:chExt cx="1667079" cy="1784694"/>
            </a:xfrm>
          </p:grpSpPr>
          <p:sp>
            <p:nvSpPr>
              <p:cNvPr id="19" name="Rectangle 18">
                <a:extLst>
                  <a:ext uri="{FF2B5EF4-FFF2-40B4-BE49-F238E27FC236}">
                    <a16:creationId xmlns:a16="http://schemas.microsoft.com/office/drawing/2014/main" id="{9CDDC352-738A-7E90-8D78-0DE579D8D629}"/>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0" name="TextBox 19">
                <a:extLst>
                  <a:ext uri="{FF2B5EF4-FFF2-40B4-BE49-F238E27FC236}">
                    <a16:creationId xmlns:a16="http://schemas.microsoft.com/office/drawing/2014/main" id="{0BB691C3-77BB-5473-2D7B-D1A3A2776E91}"/>
                  </a:ext>
                </a:extLst>
              </p:cNvPr>
              <p:cNvSpPr txBox="1"/>
              <p:nvPr/>
            </p:nvSpPr>
            <p:spPr>
              <a:xfrm>
                <a:off x="4955877" y="5425561"/>
                <a:ext cx="730550" cy="362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 project:</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1" name="Straight Connector 20">
                <a:extLst>
                  <a:ext uri="{FF2B5EF4-FFF2-40B4-BE49-F238E27FC236}">
                    <a16:creationId xmlns:a16="http://schemas.microsoft.com/office/drawing/2014/main" id="{D573B801-4171-C584-1A62-52161EECE7F5}"/>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2" name="Group 21">
                <a:extLst>
                  <a:ext uri="{FF2B5EF4-FFF2-40B4-BE49-F238E27FC236}">
                    <a16:creationId xmlns:a16="http://schemas.microsoft.com/office/drawing/2014/main" id="{CD24DF2C-BDC6-EB48-2111-FB948C5572BE}"/>
                  </a:ext>
                </a:extLst>
              </p:cNvPr>
              <p:cNvGrpSpPr/>
              <p:nvPr/>
            </p:nvGrpSpPr>
            <p:grpSpPr>
              <a:xfrm>
                <a:off x="5428649" y="5853301"/>
                <a:ext cx="10229" cy="217570"/>
                <a:chOff x="5239518" y="5808063"/>
                <a:chExt cx="10229" cy="217570"/>
              </a:xfrm>
            </p:grpSpPr>
            <p:sp>
              <p:nvSpPr>
                <p:cNvPr id="33" name="Oval 32">
                  <a:extLst>
                    <a:ext uri="{FF2B5EF4-FFF2-40B4-BE49-F238E27FC236}">
                      <a16:creationId xmlns:a16="http://schemas.microsoft.com/office/drawing/2014/main" id="{DD75A6E9-F419-CB68-9266-2F42DA2E1DE9}"/>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4" name="Oval 33">
                  <a:extLst>
                    <a:ext uri="{FF2B5EF4-FFF2-40B4-BE49-F238E27FC236}">
                      <a16:creationId xmlns:a16="http://schemas.microsoft.com/office/drawing/2014/main" id="{6EE4159C-901A-8368-01C2-6648D2CD8B4D}"/>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5" name="Oval 34">
                  <a:extLst>
                    <a:ext uri="{FF2B5EF4-FFF2-40B4-BE49-F238E27FC236}">
                      <a16:creationId xmlns:a16="http://schemas.microsoft.com/office/drawing/2014/main" id="{2F1C9646-1E69-2CB8-F3FC-A512FD118CFE}"/>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24" name="Rectangle 23">
                <a:extLst>
                  <a:ext uri="{FF2B5EF4-FFF2-40B4-BE49-F238E27FC236}">
                    <a16:creationId xmlns:a16="http://schemas.microsoft.com/office/drawing/2014/main" id="{64C15EEA-F793-5FE0-13D8-D6C21B10A4C9}"/>
                  </a:ext>
                </a:extLst>
              </p:cNvPr>
              <p:cNvSpPr/>
              <p:nvPr/>
            </p:nvSpPr>
            <p:spPr>
              <a:xfrm>
                <a:off x="4985662" y="6197875"/>
                <a:ext cx="1331427" cy="628674"/>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5" name="Rectangle 24">
                <a:extLst>
                  <a:ext uri="{FF2B5EF4-FFF2-40B4-BE49-F238E27FC236}">
                    <a16:creationId xmlns:a16="http://schemas.microsoft.com/office/drawing/2014/main" id="{C25EA163-0F8F-BA71-CA7B-5DD3EC5885B5}"/>
                  </a:ext>
                </a:extLst>
              </p:cNvPr>
              <p:cNvSpPr/>
              <p:nvPr/>
            </p:nvSpPr>
            <p:spPr>
              <a:xfrm>
                <a:off x="6133911"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6" name="TextBox 25">
                <a:extLst>
                  <a:ext uri="{FF2B5EF4-FFF2-40B4-BE49-F238E27FC236}">
                    <a16:creationId xmlns:a16="http://schemas.microsoft.com/office/drawing/2014/main" id="{CFDE54D3-BEA9-A202-E197-7C2DD4E66472}"/>
                  </a:ext>
                </a:extLst>
              </p:cNvPr>
              <p:cNvSpPr txBox="1"/>
              <p:nvPr/>
            </p:nvSpPr>
            <p:spPr>
              <a:xfrm>
                <a:off x="6107003" y="5317055"/>
                <a:ext cx="448959" cy="362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grpSp>
          <p:nvGrpSpPr>
            <p:cNvPr id="53" name="Group 52">
              <a:extLst>
                <a:ext uri="{FF2B5EF4-FFF2-40B4-BE49-F238E27FC236}">
                  <a16:creationId xmlns:a16="http://schemas.microsoft.com/office/drawing/2014/main" id="{2F0AB0DC-38A7-A37F-77CE-2E045DC3C5BD}"/>
                </a:ext>
              </a:extLst>
            </p:cNvPr>
            <p:cNvGrpSpPr/>
            <p:nvPr/>
          </p:nvGrpSpPr>
          <p:grpSpPr>
            <a:xfrm>
              <a:off x="9576574" y="7041585"/>
              <a:ext cx="4005641" cy="2884696"/>
              <a:chOff x="9576574" y="6956318"/>
              <a:chExt cx="4005641" cy="2884696"/>
            </a:xfrm>
          </p:grpSpPr>
          <p:sp>
            <p:nvSpPr>
              <p:cNvPr id="12" name="TextBox 11">
                <a:extLst>
                  <a:ext uri="{FF2B5EF4-FFF2-40B4-BE49-F238E27FC236}">
                    <a16:creationId xmlns:a16="http://schemas.microsoft.com/office/drawing/2014/main" id="{6EE6285D-C510-1AC4-C24A-1BD0A2E7B862}"/>
                  </a:ext>
                </a:extLst>
              </p:cNvPr>
              <p:cNvSpPr txBox="1"/>
              <p:nvPr/>
            </p:nvSpPr>
            <p:spPr>
              <a:xfrm>
                <a:off x="9576574" y="7370941"/>
                <a:ext cx="3968070"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Temporal parameters in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files (2)</a:t>
                </a:r>
                <a:r>
                  <a:rPr lang="en-US" b="0" dirty="0">
                    <a:solidFill>
                      <a:schemeClr val="accent4"/>
                    </a:solidFill>
                    <a:latin typeface="Source Sans Pro" panose="020B0503030403020204" pitchFamily="34" charset="0"/>
                    <a:ea typeface="Source Sans Pro" panose="020B0503030403020204" pitchFamily="34" charset="0"/>
                  </a:rPr>
                  <a:t> </a:t>
                </a:r>
                <a:r>
                  <a:rPr lang="en-US" b="0" dirty="0">
                    <a:latin typeface="Source Sans Pro" panose="020B0503030403020204" pitchFamily="34" charset="0"/>
                    <a:ea typeface="Source Sans Pro" panose="020B0503030403020204" pitchFamily="34" charset="0"/>
                  </a:rPr>
                  <a:t>allow users to analyze a project over time. This allows users to compare data from different timestamps and observe changes and activity in code structure over time.</a:t>
                </a:r>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p:txBody>
          </p:sp>
          <p:sp>
            <p:nvSpPr>
              <p:cNvPr id="39" name="TextBox 38">
                <a:extLst>
                  <a:ext uri="{FF2B5EF4-FFF2-40B4-BE49-F238E27FC236}">
                    <a16:creationId xmlns:a16="http://schemas.microsoft.com/office/drawing/2014/main" id="{C91DCC45-09F1-A72C-1648-1C320778C03D}"/>
                  </a:ext>
                </a:extLst>
              </p:cNvPr>
              <p:cNvSpPr txBox="1"/>
              <p:nvPr/>
            </p:nvSpPr>
            <p:spPr>
              <a:xfrm>
                <a:off x="10003760" y="9062172"/>
                <a:ext cx="1120499" cy="6949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 time:</a:t>
                </a:r>
              </a:p>
              <a:p>
                <a:pPr marL="0" marR="0" indent="0" algn="l" defTabSz="584200" rtl="0" fontAlgn="auto" latinLnBrk="0" hangingPunct="0">
                  <a:lnSpc>
                    <a:spcPct val="100000"/>
                  </a:lnSpc>
                  <a:spcBef>
                    <a:spcPts val="200"/>
                  </a:spcBef>
                  <a:spcAft>
                    <a:spcPts val="0"/>
                  </a:spcAft>
                  <a:buClrTx/>
                  <a:buSzTx/>
                  <a:buFontTx/>
                  <a:buNone/>
                  <a:tabLst/>
                </a:pPr>
                <a:r>
                  <a:rPr lang="en-US" sz="1100" dirty="0"/>
                  <a:t>    </a:t>
                </a:r>
                <a:r>
                  <a:rPr lang="en-US" sz="1100" dirty="0" err="1"/>
                  <a:t>start_commit</a:t>
                </a:r>
                <a:r>
                  <a:rPr lang="en-US" sz="1100" dirty="0"/>
                  <a:t>:</a:t>
                </a:r>
              </a:p>
              <a:p>
                <a:pPr marL="0" marR="0" indent="0" algn="l" defTabSz="584200" rtl="0" fontAlgn="auto" latinLnBrk="0" hangingPunct="0">
                  <a:lnSpc>
                    <a:spcPct val="100000"/>
                  </a:lnSpc>
                  <a:spcBef>
                    <a:spcPts val="200"/>
                  </a:spcBef>
                  <a:spcAft>
                    <a:spcPts val="0"/>
                  </a:spcAft>
                  <a:buClrTx/>
                  <a:buSzTx/>
                  <a:buFontTx/>
                  <a:buNone/>
                  <a:tabLst/>
                </a:pPr>
                <a:r>
                  <a:rPr lang="en-US" sz="1100" dirty="0"/>
                  <a:t>    </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 name="Oval 39">
                <a:extLst>
                  <a:ext uri="{FF2B5EF4-FFF2-40B4-BE49-F238E27FC236}">
                    <a16:creationId xmlns:a16="http://schemas.microsoft.com/office/drawing/2014/main" id="{CDC35081-7F43-DF92-02D2-867E1A6AA39E}"/>
                  </a:ext>
                </a:extLst>
              </p:cNvPr>
              <p:cNvSpPr/>
              <p:nvPr/>
            </p:nvSpPr>
            <p:spPr>
              <a:xfrm>
                <a:off x="11877673" y="8136472"/>
                <a:ext cx="1704542" cy="1704542"/>
              </a:xfrm>
              <a:prstGeom prst="ellipse">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3" name="Straight Connector 42">
                <a:extLst>
                  <a:ext uri="{FF2B5EF4-FFF2-40B4-BE49-F238E27FC236}">
                    <a16:creationId xmlns:a16="http://schemas.microsoft.com/office/drawing/2014/main" id="{D7FB11C0-A7AC-5FBC-9F0A-7E50E7EB84EF}"/>
                  </a:ext>
                </a:extLst>
              </p:cNvPr>
              <p:cNvCxnSpPr/>
              <p:nvPr/>
            </p:nvCxnSpPr>
            <p:spPr>
              <a:xfrm>
                <a:off x="12066009" y="8666633"/>
                <a:ext cx="1326140" cy="4618"/>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 name="Straight Connector 46">
                <a:extLst>
                  <a:ext uri="{FF2B5EF4-FFF2-40B4-BE49-F238E27FC236}">
                    <a16:creationId xmlns:a16="http://schemas.microsoft.com/office/drawing/2014/main" id="{FE616941-BC81-6224-C6AB-F24125FC740A}"/>
                  </a:ext>
                </a:extLst>
              </p:cNvPr>
              <p:cNvCxnSpPr/>
              <p:nvPr/>
            </p:nvCxnSpPr>
            <p:spPr>
              <a:xfrm>
                <a:off x="12066009" y="8580221"/>
                <a:ext cx="0" cy="177807"/>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 name="Straight Connector 48">
                <a:extLst>
                  <a:ext uri="{FF2B5EF4-FFF2-40B4-BE49-F238E27FC236}">
                    <a16:creationId xmlns:a16="http://schemas.microsoft.com/office/drawing/2014/main" id="{A248BEA6-7AD7-D530-264F-FCCF8ACCB0A0}"/>
                  </a:ext>
                </a:extLst>
              </p:cNvPr>
              <p:cNvCxnSpPr/>
              <p:nvPr/>
            </p:nvCxnSpPr>
            <p:spPr>
              <a:xfrm>
                <a:off x="13392149" y="8580221"/>
                <a:ext cx="0" cy="177807"/>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2" name="Google Shape;247;p18">
                <a:extLst>
                  <a:ext uri="{FF2B5EF4-FFF2-40B4-BE49-F238E27FC236}">
                    <a16:creationId xmlns:a16="http://schemas.microsoft.com/office/drawing/2014/main" id="{925292E7-AA6D-2CCA-0484-4CC51D7A67AF}"/>
                  </a:ext>
                </a:extLst>
              </p:cNvPr>
              <p:cNvSpPr txBox="1"/>
              <p:nvPr/>
            </p:nvSpPr>
            <p:spPr>
              <a:xfrm>
                <a:off x="12701364" y="8271981"/>
                <a:ext cx="843280" cy="466748"/>
              </a:xfrm>
              <a:prstGeom prst="rect">
                <a:avLst/>
              </a:prstGeom>
              <a:noFill/>
              <a:ln>
                <a:noFill/>
              </a:ln>
            </p:spPr>
            <p:txBody>
              <a:bodyPr spcFirstLastPara="1" wrap="square" lIns="139677" tIns="139677" rIns="139677" bIns="139677"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9p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cxnSp>
            <p:nvCxnSpPr>
              <p:cNvPr id="55" name="Google Shape;249;p18">
                <a:extLst>
                  <a:ext uri="{FF2B5EF4-FFF2-40B4-BE49-F238E27FC236}">
                    <a16:creationId xmlns:a16="http://schemas.microsoft.com/office/drawing/2014/main" id="{AEDC988D-F48B-2A4E-9CBA-870B46C54F9B}"/>
                  </a:ext>
                </a:extLst>
              </p:cNvPr>
              <p:cNvCxnSpPr>
                <a:cxnSpLocks/>
              </p:cNvCxnSpPr>
              <p:nvPr/>
            </p:nvCxnSpPr>
            <p:spPr>
              <a:xfrm>
                <a:off x="12000095" y="9087294"/>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60" name="Google Shape;249;p18">
                <a:extLst>
                  <a:ext uri="{FF2B5EF4-FFF2-40B4-BE49-F238E27FC236}">
                    <a16:creationId xmlns:a16="http://schemas.microsoft.com/office/drawing/2014/main" id="{2C96F0BE-06C8-0207-A540-41C2C39D347D}"/>
                  </a:ext>
                </a:extLst>
              </p:cNvPr>
              <p:cNvCxnSpPr>
                <a:cxnSpLocks/>
              </p:cNvCxnSpPr>
              <p:nvPr/>
            </p:nvCxnSpPr>
            <p:spPr>
              <a:xfrm>
                <a:off x="12507512" y="9322119"/>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61" name="Google Shape;249;p18">
                <a:extLst>
                  <a:ext uri="{FF2B5EF4-FFF2-40B4-BE49-F238E27FC236}">
                    <a16:creationId xmlns:a16="http://schemas.microsoft.com/office/drawing/2014/main" id="{B20C8B62-E911-17B0-0043-E5E14EB2E067}"/>
                  </a:ext>
                </a:extLst>
              </p:cNvPr>
              <p:cNvCxnSpPr>
                <a:cxnSpLocks/>
              </p:cNvCxnSpPr>
              <p:nvPr/>
            </p:nvCxnSpPr>
            <p:spPr>
              <a:xfrm>
                <a:off x="12963721" y="9492667"/>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449" name="Straight Connector 448">
                <a:extLst>
                  <a:ext uri="{FF2B5EF4-FFF2-40B4-BE49-F238E27FC236}">
                    <a16:creationId xmlns:a16="http://schemas.microsoft.com/office/drawing/2014/main" id="{AD73D52E-38B7-9E04-61A2-E69971537A46}"/>
                  </a:ext>
                </a:extLst>
              </p:cNvPr>
              <p:cNvCxnSpPr/>
              <p:nvPr/>
            </p:nvCxnSpPr>
            <p:spPr>
              <a:xfrm flipV="1">
                <a:off x="10899649" y="8531354"/>
                <a:ext cx="1100446" cy="572068"/>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2" name="Straight Connector 451">
                <a:extLst>
                  <a:ext uri="{FF2B5EF4-FFF2-40B4-BE49-F238E27FC236}">
                    <a16:creationId xmlns:a16="http://schemas.microsoft.com/office/drawing/2014/main" id="{CF9A508B-F58C-6E17-BBF5-411E4F053F84}"/>
                  </a:ext>
                </a:extLst>
              </p:cNvPr>
              <p:cNvCxnSpPr>
                <a:endCxn id="40" idx="3"/>
              </p:cNvCxnSpPr>
              <p:nvPr/>
            </p:nvCxnSpPr>
            <p:spPr>
              <a:xfrm flipV="1">
                <a:off x="11016390" y="9591390"/>
                <a:ext cx="1110907" cy="41568"/>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470" name="Group 469">
                <a:extLst>
                  <a:ext uri="{FF2B5EF4-FFF2-40B4-BE49-F238E27FC236}">
                    <a16:creationId xmlns:a16="http://schemas.microsoft.com/office/drawing/2014/main" id="{0643A323-25A3-9686-AC41-5D30A03B281E}"/>
                  </a:ext>
                </a:extLst>
              </p:cNvPr>
              <p:cNvGrpSpPr/>
              <p:nvPr/>
            </p:nvGrpSpPr>
            <p:grpSpPr>
              <a:xfrm>
                <a:off x="11969352" y="8863030"/>
                <a:ext cx="384572" cy="105342"/>
                <a:chOff x="11969353" y="8877669"/>
                <a:chExt cx="384572" cy="105342"/>
              </a:xfrm>
            </p:grpSpPr>
            <p:sp>
              <p:nvSpPr>
                <p:cNvPr id="457" name="Oval 456">
                  <a:extLst>
                    <a:ext uri="{FF2B5EF4-FFF2-40B4-BE49-F238E27FC236}">
                      <a16:creationId xmlns:a16="http://schemas.microsoft.com/office/drawing/2014/main" id="{49E3FB7D-380C-6F57-54F6-EBEB699BEE85}"/>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1" name="Straight Connector 460">
                  <a:extLst>
                    <a:ext uri="{FF2B5EF4-FFF2-40B4-BE49-F238E27FC236}">
                      <a16:creationId xmlns:a16="http://schemas.microsoft.com/office/drawing/2014/main" id="{05849F61-A65B-0CCD-B7EB-130104B5E107}"/>
                    </a:ext>
                  </a:extLst>
                </p:cNvPr>
                <p:cNvCxnSpPr>
                  <a:cxnSpLocks/>
                  <a:stCxn id="457"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9" name="Straight Connector 468">
                  <a:extLst>
                    <a:ext uri="{FF2B5EF4-FFF2-40B4-BE49-F238E27FC236}">
                      <a16:creationId xmlns:a16="http://schemas.microsoft.com/office/drawing/2014/main" id="{7D296278-D8E0-9170-D154-A81EB84EA3E7}"/>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72" name="Group 471">
                <a:extLst>
                  <a:ext uri="{FF2B5EF4-FFF2-40B4-BE49-F238E27FC236}">
                    <a16:creationId xmlns:a16="http://schemas.microsoft.com/office/drawing/2014/main" id="{EBE00137-1C55-C132-E638-ACD3C450B9B5}"/>
                  </a:ext>
                </a:extLst>
              </p:cNvPr>
              <p:cNvGrpSpPr/>
              <p:nvPr/>
            </p:nvGrpSpPr>
            <p:grpSpPr>
              <a:xfrm>
                <a:off x="12511412" y="8768216"/>
                <a:ext cx="384572" cy="105342"/>
                <a:chOff x="11969353" y="8877669"/>
                <a:chExt cx="384572" cy="105342"/>
              </a:xfrm>
            </p:grpSpPr>
            <p:sp>
              <p:nvSpPr>
                <p:cNvPr id="473" name="Oval 472">
                  <a:extLst>
                    <a:ext uri="{FF2B5EF4-FFF2-40B4-BE49-F238E27FC236}">
                      <a16:creationId xmlns:a16="http://schemas.microsoft.com/office/drawing/2014/main" id="{37508F44-63BF-FA7C-8062-397BBC5DBDAF}"/>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4" name="Straight Connector 473">
                  <a:extLst>
                    <a:ext uri="{FF2B5EF4-FFF2-40B4-BE49-F238E27FC236}">
                      <a16:creationId xmlns:a16="http://schemas.microsoft.com/office/drawing/2014/main" id="{12C38DF7-18EE-BAAF-609C-E98B4146850A}"/>
                    </a:ext>
                  </a:extLst>
                </p:cNvPr>
                <p:cNvCxnSpPr>
                  <a:cxnSpLocks/>
                  <a:stCxn id="473"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5" name="Straight Connector 474">
                  <a:extLst>
                    <a:ext uri="{FF2B5EF4-FFF2-40B4-BE49-F238E27FC236}">
                      <a16:creationId xmlns:a16="http://schemas.microsoft.com/office/drawing/2014/main" id="{4B5CA2F8-E274-2B7E-DF8F-F7138E32140F}"/>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76" name="Group 475">
                <a:extLst>
                  <a:ext uri="{FF2B5EF4-FFF2-40B4-BE49-F238E27FC236}">
                    <a16:creationId xmlns:a16="http://schemas.microsoft.com/office/drawing/2014/main" id="{BAAA50C6-E87A-0962-ABDE-A7D315BB7E7F}"/>
                  </a:ext>
                </a:extLst>
              </p:cNvPr>
              <p:cNvGrpSpPr/>
              <p:nvPr/>
            </p:nvGrpSpPr>
            <p:grpSpPr>
              <a:xfrm>
                <a:off x="12511412" y="8957859"/>
                <a:ext cx="384572" cy="105342"/>
                <a:chOff x="11969353" y="8877669"/>
                <a:chExt cx="384572" cy="105342"/>
              </a:xfrm>
            </p:grpSpPr>
            <p:sp>
              <p:nvSpPr>
                <p:cNvPr id="477" name="Oval 476">
                  <a:extLst>
                    <a:ext uri="{FF2B5EF4-FFF2-40B4-BE49-F238E27FC236}">
                      <a16:creationId xmlns:a16="http://schemas.microsoft.com/office/drawing/2014/main" id="{26BB3850-2443-3A8B-044A-C52B9F778116}"/>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8" name="Straight Connector 477">
                  <a:extLst>
                    <a:ext uri="{FF2B5EF4-FFF2-40B4-BE49-F238E27FC236}">
                      <a16:creationId xmlns:a16="http://schemas.microsoft.com/office/drawing/2014/main" id="{9BD77538-E309-3C59-4CAD-C7D9BE8B7682}"/>
                    </a:ext>
                  </a:extLst>
                </p:cNvPr>
                <p:cNvCxnSpPr>
                  <a:cxnSpLocks/>
                  <a:stCxn id="477"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9" name="Straight Connector 478">
                  <a:extLst>
                    <a:ext uri="{FF2B5EF4-FFF2-40B4-BE49-F238E27FC236}">
                      <a16:creationId xmlns:a16="http://schemas.microsoft.com/office/drawing/2014/main" id="{3F5815F6-0E3E-1B5B-65C2-8BE1456BBFAA}"/>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0" name="Group 479">
                <a:extLst>
                  <a:ext uri="{FF2B5EF4-FFF2-40B4-BE49-F238E27FC236}">
                    <a16:creationId xmlns:a16="http://schemas.microsoft.com/office/drawing/2014/main" id="{232903BD-C513-31EF-6ECA-6BFC77189553}"/>
                  </a:ext>
                </a:extLst>
              </p:cNvPr>
              <p:cNvGrpSpPr/>
              <p:nvPr/>
            </p:nvGrpSpPr>
            <p:grpSpPr>
              <a:xfrm>
                <a:off x="12511412" y="9156163"/>
                <a:ext cx="384572" cy="105342"/>
                <a:chOff x="11969353" y="8877669"/>
                <a:chExt cx="384572" cy="105342"/>
              </a:xfrm>
            </p:grpSpPr>
            <p:sp>
              <p:nvSpPr>
                <p:cNvPr id="481" name="Oval 480">
                  <a:extLst>
                    <a:ext uri="{FF2B5EF4-FFF2-40B4-BE49-F238E27FC236}">
                      <a16:creationId xmlns:a16="http://schemas.microsoft.com/office/drawing/2014/main" id="{B80B2EB9-7845-16D0-35D1-A2377DE0E8D9}"/>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2" name="Straight Connector 481">
                  <a:extLst>
                    <a:ext uri="{FF2B5EF4-FFF2-40B4-BE49-F238E27FC236}">
                      <a16:creationId xmlns:a16="http://schemas.microsoft.com/office/drawing/2014/main" id="{9B662249-1BB6-EDCA-7808-FAEA6039E653}"/>
                    </a:ext>
                  </a:extLst>
                </p:cNvPr>
                <p:cNvCxnSpPr>
                  <a:cxnSpLocks/>
                  <a:stCxn id="481"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29070D0C-E793-9B7D-CE63-1E0B79AC81BA}"/>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4" name="Group 483">
                <a:extLst>
                  <a:ext uri="{FF2B5EF4-FFF2-40B4-BE49-F238E27FC236}">
                    <a16:creationId xmlns:a16="http://schemas.microsoft.com/office/drawing/2014/main" id="{AC4EB225-6E78-8BA5-B67E-27AA6D7E4E8E}"/>
                  </a:ext>
                </a:extLst>
              </p:cNvPr>
              <p:cNvGrpSpPr/>
              <p:nvPr/>
            </p:nvGrpSpPr>
            <p:grpSpPr>
              <a:xfrm>
                <a:off x="13066791" y="9234595"/>
                <a:ext cx="384572" cy="105342"/>
                <a:chOff x="11969353" y="8877669"/>
                <a:chExt cx="384572" cy="105342"/>
              </a:xfrm>
            </p:grpSpPr>
            <p:sp>
              <p:nvSpPr>
                <p:cNvPr id="485" name="Oval 484">
                  <a:extLst>
                    <a:ext uri="{FF2B5EF4-FFF2-40B4-BE49-F238E27FC236}">
                      <a16:creationId xmlns:a16="http://schemas.microsoft.com/office/drawing/2014/main" id="{3BA98C3B-2779-8F2F-0771-BE38689AAF85}"/>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6" name="Straight Connector 485">
                  <a:extLst>
                    <a:ext uri="{FF2B5EF4-FFF2-40B4-BE49-F238E27FC236}">
                      <a16:creationId xmlns:a16="http://schemas.microsoft.com/office/drawing/2014/main" id="{A6BB95A4-EED8-4836-4B60-DD6FF40631F8}"/>
                    </a:ext>
                  </a:extLst>
                </p:cNvPr>
                <p:cNvCxnSpPr>
                  <a:cxnSpLocks/>
                  <a:stCxn id="485"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7" name="Straight Connector 486">
                  <a:extLst>
                    <a:ext uri="{FF2B5EF4-FFF2-40B4-BE49-F238E27FC236}">
                      <a16:creationId xmlns:a16="http://schemas.microsoft.com/office/drawing/2014/main" id="{6B7E365C-35B2-DF02-B457-3073F01FAA76}"/>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8" name="Group 487">
                <a:extLst>
                  <a:ext uri="{FF2B5EF4-FFF2-40B4-BE49-F238E27FC236}">
                    <a16:creationId xmlns:a16="http://schemas.microsoft.com/office/drawing/2014/main" id="{3C18F674-9E2D-F7BD-14F3-5C156132473B}"/>
                  </a:ext>
                </a:extLst>
              </p:cNvPr>
              <p:cNvGrpSpPr/>
              <p:nvPr/>
            </p:nvGrpSpPr>
            <p:grpSpPr>
              <a:xfrm>
                <a:off x="13061169" y="9059538"/>
                <a:ext cx="384572" cy="105342"/>
                <a:chOff x="11969353" y="8877669"/>
                <a:chExt cx="384572" cy="105342"/>
              </a:xfrm>
            </p:grpSpPr>
            <p:sp>
              <p:nvSpPr>
                <p:cNvPr id="489" name="Oval 488">
                  <a:extLst>
                    <a:ext uri="{FF2B5EF4-FFF2-40B4-BE49-F238E27FC236}">
                      <a16:creationId xmlns:a16="http://schemas.microsoft.com/office/drawing/2014/main" id="{4D563FE4-C9EF-E26F-3C5D-4AE30FFD156C}"/>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90" name="Straight Connector 489">
                  <a:extLst>
                    <a:ext uri="{FF2B5EF4-FFF2-40B4-BE49-F238E27FC236}">
                      <a16:creationId xmlns:a16="http://schemas.microsoft.com/office/drawing/2014/main" id="{627EF654-641B-540A-7D21-66DC1AE67B29}"/>
                    </a:ext>
                  </a:extLst>
                </p:cNvPr>
                <p:cNvCxnSpPr>
                  <a:cxnSpLocks/>
                  <a:stCxn id="489"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1" name="Straight Connector 490">
                  <a:extLst>
                    <a:ext uri="{FF2B5EF4-FFF2-40B4-BE49-F238E27FC236}">
                      <a16:creationId xmlns:a16="http://schemas.microsoft.com/office/drawing/2014/main" id="{2437CDE9-C89D-86F0-9E1E-E37D458B1EEC}"/>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
            <p:nvSpPr>
              <p:cNvPr id="7" name="Manipulate Variables">
                <a:extLst>
                  <a:ext uri="{FF2B5EF4-FFF2-40B4-BE49-F238E27FC236}">
                    <a16:creationId xmlns:a16="http://schemas.microsoft.com/office/drawing/2014/main" id="{513D8C49-E845-AC4D-0AA3-41B2450AD852}"/>
                  </a:ext>
                </a:extLst>
              </p:cNvPr>
              <p:cNvSpPr txBox="1"/>
              <p:nvPr/>
            </p:nvSpPr>
            <p:spPr>
              <a:xfrm>
                <a:off x="9584560" y="6956318"/>
                <a:ext cx="248144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Temporal Analysis</a:t>
                </a:r>
              </a:p>
            </p:txBody>
          </p:sp>
        </p:grpSp>
      </p:grpSp>
      <p:grpSp>
        <p:nvGrpSpPr>
          <p:cNvPr id="54" name="Group 53">
            <a:extLst>
              <a:ext uri="{FF2B5EF4-FFF2-40B4-BE49-F238E27FC236}">
                <a16:creationId xmlns:a16="http://schemas.microsoft.com/office/drawing/2014/main" id="{3F81A0C3-5939-E587-01C9-D02C8F90D96C}"/>
              </a:ext>
            </a:extLst>
          </p:cNvPr>
          <p:cNvGrpSpPr/>
          <p:nvPr/>
        </p:nvGrpSpPr>
        <p:grpSpPr>
          <a:xfrm>
            <a:off x="9576575" y="2877171"/>
            <a:ext cx="4185334" cy="4206807"/>
            <a:chOff x="9576575" y="2725055"/>
            <a:chExt cx="4185334" cy="4206807"/>
          </a:xfrm>
        </p:grpSpPr>
        <p:sp>
          <p:nvSpPr>
            <p:cNvPr id="46" name="Logistics">
              <a:extLst>
                <a:ext uri="{FF2B5EF4-FFF2-40B4-BE49-F238E27FC236}">
                  <a16:creationId xmlns:a16="http://schemas.microsoft.com/office/drawing/2014/main" id="{9EF14BE4-9613-B9B3-25B1-A843B2880F2B}"/>
                </a:ext>
              </a:extLst>
            </p:cNvPr>
            <p:cNvSpPr txBox="1"/>
            <p:nvPr/>
          </p:nvSpPr>
          <p:spPr>
            <a:xfrm>
              <a:off x="9576575" y="2725055"/>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Project</a:t>
              </a:r>
            </a:p>
          </p:txBody>
        </p:sp>
        <p:sp>
          <p:nvSpPr>
            <p:cNvPr id="500" name="TextBox 499">
              <a:extLst>
                <a:ext uri="{FF2B5EF4-FFF2-40B4-BE49-F238E27FC236}">
                  <a16:creationId xmlns:a16="http://schemas.microsoft.com/office/drawing/2014/main" id="{2F1F8A7C-8CDC-DFCE-35CE-1736BAF928DA}"/>
                </a:ext>
              </a:extLst>
            </p:cNvPr>
            <p:cNvSpPr txBox="1"/>
            <p:nvPr/>
          </p:nvSpPr>
          <p:spPr>
            <a:xfrm>
              <a:off x="9580861" y="3484599"/>
              <a:ext cx="4177348" cy="9822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get_git_repo_path</a:t>
              </a:r>
              <a:r>
                <a:rPr lang="en-US" sz="1300" dirty="0"/>
                <a:t>()</a:t>
              </a:r>
            </a:p>
            <a:p>
              <a:r>
                <a:rPr lang="en-US" b="0" dirty="0"/>
                <a:t>Returns the local path  of the project’s Git repository. </a:t>
              </a:r>
              <a:endParaRPr lang="en-US" dirty="0"/>
            </a:p>
            <a:p>
              <a:r>
                <a:rPr lang="en-US" sz="1300" dirty="0"/>
                <a:t>2. </a:t>
              </a:r>
              <a:r>
                <a:rPr lang="en-US" sz="1300" dirty="0" err="1"/>
                <a:t>get_jira_issues_path</a:t>
              </a:r>
              <a:r>
                <a:rPr lang="en-US" sz="1300" dirty="0"/>
                <a:t>()</a:t>
              </a:r>
            </a:p>
            <a:p>
              <a:r>
                <a:rPr lang="en-US" b="0" dirty="0"/>
                <a:t>Retrieves the local path to stored JIRA issue data.</a:t>
              </a:r>
            </a:p>
          </p:txBody>
        </p:sp>
        <p:sp>
          <p:nvSpPr>
            <p:cNvPr id="779" name="Logistics">
              <a:extLst>
                <a:ext uri="{FF2B5EF4-FFF2-40B4-BE49-F238E27FC236}">
                  <a16:creationId xmlns:a16="http://schemas.microsoft.com/office/drawing/2014/main" id="{3A31D8A0-5676-BA6B-D1BD-14258C563A5A}"/>
                </a:ext>
              </a:extLst>
            </p:cNvPr>
            <p:cNvSpPr txBox="1"/>
            <p:nvPr/>
          </p:nvSpPr>
          <p:spPr>
            <a:xfrm>
              <a:off x="9584561" y="4707353"/>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Analysis</a:t>
              </a:r>
            </a:p>
          </p:txBody>
        </p:sp>
        <p:sp>
          <p:nvSpPr>
            <p:cNvPr id="780" name="TextBox 779">
              <a:extLst>
                <a:ext uri="{FF2B5EF4-FFF2-40B4-BE49-F238E27FC236}">
                  <a16:creationId xmlns:a16="http://schemas.microsoft.com/office/drawing/2014/main" id="{4AD26F8A-437D-C973-C5FA-A679D7CA7575}"/>
                </a:ext>
              </a:extLst>
            </p:cNvPr>
            <p:cNvSpPr txBox="1"/>
            <p:nvPr/>
          </p:nvSpPr>
          <p:spPr>
            <a:xfrm>
              <a:off x="9584561" y="5458424"/>
              <a:ext cx="4177348" cy="11925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get_file_extension</a:t>
              </a:r>
              <a:r>
                <a:rPr lang="en-US" sz="1300" dirty="0"/>
                <a:t>()</a:t>
              </a:r>
            </a:p>
            <a:p>
              <a:r>
                <a:rPr lang="en-US" b="0" dirty="0"/>
                <a:t>Returns file types (e.g. c, java) used to filter source files.</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sz="1300" dirty="0"/>
                <a:t>2. </a:t>
              </a:r>
              <a:r>
                <a:rPr lang="en-US" sz="1300" dirty="0" err="1"/>
                <a:t>get_depends_keep_dependencies</a:t>
              </a:r>
              <a:r>
                <a:rPr lang="en-US" sz="1300" dirty="0"/>
                <a:t>()</a:t>
              </a:r>
            </a:p>
            <a:p>
              <a:r>
                <a:rPr lang="en-US" b="0" dirty="0"/>
                <a:t>Retrieves dependency types specified in analysis configuration.</a:t>
              </a:r>
            </a:p>
          </p:txBody>
        </p:sp>
        <p:sp>
          <p:nvSpPr>
            <p:cNvPr id="776" name="Create a visual hierarchy. Help users navigate the page with titles, subtitles, and subsubtitles">
              <a:extLst>
                <a:ext uri="{FF2B5EF4-FFF2-40B4-BE49-F238E27FC236}">
                  <a16:creationId xmlns:a16="http://schemas.microsoft.com/office/drawing/2014/main" id="{D8AF5E90-ED25-5CE0-2379-567A8578CF56}"/>
                </a:ext>
              </a:extLst>
            </p:cNvPr>
            <p:cNvSpPr txBox="1"/>
            <p:nvPr/>
          </p:nvSpPr>
          <p:spPr>
            <a:xfrm>
              <a:off x="9580861" y="3048355"/>
              <a:ext cx="4001355" cy="647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The following </a:t>
              </a:r>
              <a:r>
                <a:rPr lang="en-US" dirty="0">
                  <a:latin typeface="Source Sans Pro" panose="020B0503030403020204" pitchFamily="34" charset="0"/>
                  <a:ea typeface="Source Sans Pro" panose="020B0503030403020204" pitchFamily="34" charset="0"/>
                </a:rPr>
                <a:t>APIs are used to retrieve parameters from the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configurations (1)</a:t>
              </a:r>
              <a:r>
                <a:rPr lang="en-US" dirty="0">
                  <a:solidFill>
                    <a:schemeClr val="accent1"/>
                  </a:solidFill>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sp>
          <p:nvSpPr>
            <p:cNvPr id="781" name="Create a visual hierarchy. Help users navigate the page with titles, subtitles, and subsubtitles">
              <a:extLst>
                <a:ext uri="{FF2B5EF4-FFF2-40B4-BE49-F238E27FC236}">
                  <a16:creationId xmlns:a16="http://schemas.microsoft.com/office/drawing/2014/main" id="{3154D0AF-0CD2-25D3-EB73-B2508CB823C2}"/>
                </a:ext>
              </a:extLst>
            </p:cNvPr>
            <p:cNvSpPr txBox="1"/>
            <p:nvPr/>
          </p:nvSpPr>
          <p:spPr>
            <a:xfrm>
              <a:off x="9606959" y="5019100"/>
              <a:ext cx="4001355" cy="647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The following </a:t>
              </a:r>
              <a:r>
                <a:rPr lang="en-US" b="0" dirty="0">
                  <a:solidFill>
                    <a:srgbClr val="000000"/>
                  </a:solidFill>
                  <a:latin typeface="Source Sans Pro" panose="020B0503030403020204" pitchFamily="34" charset="0"/>
                  <a:ea typeface="Source Sans Pro" panose="020B0503030403020204" pitchFamily="34" charset="0"/>
                  <a:sym typeface="Source Sans Pro Light"/>
                </a:rPr>
                <a:t>APIs are used to retrieve parameters from the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configurations (2)</a:t>
              </a:r>
              <a:r>
                <a:rPr lang="en-US" dirty="0">
                  <a:solidFill>
                    <a:schemeClr val="accent4"/>
                  </a:solidFill>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sp>
          <p:nvSpPr>
            <p:cNvPr id="62" name="TextBox 61">
              <a:extLst>
                <a:ext uri="{FF2B5EF4-FFF2-40B4-BE49-F238E27FC236}">
                  <a16:creationId xmlns:a16="http://schemas.microsoft.com/office/drawing/2014/main" id="{D67AC2FA-77EA-90F5-94F3-3393F2885E4A}"/>
                </a:ext>
              </a:extLst>
            </p:cNvPr>
            <p:cNvSpPr txBox="1"/>
            <p:nvPr/>
          </p:nvSpPr>
          <p:spPr>
            <a:xfrm rot="5400000">
              <a:off x="10147777" y="4376617"/>
              <a:ext cx="344244" cy="3512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400" dirty="0"/>
                <a:t>. . .</a:t>
              </a:r>
              <a:endParaRPr kumimoji="0" lang="en-US" sz="14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3" name="TextBox 62">
              <a:extLst>
                <a:ext uri="{FF2B5EF4-FFF2-40B4-BE49-F238E27FC236}">
                  <a16:creationId xmlns:a16="http://schemas.microsoft.com/office/drawing/2014/main" id="{35CE5796-8C23-3C3E-C00A-B5982C25123F}"/>
                </a:ext>
              </a:extLst>
            </p:cNvPr>
            <p:cNvSpPr txBox="1"/>
            <p:nvPr/>
          </p:nvSpPr>
          <p:spPr>
            <a:xfrm rot="5400000">
              <a:off x="10101758" y="6584091"/>
              <a:ext cx="344244" cy="3512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400" dirty="0"/>
                <a:t>. . .</a:t>
              </a:r>
              <a:endParaRPr kumimoji="0" lang="en-US" sz="14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740" name="Basics">
            <a:extLst>
              <a:ext uri="{FF2B5EF4-FFF2-40B4-BE49-F238E27FC236}">
                <a16:creationId xmlns:a16="http://schemas.microsoft.com/office/drawing/2014/main" id="{7E6D386B-C696-9E01-C1CE-72520013A55A}"/>
              </a:ext>
            </a:extLst>
          </p:cNvPr>
          <p:cNvSpPr txBox="1"/>
          <p:nvPr/>
        </p:nvSpPr>
        <p:spPr>
          <a:xfrm>
            <a:off x="146304" y="4083369"/>
            <a:ext cx="28934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none" lIns="12700" tIns="12700" rIns="12700" bIns="127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lvl="1" indent="0">
              <a:lnSpc>
                <a:spcPct val="80000"/>
              </a:lnSpc>
              <a:spcBef>
                <a:spcPts val="0"/>
              </a:spcBef>
              <a:defRPr sz="2500" b="0">
                <a:solidFill>
                  <a:srgbClr val="628DB5"/>
                </a:solidFill>
              </a:defRPr>
            </a:pPr>
            <a:r>
              <a:rPr lang="en-US" dirty="0"/>
              <a:t>Project Configuration</a:t>
            </a:r>
            <a:endParaRPr dirty="0"/>
          </a:p>
        </p:txBody>
      </p:sp>
      <p:sp>
        <p:nvSpPr>
          <p:cNvPr id="355" name="Use headers, colors, and/or backgrounds to separate or group together sections.">
            <a:extLst>
              <a:ext uri="{FF2B5EF4-FFF2-40B4-BE49-F238E27FC236}">
                <a16:creationId xmlns:a16="http://schemas.microsoft.com/office/drawing/2014/main" id="{AAB5BB4C-E9B5-D844-E304-8C372C5F3ABF}"/>
              </a:ext>
            </a:extLst>
          </p:cNvPr>
          <p:cNvSpPr txBox="1"/>
          <p:nvPr/>
        </p:nvSpPr>
        <p:spPr>
          <a:xfrm>
            <a:off x="146304" y="4558280"/>
            <a:ext cx="3949153"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In the configuration, </a:t>
            </a:r>
            <a:r>
              <a:rPr lang="en-US" b="0" i="0" u="none" strike="noStrike" dirty="0" err="1">
                <a:solidFill>
                  <a:schemeClr val="accent1"/>
                </a:solidFill>
                <a:effectLst/>
                <a:latin typeface="Source Sans Pro" panose="020B0503030403020204" pitchFamily="34" charset="0"/>
                <a:ea typeface="Source Sans Pro" panose="020B0503030403020204" pitchFamily="34" charset="0"/>
                <a:sym typeface="Source Sans Pro Light"/>
              </a:rPr>
              <a:t>p</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files (1) </a:t>
            </a:r>
            <a:r>
              <a:rPr lang="en-US" b="0" i="0" u="none" strike="noStrike" dirty="0">
                <a:solidFill>
                  <a:srgbClr val="000000"/>
                </a:solidFill>
                <a:effectLst/>
                <a:latin typeface="Source Sans Pro" panose="020B0503030403020204" pitchFamily="34" charset="0"/>
                <a:ea typeface="Source Sans Pro" panose="020B0503030403020204" pitchFamily="34" charset="0"/>
              </a:rPr>
              <a:t>define project-related data such as version control, issue trackers, and mailing lists.</a:t>
            </a:r>
          </a:p>
        </p:txBody>
      </p:sp>
      <p:sp>
        <p:nvSpPr>
          <p:cNvPr id="356" name="Use headers, colors, and/or backgrounds to separate or group together sections.">
            <a:extLst>
              <a:ext uri="{FF2B5EF4-FFF2-40B4-BE49-F238E27FC236}">
                <a16:creationId xmlns:a16="http://schemas.microsoft.com/office/drawing/2014/main" id="{3215E3CF-6B61-3D2B-F7BE-A4395176AE00}"/>
              </a:ext>
            </a:extLst>
          </p:cNvPr>
          <p:cNvSpPr txBox="1"/>
          <p:nvPr/>
        </p:nvSpPr>
        <p:spPr>
          <a:xfrm>
            <a:off x="170343" y="6434848"/>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are specific to a project and remain consistent across different analyses.</a:t>
            </a:r>
          </a:p>
        </p:txBody>
      </p:sp>
      <p:grpSp>
        <p:nvGrpSpPr>
          <p:cNvPr id="396" name="Group 395">
            <a:extLst>
              <a:ext uri="{FF2B5EF4-FFF2-40B4-BE49-F238E27FC236}">
                <a16:creationId xmlns:a16="http://schemas.microsoft.com/office/drawing/2014/main" id="{324846A9-33D6-FF85-98C9-4FC14636E187}"/>
              </a:ext>
            </a:extLst>
          </p:cNvPr>
          <p:cNvGrpSpPr/>
          <p:nvPr/>
        </p:nvGrpSpPr>
        <p:grpSpPr>
          <a:xfrm>
            <a:off x="373334" y="5315944"/>
            <a:ext cx="1441090" cy="862872"/>
            <a:chOff x="4056577" y="4033088"/>
            <a:chExt cx="493900" cy="295729"/>
          </a:xfrm>
        </p:grpSpPr>
        <p:sp>
          <p:nvSpPr>
            <p:cNvPr id="397" name="Google Shape;375;p18">
              <a:extLst>
                <a:ext uri="{FF2B5EF4-FFF2-40B4-BE49-F238E27FC236}">
                  <a16:creationId xmlns:a16="http://schemas.microsoft.com/office/drawing/2014/main" id="{23C46ED7-A7E7-30AE-2D27-828B3540B936}"/>
                </a:ext>
              </a:extLst>
            </p:cNvPr>
            <p:cNvSpPr txBox="1"/>
            <p:nvPr/>
          </p:nvSpPr>
          <p:spPr>
            <a:xfrm>
              <a:off x="4106777" y="4033088"/>
              <a:ext cx="443700"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GitHub</a:t>
              </a:r>
              <a:endParaRPr dirty="0">
                <a:solidFill>
                  <a:schemeClr val="dk2"/>
                </a:solidFill>
                <a:latin typeface="Source Sans 3"/>
                <a:ea typeface="Source Sans 3"/>
                <a:cs typeface="Source Sans 3"/>
                <a:sym typeface="Source Sans 3"/>
              </a:endParaRPr>
            </a:p>
          </p:txBody>
        </p:sp>
        <p:grpSp>
          <p:nvGrpSpPr>
            <p:cNvPr id="398" name="Google Shape;359;p18">
              <a:extLst>
                <a:ext uri="{FF2B5EF4-FFF2-40B4-BE49-F238E27FC236}">
                  <a16:creationId xmlns:a16="http://schemas.microsoft.com/office/drawing/2014/main" id="{8283CDFA-FA05-849A-2942-C1CFA00C931D}"/>
                </a:ext>
              </a:extLst>
            </p:cNvPr>
            <p:cNvGrpSpPr/>
            <p:nvPr/>
          </p:nvGrpSpPr>
          <p:grpSpPr>
            <a:xfrm>
              <a:off x="4056577" y="4139517"/>
              <a:ext cx="307200" cy="189300"/>
              <a:chOff x="3007175" y="1757600"/>
              <a:chExt cx="307200" cy="189300"/>
            </a:xfrm>
          </p:grpSpPr>
          <p:sp>
            <p:nvSpPr>
              <p:cNvPr id="399" name="Google Shape;360;p18">
                <a:extLst>
                  <a:ext uri="{FF2B5EF4-FFF2-40B4-BE49-F238E27FC236}">
                    <a16:creationId xmlns:a16="http://schemas.microsoft.com/office/drawing/2014/main" id="{212A6963-42EF-8BDD-5DF8-4B8E1E4C672B}"/>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1;p18">
                <a:extLst>
                  <a:ext uri="{FF2B5EF4-FFF2-40B4-BE49-F238E27FC236}">
                    <a16:creationId xmlns:a16="http://schemas.microsoft.com/office/drawing/2014/main" id="{31050F5C-B32B-082C-A700-1AB002329185}"/>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362;p18">
                <a:extLst>
                  <a:ext uri="{FF2B5EF4-FFF2-40B4-BE49-F238E27FC236}">
                    <a16:creationId xmlns:a16="http://schemas.microsoft.com/office/drawing/2014/main" id="{22E6F646-D3CA-98F4-1BD5-CBE2FC80F6AD}"/>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 name="Google Shape;363;p18">
                <a:extLst>
                  <a:ext uri="{FF2B5EF4-FFF2-40B4-BE49-F238E27FC236}">
                    <a16:creationId xmlns:a16="http://schemas.microsoft.com/office/drawing/2014/main" id="{F6B670BD-FC01-1B23-311E-480B2A0F65EA}"/>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3" name="Google Shape;364;p18">
                <a:extLst>
                  <a:ext uri="{FF2B5EF4-FFF2-40B4-BE49-F238E27FC236}">
                    <a16:creationId xmlns:a16="http://schemas.microsoft.com/office/drawing/2014/main" id="{719B60FE-C81B-CAC0-7B2F-02119B7499BE}"/>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365;p18">
                <a:extLst>
                  <a:ext uri="{FF2B5EF4-FFF2-40B4-BE49-F238E27FC236}">
                    <a16:creationId xmlns:a16="http://schemas.microsoft.com/office/drawing/2014/main" id="{905ACAEF-FCCE-2F3D-32C2-C943DF94FC9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5" name="Google Shape;366;p18">
                <a:extLst>
                  <a:ext uri="{FF2B5EF4-FFF2-40B4-BE49-F238E27FC236}">
                    <a16:creationId xmlns:a16="http://schemas.microsoft.com/office/drawing/2014/main" id="{818C7AB6-10F2-65BC-2F6B-4F9FFDA548A7}"/>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14" name="Group 413">
            <a:extLst>
              <a:ext uri="{FF2B5EF4-FFF2-40B4-BE49-F238E27FC236}">
                <a16:creationId xmlns:a16="http://schemas.microsoft.com/office/drawing/2014/main" id="{FF58CB01-45F3-20A5-A5AA-A50D39F21807}"/>
              </a:ext>
            </a:extLst>
          </p:cNvPr>
          <p:cNvGrpSpPr/>
          <p:nvPr/>
        </p:nvGrpSpPr>
        <p:grpSpPr>
          <a:xfrm>
            <a:off x="1519251" y="5306122"/>
            <a:ext cx="896341" cy="862872"/>
            <a:chOff x="4056577" y="4033088"/>
            <a:chExt cx="307200" cy="295729"/>
          </a:xfrm>
        </p:grpSpPr>
        <p:sp>
          <p:nvSpPr>
            <p:cNvPr id="415" name="Google Shape;375;p18">
              <a:extLst>
                <a:ext uri="{FF2B5EF4-FFF2-40B4-BE49-F238E27FC236}">
                  <a16:creationId xmlns:a16="http://schemas.microsoft.com/office/drawing/2014/main" id="{47A9BD63-741B-83C7-9BE2-6633900D3535}"/>
                </a:ext>
              </a:extLst>
            </p:cNvPr>
            <p:cNvSpPr txBox="1"/>
            <p:nvPr/>
          </p:nvSpPr>
          <p:spPr>
            <a:xfrm>
              <a:off x="4144430" y="4033088"/>
              <a:ext cx="150347"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Jira</a:t>
              </a:r>
              <a:endParaRPr dirty="0">
                <a:solidFill>
                  <a:schemeClr val="dk2"/>
                </a:solidFill>
                <a:latin typeface="Source Sans 3"/>
                <a:ea typeface="Source Sans 3"/>
                <a:cs typeface="Source Sans 3"/>
                <a:sym typeface="Source Sans 3"/>
              </a:endParaRPr>
            </a:p>
          </p:txBody>
        </p:sp>
        <p:grpSp>
          <p:nvGrpSpPr>
            <p:cNvPr id="416" name="Google Shape;359;p18">
              <a:extLst>
                <a:ext uri="{FF2B5EF4-FFF2-40B4-BE49-F238E27FC236}">
                  <a16:creationId xmlns:a16="http://schemas.microsoft.com/office/drawing/2014/main" id="{1A5CC65C-1AB5-A468-EC4E-EB423120A576}"/>
                </a:ext>
              </a:extLst>
            </p:cNvPr>
            <p:cNvGrpSpPr/>
            <p:nvPr/>
          </p:nvGrpSpPr>
          <p:grpSpPr>
            <a:xfrm>
              <a:off x="4056577" y="4139517"/>
              <a:ext cx="307200" cy="189300"/>
              <a:chOff x="3007175" y="1757600"/>
              <a:chExt cx="307200" cy="189300"/>
            </a:xfrm>
          </p:grpSpPr>
          <p:sp>
            <p:nvSpPr>
              <p:cNvPr id="417" name="Google Shape;360;p18">
                <a:extLst>
                  <a:ext uri="{FF2B5EF4-FFF2-40B4-BE49-F238E27FC236}">
                    <a16:creationId xmlns:a16="http://schemas.microsoft.com/office/drawing/2014/main" id="{3DE5F0BA-612B-D942-C3F6-F728B7DDD93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 name="Google Shape;361;p18">
                <a:extLst>
                  <a:ext uri="{FF2B5EF4-FFF2-40B4-BE49-F238E27FC236}">
                    <a16:creationId xmlns:a16="http://schemas.microsoft.com/office/drawing/2014/main" id="{ED7370AB-5C86-1B6A-A7AB-7C65531EE9D2}"/>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362;p18">
                <a:extLst>
                  <a:ext uri="{FF2B5EF4-FFF2-40B4-BE49-F238E27FC236}">
                    <a16:creationId xmlns:a16="http://schemas.microsoft.com/office/drawing/2014/main" id="{5BE9F07C-FA51-6EB2-F178-3C226D0CDE7F}"/>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363;p18">
                <a:extLst>
                  <a:ext uri="{FF2B5EF4-FFF2-40B4-BE49-F238E27FC236}">
                    <a16:creationId xmlns:a16="http://schemas.microsoft.com/office/drawing/2014/main" id="{83116978-8C61-5662-85B2-8BE84A280C8F}"/>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1" name="Google Shape;364;p18">
                <a:extLst>
                  <a:ext uri="{FF2B5EF4-FFF2-40B4-BE49-F238E27FC236}">
                    <a16:creationId xmlns:a16="http://schemas.microsoft.com/office/drawing/2014/main" id="{6761BCD6-840F-80F5-F536-FF8945E02DE9}"/>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365;p18">
                <a:extLst>
                  <a:ext uri="{FF2B5EF4-FFF2-40B4-BE49-F238E27FC236}">
                    <a16:creationId xmlns:a16="http://schemas.microsoft.com/office/drawing/2014/main" id="{736AEB4C-E2BE-C4DA-3EA6-5AD0367FAE74}"/>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366;p18">
                <a:extLst>
                  <a:ext uri="{FF2B5EF4-FFF2-40B4-BE49-F238E27FC236}">
                    <a16:creationId xmlns:a16="http://schemas.microsoft.com/office/drawing/2014/main" id="{4C5E8839-82E6-2B3F-9FED-08B69119E740}"/>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24" name="Google Shape;377;p18">
            <a:extLst>
              <a:ext uri="{FF2B5EF4-FFF2-40B4-BE49-F238E27FC236}">
                <a16:creationId xmlns:a16="http://schemas.microsoft.com/office/drawing/2014/main" id="{41DAFB0E-3051-900C-035B-05B9EACBA68A}"/>
              </a:ext>
            </a:extLst>
          </p:cNvPr>
          <p:cNvGrpSpPr/>
          <p:nvPr/>
        </p:nvGrpSpPr>
        <p:grpSpPr>
          <a:xfrm>
            <a:off x="2836022" y="5600834"/>
            <a:ext cx="588585" cy="570766"/>
            <a:chOff x="3021975" y="2389850"/>
            <a:chExt cx="307200" cy="297900"/>
          </a:xfrm>
        </p:grpSpPr>
        <p:sp>
          <p:nvSpPr>
            <p:cNvPr id="425" name="Google Shape;378;p18">
              <a:extLst>
                <a:ext uri="{FF2B5EF4-FFF2-40B4-BE49-F238E27FC236}">
                  <a16:creationId xmlns:a16="http://schemas.microsoft.com/office/drawing/2014/main" id="{BFAE1E72-F8D4-B626-CE98-6F58F2414E52}"/>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26" name="Google Shape;379;p18">
              <a:extLst>
                <a:ext uri="{FF2B5EF4-FFF2-40B4-BE49-F238E27FC236}">
                  <a16:creationId xmlns:a16="http://schemas.microsoft.com/office/drawing/2014/main" id="{2B6BAED8-94C3-A39C-A664-7F5A3BECBC36}"/>
                </a:ext>
              </a:extLst>
            </p:cNvPr>
            <p:cNvGrpSpPr/>
            <p:nvPr/>
          </p:nvGrpSpPr>
          <p:grpSpPr>
            <a:xfrm>
              <a:off x="3021975" y="2389850"/>
              <a:ext cx="307200" cy="295800"/>
              <a:chOff x="3021975" y="2389850"/>
              <a:chExt cx="307200" cy="295800"/>
            </a:xfrm>
          </p:grpSpPr>
          <p:sp>
            <p:nvSpPr>
              <p:cNvPr id="427" name="Google Shape;380;p18">
                <a:extLst>
                  <a:ext uri="{FF2B5EF4-FFF2-40B4-BE49-F238E27FC236}">
                    <a16:creationId xmlns:a16="http://schemas.microsoft.com/office/drawing/2014/main" id="{AFD925EE-3860-83A3-EA03-559E0F62FB7C}"/>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381;p18">
                <a:extLst>
                  <a:ext uri="{FF2B5EF4-FFF2-40B4-BE49-F238E27FC236}">
                    <a16:creationId xmlns:a16="http://schemas.microsoft.com/office/drawing/2014/main" id="{CA90A684-EA08-1C50-2787-C65927D7FEB7}"/>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9" name="Google Shape;382;p18">
                <a:extLst>
                  <a:ext uri="{FF2B5EF4-FFF2-40B4-BE49-F238E27FC236}">
                    <a16:creationId xmlns:a16="http://schemas.microsoft.com/office/drawing/2014/main" id="{26CDA0BE-6603-7D96-5393-6E7DFB179552}"/>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430" name="Google Shape;383;p18">
                <a:extLst>
                  <a:ext uri="{FF2B5EF4-FFF2-40B4-BE49-F238E27FC236}">
                    <a16:creationId xmlns:a16="http://schemas.microsoft.com/office/drawing/2014/main" id="{ED3F1E79-961F-A459-B453-7BC44E276E0E}"/>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431" name="Google Shape;384;p18">
                <a:extLst>
                  <a:ext uri="{FF2B5EF4-FFF2-40B4-BE49-F238E27FC236}">
                    <a16:creationId xmlns:a16="http://schemas.microsoft.com/office/drawing/2014/main" id="{13CD21C2-F1C5-3CBE-2256-D5AE364F72DC}"/>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32" name="Google Shape;385;p18">
                <a:extLst>
                  <a:ext uri="{FF2B5EF4-FFF2-40B4-BE49-F238E27FC236}">
                    <a16:creationId xmlns:a16="http://schemas.microsoft.com/office/drawing/2014/main" id="{2928A5B5-9134-F741-2335-2CC99F25D955}"/>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3" name="Google Shape;386;p18">
                <a:extLst>
                  <a:ext uri="{FF2B5EF4-FFF2-40B4-BE49-F238E27FC236}">
                    <a16:creationId xmlns:a16="http://schemas.microsoft.com/office/drawing/2014/main" id="{47058FBC-EC60-8DC6-2E07-34453979D815}"/>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4" name="Google Shape;387;p18">
                <a:extLst>
                  <a:ext uri="{FF2B5EF4-FFF2-40B4-BE49-F238E27FC236}">
                    <a16:creationId xmlns:a16="http://schemas.microsoft.com/office/drawing/2014/main" id="{A2EB3197-84B8-8650-3AA6-477D8027CAFF}"/>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435" name="Google Shape;375;p18">
            <a:extLst>
              <a:ext uri="{FF2B5EF4-FFF2-40B4-BE49-F238E27FC236}">
                <a16:creationId xmlns:a16="http://schemas.microsoft.com/office/drawing/2014/main" id="{9BFB14D7-FFB5-33F5-25B3-FCFD5775865A}"/>
              </a:ext>
            </a:extLst>
          </p:cNvPr>
          <p:cNvSpPr txBox="1"/>
          <p:nvPr/>
        </p:nvSpPr>
        <p:spPr>
          <a:xfrm>
            <a:off x="2729653" y="5299035"/>
            <a:ext cx="1294618" cy="343049"/>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Mailing List</a:t>
            </a:r>
            <a:endParaRPr dirty="0">
              <a:solidFill>
                <a:schemeClr val="dk2"/>
              </a:solidFill>
              <a:latin typeface="Source Sans 3"/>
              <a:ea typeface="Source Sans 3"/>
              <a:cs typeface="Source Sans 3"/>
              <a:sym typeface="Source Sans 3"/>
            </a:endParaRPr>
          </a:p>
        </p:txBody>
      </p:sp>
      <p:sp>
        <p:nvSpPr>
          <p:cNvPr id="56" name="Line">
            <a:extLst>
              <a:ext uri="{FF2B5EF4-FFF2-40B4-BE49-F238E27FC236}">
                <a16:creationId xmlns:a16="http://schemas.microsoft.com/office/drawing/2014/main" id="{85840169-2AE3-F947-6E34-93CA69460844}"/>
              </a:ext>
            </a:extLst>
          </p:cNvPr>
          <p:cNvSpPr/>
          <p:nvPr/>
        </p:nvSpPr>
        <p:spPr>
          <a:xfrm flipV="1">
            <a:off x="146304" y="1837944"/>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7" name="Line">
            <a:extLst>
              <a:ext uri="{FF2B5EF4-FFF2-40B4-BE49-F238E27FC236}">
                <a16:creationId xmlns:a16="http://schemas.microsoft.com/office/drawing/2014/main" id="{0E7C3D83-DC98-8B2F-74C0-4EC25312A1D6}"/>
              </a:ext>
            </a:extLst>
          </p:cNvPr>
          <p:cNvSpPr/>
          <p:nvPr/>
        </p:nvSpPr>
        <p:spPr>
          <a:xfrm flipV="1">
            <a:off x="146304" y="4480560"/>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8" name="Line">
            <a:extLst>
              <a:ext uri="{FF2B5EF4-FFF2-40B4-BE49-F238E27FC236}">
                <a16:creationId xmlns:a16="http://schemas.microsoft.com/office/drawing/2014/main" id="{E75EB94D-216E-3ADA-8E87-07342A73D87E}"/>
              </a:ext>
            </a:extLst>
          </p:cNvPr>
          <p:cNvSpPr/>
          <p:nvPr/>
        </p:nvSpPr>
        <p:spPr>
          <a:xfrm flipV="1">
            <a:off x="146304" y="7516368"/>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8" name="Line">
            <a:extLst>
              <a:ext uri="{FF2B5EF4-FFF2-40B4-BE49-F238E27FC236}">
                <a16:creationId xmlns:a16="http://schemas.microsoft.com/office/drawing/2014/main" id="{427A3F3B-8684-F1CD-69EB-172D0859E985}"/>
              </a:ext>
            </a:extLst>
          </p:cNvPr>
          <p:cNvSpPr/>
          <p:nvPr/>
        </p:nvSpPr>
        <p:spPr>
          <a:xfrm flipV="1">
            <a:off x="4828032" y="1837944"/>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50" name="Line">
            <a:extLst>
              <a:ext uri="{FF2B5EF4-FFF2-40B4-BE49-F238E27FC236}">
                <a16:creationId xmlns:a16="http://schemas.microsoft.com/office/drawing/2014/main" id="{730CCF1C-A0C1-D673-D110-80CB451BB831}"/>
              </a:ext>
            </a:extLst>
          </p:cNvPr>
          <p:cNvSpPr/>
          <p:nvPr/>
        </p:nvSpPr>
        <p:spPr>
          <a:xfrm flipV="1">
            <a:off x="9573768" y="1837944"/>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62" name="Line">
            <a:extLst>
              <a:ext uri="{FF2B5EF4-FFF2-40B4-BE49-F238E27FC236}">
                <a16:creationId xmlns:a16="http://schemas.microsoft.com/office/drawing/2014/main" id="{89F75E64-C8E6-8D06-F038-7EAD505B6BBE}"/>
              </a:ext>
            </a:extLst>
          </p:cNvPr>
          <p:cNvSpPr/>
          <p:nvPr/>
        </p:nvSpPr>
        <p:spPr>
          <a:xfrm flipV="1">
            <a:off x="9573768" y="7616952"/>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3742088827"/>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22761</TotalTime>
  <Words>714</Words>
  <Application>Microsoft Office PowerPoint</Application>
  <PresentationFormat>Custom</PresentationFormat>
  <Paragraphs>70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Avenir</vt:lpstr>
      <vt:lpstr>Helvetica Light</vt:lpstr>
      <vt:lpstr>Source Sans 3</vt:lpstr>
      <vt:lpstr>Source Sans Pro</vt:lpstr>
      <vt:lpstr>Source Sans Pro Light</vt:lpstr>
      <vt:lpstr>Source Sans Pro Semibold</vt:lpstr>
      <vt:lpstr>White</vt:lpstr>
      <vt:lpstr>Configurations (.yml) :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 </dc:title>
  <cp:lastModifiedBy>Gi Young Back</cp:lastModifiedBy>
  <cp:revision>194</cp:revision>
  <dcterms:modified xsi:type="dcterms:W3CDTF">2026-05-09T09:32:43Z</dcterms:modified>
</cp:coreProperties>
</file>