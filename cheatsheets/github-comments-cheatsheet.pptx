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5C0"/>
    <a:srgbClr val="F07D61"/>
    <a:srgbClr val="000000"/>
    <a:srgbClr val="C945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854"/>
    <p:restoredTop sz="96966" autoAdjust="0"/>
  </p:normalViewPr>
  <p:slideViewPr>
    <p:cSldViewPr snapToGrid="0" snapToObjects="1">
      <p:cViewPr varScale="1">
        <p:scale>
          <a:sx n="78" d="100"/>
          <a:sy n="78" d="100"/>
        </p:scale>
        <p:origin x="2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45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sa/4.0/" TargetMode="External"/><Relationship Id="rId10" Type="http://schemas.openxmlformats.org/officeDocument/2006/relationships/image" Target="../media/image8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80B3CC2-6D8D-E1F5-BC66-B4A49A18CC57}"/>
              </a:ext>
            </a:extLst>
          </p:cNvPr>
          <p:cNvCxnSpPr>
            <a:cxnSpLocks/>
          </p:cNvCxnSpPr>
          <p:nvPr/>
        </p:nvCxnSpPr>
        <p:spPr>
          <a:xfrm>
            <a:off x="5537044" y="5405171"/>
            <a:ext cx="0" cy="198746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CBFD921C-F4AA-2A31-91BE-918189855A82}"/>
              </a:ext>
            </a:extLst>
          </p:cNvPr>
          <p:cNvCxnSpPr>
            <a:cxnSpLocks/>
          </p:cNvCxnSpPr>
          <p:nvPr/>
        </p:nvCxnSpPr>
        <p:spPr>
          <a:xfrm>
            <a:off x="5537122" y="5071541"/>
            <a:ext cx="0" cy="198746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9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82083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Line"/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3" name="YOUR LOGO…"/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Kaiāulu</a:t>
            </a:r>
            <a:endParaRPr sz="2400" dirty="0"/>
          </a:p>
        </p:txBody>
      </p:sp>
      <p:sp>
        <p:nvSpPr>
          <p:cNvPr id="326" name="Manipulate Variables"/>
          <p:cNvSpPr txBox="1"/>
          <p:nvPr/>
        </p:nvSpPr>
        <p:spPr>
          <a:xfrm>
            <a:off x="9588427" y="1460558"/>
            <a:ext cx="237084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Related Vignettes</a:t>
            </a:r>
          </a:p>
        </p:txBody>
      </p:sp>
      <p:sp>
        <p:nvSpPr>
          <p:cNvPr id="334" name="Three Column Layout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n-US" dirty="0"/>
              <a:t>GitHub Pull Requests </a:t>
            </a:r>
            <a:r>
              <a:rPr dirty="0"/>
              <a:t>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341" name="Use headers, colors, and/or backgrounds to separate or group together sections."/>
          <p:cNvSpPr txBox="1"/>
          <p:nvPr/>
        </p:nvSpPr>
        <p:spPr>
          <a:xfrm>
            <a:off x="155122" y="1733067"/>
            <a:ext cx="3949153" cy="114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GitHub Pull Request Discussion offers another layer of communication for the analysis of social patterns in software development. This cheatsheet showcases how to obtain the PR specification, conversation and in-line code review.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2" name="Create a visual hierarchy. Help users navigate the page with titles, subtitles, and subsubtitles"/>
          <p:cNvSpPr txBox="1"/>
          <p:nvPr/>
        </p:nvSpPr>
        <p:spPr>
          <a:xfrm>
            <a:off x="9584561" y="1828842"/>
            <a:ext cx="4001355" cy="60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To run and download GitHub Pull Request Comments, use the following vignette to visualize the GitHub Conversations tab in Kaiaulu</a:t>
            </a:r>
          </a:p>
        </p:txBody>
      </p:sp>
      <p:sp>
        <p:nvSpPr>
          <p:cNvPr id="384" name="Layout Suggestions"/>
          <p:cNvSpPr txBox="1"/>
          <p:nvPr/>
        </p:nvSpPr>
        <p:spPr>
          <a:xfrm>
            <a:off x="275721" y="1453227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1C9AB6D2-F69D-1DEC-41BE-05335D7DBE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4310" y="122459"/>
            <a:ext cx="1443262" cy="167604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98E25CE-0FCD-0F14-DE41-E9F889215D13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Ryan Seng, Connor Narowetz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, Carlos Paradis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2025-04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" name="Logistics">
            <a:extLst>
              <a:ext uri="{FF2B5EF4-FFF2-40B4-BE49-F238E27FC236}">
                <a16:creationId xmlns:a16="http://schemas.microsoft.com/office/drawing/2014/main" id="{CFC6975B-CE08-215E-9051-A8F0A3BA40BC}"/>
              </a:ext>
            </a:extLst>
          </p:cNvPr>
          <p:cNvSpPr txBox="1"/>
          <p:nvPr/>
        </p:nvSpPr>
        <p:spPr>
          <a:xfrm>
            <a:off x="9588427" y="2826117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Refreshers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7868D5CB-AE5E-6D08-E1DE-C8B367CCB875}"/>
              </a:ext>
            </a:extLst>
          </p:cNvPr>
          <p:cNvSpPr txBox="1"/>
          <p:nvPr/>
        </p:nvSpPr>
        <p:spPr>
          <a:xfrm>
            <a:off x="9582328" y="3621491"/>
            <a:ext cx="4177348" cy="3623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300" dirty="0"/>
              <a:t>1. github_api_project_pull_request_refresh()</a:t>
            </a:r>
          </a:p>
          <a:p>
            <a:r>
              <a:rPr lang="en-US" b="0" dirty="0"/>
              <a:t>The first comment in every pull request is obtained by this endpoint. </a:t>
            </a:r>
            <a:endParaRPr lang="en-US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r>
              <a:rPr lang="en-US" sz="1300" dirty="0"/>
              <a:t>2. github_api_project_issue_or_pr_comment_refresh()</a:t>
            </a:r>
          </a:p>
          <a:p>
            <a:r>
              <a:rPr lang="en-US" b="0" dirty="0"/>
              <a:t>The second comment and onwards in every pull request is obtained by this endpoint, except for in-line code review comments. </a:t>
            </a:r>
          </a:p>
          <a:p>
            <a:endParaRPr lang="en-US" sz="1400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300" dirty="0"/>
              <a:t>3. github_api_pr_reviews_refresh()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In-line code review comments can be grouped under a change request comment, in which case the in-line code comments will contain a reference ID to the change request comment. 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b="0" dirty="0"/>
          </a:p>
          <a:p>
            <a:r>
              <a:rPr lang="en-US" sz="1300" dirty="0"/>
              <a:t>4. github_api_project_pr_comments_refresh()</a:t>
            </a:r>
          </a:p>
          <a:p>
            <a:r>
              <a:rPr lang="en-US" sz="1200" b="0" dirty="0"/>
              <a:t>In-line code comments may also be added without a change request comment. </a:t>
            </a:r>
          </a:p>
        </p:txBody>
      </p:sp>
      <p:sp>
        <p:nvSpPr>
          <p:cNvPr id="382" name="Logistics"/>
          <p:cNvSpPr txBox="1"/>
          <p:nvPr/>
        </p:nvSpPr>
        <p:spPr>
          <a:xfrm>
            <a:off x="148894" y="5970177"/>
            <a:ext cx="3973845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Related Kaiaulu Functionality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F118DF81-C193-422D-BF5F-D5A23FB2CF1E}"/>
              </a:ext>
            </a:extLst>
          </p:cNvPr>
          <p:cNvSpPr txBox="1"/>
          <p:nvPr/>
        </p:nvSpPr>
        <p:spPr>
          <a:xfrm>
            <a:off x="158709" y="6525639"/>
            <a:ext cx="4184378" cy="29007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Pull Request comments can be used to extend social network graphs and social smells (see </a:t>
            </a:r>
            <a:r>
              <a:rPr lang="en-US" dirty="0">
                <a:solidFill>
                  <a:srgbClr val="0365C0"/>
                </a:solidFill>
              </a:rPr>
              <a:t>social-smells-cheatsheet.pdf</a:t>
            </a:r>
            <a:r>
              <a:rPr lang="en-US" b="0" dirty="0"/>
              <a:t>). 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The code review workflow can be modeled to assess project compliance (see </a:t>
            </a:r>
            <a:r>
              <a:rPr lang="en-US" dirty="0">
                <a:solidFill>
                  <a:srgbClr val="0365C0"/>
                </a:solidFill>
              </a:rPr>
              <a:t>process-discovery-cheatsheet.pdf</a:t>
            </a:r>
            <a:r>
              <a:rPr lang="en-US" b="0" dirty="0"/>
              <a:t>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Code review reactions can also capture developers’ sentiment and offer implicit signal to code quality (see </a:t>
            </a:r>
            <a:r>
              <a:rPr lang="en-US" dirty="0">
                <a:solidFill>
                  <a:srgbClr val="0365C0"/>
                </a:solidFill>
              </a:rPr>
              <a:t>sentiment-cheatsheet.pdf</a:t>
            </a:r>
            <a:r>
              <a:rPr lang="en-US" b="0" dirty="0"/>
              <a:t>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To </a:t>
            </a:r>
            <a:r>
              <a:rPr lang="en-US" b="0" dirty="0"/>
              <a:t>more easily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download </a:t>
            </a:r>
            <a:r>
              <a:rPr lang="en-US" b="0" dirty="0"/>
              <a:t>new data using the endpoints, we recommend using Kaiaulu refresher API (see </a:t>
            </a:r>
            <a:r>
              <a:rPr lang="en-US" dirty="0">
                <a:solidFill>
                  <a:srgbClr val="0365C0"/>
                </a:solidFill>
              </a:rPr>
              <a:t>refresher-cheatsheet.pdf</a:t>
            </a:r>
            <a:r>
              <a:rPr lang="en-US" b="0" dirty="0"/>
              <a:t>).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sp>
        <p:nvSpPr>
          <p:cNvPr id="371" name="Line">
            <a:extLst>
              <a:ext uri="{FF2B5EF4-FFF2-40B4-BE49-F238E27FC236}">
                <a16:creationId xmlns:a16="http://schemas.microsoft.com/office/drawing/2014/main" id="{3E1227C5-190B-40AA-17E8-5AFF1E3B99DA}"/>
              </a:ext>
            </a:extLst>
          </p:cNvPr>
          <p:cNvSpPr/>
          <p:nvPr/>
        </p:nvSpPr>
        <p:spPr>
          <a:xfrm flipV="1">
            <a:off x="143526" y="2692957"/>
            <a:ext cx="4175493" cy="0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75" name="Line">
            <a:extLst>
              <a:ext uri="{FF2B5EF4-FFF2-40B4-BE49-F238E27FC236}">
                <a16:creationId xmlns:a16="http://schemas.microsoft.com/office/drawing/2014/main" id="{FA2B2D45-EC3B-5790-3E0A-049345E53CB4}"/>
              </a:ext>
            </a:extLst>
          </p:cNvPr>
          <p:cNvSpPr/>
          <p:nvPr/>
        </p:nvSpPr>
        <p:spPr>
          <a:xfrm flipV="1">
            <a:off x="9580868" y="7279284"/>
            <a:ext cx="4178808" cy="0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39" name="Group">
            <a:extLst>
              <a:ext uri="{FF2B5EF4-FFF2-40B4-BE49-F238E27FC236}">
                <a16:creationId xmlns:a16="http://schemas.microsoft.com/office/drawing/2014/main" id="{1B6DBD94-DC40-D231-4197-28223F2B1D12}"/>
              </a:ext>
            </a:extLst>
          </p:cNvPr>
          <p:cNvSpPr/>
          <p:nvPr/>
        </p:nvSpPr>
        <p:spPr>
          <a:xfrm>
            <a:off x="72189" y="2839839"/>
            <a:ext cx="4346831" cy="2791164"/>
          </a:xfrm>
          <a:prstGeom prst="rect">
            <a:avLst/>
          </a:prstGeom>
          <a:solidFill>
            <a:srgbClr val="79B0DC">
              <a:alpha val="2377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40" name="Basics">
            <a:extLst>
              <a:ext uri="{FF2B5EF4-FFF2-40B4-BE49-F238E27FC236}">
                <a16:creationId xmlns:a16="http://schemas.microsoft.com/office/drawing/2014/main" id="{CF0E3645-419D-4185-66EA-D926C10FB3C8}"/>
              </a:ext>
            </a:extLst>
          </p:cNvPr>
          <p:cNvSpPr txBox="1"/>
          <p:nvPr/>
        </p:nvSpPr>
        <p:spPr>
          <a:xfrm>
            <a:off x="143526" y="2880423"/>
            <a:ext cx="27667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Project Config Setup</a:t>
            </a:r>
            <a:endParaRPr dirty="0"/>
          </a:p>
        </p:txBody>
      </p:sp>
      <p:sp>
        <p:nvSpPr>
          <p:cNvPr id="741" name="Thank you for making a new cheatsheet for R! These cheatsheets have an important job:">
            <a:extLst>
              <a:ext uri="{FF2B5EF4-FFF2-40B4-BE49-F238E27FC236}">
                <a16:creationId xmlns:a16="http://schemas.microsoft.com/office/drawing/2014/main" id="{DEE5A87B-1FBA-B066-F28F-5920CC73CEB3}"/>
              </a:ext>
            </a:extLst>
          </p:cNvPr>
          <p:cNvSpPr txBox="1"/>
          <p:nvPr/>
        </p:nvSpPr>
        <p:spPr>
          <a:xfrm>
            <a:off x="143526" y="3231520"/>
            <a:ext cx="4264736" cy="38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lang="en-US" b="1" dirty="0"/>
              <a:t>Project configuration files are used to store variables that contain information about a project.</a:t>
            </a:r>
            <a:endParaRPr lang="en-US" dirty="0"/>
          </a:p>
        </p:txBody>
      </p:sp>
      <p:sp>
        <p:nvSpPr>
          <p:cNvPr id="742" name="Cheatsheets make it easy for R users…">
            <a:extLst>
              <a:ext uri="{FF2B5EF4-FFF2-40B4-BE49-F238E27FC236}">
                <a16:creationId xmlns:a16="http://schemas.microsoft.com/office/drawing/2014/main" id="{06085E17-522A-B32C-8595-988D6CA28DBF}"/>
              </a:ext>
            </a:extLst>
          </p:cNvPr>
          <p:cNvSpPr txBox="1"/>
          <p:nvPr/>
        </p:nvSpPr>
        <p:spPr>
          <a:xfrm>
            <a:off x="185465" y="3636445"/>
            <a:ext cx="4133554" cy="145141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400000"/>
          </a:ln>
          <a:extLst>
            <a:ext uri="{C572A759-6A51-4108-AA02-DFA0A04FC94B}">
              <ma14:wrappingTextBoxFlag xmlns:lc="http://schemas.openxmlformats.org/drawingml/2006/lockedCanvas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700" tIns="12700" rIns="12700" bIns="12700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 sz="1400" dirty="0"/>
              <a:t>Required Fields</a:t>
            </a: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n-US" dirty="0"/>
              <a:t>github: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 dirty="0"/>
              <a:t>       - project_key_1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 dirty="0"/>
              <a:t>	- issue_or_pr_comment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 dirty="0"/>
              <a:t>	- pull_requests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 dirty="0"/>
              <a:t>	- pr_comments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 dirty="0"/>
              <a:t>	- pr_reviews</a:t>
            </a:r>
          </a:p>
          <a:p>
            <a:pPr marL="171450" lvl="1" indent="-17145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45" name="Thank you for making a new cheatsheet for R! These cheatsheets have an important job:">
            <a:extLst>
              <a:ext uri="{FF2B5EF4-FFF2-40B4-BE49-F238E27FC236}">
                <a16:creationId xmlns:a16="http://schemas.microsoft.com/office/drawing/2014/main" id="{C15028FC-57F7-3D04-9093-5A3F5F89C9B4}"/>
              </a:ext>
            </a:extLst>
          </p:cNvPr>
          <p:cNvSpPr txBox="1"/>
          <p:nvPr/>
        </p:nvSpPr>
        <p:spPr>
          <a:xfrm>
            <a:off x="143526" y="5201978"/>
            <a:ext cx="4264736" cy="38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lang="en-US" b="1" dirty="0"/>
              <a:t>These fields need to be configured for the notebooks to function properly and specify the path to download the data.</a:t>
            </a:r>
            <a:endParaRPr lang="en-US" dirty="0"/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0058B325-AB7B-167D-BB1F-17A54D406586}"/>
              </a:ext>
            </a:extLst>
          </p:cNvPr>
          <p:cNvSpPr/>
          <p:nvPr/>
        </p:nvSpPr>
        <p:spPr>
          <a:xfrm>
            <a:off x="9582328" y="2437758"/>
            <a:ext cx="3755542" cy="296470"/>
          </a:xfrm>
          <a:prstGeom prst="rect">
            <a:avLst/>
          </a:prstGeom>
          <a:solidFill>
            <a:schemeClr val="accent3">
              <a:lumMod val="75000"/>
              <a:alpha val="23776"/>
            </a:schemeClr>
          </a:solidFill>
          <a:ln w="12700">
            <a:miter lim="400000"/>
          </a:ln>
        </p:spPr>
        <p:txBody>
          <a:bodyPr lIns="54570" tIns="54570" rIns="54570" bIns="5457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r>
              <a:rPr lang="en-US" dirty="0"/>
              <a:t>- pull_request_comments.rmd</a:t>
            </a:r>
            <a:endParaRPr dirty="0"/>
          </a:p>
        </p:txBody>
      </p:sp>
      <p:sp>
        <p:nvSpPr>
          <p:cNvPr id="7" name="Manipulate Variables">
            <a:extLst>
              <a:ext uri="{FF2B5EF4-FFF2-40B4-BE49-F238E27FC236}">
                <a16:creationId xmlns:a16="http://schemas.microsoft.com/office/drawing/2014/main" id="{646087B9-465B-460B-BE29-C771207E33A9}"/>
              </a:ext>
            </a:extLst>
          </p:cNvPr>
          <p:cNvSpPr txBox="1"/>
          <p:nvPr/>
        </p:nvSpPr>
        <p:spPr>
          <a:xfrm>
            <a:off x="9588427" y="7362578"/>
            <a:ext cx="101790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Parsers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51A45E-FE96-5FB0-6390-ACFE44EAD1FC}"/>
              </a:ext>
            </a:extLst>
          </p:cNvPr>
          <p:cNvSpPr txBox="1"/>
          <p:nvPr/>
        </p:nvSpPr>
        <p:spPr>
          <a:xfrm>
            <a:off x="9601060" y="7712335"/>
            <a:ext cx="3968070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cap="none" spc="0" normalizeH="0" baseline="0" dirty="0">
                <a:ln>
                  <a:noFill/>
                </a:ln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The following respective parser functions can tabulate the Pull Request comments endpoint: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5" name="Manipulate Variables">
            <a:extLst>
              <a:ext uri="{FF2B5EF4-FFF2-40B4-BE49-F238E27FC236}">
                <a16:creationId xmlns:a16="http://schemas.microsoft.com/office/drawing/2014/main" id="{9092E61A-D77F-B608-5616-10691B670FF6}"/>
              </a:ext>
            </a:extLst>
          </p:cNvPr>
          <p:cNvSpPr txBox="1"/>
          <p:nvPr/>
        </p:nvSpPr>
        <p:spPr>
          <a:xfrm>
            <a:off x="4496162" y="1426182"/>
            <a:ext cx="3685304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Pull Request Conversations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2B698A1A-BB2A-353B-B26C-501B3744FEC5}"/>
              </a:ext>
            </a:extLst>
          </p:cNvPr>
          <p:cNvSpPr txBox="1"/>
          <p:nvPr/>
        </p:nvSpPr>
        <p:spPr>
          <a:xfrm>
            <a:off x="5014062" y="2021805"/>
            <a:ext cx="40350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Code          Issues          </a:t>
            </a:r>
            <a:r>
              <a:rPr lang="en-US" sz="1000" b="1" dirty="0"/>
              <a:t>Pull Requests          </a:t>
            </a:r>
            <a:r>
              <a:rPr lang="en-US" sz="800" dirty="0"/>
              <a:t>Actions          Wiki          Security          Insights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8683AAA5-5E66-F10F-45B0-12DB597CEEE2}"/>
              </a:ext>
            </a:extLst>
          </p:cNvPr>
          <p:cNvSpPr txBox="1"/>
          <p:nvPr/>
        </p:nvSpPr>
        <p:spPr>
          <a:xfrm>
            <a:off x="5070406" y="2391563"/>
            <a:ext cx="12426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Pull Request #330</a:t>
            </a: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45F4F029-2E78-DE93-6607-2AA295685E05}"/>
              </a:ext>
            </a:extLst>
          </p:cNvPr>
          <p:cNvSpPr/>
          <p:nvPr/>
        </p:nvSpPr>
        <p:spPr>
          <a:xfrm>
            <a:off x="5360634" y="3289264"/>
            <a:ext cx="2400178" cy="5709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3582DB5B-D94D-AC3C-AA5A-DF55AB03053E}"/>
              </a:ext>
            </a:extLst>
          </p:cNvPr>
          <p:cNvCxnSpPr/>
          <p:nvPr/>
        </p:nvCxnSpPr>
        <p:spPr>
          <a:xfrm>
            <a:off x="8068217" y="4723032"/>
            <a:ext cx="10596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Connector 481">
            <a:extLst>
              <a:ext uri="{FF2B5EF4-FFF2-40B4-BE49-F238E27FC236}">
                <a16:creationId xmlns:a16="http://schemas.microsoft.com/office/drawing/2014/main" id="{65395384-8864-56C4-7D22-8E2A016ECCE4}"/>
              </a:ext>
            </a:extLst>
          </p:cNvPr>
          <p:cNvCxnSpPr/>
          <p:nvPr/>
        </p:nvCxnSpPr>
        <p:spPr>
          <a:xfrm>
            <a:off x="8090039" y="5285629"/>
            <a:ext cx="10596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482">
            <a:extLst>
              <a:ext uri="{FF2B5EF4-FFF2-40B4-BE49-F238E27FC236}">
                <a16:creationId xmlns:a16="http://schemas.microsoft.com/office/drawing/2014/main" id="{B5140A94-8282-669F-6073-CC5261B793A4}"/>
              </a:ext>
            </a:extLst>
          </p:cNvPr>
          <p:cNvCxnSpPr/>
          <p:nvPr/>
        </p:nvCxnSpPr>
        <p:spPr>
          <a:xfrm>
            <a:off x="8079755" y="5681153"/>
            <a:ext cx="10596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4" name="TextBox 483">
            <a:extLst>
              <a:ext uri="{FF2B5EF4-FFF2-40B4-BE49-F238E27FC236}">
                <a16:creationId xmlns:a16="http://schemas.microsoft.com/office/drawing/2014/main" id="{F0DEAF40-4919-3D34-5C3F-0B9728D077FD}"/>
              </a:ext>
            </a:extLst>
          </p:cNvPr>
          <p:cNvSpPr txBox="1"/>
          <p:nvPr/>
        </p:nvSpPr>
        <p:spPr>
          <a:xfrm>
            <a:off x="8004592" y="4220624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Assignees</a:t>
            </a:r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9459AAD6-3FA3-76AB-51E8-5C24918DF0D8}"/>
              </a:ext>
            </a:extLst>
          </p:cNvPr>
          <p:cNvSpPr/>
          <p:nvPr/>
        </p:nvSpPr>
        <p:spPr>
          <a:xfrm>
            <a:off x="8126563" y="4453974"/>
            <a:ext cx="76200" cy="633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D1B50E5D-CFAB-D8DB-85F4-15B8B5D981E2}"/>
              </a:ext>
            </a:extLst>
          </p:cNvPr>
          <p:cNvSpPr txBox="1"/>
          <p:nvPr/>
        </p:nvSpPr>
        <p:spPr>
          <a:xfrm>
            <a:off x="8164663" y="4365770"/>
            <a:ext cx="554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Person A</a:t>
            </a:r>
          </a:p>
          <a:p>
            <a:r>
              <a:rPr lang="en-US" sz="800" dirty="0"/>
              <a:t>Person B</a:t>
            </a: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E6A4DEBF-440F-13B6-51F1-3BBBC28C3928}"/>
              </a:ext>
            </a:extLst>
          </p:cNvPr>
          <p:cNvSpPr/>
          <p:nvPr/>
        </p:nvSpPr>
        <p:spPr>
          <a:xfrm>
            <a:off x="8126563" y="4568808"/>
            <a:ext cx="76200" cy="633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80FB51F4-D535-6ADF-9802-07882F7762D3}"/>
              </a:ext>
            </a:extLst>
          </p:cNvPr>
          <p:cNvSpPr txBox="1"/>
          <p:nvPr/>
        </p:nvSpPr>
        <p:spPr>
          <a:xfrm>
            <a:off x="7994585" y="4695574"/>
            <a:ext cx="4475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Labels</a:t>
            </a:r>
          </a:p>
        </p:txBody>
      </p:sp>
      <p:sp>
        <p:nvSpPr>
          <p:cNvPr id="491" name="Rounded Rectangle 490">
            <a:extLst>
              <a:ext uri="{FF2B5EF4-FFF2-40B4-BE49-F238E27FC236}">
                <a16:creationId xmlns:a16="http://schemas.microsoft.com/office/drawing/2014/main" id="{901DFD34-4E2A-EC1F-F96A-E9F62AD1B902}"/>
              </a:ext>
            </a:extLst>
          </p:cNvPr>
          <p:cNvSpPr/>
          <p:nvPr/>
        </p:nvSpPr>
        <p:spPr>
          <a:xfrm>
            <a:off x="8074445" y="4902350"/>
            <a:ext cx="337335" cy="669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Rounded Rectangle 491">
            <a:extLst>
              <a:ext uri="{FF2B5EF4-FFF2-40B4-BE49-F238E27FC236}">
                <a16:creationId xmlns:a16="http://schemas.microsoft.com/office/drawing/2014/main" id="{640F9B60-8D96-7A71-69C1-2E5224D64A20}"/>
              </a:ext>
            </a:extLst>
          </p:cNvPr>
          <p:cNvSpPr/>
          <p:nvPr/>
        </p:nvSpPr>
        <p:spPr>
          <a:xfrm>
            <a:off x="8671859" y="4902349"/>
            <a:ext cx="435686" cy="6690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Rounded Rectangle 492">
            <a:extLst>
              <a:ext uri="{FF2B5EF4-FFF2-40B4-BE49-F238E27FC236}">
                <a16:creationId xmlns:a16="http://schemas.microsoft.com/office/drawing/2014/main" id="{8C33418B-0B4C-0CE8-93A5-3299DBADDF83}"/>
              </a:ext>
            </a:extLst>
          </p:cNvPr>
          <p:cNvSpPr/>
          <p:nvPr/>
        </p:nvSpPr>
        <p:spPr>
          <a:xfrm>
            <a:off x="8079755" y="5028079"/>
            <a:ext cx="653529" cy="6690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Rounded Rectangle 493">
            <a:extLst>
              <a:ext uri="{FF2B5EF4-FFF2-40B4-BE49-F238E27FC236}">
                <a16:creationId xmlns:a16="http://schemas.microsoft.com/office/drawing/2014/main" id="{3A73F562-51C9-A64E-CFE3-1698080AB422}"/>
              </a:ext>
            </a:extLst>
          </p:cNvPr>
          <p:cNvSpPr/>
          <p:nvPr/>
        </p:nvSpPr>
        <p:spPr>
          <a:xfrm>
            <a:off x="8868828" y="5028079"/>
            <a:ext cx="168667" cy="6690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Rounded Rectangle 494">
            <a:extLst>
              <a:ext uri="{FF2B5EF4-FFF2-40B4-BE49-F238E27FC236}">
                <a16:creationId xmlns:a16="http://schemas.microsoft.com/office/drawing/2014/main" id="{0857A352-02B5-C4A3-D173-0E86E37B2333}"/>
              </a:ext>
            </a:extLst>
          </p:cNvPr>
          <p:cNvSpPr/>
          <p:nvPr/>
        </p:nvSpPr>
        <p:spPr>
          <a:xfrm>
            <a:off x="8079755" y="5145816"/>
            <a:ext cx="435686" cy="66907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Rounded Rectangle 495">
            <a:extLst>
              <a:ext uri="{FF2B5EF4-FFF2-40B4-BE49-F238E27FC236}">
                <a16:creationId xmlns:a16="http://schemas.microsoft.com/office/drawing/2014/main" id="{90967E3F-95DB-28E7-BD40-6CB7D5947A09}"/>
              </a:ext>
            </a:extLst>
          </p:cNvPr>
          <p:cNvSpPr/>
          <p:nvPr/>
        </p:nvSpPr>
        <p:spPr>
          <a:xfrm>
            <a:off x="8601809" y="5145815"/>
            <a:ext cx="435686" cy="66907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D37F55D5-A9B3-70CF-AB94-3FD1C3B174F3}"/>
              </a:ext>
            </a:extLst>
          </p:cNvPr>
          <p:cNvSpPr/>
          <p:nvPr/>
        </p:nvSpPr>
        <p:spPr>
          <a:xfrm>
            <a:off x="4854439" y="1932965"/>
            <a:ext cx="4335115" cy="731418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045A60B9-1274-020D-D8C5-CB9AF7501227}"/>
              </a:ext>
            </a:extLst>
          </p:cNvPr>
          <p:cNvSpPr/>
          <p:nvPr/>
        </p:nvSpPr>
        <p:spPr>
          <a:xfrm>
            <a:off x="5364938" y="4055162"/>
            <a:ext cx="2401398" cy="69329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C325EFD9-B5CB-8A7E-2627-6249D0D266DA}"/>
              </a:ext>
            </a:extLst>
          </p:cNvPr>
          <p:cNvSpPr/>
          <p:nvPr/>
        </p:nvSpPr>
        <p:spPr>
          <a:xfrm>
            <a:off x="5361781" y="5490887"/>
            <a:ext cx="2400869" cy="83388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3916FA3F-95E0-1E56-1017-C95E533AB393}"/>
              </a:ext>
            </a:extLst>
          </p:cNvPr>
          <p:cNvSpPr txBox="1"/>
          <p:nvPr/>
        </p:nvSpPr>
        <p:spPr>
          <a:xfrm>
            <a:off x="8007534" y="5285629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Milestone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1D3FDF14-0BF9-1514-8C66-7B2A91096126}"/>
              </a:ext>
            </a:extLst>
          </p:cNvPr>
          <p:cNvSpPr txBox="1"/>
          <p:nvPr/>
        </p:nvSpPr>
        <p:spPr>
          <a:xfrm>
            <a:off x="8019190" y="5463392"/>
            <a:ext cx="67518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>
                    <a:lumMod val="50000"/>
                  </a:schemeClr>
                </a:solidFill>
              </a:rPr>
              <a:t>No milestone</a:t>
            </a:r>
          </a:p>
        </p:txBody>
      </p: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5C9C89F7-861B-3441-D3D9-6ACF2CE01B5C}"/>
              </a:ext>
            </a:extLst>
          </p:cNvPr>
          <p:cNvCxnSpPr/>
          <p:nvPr/>
        </p:nvCxnSpPr>
        <p:spPr>
          <a:xfrm>
            <a:off x="8068217" y="4218142"/>
            <a:ext cx="10596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TextBox 508">
            <a:extLst>
              <a:ext uri="{FF2B5EF4-FFF2-40B4-BE49-F238E27FC236}">
                <a16:creationId xmlns:a16="http://schemas.microsoft.com/office/drawing/2014/main" id="{D837B32C-5AC3-69A8-AFD2-9305797104BB}"/>
              </a:ext>
            </a:extLst>
          </p:cNvPr>
          <p:cNvSpPr txBox="1"/>
          <p:nvPr/>
        </p:nvSpPr>
        <p:spPr>
          <a:xfrm>
            <a:off x="7987863" y="3664416"/>
            <a:ext cx="6142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Reviewers</a:t>
            </a:r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185C4E68-1163-CC07-4DD7-26900B490114}"/>
              </a:ext>
            </a:extLst>
          </p:cNvPr>
          <p:cNvSpPr/>
          <p:nvPr/>
        </p:nvSpPr>
        <p:spPr>
          <a:xfrm>
            <a:off x="8125607" y="3892330"/>
            <a:ext cx="76200" cy="633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446C1B34-9568-7765-A2CD-F47B4FB981C1}"/>
              </a:ext>
            </a:extLst>
          </p:cNvPr>
          <p:cNvSpPr txBox="1"/>
          <p:nvPr/>
        </p:nvSpPr>
        <p:spPr>
          <a:xfrm>
            <a:off x="8164663" y="3816390"/>
            <a:ext cx="554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Person A</a:t>
            </a:r>
          </a:p>
          <a:p>
            <a:r>
              <a:rPr lang="en-US" sz="800" dirty="0"/>
              <a:t>Person B</a:t>
            </a: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EF968866-6A96-DF17-DFB9-F1A86CBD3FB7}"/>
              </a:ext>
            </a:extLst>
          </p:cNvPr>
          <p:cNvSpPr/>
          <p:nvPr/>
        </p:nvSpPr>
        <p:spPr>
          <a:xfrm>
            <a:off x="8125607" y="4007164"/>
            <a:ext cx="76200" cy="633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3665BE5-2069-415B-215B-BF1085CDB4C4}"/>
              </a:ext>
            </a:extLst>
          </p:cNvPr>
          <p:cNvSpPr txBox="1"/>
          <p:nvPr/>
        </p:nvSpPr>
        <p:spPr>
          <a:xfrm>
            <a:off x="5217639" y="2728856"/>
            <a:ext cx="39033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Conversation (40)      </a:t>
            </a:r>
            <a:r>
              <a:rPr lang="en-US" sz="800" dirty="0"/>
              <a:t>Commits (14)          Checks (2)          Files Changed (13)</a:t>
            </a:r>
          </a:p>
        </p:txBody>
      </p:sp>
      <p:cxnSp>
        <p:nvCxnSpPr>
          <p:cNvPr id="283" name="Elbow Connector 282">
            <a:extLst>
              <a:ext uri="{FF2B5EF4-FFF2-40B4-BE49-F238E27FC236}">
                <a16:creationId xmlns:a16="http://schemas.microsoft.com/office/drawing/2014/main" id="{A7797BEA-1994-9635-D6F3-3C8E3ED3BBDB}"/>
              </a:ext>
            </a:extLst>
          </p:cNvPr>
          <p:cNvCxnSpPr>
            <a:cxnSpLocks/>
            <a:endCxn id="503" idx="3"/>
          </p:cNvCxnSpPr>
          <p:nvPr/>
        </p:nvCxnSpPr>
        <p:spPr>
          <a:xfrm rot="10800000" flipV="1">
            <a:off x="7762650" y="5903486"/>
            <a:ext cx="1818218" cy="4345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7" name="Elbow Connector 296">
            <a:extLst>
              <a:ext uri="{FF2B5EF4-FFF2-40B4-BE49-F238E27FC236}">
                <a16:creationId xmlns:a16="http://schemas.microsoft.com/office/drawing/2014/main" id="{B995E65C-E1C7-CC1E-8F7E-4A6C3EC184E5}"/>
              </a:ext>
            </a:extLst>
          </p:cNvPr>
          <p:cNvCxnSpPr>
            <a:cxnSpLocks/>
            <a:stCxn id="480" idx="3"/>
          </p:cNvCxnSpPr>
          <p:nvPr/>
        </p:nvCxnSpPr>
        <p:spPr>
          <a:xfrm>
            <a:off x="7760812" y="3574756"/>
            <a:ext cx="1840248" cy="317574"/>
          </a:xfrm>
          <a:prstGeom prst="bentConnector3">
            <a:avLst>
              <a:gd name="adj1" fmla="val 82337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" name="Graphic 9" descr="Thumbs up sign with solid fill">
            <a:extLst>
              <a:ext uri="{FF2B5EF4-FFF2-40B4-BE49-F238E27FC236}">
                <a16:creationId xmlns:a16="http://schemas.microsoft.com/office/drawing/2014/main" id="{A646D21F-99BD-9A58-B336-459ED1151C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43265" y="3639575"/>
            <a:ext cx="190969" cy="190969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F02C3FC-7983-E989-7555-CF828E7711CD}"/>
              </a:ext>
            </a:extLst>
          </p:cNvPr>
          <p:cNvGrpSpPr/>
          <p:nvPr/>
        </p:nvGrpSpPr>
        <p:grpSpPr>
          <a:xfrm>
            <a:off x="5229290" y="2761158"/>
            <a:ext cx="3700185" cy="186659"/>
            <a:chOff x="5229290" y="2761158"/>
            <a:chExt cx="3700185" cy="18665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8349633-B64A-732D-1D02-C1517AAF1E6B}"/>
                </a:ext>
              </a:extLst>
            </p:cNvPr>
            <p:cNvCxnSpPr>
              <a:cxnSpLocks/>
            </p:cNvCxnSpPr>
            <p:nvPr/>
          </p:nvCxnSpPr>
          <p:spPr>
            <a:xfrm>
              <a:off x="5233038" y="2764937"/>
              <a:ext cx="0" cy="18288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BB54B56-6BBB-5B81-B181-DC86F8AC9118}"/>
                </a:ext>
              </a:extLst>
            </p:cNvPr>
            <p:cNvCxnSpPr>
              <a:cxnSpLocks/>
            </p:cNvCxnSpPr>
            <p:nvPr/>
          </p:nvCxnSpPr>
          <p:spPr>
            <a:xfrm>
              <a:off x="5229290" y="2768081"/>
              <a:ext cx="113248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2E7F2CF-94B1-0FE3-3749-898CAB80C8A3}"/>
                </a:ext>
              </a:extLst>
            </p:cNvPr>
            <p:cNvCxnSpPr>
              <a:cxnSpLocks/>
            </p:cNvCxnSpPr>
            <p:nvPr/>
          </p:nvCxnSpPr>
          <p:spPr>
            <a:xfrm>
              <a:off x="6361778" y="2761158"/>
              <a:ext cx="0" cy="17373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82DD53-2ACF-C951-3644-530B2749D88C}"/>
                </a:ext>
              </a:extLst>
            </p:cNvPr>
            <p:cNvCxnSpPr>
              <a:cxnSpLocks/>
            </p:cNvCxnSpPr>
            <p:nvPr/>
          </p:nvCxnSpPr>
          <p:spPr>
            <a:xfrm>
              <a:off x="6355428" y="2942427"/>
              <a:ext cx="2574047" cy="15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16A5DAD-DBD5-9A9E-5397-A03AB46030AD}"/>
              </a:ext>
            </a:extLst>
          </p:cNvPr>
          <p:cNvGrpSpPr/>
          <p:nvPr/>
        </p:nvGrpSpPr>
        <p:grpSpPr>
          <a:xfrm>
            <a:off x="5083320" y="3289263"/>
            <a:ext cx="216794" cy="234901"/>
            <a:chOff x="5083320" y="3289263"/>
            <a:chExt cx="216794" cy="234901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ED145AD-7AAC-0E1F-B419-0C21CDBEE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097411" y="3341300"/>
              <a:ext cx="188562" cy="182864"/>
            </a:xfrm>
            <a:custGeom>
              <a:avLst/>
              <a:gdLst>
                <a:gd name="connsiteX0" fmla="*/ 5593 w 188562"/>
                <a:gd name="connsiteY0" fmla="*/ 0 h 182864"/>
                <a:gd name="connsiteX1" fmla="*/ 179816 w 188562"/>
                <a:gd name="connsiteY1" fmla="*/ 0 h 182864"/>
                <a:gd name="connsiteX2" fmla="*/ 188562 w 188562"/>
                <a:gd name="connsiteY2" fmla="*/ 14032 h 182864"/>
                <a:gd name="connsiteX3" fmla="*/ 188562 w 188562"/>
                <a:gd name="connsiteY3" fmla="*/ 118214 h 182864"/>
                <a:gd name="connsiteX4" fmla="*/ 169352 w 188562"/>
                <a:gd name="connsiteY4" fmla="*/ 149033 h 182864"/>
                <a:gd name="connsiteX5" fmla="*/ 134897 w 188562"/>
                <a:gd name="connsiteY5" fmla="*/ 174162 h 182864"/>
                <a:gd name="connsiteX6" fmla="*/ 95049 w 188562"/>
                <a:gd name="connsiteY6" fmla="*/ 182864 h 182864"/>
                <a:gd name="connsiteX7" fmla="*/ 90360 w 188562"/>
                <a:gd name="connsiteY7" fmla="*/ 182864 h 182864"/>
                <a:gd name="connsiteX8" fmla="*/ 50511 w 188562"/>
                <a:gd name="connsiteY8" fmla="*/ 174162 h 182864"/>
                <a:gd name="connsiteX9" fmla="*/ 16056 w 188562"/>
                <a:gd name="connsiteY9" fmla="*/ 149033 h 182864"/>
                <a:gd name="connsiteX10" fmla="*/ 0 w 188562"/>
                <a:gd name="connsiteY10" fmla="*/ 123274 h 182864"/>
                <a:gd name="connsiteX11" fmla="*/ 0 w 188562"/>
                <a:gd name="connsiteY11" fmla="*/ 8972 h 182864"/>
                <a:gd name="connsiteX12" fmla="*/ 5593 w 188562"/>
                <a:gd name="connsiteY12" fmla="*/ 0 h 18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562" h="182864">
                  <a:moveTo>
                    <a:pt x="5593" y="0"/>
                  </a:moveTo>
                  <a:lnTo>
                    <a:pt x="179816" y="0"/>
                  </a:lnTo>
                  <a:lnTo>
                    <a:pt x="188562" y="14032"/>
                  </a:lnTo>
                  <a:lnTo>
                    <a:pt x="188562" y="118214"/>
                  </a:lnTo>
                  <a:lnTo>
                    <a:pt x="169352" y="149033"/>
                  </a:lnTo>
                  <a:cubicBezTo>
                    <a:pt x="159544" y="159643"/>
                    <a:pt x="147866" y="168228"/>
                    <a:pt x="134897" y="174162"/>
                  </a:cubicBezTo>
                  <a:lnTo>
                    <a:pt x="95049" y="182864"/>
                  </a:lnTo>
                  <a:lnTo>
                    <a:pt x="90360" y="182864"/>
                  </a:lnTo>
                  <a:lnTo>
                    <a:pt x="50511" y="174162"/>
                  </a:lnTo>
                  <a:cubicBezTo>
                    <a:pt x="37543" y="168228"/>
                    <a:pt x="25864" y="159643"/>
                    <a:pt x="16056" y="149033"/>
                  </a:cubicBezTo>
                  <a:lnTo>
                    <a:pt x="0" y="123274"/>
                  </a:lnTo>
                  <a:lnTo>
                    <a:pt x="0" y="8972"/>
                  </a:lnTo>
                  <a:lnTo>
                    <a:pt x="5593" y="0"/>
                  </a:lnTo>
                  <a:close/>
                </a:path>
              </a:pathLst>
            </a:custGeom>
          </p:spPr>
        </p:pic>
        <p:sp>
          <p:nvSpPr>
            <p:cNvPr id="479" name="Oval 478">
              <a:extLst>
                <a:ext uri="{FF2B5EF4-FFF2-40B4-BE49-F238E27FC236}">
                  <a16:creationId xmlns:a16="http://schemas.microsoft.com/office/drawing/2014/main" id="{288C2266-B2D6-9C81-0C89-BCE31C74316C}"/>
                </a:ext>
              </a:extLst>
            </p:cNvPr>
            <p:cNvSpPr/>
            <p:nvPr/>
          </p:nvSpPr>
          <p:spPr>
            <a:xfrm>
              <a:off x="5083320" y="3289263"/>
              <a:ext cx="216794" cy="23450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C867D07-5595-D462-1250-8E5D2C906A5E}"/>
              </a:ext>
            </a:extLst>
          </p:cNvPr>
          <p:cNvGrpSpPr/>
          <p:nvPr/>
        </p:nvGrpSpPr>
        <p:grpSpPr>
          <a:xfrm>
            <a:off x="5079979" y="4057675"/>
            <a:ext cx="216794" cy="234505"/>
            <a:chOff x="5079979" y="4827699"/>
            <a:chExt cx="216794" cy="234505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5D42F3E-0553-AB86-DB70-C1BD6E253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095971" y="4879340"/>
              <a:ext cx="188562" cy="182864"/>
            </a:xfrm>
            <a:custGeom>
              <a:avLst/>
              <a:gdLst>
                <a:gd name="connsiteX0" fmla="*/ 5593 w 188562"/>
                <a:gd name="connsiteY0" fmla="*/ 0 h 182864"/>
                <a:gd name="connsiteX1" fmla="*/ 179816 w 188562"/>
                <a:gd name="connsiteY1" fmla="*/ 0 h 182864"/>
                <a:gd name="connsiteX2" fmla="*/ 188562 w 188562"/>
                <a:gd name="connsiteY2" fmla="*/ 14032 h 182864"/>
                <a:gd name="connsiteX3" fmla="*/ 188562 w 188562"/>
                <a:gd name="connsiteY3" fmla="*/ 118214 h 182864"/>
                <a:gd name="connsiteX4" fmla="*/ 169352 w 188562"/>
                <a:gd name="connsiteY4" fmla="*/ 149033 h 182864"/>
                <a:gd name="connsiteX5" fmla="*/ 134897 w 188562"/>
                <a:gd name="connsiteY5" fmla="*/ 174162 h 182864"/>
                <a:gd name="connsiteX6" fmla="*/ 95049 w 188562"/>
                <a:gd name="connsiteY6" fmla="*/ 182864 h 182864"/>
                <a:gd name="connsiteX7" fmla="*/ 90360 w 188562"/>
                <a:gd name="connsiteY7" fmla="*/ 182864 h 182864"/>
                <a:gd name="connsiteX8" fmla="*/ 50511 w 188562"/>
                <a:gd name="connsiteY8" fmla="*/ 174162 h 182864"/>
                <a:gd name="connsiteX9" fmla="*/ 16056 w 188562"/>
                <a:gd name="connsiteY9" fmla="*/ 149033 h 182864"/>
                <a:gd name="connsiteX10" fmla="*/ 0 w 188562"/>
                <a:gd name="connsiteY10" fmla="*/ 123274 h 182864"/>
                <a:gd name="connsiteX11" fmla="*/ 0 w 188562"/>
                <a:gd name="connsiteY11" fmla="*/ 8972 h 182864"/>
                <a:gd name="connsiteX12" fmla="*/ 5593 w 188562"/>
                <a:gd name="connsiteY12" fmla="*/ 0 h 18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562" h="182864">
                  <a:moveTo>
                    <a:pt x="5593" y="0"/>
                  </a:moveTo>
                  <a:lnTo>
                    <a:pt x="179816" y="0"/>
                  </a:lnTo>
                  <a:lnTo>
                    <a:pt x="188562" y="14032"/>
                  </a:lnTo>
                  <a:lnTo>
                    <a:pt x="188562" y="118214"/>
                  </a:lnTo>
                  <a:lnTo>
                    <a:pt x="169352" y="149033"/>
                  </a:lnTo>
                  <a:cubicBezTo>
                    <a:pt x="159544" y="159643"/>
                    <a:pt x="147866" y="168228"/>
                    <a:pt x="134897" y="174162"/>
                  </a:cubicBezTo>
                  <a:lnTo>
                    <a:pt x="95049" y="182864"/>
                  </a:lnTo>
                  <a:lnTo>
                    <a:pt x="90360" y="182864"/>
                  </a:lnTo>
                  <a:lnTo>
                    <a:pt x="50511" y="174162"/>
                  </a:lnTo>
                  <a:cubicBezTo>
                    <a:pt x="37543" y="168228"/>
                    <a:pt x="25864" y="159643"/>
                    <a:pt x="16056" y="149033"/>
                  </a:cubicBezTo>
                  <a:lnTo>
                    <a:pt x="0" y="123274"/>
                  </a:lnTo>
                  <a:lnTo>
                    <a:pt x="0" y="8972"/>
                  </a:lnTo>
                  <a:lnTo>
                    <a:pt x="5593" y="0"/>
                  </a:lnTo>
                  <a:close/>
                </a:path>
              </a:pathLst>
            </a:custGeom>
          </p:spPr>
        </p:pic>
        <p:sp>
          <p:nvSpPr>
            <p:cNvPr id="498" name="Oval 497">
              <a:extLst>
                <a:ext uri="{FF2B5EF4-FFF2-40B4-BE49-F238E27FC236}">
                  <a16:creationId xmlns:a16="http://schemas.microsoft.com/office/drawing/2014/main" id="{5CB023E0-82E7-9D8D-3772-80EB189F4A88}"/>
                </a:ext>
              </a:extLst>
            </p:cNvPr>
            <p:cNvSpPr/>
            <p:nvPr/>
          </p:nvSpPr>
          <p:spPr>
            <a:xfrm>
              <a:off x="5079979" y="4827699"/>
              <a:ext cx="216794" cy="23450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0B4B6ED5-4006-3984-5FBE-C89A89E0BFD1}"/>
              </a:ext>
            </a:extLst>
          </p:cNvPr>
          <p:cNvGrpSpPr/>
          <p:nvPr/>
        </p:nvGrpSpPr>
        <p:grpSpPr>
          <a:xfrm>
            <a:off x="5080604" y="5221182"/>
            <a:ext cx="216794" cy="234901"/>
            <a:chOff x="5083320" y="3289263"/>
            <a:chExt cx="216794" cy="234901"/>
          </a:xfrm>
        </p:grpSpPr>
        <p:pic>
          <p:nvPicPr>
            <p:cNvPr id="457" name="Picture 456">
              <a:extLst>
                <a:ext uri="{FF2B5EF4-FFF2-40B4-BE49-F238E27FC236}">
                  <a16:creationId xmlns:a16="http://schemas.microsoft.com/office/drawing/2014/main" id="{84A9A26E-7622-AD3D-C954-BF098817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097411" y="3341300"/>
              <a:ext cx="188562" cy="182864"/>
            </a:xfrm>
            <a:custGeom>
              <a:avLst/>
              <a:gdLst>
                <a:gd name="connsiteX0" fmla="*/ 5593 w 188562"/>
                <a:gd name="connsiteY0" fmla="*/ 0 h 182864"/>
                <a:gd name="connsiteX1" fmla="*/ 179816 w 188562"/>
                <a:gd name="connsiteY1" fmla="*/ 0 h 182864"/>
                <a:gd name="connsiteX2" fmla="*/ 188562 w 188562"/>
                <a:gd name="connsiteY2" fmla="*/ 14032 h 182864"/>
                <a:gd name="connsiteX3" fmla="*/ 188562 w 188562"/>
                <a:gd name="connsiteY3" fmla="*/ 118214 h 182864"/>
                <a:gd name="connsiteX4" fmla="*/ 169352 w 188562"/>
                <a:gd name="connsiteY4" fmla="*/ 149033 h 182864"/>
                <a:gd name="connsiteX5" fmla="*/ 134897 w 188562"/>
                <a:gd name="connsiteY5" fmla="*/ 174162 h 182864"/>
                <a:gd name="connsiteX6" fmla="*/ 95049 w 188562"/>
                <a:gd name="connsiteY6" fmla="*/ 182864 h 182864"/>
                <a:gd name="connsiteX7" fmla="*/ 90360 w 188562"/>
                <a:gd name="connsiteY7" fmla="*/ 182864 h 182864"/>
                <a:gd name="connsiteX8" fmla="*/ 50511 w 188562"/>
                <a:gd name="connsiteY8" fmla="*/ 174162 h 182864"/>
                <a:gd name="connsiteX9" fmla="*/ 16056 w 188562"/>
                <a:gd name="connsiteY9" fmla="*/ 149033 h 182864"/>
                <a:gd name="connsiteX10" fmla="*/ 0 w 188562"/>
                <a:gd name="connsiteY10" fmla="*/ 123274 h 182864"/>
                <a:gd name="connsiteX11" fmla="*/ 0 w 188562"/>
                <a:gd name="connsiteY11" fmla="*/ 8972 h 182864"/>
                <a:gd name="connsiteX12" fmla="*/ 5593 w 188562"/>
                <a:gd name="connsiteY12" fmla="*/ 0 h 18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562" h="182864">
                  <a:moveTo>
                    <a:pt x="5593" y="0"/>
                  </a:moveTo>
                  <a:lnTo>
                    <a:pt x="179816" y="0"/>
                  </a:lnTo>
                  <a:lnTo>
                    <a:pt x="188562" y="14032"/>
                  </a:lnTo>
                  <a:lnTo>
                    <a:pt x="188562" y="118214"/>
                  </a:lnTo>
                  <a:lnTo>
                    <a:pt x="169352" y="149033"/>
                  </a:lnTo>
                  <a:cubicBezTo>
                    <a:pt x="159544" y="159643"/>
                    <a:pt x="147866" y="168228"/>
                    <a:pt x="134897" y="174162"/>
                  </a:cubicBezTo>
                  <a:lnTo>
                    <a:pt x="95049" y="182864"/>
                  </a:lnTo>
                  <a:lnTo>
                    <a:pt x="90360" y="182864"/>
                  </a:lnTo>
                  <a:lnTo>
                    <a:pt x="50511" y="174162"/>
                  </a:lnTo>
                  <a:cubicBezTo>
                    <a:pt x="37543" y="168228"/>
                    <a:pt x="25864" y="159643"/>
                    <a:pt x="16056" y="149033"/>
                  </a:cubicBezTo>
                  <a:lnTo>
                    <a:pt x="0" y="123274"/>
                  </a:lnTo>
                  <a:lnTo>
                    <a:pt x="0" y="8972"/>
                  </a:lnTo>
                  <a:lnTo>
                    <a:pt x="5593" y="0"/>
                  </a:lnTo>
                  <a:close/>
                </a:path>
              </a:pathLst>
            </a:custGeom>
          </p:spPr>
        </p:pic>
        <p:sp>
          <p:nvSpPr>
            <p:cNvPr id="458" name="Oval 457">
              <a:extLst>
                <a:ext uri="{FF2B5EF4-FFF2-40B4-BE49-F238E27FC236}">
                  <a16:creationId xmlns:a16="http://schemas.microsoft.com/office/drawing/2014/main" id="{ADF3C058-A801-5E9B-838C-5C5368A7B659}"/>
                </a:ext>
              </a:extLst>
            </p:cNvPr>
            <p:cNvSpPr/>
            <p:nvPr/>
          </p:nvSpPr>
          <p:spPr>
            <a:xfrm>
              <a:off x="5083320" y="3289263"/>
              <a:ext cx="216794" cy="23450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A51D32B2-D406-B288-CA1F-F3215FFF8A73}"/>
              </a:ext>
            </a:extLst>
          </p:cNvPr>
          <p:cNvGrpSpPr/>
          <p:nvPr/>
        </p:nvGrpSpPr>
        <p:grpSpPr>
          <a:xfrm>
            <a:off x="5082493" y="7652146"/>
            <a:ext cx="216794" cy="234505"/>
            <a:chOff x="5079979" y="4827699"/>
            <a:chExt cx="216794" cy="234505"/>
          </a:xfrm>
        </p:grpSpPr>
        <p:pic>
          <p:nvPicPr>
            <p:cNvPr id="460" name="Picture 459">
              <a:extLst>
                <a:ext uri="{FF2B5EF4-FFF2-40B4-BE49-F238E27FC236}">
                  <a16:creationId xmlns:a16="http://schemas.microsoft.com/office/drawing/2014/main" id="{84E1C579-EA7F-1FEA-8A34-06E50F42A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095971" y="4879340"/>
              <a:ext cx="188562" cy="182864"/>
            </a:xfrm>
            <a:custGeom>
              <a:avLst/>
              <a:gdLst>
                <a:gd name="connsiteX0" fmla="*/ 5593 w 188562"/>
                <a:gd name="connsiteY0" fmla="*/ 0 h 182864"/>
                <a:gd name="connsiteX1" fmla="*/ 179816 w 188562"/>
                <a:gd name="connsiteY1" fmla="*/ 0 h 182864"/>
                <a:gd name="connsiteX2" fmla="*/ 188562 w 188562"/>
                <a:gd name="connsiteY2" fmla="*/ 14032 h 182864"/>
                <a:gd name="connsiteX3" fmla="*/ 188562 w 188562"/>
                <a:gd name="connsiteY3" fmla="*/ 118214 h 182864"/>
                <a:gd name="connsiteX4" fmla="*/ 169352 w 188562"/>
                <a:gd name="connsiteY4" fmla="*/ 149033 h 182864"/>
                <a:gd name="connsiteX5" fmla="*/ 134897 w 188562"/>
                <a:gd name="connsiteY5" fmla="*/ 174162 h 182864"/>
                <a:gd name="connsiteX6" fmla="*/ 95049 w 188562"/>
                <a:gd name="connsiteY6" fmla="*/ 182864 h 182864"/>
                <a:gd name="connsiteX7" fmla="*/ 90360 w 188562"/>
                <a:gd name="connsiteY7" fmla="*/ 182864 h 182864"/>
                <a:gd name="connsiteX8" fmla="*/ 50511 w 188562"/>
                <a:gd name="connsiteY8" fmla="*/ 174162 h 182864"/>
                <a:gd name="connsiteX9" fmla="*/ 16056 w 188562"/>
                <a:gd name="connsiteY9" fmla="*/ 149033 h 182864"/>
                <a:gd name="connsiteX10" fmla="*/ 0 w 188562"/>
                <a:gd name="connsiteY10" fmla="*/ 123274 h 182864"/>
                <a:gd name="connsiteX11" fmla="*/ 0 w 188562"/>
                <a:gd name="connsiteY11" fmla="*/ 8972 h 182864"/>
                <a:gd name="connsiteX12" fmla="*/ 5593 w 188562"/>
                <a:gd name="connsiteY12" fmla="*/ 0 h 18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562" h="182864">
                  <a:moveTo>
                    <a:pt x="5593" y="0"/>
                  </a:moveTo>
                  <a:lnTo>
                    <a:pt x="179816" y="0"/>
                  </a:lnTo>
                  <a:lnTo>
                    <a:pt x="188562" y="14032"/>
                  </a:lnTo>
                  <a:lnTo>
                    <a:pt x="188562" y="118214"/>
                  </a:lnTo>
                  <a:lnTo>
                    <a:pt x="169352" y="149033"/>
                  </a:lnTo>
                  <a:cubicBezTo>
                    <a:pt x="159544" y="159643"/>
                    <a:pt x="147866" y="168228"/>
                    <a:pt x="134897" y="174162"/>
                  </a:cubicBezTo>
                  <a:lnTo>
                    <a:pt x="95049" y="182864"/>
                  </a:lnTo>
                  <a:lnTo>
                    <a:pt x="90360" y="182864"/>
                  </a:lnTo>
                  <a:lnTo>
                    <a:pt x="50511" y="174162"/>
                  </a:lnTo>
                  <a:cubicBezTo>
                    <a:pt x="37543" y="168228"/>
                    <a:pt x="25864" y="159643"/>
                    <a:pt x="16056" y="149033"/>
                  </a:cubicBezTo>
                  <a:lnTo>
                    <a:pt x="0" y="123274"/>
                  </a:lnTo>
                  <a:lnTo>
                    <a:pt x="0" y="8972"/>
                  </a:lnTo>
                  <a:lnTo>
                    <a:pt x="5593" y="0"/>
                  </a:lnTo>
                  <a:close/>
                </a:path>
              </a:pathLst>
            </a:custGeom>
          </p:spPr>
        </p:pic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7DDDFB42-3F4F-873A-51F3-829050885EA8}"/>
                </a:ext>
              </a:extLst>
            </p:cNvPr>
            <p:cNvSpPr/>
            <p:nvPr/>
          </p:nvSpPr>
          <p:spPr>
            <a:xfrm>
              <a:off x="5079979" y="4827699"/>
              <a:ext cx="216794" cy="23450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2567FC79-0248-4049-2E09-60E62CC605D0}"/>
              </a:ext>
            </a:extLst>
          </p:cNvPr>
          <p:cNvCxnSpPr>
            <a:cxnSpLocks/>
          </p:cNvCxnSpPr>
          <p:nvPr/>
        </p:nvCxnSpPr>
        <p:spPr>
          <a:xfrm>
            <a:off x="5542307" y="3856415"/>
            <a:ext cx="0" cy="198747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8BC22AD5-A5D2-CF11-B003-7A213740F254}"/>
              </a:ext>
            </a:extLst>
          </p:cNvPr>
          <p:cNvCxnSpPr>
            <a:cxnSpLocks/>
          </p:cNvCxnSpPr>
          <p:nvPr/>
        </p:nvCxnSpPr>
        <p:spPr>
          <a:xfrm>
            <a:off x="5537123" y="4747065"/>
            <a:ext cx="0" cy="198746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EEC7CB12-ADAA-C9F6-8493-0336FCF34672}"/>
              </a:ext>
            </a:extLst>
          </p:cNvPr>
          <p:cNvCxnSpPr>
            <a:cxnSpLocks/>
          </p:cNvCxnSpPr>
          <p:nvPr/>
        </p:nvCxnSpPr>
        <p:spPr>
          <a:xfrm>
            <a:off x="5537044" y="6324776"/>
            <a:ext cx="0" cy="2922374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114CDEE4-F95A-C654-CAD6-3D919610F81D}"/>
              </a:ext>
            </a:extLst>
          </p:cNvPr>
          <p:cNvGrpSpPr/>
          <p:nvPr/>
        </p:nvGrpSpPr>
        <p:grpSpPr>
          <a:xfrm>
            <a:off x="5468543" y="4940188"/>
            <a:ext cx="137160" cy="137160"/>
            <a:chOff x="5466270" y="5982558"/>
            <a:chExt cx="137160" cy="137160"/>
          </a:xfrm>
        </p:grpSpPr>
        <p:sp>
          <p:nvSpPr>
            <p:cNvPr id="474" name="Oval 473">
              <a:extLst>
                <a:ext uri="{FF2B5EF4-FFF2-40B4-BE49-F238E27FC236}">
                  <a16:creationId xmlns:a16="http://schemas.microsoft.com/office/drawing/2014/main" id="{C4B15456-C38C-0125-FFD0-E19812476195}"/>
                </a:ext>
              </a:extLst>
            </p:cNvPr>
            <p:cNvSpPr/>
            <p:nvPr/>
          </p:nvSpPr>
          <p:spPr>
            <a:xfrm flipH="1">
              <a:off x="5466270" y="5982558"/>
              <a:ext cx="137160" cy="1371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C8104DD1-1C46-8487-B10C-A57FEDA25692}"/>
                </a:ext>
              </a:extLst>
            </p:cNvPr>
            <p:cNvCxnSpPr/>
            <p:nvPr/>
          </p:nvCxnSpPr>
          <p:spPr>
            <a:xfrm>
              <a:off x="5494703" y="6052637"/>
              <a:ext cx="80293" cy="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6E853E88-30F6-7F62-23B0-FF56E6F0C889}"/>
                </a:ext>
              </a:extLst>
            </p:cNvPr>
            <p:cNvSpPr/>
            <p:nvPr/>
          </p:nvSpPr>
          <p:spPr>
            <a:xfrm flipH="1">
              <a:off x="5516561" y="6032850"/>
              <a:ext cx="36576" cy="3657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ap="flat">
              <a:solidFill>
                <a:srgbClr val="00000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61" name="TextBox 260">
            <a:extLst>
              <a:ext uri="{FF2B5EF4-FFF2-40B4-BE49-F238E27FC236}">
                <a16:creationId xmlns:a16="http://schemas.microsoft.com/office/drawing/2014/main" id="{C5F32B76-DC11-7530-3E9D-4F8CDEA6BD68}"/>
              </a:ext>
            </a:extLst>
          </p:cNvPr>
          <p:cNvSpPr txBox="1"/>
          <p:nvPr/>
        </p:nvSpPr>
        <p:spPr>
          <a:xfrm>
            <a:off x="5640135" y="4868873"/>
            <a:ext cx="1182615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Source Sans Pro"/>
                <a:cs typeface="Source Sans Pro"/>
                <a:sym typeface="Source Sans Pro"/>
              </a:rPr>
              <a:t>#321 </a:t>
            </a:r>
            <a:r>
              <a:rPr kumimoji="0" lang="en-US" sz="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Source Sans Pro"/>
                <a:cs typeface="Source Sans Pro"/>
                <a:sym typeface="Source Sans Pro"/>
              </a:rPr>
              <a:t>Updated notebook</a:t>
            </a:r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6952492-24F6-5182-C241-E5B7947E07DF}"/>
              </a:ext>
            </a:extLst>
          </p:cNvPr>
          <p:cNvGrpSpPr/>
          <p:nvPr/>
        </p:nvGrpSpPr>
        <p:grpSpPr>
          <a:xfrm>
            <a:off x="5468542" y="5268011"/>
            <a:ext cx="137160" cy="137160"/>
            <a:chOff x="5501323" y="6545727"/>
            <a:chExt cx="137160" cy="137160"/>
          </a:xfrm>
        </p:grpSpPr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EF962E46-0DAD-2ECA-B5D1-5DC7ECB84FEA}"/>
                </a:ext>
              </a:extLst>
            </p:cNvPr>
            <p:cNvSpPr/>
            <p:nvPr/>
          </p:nvSpPr>
          <p:spPr>
            <a:xfrm flipH="1">
              <a:off x="5501323" y="6545727"/>
              <a:ext cx="137160" cy="137160"/>
            </a:xfrm>
            <a:prstGeom prst="ellipse">
              <a:avLst/>
            </a:prstGeom>
            <a:solidFill>
              <a:srgbClr val="C9453C"/>
            </a:solidFill>
            <a:ln w="635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68" name="Snip Single Corner Rectangle 267">
              <a:extLst>
                <a:ext uri="{FF2B5EF4-FFF2-40B4-BE49-F238E27FC236}">
                  <a16:creationId xmlns:a16="http://schemas.microsoft.com/office/drawing/2014/main" id="{182DCC9E-24DE-5BFB-2271-837F7CDF57C4}"/>
                </a:ext>
              </a:extLst>
            </p:cNvPr>
            <p:cNvSpPr/>
            <p:nvPr/>
          </p:nvSpPr>
          <p:spPr>
            <a:xfrm>
              <a:off x="5543364" y="6576009"/>
              <a:ext cx="54864" cy="73152"/>
            </a:xfrm>
            <a:prstGeom prst="snip1Rect">
              <a:avLst/>
            </a:prstGeom>
            <a:noFill/>
            <a:ln w="6350" cap="flat">
              <a:solidFill>
                <a:schemeClr val="bg1"/>
              </a:solidFill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9C6A8E8-67FC-30DE-5003-FF39F3413F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5229" y="6628733"/>
              <a:ext cx="31379" cy="0"/>
            </a:xfrm>
            <a:prstGeom prst="line">
              <a:avLst/>
            </a:prstGeom>
            <a:noFill/>
            <a:ln w="6350" cap="flat">
              <a:solidFill>
                <a:schemeClr val="bg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43CF65C3-F33A-7174-9312-AC1D6FD62B3F}"/>
                </a:ext>
              </a:extLst>
            </p:cNvPr>
            <p:cNvGrpSpPr/>
            <p:nvPr/>
          </p:nvGrpSpPr>
          <p:grpSpPr>
            <a:xfrm>
              <a:off x="5554745" y="6589517"/>
              <a:ext cx="31379" cy="30228"/>
              <a:chOff x="5670538" y="6415218"/>
              <a:chExt cx="37969" cy="36576"/>
            </a:xfrm>
          </p:grpSpPr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DD941C82-7CCC-D4C6-E91C-69C40F8385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538" y="6432013"/>
                <a:ext cx="37969" cy="0"/>
              </a:xfrm>
              <a:prstGeom prst="line">
                <a:avLst/>
              </a:prstGeom>
              <a:noFill/>
              <a:ln w="6350" cap="flat">
                <a:solidFill>
                  <a:schemeClr val="bg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580E8B55-5009-B539-15C3-B557229295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9523" y="6415218"/>
                <a:ext cx="0" cy="36576"/>
              </a:xfrm>
              <a:prstGeom prst="line">
                <a:avLst/>
              </a:prstGeom>
              <a:noFill/>
              <a:ln w="6350" cap="flat">
                <a:solidFill>
                  <a:schemeClr val="bg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407EC8F-157F-E680-ABCD-568ECA4E679A}"/>
              </a:ext>
            </a:extLst>
          </p:cNvPr>
          <p:cNvSpPr txBox="1"/>
          <p:nvPr/>
        </p:nvSpPr>
        <p:spPr>
          <a:xfrm>
            <a:off x="5638876" y="5195403"/>
            <a:ext cx="1727636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Username </a:t>
            </a:r>
            <a:r>
              <a:rPr lang="en-US" sz="800" b="0" dirty="0">
                <a:solidFill>
                  <a:srgbClr val="000000"/>
                </a:solidFill>
                <a:latin typeface="+mn-lt"/>
              </a:rPr>
              <a:t>requests changes on Sep 18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212A90-7287-AEAF-9C6A-16E6B0FF3BB5}"/>
              </a:ext>
            </a:extLst>
          </p:cNvPr>
          <p:cNvSpPr/>
          <p:nvPr/>
        </p:nvSpPr>
        <p:spPr>
          <a:xfrm>
            <a:off x="5643108" y="6420447"/>
            <a:ext cx="2400869" cy="89686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44D70D-B4C3-7FA2-EEBB-21B9101073FC}"/>
              </a:ext>
            </a:extLst>
          </p:cNvPr>
          <p:cNvSpPr/>
          <p:nvPr/>
        </p:nvSpPr>
        <p:spPr>
          <a:xfrm>
            <a:off x="5643359" y="6662661"/>
            <a:ext cx="2400869" cy="85984"/>
          </a:xfrm>
          <a:prstGeom prst="rect">
            <a:avLst/>
          </a:prstGeom>
          <a:solidFill>
            <a:srgbClr val="C00000">
              <a:alpha val="3413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93ADE8-32B3-7B76-5752-D6D7ACC2447B}"/>
              </a:ext>
            </a:extLst>
          </p:cNvPr>
          <p:cNvSpPr/>
          <p:nvPr/>
        </p:nvSpPr>
        <p:spPr>
          <a:xfrm>
            <a:off x="5641265" y="6834370"/>
            <a:ext cx="2400869" cy="85984"/>
          </a:xfrm>
          <a:prstGeom prst="rect">
            <a:avLst/>
          </a:prstGeom>
          <a:solidFill>
            <a:schemeClr val="accent2">
              <a:lumMod val="50000"/>
              <a:alpha val="3413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789190-B547-0FBF-7E8E-40FCEFB69A55}"/>
              </a:ext>
            </a:extLst>
          </p:cNvPr>
          <p:cNvSpPr/>
          <p:nvPr/>
        </p:nvSpPr>
        <p:spPr>
          <a:xfrm>
            <a:off x="5643560" y="6748255"/>
            <a:ext cx="2400869" cy="85984"/>
          </a:xfrm>
          <a:prstGeom prst="rect">
            <a:avLst/>
          </a:prstGeom>
          <a:solidFill>
            <a:srgbClr val="C00000">
              <a:alpha val="3413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89DD3D-8FEE-8887-E784-E1B655B5AD33}"/>
              </a:ext>
            </a:extLst>
          </p:cNvPr>
          <p:cNvCxnSpPr>
            <a:cxnSpLocks/>
          </p:cNvCxnSpPr>
          <p:nvPr/>
        </p:nvCxnSpPr>
        <p:spPr>
          <a:xfrm flipH="1">
            <a:off x="6101252" y="6705653"/>
            <a:ext cx="31379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E2105A-26CA-C212-AF50-38FA77B8A2EF}"/>
              </a:ext>
            </a:extLst>
          </p:cNvPr>
          <p:cNvGrpSpPr/>
          <p:nvPr/>
        </p:nvGrpSpPr>
        <p:grpSpPr>
          <a:xfrm>
            <a:off x="6103505" y="6861495"/>
            <a:ext cx="31379" cy="30228"/>
            <a:chOff x="5670538" y="6411376"/>
            <a:chExt cx="37969" cy="3657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805B5A5-C9B7-CAC9-B555-375C033F2F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538" y="6432013"/>
              <a:ext cx="37969" cy="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A4666AE-C257-565D-860D-AC6603E66A0E}"/>
                </a:ext>
              </a:extLst>
            </p:cNvPr>
            <p:cNvCxnSpPr>
              <a:cxnSpLocks/>
            </p:cNvCxnSpPr>
            <p:nvPr/>
          </p:nvCxnSpPr>
          <p:spPr>
            <a:xfrm>
              <a:off x="5689523" y="6411376"/>
              <a:ext cx="0" cy="36576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B05B629-74F1-A4BB-1092-01CF386EE6F9}"/>
              </a:ext>
            </a:extLst>
          </p:cNvPr>
          <p:cNvCxnSpPr>
            <a:cxnSpLocks/>
          </p:cNvCxnSpPr>
          <p:nvPr/>
        </p:nvCxnSpPr>
        <p:spPr>
          <a:xfrm flipH="1">
            <a:off x="6102752" y="6791247"/>
            <a:ext cx="31379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415A71C-8C9F-B691-3197-7E23B592B198}"/>
              </a:ext>
            </a:extLst>
          </p:cNvPr>
          <p:cNvSpPr/>
          <p:nvPr/>
        </p:nvSpPr>
        <p:spPr>
          <a:xfrm>
            <a:off x="6060841" y="6661021"/>
            <a:ext cx="1981091" cy="85984"/>
          </a:xfrm>
          <a:prstGeom prst="rect">
            <a:avLst/>
          </a:prstGeom>
          <a:solidFill>
            <a:srgbClr val="C00000">
              <a:alpha val="3413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80F0E9-DAD5-5989-88DB-B97E1436F20B}"/>
              </a:ext>
            </a:extLst>
          </p:cNvPr>
          <p:cNvSpPr/>
          <p:nvPr/>
        </p:nvSpPr>
        <p:spPr>
          <a:xfrm>
            <a:off x="6061922" y="6832730"/>
            <a:ext cx="1981091" cy="85984"/>
          </a:xfrm>
          <a:prstGeom prst="rect">
            <a:avLst/>
          </a:prstGeom>
          <a:solidFill>
            <a:schemeClr val="accent2">
              <a:lumMod val="50000"/>
              <a:alpha val="3413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9818F1-A14E-8A82-7D7A-22976BFDDF84}"/>
              </a:ext>
            </a:extLst>
          </p:cNvPr>
          <p:cNvSpPr/>
          <p:nvPr/>
        </p:nvSpPr>
        <p:spPr>
          <a:xfrm>
            <a:off x="6061042" y="6746615"/>
            <a:ext cx="1981091" cy="85984"/>
          </a:xfrm>
          <a:prstGeom prst="rect">
            <a:avLst/>
          </a:prstGeom>
          <a:solidFill>
            <a:srgbClr val="C00000">
              <a:alpha val="3413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686B11-687F-008A-A68B-E1439824D2DB}"/>
              </a:ext>
            </a:extLst>
          </p:cNvPr>
          <p:cNvSpPr txBox="1"/>
          <p:nvPr/>
        </p:nvSpPr>
        <p:spPr>
          <a:xfrm>
            <a:off x="5663793" y="6667491"/>
            <a:ext cx="174326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00" dirty="0">
                <a:solidFill>
                  <a:srgbClr val="000000"/>
                </a:solidFill>
                <a:latin typeface="+mn-lt"/>
              </a:rPr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40A504-7BF3-B697-0D46-C352EC3F055B}"/>
              </a:ext>
            </a:extLst>
          </p:cNvPr>
          <p:cNvSpPr txBox="1"/>
          <p:nvPr/>
        </p:nvSpPr>
        <p:spPr>
          <a:xfrm>
            <a:off x="5665847" y="6587749"/>
            <a:ext cx="174326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00" dirty="0">
                <a:solidFill>
                  <a:srgbClr val="000000"/>
                </a:solidFill>
                <a:latin typeface="+mn-lt"/>
              </a:rPr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0A80A5-C6CB-8183-56B2-B1448A930444}"/>
              </a:ext>
            </a:extLst>
          </p:cNvPr>
          <p:cNvSpPr txBox="1"/>
          <p:nvPr/>
        </p:nvSpPr>
        <p:spPr>
          <a:xfrm>
            <a:off x="5879209" y="6758079"/>
            <a:ext cx="174326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00" dirty="0">
                <a:solidFill>
                  <a:srgbClr val="000000"/>
                </a:solidFill>
                <a:latin typeface="+mn-lt"/>
              </a:rPr>
              <a:t>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780E4B-EF10-4AC0-8D49-E39C2FF5E9D0}"/>
              </a:ext>
            </a:extLst>
          </p:cNvPr>
          <p:cNvSpPr/>
          <p:nvPr/>
        </p:nvSpPr>
        <p:spPr>
          <a:xfrm>
            <a:off x="5643560" y="6411210"/>
            <a:ext cx="2400869" cy="19874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1DC115-5E42-DF06-A070-6A94B21F2731}"/>
              </a:ext>
            </a:extLst>
          </p:cNvPr>
          <p:cNvSpPr txBox="1"/>
          <p:nvPr/>
        </p:nvSpPr>
        <p:spPr>
          <a:xfrm>
            <a:off x="5660600" y="6380711"/>
            <a:ext cx="477294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R/mail.R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7810554-DBFE-B82E-7894-8A1DF7AE55EF}"/>
              </a:ext>
            </a:extLst>
          </p:cNvPr>
          <p:cNvGrpSpPr/>
          <p:nvPr/>
        </p:nvGrpSpPr>
        <p:grpSpPr>
          <a:xfrm>
            <a:off x="5703620" y="6983726"/>
            <a:ext cx="122364" cy="125917"/>
            <a:chOff x="5083320" y="3289263"/>
            <a:chExt cx="216794" cy="23490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8378347-4DEE-82B5-E240-4A95E0EB3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097411" y="3341300"/>
              <a:ext cx="188562" cy="182864"/>
            </a:xfrm>
            <a:custGeom>
              <a:avLst/>
              <a:gdLst>
                <a:gd name="connsiteX0" fmla="*/ 5593 w 188562"/>
                <a:gd name="connsiteY0" fmla="*/ 0 h 182864"/>
                <a:gd name="connsiteX1" fmla="*/ 179816 w 188562"/>
                <a:gd name="connsiteY1" fmla="*/ 0 h 182864"/>
                <a:gd name="connsiteX2" fmla="*/ 188562 w 188562"/>
                <a:gd name="connsiteY2" fmla="*/ 14032 h 182864"/>
                <a:gd name="connsiteX3" fmla="*/ 188562 w 188562"/>
                <a:gd name="connsiteY3" fmla="*/ 118214 h 182864"/>
                <a:gd name="connsiteX4" fmla="*/ 169352 w 188562"/>
                <a:gd name="connsiteY4" fmla="*/ 149033 h 182864"/>
                <a:gd name="connsiteX5" fmla="*/ 134897 w 188562"/>
                <a:gd name="connsiteY5" fmla="*/ 174162 h 182864"/>
                <a:gd name="connsiteX6" fmla="*/ 95049 w 188562"/>
                <a:gd name="connsiteY6" fmla="*/ 182864 h 182864"/>
                <a:gd name="connsiteX7" fmla="*/ 90360 w 188562"/>
                <a:gd name="connsiteY7" fmla="*/ 182864 h 182864"/>
                <a:gd name="connsiteX8" fmla="*/ 50511 w 188562"/>
                <a:gd name="connsiteY8" fmla="*/ 174162 h 182864"/>
                <a:gd name="connsiteX9" fmla="*/ 16056 w 188562"/>
                <a:gd name="connsiteY9" fmla="*/ 149033 h 182864"/>
                <a:gd name="connsiteX10" fmla="*/ 0 w 188562"/>
                <a:gd name="connsiteY10" fmla="*/ 123274 h 182864"/>
                <a:gd name="connsiteX11" fmla="*/ 0 w 188562"/>
                <a:gd name="connsiteY11" fmla="*/ 8972 h 182864"/>
                <a:gd name="connsiteX12" fmla="*/ 5593 w 188562"/>
                <a:gd name="connsiteY12" fmla="*/ 0 h 18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562" h="182864">
                  <a:moveTo>
                    <a:pt x="5593" y="0"/>
                  </a:moveTo>
                  <a:lnTo>
                    <a:pt x="179816" y="0"/>
                  </a:lnTo>
                  <a:lnTo>
                    <a:pt x="188562" y="14032"/>
                  </a:lnTo>
                  <a:lnTo>
                    <a:pt x="188562" y="118214"/>
                  </a:lnTo>
                  <a:lnTo>
                    <a:pt x="169352" y="149033"/>
                  </a:lnTo>
                  <a:cubicBezTo>
                    <a:pt x="159544" y="159643"/>
                    <a:pt x="147866" y="168228"/>
                    <a:pt x="134897" y="174162"/>
                  </a:cubicBezTo>
                  <a:lnTo>
                    <a:pt x="95049" y="182864"/>
                  </a:lnTo>
                  <a:lnTo>
                    <a:pt x="90360" y="182864"/>
                  </a:lnTo>
                  <a:lnTo>
                    <a:pt x="50511" y="174162"/>
                  </a:lnTo>
                  <a:cubicBezTo>
                    <a:pt x="37543" y="168228"/>
                    <a:pt x="25864" y="159643"/>
                    <a:pt x="16056" y="149033"/>
                  </a:cubicBezTo>
                  <a:lnTo>
                    <a:pt x="0" y="123274"/>
                  </a:lnTo>
                  <a:lnTo>
                    <a:pt x="0" y="8972"/>
                  </a:lnTo>
                  <a:lnTo>
                    <a:pt x="5593" y="0"/>
                  </a:lnTo>
                  <a:close/>
                </a:path>
              </a:pathLst>
            </a:custGeom>
          </p:spPr>
        </p:pic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29B317F-A782-5A7D-577D-5EC67DF8F12A}"/>
                </a:ext>
              </a:extLst>
            </p:cNvPr>
            <p:cNvSpPr/>
            <p:nvPr/>
          </p:nvSpPr>
          <p:spPr>
            <a:xfrm>
              <a:off x="5083320" y="3289263"/>
              <a:ext cx="216794" cy="23450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D6C40D7-27D4-A507-D86A-A524E4087618}"/>
              </a:ext>
            </a:extLst>
          </p:cNvPr>
          <p:cNvSpPr txBox="1"/>
          <p:nvPr/>
        </p:nvSpPr>
        <p:spPr>
          <a:xfrm>
            <a:off x="5825309" y="6911293"/>
            <a:ext cx="98223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Username </a:t>
            </a:r>
            <a:r>
              <a:rPr lang="en-US" sz="800" b="0" dirty="0">
                <a:solidFill>
                  <a:srgbClr val="000000"/>
                </a:solidFill>
                <a:latin typeface="+mn-lt"/>
              </a:rPr>
              <a:t>on Sep 18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Source Sans Pro"/>
                <a:cs typeface="Source Sans Pro"/>
                <a:sym typeface="Source Sans Pro"/>
              </a:rPr>
              <a:t>Comment text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F34130-F6B4-42B2-2437-3C6E3BBCBA77}"/>
              </a:ext>
            </a:extLst>
          </p:cNvPr>
          <p:cNvSpPr/>
          <p:nvPr/>
        </p:nvSpPr>
        <p:spPr>
          <a:xfrm>
            <a:off x="5360634" y="5491024"/>
            <a:ext cx="2400869" cy="19874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557C55-FA0F-CF48-88DE-74EB0BE7CC72}"/>
              </a:ext>
            </a:extLst>
          </p:cNvPr>
          <p:cNvSpPr txBox="1"/>
          <p:nvPr/>
        </p:nvSpPr>
        <p:spPr>
          <a:xfrm>
            <a:off x="5396184" y="5456823"/>
            <a:ext cx="122429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Username </a:t>
            </a:r>
            <a:r>
              <a:rPr lang="en-US" sz="800" b="0" dirty="0">
                <a:solidFill>
                  <a:srgbClr val="000000"/>
                </a:solidFill>
                <a:latin typeface="+mn-lt"/>
              </a:rPr>
              <a:t>left a comment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16ED45-1618-1D1E-A79F-ACFC36102C62}"/>
              </a:ext>
            </a:extLst>
          </p:cNvPr>
          <p:cNvSpPr txBox="1"/>
          <p:nvPr/>
        </p:nvSpPr>
        <p:spPr>
          <a:xfrm>
            <a:off x="5392409" y="5680231"/>
            <a:ext cx="11842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rgbClr val="000000"/>
                </a:solidFill>
                <a:latin typeface="+mn-lt"/>
              </a:rPr>
              <a:t>Comment text goes here.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297F1B3-5494-52C5-403A-F9240CE57654}"/>
              </a:ext>
            </a:extLst>
          </p:cNvPr>
          <p:cNvSpPr/>
          <p:nvPr/>
        </p:nvSpPr>
        <p:spPr>
          <a:xfrm>
            <a:off x="5645399" y="7937387"/>
            <a:ext cx="2400869" cy="89686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2D1C0A-F2F9-6712-A968-D669DE5ED527}"/>
              </a:ext>
            </a:extLst>
          </p:cNvPr>
          <p:cNvSpPr/>
          <p:nvPr/>
        </p:nvSpPr>
        <p:spPr>
          <a:xfrm>
            <a:off x="5645650" y="8179601"/>
            <a:ext cx="2400869" cy="85984"/>
          </a:xfrm>
          <a:prstGeom prst="rect">
            <a:avLst/>
          </a:prstGeom>
          <a:solidFill>
            <a:srgbClr val="C00000">
              <a:alpha val="3413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4521A10-6992-C74E-F1AE-6BCDBE6650AB}"/>
              </a:ext>
            </a:extLst>
          </p:cNvPr>
          <p:cNvSpPr/>
          <p:nvPr/>
        </p:nvSpPr>
        <p:spPr>
          <a:xfrm>
            <a:off x="5645851" y="8351021"/>
            <a:ext cx="2400869" cy="85984"/>
          </a:xfrm>
          <a:prstGeom prst="rect">
            <a:avLst/>
          </a:prstGeom>
          <a:solidFill>
            <a:srgbClr val="C00000">
              <a:alpha val="3413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6940DCE-9AE0-83A9-95BF-D71DF4185C80}"/>
              </a:ext>
            </a:extLst>
          </p:cNvPr>
          <p:cNvCxnSpPr>
            <a:cxnSpLocks/>
          </p:cNvCxnSpPr>
          <p:nvPr/>
        </p:nvCxnSpPr>
        <p:spPr>
          <a:xfrm flipH="1">
            <a:off x="6103543" y="8222593"/>
            <a:ext cx="31379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6BE5440-EAC5-3565-5689-46E6A5EAAB0A}"/>
              </a:ext>
            </a:extLst>
          </p:cNvPr>
          <p:cNvCxnSpPr>
            <a:cxnSpLocks/>
          </p:cNvCxnSpPr>
          <p:nvPr/>
        </p:nvCxnSpPr>
        <p:spPr>
          <a:xfrm flipH="1">
            <a:off x="6105043" y="8394013"/>
            <a:ext cx="31379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FC573E0-5D50-4B48-2295-6F9BF139F37E}"/>
              </a:ext>
            </a:extLst>
          </p:cNvPr>
          <p:cNvSpPr/>
          <p:nvPr/>
        </p:nvSpPr>
        <p:spPr>
          <a:xfrm>
            <a:off x="6063132" y="8177961"/>
            <a:ext cx="1981091" cy="85984"/>
          </a:xfrm>
          <a:prstGeom prst="rect">
            <a:avLst/>
          </a:prstGeom>
          <a:solidFill>
            <a:srgbClr val="C00000">
              <a:alpha val="3413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6E13CD5-3F47-2525-C8D4-CF179F41F0BD}"/>
              </a:ext>
            </a:extLst>
          </p:cNvPr>
          <p:cNvSpPr/>
          <p:nvPr/>
        </p:nvSpPr>
        <p:spPr>
          <a:xfrm>
            <a:off x="6063333" y="8349381"/>
            <a:ext cx="1981091" cy="85984"/>
          </a:xfrm>
          <a:prstGeom prst="rect">
            <a:avLst/>
          </a:prstGeom>
          <a:solidFill>
            <a:srgbClr val="C00000">
              <a:alpha val="3413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1D91A4-6FDA-A5A4-5AC0-33D4948BA8F7}"/>
              </a:ext>
            </a:extLst>
          </p:cNvPr>
          <p:cNvSpPr txBox="1"/>
          <p:nvPr/>
        </p:nvSpPr>
        <p:spPr>
          <a:xfrm>
            <a:off x="5666084" y="8273558"/>
            <a:ext cx="174326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00" dirty="0">
                <a:solidFill>
                  <a:srgbClr val="000000"/>
                </a:solidFill>
                <a:latin typeface="+mn-lt"/>
              </a:rPr>
              <a:t>66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0A225B9F-1EE8-142C-D461-072229BCD192}"/>
              </a:ext>
            </a:extLst>
          </p:cNvPr>
          <p:cNvSpPr txBox="1"/>
          <p:nvPr/>
        </p:nvSpPr>
        <p:spPr>
          <a:xfrm>
            <a:off x="5668138" y="8104689"/>
            <a:ext cx="174326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00" dirty="0">
                <a:solidFill>
                  <a:srgbClr val="000000"/>
                </a:solidFill>
                <a:latin typeface="+mn-lt"/>
              </a:rPr>
              <a:t>64</a:t>
            </a:r>
          </a:p>
        </p:txBody>
      </p:sp>
      <p:grpSp>
        <p:nvGrpSpPr>
          <p:cNvPr id="732" name="Group 731">
            <a:extLst>
              <a:ext uri="{FF2B5EF4-FFF2-40B4-BE49-F238E27FC236}">
                <a16:creationId xmlns:a16="http://schemas.microsoft.com/office/drawing/2014/main" id="{AB090A71-61C3-EC46-54AF-DCA41A298779}"/>
              </a:ext>
            </a:extLst>
          </p:cNvPr>
          <p:cNvGrpSpPr/>
          <p:nvPr/>
        </p:nvGrpSpPr>
        <p:grpSpPr>
          <a:xfrm>
            <a:off x="5643556" y="8189192"/>
            <a:ext cx="2401748" cy="212798"/>
            <a:chOff x="5643556" y="8859309"/>
            <a:chExt cx="2401748" cy="21279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0275C99-669B-B7F2-36A5-72E9D472FB2C}"/>
                </a:ext>
              </a:extLst>
            </p:cNvPr>
            <p:cNvSpPr/>
            <p:nvPr/>
          </p:nvSpPr>
          <p:spPr>
            <a:xfrm>
              <a:off x="5643556" y="8935600"/>
              <a:ext cx="2400869" cy="85984"/>
            </a:xfrm>
            <a:prstGeom prst="rect">
              <a:avLst/>
            </a:prstGeom>
            <a:solidFill>
              <a:schemeClr val="accent2">
                <a:lumMod val="50000"/>
                <a:alpha val="34137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990328E-7042-8DB2-C121-354051EE79EC}"/>
                </a:ext>
              </a:extLst>
            </p:cNvPr>
            <p:cNvGrpSpPr/>
            <p:nvPr/>
          </p:nvGrpSpPr>
          <p:grpSpPr>
            <a:xfrm>
              <a:off x="6105796" y="8962725"/>
              <a:ext cx="31379" cy="30228"/>
              <a:chOff x="5670538" y="6411376"/>
              <a:chExt cx="37969" cy="36576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336F9A6-E8A4-8AF7-664C-1509513CD2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538" y="6432013"/>
                <a:ext cx="37969" cy="0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B12CEBE-72DA-9738-197D-74A739C378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9523" y="6411376"/>
                <a:ext cx="0" cy="36576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FF3EC2D-9796-3CA9-7D53-C6A47CB76D5E}"/>
                </a:ext>
              </a:extLst>
            </p:cNvPr>
            <p:cNvSpPr/>
            <p:nvPr/>
          </p:nvSpPr>
          <p:spPr>
            <a:xfrm>
              <a:off x="6064213" y="8933960"/>
              <a:ext cx="1981091" cy="85984"/>
            </a:xfrm>
            <a:prstGeom prst="rect">
              <a:avLst/>
            </a:prstGeom>
            <a:solidFill>
              <a:schemeClr val="accent2">
                <a:lumMod val="50000"/>
                <a:alpha val="34137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C11A54DE-CF50-9A38-83AD-7C5877100BDB}"/>
                </a:ext>
              </a:extLst>
            </p:cNvPr>
            <p:cNvSpPr txBox="1"/>
            <p:nvPr/>
          </p:nvSpPr>
          <p:spPr>
            <a:xfrm>
              <a:off x="5881500" y="8859309"/>
              <a:ext cx="174326" cy="212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500" dirty="0">
                  <a:solidFill>
                    <a:srgbClr val="000000"/>
                  </a:solidFill>
                  <a:latin typeface="+mn-lt"/>
                </a:rPr>
                <a:t>65</a:t>
              </a:r>
            </a:p>
          </p:txBody>
        </p:sp>
      </p:grpSp>
      <p:sp>
        <p:nvSpPr>
          <p:cNvPr id="450" name="Rectangle 449">
            <a:extLst>
              <a:ext uri="{FF2B5EF4-FFF2-40B4-BE49-F238E27FC236}">
                <a16:creationId xmlns:a16="http://schemas.microsoft.com/office/drawing/2014/main" id="{5B8B06AB-91F8-EF54-DFC9-62A00BAAC027}"/>
              </a:ext>
            </a:extLst>
          </p:cNvPr>
          <p:cNvSpPr/>
          <p:nvPr/>
        </p:nvSpPr>
        <p:spPr>
          <a:xfrm>
            <a:off x="5645851" y="7928150"/>
            <a:ext cx="2400869" cy="19874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EB94963D-3EF9-7BD3-6FC0-C2409C05A1DA}"/>
              </a:ext>
            </a:extLst>
          </p:cNvPr>
          <p:cNvSpPr txBox="1"/>
          <p:nvPr/>
        </p:nvSpPr>
        <p:spPr>
          <a:xfrm>
            <a:off x="5662891" y="7897651"/>
            <a:ext cx="761025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folder/file.Rmd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99F21ADC-74CE-E598-D4AB-4D7420CCF165}"/>
              </a:ext>
            </a:extLst>
          </p:cNvPr>
          <p:cNvSpPr txBox="1"/>
          <p:nvPr/>
        </p:nvSpPr>
        <p:spPr>
          <a:xfrm>
            <a:off x="5827600" y="8428233"/>
            <a:ext cx="125955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Username2 </a:t>
            </a:r>
            <a:r>
              <a:rPr lang="en-US" sz="800" b="0" dirty="0">
                <a:solidFill>
                  <a:srgbClr val="000000"/>
                </a:solidFill>
                <a:latin typeface="+mn-lt"/>
              </a:rPr>
              <a:t>45 minutes ago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Source Sans Pro"/>
                <a:cs typeface="Source Sans Pro"/>
                <a:sym typeface="Source Sans Pro"/>
              </a:rPr>
              <a:t>Comment text</a:t>
            </a:r>
          </a:p>
        </p:txBody>
      </p: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AE36EBB0-CDA6-FEE9-9646-28AE93DD783E}"/>
              </a:ext>
            </a:extLst>
          </p:cNvPr>
          <p:cNvGrpSpPr/>
          <p:nvPr/>
        </p:nvGrpSpPr>
        <p:grpSpPr>
          <a:xfrm>
            <a:off x="5468542" y="7712933"/>
            <a:ext cx="137160" cy="137160"/>
            <a:chOff x="5465322" y="7715007"/>
            <a:chExt cx="137160" cy="137160"/>
          </a:xfrm>
        </p:grpSpPr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69B89DB1-ED10-8FC5-D318-DD0E9D0177AD}"/>
                </a:ext>
              </a:extLst>
            </p:cNvPr>
            <p:cNvSpPr/>
            <p:nvPr/>
          </p:nvSpPr>
          <p:spPr>
            <a:xfrm flipH="1">
              <a:off x="5465322" y="7715007"/>
              <a:ext cx="137160" cy="1371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pic>
          <p:nvPicPr>
            <p:cNvPr id="470" name="Graphic 469" descr="Eye with solid fill">
              <a:extLst>
                <a:ext uri="{FF2B5EF4-FFF2-40B4-BE49-F238E27FC236}">
                  <a16:creationId xmlns:a16="http://schemas.microsoft.com/office/drawing/2014/main" id="{4A702C2C-49D6-6DFB-706B-96A715473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5479688" y="7729227"/>
              <a:ext cx="109356" cy="109356"/>
            </a:xfrm>
            <a:prstGeom prst="rect">
              <a:avLst/>
            </a:prstGeom>
          </p:spPr>
        </p:pic>
      </p:grpSp>
      <p:sp>
        <p:nvSpPr>
          <p:cNvPr id="475" name="TextBox 474">
            <a:extLst>
              <a:ext uri="{FF2B5EF4-FFF2-40B4-BE49-F238E27FC236}">
                <a16:creationId xmlns:a16="http://schemas.microsoft.com/office/drawing/2014/main" id="{738E9741-0187-4385-E527-4751C5404811}"/>
              </a:ext>
            </a:extLst>
          </p:cNvPr>
          <p:cNvSpPr txBox="1"/>
          <p:nvPr/>
        </p:nvSpPr>
        <p:spPr>
          <a:xfrm>
            <a:off x="5638876" y="7624091"/>
            <a:ext cx="1657104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Username2 </a:t>
            </a:r>
            <a:r>
              <a:rPr lang="en-US" sz="800" b="0" dirty="0">
                <a:solidFill>
                  <a:srgbClr val="000000"/>
                </a:solidFill>
                <a:latin typeface="+mn-lt"/>
              </a:rPr>
              <a:t>reviewed 45 minutes ago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F24BB45E-7CB1-98D3-17DA-2EAB51142CED}"/>
              </a:ext>
            </a:extLst>
          </p:cNvPr>
          <p:cNvGrpSpPr/>
          <p:nvPr/>
        </p:nvGrpSpPr>
        <p:grpSpPr>
          <a:xfrm>
            <a:off x="5702945" y="8512182"/>
            <a:ext cx="122364" cy="125705"/>
            <a:chOff x="5079979" y="4827699"/>
            <a:chExt cx="216794" cy="234505"/>
          </a:xfrm>
        </p:grpSpPr>
        <p:pic>
          <p:nvPicPr>
            <p:cNvPr id="504" name="Picture 503">
              <a:extLst>
                <a:ext uri="{FF2B5EF4-FFF2-40B4-BE49-F238E27FC236}">
                  <a16:creationId xmlns:a16="http://schemas.microsoft.com/office/drawing/2014/main" id="{7E89398E-0D9B-604B-F0DC-37D960834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095971" y="4879340"/>
              <a:ext cx="188562" cy="182864"/>
            </a:xfrm>
            <a:custGeom>
              <a:avLst/>
              <a:gdLst>
                <a:gd name="connsiteX0" fmla="*/ 5593 w 188562"/>
                <a:gd name="connsiteY0" fmla="*/ 0 h 182864"/>
                <a:gd name="connsiteX1" fmla="*/ 179816 w 188562"/>
                <a:gd name="connsiteY1" fmla="*/ 0 h 182864"/>
                <a:gd name="connsiteX2" fmla="*/ 188562 w 188562"/>
                <a:gd name="connsiteY2" fmla="*/ 14032 h 182864"/>
                <a:gd name="connsiteX3" fmla="*/ 188562 w 188562"/>
                <a:gd name="connsiteY3" fmla="*/ 118214 h 182864"/>
                <a:gd name="connsiteX4" fmla="*/ 169352 w 188562"/>
                <a:gd name="connsiteY4" fmla="*/ 149033 h 182864"/>
                <a:gd name="connsiteX5" fmla="*/ 134897 w 188562"/>
                <a:gd name="connsiteY5" fmla="*/ 174162 h 182864"/>
                <a:gd name="connsiteX6" fmla="*/ 95049 w 188562"/>
                <a:gd name="connsiteY6" fmla="*/ 182864 h 182864"/>
                <a:gd name="connsiteX7" fmla="*/ 90360 w 188562"/>
                <a:gd name="connsiteY7" fmla="*/ 182864 h 182864"/>
                <a:gd name="connsiteX8" fmla="*/ 50511 w 188562"/>
                <a:gd name="connsiteY8" fmla="*/ 174162 h 182864"/>
                <a:gd name="connsiteX9" fmla="*/ 16056 w 188562"/>
                <a:gd name="connsiteY9" fmla="*/ 149033 h 182864"/>
                <a:gd name="connsiteX10" fmla="*/ 0 w 188562"/>
                <a:gd name="connsiteY10" fmla="*/ 123274 h 182864"/>
                <a:gd name="connsiteX11" fmla="*/ 0 w 188562"/>
                <a:gd name="connsiteY11" fmla="*/ 8972 h 182864"/>
                <a:gd name="connsiteX12" fmla="*/ 5593 w 188562"/>
                <a:gd name="connsiteY12" fmla="*/ 0 h 18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562" h="182864">
                  <a:moveTo>
                    <a:pt x="5593" y="0"/>
                  </a:moveTo>
                  <a:lnTo>
                    <a:pt x="179816" y="0"/>
                  </a:lnTo>
                  <a:lnTo>
                    <a:pt x="188562" y="14032"/>
                  </a:lnTo>
                  <a:lnTo>
                    <a:pt x="188562" y="118214"/>
                  </a:lnTo>
                  <a:lnTo>
                    <a:pt x="169352" y="149033"/>
                  </a:lnTo>
                  <a:cubicBezTo>
                    <a:pt x="159544" y="159643"/>
                    <a:pt x="147866" y="168228"/>
                    <a:pt x="134897" y="174162"/>
                  </a:cubicBezTo>
                  <a:lnTo>
                    <a:pt x="95049" y="182864"/>
                  </a:lnTo>
                  <a:lnTo>
                    <a:pt x="90360" y="182864"/>
                  </a:lnTo>
                  <a:lnTo>
                    <a:pt x="50511" y="174162"/>
                  </a:lnTo>
                  <a:cubicBezTo>
                    <a:pt x="37543" y="168228"/>
                    <a:pt x="25864" y="159643"/>
                    <a:pt x="16056" y="149033"/>
                  </a:cubicBezTo>
                  <a:lnTo>
                    <a:pt x="0" y="123274"/>
                  </a:lnTo>
                  <a:lnTo>
                    <a:pt x="0" y="8972"/>
                  </a:lnTo>
                  <a:lnTo>
                    <a:pt x="5593" y="0"/>
                  </a:lnTo>
                  <a:close/>
                </a:path>
              </a:pathLst>
            </a:custGeom>
          </p:spPr>
        </p:pic>
        <p:sp>
          <p:nvSpPr>
            <p:cNvPr id="505" name="Oval 504">
              <a:extLst>
                <a:ext uri="{FF2B5EF4-FFF2-40B4-BE49-F238E27FC236}">
                  <a16:creationId xmlns:a16="http://schemas.microsoft.com/office/drawing/2014/main" id="{C02F061B-65B9-71EB-0409-97626AA0629C}"/>
                </a:ext>
              </a:extLst>
            </p:cNvPr>
            <p:cNvSpPr/>
            <p:nvPr/>
          </p:nvSpPr>
          <p:spPr>
            <a:xfrm>
              <a:off x="5079979" y="4827699"/>
              <a:ext cx="216794" cy="23450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D2912DF0-5B60-F73F-88DE-F596A2A80100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8046268" y="6875722"/>
            <a:ext cx="1516377" cy="1510095"/>
          </a:xfrm>
          <a:prstGeom prst="bentConnector3">
            <a:avLst>
              <a:gd name="adj1" fmla="val 81636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5" name="Elbow Connector 314">
            <a:extLst>
              <a:ext uri="{FF2B5EF4-FFF2-40B4-BE49-F238E27FC236}">
                <a16:creationId xmlns:a16="http://schemas.microsoft.com/office/drawing/2014/main" id="{6FA1F430-3B95-1B7E-DD1C-45D1A2915BA2}"/>
              </a:ext>
            </a:extLst>
          </p:cNvPr>
          <p:cNvCxnSpPr>
            <a:cxnSpLocks/>
            <a:stCxn id="499" idx="3"/>
          </p:cNvCxnSpPr>
          <p:nvPr/>
        </p:nvCxnSpPr>
        <p:spPr>
          <a:xfrm>
            <a:off x="7766336" y="4401808"/>
            <a:ext cx="1524057" cy="1356837"/>
          </a:xfrm>
          <a:prstGeom prst="bentConnector3">
            <a:avLst>
              <a:gd name="adj1" fmla="val 11589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22" name="Elbow Connector 721">
            <a:extLst>
              <a:ext uri="{FF2B5EF4-FFF2-40B4-BE49-F238E27FC236}">
                <a16:creationId xmlns:a16="http://schemas.microsoft.com/office/drawing/2014/main" id="{65AD4A3D-FD2B-DF42-8C47-D415E4632885}"/>
              </a:ext>
            </a:extLst>
          </p:cNvPr>
          <p:cNvCxnSpPr>
            <a:cxnSpLocks/>
          </p:cNvCxnSpPr>
          <p:nvPr/>
        </p:nvCxnSpPr>
        <p:spPr>
          <a:xfrm rot="5400000">
            <a:off x="8914629" y="5114973"/>
            <a:ext cx="1015922" cy="280110"/>
          </a:xfrm>
          <a:prstGeom prst="bentConnector3">
            <a:avLst>
              <a:gd name="adj1" fmla="val 949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3" name="Straight Connector 732">
            <a:extLst>
              <a:ext uri="{FF2B5EF4-FFF2-40B4-BE49-F238E27FC236}">
                <a16:creationId xmlns:a16="http://schemas.microsoft.com/office/drawing/2014/main" id="{EB63F247-0591-0D98-354E-337D89C4ABE9}"/>
              </a:ext>
            </a:extLst>
          </p:cNvPr>
          <p:cNvCxnSpPr>
            <a:cxnSpLocks/>
          </p:cNvCxnSpPr>
          <p:nvPr/>
        </p:nvCxnSpPr>
        <p:spPr>
          <a:xfrm>
            <a:off x="4862934" y="2264616"/>
            <a:ext cx="4326620" cy="1502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5" name="Straight Connector 734">
            <a:extLst>
              <a:ext uri="{FF2B5EF4-FFF2-40B4-BE49-F238E27FC236}">
                <a16:creationId xmlns:a16="http://schemas.microsoft.com/office/drawing/2014/main" id="{54CDBA81-F27E-2C70-0D77-B4CF346FE70E}"/>
              </a:ext>
            </a:extLst>
          </p:cNvPr>
          <p:cNvCxnSpPr>
            <a:cxnSpLocks/>
          </p:cNvCxnSpPr>
          <p:nvPr/>
        </p:nvCxnSpPr>
        <p:spPr>
          <a:xfrm>
            <a:off x="5960897" y="2255688"/>
            <a:ext cx="841176" cy="0"/>
          </a:xfrm>
          <a:prstGeom prst="line">
            <a:avLst/>
          </a:prstGeom>
          <a:noFill/>
          <a:ln w="19050" cap="rnd">
            <a:solidFill>
              <a:srgbClr val="F07D6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B269F562-12F9-3CAC-3FDE-3B62D352B02E}"/>
              </a:ext>
            </a:extLst>
          </p:cNvPr>
          <p:cNvCxnSpPr>
            <a:cxnSpLocks/>
          </p:cNvCxnSpPr>
          <p:nvPr/>
        </p:nvCxnSpPr>
        <p:spPr>
          <a:xfrm>
            <a:off x="5234799" y="2942834"/>
            <a:ext cx="1126979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9" name="Rectangle 748">
            <a:extLst>
              <a:ext uri="{FF2B5EF4-FFF2-40B4-BE49-F238E27FC236}">
                <a16:creationId xmlns:a16="http://schemas.microsoft.com/office/drawing/2014/main" id="{47670974-EB09-B69E-E9A4-36D57D9E28BD}"/>
              </a:ext>
            </a:extLst>
          </p:cNvPr>
          <p:cNvSpPr/>
          <p:nvPr/>
        </p:nvSpPr>
        <p:spPr>
          <a:xfrm>
            <a:off x="5364937" y="4055247"/>
            <a:ext cx="2400869" cy="19874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50" name="TextBox 749">
            <a:extLst>
              <a:ext uri="{FF2B5EF4-FFF2-40B4-BE49-F238E27FC236}">
                <a16:creationId xmlns:a16="http://schemas.microsoft.com/office/drawing/2014/main" id="{58778FB7-D7F7-385B-C8FC-C533F23EF185}"/>
              </a:ext>
            </a:extLst>
          </p:cNvPr>
          <p:cNvSpPr txBox="1"/>
          <p:nvPr/>
        </p:nvSpPr>
        <p:spPr>
          <a:xfrm>
            <a:off x="5400487" y="4021046"/>
            <a:ext cx="1559320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Username2 </a:t>
            </a:r>
            <a:r>
              <a:rPr lang="en-US" sz="800" b="0" dirty="0">
                <a:solidFill>
                  <a:srgbClr val="000000"/>
                </a:solidFill>
                <a:latin typeface="+mn-lt"/>
              </a:rPr>
              <a:t>commented on Mar 27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51" name="Rectangle 750">
            <a:extLst>
              <a:ext uri="{FF2B5EF4-FFF2-40B4-BE49-F238E27FC236}">
                <a16:creationId xmlns:a16="http://schemas.microsoft.com/office/drawing/2014/main" id="{A1985576-1592-AC14-3476-A7D2C9AE27D6}"/>
              </a:ext>
            </a:extLst>
          </p:cNvPr>
          <p:cNvSpPr/>
          <p:nvPr/>
        </p:nvSpPr>
        <p:spPr>
          <a:xfrm>
            <a:off x="5359943" y="3289572"/>
            <a:ext cx="2400869" cy="19874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52" name="TextBox 751">
            <a:extLst>
              <a:ext uri="{FF2B5EF4-FFF2-40B4-BE49-F238E27FC236}">
                <a16:creationId xmlns:a16="http://schemas.microsoft.com/office/drawing/2014/main" id="{CF2CAEDC-8A96-6647-2795-C63E181680D4}"/>
              </a:ext>
            </a:extLst>
          </p:cNvPr>
          <p:cNvSpPr txBox="1"/>
          <p:nvPr/>
        </p:nvSpPr>
        <p:spPr>
          <a:xfrm>
            <a:off x="5395493" y="3255371"/>
            <a:ext cx="1559320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Username </a:t>
            </a:r>
            <a:r>
              <a:rPr lang="en-US" sz="800" b="0" dirty="0">
                <a:solidFill>
                  <a:srgbClr val="000000"/>
                </a:solidFill>
                <a:latin typeface="+mn-lt"/>
              </a:rPr>
              <a:t>commented on Mar 15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FF4DA5-D2ED-9625-C016-7FC9395774FC}"/>
              </a:ext>
            </a:extLst>
          </p:cNvPr>
          <p:cNvSpPr txBox="1"/>
          <p:nvPr/>
        </p:nvSpPr>
        <p:spPr>
          <a:xfrm>
            <a:off x="9588427" y="3143114"/>
            <a:ext cx="4184378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The four types of GitHub Pull </a:t>
            </a:r>
            <a:r>
              <a:rPr lang="en-US" b="0" dirty="0"/>
              <a:t>Request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Comments are obtained by calling 4 endpoints. We recommend using the refreshers. 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36" name="Line">
            <a:extLst>
              <a:ext uri="{FF2B5EF4-FFF2-40B4-BE49-F238E27FC236}">
                <a16:creationId xmlns:a16="http://schemas.microsoft.com/office/drawing/2014/main" id="{84AE21EE-02A7-115E-6526-F5B4483BC001}"/>
              </a:ext>
            </a:extLst>
          </p:cNvPr>
          <p:cNvSpPr/>
          <p:nvPr/>
        </p:nvSpPr>
        <p:spPr>
          <a:xfrm flipV="1">
            <a:off x="9580868" y="10058400"/>
            <a:ext cx="4178808" cy="0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DDCADAB2-FEA3-A15E-4AE4-43BC8972B76E}"/>
              </a:ext>
            </a:extLst>
          </p:cNvPr>
          <p:cNvSpPr/>
          <p:nvPr/>
        </p:nvSpPr>
        <p:spPr>
          <a:xfrm flipV="1">
            <a:off x="213255" y="10059398"/>
            <a:ext cx="4178808" cy="0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D0DF396-CB9A-296C-34B1-9DDFB16B8735}"/>
              </a:ext>
            </a:extLst>
          </p:cNvPr>
          <p:cNvSpPr txBox="1"/>
          <p:nvPr/>
        </p:nvSpPr>
        <p:spPr>
          <a:xfrm>
            <a:off x="9601060" y="8202421"/>
            <a:ext cx="4177348" cy="17362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400" dirty="0"/>
              <a:t>1. github_parse_project_pr_reviews()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r>
              <a:rPr lang="en-US" sz="1400" dirty="0"/>
              <a:t>2. github_parse_project_issue_or_pr_comments()</a:t>
            </a:r>
          </a:p>
          <a:p>
            <a:endParaRPr lang="en-US" sz="1400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3. github_parse_project_pr_comments()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b="0" dirty="0"/>
          </a:p>
          <a:p>
            <a:r>
              <a:rPr lang="en-US" sz="1400" dirty="0"/>
              <a:t>4. github_parse_project_pull_request()</a:t>
            </a:r>
          </a:p>
        </p:txBody>
      </p:sp>
    </p:spTree>
    <p:extLst>
      <p:ext uri="{BB962C8B-B14F-4D97-AF65-F5344CB8AC3E}">
        <p14:creationId xmlns:p14="http://schemas.microsoft.com/office/powerpoint/2010/main" val="130875114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5485</TotalTime>
  <Words>592</Words>
  <Application>Microsoft Macintosh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Avenir</vt:lpstr>
      <vt:lpstr>Helvetica Light</vt:lpstr>
      <vt:lpstr>Source Sans Pro</vt:lpstr>
      <vt:lpstr>Source Sans Pro Light</vt:lpstr>
      <vt:lpstr>Source Sans Pro Semibold</vt:lpstr>
      <vt:lpstr>White</vt:lpstr>
      <vt:lpstr>GitHub Pull Requests : : CHEAT SHEET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 </dc:title>
  <cp:lastModifiedBy>Seng, Ryan</cp:lastModifiedBy>
  <cp:revision>164</cp:revision>
  <dcterms:modified xsi:type="dcterms:W3CDTF">2025-05-01T22:39:18Z</dcterms:modified>
</cp:coreProperties>
</file>