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ink/ink5.xml" ContentType="application/inkml+xml"/>
  <Override PartName="/ppt/notesSlides/notesSlide10.xml" ContentType="application/vnd.openxmlformats-officedocument.presentationml.notesSlide+xml"/>
  <Override PartName="/ppt/ink/ink6.xml" ContentType="application/inkml+xml"/>
  <Override PartName="/ppt/notesSlides/notesSlide11.xml" ContentType="application/vnd.openxmlformats-officedocument.presentationml.notesSlide+xml"/>
  <Override PartName="/ppt/ink/ink7.xml" ContentType="application/inkml+xml"/>
  <Override PartName="/ppt/notesSlides/notesSlide12.xml" ContentType="application/vnd.openxmlformats-officedocument.presentationml.notesSlide+xml"/>
  <Override PartName="/ppt/ink/ink8.xml" ContentType="application/inkml+xml"/>
  <Override PartName="/ppt/notesSlides/notesSlide13.xml" ContentType="application/vnd.openxmlformats-officedocument.presentationml.notesSlide+xml"/>
  <Override PartName="/ppt/ink/ink9.xml" ContentType="application/inkml+xml"/>
  <Override PartName="/ppt/notesSlides/notesSlide14.xml" ContentType="application/vnd.openxmlformats-officedocument.presentationml.notesSlide+xml"/>
  <Override PartName="/ppt/ink/ink10.xml" ContentType="application/inkml+xml"/>
  <Override PartName="/ppt/notesSlides/notesSlide15.xml" ContentType="application/vnd.openxmlformats-officedocument.presentationml.notesSlide+xml"/>
  <Override PartName="/ppt/ink/ink1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8" r:id="rId2"/>
    <p:sldId id="259" r:id="rId3"/>
    <p:sldId id="261" r:id="rId4"/>
    <p:sldId id="260" r:id="rId5"/>
    <p:sldId id="262" r:id="rId6"/>
    <p:sldId id="263" r:id="rId7"/>
    <p:sldId id="264" r:id="rId8"/>
    <p:sldId id="265" r:id="rId9"/>
    <p:sldId id="266" r:id="rId10"/>
    <p:sldId id="267" r:id="rId11"/>
    <p:sldId id="268" r:id="rId12"/>
    <p:sldId id="269" r:id="rId13"/>
    <p:sldId id="270" r:id="rId14"/>
    <p:sldId id="271" r:id="rId15"/>
    <p:sldId id="272" r:id="rId16"/>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15:guide id="1" orient="horz" pos="6496" userDrawn="1">
          <p15:clr>
            <a:srgbClr val="A4A3A4"/>
          </p15:clr>
        </p15:guide>
        <p15:guide id="2" pos="71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7DCA7"/>
    <a:srgbClr val="E0E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8FC04E-60E3-4062-B59B-56E31ACC9CA9}" v="357" dt="2026-05-09T12:21:53.885"/>
    <p1510:client id="{CE33B7D1-3A92-4392-BAD8-F926CBCBF43C}" v="1" dt="2026-05-10T00:57:07.79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496"/>
        <p:guide pos="7112"/>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4"/>
    </inkml:context>
    <inkml:brush xml:id="br0">
      <inkml:brushProperty name="width" value="0.1" units="cm"/>
      <inkml:brushProperty name="height" value="0.1" units="cm"/>
      <inkml:brushProperty name="color" value="#FFFFFF"/>
    </inkml:brush>
  </inkml:definitions>
  <inkml:trace contextRef="#ctx0" brushRef="#br0">21908 13357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6"/>
    </inkml:context>
    <inkml:brush xml:id="br0">
      <inkml:brushProperty name="width" value="0.1" units="cm"/>
      <inkml:brushProperty name="height" value="0.1" units="cm"/>
      <inkml:brushProperty name="color" value="#FFFFFF"/>
    </inkml:brush>
  </inkml:definitions>
  <inkml:trace contextRef="#ctx0" brushRef="#br0">21959 13178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46:30.785"/>
    </inkml:context>
    <inkml:brush xml:id="br0">
      <inkml:brushProperty name="width" value="0.1" units="cm"/>
      <inkml:brushProperty name="height" value="0.1" units="cm"/>
      <inkml:brushProperty name="color" value="#FFFFFF"/>
    </inkml:brush>
  </inkml:definitions>
  <inkml:trace contextRef="#ctx0" brushRef="#br0">22127 13357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66545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EFE9B-D700-F117-8ABF-146901C90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DDDB3-279B-0A71-8C3A-6070F61A8A8C}"/>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5DFC49DB-64F7-925A-6002-BBA3DC862C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57358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26BE-2C73-E025-DAD8-545C2B247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7877F-25EF-8CBC-37CC-6FD1734A002A}"/>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3FB2B663-2CB1-CB29-B900-B23D5BCA63C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37308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1658C-E62E-FE31-822F-CE99754B5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49026-A8AC-6A3F-9F5F-69D02C6F132F}"/>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04BDA1C2-7D6E-117A-B15D-B7D87C520C8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9021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96057-0E3A-D92D-C30F-C042E16D1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679E2-1782-2661-819C-F0F441159DC1}"/>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8074A5DA-DC37-4C50-68FD-8C8CFEA46F1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3132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D90A-4394-CB9D-E90D-F1B01B621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97874-C70F-779B-84D6-3FF95AF8D43B}"/>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96E92F9D-87B9-09F7-71E8-21EF9CEC83C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02226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F8133-BB53-3F29-2E7B-DEC40A6AB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98D51-A140-5B8A-A19A-DBA27A51B009}"/>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E752E348-C5BF-EBFE-DD97-36DF7B3FBB7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25906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750DD-774B-D221-A59A-7933A4A73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74F76-9273-655C-C4CA-343E8017BE98}"/>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3B13AEDD-E572-AF44-4C3B-6A8EECAD65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13298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81EED-BEFA-FC8F-75DD-498A03B55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FA9CC-B452-2E5D-B491-A25BDD67BF0C}"/>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40D63D79-0D5F-F961-A2AE-238F3A0218B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88358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083CE-CA6F-FBFE-8FF5-50F76CEA7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D4ABF-BBD6-90F3-BC89-18E6778D3D65}"/>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0D331C6E-7228-D70C-BFDE-69ADBA1E4F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72935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92A02-F5B3-A260-1108-DCB26628B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9A8DD-2879-5E93-0B01-B6B30F7DEFA6}"/>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AC26AA46-0D6F-1371-FF19-9A937AD692E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45560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0D628-F371-F75C-9C9D-8F53A10AD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0C77F-FB03-458F-21EA-EF328E9573E9}"/>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0EB14A57-5283-4132-F131-09EA7B7439C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9962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8038-CCDD-6CDD-8D91-26D496590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AC791-E6AA-3DAE-35C4-ED20DDAEB10B}"/>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598BC909-A9E1-94EB-8C1F-6BF7CB2FB37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40770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F6DEB-79D9-D705-8228-5D8CAA2AB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CD32A-F213-C9E4-008A-E5318E5301B6}"/>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1C559817-D356-EC61-30FD-A8BEE071A8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16070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F6DEB-79D9-D705-8228-5D8CAA2AB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CD32A-F213-C9E4-008A-E5318E5301B6}"/>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1C559817-D356-EC61-30FD-A8BEE071A8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16070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hyperlink" Target="http://fortawesome.github.io/Font-Awesome/get-started/" TargetMode="External"/><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hyperlink" Target="https://creativecommons.org/licenses/by-sa/4.0/" TargetMode="External"/><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hyperlink" Target="http://fortawesome.github.io/Font-Awesome/get-started/" TargetMode="External"/><Relationship Id="rId13" Type="http://schemas.openxmlformats.org/officeDocument/2006/relationships/image" Target="../media/image9.png"/><Relationship Id="rId3" Type="http://schemas.openxmlformats.org/officeDocument/2006/relationships/image" Target="../media/image15.png"/><Relationship Id="rId7" Type="http://schemas.openxmlformats.org/officeDocument/2006/relationships/image" Target="../media/image4.png"/><Relationship Id="rId12" Type="http://schemas.openxmlformats.org/officeDocument/2006/relationships/image" Target="../media/image8.png"/><Relationship Id="rId2" Type="http://schemas.openxmlformats.org/officeDocument/2006/relationships/notesSlide" Target="../notesSlides/notesSlide2.xml"/><Relationship Id="rId16"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7.png"/><Relationship Id="rId5" Type="http://schemas.openxmlformats.org/officeDocument/2006/relationships/image" Target="../media/image3.png"/><Relationship Id="rId15" Type="http://schemas.openxmlformats.org/officeDocument/2006/relationships/image" Target="../media/image11.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hyperlink" Target="https://creativecommons.org/licenses/by-sa/4.0/" TargetMode="External"/><Relationship Id="rId15" Type="http://schemas.openxmlformats.org/officeDocument/2006/relationships/image" Target="../media/image18.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2" Type="http://schemas.openxmlformats.org/officeDocument/2006/relationships/notesSlide" Target="../notesSlides/notesSlide4.xml"/><Relationship Id="rId16"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2" Type="http://schemas.openxmlformats.org/officeDocument/2006/relationships/notesSlide" Target="../notesSlides/notesSlide5.xml"/><Relationship Id="rId16"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2" Type="http://schemas.openxmlformats.org/officeDocument/2006/relationships/notesSlide" Target="../notesSlides/notesSlide6.xml"/><Relationship Id="rId16"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9.png"/><Relationship Id="rId21" Type="http://schemas.openxmlformats.org/officeDocument/2006/relationships/image" Target="../media/image23.pn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customXml" Target="../ink/ink1.xml"/><Relationship Id="rId2" Type="http://schemas.openxmlformats.org/officeDocument/2006/relationships/notesSlide" Target="../notesSlides/notesSlide7.xml"/><Relationship Id="rId16" Type="http://schemas.openxmlformats.org/officeDocument/2006/relationships/image" Target="../media/image21.png"/><Relationship Id="rId20" Type="http://schemas.openxmlformats.org/officeDocument/2006/relationships/customXml" Target="../ink/ink3.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customXml" Target="../ink/ink2.xml"/><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image" Target="../media/image24.png"/><Relationship Id="rId2" Type="http://schemas.openxmlformats.org/officeDocument/2006/relationships/notesSlide" Target="../notesSlides/notesSlide8.xml"/><Relationship Id="rId16" Type="http://schemas.openxmlformats.org/officeDocument/2006/relationships/customXml" Target="../ink/ink4.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image" Target="../media/image24.png"/><Relationship Id="rId2" Type="http://schemas.openxmlformats.org/officeDocument/2006/relationships/notesSlide" Target="../notesSlides/notesSlide9.xml"/><Relationship Id="rId16" Type="http://schemas.openxmlformats.org/officeDocument/2006/relationships/customXml" Target="../ink/ink5.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image" Target="../media/image26.png"/><Relationship Id="rId2" Type="http://schemas.openxmlformats.org/officeDocument/2006/relationships/notesSlide" Target="../notesSlides/notesSlide10.xml"/><Relationship Id="rId16" Type="http://schemas.openxmlformats.org/officeDocument/2006/relationships/customXml" Target="../ink/ink6.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image" Target="../media/image27.png"/><Relationship Id="rId2" Type="http://schemas.openxmlformats.org/officeDocument/2006/relationships/notesSlide" Target="../notesSlides/notesSlide11.xml"/><Relationship Id="rId16" Type="http://schemas.openxmlformats.org/officeDocument/2006/relationships/customXml" Target="../ink/ink7.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image" Target="../media/image28.png"/><Relationship Id="rId2" Type="http://schemas.openxmlformats.org/officeDocument/2006/relationships/notesSlide" Target="../notesSlides/notesSlide12.xml"/><Relationship Id="rId16" Type="http://schemas.openxmlformats.org/officeDocument/2006/relationships/customXml" Target="../ink/ink8.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5.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11.png"/><Relationship Id="rId17"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customXml" Target="../ink/ink9.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9.png"/><Relationship Id="rId18" Type="http://schemas.openxmlformats.org/officeDocument/2006/relationships/image" Target="../media/image30.png"/><Relationship Id="rId3" Type="http://schemas.openxmlformats.org/officeDocument/2006/relationships/image" Target="../media/image9.png"/><Relationship Id="rId7" Type="http://schemas.openxmlformats.org/officeDocument/2006/relationships/image" Target="../media/image5.png"/><Relationship Id="rId12" Type="http://schemas.openxmlformats.org/officeDocument/2006/relationships/image" Target="../media/image17.png"/><Relationship Id="rId17" Type="http://schemas.openxmlformats.org/officeDocument/2006/relationships/image" Target="../media/image25.png"/><Relationship Id="rId2" Type="http://schemas.openxmlformats.org/officeDocument/2006/relationships/notesSlide" Target="../notesSlides/notesSlide14.xml"/><Relationship Id="rId16"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image" Target="../media/image3.png"/><Relationship Id="rId15" Type="http://schemas.openxmlformats.org/officeDocument/2006/relationships/customXml" Target="../ink/ink10.xml"/><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9.png"/><Relationship Id="rId18" Type="http://schemas.openxmlformats.org/officeDocument/2006/relationships/image" Target="../media/image30.png"/><Relationship Id="rId3" Type="http://schemas.openxmlformats.org/officeDocument/2006/relationships/image" Target="../media/image9.png"/><Relationship Id="rId7" Type="http://schemas.openxmlformats.org/officeDocument/2006/relationships/image" Target="../media/image5.png"/><Relationship Id="rId12" Type="http://schemas.openxmlformats.org/officeDocument/2006/relationships/image" Target="../media/image17.png"/><Relationship Id="rId17" Type="http://schemas.openxmlformats.org/officeDocument/2006/relationships/image" Target="../media/image25.png"/><Relationship Id="rId2" Type="http://schemas.openxmlformats.org/officeDocument/2006/relationships/notesSlide" Target="../notesSlides/notesSlide15.xml"/><Relationship Id="rId16"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image" Target="../media/image3.png"/><Relationship Id="rId15" Type="http://schemas.openxmlformats.org/officeDocument/2006/relationships/customXml" Target="../ink/ink11.xml"/><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EB5B10DD-4D0D-D028-68E0-0C6BB32413CF}"/>
              </a:ext>
            </a:extLst>
          </p:cNvPr>
          <p:cNvSpPr txBox="1"/>
          <p:nvPr/>
        </p:nvSpPr>
        <p:spPr>
          <a:xfrm>
            <a:off x="8132118" y="2094637"/>
            <a:ext cx="492855" cy="219046"/>
          </a:xfrm>
          <a:prstGeom prst="rect">
            <a:avLst/>
          </a:prstGeom>
          <a:solidFill>
            <a:schemeClr val="accent2">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92" name="Image" descr="Image"/>
          <p:cNvPicPr>
            <a:picLocks noChangeAspect="1"/>
          </p:cNvPicPr>
          <p:nvPr/>
        </p:nvPicPr>
        <p:blipFill>
          <a:blip r:embed="rId3"/>
          <a:srcRect r="210" b="18671"/>
          <a:stretch>
            <a:fillRect/>
          </a:stretch>
        </p:blipFill>
        <p:spPr>
          <a:xfrm>
            <a:off x="8383931" y="-676677"/>
            <a:ext cx="5586670" cy="2431815"/>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p:cNvSpPr/>
          <p:nvPr/>
        </p:nvSpPr>
        <p:spPr>
          <a:xfrm>
            <a:off x="219190" y="3021695"/>
            <a:ext cx="4346831" cy="5383822"/>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p:cNvSpPr txBox="1"/>
          <p:nvPr/>
        </p:nvSpPr>
        <p:spPr>
          <a:xfrm>
            <a:off x="312145" y="3175625"/>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p:cNvSpPr txBox="1"/>
          <p:nvPr/>
        </p:nvSpPr>
        <p:spPr>
          <a:xfrm>
            <a:off x="301285" y="3671161"/>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1">
                <a:latin typeface="Source Sans Pro" panose="020B0503030403020204" pitchFamily="34" charset="0"/>
                <a:ea typeface="Source Sans Pro" panose="020B0503030403020204" pitchFamily="34" charset="0"/>
                <a:cs typeface="Arial" panose="020B0604020202020204" pitchFamily="34" charset="0"/>
              </a:rPr>
              <a:t>The first part of running any vignette is setting up your project configuration file (examples in conf/</a:t>
            </a:r>
            <a:r>
              <a:rPr lang="en-US" b="1" err="1">
                <a:latin typeface="Source Sans Pro" panose="020B0503030403020204" pitchFamily="34" charset="0"/>
                <a:ea typeface="Source Sans Pro" panose="020B0503030403020204" pitchFamily="34" charset="0"/>
                <a:cs typeface="Arial" panose="020B0604020202020204" pitchFamily="34" charset="0"/>
              </a:rPr>
              <a:t>kaiaulu</a:t>
            </a:r>
            <a:r>
              <a:rPr lang="en-US" b="1">
                <a:latin typeface="Source Sans Pro" panose="020B0503030403020204" pitchFamily="34" charset="0"/>
                <a:ea typeface="Source Sans Pro" panose="020B0503030403020204" pitchFamily="34" charset="0"/>
                <a:cs typeface="Arial" panose="020B0604020202020204" pitchFamily="34" charset="0"/>
              </a:rPr>
              <a:t>).</a:t>
            </a:r>
            <a:r>
              <a:rPr>
                <a:latin typeface="Source Sans Pro" panose="020B0503030403020204" pitchFamily="34" charset="0"/>
                <a:ea typeface="Source Sans Pro" panose="020B0503030403020204" pitchFamily="34" charset="0"/>
                <a:cs typeface="Arial" panose="020B0604020202020204" pitchFamily="34" charset="0"/>
              </a:rPr>
              <a:t> </a:t>
            </a:r>
          </a:p>
        </p:txBody>
      </p:sp>
      <p:sp>
        <p:nvSpPr>
          <p:cNvPr id="324" name="Cheatsheets make it easy for R users…"/>
          <p:cNvSpPr txBox="1"/>
          <p:nvPr/>
        </p:nvSpPr>
        <p:spPr>
          <a:xfrm>
            <a:off x="329262" y="4164915"/>
            <a:ext cx="4078707" cy="4116806"/>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algn="ctr">
              <a:lnSpc>
                <a:spcPct val="90000"/>
              </a:lnSpc>
              <a:spcBef>
                <a:spcPts val="0"/>
              </a:spcBef>
              <a:defRPr>
                <a:solidFill>
                  <a:srgbClr val="000000"/>
                </a:solidFill>
              </a:defRPr>
            </a:pPr>
            <a:endParaRPr lang="en-US" sz="1400">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filter:</a:t>
            </a:r>
          </a:p>
          <a:p>
            <a:pPr>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a:t>
            </a:r>
          </a:p>
          <a:p>
            <a:pPr>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 panose="020B0604020202020204" pitchFamily="34" charset="0"/>
              <a:buChar char="•"/>
              <a:defRPr>
                <a:solidFill>
                  <a:srgbClr val="000000"/>
                </a:solidFill>
              </a:defRPr>
            </a:pPr>
            <a:r>
              <a:rPr lang="en-US" err="1">
                <a:latin typeface="Source Sans Pro" panose="020B0503030403020204" pitchFamily="34" charset="0"/>
                <a:ea typeface="Source Sans Pro" panose="020B0503030403020204" pitchFamily="34" charset="0"/>
                <a:cs typeface="Arial" panose="020B0604020202020204" pitchFamily="34" charset="0"/>
              </a:rPr>
              <a:t>issue_tracker</a:t>
            </a:r>
            <a:r>
              <a:rPr lang="en-US">
                <a:latin typeface="Source Sans Pro" panose="020B0503030403020204" pitchFamily="34" charset="0"/>
                <a:ea typeface="Source Sans Pro" panose="020B0503030403020204" pitchFamily="34" charset="0"/>
                <a:cs typeface="Arial" panose="020B0604020202020204" pitchFamily="34" charset="0"/>
              </a:rPr>
              <a:t>:</a:t>
            </a:r>
          </a:p>
          <a:p>
            <a:pPr lvl="3" indent="0">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 panose="020B0604020202020204" pitchFamily="34" charset="0"/>
              <a:buChar char="•"/>
              <a:defRPr>
                <a:solidFill>
                  <a:srgbClr val="000000"/>
                </a:solidFill>
              </a:defRPr>
            </a:pPr>
            <a:r>
              <a:rPr lang="en-US">
                <a:latin typeface="Source Sans Pro" panose="020B0503030403020204" pitchFamily="34" charset="0"/>
                <a:ea typeface="Source Sans Pro" panose="020B0503030403020204" pitchFamily="34" charset="0"/>
                <a:cs typeface="Arial" panose="020B0604020202020204" pitchFamily="34" charset="0"/>
              </a:rPr>
              <a:t>tool:</a:t>
            </a:r>
          </a:p>
          <a:p>
            <a:pPr lvl="3" indent="0">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p:cNvSpPr txBox="1"/>
          <p:nvPr/>
        </p:nvSpPr>
        <p:spPr>
          <a:xfrm>
            <a:off x="9592056" y="1537907"/>
            <a:ext cx="197810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0" name="Line"/>
          <p:cNvSpPr/>
          <p:nvPr/>
        </p:nvSpPr>
        <p:spPr>
          <a:xfrm>
            <a:off x="329263" y="3031835"/>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a:t>Sentiment Analysis</a:t>
            </a:r>
            <a:r>
              <a:t>: : </a:t>
            </a:r>
            <a:r>
              <a:rPr sz="3300">
                <a:latin typeface="Source Sans Pro Semibold"/>
                <a:ea typeface="Source Sans Pro Semibold"/>
                <a:cs typeface="Source Sans Pro Semibold"/>
                <a:sym typeface="Source Sans Pro Semibold"/>
              </a:rPr>
              <a:t>CHEAT SHEET</a:t>
            </a:r>
            <a:r>
              <a:t> </a:t>
            </a:r>
          </a:p>
        </p:txBody>
      </p:sp>
      <p:sp>
        <p:nvSpPr>
          <p:cNvPr id="382" name="Logistics"/>
          <p:cNvSpPr txBox="1"/>
          <p:nvPr/>
        </p:nvSpPr>
        <p:spPr>
          <a:xfrm>
            <a:off x="4663440" y="1513595"/>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p:cNvSpPr txBox="1"/>
          <p:nvPr/>
        </p:nvSpPr>
        <p:spPr>
          <a:xfrm>
            <a:off x="275721" y="151923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hank you for making a new cheatsheet for R! These cheatsheets have an important job:">
            <a:extLst>
              <a:ext uri="{FF2B5EF4-FFF2-40B4-BE49-F238E27FC236}">
                <a16:creationId xmlns:a16="http://schemas.microsoft.com/office/drawing/2014/main" id="{C15028FC-57F7-3D04-9093-5A3F5F89C9B4}"/>
              </a:ext>
            </a:extLst>
          </p:cNvPr>
          <p:cNvSpPr txBox="1"/>
          <p:nvPr/>
        </p:nvSpPr>
        <p:spPr>
          <a:xfrm>
            <a:off x="301285" y="8476809"/>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a:lnSpc>
                <a:spcPct val="90000"/>
              </a:lnSpc>
              <a:spcBef>
                <a:spcPts val="0"/>
              </a:spcBef>
              <a:buClr>
                <a:schemeClr val="accent4">
                  <a:hueOff val="384618"/>
                  <a:satOff val="3869"/>
                  <a:lumOff val="5802"/>
                </a:schemeClr>
              </a:buClr>
              <a:defRPr b="0">
                <a:solidFill>
                  <a:srgbClr val="000000"/>
                </a:solidFill>
              </a:defRPr>
            </a:pPr>
            <a:endParaRPr/>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198E25CE-0FCD-0F14-DE41-E9F889215D13}"/>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CB5B0FEA-3A08-1722-ADE3-11088156295F}"/>
              </a:ext>
            </a:extLst>
          </p:cNvPr>
          <p:cNvSpPr/>
          <p:nvPr/>
        </p:nvSpPr>
        <p:spPr>
          <a:xfrm>
            <a:off x="213255" y="8771747"/>
            <a:ext cx="4346831" cy="138051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C97A28E4-D0B2-E6BC-D0E7-9EDE5211E995}"/>
              </a:ext>
            </a:extLst>
          </p:cNvPr>
          <p:cNvSpPr txBox="1"/>
          <p:nvPr/>
        </p:nvSpPr>
        <p:spPr>
          <a:xfrm>
            <a:off x="329262" y="8874348"/>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8FDE0DD4-B1F9-50C3-603D-87D1CEF5198C}"/>
              </a:ext>
            </a:extLst>
          </p:cNvPr>
          <p:cNvSpPr txBox="1"/>
          <p:nvPr/>
        </p:nvSpPr>
        <p:spPr>
          <a:xfrm>
            <a:off x="329629" y="9212932"/>
            <a:ext cx="4078707" cy="760703"/>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55FEDB9D-8237-7EEB-4C12-B06E681AAFB4}"/>
              </a:ext>
            </a:extLst>
          </p:cNvPr>
          <p:cNvPicPr>
            <a:picLocks noChangeAspect="1"/>
          </p:cNvPicPr>
          <p:nvPr/>
        </p:nvPicPr>
        <p:blipFill>
          <a:blip r:embed="rId6"/>
          <a:stretch>
            <a:fillRect/>
          </a:stretch>
        </p:blipFill>
        <p:spPr>
          <a:xfrm>
            <a:off x="11948645" y="9364583"/>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C192BD37-A903-2B47-DE59-4A81AB5E33F0}"/>
              </a:ext>
            </a:extLst>
          </p:cNvPr>
          <p:cNvSpPr txBox="1"/>
          <p:nvPr/>
        </p:nvSpPr>
        <p:spPr>
          <a:xfrm>
            <a:off x="203866" y="8449555"/>
            <a:ext cx="4369511"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lvl="0">
              <a:lnSpc>
                <a:spcPct val="90000"/>
              </a:lnSpc>
              <a:buSzPts val="3700"/>
            </a:pPr>
            <a:r>
              <a:rPr lang="en-US" b="0">
                <a:latin typeface="Source Sans Pro" panose="020B0503030403020204" pitchFamily="34" charset="0"/>
                <a:ea typeface="Source Sans Pro" panose="020B0503030403020204" pitchFamily="34" charset="0"/>
                <a:cs typeface="Arial" panose="020B0604020202020204" pitchFamily="34" charset="0"/>
              </a:rPr>
              <a:t>You should also specify the required external tools in </a:t>
            </a:r>
            <a:r>
              <a:rPr lang="en-US" b="0" err="1">
                <a:latin typeface="Source Sans Pro" panose="020B0503030403020204" pitchFamily="34" charset="0"/>
                <a:ea typeface="Source Sans Pro" panose="020B0503030403020204" pitchFamily="34" charset="0"/>
                <a:cs typeface="Arial" panose="020B0604020202020204" pitchFamily="34" charset="0"/>
              </a:rPr>
              <a:t>tools.yml</a:t>
            </a:r>
            <a:r>
              <a:rPr lang="en-US" b="0">
                <a:latin typeface="Source Sans Pro" panose="020B0503030403020204" pitchFamily="34" charset="0"/>
                <a:ea typeface="Source Sans Pro" panose="020B0503030403020204" pitchFamily="34" charset="0"/>
                <a:cs typeface="Arial" panose="020B0604020202020204" pitchFamily="34" charset="0"/>
              </a:rPr>
              <a:t>:</a:t>
            </a:r>
            <a:endParaRPr lang="en-US" b="0" u="sng">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17" name="Picture 16">
            <a:extLst>
              <a:ext uri="{FF2B5EF4-FFF2-40B4-BE49-F238E27FC236}">
                <a16:creationId xmlns:a16="http://schemas.microsoft.com/office/drawing/2014/main" id="{C05B9FA7-EEB6-D52C-527A-BDF1FF7715FE}"/>
              </a:ext>
            </a:extLst>
          </p:cNvPr>
          <p:cNvPicPr>
            <a:picLocks noChangeAspect="1"/>
          </p:cNvPicPr>
          <p:nvPr/>
        </p:nvPicPr>
        <p:blipFill>
          <a:blip r:embed="rId8"/>
          <a:stretch>
            <a:fillRect/>
          </a:stretch>
        </p:blipFill>
        <p:spPr>
          <a:xfrm>
            <a:off x="11910432" y="6724549"/>
            <a:ext cx="546328" cy="546436"/>
          </a:xfrm>
          <a:prstGeom prst="rect">
            <a:avLst/>
          </a:prstGeom>
        </p:spPr>
      </p:pic>
      <p:pic>
        <p:nvPicPr>
          <p:cNvPr id="23" name="Picture 22">
            <a:extLst>
              <a:ext uri="{FF2B5EF4-FFF2-40B4-BE49-F238E27FC236}">
                <a16:creationId xmlns:a16="http://schemas.microsoft.com/office/drawing/2014/main" id="{BE1087AF-AAF4-556B-6837-EFADE2D21E79}"/>
              </a:ext>
            </a:extLst>
          </p:cNvPr>
          <p:cNvPicPr>
            <a:picLocks noChangeAspect="1"/>
          </p:cNvPicPr>
          <p:nvPr/>
        </p:nvPicPr>
        <p:blipFill>
          <a:blip r:embed="rId9"/>
          <a:stretch>
            <a:fillRect/>
          </a:stretch>
        </p:blipFill>
        <p:spPr>
          <a:xfrm>
            <a:off x="9669437" y="8771666"/>
            <a:ext cx="544372" cy="486505"/>
          </a:xfrm>
          <a:prstGeom prst="rect">
            <a:avLst/>
          </a:prstGeom>
        </p:spPr>
      </p:pic>
      <p:pic>
        <p:nvPicPr>
          <p:cNvPr id="24" name="Picture 23">
            <a:extLst>
              <a:ext uri="{FF2B5EF4-FFF2-40B4-BE49-F238E27FC236}">
                <a16:creationId xmlns:a16="http://schemas.microsoft.com/office/drawing/2014/main" id="{4C8446E1-7611-7DBF-C2E9-0BAC64CB60EE}"/>
              </a:ext>
            </a:extLst>
          </p:cNvPr>
          <p:cNvPicPr>
            <a:picLocks noChangeAspect="1"/>
          </p:cNvPicPr>
          <p:nvPr/>
        </p:nvPicPr>
        <p:blipFill>
          <a:blip r:embed="rId10"/>
          <a:stretch>
            <a:fillRect/>
          </a:stretch>
        </p:blipFill>
        <p:spPr>
          <a:xfrm>
            <a:off x="9840750" y="8164768"/>
            <a:ext cx="742783" cy="609600"/>
          </a:xfrm>
          <a:prstGeom prst="rect">
            <a:avLst/>
          </a:prstGeom>
        </p:spPr>
      </p:pic>
      <p:pic>
        <p:nvPicPr>
          <p:cNvPr id="25" name="Picture 24">
            <a:extLst>
              <a:ext uri="{FF2B5EF4-FFF2-40B4-BE49-F238E27FC236}">
                <a16:creationId xmlns:a16="http://schemas.microsoft.com/office/drawing/2014/main" id="{95005761-5538-0C71-A1D5-6A7972E293A7}"/>
              </a:ext>
            </a:extLst>
          </p:cNvPr>
          <p:cNvPicPr>
            <a:picLocks noChangeAspect="1"/>
          </p:cNvPicPr>
          <p:nvPr/>
        </p:nvPicPr>
        <p:blipFill>
          <a:blip r:embed="rId11"/>
          <a:stretch>
            <a:fillRect/>
          </a:stretch>
        </p:blipFill>
        <p:spPr>
          <a:xfrm>
            <a:off x="12354623" y="7344100"/>
            <a:ext cx="372044" cy="354363"/>
          </a:xfrm>
          <a:prstGeom prst="rect">
            <a:avLst/>
          </a:prstGeom>
        </p:spPr>
      </p:pic>
      <p:pic>
        <p:nvPicPr>
          <p:cNvPr id="26" name="Picture 25">
            <a:extLst>
              <a:ext uri="{FF2B5EF4-FFF2-40B4-BE49-F238E27FC236}">
                <a16:creationId xmlns:a16="http://schemas.microsoft.com/office/drawing/2014/main" id="{CECA1144-586B-43CE-A67C-E3E4CD686238}"/>
              </a:ext>
            </a:extLst>
          </p:cNvPr>
          <p:cNvPicPr>
            <a:picLocks noChangeAspect="1"/>
          </p:cNvPicPr>
          <p:nvPr/>
        </p:nvPicPr>
        <p:blipFill>
          <a:blip r:embed="rId12"/>
          <a:stretch>
            <a:fillRect/>
          </a:stretch>
        </p:blipFill>
        <p:spPr>
          <a:xfrm>
            <a:off x="11747662" y="7772175"/>
            <a:ext cx="976388" cy="1012115"/>
          </a:xfrm>
          <a:prstGeom prst="rect">
            <a:avLst/>
          </a:prstGeom>
        </p:spPr>
      </p:pic>
      <p:pic>
        <p:nvPicPr>
          <p:cNvPr id="31" name="Picture 30">
            <a:extLst>
              <a:ext uri="{FF2B5EF4-FFF2-40B4-BE49-F238E27FC236}">
                <a16:creationId xmlns:a16="http://schemas.microsoft.com/office/drawing/2014/main" id="{D0049D7B-04FF-C887-11DB-027B5C549B78}"/>
              </a:ext>
            </a:extLst>
          </p:cNvPr>
          <p:cNvPicPr>
            <a:picLocks noChangeAspect="1"/>
          </p:cNvPicPr>
          <p:nvPr/>
        </p:nvPicPr>
        <p:blipFill>
          <a:blip r:embed="rId13"/>
          <a:stretch>
            <a:fillRect/>
          </a:stretch>
        </p:blipFill>
        <p:spPr>
          <a:xfrm>
            <a:off x="13178502" y="7851361"/>
            <a:ext cx="905015" cy="885334"/>
          </a:xfrm>
          <a:prstGeom prst="rect">
            <a:avLst/>
          </a:prstGeom>
        </p:spPr>
      </p:pic>
      <p:pic>
        <p:nvPicPr>
          <p:cNvPr id="38" name="Picture 37">
            <a:extLst>
              <a:ext uri="{FF2B5EF4-FFF2-40B4-BE49-F238E27FC236}">
                <a16:creationId xmlns:a16="http://schemas.microsoft.com/office/drawing/2014/main" id="{3428ACE4-4925-297F-EE9D-BA47B734258E}"/>
              </a:ext>
            </a:extLst>
          </p:cNvPr>
          <p:cNvPicPr>
            <a:picLocks noChangeAspect="1"/>
          </p:cNvPicPr>
          <p:nvPr/>
        </p:nvPicPr>
        <p:blipFill>
          <a:blip r:embed="rId10"/>
          <a:stretch>
            <a:fillRect/>
          </a:stretch>
        </p:blipFill>
        <p:spPr>
          <a:xfrm rot="10800000">
            <a:off x="10211345" y="8481642"/>
            <a:ext cx="742783" cy="609600"/>
          </a:xfrm>
          <a:prstGeom prst="rect">
            <a:avLst/>
          </a:prstGeom>
        </p:spPr>
      </p:pic>
      <p:pic>
        <p:nvPicPr>
          <p:cNvPr id="39" name="Picture 38">
            <a:extLst>
              <a:ext uri="{FF2B5EF4-FFF2-40B4-BE49-F238E27FC236}">
                <a16:creationId xmlns:a16="http://schemas.microsoft.com/office/drawing/2014/main" id="{1C729C52-398D-127E-B0A6-334743509DA3}"/>
              </a:ext>
            </a:extLst>
          </p:cNvPr>
          <p:cNvPicPr>
            <a:picLocks noChangeAspect="1"/>
          </p:cNvPicPr>
          <p:nvPr/>
        </p:nvPicPr>
        <p:blipFill>
          <a:blip r:embed="rId14"/>
          <a:stretch>
            <a:fillRect/>
          </a:stretch>
        </p:blipFill>
        <p:spPr>
          <a:xfrm>
            <a:off x="11181035" y="8129087"/>
            <a:ext cx="560207" cy="171450"/>
          </a:xfrm>
          <a:prstGeom prst="rect">
            <a:avLst/>
          </a:prstGeom>
        </p:spPr>
      </p:pic>
      <p:pic>
        <p:nvPicPr>
          <p:cNvPr id="40" name="Picture 39">
            <a:extLst>
              <a:ext uri="{FF2B5EF4-FFF2-40B4-BE49-F238E27FC236}">
                <a16:creationId xmlns:a16="http://schemas.microsoft.com/office/drawing/2014/main" id="{5E835118-D46C-9E26-48EC-85353E6080DF}"/>
              </a:ext>
            </a:extLst>
          </p:cNvPr>
          <p:cNvPicPr>
            <a:picLocks noChangeAspect="1"/>
          </p:cNvPicPr>
          <p:nvPr/>
        </p:nvPicPr>
        <p:blipFill>
          <a:blip r:embed="rId14"/>
          <a:stretch>
            <a:fillRect/>
          </a:stretch>
        </p:blipFill>
        <p:spPr>
          <a:xfrm rot="10800000">
            <a:off x="12679759" y="8132232"/>
            <a:ext cx="571524" cy="171450"/>
          </a:xfrm>
          <a:prstGeom prst="rect">
            <a:avLst/>
          </a:prstGeom>
        </p:spPr>
      </p:pic>
      <p:pic>
        <p:nvPicPr>
          <p:cNvPr id="41" name="Picture 40">
            <a:extLst>
              <a:ext uri="{FF2B5EF4-FFF2-40B4-BE49-F238E27FC236}">
                <a16:creationId xmlns:a16="http://schemas.microsoft.com/office/drawing/2014/main" id="{E5980C53-B2EB-E43E-DED3-E7D309B47C16}"/>
              </a:ext>
            </a:extLst>
          </p:cNvPr>
          <p:cNvPicPr>
            <a:picLocks noChangeAspect="1"/>
          </p:cNvPicPr>
          <p:nvPr/>
        </p:nvPicPr>
        <p:blipFill>
          <a:blip r:embed="rId14"/>
          <a:stretch>
            <a:fillRect/>
          </a:stretch>
        </p:blipFill>
        <p:spPr>
          <a:xfrm rot="5400000">
            <a:off x="11895226" y="7505328"/>
            <a:ext cx="571524" cy="171450"/>
          </a:xfrm>
          <a:prstGeom prst="rect">
            <a:avLst/>
          </a:prstGeom>
        </p:spPr>
      </p:pic>
      <p:sp>
        <p:nvSpPr>
          <p:cNvPr id="42" name="TextBox 41">
            <a:extLst>
              <a:ext uri="{FF2B5EF4-FFF2-40B4-BE49-F238E27FC236}">
                <a16:creationId xmlns:a16="http://schemas.microsoft.com/office/drawing/2014/main" id="{025E995C-DF99-9964-3156-EA505C50B12E}"/>
              </a:ext>
            </a:extLst>
          </p:cNvPr>
          <p:cNvSpPr txBox="1"/>
          <p:nvPr/>
        </p:nvSpPr>
        <p:spPr>
          <a:xfrm>
            <a:off x="9984308" y="8333367"/>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6" name="TextBox 45">
            <a:extLst>
              <a:ext uri="{FF2B5EF4-FFF2-40B4-BE49-F238E27FC236}">
                <a16:creationId xmlns:a16="http://schemas.microsoft.com/office/drawing/2014/main" id="{86B55A3A-9ABF-6EB2-8933-00B8ECF720D9}"/>
              </a:ext>
            </a:extLst>
          </p:cNvPr>
          <p:cNvSpPr txBox="1"/>
          <p:nvPr/>
        </p:nvSpPr>
        <p:spPr>
          <a:xfrm>
            <a:off x="11927303" y="8070988"/>
            <a:ext cx="758287"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/exec</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0C918654-2920-999C-47B2-F49CB0D9D595}"/>
              </a:ext>
            </a:extLst>
          </p:cNvPr>
          <p:cNvSpPr txBox="1"/>
          <p:nvPr/>
        </p:nvSpPr>
        <p:spPr>
          <a:xfrm>
            <a:off x="13347063" y="8062177"/>
            <a:ext cx="580815" cy="3820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600"/>
              <a:t>/conf</a:t>
            </a:r>
            <a:endParaRPr lang="en-US" sz="1600"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1509E841-D1AB-5815-54E6-C2E25DDD6B58}"/>
              </a:ext>
            </a:extLst>
          </p:cNvPr>
          <p:cNvPicPr>
            <a:picLocks noChangeAspect="1"/>
          </p:cNvPicPr>
          <p:nvPr/>
        </p:nvPicPr>
        <p:blipFill>
          <a:blip r:embed="rId14"/>
          <a:stretch>
            <a:fillRect/>
          </a:stretch>
        </p:blipFill>
        <p:spPr>
          <a:xfrm rot="5400000">
            <a:off x="11936228" y="8891509"/>
            <a:ext cx="571524" cy="171450"/>
          </a:xfrm>
          <a:prstGeom prst="rect">
            <a:avLst/>
          </a:prstGeom>
        </p:spPr>
      </p:pic>
      <p:sp>
        <p:nvSpPr>
          <p:cNvPr id="51" name="TextBox 50">
            <a:extLst>
              <a:ext uri="{FF2B5EF4-FFF2-40B4-BE49-F238E27FC236}">
                <a16:creationId xmlns:a16="http://schemas.microsoft.com/office/drawing/2014/main" id="{45B12AA5-F6AE-2C34-4792-BDE4E300B654}"/>
              </a:ext>
            </a:extLst>
          </p:cNvPr>
          <p:cNvSpPr txBox="1"/>
          <p:nvPr/>
        </p:nvSpPr>
        <p:spPr>
          <a:xfrm>
            <a:off x="10589890" y="8091749"/>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8602706F-D40F-46C9-4C6D-28B66C54999C}"/>
              </a:ext>
            </a:extLst>
          </p:cNvPr>
          <p:cNvSpPr txBox="1"/>
          <p:nvPr/>
        </p:nvSpPr>
        <p:spPr>
          <a:xfrm>
            <a:off x="12746828" y="7382049"/>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9B7FF56A-B0C6-9E4C-4CF6-2AB1B7D102EE}"/>
              </a:ext>
            </a:extLst>
          </p:cNvPr>
          <p:cNvSpPr txBox="1"/>
          <p:nvPr/>
        </p:nvSpPr>
        <p:spPr>
          <a:xfrm>
            <a:off x="11821436" y="996342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7" name="TextBox 6">
            <a:extLst>
              <a:ext uri="{FF2B5EF4-FFF2-40B4-BE49-F238E27FC236}">
                <a16:creationId xmlns:a16="http://schemas.microsoft.com/office/drawing/2014/main" id="{05A2D441-E2B0-E78F-2B76-C52ACD670194}"/>
              </a:ext>
            </a:extLst>
          </p:cNvPr>
          <p:cNvSpPr txBox="1"/>
          <p:nvPr/>
        </p:nvSpPr>
        <p:spPr>
          <a:xfrm>
            <a:off x="4643794" y="1840709"/>
            <a:ext cx="4278139" cy="2811834"/>
          </a:xfrm>
          <a:prstGeom prst="rect">
            <a:avLst/>
          </a:prstGeom>
          <a:noFill/>
          <a:ln w="28575" cap="flat">
            <a:solidFill>
              <a:schemeClr val="tx1">
                <a:lumMod val="5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54" name="Manipulate Variables">
            <a:extLst>
              <a:ext uri="{FF2B5EF4-FFF2-40B4-BE49-F238E27FC236}">
                <a16:creationId xmlns:a16="http://schemas.microsoft.com/office/drawing/2014/main" id="{EE1F7059-5775-AAD1-5817-95DE8099E341}"/>
              </a:ext>
            </a:extLst>
          </p:cNvPr>
          <p:cNvSpPr txBox="1"/>
          <p:nvPr/>
        </p:nvSpPr>
        <p:spPr>
          <a:xfrm>
            <a:off x="9591210" y="5546117"/>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12" name="TextBox 11">
            <a:extLst>
              <a:ext uri="{FF2B5EF4-FFF2-40B4-BE49-F238E27FC236}">
                <a16:creationId xmlns:a16="http://schemas.microsoft.com/office/drawing/2014/main" id="{43A2034E-002D-0267-E1D6-0CCCE8D7C0A1}"/>
              </a:ext>
            </a:extLst>
          </p:cNvPr>
          <p:cNvSpPr txBox="1"/>
          <p:nvPr/>
        </p:nvSpPr>
        <p:spPr>
          <a:xfrm>
            <a:off x="4715459" y="2745691"/>
            <a:ext cx="1766960" cy="17130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19" name="Straight Arrow Connector 18">
            <a:extLst>
              <a:ext uri="{FF2B5EF4-FFF2-40B4-BE49-F238E27FC236}">
                <a16:creationId xmlns:a16="http://schemas.microsoft.com/office/drawing/2014/main" id="{868D9832-AC13-D702-F8F3-1A20621F7FA2}"/>
              </a:ext>
            </a:extLst>
          </p:cNvPr>
          <p:cNvCxnSpPr/>
          <p:nvPr/>
        </p:nvCxnSpPr>
        <p:spPr>
          <a:xfrm>
            <a:off x="5361979" y="2741219"/>
            <a:ext cx="16700" cy="1729244"/>
          </a:xfrm>
          <a:prstGeom prst="straightConnector1">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EA75D361-D46D-DE1D-A799-53F7149292D2}"/>
              </a:ext>
            </a:extLst>
          </p:cNvPr>
          <p:cNvSpPr txBox="1"/>
          <p:nvPr/>
        </p:nvSpPr>
        <p:spPr>
          <a:xfrm>
            <a:off x="4680254" y="2760412"/>
            <a:ext cx="522547" cy="3294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Main</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7" name="Picture 26">
            <a:extLst>
              <a:ext uri="{FF2B5EF4-FFF2-40B4-BE49-F238E27FC236}">
                <a16:creationId xmlns:a16="http://schemas.microsoft.com/office/drawing/2014/main" id="{92CB3265-FB85-B5DB-92CF-D53C8D2975FC}"/>
              </a:ext>
            </a:extLst>
          </p:cNvPr>
          <p:cNvPicPr>
            <a:picLocks noChangeAspect="1"/>
          </p:cNvPicPr>
          <p:nvPr/>
        </p:nvPicPr>
        <p:blipFill>
          <a:blip r:embed="rId12"/>
          <a:stretch>
            <a:fillRect/>
          </a:stretch>
        </p:blipFill>
        <p:spPr>
          <a:xfrm>
            <a:off x="4733822" y="3100466"/>
            <a:ext cx="230047" cy="246546"/>
          </a:xfrm>
          <a:prstGeom prst="rect">
            <a:avLst/>
          </a:prstGeom>
        </p:spPr>
      </p:pic>
      <p:sp>
        <p:nvSpPr>
          <p:cNvPr id="32" name="TextBox 31">
            <a:extLst>
              <a:ext uri="{FF2B5EF4-FFF2-40B4-BE49-F238E27FC236}">
                <a16:creationId xmlns:a16="http://schemas.microsoft.com/office/drawing/2014/main" id="{5B90907C-9BD1-01D6-AB95-BD5642FA0B40}"/>
              </a:ext>
            </a:extLst>
          </p:cNvPr>
          <p:cNvSpPr txBox="1"/>
          <p:nvPr/>
        </p:nvSpPr>
        <p:spPr>
          <a:xfrm>
            <a:off x="5324294" y="2744319"/>
            <a:ext cx="144268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kaiaulu/exec</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6" name="Picture 5">
            <a:extLst>
              <a:ext uri="{FF2B5EF4-FFF2-40B4-BE49-F238E27FC236}">
                <a16:creationId xmlns:a16="http://schemas.microsoft.com/office/drawing/2014/main" id="{3D91532A-95DA-E573-5D8D-5465C528CCE7}"/>
              </a:ext>
            </a:extLst>
          </p:cNvPr>
          <p:cNvPicPr>
            <a:picLocks noChangeAspect="1"/>
          </p:cNvPicPr>
          <p:nvPr/>
        </p:nvPicPr>
        <p:blipFill>
          <a:blip r:embed="rId12"/>
          <a:stretch>
            <a:fillRect/>
          </a:stretch>
        </p:blipFill>
        <p:spPr>
          <a:xfrm>
            <a:off x="4733265" y="3271764"/>
            <a:ext cx="230047" cy="246546"/>
          </a:xfrm>
          <a:prstGeom prst="rect">
            <a:avLst/>
          </a:prstGeom>
        </p:spPr>
      </p:pic>
      <p:pic>
        <p:nvPicPr>
          <p:cNvPr id="9" name="Picture 8">
            <a:extLst>
              <a:ext uri="{FF2B5EF4-FFF2-40B4-BE49-F238E27FC236}">
                <a16:creationId xmlns:a16="http://schemas.microsoft.com/office/drawing/2014/main" id="{DC77BA6D-3B1D-068F-4074-D7F15CA68B43}"/>
              </a:ext>
            </a:extLst>
          </p:cNvPr>
          <p:cNvPicPr>
            <a:picLocks noChangeAspect="1"/>
          </p:cNvPicPr>
          <p:nvPr/>
        </p:nvPicPr>
        <p:blipFill>
          <a:blip r:embed="rId12"/>
          <a:stretch>
            <a:fillRect/>
          </a:stretch>
        </p:blipFill>
        <p:spPr>
          <a:xfrm>
            <a:off x="4740107" y="3463616"/>
            <a:ext cx="230047" cy="246546"/>
          </a:xfrm>
          <a:prstGeom prst="rect">
            <a:avLst/>
          </a:prstGeom>
        </p:spPr>
      </p:pic>
      <p:pic>
        <p:nvPicPr>
          <p:cNvPr id="11" name="Picture 10" descr="A grey square with white lines and dots&#10;&#10;AI-generated content may be incorrect.">
            <a:extLst>
              <a:ext uri="{FF2B5EF4-FFF2-40B4-BE49-F238E27FC236}">
                <a16:creationId xmlns:a16="http://schemas.microsoft.com/office/drawing/2014/main" id="{0519FDBF-9BB6-BCC5-1644-74DA8DDF63CE}"/>
              </a:ext>
            </a:extLst>
          </p:cNvPr>
          <p:cNvPicPr>
            <a:picLocks noChangeAspect="1"/>
          </p:cNvPicPr>
          <p:nvPr/>
        </p:nvPicPr>
        <p:blipFill>
          <a:blip r:embed="rId15"/>
          <a:stretch>
            <a:fillRect/>
          </a:stretch>
        </p:blipFill>
        <p:spPr>
          <a:xfrm>
            <a:off x="5080670" y="2829811"/>
            <a:ext cx="247275" cy="192415"/>
          </a:xfrm>
          <a:prstGeom prst="rect">
            <a:avLst/>
          </a:prstGeom>
        </p:spPr>
      </p:pic>
      <p:pic>
        <p:nvPicPr>
          <p:cNvPr id="14" name="Picture 13">
            <a:extLst>
              <a:ext uri="{FF2B5EF4-FFF2-40B4-BE49-F238E27FC236}">
                <a16:creationId xmlns:a16="http://schemas.microsoft.com/office/drawing/2014/main" id="{11799B11-88C5-A0F3-1EA6-93B0F5C38AE3}"/>
              </a:ext>
            </a:extLst>
          </p:cNvPr>
          <p:cNvPicPr>
            <a:picLocks noChangeAspect="1"/>
          </p:cNvPicPr>
          <p:nvPr/>
        </p:nvPicPr>
        <p:blipFill>
          <a:blip r:embed="rId16"/>
          <a:stretch>
            <a:fillRect/>
          </a:stretch>
        </p:blipFill>
        <p:spPr>
          <a:xfrm>
            <a:off x="4865824" y="3712156"/>
            <a:ext cx="216934" cy="244325"/>
          </a:xfrm>
          <a:prstGeom prst="rect">
            <a:avLst/>
          </a:prstGeom>
        </p:spPr>
      </p:pic>
      <p:pic>
        <p:nvPicPr>
          <p:cNvPr id="15" name="Picture 14">
            <a:extLst>
              <a:ext uri="{FF2B5EF4-FFF2-40B4-BE49-F238E27FC236}">
                <a16:creationId xmlns:a16="http://schemas.microsoft.com/office/drawing/2014/main" id="{CEC341DC-00FF-8CC2-9E02-66DE7DD7BB37}"/>
              </a:ext>
            </a:extLst>
          </p:cNvPr>
          <p:cNvPicPr>
            <a:picLocks noChangeAspect="1"/>
          </p:cNvPicPr>
          <p:nvPr/>
        </p:nvPicPr>
        <p:blipFill>
          <a:blip r:embed="rId16"/>
          <a:stretch>
            <a:fillRect/>
          </a:stretch>
        </p:blipFill>
        <p:spPr>
          <a:xfrm>
            <a:off x="4865252" y="3951970"/>
            <a:ext cx="216934" cy="244325"/>
          </a:xfrm>
          <a:prstGeom prst="rect">
            <a:avLst/>
          </a:prstGeom>
        </p:spPr>
      </p:pic>
      <p:pic>
        <p:nvPicPr>
          <p:cNvPr id="16" name="Picture 15">
            <a:extLst>
              <a:ext uri="{FF2B5EF4-FFF2-40B4-BE49-F238E27FC236}">
                <a16:creationId xmlns:a16="http://schemas.microsoft.com/office/drawing/2014/main" id="{EDCD1DC3-C998-EE2F-94A8-FA8865CA3E2D}"/>
              </a:ext>
            </a:extLst>
          </p:cNvPr>
          <p:cNvPicPr>
            <a:picLocks noChangeAspect="1"/>
          </p:cNvPicPr>
          <p:nvPr/>
        </p:nvPicPr>
        <p:blipFill>
          <a:blip r:embed="rId16"/>
          <a:stretch>
            <a:fillRect/>
          </a:stretch>
        </p:blipFill>
        <p:spPr>
          <a:xfrm>
            <a:off x="4865242" y="4191784"/>
            <a:ext cx="216934" cy="244325"/>
          </a:xfrm>
          <a:prstGeom prst="rect">
            <a:avLst/>
          </a:prstGeom>
        </p:spPr>
      </p:pic>
      <p:pic>
        <p:nvPicPr>
          <p:cNvPr id="18" name="Picture 17">
            <a:extLst>
              <a:ext uri="{FF2B5EF4-FFF2-40B4-BE49-F238E27FC236}">
                <a16:creationId xmlns:a16="http://schemas.microsoft.com/office/drawing/2014/main" id="{E1CA3224-828F-1A48-37A5-97CE0CCB3705}"/>
              </a:ext>
            </a:extLst>
          </p:cNvPr>
          <p:cNvPicPr>
            <a:picLocks noChangeAspect="1"/>
          </p:cNvPicPr>
          <p:nvPr/>
        </p:nvPicPr>
        <p:blipFill>
          <a:blip r:embed="rId16"/>
          <a:stretch>
            <a:fillRect/>
          </a:stretch>
        </p:blipFill>
        <p:spPr>
          <a:xfrm>
            <a:off x="5591590" y="3349038"/>
            <a:ext cx="216934" cy="244325"/>
          </a:xfrm>
          <a:prstGeom prst="rect">
            <a:avLst/>
          </a:prstGeom>
        </p:spPr>
      </p:pic>
      <p:pic>
        <p:nvPicPr>
          <p:cNvPr id="20" name="Picture 19">
            <a:extLst>
              <a:ext uri="{FF2B5EF4-FFF2-40B4-BE49-F238E27FC236}">
                <a16:creationId xmlns:a16="http://schemas.microsoft.com/office/drawing/2014/main" id="{E76861D7-9DAC-47CB-1148-4C0CE7C0B842}"/>
              </a:ext>
            </a:extLst>
          </p:cNvPr>
          <p:cNvPicPr>
            <a:picLocks noChangeAspect="1"/>
          </p:cNvPicPr>
          <p:nvPr/>
        </p:nvPicPr>
        <p:blipFill>
          <a:blip r:embed="rId16"/>
          <a:stretch>
            <a:fillRect/>
          </a:stretch>
        </p:blipFill>
        <p:spPr>
          <a:xfrm>
            <a:off x="5591580" y="3623111"/>
            <a:ext cx="216934" cy="244325"/>
          </a:xfrm>
          <a:prstGeom prst="rect">
            <a:avLst/>
          </a:prstGeom>
        </p:spPr>
      </p:pic>
      <p:pic>
        <p:nvPicPr>
          <p:cNvPr id="21" name="Picture 20">
            <a:extLst>
              <a:ext uri="{FF2B5EF4-FFF2-40B4-BE49-F238E27FC236}">
                <a16:creationId xmlns:a16="http://schemas.microsoft.com/office/drawing/2014/main" id="{21915985-C090-BA1E-FF8E-E8F8B8AEA6EB}"/>
              </a:ext>
            </a:extLst>
          </p:cNvPr>
          <p:cNvPicPr>
            <a:picLocks noChangeAspect="1"/>
          </p:cNvPicPr>
          <p:nvPr/>
        </p:nvPicPr>
        <p:blipFill>
          <a:blip r:embed="rId16"/>
          <a:stretch>
            <a:fillRect/>
          </a:stretch>
        </p:blipFill>
        <p:spPr>
          <a:xfrm>
            <a:off x="5591569" y="3862925"/>
            <a:ext cx="216934" cy="244325"/>
          </a:xfrm>
          <a:prstGeom prst="rect">
            <a:avLst/>
          </a:prstGeom>
        </p:spPr>
      </p:pic>
      <p:pic>
        <p:nvPicPr>
          <p:cNvPr id="34" name="Picture 33">
            <a:extLst>
              <a:ext uri="{FF2B5EF4-FFF2-40B4-BE49-F238E27FC236}">
                <a16:creationId xmlns:a16="http://schemas.microsoft.com/office/drawing/2014/main" id="{0B4F5AC6-A7E6-9E16-4B4E-CBFB7022A4A8}"/>
              </a:ext>
            </a:extLst>
          </p:cNvPr>
          <p:cNvPicPr>
            <a:picLocks noChangeAspect="1"/>
          </p:cNvPicPr>
          <p:nvPr/>
        </p:nvPicPr>
        <p:blipFill>
          <a:blip r:embed="rId12"/>
          <a:stretch>
            <a:fillRect/>
          </a:stretch>
        </p:blipFill>
        <p:spPr>
          <a:xfrm>
            <a:off x="5411099" y="3086776"/>
            <a:ext cx="230047" cy="246546"/>
          </a:xfrm>
          <a:prstGeom prst="rect">
            <a:avLst/>
          </a:prstGeom>
        </p:spPr>
      </p:pic>
      <p:sp>
        <p:nvSpPr>
          <p:cNvPr id="35" name="TextBox 34">
            <a:extLst>
              <a:ext uri="{FF2B5EF4-FFF2-40B4-BE49-F238E27FC236}">
                <a16:creationId xmlns:a16="http://schemas.microsoft.com/office/drawing/2014/main" id="{E49C535E-CAA8-0220-D932-66922187CA87}"/>
              </a:ext>
            </a:extLst>
          </p:cNvPr>
          <p:cNvSpPr txBox="1"/>
          <p:nvPr/>
        </p:nvSpPr>
        <p:spPr>
          <a:xfrm>
            <a:off x="4955937" y="3077527"/>
            <a:ext cx="35595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R</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6" name="TextBox 35">
            <a:extLst>
              <a:ext uri="{FF2B5EF4-FFF2-40B4-BE49-F238E27FC236}">
                <a16:creationId xmlns:a16="http://schemas.microsoft.com/office/drawing/2014/main" id="{4C601D78-0374-3370-45A4-79E1069A3C7C}"/>
              </a:ext>
            </a:extLst>
          </p:cNvPr>
          <p:cNvSpPr txBox="1"/>
          <p:nvPr/>
        </p:nvSpPr>
        <p:spPr>
          <a:xfrm>
            <a:off x="4933359" y="3241119"/>
            <a:ext cx="78783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 name="TextBox 36">
            <a:extLst>
              <a:ext uri="{FF2B5EF4-FFF2-40B4-BE49-F238E27FC236}">
                <a16:creationId xmlns:a16="http://schemas.microsoft.com/office/drawing/2014/main" id="{50DEA2B0-0902-7E1B-E430-5ACC25DE990D}"/>
              </a:ext>
            </a:extLst>
          </p:cNvPr>
          <p:cNvSpPr txBox="1"/>
          <p:nvPr/>
        </p:nvSpPr>
        <p:spPr>
          <a:xfrm>
            <a:off x="4921628" y="3426641"/>
            <a:ext cx="67130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3" name="TextBox 42">
            <a:extLst>
              <a:ext uri="{FF2B5EF4-FFF2-40B4-BE49-F238E27FC236}">
                <a16:creationId xmlns:a16="http://schemas.microsoft.com/office/drawing/2014/main" id="{4D55B57D-7F42-D973-F3BE-4BE0AC3F190E}"/>
              </a:ext>
            </a:extLst>
          </p:cNvPr>
          <p:cNvSpPr txBox="1"/>
          <p:nvPr/>
        </p:nvSpPr>
        <p:spPr>
          <a:xfrm>
            <a:off x="5654150" y="3043301"/>
            <a:ext cx="46547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4" name="TextBox 43">
            <a:extLst>
              <a:ext uri="{FF2B5EF4-FFF2-40B4-BE49-F238E27FC236}">
                <a16:creationId xmlns:a16="http://schemas.microsoft.com/office/drawing/2014/main" id="{54FC265A-BDD9-BED5-B133-BE5B130BF721}"/>
              </a:ext>
            </a:extLst>
          </p:cNvPr>
          <p:cNvSpPr txBox="1"/>
          <p:nvPr/>
        </p:nvSpPr>
        <p:spPr>
          <a:xfrm>
            <a:off x="5914268" y="3296574"/>
            <a:ext cx="58868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git.R</a:t>
            </a:r>
            <a:endParaRPr lang="en-US" sz="1200"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606204A7-D02B-6B34-0D6E-310BF2972AB6}"/>
              </a:ext>
            </a:extLst>
          </p:cNvPr>
          <p:cNvSpPr txBox="1"/>
          <p:nvPr/>
        </p:nvSpPr>
        <p:spPr>
          <a:xfrm>
            <a:off x="5900577" y="3590919"/>
            <a:ext cx="56130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jira.R</a:t>
            </a:r>
            <a:endParaRPr lang="en-US" sz="1200"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47" name="TextBox 46">
            <a:extLst>
              <a:ext uri="{FF2B5EF4-FFF2-40B4-BE49-F238E27FC236}">
                <a16:creationId xmlns:a16="http://schemas.microsoft.com/office/drawing/2014/main" id="{5188F15B-06E6-32C3-7AB5-5C178F50E80D}"/>
              </a:ext>
            </a:extLst>
          </p:cNvPr>
          <p:cNvSpPr txBox="1"/>
          <p:nvPr/>
        </p:nvSpPr>
        <p:spPr>
          <a:xfrm>
            <a:off x="5859416" y="3850967"/>
            <a:ext cx="129491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err="1"/>
              <a:t>ghevents.R</a:t>
            </a:r>
            <a:endParaRPr lang="en-US" sz="800" b="1" i="0" u="none" strike="noStrike" cap="none" spc="0" normalizeH="0" baseline="0">
              <a:ln>
                <a:noFill/>
              </a:ln>
              <a:solidFill>
                <a:srgbClr val="4C4C4C"/>
              </a:solidFill>
              <a:effectLst/>
              <a:uFillTx/>
              <a:latin typeface="Source Sans Pro"/>
              <a:ea typeface="Source Sans Pro"/>
              <a:cs typeface="Source Sans Pro"/>
            </a:endParaRPr>
          </a:p>
        </p:txBody>
      </p:sp>
      <p:sp>
        <p:nvSpPr>
          <p:cNvPr id="48" name="TextBox 47">
            <a:extLst>
              <a:ext uri="{FF2B5EF4-FFF2-40B4-BE49-F238E27FC236}">
                <a16:creationId xmlns:a16="http://schemas.microsoft.com/office/drawing/2014/main" id="{491F9C9F-E80E-33B2-B502-932D933EBC75}"/>
              </a:ext>
            </a:extLst>
          </p:cNvPr>
          <p:cNvSpPr txBox="1"/>
          <p:nvPr/>
        </p:nvSpPr>
        <p:spPr>
          <a:xfrm>
            <a:off x="7392140" y="2064164"/>
            <a:ext cx="1292193" cy="11244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9" name="Connector: Elbow 28">
            <a:extLst>
              <a:ext uri="{FF2B5EF4-FFF2-40B4-BE49-F238E27FC236}">
                <a16:creationId xmlns:a16="http://schemas.microsoft.com/office/drawing/2014/main" id="{8A908A1D-6643-8FDD-C760-2F8DD965A532}"/>
              </a:ext>
            </a:extLst>
          </p:cNvPr>
          <p:cNvCxnSpPr/>
          <p:nvPr/>
        </p:nvCxnSpPr>
        <p:spPr>
          <a:xfrm flipV="1">
            <a:off x="6482687" y="2620272"/>
            <a:ext cx="921206" cy="1012011"/>
          </a:xfrm>
          <a:prstGeom prst="bentConnector3">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30" name="TextBox 29">
            <a:extLst>
              <a:ext uri="{FF2B5EF4-FFF2-40B4-BE49-F238E27FC236}">
                <a16:creationId xmlns:a16="http://schemas.microsoft.com/office/drawing/2014/main" id="{8A11BDDD-4673-42B9-06D8-5EE092A2B752}"/>
              </a:ext>
            </a:extLst>
          </p:cNvPr>
          <p:cNvSpPr txBox="1"/>
          <p:nvPr/>
        </p:nvSpPr>
        <p:spPr>
          <a:xfrm>
            <a:off x="4668898" y="2434938"/>
            <a:ext cx="93123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a:t>/kaiaulu</a:t>
            </a:r>
            <a:endParaRPr lang="en-US" sz="1400" b="1" i="0" u="none" strike="noStrike" cap="none" spc="0" normalizeH="0" baseline="0">
              <a:ln>
                <a:noFill/>
              </a:ln>
              <a:solidFill>
                <a:srgbClr val="4C4C4C"/>
              </a:solidFill>
              <a:effectLst/>
              <a:uFillTx/>
              <a:latin typeface="Source Sans Pro"/>
              <a:ea typeface="Source Sans Pro"/>
              <a:cs typeface="Source Sans Pro"/>
            </a:endParaRPr>
          </a:p>
        </p:txBody>
      </p:sp>
      <p:sp>
        <p:nvSpPr>
          <p:cNvPr id="55" name="TextBox 54">
            <a:extLst>
              <a:ext uri="{FF2B5EF4-FFF2-40B4-BE49-F238E27FC236}">
                <a16:creationId xmlns:a16="http://schemas.microsoft.com/office/drawing/2014/main" id="{909034F4-B100-2A67-1C33-990BCECEBAFA}"/>
              </a:ext>
            </a:extLst>
          </p:cNvPr>
          <p:cNvSpPr txBox="1"/>
          <p:nvPr/>
        </p:nvSpPr>
        <p:spPr>
          <a:xfrm>
            <a:off x="7346012" y="1739059"/>
            <a:ext cx="1115939" cy="3820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600"/>
              <a:t>/</a:t>
            </a:r>
            <a:r>
              <a:rPr lang="en-US" sz="1400"/>
              <a:t>pykumu</a:t>
            </a:r>
            <a:endParaRPr lang="en-US" sz="1400" b="1" i="0" u="none" strike="noStrike" cap="none" spc="0" normalizeH="0" baseline="0">
              <a:ln>
                <a:noFill/>
              </a:ln>
              <a:solidFill>
                <a:srgbClr val="4C4C4C"/>
              </a:solidFill>
              <a:effectLst/>
              <a:uFillTx/>
              <a:latin typeface="Source Sans Pro"/>
              <a:ea typeface="Source Sans Pro"/>
              <a:cs typeface="Source Sans Pro"/>
            </a:endParaRPr>
          </a:p>
        </p:txBody>
      </p:sp>
      <p:pic>
        <p:nvPicPr>
          <p:cNvPr id="56" name="Picture 55" descr="A grey square with white lines and dots&#10;&#10;AI-generated content may be incorrect.">
            <a:extLst>
              <a:ext uri="{FF2B5EF4-FFF2-40B4-BE49-F238E27FC236}">
                <a16:creationId xmlns:a16="http://schemas.microsoft.com/office/drawing/2014/main" id="{FF825361-2EF5-0533-DE04-FCD0E1B668EF}"/>
              </a:ext>
            </a:extLst>
          </p:cNvPr>
          <p:cNvPicPr>
            <a:picLocks noChangeAspect="1"/>
          </p:cNvPicPr>
          <p:nvPr/>
        </p:nvPicPr>
        <p:blipFill>
          <a:blip r:embed="rId15"/>
          <a:stretch>
            <a:fillRect/>
          </a:stretch>
        </p:blipFill>
        <p:spPr>
          <a:xfrm>
            <a:off x="7787079" y="2120150"/>
            <a:ext cx="247275" cy="192415"/>
          </a:xfrm>
          <a:prstGeom prst="rect">
            <a:avLst/>
          </a:prstGeom>
        </p:spPr>
      </p:pic>
      <p:sp>
        <p:nvSpPr>
          <p:cNvPr id="57" name="TextBox 56">
            <a:extLst>
              <a:ext uri="{FF2B5EF4-FFF2-40B4-BE49-F238E27FC236}">
                <a16:creationId xmlns:a16="http://schemas.microsoft.com/office/drawing/2014/main" id="{7272DD01-1679-DCC4-7FF4-4A8389B8F97D}"/>
              </a:ext>
            </a:extLst>
          </p:cNvPr>
          <p:cNvSpPr txBox="1"/>
          <p:nvPr/>
        </p:nvSpPr>
        <p:spPr>
          <a:xfrm>
            <a:off x="7402762" y="2050424"/>
            <a:ext cx="522547" cy="3294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Main</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8" name="TextBox 57">
            <a:extLst>
              <a:ext uri="{FF2B5EF4-FFF2-40B4-BE49-F238E27FC236}">
                <a16:creationId xmlns:a16="http://schemas.microsoft.com/office/drawing/2014/main" id="{436D0432-97A0-92A8-16DD-1B2F3FB5EF6F}"/>
              </a:ext>
            </a:extLst>
          </p:cNvPr>
          <p:cNvSpPr txBox="1"/>
          <p:nvPr/>
        </p:nvSpPr>
        <p:spPr>
          <a:xfrm>
            <a:off x="8063148" y="2047621"/>
            <a:ext cx="64646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&lt;&gt;Code</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61" name="Picture 60">
            <a:extLst>
              <a:ext uri="{FF2B5EF4-FFF2-40B4-BE49-F238E27FC236}">
                <a16:creationId xmlns:a16="http://schemas.microsoft.com/office/drawing/2014/main" id="{8F2415FB-85E5-82FD-1D09-065A0B5D8568}"/>
              </a:ext>
            </a:extLst>
          </p:cNvPr>
          <p:cNvPicPr>
            <a:picLocks noChangeAspect="1"/>
          </p:cNvPicPr>
          <p:nvPr/>
        </p:nvPicPr>
        <p:blipFill>
          <a:blip r:embed="rId12"/>
          <a:stretch>
            <a:fillRect/>
          </a:stretch>
        </p:blipFill>
        <p:spPr>
          <a:xfrm>
            <a:off x="7406900" y="2380383"/>
            <a:ext cx="230047" cy="246546"/>
          </a:xfrm>
          <a:prstGeom prst="rect">
            <a:avLst/>
          </a:prstGeom>
        </p:spPr>
      </p:pic>
      <p:pic>
        <p:nvPicPr>
          <p:cNvPr id="63" name="Picture 62">
            <a:extLst>
              <a:ext uri="{FF2B5EF4-FFF2-40B4-BE49-F238E27FC236}">
                <a16:creationId xmlns:a16="http://schemas.microsoft.com/office/drawing/2014/main" id="{BFBB470A-E9B5-ABAF-541F-42E69A3E1CCA}"/>
              </a:ext>
            </a:extLst>
          </p:cNvPr>
          <p:cNvPicPr>
            <a:picLocks noChangeAspect="1"/>
          </p:cNvPicPr>
          <p:nvPr/>
        </p:nvPicPr>
        <p:blipFill>
          <a:blip r:embed="rId16"/>
          <a:stretch>
            <a:fillRect/>
          </a:stretch>
        </p:blipFill>
        <p:spPr>
          <a:xfrm>
            <a:off x="7423123" y="2904088"/>
            <a:ext cx="216934" cy="244325"/>
          </a:xfrm>
          <a:prstGeom prst="rect">
            <a:avLst/>
          </a:prstGeom>
        </p:spPr>
      </p:pic>
      <p:sp>
        <p:nvSpPr>
          <p:cNvPr id="256" name="TextBox 255">
            <a:extLst>
              <a:ext uri="{FF2B5EF4-FFF2-40B4-BE49-F238E27FC236}">
                <a16:creationId xmlns:a16="http://schemas.microsoft.com/office/drawing/2014/main" id="{C2B68DDA-4B38-CEA1-0166-E444EE098576}"/>
              </a:ext>
            </a:extLst>
          </p:cNvPr>
          <p:cNvSpPr txBox="1"/>
          <p:nvPr/>
        </p:nvSpPr>
        <p:spPr>
          <a:xfrm>
            <a:off x="7621960" y="2341869"/>
            <a:ext cx="84311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pytetrad</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257" name="TextBox 256">
            <a:extLst>
              <a:ext uri="{FF2B5EF4-FFF2-40B4-BE49-F238E27FC236}">
                <a16:creationId xmlns:a16="http://schemas.microsoft.com/office/drawing/2014/main" id="{BCB10064-67A1-A796-7EC2-1D1960DA441E}"/>
              </a:ext>
            </a:extLst>
          </p:cNvPr>
          <p:cNvSpPr txBox="1"/>
          <p:nvPr/>
        </p:nvSpPr>
        <p:spPr>
          <a:xfrm>
            <a:off x="7635531" y="2896423"/>
            <a:ext cx="69352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a:t>README.MD</a:t>
            </a:r>
            <a:endParaRPr lang="en-US" sz="800" b="1" i="0" u="none" strike="noStrike" cap="none" spc="0" normalizeH="0" baseline="0">
              <a:ln>
                <a:noFill/>
              </a:ln>
              <a:solidFill>
                <a:srgbClr val="4C4C4C"/>
              </a:solidFill>
              <a:effectLst/>
              <a:uFillTx/>
              <a:latin typeface="Source Sans Pro"/>
              <a:ea typeface="Source Sans Pro"/>
              <a:cs typeface="Source Sans Pro"/>
            </a:endParaRPr>
          </a:p>
        </p:txBody>
      </p:sp>
      <p:sp>
        <p:nvSpPr>
          <p:cNvPr id="258" name="TextBox 257">
            <a:extLst>
              <a:ext uri="{FF2B5EF4-FFF2-40B4-BE49-F238E27FC236}">
                <a16:creationId xmlns:a16="http://schemas.microsoft.com/office/drawing/2014/main" id="{E74DD8CE-E39E-4498-4F59-DC74F0B5115E}"/>
              </a:ext>
            </a:extLst>
          </p:cNvPr>
          <p:cNvSpPr txBox="1"/>
          <p:nvPr/>
        </p:nvSpPr>
        <p:spPr>
          <a:xfrm>
            <a:off x="7683214" y="2896503"/>
            <a:ext cx="693529" cy="2039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59" name="Picture 258">
            <a:extLst>
              <a:ext uri="{FF2B5EF4-FFF2-40B4-BE49-F238E27FC236}">
                <a16:creationId xmlns:a16="http://schemas.microsoft.com/office/drawing/2014/main" id="{B4607F9B-2C70-86F2-D993-48F0D43303F3}"/>
              </a:ext>
            </a:extLst>
          </p:cNvPr>
          <p:cNvPicPr>
            <a:picLocks noChangeAspect="1"/>
          </p:cNvPicPr>
          <p:nvPr/>
        </p:nvPicPr>
        <p:blipFill>
          <a:blip r:embed="rId12"/>
          <a:stretch>
            <a:fillRect/>
          </a:stretch>
        </p:blipFill>
        <p:spPr>
          <a:xfrm>
            <a:off x="7493646" y="2625342"/>
            <a:ext cx="230047" cy="246546"/>
          </a:xfrm>
          <a:prstGeom prst="rect">
            <a:avLst/>
          </a:prstGeom>
        </p:spPr>
      </p:pic>
      <p:sp>
        <p:nvSpPr>
          <p:cNvPr id="260" name="TextBox 259">
            <a:extLst>
              <a:ext uri="{FF2B5EF4-FFF2-40B4-BE49-F238E27FC236}">
                <a16:creationId xmlns:a16="http://schemas.microsoft.com/office/drawing/2014/main" id="{ABAD5D9F-D061-6E5A-CF77-9ED2E37FD371}"/>
              </a:ext>
            </a:extLst>
          </p:cNvPr>
          <p:cNvSpPr txBox="1"/>
          <p:nvPr/>
        </p:nvSpPr>
        <p:spPr>
          <a:xfrm>
            <a:off x="7744321" y="2579870"/>
            <a:ext cx="36716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R</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61" name="TextBox 260">
            <a:extLst>
              <a:ext uri="{FF2B5EF4-FFF2-40B4-BE49-F238E27FC236}">
                <a16:creationId xmlns:a16="http://schemas.microsoft.com/office/drawing/2014/main" id="{82CFB48A-4E63-1B76-0131-739148E7470C}"/>
              </a:ext>
            </a:extLst>
          </p:cNvPr>
          <p:cNvSpPr txBox="1"/>
          <p:nvPr/>
        </p:nvSpPr>
        <p:spPr>
          <a:xfrm>
            <a:off x="7417639" y="3357395"/>
            <a:ext cx="1292196"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kaiaulu_react</a:t>
            </a:r>
            <a:endParaRPr kumimoji="0" lang="en-US" sz="1200" b="1" i="0" u="none" strike="noStrike" cap="none" spc="0" normalizeH="0" baseline="0" err="1">
              <a:ln>
                <a:noFill/>
              </a:ln>
              <a:solidFill>
                <a:srgbClr val="4C4C4C"/>
              </a:solidFill>
              <a:effectLst/>
              <a:uFillTx/>
              <a:latin typeface="Source Sans Pro"/>
              <a:ea typeface="Source Sans Pro"/>
              <a:cs typeface="Source Sans Pro"/>
              <a:sym typeface="Source Sans Pro"/>
            </a:endParaRPr>
          </a:p>
        </p:txBody>
      </p:sp>
      <p:sp>
        <p:nvSpPr>
          <p:cNvPr id="264" name="TextBox 263">
            <a:extLst>
              <a:ext uri="{FF2B5EF4-FFF2-40B4-BE49-F238E27FC236}">
                <a16:creationId xmlns:a16="http://schemas.microsoft.com/office/drawing/2014/main" id="{10D3FD86-9BD4-603C-6638-B558F5CA3519}"/>
              </a:ext>
            </a:extLst>
          </p:cNvPr>
          <p:cNvSpPr txBox="1"/>
          <p:nvPr/>
        </p:nvSpPr>
        <p:spPr>
          <a:xfrm>
            <a:off x="7409034" y="4173926"/>
            <a:ext cx="1292196"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process_mining</a:t>
            </a:r>
            <a:endParaRPr kumimoji="0" lang="en-US" sz="1200" b="1" i="0" u="none" strike="noStrike" cap="none" spc="0" normalizeH="0" baseline="0" err="1">
              <a:ln>
                <a:noFill/>
              </a:ln>
              <a:solidFill>
                <a:srgbClr val="4C4C4C"/>
              </a:solidFill>
              <a:effectLst/>
              <a:uFillTx/>
              <a:latin typeface="Source Sans Pro"/>
              <a:ea typeface="Source Sans Pro"/>
              <a:cs typeface="Source Sans Pro"/>
              <a:sym typeface="Source Sans Pro"/>
            </a:endParaRPr>
          </a:p>
        </p:txBody>
      </p:sp>
      <p:sp>
        <p:nvSpPr>
          <p:cNvPr id="265" name="TextBox 264">
            <a:extLst>
              <a:ext uri="{FF2B5EF4-FFF2-40B4-BE49-F238E27FC236}">
                <a16:creationId xmlns:a16="http://schemas.microsoft.com/office/drawing/2014/main" id="{34B304C6-6269-3A79-EA64-9C1A4A63BEB5}"/>
              </a:ext>
            </a:extLst>
          </p:cNvPr>
          <p:cNvSpPr txBox="1"/>
          <p:nvPr/>
        </p:nvSpPr>
        <p:spPr>
          <a:xfrm>
            <a:off x="7422613" y="3767441"/>
            <a:ext cx="1292196" cy="289742"/>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sz="1000"/>
              <a:t>/</a:t>
            </a:r>
            <a:r>
              <a:rPr lang="en-US" sz="1000" err="1"/>
              <a:t>sentiment_classifier</a:t>
            </a:r>
            <a:endParaRPr lang="en-US" sz="1000"/>
          </a:p>
        </p:txBody>
      </p:sp>
      <p:cxnSp>
        <p:nvCxnSpPr>
          <p:cNvPr id="267" name="Connector: Elbow 266">
            <a:extLst>
              <a:ext uri="{FF2B5EF4-FFF2-40B4-BE49-F238E27FC236}">
                <a16:creationId xmlns:a16="http://schemas.microsoft.com/office/drawing/2014/main" id="{E91F9FA5-AB4A-E9ED-FDD5-2D358A418279}"/>
              </a:ext>
            </a:extLst>
          </p:cNvPr>
          <p:cNvCxnSpPr/>
          <p:nvPr/>
        </p:nvCxnSpPr>
        <p:spPr>
          <a:xfrm flipV="1">
            <a:off x="6934608" y="3512207"/>
            <a:ext cx="465074" cy="12017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8" name="Connector: Elbow 267">
            <a:extLst>
              <a:ext uri="{FF2B5EF4-FFF2-40B4-BE49-F238E27FC236}">
                <a16:creationId xmlns:a16="http://schemas.microsoft.com/office/drawing/2014/main" id="{618298F4-6849-E0F8-CDC7-266DB1E6CDBC}"/>
              </a:ext>
            </a:extLst>
          </p:cNvPr>
          <p:cNvCxnSpPr>
            <a:cxnSpLocks/>
          </p:cNvCxnSpPr>
          <p:nvPr/>
        </p:nvCxnSpPr>
        <p:spPr>
          <a:xfrm>
            <a:off x="6544795" y="3638242"/>
            <a:ext cx="839519" cy="682984"/>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Connector: Elbow 268">
            <a:extLst>
              <a:ext uri="{FF2B5EF4-FFF2-40B4-BE49-F238E27FC236}">
                <a16:creationId xmlns:a16="http://schemas.microsoft.com/office/drawing/2014/main" id="{E334B03B-B342-585E-29E4-C1E6B9047E62}"/>
              </a:ext>
            </a:extLst>
          </p:cNvPr>
          <p:cNvCxnSpPr>
            <a:cxnSpLocks/>
          </p:cNvCxnSpPr>
          <p:nvPr/>
        </p:nvCxnSpPr>
        <p:spPr>
          <a:xfrm>
            <a:off x="6551621" y="3625492"/>
            <a:ext cx="859938" cy="301823"/>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0" name="TextBox 269">
            <a:extLst>
              <a:ext uri="{FF2B5EF4-FFF2-40B4-BE49-F238E27FC236}">
                <a16:creationId xmlns:a16="http://schemas.microsoft.com/office/drawing/2014/main" id="{8CC8337B-8B89-D0F8-C1C9-6CFA3EA3CFCE}"/>
              </a:ext>
            </a:extLst>
          </p:cNvPr>
          <p:cNvSpPr txBox="1"/>
          <p:nvPr/>
        </p:nvSpPr>
        <p:spPr>
          <a:xfrm>
            <a:off x="7485696" y="4833567"/>
            <a:ext cx="1292193" cy="11244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71" name="Connector: Elbow 270">
            <a:extLst>
              <a:ext uri="{FF2B5EF4-FFF2-40B4-BE49-F238E27FC236}">
                <a16:creationId xmlns:a16="http://schemas.microsoft.com/office/drawing/2014/main" id="{FB3B4150-75BF-D3BC-1B2D-274567212239}"/>
              </a:ext>
            </a:extLst>
          </p:cNvPr>
          <p:cNvCxnSpPr>
            <a:cxnSpLocks/>
          </p:cNvCxnSpPr>
          <p:nvPr/>
        </p:nvCxnSpPr>
        <p:spPr>
          <a:xfrm>
            <a:off x="6481960" y="3637925"/>
            <a:ext cx="1002910" cy="1758400"/>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2" name="TextBox 271">
            <a:extLst>
              <a:ext uri="{FF2B5EF4-FFF2-40B4-BE49-F238E27FC236}">
                <a16:creationId xmlns:a16="http://schemas.microsoft.com/office/drawing/2014/main" id="{8CD988C8-ADEB-3384-228F-861A8FA98AD6}"/>
              </a:ext>
            </a:extLst>
          </p:cNvPr>
          <p:cNvSpPr txBox="1"/>
          <p:nvPr/>
        </p:nvSpPr>
        <p:spPr>
          <a:xfrm>
            <a:off x="7554033" y="5146100"/>
            <a:ext cx="1081496"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3" name="TextBox 272">
            <a:extLst>
              <a:ext uri="{FF2B5EF4-FFF2-40B4-BE49-F238E27FC236}">
                <a16:creationId xmlns:a16="http://schemas.microsoft.com/office/drawing/2014/main" id="{826869CF-B97E-DF25-077B-5DD31069CF57}"/>
              </a:ext>
            </a:extLst>
          </p:cNvPr>
          <p:cNvSpPr txBox="1"/>
          <p:nvPr/>
        </p:nvSpPr>
        <p:spPr>
          <a:xfrm>
            <a:off x="299195" y="1878307"/>
            <a:ext cx="417477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Executables provide access to </a:t>
            </a:r>
            <a:r>
              <a:rPr lang="en-US" err="1"/>
              <a:t>kaiaulu's</a:t>
            </a:r>
            <a:r>
              <a:rPr lang="en-US"/>
              <a:t> functions through a command line interface. This allows </a:t>
            </a:r>
            <a:r>
              <a:rPr lang="en-US" err="1"/>
              <a:t>server side</a:t>
            </a:r>
            <a:r>
              <a:rPr lang="en-US"/>
              <a:t> execution which is useful for </a:t>
            </a:r>
            <a:r>
              <a:rPr lang="en-US" err="1"/>
              <a:t>consta</a:t>
            </a:r>
            <a:r>
              <a:rPr lang="en-US"/>
              <a:t>nt refreshes.</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274" name="TextBox 273">
            <a:extLst>
              <a:ext uri="{FF2B5EF4-FFF2-40B4-BE49-F238E27FC236}">
                <a16:creationId xmlns:a16="http://schemas.microsoft.com/office/drawing/2014/main" id="{CC52C633-D2CC-A5F0-3EED-8C43B513E5E7}"/>
              </a:ext>
            </a:extLst>
          </p:cNvPr>
          <p:cNvSpPr txBox="1"/>
          <p:nvPr/>
        </p:nvSpPr>
        <p:spPr>
          <a:xfrm>
            <a:off x="9631514" y="5885486"/>
            <a:ext cx="3717165" cy="1269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b="0">
                <a:solidFill>
                  <a:srgbClr val="000000"/>
                </a:solidFill>
                <a:latin typeface="Helvetica"/>
                <a:ea typeface="Helvetica"/>
                <a:cs typeface="Helvetica"/>
              </a:rPr>
              <a:t>The monitoring system utilizes Cron jobs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30F6AFC9-99C5-294F-F5EA-460172C13C04}"/>
              </a:ext>
            </a:extLst>
          </p:cNvPr>
          <p:cNvSpPr txBox="1"/>
          <p:nvPr/>
        </p:nvSpPr>
        <p:spPr>
          <a:xfrm>
            <a:off x="4677921" y="6170137"/>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t>Sailuh</a:t>
            </a:r>
            <a:r>
              <a:rPr lang="en-US" b="0"/>
              <a:t> tools such as </a:t>
            </a:r>
            <a:r>
              <a:rPr lang="en-US" b="0" err="1"/>
              <a:t>pykumu</a:t>
            </a:r>
            <a:r>
              <a:rPr lang="en-US" b="0"/>
              <a:t> rely on </a:t>
            </a:r>
            <a:r>
              <a:rPr lang="en-US" b="0" err="1"/>
              <a:t>kaiaulu</a:t>
            </a:r>
            <a:r>
              <a:rPr lang="en-US" b="0"/>
              <a:t> executables to download and refresh data. </a:t>
            </a:r>
            <a:r>
              <a:rPr lang="en-US" b="0" err="1"/>
              <a:t>Kaiaulu</a:t>
            </a:r>
            <a:r>
              <a:rPr lang="en-US" b="0"/>
              <a:t> executable are also made to provide </a:t>
            </a:r>
            <a:r>
              <a:rPr lang="en-US" b="0" err="1"/>
              <a:t>kaiaulu's</a:t>
            </a:r>
            <a:r>
              <a:rPr lang="en-US" b="0"/>
              <a:t> functions to users, tools, and projects outside of the </a:t>
            </a:r>
            <a:r>
              <a:rPr lang="en-US" b="0" err="1"/>
              <a:t>sailuh</a:t>
            </a:r>
            <a:r>
              <a:rPr lang="en-US" b="0"/>
              <a:t> ecosystem.</a:t>
            </a:r>
          </a:p>
        </p:txBody>
      </p:sp>
      <p:pic>
        <p:nvPicPr>
          <p:cNvPr id="276" name="Picture 275" descr="A diagram of a computer data processing&#10;&#10;AI-generated content may be incorrect.">
            <a:extLst>
              <a:ext uri="{FF2B5EF4-FFF2-40B4-BE49-F238E27FC236}">
                <a16:creationId xmlns:a16="http://schemas.microsoft.com/office/drawing/2014/main" id="{8D8871E0-779C-6340-B9C0-C5BBD2B5D09C}"/>
              </a:ext>
            </a:extLst>
          </p:cNvPr>
          <p:cNvPicPr>
            <a:picLocks noChangeAspect="1"/>
          </p:cNvPicPr>
          <p:nvPr/>
        </p:nvPicPr>
        <p:blipFill>
          <a:blip r:embed="rId17"/>
          <a:stretch>
            <a:fillRect/>
          </a:stretch>
        </p:blipFill>
        <p:spPr>
          <a:xfrm>
            <a:off x="9648869" y="2062631"/>
            <a:ext cx="3448841" cy="3305175"/>
          </a:xfrm>
          <a:prstGeom prst="rect">
            <a:avLst/>
          </a:prstGeom>
        </p:spPr>
      </p:pic>
    </p:spTree>
    <p:extLst>
      <p:ext uri="{BB962C8B-B14F-4D97-AF65-F5344CB8AC3E}">
        <p14:creationId xmlns:p14="http://schemas.microsoft.com/office/powerpoint/2010/main" val="130875114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63BD9-8780-D9C7-25B2-2790C8C0409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220A0AF-AF09-6A76-E8EA-D58E76CD71A7}"/>
              </a:ext>
            </a:extLst>
          </p:cNvPr>
          <p:cNvSpPr txBox="1"/>
          <p:nvPr/>
        </p:nvSpPr>
        <p:spPr>
          <a:xfrm>
            <a:off x="4672940" y="3039623"/>
            <a:ext cx="4802583" cy="2827038"/>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cxnSp>
        <p:nvCxnSpPr>
          <p:cNvPr id="271" name="Connector: Elbow 270">
            <a:extLst>
              <a:ext uri="{FF2B5EF4-FFF2-40B4-BE49-F238E27FC236}">
                <a16:creationId xmlns:a16="http://schemas.microsoft.com/office/drawing/2014/main" id="{B417822C-0FF2-0CF2-CDEC-52E51CD2E7A2}"/>
              </a:ext>
            </a:extLst>
          </p:cNvPr>
          <p:cNvCxnSpPr>
            <a:cxnSpLocks/>
          </p:cNvCxnSpPr>
          <p:nvPr/>
        </p:nvCxnSpPr>
        <p:spPr>
          <a:xfrm>
            <a:off x="7537061" y="4455057"/>
            <a:ext cx="560895" cy="2056618"/>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8" name="Connector: Elbow 267">
            <a:extLst>
              <a:ext uri="{FF2B5EF4-FFF2-40B4-BE49-F238E27FC236}">
                <a16:creationId xmlns:a16="http://schemas.microsoft.com/office/drawing/2014/main" id="{89913F77-5694-5090-DCF2-A9F5B3DFE2D9}"/>
              </a:ext>
            </a:extLst>
          </p:cNvPr>
          <p:cNvCxnSpPr>
            <a:cxnSpLocks/>
          </p:cNvCxnSpPr>
          <p:nvPr/>
        </p:nvCxnSpPr>
        <p:spPr>
          <a:xfrm>
            <a:off x="7503054" y="4459897"/>
            <a:ext cx="562764" cy="977577"/>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Connector: Elbow 268">
            <a:extLst>
              <a:ext uri="{FF2B5EF4-FFF2-40B4-BE49-F238E27FC236}">
                <a16:creationId xmlns:a16="http://schemas.microsoft.com/office/drawing/2014/main" id="{729D653F-8B78-33C0-ACD5-339ECCCAAF9A}"/>
              </a:ext>
            </a:extLst>
          </p:cNvPr>
          <p:cNvCxnSpPr>
            <a:cxnSpLocks/>
          </p:cNvCxnSpPr>
          <p:nvPr/>
        </p:nvCxnSpPr>
        <p:spPr>
          <a:xfrm>
            <a:off x="7483947" y="4461454"/>
            <a:ext cx="594810" cy="574507"/>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8" name="TextBox 277">
            <a:extLst>
              <a:ext uri="{FF2B5EF4-FFF2-40B4-BE49-F238E27FC236}">
                <a16:creationId xmlns:a16="http://schemas.microsoft.com/office/drawing/2014/main" id="{B8BF0743-9FE8-B60C-5E44-E744AC5AB091}"/>
              </a:ext>
            </a:extLst>
          </p:cNvPr>
          <p:cNvSpPr txBox="1"/>
          <p:nvPr/>
        </p:nvSpPr>
        <p:spPr>
          <a:xfrm>
            <a:off x="12642312" y="3541575"/>
            <a:ext cx="951830" cy="1169391"/>
          </a:xfrm>
          <a:prstGeom prst="rect">
            <a:avLst/>
          </a:prstGeom>
          <a:noFill/>
          <a:ln w="1270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descr="A diagram of a project&#10;&#10;AI-generated content may be incorrect.">
            <a:extLst>
              <a:ext uri="{FF2B5EF4-FFF2-40B4-BE49-F238E27FC236}">
                <a16:creationId xmlns:a16="http://schemas.microsoft.com/office/drawing/2014/main" id="{109D5CAD-C9B0-BD54-F9F3-FD15E01CFA00}"/>
              </a:ext>
            </a:extLst>
          </p:cNvPr>
          <p:cNvPicPr>
            <a:picLocks noChangeAspect="1"/>
          </p:cNvPicPr>
          <p:nvPr/>
        </p:nvPicPr>
        <p:blipFill>
          <a:blip r:embed="rId3"/>
          <a:stretch>
            <a:fillRect/>
          </a:stretch>
        </p:blipFill>
        <p:spPr>
          <a:xfrm>
            <a:off x="9661882" y="2737870"/>
            <a:ext cx="2792562" cy="2715314"/>
          </a:xfrm>
          <a:prstGeom prst="rect">
            <a:avLst/>
          </a:prstGeom>
        </p:spPr>
      </p:pic>
      <p:pic>
        <p:nvPicPr>
          <p:cNvPr id="292" name="Image" descr="Image">
            <a:extLst>
              <a:ext uri="{FF2B5EF4-FFF2-40B4-BE49-F238E27FC236}">
                <a16:creationId xmlns:a16="http://schemas.microsoft.com/office/drawing/2014/main" id="{7B42ED0D-F92B-DB6F-45C6-3DB159461999}"/>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00E23AD1-0B30-9963-3C78-D7304D7DE19C}"/>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7399B30F-1CA4-7C10-CBFA-ED07C030C677}"/>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B0DE6EA9-4837-8A0B-44F5-17EB85F15C90}"/>
              </a:ext>
            </a:extLst>
          </p:cNvPr>
          <p:cNvSpPr/>
          <p:nvPr/>
        </p:nvSpPr>
        <p:spPr>
          <a:xfrm>
            <a:off x="219190" y="3028249"/>
            <a:ext cx="4287831" cy="5377268"/>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C6F2AD89-8E59-F4AC-C86A-7928B7C3D890}"/>
              </a:ext>
            </a:extLst>
          </p:cNvPr>
          <p:cNvSpPr txBox="1"/>
          <p:nvPr/>
        </p:nvSpPr>
        <p:spPr>
          <a:xfrm>
            <a:off x="312145" y="3175625"/>
            <a:ext cx="276678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513D4110-D16A-BCDA-130A-C2827734617A}"/>
              </a:ext>
            </a:extLst>
          </p:cNvPr>
          <p:cNvSpPr txBox="1"/>
          <p:nvPr/>
        </p:nvSpPr>
        <p:spPr>
          <a:xfrm>
            <a:off x="301285" y="3671161"/>
            <a:ext cx="4264736"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1">
                <a:latin typeface="Source Sans Pro" panose="020B0503030403020204" pitchFamily="34" charset="0"/>
                <a:ea typeface="Source Sans Pro" panose="020B0503030403020204" pitchFamily="34" charset="0"/>
                <a:cs typeface="Arial" panose="020B0604020202020204" pitchFamily="34" charset="0"/>
              </a:rPr>
              <a:t>The first part of running any vignette is setting up your project configuration file (examples in conf/</a:t>
            </a:r>
            <a:r>
              <a:rPr lang="en-US" b="1" err="1">
                <a:latin typeface="Source Sans Pro" panose="020B0503030403020204" pitchFamily="34" charset="0"/>
                <a:ea typeface="Source Sans Pro" panose="020B0503030403020204" pitchFamily="34" charset="0"/>
                <a:cs typeface="Arial" panose="020B0604020202020204" pitchFamily="34" charset="0"/>
              </a:rPr>
              <a:t>kaiaulu</a:t>
            </a:r>
            <a:r>
              <a:rPr lang="en-US" b="1">
                <a:latin typeface="Source Sans Pro" panose="020B0503030403020204" pitchFamily="34" charset="0"/>
                <a:ea typeface="Source Sans Pro" panose="020B0503030403020204" pitchFamily="34" charset="0"/>
                <a:cs typeface="Arial" panose="020B0604020202020204" pitchFamily="34" charset="0"/>
              </a:rPr>
              <a:t>).</a:t>
            </a:r>
            <a:r>
              <a:rPr>
                <a:latin typeface="Source Sans Pro" panose="020B0503030403020204" pitchFamily="34" charset="0"/>
                <a:ea typeface="Source Sans Pro" panose="020B0503030403020204" pitchFamily="34" charset="0"/>
                <a:cs typeface="Arial" panose="020B0604020202020204" pitchFamily="34" charset="0"/>
              </a:rPr>
              <a:t> </a:t>
            </a:r>
          </a:p>
        </p:txBody>
      </p:sp>
      <p:sp>
        <p:nvSpPr>
          <p:cNvPr id="324" name="Cheatsheets make it easy for R users…">
            <a:extLst>
              <a:ext uri="{FF2B5EF4-FFF2-40B4-BE49-F238E27FC236}">
                <a16:creationId xmlns:a16="http://schemas.microsoft.com/office/drawing/2014/main" id="{9F4533A8-DE02-A0BB-AE1B-5384268484FE}"/>
              </a:ext>
            </a:extLst>
          </p:cNvPr>
          <p:cNvSpPr txBox="1"/>
          <p:nvPr/>
        </p:nvSpPr>
        <p:spPr>
          <a:xfrm>
            <a:off x="329262" y="4164915"/>
            <a:ext cx="4078707" cy="4116806"/>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algn="ctr">
              <a:lnSpc>
                <a:spcPct val="90000"/>
              </a:lnSpc>
              <a:spcBef>
                <a:spcPts val="0"/>
              </a:spcBef>
              <a:defRPr>
                <a:solidFill>
                  <a:srgbClr val="000000"/>
                </a:solidFill>
              </a:defRPr>
            </a:pPr>
            <a:endParaRPr lang="en-US" sz="1400">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filter:</a:t>
            </a:r>
          </a:p>
          <a:p>
            <a:pPr>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a:t>
            </a:r>
          </a:p>
          <a:p>
            <a:pPr>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 panose="020B0604020202020204" pitchFamily="34" charset="0"/>
              <a:buChar char="•"/>
              <a:defRPr>
                <a:solidFill>
                  <a:srgbClr val="000000"/>
                </a:solidFill>
              </a:defRPr>
            </a:pPr>
            <a:r>
              <a:rPr lang="en-US" err="1">
                <a:latin typeface="Source Sans Pro" panose="020B0503030403020204" pitchFamily="34" charset="0"/>
                <a:ea typeface="Source Sans Pro" panose="020B0503030403020204" pitchFamily="34" charset="0"/>
                <a:cs typeface="Arial" panose="020B0604020202020204" pitchFamily="34" charset="0"/>
              </a:rPr>
              <a:t>issue_tracker</a:t>
            </a:r>
            <a:r>
              <a:rPr lang="en-US">
                <a:latin typeface="Source Sans Pro" panose="020B0503030403020204" pitchFamily="34" charset="0"/>
                <a:ea typeface="Source Sans Pro" panose="020B0503030403020204" pitchFamily="34" charset="0"/>
                <a:cs typeface="Arial" panose="020B0604020202020204" pitchFamily="34" charset="0"/>
              </a:rPr>
              <a:t>:</a:t>
            </a:r>
          </a:p>
          <a:p>
            <a:pPr lvl="3" indent="0">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 panose="020B0604020202020204" pitchFamily="34" charset="0"/>
              <a:buChar char="•"/>
              <a:defRPr>
                <a:solidFill>
                  <a:srgbClr val="000000"/>
                </a:solidFill>
              </a:defRPr>
            </a:pPr>
            <a:r>
              <a:rPr lang="en-US">
                <a:latin typeface="Source Sans Pro" panose="020B0503030403020204" pitchFamily="34" charset="0"/>
                <a:ea typeface="Source Sans Pro" panose="020B0503030403020204" pitchFamily="34" charset="0"/>
                <a:cs typeface="Arial" panose="020B0604020202020204" pitchFamily="34" charset="0"/>
              </a:rPr>
              <a:t>tool:</a:t>
            </a:r>
          </a:p>
          <a:p>
            <a:pPr lvl="3" indent="0">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610DFC83-218B-779B-58A2-1D87066F1F56}"/>
              </a:ext>
            </a:extLst>
          </p:cNvPr>
          <p:cNvSpPr txBox="1"/>
          <p:nvPr/>
        </p:nvSpPr>
        <p:spPr>
          <a:xfrm>
            <a:off x="9592056" y="1518250"/>
            <a:ext cx="197810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0" name="Line">
            <a:extLst>
              <a:ext uri="{FF2B5EF4-FFF2-40B4-BE49-F238E27FC236}">
                <a16:creationId xmlns:a16="http://schemas.microsoft.com/office/drawing/2014/main" id="{7C8B4849-EFF0-24E1-47DC-426E9D03EC0C}"/>
              </a:ext>
            </a:extLst>
          </p:cNvPr>
          <p:cNvSpPr/>
          <p:nvPr/>
        </p:nvSpPr>
        <p:spPr>
          <a:xfrm>
            <a:off x="329263" y="3031835"/>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4" name="Three Column Layout: : CHEAT SHEET">
            <a:extLst>
              <a:ext uri="{FF2B5EF4-FFF2-40B4-BE49-F238E27FC236}">
                <a16:creationId xmlns:a16="http://schemas.microsoft.com/office/drawing/2014/main" id="{0234D3B9-89BA-1586-6641-7CDC9D82CFC8}"/>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745CA74B-ED63-FD94-1E0A-F85EE1C8582F}"/>
              </a:ext>
            </a:extLst>
          </p:cNvPr>
          <p:cNvSpPr txBox="1"/>
          <p:nvPr/>
        </p:nvSpPr>
        <p:spPr>
          <a:xfrm>
            <a:off x="4663440" y="1513595"/>
            <a:ext cx="209352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FD464CA3-16D5-328B-8A40-70C5B8929672}"/>
              </a:ext>
            </a:extLst>
          </p:cNvPr>
          <p:cNvSpPr txBox="1"/>
          <p:nvPr/>
        </p:nvSpPr>
        <p:spPr>
          <a:xfrm>
            <a:off x="275721" y="1519235"/>
            <a:ext cx="26212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hank you for making a new cheatsheet for R! These cheatsheets have an important job:">
            <a:extLst>
              <a:ext uri="{FF2B5EF4-FFF2-40B4-BE49-F238E27FC236}">
                <a16:creationId xmlns:a16="http://schemas.microsoft.com/office/drawing/2014/main" id="{CBC3551B-8D03-70AF-E5A5-2B750CF94DD4}"/>
              </a:ext>
            </a:extLst>
          </p:cNvPr>
          <p:cNvSpPr txBox="1"/>
          <p:nvPr/>
        </p:nvSpPr>
        <p:spPr>
          <a:xfrm>
            <a:off x="301285" y="8476809"/>
            <a:ext cx="4264736"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pPr>
              <a:lnSpc>
                <a:spcPct val="90000"/>
              </a:lnSpc>
              <a:spcBef>
                <a:spcPts val="0"/>
              </a:spcBef>
              <a:buClr>
                <a:schemeClr val="accent4">
                  <a:hueOff val="384618"/>
                  <a:satOff val="3869"/>
                  <a:lumOff val="5802"/>
                </a:schemeClr>
              </a:buClr>
              <a:defRPr b="0">
                <a:solidFill>
                  <a:srgbClr val="000000"/>
                </a:solidFill>
              </a:defRPr>
            </a:pPr>
            <a:endParaRPr/>
          </a:p>
        </p:txBody>
      </p:sp>
      <p:pic>
        <p:nvPicPr>
          <p:cNvPr id="8" name="Picture 7" descr="A picture containing text&#10;&#10;Description automatically generated">
            <a:extLst>
              <a:ext uri="{FF2B5EF4-FFF2-40B4-BE49-F238E27FC236}">
                <a16:creationId xmlns:a16="http://schemas.microsoft.com/office/drawing/2014/main" id="{1627E223-B512-74E2-7DDF-84D3D76C71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97BC6570-04D0-3775-EEF7-6AFC78B00585}"/>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FD0EA65F-30B4-EC27-CAD8-FDECDE8CBFAC}"/>
              </a:ext>
            </a:extLst>
          </p:cNvPr>
          <p:cNvSpPr/>
          <p:nvPr/>
        </p:nvSpPr>
        <p:spPr>
          <a:xfrm>
            <a:off x="213255" y="8771747"/>
            <a:ext cx="4346831" cy="138051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5C94A4FF-6200-BCAD-9F27-E93880E62BB6}"/>
              </a:ext>
            </a:extLst>
          </p:cNvPr>
          <p:cNvSpPr txBox="1"/>
          <p:nvPr/>
        </p:nvSpPr>
        <p:spPr>
          <a:xfrm>
            <a:off x="329262" y="8874348"/>
            <a:ext cx="254396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E2B6EBB8-9148-4ED5-7A8B-72AFA44683B3}"/>
              </a:ext>
            </a:extLst>
          </p:cNvPr>
          <p:cNvSpPr txBox="1"/>
          <p:nvPr/>
        </p:nvSpPr>
        <p:spPr>
          <a:xfrm>
            <a:off x="329629" y="9212932"/>
            <a:ext cx="4078707" cy="760703"/>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CB542E8E-BBC1-1992-81EB-8B21B1762D91}"/>
              </a:ext>
            </a:extLst>
          </p:cNvPr>
          <p:cNvPicPr>
            <a:picLocks noChangeAspect="1"/>
          </p:cNvPicPr>
          <p:nvPr/>
        </p:nvPicPr>
        <p:blipFill>
          <a:blip r:embed="rId7"/>
          <a:stretch>
            <a:fillRect/>
          </a:stretch>
        </p:blipFill>
        <p:spPr>
          <a:xfrm>
            <a:off x="11948645" y="9364583"/>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AF0D4A78-EE55-CD08-CEF2-99845BC781EE}"/>
              </a:ext>
            </a:extLst>
          </p:cNvPr>
          <p:cNvSpPr txBox="1"/>
          <p:nvPr/>
        </p:nvSpPr>
        <p:spPr>
          <a:xfrm>
            <a:off x="203866" y="8449555"/>
            <a:ext cx="4369511" cy="2764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lvl="0">
              <a:lnSpc>
                <a:spcPct val="90000"/>
              </a:lnSpc>
              <a:buSzPts val="3700"/>
            </a:pPr>
            <a:r>
              <a:rPr lang="en-US" b="0">
                <a:latin typeface="Source Sans Pro" panose="020B0503030403020204" pitchFamily="34" charset="0"/>
                <a:ea typeface="Source Sans Pro" panose="020B0503030403020204" pitchFamily="34" charset="0"/>
                <a:cs typeface="Arial" panose="020B0604020202020204" pitchFamily="34" charset="0"/>
              </a:rPr>
              <a:t>You should also specify the required external tools in </a:t>
            </a:r>
            <a:r>
              <a:rPr lang="en-US" b="0" err="1">
                <a:latin typeface="Source Sans Pro" panose="020B0503030403020204" pitchFamily="34" charset="0"/>
                <a:ea typeface="Source Sans Pro" panose="020B0503030403020204" pitchFamily="34" charset="0"/>
                <a:cs typeface="Arial" panose="020B0604020202020204" pitchFamily="34" charset="0"/>
              </a:rPr>
              <a:t>tools.yml</a:t>
            </a:r>
            <a:r>
              <a:rPr lang="en-US" b="0">
                <a:latin typeface="Source Sans Pro" panose="020B0503030403020204" pitchFamily="34" charset="0"/>
                <a:ea typeface="Source Sans Pro" panose="020B0503030403020204" pitchFamily="34" charset="0"/>
                <a:cs typeface="Arial" panose="020B0604020202020204" pitchFamily="34" charset="0"/>
              </a:rPr>
              <a:t>:</a:t>
            </a:r>
            <a:endParaRPr lang="en-US" b="0" u="sng">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8"/>
            </a:endParaRPr>
          </a:p>
        </p:txBody>
      </p:sp>
      <p:pic>
        <p:nvPicPr>
          <p:cNvPr id="17" name="Picture 16">
            <a:extLst>
              <a:ext uri="{FF2B5EF4-FFF2-40B4-BE49-F238E27FC236}">
                <a16:creationId xmlns:a16="http://schemas.microsoft.com/office/drawing/2014/main" id="{5A9BD97C-8ADD-A1DF-4958-130D434F57DA}"/>
              </a:ext>
            </a:extLst>
          </p:cNvPr>
          <p:cNvPicPr>
            <a:picLocks noChangeAspect="1"/>
          </p:cNvPicPr>
          <p:nvPr/>
        </p:nvPicPr>
        <p:blipFill>
          <a:blip r:embed="rId9"/>
          <a:stretch>
            <a:fillRect/>
          </a:stretch>
        </p:blipFill>
        <p:spPr>
          <a:xfrm>
            <a:off x="11910432" y="6724549"/>
            <a:ext cx="546328" cy="546436"/>
          </a:xfrm>
          <a:prstGeom prst="rect">
            <a:avLst/>
          </a:prstGeom>
        </p:spPr>
      </p:pic>
      <p:pic>
        <p:nvPicPr>
          <p:cNvPr id="23" name="Picture 22">
            <a:extLst>
              <a:ext uri="{FF2B5EF4-FFF2-40B4-BE49-F238E27FC236}">
                <a16:creationId xmlns:a16="http://schemas.microsoft.com/office/drawing/2014/main" id="{40B3A164-01B1-6145-32BA-DDBA9194D4D0}"/>
              </a:ext>
            </a:extLst>
          </p:cNvPr>
          <p:cNvPicPr>
            <a:picLocks noChangeAspect="1"/>
          </p:cNvPicPr>
          <p:nvPr/>
        </p:nvPicPr>
        <p:blipFill>
          <a:blip r:embed="rId10"/>
          <a:stretch>
            <a:fillRect/>
          </a:stretch>
        </p:blipFill>
        <p:spPr>
          <a:xfrm>
            <a:off x="9669437" y="8771666"/>
            <a:ext cx="544372" cy="486505"/>
          </a:xfrm>
          <a:prstGeom prst="rect">
            <a:avLst/>
          </a:prstGeom>
        </p:spPr>
      </p:pic>
      <p:pic>
        <p:nvPicPr>
          <p:cNvPr id="24" name="Picture 23">
            <a:extLst>
              <a:ext uri="{FF2B5EF4-FFF2-40B4-BE49-F238E27FC236}">
                <a16:creationId xmlns:a16="http://schemas.microsoft.com/office/drawing/2014/main" id="{D1AFC7BD-BA09-FFB9-9105-185F14126E12}"/>
              </a:ext>
            </a:extLst>
          </p:cNvPr>
          <p:cNvPicPr>
            <a:picLocks noChangeAspect="1"/>
          </p:cNvPicPr>
          <p:nvPr/>
        </p:nvPicPr>
        <p:blipFill>
          <a:blip r:embed="rId11"/>
          <a:stretch>
            <a:fillRect/>
          </a:stretch>
        </p:blipFill>
        <p:spPr>
          <a:xfrm>
            <a:off x="9840750" y="8164768"/>
            <a:ext cx="742783" cy="609600"/>
          </a:xfrm>
          <a:prstGeom prst="rect">
            <a:avLst/>
          </a:prstGeom>
        </p:spPr>
      </p:pic>
      <p:pic>
        <p:nvPicPr>
          <p:cNvPr id="25" name="Picture 24">
            <a:extLst>
              <a:ext uri="{FF2B5EF4-FFF2-40B4-BE49-F238E27FC236}">
                <a16:creationId xmlns:a16="http://schemas.microsoft.com/office/drawing/2014/main" id="{0D6B52E9-C3A3-2C97-D4D8-890A184444BB}"/>
              </a:ext>
            </a:extLst>
          </p:cNvPr>
          <p:cNvPicPr>
            <a:picLocks noChangeAspect="1"/>
          </p:cNvPicPr>
          <p:nvPr/>
        </p:nvPicPr>
        <p:blipFill>
          <a:blip r:embed="rId12"/>
          <a:stretch>
            <a:fillRect/>
          </a:stretch>
        </p:blipFill>
        <p:spPr>
          <a:xfrm>
            <a:off x="12354623" y="7344100"/>
            <a:ext cx="372044" cy="354363"/>
          </a:xfrm>
          <a:prstGeom prst="rect">
            <a:avLst/>
          </a:prstGeom>
        </p:spPr>
      </p:pic>
      <p:pic>
        <p:nvPicPr>
          <p:cNvPr id="26" name="Picture 25">
            <a:extLst>
              <a:ext uri="{FF2B5EF4-FFF2-40B4-BE49-F238E27FC236}">
                <a16:creationId xmlns:a16="http://schemas.microsoft.com/office/drawing/2014/main" id="{6B2830C4-AE7A-10D7-01EC-902E404011BC}"/>
              </a:ext>
            </a:extLst>
          </p:cNvPr>
          <p:cNvPicPr>
            <a:picLocks noChangeAspect="1"/>
          </p:cNvPicPr>
          <p:nvPr/>
        </p:nvPicPr>
        <p:blipFill>
          <a:blip r:embed="rId13"/>
          <a:stretch>
            <a:fillRect/>
          </a:stretch>
        </p:blipFill>
        <p:spPr>
          <a:xfrm>
            <a:off x="11747662" y="7772175"/>
            <a:ext cx="976388" cy="1012115"/>
          </a:xfrm>
          <a:prstGeom prst="rect">
            <a:avLst/>
          </a:prstGeom>
        </p:spPr>
      </p:pic>
      <p:pic>
        <p:nvPicPr>
          <p:cNvPr id="31" name="Picture 30">
            <a:extLst>
              <a:ext uri="{FF2B5EF4-FFF2-40B4-BE49-F238E27FC236}">
                <a16:creationId xmlns:a16="http://schemas.microsoft.com/office/drawing/2014/main" id="{F3AFBC8C-607E-B0F9-A54D-5240A8D2718F}"/>
              </a:ext>
            </a:extLst>
          </p:cNvPr>
          <p:cNvPicPr>
            <a:picLocks noChangeAspect="1"/>
          </p:cNvPicPr>
          <p:nvPr/>
        </p:nvPicPr>
        <p:blipFill>
          <a:blip r:embed="rId14"/>
          <a:stretch>
            <a:fillRect/>
          </a:stretch>
        </p:blipFill>
        <p:spPr>
          <a:xfrm>
            <a:off x="13178502" y="7851361"/>
            <a:ext cx="905015" cy="885334"/>
          </a:xfrm>
          <a:prstGeom prst="rect">
            <a:avLst/>
          </a:prstGeom>
        </p:spPr>
      </p:pic>
      <p:pic>
        <p:nvPicPr>
          <p:cNvPr id="38" name="Picture 37">
            <a:extLst>
              <a:ext uri="{FF2B5EF4-FFF2-40B4-BE49-F238E27FC236}">
                <a16:creationId xmlns:a16="http://schemas.microsoft.com/office/drawing/2014/main" id="{C105952D-2A00-6551-B8C4-B7842C0585B5}"/>
              </a:ext>
            </a:extLst>
          </p:cNvPr>
          <p:cNvPicPr>
            <a:picLocks noChangeAspect="1"/>
          </p:cNvPicPr>
          <p:nvPr/>
        </p:nvPicPr>
        <p:blipFill>
          <a:blip r:embed="rId11"/>
          <a:stretch>
            <a:fillRect/>
          </a:stretch>
        </p:blipFill>
        <p:spPr>
          <a:xfrm rot="10800000">
            <a:off x="10211345" y="8481642"/>
            <a:ext cx="742783" cy="609600"/>
          </a:xfrm>
          <a:prstGeom prst="rect">
            <a:avLst/>
          </a:prstGeom>
        </p:spPr>
      </p:pic>
      <p:pic>
        <p:nvPicPr>
          <p:cNvPr id="39" name="Picture 38">
            <a:extLst>
              <a:ext uri="{FF2B5EF4-FFF2-40B4-BE49-F238E27FC236}">
                <a16:creationId xmlns:a16="http://schemas.microsoft.com/office/drawing/2014/main" id="{B67ED703-9A9F-D76D-AF24-1F8BDEDF6520}"/>
              </a:ext>
            </a:extLst>
          </p:cNvPr>
          <p:cNvPicPr>
            <a:picLocks noChangeAspect="1"/>
          </p:cNvPicPr>
          <p:nvPr/>
        </p:nvPicPr>
        <p:blipFill>
          <a:blip r:embed="rId15"/>
          <a:stretch>
            <a:fillRect/>
          </a:stretch>
        </p:blipFill>
        <p:spPr>
          <a:xfrm>
            <a:off x="11181035" y="8129087"/>
            <a:ext cx="560207" cy="171450"/>
          </a:xfrm>
          <a:prstGeom prst="rect">
            <a:avLst/>
          </a:prstGeom>
        </p:spPr>
      </p:pic>
      <p:pic>
        <p:nvPicPr>
          <p:cNvPr id="40" name="Picture 39">
            <a:extLst>
              <a:ext uri="{FF2B5EF4-FFF2-40B4-BE49-F238E27FC236}">
                <a16:creationId xmlns:a16="http://schemas.microsoft.com/office/drawing/2014/main" id="{B3259CD8-597A-9D12-8730-EF2EB40DF452}"/>
              </a:ext>
            </a:extLst>
          </p:cNvPr>
          <p:cNvPicPr>
            <a:picLocks noChangeAspect="1"/>
          </p:cNvPicPr>
          <p:nvPr/>
        </p:nvPicPr>
        <p:blipFill>
          <a:blip r:embed="rId15"/>
          <a:stretch>
            <a:fillRect/>
          </a:stretch>
        </p:blipFill>
        <p:spPr>
          <a:xfrm rot="10800000">
            <a:off x="12679759" y="8132232"/>
            <a:ext cx="571524" cy="171450"/>
          </a:xfrm>
          <a:prstGeom prst="rect">
            <a:avLst/>
          </a:prstGeom>
        </p:spPr>
      </p:pic>
      <p:pic>
        <p:nvPicPr>
          <p:cNvPr id="41" name="Picture 40">
            <a:extLst>
              <a:ext uri="{FF2B5EF4-FFF2-40B4-BE49-F238E27FC236}">
                <a16:creationId xmlns:a16="http://schemas.microsoft.com/office/drawing/2014/main" id="{7411E763-DD3C-E2FC-1175-463014B058C5}"/>
              </a:ext>
            </a:extLst>
          </p:cNvPr>
          <p:cNvPicPr>
            <a:picLocks noChangeAspect="1"/>
          </p:cNvPicPr>
          <p:nvPr/>
        </p:nvPicPr>
        <p:blipFill>
          <a:blip r:embed="rId15"/>
          <a:stretch>
            <a:fillRect/>
          </a:stretch>
        </p:blipFill>
        <p:spPr>
          <a:xfrm rot="5400000">
            <a:off x="11895226" y="7505328"/>
            <a:ext cx="571524" cy="171450"/>
          </a:xfrm>
          <a:prstGeom prst="rect">
            <a:avLst/>
          </a:prstGeom>
        </p:spPr>
      </p:pic>
      <p:sp>
        <p:nvSpPr>
          <p:cNvPr id="42" name="TextBox 41">
            <a:extLst>
              <a:ext uri="{FF2B5EF4-FFF2-40B4-BE49-F238E27FC236}">
                <a16:creationId xmlns:a16="http://schemas.microsoft.com/office/drawing/2014/main" id="{5C67701F-B259-AB77-0A62-B17ABA553FB6}"/>
              </a:ext>
            </a:extLst>
          </p:cNvPr>
          <p:cNvSpPr txBox="1"/>
          <p:nvPr/>
        </p:nvSpPr>
        <p:spPr>
          <a:xfrm>
            <a:off x="9984308" y="8333367"/>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6" name="TextBox 45">
            <a:extLst>
              <a:ext uri="{FF2B5EF4-FFF2-40B4-BE49-F238E27FC236}">
                <a16:creationId xmlns:a16="http://schemas.microsoft.com/office/drawing/2014/main" id="{91196C19-38CC-3425-606F-2AB9EAFBBB81}"/>
              </a:ext>
            </a:extLst>
          </p:cNvPr>
          <p:cNvSpPr txBox="1"/>
          <p:nvPr/>
        </p:nvSpPr>
        <p:spPr>
          <a:xfrm>
            <a:off x="11927303" y="8070988"/>
            <a:ext cx="758287"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/exec</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05221B94-D26B-1B1E-1500-1F9022E08B7E}"/>
              </a:ext>
            </a:extLst>
          </p:cNvPr>
          <p:cNvSpPr txBox="1"/>
          <p:nvPr/>
        </p:nvSpPr>
        <p:spPr>
          <a:xfrm>
            <a:off x="13347063" y="8062177"/>
            <a:ext cx="580815" cy="3820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600"/>
              <a:t>/conf</a:t>
            </a:r>
            <a:endParaRPr lang="en-US" sz="1600"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60253968-444B-D64E-8200-967C995AE06E}"/>
              </a:ext>
            </a:extLst>
          </p:cNvPr>
          <p:cNvPicPr>
            <a:picLocks noChangeAspect="1"/>
          </p:cNvPicPr>
          <p:nvPr/>
        </p:nvPicPr>
        <p:blipFill>
          <a:blip r:embed="rId15"/>
          <a:stretch>
            <a:fillRect/>
          </a:stretch>
        </p:blipFill>
        <p:spPr>
          <a:xfrm rot="5400000">
            <a:off x="11936228" y="8891509"/>
            <a:ext cx="571524" cy="171450"/>
          </a:xfrm>
          <a:prstGeom prst="rect">
            <a:avLst/>
          </a:prstGeom>
        </p:spPr>
      </p:pic>
      <p:sp>
        <p:nvSpPr>
          <p:cNvPr id="51" name="TextBox 50">
            <a:extLst>
              <a:ext uri="{FF2B5EF4-FFF2-40B4-BE49-F238E27FC236}">
                <a16:creationId xmlns:a16="http://schemas.microsoft.com/office/drawing/2014/main" id="{302E2509-00B6-F3CA-95B3-468601AD72EE}"/>
              </a:ext>
            </a:extLst>
          </p:cNvPr>
          <p:cNvSpPr txBox="1"/>
          <p:nvPr/>
        </p:nvSpPr>
        <p:spPr>
          <a:xfrm>
            <a:off x="10589890" y="8091749"/>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B5EC0EF2-33E4-81E0-1539-B56DC5F19C90}"/>
              </a:ext>
            </a:extLst>
          </p:cNvPr>
          <p:cNvSpPr txBox="1"/>
          <p:nvPr/>
        </p:nvSpPr>
        <p:spPr>
          <a:xfrm>
            <a:off x="12746828" y="7382049"/>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3B19B6C1-8D86-D467-920C-A5CD74CA5BD0}"/>
              </a:ext>
            </a:extLst>
          </p:cNvPr>
          <p:cNvSpPr txBox="1"/>
          <p:nvPr/>
        </p:nvSpPr>
        <p:spPr>
          <a:xfrm>
            <a:off x="11821436" y="996342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74F30791-FB4F-C781-7B9F-FC94E9CF3555}"/>
              </a:ext>
            </a:extLst>
          </p:cNvPr>
          <p:cNvSpPr txBox="1"/>
          <p:nvPr/>
        </p:nvSpPr>
        <p:spPr>
          <a:xfrm>
            <a:off x="9591210" y="5690270"/>
            <a:ext cx="29254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12" name="TextBox 11">
            <a:extLst>
              <a:ext uri="{FF2B5EF4-FFF2-40B4-BE49-F238E27FC236}">
                <a16:creationId xmlns:a16="http://schemas.microsoft.com/office/drawing/2014/main" id="{1B41842F-5851-D3DE-53F7-4C857990E4A0}"/>
              </a:ext>
            </a:extLst>
          </p:cNvPr>
          <p:cNvSpPr txBox="1"/>
          <p:nvPr/>
        </p:nvSpPr>
        <p:spPr>
          <a:xfrm>
            <a:off x="4759806" y="3668321"/>
            <a:ext cx="1766960" cy="17130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8" name="TextBox 47">
            <a:extLst>
              <a:ext uri="{FF2B5EF4-FFF2-40B4-BE49-F238E27FC236}">
                <a16:creationId xmlns:a16="http://schemas.microsoft.com/office/drawing/2014/main" id="{94FCAEFE-7306-F568-2E1E-EB2145E23870}"/>
              </a:ext>
            </a:extLst>
          </p:cNvPr>
          <p:cNvSpPr txBox="1"/>
          <p:nvPr/>
        </p:nvSpPr>
        <p:spPr>
          <a:xfrm>
            <a:off x="8077077" y="3179514"/>
            <a:ext cx="1292193" cy="11244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9" name="Connector: Elbow 28">
            <a:extLst>
              <a:ext uri="{FF2B5EF4-FFF2-40B4-BE49-F238E27FC236}">
                <a16:creationId xmlns:a16="http://schemas.microsoft.com/office/drawing/2014/main" id="{9E140CD5-6018-6D7F-6434-90D9A3266C32}"/>
              </a:ext>
            </a:extLst>
          </p:cNvPr>
          <p:cNvCxnSpPr/>
          <p:nvPr/>
        </p:nvCxnSpPr>
        <p:spPr>
          <a:xfrm flipV="1">
            <a:off x="7450409" y="3724529"/>
            <a:ext cx="620682" cy="741622"/>
          </a:xfrm>
          <a:prstGeom prst="bentConnector3">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30" name="TextBox 29">
            <a:extLst>
              <a:ext uri="{FF2B5EF4-FFF2-40B4-BE49-F238E27FC236}">
                <a16:creationId xmlns:a16="http://schemas.microsoft.com/office/drawing/2014/main" id="{087BF298-3521-C705-E646-D2A034662221}"/>
              </a:ext>
            </a:extLst>
          </p:cNvPr>
          <p:cNvSpPr txBox="1"/>
          <p:nvPr/>
        </p:nvSpPr>
        <p:spPr>
          <a:xfrm>
            <a:off x="4793070" y="3650325"/>
            <a:ext cx="93123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a:t>/kaiaulu</a:t>
            </a:r>
            <a:endParaRPr lang="en-US" sz="1400" b="1" i="0" u="none" strike="noStrike" cap="none" spc="0" normalizeH="0" baseline="0">
              <a:ln>
                <a:noFill/>
              </a:ln>
              <a:solidFill>
                <a:srgbClr val="4C4C4C"/>
              </a:solidFill>
              <a:effectLst/>
              <a:uFillTx/>
              <a:latin typeface="Source Sans Pro"/>
              <a:ea typeface="Source Sans Pro"/>
              <a:cs typeface="Source Sans Pro"/>
            </a:endParaRPr>
          </a:p>
        </p:txBody>
      </p:sp>
      <p:sp>
        <p:nvSpPr>
          <p:cNvPr id="55" name="TextBox 54">
            <a:extLst>
              <a:ext uri="{FF2B5EF4-FFF2-40B4-BE49-F238E27FC236}">
                <a16:creationId xmlns:a16="http://schemas.microsoft.com/office/drawing/2014/main" id="{F6515682-7F4E-1ECC-49F0-D664C43BBED5}"/>
              </a:ext>
            </a:extLst>
          </p:cNvPr>
          <p:cNvSpPr txBox="1"/>
          <p:nvPr/>
        </p:nvSpPr>
        <p:spPr>
          <a:xfrm>
            <a:off x="8087940" y="3149667"/>
            <a:ext cx="1115939" cy="3820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600"/>
              <a:t>/</a:t>
            </a:r>
            <a:r>
              <a:rPr lang="en-US" sz="1400"/>
              <a:t>pykumu</a:t>
            </a:r>
            <a:endParaRPr lang="en-US" sz="14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E14FCCE8-1ED3-45CA-DB35-8F208747714D}"/>
              </a:ext>
            </a:extLst>
          </p:cNvPr>
          <p:cNvSpPr txBox="1"/>
          <p:nvPr/>
        </p:nvSpPr>
        <p:spPr>
          <a:xfrm>
            <a:off x="8084837" y="4472745"/>
            <a:ext cx="1292196"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kaiaulu_react</a:t>
            </a:r>
            <a:endParaRPr kumimoji="0" lang="en-US" sz="1200" b="1" i="0" u="none" strike="noStrike" cap="none" spc="0" normalizeH="0" baseline="0" err="1">
              <a:ln>
                <a:noFill/>
              </a:ln>
              <a:solidFill>
                <a:srgbClr val="4C4C4C"/>
              </a:solidFill>
              <a:effectLst/>
              <a:uFillTx/>
              <a:latin typeface="Source Sans Pro"/>
              <a:ea typeface="Source Sans Pro"/>
              <a:cs typeface="Source Sans Pro"/>
              <a:sym typeface="Source Sans Pro"/>
            </a:endParaRPr>
          </a:p>
        </p:txBody>
      </p:sp>
      <p:sp>
        <p:nvSpPr>
          <p:cNvPr id="264" name="TextBox 263">
            <a:extLst>
              <a:ext uri="{FF2B5EF4-FFF2-40B4-BE49-F238E27FC236}">
                <a16:creationId xmlns:a16="http://schemas.microsoft.com/office/drawing/2014/main" id="{48832159-A380-8E3C-73C0-4F7FE6CB767D}"/>
              </a:ext>
            </a:extLst>
          </p:cNvPr>
          <p:cNvSpPr txBox="1"/>
          <p:nvPr/>
        </p:nvSpPr>
        <p:spPr>
          <a:xfrm>
            <a:off x="8076232" y="5289276"/>
            <a:ext cx="1292196"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process_mining</a:t>
            </a:r>
            <a:endParaRPr kumimoji="0" lang="en-US" sz="1200" b="1" i="0" u="none" strike="noStrike" cap="none" spc="0" normalizeH="0" baseline="0" err="1">
              <a:ln>
                <a:noFill/>
              </a:ln>
              <a:solidFill>
                <a:srgbClr val="4C4C4C"/>
              </a:solidFill>
              <a:effectLst/>
              <a:uFillTx/>
              <a:latin typeface="Source Sans Pro"/>
              <a:ea typeface="Source Sans Pro"/>
              <a:cs typeface="Source Sans Pro"/>
              <a:sym typeface="Source Sans Pro"/>
            </a:endParaRPr>
          </a:p>
        </p:txBody>
      </p:sp>
      <p:sp>
        <p:nvSpPr>
          <p:cNvPr id="265" name="TextBox 264">
            <a:extLst>
              <a:ext uri="{FF2B5EF4-FFF2-40B4-BE49-F238E27FC236}">
                <a16:creationId xmlns:a16="http://schemas.microsoft.com/office/drawing/2014/main" id="{08990941-0568-46BF-2D4F-DCF9D307E437}"/>
              </a:ext>
            </a:extLst>
          </p:cNvPr>
          <p:cNvSpPr txBox="1"/>
          <p:nvPr/>
        </p:nvSpPr>
        <p:spPr>
          <a:xfrm>
            <a:off x="8089811" y="4882791"/>
            <a:ext cx="1292196" cy="289742"/>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sz="1000"/>
              <a:t>/</a:t>
            </a:r>
            <a:r>
              <a:rPr lang="en-US" sz="1000" err="1"/>
              <a:t>sentiment_classifier</a:t>
            </a:r>
            <a:endParaRPr lang="en-US" sz="1000"/>
          </a:p>
        </p:txBody>
      </p:sp>
      <p:cxnSp>
        <p:nvCxnSpPr>
          <p:cNvPr id="267" name="Connector: Elbow 266">
            <a:extLst>
              <a:ext uri="{FF2B5EF4-FFF2-40B4-BE49-F238E27FC236}">
                <a16:creationId xmlns:a16="http://schemas.microsoft.com/office/drawing/2014/main" id="{B2E70B15-326E-160C-3188-A0BC2F46DDCB}"/>
              </a:ext>
            </a:extLst>
          </p:cNvPr>
          <p:cNvCxnSpPr/>
          <p:nvPr/>
        </p:nvCxnSpPr>
        <p:spPr>
          <a:xfrm>
            <a:off x="7746185" y="4504642"/>
            <a:ext cx="347073" cy="148552"/>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0" name="TextBox 269">
            <a:extLst>
              <a:ext uri="{FF2B5EF4-FFF2-40B4-BE49-F238E27FC236}">
                <a16:creationId xmlns:a16="http://schemas.microsoft.com/office/drawing/2014/main" id="{967D2902-F42B-BE9A-D5FE-6061FBB69832}"/>
              </a:ext>
            </a:extLst>
          </p:cNvPr>
          <p:cNvSpPr txBox="1"/>
          <p:nvPr/>
        </p:nvSpPr>
        <p:spPr>
          <a:xfrm>
            <a:off x="8100449" y="5896484"/>
            <a:ext cx="1265971" cy="1262106"/>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44A7E6FB-8EAA-1CFB-F9CE-B29426ADE0B2}"/>
              </a:ext>
            </a:extLst>
          </p:cNvPr>
          <p:cNvSpPr txBox="1"/>
          <p:nvPr/>
        </p:nvSpPr>
        <p:spPr>
          <a:xfrm>
            <a:off x="8195016" y="5887962"/>
            <a:ext cx="1081496"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3" name="TextBox 272">
            <a:extLst>
              <a:ext uri="{FF2B5EF4-FFF2-40B4-BE49-F238E27FC236}">
                <a16:creationId xmlns:a16="http://schemas.microsoft.com/office/drawing/2014/main" id="{D2897E53-0300-BD30-D535-0CB7E662244C}"/>
              </a:ext>
            </a:extLst>
          </p:cNvPr>
          <p:cNvSpPr txBox="1"/>
          <p:nvPr/>
        </p:nvSpPr>
        <p:spPr>
          <a:xfrm>
            <a:off x="240212" y="1878307"/>
            <a:ext cx="417477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t>Executables provide access to </a:t>
            </a:r>
            <a:r>
              <a:rPr lang="en-US" b="0" err="1"/>
              <a:t>kaiaulu's</a:t>
            </a:r>
            <a:r>
              <a:rPr lang="en-US" b="0"/>
              <a:t> functions through a command line interface. This allows </a:t>
            </a:r>
            <a:r>
              <a:rPr lang="en-US" b="0" err="1"/>
              <a:t>server side</a:t>
            </a:r>
            <a:r>
              <a:rPr lang="en-US" b="0"/>
              <a:t> execution which is useful for data  refreshes. </a:t>
            </a:r>
            <a:endParaRPr lang="en-US" sz="1200" b="0" i="0" u="none" strike="noStrike" cap="none" spc="0" normalizeH="0" baseline="0">
              <a:ln>
                <a:noFill/>
              </a:ln>
              <a:solidFill>
                <a:srgbClr val="4C4C4C"/>
              </a:solidFill>
              <a:effectLst/>
              <a:uFillTx/>
              <a:latin typeface="Source Sans Pro"/>
              <a:ea typeface="Source Sans Pro"/>
              <a:cs typeface="Source Sans Pro"/>
            </a:endParaRPr>
          </a:p>
        </p:txBody>
      </p:sp>
      <p:sp>
        <p:nvSpPr>
          <p:cNvPr id="274" name="TextBox 273">
            <a:extLst>
              <a:ext uri="{FF2B5EF4-FFF2-40B4-BE49-F238E27FC236}">
                <a16:creationId xmlns:a16="http://schemas.microsoft.com/office/drawing/2014/main" id="{CADEDCD1-23B8-C4C9-844B-7066D41FC311}"/>
              </a:ext>
            </a:extLst>
          </p:cNvPr>
          <p:cNvSpPr txBox="1"/>
          <p:nvPr/>
        </p:nvSpPr>
        <p:spPr>
          <a:xfrm>
            <a:off x="9631514" y="5905742"/>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latin typeface="Helvetica"/>
                <a:ea typeface="Helvetica"/>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1E58127B-E714-5ECD-C5E1-A0A6E6A0F731}"/>
              </a:ext>
            </a:extLst>
          </p:cNvPr>
          <p:cNvSpPr txBox="1"/>
          <p:nvPr/>
        </p:nvSpPr>
        <p:spPr>
          <a:xfrm>
            <a:off x="4624704" y="1885231"/>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t>Sailuh</a:t>
            </a:r>
            <a:r>
              <a:rPr lang="en-US" b="0"/>
              <a:t> tools such as </a:t>
            </a:r>
            <a:r>
              <a:rPr lang="en-US" b="0" err="1"/>
              <a:t>pykumu</a:t>
            </a:r>
            <a:r>
              <a:rPr lang="en-US" b="0"/>
              <a:t> rely on </a:t>
            </a:r>
            <a:r>
              <a:rPr lang="en-US" b="0" err="1"/>
              <a:t>kaiaulu</a:t>
            </a:r>
            <a:r>
              <a:rPr lang="en-US" b="0"/>
              <a:t> executables to download and refresh data. </a:t>
            </a:r>
            <a:r>
              <a:rPr lang="en-US" b="0" err="1"/>
              <a:t>Kaiaulu</a:t>
            </a:r>
            <a:r>
              <a:rPr lang="en-US" b="0"/>
              <a:t> executable are also made to provide </a:t>
            </a:r>
            <a:r>
              <a:rPr lang="en-US" b="0" err="1"/>
              <a:t>kaiaulu's</a:t>
            </a:r>
            <a:r>
              <a:rPr lang="en-US" b="0"/>
              <a:t> functions to users, tools, and projects outside of the </a:t>
            </a:r>
            <a:r>
              <a:rPr lang="en-US" b="0" err="1"/>
              <a:t>sailuh</a:t>
            </a:r>
            <a:r>
              <a:rPr lang="en-US" b="0"/>
              <a:t> ecosystem.</a:t>
            </a:r>
          </a:p>
        </p:txBody>
      </p:sp>
      <p:cxnSp>
        <p:nvCxnSpPr>
          <p:cNvPr id="59" name="Straight Arrow Connector 58">
            <a:extLst>
              <a:ext uri="{FF2B5EF4-FFF2-40B4-BE49-F238E27FC236}">
                <a16:creationId xmlns:a16="http://schemas.microsoft.com/office/drawing/2014/main" id="{3240D7C2-30AF-8945-1240-B48FCD6368A5}"/>
              </a:ext>
            </a:extLst>
          </p:cNvPr>
          <p:cNvCxnSpPr/>
          <p:nvPr/>
        </p:nvCxnSpPr>
        <p:spPr>
          <a:xfrm flipH="1">
            <a:off x="11456507" y="3561186"/>
            <a:ext cx="1226101" cy="1128452"/>
          </a:xfrm>
          <a:prstGeom prst="straightConnector1">
            <a:avLst/>
          </a:prstGeom>
          <a:noFill/>
          <a:ln w="12700" cap="flat">
            <a:solidFill>
              <a:srgbClr val="000000"/>
            </a:solidFill>
            <a:prstDash val="dash"/>
            <a:miter lim="400000"/>
          </a:ln>
          <a:effectLst/>
          <a:sp3d/>
        </p:spPr>
        <p:style>
          <a:lnRef idx="0">
            <a:scrgbClr r="0" g="0" b="0"/>
          </a:lnRef>
          <a:fillRef idx="0">
            <a:scrgbClr r="0" g="0" b="0"/>
          </a:fillRef>
          <a:effectRef idx="0">
            <a:scrgbClr r="0" g="0" b="0"/>
          </a:effectRef>
          <a:fontRef idx="none"/>
        </p:style>
      </p:cxnSp>
      <p:cxnSp>
        <p:nvCxnSpPr>
          <p:cNvPr id="262" name="Straight Arrow Connector 261">
            <a:extLst>
              <a:ext uri="{FF2B5EF4-FFF2-40B4-BE49-F238E27FC236}">
                <a16:creationId xmlns:a16="http://schemas.microsoft.com/office/drawing/2014/main" id="{6ECDF3FF-91EB-597C-1428-F2C8B4215648}"/>
              </a:ext>
            </a:extLst>
          </p:cNvPr>
          <p:cNvCxnSpPr>
            <a:cxnSpLocks/>
          </p:cNvCxnSpPr>
          <p:nvPr/>
        </p:nvCxnSpPr>
        <p:spPr>
          <a:xfrm flipH="1">
            <a:off x="12401611" y="3605341"/>
            <a:ext cx="1226102" cy="1161225"/>
          </a:xfrm>
          <a:prstGeom prst="straightConnector1">
            <a:avLst/>
          </a:prstGeom>
          <a:noFill/>
          <a:ln w="12700" cap="flat">
            <a:solidFill>
              <a:srgbClr val="000000"/>
            </a:solidFill>
            <a:prstDash val="dash"/>
            <a:miter lim="400000"/>
          </a:ln>
          <a:effectLst/>
          <a:sp3d/>
        </p:spPr>
        <p:style>
          <a:lnRef idx="0">
            <a:scrgbClr r="0" g="0" b="0"/>
          </a:lnRef>
          <a:fillRef idx="0">
            <a:scrgbClr r="0" g="0" b="0"/>
          </a:fillRef>
          <a:effectRef idx="0">
            <a:scrgbClr r="0" g="0" b="0"/>
          </a:effectRef>
          <a:fontRef idx="none"/>
        </p:style>
      </p:cxnSp>
      <p:pic>
        <p:nvPicPr>
          <p:cNvPr id="266" name="Picture 265">
            <a:extLst>
              <a:ext uri="{FF2B5EF4-FFF2-40B4-BE49-F238E27FC236}">
                <a16:creationId xmlns:a16="http://schemas.microsoft.com/office/drawing/2014/main" id="{376853E5-DEBD-7950-C7CC-2671952F90C0}"/>
              </a:ext>
            </a:extLst>
          </p:cNvPr>
          <p:cNvPicPr>
            <a:picLocks noChangeAspect="1"/>
          </p:cNvPicPr>
          <p:nvPr/>
        </p:nvPicPr>
        <p:blipFill>
          <a:blip r:embed="rId14"/>
          <a:stretch>
            <a:fillRect/>
          </a:stretch>
        </p:blipFill>
        <p:spPr>
          <a:xfrm>
            <a:off x="12534581" y="3524793"/>
            <a:ext cx="1138376" cy="1168238"/>
          </a:xfrm>
          <a:prstGeom prst="rect">
            <a:avLst/>
          </a:prstGeom>
        </p:spPr>
      </p:pic>
      <p:sp>
        <p:nvSpPr>
          <p:cNvPr id="277" name="TextBox 276">
            <a:extLst>
              <a:ext uri="{FF2B5EF4-FFF2-40B4-BE49-F238E27FC236}">
                <a16:creationId xmlns:a16="http://schemas.microsoft.com/office/drawing/2014/main" id="{4546D7FA-A03F-5A02-6710-3CF6F594BBCC}"/>
              </a:ext>
            </a:extLst>
          </p:cNvPr>
          <p:cNvSpPr txBox="1"/>
          <p:nvPr/>
        </p:nvSpPr>
        <p:spPr>
          <a:xfrm>
            <a:off x="12723311" y="4032225"/>
            <a:ext cx="81585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a:t>/exec/</a:t>
            </a:r>
            <a:r>
              <a:rPr lang="en-US" sz="1000" err="1"/>
              <a:t>git.R</a:t>
            </a:r>
            <a:endParaRPr lang="en-US" sz="1000" b="1" i="0" u="none" strike="noStrike" cap="none" spc="0" normalizeH="0" baseline="0">
              <a:ln>
                <a:noFill/>
              </a:ln>
              <a:solidFill>
                <a:srgbClr val="4C4C4C"/>
              </a:solidFill>
              <a:effectLst/>
              <a:uFillTx/>
              <a:latin typeface="Source Sans Pro"/>
              <a:ea typeface="Source Sans Pro"/>
              <a:cs typeface="Source Sans Pro"/>
            </a:endParaRPr>
          </a:p>
        </p:txBody>
      </p:sp>
      <p:cxnSp>
        <p:nvCxnSpPr>
          <p:cNvPr id="279" name="Straight Arrow Connector 278">
            <a:extLst>
              <a:ext uri="{FF2B5EF4-FFF2-40B4-BE49-F238E27FC236}">
                <a16:creationId xmlns:a16="http://schemas.microsoft.com/office/drawing/2014/main" id="{7F84B5E8-D704-2F1B-4106-245105E20118}"/>
              </a:ext>
            </a:extLst>
          </p:cNvPr>
          <p:cNvCxnSpPr/>
          <p:nvPr/>
        </p:nvCxnSpPr>
        <p:spPr>
          <a:xfrm>
            <a:off x="13127877" y="4633363"/>
            <a:ext cx="226" cy="3462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80" name="table">
            <a:extLst>
              <a:ext uri="{FF2B5EF4-FFF2-40B4-BE49-F238E27FC236}">
                <a16:creationId xmlns:a16="http://schemas.microsoft.com/office/drawing/2014/main" id="{CBFB24F8-6C75-3249-1E21-3F5DA05A4179}"/>
              </a:ext>
            </a:extLst>
          </p:cNvPr>
          <p:cNvPicPr>
            <a:picLocks noChangeAspect="1"/>
          </p:cNvPicPr>
          <p:nvPr/>
        </p:nvPicPr>
        <p:blipFill>
          <a:blip r:embed="rId7"/>
          <a:stretch>
            <a:fillRect/>
          </a:stretch>
        </p:blipFill>
        <p:spPr>
          <a:xfrm>
            <a:off x="12828371" y="5034246"/>
            <a:ext cx="631402" cy="675209"/>
          </a:xfrm>
          <a:prstGeom prst="rect">
            <a:avLst/>
          </a:prstGeom>
        </p:spPr>
      </p:pic>
      <p:sp>
        <p:nvSpPr>
          <p:cNvPr id="281" name="TextBox 280">
            <a:extLst>
              <a:ext uri="{FF2B5EF4-FFF2-40B4-BE49-F238E27FC236}">
                <a16:creationId xmlns:a16="http://schemas.microsoft.com/office/drawing/2014/main" id="{D13EF072-B691-F582-CEF0-5945D28E3325}"/>
              </a:ext>
            </a:extLst>
          </p:cNvPr>
          <p:cNvSpPr txBox="1"/>
          <p:nvPr/>
        </p:nvSpPr>
        <p:spPr>
          <a:xfrm>
            <a:off x="12694656" y="5633087"/>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82" name="Picture 281">
            <a:extLst>
              <a:ext uri="{FF2B5EF4-FFF2-40B4-BE49-F238E27FC236}">
                <a16:creationId xmlns:a16="http://schemas.microsoft.com/office/drawing/2014/main" id="{0EAF6D76-DEAE-C91A-EAF6-14B4417E1821}"/>
              </a:ext>
            </a:extLst>
          </p:cNvPr>
          <p:cNvPicPr>
            <a:picLocks noChangeAspect="1"/>
          </p:cNvPicPr>
          <p:nvPr/>
        </p:nvPicPr>
        <p:blipFill>
          <a:blip r:embed="rId13"/>
          <a:stretch>
            <a:fillRect/>
          </a:stretch>
        </p:blipFill>
        <p:spPr>
          <a:xfrm>
            <a:off x="5477549" y="3935680"/>
            <a:ext cx="1158803" cy="1171759"/>
          </a:xfrm>
          <a:prstGeom prst="rect">
            <a:avLst/>
          </a:prstGeom>
        </p:spPr>
      </p:pic>
      <p:sp>
        <p:nvSpPr>
          <p:cNvPr id="283" name="TextBox 282">
            <a:extLst>
              <a:ext uri="{FF2B5EF4-FFF2-40B4-BE49-F238E27FC236}">
                <a16:creationId xmlns:a16="http://schemas.microsoft.com/office/drawing/2014/main" id="{1CEE046C-9807-537C-BE7C-E56C7F38CAB9}"/>
              </a:ext>
            </a:extLst>
          </p:cNvPr>
          <p:cNvSpPr txBox="1"/>
          <p:nvPr/>
        </p:nvSpPr>
        <p:spPr>
          <a:xfrm>
            <a:off x="5695182" y="4329611"/>
            <a:ext cx="879894"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/exec</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86" name="TextBox 285">
            <a:extLst>
              <a:ext uri="{FF2B5EF4-FFF2-40B4-BE49-F238E27FC236}">
                <a16:creationId xmlns:a16="http://schemas.microsoft.com/office/drawing/2014/main" id="{DE91EC4D-4C00-A0A0-9411-59998F68CED4}"/>
              </a:ext>
            </a:extLst>
          </p:cNvPr>
          <p:cNvSpPr txBox="1"/>
          <p:nvPr/>
        </p:nvSpPr>
        <p:spPr>
          <a:xfrm>
            <a:off x="4805846" y="4075885"/>
            <a:ext cx="68386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85" name="Picture 284">
            <a:extLst>
              <a:ext uri="{FF2B5EF4-FFF2-40B4-BE49-F238E27FC236}">
                <a16:creationId xmlns:a16="http://schemas.microsoft.com/office/drawing/2014/main" id="{477EAB6B-6EDE-2F96-4EF6-8381DA440AD4}"/>
              </a:ext>
            </a:extLst>
          </p:cNvPr>
          <p:cNvPicPr>
            <a:picLocks noChangeAspect="1"/>
          </p:cNvPicPr>
          <p:nvPr/>
        </p:nvPicPr>
        <p:blipFill>
          <a:blip r:embed="rId13"/>
          <a:stretch>
            <a:fillRect/>
          </a:stretch>
        </p:blipFill>
        <p:spPr>
          <a:xfrm>
            <a:off x="4736357" y="3901791"/>
            <a:ext cx="661175" cy="670163"/>
          </a:xfrm>
          <a:prstGeom prst="rect">
            <a:avLst/>
          </a:prstGeom>
        </p:spPr>
      </p:pic>
      <p:sp>
        <p:nvSpPr>
          <p:cNvPr id="287" name="TextBox 286">
            <a:extLst>
              <a:ext uri="{FF2B5EF4-FFF2-40B4-BE49-F238E27FC236}">
                <a16:creationId xmlns:a16="http://schemas.microsoft.com/office/drawing/2014/main" id="{DB234525-772D-7256-2FC6-9A8B14533B71}"/>
              </a:ext>
            </a:extLst>
          </p:cNvPr>
          <p:cNvSpPr txBox="1"/>
          <p:nvPr/>
        </p:nvSpPr>
        <p:spPr>
          <a:xfrm>
            <a:off x="4966764" y="4736097"/>
            <a:ext cx="58322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/R</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88" name="Picture 287">
            <a:extLst>
              <a:ext uri="{FF2B5EF4-FFF2-40B4-BE49-F238E27FC236}">
                <a16:creationId xmlns:a16="http://schemas.microsoft.com/office/drawing/2014/main" id="{3F5ECE41-3429-EF7E-ED7A-79358B66CC3F}"/>
              </a:ext>
            </a:extLst>
          </p:cNvPr>
          <p:cNvPicPr>
            <a:picLocks noChangeAspect="1"/>
          </p:cNvPicPr>
          <p:nvPr/>
        </p:nvPicPr>
        <p:blipFill>
          <a:blip r:embed="rId13"/>
          <a:stretch>
            <a:fillRect/>
          </a:stretch>
        </p:blipFill>
        <p:spPr>
          <a:xfrm>
            <a:off x="4761936" y="4572090"/>
            <a:ext cx="661175" cy="670163"/>
          </a:xfrm>
          <a:prstGeom prst="rect">
            <a:avLst/>
          </a:prstGeom>
        </p:spPr>
      </p:pic>
      <p:cxnSp>
        <p:nvCxnSpPr>
          <p:cNvPr id="289" name="Connector: Elbow 288">
            <a:extLst>
              <a:ext uri="{FF2B5EF4-FFF2-40B4-BE49-F238E27FC236}">
                <a16:creationId xmlns:a16="http://schemas.microsoft.com/office/drawing/2014/main" id="{4B0F8E9C-FE54-0006-4B52-2DE70690AB63}"/>
              </a:ext>
            </a:extLst>
          </p:cNvPr>
          <p:cNvCxnSpPr/>
          <p:nvPr/>
        </p:nvCxnSpPr>
        <p:spPr>
          <a:xfrm>
            <a:off x="5392629" y="4240419"/>
            <a:ext cx="208416" cy="243902"/>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CBC031C9-205E-9CBB-5169-AB9C96BB0D4E}"/>
              </a:ext>
            </a:extLst>
          </p:cNvPr>
          <p:cNvCxnSpPr>
            <a:cxnSpLocks/>
          </p:cNvCxnSpPr>
          <p:nvPr/>
        </p:nvCxnSpPr>
        <p:spPr>
          <a:xfrm flipV="1">
            <a:off x="5384470" y="4632465"/>
            <a:ext cx="221830" cy="264780"/>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91" name="table">
            <a:extLst>
              <a:ext uri="{FF2B5EF4-FFF2-40B4-BE49-F238E27FC236}">
                <a16:creationId xmlns:a16="http://schemas.microsoft.com/office/drawing/2014/main" id="{5712E452-8799-7BE3-5512-7556200D34A6}"/>
              </a:ext>
            </a:extLst>
          </p:cNvPr>
          <p:cNvPicPr>
            <a:picLocks noChangeAspect="1"/>
          </p:cNvPicPr>
          <p:nvPr/>
        </p:nvPicPr>
        <p:blipFill>
          <a:blip r:embed="rId7"/>
          <a:stretch>
            <a:fillRect/>
          </a:stretch>
        </p:blipFill>
        <p:spPr>
          <a:xfrm>
            <a:off x="8376299" y="3504054"/>
            <a:ext cx="631402" cy="675209"/>
          </a:xfrm>
          <a:prstGeom prst="rect">
            <a:avLst/>
          </a:prstGeom>
        </p:spPr>
      </p:pic>
      <p:sp>
        <p:nvSpPr>
          <p:cNvPr id="295" name="TextBox 294">
            <a:extLst>
              <a:ext uri="{FF2B5EF4-FFF2-40B4-BE49-F238E27FC236}">
                <a16:creationId xmlns:a16="http://schemas.microsoft.com/office/drawing/2014/main" id="{F2B89DDF-4388-3DE1-5A59-FA55421809A9}"/>
              </a:ext>
            </a:extLst>
          </p:cNvPr>
          <p:cNvSpPr txBox="1"/>
          <p:nvPr/>
        </p:nvSpPr>
        <p:spPr>
          <a:xfrm>
            <a:off x="6762837" y="4139708"/>
            <a:ext cx="698062" cy="653944"/>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000"/>
              <a:t>&gt; </a:t>
            </a:r>
            <a:endParaRPr lang="en-US"/>
          </a:p>
          <a:p>
            <a:endParaRPr lang="en-US"/>
          </a:p>
        </p:txBody>
      </p:sp>
      <p:cxnSp>
        <p:nvCxnSpPr>
          <p:cNvPr id="296" name="Straight Arrow Connector 295">
            <a:extLst>
              <a:ext uri="{FF2B5EF4-FFF2-40B4-BE49-F238E27FC236}">
                <a16:creationId xmlns:a16="http://schemas.microsoft.com/office/drawing/2014/main" id="{DB4B1539-8FE2-3387-1DB3-597529AD1DE6}"/>
              </a:ext>
            </a:extLst>
          </p:cNvPr>
          <p:cNvCxnSpPr/>
          <p:nvPr/>
        </p:nvCxnSpPr>
        <p:spPr>
          <a:xfrm flipV="1">
            <a:off x="6535519" y="4518885"/>
            <a:ext cx="219505" cy="22872"/>
          </a:xfrm>
          <a:prstGeom prst="straightConnector1">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298" name="TextBox 297">
            <a:extLst>
              <a:ext uri="{FF2B5EF4-FFF2-40B4-BE49-F238E27FC236}">
                <a16:creationId xmlns:a16="http://schemas.microsoft.com/office/drawing/2014/main" id="{9E958249-E357-E2CF-2765-5916614B1005}"/>
              </a:ext>
            </a:extLst>
          </p:cNvPr>
          <p:cNvSpPr txBox="1"/>
          <p:nvPr/>
        </p:nvSpPr>
        <p:spPr>
          <a:xfrm>
            <a:off x="9594281" y="1795110"/>
            <a:ext cx="4801983"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latin typeface="Helvetica"/>
              </a:rPr>
              <a:t>Executables require project configuration files in order to find information about the project such as where the project git data is located locally. The project </a:t>
            </a:r>
            <a:r>
              <a:rPr lang="en-US" b="0" err="1">
                <a:solidFill>
                  <a:srgbClr val="000000"/>
                </a:solidFill>
                <a:latin typeface="Helvetica"/>
              </a:rPr>
              <a:t>confi</a:t>
            </a:r>
            <a:r>
              <a:rPr lang="en-US" b="0">
                <a:solidFill>
                  <a:srgbClr val="000000"/>
                </a:solidFill>
                <a:latin typeface="Helvetica"/>
              </a:rPr>
              <a:t>guration file is inputted as an argument with the exec command in the command line.</a:t>
            </a:r>
            <a:endParaRPr lang="en-US" b="0">
              <a:solidFill>
                <a:srgbClr val="000000"/>
              </a:solidFill>
              <a:latin typeface="Helvetica"/>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99" name="table">
            <a:extLst>
              <a:ext uri="{FF2B5EF4-FFF2-40B4-BE49-F238E27FC236}">
                <a16:creationId xmlns:a16="http://schemas.microsoft.com/office/drawing/2014/main" id="{9AA719F7-C2F8-F589-7B5A-801A1ABB829C}"/>
              </a:ext>
            </a:extLst>
          </p:cNvPr>
          <p:cNvPicPr>
            <a:picLocks noChangeAspect="1"/>
          </p:cNvPicPr>
          <p:nvPr/>
        </p:nvPicPr>
        <p:blipFill>
          <a:blip r:embed="rId7"/>
          <a:stretch>
            <a:fillRect/>
          </a:stretch>
        </p:blipFill>
        <p:spPr>
          <a:xfrm>
            <a:off x="8368099" y="6380563"/>
            <a:ext cx="631402" cy="675209"/>
          </a:xfrm>
          <a:prstGeom prst="rect">
            <a:avLst/>
          </a:prstGeom>
        </p:spPr>
      </p:pic>
      <p:sp>
        <p:nvSpPr>
          <p:cNvPr id="300" name="TextBox 299">
            <a:extLst>
              <a:ext uri="{FF2B5EF4-FFF2-40B4-BE49-F238E27FC236}">
                <a16:creationId xmlns:a16="http://schemas.microsoft.com/office/drawing/2014/main" id="{839E9621-6AFC-6884-5BAB-C2D469756E35}"/>
              </a:ext>
            </a:extLst>
          </p:cNvPr>
          <p:cNvSpPr txBox="1"/>
          <p:nvPr/>
        </p:nvSpPr>
        <p:spPr>
          <a:xfrm>
            <a:off x="4808266" y="7323762"/>
            <a:ext cx="4572438" cy="1624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6" name="Picture 5">
            <a:extLst>
              <a:ext uri="{FF2B5EF4-FFF2-40B4-BE49-F238E27FC236}">
                <a16:creationId xmlns:a16="http://schemas.microsoft.com/office/drawing/2014/main" id="{8AD9A425-F782-822D-D654-A73E8EA63460}"/>
              </a:ext>
            </a:extLst>
          </p:cNvPr>
          <p:cNvPicPr>
            <a:picLocks noChangeAspect="1"/>
          </p:cNvPicPr>
          <p:nvPr/>
        </p:nvPicPr>
        <p:blipFill>
          <a:blip r:embed="rId16"/>
          <a:stretch>
            <a:fillRect/>
          </a:stretch>
        </p:blipFill>
        <p:spPr>
          <a:xfrm>
            <a:off x="7557164" y="3178500"/>
            <a:ext cx="362001" cy="457200"/>
          </a:xfrm>
          <a:prstGeom prst="rect">
            <a:avLst/>
          </a:prstGeom>
        </p:spPr>
      </p:pic>
    </p:spTree>
    <p:extLst>
      <p:ext uri="{BB962C8B-B14F-4D97-AF65-F5344CB8AC3E}">
        <p14:creationId xmlns:p14="http://schemas.microsoft.com/office/powerpoint/2010/main" val="209556355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3C801-9378-A688-D9E6-6F7CE9C8E7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62BAB1D-7C19-5BFD-430B-7D27C7ED77BF}"/>
              </a:ext>
            </a:extLst>
          </p:cNvPr>
          <p:cNvSpPr txBox="1"/>
          <p:nvPr/>
        </p:nvSpPr>
        <p:spPr>
          <a:xfrm>
            <a:off x="4670739" y="3071126"/>
            <a:ext cx="4755170" cy="5444843"/>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err="1"/>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292" name="Image" descr="Image">
            <a:extLst>
              <a:ext uri="{FF2B5EF4-FFF2-40B4-BE49-F238E27FC236}">
                <a16:creationId xmlns:a16="http://schemas.microsoft.com/office/drawing/2014/main" id="{F54DB1D9-1414-BCF5-B540-7693D05B2638}"/>
              </a:ext>
            </a:extLst>
          </p:cNvPr>
          <p:cNvPicPr>
            <a:picLocks noChangeAspect="1"/>
          </p:cNvPicPr>
          <p:nvPr/>
        </p:nvPicPr>
        <p:blipFill>
          <a:blip r:embed="rId3"/>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686D494B-539E-9845-69D6-985F7A32D2A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182D75EA-614F-2354-4378-F2D75759FCB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99D53CFC-F95D-34F4-1959-A441EE1AE1FA}"/>
              </a:ext>
            </a:extLst>
          </p:cNvPr>
          <p:cNvSpPr/>
          <p:nvPr/>
        </p:nvSpPr>
        <p:spPr>
          <a:xfrm>
            <a:off x="9586644" y="5236661"/>
            <a:ext cx="4340222" cy="1824752"/>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A8EC429B-1DF1-7C49-2936-34509FAC52D1}"/>
              </a:ext>
            </a:extLst>
          </p:cNvPr>
          <p:cNvSpPr txBox="1"/>
          <p:nvPr/>
        </p:nvSpPr>
        <p:spPr>
          <a:xfrm>
            <a:off x="9679167" y="5300283"/>
            <a:ext cx="276678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9D37F9F4-8837-9CCC-B8E5-727AF08FE2D0}"/>
              </a:ext>
            </a:extLst>
          </p:cNvPr>
          <p:cNvSpPr txBox="1"/>
          <p:nvPr/>
        </p:nvSpPr>
        <p:spPr>
          <a:xfrm>
            <a:off x="9668307" y="5680490"/>
            <a:ext cx="4264736"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1FFF6E0C-9D53-81CF-C681-25CCD314B0DF}"/>
              </a:ext>
            </a:extLst>
          </p:cNvPr>
          <p:cNvSpPr txBox="1"/>
          <p:nvPr/>
        </p:nvSpPr>
        <p:spPr>
          <a:xfrm>
            <a:off x="9687398" y="6065205"/>
            <a:ext cx="4140401" cy="8691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a:t>
            </a:r>
          </a:p>
          <a:p>
            <a:pPr>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a:t>
            </a:r>
          </a:p>
          <a:p>
            <a:pPr lvl="3" indent="0">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4074A220-FE68-2016-9A0F-CAB72BBD2CBD}"/>
              </a:ext>
            </a:extLst>
          </p:cNvPr>
          <p:cNvSpPr txBox="1"/>
          <p:nvPr/>
        </p:nvSpPr>
        <p:spPr>
          <a:xfrm>
            <a:off x="9592056" y="1518250"/>
            <a:ext cx="197810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0" name="Line">
            <a:extLst>
              <a:ext uri="{FF2B5EF4-FFF2-40B4-BE49-F238E27FC236}">
                <a16:creationId xmlns:a16="http://schemas.microsoft.com/office/drawing/2014/main" id="{230C9E85-6D73-048D-C2B0-2A23F469CBB2}"/>
              </a:ext>
            </a:extLst>
          </p:cNvPr>
          <p:cNvSpPr/>
          <p:nvPr/>
        </p:nvSpPr>
        <p:spPr>
          <a:xfrm>
            <a:off x="326748" y="8352879"/>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4" name="Three Column Layout: : CHEAT SHEET">
            <a:extLst>
              <a:ext uri="{FF2B5EF4-FFF2-40B4-BE49-F238E27FC236}">
                <a16:creationId xmlns:a16="http://schemas.microsoft.com/office/drawing/2014/main" id="{D6332818-8392-6932-C327-4A1157E731AF}"/>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DB09B50D-1F8D-61C4-0E5E-8DD128169158}"/>
              </a:ext>
            </a:extLst>
          </p:cNvPr>
          <p:cNvSpPr txBox="1"/>
          <p:nvPr/>
        </p:nvSpPr>
        <p:spPr>
          <a:xfrm>
            <a:off x="4663440" y="1513595"/>
            <a:ext cx="209352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4B43EF70-AAAD-A310-89DF-7BB70F4A7F59}"/>
              </a:ext>
            </a:extLst>
          </p:cNvPr>
          <p:cNvSpPr txBox="1"/>
          <p:nvPr/>
        </p:nvSpPr>
        <p:spPr>
          <a:xfrm>
            <a:off x="275721" y="1519235"/>
            <a:ext cx="26212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9E10AA25-8773-5516-939A-76C2F48A75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AFB4376A-52C8-9FF2-7AE1-075CFEBCA659}"/>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7B636754-C14B-4371-5F02-B8C74F02F87A}"/>
              </a:ext>
            </a:extLst>
          </p:cNvPr>
          <p:cNvSpPr/>
          <p:nvPr/>
        </p:nvSpPr>
        <p:spPr>
          <a:xfrm>
            <a:off x="9571144" y="8897120"/>
            <a:ext cx="4346831" cy="138051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B39BBC93-5938-602A-AD0C-A8A73A5B1019}"/>
              </a:ext>
            </a:extLst>
          </p:cNvPr>
          <p:cNvSpPr txBox="1"/>
          <p:nvPr/>
        </p:nvSpPr>
        <p:spPr>
          <a:xfrm>
            <a:off x="9687151" y="8999720"/>
            <a:ext cx="254396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DEC30008-F71D-605E-E986-CA8E11953D55}"/>
              </a:ext>
            </a:extLst>
          </p:cNvPr>
          <p:cNvSpPr txBox="1"/>
          <p:nvPr/>
        </p:nvSpPr>
        <p:spPr>
          <a:xfrm>
            <a:off x="9687507" y="9586722"/>
            <a:ext cx="4105332" cy="583155"/>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depends:</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174A6118-11F4-DA91-F43B-D2299747FDE3}"/>
              </a:ext>
            </a:extLst>
          </p:cNvPr>
          <p:cNvPicPr>
            <a:picLocks noChangeAspect="1"/>
          </p:cNvPicPr>
          <p:nvPr/>
        </p:nvPicPr>
        <p:blipFill>
          <a:blip r:embed="rId6"/>
          <a:stretch>
            <a:fillRect/>
          </a:stretch>
        </p:blipFill>
        <p:spPr>
          <a:xfrm>
            <a:off x="2396251" y="7279016"/>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5B2E8F4E-2E68-97F6-59DF-A88CFC6078E7}"/>
              </a:ext>
            </a:extLst>
          </p:cNvPr>
          <p:cNvSpPr txBox="1"/>
          <p:nvPr/>
        </p:nvSpPr>
        <p:spPr>
          <a:xfrm>
            <a:off x="9552472" y="9311257"/>
            <a:ext cx="4369511" cy="2764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nchor="t">
            <a:spAutoFit/>
          </a:bodyPr>
          <a:lstStyle/>
          <a:p>
            <a:pPr>
              <a:lnSpc>
                <a:spcPct val="90000"/>
              </a:lnSpc>
              <a:buSzPts val="3700"/>
            </a:pPr>
            <a:r>
              <a:rPr lang="en-US">
                <a:cs typeface="Arial"/>
              </a:rPr>
              <a:t> The required external tools are specified in </a:t>
            </a:r>
            <a:r>
              <a:rPr lang="en-US" err="1">
                <a:cs typeface="Arial"/>
              </a:rPr>
              <a:t>tools.yml</a:t>
            </a:r>
            <a:r>
              <a:rPr lang="en-US">
                <a:cs typeface="Arial"/>
              </a:rPr>
              <a:t>:</a:t>
            </a:r>
            <a:endParaRPr lang="en-US" u="sng">
              <a:solidFill>
                <a:schemeClr val="hlink"/>
              </a:solidFill>
              <a:cs typeface="Arial"/>
            </a:endParaRPr>
          </a:p>
        </p:txBody>
      </p:sp>
      <p:pic>
        <p:nvPicPr>
          <p:cNvPr id="17" name="Picture 16">
            <a:extLst>
              <a:ext uri="{FF2B5EF4-FFF2-40B4-BE49-F238E27FC236}">
                <a16:creationId xmlns:a16="http://schemas.microsoft.com/office/drawing/2014/main" id="{39001996-5224-3A1E-ABD0-02453009069E}"/>
              </a:ext>
            </a:extLst>
          </p:cNvPr>
          <p:cNvPicPr>
            <a:picLocks noChangeAspect="1"/>
          </p:cNvPicPr>
          <p:nvPr/>
        </p:nvPicPr>
        <p:blipFill>
          <a:blip r:embed="rId7"/>
          <a:stretch>
            <a:fillRect/>
          </a:stretch>
        </p:blipFill>
        <p:spPr>
          <a:xfrm>
            <a:off x="2358038" y="4638982"/>
            <a:ext cx="546328" cy="546436"/>
          </a:xfrm>
          <a:prstGeom prst="rect">
            <a:avLst/>
          </a:prstGeom>
        </p:spPr>
      </p:pic>
      <p:pic>
        <p:nvPicPr>
          <p:cNvPr id="23" name="Picture 22">
            <a:extLst>
              <a:ext uri="{FF2B5EF4-FFF2-40B4-BE49-F238E27FC236}">
                <a16:creationId xmlns:a16="http://schemas.microsoft.com/office/drawing/2014/main" id="{CA6066B2-85A6-9A56-B1B4-106886F15DE2}"/>
              </a:ext>
            </a:extLst>
          </p:cNvPr>
          <p:cNvPicPr>
            <a:picLocks noChangeAspect="1"/>
          </p:cNvPicPr>
          <p:nvPr/>
        </p:nvPicPr>
        <p:blipFill>
          <a:blip r:embed="rId8"/>
          <a:stretch>
            <a:fillRect/>
          </a:stretch>
        </p:blipFill>
        <p:spPr>
          <a:xfrm>
            <a:off x="117043" y="6686099"/>
            <a:ext cx="544372" cy="486505"/>
          </a:xfrm>
          <a:prstGeom prst="rect">
            <a:avLst/>
          </a:prstGeom>
        </p:spPr>
      </p:pic>
      <p:pic>
        <p:nvPicPr>
          <p:cNvPr id="24" name="Picture 23">
            <a:extLst>
              <a:ext uri="{FF2B5EF4-FFF2-40B4-BE49-F238E27FC236}">
                <a16:creationId xmlns:a16="http://schemas.microsoft.com/office/drawing/2014/main" id="{E269A58C-11E1-4674-DF61-837FD36B19BB}"/>
              </a:ext>
            </a:extLst>
          </p:cNvPr>
          <p:cNvPicPr>
            <a:picLocks noChangeAspect="1"/>
          </p:cNvPicPr>
          <p:nvPr/>
        </p:nvPicPr>
        <p:blipFill>
          <a:blip r:embed="rId9"/>
          <a:stretch>
            <a:fillRect/>
          </a:stretch>
        </p:blipFill>
        <p:spPr>
          <a:xfrm>
            <a:off x="288356" y="6079201"/>
            <a:ext cx="742783" cy="609600"/>
          </a:xfrm>
          <a:prstGeom prst="rect">
            <a:avLst/>
          </a:prstGeom>
        </p:spPr>
      </p:pic>
      <p:pic>
        <p:nvPicPr>
          <p:cNvPr id="25" name="Picture 24">
            <a:extLst>
              <a:ext uri="{FF2B5EF4-FFF2-40B4-BE49-F238E27FC236}">
                <a16:creationId xmlns:a16="http://schemas.microsoft.com/office/drawing/2014/main" id="{4567E0BE-6913-0285-EA02-99088AA2E55A}"/>
              </a:ext>
            </a:extLst>
          </p:cNvPr>
          <p:cNvPicPr>
            <a:picLocks noChangeAspect="1"/>
          </p:cNvPicPr>
          <p:nvPr/>
        </p:nvPicPr>
        <p:blipFill>
          <a:blip r:embed="rId10"/>
          <a:stretch>
            <a:fillRect/>
          </a:stretch>
        </p:blipFill>
        <p:spPr>
          <a:xfrm>
            <a:off x="2802229" y="5258533"/>
            <a:ext cx="372044" cy="354363"/>
          </a:xfrm>
          <a:prstGeom prst="rect">
            <a:avLst/>
          </a:prstGeom>
        </p:spPr>
      </p:pic>
      <p:pic>
        <p:nvPicPr>
          <p:cNvPr id="38" name="Picture 37">
            <a:extLst>
              <a:ext uri="{FF2B5EF4-FFF2-40B4-BE49-F238E27FC236}">
                <a16:creationId xmlns:a16="http://schemas.microsoft.com/office/drawing/2014/main" id="{3069B02A-02BC-6BB2-AB89-3BDB013D3B4C}"/>
              </a:ext>
            </a:extLst>
          </p:cNvPr>
          <p:cNvPicPr>
            <a:picLocks noChangeAspect="1"/>
          </p:cNvPicPr>
          <p:nvPr/>
        </p:nvPicPr>
        <p:blipFill>
          <a:blip r:embed="rId9"/>
          <a:stretch>
            <a:fillRect/>
          </a:stretch>
        </p:blipFill>
        <p:spPr>
          <a:xfrm rot="10800000">
            <a:off x="658951" y="6396075"/>
            <a:ext cx="742783" cy="609600"/>
          </a:xfrm>
          <a:prstGeom prst="rect">
            <a:avLst/>
          </a:prstGeom>
        </p:spPr>
      </p:pic>
      <p:pic>
        <p:nvPicPr>
          <p:cNvPr id="39" name="Picture 38">
            <a:extLst>
              <a:ext uri="{FF2B5EF4-FFF2-40B4-BE49-F238E27FC236}">
                <a16:creationId xmlns:a16="http://schemas.microsoft.com/office/drawing/2014/main" id="{908BAFBF-B419-1D9C-760D-5321CDB33B71}"/>
              </a:ext>
            </a:extLst>
          </p:cNvPr>
          <p:cNvPicPr>
            <a:picLocks noChangeAspect="1"/>
          </p:cNvPicPr>
          <p:nvPr/>
        </p:nvPicPr>
        <p:blipFill>
          <a:blip r:embed="rId11"/>
          <a:stretch>
            <a:fillRect/>
          </a:stretch>
        </p:blipFill>
        <p:spPr>
          <a:xfrm>
            <a:off x="1628641" y="6043520"/>
            <a:ext cx="560207" cy="171450"/>
          </a:xfrm>
          <a:prstGeom prst="rect">
            <a:avLst/>
          </a:prstGeom>
        </p:spPr>
      </p:pic>
      <p:pic>
        <p:nvPicPr>
          <p:cNvPr id="40" name="Picture 39">
            <a:extLst>
              <a:ext uri="{FF2B5EF4-FFF2-40B4-BE49-F238E27FC236}">
                <a16:creationId xmlns:a16="http://schemas.microsoft.com/office/drawing/2014/main" id="{EB48E6FC-1A5B-9917-AB91-2D8ABAD9B68C}"/>
              </a:ext>
            </a:extLst>
          </p:cNvPr>
          <p:cNvPicPr>
            <a:picLocks noChangeAspect="1"/>
          </p:cNvPicPr>
          <p:nvPr/>
        </p:nvPicPr>
        <p:blipFill>
          <a:blip r:embed="rId11"/>
          <a:stretch>
            <a:fillRect/>
          </a:stretch>
        </p:blipFill>
        <p:spPr>
          <a:xfrm rot="10800000">
            <a:off x="3127365" y="6046665"/>
            <a:ext cx="571524" cy="171450"/>
          </a:xfrm>
          <a:prstGeom prst="rect">
            <a:avLst/>
          </a:prstGeom>
        </p:spPr>
      </p:pic>
      <p:pic>
        <p:nvPicPr>
          <p:cNvPr id="41" name="Picture 40">
            <a:extLst>
              <a:ext uri="{FF2B5EF4-FFF2-40B4-BE49-F238E27FC236}">
                <a16:creationId xmlns:a16="http://schemas.microsoft.com/office/drawing/2014/main" id="{2D5B45DC-9494-2984-75DE-E27340139692}"/>
              </a:ext>
            </a:extLst>
          </p:cNvPr>
          <p:cNvPicPr>
            <a:picLocks noChangeAspect="1"/>
          </p:cNvPicPr>
          <p:nvPr/>
        </p:nvPicPr>
        <p:blipFill>
          <a:blip r:embed="rId11"/>
          <a:stretch>
            <a:fillRect/>
          </a:stretch>
        </p:blipFill>
        <p:spPr>
          <a:xfrm rot="5400000">
            <a:off x="2342832" y="5419761"/>
            <a:ext cx="571524" cy="171450"/>
          </a:xfrm>
          <a:prstGeom prst="rect">
            <a:avLst/>
          </a:prstGeom>
        </p:spPr>
      </p:pic>
      <p:sp>
        <p:nvSpPr>
          <p:cNvPr id="42" name="TextBox 41">
            <a:extLst>
              <a:ext uri="{FF2B5EF4-FFF2-40B4-BE49-F238E27FC236}">
                <a16:creationId xmlns:a16="http://schemas.microsoft.com/office/drawing/2014/main" id="{8F187D0D-1113-5F3E-D5F5-D0E8C7198707}"/>
              </a:ext>
            </a:extLst>
          </p:cNvPr>
          <p:cNvSpPr txBox="1"/>
          <p:nvPr/>
        </p:nvSpPr>
        <p:spPr>
          <a:xfrm>
            <a:off x="431914" y="6247800"/>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6" name="TextBox 45">
            <a:extLst>
              <a:ext uri="{FF2B5EF4-FFF2-40B4-BE49-F238E27FC236}">
                <a16:creationId xmlns:a16="http://schemas.microsoft.com/office/drawing/2014/main" id="{0F8EE80C-81AE-105B-7E5C-70D9B7A2FD0A}"/>
              </a:ext>
            </a:extLst>
          </p:cNvPr>
          <p:cNvSpPr txBox="1"/>
          <p:nvPr/>
        </p:nvSpPr>
        <p:spPr>
          <a:xfrm>
            <a:off x="2374909" y="5985421"/>
            <a:ext cx="758287"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/exec</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CD82DC83-36D0-C4CC-EB89-97D79DDF276E}"/>
              </a:ext>
            </a:extLst>
          </p:cNvPr>
          <p:cNvSpPr txBox="1"/>
          <p:nvPr/>
        </p:nvSpPr>
        <p:spPr>
          <a:xfrm>
            <a:off x="3794669" y="5928013"/>
            <a:ext cx="580815" cy="3820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600"/>
              <a:t>/conf</a:t>
            </a:r>
            <a:endParaRPr lang="en-US" sz="1600"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5E7611BB-F27B-D6C6-16BB-70AEDBCC01C3}"/>
              </a:ext>
            </a:extLst>
          </p:cNvPr>
          <p:cNvPicPr>
            <a:picLocks noChangeAspect="1"/>
          </p:cNvPicPr>
          <p:nvPr/>
        </p:nvPicPr>
        <p:blipFill>
          <a:blip r:embed="rId11"/>
          <a:stretch>
            <a:fillRect/>
          </a:stretch>
        </p:blipFill>
        <p:spPr>
          <a:xfrm rot="5400000">
            <a:off x="2383834" y="6805942"/>
            <a:ext cx="571524" cy="171450"/>
          </a:xfrm>
          <a:prstGeom prst="rect">
            <a:avLst/>
          </a:prstGeom>
        </p:spPr>
      </p:pic>
      <p:sp>
        <p:nvSpPr>
          <p:cNvPr id="51" name="TextBox 50">
            <a:extLst>
              <a:ext uri="{FF2B5EF4-FFF2-40B4-BE49-F238E27FC236}">
                <a16:creationId xmlns:a16="http://schemas.microsoft.com/office/drawing/2014/main" id="{EB3345BD-550F-A1C2-FE14-6D2B998FA2DE}"/>
              </a:ext>
            </a:extLst>
          </p:cNvPr>
          <p:cNvSpPr txBox="1"/>
          <p:nvPr/>
        </p:nvSpPr>
        <p:spPr>
          <a:xfrm>
            <a:off x="1037496" y="6006182"/>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7199611E-305B-7106-9930-41C5651B6C34}"/>
              </a:ext>
            </a:extLst>
          </p:cNvPr>
          <p:cNvSpPr txBox="1"/>
          <p:nvPr/>
        </p:nvSpPr>
        <p:spPr>
          <a:xfrm>
            <a:off x="3194434" y="5296482"/>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9FE7A5B4-CB1D-1FE1-4939-2CBD1DDE2F41}"/>
              </a:ext>
            </a:extLst>
          </p:cNvPr>
          <p:cNvSpPr txBox="1"/>
          <p:nvPr/>
        </p:nvSpPr>
        <p:spPr>
          <a:xfrm>
            <a:off x="2261011" y="7901946"/>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12E2DF3C-2381-A909-D37F-5E130EEF30D6}"/>
              </a:ext>
            </a:extLst>
          </p:cNvPr>
          <p:cNvSpPr txBox="1"/>
          <p:nvPr/>
        </p:nvSpPr>
        <p:spPr>
          <a:xfrm>
            <a:off x="291513" y="2895912"/>
            <a:ext cx="29254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12" name="TextBox 11">
            <a:extLst>
              <a:ext uri="{FF2B5EF4-FFF2-40B4-BE49-F238E27FC236}">
                <a16:creationId xmlns:a16="http://schemas.microsoft.com/office/drawing/2014/main" id="{F189A964-A5F1-2E48-AD04-5672E21C1320}"/>
              </a:ext>
            </a:extLst>
          </p:cNvPr>
          <p:cNvSpPr txBox="1"/>
          <p:nvPr/>
        </p:nvSpPr>
        <p:spPr>
          <a:xfrm>
            <a:off x="4832031" y="3757523"/>
            <a:ext cx="2775952" cy="2300391"/>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10F2054B-CDAA-9B99-09CF-8E54EF1B0D66}"/>
              </a:ext>
            </a:extLst>
          </p:cNvPr>
          <p:cNvSpPr txBox="1"/>
          <p:nvPr/>
        </p:nvSpPr>
        <p:spPr>
          <a:xfrm>
            <a:off x="4826122" y="3743074"/>
            <a:ext cx="1272179"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a:t>
            </a:r>
            <a:r>
              <a:rPr lang="en-US" sz="1800" err="1"/>
              <a:t>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A24B37F4-CF5B-8A4B-71F9-808E2923D2E7}"/>
              </a:ext>
            </a:extLst>
          </p:cNvPr>
          <p:cNvSpPr txBox="1"/>
          <p:nvPr/>
        </p:nvSpPr>
        <p:spPr>
          <a:xfrm>
            <a:off x="4937607" y="6837358"/>
            <a:ext cx="2323771" cy="412853"/>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a:t>
            </a:r>
            <a:r>
              <a:rPr lang="en-US" sz="1800" err="1"/>
              <a:t>kaiaulu_react</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96567F91-ABFC-9BC1-53D4-48CB54E7CEE0}"/>
              </a:ext>
            </a:extLst>
          </p:cNvPr>
          <p:cNvSpPr txBox="1"/>
          <p:nvPr/>
        </p:nvSpPr>
        <p:spPr>
          <a:xfrm>
            <a:off x="4937742" y="7985937"/>
            <a:ext cx="2323771" cy="412853"/>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a:t>
            </a:r>
            <a:r>
              <a:rPr lang="en-US" sz="1800" err="1"/>
              <a:t>process_mining</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68BE5C89-00CD-A47D-AE30-DE1990B8C8E8}"/>
              </a:ext>
            </a:extLst>
          </p:cNvPr>
          <p:cNvSpPr txBox="1"/>
          <p:nvPr/>
        </p:nvSpPr>
        <p:spPr>
          <a:xfrm>
            <a:off x="4933842" y="7402414"/>
            <a:ext cx="2323771" cy="412853"/>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sz="1800"/>
              <a:t>/</a:t>
            </a:r>
            <a:r>
              <a:rPr lang="en-US" sz="1800" err="1"/>
              <a:t>sentiment_classifier</a:t>
            </a:r>
            <a:endParaRPr lang="en-US" sz="1800"/>
          </a:p>
        </p:txBody>
      </p:sp>
      <p:sp>
        <p:nvSpPr>
          <p:cNvPr id="270" name="TextBox 269">
            <a:extLst>
              <a:ext uri="{FF2B5EF4-FFF2-40B4-BE49-F238E27FC236}">
                <a16:creationId xmlns:a16="http://schemas.microsoft.com/office/drawing/2014/main" id="{AC2D8227-3A2F-FFF4-1D3F-D437A8823397}"/>
              </a:ext>
            </a:extLst>
          </p:cNvPr>
          <p:cNvSpPr txBox="1"/>
          <p:nvPr/>
        </p:nvSpPr>
        <p:spPr>
          <a:xfrm>
            <a:off x="4979765" y="8787704"/>
            <a:ext cx="2288806" cy="1227143"/>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0E3F7C59-37E6-EABD-6246-4D9F01684A5A}"/>
              </a:ext>
            </a:extLst>
          </p:cNvPr>
          <p:cNvSpPr txBox="1"/>
          <p:nvPr/>
        </p:nvSpPr>
        <p:spPr>
          <a:xfrm>
            <a:off x="5083053" y="9058219"/>
            <a:ext cx="22704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1800"/>
              <a:t>Other Tools and Projects</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8798E540-D384-A168-BD87-0774CE99BC54}"/>
              </a:ext>
            </a:extLst>
          </p:cNvPr>
          <p:cNvSpPr txBox="1"/>
          <p:nvPr/>
        </p:nvSpPr>
        <p:spPr>
          <a:xfrm>
            <a:off x="240212" y="2035092"/>
            <a:ext cx="417477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a:t>
            </a:r>
            <a:r>
              <a:rPr lang="en-US" b="0" err="1">
                <a:cs typeface="Helvetica"/>
              </a:rPr>
              <a:t>kaiaulu's</a:t>
            </a:r>
            <a:r>
              <a:rPr lang="en-US" b="0">
                <a:cs typeface="Helvetica"/>
              </a:rPr>
              <a:t> functions through a command line interface. This allows </a:t>
            </a:r>
            <a:r>
              <a:rPr lang="en-US" b="0" err="1">
                <a:cs typeface="Helvetica"/>
              </a:rPr>
              <a:t>server side</a:t>
            </a:r>
            <a:r>
              <a:rPr lang="en-US" b="0">
                <a:cs typeface="Helvetica"/>
              </a:rPr>
              <a:t> execution and use of </a:t>
            </a:r>
            <a:r>
              <a:rPr lang="en-US" b="0" err="1">
                <a:cs typeface="Helvetica"/>
              </a:rPr>
              <a:t>Kaiaulu</a:t>
            </a:r>
            <a:r>
              <a:rPr lang="en-US" b="0">
                <a:cs typeface="Helvetica"/>
              </a:rPr>
              <a:t> capabilities without knowledge of R.</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7659E10E-F6CB-D185-01E7-6977569CF747}"/>
              </a:ext>
            </a:extLst>
          </p:cNvPr>
          <p:cNvSpPr txBox="1"/>
          <p:nvPr/>
        </p:nvSpPr>
        <p:spPr>
          <a:xfrm>
            <a:off x="291325" y="340705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2BE26C0C-45F7-FB5C-ACA5-D0D0D33FA56F}"/>
              </a:ext>
            </a:extLst>
          </p:cNvPr>
          <p:cNvSpPr txBox="1"/>
          <p:nvPr/>
        </p:nvSpPr>
        <p:spPr>
          <a:xfrm>
            <a:off x="4614906" y="2022418"/>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Sailuh</a:t>
            </a:r>
            <a:r>
              <a:rPr lang="en-US" b="0">
                <a:cs typeface="Helvetica"/>
              </a:rPr>
              <a:t> tools such as </a:t>
            </a:r>
            <a:r>
              <a:rPr lang="en-US" b="0" err="1">
                <a:cs typeface="Helvetica"/>
              </a:rPr>
              <a:t>pykumu</a:t>
            </a:r>
            <a:r>
              <a:rPr lang="en-US" b="0">
                <a:cs typeface="Helvetica"/>
              </a:rPr>
              <a:t> rely on </a:t>
            </a:r>
            <a:r>
              <a:rPr lang="en-US" b="0" err="1">
                <a:cs typeface="Helvetica"/>
              </a:rPr>
              <a:t>kaiaulu</a:t>
            </a:r>
            <a:r>
              <a:rPr lang="en-US" b="0">
                <a:cs typeface="Helvetica"/>
              </a:rPr>
              <a:t> executables to download and refresh data. </a:t>
            </a:r>
            <a:r>
              <a:rPr lang="en-US" b="0" err="1">
                <a:cs typeface="Helvetica"/>
              </a:rPr>
              <a:t>Kaiaulu</a:t>
            </a:r>
            <a:r>
              <a:rPr lang="en-US" b="0">
                <a:cs typeface="Helvetica"/>
              </a:rPr>
              <a:t> executable are also made to provide </a:t>
            </a:r>
            <a:r>
              <a:rPr lang="en-US" b="0" err="1">
                <a:cs typeface="Helvetica"/>
              </a:rPr>
              <a:t>kaiaulu's</a:t>
            </a:r>
            <a:r>
              <a:rPr lang="en-US" b="0">
                <a:cs typeface="Helvetica"/>
              </a:rPr>
              <a:t> functions to users, tools, and projects outside of the </a:t>
            </a:r>
            <a:r>
              <a:rPr lang="en-US" b="0" err="1">
                <a:cs typeface="Helvetica"/>
              </a:rPr>
              <a:t>sailuh</a:t>
            </a:r>
            <a:r>
              <a:rPr lang="en-US" b="0">
                <a:cs typeface="Helvetica"/>
              </a:rPr>
              <a:t> ecosystem.</a:t>
            </a:r>
          </a:p>
        </p:txBody>
      </p:sp>
      <p:pic>
        <p:nvPicPr>
          <p:cNvPr id="282" name="Picture 281">
            <a:extLst>
              <a:ext uri="{FF2B5EF4-FFF2-40B4-BE49-F238E27FC236}">
                <a16:creationId xmlns:a16="http://schemas.microsoft.com/office/drawing/2014/main" id="{7F98965C-98BC-8099-6707-40F88704DA67}"/>
              </a:ext>
            </a:extLst>
          </p:cNvPr>
          <p:cNvPicPr>
            <a:picLocks noChangeAspect="1"/>
          </p:cNvPicPr>
          <p:nvPr/>
        </p:nvPicPr>
        <p:blipFill>
          <a:blip r:embed="rId12"/>
          <a:stretch>
            <a:fillRect/>
          </a:stretch>
        </p:blipFill>
        <p:spPr>
          <a:xfrm>
            <a:off x="6098101" y="4169371"/>
            <a:ext cx="1508489" cy="1495172"/>
          </a:xfrm>
          <a:prstGeom prst="rect">
            <a:avLst/>
          </a:prstGeom>
        </p:spPr>
      </p:pic>
      <p:sp>
        <p:nvSpPr>
          <p:cNvPr id="283" name="TextBox 282">
            <a:extLst>
              <a:ext uri="{FF2B5EF4-FFF2-40B4-BE49-F238E27FC236}">
                <a16:creationId xmlns:a16="http://schemas.microsoft.com/office/drawing/2014/main" id="{A6E88E04-881A-6E9F-AE65-9D71E88D97DD}"/>
              </a:ext>
            </a:extLst>
          </p:cNvPr>
          <p:cNvSpPr txBox="1"/>
          <p:nvPr/>
        </p:nvSpPr>
        <p:spPr>
          <a:xfrm>
            <a:off x="6545535" y="4773758"/>
            <a:ext cx="879894"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/exec</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95" name="TextBox 294">
            <a:extLst>
              <a:ext uri="{FF2B5EF4-FFF2-40B4-BE49-F238E27FC236}">
                <a16:creationId xmlns:a16="http://schemas.microsoft.com/office/drawing/2014/main" id="{7E6A98DF-D110-EBD1-78A9-A67165153944}"/>
              </a:ext>
            </a:extLst>
          </p:cNvPr>
          <p:cNvSpPr txBox="1"/>
          <p:nvPr/>
        </p:nvSpPr>
        <p:spPr>
          <a:xfrm>
            <a:off x="7968188" y="4321265"/>
            <a:ext cx="1108944" cy="104892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3200"/>
              <a:t>&gt; </a:t>
            </a:r>
          </a:p>
          <a:p>
            <a:endParaRPr lang="en-US"/>
          </a:p>
          <a:p>
            <a:endParaRPr lang="en-US"/>
          </a:p>
        </p:txBody>
      </p:sp>
      <p:sp>
        <p:nvSpPr>
          <p:cNvPr id="298" name="TextBox 297">
            <a:extLst>
              <a:ext uri="{FF2B5EF4-FFF2-40B4-BE49-F238E27FC236}">
                <a16:creationId xmlns:a16="http://schemas.microsoft.com/office/drawing/2014/main" id="{C4BA0450-077A-F336-25A3-79E826332BC3}"/>
              </a:ext>
            </a:extLst>
          </p:cNvPr>
          <p:cNvSpPr txBox="1"/>
          <p:nvPr/>
        </p:nvSpPr>
        <p:spPr>
          <a:xfrm>
            <a:off x="9594281" y="1814719"/>
            <a:ext cx="4194166"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project configuration files in order to find information about the project such as where the project git data is located locally. The project </a:t>
            </a:r>
            <a:r>
              <a:rPr lang="en-US" b="0" err="1">
                <a:solidFill>
                  <a:srgbClr val="000000"/>
                </a:solidFill>
              </a:rPr>
              <a:t>confi</a:t>
            </a:r>
            <a:r>
              <a:rPr lang="en-US" b="0">
                <a:solidFill>
                  <a:srgbClr val="000000"/>
                </a:solidFill>
              </a:rPr>
              <a:t>guration file is inputted as an argument with the exec command in the command line.</a:t>
            </a:r>
            <a:endParaRPr lang="en-US" b="0">
              <a:solidFill>
                <a:srgbClr val="000000"/>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299" name="table">
            <a:extLst>
              <a:ext uri="{FF2B5EF4-FFF2-40B4-BE49-F238E27FC236}">
                <a16:creationId xmlns:a16="http://schemas.microsoft.com/office/drawing/2014/main" id="{03B22550-C80C-E0A1-E5C7-586CE2B6F3CB}"/>
              </a:ext>
            </a:extLst>
          </p:cNvPr>
          <p:cNvPicPr>
            <a:picLocks noChangeAspect="1"/>
          </p:cNvPicPr>
          <p:nvPr/>
        </p:nvPicPr>
        <p:blipFill>
          <a:blip r:embed="rId6"/>
          <a:stretch>
            <a:fillRect/>
          </a:stretch>
        </p:blipFill>
        <p:spPr>
          <a:xfrm>
            <a:off x="8699501" y="5680371"/>
            <a:ext cx="631402" cy="675209"/>
          </a:xfrm>
          <a:prstGeom prst="rect">
            <a:avLst/>
          </a:prstGeom>
          <a:ln w="28575">
            <a:solidFill>
              <a:schemeClr val="accent5"/>
            </a:solidFill>
          </a:ln>
        </p:spPr>
      </p:pic>
      <p:pic>
        <p:nvPicPr>
          <p:cNvPr id="6" name="Picture 5">
            <a:extLst>
              <a:ext uri="{FF2B5EF4-FFF2-40B4-BE49-F238E27FC236}">
                <a16:creationId xmlns:a16="http://schemas.microsoft.com/office/drawing/2014/main" id="{0AA9A2F2-B24B-653D-C5FD-2B497881354A}"/>
              </a:ext>
            </a:extLst>
          </p:cNvPr>
          <p:cNvPicPr>
            <a:picLocks noChangeAspect="1"/>
          </p:cNvPicPr>
          <p:nvPr/>
        </p:nvPicPr>
        <p:blipFill>
          <a:blip r:embed="rId13"/>
          <a:stretch>
            <a:fillRect/>
          </a:stretch>
        </p:blipFill>
        <p:spPr>
          <a:xfrm>
            <a:off x="8762474" y="6663907"/>
            <a:ext cx="501875" cy="623276"/>
          </a:xfrm>
          <a:prstGeom prst="rect">
            <a:avLst/>
          </a:prstGeom>
          <a:ln w="28575">
            <a:solidFill>
              <a:schemeClr val="accent2"/>
            </a:solidFill>
          </a:ln>
        </p:spPr>
      </p:pic>
      <p:sp>
        <p:nvSpPr>
          <p:cNvPr id="9" name="Group">
            <a:extLst>
              <a:ext uri="{FF2B5EF4-FFF2-40B4-BE49-F238E27FC236}">
                <a16:creationId xmlns:a16="http://schemas.microsoft.com/office/drawing/2014/main" id="{64370A3D-5ED0-4ED3-13EE-E79D406AD307}"/>
              </a:ext>
            </a:extLst>
          </p:cNvPr>
          <p:cNvSpPr/>
          <p:nvPr/>
        </p:nvSpPr>
        <p:spPr>
          <a:xfrm>
            <a:off x="9577884" y="7135554"/>
            <a:ext cx="4349099" cy="1693182"/>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AFDD4010-3435-BBE5-AB0E-52A27391E67D}"/>
              </a:ext>
            </a:extLst>
          </p:cNvPr>
          <p:cNvSpPr txBox="1"/>
          <p:nvPr/>
        </p:nvSpPr>
        <p:spPr>
          <a:xfrm>
            <a:off x="9679736" y="7263890"/>
            <a:ext cx="20182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7082D3C4-3A95-27A4-2112-FC503C9FE8A4}"/>
              </a:ext>
            </a:extLst>
          </p:cNvPr>
          <p:cNvSpPr txBox="1"/>
          <p:nvPr/>
        </p:nvSpPr>
        <p:spPr>
          <a:xfrm>
            <a:off x="9622338" y="7644096"/>
            <a:ext cx="4357808"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668F3014-5115-ED4C-399A-D2AD8524EC38}"/>
              </a:ext>
            </a:extLst>
          </p:cNvPr>
          <p:cNvSpPr txBox="1"/>
          <p:nvPr/>
        </p:nvSpPr>
        <p:spPr>
          <a:xfrm>
            <a:off x="9659185" y="7853320"/>
            <a:ext cx="4216585" cy="894471"/>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a:t>
            </a:r>
            <a:endParaRPr lang="en-US" b="0">
              <a:cs typeface="Arial"/>
            </a:endParaRPr>
          </a:p>
          <a:p>
            <a:pPr>
              <a:lnSpc>
                <a:spcPct val="90000"/>
              </a:lnSpc>
              <a:spcBef>
                <a:spcPts val="0"/>
              </a:spcBef>
              <a:defRPr>
                <a:solidFill>
                  <a:srgbClr val="000000"/>
                </a:solidFill>
              </a:defRPr>
            </a:pPr>
            <a:r>
              <a:rPr lang="en-US">
                <a:cs typeface="Arial"/>
              </a:rPr>
              <a:t>                ...</a:t>
            </a:r>
            <a:endParaRPr lang="en-US" b="0">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parameters:</a:t>
            </a:r>
            <a:endParaRPr lang="en-US" b="0">
              <a:latin typeface="Source Sans Pro" panose="020B0503030403020204" pitchFamily="34" charset="0"/>
              <a:ea typeface="Source Sans Pro" panose="020B0503030403020204" pitchFamily="34" charset="0"/>
              <a:cs typeface="Arial" panose="020B0604020202020204" pitchFamily="34" charset="0"/>
            </a:endParaRPr>
          </a:p>
          <a:p>
            <a:pPr lvl="3" indent="0">
              <a:lnSpc>
                <a:spcPct val="90000"/>
              </a:lnSpc>
              <a:spcBef>
                <a:spcPts val="0"/>
              </a:spcBef>
              <a:defRPr>
                <a:solidFill>
                  <a:srgbClr val="000000"/>
                </a:solidFill>
              </a:defRPr>
            </a:pPr>
            <a:r>
              <a:rPr lang="en-US">
                <a:cs typeface="Arial"/>
              </a:rPr>
              <a:t>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16" name="Line">
            <a:extLst>
              <a:ext uri="{FF2B5EF4-FFF2-40B4-BE49-F238E27FC236}">
                <a16:creationId xmlns:a16="http://schemas.microsoft.com/office/drawing/2014/main" id="{24EC0803-2491-AB84-062E-E0CBCA134BDE}"/>
              </a:ext>
            </a:extLst>
          </p:cNvPr>
          <p:cNvSpPr/>
          <p:nvPr/>
        </p:nvSpPr>
        <p:spPr>
          <a:xfrm>
            <a:off x="447137" y="2723924"/>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18" name="Picture 17">
            <a:extLst>
              <a:ext uri="{FF2B5EF4-FFF2-40B4-BE49-F238E27FC236}">
                <a16:creationId xmlns:a16="http://schemas.microsoft.com/office/drawing/2014/main" id="{A6ED0856-0C79-8FBD-3C52-CECA1ACE101A}"/>
              </a:ext>
            </a:extLst>
          </p:cNvPr>
          <p:cNvPicPr>
            <a:picLocks noChangeAspect="1"/>
          </p:cNvPicPr>
          <p:nvPr/>
        </p:nvPicPr>
        <p:blipFill>
          <a:blip r:embed="rId12"/>
          <a:stretch>
            <a:fillRect/>
          </a:stretch>
        </p:blipFill>
        <p:spPr>
          <a:xfrm>
            <a:off x="3608326" y="5597863"/>
            <a:ext cx="976388" cy="1012115"/>
          </a:xfrm>
          <a:prstGeom prst="rect">
            <a:avLst/>
          </a:prstGeom>
        </p:spPr>
      </p:pic>
      <p:sp>
        <p:nvSpPr>
          <p:cNvPr id="3" name="TextBox 2">
            <a:extLst>
              <a:ext uri="{FF2B5EF4-FFF2-40B4-BE49-F238E27FC236}">
                <a16:creationId xmlns:a16="http://schemas.microsoft.com/office/drawing/2014/main" id="{A29F94FD-902C-1F4C-4D45-BA320AC98B76}"/>
              </a:ext>
            </a:extLst>
          </p:cNvPr>
          <p:cNvSpPr txBox="1"/>
          <p:nvPr/>
        </p:nvSpPr>
        <p:spPr>
          <a:xfrm>
            <a:off x="4936814" y="6295589"/>
            <a:ext cx="2323771" cy="412853"/>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sz="1800"/>
              <a:t>/</a:t>
            </a:r>
            <a:r>
              <a:rPr lang="en-US" sz="1800" err="1"/>
              <a:t>pykumu</a:t>
            </a:r>
            <a:endParaRPr lang="en-US" sz="1800"/>
          </a:p>
        </p:txBody>
      </p:sp>
      <p:sp>
        <p:nvSpPr>
          <p:cNvPr id="21" name="Layout Suggestions">
            <a:extLst>
              <a:ext uri="{FF2B5EF4-FFF2-40B4-BE49-F238E27FC236}">
                <a16:creationId xmlns:a16="http://schemas.microsoft.com/office/drawing/2014/main" id="{3A559689-70ED-D9BC-0F5F-0A0A0C8C9088}"/>
              </a:ext>
            </a:extLst>
          </p:cNvPr>
          <p:cNvSpPr txBox="1"/>
          <p:nvPr/>
        </p:nvSpPr>
        <p:spPr>
          <a:xfrm>
            <a:off x="235689" y="8405710"/>
            <a:ext cx="344477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 </a:t>
            </a:r>
          </a:p>
        </p:txBody>
      </p:sp>
      <p:sp>
        <p:nvSpPr>
          <p:cNvPr id="22" name="TextBox 21">
            <a:extLst>
              <a:ext uri="{FF2B5EF4-FFF2-40B4-BE49-F238E27FC236}">
                <a16:creationId xmlns:a16="http://schemas.microsoft.com/office/drawing/2014/main" id="{EFE3FF16-745A-37E9-8F9A-FA70706659DB}"/>
              </a:ext>
            </a:extLst>
          </p:cNvPr>
          <p:cNvSpPr txBox="1"/>
          <p:nvPr/>
        </p:nvSpPr>
        <p:spPr>
          <a:xfrm>
            <a:off x="229574" y="8813017"/>
            <a:ext cx="417477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Kaiaulu</a:t>
            </a:r>
            <a:r>
              <a:rPr lang="en-US" b="0">
                <a:cs typeface="Helvetica"/>
              </a:rPr>
              <a:t> executables provide data from sources such as </a:t>
            </a:r>
            <a:r>
              <a:rPr lang="en-US" b="0">
                <a:solidFill>
                  <a:schemeClr val="accent1"/>
                </a:solidFill>
                <a:cs typeface="Helvetica"/>
              </a:rPr>
              <a:t>mailing lists</a:t>
            </a:r>
            <a:r>
              <a:rPr lang="en-US" b="0">
                <a:solidFill>
                  <a:schemeClr val="tx1"/>
                </a:solidFill>
                <a:cs typeface="Helvetica"/>
              </a:rPr>
              <a:t>, </a:t>
            </a:r>
            <a:r>
              <a:rPr lang="en-US" b="0">
                <a:solidFill>
                  <a:schemeClr val="accent2"/>
                </a:solidFill>
                <a:cs typeface="Helvetica"/>
              </a:rPr>
              <a:t>issue comments</a:t>
            </a:r>
            <a:r>
              <a:rPr lang="en-US" b="0">
                <a:solidFill>
                  <a:schemeClr val="tx1"/>
                </a:solidFill>
                <a:cs typeface="Helvetica"/>
              </a:rPr>
              <a:t>, and issue logs.</a:t>
            </a:r>
            <a:endParaRPr lang="en-US">
              <a:solidFill>
                <a:schemeClr val="tx1"/>
              </a:solidFill>
            </a:endParaRPr>
          </a:p>
        </p:txBody>
      </p:sp>
      <p:cxnSp>
        <p:nvCxnSpPr>
          <p:cNvPr id="32" name="Straight Arrow Connector 31">
            <a:extLst>
              <a:ext uri="{FF2B5EF4-FFF2-40B4-BE49-F238E27FC236}">
                <a16:creationId xmlns:a16="http://schemas.microsoft.com/office/drawing/2014/main" id="{E2D64CA4-BBC5-4825-F5EC-24CA5A0C819E}"/>
              </a:ext>
            </a:extLst>
          </p:cNvPr>
          <p:cNvCxnSpPr/>
          <p:nvPr/>
        </p:nvCxnSpPr>
        <p:spPr>
          <a:xfrm flipH="1">
            <a:off x="7273357" y="6510960"/>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6" name="Straight Arrow Connector 55">
            <a:extLst>
              <a:ext uri="{FF2B5EF4-FFF2-40B4-BE49-F238E27FC236}">
                <a16:creationId xmlns:a16="http://schemas.microsoft.com/office/drawing/2014/main" id="{9F89AF03-EA90-4C9A-21E3-5C8F3A919424}"/>
              </a:ext>
            </a:extLst>
          </p:cNvPr>
          <p:cNvCxnSpPr>
            <a:cxnSpLocks/>
          </p:cNvCxnSpPr>
          <p:nvPr/>
        </p:nvCxnSpPr>
        <p:spPr>
          <a:xfrm flipH="1">
            <a:off x="7289746" y="7061469"/>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7" name="Straight Arrow Connector 56">
            <a:extLst>
              <a:ext uri="{FF2B5EF4-FFF2-40B4-BE49-F238E27FC236}">
                <a16:creationId xmlns:a16="http://schemas.microsoft.com/office/drawing/2014/main" id="{60E5D8BB-BFE6-9F90-0165-D1A9C172C9D9}"/>
              </a:ext>
            </a:extLst>
          </p:cNvPr>
          <p:cNvCxnSpPr>
            <a:cxnSpLocks/>
          </p:cNvCxnSpPr>
          <p:nvPr/>
        </p:nvCxnSpPr>
        <p:spPr>
          <a:xfrm flipH="1">
            <a:off x="7289727" y="7611977"/>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8" name="Straight Arrow Connector 57">
            <a:extLst>
              <a:ext uri="{FF2B5EF4-FFF2-40B4-BE49-F238E27FC236}">
                <a16:creationId xmlns:a16="http://schemas.microsoft.com/office/drawing/2014/main" id="{8E6841DA-234B-7BA8-03CE-C825A26BC1AA}"/>
              </a:ext>
            </a:extLst>
          </p:cNvPr>
          <p:cNvCxnSpPr>
            <a:cxnSpLocks/>
          </p:cNvCxnSpPr>
          <p:nvPr/>
        </p:nvCxnSpPr>
        <p:spPr>
          <a:xfrm flipH="1">
            <a:off x="7272229" y="8197439"/>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9" name="Straight Arrow Connector 58">
            <a:extLst>
              <a:ext uri="{FF2B5EF4-FFF2-40B4-BE49-F238E27FC236}">
                <a16:creationId xmlns:a16="http://schemas.microsoft.com/office/drawing/2014/main" id="{219FCDFB-208A-81C2-B259-4C33B35F36E4}"/>
              </a:ext>
            </a:extLst>
          </p:cNvPr>
          <p:cNvCxnSpPr>
            <a:cxnSpLocks/>
          </p:cNvCxnSpPr>
          <p:nvPr/>
        </p:nvCxnSpPr>
        <p:spPr>
          <a:xfrm flipH="1">
            <a:off x="7272211" y="9403312"/>
            <a:ext cx="1262402" cy="5347"/>
          </a:xfrm>
          <a:prstGeom prst="straightConnector1">
            <a:avLst/>
          </a:prstGeom>
          <a:noFill/>
          <a:ln w="285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60" name="Picture 59" descr="A close-up of a letter&#10;&#10;AI-generated content may be incorrect.">
            <a:extLst>
              <a:ext uri="{FF2B5EF4-FFF2-40B4-BE49-F238E27FC236}">
                <a16:creationId xmlns:a16="http://schemas.microsoft.com/office/drawing/2014/main" id="{0E7AD377-CF3E-201B-BDA4-45F8E4099FC4}"/>
              </a:ext>
            </a:extLst>
          </p:cNvPr>
          <p:cNvPicPr>
            <a:picLocks noChangeAspect="1"/>
          </p:cNvPicPr>
          <p:nvPr/>
        </p:nvPicPr>
        <p:blipFill>
          <a:blip r:embed="rId14"/>
          <a:stretch>
            <a:fillRect/>
          </a:stretch>
        </p:blipFill>
        <p:spPr>
          <a:xfrm>
            <a:off x="8638885" y="7428230"/>
            <a:ext cx="743059" cy="723900"/>
          </a:xfrm>
          <a:prstGeom prst="rect">
            <a:avLst/>
          </a:prstGeom>
          <a:ln w="28575">
            <a:solidFill>
              <a:schemeClr val="accent1"/>
            </a:solidFill>
          </a:ln>
        </p:spPr>
      </p:pic>
      <p:pic>
        <p:nvPicPr>
          <p:cNvPr id="61" name="Picture 60">
            <a:extLst>
              <a:ext uri="{FF2B5EF4-FFF2-40B4-BE49-F238E27FC236}">
                <a16:creationId xmlns:a16="http://schemas.microsoft.com/office/drawing/2014/main" id="{CCF347F5-3DDE-0161-A963-BA873E5ADB88}"/>
              </a:ext>
            </a:extLst>
          </p:cNvPr>
          <p:cNvPicPr>
            <a:picLocks noChangeAspect="1"/>
          </p:cNvPicPr>
          <p:nvPr/>
        </p:nvPicPr>
        <p:blipFill>
          <a:blip r:embed="rId12"/>
          <a:stretch>
            <a:fillRect/>
          </a:stretch>
        </p:blipFill>
        <p:spPr>
          <a:xfrm>
            <a:off x="4834994" y="4904533"/>
            <a:ext cx="1204581" cy="1171616"/>
          </a:xfrm>
          <a:prstGeom prst="rect">
            <a:avLst/>
          </a:prstGeom>
        </p:spPr>
      </p:pic>
      <p:pic>
        <p:nvPicPr>
          <p:cNvPr id="62" name="Picture 61">
            <a:extLst>
              <a:ext uri="{FF2B5EF4-FFF2-40B4-BE49-F238E27FC236}">
                <a16:creationId xmlns:a16="http://schemas.microsoft.com/office/drawing/2014/main" id="{F2D0A4FC-FD12-13DF-8B16-F8B775087A40}"/>
              </a:ext>
            </a:extLst>
          </p:cNvPr>
          <p:cNvPicPr>
            <a:picLocks noChangeAspect="1"/>
          </p:cNvPicPr>
          <p:nvPr/>
        </p:nvPicPr>
        <p:blipFill>
          <a:blip r:embed="rId12"/>
          <a:stretch>
            <a:fillRect/>
          </a:stretch>
        </p:blipFill>
        <p:spPr>
          <a:xfrm>
            <a:off x="4825257" y="3973666"/>
            <a:ext cx="1214384" cy="1152008"/>
          </a:xfrm>
          <a:prstGeom prst="rect">
            <a:avLst/>
          </a:prstGeom>
        </p:spPr>
      </p:pic>
      <p:sp>
        <p:nvSpPr>
          <p:cNvPr id="63" name="TextBox 62">
            <a:extLst>
              <a:ext uri="{FF2B5EF4-FFF2-40B4-BE49-F238E27FC236}">
                <a16:creationId xmlns:a16="http://schemas.microsoft.com/office/drawing/2014/main" id="{4C567C4A-60B1-887E-4EDE-5643BFD541E1}"/>
              </a:ext>
            </a:extLst>
          </p:cNvPr>
          <p:cNvSpPr txBox="1"/>
          <p:nvPr/>
        </p:nvSpPr>
        <p:spPr>
          <a:xfrm>
            <a:off x="5186922" y="4382529"/>
            <a:ext cx="1098210"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/R</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56" name="TextBox 255">
            <a:extLst>
              <a:ext uri="{FF2B5EF4-FFF2-40B4-BE49-F238E27FC236}">
                <a16:creationId xmlns:a16="http://schemas.microsoft.com/office/drawing/2014/main" id="{CBF4F432-8473-7D51-568C-A2FE09285685}"/>
              </a:ext>
            </a:extLst>
          </p:cNvPr>
          <p:cNvSpPr txBox="1"/>
          <p:nvPr/>
        </p:nvSpPr>
        <p:spPr>
          <a:xfrm>
            <a:off x="5079099" y="5333631"/>
            <a:ext cx="1313929"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/conf</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cxnSp>
        <p:nvCxnSpPr>
          <p:cNvPr id="257" name="Connector: Elbow 256">
            <a:extLst>
              <a:ext uri="{FF2B5EF4-FFF2-40B4-BE49-F238E27FC236}">
                <a16:creationId xmlns:a16="http://schemas.microsoft.com/office/drawing/2014/main" id="{E34416B2-AEBA-4A5F-94FE-C527938525CD}"/>
              </a:ext>
            </a:extLst>
          </p:cNvPr>
          <p:cNvCxnSpPr/>
          <p:nvPr/>
        </p:nvCxnSpPr>
        <p:spPr>
          <a:xfrm>
            <a:off x="5872414" y="4559328"/>
            <a:ext cx="326189" cy="296702"/>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8" name="Connector: Elbow 257">
            <a:extLst>
              <a:ext uri="{FF2B5EF4-FFF2-40B4-BE49-F238E27FC236}">
                <a16:creationId xmlns:a16="http://schemas.microsoft.com/office/drawing/2014/main" id="{CA2F2E09-D05E-72C1-0646-ECD373983C2F}"/>
              </a:ext>
            </a:extLst>
          </p:cNvPr>
          <p:cNvCxnSpPr/>
          <p:nvPr/>
        </p:nvCxnSpPr>
        <p:spPr>
          <a:xfrm flipV="1">
            <a:off x="5887844" y="5096952"/>
            <a:ext cx="316385" cy="448457"/>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9" name="Straight Arrow Connector 258">
            <a:extLst>
              <a:ext uri="{FF2B5EF4-FFF2-40B4-BE49-F238E27FC236}">
                <a16:creationId xmlns:a16="http://schemas.microsoft.com/office/drawing/2014/main" id="{A3357096-F332-A315-E2D2-8ABB58ABBF9D}"/>
              </a:ext>
            </a:extLst>
          </p:cNvPr>
          <p:cNvCxnSpPr/>
          <p:nvPr/>
        </p:nvCxnSpPr>
        <p:spPr>
          <a:xfrm flipH="1">
            <a:off x="7471610" y="5028540"/>
            <a:ext cx="418878" cy="12366"/>
          </a:xfrm>
          <a:prstGeom prst="straightConnector1">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cxnSp>
        <p:nvCxnSpPr>
          <p:cNvPr id="260" name="Straight Arrow Connector 259">
            <a:extLst>
              <a:ext uri="{FF2B5EF4-FFF2-40B4-BE49-F238E27FC236}">
                <a16:creationId xmlns:a16="http://schemas.microsoft.com/office/drawing/2014/main" id="{AB0B299A-675E-0DF7-19BB-EF036BF4587E}"/>
              </a:ext>
            </a:extLst>
          </p:cNvPr>
          <p:cNvCxnSpPr/>
          <p:nvPr/>
        </p:nvCxnSpPr>
        <p:spPr>
          <a:xfrm flipV="1">
            <a:off x="8562751" y="5389681"/>
            <a:ext cx="12478" cy="400756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9" name="Picture 18" descr="A diagram of a project&#10;&#10;AI-generated content may be incorrect.">
            <a:extLst>
              <a:ext uri="{FF2B5EF4-FFF2-40B4-BE49-F238E27FC236}">
                <a16:creationId xmlns:a16="http://schemas.microsoft.com/office/drawing/2014/main" id="{A7DB4FC2-5750-1236-D517-11B71EB48943}"/>
              </a:ext>
            </a:extLst>
          </p:cNvPr>
          <p:cNvPicPr>
            <a:picLocks noChangeAspect="1"/>
          </p:cNvPicPr>
          <p:nvPr/>
        </p:nvPicPr>
        <p:blipFill>
          <a:blip r:embed="rId15"/>
          <a:stretch>
            <a:fillRect/>
          </a:stretch>
        </p:blipFill>
        <p:spPr>
          <a:xfrm>
            <a:off x="10330023" y="2857190"/>
            <a:ext cx="2480017" cy="2243303"/>
          </a:xfrm>
          <a:prstGeom prst="rect">
            <a:avLst/>
          </a:prstGeom>
        </p:spPr>
      </p:pic>
    </p:spTree>
    <p:extLst>
      <p:ext uri="{BB962C8B-B14F-4D97-AF65-F5344CB8AC3E}">
        <p14:creationId xmlns:p14="http://schemas.microsoft.com/office/powerpoint/2010/main" val="139718581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741F2-4B66-5866-A292-EE7BA3C4E7D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20548B11-2ACA-0797-F183-7F4F4E5CD4A0}"/>
              </a:ext>
            </a:extLst>
          </p:cNvPr>
          <p:cNvPicPr>
            <a:picLocks noChangeAspect="1"/>
          </p:cNvPicPr>
          <p:nvPr/>
        </p:nvPicPr>
        <p:blipFill>
          <a:blip r:embed="rId3"/>
          <a:stretch>
            <a:fillRect/>
          </a:stretch>
        </p:blipFill>
        <p:spPr>
          <a:xfrm>
            <a:off x="3617218" y="5375213"/>
            <a:ext cx="763378" cy="807934"/>
          </a:xfrm>
          <a:prstGeom prst="rect">
            <a:avLst/>
          </a:prstGeom>
        </p:spPr>
      </p:pic>
      <p:sp>
        <p:nvSpPr>
          <p:cNvPr id="7" name="TextBox 6">
            <a:extLst>
              <a:ext uri="{FF2B5EF4-FFF2-40B4-BE49-F238E27FC236}">
                <a16:creationId xmlns:a16="http://schemas.microsoft.com/office/drawing/2014/main" id="{23765696-6762-976A-8F4C-40E4B7517DF5}"/>
              </a:ext>
            </a:extLst>
          </p:cNvPr>
          <p:cNvSpPr txBox="1"/>
          <p:nvPr/>
        </p:nvSpPr>
        <p:spPr>
          <a:xfrm>
            <a:off x="4670739" y="3071126"/>
            <a:ext cx="4755170" cy="5444843"/>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err="1"/>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292" name="Image" descr="Image">
            <a:extLst>
              <a:ext uri="{FF2B5EF4-FFF2-40B4-BE49-F238E27FC236}">
                <a16:creationId xmlns:a16="http://schemas.microsoft.com/office/drawing/2014/main" id="{91992D10-AE31-7B18-525B-D27AADF52B88}"/>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167990AB-5920-0596-791E-2CBDE5EC216A}"/>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4120A65A-ACC6-7DA5-576F-386895252D63}"/>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82BA2D33-FAC1-3812-AC80-423A844440A6}"/>
              </a:ext>
            </a:extLst>
          </p:cNvPr>
          <p:cNvSpPr/>
          <p:nvPr/>
        </p:nvSpPr>
        <p:spPr>
          <a:xfrm>
            <a:off x="9586644" y="5236661"/>
            <a:ext cx="4340222" cy="1824752"/>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5C51A923-0913-2996-DA23-E756697E30FE}"/>
              </a:ext>
            </a:extLst>
          </p:cNvPr>
          <p:cNvSpPr txBox="1"/>
          <p:nvPr/>
        </p:nvSpPr>
        <p:spPr>
          <a:xfrm>
            <a:off x="9679167" y="5300283"/>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28501D75-5FC2-E409-5271-970C1E9B04FE}"/>
              </a:ext>
            </a:extLst>
          </p:cNvPr>
          <p:cNvSpPr txBox="1"/>
          <p:nvPr/>
        </p:nvSpPr>
        <p:spPr>
          <a:xfrm>
            <a:off x="9668307" y="5680490"/>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D8604699-1D1D-6714-8930-A56D966305BB}"/>
              </a:ext>
            </a:extLst>
          </p:cNvPr>
          <p:cNvSpPr txBox="1"/>
          <p:nvPr/>
        </p:nvSpPr>
        <p:spPr>
          <a:xfrm>
            <a:off x="9687398" y="6065205"/>
            <a:ext cx="4140401" cy="869124"/>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a:t>
            </a:r>
          </a:p>
          <a:p>
            <a:pPr>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a:t>
            </a:r>
          </a:p>
          <a:p>
            <a:pPr lvl="3" indent="0">
              <a:lnSpc>
                <a:spcPct val="90000"/>
              </a:lnSpc>
              <a:spcBef>
                <a:spcPts val="0"/>
              </a:spcBef>
              <a:defRPr>
                <a:solidFill>
                  <a:srgbClr val="000000"/>
                </a:solidFill>
              </a:defRPr>
            </a:pPr>
            <a:r>
              <a:rPr lang="en-US">
                <a:cs typeface="Arial"/>
              </a:rPr>
              <a:t>                 ...</a:t>
            </a: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23751818-03B8-9D37-45C1-6C1C9649395E}"/>
              </a:ext>
            </a:extLst>
          </p:cNvPr>
          <p:cNvSpPr txBox="1"/>
          <p:nvPr/>
        </p:nvSpPr>
        <p:spPr>
          <a:xfrm>
            <a:off x="9592056" y="1518250"/>
            <a:ext cx="197810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0" name="Line">
            <a:extLst>
              <a:ext uri="{FF2B5EF4-FFF2-40B4-BE49-F238E27FC236}">
                <a16:creationId xmlns:a16="http://schemas.microsoft.com/office/drawing/2014/main" id="{C06C56D1-E55C-4DD1-6E3A-5F3A55C48408}"/>
              </a:ext>
            </a:extLst>
          </p:cNvPr>
          <p:cNvSpPr/>
          <p:nvPr/>
        </p:nvSpPr>
        <p:spPr>
          <a:xfrm>
            <a:off x="326748" y="8352879"/>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4" name="Three Column Layout: : CHEAT SHEET">
            <a:extLst>
              <a:ext uri="{FF2B5EF4-FFF2-40B4-BE49-F238E27FC236}">
                <a16:creationId xmlns:a16="http://schemas.microsoft.com/office/drawing/2014/main" id="{B572DD20-F030-00CC-C514-9A5C462D2EFD}"/>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2793A237-1CA6-D503-2B16-4E8CB0BA4513}"/>
              </a:ext>
            </a:extLst>
          </p:cNvPr>
          <p:cNvSpPr txBox="1"/>
          <p:nvPr/>
        </p:nvSpPr>
        <p:spPr>
          <a:xfrm>
            <a:off x="4663440" y="1513595"/>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0607C849-794B-E555-BD0A-127F2996A01B}"/>
              </a:ext>
            </a:extLst>
          </p:cNvPr>
          <p:cNvSpPr txBox="1"/>
          <p:nvPr/>
        </p:nvSpPr>
        <p:spPr>
          <a:xfrm>
            <a:off x="275721" y="151923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E238DBC9-507F-3DDB-8F1D-4FD985EC300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82D36E11-6FBC-9C6A-6155-30107773476C}"/>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48F4CDDE-2134-239D-CB64-0671C9350EE9}"/>
              </a:ext>
            </a:extLst>
          </p:cNvPr>
          <p:cNvSpPr/>
          <p:nvPr/>
        </p:nvSpPr>
        <p:spPr>
          <a:xfrm>
            <a:off x="9571144" y="8897120"/>
            <a:ext cx="4346831" cy="138051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A99F4E1B-2E8F-71E9-CFEE-DC41CED24362}"/>
              </a:ext>
            </a:extLst>
          </p:cNvPr>
          <p:cNvSpPr txBox="1"/>
          <p:nvPr/>
        </p:nvSpPr>
        <p:spPr>
          <a:xfrm>
            <a:off x="9687151" y="8999720"/>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130ADAAC-BCD9-0991-F34C-AE89532010DD}"/>
              </a:ext>
            </a:extLst>
          </p:cNvPr>
          <p:cNvSpPr txBox="1"/>
          <p:nvPr/>
        </p:nvSpPr>
        <p:spPr>
          <a:xfrm>
            <a:off x="9687507" y="9586722"/>
            <a:ext cx="4105332" cy="583155"/>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depends:</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808B7B36-0BE5-1F83-50A0-B36C2E56BAD4}"/>
              </a:ext>
            </a:extLst>
          </p:cNvPr>
          <p:cNvPicPr>
            <a:picLocks noChangeAspect="1"/>
          </p:cNvPicPr>
          <p:nvPr/>
        </p:nvPicPr>
        <p:blipFill>
          <a:blip r:embed="rId7"/>
          <a:stretch>
            <a:fillRect/>
          </a:stretch>
        </p:blipFill>
        <p:spPr>
          <a:xfrm>
            <a:off x="2316426" y="6639271"/>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71C4148B-9146-A884-34C0-19531400F765}"/>
              </a:ext>
            </a:extLst>
          </p:cNvPr>
          <p:cNvSpPr txBox="1"/>
          <p:nvPr/>
        </p:nvSpPr>
        <p:spPr>
          <a:xfrm>
            <a:off x="9668189" y="9311257"/>
            <a:ext cx="4369511" cy="2625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sz="1100">
                <a:cs typeface="Arial"/>
              </a:rPr>
              <a:t>The required external tools must be specified  in </a:t>
            </a:r>
            <a:r>
              <a:rPr lang="en-US" sz="1100" err="1">
                <a:cs typeface="Arial"/>
              </a:rPr>
              <a:t>tools.yml</a:t>
            </a:r>
            <a:r>
              <a:rPr lang="en-US" sz="1100">
                <a:cs typeface="Arial"/>
              </a:rPr>
              <a:t>:</a:t>
            </a:r>
            <a:endParaRPr lang="en-US" sz="1100" u="sng">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46D3B4B3-AACA-CD8C-95F4-6BBBAC79DBA2}"/>
              </a:ext>
            </a:extLst>
          </p:cNvPr>
          <p:cNvPicPr>
            <a:picLocks noChangeAspect="1"/>
          </p:cNvPicPr>
          <p:nvPr/>
        </p:nvPicPr>
        <p:blipFill>
          <a:blip r:embed="rId8"/>
          <a:stretch>
            <a:fillRect/>
          </a:stretch>
        </p:blipFill>
        <p:spPr>
          <a:xfrm>
            <a:off x="2331430" y="4327480"/>
            <a:ext cx="546328" cy="546436"/>
          </a:xfrm>
          <a:prstGeom prst="rect">
            <a:avLst/>
          </a:prstGeom>
        </p:spPr>
      </p:pic>
      <p:pic>
        <p:nvPicPr>
          <p:cNvPr id="23" name="Picture 22">
            <a:extLst>
              <a:ext uri="{FF2B5EF4-FFF2-40B4-BE49-F238E27FC236}">
                <a16:creationId xmlns:a16="http://schemas.microsoft.com/office/drawing/2014/main" id="{10799D62-BF1D-3D40-0448-914A877A31A7}"/>
              </a:ext>
            </a:extLst>
          </p:cNvPr>
          <p:cNvPicPr>
            <a:picLocks noChangeAspect="1"/>
          </p:cNvPicPr>
          <p:nvPr/>
        </p:nvPicPr>
        <p:blipFill>
          <a:blip r:embed="rId9"/>
          <a:stretch>
            <a:fillRect/>
          </a:stretch>
        </p:blipFill>
        <p:spPr>
          <a:xfrm>
            <a:off x="152521" y="6303625"/>
            <a:ext cx="544372" cy="486505"/>
          </a:xfrm>
          <a:prstGeom prst="rect">
            <a:avLst/>
          </a:prstGeom>
        </p:spPr>
      </p:pic>
      <p:pic>
        <p:nvPicPr>
          <p:cNvPr id="24" name="Picture 23">
            <a:extLst>
              <a:ext uri="{FF2B5EF4-FFF2-40B4-BE49-F238E27FC236}">
                <a16:creationId xmlns:a16="http://schemas.microsoft.com/office/drawing/2014/main" id="{2ECA3DDA-B4AB-BA9E-ABE6-39DA561CB596}"/>
              </a:ext>
            </a:extLst>
          </p:cNvPr>
          <p:cNvPicPr>
            <a:picLocks noChangeAspect="1"/>
          </p:cNvPicPr>
          <p:nvPr/>
        </p:nvPicPr>
        <p:blipFill>
          <a:blip r:embed="rId10"/>
          <a:stretch>
            <a:fillRect/>
          </a:stretch>
        </p:blipFill>
        <p:spPr>
          <a:xfrm>
            <a:off x="323834" y="5696727"/>
            <a:ext cx="742783" cy="609600"/>
          </a:xfrm>
          <a:prstGeom prst="rect">
            <a:avLst/>
          </a:prstGeom>
        </p:spPr>
      </p:pic>
      <p:pic>
        <p:nvPicPr>
          <p:cNvPr id="25" name="Picture 24">
            <a:extLst>
              <a:ext uri="{FF2B5EF4-FFF2-40B4-BE49-F238E27FC236}">
                <a16:creationId xmlns:a16="http://schemas.microsoft.com/office/drawing/2014/main" id="{BE9108A2-81A6-F11B-B78F-4FDA8594D40B}"/>
              </a:ext>
            </a:extLst>
          </p:cNvPr>
          <p:cNvPicPr>
            <a:picLocks noChangeAspect="1"/>
          </p:cNvPicPr>
          <p:nvPr/>
        </p:nvPicPr>
        <p:blipFill>
          <a:blip r:embed="rId11"/>
          <a:stretch>
            <a:fillRect/>
          </a:stretch>
        </p:blipFill>
        <p:spPr>
          <a:xfrm>
            <a:off x="2802229" y="4813959"/>
            <a:ext cx="372044" cy="354363"/>
          </a:xfrm>
          <a:prstGeom prst="rect">
            <a:avLst/>
          </a:prstGeom>
        </p:spPr>
      </p:pic>
      <p:pic>
        <p:nvPicPr>
          <p:cNvPr id="26" name="Picture 25">
            <a:extLst>
              <a:ext uri="{FF2B5EF4-FFF2-40B4-BE49-F238E27FC236}">
                <a16:creationId xmlns:a16="http://schemas.microsoft.com/office/drawing/2014/main" id="{55065A8D-A9FB-5490-D8A1-D61E9CFDD810}"/>
              </a:ext>
            </a:extLst>
          </p:cNvPr>
          <p:cNvPicPr>
            <a:picLocks noChangeAspect="1"/>
          </p:cNvPicPr>
          <p:nvPr/>
        </p:nvPicPr>
        <p:blipFill>
          <a:blip r:embed="rId3"/>
          <a:stretch>
            <a:fillRect/>
          </a:stretch>
        </p:blipFill>
        <p:spPr>
          <a:xfrm>
            <a:off x="2257372" y="5348641"/>
            <a:ext cx="745627" cy="790179"/>
          </a:xfrm>
          <a:prstGeom prst="rect">
            <a:avLst/>
          </a:prstGeom>
        </p:spPr>
      </p:pic>
      <p:pic>
        <p:nvPicPr>
          <p:cNvPr id="38" name="Picture 37">
            <a:extLst>
              <a:ext uri="{FF2B5EF4-FFF2-40B4-BE49-F238E27FC236}">
                <a16:creationId xmlns:a16="http://schemas.microsoft.com/office/drawing/2014/main" id="{7447D068-4B62-1B28-EE97-9739EE9609C2}"/>
              </a:ext>
            </a:extLst>
          </p:cNvPr>
          <p:cNvPicPr>
            <a:picLocks noChangeAspect="1"/>
          </p:cNvPicPr>
          <p:nvPr/>
        </p:nvPicPr>
        <p:blipFill>
          <a:blip r:embed="rId10"/>
          <a:stretch>
            <a:fillRect/>
          </a:stretch>
        </p:blipFill>
        <p:spPr>
          <a:xfrm rot="10800000">
            <a:off x="694429" y="6013601"/>
            <a:ext cx="742783" cy="609600"/>
          </a:xfrm>
          <a:prstGeom prst="rect">
            <a:avLst/>
          </a:prstGeom>
        </p:spPr>
      </p:pic>
      <p:pic>
        <p:nvPicPr>
          <p:cNvPr id="39" name="Picture 38">
            <a:extLst>
              <a:ext uri="{FF2B5EF4-FFF2-40B4-BE49-F238E27FC236}">
                <a16:creationId xmlns:a16="http://schemas.microsoft.com/office/drawing/2014/main" id="{771567FC-DB0C-8F5D-BB01-79E5C10335C7}"/>
              </a:ext>
            </a:extLst>
          </p:cNvPr>
          <p:cNvPicPr>
            <a:picLocks noChangeAspect="1"/>
          </p:cNvPicPr>
          <p:nvPr/>
        </p:nvPicPr>
        <p:blipFill>
          <a:blip r:embed="rId12"/>
          <a:stretch>
            <a:fillRect/>
          </a:stretch>
        </p:blipFill>
        <p:spPr>
          <a:xfrm>
            <a:off x="1672988" y="5696533"/>
            <a:ext cx="560207" cy="171450"/>
          </a:xfrm>
          <a:prstGeom prst="rect">
            <a:avLst/>
          </a:prstGeom>
        </p:spPr>
      </p:pic>
      <p:pic>
        <p:nvPicPr>
          <p:cNvPr id="40" name="Picture 39">
            <a:extLst>
              <a:ext uri="{FF2B5EF4-FFF2-40B4-BE49-F238E27FC236}">
                <a16:creationId xmlns:a16="http://schemas.microsoft.com/office/drawing/2014/main" id="{D1EC6783-FE5F-B567-18FD-51647455FBFC}"/>
              </a:ext>
            </a:extLst>
          </p:cNvPr>
          <p:cNvPicPr>
            <a:picLocks noChangeAspect="1"/>
          </p:cNvPicPr>
          <p:nvPr/>
        </p:nvPicPr>
        <p:blipFill>
          <a:blip r:embed="rId12"/>
          <a:stretch>
            <a:fillRect/>
          </a:stretch>
        </p:blipFill>
        <p:spPr>
          <a:xfrm rot="10800000">
            <a:off x="3038670" y="5699677"/>
            <a:ext cx="571524" cy="171450"/>
          </a:xfrm>
          <a:prstGeom prst="rect">
            <a:avLst/>
          </a:prstGeom>
        </p:spPr>
      </p:pic>
      <p:pic>
        <p:nvPicPr>
          <p:cNvPr id="41" name="Picture 40">
            <a:extLst>
              <a:ext uri="{FF2B5EF4-FFF2-40B4-BE49-F238E27FC236}">
                <a16:creationId xmlns:a16="http://schemas.microsoft.com/office/drawing/2014/main" id="{C2AB0754-11E3-C826-D2A9-533D825FD85B}"/>
              </a:ext>
            </a:extLst>
          </p:cNvPr>
          <p:cNvPicPr>
            <a:picLocks noChangeAspect="1"/>
          </p:cNvPicPr>
          <p:nvPr/>
        </p:nvPicPr>
        <p:blipFill>
          <a:blip r:embed="rId12"/>
          <a:stretch>
            <a:fillRect/>
          </a:stretch>
        </p:blipFill>
        <p:spPr>
          <a:xfrm rot="5400000">
            <a:off x="2316224" y="5055030"/>
            <a:ext cx="571524" cy="171450"/>
          </a:xfrm>
          <a:prstGeom prst="rect">
            <a:avLst/>
          </a:prstGeom>
        </p:spPr>
      </p:pic>
      <p:sp>
        <p:nvSpPr>
          <p:cNvPr id="42" name="TextBox 41">
            <a:extLst>
              <a:ext uri="{FF2B5EF4-FFF2-40B4-BE49-F238E27FC236}">
                <a16:creationId xmlns:a16="http://schemas.microsoft.com/office/drawing/2014/main" id="{044762B2-A788-09C8-3743-EFAA570549BE}"/>
              </a:ext>
            </a:extLst>
          </p:cNvPr>
          <p:cNvSpPr txBox="1"/>
          <p:nvPr/>
        </p:nvSpPr>
        <p:spPr>
          <a:xfrm>
            <a:off x="467392" y="5865326"/>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6" name="TextBox 45">
            <a:extLst>
              <a:ext uri="{FF2B5EF4-FFF2-40B4-BE49-F238E27FC236}">
                <a16:creationId xmlns:a16="http://schemas.microsoft.com/office/drawing/2014/main" id="{029762C8-1D31-5EDC-7BC8-4C5943EECCD4}"/>
              </a:ext>
            </a:extLst>
          </p:cNvPr>
          <p:cNvSpPr txBox="1"/>
          <p:nvPr/>
        </p:nvSpPr>
        <p:spPr>
          <a:xfrm>
            <a:off x="2374909" y="5587013"/>
            <a:ext cx="75828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853A46A1-6F20-E429-AF60-E1588966896B}"/>
              </a:ext>
            </a:extLst>
          </p:cNvPr>
          <p:cNvSpPr txBox="1"/>
          <p:nvPr/>
        </p:nvSpPr>
        <p:spPr>
          <a:xfrm>
            <a:off x="3759191" y="5611802"/>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37CFCC4A-982E-3D4B-8B75-8F13943CB4FB}"/>
              </a:ext>
            </a:extLst>
          </p:cNvPr>
          <p:cNvPicPr>
            <a:picLocks noChangeAspect="1"/>
          </p:cNvPicPr>
          <p:nvPr/>
        </p:nvPicPr>
        <p:blipFill>
          <a:blip r:embed="rId12"/>
          <a:stretch>
            <a:fillRect/>
          </a:stretch>
        </p:blipFill>
        <p:spPr>
          <a:xfrm rot="5400000">
            <a:off x="2321748" y="6228297"/>
            <a:ext cx="571524" cy="171450"/>
          </a:xfrm>
          <a:prstGeom prst="rect">
            <a:avLst/>
          </a:prstGeom>
        </p:spPr>
      </p:pic>
      <p:sp>
        <p:nvSpPr>
          <p:cNvPr id="51" name="TextBox 50">
            <a:extLst>
              <a:ext uri="{FF2B5EF4-FFF2-40B4-BE49-F238E27FC236}">
                <a16:creationId xmlns:a16="http://schemas.microsoft.com/office/drawing/2014/main" id="{3CD0A464-C3AE-0035-B62D-66739C255C41}"/>
              </a:ext>
            </a:extLst>
          </p:cNvPr>
          <p:cNvSpPr txBox="1"/>
          <p:nvPr/>
        </p:nvSpPr>
        <p:spPr>
          <a:xfrm>
            <a:off x="1072974" y="5623709"/>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5B68A8DE-0B67-A062-3935-3E43059FDB98}"/>
              </a:ext>
            </a:extLst>
          </p:cNvPr>
          <p:cNvSpPr txBox="1"/>
          <p:nvPr/>
        </p:nvSpPr>
        <p:spPr>
          <a:xfrm>
            <a:off x="3132348" y="4816422"/>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91EBF24A-3C35-6CC9-496D-8281ACB2E2AE}"/>
              </a:ext>
            </a:extLst>
          </p:cNvPr>
          <p:cNvSpPr txBox="1"/>
          <p:nvPr/>
        </p:nvSpPr>
        <p:spPr>
          <a:xfrm>
            <a:off x="2181186" y="7262200"/>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2BC21A6D-A91D-0896-C649-49DC211F124F}"/>
              </a:ext>
            </a:extLst>
          </p:cNvPr>
          <p:cNvSpPr txBox="1"/>
          <p:nvPr/>
        </p:nvSpPr>
        <p:spPr>
          <a:xfrm>
            <a:off x="291513" y="2882496"/>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12" name="TextBox 11">
            <a:extLst>
              <a:ext uri="{FF2B5EF4-FFF2-40B4-BE49-F238E27FC236}">
                <a16:creationId xmlns:a16="http://schemas.microsoft.com/office/drawing/2014/main" id="{3FF65842-8AF5-DA8E-204E-7992A67759C8}"/>
              </a:ext>
            </a:extLst>
          </p:cNvPr>
          <p:cNvSpPr txBox="1"/>
          <p:nvPr/>
        </p:nvSpPr>
        <p:spPr>
          <a:xfrm>
            <a:off x="4832031" y="3757523"/>
            <a:ext cx="2775952" cy="2300391"/>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56BDB6B9-6B24-E347-2F25-BC5435019407}"/>
              </a:ext>
            </a:extLst>
          </p:cNvPr>
          <p:cNvSpPr txBox="1"/>
          <p:nvPr/>
        </p:nvSpPr>
        <p:spPr>
          <a:xfrm>
            <a:off x="4826122" y="3743074"/>
            <a:ext cx="1272179"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a:t>
            </a:r>
            <a:r>
              <a:rPr lang="en-US" sz="1800" err="1"/>
              <a:t>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6FE759E5-C74B-C1A7-8E50-61FE3AC4B37D}"/>
              </a:ext>
            </a:extLst>
          </p:cNvPr>
          <p:cNvSpPr txBox="1"/>
          <p:nvPr/>
        </p:nvSpPr>
        <p:spPr>
          <a:xfrm>
            <a:off x="5139777" y="6907108"/>
            <a:ext cx="2121601"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D96C7548-C490-CF1F-580F-2A35A2F71473}"/>
              </a:ext>
            </a:extLst>
          </p:cNvPr>
          <p:cNvSpPr txBox="1"/>
          <p:nvPr/>
        </p:nvSpPr>
        <p:spPr>
          <a:xfrm>
            <a:off x="5166868" y="8025365"/>
            <a:ext cx="2094645" cy="327258"/>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CE4512AC-3494-B5A9-A323-FE41A66387F7}"/>
              </a:ext>
            </a:extLst>
          </p:cNvPr>
          <p:cNvSpPr txBox="1"/>
          <p:nvPr/>
        </p:nvSpPr>
        <p:spPr>
          <a:xfrm>
            <a:off x="5149490" y="7441842"/>
            <a:ext cx="2108123"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sentiment_classifier</a:t>
            </a:r>
            <a:endParaRPr lang="en-US"/>
          </a:p>
        </p:txBody>
      </p:sp>
      <p:sp>
        <p:nvSpPr>
          <p:cNvPr id="270" name="TextBox 269">
            <a:extLst>
              <a:ext uri="{FF2B5EF4-FFF2-40B4-BE49-F238E27FC236}">
                <a16:creationId xmlns:a16="http://schemas.microsoft.com/office/drawing/2014/main" id="{FE405303-5D0C-51E3-B969-F194741B9E23}"/>
              </a:ext>
            </a:extLst>
          </p:cNvPr>
          <p:cNvSpPr txBox="1"/>
          <p:nvPr/>
        </p:nvSpPr>
        <p:spPr>
          <a:xfrm>
            <a:off x="5228087" y="9125094"/>
            <a:ext cx="1987038" cy="54358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C3E76176-DDC8-9F1F-A6C8-A6FDA9E06C3B}"/>
              </a:ext>
            </a:extLst>
          </p:cNvPr>
          <p:cNvSpPr txBox="1"/>
          <p:nvPr/>
        </p:nvSpPr>
        <p:spPr>
          <a:xfrm>
            <a:off x="5340267" y="9242885"/>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9D3323BF-45AB-0A08-EE5C-23A6DF6DF21A}"/>
              </a:ext>
            </a:extLst>
          </p:cNvPr>
          <p:cNvSpPr txBox="1"/>
          <p:nvPr/>
        </p:nvSpPr>
        <p:spPr>
          <a:xfrm>
            <a:off x="240212" y="2035092"/>
            <a:ext cx="417477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a:t>
            </a:r>
            <a:r>
              <a:rPr lang="en-US" b="0" err="1">
                <a:cs typeface="Helvetica"/>
              </a:rPr>
              <a:t>kaiaulu's</a:t>
            </a:r>
            <a:r>
              <a:rPr lang="en-US" b="0">
                <a:cs typeface="Helvetica"/>
              </a:rPr>
              <a:t> functions through a command line interface. This allows </a:t>
            </a:r>
            <a:r>
              <a:rPr lang="en-US" b="0" err="1">
                <a:cs typeface="Helvetica"/>
              </a:rPr>
              <a:t>server side</a:t>
            </a:r>
            <a:r>
              <a:rPr lang="en-US" b="0">
                <a:cs typeface="Helvetica"/>
              </a:rPr>
              <a:t> execution and use of </a:t>
            </a:r>
            <a:r>
              <a:rPr lang="en-US" b="0" err="1">
                <a:cs typeface="Helvetica"/>
              </a:rPr>
              <a:t>Kaiaulu</a:t>
            </a:r>
            <a:r>
              <a:rPr lang="en-US" b="0">
                <a:cs typeface="Helvetica"/>
              </a:rPr>
              <a:t> capabilities without knowledge of R.</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E0E34662-2D7B-F2A5-6E8E-BB1A5BE1894B}"/>
              </a:ext>
            </a:extLst>
          </p:cNvPr>
          <p:cNvSpPr txBox="1"/>
          <p:nvPr/>
        </p:nvSpPr>
        <p:spPr>
          <a:xfrm>
            <a:off x="271729" y="333484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E68E4748-433A-603C-2F7D-B88F1DB6E894}"/>
              </a:ext>
            </a:extLst>
          </p:cNvPr>
          <p:cNvSpPr txBox="1"/>
          <p:nvPr/>
        </p:nvSpPr>
        <p:spPr>
          <a:xfrm>
            <a:off x="4614906" y="2022418"/>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Sailuh</a:t>
            </a:r>
            <a:r>
              <a:rPr lang="en-US" b="0">
                <a:cs typeface="Helvetica"/>
              </a:rPr>
              <a:t> tools such as </a:t>
            </a:r>
            <a:r>
              <a:rPr lang="en-US" b="0" err="1">
                <a:cs typeface="Helvetica"/>
              </a:rPr>
              <a:t>pykumu</a:t>
            </a:r>
            <a:r>
              <a:rPr lang="en-US" b="0">
                <a:cs typeface="Helvetica"/>
              </a:rPr>
              <a:t> rely on </a:t>
            </a:r>
            <a:r>
              <a:rPr lang="en-US" b="0" err="1">
                <a:cs typeface="Helvetica"/>
              </a:rPr>
              <a:t>kaiaulu</a:t>
            </a:r>
            <a:r>
              <a:rPr lang="en-US" b="0">
                <a:cs typeface="Helvetica"/>
              </a:rPr>
              <a:t> executables to download and refresh data. </a:t>
            </a:r>
            <a:r>
              <a:rPr lang="en-US" b="0" err="1">
                <a:cs typeface="Helvetica"/>
              </a:rPr>
              <a:t>Kaiaulu</a:t>
            </a:r>
            <a:r>
              <a:rPr lang="en-US" b="0">
                <a:cs typeface="Helvetica"/>
              </a:rPr>
              <a:t> executable are also made to provide </a:t>
            </a:r>
            <a:r>
              <a:rPr lang="en-US" b="0" err="1">
                <a:cs typeface="Helvetica"/>
              </a:rPr>
              <a:t>kaiaulu's</a:t>
            </a:r>
            <a:r>
              <a:rPr lang="en-US" b="0">
                <a:cs typeface="Helvetica"/>
              </a:rPr>
              <a:t> functions to users, tools, and projects outside of the </a:t>
            </a:r>
            <a:r>
              <a:rPr lang="en-US" b="0" err="1">
                <a:cs typeface="Helvetica"/>
              </a:rPr>
              <a:t>sailuh</a:t>
            </a:r>
            <a:r>
              <a:rPr lang="en-US" b="0">
                <a:cs typeface="Helvetica"/>
              </a:rPr>
              <a:t> ecosystem.</a:t>
            </a:r>
          </a:p>
        </p:txBody>
      </p:sp>
      <p:pic>
        <p:nvPicPr>
          <p:cNvPr id="282" name="Picture 281">
            <a:extLst>
              <a:ext uri="{FF2B5EF4-FFF2-40B4-BE49-F238E27FC236}">
                <a16:creationId xmlns:a16="http://schemas.microsoft.com/office/drawing/2014/main" id="{DFE22077-19D1-3966-B860-B94F84851335}"/>
              </a:ext>
            </a:extLst>
          </p:cNvPr>
          <p:cNvPicPr>
            <a:picLocks noChangeAspect="1"/>
          </p:cNvPicPr>
          <p:nvPr/>
        </p:nvPicPr>
        <p:blipFill>
          <a:blip r:embed="rId3"/>
          <a:stretch>
            <a:fillRect/>
          </a:stretch>
        </p:blipFill>
        <p:spPr>
          <a:xfrm>
            <a:off x="6461864" y="4587236"/>
            <a:ext cx="901977" cy="861758"/>
          </a:xfrm>
          <a:prstGeom prst="rect">
            <a:avLst/>
          </a:prstGeom>
        </p:spPr>
      </p:pic>
      <p:sp>
        <p:nvSpPr>
          <p:cNvPr id="283" name="TextBox 282">
            <a:extLst>
              <a:ext uri="{FF2B5EF4-FFF2-40B4-BE49-F238E27FC236}">
                <a16:creationId xmlns:a16="http://schemas.microsoft.com/office/drawing/2014/main" id="{774A056E-A6CE-BC1F-15D2-426A2E707229}"/>
              </a:ext>
            </a:extLst>
          </p:cNvPr>
          <p:cNvSpPr txBox="1"/>
          <p:nvPr/>
        </p:nvSpPr>
        <p:spPr>
          <a:xfrm>
            <a:off x="6606164" y="4846868"/>
            <a:ext cx="87989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98" name="TextBox 297">
            <a:extLst>
              <a:ext uri="{FF2B5EF4-FFF2-40B4-BE49-F238E27FC236}">
                <a16:creationId xmlns:a16="http://schemas.microsoft.com/office/drawing/2014/main" id="{96401EFF-5409-A343-24DB-E0FD6C82ABD4}"/>
              </a:ext>
            </a:extLst>
          </p:cNvPr>
          <p:cNvSpPr txBox="1"/>
          <p:nvPr/>
        </p:nvSpPr>
        <p:spPr>
          <a:xfrm>
            <a:off x="9587542" y="1702777"/>
            <a:ext cx="4080908" cy="1269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project configuration files in order to find information about the project such as where the project git data is located locally. The project </a:t>
            </a:r>
            <a:r>
              <a:rPr lang="en-US" b="0" err="1">
                <a:solidFill>
                  <a:srgbClr val="000000"/>
                </a:solidFill>
              </a:rPr>
              <a:t>confi</a:t>
            </a:r>
            <a:r>
              <a:rPr lang="en-US" b="0">
                <a:solidFill>
                  <a:srgbClr val="000000"/>
                </a:solidFill>
              </a:rPr>
              <a:t>guration file is inputted as an argument with the exec command in the command line.</a:t>
            </a:r>
            <a:endParaRPr lang="en-US" b="0">
              <a:solidFill>
                <a:srgbClr val="000000"/>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9386AA39-8138-0355-02F4-449E875DE2DD}"/>
              </a:ext>
            </a:extLst>
          </p:cNvPr>
          <p:cNvSpPr/>
          <p:nvPr/>
        </p:nvSpPr>
        <p:spPr>
          <a:xfrm>
            <a:off x="9577884" y="7135554"/>
            <a:ext cx="4349099" cy="1693182"/>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6611ED17-057A-C70C-E641-0A5F7E7EFD48}"/>
              </a:ext>
            </a:extLst>
          </p:cNvPr>
          <p:cNvSpPr txBox="1"/>
          <p:nvPr/>
        </p:nvSpPr>
        <p:spPr>
          <a:xfrm>
            <a:off x="9679736" y="7263890"/>
            <a:ext cx="20182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C30CB6DF-D051-1B89-05F2-DC1CB66CDEB8}"/>
              </a:ext>
            </a:extLst>
          </p:cNvPr>
          <p:cNvSpPr txBox="1"/>
          <p:nvPr/>
        </p:nvSpPr>
        <p:spPr>
          <a:xfrm>
            <a:off x="9622338" y="7644096"/>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9B862961-8FC4-6087-86CE-EA7EBA5068DB}"/>
              </a:ext>
            </a:extLst>
          </p:cNvPr>
          <p:cNvSpPr txBox="1"/>
          <p:nvPr/>
        </p:nvSpPr>
        <p:spPr>
          <a:xfrm>
            <a:off x="9659185" y="7853320"/>
            <a:ext cx="4216585" cy="894471"/>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a:t>
            </a:r>
            <a:endParaRPr lang="en-US" b="0">
              <a:cs typeface="Arial"/>
            </a:endParaRPr>
          </a:p>
          <a:p>
            <a:pPr>
              <a:lnSpc>
                <a:spcPct val="90000"/>
              </a:lnSpc>
              <a:spcBef>
                <a:spcPts val="0"/>
              </a:spcBef>
              <a:defRPr>
                <a:solidFill>
                  <a:srgbClr val="000000"/>
                </a:solidFill>
              </a:defRPr>
            </a:pPr>
            <a:r>
              <a:rPr lang="en-US">
                <a:cs typeface="Arial"/>
              </a:rPr>
              <a:t>                ...</a:t>
            </a:r>
            <a:endParaRPr lang="en-US" b="0">
              <a:latin typeface="Source Sans Pro" panose="020B0503030403020204" pitchFamily="34" charset="0"/>
              <a:ea typeface="Source Sans Pro" panose="020B0503030403020204" pitchFamily="34" charset="0"/>
              <a:cs typeface="Arial" panose="020B0604020202020204" pitchFamily="34" charset="0"/>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a:t>
            </a:r>
            <a:endParaRPr lang="en-US">
              <a:latin typeface="Source Sans Pro" panose="020B0503030403020204" pitchFamily="34" charset="0"/>
              <a:ea typeface="Source Sans Pro" panose="020B0503030403020204" pitchFamily="34" charset="0"/>
              <a:cs typeface="Arial" panose="020B0604020202020204" pitchFamily="34" charset="0"/>
            </a:endParaRPr>
          </a:p>
          <a:p>
            <a:pPr lvl="3" indent="0">
              <a:lnSpc>
                <a:spcPct val="90000"/>
              </a:lnSpc>
              <a:spcBef>
                <a:spcPts val="0"/>
              </a:spcBef>
              <a:defRPr>
                <a:solidFill>
                  <a:srgbClr val="000000"/>
                </a:solidFill>
              </a:defRPr>
            </a:pPr>
            <a:r>
              <a:rPr lang="en-US">
                <a:cs typeface="Arial"/>
              </a:rPr>
              <a:t>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16" name="Line">
            <a:extLst>
              <a:ext uri="{FF2B5EF4-FFF2-40B4-BE49-F238E27FC236}">
                <a16:creationId xmlns:a16="http://schemas.microsoft.com/office/drawing/2014/main" id="{97D2E923-2B52-0C17-52AA-85B3BB472672}"/>
              </a:ext>
            </a:extLst>
          </p:cNvPr>
          <p:cNvSpPr/>
          <p:nvPr/>
        </p:nvSpPr>
        <p:spPr>
          <a:xfrm>
            <a:off x="447137" y="2723924"/>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TextBox 2">
            <a:extLst>
              <a:ext uri="{FF2B5EF4-FFF2-40B4-BE49-F238E27FC236}">
                <a16:creationId xmlns:a16="http://schemas.microsoft.com/office/drawing/2014/main" id="{5B676397-F395-B571-FFFA-C4C9465C18B6}"/>
              </a:ext>
            </a:extLst>
          </p:cNvPr>
          <p:cNvSpPr txBox="1"/>
          <p:nvPr/>
        </p:nvSpPr>
        <p:spPr>
          <a:xfrm>
            <a:off x="5145723" y="6335017"/>
            <a:ext cx="2114862"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pykumu</a:t>
            </a:r>
            <a:endParaRPr lang="en-US"/>
          </a:p>
        </p:txBody>
      </p:sp>
      <p:sp>
        <p:nvSpPr>
          <p:cNvPr id="21" name="Layout Suggestions">
            <a:extLst>
              <a:ext uri="{FF2B5EF4-FFF2-40B4-BE49-F238E27FC236}">
                <a16:creationId xmlns:a16="http://schemas.microsoft.com/office/drawing/2014/main" id="{BD0DDB95-9BDD-D621-4CBA-21A87794E5D5}"/>
              </a:ext>
            </a:extLst>
          </p:cNvPr>
          <p:cNvSpPr txBox="1"/>
          <p:nvPr/>
        </p:nvSpPr>
        <p:spPr>
          <a:xfrm>
            <a:off x="235689" y="8405710"/>
            <a:ext cx="344477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 </a:t>
            </a:r>
          </a:p>
        </p:txBody>
      </p:sp>
      <p:sp>
        <p:nvSpPr>
          <p:cNvPr id="22" name="TextBox 21">
            <a:extLst>
              <a:ext uri="{FF2B5EF4-FFF2-40B4-BE49-F238E27FC236}">
                <a16:creationId xmlns:a16="http://schemas.microsoft.com/office/drawing/2014/main" id="{9775E4B8-AF09-0CFE-67FA-F011356A4885}"/>
              </a:ext>
            </a:extLst>
          </p:cNvPr>
          <p:cNvSpPr txBox="1"/>
          <p:nvPr/>
        </p:nvSpPr>
        <p:spPr>
          <a:xfrm>
            <a:off x="229574" y="8813017"/>
            <a:ext cx="417477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Kaiaulu</a:t>
            </a:r>
            <a:r>
              <a:rPr lang="en-US" b="0">
                <a:cs typeface="Helvetica"/>
              </a:rPr>
              <a:t> executables provide data from sources such as </a:t>
            </a:r>
            <a:r>
              <a:rPr lang="en-US" b="0">
                <a:solidFill>
                  <a:schemeClr val="accent1"/>
                </a:solidFill>
                <a:cs typeface="Helvetica"/>
              </a:rPr>
              <a:t>mailing lists</a:t>
            </a:r>
            <a:r>
              <a:rPr lang="en-US" b="0">
                <a:solidFill>
                  <a:schemeClr val="tx1"/>
                </a:solidFill>
                <a:cs typeface="Helvetica"/>
              </a:rPr>
              <a:t>, </a:t>
            </a:r>
            <a:r>
              <a:rPr lang="en-US" b="0">
                <a:solidFill>
                  <a:schemeClr val="accent2"/>
                </a:solidFill>
                <a:cs typeface="Helvetica"/>
              </a:rPr>
              <a:t>Jira issues</a:t>
            </a:r>
            <a:r>
              <a:rPr lang="en-US" b="0">
                <a:solidFill>
                  <a:schemeClr val="tx1"/>
                </a:solidFill>
                <a:cs typeface="Helvetica"/>
              </a:rPr>
              <a:t>, and </a:t>
            </a:r>
            <a:r>
              <a:rPr lang="en-US" b="0">
                <a:solidFill>
                  <a:schemeClr val="accent5"/>
                </a:solidFill>
                <a:cs typeface="Helvetica"/>
              </a:rPr>
              <a:t>GitHub issues</a:t>
            </a:r>
            <a:r>
              <a:rPr lang="en-US" b="0">
                <a:solidFill>
                  <a:schemeClr val="tx1"/>
                </a:solidFill>
                <a:cs typeface="Helvetica"/>
              </a:rPr>
              <a:t>.</a:t>
            </a:r>
            <a:endParaRPr lang="en-US">
              <a:solidFill>
                <a:schemeClr val="tx1"/>
              </a:solidFill>
            </a:endParaRPr>
          </a:p>
        </p:txBody>
      </p:sp>
      <p:cxnSp>
        <p:nvCxnSpPr>
          <p:cNvPr id="32" name="Straight Arrow Connector 31">
            <a:extLst>
              <a:ext uri="{FF2B5EF4-FFF2-40B4-BE49-F238E27FC236}">
                <a16:creationId xmlns:a16="http://schemas.microsoft.com/office/drawing/2014/main" id="{905851A7-4C55-7990-9062-198F4FD213AF}"/>
              </a:ext>
            </a:extLst>
          </p:cNvPr>
          <p:cNvCxnSpPr/>
          <p:nvPr/>
        </p:nvCxnSpPr>
        <p:spPr>
          <a:xfrm flipH="1">
            <a:off x="7273357" y="6510960"/>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6" name="Straight Arrow Connector 55">
            <a:extLst>
              <a:ext uri="{FF2B5EF4-FFF2-40B4-BE49-F238E27FC236}">
                <a16:creationId xmlns:a16="http://schemas.microsoft.com/office/drawing/2014/main" id="{A86FA455-B50A-190A-FB76-F1FBB4B4F1C2}"/>
              </a:ext>
            </a:extLst>
          </p:cNvPr>
          <p:cNvCxnSpPr>
            <a:cxnSpLocks/>
          </p:cNvCxnSpPr>
          <p:nvPr/>
        </p:nvCxnSpPr>
        <p:spPr>
          <a:xfrm flipH="1">
            <a:off x="7289746" y="7061469"/>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7" name="Straight Arrow Connector 56">
            <a:extLst>
              <a:ext uri="{FF2B5EF4-FFF2-40B4-BE49-F238E27FC236}">
                <a16:creationId xmlns:a16="http://schemas.microsoft.com/office/drawing/2014/main" id="{254D479B-9FD9-C0A0-9649-9EEDBDE217F7}"/>
              </a:ext>
            </a:extLst>
          </p:cNvPr>
          <p:cNvCxnSpPr>
            <a:cxnSpLocks/>
          </p:cNvCxnSpPr>
          <p:nvPr/>
        </p:nvCxnSpPr>
        <p:spPr>
          <a:xfrm flipH="1">
            <a:off x="7289727" y="7611977"/>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8" name="Straight Arrow Connector 57">
            <a:extLst>
              <a:ext uri="{FF2B5EF4-FFF2-40B4-BE49-F238E27FC236}">
                <a16:creationId xmlns:a16="http://schemas.microsoft.com/office/drawing/2014/main" id="{1D2DC9AA-DDA4-81FE-15CA-3E31C10D07C7}"/>
              </a:ext>
            </a:extLst>
          </p:cNvPr>
          <p:cNvCxnSpPr>
            <a:cxnSpLocks/>
          </p:cNvCxnSpPr>
          <p:nvPr/>
        </p:nvCxnSpPr>
        <p:spPr>
          <a:xfrm flipH="1">
            <a:off x="7272229" y="8197439"/>
            <a:ext cx="1262402" cy="534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9" name="Straight Arrow Connector 58">
            <a:extLst>
              <a:ext uri="{FF2B5EF4-FFF2-40B4-BE49-F238E27FC236}">
                <a16:creationId xmlns:a16="http://schemas.microsoft.com/office/drawing/2014/main" id="{6D7A1FBA-D2B5-FF0E-7604-93ECB8A92E52}"/>
              </a:ext>
            </a:extLst>
          </p:cNvPr>
          <p:cNvCxnSpPr>
            <a:cxnSpLocks/>
          </p:cNvCxnSpPr>
          <p:nvPr/>
        </p:nvCxnSpPr>
        <p:spPr>
          <a:xfrm flipH="1">
            <a:off x="7272211" y="9403312"/>
            <a:ext cx="1262402" cy="5347"/>
          </a:xfrm>
          <a:prstGeom prst="straightConnector1">
            <a:avLst/>
          </a:prstGeom>
          <a:noFill/>
          <a:ln w="285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60" name="Picture 59" descr="A close-up of a letter&#10;&#10;AI-generated content may be incorrect.">
            <a:extLst>
              <a:ext uri="{FF2B5EF4-FFF2-40B4-BE49-F238E27FC236}">
                <a16:creationId xmlns:a16="http://schemas.microsoft.com/office/drawing/2014/main" id="{725A1D50-0C78-12EB-AFE1-B261789A650E}"/>
              </a:ext>
            </a:extLst>
          </p:cNvPr>
          <p:cNvPicPr>
            <a:picLocks noChangeAspect="1"/>
          </p:cNvPicPr>
          <p:nvPr/>
        </p:nvPicPr>
        <p:blipFill>
          <a:blip r:embed="rId13"/>
          <a:stretch>
            <a:fillRect/>
          </a:stretch>
        </p:blipFill>
        <p:spPr>
          <a:xfrm>
            <a:off x="8722458" y="8035276"/>
            <a:ext cx="396915" cy="386557"/>
          </a:xfrm>
          <a:prstGeom prst="rect">
            <a:avLst/>
          </a:prstGeom>
          <a:ln w="28575">
            <a:solidFill>
              <a:schemeClr val="accent1"/>
            </a:solidFill>
          </a:ln>
        </p:spPr>
      </p:pic>
      <p:pic>
        <p:nvPicPr>
          <p:cNvPr id="61" name="Picture 60">
            <a:extLst>
              <a:ext uri="{FF2B5EF4-FFF2-40B4-BE49-F238E27FC236}">
                <a16:creationId xmlns:a16="http://schemas.microsoft.com/office/drawing/2014/main" id="{39CB3FAA-0B8D-355F-0871-9F71BCCC2D57}"/>
              </a:ext>
            </a:extLst>
          </p:cNvPr>
          <p:cNvPicPr>
            <a:picLocks noChangeAspect="1"/>
          </p:cNvPicPr>
          <p:nvPr/>
        </p:nvPicPr>
        <p:blipFill>
          <a:blip r:embed="rId3"/>
          <a:stretch>
            <a:fillRect/>
          </a:stretch>
        </p:blipFill>
        <p:spPr>
          <a:xfrm>
            <a:off x="4915832" y="5167377"/>
            <a:ext cx="847413" cy="780787"/>
          </a:xfrm>
          <a:prstGeom prst="rect">
            <a:avLst/>
          </a:prstGeom>
        </p:spPr>
      </p:pic>
      <p:pic>
        <p:nvPicPr>
          <p:cNvPr id="62" name="Picture 61">
            <a:extLst>
              <a:ext uri="{FF2B5EF4-FFF2-40B4-BE49-F238E27FC236}">
                <a16:creationId xmlns:a16="http://schemas.microsoft.com/office/drawing/2014/main" id="{7F9DE363-8A71-E87E-9525-9A939A6CF56C}"/>
              </a:ext>
            </a:extLst>
          </p:cNvPr>
          <p:cNvPicPr>
            <a:picLocks noChangeAspect="1"/>
          </p:cNvPicPr>
          <p:nvPr/>
        </p:nvPicPr>
        <p:blipFill>
          <a:blip r:embed="rId3"/>
          <a:stretch>
            <a:fillRect/>
          </a:stretch>
        </p:blipFill>
        <p:spPr>
          <a:xfrm>
            <a:off x="4912834" y="4175872"/>
            <a:ext cx="863955" cy="815085"/>
          </a:xfrm>
          <a:prstGeom prst="rect">
            <a:avLst/>
          </a:prstGeom>
        </p:spPr>
      </p:pic>
      <p:sp>
        <p:nvSpPr>
          <p:cNvPr id="63" name="TextBox 62">
            <a:extLst>
              <a:ext uri="{FF2B5EF4-FFF2-40B4-BE49-F238E27FC236}">
                <a16:creationId xmlns:a16="http://schemas.microsoft.com/office/drawing/2014/main" id="{576D5EF5-D4D1-DD1D-AEA3-6DE584CF84C3}"/>
              </a:ext>
            </a:extLst>
          </p:cNvPr>
          <p:cNvSpPr txBox="1"/>
          <p:nvPr/>
        </p:nvSpPr>
        <p:spPr>
          <a:xfrm>
            <a:off x="5186922" y="4428695"/>
            <a:ext cx="1098210"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/R</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56" name="TextBox 255">
            <a:extLst>
              <a:ext uri="{FF2B5EF4-FFF2-40B4-BE49-F238E27FC236}">
                <a16:creationId xmlns:a16="http://schemas.microsoft.com/office/drawing/2014/main" id="{1FDE4ABA-54A7-553F-E5B9-9E7C525C087E}"/>
              </a:ext>
            </a:extLst>
          </p:cNvPr>
          <p:cNvSpPr txBox="1"/>
          <p:nvPr/>
        </p:nvSpPr>
        <p:spPr>
          <a:xfrm>
            <a:off x="5079099" y="5379797"/>
            <a:ext cx="131392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cxnSp>
        <p:nvCxnSpPr>
          <p:cNvPr id="257" name="Connector: Elbow 256">
            <a:extLst>
              <a:ext uri="{FF2B5EF4-FFF2-40B4-BE49-F238E27FC236}">
                <a16:creationId xmlns:a16="http://schemas.microsoft.com/office/drawing/2014/main" id="{2F70400B-8764-0A0A-9FF8-4BE334468A13}"/>
              </a:ext>
            </a:extLst>
          </p:cNvPr>
          <p:cNvCxnSpPr/>
          <p:nvPr/>
        </p:nvCxnSpPr>
        <p:spPr>
          <a:xfrm>
            <a:off x="5730895" y="4606497"/>
            <a:ext cx="764225" cy="357348"/>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8" name="Connector: Elbow 257">
            <a:extLst>
              <a:ext uri="{FF2B5EF4-FFF2-40B4-BE49-F238E27FC236}">
                <a16:creationId xmlns:a16="http://schemas.microsoft.com/office/drawing/2014/main" id="{602600C9-7CB7-4A2E-4E2A-5210846D06CC}"/>
              </a:ext>
            </a:extLst>
          </p:cNvPr>
          <p:cNvCxnSpPr/>
          <p:nvPr/>
        </p:nvCxnSpPr>
        <p:spPr>
          <a:xfrm flipV="1">
            <a:off x="5739586" y="5110429"/>
            <a:ext cx="767899" cy="49562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9" name="Straight Arrow Connector 258">
            <a:extLst>
              <a:ext uri="{FF2B5EF4-FFF2-40B4-BE49-F238E27FC236}">
                <a16:creationId xmlns:a16="http://schemas.microsoft.com/office/drawing/2014/main" id="{F26490B8-D2C0-B0D8-B1CF-36953B351A34}"/>
              </a:ext>
            </a:extLst>
          </p:cNvPr>
          <p:cNvCxnSpPr/>
          <p:nvPr/>
        </p:nvCxnSpPr>
        <p:spPr>
          <a:xfrm flipH="1">
            <a:off x="7262701" y="5062232"/>
            <a:ext cx="789523" cy="5627"/>
          </a:xfrm>
          <a:prstGeom prst="straightConnector1">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cxnSp>
        <p:nvCxnSpPr>
          <p:cNvPr id="260" name="Straight Arrow Connector 259">
            <a:extLst>
              <a:ext uri="{FF2B5EF4-FFF2-40B4-BE49-F238E27FC236}">
                <a16:creationId xmlns:a16="http://schemas.microsoft.com/office/drawing/2014/main" id="{BBCFACF4-5D41-4C2B-9EF8-6B79EA8740F9}"/>
              </a:ext>
            </a:extLst>
          </p:cNvPr>
          <p:cNvCxnSpPr/>
          <p:nvPr/>
        </p:nvCxnSpPr>
        <p:spPr>
          <a:xfrm flipV="1">
            <a:off x="8542534" y="5416635"/>
            <a:ext cx="19217" cy="395366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7" name="Picture 26">
            <a:extLst>
              <a:ext uri="{FF2B5EF4-FFF2-40B4-BE49-F238E27FC236}">
                <a16:creationId xmlns:a16="http://schemas.microsoft.com/office/drawing/2014/main" id="{EE57E6C7-79E1-2166-A397-49CB0D640917}"/>
              </a:ext>
            </a:extLst>
          </p:cNvPr>
          <p:cNvPicPr>
            <a:picLocks noChangeAspect="1"/>
          </p:cNvPicPr>
          <p:nvPr/>
        </p:nvPicPr>
        <p:blipFill>
          <a:blip r:embed="rId14"/>
          <a:stretch>
            <a:fillRect/>
          </a:stretch>
        </p:blipFill>
        <p:spPr>
          <a:xfrm>
            <a:off x="7930136" y="4396908"/>
            <a:ext cx="1269277" cy="1260684"/>
          </a:xfrm>
          <a:prstGeom prst="rect">
            <a:avLst/>
          </a:prstGeom>
        </p:spPr>
      </p:pic>
      <p:pic>
        <p:nvPicPr>
          <p:cNvPr id="36" name="Picture 35">
            <a:extLst>
              <a:ext uri="{FF2B5EF4-FFF2-40B4-BE49-F238E27FC236}">
                <a16:creationId xmlns:a16="http://schemas.microsoft.com/office/drawing/2014/main" id="{719A6954-FF48-3E40-9D1A-394573F5A5FB}"/>
              </a:ext>
            </a:extLst>
          </p:cNvPr>
          <p:cNvPicPr>
            <a:picLocks noChangeAspect="1"/>
          </p:cNvPicPr>
          <p:nvPr/>
        </p:nvPicPr>
        <p:blipFill>
          <a:blip r:embed="rId15"/>
          <a:stretch>
            <a:fillRect/>
          </a:stretch>
        </p:blipFill>
        <p:spPr>
          <a:xfrm>
            <a:off x="8645349" y="7185359"/>
            <a:ext cx="554321" cy="415604"/>
          </a:xfrm>
          <a:prstGeom prst="rect">
            <a:avLst/>
          </a:prstGeom>
          <a:ln w="28575">
            <a:solidFill>
              <a:schemeClr val="accent2"/>
            </a:solidFill>
          </a:ln>
        </p:spPr>
      </p:pic>
      <p:pic>
        <p:nvPicPr>
          <p:cNvPr id="37" name="Picture 36" descr="A diagram of a project&#10;&#10;AI-generated content may be incorrect.">
            <a:extLst>
              <a:ext uri="{FF2B5EF4-FFF2-40B4-BE49-F238E27FC236}">
                <a16:creationId xmlns:a16="http://schemas.microsoft.com/office/drawing/2014/main" id="{182B3B25-60DF-B9C3-00F2-6214524FBF8B}"/>
              </a:ext>
            </a:extLst>
          </p:cNvPr>
          <p:cNvPicPr>
            <a:picLocks noChangeAspect="1"/>
          </p:cNvPicPr>
          <p:nvPr/>
        </p:nvPicPr>
        <p:blipFill>
          <a:blip r:embed="rId16"/>
          <a:stretch>
            <a:fillRect/>
          </a:stretch>
        </p:blipFill>
        <p:spPr>
          <a:xfrm>
            <a:off x="10584223" y="2655108"/>
            <a:ext cx="2926743" cy="2546002"/>
          </a:xfrm>
          <a:prstGeom prst="rect">
            <a:avLst/>
          </a:prstGeom>
        </p:spPr>
      </p:pic>
      <p:pic>
        <p:nvPicPr>
          <p:cNvPr id="43" name="Picture 42">
            <a:extLst>
              <a:ext uri="{FF2B5EF4-FFF2-40B4-BE49-F238E27FC236}">
                <a16:creationId xmlns:a16="http://schemas.microsoft.com/office/drawing/2014/main" id="{82ECEA49-27FA-FA06-2F2B-0DCF611738FA}"/>
              </a:ext>
            </a:extLst>
          </p:cNvPr>
          <p:cNvPicPr>
            <a:picLocks noChangeAspect="1"/>
          </p:cNvPicPr>
          <p:nvPr/>
        </p:nvPicPr>
        <p:blipFill>
          <a:blip r:embed="rId15"/>
          <a:stretch>
            <a:fillRect/>
          </a:stretch>
        </p:blipFill>
        <p:spPr>
          <a:xfrm>
            <a:off x="8644680" y="6370317"/>
            <a:ext cx="554321" cy="415604"/>
          </a:xfrm>
          <a:prstGeom prst="rect">
            <a:avLst/>
          </a:prstGeom>
          <a:ln w="28575">
            <a:solidFill>
              <a:schemeClr val="accent5"/>
            </a:solidFill>
          </a:ln>
        </p:spPr>
      </p:pic>
      <p:sp>
        <p:nvSpPr>
          <p:cNvPr id="44" name="TextBox 43">
            <a:extLst>
              <a:ext uri="{FF2B5EF4-FFF2-40B4-BE49-F238E27FC236}">
                <a16:creationId xmlns:a16="http://schemas.microsoft.com/office/drawing/2014/main" id="{1A6DABD0-CBEC-E5E0-59D8-270D53EF1294}"/>
              </a:ext>
            </a:extLst>
          </p:cNvPr>
          <p:cNvSpPr txBox="1"/>
          <p:nvPr/>
        </p:nvSpPr>
        <p:spPr>
          <a:xfrm>
            <a:off x="8592224" y="605643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GitHub</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92B43754-9067-C9AE-2F32-E55092DF5978}"/>
              </a:ext>
            </a:extLst>
          </p:cNvPr>
          <p:cNvSpPr txBox="1"/>
          <p:nvPr/>
        </p:nvSpPr>
        <p:spPr>
          <a:xfrm>
            <a:off x="8719485" y="6871499"/>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Jira</a:t>
            </a:r>
          </a:p>
        </p:txBody>
      </p:sp>
      <p:sp>
        <p:nvSpPr>
          <p:cNvPr id="47" name="TextBox 46">
            <a:extLst>
              <a:ext uri="{FF2B5EF4-FFF2-40B4-BE49-F238E27FC236}">
                <a16:creationId xmlns:a16="http://schemas.microsoft.com/office/drawing/2014/main" id="{F8BB1C71-87CB-3F45-D9F8-3C6C5D18434F}"/>
              </a:ext>
            </a:extLst>
          </p:cNvPr>
          <p:cNvSpPr txBox="1"/>
          <p:nvPr/>
        </p:nvSpPr>
        <p:spPr>
          <a:xfrm>
            <a:off x="8719484" y="7720242"/>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Mail</a:t>
            </a:r>
          </a:p>
        </p:txBody>
      </p:sp>
    </p:spTree>
    <p:extLst>
      <p:ext uri="{BB962C8B-B14F-4D97-AF65-F5344CB8AC3E}">
        <p14:creationId xmlns:p14="http://schemas.microsoft.com/office/powerpoint/2010/main" val="247814632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EAC5-00CD-C64A-67E3-15D1A1F8C19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B89A78-C519-B951-26BF-91DC040EDB84}"/>
              </a:ext>
            </a:extLst>
          </p:cNvPr>
          <p:cNvSpPr txBox="1"/>
          <p:nvPr/>
        </p:nvSpPr>
        <p:spPr>
          <a:xfrm>
            <a:off x="4670739" y="3035617"/>
            <a:ext cx="4613163" cy="5542494"/>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err="1"/>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18" name="Picture 17">
            <a:extLst>
              <a:ext uri="{FF2B5EF4-FFF2-40B4-BE49-F238E27FC236}">
                <a16:creationId xmlns:a16="http://schemas.microsoft.com/office/drawing/2014/main" id="{907D8273-60B7-CE16-B883-308B4F9B6213}"/>
              </a:ext>
            </a:extLst>
          </p:cNvPr>
          <p:cNvPicPr>
            <a:picLocks noChangeAspect="1"/>
          </p:cNvPicPr>
          <p:nvPr/>
        </p:nvPicPr>
        <p:blipFill>
          <a:blip r:embed="rId3"/>
          <a:stretch>
            <a:fillRect/>
          </a:stretch>
        </p:blipFill>
        <p:spPr>
          <a:xfrm>
            <a:off x="12841449" y="4088854"/>
            <a:ext cx="763378" cy="807934"/>
          </a:xfrm>
          <a:prstGeom prst="rect">
            <a:avLst/>
          </a:prstGeom>
        </p:spPr>
      </p:pic>
      <p:pic>
        <p:nvPicPr>
          <p:cNvPr id="292" name="Image" descr="Image">
            <a:extLst>
              <a:ext uri="{FF2B5EF4-FFF2-40B4-BE49-F238E27FC236}">
                <a16:creationId xmlns:a16="http://schemas.microsoft.com/office/drawing/2014/main" id="{AF1B7941-09EA-8B37-D0AF-DD857E8031DC}"/>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401F6285-E914-FC29-BAC6-AEE9965FBDF6}"/>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E2FCE528-7937-B7D0-EE60-B822A4EC194B}"/>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F00D29B9-9615-3444-98AC-CA8AD7233D46}"/>
              </a:ext>
            </a:extLst>
          </p:cNvPr>
          <p:cNvSpPr/>
          <p:nvPr/>
        </p:nvSpPr>
        <p:spPr>
          <a:xfrm>
            <a:off x="220507" y="2610755"/>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389A4399-5F89-E311-1043-9B2B852EB5E5}"/>
              </a:ext>
            </a:extLst>
          </p:cNvPr>
          <p:cNvSpPr txBox="1"/>
          <p:nvPr/>
        </p:nvSpPr>
        <p:spPr>
          <a:xfrm>
            <a:off x="304155" y="2612235"/>
            <a:ext cx="276678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02FE65F0-1643-01EC-EAD4-3498AE04726A}"/>
              </a:ext>
            </a:extLst>
          </p:cNvPr>
          <p:cNvSpPr txBox="1"/>
          <p:nvPr/>
        </p:nvSpPr>
        <p:spPr>
          <a:xfrm>
            <a:off x="293295" y="2992442"/>
            <a:ext cx="4264736"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25425377-4885-17E9-DA9E-81B779526FA5}"/>
              </a:ext>
            </a:extLst>
          </p:cNvPr>
          <p:cNvSpPr txBox="1"/>
          <p:nvPr/>
        </p:nvSpPr>
        <p:spPr>
          <a:xfrm>
            <a:off x="312386" y="3377157"/>
            <a:ext cx="4122651" cy="602800"/>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3425DD1E-B2D7-24DC-2B8E-7F3088BE7633}"/>
              </a:ext>
            </a:extLst>
          </p:cNvPr>
          <p:cNvSpPr txBox="1"/>
          <p:nvPr/>
        </p:nvSpPr>
        <p:spPr>
          <a:xfrm>
            <a:off x="279130" y="6752399"/>
            <a:ext cx="197810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286F7F9C-232B-EB0D-0E4A-FE2EA8364D1B}"/>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A5CE3319-5B76-4A27-23B7-77293914C6DA}"/>
              </a:ext>
            </a:extLst>
          </p:cNvPr>
          <p:cNvSpPr txBox="1"/>
          <p:nvPr/>
        </p:nvSpPr>
        <p:spPr>
          <a:xfrm>
            <a:off x="4663440" y="1513595"/>
            <a:ext cx="209352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41BB7A87-0286-8A74-7203-C24C8EA94636}"/>
              </a:ext>
            </a:extLst>
          </p:cNvPr>
          <p:cNvSpPr txBox="1"/>
          <p:nvPr/>
        </p:nvSpPr>
        <p:spPr>
          <a:xfrm>
            <a:off x="257982" y="1536978"/>
            <a:ext cx="26212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1DD741D2-CE1A-8808-DF5F-7961839A2B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A6677831-DAB8-09D5-D227-D637741E6BB8}"/>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88839B84-A621-093A-90BA-1B7D1B1DC5FD}"/>
              </a:ext>
            </a:extLst>
          </p:cNvPr>
          <p:cNvSpPr/>
          <p:nvPr/>
        </p:nvSpPr>
        <p:spPr>
          <a:xfrm>
            <a:off x="231610" y="5437298"/>
            <a:ext cx="4346831" cy="131837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CBE2485B-8685-CEBE-C2F4-34709B19D650}"/>
              </a:ext>
            </a:extLst>
          </p:cNvPr>
          <p:cNvSpPr txBox="1"/>
          <p:nvPr/>
        </p:nvSpPr>
        <p:spPr>
          <a:xfrm>
            <a:off x="347617" y="5477756"/>
            <a:ext cx="254396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BBCA80A0-3ED1-2F10-D8D0-846E68F46175}"/>
              </a:ext>
            </a:extLst>
          </p:cNvPr>
          <p:cNvSpPr txBox="1"/>
          <p:nvPr/>
        </p:nvSpPr>
        <p:spPr>
          <a:xfrm>
            <a:off x="347973" y="6055887"/>
            <a:ext cx="4105332" cy="583155"/>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depends: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096EEB31-AECA-C551-E1F0-7B1F1948C06A}"/>
              </a:ext>
            </a:extLst>
          </p:cNvPr>
          <p:cNvPicPr>
            <a:picLocks noChangeAspect="1"/>
          </p:cNvPicPr>
          <p:nvPr/>
        </p:nvPicPr>
        <p:blipFill>
          <a:blip r:embed="rId7"/>
          <a:stretch>
            <a:fillRect/>
          </a:stretch>
        </p:blipFill>
        <p:spPr>
          <a:xfrm>
            <a:off x="11540657" y="5352912"/>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77237767-96D6-0EA3-D226-80A05FEE9995}"/>
              </a:ext>
            </a:extLst>
          </p:cNvPr>
          <p:cNvSpPr txBox="1"/>
          <p:nvPr/>
        </p:nvSpPr>
        <p:spPr>
          <a:xfrm>
            <a:off x="328655" y="5789293"/>
            <a:ext cx="4369511" cy="26255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nchor="t">
            <a:spAutoFit/>
          </a:bodyPr>
          <a:lstStyle/>
          <a:p>
            <a:pPr>
              <a:lnSpc>
                <a:spcPct val="90000"/>
              </a:lnSpc>
              <a:buSzPts val="3700"/>
            </a:pPr>
            <a:r>
              <a:rPr lang="en-US" sz="1100">
                <a:cs typeface="Arial"/>
              </a:rPr>
              <a:t>The required external tools must be specified  in </a:t>
            </a:r>
            <a:r>
              <a:rPr lang="en-US" sz="1100" err="1">
                <a:cs typeface="Arial"/>
              </a:rPr>
              <a:t>tools.yml</a:t>
            </a:r>
            <a:r>
              <a:rPr lang="en-US" sz="1100">
                <a:cs typeface="Arial"/>
              </a:rPr>
              <a:t>:</a:t>
            </a:r>
            <a:endParaRPr lang="en-US" sz="1100" u="sng">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A02D9DAF-1DAA-BCC9-D398-17CD666C3B85}"/>
              </a:ext>
            </a:extLst>
          </p:cNvPr>
          <p:cNvPicPr>
            <a:picLocks noChangeAspect="1"/>
          </p:cNvPicPr>
          <p:nvPr/>
        </p:nvPicPr>
        <p:blipFill>
          <a:blip r:embed="rId8"/>
          <a:stretch>
            <a:fillRect/>
          </a:stretch>
        </p:blipFill>
        <p:spPr>
          <a:xfrm>
            <a:off x="11555661" y="3041121"/>
            <a:ext cx="546328" cy="546436"/>
          </a:xfrm>
          <a:prstGeom prst="rect">
            <a:avLst/>
          </a:prstGeom>
        </p:spPr>
      </p:pic>
      <p:pic>
        <p:nvPicPr>
          <p:cNvPr id="23" name="Picture 22">
            <a:extLst>
              <a:ext uri="{FF2B5EF4-FFF2-40B4-BE49-F238E27FC236}">
                <a16:creationId xmlns:a16="http://schemas.microsoft.com/office/drawing/2014/main" id="{9343B036-FB73-8CCD-3B86-D746083F0512}"/>
              </a:ext>
            </a:extLst>
          </p:cNvPr>
          <p:cNvPicPr>
            <a:picLocks noChangeAspect="1"/>
          </p:cNvPicPr>
          <p:nvPr/>
        </p:nvPicPr>
        <p:blipFill>
          <a:blip r:embed="rId9"/>
          <a:stretch>
            <a:fillRect/>
          </a:stretch>
        </p:blipFill>
        <p:spPr>
          <a:xfrm>
            <a:off x="9403360" y="5035008"/>
            <a:ext cx="544372" cy="486505"/>
          </a:xfrm>
          <a:prstGeom prst="rect">
            <a:avLst/>
          </a:prstGeom>
        </p:spPr>
      </p:pic>
      <p:pic>
        <p:nvPicPr>
          <p:cNvPr id="24" name="Picture 23">
            <a:extLst>
              <a:ext uri="{FF2B5EF4-FFF2-40B4-BE49-F238E27FC236}">
                <a16:creationId xmlns:a16="http://schemas.microsoft.com/office/drawing/2014/main" id="{593B75D2-2D5F-C5D9-E3EB-A927E5E34A97}"/>
              </a:ext>
            </a:extLst>
          </p:cNvPr>
          <p:cNvPicPr>
            <a:picLocks noChangeAspect="1"/>
          </p:cNvPicPr>
          <p:nvPr/>
        </p:nvPicPr>
        <p:blipFill>
          <a:blip r:embed="rId10"/>
          <a:stretch>
            <a:fillRect/>
          </a:stretch>
        </p:blipFill>
        <p:spPr>
          <a:xfrm>
            <a:off x="9548065" y="4410368"/>
            <a:ext cx="742783" cy="609600"/>
          </a:xfrm>
          <a:prstGeom prst="rect">
            <a:avLst/>
          </a:prstGeom>
        </p:spPr>
      </p:pic>
      <p:pic>
        <p:nvPicPr>
          <p:cNvPr id="25" name="Picture 24">
            <a:extLst>
              <a:ext uri="{FF2B5EF4-FFF2-40B4-BE49-F238E27FC236}">
                <a16:creationId xmlns:a16="http://schemas.microsoft.com/office/drawing/2014/main" id="{9B60C8EF-ACDB-A968-A8A6-5874EE406814}"/>
              </a:ext>
            </a:extLst>
          </p:cNvPr>
          <p:cNvPicPr>
            <a:picLocks noChangeAspect="1"/>
          </p:cNvPicPr>
          <p:nvPr/>
        </p:nvPicPr>
        <p:blipFill>
          <a:blip r:embed="rId11"/>
          <a:stretch>
            <a:fillRect/>
          </a:stretch>
        </p:blipFill>
        <p:spPr>
          <a:xfrm>
            <a:off x="12026460" y="3527600"/>
            <a:ext cx="372044" cy="354363"/>
          </a:xfrm>
          <a:prstGeom prst="rect">
            <a:avLst/>
          </a:prstGeom>
        </p:spPr>
      </p:pic>
      <p:pic>
        <p:nvPicPr>
          <p:cNvPr id="26" name="Picture 25">
            <a:extLst>
              <a:ext uri="{FF2B5EF4-FFF2-40B4-BE49-F238E27FC236}">
                <a16:creationId xmlns:a16="http://schemas.microsoft.com/office/drawing/2014/main" id="{8CC02596-DEFC-71C5-9CEC-1125DE9507DF}"/>
              </a:ext>
            </a:extLst>
          </p:cNvPr>
          <p:cNvPicPr>
            <a:picLocks noChangeAspect="1"/>
          </p:cNvPicPr>
          <p:nvPr/>
        </p:nvPicPr>
        <p:blipFill>
          <a:blip r:embed="rId3"/>
          <a:stretch>
            <a:fillRect/>
          </a:stretch>
        </p:blipFill>
        <p:spPr>
          <a:xfrm>
            <a:off x="11481603" y="4062281"/>
            <a:ext cx="745627" cy="790179"/>
          </a:xfrm>
          <a:prstGeom prst="rect">
            <a:avLst/>
          </a:prstGeom>
        </p:spPr>
      </p:pic>
      <p:pic>
        <p:nvPicPr>
          <p:cNvPr id="38" name="Picture 37">
            <a:extLst>
              <a:ext uri="{FF2B5EF4-FFF2-40B4-BE49-F238E27FC236}">
                <a16:creationId xmlns:a16="http://schemas.microsoft.com/office/drawing/2014/main" id="{38FF9539-17E0-00B9-DBDE-C29B202ED481}"/>
              </a:ext>
            </a:extLst>
          </p:cNvPr>
          <p:cNvPicPr>
            <a:picLocks noChangeAspect="1"/>
          </p:cNvPicPr>
          <p:nvPr/>
        </p:nvPicPr>
        <p:blipFill>
          <a:blip r:embed="rId10"/>
          <a:stretch>
            <a:fillRect/>
          </a:stretch>
        </p:blipFill>
        <p:spPr>
          <a:xfrm rot="10800000">
            <a:off x="9918660" y="4727242"/>
            <a:ext cx="742783" cy="609600"/>
          </a:xfrm>
          <a:prstGeom prst="rect">
            <a:avLst/>
          </a:prstGeom>
        </p:spPr>
      </p:pic>
      <p:pic>
        <p:nvPicPr>
          <p:cNvPr id="39" name="Picture 38">
            <a:extLst>
              <a:ext uri="{FF2B5EF4-FFF2-40B4-BE49-F238E27FC236}">
                <a16:creationId xmlns:a16="http://schemas.microsoft.com/office/drawing/2014/main" id="{9190EBDF-AAFC-0384-E148-65BD2FF93E25}"/>
              </a:ext>
            </a:extLst>
          </p:cNvPr>
          <p:cNvPicPr>
            <a:picLocks noChangeAspect="1"/>
          </p:cNvPicPr>
          <p:nvPr/>
        </p:nvPicPr>
        <p:blipFill>
          <a:blip r:embed="rId12"/>
          <a:stretch>
            <a:fillRect/>
          </a:stretch>
        </p:blipFill>
        <p:spPr>
          <a:xfrm>
            <a:off x="10897219" y="4410174"/>
            <a:ext cx="560207" cy="171450"/>
          </a:xfrm>
          <a:prstGeom prst="rect">
            <a:avLst/>
          </a:prstGeom>
        </p:spPr>
      </p:pic>
      <p:pic>
        <p:nvPicPr>
          <p:cNvPr id="40" name="Picture 39">
            <a:extLst>
              <a:ext uri="{FF2B5EF4-FFF2-40B4-BE49-F238E27FC236}">
                <a16:creationId xmlns:a16="http://schemas.microsoft.com/office/drawing/2014/main" id="{684C5677-D74C-C694-FDCC-ED19A262D30D}"/>
              </a:ext>
            </a:extLst>
          </p:cNvPr>
          <p:cNvPicPr>
            <a:picLocks noChangeAspect="1"/>
          </p:cNvPicPr>
          <p:nvPr/>
        </p:nvPicPr>
        <p:blipFill>
          <a:blip r:embed="rId12"/>
          <a:stretch>
            <a:fillRect/>
          </a:stretch>
        </p:blipFill>
        <p:spPr>
          <a:xfrm rot="10800000">
            <a:off x="12262901" y="4413317"/>
            <a:ext cx="571524" cy="171450"/>
          </a:xfrm>
          <a:prstGeom prst="rect">
            <a:avLst/>
          </a:prstGeom>
        </p:spPr>
      </p:pic>
      <p:pic>
        <p:nvPicPr>
          <p:cNvPr id="41" name="Picture 40">
            <a:extLst>
              <a:ext uri="{FF2B5EF4-FFF2-40B4-BE49-F238E27FC236}">
                <a16:creationId xmlns:a16="http://schemas.microsoft.com/office/drawing/2014/main" id="{51EEBD14-4A78-B45B-61F7-EC3A6008C8AD}"/>
              </a:ext>
            </a:extLst>
          </p:cNvPr>
          <p:cNvPicPr>
            <a:picLocks noChangeAspect="1"/>
          </p:cNvPicPr>
          <p:nvPr/>
        </p:nvPicPr>
        <p:blipFill>
          <a:blip r:embed="rId12"/>
          <a:stretch>
            <a:fillRect/>
          </a:stretch>
        </p:blipFill>
        <p:spPr>
          <a:xfrm rot="5400000">
            <a:off x="11540455" y="3768671"/>
            <a:ext cx="571524" cy="171450"/>
          </a:xfrm>
          <a:prstGeom prst="rect">
            <a:avLst/>
          </a:prstGeom>
        </p:spPr>
      </p:pic>
      <p:sp>
        <p:nvSpPr>
          <p:cNvPr id="42" name="TextBox 41">
            <a:extLst>
              <a:ext uri="{FF2B5EF4-FFF2-40B4-BE49-F238E27FC236}">
                <a16:creationId xmlns:a16="http://schemas.microsoft.com/office/drawing/2014/main" id="{118F97B5-B15E-A870-C8DE-277D309403F5}"/>
              </a:ext>
            </a:extLst>
          </p:cNvPr>
          <p:cNvSpPr txBox="1"/>
          <p:nvPr/>
        </p:nvSpPr>
        <p:spPr>
          <a:xfrm>
            <a:off x="9691623" y="4578966"/>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6" name="TextBox 45">
            <a:extLst>
              <a:ext uri="{FF2B5EF4-FFF2-40B4-BE49-F238E27FC236}">
                <a16:creationId xmlns:a16="http://schemas.microsoft.com/office/drawing/2014/main" id="{9E9796D6-7DD8-28D3-D31A-382BDD4E98D2}"/>
              </a:ext>
            </a:extLst>
          </p:cNvPr>
          <p:cNvSpPr txBox="1"/>
          <p:nvPr/>
        </p:nvSpPr>
        <p:spPr>
          <a:xfrm>
            <a:off x="11599140" y="4300654"/>
            <a:ext cx="75828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2736D9F8-1059-8289-DDAF-2F91E8B133A4}"/>
              </a:ext>
            </a:extLst>
          </p:cNvPr>
          <p:cNvSpPr txBox="1"/>
          <p:nvPr/>
        </p:nvSpPr>
        <p:spPr>
          <a:xfrm>
            <a:off x="12983422" y="4325443"/>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712A3F24-EC81-76EB-1668-68A67F48D739}"/>
              </a:ext>
            </a:extLst>
          </p:cNvPr>
          <p:cNvPicPr>
            <a:picLocks noChangeAspect="1"/>
          </p:cNvPicPr>
          <p:nvPr/>
        </p:nvPicPr>
        <p:blipFill>
          <a:blip r:embed="rId12"/>
          <a:stretch>
            <a:fillRect/>
          </a:stretch>
        </p:blipFill>
        <p:spPr>
          <a:xfrm rot="5400000">
            <a:off x="11545979" y="4941938"/>
            <a:ext cx="571524" cy="171450"/>
          </a:xfrm>
          <a:prstGeom prst="rect">
            <a:avLst/>
          </a:prstGeom>
        </p:spPr>
      </p:pic>
      <p:sp>
        <p:nvSpPr>
          <p:cNvPr id="51" name="TextBox 50">
            <a:extLst>
              <a:ext uri="{FF2B5EF4-FFF2-40B4-BE49-F238E27FC236}">
                <a16:creationId xmlns:a16="http://schemas.microsoft.com/office/drawing/2014/main" id="{8CFD32EB-977B-C1ED-535A-D9A8EF36D075}"/>
              </a:ext>
            </a:extLst>
          </p:cNvPr>
          <p:cNvSpPr txBox="1"/>
          <p:nvPr/>
        </p:nvSpPr>
        <p:spPr>
          <a:xfrm>
            <a:off x="10297205" y="4337350"/>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1808A885-6E8D-427B-E9CE-BD4F35BB6796}"/>
              </a:ext>
            </a:extLst>
          </p:cNvPr>
          <p:cNvSpPr txBox="1"/>
          <p:nvPr/>
        </p:nvSpPr>
        <p:spPr>
          <a:xfrm>
            <a:off x="12356579" y="3530063"/>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0BEAD471-A93A-4940-8A90-43F85B025F8B}"/>
              </a:ext>
            </a:extLst>
          </p:cNvPr>
          <p:cNvSpPr txBox="1"/>
          <p:nvPr/>
        </p:nvSpPr>
        <p:spPr>
          <a:xfrm>
            <a:off x="11405417" y="5975841"/>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13393AAC-2F42-9B86-297E-17EA4B3BEE95}"/>
              </a:ext>
            </a:extLst>
          </p:cNvPr>
          <p:cNvSpPr txBox="1"/>
          <p:nvPr/>
        </p:nvSpPr>
        <p:spPr>
          <a:xfrm>
            <a:off x="9391572" y="1596136"/>
            <a:ext cx="29254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12" name="TextBox 11">
            <a:extLst>
              <a:ext uri="{FF2B5EF4-FFF2-40B4-BE49-F238E27FC236}">
                <a16:creationId xmlns:a16="http://schemas.microsoft.com/office/drawing/2014/main" id="{744F57B9-9F63-8741-96CD-3A646BB8869E}"/>
              </a:ext>
            </a:extLst>
          </p:cNvPr>
          <p:cNvSpPr txBox="1"/>
          <p:nvPr/>
        </p:nvSpPr>
        <p:spPr>
          <a:xfrm>
            <a:off x="4832031" y="3757523"/>
            <a:ext cx="2775952" cy="2300391"/>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0E28B4FA-5407-7189-4D1C-CDE89A2663F2}"/>
              </a:ext>
            </a:extLst>
          </p:cNvPr>
          <p:cNvSpPr txBox="1"/>
          <p:nvPr/>
        </p:nvSpPr>
        <p:spPr>
          <a:xfrm>
            <a:off x="4826122" y="3743074"/>
            <a:ext cx="1272179"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a:t>
            </a:r>
            <a:r>
              <a:rPr lang="en-US" sz="1800" err="1"/>
              <a:t>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3D005D8B-1EA7-F6A4-522F-CDE1ECCBEAFC}"/>
              </a:ext>
            </a:extLst>
          </p:cNvPr>
          <p:cNvSpPr txBox="1"/>
          <p:nvPr/>
        </p:nvSpPr>
        <p:spPr>
          <a:xfrm>
            <a:off x="7082188" y="6924851"/>
            <a:ext cx="2121601"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D6626032-EBE8-4B3A-9731-DF58F8938ADB}"/>
              </a:ext>
            </a:extLst>
          </p:cNvPr>
          <p:cNvSpPr txBox="1"/>
          <p:nvPr/>
        </p:nvSpPr>
        <p:spPr>
          <a:xfrm>
            <a:off x="7109279" y="8043108"/>
            <a:ext cx="2094645" cy="327258"/>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B4361D64-7F54-F892-2FB5-5B09722A4BF6}"/>
              </a:ext>
            </a:extLst>
          </p:cNvPr>
          <p:cNvSpPr txBox="1"/>
          <p:nvPr/>
        </p:nvSpPr>
        <p:spPr>
          <a:xfrm>
            <a:off x="7091901" y="7459585"/>
            <a:ext cx="2108123"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sentiment_classifier</a:t>
            </a:r>
            <a:endParaRPr lang="en-US"/>
          </a:p>
        </p:txBody>
      </p:sp>
      <p:sp>
        <p:nvSpPr>
          <p:cNvPr id="270" name="TextBox 269">
            <a:extLst>
              <a:ext uri="{FF2B5EF4-FFF2-40B4-BE49-F238E27FC236}">
                <a16:creationId xmlns:a16="http://schemas.microsoft.com/office/drawing/2014/main" id="{267AECD1-B460-8515-973A-E5F3E5062677}"/>
              </a:ext>
            </a:extLst>
          </p:cNvPr>
          <p:cNvSpPr txBox="1"/>
          <p:nvPr/>
        </p:nvSpPr>
        <p:spPr>
          <a:xfrm>
            <a:off x="7117281" y="8974279"/>
            <a:ext cx="1987038" cy="54358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6AB83DBC-4544-16F1-A4B8-452AA6B7BCA8}"/>
              </a:ext>
            </a:extLst>
          </p:cNvPr>
          <p:cNvSpPr txBox="1"/>
          <p:nvPr/>
        </p:nvSpPr>
        <p:spPr>
          <a:xfrm>
            <a:off x="7229461" y="9092070"/>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E4F79270-D459-9FA6-092E-28BF8F1A5BBF}"/>
              </a:ext>
            </a:extLst>
          </p:cNvPr>
          <p:cNvSpPr txBox="1"/>
          <p:nvPr/>
        </p:nvSpPr>
        <p:spPr>
          <a:xfrm>
            <a:off x="222484" y="1795540"/>
            <a:ext cx="4352283" cy="7076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a:t>
            </a:r>
            <a:r>
              <a:rPr lang="en-US" b="0" err="1">
                <a:cs typeface="Helvetica"/>
              </a:rPr>
              <a:t>Kaiaulu's</a:t>
            </a:r>
            <a:r>
              <a:rPr lang="en-US" b="0">
                <a:cs typeface="Helvetica"/>
              </a:rPr>
              <a:t> functions through a command line interface. This allows </a:t>
            </a:r>
            <a:r>
              <a:rPr lang="en-US" b="0" err="1">
                <a:cs typeface="Helvetica"/>
              </a:rPr>
              <a:t>server side</a:t>
            </a:r>
            <a:r>
              <a:rPr lang="en-US" b="0">
                <a:cs typeface="Helvetica"/>
              </a:rPr>
              <a:t> execution and use of </a:t>
            </a:r>
            <a:r>
              <a:rPr lang="en-US" b="0" err="1">
                <a:cs typeface="Helvetica"/>
              </a:rPr>
              <a:t>Kaiaulu</a:t>
            </a:r>
            <a:r>
              <a:rPr lang="en-US" b="0">
                <a:cs typeface="Helvetica"/>
              </a:rPr>
              <a:t> capabilities without knowledge of R.</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176A0EF0-8A32-F195-1D99-1225F9F02195}"/>
              </a:ext>
            </a:extLst>
          </p:cNvPr>
          <p:cNvSpPr txBox="1"/>
          <p:nvPr/>
        </p:nvSpPr>
        <p:spPr>
          <a:xfrm>
            <a:off x="9371788" y="2048486"/>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FBA29E57-6103-5F84-1966-3C12DD7BC392}"/>
              </a:ext>
            </a:extLst>
          </p:cNvPr>
          <p:cNvSpPr txBox="1"/>
          <p:nvPr/>
        </p:nvSpPr>
        <p:spPr>
          <a:xfrm>
            <a:off x="4614906" y="2022418"/>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Sailuh</a:t>
            </a:r>
            <a:r>
              <a:rPr lang="en-US" b="0">
                <a:cs typeface="Helvetica"/>
              </a:rPr>
              <a:t> tools such as </a:t>
            </a:r>
            <a:r>
              <a:rPr lang="en-US" b="0" err="1">
                <a:cs typeface="Helvetica"/>
              </a:rPr>
              <a:t>pykumu</a:t>
            </a:r>
            <a:r>
              <a:rPr lang="en-US" b="0">
                <a:cs typeface="Helvetica"/>
              </a:rPr>
              <a:t> rely on </a:t>
            </a:r>
            <a:r>
              <a:rPr lang="en-US" b="0" err="1">
                <a:cs typeface="Helvetica"/>
              </a:rPr>
              <a:t>kaiaulu</a:t>
            </a:r>
            <a:r>
              <a:rPr lang="en-US" b="0">
                <a:cs typeface="Helvetica"/>
              </a:rPr>
              <a:t> executables to download and refresh data. </a:t>
            </a:r>
            <a:r>
              <a:rPr lang="en-US" b="0" err="1">
                <a:cs typeface="Helvetica"/>
              </a:rPr>
              <a:t>Kaiaulu</a:t>
            </a:r>
            <a:r>
              <a:rPr lang="en-US" b="0">
                <a:cs typeface="Helvetica"/>
              </a:rPr>
              <a:t> executable are also made to provide </a:t>
            </a:r>
            <a:r>
              <a:rPr lang="en-US" b="0" err="1">
                <a:cs typeface="Helvetica"/>
              </a:rPr>
              <a:t>kaiaulu's</a:t>
            </a:r>
            <a:r>
              <a:rPr lang="en-US" b="0">
                <a:cs typeface="Helvetica"/>
              </a:rPr>
              <a:t> functions to users, tools, and projects outside of the </a:t>
            </a:r>
            <a:r>
              <a:rPr lang="en-US" b="0" err="1">
                <a:cs typeface="Helvetica"/>
              </a:rPr>
              <a:t>sailuh</a:t>
            </a:r>
            <a:r>
              <a:rPr lang="en-US" b="0">
                <a:cs typeface="Helvetica"/>
              </a:rPr>
              <a:t> ecosystem.</a:t>
            </a:r>
          </a:p>
        </p:txBody>
      </p:sp>
      <p:pic>
        <p:nvPicPr>
          <p:cNvPr id="282" name="Picture 281">
            <a:extLst>
              <a:ext uri="{FF2B5EF4-FFF2-40B4-BE49-F238E27FC236}">
                <a16:creationId xmlns:a16="http://schemas.microsoft.com/office/drawing/2014/main" id="{331E9CD4-C98E-8F40-82DF-D05262C2E2D0}"/>
              </a:ext>
            </a:extLst>
          </p:cNvPr>
          <p:cNvPicPr>
            <a:picLocks noChangeAspect="1"/>
          </p:cNvPicPr>
          <p:nvPr/>
        </p:nvPicPr>
        <p:blipFill>
          <a:blip r:embed="rId3"/>
          <a:stretch>
            <a:fillRect/>
          </a:stretch>
        </p:blipFill>
        <p:spPr>
          <a:xfrm>
            <a:off x="5725699" y="5084037"/>
            <a:ext cx="901977" cy="861758"/>
          </a:xfrm>
          <a:prstGeom prst="rect">
            <a:avLst/>
          </a:prstGeom>
        </p:spPr>
      </p:pic>
      <p:sp>
        <p:nvSpPr>
          <p:cNvPr id="283" name="TextBox 282">
            <a:extLst>
              <a:ext uri="{FF2B5EF4-FFF2-40B4-BE49-F238E27FC236}">
                <a16:creationId xmlns:a16="http://schemas.microsoft.com/office/drawing/2014/main" id="{AF99DCCA-4D87-7C16-0694-7E64032C3705}"/>
              </a:ext>
            </a:extLst>
          </p:cNvPr>
          <p:cNvSpPr txBox="1"/>
          <p:nvPr/>
        </p:nvSpPr>
        <p:spPr>
          <a:xfrm>
            <a:off x="5905477" y="5370283"/>
            <a:ext cx="87989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98" name="TextBox 297">
            <a:extLst>
              <a:ext uri="{FF2B5EF4-FFF2-40B4-BE49-F238E27FC236}">
                <a16:creationId xmlns:a16="http://schemas.microsoft.com/office/drawing/2014/main" id="{E19DE98C-3993-22AC-9BFD-554FB9EE2F6A}"/>
              </a:ext>
            </a:extLst>
          </p:cNvPr>
          <p:cNvSpPr txBox="1"/>
          <p:nvPr/>
        </p:nvSpPr>
        <p:spPr>
          <a:xfrm>
            <a:off x="248008" y="6993774"/>
            <a:ext cx="4080908"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project configuration files in order to find information about the project. The project </a:t>
            </a:r>
            <a:r>
              <a:rPr lang="en-US" b="0" err="1">
                <a:solidFill>
                  <a:srgbClr val="000000"/>
                </a:solidFill>
              </a:rPr>
              <a:t>confi</a:t>
            </a:r>
            <a:r>
              <a:rPr lang="en-US" b="0">
                <a:solidFill>
                  <a:srgbClr val="000000"/>
                </a:solidFill>
              </a:rPr>
              <a:t>guration file is inputted as an argument with the exec command in the command line.</a:t>
            </a:r>
            <a:endParaRPr lang="en-US" b="0">
              <a:solidFill>
                <a:srgbClr val="000000"/>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BC380588-998B-9602-3C1D-CA90A106451D}"/>
              </a:ext>
            </a:extLst>
          </p:cNvPr>
          <p:cNvSpPr/>
          <p:nvPr/>
        </p:nvSpPr>
        <p:spPr>
          <a:xfrm>
            <a:off x="220611" y="4066083"/>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2066A673-10C8-E52A-0197-5FAD36B22EE4}"/>
              </a:ext>
            </a:extLst>
          </p:cNvPr>
          <p:cNvSpPr txBox="1"/>
          <p:nvPr/>
        </p:nvSpPr>
        <p:spPr>
          <a:xfrm>
            <a:off x="322463" y="4123400"/>
            <a:ext cx="20182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7747EF08-4293-E7D5-E926-F4505E3EA7C5}"/>
              </a:ext>
            </a:extLst>
          </p:cNvPr>
          <p:cNvSpPr txBox="1"/>
          <p:nvPr/>
        </p:nvSpPr>
        <p:spPr>
          <a:xfrm>
            <a:off x="265065" y="4503604"/>
            <a:ext cx="4357808"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7C730FE4-25A6-6FF2-83D6-99134460DDB3}"/>
              </a:ext>
            </a:extLst>
          </p:cNvPr>
          <p:cNvSpPr txBox="1"/>
          <p:nvPr/>
        </p:nvSpPr>
        <p:spPr>
          <a:xfrm>
            <a:off x="310787" y="4703953"/>
            <a:ext cx="4216585" cy="637024"/>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16" name="Line">
            <a:extLst>
              <a:ext uri="{FF2B5EF4-FFF2-40B4-BE49-F238E27FC236}">
                <a16:creationId xmlns:a16="http://schemas.microsoft.com/office/drawing/2014/main" id="{64860553-2DB5-4762-96FD-41E4EB394454}"/>
              </a:ext>
            </a:extLst>
          </p:cNvPr>
          <p:cNvSpPr/>
          <p:nvPr/>
        </p:nvSpPr>
        <p:spPr>
          <a:xfrm>
            <a:off x="9547195" y="6556387"/>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TextBox 2">
            <a:extLst>
              <a:ext uri="{FF2B5EF4-FFF2-40B4-BE49-F238E27FC236}">
                <a16:creationId xmlns:a16="http://schemas.microsoft.com/office/drawing/2014/main" id="{2A81A8BF-1031-4221-6640-BFD68162E891}"/>
              </a:ext>
            </a:extLst>
          </p:cNvPr>
          <p:cNvSpPr txBox="1"/>
          <p:nvPr/>
        </p:nvSpPr>
        <p:spPr>
          <a:xfrm>
            <a:off x="7088134" y="6352760"/>
            <a:ext cx="2114862"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pykumu</a:t>
            </a:r>
            <a:endParaRPr lang="en-US"/>
          </a:p>
        </p:txBody>
      </p:sp>
      <p:sp>
        <p:nvSpPr>
          <p:cNvPr id="21" name="Layout Suggestions">
            <a:extLst>
              <a:ext uri="{FF2B5EF4-FFF2-40B4-BE49-F238E27FC236}">
                <a16:creationId xmlns:a16="http://schemas.microsoft.com/office/drawing/2014/main" id="{B68C0DA6-D83D-4BAD-39F2-7A7A402431F0}"/>
              </a:ext>
            </a:extLst>
          </p:cNvPr>
          <p:cNvSpPr txBox="1"/>
          <p:nvPr/>
        </p:nvSpPr>
        <p:spPr>
          <a:xfrm>
            <a:off x="9486529" y="6791107"/>
            <a:ext cx="344477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 </a:t>
            </a:r>
          </a:p>
        </p:txBody>
      </p:sp>
      <p:sp>
        <p:nvSpPr>
          <p:cNvPr id="22" name="TextBox 21">
            <a:extLst>
              <a:ext uri="{FF2B5EF4-FFF2-40B4-BE49-F238E27FC236}">
                <a16:creationId xmlns:a16="http://schemas.microsoft.com/office/drawing/2014/main" id="{BF619082-5D3B-365A-EA6A-A20BDB83346D}"/>
              </a:ext>
            </a:extLst>
          </p:cNvPr>
          <p:cNvSpPr txBox="1"/>
          <p:nvPr/>
        </p:nvSpPr>
        <p:spPr>
          <a:xfrm>
            <a:off x="9480414" y="7013748"/>
            <a:ext cx="417477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Kaiaulu</a:t>
            </a:r>
            <a:r>
              <a:rPr lang="en-US" b="0">
                <a:cs typeface="Helvetica"/>
              </a:rPr>
              <a:t> executables provide data from sources such as </a:t>
            </a:r>
            <a:r>
              <a:rPr lang="en-US" b="0">
                <a:solidFill>
                  <a:schemeClr val="accent1"/>
                </a:solidFill>
                <a:cs typeface="Helvetica"/>
              </a:rPr>
              <a:t>mailing lists</a:t>
            </a:r>
            <a:r>
              <a:rPr lang="en-US" b="0">
                <a:solidFill>
                  <a:schemeClr val="tx1"/>
                </a:solidFill>
                <a:cs typeface="Helvetica"/>
              </a:rPr>
              <a:t>, </a:t>
            </a:r>
            <a:r>
              <a:rPr lang="en-US" b="0">
                <a:solidFill>
                  <a:schemeClr val="accent2"/>
                </a:solidFill>
                <a:cs typeface="Helvetica"/>
              </a:rPr>
              <a:t>Jira issues</a:t>
            </a:r>
            <a:r>
              <a:rPr lang="en-US" b="0">
                <a:solidFill>
                  <a:schemeClr val="tx1"/>
                </a:solidFill>
                <a:cs typeface="Helvetica"/>
              </a:rPr>
              <a:t>, and </a:t>
            </a:r>
            <a:r>
              <a:rPr lang="en-US" b="0">
                <a:solidFill>
                  <a:schemeClr val="accent5"/>
                </a:solidFill>
                <a:cs typeface="Helvetica"/>
              </a:rPr>
              <a:t>GitHub issues</a:t>
            </a:r>
            <a:r>
              <a:rPr lang="en-US" b="0">
                <a:solidFill>
                  <a:schemeClr val="tx1"/>
                </a:solidFill>
                <a:cs typeface="Helvetica"/>
              </a:rPr>
              <a:t>. </a:t>
            </a:r>
            <a:r>
              <a:rPr lang="en-US" b="0" err="1">
                <a:solidFill>
                  <a:schemeClr val="tx1"/>
                </a:solidFill>
                <a:cs typeface="Helvetica"/>
              </a:rPr>
              <a:t>Kaiaulu's</a:t>
            </a:r>
            <a:r>
              <a:rPr lang="en-US" b="0">
                <a:solidFill>
                  <a:schemeClr val="tx1"/>
                </a:solidFill>
                <a:cs typeface="Helvetica"/>
              </a:rPr>
              <a:t> functions in </a:t>
            </a:r>
            <a:r>
              <a:rPr lang="en-US" b="0" err="1">
                <a:solidFill>
                  <a:schemeClr val="tx1"/>
                </a:solidFill>
                <a:cs typeface="Helvetica"/>
              </a:rPr>
              <a:t>Kaiaulu</a:t>
            </a:r>
            <a:r>
              <a:rPr lang="en-US" b="0">
                <a:solidFill>
                  <a:schemeClr val="tx1"/>
                </a:solidFill>
                <a:cs typeface="Helvetica"/>
              </a:rPr>
              <a:t>/R parse, analyze, and filter raw data from these sources and output them in usable forms such as csv's</a:t>
            </a:r>
            <a:endParaRPr lang="en-US">
              <a:solidFill>
                <a:schemeClr val="tx1"/>
              </a:solidFill>
            </a:endParaRPr>
          </a:p>
        </p:txBody>
      </p:sp>
      <p:pic>
        <p:nvPicPr>
          <p:cNvPr id="60" name="Picture 59" descr="A close-up of a letter&#10;&#10;AI-generated content may be incorrect.">
            <a:extLst>
              <a:ext uri="{FF2B5EF4-FFF2-40B4-BE49-F238E27FC236}">
                <a16:creationId xmlns:a16="http://schemas.microsoft.com/office/drawing/2014/main" id="{C9111CFD-DE3B-0EEC-2BE3-08D21ED36376}"/>
              </a:ext>
            </a:extLst>
          </p:cNvPr>
          <p:cNvPicPr>
            <a:picLocks noChangeAspect="1"/>
          </p:cNvPicPr>
          <p:nvPr/>
        </p:nvPicPr>
        <p:blipFill>
          <a:blip r:embed="rId13"/>
          <a:stretch>
            <a:fillRect/>
          </a:stretch>
        </p:blipFill>
        <p:spPr>
          <a:xfrm>
            <a:off x="5990667" y="8833704"/>
            <a:ext cx="396915" cy="386557"/>
          </a:xfrm>
          <a:prstGeom prst="rect">
            <a:avLst/>
          </a:prstGeom>
          <a:ln w="28575">
            <a:solidFill>
              <a:schemeClr val="accent1"/>
            </a:solidFill>
          </a:ln>
        </p:spPr>
      </p:pic>
      <p:pic>
        <p:nvPicPr>
          <p:cNvPr id="61" name="Picture 60">
            <a:extLst>
              <a:ext uri="{FF2B5EF4-FFF2-40B4-BE49-F238E27FC236}">
                <a16:creationId xmlns:a16="http://schemas.microsoft.com/office/drawing/2014/main" id="{770C6740-2D29-5FDA-5895-D15291F4B298}"/>
              </a:ext>
            </a:extLst>
          </p:cNvPr>
          <p:cNvPicPr>
            <a:picLocks noChangeAspect="1"/>
          </p:cNvPicPr>
          <p:nvPr/>
        </p:nvPicPr>
        <p:blipFill>
          <a:blip r:embed="rId3"/>
          <a:stretch>
            <a:fillRect/>
          </a:stretch>
        </p:blipFill>
        <p:spPr>
          <a:xfrm>
            <a:off x="4969049" y="4040704"/>
            <a:ext cx="847413" cy="780787"/>
          </a:xfrm>
          <a:prstGeom prst="rect">
            <a:avLst/>
          </a:prstGeom>
        </p:spPr>
      </p:pic>
      <p:pic>
        <p:nvPicPr>
          <p:cNvPr id="62" name="Picture 61">
            <a:extLst>
              <a:ext uri="{FF2B5EF4-FFF2-40B4-BE49-F238E27FC236}">
                <a16:creationId xmlns:a16="http://schemas.microsoft.com/office/drawing/2014/main" id="{EC7DC8C7-97DE-7DA9-173B-650D8265D2F0}"/>
              </a:ext>
            </a:extLst>
          </p:cNvPr>
          <p:cNvPicPr>
            <a:picLocks noChangeAspect="1"/>
          </p:cNvPicPr>
          <p:nvPr/>
        </p:nvPicPr>
        <p:blipFill>
          <a:blip r:embed="rId3"/>
          <a:stretch>
            <a:fillRect/>
          </a:stretch>
        </p:blipFill>
        <p:spPr>
          <a:xfrm>
            <a:off x="6509336" y="4007315"/>
            <a:ext cx="863955" cy="815085"/>
          </a:xfrm>
          <a:prstGeom prst="rect">
            <a:avLst/>
          </a:prstGeom>
        </p:spPr>
      </p:pic>
      <p:sp>
        <p:nvSpPr>
          <p:cNvPr id="63" name="TextBox 62">
            <a:extLst>
              <a:ext uri="{FF2B5EF4-FFF2-40B4-BE49-F238E27FC236}">
                <a16:creationId xmlns:a16="http://schemas.microsoft.com/office/drawing/2014/main" id="{97F402B1-F4D3-6BDC-0DFB-E030D2F64A3D}"/>
              </a:ext>
            </a:extLst>
          </p:cNvPr>
          <p:cNvSpPr txBox="1"/>
          <p:nvPr/>
        </p:nvSpPr>
        <p:spPr>
          <a:xfrm>
            <a:off x="6747946" y="4304495"/>
            <a:ext cx="1098210"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/R</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56" name="TextBox 255">
            <a:extLst>
              <a:ext uri="{FF2B5EF4-FFF2-40B4-BE49-F238E27FC236}">
                <a16:creationId xmlns:a16="http://schemas.microsoft.com/office/drawing/2014/main" id="{E8B3E37E-9BA6-7948-F5B5-C2C4285061FE}"/>
              </a:ext>
            </a:extLst>
          </p:cNvPr>
          <p:cNvSpPr txBox="1"/>
          <p:nvPr/>
        </p:nvSpPr>
        <p:spPr>
          <a:xfrm>
            <a:off x="5158924" y="4297481"/>
            <a:ext cx="131392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27" name="Picture 26">
            <a:extLst>
              <a:ext uri="{FF2B5EF4-FFF2-40B4-BE49-F238E27FC236}">
                <a16:creationId xmlns:a16="http://schemas.microsoft.com/office/drawing/2014/main" id="{8352AA95-F2A6-9D7D-373D-4D8C8B837A6E}"/>
              </a:ext>
            </a:extLst>
          </p:cNvPr>
          <p:cNvPicPr>
            <a:picLocks noChangeAspect="1"/>
          </p:cNvPicPr>
          <p:nvPr/>
        </p:nvPicPr>
        <p:blipFill>
          <a:blip r:embed="rId14"/>
          <a:stretch>
            <a:fillRect/>
          </a:stretch>
        </p:blipFill>
        <p:spPr>
          <a:xfrm>
            <a:off x="4799214" y="6925522"/>
            <a:ext cx="914258" cy="905585"/>
          </a:xfrm>
          <a:prstGeom prst="rect">
            <a:avLst/>
          </a:prstGeom>
        </p:spPr>
      </p:pic>
      <p:pic>
        <p:nvPicPr>
          <p:cNvPr id="36" name="Picture 35">
            <a:extLst>
              <a:ext uri="{FF2B5EF4-FFF2-40B4-BE49-F238E27FC236}">
                <a16:creationId xmlns:a16="http://schemas.microsoft.com/office/drawing/2014/main" id="{1D484C56-CE39-A8C8-5DD7-65F1091A2F86}"/>
              </a:ext>
            </a:extLst>
          </p:cNvPr>
          <p:cNvPicPr>
            <a:picLocks noChangeAspect="1"/>
          </p:cNvPicPr>
          <p:nvPr/>
        </p:nvPicPr>
        <p:blipFill>
          <a:blip r:embed="rId15"/>
          <a:stretch>
            <a:fillRect/>
          </a:stretch>
        </p:blipFill>
        <p:spPr>
          <a:xfrm>
            <a:off x="5895818" y="7779745"/>
            <a:ext cx="554321" cy="415604"/>
          </a:xfrm>
          <a:prstGeom prst="rect">
            <a:avLst/>
          </a:prstGeom>
          <a:ln w="28575">
            <a:solidFill>
              <a:schemeClr val="accent2"/>
            </a:solidFill>
          </a:ln>
        </p:spPr>
      </p:pic>
      <p:pic>
        <p:nvPicPr>
          <p:cNvPr id="37" name="Picture 36" descr="A diagram of a project&#10;&#10;AI-generated content may be incorrect.">
            <a:extLst>
              <a:ext uri="{FF2B5EF4-FFF2-40B4-BE49-F238E27FC236}">
                <a16:creationId xmlns:a16="http://schemas.microsoft.com/office/drawing/2014/main" id="{4BD5DEDC-3014-B51E-6C57-20FA9053B365}"/>
              </a:ext>
            </a:extLst>
          </p:cNvPr>
          <p:cNvPicPr>
            <a:picLocks noChangeAspect="1"/>
          </p:cNvPicPr>
          <p:nvPr/>
        </p:nvPicPr>
        <p:blipFill>
          <a:blip r:embed="rId16"/>
          <a:stretch>
            <a:fillRect/>
          </a:stretch>
        </p:blipFill>
        <p:spPr>
          <a:xfrm>
            <a:off x="1244689" y="7711829"/>
            <a:ext cx="2926743" cy="2546002"/>
          </a:xfrm>
          <a:prstGeom prst="rect">
            <a:avLst/>
          </a:prstGeom>
        </p:spPr>
      </p:pic>
      <p:pic>
        <p:nvPicPr>
          <p:cNvPr id="43" name="Picture 42">
            <a:extLst>
              <a:ext uri="{FF2B5EF4-FFF2-40B4-BE49-F238E27FC236}">
                <a16:creationId xmlns:a16="http://schemas.microsoft.com/office/drawing/2014/main" id="{FB457AFF-E0EA-9B77-47E8-A39E774FE4E0}"/>
              </a:ext>
            </a:extLst>
          </p:cNvPr>
          <p:cNvPicPr>
            <a:picLocks noChangeAspect="1"/>
          </p:cNvPicPr>
          <p:nvPr/>
        </p:nvPicPr>
        <p:blipFill>
          <a:blip r:embed="rId15"/>
          <a:stretch>
            <a:fillRect/>
          </a:stretch>
        </p:blipFill>
        <p:spPr>
          <a:xfrm>
            <a:off x="5859671" y="6787274"/>
            <a:ext cx="554321" cy="415604"/>
          </a:xfrm>
          <a:prstGeom prst="rect">
            <a:avLst/>
          </a:prstGeom>
          <a:ln w="28575">
            <a:solidFill>
              <a:schemeClr val="accent5"/>
            </a:solidFill>
          </a:ln>
        </p:spPr>
      </p:pic>
      <p:sp>
        <p:nvSpPr>
          <p:cNvPr id="44" name="TextBox 43">
            <a:extLst>
              <a:ext uri="{FF2B5EF4-FFF2-40B4-BE49-F238E27FC236}">
                <a16:creationId xmlns:a16="http://schemas.microsoft.com/office/drawing/2014/main" id="{A6EC15FC-EBA6-A16E-4B35-F862D78A15A8}"/>
              </a:ext>
            </a:extLst>
          </p:cNvPr>
          <p:cNvSpPr txBox="1"/>
          <p:nvPr/>
        </p:nvSpPr>
        <p:spPr>
          <a:xfrm>
            <a:off x="5807215" y="6437909"/>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GitHub</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C1630697-E1D9-CD24-4855-A6490E4F7B39}"/>
              </a:ext>
            </a:extLst>
          </p:cNvPr>
          <p:cNvSpPr txBox="1"/>
          <p:nvPr/>
        </p:nvSpPr>
        <p:spPr>
          <a:xfrm>
            <a:off x="5898999" y="7394913"/>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Jira</a:t>
            </a:r>
          </a:p>
        </p:txBody>
      </p:sp>
      <p:sp>
        <p:nvSpPr>
          <p:cNvPr id="47" name="TextBox 46">
            <a:extLst>
              <a:ext uri="{FF2B5EF4-FFF2-40B4-BE49-F238E27FC236}">
                <a16:creationId xmlns:a16="http://schemas.microsoft.com/office/drawing/2014/main" id="{F3415E92-2E68-31E8-5311-71FCAB4351CA}"/>
              </a:ext>
            </a:extLst>
          </p:cNvPr>
          <p:cNvSpPr txBox="1"/>
          <p:nvPr/>
        </p:nvSpPr>
        <p:spPr>
          <a:xfrm>
            <a:off x="5987692" y="8518671"/>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Mail</a:t>
            </a:r>
          </a:p>
        </p:txBody>
      </p:sp>
      <p:cxnSp>
        <p:nvCxnSpPr>
          <p:cNvPr id="29" name="Straight Arrow Connector 28">
            <a:extLst>
              <a:ext uri="{FF2B5EF4-FFF2-40B4-BE49-F238E27FC236}">
                <a16:creationId xmlns:a16="http://schemas.microsoft.com/office/drawing/2014/main" id="{CEAF4839-56EA-7204-90F5-58C0D1E01144}"/>
              </a:ext>
            </a:extLst>
          </p:cNvPr>
          <p:cNvCxnSpPr/>
          <p:nvPr/>
        </p:nvCxnSpPr>
        <p:spPr>
          <a:xfrm>
            <a:off x="5270514" y="5555376"/>
            <a:ext cx="226" cy="152694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 name="Straight Arrow Connector 32">
            <a:extLst>
              <a:ext uri="{FF2B5EF4-FFF2-40B4-BE49-F238E27FC236}">
                <a16:creationId xmlns:a16="http://schemas.microsoft.com/office/drawing/2014/main" id="{536150D8-EF4D-B83B-B6C4-59F91924B9AC}"/>
              </a:ext>
            </a:extLst>
          </p:cNvPr>
          <p:cNvCxnSpPr/>
          <p:nvPr/>
        </p:nvCxnSpPr>
        <p:spPr>
          <a:xfrm flipH="1">
            <a:off x="5681316" y="7393524"/>
            <a:ext cx="842945" cy="2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43A36F12-7355-10B0-219A-F31BF08480A2}"/>
              </a:ext>
            </a:extLst>
          </p:cNvPr>
          <p:cNvCxnSpPr/>
          <p:nvPr/>
        </p:nvCxnSpPr>
        <p:spPr>
          <a:xfrm>
            <a:off x="6515855" y="6560515"/>
            <a:ext cx="44603" cy="274315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6FAFB59B-29B4-5B39-3B78-BC802A0F9448}"/>
              </a:ext>
            </a:extLst>
          </p:cNvPr>
          <p:cNvCxnSpPr/>
          <p:nvPr/>
        </p:nvCxnSpPr>
        <p:spPr>
          <a:xfrm>
            <a:off x="6533848" y="6552991"/>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8" name="Straight Arrow Connector 267">
            <a:extLst>
              <a:ext uri="{FF2B5EF4-FFF2-40B4-BE49-F238E27FC236}">
                <a16:creationId xmlns:a16="http://schemas.microsoft.com/office/drawing/2014/main" id="{49DF1B30-F893-F9AB-25CA-4EB15F522540}"/>
              </a:ext>
            </a:extLst>
          </p:cNvPr>
          <p:cNvCxnSpPr>
            <a:cxnSpLocks/>
          </p:cNvCxnSpPr>
          <p:nvPr/>
        </p:nvCxnSpPr>
        <p:spPr>
          <a:xfrm>
            <a:off x="6553139" y="8203133"/>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F0923F21-36DA-EE83-3C49-4C14EA2C501B}"/>
              </a:ext>
            </a:extLst>
          </p:cNvPr>
          <p:cNvCxnSpPr>
            <a:cxnSpLocks/>
          </p:cNvCxnSpPr>
          <p:nvPr/>
        </p:nvCxnSpPr>
        <p:spPr>
          <a:xfrm>
            <a:off x="6535485" y="7662030"/>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1242C417-98CD-2383-BC50-3D5904A732FF}"/>
              </a:ext>
            </a:extLst>
          </p:cNvPr>
          <p:cNvCxnSpPr>
            <a:cxnSpLocks/>
          </p:cNvCxnSpPr>
          <p:nvPr/>
        </p:nvCxnSpPr>
        <p:spPr>
          <a:xfrm>
            <a:off x="6535572" y="7129799"/>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AE8B2E0A-B8E3-06EC-C027-DB97B7D46DE3}"/>
              </a:ext>
            </a:extLst>
          </p:cNvPr>
          <p:cNvCxnSpPr>
            <a:cxnSpLocks/>
          </p:cNvCxnSpPr>
          <p:nvPr/>
        </p:nvCxnSpPr>
        <p:spPr>
          <a:xfrm>
            <a:off x="6553398" y="9312227"/>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8" name="Straight Arrow Connector 277">
            <a:extLst>
              <a:ext uri="{FF2B5EF4-FFF2-40B4-BE49-F238E27FC236}">
                <a16:creationId xmlns:a16="http://schemas.microsoft.com/office/drawing/2014/main" id="{D4EC0110-2B77-6137-8905-F258175D4803}"/>
              </a:ext>
            </a:extLst>
          </p:cNvPr>
          <p:cNvCxnSpPr/>
          <p:nvPr/>
        </p:nvCxnSpPr>
        <p:spPr>
          <a:xfrm>
            <a:off x="6173649" y="4923380"/>
            <a:ext cx="226" cy="4261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9" name="Straight Arrow Connector 278">
            <a:extLst>
              <a:ext uri="{FF2B5EF4-FFF2-40B4-BE49-F238E27FC236}">
                <a16:creationId xmlns:a16="http://schemas.microsoft.com/office/drawing/2014/main" id="{A45B71DC-B6BF-7648-6F6A-5C76B78D50FA}"/>
              </a:ext>
            </a:extLst>
          </p:cNvPr>
          <p:cNvCxnSpPr/>
          <p:nvPr/>
        </p:nvCxnSpPr>
        <p:spPr>
          <a:xfrm flipV="1">
            <a:off x="5402350" y="4941913"/>
            <a:ext cx="1571184" cy="1773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81FAC7D6-0523-BB56-DB0A-BBF0B76FD099}"/>
              </a:ext>
            </a:extLst>
          </p:cNvPr>
          <p:cNvCxnSpPr/>
          <p:nvPr/>
        </p:nvCxnSpPr>
        <p:spPr>
          <a:xfrm flipH="1" flipV="1">
            <a:off x="5412319" y="4658748"/>
            <a:ext cx="8649" cy="31956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5893E182-B9F3-C245-0107-120AD44E9655}"/>
              </a:ext>
            </a:extLst>
          </p:cNvPr>
          <p:cNvCxnSpPr>
            <a:cxnSpLocks/>
          </p:cNvCxnSpPr>
          <p:nvPr/>
        </p:nvCxnSpPr>
        <p:spPr>
          <a:xfrm flipV="1">
            <a:off x="6970451" y="4654653"/>
            <a:ext cx="17982" cy="29293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FC62D433-2265-5C6A-8809-FEAA3A474CB0}"/>
              </a:ext>
            </a:extLst>
          </p:cNvPr>
          <p:cNvCxnSpPr/>
          <p:nvPr/>
        </p:nvCxnSpPr>
        <p:spPr>
          <a:xfrm flipV="1">
            <a:off x="5270953" y="5547332"/>
            <a:ext cx="532752" cy="1773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0" name="Line">
            <a:extLst>
              <a:ext uri="{FF2B5EF4-FFF2-40B4-BE49-F238E27FC236}">
                <a16:creationId xmlns:a16="http://schemas.microsoft.com/office/drawing/2014/main" id="{DD9FA087-6231-F4CF-CE68-B2AE3C16B938}"/>
              </a:ext>
            </a:extLst>
          </p:cNvPr>
          <p:cNvSpPr/>
          <p:nvPr/>
        </p:nvSpPr>
        <p:spPr>
          <a:xfrm>
            <a:off x="553749" y="2661878"/>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217728932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621EA-53EC-1306-75E8-D550CC85A194}"/>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0B2728FF-C182-5AA9-792D-C6F96834294D}"/>
              </a:ext>
            </a:extLst>
          </p:cNvPr>
          <p:cNvSpPr txBox="1"/>
          <p:nvPr/>
        </p:nvSpPr>
        <p:spPr>
          <a:xfrm>
            <a:off x="4658646" y="8772325"/>
            <a:ext cx="168487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Raw Data</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 name="TextBox 5">
            <a:extLst>
              <a:ext uri="{FF2B5EF4-FFF2-40B4-BE49-F238E27FC236}">
                <a16:creationId xmlns:a16="http://schemas.microsoft.com/office/drawing/2014/main" id="{D5A9BD99-5161-D803-6B84-B6A9E97FAE25}"/>
              </a:ext>
            </a:extLst>
          </p:cNvPr>
          <p:cNvSpPr txBox="1"/>
          <p:nvPr/>
        </p:nvSpPr>
        <p:spPr>
          <a:xfrm>
            <a:off x="4659192" y="8798784"/>
            <a:ext cx="1709825" cy="1448556"/>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7" name="TextBox 6">
            <a:extLst>
              <a:ext uri="{FF2B5EF4-FFF2-40B4-BE49-F238E27FC236}">
                <a16:creationId xmlns:a16="http://schemas.microsoft.com/office/drawing/2014/main" id="{F5367100-B59A-AA84-0B82-CD36F7ADC59B}"/>
              </a:ext>
            </a:extLst>
          </p:cNvPr>
          <p:cNvSpPr txBox="1"/>
          <p:nvPr/>
        </p:nvSpPr>
        <p:spPr>
          <a:xfrm>
            <a:off x="4670739" y="3035617"/>
            <a:ext cx="4568786" cy="5400455"/>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err="1"/>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18" name="Picture 17">
            <a:extLst>
              <a:ext uri="{FF2B5EF4-FFF2-40B4-BE49-F238E27FC236}">
                <a16:creationId xmlns:a16="http://schemas.microsoft.com/office/drawing/2014/main" id="{131336A4-B339-B4BB-5080-15228BE7A156}"/>
              </a:ext>
            </a:extLst>
          </p:cNvPr>
          <p:cNvPicPr>
            <a:picLocks noChangeAspect="1"/>
          </p:cNvPicPr>
          <p:nvPr/>
        </p:nvPicPr>
        <p:blipFill>
          <a:blip r:embed="rId3"/>
          <a:stretch>
            <a:fillRect/>
          </a:stretch>
        </p:blipFill>
        <p:spPr>
          <a:xfrm>
            <a:off x="12841449" y="4088854"/>
            <a:ext cx="763378" cy="807934"/>
          </a:xfrm>
          <a:prstGeom prst="rect">
            <a:avLst/>
          </a:prstGeom>
        </p:spPr>
      </p:pic>
      <p:pic>
        <p:nvPicPr>
          <p:cNvPr id="292" name="Image" descr="Image">
            <a:extLst>
              <a:ext uri="{FF2B5EF4-FFF2-40B4-BE49-F238E27FC236}">
                <a16:creationId xmlns:a16="http://schemas.microsoft.com/office/drawing/2014/main" id="{D57075C2-4D03-9B6D-A37A-560DBCFDE357}"/>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B566920B-779B-F6C3-C118-9DBAF358E435}"/>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B67D2470-498D-2495-BE21-7D7468B39811}"/>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21F2A4EA-AB7A-F4AB-09E5-B3C8983E9C7B}"/>
              </a:ext>
            </a:extLst>
          </p:cNvPr>
          <p:cNvSpPr/>
          <p:nvPr/>
        </p:nvSpPr>
        <p:spPr>
          <a:xfrm>
            <a:off x="220507" y="2610755"/>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EC666A40-C033-2518-DDB0-A2DB53EE5AF9}"/>
              </a:ext>
            </a:extLst>
          </p:cNvPr>
          <p:cNvSpPr txBox="1"/>
          <p:nvPr/>
        </p:nvSpPr>
        <p:spPr>
          <a:xfrm>
            <a:off x="304155" y="2612235"/>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5F19CCF4-FF05-EF0F-1AF8-9AA7558299FD}"/>
              </a:ext>
            </a:extLst>
          </p:cNvPr>
          <p:cNvSpPr txBox="1"/>
          <p:nvPr/>
        </p:nvSpPr>
        <p:spPr>
          <a:xfrm>
            <a:off x="293295" y="2992442"/>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239CEF8C-5C9D-82A3-2C2C-1D3AE4FA6BB4}"/>
              </a:ext>
            </a:extLst>
          </p:cNvPr>
          <p:cNvSpPr txBox="1"/>
          <p:nvPr/>
        </p:nvSpPr>
        <p:spPr>
          <a:xfrm>
            <a:off x="312386" y="3377157"/>
            <a:ext cx="4122651" cy="602800"/>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DE8DBCA4-AC05-D3A9-149F-5695C1B7B289}"/>
              </a:ext>
            </a:extLst>
          </p:cNvPr>
          <p:cNvSpPr txBox="1"/>
          <p:nvPr/>
        </p:nvSpPr>
        <p:spPr>
          <a:xfrm>
            <a:off x="279130" y="6752399"/>
            <a:ext cx="197810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2C030BD7-9D45-F3D4-2CFB-5D931D06D4D3}"/>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0647110D-E8B2-D04A-2859-D8EBFCE6F718}"/>
              </a:ext>
            </a:extLst>
          </p:cNvPr>
          <p:cNvSpPr txBox="1"/>
          <p:nvPr/>
        </p:nvSpPr>
        <p:spPr>
          <a:xfrm>
            <a:off x="4663440" y="1513595"/>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B01E9B93-5274-B394-4713-5E47650864B2}"/>
              </a:ext>
            </a:extLst>
          </p:cNvPr>
          <p:cNvSpPr txBox="1"/>
          <p:nvPr/>
        </p:nvSpPr>
        <p:spPr>
          <a:xfrm>
            <a:off x="257982" y="1536978"/>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B60FDF05-9CB9-CD29-132B-C89D573A16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87BF2C60-BC11-AE82-99EB-ECAE2F22A069}"/>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B312EF11-F1D0-FEE5-FC3C-AB16CC695F1C}"/>
              </a:ext>
            </a:extLst>
          </p:cNvPr>
          <p:cNvSpPr/>
          <p:nvPr/>
        </p:nvSpPr>
        <p:spPr>
          <a:xfrm>
            <a:off x="231610" y="5437298"/>
            <a:ext cx="4346831" cy="131837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5FD2DB9B-043D-FDFF-6B60-27F3FE1F0438}"/>
              </a:ext>
            </a:extLst>
          </p:cNvPr>
          <p:cNvSpPr txBox="1"/>
          <p:nvPr/>
        </p:nvSpPr>
        <p:spPr>
          <a:xfrm>
            <a:off x="347617" y="5477756"/>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8483487E-DD91-F996-DF18-DF7C3A3FDD32}"/>
              </a:ext>
            </a:extLst>
          </p:cNvPr>
          <p:cNvSpPr txBox="1"/>
          <p:nvPr/>
        </p:nvSpPr>
        <p:spPr>
          <a:xfrm>
            <a:off x="347973" y="6055887"/>
            <a:ext cx="4105332" cy="583155"/>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depends: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EBF20B7F-1BF2-1443-FC36-90D8CC1AC267}"/>
              </a:ext>
            </a:extLst>
          </p:cNvPr>
          <p:cNvPicPr>
            <a:picLocks noChangeAspect="1"/>
          </p:cNvPicPr>
          <p:nvPr/>
        </p:nvPicPr>
        <p:blipFill>
          <a:blip r:embed="rId7"/>
          <a:stretch>
            <a:fillRect/>
          </a:stretch>
        </p:blipFill>
        <p:spPr>
          <a:xfrm>
            <a:off x="11540657" y="5352912"/>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413FA0CD-076C-23F2-E419-EB3C6702340F}"/>
              </a:ext>
            </a:extLst>
          </p:cNvPr>
          <p:cNvSpPr txBox="1"/>
          <p:nvPr/>
        </p:nvSpPr>
        <p:spPr>
          <a:xfrm>
            <a:off x="328655" y="5789293"/>
            <a:ext cx="4369511" cy="2625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sz="1100">
                <a:cs typeface="Arial"/>
              </a:rPr>
              <a:t>The required external tools must be specified  in </a:t>
            </a:r>
            <a:r>
              <a:rPr lang="en-US" sz="1100" err="1">
                <a:cs typeface="Arial"/>
              </a:rPr>
              <a:t>tools.yml</a:t>
            </a:r>
            <a:r>
              <a:rPr lang="en-US" sz="1100">
                <a:cs typeface="Arial"/>
              </a:rPr>
              <a:t>:</a:t>
            </a:r>
            <a:endParaRPr lang="en-US" sz="1100" u="sng">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2DD77153-8679-D588-1E1B-837D553EE3CE}"/>
              </a:ext>
            </a:extLst>
          </p:cNvPr>
          <p:cNvPicPr>
            <a:picLocks noChangeAspect="1"/>
          </p:cNvPicPr>
          <p:nvPr/>
        </p:nvPicPr>
        <p:blipFill>
          <a:blip r:embed="rId8"/>
          <a:stretch>
            <a:fillRect/>
          </a:stretch>
        </p:blipFill>
        <p:spPr>
          <a:xfrm>
            <a:off x="11555661" y="3041121"/>
            <a:ext cx="546328" cy="546436"/>
          </a:xfrm>
          <a:prstGeom prst="rect">
            <a:avLst/>
          </a:prstGeom>
        </p:spPr>
      </p:pic>
      <p:pic>
        <p:nvPicPr>
          <p:cNvPr id="23" name="Picture 22">
            <a:extLst>
              <a:ext uri="{FF2B5EF4-FFF2-40B4-BE49-F238E27FC236}">
                <a16:creationId xmlns:a16="http://schemas.microsoft.com/office/drawing/2014/main" id="{98E1A271-94AD-FAE9-21D7-54CEE88A925B}"/>
              </a:ext>
            </a:extLst>
          </p:cNvPr>
          <p:cNvPicPr>
            <a:picLocks noChangeAspect="1"/>
          </p:cNvPicPr>
          <p:nvPr/>
        </p:nvPicPr>
        <p:blipFill>
          <a:blip r:embed="rId9"/>
          <a:stretch>
            <a:fillRect/>
          </a:stretch>
        </p:blipFill>
        <p:spPr>
          <a:xfrm>
            <a:off x="9403360" y="5035008"/>
            <a:ext cx="544372" cy="486505"/>
          </a:xfrm>
          <a:prstGeom prst="rect">
            <a:avLst/>
          </a:prstGeom>
        </p:spPr>
      </p:pic>
      <p:pic>
        <p:nvPicPr>
          <p:cNvPr id="24" name="Picture 23">
            <a:extLst>
              <a:ext uri="{FF2B5EF4-FFF2-40B4-BE49-F238E27FC236}">
                <a16:creationId xmlns:a16="http://schemas.microsoft.com/office/drawing/2014/main" id="{2CBA3070-F8FB-D1F1-6AF1-841693E0B74C}"/>
              </a:ext>
            </a:extLst>
          </p:cNvPr>
          <p:cNvPicPr>
            <a:picLocks noChangeAspect="1"/>
          </p:cNvPicPr>
          <p:nvPr/>
        </p:nvPicPr>
        <p:blipFill>
          <a:blip r:embed="rId10"/>
          <a:stretch>
            <a:fillRect/>
          </a:stretch>
        </p:blipFill>
        <p:spPr>
          <a:xfrm>
            <a:off x="9548065" y="4410368"/>
            <a:ext cx="742783" cy="609600"/>
          </a:xfrm>
          <a:prstGeom prst="rect">
            <a:avLst/>
          </a:prstGeom>
        </p:spPr>
      </p:pic>
      <p:pic>
        <p:nvPicPr>
          <p:cNvPr id="25" name="Picture 24">
            <a:extLst>
              <a:ext uri="{FF2B5EF4-FFF2-40B4-BE49-F238E27FC236}">
                <a16:creationId xmlns:a16="http://schemas.microsoft.com/office/drawing/2014/main" id="{F021F40A-021B-1E04-DD1E-4370B4A9665E}"/>
              </a:ext>
            </a:extLst>
          </p:cNvPr>
          <p:cNvPicPr>
            <a:picLocks noChangeAspect="1"/>
          </p:cNvPicPr>
          <p:nvPr/>
        </p:nvPicPr>
        <p:blipFill>
          <a:blip r:embed="rId11"/>
          <a:stretch>
            <a:fillRect/>
          </a:stretch>
        </p:blipFill>
        <p:spPr>
          <a:xfrm>
            <a:off x="12026460" y="3527600"/>
            <a:ext cx="372044" cy="354363"/>
          </a:xfrm>
          <a:prstGeom prst="rect">
            <a:avLst/>
          </a:prstGeom>
        </p:spPr>
      </p:pic>
      <p:pic>
        <p:nvPicPr>
          <p:cNvPr id="26" name="Picture 25">
            <a:extLst>
              <a:ext uri="{FF2B5EF4-FFF2-40B4-BE49-F238E27FC236}">
                <a16:creationId xmlns:a16="http://schemas.microsoft.com/office/drawing/2014/main" id="{AFE55434-97A7-B55C-6B36-CB3B9E445EE9}"/>
              </a:ext>
            </a:extLst>
          </p:cNvPr>
          <p:cNvPicPr>
            <a:picLocks noChangeAspect="1"/>
          </p:cNvPicPr>
          <p:nvPr/>
        </p:nvPicPr>
        <p:blipFill>
          <a:blip r:embed="rId3"/>
          <a:stretch>
            <a:fillRect/>
          </a:stretch>
        </p:blipFill>
        <p:spPr>
          <a:xfrm>
            <a:off x="11481603" y="4062281"/>
            <a:ext cx="745627" cy="790179"/>
          </a:xfrm>
          <a:prstGeom prst="rect">
            <a:avLst/>
          </a:prstGeom>
        </p:spPr>
      </p:pic>
      <p:pic>
        <p:nvPicPr>
          <p:cNvPr id="38" name="Picture 37">
            <a:extLst>
              <a:ext uri="{FF2B5EF4-FFF2-40B4-BE49-F238E27FC236}">
                <a16:creationId xmlns:a16="http://schemas.microsoft.com/office/drawing/2014/main" id="{7E733C24-F114-4512-F57D-FF3EE830B0A8}"/>
              </a:ext>
            </a:extLst>
          </p:cNvPr>
          <p:cNvPicPr>
            <a:picLocks noChangeAspect="1"/>
          </p:cNvPicPr>
          <p:nvPr/>
        </p:nvPicPr>
        <p:blipFill>
          <a:blip r:embed="rId10"/>
          <a:stretch>
            <a:fillRect/>
          </a:stretch>
        </p:blipFill>
        <p:spPr>
          <a:xfrm rot="10800000">
            <a:off x="9918660" y="4727242"/>
            <a:ext cx="742783" cy="609600"/>
          </a:xfrm>
          <a:prstGeom prst="rect">
            <a:avLst/>
          </a:prstGeom>
        </p:spPr>
      </p:pic>
      <p:pic>
        <p:nvPicPr>
          <p:cNvPr id="39" name="Picture 38">
            <a:extLst>
              <a:ext uri="{FF2B5EF4-FFF2-40B4-BE49-F238E27FC236}">
                <a16:creationId xmlns:a16="http://schemas.microsoft.com/office/drawing/2014/main" id="{8437367E-AC36-12DA-9BC3-C796CDD58E1C}"/>
              </a:ext>
            </a:extLst>
          </p:cNvPr>
          <p:cNvPicPr>
            <a:picLocks noChangeAspect="1"/>
          </p:cNvPicPr>
          <p:nvPr/>
        </p:nvPicPr>
        <p:blipFill>
          <a:blip r:embed="rId12"/>
          <a:stretch>
            <a:fillRect/>
          </a:stretch>
        </p:blipFill>
        <p:spPr>
          <a:xfrm>
            <a:off x="10897219" y="4410174"/>
            <a:ext cx="560207" cy="171450"/>
          </a:xfrm>
          <a:prstGeom prst="rect">
            <a:avLst/>
          </a:prstGeom>
        </p:spPr>
      </p:pic>
      <p:pic>
        <p:nvPicPr>
          <p:cNvPr id="40" name="Picture 39">
            <a:extLst>
              <a:ext uri="{FF2B5EF4-FFF2-40B4-BE49-F238E27FC236}">
                <a16:creationId xmlns:a16="http://schemas.microsoft.com/office/drawing/2014/main" id="{006D4FD5-46D8-EE1B-30C6-2778CC5332C6}"/>
              </a:ext>
            </a:extLst>
          </p:cNvPr>
          <p:cNvPicPr>
            <a:picLocks noChangeAspect="1"/>
          </p:cNvPicPr>
          <p:nvPr/>
        </p:nvPicPr>
        <p:blipFill>
          <a:blip r:embed="rId12"/>
          <a:stretch>
            <a:fillRect/>
          </a:stretch>
        </p:blipFill>
        <p:spPr>
          <a:xfrm rot="10800000">
            <a:off x="12262901" y="4413317"/>
            <a:ext cx="571524" cy="171450"/>
          </a:xfrm>
          <a:prstGeom prst="rect">
            <a:avLst/>
          </a:prstGeom>
        </p:spPr>
      </p:pic>
      <p:pic>
        <p:nvPicPr>
          <p:cNvPr id="41" name="Picture 40">
            <a:extLst>
              <a:ext uri="{FF2B5EF4-FFF2-40B4-BE49-F238E27FC236}">
                <a16:creationId xmlns:a16="http://schemas.microsoft.com/office/drawing/2014/main" id="{F906F88F-6A85-9F35-F05A-84ADB9C9068D}"/>
              </a:ext>
            </a:extLst>
          </p:cNvPr>
          <p:cNvPicPr>
            <a:picLocks noChangeAspect="1"/>
          </p:cNvPicPr>
          <p:nvPr/>
        </p:nvPicPr>
        <p:blipFill>
          <a:blip r:embed="rId12"/>
          <a:stretch>
            <a:fillRect/>
          </a:stretch>
        </p:blipFill>
        <p:spPr>
          <a:xfrm rot="5400000">
            <a:off x="11540455" y="3768671"/>
            <a:ext cx="571524" cy="171450"/>
          </a:xfrm>
          <a:prstGeom prst="rect">
            <a:avLst/>
          </a:prstGeom>
        </p:spPr>
      </p:pic>
      <p:sp>
        <p:nvSpPr>
          <p:cNvPr id="42" name="TextBox 41">
            <a:extLst>
              <a:ext uri="{FF2B5EF4-FFF2-40B4-BE49-F238E27FC236}">
                <a16:creationId xmlns:a16="http://schemas.microsoft.com/office/drawing/2014/main" id="{BA072027-7C83-C8C2-1D35-FF828E07FC59}"/>
              </a:ext>
            </a:extLst>
          </p:cNvPr>
          <p:cNvSpPr txBox="1"/>
          <p:nvPr/>
        </p:nvSpPr>
        <p:spPr>
          <a:xfrm>
            <a:off x="9691623" y="4578966"/>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6" name="TextBox 45">
            <a:extLst>
              <a:ext uri="{FF2B5EF4-FFF2-40B4-BE49-F238E27FC236}">
                <a16:creationId xmlns:a16="http://schemas.microsoft.com/office/drawing/2014/main" id="{22632A3C-AC2D-3256-8B13-FB78CAE2DA71}"/>
              </a:ext>
            </a:extLst>
          </p:cNvPr>
          <p:cNvSpPr txBox="1"/>
          <p:nvPr/>
        </p:nvSpPr>
        <p:spPr>
          <a:xfrm>
            <a:off x="11599140" y="4300654"/>
            <a:ext cx="75828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2C196C9F-E8F3-9A03-F7EE-6DE78801940B}"/>
              </a:ext>
            </a:extLst>
          </p:cNvPr>
          <p:cNvSpPr txBox="1"/>
          <p:nvPr/>
        </p:nvSpPr>
        <p:spPr>
          <a:xfrm>
            <a:off x="12983422" y="4325443"/>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269F7CEC-4719-28EC-1943-E61FB7819CEF}"/>
              </a:ext>
            </a:extLst>
          </p:cNvPr>
          <p:cNvPicPr>
            <a:picLocks noChangeAspect="1"/>
          </p:cNvPicPr>
          <p:nvPr/>
        </p:nvPicPr>
        <p:blipFill>
          <a:blip r:embed="rId12"/>
          <a:stretch>
            <a:fillRect/>
          </a:stretch>
        </p:blipFill>
        <p:spPr>
          <a:xfrm rot="5400000">
            <a:off x="11545979" y="4941938"/>
            <a:ext cx="571524" cy="171450"/>
          </a:xfrm>
          <a:prstGeom prst="rect">
            <a:avLst/>
          </a:prstGeom>
        </p:spPr>
      </p:pic>
      <p:sp>
        <p:nvSpPr>
          <p:cNvPr id="51" name="TextBox 50">
            <a:extLst>
              <a:ext uri="{FF2B5EF4-FFF2-40B4-BE49-F238E27FC236}">
                <a16:creationId xmlns:a16="http://schemas.microsoft.com/office/drawing/2014/main" id="{765E451B-64E9-354F-C0E7-30A068C0B38D}"/>
              </a:ext>
            </a:extLst>
          </p:cNvPr>
          <p:cNvSpPr txBox="1"/>
          <p:nvPr/>
        </p:nvSpPr>
        <p:spPr>
          <a:xfrm>
            <a:off x="10297205" y="4337350"/>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7E3DA8FE-54A7-0F3E-ABAB-52757E112127}"/>
              </a:ext>
            </a:extLst>
          </p:cNvPr>
          <p:cNvSpPr txBox="1"/>
          <p:nvPr/>
        </p:nvSpPr>
        <p:spPr>
          <a:xfrm>
            <a:off x="12356579" y="3530063"/>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8A6FA30B-63CB-AC3F-E242-04D8265515CA}"/>
              </a:ext>
            </a:extLst>
          </p:cNvPr>
          <p:cNvSpPr txBox="1"/>
          <p:nvPr/>
        </p:nvSpPr>
        <p:spPr>
          <a:xfrm>
            <a:off x="11405417" y="5975841"/>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08014101-9649-F9AE-CC02-4777BE463AB8}"/>
              </a:ext>
            </a:extLst>
          </p:cNvPr>
          <p:cNvSpPr txBox="1"/>
          <p:nvPr/>
        </p:nvSpPr>
        <p:spPr>
          <a:xfrm>
            <a:off x="9391572" y="1596136"/>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12" name="TextBox 11">
            <a:extLst>
              <a:ext uri="{FF2B5EF4-FFF2-40B4-BE49-F238E27FC236}">
                <a16:creationId xmlns:a16="http://schemas.microsoft.com/office/drawing/2014/main" id="{F5435059-DAD6-4471-A94B-ACE70DFD814C}"/>
              </a:ext>
            </a:extLst>
          </p:cNvPr>
          <p:cNvSpPr txBox="1"/>
          <p:nvPr/>
        </p:nvSpPr>
        <p:spPr>
          <a:xfrm>
            <a:off x="4832031" y="3757523"/>
            <a:ext cx="2775952" cy="2300391"/>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16989EA8-CB30-1E8A-1113-6442DD47BD19}"/>
              </a:ext>
            </a:extLst>
          </p:cNvPr>
          <p:cNvSpPr txBox="1"/>
          <p:nvPr/>
        </p:nvSpPr>
        <p:spPr>
          <a:xfrm>
            <a:off x="4826122" y="3743074"/>
            <a:ext cx="1272179"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a:t>
            </a:r>
            <a:r>
              <a:rPr lang="en-US" sz="1800" err="1"/>
              <a:t>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EEB0CF40-69BA-C095-9214-FA83DA5B0448}"/>
              </a:ext>
            </a:extLst>
          </p:cNvPr>
          <p:cNvSpPr txBox="1"/>
          <p:nvPr/>
        </p:nvSpPr>
        <p:spPr>
          <a:xfrm>
            <a:off x="7082188" y="6924851"/>
            <a:ext cx="2121601"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E0C460B0-5763-C70C-CD08-63BA842447B4}"/>
              </a:ext>
            </a:extLst>
          </p:cNvPr>
          <p:cNvSpPr txBox="1"/>
          <p:nvPr/>
        </p:nvSpPr>
        <p:spPr>
          <a:xfrm>
            <a:off x="7109279" y="8043108"/>
            <a:ext cx="2094645" cy="327258"/>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BD0087DF-32D1-3C25-1A45-1E50B71469A1}"/>
              </a:ext>
            </a:extLst>
          </p:cNvPr>
          <p:cNvSpPr txBox="1"/>
          <p:nvPr/>
        </p:nvSpPr>
        <p:spPr>
          <a:xfrm>
            <a:off x="7091901" y="7459585"/>
            <a:ext cx="2108123"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sentiment_classifier</a:t>
            </a:r>
            <a:endParaRPr lang="en-US"/>
          </a:p>
        </p:txBody>
      </p:sp>
      <p:sp>
        <p:nvSpPr>
          <p:cNvPr id="270" name="TextBox 269">
            <a:extLst>
              <a:ext uri="{FF2B5EF4-FFF2-40B4-BE49-F238E27FC236}">
                <a16:creationId xmlns:a16="http://schemas.microsoft.com/office/drawing/2014/main" id="{01D0A687-2310-86C9-3AD3-7AEA3B53FC5E}"/>
              </a:ext>
            </a:extLst>
          </p:cNvPr>
          <p:cNvSpPr txBox="1"/>
          <p:nvPr/>
        </p:nvSpPr>
        <p:spPr>
          <a:xfrm>
            <a:off x="7117281" y="8974279"/>
            <a:ext cx="1987038" cy="54358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EE70B1C8-50E3-2629-F519-ED09704621C3}"/>
              </a:ext>
            </a:extLst>
          </p:cNvPr>
          <p:cNvSpPr txBox="1"/>
          <p:nvPr/>
        </p:nvSpPr>
        <p:spPr>
          <a:xfrm>
            <a:off x="7229461" y="9092070"/>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7DF4537C-E3FE-0D34-40A8-05866BF1C92D}"/>
              </a:ext>
            </a:extLst>
          </p:cNvPr>
          <p:cNvSpPr txBox="1"/>
          <p:nvPr/>
        </p:nvSpPr>
        <p:spPr>
          <a:xfrm>
            <a:off x="222484" y="1795540"/>
            <a:ext cx="4352283" cy="7076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a:t>
            </a:r>
            <a:r>
              <a:rPr lang="en-US" b="0" err="1">
                <a:cs typeface="Helvetica"/>
              </a:rPr>
              <a:t>Kaiaulu's</a:t>
            </a:r>
            <a:r>
              <a:rPr lang="en-US" b="0">
                <a:cs typeface="Helvetica"/>
              </a:rPr>
              <a:t> functions through a command line interface. This allows </a:t>
            </a:r>
            <a:r>
              <a:rPr lang="en-US" b="0" err="1">
                <a:cs typeface="Helvetica"/>
              </a:rPr>
              <a:t>server side</a:t>
            </a:r>
            <a:r>
              <a:rPr lang="en-US" b="0">
                <a:cs typeface="Helvetica"/>
              </a:rPr>
              <a:t> execution and use of </a:t>
            </a:r>
            <a:r>
              <a:rPr lang="en-US" b="0" err="1">
                <a:cs typeface="Helvetica"/>
              </a:rPr>
              <a:t>Kaiaulu</a:t>
            </a:r>
            <a:r>
              <a:rPr lang="en-US" b="0">
                <a:cs typeface="Helvetica"/>
              </a:rPr>
              <a:t> capabilities without knowledge of R.</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CB8E0B76-E119-9DDC-7F7E-E851BB397335}"/>
              </a:ext>
            </a:extLst>
          </p:cNvPr>
          <p:cNvSpPr txBox="1"/>
          <p:nvPr/>
        </p:nvSpPr>
        <p:spPr>
          <a:xfrm>
            <a:off x="9371788" y="2048486"/>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B701C5EC-BAB6-12E6-FDB5-CB0003D9D135}"/>
              </a:ext>
            </a:extLst>
          </p:cNvPr>
          <p:cNvSpPr txBox="1"/>
          <p:nvPr/>
        </p:nvSpPr>
        <p:spPr>
          <a:xfrm>
            <a:off x="4614906" y="2022418"/>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Sailuh</a:t>
            </a:r>
            <a:r>
              <a:rPr lang="en-US" b="0">
                <a:cs typeface="Helvetica"/>
              </a:rPr>
              <a:t> tools such as </a:t>
            </a:r>
            <a:r>
              <a:rPr lang="en-US" b="0" err="1">
                <a:cs typeface="Helvetica"/>
              </a:rPr>
              <a:t>pykumu</a:t>
            </a:r>
            <a:r>
              <a:rPr lang="en-US" b="0">
                <a:cs typeface="Helvetica"/>
              </a:rPr>
              <a:t> rely on </a:t>
            </a:r>
            <a:r>
              <a:rPr lang="en-US" b="0" err="1">
                <a:cs typeface="Helvetica"/>
              </a:rPr>
              <a:t>kaiaulu</a:t>
            </a:r>
            <a:r>
              <a:rPr lang="en-US" b="0">
                <a:cs typeface="Helvetica"/>
              </a:rPr>
              <a:t> executables to download and refresh data. </a:t>
            </a:r>
            <a:r>
              <a:rPr lang="en-US" b="0" err="1">
                <a:cs typeface="Helvetica"/>
              </a:rPr>
              <a:t>Kaiaulu</a:t>
            </a:r>
            <a:r>
              <a:rPr lang="en-US" b="0">
                <a:cs typeface="Helvetica"/>
              </a:rPr>
              <a:t> executable are also made to provide </a:t>
            </a:r>
            <a:r>
              <a:rPr lang="en-US" b="0" err="1">
                <a:cs typeface="Helvetica"/>
              </a:rPr>
              <a:t>kaiaulu's</a:t>
            </a:r>
            <a:r>
              <a:rPr lang="en-US" b="0">
                <a:cs typeface="Helvetica"/>
              </a:rPr>
              <a:t> functions to users, tools, and projects outside of the </a:t>
            </a:r>
            <a:r>
              <a:rPr lang="en-US" b="0" err="1">
                <a:cs typeface="Helvetica"/>
              </a:rPr>
              <a:t>sailuh</a:t>
            </a:r>
            <a:r>
              <a:rPr lang="en-US" b="0">
                <a:cs typeface="Helvetica"/>
              </a:rPr>
              <a:t> ecosystem.</a:t>
            </a:r>
          </a:p>
        </p:txBody>
      </p:sp>
      <p:pic>
        <p:nvPicPr>
          <p:cNvPr id="282" name="Picture 281">
            <a:extLst>
              <a:ext uri="{FF2B5EF4-FFF2-40B4-BE49-F238E27FC236}">
                <a16:creationId xmlns:a16="http://schemas.microsoft.com/office/drawing/2014/main" id="{983B6227-C3B2-F95D-DEF9-A7609F9C46D2}"/>
              </a:ext>
            </a:extLst>
          </p:cNvPr>
          <p:cNvPicPr>
            <a:picLocks noChangeAspect="1"/>
          </p:cNvPicPr>
          <p:nvPr/>
        </p:nvPicPr>
        <p:blipFill>
          <a:blip r:embed="rId3"/>
          <a:stretch>
            <a:fillRect/>
          </a:stretch>
        </p:blipFill>
        <p:spPr>
          <a:xfrm>
            <a:off x="5725699" y="5084037"/>
            <a:ext cx="901977" cy="861758"/>
          </a:xfrm>
          <a:prstGeom prst="rect">
            <a:avLst/>
          </a:prstGeom>
        </p:spPr>
      </p:pic>
      <p:sp>
        <p:nvSpPr>
          <p:cNvPr id="283" name="TextBox 282">
            <a:extLst>
              <a:ext uri="{FF2B5EF4-FFF2-40B4-BE49-F238E27FC236}">
                <a16:creationId xmlns:a16="http://schemas.microsoft.com/office/drawing/2014/main" id="{82BCF81F-316F-E52E-EA24-07C108209077}"/>
              </a:ext>
            </a:extLst>
          </p:cNvPr>
          <p:cNvSpPr txBox="1"/>
          <p:nvPr/>
        </p:nvSpPr>
        <p:spPr>
          <a:xfrm>
            <a:off x="5905477" y="5370283"/>
            <a:ext cx="87989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98" name="TextBox 297">
            <a:extLst>
              <a:ext uri="{FF2B5EF4-FFF2-40B4-BE49-F238E27FC236}">
                <a16:creationId xmlns:a16="http://schemas.microsoft.com/office/drawing/2014/main" id="{0AE7A756-E2B6-F18C-30E2-1F4BF111F603}"/>
              </a:ext>
            </a:extLst>
          </p:cNvPr>
          <p:cNvSpPr txBox="1"/>
          <p:nvPr/>
        </p:nvSpPr>
        <p:spPr>
          <a:xfrm>
            <a:off x="256883" y="7081668"/>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in order to find information about the project. The configuration file is inputted as an argument with the exec command in the command line.</a:t>
            </a:r>
            <a:endParaRPr lang="en-US" b="0">
              <a:solidFill>
                <a:srgbClr val="000000"/>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C81448B8-717B-FDD0-8B40-C9E08EE95C53}"/>
              </a:ext>
            </a:extLst>
          </p:cNvPr>
          <p:cNvSpPr/>
          <p:nvPr/>
        </p:nvSpPr>
        <p:spPr>
          <a:xfrm>
            <a:off x="220611" y="4066083"/>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A27C16FF-F413-60CB-2B8B-29BBF63D2AFF}"/>
              </a:ext>
            </a:extLst>
          </p:cNvPr>
          <p:cNvSpPr txBox="1"/>
          <p:nvPr/>
        </p:nvSpPr>
        <p:spPr>
          <a:xfrm>
            <a:off x="322463" y="4123400"/>
            <a:ext cx="20182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FD2BC1C2-34E6-2EA6-8AB3-3578F6995176}"/>
              </a:ext>
            </a:extLst>
          </p:cNvPr>
          <p:cNvSpPr txBox="1"/>
          <p:nvPr/>
        </p:nvSpPr>
        <p:spPr>
          <a:xfrm>
            <a:off x="265065" y="4503604"/>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944D3FE0-82A8-00EB-2E91-5349730E726C}"/>
              </a:ext>
            </a:extLst>
          </p:cNvPr>
          <p:cNvSpPr txBox="1"/>
          <p:nvPr/>
        </p:nvSpPr>
        <p:spPr>
          <a:xfrm>
            <a:off x="310787" y="4703953"/>
            <a:ext cx="4216585" cy="6370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16" name="Line">
            <a:extLst>
              <a:ext uri="{FF2B5EF4-FFF2-40B4-BE49-F238E27FC236}">
                <a16:creationId xmlns:a16="http://schemas.microsoft.com/office/drawing/2014/main" id="{EB41F53D-A4D6-6A87-BD4C-B52A5FDC3A17}"/>
              </a:ext>
            </a:extLst>
          </p:cNvPr>
          <p:cNvSpPr/>
          <p:nvPr/>
        </p:nvSpPr>
        <p:spPr>
          <a:xfrm>
            <a:off x="9547195" y="6556387"/>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TextBox 2">
            <a:extLst>
              <a:ext uri="{FF2B5EF4-FFF2-40B4-BE49-F238E27FC236}">
                <a16:creationId xmlns:a16="http://schemas.microsoft.com/office/drawing/2014/main" id="{C4F798F5-8642-E9F4-EBCC-8C32D08D2EE0}"/>
              </a:ext>
            </a:extLst>
          </p:cNvPr>
          <p:cNvSpPr txBox="1"/>
          <p:nvPr/>
        </p:nvSpPr>
        <p:spPr>
          <a:xfrm>
            <a:off x="7088134" y="6352760"/>
            <a:ext cx="2114862"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pykumu</a:t>
            </a:r>
            <a:endParaRPr lang="en-US"/>
          </a:p>
        </p:txBody>
      </p:sp>
      <p:sp>
        <p:nvSpPr>
          <p:cNvPr id="21" name="Layout Suggestions">
            <a:extLst>
              <a:ext uri="{FF2B5EF4-FFF2-40B4-BE49-F238E27FC236}">
                <a16:creationId xmlns:a16="http://schemas.microsoft.com/office/drawing/2014/main" id="{8FE297AE-532C-84E9-A43E-4BB861062961}"/>
              </a:ext>
            </a:extLst>
          </p:cNvPr>
          <p:cNvSpPr txBox="1"/>
          <p:nvPr/>
        </p:nvSpPr>
        <p:spPr>
          <a:xfrm>
            <a:off x="9486529" y="6791107"/>
            <a:ext cx="344477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 </a:t>
            </a:r>
          </a:p>
        </p:txBody>
      </p:sp>
      <p:sp>
        <p:nvSpPr>
          <p:cNvPr id="22" name="TextBox 21">
            <a:extLst>
              <a:ext uri="{FF2B5EF4-FFF2-40B4-BE49-F238E27FC236}">
                <a16:creationId xmlns:a16="http://schemas.microsoft.com/office/drawing/2014/main" id="{00326898-E0C8-439D-37D5-CAF18B3BFA2E}"/>
              </a:ext>
            </a:extLst>
          </p:cNvPr>
          <p:cNvSpPr txBox="1"/>
          <p:nvPr/>
        </p:nvSpPr>
        <p:spPr>
          <a:xfrm>
            <a:off x="9480414" y="7013748"/>
            <a:ext cx="417477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Kaiaulu</a:t>
            </a:r>
            <a:r>
              <a:rPr lang="en-US" b="0">
                <a:cs typeface="Helvetica"/>
              </a:rPr>
              <a:t> executables provide data from sources such as </a:t>
            </a:r>
            <a:r>
              <a:rPr lang="en-US" b="0">
                <a:solidFill>
                  <a:schemeClr val="accent1"/>
                </a:solidFill>
                <a:cs typeface="Helvetica"/>
              </a:rPr>
              <a:t>mailing lists</a:t>
            </a:r>
            <a:r>
              <a:rPr lang="en-US" b="0">
                <a:solidFill>
                  <a:schemeClr val="tx1"/>
                </a:solidFill>
                <a:cs typeface="Helvetica"/>
              </a:rPr>
              <a:t>, </a:t>
            </a:r>
            <a:r>
              <a:rPr lang="en-US" b="0">
                <a:solidFill>
                  <a:schemeClr val="accent2"/>
                </a:solidFill>
                <a:cs typeface="Helvetica"/>
              </a:rPr>
              <a:t>Jira issues</a:t>
            </a:r>
            <a:r>
              <a:rPr lang="en-US" b="0">
                <a:solidFill>
                  <a:schemeClr val="tx1"/>
                </a:solidFill>
                <a:cs typeface="Helvetica"/>
              </a:rPr>
              <a:t>, and </a:t>
            </a:r>
            <a:r>
              <a:rPr lang="en-US" b="0">
                <a:solidFill>
                  <a:schemeClr val="accent5"/>
                </a:solidFill>
                <a:cs typeface="Helvetica"/>
              </a:rPr>
              <a:t>GitHub issues</a:t>
            </a:r>
            <a:r>
              <a:rPr lang="en-US" b="0">
                <a:solidFill>
                  <a:schemeClr val="tx1"/>
                </a:solidFill>
                <a:cs typeface="Helvetica"/>
              </a:rPr>
              <a:t>. </a:t>
            </a:r>
            <a:r>
              <a:rPr lang="en-US" b="0" err="1">
                <a:solidFill>
                  <a:schemeClr val="tx1"/>
                </a:solidFill>
                <a:cs typeface="Helvetica"/>
              </a:rPr>
              <a:t>Kaiaulu's</a:t>
            </a:r>
            <a:r>
              <a:rPr lang="en-US" b="0">
                <a:solidFill>
                  <a:schemeClr val="tx1"/>
                </a:solidFill>
                <a:cs typeface="Helvetica"/>
              </a:rPr>
              <a:t> functions in </a:t>
            </a:r>
            <a:r>
              <a:rPr lang="en-US" b="0" err="1">
                <a:solidFill>
                  <a:schemeClr val="tx1"/>
                </a:solidFill>
                <a:cs typeface="Helvetica"/>
              </a:rPr>
              <a:t>Kaiaulu</a:t>
            </a:r>
            <a:r>
              <a:rPr lang="en-US" b="0">
                <a:solidFill>
                  <a:schemeClr val="tx1"/>
                </a:solidFill>
                <a:cs typeface="Helvetica"/>
              </a:rPr>
              <a:t>/R parse, analyze, and filter raw data from these sources and output them in usable forms such as csv's</a:t>
            </a:r>
            <a:endParaRPr lang="en-US">
              <a:solidFill>
                <a:schemeClr val="tx1"/>
              </a:solidFill>
            </a:endParaRPr>
          </a:p>
        </p:txBody>
      </p:sp>
      <p:pic>
        <p:nvPicPr>
          <p:cNvPr id="60" name="Picture 59" descr="A close-up of a letter&#10;&#10;AI-generated content may be incorrect.">
            <a:extLst>
              <a:ext uri="{FF2B5EF4-FFF2-40B4-BE49-F238E27FC236}">
                <a16:creationId xmlns:a16="http://schemas.microsoft.com/office/drawing/2014/main" id="{4C323CC7-2E84-1910-1EF0-67ED579F5215}"/>
              </a:ext>
            </a:extLst>
          </p:cNvPr>
          <p:cNvPicPr>
            <a:picLocks noChangeAspect="1"/>
          </p:cNvPicPr>
          <p:nvPr/>
        </p:nvPicPr>
        <p:blipFill>
          <a:blip r:embed="rId13"/>
          <a:stretch>
            <a:fillRect/>
          </a:stretch>
        </p:blipFill>
        <p:spPr>
          <a:xfrm>
            <a:off x="4855377" y="9729720"/>
            <a:ext cx="396915" cy="386557"/>
          </a:xfrm>
          <a:prstGeom prst="rect">
            <a:avLst/>
          </a:prstGeom>
          <a:ln w="28575">
            <a:solidFill>
              <a:schemeClr val="accent1"/>
            </a:solidFill>
          </a:ln>
        </p:spPr>
      </p:pic>
      <p:pic>
        <p:nvPicPr>
          <p:cNvPr id="61" name="Picture 60">
            <a:extLst>
              <a:ext uri="{FF2B5EF4-FFF2-40B4-BE49-F238E27FC236}">
                <a16:creationId xmlns:a16="http://schemas.microsoft.com/office/drawing/2014/main" id="{77A29C8C-86FE-26E3-2EB3-39C06BA3AA99}"/>
              </a:ext>
            </a:extLst>
          </p:cNvPr>
          <p:cNvPicPr>
            <a:picLocks noChangeAspect="1"/>
          </p:cNvPicPr>
          <p:nvPr/>
        </p:nvPicPr>
        <p:blipFill>
          <a:blip r:embed="rId3"/>
          <a:stretch>
            <a:fillRect/>
          </a:stretch>
        </p:blipFill>
        <p:spPr>
          <a:xfrm>
            <a:off x="4969049" y="4040704"/>
            <a:ext cx="847413" cy="780787"/>
          </a:xfrm>
          <a:prstGeom prst="rect">
            <a:avLst/>
          </a:prstGeom>
        </p:spPr>
      </p:pic>
      <p:pic>
        <p:nvPicPr>
          <p:cNvPr id="62" name="Picture 61">
            <a:extLst>
              <a:ext uri="{FF2B5EF4-FFF2-40B4-BE49-F238E27FC236}">
                <a16:creationId xmlns:a16="http://schemas.microsoft.com/office/drawing/2014/main" id="{D463EE89-97DE-B88F-DD04-A4564F124A7E}"/>
              </a:ext>
            </a:extLst>
          </p:cNvPr>
          <p:cNvPicPr>
            <a:picLocks noChangeAspect="1"/>
          </p:cNvPicPr>
          <p:nvPr/>
        </p:nvPicPr>
        <p:blipFill>
          <a:blip r:embed="rId3"/>
          <a:stretch>
            <a:fillRect/>
          </a:stretch>
        </p:blipFill>
        <p:spPr>
          <a:xfrm>
            <a:off x="6509336" y="4007315"/>
            <a:ext cx="863955" cy="815085"/>
          </a:xfrm>
          <a:prstGeom prst="rect">
            <a:avLst/>
          </a:prstGeom>
        </p:spPr>
      </p:pic>
      <p:sp>
        <p:nvSpPr>
          <p:cNvPr id="63" name="TextBox 62">
            <a:extLst>
              <a:ext uri="{FF2B5EF4-FFF2-40B4-BE49-F238E27FC236}">
                <a16:creationId xmlns:a16="http://schemas.microsoft.com/office/drawing/2014/main" id="{9E770FB7-8898-CF88-1354-2062F4D976AF}"/>
              </a:ext>
            </a:extLst>
          </p:cNvPr>
          <p:cNvSpPr txBox="1"/>
          <p:nvPr/>
        </p:nvSpPr>
        <p:spPr>
          <a:xfrm>
            <a:off x="6747946" y="4304495"/>
            <a:ext cx="1098210"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/R</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56" name="TextBox 255">
            <a:extLst>
              <a:ext uri="{FF2B5EF4-FFF2-40B4-BE49-F238E27FC236}">
                <a16:creationId xmlns:a16="http://schemas.microsoft.com/office/drawing/2014/main" id="{D9B91396-7D12-B13D-86CD-7DF092C1D0A3}"/>
              </a:ext>
            </a:extLst>
          </p:cNvPr>
          <p:cNvSpPr txBox="1"/>
          <p:nvPr/>
        </p:nvSpPr>
        <p:spPr>
          <a:xfrm>
            <a:off x="5158924" y="4297481"/>
            <a:ext cx="131392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27" name="Picture 26">
            <a:extLst>
              <a:ext uri="{FF2B5EF4-FFF2-40B4-BE49-F238E27FC236}">
                <a16:creationId xmlns:a16="http://schemas.microsoft.com/office/drawing/2014/main" id="{06DB9D26-29F2-A9EB-8AFC-DA2FC28229D8}"/>
              </a:ext>
            </a:extLst>
          </p:cNvPr>
          <p:cNvPicPr>
            <a:picLocks noChangeAspect="1"/>
          </p:cNvPicPr>
          <p:nvPr/>
        </p:nvPicPr>
        <p:blipFill>
          <a:blip r:embed="rId14"/>
          <a:stretch>
            <a:fillRect/>
          </a:stretch>
        </p:blipFill>
        <p:spPr>
          <a:xfrm>
            <a:off x="4799214" y="6925522"/>
            <a:ext cx="914258" cy="905585"/>
          </a:xfrm>
          <a:prstGeom prst="rect">
            <a:avLst/>
          </a:prstGeom>
        </p:spPr>
      </p:pic>
      <p:pic>
        <p:nvPicPr>
          <p:cNvPr id="36" name="Picture 35">
            <a:extLst>
              <a:ext uri="{FF2B5EF4-FFF2-40B4-BE49-F238E27FC236}">
                <a16:creationId xmlns:a16="http://schemas.microsoft.com/office/drawing/2014/main" id="{5C8AE561-063F-CD59-9CF8-F6E286C43F3A}"/>
              </a:ext>
            </a:extLst>
          </p:cNvPr>
          <p:cNvPicPr>
            <a:picLocks noChangeAspect="1"/>
          </p:cNvPicPr>
          <p:nvPr/>
        </p:nvPicPr>
        <p:blipFill>
          <a:blip r:embed="rId15"/>
          <a:stretch>
            <a:fillRect/>
          </a:stretch>
        </p:blipFill>
        <p:spPr>
          <a:xfrm>
            <a:off x="5682951" y="9731462"/>
            <a:ext cx="554321" cy="415604"/>
          </a:xfrm>
          <a:prstGeom prst="rect">
            <a:avLst/>
          </a:prstGeom>
          <a:ln w="28575">
            <a:solidFill>
              <a:schemeClr val="accent2"/>
            </a:solidFill>
          </a:ln>
        </p:spPr>
      </p:pic>
      <p:pic>
        <p:nvPicPr>
          <p:cNvPr id="37" name="Picture 36" descr="A diagram of a project&#10;&#10;AI-generated content may be incorrect.">
            <a:extLst>
              <a:ext uri="{FF2B5EF4-FFF2-40B4-BE49-F238E27FC236}">
                <a16:creationId xmlns:a16="http://schemas.microsoft.com/office/drawing/2014/main" id="{0B7AFCC1-E03F-F931-9311-5C228EA83267}"/>
              </a:ext>
            </a:extLst>
          </p:cNvPr>
          <p:cNvPicPr>
            <a:picLocks noChangeAspect="1"/>
          </p:cNvPicPr>
          <p:nvPr/>
        </p:nvPicPr>
        <p:blipFill>
          <a:blip r:embed="rId16"/>
          <a:stretch>
            <a:fillRect/>
          </a:stretch>
        </p:blipFill>
        <p:spPr>
          <a:xfrm>
            <a:off x="881041" y="7711829"/>
            <a:ext cx="2926743" cy="2546002"/>
          </a:xfrm>
          <a:prstGeom prst="rect">
            <a:avLst/>
          </a:prstGeom>
        </p:spPr>
      </p:pic>
      <p:pic>
        <p:nvPicPr>
          <p:cNvPr id="43" name="Picture 42">
            <a:extLst>
              <a:ext uri="{FF2B5EF4-FFF2-40B4-BE49-F238E27FC236}">
                <a16:creationId xmlns:a16="http://schemas.microsoft.com/office/drawing/2014/main" id="{F265DDB3-FD7A-7B96-6F78-66B9BB12AD46}"/>
              </a:ext>
            </a:extLst>
          </p:cNvPr>
          <p:cNvPicPr>
            <a:picLocks noChangeAspect="1"/>
          </p:cNvPicPr>
          <p:nvPr/>
        </p:nvPicPr>
        <p:blipFill>
          <a:blip r:embed="rId15"/>
          <a:stretch>
            <a:fillRect/>
          </a:stretch>
        </p:blipFill>
        <p:spPr>
          <a:xfrm>
            <a:off x="5664543" y="9058363"/>
            <a:ext cx="554321" cy="415604"/>
          </a:xfrm>
          <a:prstGeom prst="rect">
            <a:avLst/>
          </a:prstGeom>
          <a:ln w="28575">
            <a:solidFill>
              <a:schemeClr val="accent5"/>
            </a:solidFill>
          </a:ln>
        </p:spPr>
      </p:pic>
      <p:sp>
        <p:nvSpPr>
          <p:cNvPr id="44" name="TextBox 43">
            <a:extLst>
              <a:ext uri="{FF2B5EF4-FFF2-40B4-BE49-F238E27FC236}">
                <a16:creationId xmlns:a16="http://schemas.microsoft.com/office/drawing/2014/main" id="{5B2B7D50-6F0B-3671-9518-43D82628A568}"/>
              </a:ext>
            </a:extLst>
          </p:cNvPr>
          <p:cNvSpPr txBox="1"/>
          <p:nvPr/>
        </p:nvSpPr>
        <p:spPr>
          <a:xfrm>
            <a:off x="5585479" y="8771099"/>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GitHub</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B772C915-FFF8-2028-E14F-34E37582FF7B}"/>
              </a:ext>
            </a:extLst>
          </p:cNvPr>
          <p:cNvSpPr txBox="1"/>
          <p:nvPr/>
        </p:nvSpPr>
        <p:spPr>
          <a:xfrm>
            <a:off x="5641785" y="9408730"/>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Jira</a:t>
            </a:r>
          </a:p>
        </p:txBody>
      </p:sp>
      <p:sp>
        <p:nvSpPr>
          <p:cNvPr id="47" name="TextBox 46">
            <a:extLst>
              <a:ext uri="{FF2B5EF4-FFF2-40B4-BE49-F238E27FC236}">
                <a16:creationId xmlns:a16="http://schemas.microsoft.com/office/drawing/2014/main" id="{C7462E21-C58C-C7A1-2B6B-5EDE7BB3664F}"/>
              </a:ext>
            </a:extLst>
          </p:cNvPr>
          <p:cNvSpPr txBox="1"/>
          <p:nvPr/>
        </p:nvSpPr>
        <p:spPr>
          <a:xfrm>
            <a:off x="4852402" y="941468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Mail</a:t>
            </a:r>
          </a:p>
        </p:txBody>
      </p:sp>
      <p:cxnSp>
        <p:nvCxnSpPr>
          <p:cNvPr id="29" name="Straight Arrow Connector 28">
            <a:extLst>
              <a:ext uri="{FF2B5EF4-FFF2-40B4-BE49-F238E27FC236}">
                <a16:creationId xmlns:a16="http://schemas.microsoft.com/office/drawing/2014/main" id="{BCE6BAE4-8F91-6AB7-98DB-1D7D884D70D4}"/>
              </a:ext>
            </a:extLst>
          </p:cNvPr>
          <p:cNvCxnSpPr/>
          <p:nvPr/>
        </p:nvCxnSpPr>
        <p:spPr>
          <a:xfrm>
            <a:off x="5270514" y="5555376"/>
            <a:ext cx="226" cy="152694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 name="Straight Arrow Connector 32">
            <a:extLst>
              <a:ext uri="{FF2B5EF4-FFF2-40B4-BE49-F238E27FC236}">
                <a16:creationId xmlns:a16="http://schemas.microsoft.com/office/drawing/2014/main" id="{A70EA48F-6670-227D-9E01-FD9D3D876A59}"/>
              </a:ext>
            </a:extLst>
          </p:cNvPr>
          <p:cNvCxnSpPr/>
          <p:nvPr/>
        </p:nvCxnSpPr>
        <p:spPr>
          <a:xfrm flipH="1">
            <a:off x="5681316" y="7393524"/>
            <a:ext cx="842945" cy="2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3A49D45C-6427-B627-0AC3-97AAC67E28E3}"/>
              </a:ext>
            </a:extLst>
          </p:cNvPr>
          <p:cNvCxnSpPr/>
          <p:nvPr/>
        </p:nvCxnSpPr>
        <p:spPr>
          <a:xfrm>
            <a:off x="6515855" y="6560515"/>
            <a:ext cx="44603" cy="274315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9E73D111-FB4C-A950-A520-247294F2CFBB}"/>
              </a:ext>
            </a:extLst>
          </p:cNvPr>
          <p:cNvCxnSpPr/>
          <p:nvPr/>
        </p:nvCxnSpPr>
        <p:spPr>
          <a:xfrm>
            <a:off x="6533848" y="6552991"/>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8" name="Straight Arrow Connector 267">
            <a:extLst>
              <a:ext uri="{FF2B5EF4-FFF2-40B4-BE49-F238E27FC236}">
                <a16:creationId xmlns:a16="http://schemas.microsoft.com/office/drawing/2014/main" id="{C05D87A7-CAFE-AE88-718E-4D28992075FC}"/>
              </a:ext>
            </a:extLst>
          </p:cNvPr>
          <p:cNvCxnSpPr>
            <a:cxnSpLocks/>
          </p:cNvCxnSpPr>
          <p:nvPr/>
        </p:nvCxnSpPr>
        <p:spPr>
          <a:xfrm>
            <a:off x="6553139" y="8203133"/>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DC69C97C-BE6B-B764-72F7-192294F39C46}"/>
              </a:ext>
            </a:extLst>
          </p:cNvPr>
          <p:cNvCxnSpPr>
            <a:cxnSpLocks/>
          </p:cNvCxnSpPr>
          <p:nvPr/>
        </p:nvCxnSpPr>
        <p:spPr>
          <a:xfrm>
            <a:off x="6535485" y="7662030"/>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32E48A44-4A54-1BB0-C9B0-BCA7B3AF939C}"/>
              </a:ext>
            </a:extLst>
          </p:cNvPr>
          <p:cNvCxnSpPr>
            <a:cxnSpLocks/>
          </p:cNvCxnSpPr>
          <p:nvPr/>
        </p:nvCxnSpPr>
        <p:spPr>
          <a:xfrm>
            <a:off x="6535572" y="7129799"/>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AFEC3E5B-E4F4-06A5-BF7F-BBF651E63B91}"/>
              </a:ext>
            </a:extLst>
          </p:cNvPr>
          <p:cNvCxnSpPr>
            <a:cxnSpLocks/>
          </p:cNvCxnSpPr>
          <p:nvPr/>
        </p:nvCxnSpPr>
        <p:spPr>
          <a:xfrm>
            <a:off x="6553398" y="9312227"/>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8" name="Straight Arrow Connector 277">
            <a:extLst>
              <a:ext uri="{FF2B5EF4-FFF2-40B4-BE49-F238E27FC236}">
                <a16:creationId xmlns:a16="http://schemas.microsoft.com/office/drawing/2014/main" id="{AAE0D072-FA81-4E7A-F331-D9CA41801A5E}"/>
              </a:ext>
            </a:extLst>
          </p:cNvPr>
          <p:cNvCxnSpPr/>
          <p:nvPr/>
        </p:nvCxnSpPr>
        <p:spPr>
          <a:xfrm>
            <a:off x="6173649" y="4923380"/>
            <a:ext cx="226" cy="4261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9" name="Straight Arrow Connector 278">
            <a:extLst>
              <a:ext uri="{FF2B5EF4-FFF2-40B4-BE49-F238E27FC236}">
                <a16:creationId xmlns:a16="http://schemas.microsoft.com/office/drawing/2014/main" id="{96D9A59A-3E31-262A-2824-9A3257B5C1A5}"/>
              </a:ext>
            </a:extLst>
          </p:cNvPr>
          <p:cNvCxnSpPr/>
          <p:nvPr/>
        </p:nvCxnSpPr>
        <p:spPr>
          <a:xfrm flipV="1">
            <a:off x="5402350" y="4941913"/>
            <a:ext cx="1571184" cy="1773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E69EA627-41C3-198F-B2E3-A0B1C9187E2D}"/>
              </a:ext>
            </a:extLst>
          </p:cNvPr>
          <p:cNvCxnSpPr/>
          <p:nvPr/>
        </p:nvCxnSpPr>
        <p:spPr>
          <a:xfrm flipH="1" flipV="1">
            <a:off x="5412319" y="4658748"/>
            <a:ext cx="8649" cy="31956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AA3FBF3D-33A4-E1AD-295A-19B670B50CEF}"/>
              </a:ext>
            </a:extLst>
          </p:cNvPr>
          <p:cNvCxnSpPr>
            <a:cxnSpLocks/>
          </p:cNvCxnSpPr>
          <p:nvPr/>
        </p:nvCxnSpPr>
        <p:spPr>
          <a:xfrm flipV="1">
            <a:off x="6970451" y="4654653"/>
            <a:ext cx="17982" cy="29293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7F08AE97-CA25-005C-0DA6-E542875E4B4F}"/>
              </a:ext>
            </a:extLst>
          </p:cNvPr>
          <p:cNvCxnSpPr/>
          <p:nvPr/>
        </p:nvCxnSpPr>
        <p:spPr>
          <a:xfrm flipV="1">
            <a:off x="5270953" y="5547332"/>
            <a:ext cx="532752" cy="1773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0" name="Line">
            <a:extLst>
              <a:ext uri="{FF2B5EF4-FFF2-40B4-BE49-F238E27FC236}">
                <a16:creationId xmlns:a16="http://schemas.microsoft.com/office/drawing/2014/main" id="{6FE779BA-8C1A-E060-EFDD-2EBA9BC09DBE}"/>
              </a:ext>
            </a:extLst>
          </p:cNvPr>
          <p:cNvSpPr/>
          <p:nvPr/>
        </p:nvSpPr>
        <p:spPr>
          <a:xfrm>
            <a:off x="553749" y="2661878"/>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20" name="Straight Arrow Connector 19">
            <a:extLst>
              <a:ext uri="{FF2B5EF4-FFF2-40B4-BE49-F238E27FC236}">
                <a16:creationId xmlns:a16="http://schemas.microsoft.com/office/drawing/2014/main" id="{8FA4B4D3-9B56-8FD9-AD8D-E78D83839CC8}"/>
              </a:ext>
            </a:extLst>
          </p:cNvPr>
          <p:cNvCxnSpPr/>
          <p:nvPr/>
        </p:nvCxnSpPr>
        <p:spPr>
          <a:xfrm flipH="1" flipV="1">
            <a:off x="5242818" y="7667373"/>
            <a:ext cx="17524" cy="118068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99542557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AF911-62AB-06FE-5E19-46792A9CCEFB}"/>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0055EF31-6AE1-DC90-DAC4-57B1173D732F}"/>
              </a:ext>
            </a:extLst>
          </p:cNvPr>
          <p:cNvSpPr txBox="1"/>
          <p:nvPr/>
        </p:nvSpPr>
        <p:spPr>
          <a:xfrm>
            <a:off x="4627362" y="8615870"/>
            <a:ext cx="168487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Raw Data</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 name="TextBox 5">
            <a:extLst>
              <a:ext uri="{FF2B5EF4-FFF2-40B4-BE49-F238E27FC236}">
                <a16:creationId xmlns:a16="http://schemas.microsoft.com/office/drawing/2014/main" id="{B1687C3B-B8AB-2CA2-2914-9A8BACA0E601}"/>
              </a:ext>
            </a:extLst>
          </p:cNvPr>
          <p:cNvSpPr txBox="1"/>
          <p:nvPr/>
        </p:nvSpPr>
        <p:spPr>
          <a:xfrm>
            <a:off x="4627908" y="8642329"/>
            <a:ext cx="1709825" cy="1448556"/>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7" name="TextBox 6">
            <a:extLst>
              <a:ext uri="{FF2B5EF4-FFF2-40B4-BE49-F238E27FC236}">
                <a16:creationId xmlns:a16="http://schemas.microsoft.com/office/drawing/2014/main" id="{0D9E9015-59A0-F4D3-4E9D-06634154A5E0}"/>
              </a:ext>
            </a:extLst>
          </p:cNvPr>
          <p:cNvSpPr txBox="1"/>
          <p:nvPr/>
        </p:nvSpPr>
        <p:spPr>
          <a:xfrm>
            <a:off x="4639455" y="2879162"/>
            <a:ext cx="4568786" cy="5400455"/>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err="1"/>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18" name="Picture 17">
            <a:extLst>
              <a:ext uri="{FF2B5EF4-FFF2-40B4-BE49-F238E27FC236}">
                <a16:creationId xmlns:a16="http://schemas.microsoft.com/office/drawing/2014/main" id="{2C0DFED8-5C94-8F58-41D5-CD1B7BE57575}"/>
              </a:ext>
            </a:extLst>
          </p:cNvPr>
          <p:cNvPicPr>
            <a:picLocks noChangeAspect="1"/>
          </p:cNvPicPr>
          <p:nvPr/>
        </p:nvPicPr>
        <p:blipFill>
          <a:blip r:embed="rId3"/>
          <a:stretch>
            <a:fillRect/>
          </a:stretch>
        </p:blipFill>
        <p:spPr>
          <a:xfrm>
            <a:off x="12794523" y="3878036"/>
            <a:ext cx="763378" cy="807934"/>
          </a:xfrm>
          <a:prstGeom prst="rect">
            <a:avLst/>
          </a:prstGeom>
        </p:spPr>
      </p:pic>
      <p:pic>
        <p:nvPicPr>
          <p:cNvPr id="292" name="Image" descr="Image">
            <a:extLst>
              <a:ext uri="{FF2B5EF4-FFF2-40B4-BE49-F238E27FC236}">
                <a16:creationId xmlns:a16="http://schemas.microsoft.com/office/drawing/2014/main" id="{1BB368D7-FE8B-400E-AA71-49699E1AA425}"/>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B4BAC7D2-CFD5-3326-77C4-B2EFB97482A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E0A1AA65-F77B-3050-95ED-CB7EC1F3562F}"/>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58DF0097-0644-82C0-6960-A39F3F2506DC}"/>
              </a:ext>
            </a:extLst>
          </p:cNvPr>
          <p:cNvSpPr/>
          <p:nvPr/>
        </p:nvSpPr>
        <p:spPr>
          <a:xfrm>
            <a:off x="220507" y="2610755"/>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09348189-8752-8606-01BB-965E9D42A9CC}"/>
              </a:ext>
            </a:extLst>
          </p:cNvPr>
          <p:cNvSpPr txBox="1"/>
          <p:nvPr/>
        </p:nvSpPr>
        <p:spPr>
          <a:xfrm>
            <a:off x="304155" y="2612235"/>
            <a:ext cx="276678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D47E0C06-E74E-2479-E721-4DB863EED600}"/>
              </a:ext>
            </a:extLst>
          </p:cNvPr>
          <p:cNvSpPr txBox="1"/>
          <p:nvPr/>
        </p:nvSpPr>
        <p:spPr>
          <a:xfrm>
            <a:off x="293295" y="2992442"/>
            <a:ext cx="4264736"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64F1BB90-579F-553E-23BB-38F8212BC9F4}"/>
              </a:ext>
            </a:extLst>
          </p:cNvPr>
          <p:cNvSpPr txBox="1"/>
          <p:nvPr/>
        </p:nvSpPr>
        <p:spPr>
          <a:xfrm>
            <a:off x="312386" y="3377157"/>
            <a:ext cx="4122651" cy="602800"/>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BB25448D-9216-87AF-E1C7-75385C2D5CA2}"/>
              </a:ext>
            </a:extLst>
          </p:cNvPr>
          <p:cNvSpPr txBox="1"/>
          <p:nvPr/>
        </p:nvSpPr>
        <p:spPr>
          <a:xfrm>
            <a:off x="279130" y="6752399"/>
            <a:ext cx="197810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01F5A499-1ED0-17FE-5C80-C8668AF329AA}"/>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40B74446-B8D8-8E74-E16B-95EB73AD635C}"/>
              </a:ext>
            </a:extLst>
          </p:cNvPr>
          <p:cNvSpPr txBox="1"/>
          <p:nvPr/>
        </p:nvSpPr>
        <p:spPr>
          <a:xfrm>
            <a:off x="4663440" y="1513595"/>
            <a:ext cx="209352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0AC976A6-2148-AE6F-7E94-CDD3CC992FB7}"/>
              </a:ext>
            </a:extLst>
          </p:cNvPr>
          <p:cNvSpPr txBox="1"/>
          <p:nvPr/>
        </p:nvSpPr>
        <p:spPr>
          <a:xfrm>
            <a:off x="257982" y="1536978"/>
            <a:ext cx="26212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EF0ADE39-18BD-DBF0-653F-371BD24C6D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B949C071-AE5C-B61A-D81F-39C001E860FE}"/>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AC91785E-7532-64C3-B221-D82BD701E8FE}"/>
              </a:ext>
            </a:extLst>
          </p:cNvPr>
          <p:cNvSpPr/>
          <p:nvPr/>
        </p:nvSpPr>
        <p:spPr>
          <a:xfrm>
            <a:off x="231610" y="5437298"/>
            <a:ext cx="4346831" cy="131837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02CA68BF-28BB-9CDF-B1B0-756E2CEBE938}"/>
              </a:ext>
            </a:extLst>
          </p:cNvPr>
          <p:cNvSpPr txBox="1"/>
          <p:nvPr/>
        </p:nvSpPr>
        <p:spPr>
          <a:xfrm>
            <a:off x="347617" y="5477756"/>
            <a:ext cx="254396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81319EA7-FC76-299F-C5B7-B2D1CDACEBB9}"/>
              </a:ext>
            </a:extLst>
          </p:cNvPr>
          <p:cNvSpPr txBox="1"/>
          <p:nvPr/>
        </p:nvSpPr>
        <p:spPr>
          <a:xfrm>
            <a:off x="347973" y="6055887"/>
            <a:ext cx="4105332" cy="583155"/>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depends: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0D780173-AB88-EF62-2F89-66A388DE8331}"/>
              </a:ext>
            </a:extLst>
          </p:cNvPr>
          <p:cNvPicPr>
            <a:picLocks noChangeAspect="1"/>
          </p:cNvPicPr>
          <p:nvPr/>
        </p:nvPicPr>
        <p:blipFill>
          <a:blip r:embed="rId7"/>
          <a:stretch>
            <a:fillRect/>
          </a:stretch>
        </p:blipFill>
        <p:spPr>
          <a:xfrm>
            <a:off x="11493731" y="514209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32E63C06-05FE-A506-0D22-B9FFE1DEF694}"/>
              </a:ext>
            </a:extLst>
          </p:cNvPr>
          <p:cNvSpPr txBox="1"/>
          <p:nvPr/>
        </p:nvSpPr>
        <p:spPr>
          <a:xfrm>
            <a:off x="328655" y="5789293"/>
            <a:ext cx="4369511" cy="26255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nchor="t">
            <a:spAutoFit/>
          </a:bodyPr>
          <a:lstStyle/>
          <a:p>
            <a:pPr>
              <a:lnSpc>
                <a:spcPct val="90000"/>
              </a:lnSpc>
              <a:buSzPts val="3700"/>
            </a:pPr>
            <a:r>
              <a:rPr lang="en-US" sz="1100">
                <a:cs typeface="Arial"/>
              </a:rPr>
              <a:t>The required external tools must be specified  in </a:t>
            </a:r>
            <a:r>
              <a:rPr lang="en-US" sz="1100" err="1">
                <a:cs typeface="Arial"/>
              </a:rPr>
              <a:t>tools.yml</a:t>
            </a:r>
            <a:r>
              <a:rPr lang="en-US" sz="1100">
                <a:cs typeface="Arial"/>
              </a:rPr>
              <a:t>:</a:t>
            </a:r>
            <a:endParaRPr lang="en-US" sz="1100" u="sng">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6F84EDE2-578D-780F-6A4A-C5FB1CB8E2EE}"/>
              </a:ext>
            </a:extLst>
          </p:cNvPr>
          <p:cNvPicPr>
            <a:picLocks noChangeAspect="1"/>
          </p:cNvPicPr>
          <p:nvPr/>
        </p:nvPicPr>
        <p:blipFill>
          <a:blip r:embed="rId8"/>
          <a:stretch>
            <a:fillRect/>
          </a:stretch>
        </p:blipFill>
        <p:spPr>
          <a:xfrm>
            <a:off x="11508735" y="2830303"/>
            <a:ext cx="546328" cy="546436"/>
          </a:xfrm>
          <a:prstGeom prst="rect">
            <a:avLst/>
          </a:prstGeom>
        </p:spPr>
      </p:pic>
      <p:pic>
        <p:nvPicPr>
          <p:cNvPr id="23" name="Picture 22">
            <a:extLst>
              <a:ext uri="{FF2B5EF4-FFF2-40B4-BE49-F238E27FC236}">
                <a16:creationId xmlns:a16="http://schemas.microsoft.com/office/drawing/2014/main" id="{0DF5E9E0-275F-EFEF-5F9D-0E484A0BAEE8}"/>
              </a:ext>
            </a:extLst>
          </p:cNvPr>
          <p:cNvPicPr>
            <a:picLocks noChangeAspect="1"/>
          </p:cNvPicPr>
          <p:nvPr/>
        </p:nvPicPr>
        <p:blipFill>
          <a:blip r:embed="rId9"/>
          <a:stretch>
            <a:fillRect/>
          </a:stretch>
        </p:blipFill>
        <p:spPr>
          <a:xfrm>
            <a:off x="9356434" y="4824190"/>
            <a:ext cx="544372" cy="486505"/>
          </a:xfrm>
          <a:prstGeom prst="rect">
            <a:avLst/>
          </a:prstGeom>
        </p:spPr>
      </p:pic>
      <p:pic>
        <p:nvPicPr>
          <p:cNvPr id="24" name="Picture 23">
            <a:extLst>
              <a:ext uri="{FF2B5EF4-FFF2-40B4-BE49-F238E27FC236}">
                <a16:creationId xmlns:a16="http://schemas.microsoft.com/office/drawing/2014/main" id="{EDA14B45-84FF-C5B0-3E6B-5E3A368AFE55}"/>
              </a:ext>
            </a:extLst>
          </p:cNvPr>
          <p:cNvPicPr>
            <a:picLocks noChangeAspect="1"/>
          </p:cNvPicPr>
          <p:nvPr/>
        </p:nvPicPr>
        <p:blipFill>
          <a:blip r:embed="rId10"/>
          <a:stretch>
            <a:fillRect/>
          </a:stretch>
        </p:blipFill>
        <p:spPr>
          <a:xfrm>
            <a:off x="9501139" y="4199550"/>
            <a:ext cx="742783" cy="609600"/>
          </a:xfrm>
          <a:prstGeom prst="rect">
            <a:avLst/>
          </a:prstGeom>
        </p:spPr>
      </p:pic>
      <p:pic>
        <p:nvPicPr>
          <p:cNvPr id="25" name="Picture 24">
            <a:extLst>
              <a:ext uri="{FF2B5EF4-FFF2-40B4-BE49-F238E27FC236}">
                <a16:creationId xmlns:a16="http://schemas.microsoft.com/office/drawing/2014/main" id="{66EC1100-CE49-0D22-5CE4-900C3B4C402C}"/>
              </a:ext>
            </a:extLst>
          </p:cNvPr>
          <p:cNvPicPr>
            <a:picLocks noChangeAspect="1"/>
          </p:cNvPicPr>
          <p:nvPr/>
        </p:nvPicPr>
        <p:blipFill>
          <a:blip r:embed="rId11"/>
          <a:stretch>
            <a:fillRect/>
          </a:stretch>
        </p:blipFill>
        <p:spPr>
          <a:xfrm>
            <a:off x="11979534" y="3316782"/>
            <a:ext cx="372044" cy="354363"/>
          </a:xfrm>
          <a:prstGeom prst="rect">
            <a:avLst/>
          </a:prstGeom>
        </p:spPr>
      </p:pic>
      <p:pic>
        <p:nvPicPr>
          <p:cNvPr id="26" name="Picture 25">
            <a:extLst>
              <a:ext uri="{FF2B5EF4-FFF2-40B4-BE49-F238E27FC236}">
                <a16:creationId xmlns:a16="http://schemas.microsoft.com/office/drawing/2014/main" id="{115F2237-D930-4DD2-D58B-E89596EB151E}"/>
              </a:ext>
            </a:extLst>
          </p:cNvPr>
          <p:cNvPicPr>
            <a:picLocks noChangeAspect="1"/>
          </p:cNvPicPr>
          <p:nvPr/>
        </p:nvPicPr>
        <p:blipFill>
          <a:blip r:embed="rId3"/>
          <a:stretch>
            <a:fillRect/>
          </a:stretch>
        </p:blipFill>
        <p:spPr>
          <a:xfrm>
            <a:off x="11434677" y="3851463"/>
            <a:ext cx="745627" cy="790179"/>
          </a:xfrm>
          <a:prstGeom prst="rect">
            <a:avLst/>
          </a:prstGeom>
        </p:spPr>
      </p:pic>
      <p:pic>
        <p:nvPicPr>
          <p:cNvPr id="38" name="Picture 37">
            <a:extLst>
              <a:ext uri="{FF2B5EF4-FFF2-40B4-BE49-F238E27FC236}">
                <a16:creationId xmlns:a16="http://schemas.microsoft.com/office/drawing/2014/main" id="{649A2307-8027-B297-7782-EEF5692C984C}"/>
              </a:ext>
            </a:extLst>
          </p:cNvPr>
          <p:cNvPicPr>
            <a:picLocks noChangeAspect="1"/>
          </p:cNvPicPr>
          <p:nvPr/>
        </p:nvPicPr>
        <p:blipFill>
          <a:blip r:embed="rId10"/>
          <a:stretch>
            <a:fillRect/>
          </a:stretch>
        </p:blipFill>
        <p:spPr>
          <a:xfrm rot="10800000">
            <a:off x="9871734" y="4516424"/>
            <a:ext cx="742783" cy="609600"/>
          </a:xfrm>
          <a:prstGeom prst="rect">
            <a:avLst/>
          </a:prstGeom>
        </p:spPr>
      </p:pic>
      <p:pic>
        <p:nvPicPr>
          <p:cNvPr id="39" name="Picture 38">
            <a:extLst>
              <a:ext uri="{FF2B5EF4-FFF2-40B4-BE49-F238E27FC236}">
                <a16:creationId xmlns:a16="http://schemas.microsoft.com/office/drawing/2014/main" id="{011A70F8-4CCE-9FDF-DEC3-F3ED13C1B137}"/>
              </a:ext>
            </a:extLst>
          </p:cNvPr>
          <p:cNvPicPr>
            <a:picLocks noChangeAspect="1"/>
          </p:cNvPicPr>
          <p:nvPr/>
        </p:nvPicPr>
        <p:blipFill>
          <a:blip r:embed="rId12"/>
          <a:stretch>
            <a:fillRect/>
          </a:stretch>
        </p:blipFill>
        <p:spPr>
          <a:xfrm>
            <a:off x="10850293" y="4199356"/>
            <a:ext cx="560207" cy="171450"/>
          </a:xfrm>
          <a:prstGeom prst="rect">
            <a:avLst/>
          </a:prstGeom>
        </p:spPr>
      </p:pic>
      <p:pic>
        <p:nvPicPr>
          <p:cNvPr id="40" name="Picture 39">
            <a:extLst>
              <a:ext uri="{FF2B5EF4-FFF2-40B4-BE49-F238E27FC236}">
                <a16:creationId xmlns:a16="http://schemas.microsoft.com/office/drawing/2014/main" id="{8BA4AF73-EDD0-5FAD-8CC9-55F061FCA787}"/>
              </a:ext>
            </a:extLst>
          </p:cNvPr>
          <p:cNvPicPr>
            <a:picLocks noChangeAspect="1"/>
          </p:cNvPicPr>
          <p:nvPr/>
        </p:nvPicPr>
        <p:blipFill>
          <a:blip r:embed="rId12"/>
          <a:stretch>
            <a:fillRect/>
          </a:stretch>
        </p:blipFill>
        <p:spPr>
          <a:xfrm rot="10800000">
            <a:off x="12215975" y="4202499"/>
            <a:ext cx="571524" cy="171450"/>
          </a:xfrm>
          <a:prstGeom prst="rect">
            <a:avLst/>
          </a:prstGeom>
        </p:spPr>
      </p:pic>
      <p:pic>
        <p:nvPicPr>
          <p:cNvPr id="41" name="Picture 40">
            <a:extLst>
              <a:ext uri="{FF2B5EF4-FFF2-40B4-BE49-F238E27FC236}">
                <a16:creationId xmlns:a16="http://schemas.microsoft.com/office/drawing/2014/main" id="{2F12EFB6-7443-245A-CE66-7E164180D8AD}"/>
              </a:ext>
            </a:extLst>
          </p:cNvPr>
          <p:cNvPicPr>
            <a:picLocks noChangeAspect="1"/>
          </p:cNvPicPr>
          <p:nvPr/>
        </p:nvPicPr>
        <p:blipFill>
          <a:blip r:embed="rId12"/>
          <a:stretch>
            <a:fillRect/>
          </a:stretch>
        </p:blipFill>
        <p:spPr>
          <a:xfrm rot="5400000">
            <a:off x="11493529" y="3557853"/>
            <a:ext cx="571524" cy="171450"/>
          </a:xfrm>
          <a:prstGeom prst="rect">
            <a:avLst/>
          </a:prstGeom>
        </p:spPr>
      </p:pic>
      <p:sp>
        <p:nvSpPr>
          <p:cNvPr id="42" name="TextBox 41">
            <a:extLst>
              <a:ext uri="{FF2B5EF4-FFF2-40B4-BE49-F238E27FC236}">
                <a16:creationId xmlns:a16="http://schemas.microsoft.com/office/drawing/2014/main" id="{63C424DE-FF67-10D8-967D-E2F442DB2CC1}"/>
              </a:ext>
            </a:extLst>
          </p:cNvPr>
          <p:cNvSpPr txBox="1"/>
          <p:nvPr/>
        </p:nvSpPr>
        <p:spPr>
          <a:xfrm>
            <a:off x="9644697" y="436814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6" name="TextBox 45">
            <a:extLst>
              <a:ext uri="{FF2B5EF4-FFF2-40B4-BE49-F238E27FC236}">
                <a16:creationId xmlns:a16="http://schemas.microsoft.com/office/drawing/2014/main" id="{14929EB6-2610-EEE9-A55D-40F52444572B}"/>
              </a:ext>
            </a:extLst>
          </p:cNvPr>
          <p:cNvSpPr txBox="1"/>
          <p:nvPr/>
        </p:nvSpPr>
        <p:spPr>
          <a:xfrm>
            <a:off x="11552214" y="4089836"/>
            <a:ext cx="75828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7F9810D6-7921-83D2-7790-EF02E150BA2D}"/>
              </a:ext>
            </a:extLst>
          </p:cNvPr>
          <p:cNvSpPr txBox="1"/>
          <p:nvPr/>
        </p:nvSpPr>
        <p:spPr>
          <a:xfrm>
            <a:off x="12936496" y="4114625"/>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6F3F6F93-70D7-ACF8-08B9-06CF70DD0C3D}"/>
              </a:ext>
            </a:extLst>
          </p:cNvPr>
          <p:cNvPicPr>
            <a:picLocks noChangeAspect="1"/>
          </p:cNvPicPr>
          <p:nvPr/>
        </p:nvPicPr>
        <p:blipFill>
          <a:blip r:embed="rId12"/>
          <a:stretch>
            <a:fillRect/>
          </a:stretch>
        </p:blipFill>
        <p:spPr>
          <a:xfrm rot="5400000">
            <a:off x="11499053" y="4731120"/>
            <a:ext cx="571524" cy="171450"/>
          </a:xfrm>
          <a:prstGeom prst="rect">
            <a:avLst/>
          </a:prstGeom>
        </p:spPr>
      </p:pic>
      <p:sp>
        <p:nvSpPr>
          <p:cNvPr id="51" name="TextBox 50">
            <a:extLst>
              <a:ext uri="{FF2B5EF4-FFF2-40B4-BE49-F238E27FC236}">
                <a16:creationId xmlns:a16="http://schemas.microsoft.com/office/drawing/2014/main" id="{BA64B646-ECA9-6AF0-0071-63B533007E12}"/>
              </a:ext>
            </a:extLst>
          </p:cNvPr>
          <p:cNvSpPr txBox="1"/>
          <p:nvPr/>
        </p:nvSpPr>
        <p:spPr>
          <a:xfrm>
            <a:off x="10250279" y="4126532"/>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EE5B0743-DD4B-7232-8110-A9A50856A5FD}"/>
              </a:ext>
            </a:extLst>
          </p:cNvPr>
          <p:cNvSpPr txBox="1"/>
          <p:nvPr/>
        </p:nvSpPr>
        <p:spPr>
          <a:xfrm>
            <a:off x="12309653" y="331924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5B77C539-089C-34F4-0D24-B040779A9B9D}"/>
              </a:ext>
            </a:extLst>
          </p:cNvPr>
          <p:cNvSpPr txBox="1"/>
          <p:nvPr/>
        </p:nvSpPr>
        <p:spPr>
          <a:xfrm>
            <a:off x="11358491" y="5765023"/>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1E43B944-3AF9-343F-7706-342473A1AEC2}"/>
              </a:ext>
            </a:extLst>
          </p:cNvPr>
          <p:cNvSpPr txBox="1"/>
          <p:nvPr/>
        </p:nvSpPr>
        <p:spPr>
          <a:xfrm>
            <a:off x="9407214" y="1541377"/>
            <a:ext cx="29254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12" name="TextBox 11">
            <a:extLst>
              <a:ext uri="{FF2B5EF4-FFF2-40B4-BE49-F238E27FC236}">
                <a16:creationId xmlns:a16="http://schemas.microsoft.com/office/drawing/2014/main" id="{310ED289-91B4-70C6-01A6-78A515952AF6}"/>
              </a:ext>
            </a:extLst>
          </p:cNvPr>
          <p:cNvSpPr txBox="1"/>
          <p:nvPr/>
        </p:nvSpPr>
        <p:spPr>
          <a:xfrm>
            <a:off x="4800747" y="3594554"/>
            <a:ext cx="2528350" cy="2085403"/>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9ABC6CCD-9E7F-4A60-715E-D36A9A584FA7}"/>
              </a:ext>
            </a:extLst>
          </p:cNvPr>
          <p:cNvSpPr txBox="1"/>
          <p:nvPr/>
        </p:nvSpPr>
        <p:spPr>
          <a:xfrm>
            <a:off x="4794838" y="3586619"/>
            <a:ext cx="1272179"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a:t>
            </a:r>
            <a:r>
              <a:rPr lang="en-US" sz="1800" err="1"/>
              <a:t>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F9620960-18E9-C8D4-7B9A-BE8EEE14FD60}"/>
              </a:ext>
            </a:extLst>
          </p:cNvPr>
          <p:cNvSpPr txBox="1"/>
          <p:nvPr/>
        </p:nvSpPr>
        <p:spPr>
          <a:xfrm>
            <a:off x="7050904" y="6736102"/>
            <a:ext cx="1532391"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82EAEE65-7402-CD21-31B6-8B365F3004CB}"/>
              </a:ext>
            </a:extLst>
          </p:cNvPr>
          <p:cNvSpPr txBox="1"/>
          <p:nvPr/>
        </p:nvSpPr>
        <p:spPr>
          <a:xfrm>
            <a:off x="7083653" y="7915481"/>
            <a:ext cx="1755156"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r>
              <a:rPr lang="en-US" err="1"/>
              <a:t>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BDE7B3A4-8701-3AFC-4910-91841D9A6B82}"/>
              </a:ext>
            </a:extLst>
          </p:cNvPr>
          <p:cNvSpPr txBox="1"/>
          <p:nvPr/>
        </p:nvSpPr>
        <p:spPr>
          <a:xfrm>
            <a:off x="7060617" y="7323108"/>
            <a:ext cx="1988540"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sentiment_classifier</a:t>
            </a:r>
            <a:endParaRPr lang="en-US"/>
          </a:p>
        </p:txBody>
      </p:sp>
      <p:sp>
        <p:nvSpPr>
          <p:cNvPr id="270" name="TextBox 269">
            <a:extLst>
              <a:ext uri="{FF2B5EF4-FFF2-40B4-BE49-F238E27FC236}">
                <a16:creationId xmlns:a16="http://schemas.microsoft.com/office/drawing/2014/main" id="{AA453C4F-AB5B-E11C-4335-97E35FE68BF0}"/>
              </a:ext>
            </a:extLst>
          </p:cNvPr>
          <p:cNvSpPr txBox="1"/>
          <p:nvPr/>
        </p:nvSpPr>
        <p:spPr>
          <a:xfrm>
            <a:off x="7085997" y="8817824"/>
            <a:ext cx="1987038" cy="54358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1B47AAF9-CE5A-9562-B861-01AE6A516FC6}"/>
              </a:ext>
            </a:extLst>
          </p:cNvPr>
          <p:cNvSpPr txBox="1"/>
          <p:nvPr/>
        </p:nvSpPr>
        <p:spPr>
          <a:xfrm>
            <a:off x="7198177" y="8935615"/>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E73C5928-3DEB-CB3A-12D0-4AE5B80FB583}"/>
              </a:ext>
            </a:extLst>
          </p:cNvPr>
          <p:cNvSpPr txBox="1"/>
          <p:nvPr/>
        </p:nvSpPr>
        <p:spPr>
          <a:xfrm>
            <a:off x="222484" y="1795540"/>
            <a:ext cx="4352283" cy="7076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a:t>
            </a:r>
            <a:r>
              <a:rPr lang="en-US" b="0" err="1">
                <a:cs typeface="Helvetica"/>
              </a:rPr>
              <a:t>Kaiaulu's</a:t>
            </a:r>
            <a:r>
              <a:rPr lang="en-US" b="0">
                <a:cs typeface="Helvetica"/>
              </a:rPr>
              <a:t> functions through a command line interface. This allows </a:t>
            </a:r>
            <a:r>
              <a:rPr lang="en-US" b="0" err="1">
                <a:cs typeface="Helvetica"/>
              </a:rPr>
              <a:t>server side</a:t>
            </a:r>
            <a:r>
              <a:rPr lang="en-US" b="0">
                <a:cs typeface="Helvetica"/>
              </a:rPr>
              <a:t> execution and use of </a:t>
            </a:r>
            <a:r>
              <a:rPr lang="en-US" b="0" err="1">
                <a:cs typeface="Helvetica"/>
              </a:rPr>
              <a:t>Kaiaulu</a:t>
            </a:r>
            <a:r>
              <a:rPr lang="en-US" b="0">
                <a:cs typeface="Helvetica"/>
              </a:rPr>
              <a:t> capabilities without knowledge of R.</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AC20B854-2597-3483-E6A3-159CC6C28CE9}"/>
              </a:ext>
            </a:extLst>
          </p:cNvPr>
          <p:cNvSpPr txBox="1"/>
          <p:nvPr/>
        </p:nvSpPr>
        <p:spPr>
          <a:xfrm>
            <a:off x="9348325" y="182162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88E6BB43-BD0D-E9F5-B4BC-D9F3AF165C6C}"/>
              </a:ext>
            </a:extLst>
          </p:cNvPr>
          <p:cNvSpPr txBox="1"/>
          <p:nvPr/>
        </p:nvSpPr>
        <p:spPr>
          <a:xfrm>
            <a:off x="4614906" y="1820519"/>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Sailuh</a:t>
            </a:r>
            <a:r>
              <a:rPr lang="en-US" b="0">
                <a:cs typeface="Helvetica"/>
              </a:rPr>
              <a:t> tools such as </a:t>
            </a:r>
            <a:r>
              <a:rPr lang="en-US" b="0" err="1">
                <a:cs typeface="Helvetica"/>
              </a:rPr>
              <a:t>pykumu</a:t>
            </a:r>
            <a:r>
              <a:rPr lang="en-US" b="0">
                <a:cs typeface="Helvetica"/>
              </a:rPr>
              <a:t> rely on </a:t>
            </a:r>
            <a:r>
              <a:rPr lang="en-US" b="0" err="1">
                <a:cs typeface="Helvetica"/>
              </a:rPr>
              <a:t>kaiaulu</a:t>
            </a:r>
            <a:r>
              <a:rPr lang="en-US" b="0">
                <a:cs typeface="Helvetica"/>
              </a:rPr>
              <a:t> executables to download and refresh data. </a:t>
            </a:r>
            <a:r>
              <a:rPr lang="en-US" b="0" err="1">
                <a:cs typeface="Helvetica"/>
              </a:rPr>
              <a:t>Kaiaulu</a:t>
            </a:r>
            <a:r>
              <a:rPr lang="en-US" b="0">
                <a:cs typeface="Helvetica"/>
              </a:rPr>
              <a:t> executable are also made to provide </a:t>
            </a:r>
            <a:r>
              <a:rPr lang="en-US" b="0" err="1">
                <a:cs typeface="Helvetica"/>
              </a:rPr>
              <a:t>kaiaulu's</a:t>
            </a:r>
            <a:r>
              <a:rPr lang="en-US" b="0">
                <a:cs typeface="Helvetica"/>
              </a:rPr>
              <a:t> functions to users, tools, and projects outside of the </a:t>
            </a:r>
            <a:r>
              <a:rPr lang="en-US" b="0" err="1">
                <a:cs typeface="Helvetica"/>
              </a:rPr>
              <a:t>sailuh</a:t>
            </a:r>
            <a:r>
              <a:rPr lang="en-US" b="0">
                <a:cs typeface="Helvetica"/>
              </a:rPr>
              <a:t> ecosystem.</a:t>
            </a:r>
          </a:p>
        </p:txBody>
      </p:sp>
      <p:pic>
        <p:nvPicPr>
          <p:cNvPr id="282" name="Picture 281">
            <a:extLst>
              <a:ext uri="{FF2B5EF4-FFF2-40B4-BE49-F238E27FC236}">
                <a16:creationId xmlns:a16="http://schemas.microsoft.com/office/drawing/2014/main" id="{5E52077D-B82B-382F-E43A-5AA90CB4F4FD}"/>
              </a:ext>
            </a:extLst>
          </p:cNvPr>
          <p:cNvPicPr>
            <a:picLocks noChangeAspect="1"/>
          </p:cNvPicPr>
          <p:nvPr/>
        </p:nvPicPr>
        <p:blipFill>
          <a:blip r:embed="rId3"/>
          <a:stretch>
            <a:fillRect/>
          </a:stretch>
        </p:blipFill>
        <p:spPr>
          <a:xfrm>
            <a:off x="5694415" y="4927582"/>
            <a:ext cx="901977" cy="861758"/>
          </a:xfrm>
          <a:prstGeom prst="rect">
            <a:avLst/>
          </a:prstGeom>
        </p:spPr>
      </p:pic>
      <p:sp>
        <p:nvSpPr>
          <p:cNvPr id="283" name="TextBox 282">
            <a:extLst>
              <a:ext uri="{FF2B5EF4-FFF2-40B4-BE49-F238E27FC236}">
                <a16:creationId xmlns:a16="http://schemas.microsoft.com/office/drawing/2014/main" id="{C688E4C1-1E44-6856-BA52-304D854B5DBB}"/>
              </a:ext>
            </a:extLst>
          </p:cNvPr>
          <p:cNvSpPr txBox="1"/>
          <p:nvPr/>
        </p:nvSpPr>
        <p:spPr>
          <a:xfrm>
            <a:off x="5874193" y="5213828"/>
            <a:ext cx="87989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/exec</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98" name="TextBox 297">
            <a:extLst>
              <a:ext uri="{FF2B5EF4-FFF2-40B4-BE49-F238E27FC236}">
                <a16:creationId xmlns:a16="http://schemas.microsoft.com/office/drawing/2014/main" id="{B5376064-8A35-8CB9-56F9-7AAA00E84ECE}"/>
              </a:ext>
            </a:extLst>
          </p:cNvPr>
          <p:cNvSpPr txBox="1"/>
          <p:nvPr/>
        </p:nvSpPr>
        <p:spPr>
          <a:xfrm>
            <a:off x="274081" y="6955405"/>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err="1">
                <a:solidFill>
                  <a:srgbClr val="000000"/>
                </a:solidFill>
              </a:rPr>
              <a:t>Kaiaulu</a:t>
            </a:r>
            <a:r>
              <a:rPr lang="en-US" b="0">
                <a:solidFill>
                  <a:srgbClr val="000000"/>
                </a:solidFill>
              </a:rPr>
              <a:t>.</a:t>
            </a: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971AD405-236D-1A64-451F-96A67BA2F494}"/>
              </a:ext>
            </a:extLst>
          </p:cNvPr>
          <p:cNvSpPr/>
          <p:nvPr/>
        </p:nvSpPr>
        <p:spPr>
          <a:xfrm>
            <a:off x="220611" y="4066083"/>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6D1692E5-17C1-CC4A-A70A-93E6484B3C96}"/>
              </a:ext>
            </a:extLst>
          </p:cNvPr>
          <p:cNvSpPr txBox="1"/>
          <p:nvPr/>
        </p:nvSpPr>
        <p:spPr>
          <a:xfrm>
            <a:off x="322463" y="4123400"/>
            <a:ext cx="20182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B37752B5-4426-68C3-B6F5-D7C45D6B5324}"/>
              </a:ext>
            </a:extLst>
          </p:cNvPr>
          <p:cNvSpPr txBox="1"/>
          <p:nvPr/>
        </p:nvSpPr>
        <p:spPr>
          <a:xfrm>
            <a:off x="265065" y="4503604"/>
            <a:ext cx="4357808"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2CDF10E5-6FFC-0FA4-2674-BB06304074F0}"/>
              </a:ext>
            </a:extLst>
          </p:cNvPr>
          <p:cNvSpPr txBox="1"/>
          <p:nvPr/>
        </p:nvSpPr>
        <p:spPr>
          <a:xfrm>
            <a:off x="310787" y="4703953"/>
            <a:ext cx="4216585" cy="637024"/>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16" name="Line">
            <a:extLst>
              <a:ext uri="{FF2B5EF4-FFF2-40B4-BE49-F238E27FC236}">
                <a16:creationId xmlns:a16="http://schemas.microsoft.com/office/drawing/2014/main" id="{2680D2E9-3BB9-ACA8-C150-2BB1BFB1C0CA}"/>
              </a:ext>
            </a:extLst>
          </p:cNvPr>
          <p:cNvSpPr/>
          <p:nvPr/>
        </p:nvSpPr>
        <p:spPr>
          <a:xfrm>
            <a:off x="9532872" y="6414880"/>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TextBox 2">
            <a:extLst>
              <a:ext uri="{FF2B5EF4-FFF2-40B4-BE49-F238E27FC236}">
                <a16:creationId xmlns:a16="http://schemas.microsoft.com/office/drawing/2014/main" id="{73C7920E-926F-90F7-2A9F-3DFB5728F3FF}"/>
              </a:ext>
            </a:extLst>
          </p:cNvPr>
          <p:cNvSpPr txBox="1"/>
          <p:nvPr/>
        </p:nvSpPr>
        <p:spPr>
          <a:xfrm>
            <a:off x="7056850" y="6176328"/>
            <a:ext cx="1289180" cy="32052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a:t>
            </a:r>
            <a:r>
              <a:rPr lang="en-US" err="1"/>
              <a:t>pykumu</a:t>
            </a:r>
            <a:endParaRPr lang="en-US"/>
          </a:p>
        </p:txBody>
      </p:sp>
      <p:sp>
        <p:nvSpPr>
          <p:cNvPr id="21" name="Layout Suggestions">
            <a:extLst>
              <a:ext uri="{FF2B5EF4-FFF2-40B4-BE49-F238E27FC236}">
                <a16:creationId xmlns:a16="http://schemas.microsoft.com/office/drawing/2014/main" id="{1997DC1E-20D1-09D1-B3BA-D8E048F9C970}"/>
              </a:ext>
            </a:extLst>
          </p:cNvPr>
          <p:cNvSpPr txBox="1"/>
          <p:nvPr/>
        </p:nvSpPr>
        <p:spPr>
          <a:xfrm>
            <a:off x="9472206" y="6549348"/>
            <a:ext cx="344477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 </a:t>
            </a:r>
          </a:p>
        </p:txBody>
      </p:sp>
      <p:sp>
        <p:nvSpPr>
          <p:cNvPr id="22" name="TextBox 21">
            <a:extLst>
              <a:ext uri="{FF2B5EF4-FFF2-40B4-BE49-F238E27FC236}">
                <a16:creationId xmlns:a16="http://schemas.microsoft.com/office/drawing/2014/main" id="{0B022F30-BD4E-EF77-5A21-64BFF3FB97B0}"/>
              </a:ext>
            </a:extLst>
          </p:cNvPr>
          <p:cNvSpPr txBox="1"/>
          <p:nvPr/>
        </p:nvSpPr>
        <p:spPr>
          <a:xfrm>
            <a:off x="9466091" y="6771989"/>
            <a:ext cx="417477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Kaiaulu</a:t>
            </a:r>
            <a:r>
              <a:rPr lang="en-US" b="0">
                <a:cs typeface="Helvetica"/>
              </a:rPr>
              <a:t> executables provide data from sources such as </a:t>
            </a:r>
            <a:r>
              <a:rPr lang="en-US" b="0">
                <a:solidFill>
                  <a:schemeClr val="accent1"/>
                </a:solidFill>
                <a:cs typeface="Helvetica"/>
              </a:rPr>
              <a:t>mailing lists</a:t>
            </a:r>
            <a:r>
              <a:rPr lang="en-US" b="0">
                <a:solidFill>
                  <a:schemeClr val="tx1"/>
                </a:solidFill>
                <a:cs typeface="Helvetica"/>
              </a:rPr>
              <a:t>, </a:t>
            </a:r>
            <a:r>
              <a:rPr lang="en-US" b="0">
                <a:solidFill>
                  <a:schemeClr val="accent2"/>
                </a:solidFill>
                <a:cs typeface="Helvetica"/>
              </a:rPr>
              <a:t>Jira issues</a:t>
            </a:r>
            <a:r>
              <a:rPr lang="en-US" b="0">
                <a:solidFill>
                  <a:schemeClr val="tx1"/>
                </a:solidFill>
                <a:cs typeface="Helvetica"/>
              </a:rPr>
              <a:t>, and </a:t>
            </a:r>
            <a:r>
              <a:rPr lang="en-US" b="0">
                <a:solidFill>
                  <a:schemeClr val="accent5"/>
                </a:solidFill>
                <a:cs typeface="Helvetica"/>
              </a:rPr>
              <a:t>GitHub issues</a:t>
            </a:r>
            <a:r>
              <a:rPr lang="en-US" b="0">
                <a:solidFill>
                  <a:schemeClr val="tx1"/>
                </a:solidFill>
                <a:cs typeface="Helvetica"/>
              </a:rPr>
              <a:t>. </a:t>
            </a:r>
            <a:r>
              <a:rPr lang="en-US" b="0" err="1">
                <a:solidFill>
                  <a:schemeClr val="tx1"/>
                </a:solidFill>
                <a:cs typeface="Helvetica"/>
              </a:rPr>
              <a:t>Kaiaulu's</a:t>
            </a:r>
            <a:r>
              <a:rPr lang="en-US" b="0">
                <a:solidFill>
                  <a:schemeClr val="tx1"/>
                </a:solidFill>
                <a:cs typeface="Helvetica"/>
              </a:rPr>
              <a:t> functions in </a:t>
            </a:r>
            <a:r>
              <a:rPr lang="en-US" b="0" err="1">
                <a:solidFill>
                  <a:schemeClr val="tx1"/>
                </a:solidFill>
                <a:cs typeface="Helvetica"/>
              </a:rPr>
              <a:t>Kaiaulu</a:t>
            </a:r>
            <a:r>
              <a:rPr lang="en-US" b="0">
                <a:solidFill>
                  <a:schemeClr val="tx1"/>
                </a:solidFill>
                <a:cs typeface="Helvetica"/>
              </a:rPr>
              <a:t>/R parse, analyze, and filter raw data from these sources and output them in usable forms such as csv's</a:t>
            </a:r>
            <a:endParaRPr lang="en-US">
              <a:solidFill>
                <a:schemeClr val="tx1"/>
              </a:solidFill>
            </a:endParaRPr>
          </a:p>
        </p:txBody>
      </p:sp>
      <p:pic>
        <p:nvPicPr>
          <p:cNvPr id="60" name="Picture 59" descr="A close-up of a letter&#10;&#10;AI-generated content may be incorrect.">
            <a:extLst>
              <a:ext uri="{FF2B5EF4-FFF2-40B4-BE49-F238E27FC236}">
                <a16:creationId xmlns:a16="http://schemas.microsoft.com/office/drawing/2014/main" id="{E166E070-BC08-48BC-B6DD-6809A3699AE6}"/>
              </a:ext>
            </a:extLst>
          </p:cNvPr>
          <p:cNvPicPr>
            <a:picLocks noChangeAspect="1"/>
          </p:cNvPicPr>
          <p:nvPr/>
        </p:nvPicPr>
        <p:blipFill>
          <a:blip r:embed="rId13"/>
          <a:stretch>
            <a:fillRect/>
          </a:stretch>
        </p:blipFill>
        <p:spPr>
          <a:xfrm>
            <a:off x="4824093" y="9573265"/>
            <a:ext cx="396915" cy="386557"/>
          </a:xfrm>
          <a:prstGeom prst="rect">
            <a:avLst/>
          </a:prstGeom>
          <a:ln w="28575">
            <a:solidFill>
              <a:schemeClr val="accent1"/>
            </a:solidFill>
          </a:ln>
        </p:spPr>
      </p:pic>
      <p:pic>
        <p:nvPicPr>
          <p:cNvPr id="61" name="Picture 60">
            <a:extLst>
              <a:ext uri="{FF2B5EF4-FFF2-40B4-BE49-F238E27FC236}">
                <a16:creationId xmlns:a16="http://schemas.microsoft.com/office/drawing/2014/main" id="{52E1BDEA-6B93-DA2F-4C61-EA3E25729809}"/>
              </a:ext>
            </a:extLst>
          </p:cNvPr>
          <p:cNvPicPr>
            <a:picLocks noChangeAspect="1"/>
          </p:cNvPicPr>
          <p:nvPr/>
        </p:nvPicPr>
        <p:blipFill>
          <a:blip r:embed="rId3"/>
          <a:stretch>
            <a:fillRect/>
          </a:stretch>
        </p:blipFill>
        <p:spPr>
          <a:xfrm>
            <a:off x="4937765" y="3884249"/>
            <a:ext cx="847413" cy="780787"/>
          </a:xfrm>
          <a:prstGeom prst="rect">
            <a:avLst/>
          </a:prstGeom>
        </p:spPr>
      </p:pic>
      <p:pic>
        <p:nvPicPr>
          <p:cNvPr id="62" name="Picture 61">
            <a:extLst>
              <a:ext uri="{FF2B5EF4-FFF2-40B4-BE49-F238E27FC236}">
                <a16:creationId xmlns:a16="http://schemas.microsoft.com/office/drawing/2014/main" id="{0E69BC92-1F70-82E7-10C2-2665BBB83D80}"/>
              </a:ext>
            </a:extLst>
          </p:cNvPr>
          <p:cNvPicPr>
            <a:picLocks noChangeAspect="1"/>
          </p:cNvPicPr>
          <p:nvPr/>
        </p:nvPicPr>
        <p:blipFill>
          <a:blip r:embed="rId3"/>
          <a:stretch>
            <a:fillRect/>
          </a:stretch>
        </p:blipFill>
        <p:spPr>
          <a:xfrm>
            <a:off x="6478052" y="3850860"/>
            <a:ext cx="863955" cy="815085"/>
          </a:xfrm>
          <a:prstGeom prst="rect">
            <a:avLst/>
          </a:prstGeom>
        </p:spPr>
      </p:pic>
      <p:sp>
        <p:nvSpPr>
          <p:cNvPr id="63" name="TextBox 62">
            <a:extLst>
              <a:ext uri="{FF2B5EF4-FFF2-40B4-BE49-F238E27FC236}">
                <a16:creationId xmlns:a16="http://schemas.microsoft.com/office/drawing/2014/main" id="{771BA6EC-6B78-DB29-7664-6DB48D64DE06}"/>
              </a:ext>
            </a:extLst>
          </p:cNvPr>
          <p:cNvSpPr txBox="1"/>
          <p:nvPr/>
        </p:nvSpPr>
        <p:spPr>
          <a:xfrm>
            <a:off x="6716662" y="4148040"/>
            <a:ext cx="1098210"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/R</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56" name="TextBox 255">
            <a:extLst>
              <a:ext uri="{FF2B5EF4-FFF2-40B4-BE49-F238E27FC236}">
                <a16:creationId xmlns:a16="http://schemas.microsoft.com/office/drawing/2014/main" id="{9D838D44-66B4-0946-D73B-E276229A20B5}"/>
              </a:ext>
            </a:extLst>
          </p:cNvPr>
          <p:cNvSpPr txBox="1"/>
          <p:nvPr/>
        </p:nvSpPr>
        <p:spPr>
          <a:xfrm>
            <a:off x="5127640" y="4141026"/>
            <a:ext cx="131392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27" name="Picture 26">
            <a:extLst>
              <a:ext uri="{FF2B5EF4-FFF2-40B4-BE49-F238E27FC236}">
                <a16:creationId xmlns:a16="http://schemas.microsoft.com/office/drawing/2014/main" id="{54E052E0-EB27-514B-E666-1681C86EAA9A}"/>
              </a:ext>
            </a:extLst>
          </p:cNvPr>
          <p:cNvPicPr>
            <a:picLocks noChangeAspect="1"/>
          </p:cNvPicPr>
          <p:nvPr/>
        </p:nvPicPr>
        <p:blipFill>
          <a:blip r:embed="rId14"/>
          <a:stretch>
            <a:fillRect/>
          </a:stretch>
        </p:blipFill>
        <p:spPr>
          <a:xfrm>
            <a:off x="5708323" y="4921801"/>
            <a:ext cx="914258" cy="905585"/>
          </a:xfrm>
          <a:prstGeom prst="rect">
            <a:avLst/>
          </a:prstGeom>
        </p:spPr>
      </p:pic>
      <p:pic>
        <p:nvPicPr>
          <p:cNvPr id="36" name="Picture 35">
            <a:extLst>
              <a:ext uri="{FF2B5EF4-FFF2-40B4-BE49-F238E27FC236}">
                <a16:creationId xmlns:a16="http://schemas.microsoft.com/office/drawing/2014/main" id="{99E5081E-2B65-7031-2853-1CB217F5F39B}"/>
              </a:ext>
            </a:extLst>
          </p:cNvPr>
          <p:cNvPicPr>
            <a:picLocks noChangeAspect="1"/>
          </p:cNvPicPr>
          <p:nvPr/>
        </p:nvPicPr>
        <p:blipFill>
          <a:blip r:embed="rId15"/>
          <a:stretch>
            <a:fillRect/>
          </a:stretch>
        </p:blipFill>
        <p:spPr>
          <a:xfrm>
            <a:off x="5651667" y="9575006"/>
            <a:ext cx="554321" cy="415604"/>
          </a:xfrm>
          <a:prstGeom prst="rect">
            <a:avLst/>
          </a:prstGeom>
          <a:ln w="28575">
            <a:solidFill>
              <a:schemeClr val="accent2"/>
            </a:solidFill>
          </a:ln>
        </p:spPr>
      </p:pic>
      <p:pic>
        <p:nvPicPr>
          <p:cNvPr id="37" name="Picture 36" descr="A diagram of a project&#10;&#10;AI-generated content may be incorrect.">
            <a:extLst>
              <a:ext uri="{FF2B5EF4-FFF2-40B4-BE49-F238E27FC236}">
                <a16:creationId xmlns:a16="http://schemas.microsoft.com/office/drawing/2014/main" id="{54B5E2B8-9F5F-2F35-2DC5-13E35CDFE7F3}"/>
              </a:ext>
            </a:extLst>
          </p:cNvPr>
          <p:cNvPicPr>
            <a:picLocks noChangeAspect="1"/>
          </p:cNvPicPr>
          <p:nvPr/>
        </p:nvPicPr>
        <p:blipFill>
          <a:blip r:embed="rId16"/>
          <a:stretch>
            <a:fillRect/>
          </a:stretch>
        </p:blipFill>
        <p:spPr>
          <a:xfrm>
            <a:off x="881041" y="7625814"/>
            <a:ext cx="3012765" cy="2632017"/>
          </a:xfrm>
          <a:prstGeom prst="rect">
            <a:avLst/>
          </a:prstGeom>
        </p:spPr>
      </p:pic>
      <p:pic>
        <p:nvPicPr>
          <p:cNvPr id="43" name="Picture 42">
            <a:extLst>
              <a:ext uri="{FF2B5EF4-FFF2-40B4-BE49-F238E27FC236}">
                <a16:creationId xmlns:a16="http://schemas.microsoft.com/office/drawing/2014/main" id="{8F82D5A4-F9CD-A7BA-68AD-660BAA2A48DC}"/>
              </a:ext>
            </a:extLst>
          </p:cNvPr>
          <p:cNvPicPr>
            <a:picLocks noChangeAspect="1"/>
          </p:cNvPicPr>
          <p:nvPr/>
        </p:nvPicPr>
        <p:blipFill>
          <a:blip r:embed="rId15"/>
          <a:stretch>
            <a:fillRect/>
          </a:stretch>
        </p:blipFill>
        <p:spPr>
          <a:xfrm>
            <a:off x="5633259" y="8901908"/>
            <a:ext cx="554321" cy="415604"/>
          </a:xfrm>
          <a:prstGeom prst="rect">
            <a:avLst/>
          </a:prstGeom>
          <a:ln w="28575">
            <a:solidFill>
              <a:schemeClr val="accent5"/>
            </a:solidFill>
          </a:ln>
        </p:spPr>
      </p:pic>
      <p:sp>
        <p:nvSpPr>
          <p:cNvPr id="44" name="TextBox 43">
            <a:extLst>
              <a:ext uri="{FF2B5EF4-FFF2-40B4-BE49-F238E27FC236}">
                <a16:creationId xmlns:a16="http://schemas.microsoft.com/office/drawing/2014/main" id="{0FD524FA-1A6C-FE14-62A9-7FC6120719D7}"/>
              </a:ext>
            </a:extLst>
          </p:cNvPr>
          <p:cNvSpPr txBox="1"/>
          <p:nvPr/>
        </p:nvSpPr>
        <p:spPr>
          <a:xfrm>
            <a:off x="5554195" y="8614644"/>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GitHub</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F1CDC560-844E-F03F-2205-E17A77C4BC14}"/>
              </a:ext>
            </a:extLst>
          </p:cNvPr>
          <p:cNvSpPr txBox="1"/>
          <p:nvPr/>
        </p:nvSpPr>
        <p:spPr>
          <a:xfrm>
            <a:off x="5610501" y="9252275"/>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Jira</a:t>
            </a:r>
          </a:p>
        </p:txBody>
      </p:sp>
      <p:sp>
        <p:nvSpPr>
          <p:cNvPr id="47" name="TextBox 46">
            <a:extLst>
              <a:ext uri="{FF2B5EF4-FFF2-40B4-BE49-F238E27FC236}">
                <a16:creationId xmlns:a16="http://schemas.microsoft.com/office/drawing/2014/main" id="{087FD654-6751-C0D1-9726-7371A6442436}"/>
              </a:ext>
            </a:extLst>
          </p:cNvPr>
          <p:cNvSpPr txBox="1"/>
          <p:nvPr/>
        </p:nvSpPr>
        <p:spPr>
          <a:xfrm>
            <a:off x="4821118" y="9258232"/>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Mail</a:t>
            </a:r>
          </a:p>
        </p:txBody>
      </p:sp>
      <p:cxnSp>
        <p:nvCxnSpPr>
          <p:cNvPr id="29" name="Straight Arrow Connector 28">
            <a:extLst>
              <a:ext uri="{FF2B5EF4-FFF2-40B4-BE49-F238E27FC236}">
                <a16:creationId xmlns:a16="http://schemas.microsoft.com/office/drawing/2014/main" id="{DE213B32-9D5B-1640-E01D-5132D47F3A95}"/>
              </a:ext>
            </a:extLst>
          </p:cNvPr>
          <p:cNvCxnSpPr/>
          <p:nvPr/>
        </p:nvCxnSpPr>
        <p:spPr>
          <a:xfrm>
            <a:off x="5239230" y="5398921"/>
            <a:ext cx="226" cy="152694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55F2E840-1E74-21AD-6311-08B5932CA5E7}"/>
              </a:ext>
            </a:extLst>
          </p:cNvPr>
          <p:cNvCxnSpPr/>
          <p:nvPr/>
        </p:nvCxnSpPr>
        <p:spPr>
          <a:xfrm>
            <a:off x="6484571" y="6404060"/>
            <a:ext cx="44603" cy="274315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60B66704-D376-3D82-0DDA-2AF8666B688E}"/>
              </a:ext>
            </a:extLst>
          </p:cNvPr>
          <p:cNvCxnSpPr/>
          <p:nvPr/>
        </p:nvCxnSpPr>
        <p:spPr>
          <a:xfrm>
            <a:off x="6502564" y="6396536"/>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8" name="Straight Arrow Connector 267">
            <a:extLst>
              <a:ext uri="{FF2B5EF4-FFF2-40B4-BE49-F238E27FC236}">
                <a16:creationId xmlns:a16="http://schemas.microsoft.com/office/drawing/2014/main" id="{571965C9-4675-FA86-12F3-76DEE0D4BA97}"/>
              </a:ext>
            </a:extLst>
          </p:cNvPr>
          <p:cNvCxnSpPr>
            <a:cxnSpLocks/>
          </p:cNvCxnSpPr>
          <p:nvPr/>
        </p:nvCxnSpPr>
        <p:spPr>
          <a:xfrm>
            <a:off x="6521855" y="8046678"/>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FCAB398D-3CB9-C764-7585-1FBBB83B1331}"/>
              </a:ext>
            </a:extLst>
          </p:cNvPr>
          <p:cNvCxnSpPr>
            <a:cxnSpLocks/>
          </p:cNvCxnSpPr>
          <p:nvPr/>
        </p:nvCxnSpPr>
        <p:spPr>
          <a:xfrm>
            <a:off x="6504201" y="7505575"/>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4E1B220A-238F-80B4-A69C-9EE279529E35}"/>
              </a:ext>
            </a:extLst>
          </p:cNvPr>
          <p:cNvCxnSpPr>
            <a:cxnSpLocks/>
          </p:cNvCxnSpPr>
          <p:nvPr/>
        </p:nvCxnSpPr>
        <p:spPr>
          <a:xfrm>
            <a:off x="6504288" y="6973344"/>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FE01BD63-9E94-6544-AD78-31016AEC71BC}"/>
              </a:ext>
            </a:extLst>
          </p:cNvPr>
          <p:cNvCxnSpPr>
            <a:cxnSpLocks/>
          </p:cNvCxnSpPr>
          <p:nvPr/>
        </p:nvCxnSpPr>
        <p:spPr>
          <a:xfrm>
            <a:off x="6522114" y="9155772"/>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8" name="Straight Arrow Connector 277">
            <a:extLst>
              <a:ext uri="{FF2B5EF4-FFF2-40B4-BE49-F238E27FC236}">
                <a16:creationId xmlns:a16="http://schemas.microsoft.com/office/drawing/2014/main" id="{89317910-B32B-9CFC-958A-F8257E5E39A9}"/>
              </a:ext>
            </a:extLst>
          </p:cNvPr>
          <p:cNvCxnSpPr/>
          <p:nvPr/>
        </p:nvCxnSpPr>
        <p:spPr>
          <a:xfrm>
            <a:off x="6142365" y="4766925"/>
            <a:ext cx="226" cy="4261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9" name="Straight Arrow Connector 278">
            <a:extLst>
              <a:ext uri="{FF2B5EF4-FFF2-40B4-BE49-F238E27FC236}">
                <a16:creationId xmlns:a16="http://schemas.microsoft.com/office/drawing/2014/main" id="{B50AB780-0D46-1B81-AAB0-AEF86CE0253D}"/>
              </a:ext>
            </a:extLst>
          </p:cNvPr>
          <p:cNvCxnSpPr/>
          <p:nvPr/>
        </p:nvCxnSpPr>
        <p:spPr>
          <a:xfrm flipV="1">
            <a:off x="5371066" y="4785458"/>
            <a:ext cx="1571184" cy="1773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8540B311-87AD-D0C7-4BAE-A68E001E1ABE}"/>
              </a:ext>
            </a:extLst>
          </p:cNvPr>
          <p:cNvCxnSpPr/>
          <p:nvPr/>
        </p:nvCxnSpPr>
        <p:spPr>
          <a:xfrm flipH="1" flipV="1">
            <a:off x="5381035" y="4502293"/>
            <a:ext cx="8649" cy="31956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0F73A681-FC39-E9C9-AFF2-7F80632D8B11}"/>
              </a:ext>
            </a:extLst>
          </p:cNvPr>
          <p:cNvCxnSpPr>
            <a:cxnSpLocks/>
          </p:cNvCxnSpPr>
          <p:nvPr/>
        </p:nvCxnSpPr>
        <p:spPr>
          <a:xfrm flipV="1">
            <a:off x="6939167" y="4498198"/>
            <a:ext cx="17982" cy="29293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4D4A2319-BC71-EA37-86B9-37529E240701}"/>
              </a:ext>
            </a:extLst>
          </p:cNvPr>
          <p:cNvCxnSpPr/>
          <p:nvPr/>
        </p:nvCxnSpPr>
        <p:spPr>
          <a:xfrm flipV="1">
            <a:off x="5239669" y="5390877"/>
            <a:ext cx="532752" cy="1773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0" name="Line">
            <a:extLst>
              <a:ext uri="{FF2B5EF4-FFF2-40B4-BE49-F238E27FC236}">
                <a16:creationId xmlns:a16="http://schemas.microsoft.com/office/drawing/2014/main" id="{EF67189D-3E11-52C8-6EF8-FB2D518BC39E}"/>
              </a:ext>
            </a:extLst>
          </p:cNvPr>
          <p:cNvSpPr/>
          <p:nvPr/>
        </p:nvSpPr>
        <p:spPr>
          <a:xfrm>
            <a:off x="553749" y="2661878"/>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20" name="Straight Arrow Connector 19">
            <a:extLst>
              <a:ext uri="{FF2B5EF4-FFF2-40B4-BE49-F238E27FC236}">
                <a16:creationId xmlns:a16="http://schemas.microsoft.com/office/drawing/2014/main" id="{BD9432B9-F22C-4B7D-2612-FE70606BE29E}"/>
              </a:ext>
            </a:extLst>
          </p:cNvPr>
          <p:cNvCxnSpPr/>
          <p:nvPr/>
        </p:nvCxnSpPr>
        <p:spPr>
          <a:xfrm flipH="1" flipV="1">
            <a:off x="5211534" y="7510918"/>
            <a:ext cx="17524" cy="118068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p14="http://schemas.microsoft.com/office/powerpoint/2010/main">
        <mc:Choice Requires="p14">
          <p:contentPart p14:bwMode="auto" r:id="rId17">
            <p14:nvContentPartPr>
              <p14:cNvPr id="299" name="Ink 298">
                <a:extLst>
                  <a:ext uri="{FF2B5EF4-FFF2-40B4-BE49-F238E27FC236}">
                    <a16:creationId xmlns:a16="http://schemas.microsoft.com/office/drawing/2014/main" id="{758CF758-E85F-6D6B-B6BB-77CFE74724F9}"/>
                  </a:ext>
                </a:extLst>
              </p14:cNvPr>
              <p14:cNvContentPartPr/>
              <p14:nvPr/>
            </p14:nvContentPartPr>
            <p14:xfrm>
              <a:off x="8091352" y="6368722"/>
              <a:ext cx="13744" cy="13744"/>
            </p14:xfrm>
          </p:contentPart>
        </mc:Choice>
        <mc:Fallback xmlns="">
          <p:pic>
            <p:nvPicPr>
              <p:cNvPr id="299" name="Ink 298">
                <a:extLst>
                  <a:ext uri="{FF2B5EF4-FFF2-40B4-BE49-F238E27FC236}">
                    <a16:creationId xmlns:a16="http://schemas.microsoft.com/office/drawing/2014/main" id="{758CF758-E85F-6D6B-B6BB-77CFE74724F9}"/>
                  </a:ext>
                </a:extLst>
              </p:cNvPr>
              <p:cNvPicPr/>
              <p:nvPr/>
            </p:nvPicPr>
            <p:blipFill>
              <a:blip r:embed="rId18"/>
              <a:stretch>
                <a:fillRect/>
              </a:stretch>
            </p:blipFill>
            <p:spPr>
              <a:xfrm>
                <a:off x="7404152" y="5681522"/>
                <a:ext cx="1374400" cy="1374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00" name="Ink 299">
                <a:extLst>
                  <a:ext uri="{FF2B5EF4-FFF2-40B4-BE49-F238E27FC236}">
                    <a16:creationId xmlns:a16="http://schemas.microsoft.com/office/drawing/2014/main" id="{0255A05E-65CB-731E-7DA3-44D8B475989F}"/>
                  </a:ext>
                </a:extLst>
              </p14:cNvPr>
              <p14:cNvContentPartPr/>
              <p14:nvPr/>
            </p14:nvContentPartPr>
            <p14:xfrm>
              <a:off x="8205278" y="6368668"/>
              <a:ext cx="13744" cy="13744"/>
            </p14:xfrm>
          </p:contentPart>
        </mc:Choice>
        <mc:Fallback xmlns="">
          <p:pic>
            <p:nvPicPr>
              <p:cNvPr id="300" name="Ink 299">
                <a:extLst>
                  <a:ext uri="{FF2B5EF4-FFF2-40B4-BE49-F238E27FC236}">
                    <a16:creationId xmlns:a16="http://schemas.microsoft.com/office/drawing/2014/main" id="{0255A05E-65CB-731E-7DA3-44D8B475989F}"/>
                  </a:ext>
                </a:extLst>
              </p:cNvPr>
              <p:cNvPicPr/>
              <p:nvPr/>
            </p:nvPicPr>
            <p:blipFill>
              <a:blip r:embed="rId18"/>
              <a:stretch>
                <a:fillRect/>
              </a:stretch>
            </p:blipFill>
            <p:spPr>
              <a:xfrm>
                <a:off x="7518078" y="5681468"/>
                <a:ext cx="1374400" cy="1374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01" name="Ink 300">
                <a:extLst>
                  <a:ext uri="{FF2B5EF4-FFF2-40B4-BE49-F238E27FC236}">
                    <a16:creationId xmlns:a16="http://schemas.microsoft.com/office/drawing/2014/main" id="{F799626E-920B-9F53-49DE-08986F09D517}"/>
                  </a:ext>
                </a:extLst>
              </p14:cNvPr>
              <p14:cNvContentPartPr/>
              <p14:nvPr/>
            </p14:nvContentPartPr>
            <p14:xfrm>
              <a:off x="8117606" y="6275896"/>
              <a:ext cx="13744" cy="13744"/>
            </p14:xfrm>
          </p:contentPart>
        </mc:Choice>
        <mc:Fallback xmlns="">
          <p:pic>
            <p:nvPicPr>
              <p:cNvPr id="301" name="Ink 300">
                <a:extLst>
                  <a:ext uri="{FF2B5EF4-FFF2-40B4-BE49-F238E27FC236}">
                    <a16:creationId xmlns:a16="http://schemas.microsoft.com/office/drawing/2014/main" id="{F799626E-920B-9F53-49DE-08986F09D517}"/>
                  </a:ext>
                </a:extLst>
              </p:cNvPr>
              <p:cNvPicPr/>
              <p:nvPr/>
            </p:nvPicPr>
            <p:blipFill>
              <a:blip r:embed="rId18"/>
              <a:stretch>
                <a:fillRect/>
              </a:stretch>
            </p:blipFill>
            <p:spPr>
              <a:xfrm>
                <a:off x="7430406" y="5588696"/>
                <a:ext cx="1374400" cy="1374400"/>
              </a:xfrm>
              <a:prstGeom prst="rect">
                <a:avLst/>
              </a:prstGeom>
            </p:spPr>
          </p:pic>
        </mc:Fallback>
      </mc:AlternateContent>
      <p:pic>
        <p:nvPicPr>
          <p:cNvPr id="304" name="Picture 303" descr="A black and white logo&#10;&#10;AI-generated content may be incorrect.">
            <a:extLst>
              <a:ext uri="{FF2B5EF4-FFF2-40B4-BE49-F238E27FC236}">
                <a16:creationId xmlns:a16="http://schemas.microsoft.com/office/drawing/2014/main" id="{5B1904DC-4469-6C65-0CB1-F59DE91CAC91}"/>
              </a:ext>
            </a:extLst>
          </p:cNvPr>
          <p:cNvPicPr>
            <a:picLocks noChangeAspect="1"/>
          </p:cNvPicPr>
          <p:nvPr/>
        </p:nvPicPr>
        <p:blipFill>
          <a:blip r:embed="rId21"/>
          <a:stretch>
            <a:fillRect/>
          </a:stretch>
        </p:blipFill>
        <p:spPr>
          <a:xfrm>
            <a:off x="7945485" y="6201689"/>
            <a:ext cx="276189" cy="277029"/>
          </a:xfrm>
          <a:prstGeom prst="rect">
            <a:avLst/>
          </a:prstGeom>
        </p:spPr>
      </p:pic>
      <p:pic>
        <p:nvPicPr>
          <p:cNvPr id="305" name="Picture 304" descr="A black and white logo&#10;&#10;AI-generated content may be incorrect.">
            <a:extLst>
              <a:ext uri="{FF2B5EF4-FFF2-40B4-BE49-F238E27FC236}">
                <a16:creationId xmlns:a16="http://schemas.microsoft.com/office/drawing/2014/main" id="{D079D019-30CC-C01C-A1F2-44ED7D0D3057}"/>
              </a:ext>
            </a:extLst>
          </p:cNvPr>
          <p:cNvPicPr>
            <a:picLocks noChangeAspect="1"/>
          </p:cNvPicPr>
          <p:nvPr/>
        </p:nvPicPr>
        <p:blipFill>
          <a:blip r:embed="rId21"/>
          <a:stretch>
            <a:fillRect/>
          </a:stretch>
        </p:blipFill>
        <p:spPr>
          <a:xfrm>
            <a:off x="8214838" y="6754392"/>
            <a:ext cx="327111" cy="288344"/>
          </a:xfrm>
          <a:prstGeom prst="rect">
            <a:avLst/>
          </a:prstGeom>
        </p:spPr>
      </p:pic>
      <p:pic>
        <p:nvPicPr>
          <p:cNvPr id="306" name="Picture 305" descr="A black and white logo&#10;&#10;AI-generated content may be incorrect.">
            <a:extLst>
              <a:ext uri="{FF2B5EF4-FFF2-40B4-BE49-F238E27FC236}">
                <a16:creationId xmlns:a16="http://schemas.microsoft.com/office/drawing/2014/main" id="{27651DE9-7623-A599-7423-EC10013BEAF5}"/>
              </a:ext>
            </a:extLst>
          </p:cNvPr>
          <p:cNvPicPr>
            <a:picLocks noChangeAspect="1"/>
          </p:cNvPicPr>
          <p:nvPr/>
        </p:nvPicPr>
        <p:blipFill>
          <a:blip r:embed="rId21"/>
          <a:stretch>
            <a:fillRect/>
          </a:stretch>
        </p:blipFill>
        <p:spPr>
          <a:xfrm>
            <a:off x="8678042" y="7342586"/>
            <a:ext cx="327111" cy="288344"/>
          </a:xfrm>
          <a:prstGeom prst="rect">
            <a:avLst/>
          </a:prstGeom>
        </p:spPr>
      </p:pic>
      <p:pic>
        <p:nvPicPr>
          <p:cNvPr id="307" name="Picture 306" descr="A black and white logo&#10;&#10;AI-generated content may be incorrect.">
            <a:extLst>
              <a:ext uri="{FF2B5EF4-FFF2-40B4-BE49-F238E27FC236}">
                <a16:creationId xmlns:a16="http://schemas.microsoft.com/office/drawing/2014/main" id="{2B5066EE-DC28-CC5F-2074-9081CFCAE541}"/>
              </a:ext>
            </a:extLst>
          </p:cNvPr>
          <p:cNvPicPr>
            <a:picLocks noChangeAspect="1"/>
          </p:cNvPicPr>
          <p:nvPr/>
        </p:nvPicPr>
        <p:blipFill>
          <a:blip r:embed="rId21"/>
          <a:stretch>
            <a:fillRect/>
          </a:stretch>
        </p:blipFill>
        <p:spPr>
          <a:xfrm>
            <a:off x="8417869" y="7919468"/>
            <a:ext cx="327111" cy="288344"/>
          </a:xfrm>
          <a:prstGeom prst="rect">
            <a:avLst/>
          </a:prstGeom>
        </p:spPr>
      </p:pic>
      <p:cxnSp>
        <p:nvCxnSpPr>
          <p:cNvPr id="308" name="Straight Arrow Connector 307">
            <a:extLst>
              <a:ext uri="{FF2B5EF4-FFF2-40B4-BE49-F238E27FC236}">
                <a16:creationId xmlns:a16="http://schemas.microsoft.com/office/drawing/2014/main" id="{2EEBE7A1-B02A-EE07-B085-2E71C75E8C14}"/>
              </a:ext>
            </a:extLst>
          </p:cNvPr>
          <p:cNvCxnSpPr/>
          <p:nvPr/>
        </p:nvCxnSpPr>
        <p:spPr>
          <a:xfrm>
            <a:off x="5639145" y="7249343"/>
            <a:ext cx="855760" cy="884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09" name="Line">
            <a:extLst>
              <a:ext uri="{FF2B5EF4-FFF2-40B4-BE49-F238E27FC236}">
                <a16:creationId xmlns:a16="http://schemas.microsoft.com/office/drawing/2014/main" id="{5823EFDE-10CD-2D67-38EB-3040E7F91BF8}"/>
              </a:ext>
            </a:extLst>
          </p:cNvPr>
          <p:cNvSpPr/>
          <p:nvPr/>
        </p:nvSpPr>
        <p:spPr>
          <a:xfrm>
            <a:off x="9517386" y="7720618"/>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1" name="Layout Suggestions">
            <a:extLst>
              <a:ext uri="{FF2B5EF4-FFF2-40B4-BE49-F238E27FC236}">
                <a16:creationId xmlns:a16="http://schemas.microsoft.com/office/drawing/2014/main" id="{1825C9EB-BEDF-C43B-2EE0-720B5F7E97D8}"/>
              </a:ext>
            </a:extLst>
          </p:cNvPr>
          <p:cNvSpPr txBox="1"/>
          <p:nvPr/>
        </p:nvSpPr>
        <p:spPr>
          <a:xfrm>
            <a:off x="9511676" y="7868179"/>
            <a:ext cx="403223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Executable Documentation</a:t>
            </a:r>
            <a:endParaRPr lang="en-US"/>
          </a:p>
        </p:txBody>
      </p:sp>
      <p:sp>
        <p:nvSpPr>
          <p:cNvPr id="315" name="TextBox 314">
            <a:extLst>
              <a:ext uri="{FF2B5EF4-FFF2-40B4-BE49-F238E27FC236}">
                <a16:creationId xmlns:a16="http://schemas.microsoft.com/office/drawing/2014/main" id="{182C4AB0-A380-2271-B867-D99A300399E9}"/>
              </a:ext>
            </a:extLst>
          </p:cNvPr>
          <p:cNvSpPr txBox="1"/>
          <p:nvPr/>
        </p:nvSpPr>
        <p:spPr>
          <a:xfrm>
            <a:off x="9476914" y="7923278"/>
            <a:ext cx="4174773" cy="7155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b="0">
              <a:solidFill>
                <a:schemeClr val="tx1"/>
              </a:solidFill>
              <a:cs typeface="Helvetica"/>
            </a:endParaRPr>
          </a:p>
          <a:p>
            <a:r>
              <a:rPr lang="en-US" b="0">
                <a:solidFill>
                  <a:schemeClr val="tx1"/>
                </a:solidFill>
                <a:cs typeface="Helvetica"/>
              </a:rPr>
              <a:t>Executable help docs follow a standard which provides users a quick understanding of all of the capabilities of the executable.</a:t>
            </a:r>
          </a:p>
        </p:txBody>
      </p:sp>
      <p:sp>
        <p:nvSpPr>
          <p:cNvPr id="316" name="TextBox 315">
            <a:extLst>
              <a:ext uri="{FF2B5EF4-FFF2-40B4-BE49-F238E27FC236}">
                <a16:creationId xmlns:a16="http://schemas.microsoft.com/office/drawing/2014/main" id="{E848176D-B7CB-C426-E408-5FF9E4A5D216}"/>
              </a:ext>
            </a:extLst>
          </p:cNvPr>
          <p:cNvSpPr txBox="1"/>
          <p:nvPr/>
        </p:nvSpPr>
        <p:spPr>
          <a:xfrm>
            <a:off x="9515568" y="8826605"/>
            <a:ext cx="4036207"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t>USAGE: </a:t>
            </a:r>
            <a:r>
              <a:rPr lang="en-US" b="0" err="1"/>
              <a:t>Speci</a:t>
            </a:r>
            <a:r>
              <a:rPr lang="en-US" b="0"/>
              <a:t>fies command line syntax</a:t>
            </a:r>
          </a:p>
          <a:p>
            <a:r>
              <a:rPr lang="en-US" b="0"/>
              <a:t>DESCRIPTION: Overview of executable's purpose </a:t>
            </a:r>
            <a:br>
              <a:rPr lang="en-US" b="0"/>
            </a:br>
            <a:r>
              <a:rPr lang="en-US" b="0"/>
              <a:t>COMMANDS: Defines each command's functionality</a:t>
            </a:r>
            <a:br>
              <a:rPr lang="en-US" b="0"/>
            </a:br>
            <a:r>
              <a:rPr lang="en-US" b="0"/>
              <a:t>ARGUMENTS: Specifies required parameters</a:t>
            </a:r>
            <a:br>
              <a:rPr lang="en-US" b="0"/>
            </a:br>
            <a:r>
              <a:rPr lang="en-US" b="0"/>
              <a:t>OPTIONS: Describes optional flags </a:t>
            </a:r>
          </a:p>
        </p:txBody>
      </p:sp>
    </p:spTree>
    <p:extLst>
      <p:ext uri="{BB962C8B-B14F-4D97-AF65-F5344CB8AC3E}">
        <p14:creationId xmlns:p14="http://schemas.microsoft.com/office/powerpoint/2010/main" val="9046522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9747-6BA9-B16B-255C-1B399B1A133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BEC0F20-4A1A-AE79-1928-C85039791E80}"/>
              </a:ext>
            </a:extLst>
          </p:cNvPr>
          <p:cNvSpPr txBox="1"/>
          <p:nvPr/>
        </p:nvSpPr>
        <p:spPr>
          <a:xfrm>
            <a:off x="4653916" y="2713481"/>
            <a:ext cx="4568786" cy="4921779"/>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err="1"/>
              <a:t>Sailuh</a:t>
            </a:r>
            <a:endParaRPr lang="en-US" sz="2400"/>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349" name="TextBox 348">
            <a:extLst>
              <a:ext uri="{FF2B5EF4-FFF2-40B4-BE49-F238E27FC236}">
                <a16:creationId xmlns:a16="http://schemas.microsoft.com/office/drawing/2014/main" id="{B9520B99-B951-9E1A-BF3C-E5A46F38957C}"/>
              </a:ext>
            </a:extLst>
          </p:cNvPr>
          <p:cNvSpPr txBox="1"/>
          <p:nvPr/>
        </p:nvSpPr>
        <p:spPr>
          <a:xfrm>
            <a:off x="275783" y="7627712"/>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45D6ED08-EF7B-D8CB-8587-C9B5990B4F55}"/>
              </a:ext>
            </a:extLst>
          </p:cNvPr>
          <p:cNvPicPr>
            <a:picLocks noChangeAspect="1"/>
          </p:cNvPicPr>
          <p:nvPr/>
        </p:nvPicPr>
        <p:blipFill>
          <a:blip r:embed="rId3"/>
          <a:stretch>
            <a:fillRect/>
          </a:stretch>
        </p:blipFill>
        <p:spPr>
          <a:xfrm>
            <a:off x="12794523" y="3878036"/>
            <a:ext cx="763378" cy="807934"/>
          </a:xfrm>
          <a:prstGeom prst="rect">
            <a:avLst/>
          </a:prstGeom>
        </p:spPr>
      </p:pic>
      <p:pic>
        <p:nvPicPr>
          <p:cNvPr id="292" name="Image" descr="Image">
            <a:extLst>
              <a:ext uri="{FF2B5EF4-FFF2-40B4-BE49-F238E27FC236}">
                <a16:creationId xmlns:a16="http://schemas.microsoft.com/office/drawing/2014/main" id="{48690A1E-D5EC-372C-DD3C-4DA4259D4D2A}"/>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0D8FE5FD-BF42-4308-D9D5-EC9D0B70475D}"/>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A1C9DE62-096E-6DCF-0AEB-8560CE6B07E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D6672D7C-7D74-FE46-7266-5D18D51911F9}"/>
              </a:ext>
            </a:extLst>
          </p:cNvPr>
          <p:cNvSpPr/>
          <p:nvPr/>
        </p:nvSpPr>
        <p:spPr>
          <a:xfrm>
            <a:off x="220507" y="2610755"/>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9B8E4CB5-E88F-6306-067E-11AE02262B3A}"/>
              </a:ext>
            </a:extLst>
          </p:cNvPr>
          <p:cNvSpPr txBox="1"/>
          <p:nvPr/>
        </p:nvSpPr>
        <p:spPr>
          <a:xfrm>
            <a:off x="304155" y="2612235"/>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BCA50133-09D7-4E72-809A-9EBD8B86FBAE}"/>
              </a:ext>
            </a:extLst>
          </p:cNvPr>
          <p:cNvSpPr txBox="1"/>
          <p:nvPr/>
        </p:nvSpPr>
        <p:spPr>
          <a:xfrm>
            <a:off x="293295" y="2992442"/>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335DB940-706E-3F5C-C1A6-95BAEB7ABD4E}"/>
              </a:ext>
            </a:extLst>
          </p:cNvPr>
          <p:cNvSpPr txBox="1"/>
          <p:nvPr/>
        </p:nvSpPr>
        <p:spPr>
          <a:xfrm>
            <a:off x="312386" y="3377157"/>
            <a:ext cx="4122651" cy="602800"/>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0348244A-D2B5-EFFF-542F-3A9B88B9EE73}"/>
              </a:ext>
            </a:extLst>
          </p:cNvPr>
          <p:cNvSpPr txBox="1"/>
          <p:nvPr/>
        </p:nvSpPr>
        <p:spPr>
          <a:xfrm>
            <a:off x="279130" y="6752399"/>
            <a:ext cx="197810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E150E264-8705-AFC9-B37F-ADC5FFFF19BB}"/>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AFCB2BD8-A045-8476-A207-B86A8E9BCB75}"/>
              </a:ext>
            </a:extLst>
          </p:cNvPr>
          <p:cNvSpPr txBox="1"/>
          <p:nvPr/>
        </p:nvSpPr>
        <p:spPr>
          <a:xfrm>
            <a:off x="4663440" y="1513595"/>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29456812-2089-256B-4096-03C0011E8F10}"/>
              </a:ext>
            </a:extLst>
          </p:cNvPr>
          <p:cNvSpPr txBox="1"/>
          <p:nvPr/>
        </p:nvSpPr>
        <p:spPr>
          <a:xfrm>
            <a:off x="257982" y="1536978"/>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F671D5C2-7708-E7C7-A949-3A9633C2ED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569B8333-1D91-6792-B769-0CE21539C10B}"/>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B403881E-C1B5-95E8-35C4-9394559F35A4}"/>
              </a:ext>
            </a:extLst>
          </p:cNvPr>
          <p:cNvSpPr/>
          <p:nvPr/>
        </p:nvSpPr>
        <p:spPr>
          <a:xfrm>
            <a:off x="231610" y="5437298"/>
            <a:ext cx="4346831" cy="131837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7311EAE5-5FEA-C973-C206-B9206BA69359}"/>
              </a:ext>
            </a:extLst>
          </p:cNvPr>
          <p:cNvSpPr txBox="1"/>
          <p:nvPr/>
        </p:nvSpPr>
        <p:spPr>
          <a:xfrm>
            <a:off x="347617" y="5477756"/>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FA2903C5-6216-DC1C-8F90-46DBF675C6EA}"/>
              </a:ext>
            </a:extLst>
          </p:cNvPr>
          <p:cNvSpPr txBox="1"/>
          <p:nvPr/>
        </p:nvSpPr>
        <p:spPr>
          <a:xfrm>
            <a:off x="347973" y="6055887"/>
            <a:ext cx="4105332" cy="583155"/>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depends: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F74FF788-EC6F-61D7-841E-9D430A3E4418}"/>
              </a:ext>
            </a:extLst>
          </p:cNvPr>
          <p:cNvPicPr>
            <a:picLocks noChangeAspect="1"/>
          </p:cNvPicPr>
          <p:nvPr/>
        </p:nvPicPr>
        <p:blipFill>
          <a:blip r:embed="rId7"/>
          <a:stretch>
            <a:fillRect/>
          </a:stretch>
        </p:blipFill>
        <p:spPr>
          <a:xfrm>
            <a:off x="11493731" y="514209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EE90EB40-FFBF-4A3F-1E7A-482B81D4AD91}"/>
              </a:ext>
            </a:extLst>
          </p:cNvPr>
          <p:cNvSpPr txBox="1"/>
          <p:nvPr/>
        </p:nvSpPr>
        <p:spPr>
          <a:xfrm>
            <a:off x="328655" y="5789293"/>
            <a:ext cx="4369511" cy="2625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sz="1100">
                <a:cs typeface="Arial"/>
              </a:rPr>
              <a:t>The required external tools must be specified  in </a:t>
            </a:r>
            <a:r>
              <a:rPr lang="en-US" sz="1100" err="1">
                <a:cs typeface="Arial"/>
              </a:rPr>
              <a:t>tools.yml</a:t>
            </a:r>
            <a:r>
              <a:rPr lang="en-US" sz="1100">
                <a:cs typeface="Arial"/>
              </a:rPr>
              <a:t>:</a:t>
            </a:r>
            <a:endParaRPr lang="en-US" sz="1100" u="sng">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A41B28DB-F4FE-572C-35A5-D72782EC2C62}"/>
              </a:ext>
            </a:extLst>
          </p:cNvPr>
          <p:cNvPicPr>
            <a:picLocks noChangeAspect="1"/>
          </p:cNvPicPr>
          <p:nvPr/>
        </p:nvPicPr>
        <p:blipFill>
          <a:blip r:embed="rId8"/>
          <a:stretch>
            <a:fillRect/>
          </a:stretch>
        </p:blipFill>
        <p:spPr>
          <a:xfrm>
            <a:off x="11508735" y="2830303"/>
            <a:ext cx="546328" cy="546436"/>
          </a:xfrm>
          <a:prstGeom prst="rect">
            <a:avLst/>
          </a:prstGeom>
        </p:spPr>
      </p:pic>
      <p:pic>
        <p:nvPicPr>
          <p:cNvPr id="23" name="Picture 22">
            <a:extLst>
              <a:ext uri="{FF2B5EF4-FFF2-40B4-BE49-F238E27FC236}">
                <a16:creationId xmlns:a16="http://schemas.microsoft.com/office/drawing/2014/main" id="{869AC6F4-829B-C22F-027C-827E34ECB98B}"/>
              </a:ext>
            </a:extLst>
          </p:cNvPr>
          <p:cNvPicPr>
            <a:picLocks noChangeAspect="1"/>
          </p:cNvPicPr>
          <p:nvPr/>
        </p:nvPicPr>
        <p:blipFill>
          <a:blip r:embed="rId9"/>
          <a:stretch>
            <a:fillRect/>
          </a:stretch>
        </p:blipFill>
        <p:spPr>
          <a:xfrm>
            <a:off x="9356434" y="4824190"/>
            <a:ext cx="544372" cy="486505"/>
          </a:xfrm>
          <a:prstGeom prst="rect">
            <a:avLst/>
          </a:prstGeom>
        </p:spPr>
      </p:pic>
      <p:pic>
        <p:nvPicPr>
          <p:cNvPr id="24" name="Picture 23">
            <a:extLst>
              <a:ext uri="{FF2B5EF4-FFF2-40B4-BE49-F238E27FC236}">
                <a16:creationId xmlns:a16="http://schemas.microsoft.com/office/drawing/2014/main" id="{B36EA6B7-6815-567F-C644-BFA6389CE9C9}"/>
              </a:ext>
            </a:extLst>
          </p:cNvPr>
          <p:cNvPicPr>
            <a:picLocks noChangeAspect="1"/>
          </p:cNvPicPr>
          <p:nvPr/>
        </p:nvPicPr>
        <p:blipFill>
          <a:blip r:embed="rId10"/>
          <a:stretch>
            <a:fillRect/>
          </a:stretch>
        </p:blipFill>
        <p:spPr>
          <a:xfrm>
            <a:off x="9501139" y="4199550"/>
            <a:ext cx="742783" cy="609600"/>
          </a:xfrm>
          <a:prstGeom prst="rect">
            <a:avLst/>
          </a:prstGeom>
        </p:spPr>
      </p:pic>
      <p:pic>
        <p:nvPicPr>
          <p:cNvPr id="25" name="Picture 24">
            <a:extLst>
              <a:ext uri="{FF2B5EF4-FFF2-40B4-BE49-F238E27FC236}">
                <a16:creationId xmlns:a16="http://schemas.microsoft.com/office/drawing/2014/main" id="{03A9FBB3-D71F-7238-2B7E-930E585D5F0F}"/>
              </a:ext>
            </a:extLst>
          </p:cNvPr>
          <p:cNvPicPr>
            <a:picLocks noChangeAspect="1"/>
          </p:cNvPicPr>
          <p:nvPr/>
        </p:nvPicPr>
        <p:blipFill>
          <a:blip r:embed="rId11"/>
          <a:stretch>
            <a:fillRect/>
          </a:stretch>
        </p:blipFill>
        <p:spPr>
          <a:xfrm>
            <a:off x="11979534" y="3316782"/>
            <a:ext cx="372044" cy="354363"/>
          </a:xfrm>
          <a:prstGeom prst="rect">
            <a:avLst/>
          </a:prstGeom>
        </p:spPr>
      </p:pic>
      <p:pic>
        <p:nvPicPr>
          <p:cNvPr id="38" name="Picture 37">
            <a:extLst>
              <a:ext uri="{FF2B5EF4-FFF2-40B4-BE49-F238E27FC236}">
                <a16:creationId xmlns:a16="http://schemas.microsoft.com/office/drawing/2014/main" id="{19151718-5E4C-1605-81EE-F022C09F3796}"/>
              </a:ext>
            </a:extLst>
          </p:cNvPr>
          <p:cNvPicPr>
            <a:picLocks noChangeAspect="1"/>
          </p:cNvPicPr>
          <p:nvPr/>
        </p:nvPicPr>
        <p:blipFill>
          <a:blip r:embed="rId10"/>
          <a:stretch>
            <a:fillRect/>
          </a:stretch>
        </p:blipFill>
        <p:spPr>
          <a:xfrm rot="10800000">
            <a:off x="9871734" y="4516424"/>
            <a:ext cx="742783" cy="609600"/>
          </a:xfrm>
          <a:prstGeom prst="rect">
            <a:avLst/>
          </a:prstGeom>
        </p:spPr>
      </p:pic>
      <p:pic>
        <p:nvPicPr>
          <p:cNvPr id="39" name="Picture 38">
            <a:extLst>
              <a:ext uri="{FF2B5EF4-FFF2-40B4-BE49-F238E27FC236}">
                <a16:creationId xmlns:a16="http://schemas.microsoft.com/office/drawing/2014/main" id="{CF785C43-3056-609F-CEBB-90A98A1B0C1A}"/>
              </a:ext>
            </a:extLst>
          </p:cNvPr>
          <p:cNvPicPr>
            <a:picLocks noChangeAspect="1"/>
          </p:cNvPicPr>
          <p:nvPr/>
        </p:nvPicPr>
        <p:blipFill>
          <a:blip r:embed="rId12"/>
          <a:stretch>
            <a:fillRect/>
          </a:stretch>
        </p:blipFill>
        <p:spPr>
          <a:xfrm>
            <a:off x="10850293" y="4199356"/>
            <a:ext cx="560207" cy="171450"/>
          </a:xfrm>
          <a:prstGeom prst="rect">
            <a:avLst/>
          </a:prstGeom>
        </p:spPr>
      </p:pic>
      <p:pic>
        <p:nvPicPr>
          <p:cNvPr id="40" name="Picture 39">
            <a:extLst>
              <a:ext uri="{FF2B5EF4-FFF2-40B4-BE49-F238E27FC236}">
                <a16:creationId xmlns:a16="http://schemas.microsoft.com/office/drawing/2014/main" id="{1FA352A3-11E6-7A22-A6B3-63F0C1409B17}"/>
              </a:ext>
            </a:extLst>
          </p:cNvPr>
          <p:cNvPicPr>
            <a:picLocks noChangeAspect="1"/>
          </p:cNvPicPr>
          <p:nvPr/>
        </p:nvPicPr>
        <p:blipFill>
          <a:blip r:embed="rId12"/>
          <a:stretch>
            <a:fillRect/>
          </a:stretch>
        </p:blipFill>
        <p:spPr>
          <a:xfrm rot="10800000">
            <a:off x="12215975" y="4202499"/>
            <a:ext cx="571524" cy="171450"/>
          </a:xfrm>
          <a:prstGeom prst="rect">
            <a:avLst/>
          </a:prstGeom>
        </p:spPr>
      </p:pic>
      <p:pic>
        <p:nvPicPr>
          <p:cNvPr id="41" name="Picture 40">
            <a:extLst>
              <a:ext uri="{FF2B5EF4-FFF2-40B4-BE49-F238E27FC236}">
                <a16:creationId xmlns:a16="http://schemas.microsoft.com/office/drawing/2014/main" id="{9FED60D6-AC55-B054-15D1-6B431B471F3C}"/>
              </a:ext>
            </a:extLst>
          </p:cNvPr>
          <p:cNvPicPr>
            <a:picLocks noChangeAspect="1"/>
          </p:cNvPicPr>
          <p:nvPr/>
        </p:nvPicPr>
        <p:blipFill>
          <a:blip r:embed="rId12"/>
          <a:stretch>
            <a:fillRect/>
          </a:stretch>
        </p:blipFill>
        <p:spPr>
          <a:xfrm rot="5400000">
            <a:off x="11493529" y="3557853"/>
            <a:ext cx="571524" cy="171450"/>
          </a:xfrm>
          <a:prstGeom prst="rect">
            <a:avLst/>
          </a:prstGeom>
        </p:spPr>
      </p:pic>
      <p:sp>
        <p:nvSpPr>
          <p:cNvPr id="42" name="TextBox 41">
            <a:extLst>
              <a:ext uri="{FF2B5EF4-FFF2-40B4-BE49-F238E27FC236}">
                <a16:creationId xmlns:a16="http://schemas.microsoft.com/office/drawing/2014/main" id="{BC9B2EDF-5E81-C95D-781C-3171E3347228}"/>
              </a:ext>
            </a:extLst>
          </p:cNvPr>
          <p:cNvSpPr txBox="1"/>
          <p:nvPr/>
        </p:nvSpPr>
        <p:spPr>
          <a:xfrm>
            <a:off x="9644697" y="436814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9" name="TextBox 48">
            <a:extLst>
              <a:ext uri="{FF2B5EF4-FFF2-40B4-BE49-F238E27FC236}">
                <a16:creationId xmlns:a16="http://schemas.microsoft.com/office/drawing/2014/main" id="{7CAA1F29-B978-632F-557C-E2998E3D6CDE}"/>
              </a:ext>
            </a:extLst>
          </p:cNvPr>
          <p:cNvSpPr txBox="1"/>
          <p:nvPr/>
        </p:nvSpPr>
        <p:spPr>
          <a:xfrm>
            <a:off x="12936496" y="4114625"/>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FDD731A5-0AE4-C57C-D2AB-9FF2106F6AEC}"/>
              </a:ext>
            </a:extLst>
          </p:cNvPr>
          <p:cNvPicPr>
            <a:picLocks noChangeAspect="1"/>
          </p:cNvPicPr>
          <p:nvPr/>
        </p:nvPicPr>
        <p:blipFill>
          <a:blip r:embed="rId12"/>
          <a:stretch>
            <a:fillRect/>
          </a:stretch>
        </p:blipFill>
        <p:spPr>
          <a:xfrm rot="5400000">
            <a:off x="11499053" y="4731120"/>
            <a:ext cx="571524" cy="171450"/>
          </a:xfrm>
          <a:prstGeom prst="rect">
            <a:avLst/>
          </a:prstGeom>
        </p:spPr>
      </p:pic>
      <p:sp>
        <p:nvSpPr>
          <p:cNvPr id="51" name="TextBox 50">
            <a:extLst>
              <a:ext uri="{FF2B5EF4-FFF2-40B4-BE49-F238E27FC236}">
                <a16:creationId xmlns:a16="http://schemas.microsoft.com/office/drawing/2014/main" id="{DF4F39CF-DFFC-1B05-A97B-76CCA4D563C6}"/>
              </a:ext>
            </a:extLst>
          </p:cNvPr>
          <p:cNvSpPr txBox="1"/>
          <p:nvPr/>
        </p:nvSpPr>
        <p:spPr>
          <a:xfrm>
            <a:off x="10250279" y="4126532"/>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DF34F09F-F688-73C2-304C-571467947403}"/>
              </a:ext>
            </a:extLst>
          </p:cNvPr>
          <p:cNvSpPr txBox="1"/>
          <p:nvPr/>
        </p:nvSpPr>
        <p:spPr>
          <a:xfrm>
            <a:off x="12309653" y="331924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50C06AFB-6074-F2BD-B4B7-365FAF4FCDE7}"/>
              </a:ext>
            </a:extLst>
          </p:cNvPr>
          <p:cNvSpPr txBox="1"/>
          <p:nvPr/>
        </p:nvSpPr>
        <p:spPr>
          <a:xfrm>
            <a:off x="11358491" y="5765023"/>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2516BDC3-9EA7-70D0-8766-B9CEDAF3D3C7}"/>
              </a:ext>
            </a:extLst>
          </p:cNvPr>
          <p:cNvSpPr txBox="1"/>
          <p:nvPr/>
        </p:nvSpPr>
        <p:spPr>
          <a:xfrm>
            <a:off x="9407214" y="1541377"/>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30" name="TextBox 29">
            <a:extLst>
              <a:ext uri="{FF2B5EF4-FFF2-40B4-BE49-F238E27FC236}">
                <a16:creationId xmlns:a16="http://schemas.microsoft.com/office/drawing/2014/main" id="{74A42B57-454D-5C99-0717-EE6340C0601C}"/>
              </a:ext>
            </a:extLst>
          </p:cNvPr>
          <p:cNvSpPr txBox="1"/>
          <p:nvPr/>
        </p:nvSpPr>
        <p:spPr>
          <a:xfrm>
            <a:off x="4809299" y="3227040"/>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err="1"/>
              <a:t>Sailuh</a:t>
            </a:r>
            <a:r>
              <a:rPr lang="en-US" sz="1800"/>
              <a:t>/</a:t>
            </a:r>
            <a:r>
              <a:rPr lang="en-US" sz="1800" err="1"/>
              <a:t>kaiaulu</a:t>
            </a:r>
            <a:endParaRPr lang="en-US" sz="1800"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89175EE8-864A-7185-D128-FC9B0225D804}"/>
              </a:ext>
            </a:extLst>
          </p:cNvPr>
          <p:cNvSpPr txBox="1"/>
          <p:nvPr/>
        </p:nvSpPr>
        <p:spPr>
          <a:xfrm>
            <a:off x="7065365" y="590714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Sailuh</a:t>
            </a:r>
            <a:r>
              <a:rPr lang="en-US"/>
              <a:t>/</a:t>
            </a:r>
            <a:r>
              <a:rPr lang="en-US" err="1"/>
              <a:t>kaiaulu_react</a:t>
            </a:r>
            <a:endParaRPr lang="en-US"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E1A4D413-CC67-8D9B-8674-B5C840A965E2}"/>
              </a:ext>
            </a:extLst>
          </p:cNvPr>
          <p:cNvSpPr txBox="1"/>
          <p:nvPr/>
        </p:nvSpPr>
        <p:spPr>
          <a:xfrm>
            <a:off x="7098114" y="7086521"/>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Sailuh</a:t>
            </a:r>
            <a:r>
              <a:rPr lang="en-US"/>
              <a:t>/</a:t>
            </a:r>
            <a:r>
              <a:rPr lang="en-US" err="1"/>
              <a:t>process_mining</a:t>
            </a:r>
            <a:endParaRPr lang="en-US"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667CB240-02A4-BD3F-1F3B-C6892ACF41D0}"/>
              </a:ext>
            </a:extLst>
          </p:cNvPr>
          <p:cNvSpPr txBox="1"/>
          <p:nvPr/>
        </p:nvSpPr>
        <p:spPr>
          <a:xfrm>
            <a:off x="7075078" y="6494148"/>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err="1"/>
              <a:t>Sailuh</a:t>
            </a:r>
            <a:r>
              <a:rPr lang="en-US"/>
              <a:t>/</a:t>
            </a:r>
            <a:r>
              <a:rPr lang="en-US" err="1"/>
              <a:t>sentiment_classifier</a:t>
            </a:r>
          </a:p>
        </p:txBody>
      </p:sp>
      <p:sp>
        <p:nvSpPr>
          <p:cNvPr id="270" name="TextBox 269">
            <a:extLst>
              <a:ext uri="{FF2B5EF4-FFF2-40B4-BE49-F238E27FC236}">
                <a16:creationId xmlns:a16="http://schemas.microsoft.com/office/drawing/2014/main" id="{24F4A74E-3DF0-47C0-DF54-C94F2C0D67DD}"/>
              </a:ext>
            </a:extLst>
          </p:cNvPr>
          <p:cNvSpPr txBox="1"/>
          <p:nvPr/>
        </p:nvSpPr>
        <p:spPr>
          <a:xfrm>
            <a:off x="7100458" y="7988863"/>
            <a:ext cx="1987038" cy="54358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7123F20C-46C7-1E9B-0B59-82134A440DB0}"/>
              </a:ext>
            </a:extLst>
          </p:cNvPr>
          <p:cNvSpPr txBox="1"/>
          <p:nvPr/>
        </p:nvSpPr>
        <p:spPr>
          <a:xfrm>
            <a:off x="7212638" y="8106654"/>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442E8EF3-0D06-F892-3A0B-17A53B20F809}"/>
              </a:ext>
            </a:extLst>
          </p:cNvPr>
          <p:cNvSpPr txBox="1"/>
          <p:nvPr/>
        </p:nvSpPr>
        <p:spPr>
          <a:xfrm>
            <a:off x="222484" y="1795540"/>
            <a:ext cx="4352283" cy="7076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a:t>
            </a:r>
            <a:r>
              <a:rPr lang="en-US" b="0" err="1">
                <a:cs typeface="Helvetica"/>
              </a:rPr>
              <a:t>Kaiaulu's</a:t>
            </a:r>
            <a:r>
              <a:rPr lang="en-US" b="0">
                <a:cs typeface="Helvetica"/>
              </a:rPr>
              <a:t> functions through a command line interface. This allows </a:t>
            </a:r>
            <a:r>
              <a:rPr lang="en-US" b="0" err="1">
                <a:cs typeface="Helvetica"/>
              </a:rPr>
              <a:t>server side</a:t>
            </a:r>
            <a:r>
              <a:rPr lang="en-US" b="0">
                <a:cs typeface="Helvetica"/>
              </a:rPr>
              <a:t> execution and use of </a:t>
            </a:r>
            <a:r>
              <a:rPr lang="en-US" b="0" err="1">
                <a:cs typeface="Helvetica"/>
              </a:rPr>
              <a:t>Kaiaulu</a:t>
            </a:r>
            <a:r>
              <a:rPr lang="en-US" b="0">
                <a:cs typeface="Helvetica"/>
              </a:rPr>
              <a:t> capabilities without knowledge of R.</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159F533B-89CF-1E77-BB39-3A7A9FA7A660}"/>
              </a:ext>
            </a:extLst>
          </p:cNvPr>
          <p:cNvSpPr txBox="1"/>
          <p:nvPr/>
        </p:nvSpPr>
        <p:spPr>
          <a:xfrm>
            <a:off x="9348325" y="182162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353BFDF0-3A92-754E-BB43-5C76A24084F9}"/>
              </a:ext>
            </a:extLst>
          </p:cNvPr>
          <p:cNvSpPr txBox="1"/>
          <p:nvPr/>
        </p:nvSpPr>
        <p:spPr>
          <a:xfrm>
            <a:off x="4614906" y="1820519"/>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Sailuh</a:t>
            </a:r>
            <a:r>
              <a:rPr lang="en-US" b="0">
                <a:cs typeface="Helvetica"/>
              </a:rPr>
              <a:t> tools such as </a:t>
            </a:r>
            <a:r>
              <a:rPr lang="en-US" b="0" err="1">
                <a:cs typeface="Helvetica"/>
              </a:rPr>
              <a:t>pykumu</a:t>
            </a:r>
            <a:r>
              <a:rPr lang="en-US" b="0">
                <a:cs typeface="Helvetica"/>
              </a:rPr>
              <a:t> rely on </a:t>
            </a:r>
            <a:r>
              <a:rPr lang="en-US" b="0" err="1">
                <a:cs typeface="Helvetica"/>
              </a:rPr>
              <a:t>kaiaulu</a:t>
            </a:r>
            <a:r>
              <a:rPr lang="en-US" b="0">
                <a:cs typeface="Helvetica"/>
              </a:rPr>
              <a:t> executables to download and refresh data. </a:t>
            </a:r>
            <a:r>
              <a:rPr lang="en-US" b="0" err="1">
                <a:cs typeface="Helvetica"/>
              </a:rPr>
              <a:t>Kaiaulu</a:t>
            </a:r>
            <a:r>
              <a:rPr lang="en-US" b="0">
                <a:cs typeface="Helvetica"/>
              </a:rPr>
              <a:t> executables are also made to provide </a:t>
            </a:r>
            <a:r>
              <a:rPr lang="en-US" b="0" err="1">
                <a:cs typeface="Helvetica"/>
              </a:rPr>
              <a:t>kaiaulu's</a:t>
            </a:r>
            <a:r>
              <a:rPr lang="en-US" b="0">
                <a:cs typeface="Helvetica"/>
              </a:rPr>
              <a:t> functions to users, tools, and projects outside of the </a:t>
            </a:r>
            <a:r>
              <a:rPr lang="en-US" b="0" err="1">
                <a:cs typeface="Helvetica"/>
              </a:rPr>
              <a:t>sailuh</a:t>
            </a:r>
            <a:r>
              <a:rPr lang="en-US" b="0">
                <a:cs typeface="Helvetica"/>
              </a:rPr>
              <a:t> ecosystem.</a:t>
            </a:r>
          </a:p>
        </p:txBody>
      </p:sp>
      <p:sp>
        <p:nvSpPr>
          <p:cNvPr id="298" name="TextBox 297">
            <a:extLst>
              <a:ext uri="{FF2B5EF4-FFF2-40B4-BE49-F238E27FC236}">
                <a16:creationId xmlns:a16="http://schemas.microsoft.com/office/drawing/2014/main" id="{F2067390-8692-ACD9-9688-C28D21BE3640}"/>
              </a:ext>
            </a:extLst>
          </p:cNvPr>
          <p:cNvSpPr txBox="1"/>
          <p:nvPr/>
        </p:nvSpPr>
        <p:spPr>
          <a:xfrm>
            <a:off x="274081" y="6955405"/>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err="1">
                <a:solidFill>
                  <a:srgbClr val="000000"/>
                </a:solidFill>
              </a:rPr>
              <a:t>Kaiaulu</a:t>
            </a:r>
            <a:r>
              <a:rPr lang="en-US" b="0">
                <a:solidFill>
                  <a:srgbClr val="000000"/>
                </a:solidFill>
              </a:rPr>
              <a:t>.</a:t>
            </a: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3490F6F4-F21E-E5FF-3447-8617731CC925}"/>
              </a:ext>
            </a:extLst>
          </p:cNvPr>
          <p:cNvSpPr/>
          <p:nvPr/>
        </p:nvSpPr>
        <p:spPr>
          <a:xfrm>
            <a:off x="220611" y="4066083"/>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2068F568-2DCC-97F7-3584-056CCD89D668}"/>
              </a:ext>
            </a:extLst>
          </p:cNvPr>
          <p:cNvSpPr txBox="1"/>
          <p:nvPr/>
        </p:nvSpPr>
        <p:spPr>
          <a:xfrm>
            <a:off x="322463" y="4144272"/>
            <a:ext cx="364653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7D55C117-ADB5-2B9A-750B-A5C6721C6474}"/>
              </a:ext>
            </a:extLst>
          </p:cNvPr>
          <p:cNvSpPr txBox="1"/>
          <p:nvPr/>
        </p:nvSpPr>
        <p:spPr>
          <a:xfrm>
            <a:off x="265065" y="4503604"/>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77E41997-AAD2-9658-33A9-72A55C68B261}"/>
              </a:ext>
            </a:extLst>
          </p:cNvPr>
          <p:cNvSpPr txBox="1"/>
          <p:nvPr/>
        </p:nvSpPr>
        <p:spPr>
          <a:xfrm>
            <a:off x="310787" y="4703953"/>
            <a:ext cx="4216585" cy="6370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764A9B6-8B51-8D4F-B75F-9E8543261A94}"/>
              </a:ext>
            </a:extLst>
          </p:cNvPr>
          <p:cNvSpPr txBox="1"/>
          <p:nvPr/>
        </p:nvSpPr>
        <p:spPr>
          <a:xfrm>
            <a:off x="7071311" y="5330505"/>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err="1"/>
              <a:t>Sailuh</a:t>
            </a:r>
            <a:r>
              <a:rPr lang="en-US"/>
              <a:t>/</a:t>
            </a:r>
            <a:r>
              <a:rPr lang="en-US" err="1"/>
              <a:t>pykumu</a:t>
            </a:r>
          </a:p>
        </p:txBody>
      </p:sp>
      <p:sp>
        <p:nvSpPr>
          <p:cNvPr id="22" name="TextBox 21">
            <a:extLst>
              <a:ext uri="{FF2B5EF4-FFF2-40B4-BE49-F238E27FC236}">
                <a16:creationId xmlns:a16="http://schemas.microsoft.com/office/drawing/2014/main" id="{BB2BC6FB-F883-AC15-1A02-FF18F2AF2DD6}"/>
              </a:ext>
            </a:extLst>
          </p:cNvPr>
          <p:cNvSpPr txBox="1"/>
          <p:nvPr/>
        </p:nvSpPr>
        <p:spPr>
          <a:xfrm>
            <a:off x="4648247" y="9088713"/>
            <a:ext cx="417477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cs typeface="Helvetica"/>
              </a:rPr>
              <a:t>Kaiaulu</a:t>
            </a:r>
            <a:r>
              <a:rPr lang="en-US" b="0">
                <a:cs typeface="Helvetica"/>
              </a:rPr>
              <a:t> executables provide data from sources such as </a:t>
            </a:r>
            <a:r>
              <a:rPr lang="en-US" b="0">
                <a:solidFill>
                  <a:schemeClr val="accent1"/>
                </a:solidFill>
                <a:cs typeface="Helvetica"/>
              </a:rPr>
              <a:t>Mail</a:t>
            </a:r>
            <a:r>
              <a:rPr lang="en-US" b="0">
                <a:solidFill>
                  <a:schemeClr val="tx1"/>
                </a:solidFill>
                <a:cs typeface="Helvetica"/>
              </a:rPr>
              <a:t>, </a:t>
            </a:r>
            <a:r>
              <a:rPr lang="en-US" b="0">
                <a:solidFill>
                  <a:schemeClr val="accent2"/>
                </a:solidFill>
                <a:cs typeface="Helvetica"/>
              </a:rPr>
              <a:t>JIRA</a:t>
            </a:r>
            <a:r>
              <a:rPr lang="en-US" b="0">
                <a:solidFill>
                  <a:schemeClr val="tx1"/>
                </a:solidFill>
                <a:cs typeface="Helvetica"/>
              </a:rPr>
              <a:t>, and </a:t>
            </a:r>
            <a:r>
              <a:rPr lang="en-US" b="0">
                <a:solidFill>
                  <a:schemeClr val="accent5"/>
                </a:solidFill>
                <a:cs typeface="Helvetica"/>
              </a:rPr>
              <a:t>GitHub</a:t>
            </a:r>
            <a:r>
              <a:rPr lang="en-US" b="0">
                <a:solidFill>
                  <a:schemeClr val="tx1"/>
                </a:solidFill>
                <a:cs typeface="Helvetica"/>
              </a:rPr>
              <a:t>. </a:t>
            </a:r>
            <a:r>
              <a:rPr lang="en-US" b="0" err="1">
                <a:solidFill>
                  <a:schemeClr val="tx1"/>
                </a:solidFill>
                <a:cs typeface="Helvetica"/>
              </a:rPr>
              <a:t>Kaiaulu's</a:t>
            </a:r>
            <a:r>
              <a:rPr lang="en-US" b="0">
                <a:solidFill>
                  <a:schemeClr val="tx1"/>
                </a:solidFill>
                <a:cs typeface="Helvetica"/>
              </a:rPr>
              <a:t> functions in </a:t>
            </a:r>
            <a:r>
              <a:rPr lang="en-US" b="0" err="1">
                <a:solidFill>
                  <a:schemeClr val="tx1"/>
                </a:solidFill>
                <a:cs typeface="Helvetica"/>
              </a:rPr>
              <a:t>Kaiaulu</a:t>
            </a:r>
            <a:r>
              <a:rPr lang="en-US" b="0">
                <a:solidFill>
                  <a:schemeClr val="tx1"/>
                </a:solidFill>
                <a:cs typeface="Helvetica"/>
              </a:rPr>
              <a:t>/R parse, analyze, and filter raw data from these sources and output them in usable forms such as csv's</a:t>
            </a:r>
            <a:endParaRPr lang="en-US">
              <a:solidFill>
                <a:schemeClr val="tx1"/>
              </a:solidFill>
            </a:endParaRPr>
          </a:p>
        </p:txBody>
      </p:sp>
      <p:pic>
        <p:nvPicPr>
          <p:cNvPr id="60" name="Picture 59" descr="A close-up of a letter&#10;&#10;AI-generated content may be incorrect.">
            <a:extLst>
              <a:ext uri="{FF2B5EF4-FFF2-40B4-BE49-F238E27FC236}">
                <a16:creationId xmlns:a16="http://schemas.microsoft.com/office/drawing/2014/main" id="{21E8A4C4-010A-72EF-9495-907F8AE069FA}"/>
              </a:ext>
            </a:extLst>
          </p:cNvPr>
          <p:cNvPicPr>
            <a:picLocks noChangeAspect="1"/>
          </p:cNvPicPr>
          <p:nvPr/>
        </p:nvPicPr>
        <p:blipFill>
          <a:blip r:embed="rId13"/>
          <a:stretch>
            <a:fillRect/>
          </a:stretch>
        </p:blipFill>
        <p:spPr>
          <a:xfrm>
            <a:off x="4651847" y="7989287"/>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58719E23-3050-E0E0-CCF7-4B7F373F4EC0}"/>
              </a:ext>
            </a:extLst>
          </p:cNvPr>
          <p:cNvPicPr>
            <a:picLocks noChangeAspect="1"/>
          </p:cNvPicPr>
          <p:nvPr/>
        </p:nvPicPr>
        <p:blipFill>
          <a:blip r:embed="rId14"/>
          <a:stretch>
            <a:fillRect/>
          </a:stretch>
        </p:blipFill>
        <p:spPr>
          <a:xfrm>
            <a:off x="4782391" y="5940106"/>
            <a:ext cx="914258" cy="905585"/>
          </a:xfrm>
          <a:prstGeom prst="rect">
            <a:avLst/>
          </a:prstGeom>
        </p:spPr>
      </p:pic>
      <p:pic>
        <p:nvPicPr>
          <p:cNvPr id="43" name="Picture 42">
            <a:extLst>
              <a:ext uri="{FF2B5EF4-FFF2-40B4-BE49-F238E27FC236}">
                <a16:creationId xmlns:a16="http://schemas.microsoft.com/office/drawing/2014/main" id="{4177C11D-687A-1E08-12E4-A0605975E509}"/>
              </a:ext>
            </a:extLst>
          </p:cNvPr>
          <p:cNvPicPr>
            <a:picLocks noChangeAspect="1"/>
          </p:cNvPicPr>
          <p:nvPr/>
        </p:nvPicPr>
        <p:blipFill>
          <a:blip r:embed="rId15"/>
          <a:stretch>
            <a:fillRect/>
          </a:stretch>
        </p:blipFill>
        <p:spPr>
          <a:xfrm>
            <a:off x="5741718" y="8007865"/>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4CD7CFC0-B25A-F335-3268-771E110E4103}"/>
              </a:ext>
            </a:extLst>
          </p:cNvPr>
          <p:cNvSpPr txBox="1"/>
          <p:nvPr/>
        </p:nvSpPr>
        <p:spPr>
          <a:xfrm>
            <a:off x="5742192" y="8385882"/>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FF0000"/>
                </a:solidFill>
              </a:rPr>
              <a:t>GitHub</a:t>
            </a: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54B91482-802E-6D5B-E704-D8250E3BDF2B}"/>
              </a:ext>
            </a:extLst>
          </p:cNvPr>
          <p:cNvSpPr txBox="1"/>
          <p:nvPr/>
        </p:nvSpPr>
        <p:spPr>
          <a:xfrm>
            <a:off x="5213992" y="8375872"/>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chemeClr val="accent2"/>
                </a:solidFill>
              </a:rPr>
              <a:t>Jira</a:t>
            </a:r>
          </a:p>
        </p:txBody>
      </p:sp>
      <p:sp>
        <p:nvSpPr>
          <p:cNvPr id="47" name="TextBox 46">
            <a:extLst>
              <a:ext uri="{FF2B5EF4-FFF2-40B4-BE49-F238E27FC236}">
                <a16:creationId xmlns:a16="http://schemas.microsoft.com/office/drawing/2014/main" id="{69043046-2FF1-0C5C-4367-741B5F79DCC1}"/>
              </a:ext>
            </a:extLst>
          </p:cNvPr>
          <p:cNvSpPr txBox="1"/>
          <p:nvPr/>
        </p:nvSpPr>
        <p:spPr>
          <a:xfrm>
            <a:off x="4650639" y="8361663"/>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chemeClr val="accent1"/>
                </a:solidFill>
              </a:rPr>
              <a:t>Mail</a:t>
            </a:r>
          </a:p>
        </p:txBody>
      </p:sp>
      <p:cxnSp>
        <p:nvCxnSpPr>
          <p:cNvPr id="29" name="Straight Arrow Connector 28">
            <a:extLst>
              <a:ext uri="{FF2B5EF4-FFF2-40B4-BE49-F238E27FC236}">
                <a16:creationId xmlns:a16="http://schemas.microsoft.com/office/drawing/2014/main" id="{D94B1EA9-14E1-06D1-693E-164F442FC748}"/>
              </a:ext>
            </a:extLst>
          </p:cNvPr>
          <p:cNvCxnSpPr/>
          <p:nvPr/>
        </p:nvCxnSpPr>
        <p:spPr>
          <a:xfrm>
            <a:off x="5253691" y="5199427"/>
            <a:ext cx="7460" cy="897478"/>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3662914C-9AF9-F173-FC5D-F36F71804C32}"/>
              </a:ext>
            </a:extLst>
          </p:cNvPr>
          <p:cNvCxnSpPr/>
          <p:nvPr/>
        </p:nvCxnSpPr>
        <p:spPr>
          <a:xfrm>
            <a:off x="6499032" y="5575099"/>
            <a:ext cx="44603" cy="274315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B5EEB69A-7125-7E73-9AFA-4E908B16A11F}"/>
              </a:ext>
            </a:extLst>
          </p:cNvPr>
          <p:cNvCxnSpPr/>
          <p:nvPr/>
        </p:nvCxnSpPr>
        <p:spPr>
          <a:xfrm>
            <a:off x="6517025" y="5567576"/>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8" name="Straight Arrow Connector 267">
            <a:extLst>
              <a:ext uri="{FF2B5EF4-FFF2-40B4-BE49-F238E27FC236}">
                <a16:creationId xmlns:a16="http://schemas.microsoft.com/office/drawing/2014/main" id="{BBEDF990-6CCD-AC43-D57A-5677D05321BF}"/>
              </a:ext>
            </a:extLst>
          </p:cNvPr>
          <p:cNvCxnSpPr>
            <a:cxnSpLocks/>
          </p:cNvCxnSpPr>
          <p:nvPr/>
        </p:nvCxnSpPr>
        <p:spPr>
          <a:xfrm>
            <a:off x="6536316" y="7217717"/>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00AC40AB-CEB8-892D-A2F2-646CECAE5572}"/>
              </a:ext>
            </a:extLst>
          </p:cNvPr>
          <p:cNvCxnSpPr>
            <a:cxnSpLocks/>
          </p:cNvCxnSpPr>
          <p:nvPr/>
        </p:nvCxnSpPr>
        <p:spPr>
          <a:xfrm>
            <a:off x="6518662" y="6676614"/>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2819D70B-0E12-C19C-C53B-5179B55F08E7}"/>
              </a:ext>
            </a:extLst>
          </p:cNvPr>
          <p:cNvCxnSpPr>
            <a:cxnSpLocks/>
          </p:cNvCxnSpPr>
          <p:nvPr/>
        </p:nvCxnSpPr>
        <p:spPr>
          <a:xfrm>
            <a:off x="6518749" y="6144383"/>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58D658E0-259A-D145-8A31-3321C2F83F0D}"/>
              </a:ext>
            </a:extLst>
          </p:cNvPr>
          <p:cNvCxnSpPr>
            <a:cxnSpLocks/>
          </p:cNvCxnSpPr>
          <p:nvPr/>
        </p:nvCxnSpPr>
        <p:spPr>
          <a:xfrm>
            <a:off x="6536575" y="8326811"/>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0" name="Line">
            <a:extLst>
              <a:ext uri="{FF2B5EF4-FFF2-40B4-BE49-F238E27FC236}">
                <a16:creationId xmlns:a16="http://schemas.microsoft.com/office/drawing/2014/main" id="{39E1104D-6B63-B68D-C793-4DD891FF4C45}"/>
              </a:ext>
            </a:extLst>
          </p:cNvPr>
          <p:cNvSpPr/>
          <p:nvPr/>
        </p:nvSpPr>
        <p:spPr>
          <a:xfrm>
            <a:off x="553749" y="2661878"/>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20" name="Straight Arrow Connector 19">
            <a:extLst>
              <a:ext uri="{FF2B5EF4-FFF2-40B4-BE49-F238E27FC236}">
                <a16:creationId xmlns:a16="http://schemas.microsoft.com/office/drawing/2014/main" id="{463376F0-4B18-1E12-966B-7F68AC9CE9DF}"/>
              </a:ext>
            </a:extLst>
          </p:cNvPr>
          <p:cNvCxnSpPr/>
          <p:nvPr/>
        </p:nvCxnSpPr>
        <p:spPr>
          <a:xfrm flipH="1" flipV="1">
            <a:off x="5240464" y="6927892"/>
            <a:ext cx="10289" cy="1043211"/>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p14="http://schemas.microsoft.com/office/powerpoint/2010/main">
        <mc:Choice Requires="p14">
          <p:contentPart p14:bwMode="auto" r:id="rId16">
            <p14:nvContentPartPr>
              <p14:cNvPr id="300" name="Ink 299">
                <a:extLst>
                  <a:ext uri="{FF2B5EF4-FFF2-40B4-BE49-F238E27FC236}">
                    <a16:creationId xmlns:a16="http://schemas.microsoft.com/office/drawing/2014/main" id="{46762F34-2E72-7D1E-F79F-10577E206D48}"/>
                  </a:ext>
                </a:extLst>
              </p14:cNvPr>
              <p14:cNvContentPartPr/>
              <p14:nvPr/>
            </p14:nvContentPartPr>
            <p14:xfrm>
              <a:off x="8219739" y="5539707"/>
              <a:ext cx="13744" cy="13744"/>
            </p14:xfrm>
          </p:contentPart>
        </mc:Choice>
        <mc:Fallback xmlns="">
          <p:pic>
            <p:nvPicPr>
              <p:cNvPr id="300" name="Ink 299">
                <a:extLst>
                  <a:ext uri="{FF2B5EF4-FFF2-40B4-BE49-F238E27FC236}">
                    <a16:creationId xmlns:a16="http://schemas.microsoft.com/office/drawing/2014/main" id="{46762F34-2E72-7D1E-F79F-10577E206D48}"/>
                  </a:ext>
                </a:extLst>
              </p:cNvPr>
              <p:cNvPicPr/>
              <p:nvPr/>
            </p:nvPicPr>
            <p:blipFill>
              <a:blip r:embed="rId17"/>
              <a:stretch>
                <a:fillRect/>
              </a:stretch>
            </p:blipFill>
            <p:spPr>
              <a:xfrm>
                <a:off x="7532539" y="4852507"/>
                <a:ext cx="1374400" cy="1374400"/>
              </a:xfrm>
              <a:prstGeom prst="rect">
                <a:avLst/>
              </a:prstGeom>
            </p:spPr>
          </p:pic>
        </mc:Fallback>
      </mc:AlternateContent>
      <p:pic>
        <p:nvPicPr>
          <p:cNvPr id="304" name="Picture 303" descr="A black and white logo&#10;&#10;AI-generated content may be incorrect.">
            <a:extLst>
              <a:ext uri="{FF2B5EF4-FFF2-40B4-BE49-F238E27FC236}">
                <a16:creationId xmlns:a16="http://schemas.microsoft.com/office/drawing/2014/main" id="{2AAF52BF-1DF0-0E86-0F5B-E94B5D694E02}"/>
              </a:ext>
            </a:extLst>
          </p:cNvPr>
          <p:cNvPicPr>
            <a:picLocks noChangeAspect="1"/>
          </p:cNvPicPr>
          <p:nvPr/>
        </p:nvPicPr>
        <p:blipFill>
          <a:blip r:embed="rId18"/>
          <a:stretch>
            <a:fillRect/>
          </a:stretch>
        </p:blipFill>
        <p:spPr>
          <a:xfrm>
            <a:off x="7539527" y="5054745"/>
            <a:ext cx="276189" cy="277029"/>
          </a:xfrm>
          <a:prstGeom prst="rect">
            <a:avLst/>
          </a:prstGeom>
        </p:spPr>
      </p:pic>
      <p:pic>
        <p:nvPicPr>
          <p:cNvPr id="305" name="Picture 304" descr="A black and white logo&#10;&#10;AI-generated content may be incorrect.">
            <a:extLst>
              <a:ext uri="{FF2B5EF4-FFF2-40B4-BE49-F238E27FC236}">
                <a16:creationId xmlns:a16="http://schemas.microsoft.com/office/drawing/2014/main" id="{3087D418-7D92-DF59-95D8-482215E7C7D3}"/>
              </a:ext>
            </a:extLst>
          </p:cNvPr>
          <p:cNvPicPr>
            <a:picLocks noChangeAspect="1"/>
          </p:cNvPicPr>
          <p:nvPr/>
        </p:nvPicPr>
        <p:blipFill>
          <a:blip r:embed="rId18"/>
          <a:stretch>
            <a:fillRect/>
          </a:stretch>
        </p:blipFill>
        <p:spPr>
          <a:xfrm>
            <a:off x="7517316" y="5655635"/>
            <a:ext cx="327111" cy="288344"/>
          </a:xfrm>
          <a:prstGeom prst="rect">
            <a:avLst/>
          </a:prstGeom>
        </p:spPr>
      </p:pic>
      <p:pic>
        <p:nvPicPr>
          <p:cNvPr id="306" name="Picture 305" descr="A black and white logo&#10;&#10;AI-generated content may be incorrect.">
            <a:extLst>
              <a:ext uri="{FF2B5EF4-FFF2-40B4-BE49-F238E27FC236}">
                <a16:creationId xmlns:a16="http://schemas.microsoft.com/office/drawing/2014/main" id="{1906D59F-E836-3F61-C7E2-BBF60E3D9E08}"/>
              </a:ext>
            </a:extLst>
          </p:cNvPr>
          <p:cNvPicPr>
            <a:picLocks noChangeAspect="1"/>
          </p:cNvPicPr>
          <p:nvPr/>
        </p:nvPicPr>
        <p:blipFill>
          <a:blip r:embed="rId18"/>
          <a:stretch>
            <a:fillRect/>
          </a:stretch>
        </p:blipFill>
        <p:spPr>
          <a:xfrm>
            <a:off x="7511812" y="6260692"/>
            <a:ext cx="327111" cy="288344"/>
          </a:xfrm>
          <a:prstGeom prst="rect">
            <a:avLst/>
          </a:prstGeom>
        </p:spPr>
      </p:pic>
      <p:pic>
        <p:nvPicPr>
          <p:cNvPr id="307" name="Picture 306" descr="A black and white logo&#10;&#10;AI-generated content may be incorrect.">
            <a:extLst>
              <a:ext uri="{FF2B5EF4-FFF2-40B4-BE49-F238E27FC236}">
                <a16:creationId xmlns:a16="http://schemas.microsoft.com/office/drawing/2014/main" id="{20992773-95AB-E87A-1CF4-82D81744A9B7}"/>
              </a:ext>
            </a:extLst>
          </p:cNvPr>
          <p:cNvPicPr>
            <a:picLocks noChangeAspect="1"/>
          </p:cNvPicPr>
          <p:nvPr/>
        </p:nvPicPr>
        <p:blipFill>
          <a:blip r:embed="rId18"/>
          <a:stretch>
            <a:fillRect/>
          </a:stretch>
        </p:blipFill>
        <p:spPr>
          <a:xfrm>
            <a:off x="7554055" y="6854436"/>
            <a:ext cx="327111" cy="288344"/>
          </a:xfrm>
          <a:prstGeom prst="rect">
            <a:avLst/>
          </a:prstGeom>
        </p:spPr>
      </p:pic>
      <p:cxnSp>
        <p:nvCxnSpPr>
          <p:cNvPr id="308" name="Straight Arrow Connector 307">
            <a:extLst>
              <a:ext uri="{FF2B5EF4-FFF2-40B4-BE49-F238E27FC236}">
                <a16:creationId xmlns:a16="http://schemas.microsoft.com/office/drawing/2014/main" id="{D1DC08F5-E5B7-21FF-004D-AFA83E4DE466}"/>
              </a:ext>
            </a:extLst>
          </p:cNvPr>
          <p:cNvCxnSpPr/>
          <p:nvPr/>
        </p:nvCxnSpPr>
        <p:spPr>
          <a:xfrm>
            <a:off x="5653606" y="6420383"/>
            <a:ext cx="855760" cy="884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09" name="Line">
            <a:extLst>
              <a:ext uri="{FF2B5EF4-FFF2-40B4-BE49-F238E27FC236}">
                <a16:creationId xmlns:a16="http://schemas.microsoft.com/office/drawing/2014/main" id="{409B47CB-3AAA-C3F8-FDF3-4A6EB1904C94}"/>
              </a:ext>
            </a:extLst>
          </p:cNvPr>
          <p:cNvSpPr/>
          <p:nvPr/>
        </p:nvSpPr>
        <p:spPr>
          <a:xfrm>
            <a:off x="9630376" y="8462247"/>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8" name="Rectangle 317">
            <a:extLst>
              <a:ext uri="{FF2B5EF4-FFF2-40B4-BE49-F238E27FC236}">
                <a16:creationId xmlns:a16="http://schemas.microsoft.com/office/drawing/2014/main" id="{8A6897D7-F538-6796-8D44-5E9654DAF9B7}"/>
              </a:ext>
            </a:extLst>
          </p:cNvPr>
          <p:cNvSpPr/>
          <p:nvPr/>
        </p:nvSpPr>
        <p:spPr>
          <a:xfrm>
            <a:off x="3004804" y="778701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A41A5C8E-CCE9-8EF1-C9BA-32973DEC7B57}"/>
              </a:ext>
            </a:extLst>
          </p:cNvPr>
          <p:cNvSpPr/>
          <p:nvPr/>
        </p:nvSpPr>
        <p:spPr>
          <a:xfrm>
            <a:off x="2499832" y="818972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1EFDA0F8-D5ED-8326-5083-D49001ACC3B0}"/>
              </a:ext>
            </a:extLst>
          </p:cNvPr>
          <p:cNvSpPr/>
          <p:nvPr/>
        </p:nvSpPr>
        <p:spPr>
          <a:xfrm>
            <a:off x="3340229" y="8189723"/>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650071B4-D19B-C824-6EE3-D612B3470CA3}"/>
              </a:ext>
            </a:extLst>
          </p:cNvPr>
          <p:cNvCxnSpPr/>
          <p:nvPr/>
        </p:nvCxnSpPr>
        <p:spPr>
          <a:xfrm rot="16200000" flipH="1">
            <a:off x="3812006" y="7953325"/>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329B2900-EDED-D178-A6BA-5446FCBA0C34}"/>
              </a:ext>
            </a:extLst>
          </p:cNvPr>
          <p:cNvCxnSpPr>
            <a:cxnSpLocks/>
          </p:cNvCxnSpPr>
          <p:nvPr/>
        </p:nvCxnSpPr>
        <p:spPr>
          <a:xfrm rot="10800000" flipH="1">
            <a:off x="2783498" y="7959743"/>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E4946F49-CA07-00C9-C315-188711BB97CF}"/>
              </a:ext>
            </a:extLst>
          </p:cNvPr>
          <p:cNvCxnSpPr>
            <a:cxnSpLocks/>
          </p:cNvCxnSpPr>
          <p:nvPr/>
        </p:nvCxnSpPr>
        <p:spPr>
          <a:xfrm rot="2700000" flipH="1">
            <a:off x="3168733" y="8433699"/>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88A53C79-0D05-ADE1-6540-6EDFD7E62BD2}"/>
              </a:ext>
            </a:extLst>
          </p:cNvPr>
          <p:cNvSpPr txBox="1"/>
          <p:nvPr/>
        </p:nvSpPr>
        <p:spPr>
          <a:xfrm>
            <a:off x="3008743" y="7710988"/>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err="1">
                <a:solidFill>
                  <a:srgbClr val="000000"/>
                </a:solidFill>
              </a:rPr>
              <a:t>analysisA</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8574F6E4-6BAF-D20A-01BF-4DCC81DA7C8C}"/>
              </a:ext>
            </a:extLst>
          </p:cNvPr>
          <p:cNvSpPr txBox="1"/>
          <p:nvPr/>
        </p:nvSpPr>
        <p:spPr>
          <a:xfrm>
            <a:off x="2523213" y="8115169"/>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err="1">
                <a:ln>
                  <a:noFill/>
                </a:ln>
                <a:solidFill>
                  <a:srgbClr val="000000"/>
                </a:solidFill>
                <a:effectLst/>
                <a:uFillTx/>
                <a:latin typeface="Source Sans Pro"/>
                <a:ea typeface="Source Sans Pro"/>
                <a:cs typeface="Source Sans Pro"/>
                <a:sym typeface="Source Sans Pro"/>
              </a:rPr>
              <a:t>analysisC</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9" name="TextBox 337">
            <a:extLst>
              <a:ext uri="{FF2B5EF4-FFF2-40B4-BE49-F238E27FC236}">
                <a16:creationId xmlns:a16="http://schemas.microsoft.com/office/drawing/2014/main" id="{AABE658B-40E2-9D9E-0CC9-1263EECEA441}"/>
              </a:ext>
            </a:extLst>
          </p:cNvPr>
          <p:cNvSpPr txBox="1"/>
          <p:nvPr/>
        </p:nvSpPr>
        <p:spPr>
          <a:xfrm>
            <a:off x="3357192" y="8122909"/>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err="1">
                <a:solidFill>
                  <a:srgbClr val="000000"/>
                </a:solidFill>
              </a:rPr>
              <a:t>analysisB</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5" name="Straight Connector 54">
            <a:extLst>
              <a:ext uri="{FF2B5EF4-FFF2-40B4-BE49-F238E27FC236}">
                <a16:creationId xmlns:a16="http://schemas.microsoft.com/office/drawing/2014/main" id="{D3C16489-FB42-9FBE-D84B-29714CC7FC85}"/>
              </a:ext>
            </a:extLst>
          </p:cNvPr>
          <p:cNvCxnSpPr/>
          <p:nvPr/>
        </p:nvCxnSpPr>
        <p:spPr>
          <a:xfrm>
            <a:off x="2953488" y="7967692"/>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717EA27F-2A5E-CC71-D48D-C343E6BF311C}"/>
              </a:ext>
            </a:extLst>
          </p:cNvPr>
          <p:cNvCxnSpPr>
            <a:cxnSpLocks/>
          </p:cNvCxnSpPr>
          <p:nvPr/>
        </p:nvCxnSpPr>
        <p:spPr>
          <a:xfrm rot="5400000">
            <a:off x="2953488" y="7976534"/>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 name="Rectangle 56">
            <a:extLst>
              <a:ext uri="{FF2B5EF4-FFF2-40B4-BE49-F238E27FC236}">
                <a16:creationId xmlns:a16="http://schemas.microsoft.com/office/drawing/2014/main" id="{0EFC76EC-03A1-CDEC-5ABD-3801C1DE62D9}"/>
              </a:ext>
            </a:extLst>
          </p:cNvPr>
          <p:cNvSpPr/>
          <p:nvPr/>
        </p:nvSpPr>
        <p:spPr>
          <a:xfrm>
            <a:off x="2918994" y="9376622"/>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8C64DCF1-0EDC-703C-543B-3E187E353554}"/>
              </a:ext>
            </a:extLst>
          </p:cNvPr>
          <p:cNvSpPr txBox="1"/>
          <p:nvPr/>
        </p:nvSpPr>
        <p:spPr>
          <a:xfrm>
            <a:off x="2914837" y="9548728"/>
            <a:ext cx="1357903" cy="6693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&gt; </a:t>
            </a:r>
            <a:r>
              <a:rPr kumimoji="0" lang="en-US" sz="1100" b="1" i="0" u="none" strike="noStrike" cap="none" spc="0" normalizeH="0" baseline="0" err="1">
                <a:ln>
                  <a:noFill/>
                </a:ln>
                <a:solidFill>
                  <a:srgbClr val="000000"/>
                </a:solidFill>
                <a:effectLst/>
                <a:uFillTx/>
                <a:latin typeface="Source Sans Pro"/>
                <a:ea typeface="Source Sans Pro"/>
                <a:cs typeface="Source Sans Pro"/>
                <a:sym typeface="Source Sans Pro"/>
              </a:rPr>
              <a:t>Rscript</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 </a:t>
            </a:r>
            <a:r>
              <a:rPr kumimoji="0" lang="en-US" sz="1100" b="1" i="0" u="none" strike="noStrike" cap="none" spc="0" normalizeH="0" baseline="0">
                <a:ln>
                  <a:noFill/>
                </a:ln>
                <a:solidFill>
                  <a:schemeClr val="accent5"/>
                </a:solidFill>
                <a:effectLst/>
                <a:uFillTx/>
                <a:latin typeface="Source Sans Pro"/>
                <a:ea typeface="Source Sans Pro"/>
                <a:cs typeface="Source Sans Pro"/>
                <a:sym typeface="Source Sans Pro"/>
              </a:rPr>
              <a:t>exec</a:t>
            </a:r>
            <a:r>
              <a:rPr lang="en-US" sz="1100">
                <a:solidFill>
                  <a:schemeClr val="accent5"/>
                </a:solidFill>
              </a:rPr>
              <a:t>/*.</a:t>
            </a:r>
            <a:r>
              <a:rPr kumimoji="0" lang="en-US" sz="1100" b="1" i="0" u="none" strike="noStrike" cap="none" spc="0" normalizeH="0" baseline="0">
                <a:ln>
                  <a:noFill/>
                </a:ln>
                <a:solidFill>
                  <a:schemeClr val="accent5"/>
                </a:solidFill>
                <a:effectLst/>
                <a:uFillTx/>
                <a:latin typeface="Source Sans Pro"/>
                <a:ea typeface="Source Sans Pro"/>
                <a:cs typeface="Source Sans Pro"/>
                <a:sym typeface="Source Sans Pro"/>
              </a:rPr>
              <a:t>R</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 project1.yml</a:t>
            </a:r>
            <a:endParaRPr lang="en-US" sz="1100" b="1" i="0" u="none" strike="noStrike" cap="none" spc="0" normalizeH="0" baseline="0">
              <a:ln>
                <a:noFill/>
              </a:ln>
              <a:solidFill>
                <a:srgbClr val="000000"/>
              </a:solidFill>
              <a:effectLst/>
              <a:uFillTx/>
              <a:latin typeface="Source Sans Pro"/>
              <a:ea typeface="Source Sans Pro"/>
              <a:cs typeface="Source Sans Pro"/>
            </a:endParaRPr>
          </a:p>
          <a:p>
            <a:pPr marL="0" marR="0" indent="0" algn="l" defTabSz="584200" rtl="0" fontAlgn="auto" latinLnBrk="0" hangingPunct="0">
              <a:lnSpc>
                <a:spcPct val="100000"/>
              </a:lnSpc>
              <a:spcBef>
                <a:spcPts val="200"/>
              </a:spcBef>
              <a:spcAft>
                <a:spcPts val="0"/>
              </a:spcAft>
              <a:buClrTx/>
              <a:buSzTx/>
              <a:buFontTx/>
              <a:buNone/>
              <a:tabLst/>
            </a:pPr>
            <a:r>
              <a:rPr lang="en-US" sz="1100" err="1">
                <a:solidFill>
                  <a:srgbClr val="000000"/>
                </a:solidFill>
              </a:rPr>
              <a:t>analysisB.yml</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58" name="TextBox 766">
            <a:extLst>
              <a:ext uri="{FF2B5EF4-FFF2-40B4-BE49-F238E27FC236}">
                <a16:creationId xmlns:a16="http://schemas.microsoft.com/office/drawing/2014/main" id="{6D977425-D776-B612-862D-FE8C3E7401A8}"/>
              </a:ext>
            </a:extLst>
          </p:cNvPr>
          <p:cNvSpPr txBox="1"/>
          <p:nvPr/>
        </p:nvSpPr>
        <p:spPr>
          <a:xfrm>
            <a:off x="484057" y="76296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FDB1B024-A5CA-E419-739A-237CA21B9672}"/>
              </a:ext>
            </a:extLst>
          </p:cNvPr>
          <p:cNvSpPr txBox="1"/>
          <p:nvPr/>
        </p:nvSpPr>
        <p:spPr>
          <a:xfrm>
            <a:off x="2910994" y="9088557"/>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25C0A421-02C3-B00D-31BD-4F1E052080E4}"/>
              </a:ext>
            </a:extLst>
          </p:cNvPr>
          <p:cNvSpPr txBox="1"/>
          <p:nvPr/>
        </p:nvSpPr>
        <p:spPr>
          <a:xfrm>
            <a:off x="2509455" y="762326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E62AD70A-57FC-A4BA-E18B-249030911708}"/>
              </a:ext>
            </a:extLst>
          </p:cNvPr>
          <p:cNvSpPr txBox="1"/>
          <p:nvPr/>
        </p:nvSpPr>
        <p:spPr>
          <a:xfrm>
            <a:off x="292087" y="862153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2CE20B9F-28BB-32C1-D267-ACEF9FC368A9}"/>
              </a:ext>
            </a:extLst>
          </p:cNvPr>
          <p:cNvGrpSpPr/>
          <p:nvPr/>
        </p:nvGrpSpPr>
        <p:grpSpPr>
          <a:xfrm>
            <a:off x="299449" y="8880759"/>
            <a:ext cx="1392437" cy="1323032"/>
            <a:chOff x="4888883" y="5367513"/>
            <a:chExt cx="1667079" cy="1734236"/>
          </a:xfrm>
        </p:grpSpPr>
        <p:sp>
          <p:nvSpPr>
            <p:cNvPr id="277" name="Rectangle 276">
              <a:extLst>
                <a:ext uri="{FF2B5EF4-FFF2-40B4-BE49-F238E27FC236}">
                  <a16:creationId xmlns:a16="http://schemas.microsoft.com/office/drawing/2014/main" id="{29F55FD4-5060-DF38-B5DE-82AD6B36DD3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1" name="TextBox 754">
              <a:extLst>
                <a:ext uri="{FF2B5EF4-FFF2-40B4-BE49-F238E27FC236}">
                  <a16:creationId xmlns:a16="http://schemas.microsoft.com/office/drawing/2014/main" id="{A3A98B7F-735F-1639-14E9-036AC686AFD3}"/>
                </a:ext>
              </a:extLst>
            </p:cNvPr>
            <p:cNvSpPr txBox="1"/>
            <p:nvPr/>
          </p:nvSpPr>
          <p:spPr>
            <a:xfrm>
              <a:off x="4994268" y="5399421"/>
              <a:ext cx="898883" cy="3051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3C557827-675C-51EF-A431-1EF7B20FC353}"/>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AF7E681E-CA90-26AA-5377-92CEBC335BDF}"/>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0877A008-4B81-920C-7CE3-6FB1870A07AF}"/>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8FC95AC8-2FCA-3DEB-A053-3DDAFEE2DA02}"/>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FDD44F44-295F-37B3-47D7-8DDA304DCB23}"/>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1B5B65EF-9E31-B2EE-7BBC-07229BEFCB46}"/>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89" name="Rectangle 288">
              <a:extLst>
                <a:ext uri="{FF2B5EF4-FFF2-40B4-BE49-F238E27FC236}">
                  <a16:creationId xmlns:a16="http://schemas.microsoft.com/office/drawing/2014/main" id="{3DF92A5C-2133-FCAB-ABE9-D215BEE43013}"/>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1" name="Rectangle 290">
              <a:extLst>
                <a:ext uri="{FF2B5EF4-FFF2-40B4-BE49-F238E27FC236}">
                  <a16:creationId xmlns:a16="http://schemas.microsoft.com/office/drawing/2014/main" id="{C831788F-E35A-2B39-D71A-8060D01558B9}"/>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3D92CD31-7EA6-664D-166F-09C51F93E804}"/>
                </a:ext>
              </a:extLst>
            </p:cNvPr>
            <p:cNvSpPr txBox="1"/>
            <p:nvPr/>
          </p:nvSpPr>
          <p:spPr>
            <a:xfrm>
              <a:off x="6105019" y="5367513"/>
              <a:ext cx="4388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err="1">
                  <a:ln>
                    <a:noFill/>
                  </a:ln>
                  <a:solidFill>
                    <a:srgbClr val="4C4C4C"/>
                  </a:solidFill>
                  <a:effectLst/>
                  <a:uFillTx/>
                  <a:latin typeface="Source Sans Pro"/>
                  <a:ea typeface="Source Sans Pro"/>
                  <a:cs typeface="Source Sans Pro"/>
                  <a:sym typeface="Source Sans Pro"/>
                </a:rPr>
                <a:t>Rmd</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94" name="TextBox 5">
              <a:extLst>
                <a:ext uri="{FF2B5EF4-FFF2-40B4-BE49-F238E27FC236}">
                  <a16:creationId xmlns:a16="http://schemas.microsoft.com/office/drawing/2014/main" id="{2AA1493F-8D1A-C6C6-CC51-B2F5ABC28549}"/>
                </a:ext>
              </a:extLst>
            </p:cNvPr>
            <p:cNvSpPr txBox="1"/>
            <p:nvPr/>
          </p:nvSpPr>
          <p:spPr>
            <a:xfrm>
              <a:off x="5035667" y="6255106"/>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t>
              </a:r>
              <a:r>
                <a:rPr lang="en-US" sz="800" err="1">
                  <a:solidFill>
                    <a:srgbClr val="000000"/>
                  </a:solidFill>
                </a:rPr>
                <a:t>analysisB.yml</a:t>
              </a:r>
              <a:r>
                <a:rPr lang="en-US" sz="800">
                  <a:solidFill>
                    <a:srgbClr val="000000"/>
                  </a:solidFill>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grpSp>
          <p:nvGrpSpPr>
            <p:cNvPr id="295" name="Group 294">
              <a:extLst>
                <a:ext uri="{FF2B5EF4-FFF2-40B4-BE49-F238E27FC236}">
                  <a16:creationId xmlns:a16="http://schemas.microsoft.com/office/drawing/2014/main" id="{7567C23D-552A-78CF-A9C4-B412C014D48C}"/>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B4C7D0A4-5CE6-1BCB-A2BE-C4B8BADF6033}"/>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84CE17DC-E729-EF5D-18B7-6F133971F460}"/>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897002AC-FF40-063E-6212-6A3510BA0DD8}"/>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37AE79EB-9857-0364-29D8-DCAC03225D8B}"/>
              </a:ext>
            </a:extLst>
          </p:cNvPr>
          <p:cNvSpPr/>
          <p:nvPr/>
        </p:nvSpPr>
        <p:spPr>
          <a:xfrm>
            <a:off x="892950" y="778707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1F05278A-37A4-896B-B5F3-87289796618C}"/>
              </a:ext>
            </a:extLst>
          </p:cNvPr>
          <p:cNvSpPr/>
          <p:nvPr/>
        </p:nvSpPr>
        <p:spPr>
          <a:xfrm>
            <a:off x="387877" y="818977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CF68CF27-CDA3-8D8D-2BB3-730CBC78A883}"/>
              </a:ext>
            </a:extLst>
          </p:cNvPr>
          <p:cNvSpPr/>
          <p:nvPr/>
        </p:nvSpPr>
        <p:spPr>
          <a:xfrm>
            <a:off x="1228441" y="8189775"/>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948688E1-DCF0-5F28-5B70-730B2F3CEB8D}"/>
              </a:ext>
            </a:extLst>
          </p:cNvPr>
          <p:cNvCxnSpPr>
            <a:cxnSpLocks/>
          </p:cNvCxnSpPr>
          <p:nvPr/>
        </p:nvCxnSpPr>
        <p:spPr>
          <a:xfrm rot="16200000" flipH="1">
            <a:off x="1700312" y="7953376"/>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D5A92941-90C1-8354-47E0-11E95D0B252B}"/>
              </a:ext>
            </a:extLst>
          </p:cNvPr>
          <p:cNvCxnSpPr>
            <a:cxnSpLocks/>
          </p:cNvCxnSpPr>
          <p:nvPr/>
        </p:nvCxnSpPr>
        <p:spPr>
          <a:xfrm rot="10800000" flipH="1">
            <a:off x="671600" y="795979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4F8C363B-8484-13F5-CF70-FAFD948AED70}"/>
              </a:ext>
            </a:extLst>
          </p:cNvPr>
          <p:cNvCxnSpPr>
            <a:cxnSpLocks/>
          </p:cNvCxnSpPr>
          <p:nvPr/>
        </p:nvCxnSpPr>
        <p:spPr>
          <a:xfrm rot="2700000" flipH="1">
            <a:off x="1056911" y="8433751"/>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63724521-3C0A-3406-1707-FAE76DE00A65}"/>
              </a:ext>
            </a:extLst>
          </p:cNvPr>
          <p:cNvSpPr txBox="1"/>
          <p:nvPr/>
        </p:nvSpPr>
        <p:spPr>
          <a:xfrm>
            <a:off x="896889" y="7711040"/>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800B5A9E-1625-D56B-D707-55E1F6335CDD}"/>
              </a:ext>
            </a:extLst>
          </p:cNvPr>
          <p:cNvSpPr txBox="1"/>
          <p:nvPr/>
        </p:nvSpPr>
        <p:spPr>
          <a:xfrm>
            <a:off x="411263" y="8115221"/>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F885973F-52CF-044D-6189-A0EE8C627956}"/>
              </a:ext>
            </a:extLst>
          </p:cNvPr>
          <p:cNvSpPr txBox="1"/>
          <p:nvPr/>
        </p:nvSpPr>
        <p:spPr>
          <a:xfrm>
            <a:off x="1245408" y="8122960"/>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47" name="Straight Connector 346">
            <a:extLst>
              <a:ext uri="{FF2B5EF4-FFF2-40B4-BE49-F238E27FC236}">
                <a16:creationId xmlns:a16="http://schemas.microsoft.com/office/drawing/2014/main" id="{0264D144-E056-CF5C-BFFF-35372C1C4DE0}"/>
              </a:ext>
            </a:extLst>
          </p:cNvPr>
          <p:cNvCxnSpPr>
            <a:cxnSpLocks/>
          </p:cNvCxnSpPr>
          <p:nvPr/>
        </p:nvCxnSpPr>
        <p:spPr>
          <a:xfrm>
            <a:off x="841623" y="7967744"/>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BDC97F5C-BDA9-2850-FA6E-743947F6B19C}"/>
              </a:ext>
            </a:extLst>
          </p:cNvPr>
          <p:cNvCxnSpPr>
            <a:cxnSpLocks/>
          </p:cNvCxnSpPr>
          <p:nvPr/>
        </p:nvCxnSpPr>
        <p:spPr>
          <a:xfrm rot="5400000">
            <a:off x="841623" y="7976585"/>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0" name="Straight Arrow Connector 349">
            <a:extLst>
              <a:ext uri="{FF2B5EF4-FFF2-40B4-BE49-F238E27FC236}">
                <a16:creationId xmlns:a16="http://schemas.microsoft.com/office/drawing/2014/main" id="{117F4D95-2764-B095-DD61-77480245D90A}"/>
              </a:ext>
            </a:extLst>
          </p:cNvPr>
          <p:cNvCxnSpPr/>
          <p:nvPr/>
        </p:nvCxnSpPr>
        <p:spPr>
          <a:xfrm>
            <a:off x="3416547" y="8692079"/>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0B7B6F33-F95F-6CC1-6A34-E1FBCE5A079A}"/>
              </a:ext>
            </a:extLst>
          </p:cNvPr>
          <p:cNvSpPr txBox="1"/>
          <p:nvPr/>
        </p:nvSpPr>
        <p:spPr>
          <a:xfrm>
            <a:off x="3488746" y="8771213"/>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t>
            </a:r>
            <a:r>
              <a:rPr lang="en-US" sz="1000" err="1">
                <a:solidFill>
                  <a:srgbClr val="000000"/>
                </a:solidFill>
              </a:rPr>
              <a:t>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C73F636E-7793-760D-BEA8-797DDE9B67F0}"/>
              </a:ext>
            </a:extLst>
          </p:cNvPr>
          <p:cNvSpPr txBox="1"/>
          <p:nvPr/>
        </p:nvSpPr>
        <p:spPr>
          <a:xfrm>
            <a:off x="2915551" y="9366940"/>
            <a:ext cx="1358728"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327349A0-7ADC-37E2-A19A-A3FB0D6FB1A3}"/>
              </a:ext>
            </a:extLst>
          </p:cNvPr>
          <p:cNvSpPr txBox="1"/>
          <p:nvPr/>
        </p:nvSpPr>
        <p:spPr>
          <a:xfrm>
            <a:off x="3738365" y="8972642"/>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FA3F80E8-F96B-27B8-1E88-854D9AC2894B}"/>
              </a:ext>
            </a:extLst>
          </p:cNvPr>
          <p:cNvSpPr txBox="1"/>
          <p:nvPr/>
        </p:nvSpPr>
        <p:spPr>
          <a:xfrm>
            <a:off x="1996975" y="8743741"/>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t>
            </a:r>
            <a:r>
              <a:rPr lang="en-US" sz="1000" err="1">
                <a:solidFill>
                  <a:srgbClr val="000000"/>
                </a:solidFill>
              </a:rPr>
              <a:t>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7916170F-9187-6EF5-54D7-F6C3CB3D917F}"/>
              </a:ext>
            </a:extLst>
          </p:cNvPr>
          <p:cNvCxnSpPr/>
          <p:nvPr/>
        </p:nvCxnSpPr>
        <p:spPr>
          <a:xfrm flipH="1">
            <a:off x="1713673" y="9726642"/>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C6639647-2167-2E63-9DCF-7801959F2D5F}"/>
              </a:ext>
            </a:extLst>
          </p:cNvPr>
          <p:cNvCxnSpPr/>
          <p:nvPr/>
        </p:nvCxnSpPr>
        <p:spPr>
          <a:xfrm flipH="1">
            <a:off x="1983283" y="8678586"/>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EDB1FAD5-3D65-C95D-5A30-8A481CE0A512}"/>
              </a:ext>
            </a:extLst>
          </p:cNvPr>
          <p:cNvSpPr txBox="1"/>
          <p:nvPr/>
        </p:nvSpPr>
        <p:spPr>
          <a:xfrm>
            <a:off x="4994151" y="4496613"/>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26589D7F-1601-28AF-4C3B-74261E9B3A07}"/>
              </a:ext>
            </a:extLst>
          </p:cNvPr>
          <p:cNvSpPr txBox="1"/>
          <p:nvPr/>
        </p:nvSpPr>
        <p:spPr>
          <a:xfrm>
            <a:off x="6004899" y="4489916"/>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analysis.yml</a:t>
            </a:r>
            <a:endParaRPr lang="en-US" sz="1200" b="1" i="0" u="none" strike="noStrike" cap="none" spc="0" normalizeH="0" baseline="0" err="1">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35B1D7FD-F5CB-73B6-43C3-97A63524DD31}"/>
              </a:ext>
            </a:extLst>
          </p:cNvPr>
          <p:cNvPicPr>
            <a:picLocks noChangeAspect="1"/>
          </p:cNvPicPr>
          <p:nvPr/>
        </p:nvPicPr>
        <p:blipFill>
          <a:blip r:embed="rId19"/>
          <a:stretch>
            <a:fillRect/>
          </a:stretch>
        </p:blipFill>
        <p:spPr>
          <a:xfrm>
            <a:off x="5143917" y="3658915"/>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A7A875E4-7E54-0D8B-9B79-7C51A2F0D65E}"/>
              </a:ext>
            </a:extLst>
          </p:cNvPr>
          <p:cNvPicPr>
            <a:picLocks noChangeAspect="1"/>
          </p:cNvPicPr>
          <p:nvPr/>
        </p:nvPicPr>
        <p:blipFill>
          <a:blip r:embed="rId19"/>
          <a:stretch>
            <a:fillRect/>
          </a:stretch>
        </p:blipFill>
        <p:spPr>
          <a:xfrm>
            <a:off x="6128694" y="3658915"/>
            <a:ext cx="666623" cy="838200"/>
          </a:xfrm>
          <a:prstGeom prst="rect">
            <a:avLst/>
          </a:prstGeom>
        </p:spPr>
      </p:pic>
      <p:pic>
        <p:nvPicPr>
          <p:cNvPr id="359" name="Picture 358">
            <a:extLst>
              <a:ext uri="{FF2B5EF4-FFF2-40B4-BE49-F238E27FC236}">
                <a16:creationId xmlns:a16="http://schemas.microsoft.com/office/drawing/2014/main" id="{E5E2ED70-4740-DC01-2B16-31D8DA877154}"/>
              </a:ext>
            </a:extLst>
          </p:cNvPr>
          <p:cNvPicPr>
            <a:picLocks noChangeAspect="1"/>
          </p:cNvPicPr>
          <p:nvPr/>
        </p:nvPicPr>
        <p:blipFill>
          <a:blip r:embed="rId15"/>
          <a:stretch>
            <a:fillRect/>
          </a:stretch>
        </p:blipFill>
        <p:spPr>
          <a:xfrm>
            <a:off x="5142153" y="8007901"/>
            <a:ext cx="554321" cy="415604"/>
          </a:xfrm>
          <a:prstGeom prst="rect">
            <a:avLst/>
          </a:prstGeom>
          <a:ln w="28575">
            <a:solidFill>
              <a:schemeClr val="bg1"/>
            </a:solidFill>
          </a:ln>
        </p:spPr>
      </p:pic>
      <p:sp>
        <p:nvSpPr>
          <p:cNvPr id="360" name="TextBox 359">
            <a:extLst>
              <a:ext uri="{FF2B5EF4-FFF2-40B4-BE49-F238E27FC236}">
                <a16:creationId xmlns:a16="http://schemas.microsoft.com/office/drawing/2014/main" id="{B0BC6B89-0168-FA2A-E5C1-63D6FF4EBDA7}"/>
              </a:ext>
            </a:extLst>
          </p:cNvPr>
          <p:cNvSpPr txBox="1"/>
          <p:nvPr/>
        </p:nvSpPr>
        <p:spPr>
          <a:xfrm>
            <a:off x="4926295" y="6642626"/>
            <a:ext cx="94041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chemeClr val="accent5"/>
                </a:solidFill>
              </a:rPr>
              <a:t>exec/*.R</a:t>
            </a:r>
            <a:endParaRPr lang="en-US" sz="1200" b="1" i="0" u="none" strike="noStrike" cap="none" spc="0" normalizeH="0" baseline="0">
              <a:ln>
                <a:noFill/>
              </a:ln>
              <a:solidFill>
                <a:schemeClr val="accent5"/>
              </a:solidFill>
              <a:effectLst/>
              <a:uFillTx/>
              <a:latin typeface="Source Sans Pro"/>
              <a:ea typeface="Source Sans Pro"/>
              <a:cs typeface="Source Sans Pro"/>
            </a:endParaRPr>
          </a:p>
        </p:txBody>
      </p:sp>
      <p:cxnSp>
        <p:nvCxnSpPr>
          <p:cNvPr id="361" name="Straight Arrow Connector 360">
            <a:extLst>
              <a:ext uri="{FF2B5EF4-FFF2-40B4-BE49-F238E27FC236}">
                <a16:creationId xmlns:a16="http://schemas.microsoft.com/office/drawing/2014/main" id="{CD1511A8-F242-F2FD-2A08-26FC42FAD83B}"/>
              </a:ext>
            </a:extLst>
          </p:cNvPr>
          <p:cNvCxnSpPr/>
          <p:nvPr/>
        </p:nvCxnSpPr>
        <p:spPr>
          <a:xfrm>
            <a:off x="5963472" y="4842009"/>
            <a:ext cx="2842" cy="3862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2" name="Straight Arrow Connector 361">
            <a:extLst>
              <a:ext uri="{FF2B5EF4-FFF2-40B4-BE49-F238E27FC236}">
                <a16:creationId xmlns:a16="http://schemas.microsoft.com/office/drawing/2014/main" id="{859F8ED5-78E1-2908-C754-C78249C0230D}"/>
              </a:ext>
            </a:extLst>
          </p:cNvPr>
          <p:cNvCxnSpPr/>
          <p:nvPr/>
        </p:nvCxnSpPr>
        <p:spPr>
          <a:xfrm flipH="1">
            <a:off x="5255526" y="5216422"/>
            <a:ext cx="713384" cy="2757"/>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63" name="Picture 362">
            <a:extLst>
              <a:ext uri="{FF2B5EF4-FFF2-40B4-BE49-F238E27FC236}">
                <a16:creationId xmlns:a16="http://schemas.microsoft.com/office/drawing/2014/main" id="{1A4BC15B-6711-25AE-5893-2BD2BC3E42C7}"/>
              </a:ext>
            </a:extLst>
          </p:cNvPr>
          <p:cNvPicPr>
            <a:picLocks noChangeAspect="1"/>
          </p:cNvPicPr>
          <p:nvPr/>
        </p:nvPicPr>
        <p:blipFill>
          <a:blip r:embed="rId14"/>
          <a:stretch>
            <a:fillRect/>
          </a:stretch>
        </p:blipFill>
        <p:spPr>
          <a:xfrm>
            <a:off x="11543533" y="3876799"/>
            <a:ext cx="538060" cy="507646"/>
          </a:xfrm>
          <a:prstGeom prst="rect">
            <a:avLst/>
          </a:prstGeom>
        </p:spPr>
      </p:pic>
      <p:sp>
        <p:nvSpPr>
          <p:cNvPr id="365" name="TextBox 364">
            <a:extLst>
              <a:ext uri="{FF2B5EF4-FFF2-40B4-BE49-F238E27FC236}">
                <a16:creationId xmlns:a16="http://schemas.microsoft.com/office/drawing/2014/main" id="{E443FB29-413D-8F83-A25B-D051C57E56CF}"/>
              </a:ext>
            </a:extLst>
          </p:cNvPr>
          <p:cNvSpPr txBox="1"/>
          <p:nvPr/>
        </p:nvSpPr>
        <p:spPr>
          <a:xfrm>
            <a:off x="11492219" y="4239230"/>
            <a:ext cx="94041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chemeClr val="accent5"/>
                </a:solidFill>
              </a:rPr>
              <a:t>exec/*.R</a:t>
            </a:r>
            <a:endParaRPr lang="en-US" sz="1200" b="1" i="0" u="none" strike="noStrike" cap="none" spc="0" normalizeH="0" baseline="0">
              <a:ln>
                <a:noFill/>
              </a:ln>
              <a:solidFill>
                <a:schemeClr val="accent5"/>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5BBEC391-E29F-5A61-1151-6CDC41DD4B22}"/>
              </a:ext>
            </a:extLst>
          </p:cNvPr>
          <p:cNvSpPr txBox="1"/>
          <p:nvPr/>
        </p:nvSpPr>
        <p:spPr>
          <a:xfrm>
            <a:off x="9621192" y="8674757"/>
            <a:ext cx="24609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Why executables?</a:t>
            </a:r>
            <a:endParaRPr lang="en-US"/>
          </a:p>
        </p:txBody>
      </p:sp>
      <p:sp>
        <p:nvSpPr>
          <p:cNvPr id="367" name="TextBox 366">
            <a:extLst>
              <a:ext uri="{FF2B5EF4-FFF2-40B4-BE49-F238E27FC236}">
                <a16:creationId xmlns:a16="http://schemas.microsoft.com/office/drawing/2014/main" id="{3B2E6674-50B1-71C6-03BA-A67F7C0C0CD9}"/>
              </a:ext>
            </a:extLst>
          </p:cNvPr>
          <p:cNvSpPr txBox="1"/>
          <p:nvPr/>
        </p:nvSpPr>
        <p:spPr>
          <a:xfrm>
            <a:off x="9564322" y="9022892"/>
            <a:ext cx="4269963"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remove the need to manually write R scripts, fetch data, or manage complex workflows. Instead of handling APIs, parsing data, and chaining steps manually, </a:t>
            </a:r>
            <a:r>
              <a:rPr lang="en-US" b="0" err="1">
                <a:cs typeface="Helvetica"/>
              </a:rPr>
              <a:t>Kaiaulu</a:t>
            </a:r>
            <a:r>
              <a:rPr lang="en-US" b="0">
                <a:cs typeface="Helvetica"/>
              </a:rPr>
              <a:t> executables do this from configuration files . This allows you to focus on defining your analysis rather than implementing it.</a:t>
            </a:r>
            <a:endParaRPr lang="en-US"/>
          </a:p>
        </p:txBody>
      </p:sp>
      <p:sp>
        <p:nvSpPr>
          <p:cNvPr id="368" name="Line">
            <a:extLst>
              <a:ext uri="{FF2B5EF4-FFF2-40B4-BE49-F238E27FC236}">
                <a16:creationId xmlns:a16="http://schemas.microsoft.com/office/drawing/2014/main" id="{8D752081-A19F-36D6-73B5-7EAE90556670}"/>
              </a:ext>
            </a:extLst>
          </p:cNvPr>
          <p:cNvSpPr/>
          <p:nvPr/>
        </p:nvSpPr>
        <p:spPr>
          <a:xfrm>
            <a:off x="4703473" y="8837832"/>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71" name="Line">
            <a:extLst>
              <a:ext uri="{FF2B5EF4-FFF2-40B4-BE49-F238E27FC236}">
                <a16:creationId xmlns:a16="http://schemas.microsoft.com/office/drawing/2014/main" id="{BFEDCD08-2756-7217-CEFA-13DB320C8D47}"/>
              </a:ext>
            </a:extLst>
          </p:cNvPr>
          <p:cNvSpPr/>
          <p:nvPr/>
        </p:nvSpPr>
        <p:spPr>
          <a:xfrm>
            <a:off x="9768878" y="6442430"/>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73" name="TextBox 372">
            <a:extLst>
              <a:ext uri="{FF2B5EF4-FFF2-40B4-BE49-F238E27FC236}">
                <a16:creationId xmlns:a16="http://schemas.microsoft.com/office/drawing/2014/main" id="{252D59EA-CA1D-FF33-34B2-64039805EA56}"/>
              </a:ext>
            </a:extLst>
          </p:cNvPr>
          <p:cNvSpPr txBox="1"/>
          <p:nvPr/>
        </p:nvSpPr>
        <p:spPr>
          <a:xfrm>
            <a:off x="4772317" y="3253852"/>
            <a:ext cx="2452904" cy="1601896"/>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254778951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FBA96-E7A1-8F8F-AD77-4BA99CAEB27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3FB9F15-BCAB-BAE7-6A9D-C2F656ADD0AD}"/>
              </a:ext>
            </a:extLst>
          </p:cNvPr>
          <p:cNvSpPr txBox="1"/>
          <p:nvPr/>
        </p:nvSpPr>
        <p:spPr>
          <a:xfrm>
            <a:off x="4653916" y="2713481"/>
            <a:ext cx="4568786" cy="4921779"/>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err="1"/>
              <a:t>Sailuh</a:t>
            </a:r>
            <a:endParaRPr lang="en-US" sz="2400"/>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349" name="TextBox 348">
            <a:extLst>
              <a:ext uri="{FF2B5EF4-FFF2-40B4-BE49-F238E27FC236}">
                <a16:creationId xmlns:a16="http://schemas.microsoft.com/office/drawing/2014/main" id="{AFC83BFF-4B2A-8053-DC23-B72B910349A9}"/>
              </a:ext>
            </a:extLst>
          </p:cNvPr>
          <p:cNvSpPr txBox="1"/>
          <p:nvPr/>
        </p:nvSpPr>
        <p:spPr>
          <a:xfrm>
            <a:off x="275783" y="7627712"/>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E6A63168-B29B-111F-724A-7DAD8C246884}"/>
              </a:ext>
            </a:extLst>
          </p:cNvPr>
          <p:cNvPicPr>
            <a:picLocks noChangeAspect="1"/>
          </p:cNvPicPr>
          <p:nvPr/>
        </p:nvPicPr>
        <p:blipFill>
          <a:blip r:embed="rId3"/>
          <a:stretch>
            <a:fillRect/>
          </a:stretch>
        </p:blipFill>
        <p:spPr>
          <a:xfrm>
            <a:off x="12928088" y="5897852"/>
            <a:ext cx="763378" cy="807934"/>
          </a:xfrm>
          <a:prstGeom prst="rect">
            <a:avLst/>
          </a:prstGeom>
        </p:spPr>
      </p:pic>
      <p:pic>
        <p:nvPicPr>
          <p:cNvPr id="292" name="Image" descr="Image">
            <a:extLst>
              <a:ext uri="{FF2B5EF4-FFF2-40B4-BE49-F238E27FC236}">
                <a16:creationId xmlns:a16="http://schemas.microsoft.com/office/drawing/2014/main" id="{C097D56D-72B1-E912-803E-A4CF842D1CDA}"/>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143E2A74-9492-69B7-1268-76AFEF26B848}"/>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4225A7DB-06B7-043E-8134-56CA9159396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CA175BA7-0972-610C-B5DC-936604EC0E26}"/>
              </a:ext>
            </a:extLst>
          </p:cNvPr>
          <p:cNvSpPr/>
          <p:nvPr/>
        </p:nvSpPr>
        <p:spPr>
          <a:xfrm>
            <a:off x="220507" y="2610755"/>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8FE9A612-FA7D-D696-8FBB-5DEE1DA4FF5A}"/>
              </a:ext>
            </a:extLst>
          </p:cNvPr>
          <p:cNvSpPr txBox="1"/>
          <p:nvPr/>
        </p:nvSpPr>
        <p:spPr>
          <a:xfrm>
            <a:off x="304155" y="2612235"/>
            <a:ext cx="276678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FA351B1C-02E2-5698-A016-D02470CC5486}"/>
              </a:ext>
            </a:extLst>
          </p:cNvPr>
          <p:cNvSpPr txBox="1"/>
          <p:nvPr/>
        </p:nvSpPr>
        <p:spPr>
          <a:xfrm>
            <a:off x="293295" y="2992442"/>
            <a:ext cx="4264736"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585D98DE-862A-524D-B691-30478348814A}"/>
              </a:ext>
            </a:extLst>
          </p:cNvPr>
          <p:cNvSpPr txBox="1"/>
          <p:nvPr/>
        </p:nvSpPr>
        <p:spPr>
          <a:xfrm>
            <a:off x="312386" y="3377157"/>
            <a:ext cx="4122651" cy="602800"/>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A5EC7D73-9CD6-D6B0-6EC3-B062FFAF6F07}"/>
              </a:ext>
            </a:extLst>
          </p:cNvPr>
          <p:cNvSpPr txBox="1"/>
          <p:nvPr/>
        </p:nvSpPr>
        <p:spPr>
          <a:xfrm>
            <a:off x="279130" y="6752399"/>
            <a:ext cx="197810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CAD02885-5DBD-7BDF-F345-9550994EDE83}"/>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3EECC9A4-8879-181A-10AD-354462C77C40}"/>
              </a:ext>
            </a:extLst>
          </p:cNvPr>
          <p:cNvSpPr txBox="1"/>
          <p:nvPr/>
        </p:nvSpPr>
        <p:spPr>
          <a:xfrm>
            <a:off x="4663440" y="1513595"/>
            <a:ext cx="209352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A67D3238-A500-BF36-58EF-76934599A9E6}"/>
              </a:ext>
            </a:extLst>
          </p:cNvPr>
          <p:cNvSpPr txBox="1"/>
          <p:nvPr/>
        </p:nvSpPr>
        <p:spPr>
          <a:xfrm>
            <a:off x="257982" y="1536978"/>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16D23651-0EE9-8061-588E-3616C86C70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0114CA92-608F-E2FF-33BE-6C271A2AF84E}"/>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lang="en-US" sz="1000" b="0">
                <a:solidFill>
                  <a:schemeClr val="tx1"/>
                </a:solidFill>
              </a:rPr>
              <a:t>Cohen Ruport,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Carlos Paradis,</a:t>
            </a:r>
            <a:r>
              <a:rPr lang="en-US" sz="1000" b="0">
                <a:solidFill>
                  <a:schemeClr val="tx1"/>
                </a:solidFill>
              </a:rPr>
              <a: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a:t>
            </a:r>
            <a:r>
              <a:rPr lang="en-US" sz="1000" b="0">
                <a:solidFill>
                  <a:schemeClr val="tx1"/>
                </a:solidFill>
              </a:rPr>
              <a:t>2026-4</a:t>
            </a:r>
            <a:endPar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6AB99EF8-6BB3-8706-2DBA-618356A7359B}"/>
              </a:ext>
            </a:extLst>
          </p:cNvPr>
          <p:cNvSpPr/>
          <p:nvPr/>
        </p:nvSpPr>
        <p:spPr>
          <a:xfrm>
            <a:off x="231610" y="5437298"/>
            <a:ext cx="4346831" cy="131837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11DFD741-7886-25A6-58C6-E3BA532DF561}"/>
              </a:ext>
            </a:extLst>
          </p:cNvPr>
          <p:cNvSpPr txBox="1"/>
          <p:nvPr/>
        </p:nvSpPr>
        <p:spPr>
          <a:xfrm>
            <a:off x="347617" y="5477756"/>
            <a:ext cx="254396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4C537B7E-110A-B076-3907-D4E22C202586}"/>
              </a:ext>
            </a:extLst>
          </p:cNvPr>
          <p:cNvSpPr txBox="1"/>
          <p:nvPr/>
        </p:nvSpPr>
        <p:spPr>
          <a:xfrm>
            <a:off x="347973" y="6055887"/>
            <a:ext cx="4105332" cy="583155"/>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perceval</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depends: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201E0C50-6F46-B40D-179A-BA32EB0C2178}"/>
              </a:ext>
            </a:extLst>
          </p:cNvPr>
          <p:cNvPicPr>
            <a:picLocks noChangeAspect="1"/>
          </p:cNvPicPr>
          <p:nvPr/>
        </p:nvPicPr>
        <p:blipFill>
          <a:blip r:embed="rId7"/>
          <a:stretch>
            <a:fillRect/>
          </a:stretch>
        </p:blipFill>
        <p:spPr>
          <a:xfrm>
            <a:off x="11627296" y="7161910"/>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EC3F0505-BEBE-B284-F947-C1DCA936303A}"/>
              </a:ext>
            </a:extLst>
          </p:cNvPr>
          <p:cNvSpPr txBox="1"/>
          <p:nvPr/>
        </p:nvSpPr>
        <p:spPr>
          <a:xfrm>
            <a:off x="328655" y="5789293"/>
            <a:ext cx="4369511" cy="262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t">
            <a:spAutoFit/>
          </a:bodyPr>
          <a:lstStyle/>
          <a:p>
            <a:pPr>
              <a:lnSpc>
                <a:spcPct val="90000"/>
              </a:lnSpc>
              <a:buSzPts val="3700"/>
            </a:pPr>
            <a:r>
              <a:rPr lang="en-US" sz="1100">
                <a:cs typeface="Arial"/>
              </a:rPr>
              <a:t>The required external tools must be specified  in </a:t>
            </a:r>
            <a:r>
              <a:rPr lang="en-US" sz="1100" err="1">
                <a:cs typeface="Arial"/>
              </a:rPr>
              <a:t>tools.yml</a:t>
            </a:r>
            <a:r>
              <a:rPr lang="en-US" sz="1100">
                <a:cs typeface="Arial"/>
              </a:rPr>
              <a:t>:</a:t>
            </a:r>
            <a:endParaRPr lang="en-US" sz="1100" u="sng">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96E286D4-D92A-35B5-0249-1C7FE08917E5}"/>
              </a:ext>
            </a:extLst>
          </p:cNvPr>
          <p:cNvPicPr>
            <a:picLocks noChangeAspect="1"/>
          </p:cNvPicPr>
          <p:nvPr/>
        </p:nvPicPr>
        <p:blipFill>
          <a:blip r:embed="rId8"/>
          <a:stretch>
            <a:fillRect/>
          </a:stretch>
        </p:blipFill>
        <p:spPr>
          <a:xfrm>
            <a:off x="11642300" y="4850119"/>
            <a:ext cx="546328" cy="546436"/>
          </a:xfrm>
          <a:prstGeom prst="rect">
            <a:avLst/>
          </a:prstGeom>
        </p:spPr>
      </p:pic>
      <p:pic>
        <p:nvPicPr>
          <p:cNvPr id="23" name="Picture 22">
            <a:extLst>
              <a:ext uri="{FF2B5EF4-FFF2-40B4-BE49-F238E27FC236}">
                <a16:creationId xmlns:a16="http://schemas.microsoft.com/office/drawing/2014/main" id="{9E284024-28BC-4C93-8E8E-B26249C44AE4}"/>
              </a:ext>
            </a:extLst>
          </p:cNvPr>
          <p:cNvPicPr>
            <a:picLocks noChangeAspect="1"/>
          </p:cNvPicPr>
          <p:nvPr/>
        </p:nvPicPr>
        <p:blipFill>
          <a:blip r:embed="rId9"/>
          <a:stretch>
            <a:fillRect/>
          </a:stretch>
        </p:blipFill>
        <p:spPr>
          <a:xfrm>
            <a:off x="9489999" y="6844006"/>
            <a:ext cx="544372" cy="486505"/>
          </a:xfrm>
          <a:prstGeom prst="rect">
            <a:avLst/>
          </a:prstGeom>
        </p:spPr>
      </p:pic>
      <p:pic>
        <p:nvPicPr>
          <p:cNvPr id="24" name="Picture 23">
            <a:extLst>
              <a:ext uri="{FF2B5EF4-FFF2-40B4-BE49-F238E27FC236}">
                <a16:creationId xmlns:a16="http://schemas.microsoft.com/office/drawing/2014/main" id="{805505B3-4FE1-FACA-F824-0A064F9C53F9}"/>
              </a:ext>
            </a:extLst>
          </p:cNvPr>
          <p:cNvPicPr>
            <a:picLocks noChangeAspect="1"/>
          </p:cNvPicPr>
          <p:nvPr/>
        </p:nvPicPr>
        <p:blipFill>
          <a:blip r:embed="rId10"/>
          <a:stretch>
            <a:fillRect/>
          </a:stretch>
        </p:blipFill>
        <p:spPr>
          <a:xfrm>
            <a:off x="9634704" y="6219366"/>
            <a:ext cx="742783" cy="609600"/>
          </a:xfrm>
          <a:prstGeom prst="rect">
            <a:avLst/>
          </a:prstGeom>
        </p:spPr>
      </p:pic>
      <p:pic>
        <p:nvPicPr>
          <p:cNvPr id="25" name="Picture 24">
            <a:extLst>
              <a:ext uri="{FF2B5EF4-FFF2-40B4-BE49-F238E27FC236}">
                <a16:creationId xmlns:a16="http://schemas.microsoft.com/office/drawing/2014/main" id="{E73BE672-74A1-8463-3C63-75B8F0C63316}"/>
              </a:ext>
            </a:extLst>
          </p:cNvPr>
          <p:cNvPicPr>
            <a:picLocks noChangeAspect="1"/>
          </p:cNvPicPr>
          <p:nvPr/>
        </p:nvPicPr>
        <p:blipFill>
          <a:blip r:embed="rId11"/>
          <a:stretch>
            <a:fillRect/>
          </a:stretch>
        </p:blipFill>
        <p:spPr>
          <a:xfrm>
            <a:off x="12113099" y="5336598"/>
            <a:ext cx="372044" cy="354363"/>
          </a:xfrm>
          <a:prstGeom prst="rect">
            <a:avLst/>
          </a:prstGeom>
        </p:spPr>
      </p:pic>
      <p:pic>
        <p:nvPicPr>
          <p:cNvPr id="38" name="Picture 37">
            <a:extLst>
              <a:ext uri="{FF2B5EF4-FFF2-40B4-BE49-F238E27FC236}">
                <a16:creationId xmlns:a16="http://schemas.microsoft.com/office/drawing/2014/main" id="{835F30F4-4020-30D7-2BC5-2C529A674DE6}"/>
              </a:ext>
            </a:extLst>
          </p:cNvPr>
          <p:cNvPicPr>
            <a:picLocks noChangeAspect="1"/>
          </p:cNvPicPr>
          <p:nvPr/>
        </p:nvPicPr>
        <p:blipFill>
          <a:blip r:embed="rId10"/>
          <a:stretch>
            <a:fillRect/>
          </a:stretch>
        </p:blipFill>
        <p:spPr>
          <a:xfrm rot="10800000">
            <a:off x="10005299" y="6536240"/>
            <a:ext cx="742783" cy="609600"/>
          </a:xfrm>
          <a:prstGeom prst="rect">
            <a:avLst/>
          </a:prstGeom>
        </p:spPr>
      </p:pic>
      <p:pic>
        <p:nvPicPr>
          <p:cNvPr id="39" name="Picture 38">
            <a:extLst>
              <a:ext uri="{FF2B5EF4-FFF2-40B4-BE49-F238E27FC236}">
                <a16:creationId xmlns:a16="http://schemas.microsoft.com/office/drawing/2014/main" id="{B36645D4-E1EE-2975-175E-93B0E9B73F22}"/>
              </a:ext>
            </a:extLst>
          </p:cNvPr>
          <p:cNvPicPr>
            <a:picLocks noChangeAspect="1"/>
          </p:cNvPicPr>
          <p:nvPr/>
        </p:nvPicPr>
        <p:blipFill>
          <a:blip r:embed="rId12"/>
          <a:stretch>
            <a:fillRect/>
          </a:stretch>
        </p:blipFill>
        <p:spPr>
          <a:xfrm>
            <a:off x="10983858" y="6219172"/>
            <a:ext cx="560207" cy="171450"/>
          </a:xfrm>
          <a:prstGeom prst="rect">
            <a:avLst/>
          </a:prstGeom>
        </p:spPr>
      </p:pic>
      <p:pic>
        <p:nvPicPr>
          <p:cNvPr id="40" name="Picture 39">
            <a:extLst>
              <a:ext uri="{FF2B5EF4-FFF2-40B4-BE49-F238E27FC236}">
                <a16:creationId xmlns:a16="http://schemas.microsoft.com/office/drawing/2014/main" id="{646CB544-3983-ABA3-372C-D383D18B9197}"/>
              </a:ext>
            </a:extLst>
          </p:cNvPr>
          <p:cNvPicPr>
            <a:picLocks noChangeAspect="1"/>
          </p:cNvPicPr>
          <p:nvPr/>
        </p:nvPicPr>
        <p:blipFill>
          <a:blip r:embed="rId12"/>
          <a:stretch>
            <a:fillRect/>
          </a:stretch>
        </p:blipFill>
        <p:spPr>
          <a:xfrm rot="10800000">
            <a:off x="12349540" y="6222315"/>
            <a:ext cx="571524" cy="171450"/>
          </a:xfrm>
          <a:prstGeom prst="rect">
            <a:avLst/>
          </a:prstGeom>
        </p:spPr>
      </p:pic>
      <p:pic>
        <p:nvPicPr>
          <p:cNvPr id="41" name="Picture 40">
            <a:extLst>
              <a:ext uri="{FF2B5EF4-FFF2-40B4-BE49-F238E27FC236}">
                <a16:creationId xmlns:a16="http://schemas.microsoft.com/office/drawing/2014/main" id="{FBFB16A3-8F8D-37D6-3471-AB099BA8C99D}"/>
              </a:ext>
            </a:extLst>
          </p:cNvPr>
          <p:cNvPicPr>
            <a:picLocks noChangeAspect="1"/>
          </p:cNvPicPr>
          <p:nvPr/>
        </p:nvPicPr>
        <p:blipFill>
          <a:blip r:embed="rId12"/>
          <a:stretch>
            <a:fillRect/>
          </a:stretch>
        </p:blipFill>
        <p:spPr>
          <a:xfrm rot="5400000">
            <a:off x="11627094" y="5577669"/>
            <a:ext cx="571524" cy="171450"/>
          </a:xfrm>
          <a:prstGeom prst="rect">
            <a:avLst/>
          </a:prstGeom>
        </p:spPr>
      </p:pic>
      <p:sp>
        <p:nvSpPr>
          <p:cNvPr id="42" name="TextBox 41">
            <a:extLst>
              <a:ext uri="{FF2B5EF4-FFF2-40B4-BE49-F238E27FC236}">
                <a16:creationId xmlns:a16="http://schemas.microsoft.com/office/drawing/2014/main" id="{E68CD3A6-D3FB-B750-BDA2-9FB1EDED7D83}"/>
              </a:ext>
            </a:extLst>
          </p:cNvPr>
          <p:cNvSpPr txBox="1"/>
          <p:nvPr/>
        </p:nvSpPr>
        <p:spPr>
          <a:xfrm>
            <a:off x="9778262" y="6387964"/>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t>
            </a:r>
            <a:r>
              <a:rPr lang="en-US" err="1"/>
              <a:t>Activi</a:t>
            </a:r>
            <a:r>
              <a:rPr lang="en-US"/>
              <a:t>ty</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9" name="TextBox 48">
            <a:extLst>
              <a:ext uri="{FF2B5EF4-FFF2-40B4-BE49-F238E27FC236}">
                <a16:creationId xmlns:a16="http://schemas.microsoft.com/office/drawing/2014/main" id="{5B8C32F6-DB59-5DFF-6406-16930396729C}"/>
              </a:ext>
            </a:extLst>
          </p:cNvPr>
          <p:cNvSpPr txBox="1"/>
          <p:nvPr/>
        </p:nvSpPr>
        <p:spPr>
          <a:xfrm>
            <a:off x="13070061" y="6134441"/>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8EE8A0EA-1D4B-546B-233D-B18990B38F2E}"/>
              </a:ext>
            </a:extLst>
          </p:cNvPr>
          <p:cNvPicPr>
            <a:picLocks noChangeAspect="1"/>
          </p:cNvPicPr>
          <p:nvPr/>
        </p:nvPicPr>
        <p:blipFill>
          <a:blip r:embed="rId12"/>
          <a:stretch>
            <a:fillRect/>
          </a:stretch>
        </p:blipFill>
        <p:spPr>
          <a:xfrm rot="5400000">
            <a:off x="11632618" y="6750936"/>
            <a:ext cx="571524" cy="171450"/>
          </a:xfrm>
          <a:prstGeom prst="rect">
            <a:avLst/>
          </a:prstGeom>
        </p:spPr>
      </p:pic>
      <p:sp>
        <p:nvSpPr>
          <p:cNvPr id="51" name="TextBox 50">
            <a:extLst>
              <a:ext uri="{FF2B5EF4-FFF2-40B4-BE49-F238E27FC236}">
                <a16:creationId xmlns:a16="http://schemas.microsoft.com/office/drawing/2014/main" id="{2A4ED753-37C8-4B64-DCEE-D9866C621F52}"/>
              </a:ext>
            </a:extLst>
          </p:cNvPr>
          <p:cNvSpPr txBox="1"/>
          <p:nvPr/>
        </p:nvSpPr>
        <p:spPr>
          <a:xfrm>
            <a:off x="10383844" y="6146348"/>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6D13C3A0-F197-E181-3354-1E17F8A49673}"/>
              </a:ext>
            </a:extLst>
          </p:cNvPr>
          <p:cNvSpPr txBox="1"/>
          <p:nvPr/>
        </p:nvSpPr>
        <p:spPr>
          <a:xfrm>
            <a:off x="12443218" y="5339061"/>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73D3C0A4-2641-4081-8AAB-EE982EDDB2C6}"/>
              </a:ext>
            </a:extLst>
          </p:cNvPr>
          <p:cNvSpPr txBox="1"/>
          <p:nvPr/>
        </p:nvSpPr>
        <p:spPr>
          <a:xfrm>
            <a:off x="11492056" y="7784839"/>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F26DB2AC-4F96-F855-0C31-8FC31AC33ECF}"/>
              </a:ext>
            </a:extLst>
          </p:cNvPr>
          <p:cNvSpPr txBox="1"/>
          <p:nvPr/>
        </p:nvSpPr>
        <p:spPr>
          <a:xfrm>
            <a:off x="9557475" y="3427651"/>
            <a:ext cx="292548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30" name="TextBox 29">
            <a:extLst>
              <a:ext uri="{FF2B5EF4-FFF2-40B4-BE49-F238E27FC236}">
                <a16:creationId xmlns:a16="http://schemas.microsoft.com/office/drawing/2014/main" id="{818FB532-4220-6C24-041C-E52A8647FAF3}"/>
              </a:ext>
            </a:extLst>
          </p:cNvPr>
          <p:cNvSpPr txBox="1"/>
          <p:nvPr/>
        </p:nvSpPr>
        <p:spPr>
          <a:xfrm>
            <a:off x="4809299" y="3227040"/>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err="1"/>
              <a:t>Sailuh</a:t>
            </a:r>
            <a:r>
              <a:rPr lang="en-US" sz="1800"/>
              <a:t>/</a:t>
            </a:r>
            <a:r>
              <a:rPr lang="en-US" sz="1800" err="1"/>
              <a:t>kaiaulu</a:t>
            </a:r>
            <a:endParaRPr lang="en-US" sz="1800"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01AFD699-65AF-E581-E979-2F1978E54A30}"/>
              </a:ext>
            </a:extLst>
          </p:cNvPr>
          <p:cNvSpPr txBox="1"/>
          <p:nvPr/>
        </p:nvSpPr>
        <p:spPr>
          <a:xfrm>
            <a:off x="7065365" y="590714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Sailuh</a:t>
            </a:r>
            <a:r>
              <a:rPr lang="en-US"/>
              <a:t>/</a:t>
            </a:r>
            <a:r>
              <a:rPr lang="en-US" err="1"/>
              <a:t>kaiaulu_react</a:t>
            </a:r>
            <a:endParaRPr lang="en-US"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658D81DB-8FDA-CAEB-2BC3-3212A7251942}"/>
              </a:ext>
            </a:extLst>
          </p:cNvPr>
          <p:cNvSpPr txBox="1"/>
          <p:nvPr/>
        </p:nvSpPr>
        <p:spPr>
          <a:xfrm>
            <a:off x="7098114" y="7086521"/>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Sailuh</a:t>
            </a:r>
            <a:r>
              <a:rPr lang="en-US"/>
              <a:t>/</a:t>
            </a:r>
            <a:r>
              <a:rPr lang="en-US" err="1"/>
              <a:t>process_mining</a:t>
            </a:r>
            <a:endParaRPr lang="en-US" b="1" i="0" u="none" strike="noStrike" cap="none" spc="0" normalizeH="0" baseline="0" err="1">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6008DE55-26A8-E3FB-E0AE-057779164CF2}"/>
              </a:ext>
            </a:extLst>
          </p:cNvPr>
          <p:cNvSpPr txBox="1"/>
          <p:nvPr/>
        </p:nvSpPr>
        <p:spPr>
          <a:xfrm>
            <a:off x="7075078" y="6494148"/>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err="1"/>
              <a:t>Sailuh</a:t>
            </a:r>
            <a:r>
              <a:rPr lang="en-US"/>
              <a:t>/</a:t>
            </a:r>
            <a:r>
              <a:rPr lang="en-US" err="1"/>
              <a:t>sentiment_classifier</a:t>
            </a:r>
          </a:p>
        </p:txBody>
      </p:sp>
      <p:sp>
        <p:nvSpPr>
          <p:cNvPr id="270" name="TextBox 269">
            <a:extLst>
              <a:ext uri="{FF2B5EF4-FFF2-40B4-BE49-F238E27FC236}">
                <a16:creationId xmlns:a16="http://schemas.microsoft.com/office/drawing/2014/main" id="{89194900-B8CE-1853-DA4E-2CDE6F36A27E}"/>
              </a:ext>
            </a:extLst>
          </p:cNvPr>
          <p:cNvSpPr txBox="1"/>
          <p:nvPr/>
        </p:nvSpPr>
        <p:spPr>
          <a:xfrm>
            <a:off x="7100458" y="7988863"/>
            <a:ext cx="1987038" cy="543580"/>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7F1645A8-1E15-9C0A-C7B2-14D1E1914C5E}"/>
              </a:ext>
            </a:extLst>
          </p:cNvPr>
          <p:cNvSpPr txBox="1"/>
          <p:nvPr/>
        </p:nvSpPr>
        <p:spPr>
          <a:xfrm>
            <a:off x="7212638" y="8106654"/>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 and Projects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E9BDD4A0-17AF-1A34-B3CF-61F17A86B9F8}"/>
              </a:ext>
            </a:extLst>
          </p:cNvPr>
          <p:cNvSpPr txBox="1"/>
          <p:nvPr/>
        </p:nvSpPr>
        <p:spPr>
          <a:xfrm>
            <a:off x="222484" y="1795540"/>
            <a:ext cx="4352283" cy="7076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a:t>
            </a:r>
            <a:r>
              <a:rPr lang="en-US" b="0" err="1">
                <a:cs typeface="Helvetica"/>
              </a:rPr>
              <a:t>Kaiaulu's</a:t>
            </a:r>
            <a:r>
              <a:rPr lang="en-US" b="0">
                <a:cs typeface="Helvetica"/>
              </a:rPr>
              <a:t> functions through a </a:t>
            </a:r>
            <a:r>
              <a:rPr lang="en-US" b="0" noProof="1">
                <a:cs typeface="Helvetica"/>
              </a:rPr>
              <a:t>command</a:t>
            </a:r>
            <a:r>
              <a:rPr lang="en-US" b="0">
                <a:cs typeface="Helvetica"/>
              </a:rPr>
              <a:t> line interface. This allows </a:t>
            </a:r>
            <a:r>
              <a:rPr lang="en-US" b="0" err="1">
                <a:cs typeface="Helvetica"/>
              </a:rPr>
              <a:t>server </a:t>
            </a:r>
            <a:r>
              <a:rPr lang="en-US" b="0" noProof="1">
                <a:cs typeface="Helvetica"/>
              </a:rPr>
              <a:t>side</a:t>
            </a:r>
            <a:r>
              <a:rPr lang="en-US" b="0">
                <a:cs typeface="Helvetica"/>
              </a:rPr>
              <a:t> execution and use of </a:t>
            </a:r>
            <a:r>
              <a:rPr lang="en-US" b="0" err="1">
                <a:cs typeface="Helvetica"/>
              </a:rPr>
              <a:t>Kaiaulu</a:t>
            </a:r>
            <a:r>
              <a:rPr lang="en-US" b="0">
                <a:cs typeface="Helvetica"/>
              </a:rPr>
              <a:t> capabilities without knowledge of R.</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429C0A0A-7BA3-316C-A532-AA0CE3856F5D}"/>
              </a:ext>
            </a:extLst>
          </p:cNvPr>
          <p:cNvSpPr txBox="1"/>
          <p:nvPr/>
        </p:nvSpPr>
        <p:spPr>
          <a:xfrm>
            <a:off x="9565368" y="3808056"/>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ACD5C04F-B746-6A62-2566-4B3CEB774D2A}"/>
              </a:ext>
            </a:extLst>
          </p:cNvPr>
          <p:cNvSpPr txBox="1"/>
          <p:nvPr/>
        </p:nvSpPr>
        <p:spPr>
          <a:xfrm>
            <a:off x="4614906" y="1820519"/>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Sailuh tools such as pykumu rely on kaiaulu executables to download and refresh data. Kaiaulu executables are also made to provide kaiaulu's functions to users, tools, and projects outside of the sailuh ecosystem.</a:t>
            </a:r>
          </a:p>
        </p:txBody>
      </p:sp>
      <p:sp>
        <p:nvSpPr>
          <p:cNvPr id="298" name="TextBox 297">
            <a:extLst>
              <a:ext uri="{FF2B5EF4-FFF2-40B4-BE49-F238E27FC236}">
                <a16:creationId xmlns:a16="http://schemas.microsoft.com/office/drawing/2014/main" id="{AD58B727-57E0-92DD-9D37-54CF4D016C03}"/>
              </a:ext>
            </a:extLst>
          </p:cNvPr>
          <p:cNvSpPr txBox="1"/>
          <p:nvPr/>
        </p:nvSpPr>
        <p:spPr>
          <a:xfrm>
            <a:off x="274081" y="6955405"/>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a:solidFill>
                  <a:srgbClr val="000000"/>
                </a:solidFill>
              </a:rPr>
              <a:t>.</a:t>
            </a: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BAEBCB9E-6CC4-57AE-CB12-E87D0067BEE9}"/>
              </a:ext>
            </a:extLst>
          </p:cNvPr>
          <p:cNvSpPr/>
          <p:nvPr/>
        </p:nvSpPr>
        <p:spPr>
          <a:xfrm>
            <a:off x="220611" y="4066083"/>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8336E52B-DB2E-494A-F7A2-424654E30E6B}"/>
              </a:ext>
            </a:extLst>
          </p:cNvPr>
          <p:cNvSpPr txBox="1"/>
          <p:nvPr/>
        </p:nvSpPr>
        <p:spPr>
          <a:xfrm>
            <a:off x="322463" y="4144272"/>
            <a:ext cx="364653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E547A3D4-3E60-EB8F-C028-0E11C5F92553}"/>
              </a:ext>
            </a:extLst>
          </p:cNvPr>
          <p:cNvSpPr txBox="1"/>
          <p:nvPr/>
        </p:nvSpPr>
        <p:spPr>
          <a:xfrm>
            <a:off x="265065" y="4503604"/>
            <a:ext cx="4357808" cy="38704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AF58D9F2-7435-08D3-180A-106C6413BBF5}"/>
              </a:ext>
            </a:extLst>
          </p:cNvPr>
          <p:cNvSpPr txBox="1"/>
          <p:nvPr/>
        </p:nvSpPr>
        <p:spPr>
          <a:xfrm>
            <a:off x="310787" y="4703953"/>
            <a:ext cx="4216585" cy="637024"/>
          </a:xfrm>
          <a:prstGeom prst="rect">
            <a:avLst/>
          </a:prstGeom>
          <a:solidFill>
            <a:schemeClr val="bg1"/>
          </a:solidFill>
          <a:ln w="12700">
            <a:solidFill>
              <a:schemeClr val="bg2"/>
            </a:solid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46EB2C9-DB85-D9D2-B59C-95090B73A02B}"/>
              </a:ext>
            </a:extLst>
          </p:cNvPr>
          <p:cNvSpPr txBox="1"/>
          <p:nvPr/>
        </p:nvSpPr>
        <p:spPr>
          <a:xfrm>
            <a:off x="7071311" y="5330505"/>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err="1"/>
              <a:t>Sailuh</a:t>
            </a:r>
            <a:r>
              <a:rPr lang="en-US"/>
              <a:t>/</a:t>
            </a:r>
            <a:r>
              <a:rPr lang="en-US" err="1"/>
              <a:t>pykumu</a:t>
            </a:r>
          </a:p>
        </p:txBody>
      </p:sp>
      <p:sp>
        <p:nvSpPr>
          <p:cNvPr id="22" name="TextBox 21">
            <a:extLst>
              <a:ext uri="{FF2B5EF4-FFF2-40B4-BE49-F238E27FC236}">
                <a16:creationId xmlns:a16="http://schemas.microsoft.com/office/drawing/2014/main" id="{9DF83B54-3DF4-1B5B-575F-88557817287A}"/>
              </a:ext>
            </a:extLst>
          </p:cNvPr>
          <p:cNvSpPr txBox="1"/>
          <p:nvPr/>
        </p:nvSpPr>
        <p:spPr>
          <a:xfrm>
            <a:off x="9556760" y="1877470"/>
            <a:ext cx="417477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Kaiaulu executables provide data from sources such as Mail, JIRA, and GitHub. Kaiaulu's functions in Kaiaulu/R parse, analyze, and filter raw data from these sources and output them in usable forms such as csv's</a:t>
            </a:r>
            <a:endParaRPr lang="en-US">
              <a:solidFill>
                <a:srgbClr val="000000"/>
              </a:solidFill>
            </a:endParaRPr>
          </a:p>
        </p:txBody>
      </p:sp>
      <p:pic>
        <p:nvPicPr>
          <p:cNvPr id="60" name="Picture 59" descr="A close-up of a letter&#10;&#10;AI-generated content may be incorrect.">
            <a:extLst>
              <a:ext uri="{FF2B5EF4-FFF2-40B4-BE49-F238E27FC236}">
                <a16:creationId xmlns:a16="http://schemas.microsoft.com/office/drawing/2014/main" id="{F5204203-683C-4C83-B92C-1E40721CC59A}"/>
              </a:ext>
            </a:extLst>
          </p:cNvPr>
          <p:cNvPicPr>
            <a:picLocks noChangeAspect="1"/>
          </p:cNvPicPr>
          <p:nvPr/>
        </p:nvPicPr>
        <p:blipFill>
          <a:blip r:embed="rId13"/>
          <a:stretch>
            <a:fillRect/>
          </a:stretch>
        </p:blipFill>
        <p:spPr>
          <a:xfrm>
            <a:off x="4651847" y="7989287"/>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9D0A96B0-D094-3D60-D65A-93A53B581832}"/>
              </a:ext>
            </a:extLst>
          </p:cNvPr>
          <p:cNvPicPr>
            <a:picLocks noChangeAspect="1"/>
          </p:cNvPicPr>
          <p:nvPr/>
        </p:nvPicPr>
        <p:blipFill>
          <a:blip r:embed="rId14"/>
          <a:stretch>
            <a:fillRect/>
          </a:stretch>
        </p:blipFill>
        <p:spPr>
          <a:xfrm>
            <a:off x="4782391" y="5940106"/>
            <a:ext cx="914258" cy="905585"/>
          </a:xfrm>
          <a:prstGeom prst="rect">
            <a:avLst/>
          </a:prstGeom>
        </p:spPr>
      </p:pic>
      <p:pic>
        <p:nvPicPr>
          <p:cNvPr id="43" name="Picture 42">
            <a:extLst>
              <a:ext uri="{FF2B5EF4-FFF2-40B4-BE49-F238E27FC236}">
                <a16:creationId xmlns:a16="http://schemas.microsoft.com/office/drawing/2014/main" id="{FCF477FF-7C20-DC5F-00C1-0F9F6B7F875A}"/>
              </a:ext>
            </a:extLst>
          </p:cNvPr>
          <p:cNvPicPr>
            <a:picLocks noChangeAspect="1"/>
          </p:cNvPicPr>
          <p:nvPr/>
        </p:nvPicPr>
        <p:blipFill>
          <a:blip r:embed="rId15"/>
          <a:stretch>
            <a:fillRect/>
          </a:stretch>
        </p:blipFill>
        <p:spPr>
          <a:xfrm>
            <a:off x="5741718" y="8007865"/>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9A5748FB-4B18-DCE6-B03E-E230B3B8EBF9}"/>
              </a:ext>
            </a:extLst>
          </p:cNvPr>
          <p:cNvSpPr txBox="1"/>
          <p:nvPr/>
        </p:nvSpPr>
        <p:spPr>
          <a:xfrm>
            <a:off x="5742192" y="8385882"/>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461EC964-CB0D-7F37-2426-5FAF0496928F}"/>
              </a:ext>
            </a:extLst>
          </p:cNvPr>
          <p:cNvSpPr txBox="1"/>
          <p:nvPr/>
        </p:nvSpPr>
        <p:spPr>
          <a:xfrm>
            <a:off x="5213992" y="8375872"/>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19AF20C5-7F86-6349-132D-E3A10DE71CF3}"/>
              </a:ext>
            </a:extLst>
          </p:cNvPr>
          <p:cNvSpPr txBox="1"/>
          <p:nvPr/>
        </p:nvSpPr>
        <p:spPr>
          <a:xfrm>
            <a:off x="4650639" y="8361663"/>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p:cxnSp>
        <p:nvCxnSpPr>
          <p:cNvPr id="29" name="Straight Arrow Connector 28">
            <a:extLst>
              <a:ext uri="{FF2B5EF4-FFF2-40B4-BE49-F238E27FC236}">
                <a16:creationId xmlns:a16="http://schemas.microsoft.com/office/drawing/2014/main" id="{70E70DF4-AE1D-EC16-41E5-6E93D7CEFEC9}"/>
              </a:ext>
            </a:extLst>
          </p:cNvPr>
          <p:cNvCxnSpPr/>
          <p:nvPr/>
        </p:nvCxnSpPr>
        <p:spPr>
          <a:xfrm>
            <a:off x="5253691" y="5199427"/>
            <a:ext cx="7460" cy="897478"/>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CC1C68FA-4DC2-6128-7332-AE57F23435C2}"/>
              </a:ext>
            </a:extLst>
          </p:cNvPr>
          <p:cNvCxnSpPr/>
          <p:nvPr/>
        </p:nvCxnSpPr>
        <p:spPr>
          <a:xfrm>
            <a:off x="6499032" y="5575099"/>
            <a:ext cx="44603" cy="274315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F764347C-5161-60A5-5345-9F9AECC1C832}"/>
              </a:ext>
            </a:extLst>
          </p:cNvPr>
          <p:cNvCxnSpPr/>
          <p:nvPr/>
        </p:nvCxnSpPr>
        <p:spPr>
          <a:xfrm>
            <a:off x="6517025" y="5567576"/>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8" name="Straight Arrow Connector 267">
            <a:extLst>
              <a:ext uri="{FF2B5EF4-FFF2-40B4-BE49-F238E27FC236}">
                <a16:creationId xmlns:a16="http://schemas.microsoft.com/office/drawing/2014/main" id="{C37FAC90-193B-8CB0-E2B0-856F48A6FB92}"/>
              </a:ext>
            </a:extLst>
          </p:cNvPr>
          <p:cNvCxnSpPr>
            <a:cxnSpLocks/>
          </p:cNvCxnSpPr>
          <p:nvPr/>
        </p:nvCxnSpPr>
        <p:spPr>
          <a:xfrm>
            <a:off x="6536316" y="7217717"/>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BFB41B01-5423-B161-14C6-05A0D2E9817A}"/>
              </a:ext>
            </a:extLst>
          </p:cNvPr>
          <p:cNvCxnSpPr>
            <a:cxnSpLocks/>
          </p:cNvCxnSpPr>
          <p:nvPr/>
        </p:nvCxnSpPr>
        <p:spPr>
          <a:xfrm>
            <a:off x="6518662" y="6676614"/>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893CC8CC-B5A4-2BB5-25F0-27C5638FF5EC}"/>
              </a:ext>
            </a:extLst>
          </p:cNvPr>
          <p:cNvCxnSpPr>
            <a:cxnSpLocks/>
          </p:cNvCxnSpPr>
          <p:nvPr/>
        </p:nvCxnSpPr>
        <p:spPr>
          <a:xfrm>
            <a:off x="6518749" y="6144383"/>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33579AF3-2396-BD81-33AE-8D7B7353C843}"/>
              </a:ext>
            </a:extLst>
          </p:cNvPr>
          <p:cNvCxnSpPr>
            <a:cxnSpLocks/>
          </p:cNvCxnSpPr>
          <p:nvPr/>
        </p:nvCxnSpPr>
        <p:spPr>
          <a:xfrm>
            <a:off x="6536575" y="8326811"/>
            <a:ext cx="488380" cy="2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0" name="Line">
            <a:extLst>
              <a:ext uri="{FF2B5EF4-FFF2-40B4-BE49-F238E27FC236}">
                <a16:creationId xmlns:a16="http://schemas.microsoft.com/office/drawing/2014/main" id="{EDF89BCF-FE38-5FBC-F8AC-5B737012EC05}"/>
              </a:ext>
            </a:extLst>
          </p:cNvPr>
          <p:cNvSpPr/>
          <p:nvPr/>
        </p:nvSpPr>
        <p:spPr>
          <a:xfrm>
            <a:off x="553749" y="2661878"/>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20" name="Straight Arrow Connector 19">
            <a:extLst>
              <a:ext uri="{FF2B5EF4-FFF2-40B4-BE49-F238E27FC236}">
                <a16:creationId xmlns:a16="http://schemas.microsoft.com/office/drawing/2014/main" id="{F6208547-C9A8-510A-C4F1-7A594F1AF42C}"/>
              </a:ext>
            </a:extLst>
          </p:cNvPr>
          <p:cNvCxnSpPr/>
          <p:nvPr/>
        </p:nvCxnSpPr>
        <p:spPr>
          <a:xfrm flipH="1" flipV="1">
            <a:off x="5240464" y="6927892"/>
            <a:ext cx="10289" cy="1043211"/>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p14="http://schemas.microsoft.com/office/powerpoint/2010/main">
        <mc:Choice Requires="p14">
          <p:contentPart p14:bwMode="auto" r:id="rId16">
            <p14:nvContentPartPr>
              <p14:cNvPr id="300" name="Ink 299">
                <a:extLst>
                  <a:ext uri="{FF2B5EF4-FFF2-40B4-BE49-F238E27FC236}">
                    <a16:creationId xmlns:a16="http://schemas.microsoft.com/office/drawing/2014/main" id="{60739353-B826-6371-A763-919456D24C46}"/>
                  </a:ext>
                </a:extLst>
              </p14:cNvPr>
              <p14:cNvContentPartPr/>
              <p14:nvPr/>
            </p14:nvContentPartPr>
            <p14:xfrm>
              <a:off x="8219739" y="5539707"/>
              <a:ext cx="13744" cy="13744"/>
            </p14:xfrm>
          </p:contentPart>
        </mc:Choice>
        <mc:Fallback xmlns="">
          <p:pic>
            <p:nvPicPr>
              <p:cNvPr id="300" name="Ink 299">
                <a:extLst>
                  <a:ext uri="{FF2B5EF4-FFF2-40B4-BE49-F238E27FC236}">
                    <a16:creationId xmlns:a16="http://schemas.microsoft.com/office/drawing/2014/main" id="{60739353-B826-6371-A763-919456D24C46}"/>
                  </a:ext>
                </a:extLst>
              </p:cNvPr>
              <p:cNvPicPr/>
              <p:nvPr/>
            </p:nvPicPr>
            <p:blipFill>
              <a:blip r:embed="rId17"/>
              <a:stretch>
                <a:fillRect/>
              </a:stretch>
            </p:blipFill>
            <p:spPr>
              <a:xfrm>
                <a:off x="7532539" y="4852507"/>
                <a:ext cx="1374400" cy="1374400"/>
              </a:xfrm>
              <a:prstGeom prst="rect">
                <a:avLst/>
              </a:prstGeom>
            </p:spPr>
          </p:pic>
        </mc:Fallback>
      </mc:AlternateContent>
      <p:pic>
        <p:nvPicPr>
          <p:cNvPr id="304" name="Picture 303" descr="A black and white logo&#10;&#10;AI-generated content may be incorrect.">
            <a:extLst>
              <a:ext uri="{FF2B5EF4-FFF2-40B4-BE49-F238E27FC236}">
                <a16:creationId xmlns:a16="http://schemas.microsoft.com/office/drawing/2014/main" id="{5683B5D3-2176-C284-BF6C-1A73A2CA4151}"/>
              </a:ext>
            </a:extLst>
          </p:cNvPr>
          <p:cNvPicPr>
            <a:picLocks noChangeAspect="1"/>
          </p:cNvPicPr>
          <p:nvPr/>
        </p:nvPicPr>
        <p:blipFill>
          <a:blip r:embed="rId18"/>
          <a:stretch>
            <a:fillRect/>
          </a:stretch>
        </p:blipFill>
        <p:spPr>
          <a:xfrm>
            <a:off x="7539527" y="5054745"/>
            <a:ext cx="276189" cy="277029"/>
          </a:xfrm>
          <a:prstGeom prst="rect">
            <a:avLst/>
          </a:prstGeom>
        </p:spPr>
      </p:pic>
      <p:pic>
        <p:nvPicPr>
          <p:cNvPr id="305" name="Picture 304" descr="A black and white logo&#10;&#10;AI-generated content may be incorrect.">
            <a:extLst>
              <a:ext uri="{FF2B5EF4-FFF2-40B4-BE49-F238E27FC236}">
                <a16:creationId xmlns:a16="http://schemas.microsoft.com/office/drawing/2014/main" id="{2CFED912-0CC3-E2AA-2A88-E9F959BF2EE6}"/>
              </a:ext>
            </a:extLst>
          </p:cNvPr>
          <p:cNvPicPr>
            <a:picLocks noChangeAspect="1"/>
          </p:cNvPicPr>
          <p:nvPr/>
        </p:nvPicPr>
        <p:blipFill>
          <a:blip r:embed="rId18"/>
          <a:stretch>
            <a:fillRect/>
          </a:stretch>
        </p:blipFill>
        <p:spPr>
          <a:xfrm>
            <a:off x="7517316" y="5655635"/>
            <a:ext cx="327111" cy="288344"/>
          </a:xfrm>
          <a:prstGeom prst="rect">
            <a:avLst/>
          </a:prstGeom>
        </p:spPr>
      </p:pic>
      <p:pic>
        <p:nvPicPr>
          <p:cNvPr id="306" name="Picture 305" descr="A black and white logo&#10;&#10;AI-generated content may be incorrect.">
            <a:extLst>
              <a:ext uri="{FF2B5EF4-FFF2-40B4-BE49-F238E27FC236}">
                <a16:creationId xmlns:a16="http://schemas.microsoft.com/office/drawing/2014/main" id="{EF99BD1B-967D-7F3D-E332-4A8704AB9080}"/>
              </a:ext>
            </a:extLst>
          </p:cNvPr>
          <p:cNvPicPr>
            <a:picLocks noChangeAspect="1"/>
          </p:cNvPicPr>
          <p:nvPr/>
        </p:nvPicPr>
        <p:blipFill>
          <a:blip r:embed="rId18"/>
          <a:stretch>
            <a:fillRect/>
          </a:stretch>
        </p:blipFill>
        <p:spPr>
          <a:xfrm>
            <a:off x="7511812" y="6260692"/>
            <a:ext cx="327111" cy="288344"/>
          </a:xfrm>
          <a:prstGeom prst="rect">
            <a:avLst/>
          </a:prstGeom>
        </p:spPr>
      </p:pic>
      <p:pic>
        <p:nvPicPr>
          <p:cNvPr id="307" name="Picture 306" descr="A black and white logo&#10;&#10;AI-generated content may be incorrect.">
            <a:extLst>
              <a:ext uri="{FF2B5EF4-FFF2-40B4-BE49-F238E27FC236}">
                <a16:creationId xmlns:a16="http://schemas.microsoft.com/office/drawing/2014/main" id="{6FCCFB62-E4DF-DA24-B9EA-850CC8F0428C}"/>
              </a:ext>
            </a:extLst>
          </p:cNvPr>
          <p:cNvPicPr>
            <a:picLocks noChangeAspect="1"/>
          </p:cNvPicPr>
          <p:nvPr/>
        </p:nvPicPr>
        <p:blipFill>
          <a:blip r:embed="rId18"/>
          <a:stretch>
            <a:fillRect/>
          </a:stretch>
        </p:blipFill>
        <p:spPr>
          <a:xfrm>
            <a:off x="7554055" y="6854436"/>
            <a:ext cx="327111" cy="288344"/>
          </a:xfrm>
          <a:prstGeom prst="rect">
            <a:avLst/>
          </a:prstGeom>
        </p:spPr>
      </p:pic>
      <p:cxnSp>
        <p:nvCxnSpPr>
          <p:cNvPr id="308" name="Straight Arrow Connector 307">
            <a:extLst>
              <a:ext uri="{FF2B5EF4-FFF2-40B4-BE49-F238E27FC236}">
                <a16:creationId xmlns:a16="http://schemas.microsoft.com/office/drawing/2014/main" id="{718FD396-B774-490E-0255-08394C1261C0}"/>
              </a:ext>
            </a:extLst>
          </p:cNvPr>
          <p:cNvCxnSpPr/>
          <p:nvPr/>
        </p:nvCxnSpPr>
        <p:spPr>
          <a:xfrm>
            <a:off x="5653606" y="6420383"/>
            <a:ext cx="855760" cy="884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09" name="Line">
            <a:extLst>
              <a:ext uri="{FF2B5EF4-FFF2-40B4-BE49-F238E27FC236}">
                <a16:creationId xmlns:a16="http://schemas.microsoft.com/office/drawing/2014/main" id="{A551B893-835A-2488-9787-F5CDBEF6EDD0}"/>
              </a:ext>
            </a:extLst>
          </p:cNvPr>
          <p:cNvSpPr/>
          <p:nvPr/>
        </p:nvSpPr>
        <p:spPr>
          <a:xfrm>
            <a:off x="9488464" y="3187356"/>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8" name="Rectangle 317">
            <a:extLst>
              <a:ext uri="{FF2B5EF4-FFF2-40B4-BE49-F238E27FC236}">
                <a16:creationId xmlns:a16="http://schemas.microsoft.com/office/drawing/2014/main" id="{1AB38302-83D9-C506-AF1B-B85B74AD97E0}"/>
              </a:ext>
            </a:extLst>
          </p:cNvPr>
          <p:cNvSpPr/>
          <p:nvPr/>
        </p:nvSpPr>
        <p:spPr>
          <a:xfrm>
            <a:off x="3004804" y="778701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B4AC3E3A-4C3D-62F0-BAFE-0580D586573A}"/>
              </a:ext>
            </a:extLst>
          </p:cNvPr>
          <p:cNvSpPr/>
          <p:nvPr/>
        </p:nvSpPr>
        <p:spPr>
          <a:xfrm>
            <a:off x="2499832" y="818972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0B352CC9-F681-1FFF-5BF5-0439AFC10C95}"/>
              </a:ext>
            </a:extLst>
          </p:cNvPr>
          <p:cNvSpPr/>
          <p:nvPr/>
        </p:nvSpPr>
        <p:spPr>
          <a:xfrm>
            <a:off x="3340229" y="8189723"/>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51EE5A8B-5F0D-59C0-A60B-9344AF6B909C}"/>
              </a:ext>
            </a:extLst>
          </p:cNvPr>
          <p:cNvCxnSpPr/>
          <p:nvPr/>
        </p:nvCxnSpPr>
        <p:spPr>
          <a:xfrm rot="16200000" flipH="1">
            <a:off x="3812006" y="7953325"/>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0E8E2E8F-B58B-ED46-09CC-ACB4A8E1C199}"/>
              </a:ext>
            </a:extLst>
          </p:cNvPr>
          <p:cNvCxnSpPr>
            <a:cxnSpLocks/>
          </p:cNvCxnSpPr>
          <p:nvPr/>
        </p:nvCxnSpPr>
        <p:spPr>
          <a:xfrm rot="10800000" flipH="1">
            <a:off x="2783498" y="7959743"/>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3039BFC0-2665-DC7B-6E9E-A1A5D6CC25AB}"/>
              </a:ext>
            </a:extLst>
          </p:cNvPr>
          <p:cNvCxnSpPr>
            <a:cxnSpLocks/>
          </p:cNvCxnSpPr>
          <p:nvPr/>
        </p:nvCxnSpPr>
        <p:spPr>
          <a:xfrm rot="2700000" flipH="1">
            <a:off x="3168733" y="8433699"/>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4EDC0CAD-BFF2-330B-661A-149640EB8FA2}"/>
              </a:ext>
            </a:extLst>
          </p:cNvPr>
          <p:cNvSpPr txBox="1"/>
          <p:nvPr/>
        </p:nvSpPr>
        <p:spPr>
          <a:xfrm>
            <a:off x="3008743" y="7710988"/>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B7820C21-535A-20BE-1697-16A2E79EB1D6}"/>
              </a:ext>
            </a:extLst>
          </p:cNvPr>
          <p:cNvSpPr txBox="1"/>
          <p:nvPr/>
        </p:nvSpPr>
        <p:spPr>
          <a:xfrm>
            <a:off x="2523213" y="8115169"/>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901AE42D-C6E6-2543-01C6-F142F14A9F56}"/>
              </a:ext>
            </a:extLst>
          </p:cNvPr>
          <p:cNvSpPr txBox="1"/>
          <p:nvPr/>
        </p:nvSpPr>
        <p:spPr>
          <a:xfrm>
            <a:off x="3357192" y="8122909"/>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cxnSp>
        <p:nvCxnSpPr>
          <p:cNvPr id="55" name="Straight Connector 54">
            <a:extLst>
              <a:ext uri="{FF2B5EF4-FFF2-40B4-BE49-F238E27FC236}">
                <a16:creationId xmlns:a16="http://schemas.microsoft.com/office/drawing/2014/main" id="{E8732D2C-7C75-CCFE-5DAE-181F9BC01EBF}"/>
              </a:ext>
            </a:extLst>
          </p:cNvPr>
          <p:cNvCxnSpPr/>
          <p:nvPr/>
        </p:nvCxnSpPr>
        <p:spPr>
          <a:xfrm>
            <a:off x="2953488" y="7967692"/>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CA73056A-961F-1572-E8D9-3AF40DE76C16}"/>
              </a:ext>
            </a:extLst>
          </p:cNvPr>
          <p:cNvCxnSpPr>
            <a:cxnSpLocks/>
          </p:cNvCxnSpPr>
          <p:nvPr/>
        </p:nvCxnSpPr>
        <p:spPr>
          <a:xfrm rot="5400000">
            <a:off x="2953488" y="7976534"/>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 name="Rectangle 56">
            <a:extLst>
              <a:ext uri="{FF2B5EF4-FFF2-40B4-BE49-F238E27FC236}">
                <a16:creationId xmlns:a16="http://schemas.microsoft.com/office/drawing/2014/main" id="{F41E74EF-4394-A538-7510-2CB3D60EAFB9}"/>
              </a:ext>
            </a:extLst>
          </p:cNvPr>
          <p:cNvSpPr/>
          <p:nvPr/>
        </p:nvSpPr>
        <p:spPr>
          <a:xfrm>
            <a:off x="2918994" y="9376622"/>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4A2B3785-5C8E-522F-3CEF-9B9BE77FED3B}"/>
              </a:ext>
            </a:extLst>
          </p:cNvPr>
          <p:cNvSpPr txBox="1"/>
          <p:nvPr/>
        </p:nvSpPr>
        <p:spPr>
          <a:xfrm>
            <a:off x="2914837" y="9548728"/>
            <a:ext cx="1357903" cy="6693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&gt; Rscript </a:t>
            </a:r>
            <a:r>
              <a:rPr kumimoji="0" lang="en-US" sz="1100" b="1" i="0" u="none" strike="noStrike" cap="none" spc="0" normalizeH="0" baseline="0">
                <a:ln>
                  <a:noFill/>
                </a:ln>
                <a:solidFill>
                  <a:srgbClr val="FF0000"/>
                </a:solidFill>
                <a:effectLst/>
                <a:uFillTx/>
                <a:latin typeface="Source Sans Pro"/>
                <a:ea typeface="Source Sans Pro"/>
                <a:cs typeface="Source Sans Pro"/>
                <a:sym typeface="Source Sans Pro"/>
              </a:rPr>
              <a:t>exec</a:t>
            </a:r>
            <a:r>
              <a:rPr lang="en-US" sz="1100">
                <a:solidFill>
                  <a:srgbClr val="FF0000"/>
                </a:solidFill>
              </a:rPr>
              <a:t>/*.</a:t>
            </a:r>
            <a:r>
              <a:rPr kumimoji="0" lang="en-US" sz="1100" b="1" i="0" u="none" strike="noStrike" cap="none" spc="0" normalizeH="0" baseline="0">
                <a:ln>
                  <a:noFill/>
                </a:ln>
                <a:solidFill>
                  <a:srgbClr val="FF0000"/>
                </a:solidFill>
                <a:effectLst/>
                <a:uFillTx/>
                <a:latin typeface="Source Sans Pro"/>
                <a:ea typeface="Source Sans Pro"/>
                <a:cs typeface="Source Sans Pro"/>
                <a:sym typeface="Source Sans Pro"/>
              </a:rPr>
              <a:t>R</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 project1.yml</a:t>
            </a:r>
            <a:endParaRPr lang="en-US" sz="1100" b="1" i="0" u="none" strike="noStrike" cap="none" spc="0" normalizeH="0" baseline="0">
              <a:ln>
                <a:noFill/>
              </a:ln>
              <a:solidFill>
                <a:srgbClr val="000000"/>
              </a:solidFill>
              <a:effectLst/>
              <a:uFillTx/>
              <a:latin typeface="Source Sans Pro"/>
              <a:ea typeface="Source Sans Pro"/>
              <a:cs typeface="Source Sans Pro"/>
            </a:endParaRPr>
          </a:p>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analysisB.yml</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58" name="TextBox 766">
            <a:extLst>
              <a:ext uri="{FF2B5EF4-FFF2-40B4-BE49-F238E27FC236}">
                <a16:creationId xmlns:a16="http://schemas.microsoft.com/office/drawing/2014/main" id="{C0111A06-FC66-D7FB-A982-A57B2F465061}"/>
              </a:ext>
            </a:extLst>
          </p:cNvPr>
          <p:cNvSpPr txBox="1"/>
          <p:nvPr/>
        </p:nvSpPr>
        <p:spPr>
          <a:xfrm>
            <a:off x="484057" y="76296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991DB76D-0BBA-D121-664B-D8B9935F3F1A}"/>
              </a:ext>
            </a:extLst>
          </p:cNvPr>
          <p:cNvSpPr txBox="1"/>
          <p:nvPr/>
        </p:nvSpPr>
        <p:spPr>
          <a:xfrm>
            <a:off x="2910994" y="9088557"/>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483D833F-C466-43E7-5B79-C56737462E4F}"/>
              </a:ext>
            </a:extLst>
          </p:cNvPr>
          <p:cNvSpPr txBox="1"/>
          <p:nvPr/>
        </p:nvSpPr>
        <p:spPr>
          <a:xfrm>
            <a:off x="2509455" y="762326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953197A5-EF44-8F49-7DFC-9E74126C7A75}"/>
              </a:ext>
            </a:extLst>
          </p:cNvPr>
          <p:cNvSpPr txBox="1"/>
          <p:nvPr/>
        </p:nvSpPr>
        <p:spPr>
          <a:xfrm>
            <a:off x="292087" y="862153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9B8D38B4-4158-D117-FBD3-8642648F2922}"/>
              </a:ext>
            </a:extLst>
          </p:cNvPr>
          <p:cNvGrpSpPr/>
          <p:nvPr/>
        </p:nvGrpSpPr>
        <p:grpSpPr>
          <a:xfrm>
            <a:off x="299450" y="8844585"/>
            <a:ext cx="1454607" cy="1359206"/>
            <a:chOff x="4888883" y="5320096"/>
            <a:chExt cx="1741511" cy="1781653"/>
          </a:xfrm>
        </p:grpSpPr>
        <p:sp>
          <p:nvSpPr>
            <p:cNvPr id="277" name="Rectangle 276">
              <a:extLst>
                <a:ext uri="{FF2B5EF4-FFF2-40B4-BE49-F238E27FC236}">
                  <a16:creationId xmlns:a16="http://schemas.microsoft.com/office/drawing/2014/main" id="{787A2B13-F96D-0AF5-90A4-EFD925A678D5}"/>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1" name="TextBox 754">
              <a:extLst>
                <a:ext uri="{FF2B5EF4-FFF2-40B4-BE49-F238E27FC236}">
                  <a16:creationId xmlns:a16="http://schemas.microsoft.com/office/drawing/2014/main" id="{B3C73D26-8F52-F19E-F4B2-F6A945113814}"/>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391A2BF1-BFC5-DB1D-0F6F-2553FFD2EF81}"/>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B9A93CEE-F122-42CB-868A-25DFB18247DE}"/>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67B9D927-F40B-B688-D1C5-0D1707BF395E}"/>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755319FA-6564-F862-2ADA-D7338117E67F}"/>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7895B92D-DA82-4D05-A652-5DFA0EE7C1BA}"/>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F376E96B-5CDF-232B-3F09-67FDC7694B21}"/>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89" name="Rectangle 288">
              <a:extLst>
                <a:ext uri="{FF2B5EF4-FFF2-40B4-BE49-F238E27FC236}">
                  <a16:creationId xmlns:a16="http://schemas.microsoft.com/office/drawing/2014/main" id="{137DC52F-A219-6CD7-C232-0D8853E889A0}"/>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1" name="Rectangle 290">
              <a:extLst>
                <a:ext uri="{FF2B5EF4-FFF2-40B4-BE49-F238E27FC236}">
                  <a16:creationId xmlns:a16="http://schemas.microsoft.com/office/drawing/2014/main" id="{FA00FE91-2E00-7BB1-5F14-8A7C399C9CAF}"/>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CA06C27A-4C6F-C81B-C0B8-AA4882B68668}"/>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sp>
          <p:nvSpPr>
            <p:cNvPr id="294" name="TextBox 5">
              <a:extLst>
                <a:ext uri="{FF2B5EF4-FFF2-40B4-BE49-F238E27FC236}">
                  <a16:creationId xmlns:a16="http://schemas.microsoft.com/office/drawing/2014/main" id="{4F1B4B57-6322-C1C7-5F7E-24B7E2289292}"/>
                </a:ext>
              </a:extLst>
            </p:cNvPr>
            <p:cNvSpPr txBox="1"/>
            <p:nvPr/>
          </p:nvSpPr>
          <p:spPr>
            <a:xfrm>
              <a:off x="5035667" y="6255106"/>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grpSp>
          <p:nvGrpSpPr>
            <p:cNvPr id="295" name="Group 294">
              <a:extLst>
                <a:ext uri="{FF2B5EF4-FFF2-40B4-BE49-F238E27FC236}">
                  <a16:creationId xmlns:a16="http://schemas.microsoft.com/office/drawing/2014/main" id="{6F0EDFA1-F2AC-E903-CD5A-108E27CE1198}"/>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EFDD09D0-60C5-9629-2CAB-407C4EDFA63C}"/>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98E17169-45D5-6A78-F91D-F8BD2E69A47C}"/>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8D55E7DC-322B-F520-3DA9-F27D4B6312E7}"/>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88F26FC5-5657-9FBD-5EB6-8906B828102D}"/>
              </a:ext>
            </a:extLst>
          </p:cNvPr>
          <p:cNvSpPr/>
          <p:nvPr/>
        </p:nvSpPr>
        <p:spPr>
          <a:xfrm>
            <a:off x="892950" y="778707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99EB2B16-80DF-5EDF-C24C-386B7B550511}"/>
              </a:ext>
            </a:extLst>
          </p:cNvPr>
          <p:cNvSpPr/>
          <p:nvPr/>
        </p:nvSpPr>
        <p:spPr>
          <a:xfrm>
            <a:off x="387877" y="818977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96859858-43A4-6A7E-2CC9-97A9268B2865}"/>
              </a:ext>
            </a:extLst>
          </p:cNvPr>
          <p:cNvSpPr/>
          <p:nvPr/>
        </p:nvSpPr>
        <p:spPr>
          <a:xfrm>
            <a:off x="1228441" y="8189775"/>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7CF5AC4A-C62C-82CF-87E0-A146E5489F47}"/>
              </a:ext>
            </a:extLst>
          </p:cNvPr>
          <p:cNvCxnSpPr>
            <a:cxnSpLocks/>
          </p:cNvCxnSpPr>
          <p:nvPr/>
        </p:nvCxnSpPr>
        <p:spPr>
          <a:xfrm rot="16200000" flipH="1">
            <a:off x="1700312" y="7953376"/>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F611A33B-316C-960F-F7D7-47B8054C972C}"/>
              </a:ext>
            </a:extLst>
          </p:cNvPr>
          <p:cNvCxnSpPr>
            <a:cxnSpLocks/>
          </p:cNvCxnSpPr>
          <p:nvPr/>
        </p:nvCxnSpPr>
        <p:spPr>
          <a:xfrm rot="10800000" flipH="1">
            <a:off x="671600" y="795979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C7EDF546-F830-B367-3DBA-B6D14C1E3F49}"/>
              </a:ext>
            </a:extLst>
          </p:cNvPr>
          <p:cNvCxnSpPr>
            <a:cxnSpLocks/>
          </p:cNvCxnSpPr>
          <p:nvPr/>
        </p:nvCxnSpPr>
        <p:spPr>
          <a:xfrm rot="2700000" flipH="1">
            <a:off x="1056911" y="8433751"/>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98FC1110-C410-9D25-B281-73DC7B49EE73}"/>
              </a:ext>
            </a:extLst>
          </p:cNvPr>
          <p:cNvSpPr txBox="1"/>
          <p:nvPr/>
        </p:nvSpPr>
        <p:spPr>
          <a:xfrm>
            <a:off x="896889" y="7711040"/>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29FE65E0-EADA-4A41-E540-FD52EADA3BA5}"/>
              </a:ext>
            </a:extLst>
          </p:cNvPr>
          <p:cNvSpPr txBox="1"/>
          <p:nvPr/>
        </p:nvSpPr>
        <p:spPr>
          <a:xfrm>
            <a:off x="411263" y="8115221"/>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338D1749-6074-E15F-15F1-459146F647DE}"/>
              </a:ext>
            </a:extLst>
          </p:cNvPr>
          <p:cNvSpPr txBox="1"/>
          <p:nvPr/>
        </p:nvSpPr>
        <p:spPr>
          <a:xfrm>
            <a:off x="1245408" y="8122960"/>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47" name="Straight Connector 346">
            <a:extLst>
              <a:ext uri="{FF2B5EF4-FFF2-40B4-BE49-F238E27FC236}">
                <a16:creationId xmlns:a16="http://schemas.microsoft.com/office/drawing/2014/main" id="{C51FB919-C2C9-45AA-5ADC-66EB21AB44C7}"/>
              </a:ext>
            </a:extLst>
          </p:cNvPr>
          <p:cNvCxnSpPr>
            <a:cxnSpLocks/>
          </p:cNvCxnSpPr>
          <p:nvPr/>
        </p:nvCxnSpPr>
        <p:spPr>
          <a:xfrm>
            <a:off x="841623" y="7967744"/>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110C56BB-CCDE-338A-64B4-0DC1D64D2245}"/>
              </a:ext>
            </a:extLst>
          </p:cNvPr>
          <p:cNvCxnSpPr>
            <a:cxnSpLocks/>
          </p:cNvCxnSpPr>
          <p:nvPr/>
        </p:nvCxnSpPr>
        <p:spPr>
          <a:xfrm rot="5400000">
            <a:off x="841623" y="7976585"/>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0" name="Straight Arrow Connector 349">
            <a:extLst>
              <a:ext uri="{FF2B5EF4-FFF2-40B4-BE49-F238E27FC236}">
                <a16:creationId xmlns:a16="http://schemas.microsoft.com/office/drawing/2014/main" id="{2EF02EBE-40F6-7A75-3BC9-556E8956B88E}"/>
              </a:ext>
            </a:extLst>
          </p:cNvPr>
          <p:cNvCxnSpPr/>
          <p:nvPr/>
        </p:nvCxnSpPr>
        <p:spPr>
          <a:xfrm>
            <a:off x="3416547" y="8692079"/>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55675BA7-AD6B-3060-D50F-D691ACEC01CA}"/>
              </a:ext>
            </a:extLst>
          </p:cNvPr>
          <p:cNvSpPr txBox="1"/>
          <p:nvPr/>
        </p:nvSpPr>
        <p:spPr>
          <a:xfrm>
            <a:off x="3488746" y="8771213"/>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0BFEBC13-64BA-8B2D-E6FC-266CCA20BF1E}"/>
              </a:ext>
            </a:extLst>
          </p:cNvPr>
          <p:cNvSpPr txBox="1"/>
          <p:nvPr/>
        </p:nvSpPr>
        <p:spPr>
          <a:xfrm>
            <a:off x="2915551" y="9366940"/>
            <a:ext cx="1358728"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BAA02E6C-0FE2-8DD1-0166-2FBEA725B395}"/>
              </a:ext>
            </a:extLst>
          </p:cNvPr>
          <p:cNvSpPr txBox="1"/>
          <p:nvPr/>
        </p:nvSpPr>
        <p:spPr>
          <a:xfrm>
            <a:off x="3738365" y="8972642"/>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A9F0D169-180A-B551-DB64-8C3888097EDE}"/>
              </a:ext>
            </a:extLst>
          </p:cNvPr>
          <p:cNvSpPr txBox="1"/>
          <p:nvPr/>
        </p:nvSpPr>
        <p:spPr>
          <a:xfrm>
            <a:off x="1996975" y="8743741"/>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D10AE1E2-63D8-4391-0168-C46982E985A4}"/>
              </a:ext>
            </a:extLst>
          </p:cNvPr>
          <p:cNvCxnSpPr/>
          <p:nvPr/>
        </p:nvCxnSpPr>
        <p:spPr>
          <a:xfrm flipH="1">
            <a:off x="1713673" y="9726642"/>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A6272CA4-D9A2-1448-A9E5-B8B7C828DA6D}"/>
              </a:ext>
            </a:extLst>
          </p:cNvPr>
          <p:cNvCxnSpPr/>
          <p:nvPr/>
        </p:nvCxnSpPr>
        <p:spPr>
          <a:xfrm flipH="1">
            <a:off x="1983283" y="8678586"/>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5ED4438C-8761-3AC6-ACF6-7D88383583A0}"/>
              </a:ext>
            </a:extLst>
          </p:cNvPr>
          <p:cNvSpPr txBox="1"/>
          <p:nvPr/>
        </p:nvSpPr>
        <p:spPr>
          <a:xfrm>
            <a:off x="4994151" y="4496613"/>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3F73ADD7-E9E9-79BF-5A18-840FABDE44DE}"/>
              </a:ext>
            </a:extLst>
          </p:cNvPr>
          <p:cNvSpPr txBox="1"/>
          <p:nvPr/>
        </p:nvSpPr>
        <p:spPr>
          <a:xfrm>
            <a:off x="6004899" y="4489916"/>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err="1"/>
              <a:t>analysis.yml</a:t>
            </a:r>
            <a:endParaRPr lang="en-US" sz="1200" b="1" i="0" u="none" strike="noStrike" cap="none" spc="0" normalizeH="0" baseline="0" err="1">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41DB5AF9-3B4B-7321-C938-3FD19E1BEABD}"/>
              </a:ext>
            </a:extLst>
          </p:cNvPr>
          <p:cNvPicPr>
            <a:picLocks noChangeAspect="1"/>
          </p:cNvPicPr>
          <p:nvPr/>
        </p:nvPicPr>
        <p:blipFill>
          <a:blip r:embed="rId19"/>
          <a:stretch>
            <a:fillRect/>
          </a:stretch>
        </p:blipFill>
        <p:spPr>
          <a:xfrm>
            <a:off x="5143917" y="3658915"/>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11ECF582-CF99-7E91-D557-187B5780380C}"/>
              </a:ext>
            </a:extLst>
          </p:cNvPr>
          <p:cNvPicPr>
            <a:picLocks noChangeAspect="1"/>
          </p:cNvPicPr>
          <p:nvPr/>
        </p:nvPicPr>
        <p:blipFill>
          <a:blip r:embed="rId19"/>
          <a:stretch>
            <a:fillRect/>
          </a:stretch>
        </p:blipFill>
        <p:spPr>
          <a:xfrm>
            <a:off x="6128694" y="3658915"/>
            <a:ext cx="666623" cy="838200"/>
          </a:xfrm>
          <a:prstGeom prst="rect">
            <a:avLst/>
          </a:prstGeom>
        </p:spPr>
      </p:pic>
      <p:pic>
        <p:nvPicPr>
          <p:cNvPr id="359" name="Picture 358">
            <a:extLst>
              <a:ext uri="{FF2B5EF4-FFF2-40B4-BE49-F238E27FC236}">
                <a16:creationId xmlns:a16="http://schemas.microsoft.com/office/drawing/2014/main" id="{B76B78E6-9323-4EE5-1D46-04CFC202D999}"/>
              </a:ext>
            </a:extLst>
          </p:cNvPr>
          <p:cNvPicPr>
            <a:picLocks noChangeAspect="1"/>
          </p:cNvPicPr>
          <p:nvPr/>
        </p:nvPicPr>
        <p:blipFill>
          <a:blip r:embed="rId15"/>
          <a:stretch>
            <a:fillRect/>
          </a:stretch>
        </p:blipFill>
        <p:spPr>
          <a:xfrm>
            <a:off x="5142153" y="8007901"/>
            <a:ext cx="554321" cy="415604"/>
          </a:xfrm>
          <a:prstGeom prst="rect">
            <a:avLst/>
          </a:prstGeom>
          <a:ln w="28575">
            <a:solidFill>
              <a:schemeClr val="bg1"/>
            </a:solidFill>
          </a:ln>
        </p:spPr>
      </p:pic>
      <p:sp>
        <p:nvSpPr>
          <p:cNvPr id="360" name="TextBox 359">
            <a:extLst>
              <a:ext uri="{FF2B5EF4-FFF2-40B4-BE49-F238E27FC236}">
                <a16:creationId xmlns:a16="http://schemas.microsoft.com/office/drawing/2014/main" id="{23AAE9E5-B91D-C03E-2AB4-5CBC6400435A}"/>
              </a:ext>
            </a:extLst>
          </p:cNvPr>
          <p:cNvSpPr txBox="1"/>
          <p:nvPr/>
        </p:nvSpPr>
        <p:spPr>
          <a:xfrm>
            <a:off x="4926295" y="6642626"/>
            <a:ext cx="94041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FF0000"/>
                </a:solidFill>
              </a:rPr>
              <a:t>exec/*.R</a:t>
            </a: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cxnSp>
        <p:nvCxnSpPr>
          <p:cNvPr id="361" name="Straight Arrow Connector 360">
            <a:extLst>
              <a:ext uri="{FF2B5EF4-FFF2-40B4-BE49-F238E27FC236}">
                <a16:creationId xmlns:a16="http://schemas.microsoft.com/office/drawing/2014/main" id="{0D6156D8-FF85-2DBA-24AB-90095E031303}"/>
              </a:ext>
            </a:extLst>
          </p:cNvPr>
          <p:cNvCxnSpPr/>
          <p:nvPr/>
        </p:nvCxnSpPr>
        <p:spPr>
          <a:xfrm>
            <a:off x="5963472" y="4842009"/>
            <a:ext cx="2842" cy="3862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2" name="Straight Arrow Connector 361">
            <a:extLst>
              <a:ext uri="{FF2B5EF4-FFF2-40B4-BE49-F238E27FC236}">
                <a16:creationId xmlns:a16="http://schemas.microsoft.com/office/drawing/2014/main" id="{20545952-6619-501C-0F72-1BC005924E6B}"/>
              </a:ext>
            </a:extLst>
          </p:cNvPr>
          <p:cNvCxnSpPr/>
          <p:nvPr/>
        </p:nvCxnSpPr>
        <p:spPr>
          <a:xfrm flipH="1">
            <a:off x="5255526" y="5216422"/>
            <a:ext cx="713384" cy="2757"/>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63" name="Picture 362">
            <a:extLst>
              <a:ext uri="{FF2B5EF4-FFF2-40B4-BE49-F238E27FC236}">
                <a16:creationId xmlns:a16="http://schemas.microsoft.com/office/drawing/2014/main" id="{9E3251B8-9F32-887B-6440-986F9F88752A}"/>
              </a:ext>
            </a:extLst>
          </p:cNvPr>
          <p:cNvPicPr>
            <a:picLocks noChangeAspect="1"/>
          </p:cNvPicPr>
          <p:nvPr/>
        </p:nvPicPr>
        <p:blipFill>
          <a:blip r:embed="rId14"/>
          <a:stretch>
            <a:fillRect/>
          </a:stretch>
        </p:blipFill>
        <p:spPr>
          <a:xfrm>
            <a:off x="11677098" y="5896615"/>
            <a:ext cx="538060" cy="507646"/>
          </a:xfrm>
          <a:prstGeom prst="rect">
            <a:avLst/>
          </a:prstGeom>
        </p:spPr>
      </p:pic>
      <p:sp>
        <p:nvSpPr>
          <p:cNvPr id="365" name="TextBox 364">
            <a:extLst>
              <a:ext uri="{FF2B5EF4-FFF2-40B4-BE49-F238E27FC236}">
                <a16:creationId xmlns:a16="http://schemas.microsoft.com/office/drawing/2014/main" id="{93783331-025E-1FDA-4BEE-057AF9638151}"/>
              </a:ext>
            </a:extLst>
          </p:cNvPr>
          <p:cNvSpPr txBox="1"/>
          <p:nvPr/>
        </p:nvSpPr>
        <p:spPr>
          <a:xfrm>
            <a:off x="11625784" y="6259046"/>
            <a:ext cx="94041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FF0000"/>
                </a:solidFill>
              </a:rPr>
              <a:t>exec/*.R</a:t>
            </a: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421FC663-F205-A00C-0578-2D1DCEE3FD6A}"/>
              </a:ext>
            </a:extLst>
          </p:cNvPr>
          <p:cNvSpPr txBox="1"/>
          <p:nvPr/>
        </p:nvSpPr>
        <p:spPr>
          <a:xfrm>
            <a:off x="9621192" y="8674757"/>
            <a:ext cx="24609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Why executables?</a:t>
            </a:r>
            <a:endParaRPr lang="en-US"/>
          </a:p>
        </p:txBody>
      </p:sp>
      <p:sp>
        <p:nvSpPr>
          <p:cNvPr id="367" name="TextBox 366">
            <a:extLst>
              <a:ext uri="{FF2B5EF4-FFF2-40B4-BE49-F238E27FC236}">
                <a16:creationId xmlns:a16="http://schemas.microsoft.com/office/drawing/2014/main" id="{76AB332B-3056-E967-9033-55A529BFF5EA}"/>
              </a:ext>
            </a:extLst>
          </p:cNvPr>
          <p:cNvSpPr txBox="1"/>
          <p:nvPr/>
        </p:nvSpPr>
        <p:spPr>
          <a:xfrm>
            <a:off x="9564322" y="9022892"/>
            <a:ext cx="4269963"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remove the need to manually write R scripts, fetch data, or manage complex workflows. Instead of handling APIs and parsing data manually, </a:t>
            </a:r>
            <a:r>
              <a:rPr lang="en-US" b="0" err="1">
                <a:solidFill>
                  <a:srgbClr val="000000"/>
                </a:solidFill>
                <a:cs typeface="Helvetica"/>
              </a:rPr>
              <a:t>Kaiaulu</a:t>
            </a:r>
            <a:r>
              <a:rPr lang="en-US" b="0">
                <a:solidFill>
                  <a:srgbClr val="000000"/>
                </a:solidFill>
                <a:cs typeface="Helvetica"/>
              </a:rPr>
              <a:t> executables do this using configuration files. This allows you to focus on defining your analysis rather than implementing it.</a:t>
            </a:r>
            <a:endParaRPr lang="en-US">
              <a:solidFill>
                <a:srgbClr val="000000"/>
              </a:solidFill>
            </a:endParaRPr>
          </a:p>
        </p:txBody>
      </p:sp>
      <p:sp>
        <p:nvSpPr>
          <p:cNvPr id="368" name="Line">
            <a:extLst>
              <a:ext uri="{FF2B5EF4-FFF2-40B4-BE49-F238E27FC236}">
                <a16:creationId xmlns:a16="http://schemas.microsoft.com/office/drawing/2014/main" id="{08CDDB3A-3A64-E2C5-D20C-8BF096426F31}"/>
              </a:ext>
            </a:extLst>
          </p:cNvPr>
          <p:cNvSpPr/>
          <p:nvPr/>
        </p:nvSpPr>
        <p:spPr>
          <a:xfrm>
            <a:off x="4703473" y="8837832"/>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72" name="TextBox 371">
            <a:extLst>
              <a:ext uri="{FF2B5EF4-FFF2-40B4-BE49-F238E27FC236}">
                <a16:creationId xmlns:a16="http://schemas.microsoft.com/office/drawing/2014/main" id="{4D5568CF-C36C-7DF5-BB87-9A57F1A6D4A2}"/>
              </a:ext>
            </a:extLst>
          </p:cNvPr>
          <p:cNvSpPr txBox="1"/>
          <p:nvPr/>
        </p:nvSpPr>
        <p:spPr>
          <a:xfrm>
            <a:off x="4661200" y="9291165"/>
            <a:ext cx="4329616"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latin typeface="Helvetica"/>
                <a:ea typeface="Helvetica"/>
                <a:cs typeface="Helvetica"/>
              </a:rPr>
              <a:t>Any project.</a:t>
            </a:r>
            <a:r>
              <a:rPr lang="en-US" b="0" err="1">
                <a:solidFill>
                  <a:srgbClr val="000000"/>
                </a:solidFill>
                <a:latin typeface="Helvetica"/>
                <a:ea typeface="Helvetica"/>
                <a:cs typeface="Helvetica"/>
              </a:rPr>
              <a:t>yml</a:t>
            </a:r>
            <a:r>
              <a:rPr lang="en-US" b="0">
                <a:solidFill>
                  <a:srgbClr val="000000"/>
                </a:solidFill>
                <a:latin typeface="Helvetica"/>
                <a:ea typeface="Helvetica"/>
                <a:cs typeface="Helvetica"/>
              </a:rPr>
              <a:t> files (1) can be combined with any analysis.yml files (2). This allows users to run the same analysis on multiple projects or run different analyses on the same project, reducing duplication of configuration sections. </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3" name="TextBox 372">
            <a:extLst>
              <a:ext uri="{FF2B5EF4-FFF2-40B4-BE49-F238E27FC236}">
                <a16:creationId xmlns:a16="http://schemas.microsoft.com/office/drawing/2014/main" id="{FAA029E2-4365-BAD4-01B4-A0AB0B92D312}"/>
              </a:ext>
            </a:extLst>
          </p:cNvPr>
          <p:cNvSpPr txBox="1"/>
          <p:nvPr/>
        </p:nvSpPr>
        <p:spPr>
          <a:xfrm>
            <a:off x="4772317" y="3253852"/>
            <a:ext cx="2452904" cy="1601896"/>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6F7B0593-B128-2514-A753-AB8EE629CE1E}"/>
              </a:ext>
            </a:extLst>
          </p:cNvPr>
          <p:cNvSpPr txBox="1"/>
          <p:nvPr/>
        </p:nvSpPr>
        <p:spPr>
          <a:xfrm>
            <a:off x="4677569" y="8971055"/>
            <a:ext cx="430634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cs typeface="Arial"/>
              </a:rPr>
              <a:t>Interchangable</a:t>
            </a:r>
            <a:r>
              <a:rPr lang="en-US" dirty="0">
                <a:cs typeface="Arial"/>
              </a:rPr>
              <a:t> </a:t>
            </a:r>
            <a:r>
              <a:rPr lang="en-US" dirty="0" err="1">
                <a:cs typeface="Arial"/>
              </a:rPr>
              <a:t>Configura</a:t>
            </a:r>
            <a:r>
              <a:rPr lang="en-US" dirty="0">
                <a:cs typeface="Arial"/>
              </a:rPr>
              <a:t>tions</a:t>
            </a:r>
            <a:endParaRPr lang="en-US" dirty="0"/>
          </a:p>
        </p:txBody>
      </p:sp>
      <p:sp>
        <p:nvSpPr>
          <p:cNvPr id="12" name="Line">
            <a:extLst>
              <a:ext uri="{FF2B5EF4-FFF2-40B4-BE49-F238E27FC236}">
                <a16:creationId xmlns:a16="http://schemas.microsoft.com/office/drawing/2014/main" id="{59BAA578-B343-3F0F-E365-758E4101667C}"/>
              </a:ext>
            </a:extLst>
          </p:cNvPr>
          <p:cNvSpPr/>
          <p:nvPr/>
        </p:nvSpPr>
        <p:spPr>
          <a:xfrm>
            <a:off x="9603615" y="8362090"/>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6" name="Logistics">
            <a:extLst>
              <a:ext uri="{FF2B5EF4-FFF2-40B4-BE49-F238E27FC236}">
                <a16:creationId xmlns:a16="http://schemas.microsoft.com/office/drawing/2014/main" id="{50B8A729-ACC8-5996-76B8-D85ABF61F604}"/>
              </a:ext>
            </a:extLst>
          </p:cNvPr>
          <p:cNvSpPr txBox="1"/>
          <p:nvPr/>
        </p:nvSpPr>
        <p:spPr>
          <a:xfrm>
            <a:off x="9604501" y="1446823"/>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Tree>
    <p:extLst>
      <p:ext uri="{BB962C8B-B14F-4D97-AF65-F5344CB8AC3E}">
        <p14:creationId xmlns:p14="http://schemas.microsoft.com/office/powerpoint/2010/main" val="33414340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A659F-E9B9-3C7E-F1D7-0C4CD136D10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BA9506C-4014-C8F5-74C1-A4E27860E7A7}"/>
              </a:ext>
            </a:extLst>
          </p:cNvPr>
          <p:cNvSpPr txBox="1"/>
          <p:nvPr/>
        </p:nvSpPr>
        <p:spPr>
          <a:xfrm>
            <a:off x="4671655" y="3790949"/>
            <a:ext cx="4542160" cy="4921779"/>
          </a:xfrm>
          <a:prstGeom prst="rect">
            <a:avLst/>
          </a:prstGeom>
          <a:noFill/>
          <a:ln w="12700" cap="flat">
            <a:solidFill>
              <a:schemeClr val="tx1">
                <a:lumMod val="50000"/>
              </a:schemeClr>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373" name="TextBox 372">
            <a:extLst>
              <a:ext uri="{FF2B5EF4-FFF2-40B4-BE49-F238E27FC236}">
                <a16:creationId xmlns:a16="http://schemas.microsoft.com/office/drawing/2014/main" id="{87DD21D9-37FC-DD38-3504-9561AC560E03}"/>
              </a:ext>
            </a:extLst>
          </p:cNvPr>
          <p:cNvSpPr txBox="1"/>
          <p:nvPr/>
        </p:nvSpPr>
        <p:spPr>
          <a:xfrm>
            <a:off x="4821857" y="4262778"/>
            <a:ext cx="2428745" cy="28623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49" name="TextBox 348">
            <a:extLst>
              <a:ext uri="{FF2B5EF4-FFF2-40B4-BE49-F238E27FC236}">
                <a16:creationId xmlns:a16="http://schemas.microsoft.com/office/drawing/2014/main" id="{4595049C-074C-3874-4E6F-30C447625A05}"/>
              </a:ext>
            </a:extLst>
          </p:cNvPr>
          <p:cNvSpPr txBox="1"/>
          <p:nvPr/>
        </p:nvSpPr>
        <p:spPr>
          <a:xfrm>
            <a:off x="275783" y="7627712"/>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8C802466-5394-FA12-4D34-1C989C2626A7}"/>
              </a:ext>
            </a:extLst>
          </p:cNvPr>
          <p:cNvPicPr>
            <a:picLocks noChangeAspect="1"/>
          </p:cNvPicPr>
          <p:nvPr/>
        </p:nvPicPr>
        <p:blipFill>
          <a:blip r:embed="rId3"/>
          <a:stretch>
            <a:fillRect/>
          </a:stretch>
        </p:blipFill>
        <p:spPr>
          <a:xfrm>
            <a:off x="12836408" y="3797106"/>
            <a:ext cx="763378" cy="807934"/>
          </a:xfrm>
          <a:prstGeom prst="rect">
            <a:avLst/>
          </a:prstGeom>
        </p:spPr>
      </p:pic>
      <p:pic>
        <p:nvPicPr>
          <p:cNvPr id="292" name="Image" descr="Image">
            <a:extLst>
              <a:ext uri="{FF2B5EF4-FFF2-40B4-BE49-F238E27FC236}">
                <a16:creationId xmlns:a16="http://schemas.microsoft.com/office/drawing/2014/main" id="{3A2BB51F-9A84-2C70-C8C9-352A30C15009}"/>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5D943119-53D8-641B-38F8-F01CB0E07D1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BB81802C-9E13-C971-42A7-AE2471BC1D42}"/>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B2C50E8D-5D27-95E8-0C73-88AF60E350DA}"/>
              </a:ext>
            </a:extLst>
          </p:cNvPr>
          <p:cNvSpPr/>
          <p:nvPr/>
        </p:nvSpPr>
        <p:spPr>
          <a:xfrm>
            <a:off x="220507" y="2610755"/>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CF10684E-5BBB-A5E0-DE96-EC844342C17C}"/>
              </a:ext>
            </a:extLst>
          </p:cNvPr>
          <p:cNvSpPr txBox="1"/>
          <p:nvPr/>
        </p:nvSpPr>
        <p:spPr>
          <a:xfrm>
            <a:off x="304155" y="2612235"/>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967CD52C-2E40-4890-8F39-640A31E9FDFC}"/>
              </a:ext>
            </a:extLst>
          </p:cNvPr>
          <p:cNvSpPr txBox="1"/>
          <p:nvPr/>
        </p:nvSpPr>
        <p:spPr>
          <a:xfrm>
            <a:off x="293295" y="2992442"/>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D6FCD16E-4D45-A3C8-B97F-C2191CCA40A3}"/>
              </a:ext>
            </a:extLst>
          </p:cNvPr>
          <p:cNvSpPr txBox="1"/>
          <p:nvPr/>
        </p:nvSpPr>
        <p:spPr>
          <a:xfrm>
            <a:off x="312386" y="3377157"/>
            <a:ext cx="4122651" cy="602800"/>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1B34036F-9661-3E35-FAF0-D377AE45216C}"/>
              </a:ext>
            </a:extLst>
          </p:cNvPr>
          <p:cNvSpPr txBox="1"/>
          <p:nvPr/>
        </p:nvSpPr>
        <p:spPr>
          <a:xfrm>
            <a:off x="279130" y="6676024"/>
            <a:ext cx="197810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B4787FC2-A43C-4EAD-0E58-7749499A1E69}"/>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25EA754D-43FF-3AB6-A23A-1D6957FC8BAF}"/>
              </a:ext>
            </a:extLst>
          </p:cNvPr>
          <p:cNvSpPr txBox="1"/>
          <p:nvPr/>
        </p:nvSpPr>
        <p:spPr>
          <a:xfrm>
            <a:off x="4681179" y="2700666"/>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B273624A-C218-F625-3164-00D4A1225632}"/>
              </a:ext>
            </a:extLst>
          </p:cNvPr>
          <p:cNvSpPr txBox="1"/>
          <p:nvPr/>
        </p:nvSpPr>
        <p:spPr>
          <a:xfrm>
            <a:off x="257982" y="1466006"/>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0E1B8474-95C9-3311-F737-43D956C806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F55AC7F2-3343-4251-736E-62A353291E63}"/>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lang="en-US" sz="1000" b="0">
                <a:solidFill>
                  <a:schemeClr val="tx1"/>
                </a:solidFill>
              </a:rPr>
              <a:t>Cohen Ruport,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Carlos Paradis,</a:t>
            </a:r>
            <a:r>
              <a:rPr lang="en-US" sz="1000" b="0">
                <a:solidFill>
                  <a:schemeClr val="tx1"/>
                </a:solidFill>
              </a:rPr>
              <a: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a:t>
            </a:r>
            <a:r>
              <a:rPr lang="en-US" sz="1000" b="0">
                <a:solidFill>
                  <a:schemeClr val="tx1"/>
                </a:solidFill>
              </a:rPr>
              <a:t>2026-4</a:t>
            </a:r>
            <a:endPar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45666462-A8D6-6216-EB67-92519B08F911}"/>
              </a:ext>
            </a:extLst>
          </p:cNvPr>
          <p:cNvSpPr/>
          <p:nvPr/>
        </p:nvSpPr>
        <p:spPr>
          <a:xfrm>
            <a:off x="222735" y="5428421"/>
            <a:ext cx="4355706" cy="118521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16F975E2-85F9-F479-065D-0260603FAC29}"/>
              </a:ext>
            </a:extLst>
          </p:cNvPr>
          <p:cNvSpPr txBox="1"/>
          <p:nvPr/>
        </p:nvSpPr>
        <p:spPr>
          <a:xfrm>
            <a:off x="347617" y="5477756"/>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54511EB7-595F-A7C4-B0A5-93D93C78FEF5}"/>
              </a:ext>
            </a:extLst>
          </p:cNvPr>
          <p:cNvSpPr txBox="1"/>
          <p:nvPr/>
        </p:nvSpPr>
        <p:spPr>
          <a:xfrm>
            <a:off x="339098" y="6073641"/>
            <a:ext cx="4105332" cy="432239"/>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err="1">
                <a:cs typeface="Arial"/>
              </a:rPr>
              <a:t>perceval</a:t>
            </a:r>
            <a:r>
              <a:rPr lang="en-US" dirty="0">
                <a:cs typeface="Arial"/>
              </a:rPr>
              <a:t>: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8FDE2BBA-3928-3CD9-CB97-438327B86C00}"/>
              </a:ext>
            </a:extLst>
          </p:cNvPr>
          <p:cNvPicPr>
            <a:picLocks noChangeAspect="1"/>
          </p:cNvPicPr>
          <p:nvPr/>
        </p:nvPicPr>
        <p:blipFill>
          <a:blip r:embed="rId7"/>
          <a:stretch>
            <a:fillRect/>
          </a:stretch>
        </p:blipFill>
        <p:spPr>
          <a:xfrm>
            <a:off x="11535616" y="506116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A81F52ED-F7BF-DB61-4243-049C881221D0}"/>
              </a:ext>
            </a:extLst>
          </p:cNvPr>
          <p:cNvSpPr txBox="1"/>
          <p:nvPr/>
        </p:nvSpPr>
        <p:spPr>
          <a:xfrm>
            <a:off x="328655" y="5789293"/>
            <a:ext cx="4369511" cy="2625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sz="1100" dirty="0">
                <a:cs typeface="Arial"/>
              </a:rPr>
              <a:t>The required external tools must be specified  in tools.</a:t>
            </a:r>
            <a:r>
              <a:rPr lang="en-US" sz="1100" noProof="1">
                <a:cs typeface="Arial"/>
              </a:rPr>
              <a:t>yml</a:t>
            </a:r>
            <a:r>
              <a:rPr lang="en-US" sz="1100" dirty="0">
                <a:cs typeface="Arial"/>
              </a:rPr>
              <a:t>:</a:t>
            </a:r>
            <a:endParaRPr lang="en-US" sz="1100" u="sng" dirty="0">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525D5FF3-33A7-BDD4-6E3E-D357154D8686}"/>
              </a:ext>
            </a:extLst>
          </p:cNvPr>
          <p:cNvPicPr>
            <a:picLocks noChangeAspect="1"/>
          </p:cNvPicPr>
          <p:nvPr/>
        </p:nvPicPr>
        <p:blipFill>
          <a:blip r:embed="rId8"/>
          <a:stretch>
            <a:fillRect/>
          </a:stretch>
        </p:blipFill>
        <p:spPr>
          <a:xfrm>
            <a:off x="11550620" y="2749374"/>
            <a:ext cx="546328" cy="546436"/>
          </a:xfrm>
          <a:prstGeom prst="rect">
            <a:avLst/>
          </a:prstGeom>
        </p:spPr>
      </p:pic>
      <p:pic>
        <p:nvPicPr>
          <p:cNvPr id="23" name="Picture 22">
            <a:extLst>
              <a:ext uri="{FF2B5EF4-FFF2-40B4-BE49-F238E27FC236}">
                <a16:creationId xmlns:a16="http://schemas.microsoft.com/office/drawing/2014/main" id="{58DFDC7B-5405-2D87-674F-8D259EE2FB87}"/>
              </a:ext>
            </a:extLst>
          </p:cNvPr>
          <p:cNvPicPr>
            <a:picLocks noChangeAspect="1"/>
          </p:cNvPicPr>
          <p:nvPr/>
        </p:nvPicPr>
        <p:blipFill>
          <a:blip r:embed="rId9"/>
          <a:stretch>
            <a:fillRect/>
          </a:stretch>
        </p:blipFill>
        <p:spPr>
          <a:xfrm>
            <a:off x="9398319" y="4743260"/>
            <a:ext cx="544372" cy="486505"/>
          </a:xfrm>
          <a:prstGeom prst="rect">
            <a:avLst/>
          </a:prstGeom>
        </p:spPr>
      </p:pic>
      <p:pic>
        <p:nvPicPr>
          <p:cNvPr id="24" name="Picture 23">
            <a:extLst>
              <a:ext uri="{FF2B5EF4-FFF2-40B4-BE49-F238E27FC236}">
                <a16:creationId xmlns:a16="http://schemas.microsoft.com/office/drawing/2014/main" id="{A04526FD-65B3-7C62-947F-6E061AECB3C0}"/>
              </a:ext>
            </a:extLst>
          </p:cNvPr>
          <p:cNvPicPr>
            <a:picLocks noChangeAspect="1"/>
          </p:cNvPicPr>
          <p:nvPr/>
        </p:nvPicPr>
        <p:blipFill>
          <a:blip r:embed="rId10"/>
          <a:stretch>
            <a:fillRect/>
          </a:stretch>
        </p:blipFill>
        <p:spPr>
          <a:xfrm>
            <a:off x="9543024" y="4118620"/>
            <a:ext cx="742783" cy="609600"/>
          </a:xfrm>
          <a:prstGeom prst="rect">
            <a:avLst/>
          </a:prstGeom>
        </p:spPr>
      </p:pic>
      <p:pic>
        <p:nvPicPr>
          <p:cNvPr id="25" name="Picture 24">
            <a:extLst>
              <a:ext uri="{FF2B5EF4-FFF2-40B4-BE49-F238E27FC236}">
                <a16:creationId xmlns:a16="http://schemas.microsoft.com/office/drawing/2014/main" id="{DE0BF19D-C0A7-39D2-AB50-74BDACFD6089}"/>
              </a:ext>
            </a:extLst>
          </p:cNvPr>
          <p:cNvPicPr>
            <a:picLocks noChangeAspect="1"/>
          </p:cNvPicPr>
          <p:nvPr/>
        </p:nvPicPr>
        <p:blipFill>
          <a:blip r:embed="rId11"/>
          <a:stretch>
            <a:fillRect/>
          </a:stretch>
        </p:blipFill>
        <p:spPr>
          <a:xfrm>
            <a:off x="12021419" y="3235853"/>
            <a:ext cx="372044" cy="354363"/>
          </a:xfrm>
          <a:prstGeom prst="rect">
            <a:avLst/>
          </a:prstGeom>
        </p:spPr>
      </p:pic>
      <p:pic>
        <p:nvPicPr>
          <p:cNvPr id="38" name="Picture 37">
            <a:extLst>
              <a:ext uri="{FF2B5EF4-FFF2-40B4-BE49-F238E27FC236}">
                <a16:creationId xmlns:a16="http://schemas.microsoft.com/office/drawing/2014/main" id="{44B20130-2755-667E-7585-13DA1547B3D6}"/>
              </a:ext>
            </a:extLst>
          </p:cNvPr>
          <p:cNvPicPr>
            <a:picLocks noChangeAspect="1"/>
          </p:cNvPicPr>
          <p:nvPr/>
        </p:nvPicPr>
        <p:blipFill>
          <a:blip r:embed="rId10"/>
          <a:stretch>
            <a:fillRect/>
          </a:stretch>
        </p:blipFill>
        <p:spPr>
          <a:xfrm rot="10800000">
            <a:off x="9913619" y="4435494"/>
            <a:ext cx="742783" cy="609600"/>
          </a:xfrm>
          <a:prstGeom prst="rect">
            <a:avLst/>
          </a:prstGeom>
        </p:spPr>
      </p:pic>
      <p:pic>
        <p:nvPicPr>
          <p:cNvPr id="39" name="Picture 38">
            <a:extLst>
              <a:ext uri="{FF2B5EF4-FFF2-40B4-BE49-F238E27FC236}">
                <a16:creationId xmlns:a16="http://schemas.microsoft.com/office/drawing/2014/main" id="{FFD6F286-E7B2-28DC-4E41-37988213C1D0}"/>
              </a:ext>
            </a:extLst>
          </p:cNvPr>
          <p:cNvPicPr>
            <a:picLocks noChangeAspect="1"/>
          </p:cNvPicPr>
          <p:nvPr/>
        </p:nvPicPr>
        <p:blipFill>
          <a:blip r:embed="rId12"/>
          <a:stretch>
            <a:fillRect/>
          </a:stretch>
        </p:blipFill>
        <p:spPr>
          <a:xfrm>
            <a:off x="10892178" y="4118426"/>
            <a:ext cx="560207" cy="171450"/>
          </a:xfrm>
          <a:prstGeom prst="rect">
            <a:avLst/>
          </a:prstGeom>
        </p:spPr>
      </p:pic>
      <p:pic>
        <p:nvPicPr>
          <p:cNvPr id="40" name="Picture 39">
            <a:extLst>
              <a:ext uri="{FF2B5EF4-FFF2-40B4-BE49-F238E27FC236}">
                <a16:creationId xmlns:a16="http://schemas.microsoft.com/office/drawing/2014/main" id="{E0AD8F76-0511-0687-68DF-F1A66FC408F4}"/>
              </a:ext>
            </a:extLst>
          </p:cNvPr>
          <p:cNvPicPr>
            <a:picLocks noChangeAspect="1"/>
          </p:cNvPicPr>
          <p:nvPr/>
        </p:nvPicPr>
        <p:blipFill>
          <a:blip r:embed="rId12"/>
          <a:stretch>
            <a:fillRect/>
          </a:stretch>
        </p:blipFill>
        <p:spPr>
          <a:xfrm rot="10800000">
            <a:off x="12257860" y="4121569"/>
            <a:ext cx="571524" cy="171450"/>
          </a:xfrm>
          <a:prstGeom prst="rect">
            <a:avLst/>
          </a:prstGeom>
        </p:spPr>
      </p:pic>
      <p:pic>
        <p:nvPicPr>
          <p:cNvPr id="41" name="Picture 40">
            <a:extLst>
              <a:ext uri="{FF2B5EF4-FFF2-40B4-BE49-F238E27FC236}">
                <a16:creationId xmlns:a16="http://schemas.microsoft.com/office/drawing/2014/main" id="{34BF20D4-28CB-78D9-823C-4EA47EA9181D}"/>
              </a:ext>
            </a:extLst>
          </p:cNvPr>
          <p:cNvPicPr>
            <a:picLocks noChangeAspect="1"/>
          </p:cNvPicPr>
          <p:nvPr/>
        </p:nvPicPr>
        <p:blipFill>
          <a:blip r:embed="rId12"/>
          <a:stretch>
            <a:fillRect/>
          </a:stretch>
        </p:blipFill>
        <p:spPr>
          <a:xfrm rot="5400000">
            <a:off x="11535414" y="3476923"/>
            <a:ext cx="571524" cy="171450"/>
          </a:xfrm>
          <a:prstGeom prst="rect">
            <a:avLst/>
          </a:prstGeom>
        </p:spPr>
      </p:pic>
      <p:sp>
        <p:nvSpPr>
          <p:cNvPr id="42" name="TextBox 41">
            <a:extLst>
              <a:ext uri="{FF2B5EF4-FFF2-40B4-BE49-F238E27FC236}">
                <a16:creationId xmlns:a16="http://schemas.microsoft.com/office/drawing/2014/main" id="{80383AA8-8239-D907-FA39-2DF447C1FFA5}"/>
              </a:ext>
            </a:extLst>
          </p:cNvPr>
          <p:cNvSpPr txBox="1"/>
          <p:nvPr/>
        </p:nvSpPr>
        <p:spPr>
          <a:xfrm>
            <a:off x="9686582" y="428721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Activity</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6F182320-31C1-CEA4-22E7-A50FF38D6B3A}"/>
              </a:ext>
            </a:extLst>
          </p:cNvPr>
          <p:cNvSpPr txBox="1"/>
          <p:nvPr/>
        </p:nvSpPr>
        <p:spPr>
          <a:xfrm>
            <a:off x="12978381" y="4033696"/>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132299AE-944B-942A-4AA2-C162157BA13A}"/>
              </a:ext>
            </a:extLst>
          </p:cNvPr>
          <p:cNvPicPr>
            <a:picLocks noChangeAspect="1"/>
          </p:cNvPicPr>
          <p:nvPr/>
        </p:nvPicPr>
        <p:blipFill>
          <a:blip r:embed="rId12"/>
          <a:stretch>
            <a:fillRect/>
          </a:stretch>
        </p:blipFill>
        <p:spPr>
          <a:xfrm rot="5400000">
            <a:off x="11540938" y="4650191"/>
            <a:ext cx="571524" cy="171450"/>
          </a:xfrm>
          <a:prstGeom prst="rect">
            <a:avLst/>
          </a:prstGeom>
        </p:spPr>
      </p:pic>
      <p:sp>
        <p:nvSpPr>
          <p:cNvPr id="51" name="TextBox 50">
            <a:extLst>
              <a:ext uri="{FF2B5EF4-FFF2-40B4-BE49-F238E27FC236}">
                <a16:creationId xmlns:a16="http://schemas.microsoft.com/office/drawing/2014/main" id="{6BF9AEC4-FFB7-FE35-45D5-67E74D497B3B}"/>
              </a:ext>
            </a:extLst>
          </p:cNvPr>
          <p:cNvSpPr txBox="1"/>
          <p:nvPr/>
        </p:nvSpPr>
        <p:spPr>
          <a:xfrm>
            <a:off x="10292164" y="4045603"/>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302288AA-3223-A763-E45A-4BDB3AEDDA9A}"/>
              </a:ext>
            </a:extLst>
          </p:cNvPr>
          <p:cNvSpPr txBox="1"/>
          <p:nvPr/>
        </p:nvSpPr>
        <p:spPr>
          <a:xfrm>
            <a:off x="12351538" y="323831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00A4EFF3-8D5D-8E94-7F1C-12AD903B967A}"/>
              </a:ext>
            </a:extLst>
          </p:cNvPr>
          <p:cNvSpPr txBox="1"/>
          <p:nvPr/>
        </p:nvSpPr>
        <p:spPr>
          <a:xfrm>
            <a:off x="11400376" y="568409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2686EC3F-A0C8-BB8B-FF29-1633E1F65E5A}"/>
              </a:ext>
            </a:extLst>
          </p:cNvPr>
          <p:cNvSpPr txBox="1"/>
          <p:nvPr/>
        </p:nvSpPr>
        <p:spPr>
          <a:xfrm>
            <a:off x="9473435" y="1452105"/>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30" name="TextBox 29">
            <a:extLst>
              <a:ext uri="{FF2B5EF4-FFF2-40B4-BE49-F238E27FC236}">
                <a16:creationId xmlns:a16="http://schemas.microsoft.com/office/drawing/2014/main" id="{F55B16E9-8115-33CE-C848-FCCD4F30C1E1}"/>
              </a:ext>
            </a:extLst>
          </p:cNvPr>
          <p:cNvSpPr txBox="1"/>
          <p:nvPr/>
        </p:nvSpPr>
        <p:spPr>
          <a:xfrm>
            <a:off x="4827038" y="4268998"/>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Sailuh/</a:t>
            </a:r>
            <a:r>
              <a:rPr lang="en-US" sz="1800" err="1"/>
              <a:t>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ADDFD16A-43A4-9708-557E-404D3F60C510}"/>
              </a:ext>
            </a:extLst>
          </p:cNvPr>
          <p:cNvSpPr txBox="1"/>
          <p:nvPr/>
        </p:nvSpPr>
        <p:spPr>
          <a:xfrm>
            <a:off x="4712445" y="8262754"/>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AE9AB4E7-752C-820D-B9A5-F2EA402B02E9}"/>
              </a:ext>
            </a:extLst>
          </p:cNvPr>
          <p:cNvSpPr txBox="1"/>
          <p:nvPr/>
        </p:nvSpPr>
        <p:spPr>
          <a:xfrm>
            <a:off x="7434915" y="8251255"/>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B5398276-9E2F-847F-CD60-992F038F5996}"/>
              </a:ext>
            </a:extLst>
          </p:cNvPr>
          <p:cNvSpPr txBox="1"/>
          <p:nvPr/>
        </p:nvSpPr>
        <p:spPr>
          <a:xfrm>
            <a:off x="7383136" y="7636160"/>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Sailuh/sentiment_classifier</a:t>
            </a:r>
          </a:p>
        </p:txBody>
      </p:sp>
      <p:sp>
        <p:nvSpPr>
          <p:cNvPr id="272" name="TextBox 271">
            <a:extLst>
              <a:ext uri="{FF2B5EF4-FFF2-40B4-BE49-F238E27FC236}">
                <a16:creationId xmlns:a16="http://schemas.microsoft.com/office/drawing/2014/main" id="{3D0472BA-FAC5-9B43-779F-89C286C58610}"/>
              </a:ext>
            </a:extLst>
          </p:cNvPr>
          <p:cNvSpPr txBox="1"/>
          <p:nvPr/>
        </p:nvSpPr>
        <p:spPr>
          <a:xfrm>
            <a:off x="6237179" y="9393013"/>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76BD990C-513F-A8E7-A88E-5A5BDC9600A0}"/>
              </a:ext>
            </a:extLst>
          </p:cNvPr>
          <p:cNvSpPr txBox="1"/>
          <p:nvPr/>
        </p:nvSpPr>
        <p:spPr>
          <a:xfrm>
            <a:off x="222484" y="1804417"/>
            <a:ext cx="435228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Kaiaulu's functions through a command line interface. This allows other tools to build on Kaiaulu capabilities or use it server-side.</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981356F6-A349-075B-BA52-D419D0F64B9D}"/>
              </a:ext>
            </a:extLst>
          </p:cNvPr>
          <p:cNvSpPr txBox="1"/>
          <p:nvPr/>
        </p:nvSpPr>
        <p:spPr>
          <a:xfrm>
            <a:off x="9473688" y="169503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B39A2E15-95E4-93B6-F813-0E76CFA7ED43}"/>
              </a:ext>
            </a:extLst>
          </p:cNvPr>
          <p:cNvSpPr txBox="1"/>
          <p:nvPr/>
        </p:nvSpPr>
        <p:spPr>
          <a:xfrm>
            <a:off x="4663205" y="2938852"/>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Sailuh tools such as pykumu rely on kaiaulu executables to download and refresh data. Kaiaulu executables are also made to provide kaiaulu's functions to users, tools, and projects outside of the sailuh ecosystem.</a:t>
            </a:r>
          </a:p>
        </p:txBody>
      </p:sp>
      <p:sp>
        <p:nvSpPr>
          <p:cNvPr id="298" name="TextBox 297">
            <a:extLst>
              <a:ext uri="{FF2B5EF4-FFF2-40B4-BE49-F238E27FC236}">
                <a16:creationId xmlns:a16="http://schemas.microsoft.com/office/drawing/2014/main" id="{0D9670F2-2000-B850-8A3B-F08E1483F120}"/>
              </a:ext>
            </a:extLst>
          </p:cNvPr>
          <p:cNvSpPr txBox="1"/>
          <p:nvPr/>
        </p:nvSpPr>
        <p:spPr>
          <a:xfrm>
            <a:off x="274081" y="6879030"/>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a:solidFill>
                  <a:srgbClr val="000000"/>
                </a:solidFill>
              </a:rPr>
              <a:t>.</a:t>
            </a: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D346E7EA-D915-DAD5-B635-8689EE0E82C5}"/>
              </a:ext>
            </a:extLst>
          </p:cNvPr>
          <p:cNvSpPr/>
          <p:nvPr/>
        </p:nvSpPr>
        <p:spPr>
          <a:xfrm>
            <a:off x="220611" y="4066083"/>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C5977898-7C69-8EAD-7156-D87B8AA156FC}"/>
              </a:ext>
            </a:extLst>
          </p:cNvPr>
          <p:cNvSpPr txBox="1"/>
          <p:nvPr/>
        </p:nvSpPr>
        <p:spPr>
          <a:xfrm>
            <a:off x="322463" y="4144272"/>
            <a:ext cx="364653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79A4A3CB-A7E3-8703-D823-1CBE53B82F83}"/>
              </a:ext>
            </a:extLst>
          </p:cNvPr>
          <p:cNvSpPr txBox="1"/>
          <p:nvPr/>
        </p:nvSpPr>
        <p:spPr>
          <a:xfrm>
            <a:off x="265065" y="4503604"/>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0DACBF0F-9811-6A97-22C2-8BCB80E00D63}"/>
              </a:ext>
            </a:extLst>
          </p:cNvPr>
          <p:cNvSpPr txBox="1"/>
          <p:nvPr/>
        </p:nvSpPr>
        <p:spPr>
          <a:xfrm>
            <a:off x="310787" y="4703953"/>
            <a:ext cx="4216585" cy="6370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DAEE27D-6AFC-668A-ED7B-4B856BB7CB69}"/>
              </a:ext>
            </a:extLst>
          </p:cNvPr>
          <p:cNvSpPr txBox="1"/>
          <p:nvPr/>
        </p:nvSpPr>
        <p:spPr>
          <a:xfrm>
            <a:off x="4717630" y="7628239"/>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Sailuh/pykumu</a:t>
            </a:r>
          </a:p>
        </p:txBody>
      </p:sp>
      <p:sp>
        <p:nvSpPr>
          <p:cNvPr id="22" name="TextBox 21">
            <a:extLst>
              <a:ext uri="{FF2B5EF4-FFF2-40B4-BE49-F238E27FC236}">
                <a16:creationId xmlns:a16="http://schemas.microsoft.com/office/drawing/2014/main" id="{566857A3-01DA-987B-439B-882468C87A95}"/>
              </a:ext>
            </a:extLst>
          </p:cNvPr>
          <p:cNvSpPr txBox="1"/>
          <p:nvPr/>
        </p:nvSpPr>
        <p:spPr>
          <a:xfrm>
            <a:off x="4710551" y="9727979"/>
            <a:ext cx="417477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Kaiaulu executables provide data from sources such as Mail, JIRA, and GitHub. </a:t>
            </a:r>
          </a:p>
        </p:txBody>
      </p:sp>
      <p:pic>
        <p:nvPicPr>
          <p:cNvPr id="60" name="Picture 59" descr="A close-up of a letter&#10;&#10;AI-generated content may be incorrect.">
            <a:extLst>
              <a:ext uri="{FF2B5EF4-FFF2-40B4-BE49-F238E27FC236}">
                <a16:creationId xmlns:a16="http://schemas.microsoft.com/office/drawing/2014/main" id="{C9AA6C67-6133-4AE8-02F2-72ED53FBEBE8}"/>
              </a:ext>
            </a:extLst>
          </p:cNvPr>
          <p:cNvPicPr>
            <a:picLocks noChangeAspect="1"/>
          </p:cNvPicPr>
          <p:nvPr/>
        </p:nvPicPr>
        <p:blipFill>
          <a:blip r:embed="rId13"/>
          <a:stretch>
            <a:fillRect/>
          </a:stretch>
        </p:blipFill>
        <p:spPr>
          <a:xfrm>
            <a:off x="7419116" y="4462452"/>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31E2FD21-3867-3496-13F0-1D0CD94B2AB2}"/>
              </a:ext>
            </a:extLst>
          </p:cNvPr>
          <p:cNvPicPr>
            <a:picLocks noChangeAspect="1"/>
          </p:cNvPicPr>
          <p:nvPr/>
        </p:nvPicPr>
        <p:blipFill>
          <a:blip r:embed="rId14"/>
          <a:stretch>
            <a:fillRect/>
          </a:stretch>
        </p:blipFill>
        <p:spPr>
          <a:xfrm>
            <a:off x="6243124" y="6167317"/>
            <a:ext cx="914258" cy="905585"/>
          </a:xfrm>
          <a:prstGeom prst="rect">
            <a:avLst/>
          </a:prstGeom>
        </p:spPr>
      </p:pic>
      <p:pic>
        <p:nvPicPr>
          <p:cNvPr id="43" name="Picture 42">
            <a:extLst>
              <a:ext uri="{FF2B5EF4-FFF2-40B4-BE49-F238E27FC236}">
                <a16:creationId xmlns:a16="http://schemas.microsoft.com/office/drawing/2014/main" id="{EB6803EB-6788-9865-2BB6-ED8F5A814C66}"/>
              </a:ext>
            </a:extLst>
          </p:cNvPr>
          <p:cNvPicPr>
            <a:picLocks noChangeAspect="1"/>
          </p:cNvPicPr>
          <p:nvPr/>
        </p:nvPicPr>
        <p:blipFill>
          <a:blip r:embed="rId15"/>
          <a:stretch>
            <a:fillRect/>
          </a:stretch>
        </p:blipFill>
        <p:spPr>
          <a:xfrm>
            <a:off x="8508987" y="4481030"/>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5598B7D3-4CBE-DAAB-7A00-CEF34CFF63DB}"/>
              </a:ext>
            </a:extLst>
          </p:cNvPr>
          <p:cNvSpPr txBox="1"/>
          <p:nvPr/>
        </p:nvSpPr>
        <p:spPr>
          <a:xfrm>
            <a:off x="8509461" y="485904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BE8714F1-5CAF-8189-13FE-461A586BD043}"/>
              </a:ext>
            </a:extLst>
          </p:cNvPr>
          <p:cNvSpPr txBox="1"/>
          <p:nvPr/>
        </p:nvSpPr>
        <p:spPr>
          <a:xfrm>
            <a:off x="7981261" y="484903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B88A8A93-8330-C926-114B-F23F86BF6209}"/>
              </a:ext>
            </a:extLst>
          </p:cNvPr>
          <p:cNvSpPr txBox="1"/>
          <p:nvPr/>
        </p:nvSpPr>
        <p:spPr>
          <a:xfrm>
            <a:off x="7417908" y="483482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mc:AlternateContent xmlns:mc="http://schemas.openxmlformats.org/markup-compatibility/2006" xmlns:p14="http://schemas.microsoft.com/office/powerpoint/2010/main">
        <mc:Choice Requires="p14">
          <p:contentPart p14:bwMode="auto" r:id="rId16">
            <p14:nvContentPartPr>
              <p14:cNvPr id="300" name="Ink 299">
                <a:extLst>
                  <a:ext uri="{FF2B5EF4-FFF2-40B4-BE49-F238E27FC236}">
                    <a16:creationId xmlns:a16="http://schemas.microsoft.com/office/drawing/2014/main" id="{D446EA5F-321C-D00F-DF10-B669304380C1}"/>
                  </a:ext>
                </a:extLst>
              </p14:cNvPr>
              <p14:cNvContentPartPr/>
              <p14:nvPr/>
            </p14:nvContentPartPr>
            <p14:xfrm>
              <a:off x="8237478" y="6581665"/>
              <a:ext cx="13744" cy="13744"/>
            </p14:xfrm>
          </p:contentPart>
        </mc:Choice>
        <mc:Fallback xmlns="">
          <p:pic>
            <p:nvPicPr>
              <p:cNvPr id="300" name="Ink 299">
                <a:extLst>
                  <a:ext uri="{FF2B5EF4-FFF2-40B4-BE49-F238E27FC236}">
                    <a16:creationId xmlns:a16="http://schemas.microsoft.com/office/drawing/2014/main" id="{D446EA5F-321C-D00F-DF10-B669304380C1}"/>
                  </a:ext>
                </a:extLst>
              </p:cNvPr>
              <p:cNvPicPr/>
              <p:nvPr/>
            </p:nvPicPr>
            <p:blipFill>
              <a:blip r:embed="rId17"/>
              <a:stretch>
                <a:fillRect/>
              </a:stretch>
            </p:blipFill>
            <p:spPr>
              <a:xfrm>
                <a:off x="7550278" y="5894465"/>
                <a:ext cx="1374400" cy="1374400"/>
              </a:xfrm>
              <a:prstGeom prst="rect">
                <a:avLst/>
              </a:prstGeom>
            </p:spPr>
          </p:pic>
        </mc:Fallback>
      </mc:AlternateContent>
      <p:pic>
        <p:nvPicPr>
          <p:cNvPr id="304" name="Picture 303" descr="A black and white logo&#10;&#10;AI-generated content may be incorrect.">
            <a:extLst>
              <a:ext uri="{FF2B5EF4-FFF2-40B4-BE49-F238E27FC236}">
                <a16:creationId xmlns:a16="http://schemas.microsoft.com/office/drawing/2014/main" id="{2173F1E4-0770-99B8-1FFD-12FD277E41C5}"/>
              </a:ext>
            </a:extLst>
          </p:cNvPr>
          <p:cNvPicPr>
            <a:picLocks noChangeAspect="1"/>
          </p:cNvPicPr>
          <p:nvPr/>
        </p:nvPicPr>
        <p:blipFill>
          <a:blip r:embed="rId18"/>
          <a:stretch>
            <a:fillRect/>
          </a:stretch>
        </p:blipFill>
        <p:spPr>
          <a:xfrm>
            <a:off x="5162093" y="7305896"/>
            <a:ext cx="276189" cy="277029"/>
          </a:xfrm>
          <a:prstGeom prst="rect">
            <a:avLst/>
          </a:prstGeom>
        </p:spPr>
      </p:pic>
      <p:pic>
        <p:nvPicPr>
          <p:cNvPr id="305" name="Picture 304" descr="A black and white logo&#10;&#10;AI-generated content may be incorrect.">
            <a:extLst>
              <a:ext uri="{FF2B5EF4-FFF2-40B4-BE49-F238E27FC236}">
                <a16:creationId xmlns:a16="http://schemas.microsoft.com/office/drawing/2014/main" id="{00A7DB16-B281-9D71-4211-64D01F98926E}"/>
              </a:ext>
            </a:extLst>
          </p:cNvPr>
          <p:cNvPicPr>
            <a:picLocks noChangeAspect="1"/>
          </p:cNvPicPr>
          <p:nvPr/>
        </p:nvPicPr>
        <p:blipFill>
          <a:blip r:embed="rId18"/>
          <a:stretch>
            <a:fillRect/>
          </a:stretch>
        </p:blipFill>
        <p:spPr>
          <a:xfrm>
            <a:off x="5145410" y="7956220"/>
            <a:ext cx="327111" cy="288344"/>
          </a:xfrm>
          <a:prstGeom prst="rect">
            <a:avLst/>
          </a:prstGeom>
        </p:spPr>
      </p:pic>
      <p:pic>
        <p:nvPicPr>
          <p:cNvPr id="306" name="Picture 305" descr="A black and white logo&#10;&#10;AI-generated content may be incorrect.">
            <a:extLst>
              <a:ext uri="{FF2B5EF4-FFF2-40B4-BE49-F238E27FC236}">
                <a16:creationId xmlns:a16="http://schemas.microsoft.com/office/drawing/2014/main" id="{85493E22-549D-C917-A1A1-AF6B2DD75D77}"/>
              </a:ext>
            </a:extLst>
          </p:cNvPr>
          <p:cNvPicPr>
            <a:picLocks noChangeAspect="1"/>
          </p:cNvPicPr>
          <p:nvPr/>
        </p:nvPicPr>
        <p:blipFill>
          <a:blip r:embed="rId18"/>
          <a:stretch>
            <a:fillRect/>
          </a:stretch>
        </p:blipFill>
        <p:spPr>
          <a:xfrm>
            <a:off x="8133110" y="7322861"/>
            <a:ext cx="327111" cy="288344"/>
          </a:xfrm>
          <a:prstGeom prst="rect">
            <a:avLst/>
          </a:prstGeom>
        </p:spPr>
      </p:pic>
      <p:pic>
        <p:nvPicPr>
          <p:cNvPr id="307" name="Picture 306" descr="A black and white logo&#10;&#10;AI-generated content may be incorrect.">
            <a:extLst>
              <a:ext uri="{FF2B5EF4-FFF2-40B4-BE49-F238E27FC236}">
                <a16:creationId xmlns:a16="http://schemas.microsoft.com/office/drawing/2014/main" id="{96260891-F2E2-9E54-361F-14150B3B5B9D}"/>
              </a:ext>
            </a:extLst>
          </p:cNvPr>
          <p:cNvPicPr>
            <a:picLocks noChangeAspect="1"/>
          </p:cNvPicPr>
          <p:nvPr/>
        </p:nvPicPr>
        <p:blipFill>
          <a:blip r:embed="rId18"/>
          <a:stretch>
            <a:fillRect/>
          </a:stretch>
        </p:blipFill>
        <p:spPr>
          <a:xfrm>
            <a:off x="8134824" y="7993980"/>
            <a:ext cx="327111" cy="288344"/>
          </a:xfrm>
          <a:prstGeom prst="rect">
            <a:avLst/>
          </a:prstGeom>
        </p:spPr>
      </p:pic>
      <p:sp>
        <p:nvSpPr>
          <p:cNvPr id="318" name="Rectangle 317">
            <a:extLst>
              <a:ext uri="{FF2B5EF4-FFF2-40B4-BE49-F238E27FC236}">
                <a16:creationId xmlns:a16="http://schemas.microsoft.com/office/drawing/2014/main" id="{6210DD9D-8F02-C6B7-1E0C-E2ED5D3D48A5}"/>
              </a:ext>
            </a:extLst>
          </p:cNvPr>
          <p:cNvSpPr/>
          <p:nvPr/>
        </p:nvSpPr>
        <p:spPr>
          <a:xfrm>
            <a:off x="3004804" y="778701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FAE53C1F-8BBF-303D-8FF7-246FE7F50966}"/>
              </a:ext>
            </a:extLst>
          </p:cNvPr>
          <p:cNvSpPr/>
          <p:nvPr/>
        </p:nvSpPr>
        <p:spPr>
          <a:xfrm>
            <a:off x="2499832" y="818972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4BBEFF09-5608-21F4-8036-98725EFF2216}"/>
              </a:ext>
            </a:extLst>
          </p:cNvPr>
          <p:cNvSpPr/>
          <p:nvPr/>
        </p:nvSpPr>
        <p:spPr>
          <a:xfrm>
            <a:off x="3340229" y="8189723"/>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51639C76-A4DD-3CC8-7CAA-EA5C913222D5}"/>
              </a:ext>
            </a:extLst>
          </p:cNvPr>
          <p:cNvCxnSpPr/>
          <p:nvPr/>
        </p:nvCxnSpPr>
        <p:spPr>
          <a:xfrm rot="16200000" flipH="1">
            <a:off x="3812006" y="7953325"/>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96C002A4-0E6E-FEFE-A7E9-9DAF4EA70079}"/>
              </a:ext>
            </a:extLst>
          </p:cNvPr>
          <p:cNvCxnSpPr>
            <a:cxnSpLocks/>
          </p:cNvCxnSpPr>
          <p:nvPr/>
        </p:nvCxnSpPr>
        <p:spPr>
          <a:xfrm rot="10800000" flipH="1">
            <a:off x="2783498" y="7959743"/>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41370D02-1F64-CB2E-455A-1D8CEFC31747}"/>
              </a:ext>
            </a:extLst>
          </p:cNvPr>
          <p:cNvCxnSpPr>
            <a:cxnSpLocks/>
          </p:cNvCxnSpPr>
          <p:nvPr/>
        </p:nvCxnSpPr>
        <p:spPr>
          <a:xfrm rot="2700000" flipH="1">
            <a:off x="3168733" y="8433699"/>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B9A8E602-0196-D1D8-BF8C-6271872B13A7}"/>
              </a:ext>
            </a:extLst>
          </p:cNvPr>
          <p:cNvSpPr txBox="1"/>
          <p:nvPr/>
        </p:nvSpPr>
        <p:spPr>
          <a:xfrm>
            <a:off x="3008743" y="7710988"/>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489BD2D4-0302-C56A-347F-2A123BF0D932}"/>
              </a:ext>
            </a:extLst>
          </p:cNvPr>
          <p:cNvSpPr txBox="1"/>
          <p:nvPr/>
        </p:nvSpPr>
        <p:spPr>
          <a:xfrm>
            <a:off x="2523213" y="8115169"/>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CC1771AF-1933-2391-715A-F650FE259D20}"/>
              </a:ext>
            </a:extLst>
          </p:cNvPr>
          <p:cNvSpPr txBox="1"/>
          <p:nvPr/>
        </p:nvSpPr>
        <p:spPr>
          <a:xfrm>
            <a:off x="3357192" y="8122909"/>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cxnSp>
        <p:nvCxnSpPr>
          <p:cNvPr id="55" name="Straight Connector 54">
            <a:extLst>
              <a:ext uri="{FF2B5EF4-FFF2-40B4-BE49-F238E27FC236}">
                <a16:creationId xmlns:a16="http://schemas.microsoft.com/office/drawing/2014/main" id="{17B170B9-16F7-C5B2-55BE-FF4198973D45}"/>
              </a:ext>
            </a:extLst>
          </p:cNvPr>
          <p:cNvCxnSpPr/>
          <p:nvPr/>
        </p:nvCxnSpPr>
        <p:spPr>
          <a:xfrm>
            <a:off x="2953488" y="7967692"/>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77371397-3F1B-5599-B837-DA38684F4414}"/>
              </a:ext>
            </a:extLst>
          </p:cNvPr>
          <p:cNvCxnSpPr>
            <a:cxnSpLocks/>
          </p:cNvCxnSpPr>
          <p:nvPr/>
        </p:nvCxnSpPr>
        <p:spPr>
          <a:xfrm rot="5400000">
            <a:off x="2953488" y="7976534"/>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 name="Rectangle 56">
            <a:extLst>
              <a:ext uri="{FF2B5EF4-FFF2-40B4-BE49-F238E27FC236}">
                <a16:creationId xmlns:a16="http://schemas.microsoft.com/office/drawing/2014/main" id="{E15FB984-1C93-0710-022A-5AFF51FA0367}"/>
              </a:ext>
            </a:extLst>
          </p:cNvPr>
          <p:cNvSpPr/>
          <p:nvPr/>
        </p:nvSpPr>
        <p:spPr>
          <a:xfrm>
            <a:off x="2918994" y="9376622"/>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50CD0B84-4A5E-06D9-D455-BD00A0EFBBBA}"/>
              </a:ext>
            </a:extLst>
          </p:cNvPr>
          <p:cNvSpPr txBox="1"/>
          <p:nvPr/>
        </p:nvSpPr>
        <p:spPr>
          <a:xfrm>
            <a:off x="2914837" y="9528210"/>
            <a:ext cx="1357903" cy="7103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&gt; Rscript</a:t>
            </a:r>
            <a:r>
              <a:rPr lang="en-US" sz="1100">
                <a:solidFill>
                  <a:srgbClr val="000000"/>
                </a:solidFill>
              </a:rPr>
              <a:t> </a:t>
            </a:r>
            <a:r>
              <a:rPr lang="en-US">
                <a:solidFill>
                  <a:srgbClr val="0B4EB2"/>
                </a:solidFill>
              </a:rPr>
              <a:t>exec/*.R</a:t>
            </a:r>
            <a:endParaRPr lang="en-US" b="0">
              <a:solidFill>
                <a:srgbClr val="000000"/>
              </a:solidFill>
            </a:endParaRPr>
          </a:p>
          <a:p>
            <a:r>
              <a:rPr lang="en-US" sz="1100">
                <a:solidFill>
                  <a:srgbClr val="000000"/>
                </a:solidFill>
              </a:rPr>
              <a:t> </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project1.yml</a:t>
            </a:r>
            <a:endParaRPr lang="en-US"/>
          </a:p>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analysisB.yml</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258" name="TextBox 766">
            <a:extLst>
              <a:ext uri="{FF2B5EF4-FFF2-40B4-BE49-F238E27FC236}">
                <a16:creationId xmlns:a16="http://schemas.microsoft.com/office/drawing/2014/main" id="{09156A44-85C1-0847-4772-0BB4D4434939}"/>
              </a:ext>
            </a:extLst>
          </p:cNvPr>
          <p:cNvSpPr txBox="1"/>
          <p:nvPr/>
        </p:nvSpPr>
        <p:spPr>
          <a:xfrm>
            <a:off x="484057" y="76296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D79A16B6-44F4-80CD-769C-D3C7A5B151E6}"/>
              </a:ext>
            </a:extLst>
          </p:cNvPr>
          <p:cNvSpPr txBox="1"/>
          <p:nvPr/>
        </p:nvSpPr>
        <p:spPr>
          <a:xfrm>
            <a:off x="2910994" y="9088557"/>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3BA280C5-B842-A6B5-925D-E4A89CEF8E3A}"/>
              </a:ext>
            </a:extLst>
          </p:cNvPr>
          <p:cNvSpPr txBox="1"/>
          <p:nvPr/>
        </p:nvSpPr>
        <p:spPr>
          <a:xfrm>
            <a:off x="2509455" y="762326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1AE4D8A5-9F04-33C5-7D93-66A81F615225}"/>
              </a:ext>
            </a:extLst>
          </p:cNvPr>
          <p:cNvSpPr txBox="1"/>
          <p:nvPr/>
        </p:nvSpPr>
        <p:spPr>
          <a:xfrm>
            <a:off x="292087" y="862153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8590755C-C1B5-4098-9D91-64FB86CD3992}"/>
              </a:ext>
            </a:extLst>
          </p:cNvPr>
          <p:cNvGrpSpPr/>
          <p:nvPr/>
        </p:nvGrpSpPr>
        <p:grpSpPr>
          <a:xfrm>
            <a:off x="299450" y="8844585"/>
            <a:ext cx="1454607" cy="1359206"/>
            <a:chOff x="4888883" y="5320096"/>
            <a:chExt cx="1741511" cy="1781653"/>
          </a:xfrm>
        </p:grpSpPr>
        <p:sp>
          <p:nvSpPr>
            <p:cNvPr id="277" name="Rectangle 276">
              <a:extLst>
                <a:ext uri="{FF2B5EF4-FFF2-40B4-BE49-F238E27FC236}">
                  <a16:creationId xmlns:a16="http://schemas.microsoft.com/office/drawing/2014/main" id="{245E1A21-B254-17A2-D64D-1E065ECD674D}"/>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1" name="TextBox 754">
              <a:extLst>
                <a:ext uri="{FF2B5EF4-FFF2-40B4-BE49-F238E27FC236}">
                  <a16:creationId xmlns:a16="http://schemas.microsoft.com/office/drawing/2014/main" id="{AB444C01-3870-A819-38FD-8196BF8A771A}"/>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2D31978F-3A61-C75D-982B-2143A1F33F9E}"/>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F799F89C-7F6A-A42A-35E9-591D165DDE09}"/>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FAB060AD-09DD-4A11-9645-E67AB76C398F}"/>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63528849-07B9-F9F6-FEA8-47C70B80BD09}"/>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308802C6-56CD-2432-819D-D0465C9410E9}"/>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98669AB8-9FBF-15EC-A1DD-A2CC874D67A7}"/>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89" name="Rectangle 288">
              <a:extLst>
                <a:ext uri="{FF2B5EF4-FFF2-40B4-BE49-F238E27FC236}">
                  <a16:creationId xmlns:a16="http://schemas.microsoft.com/office/drawing/2014/main" id="{B95A993C-7571-6767-4F8D-1D017290666D}"/>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1" name="Rectangle 290">
              <a:extLst>
                <a:ext uri="{FF2B5EF4-FFF2-40B4-BE49-F238E27FC236}">
                  <a16:creationId xmlns:a16="http://schemas.microsoft.com/office/drawing/2014/main" id="{06AC0A44-8BFD-E2AC-1CAF-420D217BA53E}"/>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930D8D1A-A8CB-92BF-2F62-A709E9FC3293}"/>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sp>
          <p:nvSpPr>
            <p:cNvPr id="294" name="TextBox 5">
              <a:extLst>
                <a:ext uri="{FF2B5EF4-FFF2-40B4-BE49-F238E27FC236}">
                  <a16:creationId xmlns:a16="http://schemas.microsoft.com/office/drawing/2014/main" id="{20180C4E-77EA-D485-BB2C-8B37655E3EAD}"/>
                </a:ext>
              </a:extLst>
            </p:cNvPr>
            <p:cNvSpPr txBox="1"/>
            <p:nvPr/>
          </p:nvSpPr>
          <p:spPr>
            <a:xfrm>
              <a:off x="5035667" y="6255106"/>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grpSp>
          <p:nvGrpSpPr>
            <p:cNvPr id="295" name="Group 294">
              <a:extLst>
                <a:ext uri="{FF2B5EF4-FFF2-40B4-BE49-F238E27FC236}">
                  <a16:creationId xmlns:a16="http://schemas.microsoft.com/office/drawing/2014/main" id="{F377025E-CED4-8F91-7942-15C54EB2C27F}"/>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E3490DFC-22B3-4462-19CD-63514B13974B}"/>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9F3BD985-3596-DB36-A2A0-0D0406DA4522}"/>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CC850D9E-8BA1-20FD-E3AE-EE30CEDAF583}"/>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95ED6149-5AD7-53C4-1F3A-7640348E2D2D}"/>
              </a:ext>
            </a:extLst>
          </p:cNvPr>
          <p:cNvSpPr/>
          <p:nvPr/>
        </p:nvSpPr>
        <p:spPr>
          <a:xfrm>
            <a:off x="892950" y="778707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60B0B80F-189B-FE79-8BD2-3268F0BE8E49}"/>
              </a:ext>
            </a:extLst>
          </p:cNvPr>
          <p:cNvSpPr/>
          <p:nvPr/>
        </p:nvSpPr>
        <p:spPr>
          <a:xfrm>
            <a:off x="387877" y="818977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3C151413-98CC-DD2C-A302-8EA8B376FE71}"/>
              </a:ext>
            </a:extLst>
          </p:cNvPr>
          <p:cNvSpPr/>
          <p:nvPr/>
        </p:nvSpPr>
        <p:spPr>
          <a:xfrm>
            <a:off x="1228441" y="8189775"/>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F3B23C9A-C351-3FFB-79AD-B845AED7A288}"/>
              </a:ext>
            </a:extLst>
          </p:cNvPr>
          <p:cNvCxnSpPr>
            <a:cxnSpLocks/>
          </p:cNvCxnSpPr>
          <p:nvPr/>
        </p:nvCxnSpPr>
        <p:spPr>
          <a:xfrm rot="16200000" flipH="1">
            <a:off x="1700312" y="7953376"/>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BA42B28A-0C79-6C1E-EDA3-74FB37CB17BB}"/>
              </a:ext>
            </a:extLst>
          </p:cNvPr>
          <p:cNvCxnSpPr>
            <a:cxnSpLocks/>
          </p:cNvCxnSpPr>
          <p:nvPr/>
        </p:nvCxnSpPr>
        <p:spPr>
          <a:xfrm rot="10800000" flipH="1">
            <a:off x="671600" y="795979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7F66A916-163E-9A5F-BABC-6C46F2BFF025}"/>
              </a:ext>
            </a:extLst>
          </p:cNvPr>
          <p:cNvCxnSpPr>
            <a:cxnSpLocks/>
          </p:cNvCxnSpPr>
          <p:nvPr/>
        </p:nvCxnSpPr>
        <p:spPr>
          <a:xfrm rot="2700000" flipH="1">
            <a:off x="1056911" y="8433751"/>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00315274-9094-822C-951D-0C25ECA18ED4}"/>
              </a:ext>
            </a:extLst>
          </p:cNvPr>
          <p:cNvSpPr txBox="1"/>
          <p:nvPr/>
        </p:nvSpPr>
        <p:spPr>
          <a:xfrm>
            <a:off x="896889" y="7711040"/>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F466EC7C-3433-1222-D803-06D7CBF9626C}"/>
              </a:ext>
            </a:extLst>
          </p:cNvPr>
          <p:cNvSpPr txBox="1"/>
          <p:nvPr/>
        </p:nvSpPr>
        <p:spPr>
          <a:xfrm>
            <a:off x="411263" y="8115221"/>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EC30F780-4A05-BD78-CEDA-B2EC4636678A}"/>
              </a:ext>
            </a:extLst>
          </p:cNvPr>
          <p:cNvSpPr txBox="1"/>
          <p:nvPr/>
        </p:nvSpPr>
        <p:spPr>
          <a:xfrm>
            <a:off x="1245408" y="8122960"/>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47" name="Straight Connector 346">
            <a:extLst>
              <a:ext uri="{FF2B5EF4-FFF2-40B4-BE49-F238E27FC236}">
                <a16:creationId xmlns:a16="http://schemas.microsoft.com/office/drawing/2014/main" id="{FD1DD881-070A-AABF-DE6C-F97EDEFA5AF2}"/>
              </a:ext>
            </a:extLst>
          </p:cNvPr>
          <p:cNvCxnSpPr>
            <a:cxnSpLocks/>
          </p:cNvCxnSpPr>
          <p:nvPr/>
        </p:nvCxnSpPr>
        <p:spPr>
          <a:xfrm>
            <a:off x="841623" y="7967744"/>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78AE0ED4-38E4-C612-6775-98D85C3ABCA9}"/>
              </a:ext>
            </a:extLst>
          </p:cNvPr>
          <p:cNvCxnSpPr>
            <a:cxnSpLocks/>
          </p:cNvCxnSpPr>
          <p:nvPr/>
        </p:nvCxnSpPr>
        <p:spPr>
          <a:xfrm rot="5400000">
            <a:off x="841623" y="7976585"/>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0" name="Straight Arrow Connector 349">
            <a:extLst>
              <a:ext uri="{FF2B5EF4-FFF2-40B4-BE49-F238E27FC236}">
                <a16:creationId xmlns:a16="http://schemas.microsoft.com/office/drawing/2014/main" id="{45338D21-9CFC-124D-C3F7-771B5B68413F}"/>
              </a:ext>
            </a:extLst>
          </p:cNvPr>
          <p:cNvCxnSpPr/>
          <p:nvPr/>
        </p:nvCxnSpPr>
        <p:spPr>
          <a:xfrm>
            <a:off x="3416547" y="8692079"/>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6655E677-5086-9690-68ED-EA152A262943}"/>
              </a:ext>
            </a:extLst>
          </p:cNvPr>
          <p:cNvSpPr txBox="1"/>
          <p:nvPr/>
        </p:nvSpPr>
        <p:spPr>
          <a:xfrm>
            <a:off x="3488746" y="8771213"/>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3A9FE003-0EA4-5666-6D73-E4F0B2E1BD2C}"/>
              </a:ext>
            </a:extLst>
          </p:cNvPr>
          <p:cNvSpPr txBox="1"/>
          <p:nvPr/>
        </p:nvSpPr>
        <p:spPr>
          <a:xfrm>
            <a:off x="2915551" y="9366940"/>
            <a:ext cx="1358728"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DFDECC2D-F8F1-F421-0601-929497C2DBA7}"/>
              </a:ext>
            </a:extLst>
          </p:cNvPr>
          <p:cNvSpPr txBox="1"/>
          <p:nvPr/>
        </p:nvSpPr>
        <p:spPr>
          <a:xfrm>
            <a:off x="3738365" y="8972642"/>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36D73B3A-DB70-5872-D384-8B413F57E0DF}"/>
              </a:ext>
            </a:extLst>
          </p:cNvPr>
          <p:cNvSpPr txBox="1"/>
          <p:nvPr/>
        </p:nvSpPr>
        <p:spPr>
          <a:xfrm>
            <a:off x="1996975" y="8743741"/>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B4FEE1E4-F3BC-83B7-03AE-E65E8B41E93B}"/>
              </a:ext>
            </a:extLst>
          </p:cNvPr>
          <p:cNvCxnSpPr/>
          <p:nvPr/>
        </p:nvCxnSpPr>
        <p:spPr>
          <a:xfrm flipH="1">
            <a:off x="1713673" y="9726642"/>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415BC2B4-00C3-CCD6-45B0-8AF093D0C526}"/>
              </a:ext>
            </a:extLst>
          </p:cNvPr>
          <p:cNvCxnSpPr/>
          <p:nvPr/>
        </p:nvCxnSpPr>
        <p:spPr>
          <a:xfrm flipH="1">
            <a:off x="1983283" y="8678586"/>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A5CBA18E-DE6B-3F32-CC65-D1EF054F7D41}"/>
              </a:ext>
            </a:extLst>
          </p:cNvPr>
          <p:cNvSpPr txBox="1"/>
          <p:nvPr/>
        </p:nvSpPr>
        <p:spPr>
          <a:xfrm>
            <a:off x="5011890" y="5454558"/>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0BAB6CE2-23D1-54C4-8464-8695F72EFB09}"/>
              </a:ext>
            </a:extLst>
          </p:cNvPr>
          <p:cNvSpPr txBox="1"/>
          <p:nvPr/>
        </p:nvSpPr>
        <p:spPr>
          <a:xfrm>
            <a:off x="6022638" y="5455499"/>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analysis.yml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4C94EA45-8BAC-2426-5936-A9DFAA46D583}"/>
              </a:ext>
            </a:extLst>
          </p:cNvPr>
          <p:cNvPicPr>
            <a:picLocks noChangeAspect="1"/>
          </p:cNvPicPr>
          <p:nvPr/>
        </p:nvPicPr>
        <p:blipFill>
          <a:blip r:embed="rId19"/>
          <a:stretch>
            <a:fillRect/>
          </a:stretch>
        </p:blipFill>
        <p:spPr>
          <a:xfrm>
            <a:off x="5161656" y="4700873"/>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90168EA2-F4C7-18F9-19FC-41F43CBB710B}"/>
              </a:ext>
            </a:extLst>
          </p:cNvPr>
          <p:cNvPicPr>
            <a:picLocks noChangeAspect="1"/>
          </p:cNvPicPr>
          <p:nvPr/>
        </p:nvPicPr>
        <p:blipFill>
          <a:blip r:embed="rId19"/>
          <a:stretch>
            <a:fillRect/>
          </a:stretch>
        </p:blipFill>
        <p:spPr>
          <a:xfrm>
            <a:off x="6146433" y="4700873"/>
            <a:ext cx="666623" cy="838200"/>
          </a:xfrm>
          <a:prstGeom prst="rect">
            <a:avLst/>
          </a:prstGeom>
        </p:spPr>
      </p:pic>
      <p:pic>
        <p:nvPicPr>
          <p:cNvPr id="359" name="Picture 358">
            <a:extLst>
              <a:ext uri="{FF2B5EF4-FFF2-40B4-BE49-F238E27FC236}">
                <a16:creationId xmlns:a16="http://schemas.microsoft.com/office/drawing/2014/main" id="{E10FF902-E7CC-129A-DFAC-F7C66F46336F}"/>
              </a:ext>
            </a:extLst>
          </p:cNvPr>
          <p:cNvPicPr>
            <a:picLocks noChangeAspect="1"/>
          </p:cNvPicPr>
          <p:nvPr/>
        </p:nvPicPr>
        <p:blipFill>
          <a:blip r:embed="rId15"/>
          <a:stretch>
            <a:fillRect/>
          </a:stretch>
        </p:blipFill>
        <p:spPr>
          <a:xfrm>
            <a:off x="7909422" y="4481066"/>
            <a:ext cx="554321" cy="415604"/>
          </a:xfrm>
          <a:prstGeom prst="rect">
            <a:avLst/>
          </a:prstGeom>
          <a:ln w="28575">
            <a:solidFill>
              <a:schemeClr val="bg1"/>
            </a:solidFill>
          </a:ln>
        </p:spPr>
      </p:pic>
      <p:pic>
        <p:nvPicPr>
          <p:cNvPr id="363" name="Picture 362">
            <a:extLst>
              <a:ext uri="{FF2B5EF4-FFF2-40B4-BE49-F238E27FC236}">
                <a16:creationId xmlns:a16="http://schemas.microsoft.com/office/drawing/2014/main" id="{669C810F-4D01-D2E5-541D-04FC281F49C8}"/>
              </a:ext>
            </a:extLst>
          </p:cNvPr>
          <p:cNvPicPr>
            <a:picLocks noChangeAspect="1"/>
          </p:cNvPicPr>
          <p:nvPr/>
        </p:nvPicPr>
        <p:blipFill>
          <a:blip r:embed="rId14"/>
          <a:stretch>
            <a:fillRect/>
          </a:stretch>
        </p:blipFill>
        <p:spPr>
          <a:xfrm>
            <a:off x="11585418" y="3795869"/>
            <a:ext cx="538060" cy="507646"/>
          </a:xfrm>
          <a:prstGeom prst="rect">
            <a:avLst/>
          </a:prstGeom>
        </p:spPr>
      </p:pic>
      <p:sp>
        <p:nvSpPr>
          <p:cNvPr id="365" name="TextBox 364">
            <a:extLst>
              <a:ext uri="{FF2B5EF4-FFF2-40B4-BE49-F238E27FC236}">
                <a16:creationId xmlns:a16="http://schemas.microsoft.com/office/drawing/2014/main" id="{CEBBEB97-99AD-AF2D-3DC2-91C49C182AE3}"/>
              </a:ext>
            </a:extLst>
          </p:cNvPr>
          <p:cNvSpPr txBox="1"/>
          <p:nvPr/>
        </p:nvSpPr>
        <p:spPr>
          <a:xfrm>
            <a:off x="11534104" y="4168473"/>
            <a:ext cx="940417"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solidFill>
                  <a:srgbClr val="0B4EB2"/>
                </a:solidFill>
              </a:rPr>
              <a:t>exec/*.R</a:t>
            </a:r>
            <a:endParaRPr lang="en-US" b="0">
              <a:solidFill>
                <a:srgbClr val="000000"/>
              </a:solidFill>
            </a:endParaRPr>
          </a:p>
          <a:p>
            <a:pPr marL="0" marR="0" indent="0" algn="l" defTabSz="584200">
              <a:lnSpc>
                <a:spcPct val="100000"/>
              </a:lnSpc>
              <a:spcBef>
                <a:spcPts val="200"/>
              </a:spcBef>
              <a:spcAft>
                <a:spcPts val="0"/>
              </a:spcAft>
              <a:buClrTx/>
              <a:buSzTx/>
              <a:buFontTx/>
              <a:buNone/>
              <a:tabLst/>
            </a:pP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CA46F383-67D0-D4F7-B0C3-72EA79220CE6}"/>
              </a:ext>
            </a:extLst>
          </p:cNvPr>
          <p:cNvSpPr txBox="1"/>
          <p:nvPr/>
        </p:nvSpPr>
        <p:spPr>
          <a:xfrm>
            <a:off x="9546400" y="6478881"/>
            <a:ext cx="24609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Pipelines</a:t>
            </a:r>
            <a:endParaRPr lang="en-US"/>
          </a:p>
        </p:txBody>
      </p:sp>
      <p:sp>
        <p:nvSpPr>
          <p:cNvPr id="367" name="TextBox 366">
            <a:extLst>
              <a:ext uri="{FF2B5EF4-FFF2-40B4-BE49-F238E27FC236}">
                <a16:creationId xmlns:a16="http://schemas.microsoft.com/office/drawing/2014/main" id="{104F8935-20B6-0262-903E-615DB1AE71F6}"/>
              </a:ext>
            </a:extLst>
          </p:cNvPr>
          <p:cNvSpPr txBox="1"/>
          <p:nvPr/>
        </p:nvSpPr>
        <p:spPr>
          <a:xfrm>
            <a:off x="9489530" y="6756044"/>
            <a:ext cx="4269963"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remove the need to manually write R scripts, fetch data, or manage complex workflows. Instead of handling APIs and parsing data manually, Kaiaulu executables do this using configuration files. Executables can also be chained together to construct more complex pipelines.</a:t>
            </a:r>
            <a:endParaRPr lang="en-US">
              <a:solidFill>
                <a:srgbClr val="000000"/>
              </a:solidFill>
            </a:endParaRPr>
          </a:p>
        </p:txBody>
      </p:sp>
      <p:sp>
        <p:nvSpPr>
          <p:cNvPr id="372" name="TextBox 371">
            <a:extLst>
              <a:ext uri="{FF2B5EF4-FFF2-40B4-BE49-F238E27FC236}">
                <a16:creationId xmlns:a16="http://schemas.microsoft.com/office/drawing/2014/main" id="{2EB3171F-18B8-6AF2-2097-024245774AB6}"/>
              </a:ext>
            </a:extLst>
          </p:cNvPr>
          <p:cNvSpPr txBox="1"/>
          <p:nvPr/>
        </p:nvSpPr>
        <p:spPr>
          <a:xfrm>
            <a:off x="4684122" y="1807450"/>
            <a:ext cx="436018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Any project.yml files (1) can be combined with any analysis.yml files (2). This allows users to run the same analysis on multiple projects or run different analyses on the same project, reducing duplication of configuration sections. </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C8DDDE8F-102E-CFC7-A0CA-FE6E920E175C}"/>
              </a:ext>
            </a:extLst>
          </p:cNvPr>
          <p:cNvSpPr txBox="1"/>
          <p:nvPr/>
        </p:nvSpPr>
        <p:spPr>
          <a:xfrm>
            <a:off x="4677569" y="1465815"/>
            <a:ext cx="430634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cs typeface="Arial"/>
              </a:rPr>
              <a:t>Interchangable</a:t>
            </a:r>
            <a:r>
              <a:rPr lang="en-US" dirty="0">
                <a:cs typeface="Arial"/>
              </a:rPr>
              <a:t> </a:t>
            </a:r>
            <a:r>
              <a:rPr lang="en-US" dirty="0" err="1">
                <a:cs typeface="Arial"/>
              </a:rPr>
              <a:t>Configura</a:t>
            </a:r>
            <a:r>
              <a:rPr lang="en-US" dirty="0">
                <a:cs typeface="Arial"/>
              </a:rPr>
              <a:t>tions</a:t>
            </a:r>
            <a:endParaRPr lang="en-US" dirty="0"/>
          </a:p>
        </p:txBody>
      </p:sp>
      <p:sp>
        <p:nvSpPr>
          <p:cNvPr id="12" name="Line">
            <a:extLst>
              <a:ext uri="{FF2B5EF4-FFF2-40B4-BE49-F238E27FC236}">
                <a16:creationId xmlns:a16="http://schemas.microsoft.com/office/drawing/2014/main" id="{352F75EF-4C6E-946D-1AFC-CA99AE1E6443}"/>
              </a:ext>
            </a:extLst>
          </p:cNvPr>
          <p:cNvSpPr/>
          <p:nvPr/>
        </p:nvSpPr>
        <p:spPr>
          <a:xfrm>
            <a:off x="4694971" y="9723661"/>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1" name="TextBox 20">
            <a:extLst>
              <a:ext uri="{FF2B5EF4-FFF2-40B4-BE49-F238E27FC236}">
                <a16:creationId xmlns:a16="http://schemas.microsoft.com/office/drawing/2014/main" id="{B2575C2B-679B-0776-E601-84246699B5C8}"/>
              </a:ext>
            </a:extLst>
          </p:cNvPr>
          <p:cNvSpPr txBox="1"/>
          <p:nvPr/>
        </p:nvSpPr>
        <p:spPr>
          <a:xfrm>
            <a:off x="6339064" y="6847726"/>
            <a:ext cx="718914"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a:solidFill>
                  <a:srgbClr val="0B4EB2"/>
                </a:solidFill>
                <a:cs typeface="Helvetica"/>
              </a:rPr>
              <a:t>exec/*.R</a:t>
            </a:r>
            <a:endParaRPr lang="en-US" b="1">
              <a:solidFill>
                <a:srgbClr val="0B4EB2"/>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a:extLst>
              <a:ext uri="{FF2B5EF4-FFF2-40B4-BE49-F238E27FC236}">
                <a16:creationId xmlns:a16="http://schemas.microsoft.com/office/drawing/2014/main" id="{66D0A455-C8E6-B311-6D10-FF37304696CD}"/>
              </a:ext>
            </a:extLst>
          </p:cNvPr>
          <p:cNvPicPr>
            <a:picLocks noChangeAspect="1"/>
          </p:cNvPicPr>
          <p:nvPr/>
        </p:nvPicPr>
        <p:blipFill>
          <a:blip r:embed="rId14"/>
          <a:stretch>
            <a:fillRect/>
          </a:stretch>
        </p:blipFill>
        <p:spPr>
          <a:xfrm>
            <a:off x="10199549" y="8507016"/>
            <a:ext cx="538060" cy="507646"/>
          </a:xfrm>
          <a:prstGeom prst="rect">
            <a:avLst/>
          </a:prstGeom>
        </p:spPr>
      </p:pic>
      <p:pic>
        <p:nvPicPr>
          <p:cNvPr id="36" name="Picture 35">
            <a:extLst>
              <a:ext uri="{FF2B5EF4-FFF2-40B4-BE49-F238E27FC236}">
                <a16:creationId xmlns:a16="http://schemas.microsoft.com/office/drawing/2014/main" id="{89436FE6-9BE2-9408-BC9C-133A3CC48DB1}"/>
              </a:ext>
            </a:extLst>
          </p:cNvPr>
          <p:cNvPicPr>
            <a:picLocks noChangeAspect="1"/>
          </p:cNvPicPr>
          <p:nvPr/>
        </p:nvPicPr>
        <p:blipFill>
          <a:blip r:embed="rId14"/>
          <a:stretch>
            <a:fillRect/>
          </a:stretch>
        </p:blipFill>
        <p:spPr>
          <a:xfrm>
            <a:off x="10199637" y="7868327"/>
            <a:ext cx="538060" cy="507646"/>
          </a:xfrm>
          <a:prstGeom prst="rect">
            <a:avLst/>
          </a:prstGeom>
        </p:spPr>
      </p:pic>
      <p:pic>
        <p:nvPicPr>
          <p:cNvPr id="46" name="Picture 45">
            <a:extLst>
              <a:ext uri="{FF2B5EF4-FFF2-40B4-BE49-F238E27FC236}">
                <a16:creationId xmlns:a16="http://schemas.microsoft.com/office/drawing/2014/main" id="{82233E85-95DA-11D2-5EB9-ABB1AF0740FA}"/>
              </a:ext>
            </a:extLst>
          </p:cNvPr>
          <p:cNvPicPr>
            <a:picLocks noChangeAspect="1"/>
          </p:cNvPicPr>
          <p:nvPr/>
        </p:nvPicPr>
        <p:blipFill>
          <a:blip r:embed="rId14"/>
          <a:stretch>
            <a:fillRect/>
          </a:stretch>
        </p:blipFill>
        <p:spPr>
          <a:xfrm>
            <a:off x="11441446" y="7850639"/>
            <a:ext cx="538060" cy="507646"/>
          </a:xfrm>
          <a:prstGeom prst="rect">
            <a:avLst/>
          </a:prstGeom>
        </p:spPr>
      </p:pic>
      <p:pic>
        <p:nvPicPr>
          <p:cNvPr id="59" name="Picture 58">
            <a:extLst>
              <a:ext uri="{FF2B5EF4-FFF2-40B4-BE49-F238E27FC236}">
                <a16:creationId xmlns:a16="http://schemas.microsoft.com/office/drawing/2014/main" id="{50D24A2E-55BD-D55D-DA3D-6E44000D57AA}"/>
              </a:ext>
            </a:extLst>
          </p:cNvPr>
          <p:cNvPicPr>
            <a:picLocks noChangeAspect="1"/>
          </p:cNvPicPr>
          <p:nvPr/>
        </p:nvPicPr>
        <p:blipFill>
          <a:blip r:embed="rId14"/>
          <a:stretch>
            <a:fillRect/>
          </a:stretch>
        </p:blipFill>
        <p:spPr>
          <a:xfrm>
            <a:off x="11477011" y="8507180"/>
            <a:ext cx="538060" cy="507646"/>
          </a:xfrm>
          <a:prstGeom prst="rect">
            <a:avLst/>
          </a:prstGeom>
        </p:spPr>
      </p:pic>
      <p:pic>
        <p:nvPicPr>
          <p:cNvPr id="61" name="table">
            <a:extLst>
              <a:ext uri="{FF2B5EF4-FFF2-40B4-BE49-F238E27FC236}">
                <a16:creationId xmlns:a16="http://schemas.microsoft.com/office/drawing/2014/main" id="{4BCC045D-F711-400F-CC55-18FF62ED2467}"/>
              </a:ext>
            </a:extLst>
          </p:cNvPr>
          <p:cNvPicPr>
            <a:picLocks noChangeAspect="1"/>
          </p:cNvPicPr>
          <p:nvPr/>
        </p:nvPicPr>
        <p:blipFill>
          <a:blip r:embed="rId7"/>
          <a:stretch>
            <a:fillRect/>
          </a:stretch>
        </p:blipFill>
        <p:spPr>
          <a:xfrm>
            <a:off x="10965727" y="7980540"/>
            <a:ext cx="267508" cy="302355"/>
          </a:xfrm>
          <a:prstGeom prst="rect">
            <a:avLst/>
          </a:prstGeom>
        </p:spPr>
      </p:pic>
      <p:pic>
        <p:nvPicPr>
          <p:cNvPr id="62" name="table">
            <a:extLst>
              <a:ext uri="{FF2B5EF4-FFF2-40B4-BE49-F238E27FC236}">
                <a16:creationId xmlns:a16="http://schemas.microsoft.com/office/drawing/2014/main" id="{5D5E9364-24D0-2DD5-600E-7A03C245EAAB}"/>
              </a:ext>
            </a:extLst>
          </p:cNvPr>
          <p:cNvPicPr>
            <a:picLocks noChangeAspect="1"/>
          </p:cNvPicPr>
          <p:nvPr/>
        </p:nvPicPr>
        <p:blipFill>
          <a:blip r:embed="rId7"/>
          <a:stretch>
            <a:fillRect/>
          </a:stretch>
        </p:blipFill>
        <p:spPr>
          <a:xfrm>
            <a:off x="13575937" y="8849995"/>
            <a:ext cx="267508" cy="302355"/>
          </a:xfrm>
          <a:prstGeom prst="rect">
            <a:avLst/>
          </a:prstGeom>
        </p:spPr>
      </p:pic>
      <p:pic>
        <p:nvPicPr>
          <p:cNvPr id="63" name="table">
            <a:extLst>
              <a:ext uri="{FF2B5EF4-FFF2-40B4-BE49-F238E27FC236}">
                <a16:creationId xmlns:a16="http://schemas.microsoft.com/office/drawing/2014/main" id="{CB7052C9-D545-D8B3-0CC5-2397733E2009}"/>
              </a:ext>
            </a:extLst>
          </p:cNvPr>
          <p:cNvPicPr>
            <a:picLocks noChangeAspect="1"/>
          </p:cNvPicPr>
          <p:nvPr/>
        </p:nvPicPr>
        <p:blipFill>
          <a:blip r:embed="rId7"/>
          <a:stretch>
            <a:fillRect/>
          </a:stretch>
        </p:blipFill>
        <p:spPr>
          <a:xfrm>
            <a:off x="10968405" y="8646007"/>
            <a:ext cx="267508" cy="302355"/>
          </a:xfrm>
          <a:prstGeom prst="rect">
            <a:avLst/>
          </a:prstGeom>
        </p:spPr>
      </p:pic>
      <p:pic>
        <p:nvPicPr>
          <p:cNvPr id="256" name="table">
            <a:extLst>
              <a:ext uri="{FF2B5EF4-FFF2-40B4-BE49-F238E27FC236}">
                <a16:creationId xmlns:a16="http://schemas.microsoft.com/office/drawing/2014/main" id="{C72EEA71-350D-DA67-A456-B56730CA53A5}"/>
              </a:ext>
            </a:extLst>
          </p:cNvPr>
          <p:cNvPicPr>
            <a:picLocks noChangeAspect="1"/>
          </p:cNvPicPr>
          <p:nvPr/>
        </p:nvPicPr>
        <p:blipFill>
          <a:blip r:embed="rId7"/>
          <a:stretch>
            <a:fillRect/>
          </a:stretch>
        </p:blipFill>
        <p:spPr>
          <a:xfrm>
            <a:off x="12192476" y="7936346"/>
            <a:ext cx="267508" cy="302355"/>
          </a:xfrm>
          <a:prstGeom prst="rect">
            <a:avLst/>
          </a:prstGeom>
        </p:spPr>
      </p:pic>
      <p:pic>
        <p:nvPicPr>
          <p:cNvPr id="257" name="table">
            <a:extLst>
              <a:ext uri="{FF2B5EF4-FFF2-40B4-BE49-F238E27FC236}">
                <a16:creationId xmlns:a16="http://schemas.microsoft.com/office/drawing/2014/main" id="{97C05F57-EB46-12C0-7B04-AC0CC4D7C50D}"/>
              </a:ext>
            </a:extLst>
          </p:cNvPr>
          <p:cNvPicPr>
            <a:picLocks noChangeAspect="1"/>
          </p:cNvPicPr>
          <p:nvPr/>
        </p:nvPicPr>
        <p:blipFill>
          <a:blip r:embed="rId7"/>
          <a:stretch>
            <a:fillRect/>
          </a:stretch>
        </p:blipFill>
        <p:spPr>
          <a:xfrm>
            <a:off x="12201431" y="8619501"/>
            <a:ext cx="267508" cy="302355"/>
          </a:xfrm>
          <a:prstGeom prst="rect">
            <a:avLst/>
          </a:prstGeom>
        </p:spPr>
      </p:pic>
      <p:pic>
        <p:nvPicPr>
          <p:cNvPr id="263" name="Picture 262">
            <a:extLst>
              <a:ext uri="{FF2B5EF4-FFF2-40B4-BE49-F238E27FC236}">
                <a16:creationId xmlns:a16="http://schemas.microsoft.com/office/drawing/2014/main" id="{D5CFF87A-BAA3-21BF-FDC0-DF20101489C8}"/>
              </a:ext>
            </a:extLst>
          </p:cNvPr>
          <p:cNvPicPr>
            <a:picLocks noChangeAspect="1"/>
          </p:cNvPicPr>
          <p:nvPr/>
        </p:nvPicPr>
        <p:blipFill>
          <a:blip r:embed="rId14"/>
          <a:stretch>
            <a:fillRect/>
          </a:stretch>
        </p:blipFill>
        <p:spPr>
          <a:xfrm>
            <a:off x="12836644" y="8764452"/>
            <a:ext cx="538060" cy="507646"/>
          </a:xfrm>
          <a:prstGeom prst="rect">
            <a:avLst/>
          </a:prstGeom>
        </p:spPr>
      </p:pic>
      <p:pic>
        <p:nvPicPr>
          <p:cNvPr id="267" name="Picture 266" descr="A close-up of a letter&#10;&#10;AI-generated content may be incorrect.">
            <a:extLst>
              <a:ext uri="{FF2B5EF4-FFF2-40B4-BE49-F238E27FC236}">
                <a16:creationId xmlns:a16="http://schemas.microsoft.com/office/drawing/2014/main" id="{F5F54AD6-CB2B-A77D-3521-D2956C96EF43}"/>
              </a:ext>
            </a:extLst>
          </p:cNvPr>
          <p:cNvPicPr>
            <a:picLocks noChangeAspect="1"/>
          </p:cNvPicPr>
          <p:nvPr/>
        </p:nvPicPr>
        <p:blipFill>
          <a:blip r:embed="rId13"/>
          <a:stretch>
            <a:fillRect/>
          </a:stretch>
        </p:blipFill>
        <p:spPr>
          <a:xfrm>
            <a:off x="9495569" y="8532644"/>
            <a:ext cx="396915" cy="386557"/>
          </a:xfrm>
          <a:prstGeom prst="rect">
            <a:avLst/>
          </a:prstGeom>
          <a:ln w="28575">
            <a:solidFill>
              <a:schemeClr val="bg1"/>
            </a:solidFill>
          </a:ln>
        </p:spPr>
      </p:pic>
      <p:pic>
        <p:nvPicPr>
          <p:cNvPr id="278" name="Picture 277">
            <a:extLst>
              <a:ext uri="{FF2B5EF4-FFF2-40B4-BE49-F238E27FC236}">
                <a16:creationId xmlns:a16="http://schemas.microsoft.com/office/drawing/2014/main" id="{92938626-8674-EDBD-F78B-C4526DEE63E0}"/>
              </a:ext>
            </a:extLst>
          </p:cNvPr>
          <p:cNvPicPr>
            <a:picLocks noChangeAspect="1"/>
          </p:cNvPicPr>
          <p:nvPr/>
        </p:nvPicPr>
        <p:blipFill>
          <a:blip r:embed="rId15"/>
          <a:stretch>
            <a:fillRect/>
          </a:stretch>
        </p:blipFill>
        <p:spPr>
          <a:xfrm>
            <a:off x="9494497" y="7930221"/>
            <a:ext cx="554321" cy="415604"/>
          </a:xfrm>
          <a:prstGeom prst="rect">
            <a:avLst/>
          </a:prstGeom>
          <a:ln w="28575">
            <a:solidFill>
              <a:schemeClr val="bg1"/>
            </a:solidFill>
          </a:ln>
        </p:spPr>
      </p:pic>
      <p:cxnSp>
        <p:nvCxnSpPr>
          <p:cNvPr id="279" name="Straight Arrow Connector 278">
            <a:extLst>
              <a:ext uri="{FF2B5EF4-FFF2-40B4-BE49-F238E27FC236}">
                <a16:creationId xmlns:a16="http://schemas.microsoft.com/office/drawing/2014/main" id="{D93C812D-F2FA-1CFB-3A9B-4EC69819938C}"/>
              </a:ext>
            </a:extLst>
          </p:cNvPr>
          <p:cNvCxnSpPr/>
          <p:nvPr/>
        </p:nvCxnSpPr>
        <p:spPr>
          <a:xfrm>
            <a:off x="10029205" y="811939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666EF495-310E-4F1C-11F4-2808202D6B92}"/>
              </a:ext>
            </a:extLst>
          </p:cNvPr>
          <p:cNvCxnSpPr>
            <a:cxnSpLocks/>
          </p:cNvCxnSpPr>
          <p:nvPr/>
        </p:nvCxnSpPr>
        <p:spPr>
          <a:xfrm>
            <a:off x="10696753" y="812832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B3E89D2A-8DC8-E6EC-CB53-24C3266A6DC6}"/>
              </a:ext>
            </a:extLst>
          </p:cNvPr>
          <p:cNvCxnSpPr>
            <a:cxnSpLocks/>
          </p:cNvCxnSpPr>
          <p:nvPr/>
        </p:nvCxnSpPr>
        <p:spPr>
          <a:xfrm>
            <a:off x="9969544" y="87937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3F164E61-40DB-B8EE-8A40-9A317B1622EB}"/>
              </a:ext>
            </a:extLst>
          </p:cNvPr>
          <p:cNvCxnSpPr>
            <a:cxnSpLocks/>
          </p:cNvCxnSpPr>
          <p:nvPr/>
        </p:nvCxnSpPr>
        <p:spPr>
          <a:xfrm>
            <a:off x="10696926" y="881153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C5D5841A-F16F-3592-187A-4BF41D23F557}"/>
              </a:ext>
            </a:extLst>
          </p:cNvPr>
          <p:cNvCxnSpPr>
            <a:cxnSpLocks/>
          </p:cNvCxnSpPr>
          <p:nvPr/>
        </p:nvCxnSpPr>
        <p:spPr>
          <a:xfrm>
            <a:off x="11246918" y="811961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4E40AC1E-BAD0-0081-0BE7-BC944DEA427C}"/>
              </a:ext>
            </a:extLst>
          </p:cNvPr>
          <p:cNvCxnSpPr>
            <a:cxnSpLocks/>
          </p:cNvCxnSpPr>
          <p:nvPr/>
        </p:nvCxnSpPr>
        <p:spPr>
          <a:xfrm>
            <a:off x="11238135" y="879389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9" name="Straight Arrow Connector 298">
            <a:extLst>
              <a:ext uri="{FF2B5EF4-FFF2-40B4-BE49-F238E27FC236}">
                <a16:creationId xmlns:a16="http://schemas.microsoft.com/office/drawing/2014/main" id="{4E5144D9-D972-5DE7-7F71-BE82E0388757}"/>
              </a:ext>
            </a:extLst>
          </p:cNvPr>
          <p:cNvCxnSpPr>
            <a:cxnSpLocks/>
          </p:cNvCxnSpPr>
          <p:nvPr/>
        </p:nvCxnSpPr>
        <p:spPr>
          <a:xfrm>
            <a:off x="11965517" y="879395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1" name="Straight Arrow Connector 300">
            <a:extLst>
              <a:ext uri="{FF2B5EF4-FFF2-40B4-BE49-F238E27FC236}">
                <a16:creationId xmlns:a16="http://schemas.microsoft.com/office/drawing/2014/main" id="{82492A2F-1FD1-20C8-C8FB-AF3A3370F174}"/>
              </a:ext>
            </a:extLst>
          </p:cNvPr>
          <p:cNvCxnSpPr>
            <a:cxnSpLocks/>
          </p:cNvCxnSpPr>
          <p:nvPr/>
        </p:nvCxnSpPr>
        <p:spPr>
          <a:xfrm>
            <a:off x="11956735" y="812864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1" name="Straight Arrow Connector 310">
            <a:extLst>
              <a:ext uri="{FF2B5EF4-FFF2-40B4-BE49-F238E27FC236}">
                <a16:creationId xmlns:a16="http://schemas.microsoft.com/office/drawing/2014/main" id="{9A8B38DB-8085-089C-3684-CC49EFE7215D}"/>
              </a:ext>
            </a:extLst>
          </p:cNvPr>
          <p:cNvCxnSpPr>
            <a:cxnSpLocks/>
          </p:cNvCxnSpPr>
          <p:nvPr/>
        </p:nvCxnSpPr>
        <p:spPr>
          <a:xfrm>
            <a:off x="13340455" y="901584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331" name="Picture 330" descr="A black and white logo&#10;&#10;AI-generated content may be incorrect.">
            <a:extLst>
              <a:ext uri="{FF2B5EF4-FFF2-40B4-BE49-F238E27FC236}">
                <a16:creationId xmlns:a16="http://schemas.microsoft.com/office/drawing/2014/main" id="{58AE73D5-00A5-F6A5-09C3-244769857EC6}"/>
              </a:ext>
            </a:extLst>
          </p:cNvPr>
          <p:cNvPicPr>
            <a:picLocks noChangeAspect="1"/>
          </p:cNvPicPr>
          <p:nvPr/>
        </p:nvPicPr>
        <p:blipFill>
          <a:blip r:embed="rId18"/>
          <a:stretch>
            <a:fillRect/>
          </a:stretch>
        </p:blipFill>
        <p:spPr>
          <a:xfrm>
            <a:off x="5835035" y="9133674"/>
            <a:ext cx="327111" cy="288344"/>
          </a:xfrm>
          <a:prstGeom prst="rect">
            <a:avLst/>
          </a:prstGeom>
        </p:spPr>
      </p:pic>
      <p:pic>
        <p:nvPicPr>
          <p:cNvPr id="332" name="Picture 331" descr="A black and white logo&#10;&#10;AI-generated content may be incorrect.">
            <a:extLst>
              <a:ext uri="{FF2B5EF4-FFF2-40B4-BE49-F238E27FC236}">
                <a16:creationId xmlns:a16="http://schemas.microsoft.com/office/drawing/2014/main" id="{AF001100-BCC3-6C17-C32F-948B5F69610E}"/>
              </a:ext>
            </a:extLst>
          </p:cNvPr>
          <p:cNvPicPr>
            <a:picLocks noChangeAspect="1"/>
          </p:cNvPicPr>
          <p:nvPr/>
        </p:nvPicPr>
        <p:blipFill>
          <a:blip r:embed="rId18"/>
          <a:stretch>
            <a:fillRect/>
          </a:stretch>
        </p:blipFill>
        <p:spPr>
          <a:xfrm>
            <a:off x="6239907" y="9133673"/>
            <a:ext cx="327111" cy="288344"/>
          </a:xfrm>
          <a:prstGeom prst="rect">
            <a:avLst/>
          </a:prstGeom>
        </p:spPr>
      </p:pic>
      <p:sp>
        <p:nvSpPr>
          <p:cNvPr id="333" name="TextBox 332">
            <a:extLst>
              <a:ext uri="{FF2B5EF4-FFF2-40B4-BE49-F238E27FC236}">
                <a16:creationId xmlns:a16="http://schemas.microsoft.com/office/drawing/2014/main" id="{FEAE0222-E317-1C8C-3375-35D7FE8ACEF3}"/>
              </a:ext>
            </a:extLst>
          </p:cNvPr>
          <p:cNvSpPr txBox="1"/>
          <p:nvPr/>
        </p:nvSpPr>
        <p:spPr>
          <a:xfrm>
            <a:off x="6701048" y="9032894"/>
            <a:ext cx="3206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5" name="Picture 334" descr="A black and white logo&#10;&#10;AI-generated content may be incorrect.">
            <a:extLst>
              <a:ext uri="{FF2B5EF4-FFF2-40B4-BE49-F238E27FC236}">
                <a16:creationId xmlns:a16="http://schemas.microsoft.com/office/drawing/2014/main" id="{EDE77568-CCA0-7099-1F7A-E36766BA87B4}"/>
              </a:ext>
            </a:extLst>
          </p:cNvPr>
          <p:cNvPicPr>
            <a:picLocks noChangeAspect="1"/>
          </p:cNvPicPr>
          <p:nvPr/>
        </p:nvPicPr>
        <p:blipFill>
          <a:blip r:embed="rId18"/>
          <a:stretch>
            <a:fillRect/>
          </a:stretch>
        </p:blipFill>
        <p:spPr>
          <a:xfrm>
            <a:off x="7096034" y="9131649"/>
            <a:ext cx="327111" cy="288344"/>
          </a:xfrm>
          <a:prstGeom prst="rect">
            <a:avLst/>
          </a:prstGeom>
        </p:spPr>
      </p:pic>
      <p:cxnSp>
        <p:nvCxnSpPr>
          <p:cNvPr id="336" name="Straight Arrow Connector 335">
            <a:extLst>
              <a:ext uri="{FF2B5EF4-FFF2-40B4-BE49-F238E27FC236}">
                <a16:creationId xmlns:a16="http://schemas.microsoft.com/office/drawing/2014/main" id="{F051A7D4-E996-64A5-E60D-4504C196FE4C}"/>
              </a:ext>
            </a:extLst>
          </p:cNvPr>
          <p:cNvCxnSpPr/>
          <p:nvPr/>
        </p:nvCxnSpPr>
        <p:spPr>
          <a:xfrm>
            <a:off x="5476160" y="5990099"/>
            <a:ext cx="2786744" cy="2054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Arrow Connector 338">
            <a:extLst>
              <a:ext uri="{FF2B5EF4-FFF2-40B4-BE49-F238E27FC236}">
                <a16:creationId xmlns:a16="http://schemas.microsoft.com/office/drawing/2014/main" id="{DD1270E0-7C79-4EAC-47BD-79C287DB831C}"/>
              </a:ext>
            </a:extLst>
          </p:cNvPr>
          <p:cNvCxnSpPr/>
          <p:nvPr/>
        </p:nvCxnSpPr>
        <p:spPr>
          <a:xfrm>
            <a:off x="8240318" y="5254399"/>
            <a:ext cx="4975" cy="74632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0" name="Straight Arrow Connector 339">
            <a:extLst>
              <a:ext uri="{FF2B5EF4-FFF2-40B4-BE49-F238E27FC236}">
                <a16:creationId xmlns:a16="http://schemas.microsoft.com/office/drawing/2014/main" id="{F0AC2027-0FA5-CEF5-AEBA-F2615BADAFD2}"/>
              </a:ext>
            </a:extLst>
          </p:cNvPr>
          <p:cNvCxnSpPr/>
          <p:nvPr/>
        </p:nvCxnSpPr>
        <p:spPr>
          <a:xfrm flipH="1" flipV="1">
            <a:off x="5476491" y="5738690"/>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5" name="Straight Arrow Connector 354">
            <a:extLst>
              <a:ext uri="{FF2B5EF4-FFF2-40B4-BE49-F238E27FC236}">
                <a16:creationId xmlns:a16="http://schemas.microsoft.com/office/drawing/2014/main" id="{7BB98A46-BB48-470F-BD26-42AE8DC1325E}"/>
              </a:ext>
            </a:extLst>
          </p:cNvPr>
          <p:cNvCxnSpPr>
            <a:cxnSpLocks/>
          </p:cNvCxnSpPr>
          <p:nvPr/>
        </p:nvCxnSpPr>
        <p:spPr>
          <a:xfrm flipH="1" flipV="1">
            <a:off x="6452587" y="5731053"/>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6" name="Straight Arrow Connector 355">
            <a:extLst>
              <a:ext uri="{FF2B5EF4-FFF2-40B4-BE49-F238E27FC236}">
                <a16:creationId xmlns:a16="http://schemas.microsoft.com/office/drawing/2014/main" id="{4345E0F2-3D9B-1B9C-1007-8070B7D09490}"/>
              </a:ext>
            </a:extLst>
          </p:cNvPr>
          <p:cNvCxnSpPr/>
          <p:nvPr/>
        </p:nvCxnSpPr>
        <p:spPr>
          <a:xfrm>
            <a:off x="6722531" y="5989650"/>
            <a:ext cx="4972" cy="2879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402FA52C-AB38-119F-D7BF-220267362FDE}"/>
              </a:ext>
            </a:extLst>
          </p:cNvPr>
          <p:cNvSpPr txBox="1"/>
          <p:nvPr/>
        </p:nvSpPr>
        <p:spPr>
          <a:xfrm>
            <a:off x="9637294" y="9067398"/>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pic>
        <p:nvPicPr>
          <p:cNvPr id="20" name="Picture 19">
            <a:extLst>
              <a:ext uri="{FF2B5EF4-FFF2-40B4-BE49-F238E27FC236}">
                <a16:creationId xmlns:a16="http://schemas.microsoft.com/office/drawing/2014/main" id="{421BBBF3-2FF1-C547-42F3-2CE79444430D}"/>
              </a:ext>
            </a:extLst>
          </p:cNvPr>
          <p:cNvPicPr>
            <a:picLocks noChangeAspect="1"/>
          </p:cNvPicPr>
          <p:nvPr/>
        </p:nvPicPr>
        <p:blipFill>
          <a:blip r:embed="rId14"/>
          <a:stretch>
            <a:fillRect/>
          </a:stretch>
        </p:blipFill>
        <p:spPr>
          <a:xfrm>
            <a:off x="10193141" y="9536212"/>
            <a:ext cx="538060" cy="507646"/>
          </a:xfrm>
          <a:prstGeom prst="rect">
            <a:avLst/>
          </a:prstGeom>
        </p:spPr>
      </p:pic>
      <p:pic>
        <p:nvPicPr>
          <p:cNvPr id="26" name="Picture 25">
            <a:extLst>
              <a:ext uri="{FF2B5EF4-FFF2-40B4-BE49-F238E27FC236}">
                <a16:creationId xmlns:a16="http://schemas.microsoft.com/office/drawing/2014/main" id="{F96B630D-ECD0-BB03-DBA5-86FEA64BED21}"/>
              </a:ext>
            </a:extLst>
          </p:cNvPr>
          <p:cNvPicPr>
            <a:picLocks noChangeAspect="1"/>
          </p:cNvPicPr>
          <p:nvPr/>
        </p:nvPicPr>
        <p:blipFill>
          <a:blip r:embed="rId14"/>
          <a:stretch>
            <a:fillRect/>
          </a:stretch>
        </p:blipFill>
        <p:spPr>
          <a:xfrm>
            <a:off x="11435228" y="9518524"/>
            <a:ext cx="538060" cy="507646"/>
          </a:xfrm>
          <a:prstGeom prst="rect">
            <a:avLst/>
          </a:prstGeom>
        </p:spPr>
      </p:pic>
      <p:pic>
        <p:nvPicPr>
          <p:cNvPr id="29" name="table">
            <a:extLst>
              <a:ext uri="{FF2B5EF4-FFF2-40B4-BE49-F238E27FC236}">
                <a16:creationId xmlns:a16="http://schemas.microsoft.com/office/drawing/2014/main" id="{F0B5880E-F639-A3A5-734F-B76A7C1C6EEE}"/>
              </a:ext>
            </a:extLst>
          </p:cNvPr>
          <p:cNvPicPr>
            <a:picLocks noChangeAspect="1"/>
          </p:cNvPicPr>
          <p:nvPr/>
        </p:nvPicPr>
        <p:blipFill>
          <a:blip r:embed="rId7"/>
          <a:stretch>
            <a:fillRect/>
          </a:stretch>
        </p:blipFill>
        <p:spPr>
          <a:xfrm>
            <a:off x="10959403" y="9648425"/>
            <a:ext cx="267508" cy="302355"/>
          </a:xfrm>
          <a:prstGeom prst="rect">
            <a:avLst/>
          </a:prstGeom>
        </p:spPr>
      </p:pic>
      <p:pic>
        <p:nvPicPr>
          <p:cNvPr id="34" name="table">
            <a:extLst>
              <a:ext uri="{FF2B5EF4-FFF2-40B4-BE49-F238E27FC236}">
                <a16:creationId xmlns:a16="http://schemas.microsoft.com/office/drawing/2014/main" id="{ADD05C43-5812-4B47-F021-F61E59E5D732}"/>
              </a:ext>
            </a:extLst>
          </p:cNvPr>
          <p:cNvPicPr>
            <a:picLocks noChangeAspect="1"/>
          </p:cNvPicPr>
          <p:nvPr/>
        </p:nvPicPr>
        <p:blipFill>
          <a:blip r:embed="rId7"/>
          <a:stretch>
            <a:fillRect/>
          </a:stretch>
        </p:blipFill>
        <p:spPr>
          <a:xfrm>
            <a:off x="12186427" y="9604231"/>
            <a:ext cx="267508" cy="302355"/>
          </a:xfrm>
          <a:prstGeom prst="rect">
            <a:avLst/>
          </a:prstGeom>
        </p:spPr>
      </p:pic>
      <p:pic>
        <p:nvPicPr>
          <p:cNvPr id="35" name="Picture 34">
            <a:extLst>
              <a:ext uri="{FF2B5EF4-FFF2-40B4-BE49-F238E27FC236}">
                <a16:creationId xmlns:a16="http://schemas.microsoft.com/office/drawing/2014/main" id="{79308E96-6C3A-109E-32DD-CD18B669B926}"/>
              </a:ext>
            </a:extLst>
          </p:cNvPr>
          <p:cNvPicPr>
            <a:picLocks noChangeAspect="1"/>
          </p:cNvPicPr>
          <p:nvPr/>
        </p:nvPicPr>
        <p:blipFill>
          <a:blip r:embed="rId15"/>
          <a:stretch>
            <a:fillRect/>
          </a:stretch>
        </p:blipFill>
        <p:spPr>
          <a:xfrm>
            <a:off x="9487843" y="9598106"/>
            <a:ext cx="554321" cy="415604"/>
          </a:xfrm>
          <a:prstGeom prst="rect">
            <a:avLst/>
          </a:prstGeom>
          <a:ln w="28575">
            <a:solidFill>
              <a:schemeClr val="bg1"/>
            </a:solidFill>
          </a:ln>
        </p:spPr>
      </p:pic>
      <p:cxnSp>
        <p:nvCxnSpPr>
          <p:cNvPr id="268" name="Straight Arrow Connector 267">
            <a:extLst>
              <a:ext uri="{FF2B5EF4-FFF2-40B4-BE49-F238E27FC236}">
                <a16:creationId xmlns:a16="http://schemas.microsoft.com/office/drawing/2014/main" id="{7279A953-6B47-107E-BCE0-C4AA47C815DB}"/>
              </a:ext>
            </a:extLst>
          </p:cNvPr>
          <p:cNvCxnSpPr>
            <a:cxnSpLocks/>
          </p:cNvCxnSpPr>
          <p:nvPr/>
        </p:nvCxnSpPr>
        <p:spPr>
          <a:xfrm>
            <a:off x="10022671" y="978728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56CAD27B-B718-2B6B-AB6B-CC640854CBC0}"/>
              </a:ext>
            </a:extLst>
          </p:cNvPr>
          <p:cNvCxnSpPr>
            <a:cxnSpLocks/>
          </p:cNvCxnSpPr>
          <p:nvPr/>
        </p:nvCxnSpPr>
        <p:spPr>
          <a:xfrm>
            <a:off x="10690368" y="979620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0" name="Straight Arrow Connector 269">
            <a:extLst>
              <a:ext uri="{FF2B5EF4-FFF2-40B4-BE49-F238E27FC236}">
                <a16:creationId xmlns:a16="http://schemas.microsoft.com/office/drawing/2014/main" id="{A9D78203-97F0-7A3E-3F65-CCE0C7608E21}"/>
              </a:ext>
            </a:extLst>
          </p:cNvPr>
          <p:cNvCxnSpPr>
            <a:cxnSpLocks/>
          </p:cNvCxnSpPr>
          <p:nvPr/>
        </p:nvCxnSpPr>
        <p:spPr>
          <a:xfrm>
            <a:off x="11240657" y="978749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4E475EA6-AD98-D767-5C51-92356052A3A6}"/>
              </a:ext>
            </a:extLst>
          </p:cNvPr>
          <p:cNvCxnSpPr>
            <a:cxnSpLocks/>
          </p:cNvCxnSpPr>
          <p:nvPr/>
        </p:nvCxnSpPr>
        <p:spPr>
          <a:xfrm>
            <a:off x="11950633" y="97965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716113A2-9384-9AA6-244E-8EE0EF11CCEC}"/>
              </a:ext>
            </a:extLst>
          </p:cNvPr>
          <p:cNvCxnSpPr/>
          <p:nvPr/>
        </p:nvCxnSpPr>
        <p:spPr>
          <a:xfrm>
            <a:off x="12480161" y="8108336"/>
            <a:ext cx="417374" cy="861135"/>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CF86EA91-4BF5-8137-7BD2-C6DF19F6B919}"/>
              </a:ext>
            </a:extLst>
          </p:cNvPr>
          <p:cNvCxnSpPr/>
          <p:nvPr/>
        </p:nvCxnSpPr>
        <p:spPr>
          <a:xfrm flipV="1">
            <a:off x="12472261" y="9058034"/>
            <a:ext cx="399623" cy="727931"/>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9" name="Connector: Elbow 308">
            <a:extLst>
              <a:ext uri="{FF2B5EF4-FFF2-40B4-BE49-F238E27FC236}">
                <a16:creationId xmlns:a16="http://schemas.microsoft.com/office/drawing/2014/main" id="{E57ACE3D-FE88-CAD2-BC8A-6CAF40EADF35}"/>
              </a:ext>
            </a:extLst>
          </p:cNvPr>
          <p:cNvCxnSpPr/>
          <p:nvPr/>
        </p:nvCxnSpPr>
        <p:spPr>
          <a:xfrm>
            <a:off x="12490386" y="8810533"/>
            <a:ext cx="399622" cy="15981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4" name="TextBox 353">
            <a:extLst>
              <a:ext uri="{FF2B5EF4-FFF2-40B4-BE49-F238E27FC236}">
                <a16:creationId xmlns:a16="http://schemas.microsoft.com/office/drawing/2014/main" id="{5FDEC5A5-AD80-4797-B56E-1AB0A1D57B7E}"/>
              </a:ext>
            </a:extLst>
          </p:cNvPr>
          <p:cNvSpPr txBox="1"/>
          <p:nvPr/>
        </p:nvSpPr>
        <p:spPr>
          <a:xfrm>
            <a:off x="9631710" y="8890024"/>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sp>
        <p:nvSpPr>
          <p:cNvPr id="360" name="TextBox 359">
            <a:extLst>
              <a:ext uri="{FF2B5EF4-FFF2-40B4-BE49-F238E27FC236}">
                <a16:creationId xmlns:a16="http://schemas.microsoft.com/office/drawing/2014/main" id="{0ED55CA1-BD8C-6369-06E8-520942C13EC9}"/>
              </a:ext>
            </a:extLst>
          </p:cNvPr>
          <p:cNvSpPr txBox="1"/>
          <p:nvPr/>
        </p:nvSpPr>
        <p:spPr>
          <a:xfrm>
            <a:off x="9622927" y="8712649"/>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sp>
        <p:nvSpPr>
          <p:cNvPr id="361" name="Line">
            <a:extLst>
              <a:ext uri="{FF2B5EF4-FFF2-40B4-BE49-F238E27FC236}">
                <a16:creationId xmlns:a16="http://schemas.microsoft.com/office/drawing/2014/main" id="{4EAC2125-DA72-FA97-29C5-8ABE61C45401}"/>
              </a:ext>
            </a:extLst>
          </p:cNvPr>
          <p:cNvSpPr/>
          <p:nvPr/>
        </p:nvSpPr>
        <p:spPr>
          <a:xfrm>
            <a:off x="9690700" y="6201753"/>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362" name="Straight Arrow Connector 361">
            <a:extLst>
              <a:ext uri="{FF2B5EF4-FFF2-40B4-BE49-F238E27FC236}">
                <a16:creationId xmlns:a16="http://schemas.microsoft.com/office/drawing/2014/main" id="{018220DB-47BF-0112-B5FF-930A0914A702}"/>
              </a:ext>
            </a:extLst>
          </p:cNvPr>
          <p:cNvCxnSpPr/>
          <p:nvPr/>
        </p:nvCxnSpPr>
        <p:spPr>
          <a:xfrm flipH="1">
            <a:off x="6709005" y="7154130"/>
            <a:ext cx="8649" cy="190867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9" name="Straight Arrow Connector 368">
            <a:extLst>
              <a:ext uri="{FF2B5EF4-FFF2-40B4-BE49-F238E27FC236}">
                <a16:creationId xmlns:a16="http://schemas.microsoft.com/office/drawing/2014/main" id="{F3DACC84-0B3B-DD63-6EC1-4B4D7C77FE3C}"/>
              </a:ext>
            </a:extLst>
          </p:cNvPr>
          <p:cNvCxnSpPr/>
          <p:nvPr/>
        </p:nvCxnSpPr>
        <p:spPr>
          <a:xfrm flipV="1">
            <a:off x="6053727" y="7839387"/>
            <a:ext cx="1322674" cy="8856"/>
          </a:xfrm>
          <a:prstGeom prst="straightConnector1">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cxnSp>
        <p:nvCxnSpPr>
          <p:cNvPr id="370" name="Straight Arrow Connector 369">
            <a:extLst>
              <a:ext uri="{FF2B5EF4-FFF2-40B4-BE49-F238E27FC236}">
                <a16:creationId xmlns:a16="http://schemas.microsoft.com/office/drawing/2014/main" id="{B7448D5A-68B3-0F01-BF4E-B419668BAB8F}"/>
              </a:ext>
            </a:extLst>
          </p:cNvPr>
          <p:cNvCxnSpPr/>
          <p:nvPr/>
        </p:nvCxnSpPr>
        <p:spPr>
          <a:xfrm flipV="1">
            <a:off x="6258733" y="8452823"/>
            <a:ext cx="1154037" cy="8855"/>
          </a:xfrm>
          <a:prstGeom prst="straightConnector1">
            <a:avLst/>
          </a:prstGeom>
          <a:noFill/>
          <a:ln w="25400" cap="flat">
            <a:solidFill>
              <a:srgbClr val="0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45468792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1E670-9C9D-C2B3-D267-14A80016D4C3}"/>
            </a:ext>
          </a:extLst>
        </p:cNvPr>
        <p:cNvGrpSpPr/>
        <p:nvPr/>
      </p:nvGrpSpPr>
      <p:grpSpPr>
        <a:xfrm>
          <a:off x="0" y="0"/>
          <a:ext cx="0" cy="0"/>
          <a:chOff x="0" y="0"/>
          <a:chExt cx="0" cy="0"/>
        </a:xfrm>
      </p:grpSpPr>
      <p:sp>
        <p:nvSpPr>
          <p:cNvPr id="373" name="TextBox 372">
            <a:extLst>
              <a:ext uri="{FF2B5EF4-FFF2-40B4-BE49-F238E27FC236}">
                <a16:creationId xmlns:a16="http://schemas.microsoft.com/office/drawing/2014/main" id="{2EED34A5-DF12-E2FF-F087-68CCB57014DB}"/>
              </a:ext>
            </a:extLst>
          </p:cNvPr>
          <p:cNvSpPr txBox="1"/>
          <p:nvPr/>
        </p:nvSpPr>
        <p:spPr>
          <a:xfrm>
            <a:off x="4821857" y="4262778"/>
            <a:ext cx="2428745" cy="28623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49" name="TextBox 348">
            <a:extLst>
              <a:ext uri="{FF2B5EF4-FFF2-40B4-BE49-F238E27FC236}">
                <a16:creationId xmlns:a16="http://schemas.microsoft.com/office/drawing/2014/main" id="{2BB7EED0-ACE0-0D7E-0DA5-6DF4B91F6C96}"/>
              </a:ext>
            </a:extLst>
          </p:cNvPr>
          <p:cNvSpPr txBox="1"/>
          <p:nvPr/>
        </p:nvSpPr>
        <p:spPr>
          <a:xfrm>
            <a:off x="275783" y="7476898"/>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3BD5342B-0203-CD9A-00FB-2EE56CC1F737}"/>
              </a:ext>
            </a:extLst>
          </p:cNvPr>
          <p:cNvPicPr>
            <a:picLocks noChangeAspect="1"/>
          </p:cNvPicPr>
          <p:nvPr/>
        </p:nvPicPr>
        <p:blipFill>
          <a:blip r:embed="rId3"/>
          <a:stretch>
            <a:fillRect/>
          </a:stretch>
        </p:blipFill>
        <p:spPr>
          <a:xfrm>
            <a:off x="12836408" y="3797106"/>
            <a:ext cx="763378" cy="807934"/>
          </a:xfrm>
          <a:prstGeom prst="rect">
            <a:avLst/>
          </a:prstGeom>
        </p:spPr>
      </p:pic>
      <p:pic>
        <p:nvPicPr>
          <p:cNvPr id="292" name="Image" descr="Image">
            <a:extLst>
              <a:ext uri="{FF2B5EF4-FFF2-40B4-BE49-F238E27FC236}">
                <a16:creationId xmlns:a16="http://schemas.microsoft.com/office/drawing/2014/main" id="{E55F65E7-32EE-B611-272A-17B6AF1F27F1}"/>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C15D4588-B72D-F9A7-2DCF-067F7F62C97E}"/>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37307DB9-E98B-FB73-06D2-7D1EBE40A7C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CB33DBA7-FE6F-4F87-831C-29CDFEA6F434}"/>
              </a:ext>
            </a:extLst>
          </p:cNvPr>
          <p:cNvSpPr/>
          <p:nvPr/>
        </p:nvSpPr>
        <p:spPr>
          <a:xfrm>
            <a:off x="220507" y="2380098"/>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6A30C4A8-EA7F-8E2A-7FE6-CA5619900E49}"/>
              </a:ext>
            </a:extLst>
          </p:cNvPr>
          <p:cNvSpPr txBox="1"/>
          <p:nvPr/>
        </p:nvSpPr>
        <p:spPr>
          <a:xfrm>
            <a:off x="304155" y="2381578"/>
            <a:ext cx="276678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1997A488-2878-B955-D60D-8E69FF36675D}"/>
              </a:ext>
            </a:extLst>
          </p:cNvPr>
          <p:cNvSpPr txBox="1"/>
          <p:nvPr/>
        </p:nvSpPr>
        <p:spPr>
          <a:xfrm>
            <a:off x="293295" y="2761785"/>
            <a:ext cx="4264736"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F9CC8B40-714D-22CD-B9E6-78D2B8055D96}"/>
              </a:ext>
            </a:extLst>
          </p:cNvPr>
          <p:cNvSpPr txBox="1"/>
          <p:nvPr/>
        </p:nvSpPr>
        <p:spPr>
          <a:xfrm>
            <a:off x="312386" y="3146499"/>
            <a:ext cx="4122651" cy="602800"/>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70AF43CE-7380-70DE-3791-24262AB21D0E}"/>
              </a:ext>
            </a:extLst>
          </p:cNvPr>
          <p:cNvSpPr txBox="1"/>
          <p:nvPr/>
        </p:nvSpPr>
        <p:spPr>
          <a:xfrm>
            <a:off x="279130" y="6525210"/>
            <a:ext cx="197810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160DAC4F-8038-8892-C69F-685C770EABC4}"/>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E058A099-E3EB-3299-7193-B0B3E2B2D5D2}"/>
              </a:ext>
            </a:extLst>
          </p:cNvPr>
          <p:cNvSpPr txBox="1"/>
          <p:nvPr/>
        </p:nvSpPr>
        <p:spPr>
          <a:xfrm>
            <a:off x="4681179" y="2700666"/>
            <a:ext cx="209352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2B54D3C9-DD3D-E5ED-1B2F-A729A69366A3}"/>
              </a:ext>
            </a:extLst>
          </p:cNvPr>
          <p:cNvSpPr txBox="1"/>
          <p:nvPr/>
        </p:nvSpPr>
        <p:spPr>
          <a:xfrm>
            <a:off x="257982" y="1466006"/>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F6C0464E-BF66-4AA2-1FBF-7CC255F434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32C28ECA-F181-DBF8-8C7B-488F770B38F7}"/>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lang="en-US" sz="1000" b="0">
                <a:solidFill>
                  <a:schemeClr val="tx1"/>
                </a:solidFill>
              </a:rPr>
              <a:t>Cohen Ruport,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Carlos Paradis,</a:t>
            </a:r>
            <a:r>
              <a:rPr lang="en-US" sz="1000" b="0">
                <a:solidFill>
                  <a:schemeClr val="tx1"/>
                </a:solidFill>
              </a:rPr>
              <a: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a:t>
            </a:r>
            <a:r>
              <a:rPr lang="en-US" sz="1000" b="0">
                <a:solidFill>
                  <a:schemeClr val="tx1"/>
                </a:solidFill>
              </a:rPr>
              <a:t>2026-4</a:t>
            </a:r>
            <a:endPar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50D5BEE5-913E-0306-1E90-B8FE87B9303C}"/>
              </a:ext>
            </a:extLst>
          </p:cNvPr>
          <p:cNvSpPr/>
          <p:nvPr/>
        </p:nvSpPr>
        <p:spPr>
          <a:xfrm>
            <a:off x="222735" y="5197764"/>
            <a:ext cx="4355706" cy="118521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EFC9392D-1A76-318F-FB9D-31E826AE851F}"/>
              </a:ext>
            </a:extLst>
          </p:cNvPr>
          <p:cNvSpPr txBox="1"/>
          <p:nvPr/>
        </p:nvSpPr>
        <p:spPr>
          <a:xfrm>
            <a:off x="347617" y="5247099"/>
            <a:ext cx="254396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F3DF6658-5BA2-0F26-941D-4C64BE7BFB5E}"/>
              </a:ext>
            </a:extLst>
          </p:cNvPr>
          <p:cNvSpPr txBox="1"/>
          <p:nvPr/>
        </p:nvSpPr>
        <p:spPr>
          <a:xfrm>
            <a:off x="339098" y="5842984"/>
            <a:ext cx="4105332" cy="432239"/>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err="1">
                <a:cs typeface="Arial"/>
              </a:rPr>
              <a:t>perceval</a:t>
            </a:r>
            <a:r>
              <a:rPr lang="en-US" dirty="0">
                <a:cs typeface="Arial"/>
              </a:rPr>
              <a:t>: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B7594511-5143-481D-3A77-62E76AB89E48}"/>
              </a:ext>
            </a:extLst>
          </p:cNvPr>
          <p:cNvPicPr>
            <a:picLocks noChangeAspect="1"/>
          </p:cNvPicPr>
          <p:nvPr/>
        </p:nvPicPr>
        <p:blipFill>
          <a:blip r:embed="rId7"/>
          <a:stretch>
            <a:fillRect/>
          </a:stretch>
        </p:blipFill>
        <p:spPr>
          <a:xfrm>
            <a:off x="11535616" y="506116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D82CABC8-95A1-5128-1795-0014C0CB6B87}"/>
              </a:ext>
            </a:extLst>
          </p:cNvPr>
          <p:cNvSpPr txBox="1"/>
          <p:nvPr/>
        </p:nvSpPr>
        <p:spPr>
          <a:xfrm>
            <a:off x="328655" y="5558635"/>
            <a:ext cx="4369511" cy="262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t">
            <a:spAutoFit/>
          </a:bodyPr>
          <a:lstStyle/>
          <a:p>
            <a:pPr>
              <a:lnSpc>
                <a:spcPct val="90000"/>
              </a:lnSpc>
              <a:buSzPts val="3700"/>
            </a:pPr>
            <a:r>
              <a:rPr lang="en-US" sz="1100" dirty="0">
                <a:cs typeface="Arial"/>
              </a:rPr>
              <a:t>The required external tools must be specified  in tools.</a:t>
            </a:r>
            <a:r>
              <a:rPr lang="en-US" sz="1100" noProof="1">
                <a:cs typeface="Arial"/>
              </a:rPr>
              <a:t>yml</a:t>
            </a:r>
            <a:r>
              <a:rPr lang="en-US" sz="1100" dirty="0">
                <a:cs typeface="Arial"/>
              </a:rPr>
              <a:t>:</a:t>
            </a:r>
            <a:endParaRPr lang="en-US" sz="1100" u="sng" dirty="0">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9A0DF64A-2246-754A-0F09-157B8FFAF9B0}"/>
              </a:ext>
            </a:extLst>
          </p:cNvPr>
          <p:cNvPicPr>
            <a:picLocks noChangeAspect="1"/>
          </p:cNvPicPr>
          <p:nvPr/>
        </p:nvPicPr>
        <p:blipFill>
          <a:blip r:embed="rId8"/>
          <a:stretch>
            <a:fillRect/>
          </a:stretch>
        </p:blipFill>
        <p:spPr>
          <a:xfrm>
            <a:off x="11550620" y="2749374"/>
            <a:ext cx="546328" cy="546436"/>
          </a:xfrm>
          <a:prstGeom prst="rect">
            <a:avLst/>
          </a:prstGeom>
        </p:spPr>
      </p:pic>
      <p:pic>
        <p:nvPicPr>
          <p:cNvPr id="23" name="Picture 22">
            <a:extLst>
              <a:ext uri="{FF2B5EF4-FFF2-40B4-BE49-F238E27FC236}">
                <a16:creationId xmlns:a16="http://schemas.microsoft.com/office/drawing/2014/main" id="{48308404-CF65-0CA4-9279-2184AF5C93A9}"/>
              </a:ext>
            </a:extLst>
          </p:cNvPr>
          <p:cNvPicPr>
            <a:picLocks noChangeAspect="1"/>
          </p:cNvPicPr>
          <p:nvPr/>
        </p:nvPicPr>
        <p:blipFill>
          <a:blip r:embed="rId9"/>
          <a:stretch>
            <a:fillRect/>
          </a:stretch>
        </p:blipFill>
        <p:spPr>
          <a:xfrm>
            <a:off x="9398319" y="4743260"/>
            <a:ext cx="544372" cy="486505"/>
          </a:xfrm>
          <a:prstGeom prst="rect">
            <a:avLst/>
          </a:prstGeom>
        </p:spPr>
      </p:pic>
      <p:pic>
        <p:nvPicPr>
          <p:cNvPr id="24" name="Picture 23">
            <a:extLst>
              <a:ext uri="{FF2B5EF4-FFF2-40B4-BE49-F238E27FC236}">
                <a16:creationId xmlns:a16="http://schemas.microsoft.com/office/drawing/2014/main" id="{E738FF73-CC0B-8E5B-94F6-AE386017BA20}"/>
              </a:ext>
            </a:extLst>
          </p:cNvPr>
          <p:cNvPicPr>
            <a:picLocks noChangeAspect="1"/>
          </p:cNvPicPr>
          <p:nvPr/>
        </p:nvPicPr>
        <p:blipFill>
          <a:blip r:embed="rId10"/>
          <a:stretch>
            <a:fillRect/>
          </a:stretch>
        </p:blipFill>
        <p:spPr>
          <a:xfrm>
            <a:off x="9543024" y="4118620"/>
            <a:ext cx="742783" cy="609600"/>
          </a:xfrm>
          <a:prstGeom prst="rect">
            <a:avLst/>
          </a:prstGeom>
        </p:spPr>
      </p:pic>
      <p:pic>
        <p:nvPicPr>
          <p:cNvPr id="25" name="Picture 24">
            <a:extLst>
              <a:ext uri="{FF2B5EF4-FFF2-40B4-BE49-F238E27FC236}">
                <a16:creationId xmlns:a16="http://schemas.microsoft.com/office/drawing/2014/main" id="{A4EA935C-4A6A-322A-81C0-7024CD4CD324}"/>
              </a:ext>
            </a:extLst>
          </p:cNvPr>
          <p:cNvPicPr>
            <a:picLocks noChangeAspect="1"/>
          </p:cNvPicPr>
          <p:nvPr/>
        </p:nvPicPr>
        <p:blipFill>
          <a:blip r:embed="rId11"/>
          <a:stretch>
            <a:fillRect/>
          </a:stretch>
        </p:blipFill>
        <p:spPr>
          <a:xfrm>
            <a:off x="12021419" y="3235853"/>
            <a:ext cx="372044" cy="354363"/>
          </a:xfrm>
          <a:prstGeom prst="rect">
            <a:avLst/>
          </a:prstGeom>
        </p:spPr>
      </p:pic>
      <p:pic>
        <p:nvPicPr>
          <p:cNvPr id="38" name="Picture 37">
            <a:extLst>
              <a:ext uri="{FF2B5EF4-FFF2-40B4-BE49-F238E27FC236}">
                <a16:creationId xmlns:a16="http://schemas.microsoft.com/office/drawing/2014/main" id="{7CB1549C-1E51-F6BE-8B4B-539F63157928}"/>
              </a:ext>
            </a:extLst>
          </p:cNvPr>
          <p:cNvPicPr>
            <a:picLocks noChangeAspect="1"/>
          </p:cNvPicPr>
          <p:nvPr/>
        </p:nvPicPr>
        <p:blipFill>
          <a:blip r:embed="rId10"/>
          <a:stretch>
            <a:fillRect/>
          </a:stretch>
        </p:blipFill>
        <p:spPr>
          <a:xfrm rot="10800000">
            <a:off x="9913619" y="4435494"/>
            <a:ext cx="742783" cy="609600"/>
          </a:xfrm>
          <a:prstGeom prst="rect">
            <a:avLst/>
          </a:prstGeom>
        </p:spPr>
      </p:pic>
      <p:pic>
        <p:nvPicPr>
          <p:cNvPr id="39" name="Picture 38">
            <a:extLst>
              <a:ext uri="{FF2B5EF4-FFF2-40B4-BE49-F238E27FC236}">
                <a16:creationId xmlns:a16="http://schemas.microsoft.com/office/drawing/2014/main" id="{120DAF6F-77BF-D5A2-BC3A-28FD52C1A11D}"/>
              </a:ext>
            </a:extLst>
          </p:cNvPr>
          <p:cNvPicPr>
            <a:picLocks noChangeAspect="1"/>
          </p:cNvPicPr>
          <p:nvPr/>
        </p:nvPicPr>
        <p:blipFill>
          <a:blip r:embed="rId12"/>
          <a:stretch>
            <a:fillRect/>
          </a:stretch>
        </p:blipFill>
        <p:spPr>
          <a:xfrm>
            <a:off x="10892178" y="4118426"/>
            <a:ext cx="560207" cy="171450"/>
          </a:xfrm>
          <a:prstGeom prst="rect">
            <a:avLst/>
          </a:prstGeom>
        </p:spPr>
      </p:pic>
      <p:pic>
        <p:nvPicPr>
          <p:cNvPr id="40" name="Picture 39">
            <a:extLst>
              <a:ext uri="{FF2B5EF4-FFF2-40B4-BE49-F238E27FC236}">
                <a16:creationId xmlns:a16="http://schemas.microsoft.com/office/drawing/2014/main" id="{49D09474-E105-8A33-1EF4-0FBD6A1CBD53}"/>
              </a:ext>
            </a:extLst>
          </p:cNvPr>
          <p:cNvPicPr>
            <a:picLocks noChangeAspect="1"/>
          </p:cNvPicPr>
          <p:nvPr/>
        </p:nvPicPr>
        <p:blipFill>
          <a:blip r:embed="rId12"/>
          <a:stretch>
            <a:fillRect/>
          </a:stretch>
        </p:blipFill>
        <p:spPr>
          <a:xfrm rot="10800000">
            <a:off x="12257860" y="4121569"/>
            <a:ext cx="571524" cy="171450"/>
          </a:xfrm>
          <a:prstGeom prst="rect">
            <a:avLst/>
          </a:prstGeom>
        </p:spPr>
      </p:pic>
      <p:pic>
        <p:nvPicPr>
          <p:cNvPr id="41" name="Picture 40">
            <a:extLst>
              <a:ext uri="{FF2B5EF4-FFF2-40B4-BE49-F238E27FC236}">
                <a16:creationId xmlns:a16="http://schemas.microsoft.com/office/drawing/2014/main" id="{16C20D56-BA09-BB82-1D38-9240AB3004C5}"/>
              </a:ext>
            </a:extLst>
          </p:cNvPr>
          <p:cNvPicPr>
            <a:picLocks noChangeAspect="1"/>
          </p:cNvPicPr>
          <p:nvPr/>
        </p:nvPicPr>
        <p:blipFill>
          <a:blip r:embed="rId12"/>
          <a:stretch>
            <a:fillRect/>
          </a:stretch>
        </p:blipFill>
        <p:spPr>
          <a:xfrm rot="5400000">
            <a:off x="11535414" y="3476923"/>
            <a:ext cx="571524" cy="171450"/>
          </a:xfrm>
          <a:prstGeom prst="rect">
            <a:avLst/>
          </a:prstGeom>
        </p:spPr>
      </p:pic>
      <p:sp>
        <p:nvSpPr>
          <p:cNvPr id="42" name="TextBox 41">
            <a:extLst>
              <a:ext uri="{FF2B5EF4-FFF2-40B4-BE49-F238E27FC236}">
                <a16:creationId xmlns:a16="http://schemas.microsoft.com/office/drawing/2014/main" id="{F8C49046-CAB2-370A-9A7E-1442C3B659D7}"/>
              </a:ext>
            </a:extLst>
          </p:cNvPr>
          <p:cNvSpPr txBox="1"/>
          <p:nvPr/>
        </p:nvSpPr>
        <p:spPr>
          <a:xfrm>
            <a:off x="9686582" y="428721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Activity</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22F835F7-F779-6FE9-A9EF-1C3722B7D46E}"/>
              </a:ext>
            </a:extLst>
          </p:cNvPr>
          <p:cNvSpPr txBox="1"/>
          <p:nvPr/>
        </p:nvSpPr>
        <p:spPr>
          <a:xfrm>
            <a:off x="12978381" y="4033696"/>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AA34F251-6ED3-AB6F-F259-5F00BD025BCE}"/>
              </a:ext>
            </a:extLst>
          </p:cNvPr>
          <p:cNvPicPr>
            <a:picLocks noChangeAspect="1"/>
          </p:cNvPicPr>
          <p:nvPr/>
        </p:nvPicPr>
        <p:blipFill>
          <a:blip r:embed="rId12"/>
          <a:stretch>
            <a:fillRect/>
          </a:stretch>
        </p:blipFill>
        <p:spPr>
          <a:xfrm rot="5400000">
            <a:off x="11540938" y="4650191"/>
            <a:ext cx="571524" cy="171450"/>
          </a:xfrm>
          <a:prstGeom prst="rect">
            <a:avLst/>
          </a:prstGeom>
        </p:spPr>
      </p:pic>
      <p:sp>
        <p:nvSpPr>
          <p:cNvPr id="51" name="TextBox 50">
            <a:extLst>
              <a:ext uri="{FF2B5EF4-FFF2-40B4-BE49-F238E27FC236}">
                <a16:creationId xmlns:a16="http://schemas.microsoft.com/office/drawing/2014/main" id="{07FC1350-DD65-3B20-96E6-9A5556325679}"/>
              </a:ext>
            </a:extLst>
          </p:cNvPr>
          <p:cNvSpPr txBox="1"/>
          <p:nvPr/>
        </p:nvSpPr>
        <p:spPr>
          <a:xfrm>
            <a:off x="10292164" y="4045603"/>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69AFA3E5-BE60-6424-22B4-1DD5CE8935F0}"/>
              </a:ext>
            </a:extLst>
          </p:cNvPr>
          <p:cNvSpPr txBox="1"/>
          <p:nvPr/>
        </p:nvSpPr>
        <p:spPr>
          <a:xfrm>
            <a:off x="12351538" y="323831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ACC00D8F-DA07-DE9A-5023-51A976CDD693}"/>
              </a:ext>
            </a:extLst>
          </p:cNvPr>
          <p:cNvSpPr txBox="1"/>
          <p:nvPr/>
        </p:nvSpPr>
        <p:spPr>
          <a:xfrm>
            <a:off x="11400376" y="568409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FEB13B7A-847D-9914-41E8-BD09587FE550}"/>
              </a:ext>
            </a:extLst>
          </p:cNvPr>
          <p:cNvSpPr txBox="1"/>
          <p:nvPr/>
        </p:nvSpPr>
        <p:spPr>
          <a:xfrm>
            <a:off x="9473435" y="1452105"/>
            <a:ext cx="292548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30" name="TextBox 29">
            <a:extLst>
              <a:ext uri="{FF2B5EF4-FFF2-40B4-BE49-F238E27FC236}">
                <a16:creationId xmlns:a16="http://schemas.microsoft.com/office/drawing/2014/main" id="{35136C55-3DFF-625D-0954-700793727C76}"/>
              </a:ext>
            </a:extLst>
          </p:cNvPr>
          <p:cNvSpPr txBox="1"/>
          <p:nvPr/>
        </p:nvSpPr>
        <p:spPr>
          <a:xfrm>
            <a:off x="4827038" y="4268998"/>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Sailuh/kaiaulu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8B09B74A-DDDB-F311-15BF-CB4FA28AC760}"/>
              </a:ext>
            </a:extLst>
          </p:cNvPr>
          <p:cNvSpPr txBox="1"/>
          <p:nvPr/>
        </p:nvSpPr>
        <p:spPr>
          <a:xfrm>
            <a:off x="5129309" y="849341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C89D9EEF-57C9-541E-4CE7-8F213663B496}"/>
              </a:ext>
            </a:extLst>
          </p:cNvPr>
          <p:cNvSpPr txBox="1"/>
          <p:nvPr/>
        </p:nvSpPr>
        <p:spPr>
          <a:xfrm>
            <a:off x="7559088" y="7949626"/>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1AA2593E-09AF-AE2B-74E0-C4320CB1ED83}"/>
              </a:ext>
            </a:extLst>
          </p:cNvPr>
          <p:cNvSpPr txBox="1"/>
          <p:nvPr/>
        </p:nvSpPr>
        <p:spPr>
          <a:xfrm>
            <a:off x="6913055" y="8514433"/>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Sailuh/sentiment_classifier</a:t>
            </a:r>
          </a:p>
        </p:txBody>
      </p:sp>
      <p:sp>
        <p:nvSpPr>
          <p:cNvPr id="272" name="TextBox 271">
            <a:extLst>
              <a:ext uri="{FF2B5EF4-FFF2-40B4-BE49-F238E27FC236}">
                <a16:creationId xmlns:a16="http://schemas.microsoft.com/office/drawing/2014/main" id="{175A9129-251A-EEAF-997A-E93025D1E3B4}"/>
              </a:ext>
            </a:extLst>
          </p:cNvPr>
          <p:cNvSpPr txBox="1"/>
          <p:nvPr/>
        </p:nvSpPr>
        <p:spPr>
          <a:xfrm>
            <a:off x="6237179" y="9393013"/>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A794DBAF-912A-8DCB-F85D-E917A5F1F3FD}"/>
              </a:ext>
            </a:extLst>
          </p:cNvPr>
          <p:cNvSpPr txBox="1"/>
          <p:nvPr/>
        </p:nvSpPr>
        <p:spPr>
          <a:xfrm>
            <a:off x="222484" y="1697960"/>
            <a:ext cx="435228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Kaiaulu's functions through a command line interface. This allows other tools to build on Kaiaulu capabilities or use it server-side.</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D830F0E1-E114-663E-82B0-8B597A563786}"/>
              </a:ext>
            </a:extLst>
          </p:cNvPr>
          <p:cNvSpPr txBox="1"/>
          <p:nvPr/>
        </p:nvSpPr>
        <p:spPr>
          <a:xfrm>
            <a:off x="9473688" y="169503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4154D094-F70E-ED37-5227-79D3F6825004}"/>
              </a:ext>
            </a:extLst>
          </p:cNvPr>
          <p:cNvSpPr txBox="1"/>
          <p:nvPr/>
        </p:nvSpPr>
        <p:spPr>
          <a:xfrm>
            <a:off x="4663205" y="2938852"/>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Sailuh tools such as pykumu rely on kaiaulu executables to download and refresh data. Kaiaulu executables are also made to provide kaiaulu's functions to users, tools, and projects outside of the sailuh ecosystem.</a:t>
            </a:r>
          </a:p>
        </p:txBody>
      </p:sp>
      <p:sp>
        <p:nvSpPr>
          <p:cNvPr id="298" name="TextBox 297">
            <a:extLst>
              <a:ext uri="{FF2B5EF4-FFF2-40B4-BE49-F238E27FC236}">
                <a16:creationId xmlns:a16="http://schemas.microsoft.com/office/drawing/2014/main" id="{C9D1EC39-C84D-512C-2D81-F01F4A84BA81}"/>
              </a:ext>
            </a:extLst>
          </p:cNvPr>
          <p:cNvSpPr txBox="1"/>
          <p:nvPr/>
        </p:nvSpPr>
        <p:spPr>
          <a:xfrm>
            <a:off x="274081" y="6728216"/>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a:solidFill>
                  <a:srgbClr val="000000"/>
                </a:solidFill>
              </a:rPr>
              <a:t>.</a:t>
            </a: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17D72F44-3517-3EB2-3A8B-6A27389968EA}"/>
              </a:ext>
            </a:extLst>
          </p:cNvPr>
          <p:cNvSpPr/>
          <p:nvPr/>
        </p:nvSpPr>
        <p:spPr>
          <a:xfrm>
            <a:off x="220611" y="3835425"/>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AB40C407-E7AD-F6FF-BD67-903F3D38498B}"/>
              </a:ext>
            </a:extLst>
          </p:cNvPr>
          <p:cNvSpPr txBox="1"/>
          <p:nvPr/>
        </p:nvSpPr>
        <p:spPr>
          <a:xfrm>
            <a:off x="322463" y="3913614"/>
            <a:ext cx="364653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62C93F6A-784F-10EB-3A2B-70994FF4B60A}"/>
              </a:ext>
            </a:extLst>
          </p:cNvPr>
          <p:cNvSpPr txBox="1"/>
          <p:nvPr/>
        </p:nvSpPr>
        <p:spPr>
          <a:xfrm>
            <a:off x="265065" y="4272946"/>
            <a:ext cx="4357808" cy="38704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0EF215EC-FA0A-74B0-D183-32051EDEE37A}"/>
              </a:ext>
            </a:extLst>
          </p:cNvPr>
          <p:cNvSpPr txBox="1"/>
          <p:nvPr/>
        </p:nvSpPr>
        <p:spPr>
          <a:xfrm>
            <a:off x="310787" y="4473296"/>
            <a:ext cx="4127831" cy="637024"/>
          </a:xfrm>
          <a:prstGeom prst="rect">
            <a:avLst/>
          </a:prstGeom>
          <a:solidFill>
            <a:schemeClr val="bg1"/>
          </a:solidFill>
          <a:ln w="12700">
            <a:solidFill>
              <a:schemeClr val="bg2"/>
            </a:solid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B166C6F-AB7B-CF8B-EBF2-B16506443C33}"/>
              </a:ext>
            </a:extLst>
          </p:cNvPr>
          <p:cNvSpPr txBox="1"/>
          <p:nvPr/>
        </p:nvSpPr>
        <p:spPr>
          <a:xfrm>
            <a:off x="4735369" y="7929869"/>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Sailuh/pykumu</a:t>
            </a:r>
          </a:p>
        </p:txBody>
      </p:sp>
      <p:sp>
        <p:nvSpPr>
          <p:cNvPr id="22" name="TextBox 21">
            <a:extLst>
              <a:ext uri="{FF2B5EF4-FFF2-40B4-BE49-F238E27FC236}">
                <a16:creationId xmlns:a16="http://schemas.microsoft.com/office/drawing/2014/main" id="{7DDB7129-DD69-3C59-B5EA-4401F9DB8EE8}"/>
              </a:ext>
            </a:extLst>
          </p:cNvPr>
          <p:cNvSpPr txBox="1"/>
          <p:nvPr/>
        </p:nvSpPr>
        <p:spPr>
          <a:xfrm>
            <a:off x="4710551" y="9727979"/>
            <a:ext cx="417477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Kaiaulu executables provide data from sources such as Mail, JIRA, and GitHub. </a:t>
            </a:r>
          </a:p>
        </p:txBody>
      </p:sp>
      <p:pic>
        <p:nvPicPr>
          <p:cNvPr id="60" name="Picture 59" descr="A close-up of a letter&#10;&#10;AI-generated content may be incorrect.">
            <a:extLst>
              <a:ext uri="{FF2B5EF4-FFF2-40B4-BE49-F238E27FC236}">
                <a16:creationId xmlns:a16="http://schemas.microsoft.com/office/drawing/2014/main" id="{A06075BB-CEB7-C0A8-A6F1-740640E27934}"/>
              </a:ext>
            </a:extLst>
          </p:cNvPr>
          <p:cNvPicPr>
            <a:picLocks noChangeAspect="1"/>
          </p:cNvPicPr>
          <p:nvPr/>
        </p:nvPicPr>
        <p:blipFill>
          <a:blip r:embed="rId13"/>
          <a:stretch>
            <a:fillRect/>
          </a:stretch>
        </p:blipFill>
        <p:spPr>
          <a:xfrm>
            <a:off x="7419116" y="4462452"/>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263A8794-4DD3-8E50-E816-4FF11B35771A}"/>
              </a:ext>
            </a:extLst>
          </p:cNvPr>
          <p:cNvPicPr>
            <a:picLocks noChangeAspect="1"/>
          </p:cNvPicPr>
          <p:nvPr/>
        </p:nvPicPr>
        <p:blipFill>
          <a:blip r:embed="rId14"/>
          <a:stretch>
            <a:fillRect/>
          </a:stretch>
        </p:blipFill>
        <p:spPr>
          <a:xfrm>
            <a:off x="6243124" y="6167317"/>
            <a:ext cx="914258" cy="905585"/>
          </a:xfrm>
          <a:prstGeom prst="rect">
            <a:avLst/>
          </a:prstGeom>
        </p:spPr>
      </p:pic>
      <p:pic>
        <p:nvPicPr>
          <p:cNvPr id="43" name="Picture 42">
            <a:extLst>
              <a:ext uri="{FF2B5EF4-FFF2-40B4-BE49-F238E27FC236}">
                <a16:creationId xmlns:a16="http://schemas.microsoft.com/office/drawing/2014/main" id="{D6BACFB5-7133-8158-0028-5C34A6B0DB67}"/>
              </a:ext>
            </a:extLst>
          </p:cNvPr>
          <p:cNvPicPr>
            <a:picLocks noChangeAspect="1"/>
          </p:cNvPicPr>
          <p:nvPr/>
        </p:nvPicPr>
        <p:blipFill>
          <a:blip r:embed="rId15"/>
          <a:stretch>
            <a:fillRect/>
          </a:stretch>
        </p:blipFill>
        <p:spPr>
          <a:xfrm>
            <a:off x="8508987" y="4481030"/>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A14D0943-6584-33DC-41B8-18A50E28439A}"/>
              </a:ext>
            </a:extLst>
          </p:cNvPr>
          <p:cNvSpPr txBox="1"/>
          <p:nvPr/>
        </p:nvSpPr>
        <p:spPr>
          <a:xfrm>
            <a:off x="8509461" y="485904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88E3440F-E3FE-D510-2CAF-01256B1B3E38}"/>
              </a:ext>
            </a:extLst>
          </p:cNvPr>
          <p:cNvSpPr txBox="1"/>
          <p:nvPr/>
        </p:nvSpPr>
        <p:spPr>
          <a:xfrm>
            <a:off x="7981261" y="484903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B4A28A1D-68CF-519F-210C-BC2800BA43B8}"/>
              </a:ext>
            </a:extLst>
          </p:cNvPr>
          <p:cNvSpPr txBox="1"/>
          <p:nvPr/>
        </p:nvSpPr>
        <p:spPr>
          <a:xfrm>
            <a:off x="7417908" y="483482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mc:AlternateContent xmlns:mc="http://schemas.openxmlformats.org/markup-compatibility/2006" xmlns:p14="http://schemas.microsoft.com/office/powerpoint/2010/main">
        <mc:Choice Requires="p14">
          <p:contentPart p14:bwMode="auto" r:id="rId16">
            <p14:nvContentPartPr>
              <p14:cNvPr id="300" name="Ink 299">
                <a:extLst>
                  <a:ext uri="{FF2B5EF4-FFF2-40B4-BE49-F238E27FC236}">
                    <a16:creationId xmlns:a16="http://schemas.microsoft.com/office/drawing/2014/main" id="{15CA6187-94CC-516A-538B-F3F8058433D6}"/>
                  </a:ext>
                </a:extLst>
              </p14:cNvPr>
              <p14:cNvContentPartPr/>
              <p14:nvPr/>
            </p14:nvContentPartPr>
            <p14:xfrm>
              <a:off x="8237478" y="6581665"/>
              <a:ext cx="13744" cy="13744"/>
            </p14:xfrm>
          </p:contentPart>
        </mc:Choice>
        <mc:Fallback xmlns="">
          <p:pic>
            <p:nvPicPr>
              <p:cNvPr id="300" name="Ink 299">
                <a:extLst>
                  <a:ext uri="{FF2B5EF4-FFF2-40B4-BE49-F238E27FC236}">
                    <a16:creationId xmlns:a16="http://schemas.microsoft.com/office/drawing/2014/main" id="{15CA6187-94CC-516A-538B-F3F8058433D6}"/>
                  </a:ext>
                </a:extLst>
              </p:cNvPr>
              <p:cNvPicPr/>
              <p:nvPr/>
            </p:nvPicPr>
            <p:blipFill>
              <a:blip r:embed="rId17"/>
              <a:stretch>
                <a:fillRect/>
              </a:stretch>
            </p:blipFill>
            <p:spPr>
              <a:xfrm>
                <a:off x="7550278" y="5894465"/>
                <a:ext cx="1374400" cy="1374400"/>
              </a:xfrm>
              <a:prstGeom prst="rect">
                <a:avLst/>
              </a:prstGeom>
            </p:spPr>
          </p:pic>
        </mc:Fallback>
      </mc:AlternateContent>
      <p:pic>
        <p:nvPicPr>
          <p:cNvPr id="304" name="Picture 303" descr="A black and white logo&#10;&#10;AI-generated content may be incorrect.">
            <a:extLst>
              <a:ext uri="{FF2B5EF4-FFF2-40B4-BE49-F238E27FC236}">
                <a16:creationId xmlns:a16="http://schemas.microsoft.com/office/drawing/2014/main" id="{43E08CD0-E67D-B2D9-6B54-6FFAF937840B}"/>
              </a:ext>
            </a:extLst>
          </p:cNvPr>
          <p:cNvPicPr>
            <a:picLocks noChangeAspect="1"/>
          </p:cNvPicPr>
          <p:nvPr/>
        </p:nvPicPr>
        <p:blipFill>
          <a:blip r:embed="rId18"/>
          <a:stretch>
            <a:fillRect/>
          </a:stretch>
        </p:blipFill>
        <p:spPr>
          <a:xfrm>
            <a:off x="5162093" y="7740596"/>
            <a:ext cx="276189" cy="277029"/>
          </a:xfrm>
          <a:prstGeom prst="rect">
            <a:avLst/>
          </a:prstGeom>
        </p:spPr>
      </p:pic>
      <p:pic>
        <p:nvPicPr>
          <p:cNvPr id="305" name="Picture 304" descr="A black and white logo&#10;&#10;AI-generated content may be incorrect.">
            <a:extLst>
              <a:ext uri="{FF2B5EF4-FFF2-40B4-BE49-F238E27FC236}">
                <a16:creationId xmlns:a16="http://schemas.microsoft.com/office/drawing/2014/main" id="{459E784D-A5C5-EC36-0A4B-D454F8CDCE4E}"/>
              </a:ext>
            </a:extLst>
          </p:cNvPr>
          <p:cNvPicPr>
            <a:picLocks noChangeAspect="1"/>
          </p:cNvPicPr>
          <p:nvPr/>
        </p:nvPicPr>
        <p:blipFill>
          <a:blip r:embed="rId18"/>
          <a:stretch>
            <a:fillRect/>
          </a:stretch>
        </p:blipFill>
        <p:spPr>
          <a:xfrm>
            <a:off x="5837227" y="8240107"/>
            <a:ext cx="327111" cy="288344"/>
          </a:xfrm>
          <a:prstGeom prst="rect">
            <a:avLst/>
          </a:prstGeom>
        </p:spPr>
      </p:pic>
      <p:pic>
        <p:nvPicPr>
          <p:cNvPr id="306" name="Picture 305" descr="A black and white logo&#10;&#10;AI-generated content may be incorrect.">
            <a:extLst>
              <a:ext uri="{FF2B5EF4-FFF2-40B4-BE49-F238E27FC236}">
                <a16:creationId xmlns:a16="http://schemas.microsoft.com/office/drawing/2014/main" id="{9B82101D-BF77-1403-BD52-5F5A4FDA144F}"/>
              </a:ext>
            </a:extLst>
          </p:cNvPr>
          <p:cNvPicPr>
            <a:picLocks noChangeAspect="1"/>
          </p:cNvPicPr>
          <p:nvPr/>
        </p:nvPicPr>
        <p:blipFill>
          <a:blip r:embed="rId18"/>
          <a:stretch>
            <a:fillRect/>
          </a:stretch>
        </p:blipFill>
        <p:spPr>
          <a:xfrm>
            <a:off x="8301630" y="7739818"/>
            <a:ext cx="327111" cy="288344"/>
          </a:xfrm>
          <a:prstGeom prst="rect">
            <a:avLst/>
          </a:prstGeom>
        </p:spPr>
      </p:pic>
      <p:pic>
        <p:nvPicPr>
          <p:cNvPr id="307" name="Picture 306" descr="A black and white logo&#10;&#10;AI-generated content may be incorrect.">
            <a:extLst>
              <a:ext uri="{FF2B5EF4-FFF2-40B4-BE49-F238E27FC236}">
                <a16:creationId xmlns:a16="http://schemas.microsoft.com/office/drawing/2014/main" id="{908C28F5-15E3-D28A-1DEC-D5CD7A85A1CC}"/>
              </a:ext>
            </a:extLst>
          </p:cNvPr>
          <p:cNvPicPr>
            <a:picLocks noChangeAspect="1"/>
          </p:cNvPicPr>
          <p:nvPr/>
        </p:nvPicPr>
        <p:blipFill>
          <a:blip r:embed="rId18"/>
          <a:stretch>
            <a:fillRect/>
          </a:stretch>
        </p:blipFill>
        <p:spPr>
          <a:xfrm>
            <a:off x="7301095" y="8277866"/>
            <a:ext cx="327111" cy="288344"/>
          </a:xfrm>
          <a:prstGeom prst="rect">
            <a:avLst/>
          </a:prstGeom>
        </p:spPr>
      </p:pic>
      <p:sp>
        <p:nvSpPr>
          <p:cNvPr id="318" name="Rectangle 317">
            <a:extLst>
              <a:ext uri="{FF2B5EF4-FFF2-40B4-BE49-F238E27FC236}">
                <a16:creationId xmlns:a16="http://schemas.microsoft.com/office/drawing/2014/main" id="{AEF7D63D-42B4-894A-7A03-519D423022C4}"/>
              </a:ext>
            </a:extLst>
          </p:cNvPr>
          <p:cNvSpPr/>
          <p:nvPr/>
        </p:nvSpPr>
        <p:spPr>
          <a:xfrm>
            <a:off x="3004804" y="763620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4D828B36-E747-5437-189B-A741A9555D40}"/>
              </a:ext>
            </a:extLst>
          </p:cNvPr>
          <p:cNvSpPr/>
          <p:nvPr/>
        </p:nvSpPr>
        <p:spPr>
          <a:xfrm>
            <a:off x="2499832" y="803890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F76ED919-41F9-C657-D29D-A27DEB185906}"/>
              </a:ext>
            </a:extLst>
          </p:cNvPr>
          <p:cNvSpPr/>
          <p:nvPr/>
        </p:nvSpPr>
        <p:spPr>
          <a:xfrm>
            <a:off x="3340229" y="8038908"/>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48FA89E4-4C0C-C310-847F-3CB71E268FD2}"/>
              </a:ext>
            </a:extLst>
          </p:cNvPr>
          <p:cNvCxnSpPr/>
          <p:nvPr/>
        </p:nvCxnSpPr>
        <p:spPr>
          <a:xfrm rot="16200000" flipH="1">
            <a:off x="3812006" y="7802510"/>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46DE5431-801A-5981-4618-1FC383B92947}"/>
              </a:ext>
            </a:extLst>
          </p:cNvPr>
          <p:cNvCxnSpPr>
            <a:cxnSpLocks/>
          </p:cNvCxnSpPr>
          <p:nvPr/>
        </p:nvCxnSpPr>
        <p:spPr>
          <a:xfrm rot="10800000" flipH="1">
            <a:off x="2783498" y="7808928"/>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35AA5103-2A50-8D6C-5D40-09DD343B5C15}"/>
              </a:ext>
            </a:extLst>
          </p:cNvPr>
          <p:cNvCxnSpPr>
            <a:cxnSpLocks/>
          </p:cNvCxnSpPr>
          <p:nvPr/>
        </p:nvCxnSpPr>
        <p:spPr>
          <a:xfrm rot="2700000" flipH="1">
            <a:off x="3168733" y="828288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0EFB57DB-B038-62C7-8ED2-29747E3E47F0}"/>
              </a:ext>
            </a:extLst>
          </p:cNvPr>
          <p:cNvSpPr txBox="1"/>
          <p:nvPr/>
        </p:nvSpPr>
        <p:spPr>
          <a:xfrm>
            <a:off x="3008743" y="7560173"/>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1A57F2BA-843B-908A-D7E7-FE93CDEF40FD}"/>
              </a:ext>
            </a:extLst>
          </p:cNvPr>
          <p:cNvSpPr txBox="1"/>
          <p:nvPr/>
        </p:nvSpPr>
        <p:spPr>
          <a:xfrm>
            <a:off x="2523213" y="7964355"/>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E3BC6DC7-05DB-9B63-A599-08FD4E3EA280}"/>
              </a:ext>
            </a:extLst>
          </p:cNvPr>
          <p:cNvSpPr txBox="1"/>
          <p:nvPr/>
        </p:nvSpPr>
        <p:spPr>
          <a:xfrm>
            <a:off x="3357192" y="797209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cxnSp>
        <p:nvCxnSpPr>
          <p:cNvPr id="55" name="Straight Connector 54">
            <a:extLst>
              <a:ext uri="{FF2B5EF4-FFF2-40B4-BE49-F238E27FC236}">
                <a16:creationId xmlns:a16="http://schemas.microsoft.com/office/drawing/2014/main" id="{4FF43565-44F8-E349-7184-4C47B5BCCD02}"/>
              </a:ext>
            </a:extLst>
          </p:cNvPr>
          <p:cNvCxnSpPr/>
          <p:nvPr/>
        </p:nvCxnSpPr>
        <p:spPr>
          <a:xfrm>
            <a:off x="2953488" y="7816878"/>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68417F07-5E43-CC51-5D12-2505983466D2}"/>
              </a:ext>
            </a:extLst>
          </p:cNvPr>
          <p:cNvCxnSpPr>
            <a:cxnSpLocks/>
          </p:cNvCxnSpPr>
          <p:nvPr/>
        </p:nvCxnSpPr>
        <p:spPr>
          <a:xfrm rot="5400000">
            <a:off x="2953488" y="7825719"/>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 name="Rectangle 56">
            <a:extLst>
              <a:ext uri="{FF2B5EF4-FFF2-40B4-BE49-F238E27FC236}">
                <a16:creationId xmlns:a16="http://schemas.microsoft.com/office/drawing/2014/main" id="{F568D82D-5024-C1A4-169B-A2B60AA0819F}"/>
              </a:ext>
            </a:extLst>
          </p:cNvPr>
          <p:cNvSpPr/>
          <p:nvPr/>
        </p:nvSpPr>
        <p:spPr>
          <a:xfrm>
            <a:off x="2918994" y="9225807"/>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20EAE038-EC0B-0386-2F62-8AAF15062F92}"/>
              </a:ext>
            </a:extLst>
          </p:cNvPr>
          <p:cNvSpPr txBox="1"/>
          <p:nvPr/>
        </p:nvSpPr>
        <p:spPr>
          <a:xfrm>
            <a:off x="2914837" y="9377396"/>
            <a:ext cx="1357903" cy="7103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&gt; Rscript</a:t>
            </a:r>
            <a:r>
              <a:rPr lang="en-US" sz="1100">
                <a:solidFill>
                  <a:srgbClr val="000000"/>
                </a:solidFill>
              </a:rPr>
              <a:t> </a:t>
            </a:r>
            <a:r>
              <a:rPr lang="en-US">
                <a:solidFill>
                  <a:srgbClr val="0B4EB2"/>
                </a:solidFill>
              </a:rPr>
              <a:t>exec/*.R</a:t>
            </a:r>
            <a:endParaRPr lang="en-US" b="0">
              <a:solidFill>
                <a:srgbClr val="000000"/>
              </a:solidFill>
            </a:endParaRPr>
          </a:p>
          <a:p>
            <a:r>
              <a:rPr lang="en-US" sz="1100">
                <a:solidFill>
                  <a:srgbClr val="000000"/>
                </a:solidFill>
              </a:rPr>
              <a:t> </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project1.yml</a:t>
            </a:r>
            <a:endParaRPr lang="en-US"/>
          </a:p>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analysisB.yml</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258" name="TextBox 766">
            <a:extLst>
              <a:ext uri="{FF2B5EF4-FFF2-40B4-BE49-F238E27FC236}">
                <a16:creationId xmlns:a16="http://schemas.microsoft.com/office/drawing/2014/main" id="{4276996B-70E2-EF2A-C205-4D5443175DDA}"/>
              </a:ext>
            </a:extLst>
          </p:cNvPr>
          <p:cNvSpPr txBox="1"/>
          <p:nvPr/>
        </p:nvSpPr>
        <p:spPr>
          <a:xfrm>
            <a:off x="484057" y="747880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4AD67BE2-CB3A-6271-0783-B4385E7CF0D0}"/>
              </a:ext>
            </a:extLst>
          </p:cNvPr>
          <p:cNvSpPr txBox="1"/>
          <p:nvPr/>
        </p:nvSpPr>
        <p:spPr>
          <a:xfrm>
            <a:off x="2910994" y="8937743"/>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4603F24A-4711-3288-B57F-1BCED23953FC}"/>
              </a:ext>
            </a:extLst>
          </p:cNvPr>
          <p:cNvSpPr txBox="1"/>
          <p:nvPr/>
        </p:nvSpPr>
        <p:spPr>
          <a:xfrm>
            <a:off x="2509455" y="747244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850187F0-6C2B-C794-DA41-32BCCF11F5C0}"/>
              </a:ext>
            </a:extLst>
          </p:cNvPr>
          <p:cNvSpPr txBox="1"/>
          <p:nvPr/>
        </p:nvSpPr>
        <p:spPr>
          <a:xfrm>
            <a:off x="292087" y="8470716"/>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B0E570C3-8852-F91E-60E8-8B4C42037232}"/>
              </a:ext>
            </a:extLst>
          </p:cNvPr>
          <p:cNvGrpSpPr/>
          <p:nvPr/>
        </p:nvGrpSpPr>
        <p:grpSpPr>
          <a:xfrm>
            <a:off x="299450" y="8693770"/>
            <a:ext cx="1454607" cy="1359206"/>
            <a:chOff x="4888883" y="5320096"/>
            <a:chExt cx="1741511" cy="1781653"/>
          </a:xfrm>
        </p:grpSpPr>
        <p:sp>
          <p:nvSpPr>
            <p:cNvPr id="277" name="Rectangle 276">
              <a:extLst>
                <a:ext uri="{FF2B5EF4-FFF2-40B4-BE49-F238E27FC236}">
                  <a16:creationId xmlns:a16="http://schemas.microsoft.com/office/drawing/2014/main" id="{684DD434-EE56-3485-3C1E-564561421152}"/>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1" name="TextBox 754">
              <a:extLst>
                <a:ext uri="{FF2B5EF4-FFF2-40B4-BE49-F238E27FC236}">
                  <a16:creationId xmlns:a16="http://schemas.microsoft.com/office/drawing/2014/main" id="{8E8932A6-4CCD-FD29-50D0-933054CA9C38}"/>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39BBE9E0-D51F-EFBA-0262-8FF4FB2A4734}"/>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4CC50EB4-4E5F-8241-AACB-E7FC0A843842}"/>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232661E2-E894-3E65-BD28-190A0E6598FC}"/>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8A0F8621-66AF-6950-F9D7-A88903006D93}"/>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F8582B73-BD23-07F3-2E46-494E07ACB302}"/>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831EDF08-287E-8059-4D31-ABFADC4C5C08}"/>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89" name="Rectangle 288">
              <a:extLst>
                <a:ext uri="{FF2B5EF4-FFF2-40B4-BE49-F238E27FC236}">
                  <a16:creationId xmlns:a16="http://schemas.microsoft.com/office/drawing/2014/main" id="{8DB6EFF0-4471-8E1A-8853-E5400F8A8423}"/>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1" name="Rectangle 290">
              <a:extLst>
                <a:ext uri="{FF2B5EF4-FFF2-40B4-BE49-F238E27FC236}">
                  <a16:creationId xmlns:a16="http://schemas.microsoft.com/office/drawing/2014/main" id="{F24888F6-EB2A-019C-369D-500DB4D59F1F}"/>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109DDBE9-4126-F6F2-4BC4-C6A8BC10259D}"/>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sp>
          <p:nvSpPr>
            <p:cNvPr id="294" name="TextBox 5">
              <a:extLst>
                <a:ext uri="{FF2B5EF4-FFF2-40B4-BE49-F238E27FC236}">
                  <a16:creationId xmlns:a16="http://schemas.microsoft.com/office/drawing/2014/main" id="{6498BB5E-ABF9-4F31-455F-DBE88AB79921}"/>
                </a:ext>
              </a:extLst>
            </p:cNvPr>
            <p:cNvSpPr txBox="1"/>
            <p:nvPr/>
          </p:nvSpPr>
          <p:spPr>
            <a:xfrm>
              <a:off x="5035667" y="6255106"/>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grpSp>
          <p:nvGrpSpPr>
            <p:cNvPr id="295" name="Group 294">
              <a:extLst>
                <a:ext uri="{FF2B5EF4-FFF2-40B4-BE49-F238E27FC236}">
                  <a16:creationId xmlns:a16="http://schemas.microsoft.com/office/drawing/2014/main" id="{E72AF229-9A32-C9E5-E042-F96E697F33F5}"/>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E307B3A2-006D-8678-4501-7B3B9CD10691}"/>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B55511BA-15DA-582A-0182-6A134A40475F}"/>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0B557805-C32B-3037-0F02-5FFF59BB0B14}"/>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CB5EBC6F-7023-F64B-04C7-D13D56541A69}"/>
              </a:ext>
            </a:extLst>
          </p:cNvPr>
          <p:cNvSpPr/>
          <p:nvPr/>
        </p:nvSpPr>
        <p:spPr>
          <a:xfrm>
            <a:off x="892950" y="763625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3D09FA2F-E516-2C10-5615-A8F253D0CB0D}"/>
              </a:ext>
            </a:extLst>
          </p:cNvPr>
          <p:cNvSpPr/>
          <p:nvPr/>
        </p:nvSpPr>
        <p:spPr>
          <a:xfrm>
            <a:off x="387877" y="803896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BD920D95-9BBB-32A7-CDDC-A578698F2D6F}"/>
              </a:ext>
            </a:extLst>
          </p:cNvPr>
          <p:cNvSpPr/>
          <p:nvPr/>
        </p:nvSpPr>
        <p:spPr>
          <a:xfrm>
            <a:off x="1228441" y="8038960"/>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00ACA466-FAB7-6B96-BC56-0181E018B282}"/>
              </a:ext>
            </a:extLst>
          </p:cNvPr>
          <p:cNvCxnSpPr>
            <a:cxnSpLocks/>
          </p:cNvCxnSpPr>
          <p:nvPr/>
        </p:nvCxnSpPr>
        <p:spPr>
          <a:xfrm rot="16200000" flipH="1">
            <a:off x="1700312" y="7802561"/>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6C995B79-BF88-95EE-682C-3C2D09ECDFF9}"/>
              </a:ext>
            </a:extLst>
          </p:cNvPr>
          <p:cNvCxnSpPr>
            <a:cxnSpLocks/>
          </p:cNvCxnSpPr>
          <p:nvPr/>
        </p:nvCxnSpPr>
        <p:spPr>
          <a:xfrm rot="10800000" flipH="1">
            <a:off x="671600" y="7808980"/>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8A1B0BF9-24E0-4271-4D8E-585D59A941C5}"/>
              </a:ext>
            </a:extLst>
          </p:cNvPr>
          <p:cNvCxnSpPr>
            <a:cxnSpLocks/>
          </p:cNvCxnSpPr>
          <p:nvPr/>
        </p:nvCxnSpPr>
        <p:spPr>
          <a:xfrm rot="2700000" flipH="1">
            <a:off x="1056911" y="8282936"/>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4229ECFE-2A8B-728D-C425-A6D62A27DE48}"/>
              </a:ext>
            </a:extLst>
          </p:cNvPr>
          <p:cNvSpPr txBox="1"/>
          <p:nvPr/>
        </p:nvSpPr>
        <p:spPr>
          <a:xfrm>
            <a:off x="896889" y="7560225"/>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31106B35-F54A-359E-2688-937D33E99913}"/>
              </a:ext>
            </a:extLst>
          </p:cNvPr>
          <p:cNvSpPr txBox="1"/>
          <p:nvPr/>
        </p:nvSpPr>
        <p:spPr>
          <a:xfrm>
            <a:off x="411263" y="7964406"/>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5C214158-0F69-85E6-4DF7-7402AF68D256}"/>
              </a:ext>
            </a:extLst>
          </p:cNvPr>
          <p:cNvSpPr txBox="1"/>
          <p:nvPr/>
        </p:nvSpPr>
        <p:spPr>
          <a:xfrm>
            <a:off x="1245408" y="797214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47" name="Straight Connector 346">
            <a:extLst>
              <a:ext uri="{FF2B5EF4-FFF2-40B4-BE49-F238E27FC236}">
                <a16:creationId xmlns:a16="http://schemas.microsoft.com/office/drawing/2014/main" id="{E92B56F8-3035-7E0A-1685-83859CEAFAC9}"/>
              </a:ext>
            </a:extLst>
          </p:cNvPr>
          <p:cNvCxnSpPr>
            <a:cxnSpLocks/>
          </p:cNvCxnSpPr>
          <p:nvPr/>
        </p:nvCxnSpPr>
        <p:spPr>
          <a:xfrm>
            <a:off x="841623" y="7816929"/>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5C306AC9-119F-DEDF-09CC-62174F478C31}"/>
              </a:ext>
            </a:extLst>
          </p:cNvPr>
          <p:cNvCxnSpPr>
            <a:cxnSpLocks/>
          </p:cNvCxnSpPr>
          <p:nvPr/>
        </p:nvCxnSpPr>
        <p:spPr>
          <a:xfrm rot="5400000">
            <a:off x="841623" y="7825771"/>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0" name="Straight Arrow Connector 349">
            <a:extLst>
              <a:ext uri="{FF2B5EF4-FFF2-40B4-BE49-F238E27FC236}">
                <a16:creationId xmlns:a16="http://schemas.microsoft.com/office/drawing/2014/main" id="{C2C4C7AD-D0B4-FEF8-C220-F41DD81F16B3}"/>
              </a:ext>
            </a:extLst>
          </p:cNvPr>
          <p:cNvCxnSpPr/>
          <p:nvPr/>
        </p:nvCxnSpPr>
        <p:spPr>
          <a:xfrm>
            <a:off x="3416547" y="8541264"/>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4C175A01-E659-48E5-CDB3-C199050919C6}"/>
              </a:ext>
            </a:extLst>
          </p:cNvPr>
          <p:cNvSpPr txBox="1"/>
          <p:nvPr/>
        </p:nvSpPr>
        <p:spPr>
          <a:xfrm>
            <a:off x="3488746" y="8620398"/>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81D81B0A-A346-5B7A-BD1A-37C774CCEE52}"/>
              </a:ext>
            </a:extLst>
          </p:cNvPr>
          <p:cNvSpPr txBox="1"/>
          <p:nvPr/>
        </p:nvSpPr>
        <p:spPr>
          <a:xfrm>
            <a:off x="2915551" y="9216125"/>
            <a:ext cx="1358728"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8DD7C062-1C06-FA75-DDE4-F3F586191F00}"/>
              </a:ext>
            </a:extLst>
          </p:cNvPr>
          <p:cNvSpPr txBox="1"/>
          <p:nvPr/>
        </p:nvSpPr>
        <p:spPr>
          <a:xfrm>
            <a:off x="3738365" y="8821827"/>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0A83EEDD-7376-8FCE-D551-E3A1A04DC172}"/>
              </a:ext>
            </a:extLst>
          </p:cNvPr>
          <p:cNvSpPr txBox="1"/>
          <p:nvPr/>
        </p:nvSpPr>
        <p:spPr>
          <a:xfrm>
            <a:off x="1996975" y="8592927"/>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064F2D6A-B925-734F-10B2-5214BF38C2BF}"/>
              </a:ext>
            </a:extLst>
          </p:cNvPr>
          <p:cNvCxnSpPr/>
          <p:nvPr/>
        </p:nvCxnSpPr>
        <p:spPr>
          <a:xfrm flipH="1">
            <a:off x="1713673" y="9575828"/>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64282E2D-0483-28A4-B2F3-D7474D44F7AB}"/>
              </a:ext>
            </a:extLst>
          </p:cNvPr>
          <p:cNvCxnSpPr/>
          <p:nvPr/>
        </p:nvCxnSpPr>
        <p:spPr>
          <a:xfrm flipH="1">
            <a:off x="1983283" y="8527771"/>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64EC6AB2-6D1F-0CA7-DFA7-9CE70E9B325B}"/>
              </a:ext>
            </a:extLst>
          </p:cNvPr>
          <p:cNvSpPr txBox="1"/>
          <p:nvPr/>
        </p:nvSpPr>
        <p:spPr>
          <a:xfrm>
            <a:off x="5011890" y="5454558"/>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8E024613-3749-7AE8-2640-45C3507C09CE}"/>
              </a:ext>
            </a:extLst>
          </p:cNvPr>
          <p:cNvSpPr txBox="1"/>
          <p:nvPr/>
        </p:nvSpPr>
        <p:spPr>
          <a:xfrm>
            <a:off x="6022638" y="5455499"/>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analysis.yml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1CDE8CB6-7315-D70D-D5F8-F185D59C3736}"/>
              </a:ext>
            </a:extLst>
          </p:cNvPr>
          <p:cNvPicPr>
            <a:picLocks noChangeAspect="1"/>
          </p:cNvPicPr>
          <p:nvPr/>
        </p:nvPicPr>
        <p:blipFill>
          <a:blip r:embed="rId19"/>
          <a:stretch>
            <a:fillRect/>
          </a:stretch>
        </p:blipFill>
        <p:spPr>
          <a:xfrm>
            <a:off x="5161656" y="4700873"/>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6E77E069-4B29-8356-EE56-653B7EA4D5F6}"/>
              </a:ext>
            </a:extLst>
          </p:cNvPr>
          <p:cNvPicPr>
            <a:picLocks noChangeAspect="1"/>
          </p:cNvPicPr>
          <p:nvPr/>
        </p:nvPicPr>
        <p:blipFill>
          <a:blip r:embed="rId19"/>
          <a:stretch>
            <a:fillRect/>
          </a:stretch>
        </p:blipFill>
        <p:spPr>
          <a:xfrm>
            <a:off x="6146433" y="4700873"/>
            <a:ext cx="666623" cy="838200"/>
          </a:xfrm>
          <a:prstGeom prst="rect">
            <a:avLst/>
          </a:prstGeom>
        </p:spPr>
      </p:pic>
      <p:pic>
        <p:nvPicPr>
          <p:cNvPr id="359" name="Picture 358">
            <a:extLst>
              <a:ext uri="{FF2B5EF4-FFF2-40B4-BE49-F238E27FC236}">
                <a16:creationId xmlns:a16="http://schemas.microsoft.com/office/drawing/2014/main" id="{BE7B63C0-0003-B132-3715-9B2E4A318A2F}"/>
              </a:ext>
            </a:extLst>
          </p:cNvPr>
          <p:cNvPicPr>
            <a:picLocks noChangeAspect="1"/>
          </p:cNvPicPr>
          <p:nvPr/>
        </p:nvPicPr>
        <p:blipFill>
          <a:blip r:embed="rId15"/>
          <a:stretch>
            <a:fillRect/>
          </a:stretch>
        </p:blipFill>
        <p:spPr>
          <a:xfrm>
            <a:off x="7909422" y="4481066"/>
            <a:ext cx="554321" cy="415604"/>
          </a:xfrm>
          <a:prstGeom prst="rect">
            <a:avLst/>
          </a:prstGeom>
          <a:ln w="28575">
            <a:solidFill>
              <a:schemeClr val="bg1"/>
            </a:solidFill>
          </a:ln>
        </p:spPr>
      </p:pic>
      <p:pic>
        <p:nvPicPr>
          <p:cNvPr id="363" name="Picture 362">
            <a:extLst>
              <a:ext uri="{FF2B5EF4-FFF2-40B4-BE49-F238E27FC236}">
                <a16:creationId xmlns:a16="http://schemas.microsoft.com/office/drawing/2014/main" id="{C4452F14-9498-B808-0014-74C04BE8D2A7}"/>
              </a:ext>
            </a:extLst>
          </p:cNvPr>
          <p:cNvPicPr>
            <a:picLocks noChangeAspect="1"/>
          </p:cNvPicPr>
          <p:nvPr/>
        </p:nvPicPr>
        <p:blipFill>
          <a:blip r:embed="rId14"/>
          <a:stretch>
            <a:fillRect/>
          </a:stretch>
        </p:blipFill>
        <p:spPr>
          <a:xfrm>
            <a:off x="11585418" y="3795869"/>
            <a:ext cx="538060" cy="507646"/>
          </a:xfrm>
          <a:prstGeom prst="rect">
            <a:avLst/>
          </a:prstGeom>
        </p:spPr>
      </p:pic>
      <p:sp>
        <p:nvSpPr>
          <p:cNvPr id="365" name="TextBox 364">
            <a:extLst>
              <a:ext uri="{FF2B5EF4-FFF2-40B4-BE49-F238E27FC236}">
                <a16:creationId xmlns:a16="http://schemas.microsoft.com/office/drawing/2014/main" id="{338433D7-EB25-229E-CBD4-F966C5565678}"/>
              </a:ext>
            </a:extLst>
          </p:cNvPr>
          <p:cNvSpPr txBox="1"/>
          <p:nvPr/>
        </p:nvSpPr>
        <p:spPr>
          <a:xfrm>
            <a:off x="11534104" y="4168473"/>
            <a:ext cx="940417"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solidFill>
                  <a:srgbClr val="0B4EB2"/>
                </a:solidFill>
              </a:rPr>
              <a:t>exec/*.R</a:t>
            </a:r>
            <a:endParaRPr lang="en-US" b="0">
              <a:solidFill>
                <a:srgbClr val="000000"/>
              </a:solidFill>
            </a:endParaRPr>
          </a:p>
          <a:p>
            <a:pPr marL="0" marR="0" indent="0" algn="l" defTabSz="584200">
              <a:lnSpc>
                <a:spcPct val="100000"/>
              </a:lnSpc>
              <a:spcBef>
                <a:spcPts val="200"/>
              </a:spcBef>
              <a:spcAft>
                <a:spcPts val="0"/>
              </a:spcAft>
              <a:buClrTx/>
              <a:buSzTx/>
              <a:buFontTx/>
              <a:buNone/>
              <a:tabLst/>
            </a:pP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BACD5AEA-6D0D-4930-5FCE-28AD955B6C14}"/>
              </a:ext>
            </a:extLst>
          </p:cNvPr>
          <p:cNvSpPr txBox="1"/>
          <p:nvPr/>
        </p:nvSpPr>
        <p:spPr>
          <a:xfrm>
            <a:off x="9546400" y="6478881"/>
            <a:ext cx="24609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Pipelines</a:t>
            </a:r>
            <a:endParaRPr lang="en-US"/>
          </a:p>
        </p:txBody>
      </p:sp>
      <p:sp>
        <p:nvSpPr>
          <p:cNvPr id="367" name="TextBox 366">
            <a:extLst>
              <a:ext uri="{FF2B5EF4-FFF2-40B4-BE49-F238E27FC236}">
                <a16:creationId xmlns:a16="http://schemas.microsoft.com/office/drawing/2014/main" id="{07F696D8-D955-9C4B-0A28-660AD578606C}"/>
              </a:ext>
            </a:extLst>
          </p:cNvPr>
          <p:cNvSpPr txBox="1"/>
          <p:nvPr/>
        </p:nvSpPr>
        <p:spPr>
          <a:xfrm>
            <a:off x="9489530" y="6756044"/>
            <a:ext cx="4269963"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remove the need to manually write R scripts, fetch data, or manage complex workflows. Instead of handling APIs and parsing data manually, Kaiaulu executables do this using configuration files. Executables can also be chained together to construct more complex pipelines.</a:t>
            </a:r>
            <a:endParaRPr lang="en-US">
              <a:solidFill>
                <a:srgbClr val="000000"/>
              </a:solidFill>
            </a:endParaRPr>
          </a:p>
        </p:txBody>
      </p:sp>
      <p:sp>
        <p:nvSpPr>
          <p:cNvPr id="372" name="TextBox 371">
            <a:extLst>
              <a:ext uri="{FF2B5EF4-FFF2-40B4-BE49-F238E27FC236}">
                <a16:creationId xmlns:a16="http://schemas.microsoft.com/office/drawing/2014/main" id="{52386518-0CCC-FEB6-D103-9100A530BFE4}"/>
              </a:ext>
            </a:extLst>
          </p:cNvPr>
          <p:cNvSpPr txBox="1"/>
          <p:nvPr/>
        </p:nvSpPr>
        <p:spPr>
          <a:xfrm>
            <a:off x="4666383" y="1688503"/>
            <a:ext cx="4360185" cy="1269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Any </a:t>
            </a:r>
            <a:r>
              <a:rPr lang="en-US" b="0" err="1">
                <a:solidFill>
                  <a:srgbClr val="000000"/>
                </a:solidFill>
                <a:cs typeface="Helvetica"/>
              </a:rPr>
              <a:t>project.yml</a:t>
            </a:r>
            <a:r>
              <a:rPr lang="en-US" b="0">
                <a:solidFill>
                  <a:srgbClr val="000000"/>
                </a:solidFill>
                <a:cs typeface="Helvetica"/>
              </a:rPr>
              <a:t> files (1) can be combined with any </a:t>
            </a:r>
            <a:r>
              <a:rPr lang="en-US" b="0" err="1">
                <a:solidFill>
                  <a:srgbClr val="000000"/>
                </a:solidFill>
                <a:cs typeface="Helvetica"/>
              </a:rPr>
              <a:t>analysis.yml</a:t>
            </a:r>
            <a:r>
              <a:rPr lang="en-US" b="0">
                <a:solidFill>
                  <a:srgbClr val="000000"/>
                </a:solidFill>
                <a:cs typeface="Helvetica"/>
              </a:rPr>
              <a:t> files (2). This allows users to run the same analysis on multiple projects or run different analyses on the same project, reducing duplication of configuration sections. See Configuration (.</a:t>
            </a:r>
            <a:r>
              <a:rPr lang="en-US" b="0" err="1">
                <a:solidFill>
                  <a:srgbClr val="000000"/>
                </a:solidFill>
                <a:cs typeface="Helvetica"/>
              </a:rPr>
              <a:t>yml</a:t>
            </a:r>
            <a:r>
              <a:rPr lang="en-US" b="0">
                <a:solidFill>
                  <a:srgbClr val="000000"/>
                </a:solidFill>
                <a:cs typeface="Helvetica"/>
              </a:rPr>
              <a:t>) </a:t>
            </a:r>
            <a:r>
              <a:rPr lang="en-US" b="0" err="1">
                <a:solidFill>
                  <a:srgbClr val="000000"/>
                </a:solidFill>
                <a:cs typeface="Helvetica"/>
              </a:rPr>
              <a:t>cheatsheet</a:t>
            </a:r>
            <a:r>
              <a:rPr lang="en-US" b="0">
                <a:solidFill>
                  <a:srgbClr val="000000"/>
                </a:solidFill>
                <a:cs typeface="Helvetica"/>
              </a:rPr>
              <a:t> for more information.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DBB61582-5DA2-0A57-DF3C-77BA2CFEF76E}"/>
              </a:ext>
            </a:extLst>
          </p:cNvPr>
          <p:cNvSpPr txBox="1"/>
          <p:nvPr/>
        </p:nvSpPr>
        <p:spPr>
          <a:xfrm>
            <a:off x="4677569" y="1465815"/>
            <a:ext cx="430634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cs typeface="Arial"/>
              </a:rPr>
              <a:t>Interchangable</a:t>
            </a:r>
            <a:r>
              <a:rPr lang="en-US" dirty="0">
                <a:cs typeface="Arial"/>
              </a:rPr>
              <a:t> </a:t>
            </a:r>
            <a:r>
              <a:rPr lang="en-US" dirty="0" err="1">
                <a:cs typeface="Arial"/>
              </a:rPr>
              <a:t>Configura</a:t>
            </a:r>
            <a:r>
              <a:rPr lang="en-US" dirty="0">
                <a:cs typeface="Arial"/>
              </a:rPr>
              <a:t>tions</a:t>
            </a:r>
            <a:endParaRPr lang="en-US" dirty="0"/>
          </a:p>
        </p:txBody>
      </p:sp>
      <p:sp>
        <p:nvSpPr>
          <p:cNvPr id="12" name="Line">
            <a:extLst>
              <a:ext uri="{FF2B5EF4-FFF2-40B4-BE49-F238E27FC236}">
                <a16:creationId xmlns:a16="http://schemas.microsoft.com/office/drawing/2014/main" id="{AB1BB838-F2C6-1A78-6E26-7DCBA6714DB2}"/>
              </a:ext>
            </a:extLst>
          </p:cNvPr>
          <p:cNvSpPr/>
          <p:nvPr/>
        </p:nvSpPr>
        <p:spPr>
          <a:xfrm>
            <a:off x="4694971" y="9723661"/>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1" name="TextBox 20">
            <a:extLst>
              <a:ext uri="{FF2B5EF4-FFF2-40B4-BE49-F238E27FC236}">
                <a16:creationId xmlns:a16="http://schemas.microsoft.com/office/drawing/2014/main" id="{B2851836-0581-3609-DBC9-6D7D0175E303}"/>
              </a:ext>
            </a:extLst>
          </p:cNvPr>
          <p:cNvSpPr txBox="1"/>
          <p:nvPr/>
        </p:nvSpPr>
        <p:spPr>
          <a:xfrm>
            <a:off x="6339064" y="6847726"/>
            <a:ext cx="718914"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a:solidFill>
                  <a:srgbClr val="0B4EB2"/>
                </a:solidFill>
                <a:cs typeface="Helvetica"/>
              </a:rPr>
              <a:t>exec/*.R</a:t>
            </a:r>
            <a:endParaRPr lang="en-US" b="1">
              <a:solidFill>
                <a:srgbClr val="0B4EB2"/>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a:extLst>
              <a:ext uri="{FF2B5EF4-FFF2-40B4-BE49-F238E27FC236}">
                <a16:creationId xmlns:a16="http://schemas.microsoft.com/office/drawing/2014/main" id="{BF047F36-0B02-E074-1D37-926324208ECF}"/>
              </a:ext>
            </a:extLst>
          </p:cNvPr>
          <p:cNvPicPr>
            <a:picLocks noChangeAspect="1"/>
          </p:cNvPicPr>
          <p:nvPr/>
        </p:nvPicPr>
        <p:blipFill>
          <a:blip r:embed="rId14"/>
          <a:stretch>
            <a:fillRect/>
          </a:stretch>
        </p:blipFill>
        <p:spPr>
          <a:xfrm>
            <a:off x="10199549" y="8507016"/>
            <a:ext cx="538060" cy="507646"/>
          </a:xfrm>
          <a:prstGeom prst="rect">
            <a:avLst/>
          </a:prstGeom>
        </p:spPr>
      </p:pic>
      <p:pic>
        <p:nvPicPr>
          <p:cNvPr id="36" name="Picture 35">
            <a:extLst>
              <a:ext uri="{FF2B5EF4-FFF2-40B4-BE49-F238E27FC236}">
                <a16:creationId xmlns:a16="http://schemas.microsoft.com/office/drawing/2014/main" id="{76697ACA-F73D-B5D9-99D9-A24ED7721423}"/>
              </a:ext>
            </a:extLst>
          </p:cNvPr>
          <p:cNvPicPr>
            <a:picLocks noChangeAspect="1"/>
          </p:cNvPicPr>
          <p:nvPr/>
        </p:nvPicPr>
        <p:blipFill>
          <a:blip r:embed="rId14"/>
          <a:stretch>
            <a:fillRect/>
          </a:stretch>
        </p:blipFill>
        <p:spPr>
          <a:xfrm>
            <a:off x="10199637" y="7868327"/>
            <a:ext cx="538060" cy="507646"/>
          </a:xfrm>
          <a:prstGeom prst="rect">
            <a:avLst/>
          </a:prstGeom>
        </p:spPr>
      </p:pic>
      <p:pic>
        <p:nvPicPr>
          <p:cNvPr id="46" name="Picture 45">
            <a:extLst>
              <a:ext uri="{FF2B5EF4-FFF2-40B4-BE49-F238E27FC236}">
                <a16:creationId xmlns:a16="http://schemas.microsoft.com/office/drawing/2014/main" id="{1C78AE04-C483-3AD1-61DC-0402A25C9CCE}"/>
              </a:ext>
            </a:extLst>
          </p:cNvPr>
          <p:cNvPicPr>
            <a:picLocks noChangeAspect="1"/>
          </p:cNvPicPr>
          <p:nvPr/>
        </p:nvPicPr>
        <p:blipFill>
          <a:blip r:embed="rId14"/>
          <a:stretch>
            <a:fillRect/>
          </a:stretch>
        </p:blipFill>
        <p:spPr>
          <a:xfrm>
            <a:off x="11441446" y="7850639"/>
            <a:ext cx="538060" cy="507646"/>
          </a:xfrm>
          <a:prstGeom prst="rect">
            <a:avLst/>
          </a:prstGeom>
        </p:spPr>
      </p:pic>
      <p:pic>
        <p:nvPicPr>
          <p:cNvPr id="59" name="Picture 58">
            <a:extLst>
              <a:ext uri="{FF2B5EF4-FFF2-40B4-BE49-F238E27FC236}">
                <a16:creationId xmlns:a16="http://schemas.microsoft.com/office/drawing/2014/main" id="{26FDCF62-2914-8668-27E5-5BEE9A8CE6EC}"/>
              </a:ext>
            </a:extLst>
          </p:cNvPr>
          <p:cNvPicPr>
            <a:picLocks noChangeAspect="1"/>
          </p:cNvPicPr>
          <p:nvPr/>
        </p:nvPicPr>
        <p:blipFill>
          <a:blip r:embed="rId14"/>
          <a:stretch>
            <a:fillRect/>
          </a:stretch>
        </p:blipFill>
        <p:spPr>
          <a:xfrm>
            <a:off x="11477011" y="8507180"/>
            <a:ext cx="538060" cy="507646"/>
          </a:xfrm>
          <a:prstGeom prst="rect">
            <a:avLst/>
          </a:prstGeom>
        </p:spPr>
      </p:pic>
      <p:pic>
        <p:nvPicPr>
          <p:cNvPr id="61" name="table">
            <a:extLst>
              <a:ext uri="{FF2B5EF4-FFF2-40B4-BE49-F238E27FC236}">
                <a16:creationId xmlns:a16="http://schemas.microsoft.com/office/drawing/2014/main" id="{0DA35B2E-F56D-D390-3FBD-FB0AE6A6C8EC}"/>
              </a:ext>
            </a:extLst>
          </p:cNvPr>
          <p:cNvPicPr>
            <a:picLocks noChangeAspect="1"/>
          </p:cNvPicPr>
          <p:nvPr/>
        </p:nvPicPr>
        <p:blipFill>
          <a:blip r:embed="rId7"/>
          <a:stretch>
            <a:fillRect/>
          </a:stretch>
        </p:blipFill>
        <p:spPr>
          <a:xfrm>
            <a:off x="10965727" y="7980540"/>
            <a:ext cx="267508" cy="302355"/>
          </a:xfrm>
          <a:prstGeom prst="rect">
            <a:avLst/>
          </a:prstGeom>
        </p:spPr>
      </p:pic>
      <p:pic>
        <p:nvPicPr>
          <p:cNvPr id="62" name="table">
            <a:extLst>
              <a:ext uri="{FF2B5EF4-FFF2-40B4-BE49-F238E27FC236}">
                <a16:creationId xmlns:a16="http://schemas.microsoft.com/office/drawing/2014/main" id="{1E8D93BC-A45C-D514-B1C8-3ED7219AB1EC}"/>
              </a:ext>
            </a:extLst>
          </p:cNvPr>
          <p:cNvPicPr>
            <a:picLocks noChangeAspect="1"/>
          </p:cNvPicPr>
          <p:nvPr/>
        </p:nvPicPr>
        <p:blipFill>
          <a:blip r:embed="rId7"/>
          <a:stretch>
            <a:fillRect/>
          </a:stretch>
        </p:blipFill>
        <p:spPr>
          <a:xfrm>
            <a:off x="13575937" y="8849995"/>
            <a:ext cx="267508" cy="302355"/>
          </a:xfrm>
          <a:prstGeom prst="rect">
            <a:avLst/>
          </a:prstGeom>
        </p:spPr>
      </p:pic>
      <p:pic>
        <p:nvPicPr>
          <p:cNvPr id="63" name="table">
            <a:extLst>
              <a:ext uri="{FF2B5EF4-FFF2-40B4-BE49-F238E27FC236}">
                <a16:creationId xmlns:a16="http://schemas.microsoft.com/office/drawing/2014/main" id="{7B3CD2F5-2725-7D24-BE99-2F27D02AEE1A}"/>
              </a:ext>
            </a:extLst>
          </p:cNvPr>
          <p:cNvPicPr>
            <a:picLocks noChangeAspect="1"/>
          </p:cNvPicPr>
          <p:nvPr/>
        </p:nvPicPr>
        <p:blipFill>
          <a:blip r:embed="rId7"/>
          <a:stretch>
            <a:fillRect/>
          </a:stretch>
        </p:blipFill>
        <p:spPr>
          <a:xfrm>
            <a:off x="10968405" y="8646007"/>
            <a:ext cx="267508" cy="302355"/>
          </a:xfrm>
          <a:prstGeom prst="rect">
            <a:avLst/>
          </a:prstGeom>
        </p:spPr>
      </p:pic>
      <p:pic>
        <p:nvPicPr>
          <p:cNvPr id="256" name="table">
            <a:extLst>
              <a:ext uri="{FF2B5EF4-FFF2-40B4-BE49-F238E27FC236}">
                <a16:creationId xmlns:a16="http://schemas.microsoft.com/office/drawing/2014/main" id="{6A572BA5-9D60-0CBF-7BBA-8DFD6E6908D6}"/>
              </a:ext>
            </a:extLst>
          </p:cNvPr>
          <p:cNvPicPr>
            <a:picLocks noChangeAspect="1"/>
          </p:cNvPicPr>
          <p:nvPr/>
        </p:nvPicPr>
        <p:blipFill>
          <a:blip r:embed="rId7"/>
          <a:stretch>
            <a:fillRect/>
          </a:stretch>
        </p:blipFill>
        <p:spPr>
          <a:xfrm>
            <a:off x="12192476" y="7936346"/>
            <a:ext cx="267508" cy="302355"/>
          </a:xfrm>
          <a:prstGeom prst="rect">
            <a:avLst/>
          </a:prstGeom>
        </p:spPr>
      </p:pic>
      <p:pic>
        <p:nvPicPr>
          <p:cNvPr id="257" name="table">
            <a:extLst>
              <a:ext uri="{FF2B5EF4-FFF2-40B4-BE49-F238E27FC236}">
                <a16:creationId xmlns:a16="http://schemas.microsoft.com/office/drawing/2014/main" id="{F84D109C-9BDC-09EB-3BF6-1FE00C680342}"/>
              </a:ext>
            </a:extLst>
          </p:cNvPr>
          <p:cNvPicPr>
            <a:picLocks noChangeAspect="1"/>
          </p:cNvPicPr>
          <p:nvPr/>
        </p:nvPicPr>
        <p:blipFill>
          <a:blip r:embed="rId7"/>
          <a:stretch>
            <a:fillRect/>
          </a:stretch>
        </p:blipFill>
        <p:spPr>
          <a:xfrm>
            <a:off x="12201431" y="8619501"/>
            <a:ext cx="267508" cy="302355"/>
          </a:xfrm>
          <a:prstGeom prst="rect">
            <a:avLst/>
          </a:prstGeom>
        </p:spPr>
      </p:pic>
      <p:pic>
        <p:nvPicPr>
          <p:cNvPr id="263" name="Picture 262">
            <a:extLst>
              <a:ext uri="{FF2B5EF4-FFF2-40B4-BE49-F238E27FC236}">
                <a16:creationId xmlns:a16="http://schemas.microsoft.com/office/drawing/2014/main" id="{E21AFC9D-E45E-6673-4C49-580360BE0E7E}"/>
              </a:ext>
            </a:extLst>
          </p:cNvPr>
          <p:cNvPicPr>
            <a:picLocks noChangeAspect="1"/>
          </p:cNvPicPr>
          <p:nvPr/>
        </p:nvPicPr>
        <p:blipFill>
          <a:blip r:embed="rId14"/>
          <a:stretch>
            <a:fillRect/>
          </a:stretch>
        </p:blipFill>
        <p:spPr>
          <a:xfrm>
            <a:off x="12836644" y="8764452"/>
            <a:ext cx="538060" cy="507646"/>
          </a:xfrm>
          <a:prstGeom prst="rect">
            <a:avLst/>
          </a:prstGeom>
        </p:spPr>
      </p:pic>
      <p:pic>
        <p:nvPicPr>
          <p:cNvPr id="267" name="Picture 266" descr="A close-up of a letter&#10;&#10;AI-generated content may be incorrect.">
            <a:extLst>
              <a:ext uri="{FF2B5EF4-FFF2-40B4-BE49-F238E27FC236}">
                <a16:creationId xmlns:a16="http://schemas.microsoft.com/office/drawing/2014/main" id="{FF1E6A1F-11E2-784C-35C9-2A3943D3C371}"/>
              </a:ext>
            </a:extLst>
          </p:cNvPr>
          <p:cNvPicPr>
            <a:picLocks noChangeAspect="1"/>
          </p:cNvPicPr>
          <p:nvPr/>
        </p:nvPicPr>
        <p:blipFill>
          <a:blip r:embed="rId13"/>
          <a:stretch>
            <a:fillRect/>
          </a:stretch>
        </p:blipFill>
        <p:spPr>
          <a:xfrm>
            <a:off x="9495569" y="8532644"/>
            <a:ext cx="396915" cy="386557"/>
          </a:xfrm>
          <a:prstGeom prst="rect">
            <a:avLst/>
          </a:prstGeom>
          <a:ln w="28575">
            <a:solidFill>
              <a:schemeClr val="bg1"/>
            </a:solidFill>
          </a:ln>
        </p:spPr>
      </p:pic>
      <p:pic>
        <p:nvPicPr>
          <p:cNvPr id="278" name="Picture 277">
            <a:extLst>
              <a:ext uri="{FF2B5EF4-FFF2-40B4-BE49-F238E27FC236}">
                <a16:creationId xmlns:a16="http://schemas.microsoft.com/office/drawing/2014/main" id="{638981B5-EE6E-A760-B55B-A7DBE0A5B33C}"/>
              </a:ext>
            </a:extLst>
          </p:cNvPr>
          <p:cNvPicPr>
            <a:picLocks noChangeAspect="1"/>
          </p:cNvPicPr>
          <p:nvPr/>
        </p:nvPicPr>
        <p:blipFill>
          <a:blip r:embed="rId15"/>
          <a:stretch>
            <a:fillRect/>
          </a:stretch>
        </p:blipFill>
        <p:spPr>
          <a:xfrm>
            <a:off x="9494497" y="7930221"/>
            <a:ext cx="554321" cy="415604"/>
          </a:xfrm>
          <a:prstGeom prst="rect">
            <a:avLst/>
          </a:prstGeom>
          <a:ln w="28575">
            <a:solidFill>
              <a:schemeClr val="bg1"/>
            </a:solidFill>
          </a:ln>
        </p:spPr>
      </p:pic>
      <p:cxnSp>
        <p:nvCxnSpPr>
          <p:cNvPr id="279" name="Straight Arrow Connector 278">
            <a:extLst>
              <a:ext uri="{FF2B5EF4-FFF2-40B4-BE49-F238E27FC236}">
                <a16:creationId xmlns:a16="http://schemas.microsoft.com/office/drawing/2014/main" id="{CD79EEEE-61E6-E44A-8304-C573045B2227}"/>
              </a:ext>
            </a:extLst>
          </p:cNvPr>
          <p:cNvCxnSpPr/>
          <p:nvPr/>
        </p:nvCxnSpPr>
        <p:spPr>
          <a:xfrm>
            <a:off x="10029205" y="811939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4B745CEF-A85E-1FA4-B802-4089E95D7E47}"/>
              </a:ext>
            </a:extLst>
          </p:cNvPr>
          <p:cNvCxnSpPr>
            <a:cxnSpLocks/>
          </p:cNvCxnSpPr>
          <p:nvPr/>
        </p:nvCxnSpPr>
        <p:spPr>
          <a:xfrm>
            <a:off x="10696753" y="812832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3B452DEE-63BC-1D9E-CC5A-648A5834A009}"/>
              </a:ext>
            </a:extLst>
          </p:cNvPr>
          <p:cNvCxnSpPr>
            <a:cxnSpLocks/>
          </p:cNvCxnSpPr>
          <p:nvPr/>
        </p:nvCxnSpPr>
        <p:spPr>
          <a:xfrm>
            <a:off x="9969544" y="87937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6E8CD0CE-E309-5AFC-1012-3ACBD8B7D285}"/>
              </a:ext>
            </a:extLst>
          </p:cNvPr>
          <p:cNvCxnSpPr>
            <a:cxnSpLocks/>
          </p:cNvCxnSpPr>
          <p:nvPr/>
        </p:nvCxnSpPr>
        <p:spPr>
          <a:xfrm>
            <a:off x="10696926" y="881153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5612AB52-42C0-061B-44AE-322909DF11F8}"/>
              </a:ext>
            </a:extLst>
          </p:cNvPr>
          <p:cNvCxnSpPr>
            <a:cxnSpLocks/>
          </p:cNvCxnSpPr>
          <p:nvPr/>
        </p:nvCxnSpPr>
        <p:spPr>
          <a:xfrm>
            <a:off x="11246918" y="811961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C720619C-8BF1-53F0-06BD-86A27504303F}"/>
              </a:ext>
            </a:extLst>
          </p:cNvPr>
          <p:cNvCxnSpPr>
            <a:cxnSpLocks/>
          </p:cNvCxnSpPr>
          <p:nvPr/>
        </p:nvCxnSpPr>
        <p:spPr>
          <a:xfrm>
            <a:off x="11238135" y="879389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9" name="Straight Arrow Connector 298">
            <a:extLst>
              <a:ext uri="{FF2B5EF4-FFF2-40B4-BE49-F238E27FC236}">
                <a16:creationId xmlns:a16="http://schemas.microsoft.com/office/drawing/2014/main" id="{723D3F5C-482C-4A74-7A0D-20E318B44F40}"/>
              </a:ext>
            </a:extLst>
          </p:cNvPr>
          <p:cNvCxnSpPr>
            <a:cxnSpLocks/>
          </p:cNvCxnSpPr>
          <p:nvPr/>
        </p:nvCxnSpPr>
        <p:spPr>
          <a:xfrm>
            <a:off x="11965517" y="879395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1" name="Straight Arrow Connector 300">
            <a:extLst>
              <a:ext uri="{FF2B5EF4-FFF2-40B4-BE49-F238E27FC236}">
                <a16:creationId xmlns:a16="http://schemas.microsoft.com/office/drawing/2014/main" id="{A82FA3D4-88FF-96A4-9D42-5F6143074251}"/>
              </a:ext>
            </a:extLst>
          </p:cNvPr>
          <p:cNvCxnSpPr>
            <a:cxnSpLocks/>
          </p:cNvCxnSpPr>
          <p:nvPr/>
        </p:nvCxnSpPr>
        <p:spPr>
          <a:xfrm>
            <a:off x="11956735" y="812864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1" name="Straight Arrow Connector 310">
            <a:extLst>
              <a:ext uri="{FF2B5EF4-FFF2-40B4-BE49-F238E27FC236}">
                <a16:creationId xmlns:a16="http://schemas.microsoft.com/office/drawing/2014/main" id="{FCF13B7B-60EA-B9EF-4EEE-6E459816C733}"/>
              </a:ext>
            </a:extLst>
          </p:cNvPr>
          <p:cNvCxnSpPr>
            <a:cxnSpLocks/>
          </p:cNvCxnSpPr>
          <p:nvPr/>
        </p:nvCxnSpPr>
        <p:spPr>
          <a:xfrm>
            <a:off x="13340455" y="901584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331" name="Picture 330" descr="A black and white logo&#10;&#10;AI-generated content may be incorrect.">
            <a:extLst>
              <a:ext uri="{FF2B5EF4-FFF2-40B4-BE49-F238E27FC236}">
                <a16:creationId xmlns:a16="http://schemas.microsoft.com/office/drawing/2014/main" id="{7B5D5D49-B7DE-67AB-E858-75563934ED33}"/>
              </a:ext>
            </a:extLst>
          </p:cNvPr>
          <p:cNvPicPr>
            <a:picLocks noChangeAspect="1"/>
          </p:cNvPicPr>
          <p:nvPr/>
        </p:nvPicPr>
        <p:blipFill>
          <a:blip r:embed="rId18"/>
          <a:stretch>
            <a:fillRect/>
          </a:stretch>
        </p:blipFill>
        <p:spPr>
          <a:xfrm>
            <a:off x="5835035" y="9133674"/>
            <a:ext cx="327111" cy="288344"/>
          </a:xfrm>
          <a:prstGeom prst="rect">
            <a:avLst/>
          </a:prstGeom>
        </p:spPr>
      </p:pic>
      <p:pic>
        <p:nvPicPr>
          <p:cNvPr id="332" name="Picture 331" descr="A black and white logo&#10;&#10;AI-generated content may be incorrect.">
            <a:extLst>
              <a:ext uri="{FF2B5EF4-FFF2-40B4-BE49-F238E27FC236}">
                <a16:creationId xmlns:a16="http://schemas.microsoft.com/office/drawing/2014/main" id="{D42C6A03-CAC3-A8B1-F61B-8392293A7410}"/>
              </a:ext>
            </a:extLst>
          </p:cNvPr>
          <p:cNvPicPr>
            <a:picLocks noChangeAspect="1"/>
          </p:cNvPicPr>
          <p:nvPr/>
        </p:nvPicPr>
        <p:blipFill>
          <a:blip r:embed="rId18"/>
          <a:stretch>
            <a:fillRect/>
          </a:stretch>
        </p:blipFill>
        <p:spPr>
          <a:xfrm>
            <a:off x="6239907" y="9133673"/>
            <a:ext cx="327111" cy="288344"/>
          </a:xfrm>
          <a:prstGeom prst="rect">
            <a:avLst/>
          </a:prstGeom>
        </p:spPr>
      </p:pic>
      <p:sp>
        <p:nvSpPr>
          <p:cNvPr id="333" name="TextBox 332">
            <a:extLst>
              <a:ext uri="{FF2B5EF4-FFF2-40B4-BE49-F238E27FC236}">
                <a16:creationId xmlns:a16="http://schemas.microsoft.com/office/drawing/2014/main" id="{83A6D55A-9A85-C618-E70B-0204EA98FE1F}"/>
              </a:ext>
            </a:extLst>
          </p:cNvPr>
          <p:cNvSpPr txBox="1"/>
          <p:nvPr/>
        </p:nvSpPr>
        <p:spPr>
          <a:xfrm>
            <a:off x="6701048" y="9032894"/>
            <a:ext cx="3206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5" name="Picture 334" descr="A black and white logo&#10;&#10;AI-generated content may be incorrect.">
            <a:extLst>
              <a:ext uri="{FF2B5EF4-FFF2-40B4-BE49-F238E27FC236}">
                <a16:creationId xmlns:a16="http://schemas.microsoft.com/office/drawing/2014/main" id="{F175326F-B36D-E844-DD5F-F5027D9A6812}"/>
              </a:ext>
            </a:extLst>
          </p:cNvPr>
          <p:cNvPicPr>
            <a:picLocks noChangeAspect="1"/>
          </p:cNvPicPr>
          <p:nvPr/>
        </p:nvPicPr>
        <p:blipFill>
          <a:blip r:embed="rId18"/>
          <a:stretch>
            <a:fillRect/>
          </a:stretch>
        </p:blipFill>
        <p:spPr>
          <a:xfrm>
            <a:off x="7096034" y="9131649"/>
            <a:ext cx="327111" cy="288344"/>
          </a:xfrm>
          <a:prstGeom prst="rect">
            <a:avLst/>
          </a:prstGeom>
        </p:spPr>
      </p:pic>
      <p:cxnSp>
        <p:nvCxnSpPr>
          <p:cNvPr id="336" name="Straight Arrow Connector 335">
            <a:extLst>
              <a:ext uri="{FF2B5EF4-FFF2-40B4-BE49-F238E27FC236}">
                <a16:creationId xmlns:a16="http://schemas.microsoft.com/office/drawing/2014/main" id="{E4F88B20-6182-56D6-6147-627AC66AAF31}"/>
              </a:ext>
            </a:extLst>
          </p:cNvPr>
          <p:cNvCxnSpPr/>
          <p:nvPr/>
        </p:nvCxnSpPr>
        <p:spPr>
          <a:xfrm>
            <a:off x="5476160" y="5990099"/>
            <a:ext cx="2786744" cy="2054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Arrow Connector 338">
            <a:extLst>
              <a:ext uri="{FF2B5EF4-FFF2-40B4-BE49-F238E27FC236}">
                <a16:creationId xmlns:a16="http://schemas.microsoft.com/office/drawing/2014/main" id="{A4413ED8-A02E-2E17-82A8-64CCF66569F6}"/>
              </a:ext>
            </a:extLst>
          </p:cNvPr>
          <p:cNvCxnSpPr/>
          <p:nvPr/>
        </p:nvCxnSpPr>
        <p:spPr>
          <a:xfrm>
            <a:off x="8240318" y="5254399"/>
            <a:ext cx="4975" cy="74632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0" name="Straight Arrow Connector 339">
            <a:extLst>
              <a:ext uri="{FF2B5EF4-FFF2-40B4-BE49-F238E27FC236}">
                <a16:creationId xmlns:a16="http://schemas.microsoft.com/office/drawing/2014/main" id="{4A09069C-AA6A-E8F9-0A66-48BC5DE68D40}"/>
              </a:ext>
            </a:extLst>
          </p:cNvPr>
          <p:cNvCxnSpPr/>
          <p:nvPr/>
        </p:nvCxnSpPr>
        <p:spPr>
          <a:xfrm flipH="1" flipV="1">
            <a:off x="5476491" y="5738690"/>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5" name="Straight Arrow Connector 354">
            <a:extLst>
              <a:ext uri="{FF2B5EF4-FFF2-40B4-BE49-F238E27FC236}">
                <a16:creationId xmlns:a16="http://schemas.microsoft.com/office/drawing/2014/main" id="{1FFFE675-6005-52DC-BE5C-560744E3E2F4}"/>
              </a:ext>
            </a:extLst>
          </p:cNvPr>
          <p:cNvCxnSpPr>
            <a:cxnSpLocks/>
          </p:cNvCxnSpPr>
          <p:nvPr/>
        </p:nvCxnSpPr>
        <p:spPr>
          <a:xfrm flipH="1" flipV="1">
            <a:off x="6452587" y="5731053"/>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6" name="Straight Arrow Connector 355">
            <a:extLst>
              <a:ext uri="{FF2B5EF4-FFF2-40B4-BE49-F238E27FC236}">
                <a16:creationId xmlns:a16="http://schemas.microsoft.com/office/drawing/2014/main" id="{F1620CC0-866E-D703-62AC-4D61627E928E}"/>
              </a:ext>
            </a:extLst>
          </p:cNvPr>
          <p:cNvCxnSpPr/>
          <p:nvPr/>
        </p:nvCxnSpPr>
        <p:spPr>
          <a:xfrm>
            <a:off x="6722531" y="5989650"/>
            <a:ext cx="4972" cy="2879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62E32D4E-6A10-0FA8-A199-2BDAED3D2D17}"/>
              </a:ext>
            </a:extLst>
          </p:cNvPr>
          <p:cNvSpPr txBox="1"/>
          <p:nvPr/>
        </p:nvSpPr>
        <p:spPr>
          <a:xfrm>
            <a:off x="9637294" y="9067398"/>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pic>
        <p:nvPicPr>
          <p:cNvPr id="20" name="Picture 19">
            <a:extLst>
              <a:ext uri="{FF2B5EF4-FFF2-40B4-BE49-F238E27FC236}">
                <a16:creationId xmlns:a16="http://schemas.microsoft.com/office/drawing/2014/main" id="{85AEFE64-0FFD-3E1E-59A6-39A7E13FEC51}"/>
              </a:ext>
            </a:extLst>
          </p:cNvPr>
          <p:cNvPicPr>
            <a:picLocks noChangeAspect="1"/>
          </p:cNvPicPr>
          <p:nvPr/>
        </p:nvPicPr>
        <p:blipFill>
          <a:blip r:embed="rId14"/>
          <a:stretch>
            <a:fillRect/>
          </a:stretch>
        </p:blipFill>
        <p:spPr>
          <a:xfrm>
            <a:off x="10193141" y="9536212"/>
            <a:ext cx="538060" cy="507646"/>
          </a:xfrm>
          <a:prstGeom prst="rect">
            <a:avLst/>
          </a:prstGeom>
        </p:spPr>
      </p:pic>
      <p:pic>
        <p:nvPicPr>
          <p:cNvPr id="26" name="Picture 25">
            <a:extLst>
              <a:ext uri="{FF2B5EF4-FFF2-40B4-BE49-F238E27FC236}">
                <a16:creationId xmlns:a16="http://schemas.microsoft.com/office/drawing/2014/main" id="{C1B877ED-774D-039D-552D-E0E488D4860C}"/>
              </a:ext>
            </a:extLst>
          </p:cNvPr>
          <p:cNvPicPr>
            <a:picLocks noChangeAspect="1"/>
          </p:cNvPicPr>
          <p:nvPr/>
        </p:nvPicPr>
        <p:blipFill>
          <a:blip r:embed="rId14"/>
          <a:stretch>
            <a:fillRect/>
          </a:stretch>
        </p:blipFill>
        <p:spPr>
          <a:xfrm>
            <a:off x="11435228" y="9518524"/>
            <a:ext cx="538060" cy="507646"/>
          </a:xfrm>
          <a:prstGeom prst="rect">
            <a:avLst/>
          </a:prstGeom>
        </p:spPr>
      </p:pic>
      <p:pic>
        <p:nvPicPr>
          <p:cNvPr id="29" name="table">
            <a:extLst>
              <a:ext uri="{FF2B5EF4-FFF2-40B4-BE49-F238E27FC236}">
                <a16:creationId xmlns:a16="http://schemas.microsoft.com/office/drawing/2014/main" id="{B2C36534-9B85-0440-582A-D16D147AFA4C}"/>
              </a:ext>
            </a:extLst>
          </p:cNvPr>
          <p:cNvPicPr>
            <a:picLocks noChangeAspect="1"/>
          </p:cNvPicPr>
          <p:nvPr/>
        </p:nvPicPr>
        <p:blipFill>
          <a:blip r:embed="rId7"/>
          <a:stretch>
            <a:fillRect/>
          </a:stretch>
        </p:blipFill>
        <p:spPr>
          <a:xfrm>
            <a:off x="10959403" y="9648425"/>
            <a:ext cx="267508" cy="302355"/>
          </a:xfrm>
          <a:prstGeom prst="rect">
            <a:avLst/>
          </a:prstGeom>
        </p:spPr>
      </p:pic>
      <p:pic>
        <p:nvPicPr>
          <p:cNvPr id="34" name="table">
            <a:extLst>
              <a:ext uri="{FF2B5EF4-FFF2-40B4-BE49-F238E27FC236}">
                <a16:creationId xmlns:a16="http://schemas.microsoft.com/office/drawing/2014/main" id="{97453A24-FD1D-E829-26DB-0F131E433025}"/>
              </a:ext>
            </a:extLst>
          </p:cNvPr>
          <p:cNvPicPr>
            <a:picLocks noChangeAspect="1"/>
          </p:cNvPicPr>
          <p:nvPr/>
        </p:nvPicPr>
        <p:blipFill>
          <a:blip r:embed="rId7"/>
          <a:stretch>
            <a:fillRect/>
          </a:stretch>
        </p:blipFill>
        <p:spPr>
          <a:xfrm>
            <a:off x="12186427" y="9604231"/>
            <a:ext cx="267508" cy="302355"/>
          </a:xfrm>
          <a:prstGeom prst="rect">
            <a:avLst/>
          </a:prstGeom>
        </p:spPr>
      </p:pic>
      <p:pic>
        <p:nvPicPr>
          <p:cNvPr id="35" name="Picture 34">
            <a:extLst>
              <a:ext uri="{FF2B5EF4-FFF2-40B4-BE49-F238E27FC236}">
                <a16:creationId xmlns:a16="http://schemas.microsoft.com/office/drawing/2014/main" id="{31D09AC9-3EAA-C9E5-B3C3-A406982A2DD5}"/>
              </a:ext>
            </a:extLst>
          </p:cNvPr>
          <p:cNvPicPr>
            <a:picLocks noChangeAspect="1"/>
          </p:cNvPicPr>
          <p:nvPr/>
        </p:nvPicPr>
        <p:blipFill>
          <a:blip r:embed="rId15"/>
          <a:stretch>
            <a:fillRect/>
          </a:stretch>
        </p:blipFill>
        <p:spPr>
          <a:xfrm>
            <a:off x="9487843" y="9598106"/>
            <a:ext cx="554321" cy="415604"/>
          </a:xfrm>
          <a:prstGeom prst="rect">
            <a:avLst/>
          </a:prstGeom>
          <a:ln w="28575">
            <a:solidFill>
              <a:schemeClr val="bg1"/>
            </a:solidFill>
          </a:ln>
        </p:spPr>
      </p:pic>
      <p:cxnSp>
        <p:nvCxnSpPr>
          <p:cNvPr id="268" name="Straight Arrow Connector 267">
            <a:extLst>
              <a:ext uri="{FF2B5EF4-FFF2-40B4-BE49-F238E27FC236}">
                <a16:creationId xmlns:a16="http://schemas.microsoft.com/office/drawing/2014/main" id="{D3A609E3-69EA-E89A-0222-6505F7A6528A}"/>
              </a:ext>
            </a:extLst>
          </p:cNvPr>
          <p:cNvCxnSpPr>
            <a:cxnSpLocks/>
          </p:cNvCxnSpPr>
          <p:nvPr/>
        </p:nvCxnSpPr>
        <p:spPr>
          <a:xfrm>
            <a:off x="10022671" y="978728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C3EFB0E6-8B8D-06C9-68F4-663B77831737}"/>
              </a:ext>
            </a:extLst>
          </p:cNvPr>
          <p:cNvCxnSpPr>
            <a:cxnSpLocks/>
          </p:cNvCxnSpPr>
          <p:nvPr/>
        </p:nvCxnSpPr>
        <p:spPr>
          <a:xfrm>
            <a:off x="10690368" y="979620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0" name="Straight Arrow Connector 269">
            <a:extLst>
              <a:ext uri="{FF2B5EF4-FFF2-40B4-BE49-F238E27FC236}">
                <a16:creationId xmlns:a16="http://schemas.microsoft.com/office/drawing/2014/main" id="{B779186A-9ECE-F987-B8CB-A0BE1D6027E6}"/>
              </a:ext>
            </a:extLst>
          </p:cNvPr>
          <p:cNvCxnSpPr>
            <a:cxnSpLocks/>
          </p:cNvCxnSpPr>
          <p:nvPr/>
        </p:nvCxnSpPr>
        <p:spPr>
          <a:xfrm>
            <a:off x="11240657" y="978749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663F9300-9B2A-A74B-AF21-D2890282F557}"/>
              </a:ext>
            </a:extLst>
          </p:cNvPr>
          <p:cNvCxnSpPr>
            <a:cxnSpLocks/>
          </p:cNvCxnSpPr>
          <p:nvPr/>
        </p:nvCxnSpPr>
        <p:spPr>
          <a:xfrm>
            <a:off x="11950633" y="97965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996BC272-C1AC-C247-E295-70BB6A21F1B9}"/>
              </a:ext>
            </a:extLst>
          </p:cNvPr>
          <p:cNvCxnSpPr/>
          <p:nvPr/>
        </p:nvCxnSpPr>
        <p:spPr>
          <a:xfrm>
            <a:off x="12480161" y="8108336"/>
            <a:ext cx="417374" cy="861135"/>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E6BCD9F9-2D96-F4C1-1D82-1A76E6E858E4}"/>
              </a:ext>
            </a:extLst>
          </p:cNvPr>
          <p:cNvCxnSpPr/>
          <p:nvPr/>
        </p:nvCxnSpPr>
        <p:spPr>
          <a:xfrm flipV="1">
            <a:off x="12472261" y="9058034"/>
            <a:ext cx="399623" cy="727931"/>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9" name="Connector: Elbow 308">
            <a:extLst>
              <a:ext uri="{FF2B5EF4-FFF2-40B4-BE49-F238E27FC236}">
                <a16:creationId xmlns:a16="http://schemas.microsoft.com/office/drawing/2014/main" id="{1F8547FF-CBF0-6857-8E75-A4D3191F14CB}"/>
              </a:ext>
            </a:extLst>
          </p:cNvPr>
          <p:cNvCxnSpPr/>
          <p:nvPr/>
        </p:nvCxnSpPr>
        <p:spPr>
          <a:xfrm>
            <a:off x="12490386" y="8810533"/>
            <a:ext cx="399622" cy="15981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4" name="TextBox 353">
            <a:extLst>
              <a:ext uri="{FF2B5EF4-FFF2-40B4-BE49-F238E27FC236}">
                <a16:creationId xmlns:a16="http://schemas.microsoft.com/office/drawing/2014/main" id="{D1BE2039-7B78-891F-A4B1-9FB0FD1EA99D}"/>
              </a:ext>
            </a:extLst>
          </p:cNvPr>
          <p:cNvSpPr txBox="1"/>
          <p:nvPr/>
        </p:nvSpPr>
        <p:spPr>
          <a:xfrm>
            <a:off x="9631710" y="8890024"/>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sp>
        <p:nvSpPr>
          <p:cNvPr id="360" name="TextBox 359">
            <a:extLst>
              <a:ext uri="{FF2B5EF4-FFF2-40B4-BE49-F238E27FC236}">
                <a16:creationId xmlns:a16="http://schemas.microsoft.com/office/drawing/2014/main" id="{1C6CDBF4-2B01-693B-1120-56EBBB3BCF7E}"/>
              </a:ext>
            </a:extLst>
          </p:cNvPr>
          <p:cNvSpPr txBox="1"/>
          <p:nvPr/>
        </p:nvSpPr>
        <p:spPr>
          <a:xfrm>
            <a:off x="9622927" y="8712649"/>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sp>
        <p:nvSpPr>
          <p:cNvPr id="361" name="Line">
            <a:extLst>
              <a:ext uri="{FF2B5EF4-FFF2-40B4-BE49-F238E27FC236}">
                <a16:creationId xmlns:a16="http://schemas.microsoft.com/office/drawing/2014/main" id="{BE39CFCD-230F-F997-0844-F7966B91BBCA}"/>
              </a:ext>
            </a:extLst>
          </p:cNvPr>
          <p:cNvSpPr/>
          <p:nvPr/>
        </p:nvSpPr>
        <p:spPr>
          <a:xfrm>
            <a:off x="9690700" y="6201753"/>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362" name="Straight Arrow Connector 361">
            <a:extLst>
              <a:ext uri="{FF2B5EF4-FFF2-40B4-BE49-F238E27FC236}">
                <a16:creationId xmlns:a16="http://schemas.microsoft.com/office/drawing/2014/main" id="{E35CECEB-D2D4-F7DC-468B-7055844BD287}"/>
              </a:ext>
            </a:extLst>
          </p:cNvPr>
          <p:cNvCxnSpPr/>
          <p:nvPr/>
        </p:nvCxnSpPr>
        <p:spPr>
          <a:xfrm flipH="1">
            <a:off x="6709005" y="7154130"/>
            <a:ext cx="8649" cy="190867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05766882-7392-6A93-ADE9-D5BF4FBCD708}"/>
              </a:ext>
            </a:extLst>
          </p:cNvPr>
          <p:cNvCxnSpPr/>
          <p:nvPr/>
        </p:nvCxnSpPr>
        <p:spPr>
          <a:xfrm>
            <a:off x="5294108" y="7363747"/>
            <a:ext cx="3133270" cy="1777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5" name="Straight Arrow Connector 314">
            <a:extLst>
              <a:ext uri="{FF2B5EF4-FFF2-40B4-BE49-F238E27FC236}">
                <a16:creationId xmlns:a16="http://schemas.microsoft.com/office/drawing/2014/main" id="{9C321272-C962-A810-425F-6C2B0158FE36}"/>
              </a:ext>
            </a:extLst>
          </p:cNvPr>
          <p:cNvCxnSpPr/>
          <p:nvPr/>
        </p:nvCxnSpPr>
        <p:spPr>
          <a:xfrm>
            <a:off x="8435666" y="7371990"/>
            <a:ext cx="17976" cy="34624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6" name="Straight Arrow Connector 315">
            <a:extLst>
              <a:ext uri="{FF2B5EF4-FFF2-40B4-BE49-F238E27FC236}">
                <a16:creationId xmlns:a16="http://schemas.microsoft.com/office/drawing/2014/main" id="{DED47CBA-8D24-E958-1874-48C6C3E05841}"/>
              </a:ext>
            </a:extLst>
          </p:cNvPr>
          <p:cNvCxnSpPr/>
          <p:nvPr/>
        </p:nvCxnSpPr>
        <p:spPr>
          <a:xfrm>
            <a:off x="5286998" y="7374285"/>
            <a:ext cx="9102" cy="36399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4" name="Straight Arrow Connector 363">
            <a:extLst>
              <a:ext uri="{FF2B5EF4-FFF2-40B4-BE49-F238E27FC236}">
                <a16:creationId xmlns:a16="http://schemas.microsoft.com/office/drawing/2014/main" id="{97447BF9-4218-7433-5FA4-74FC8083DBC7}"/>
              </a:ext>
            </a:extLst>
          </p:cNvPr>
          <p:cNvCxnSpPr/>
          <p:nvPr/>
        </p:nvCxnSpPr>
        <p:spPr>
          <a:xfrm>
            <a:off x="7426823" y="7392884"/>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8" name="Straight Arrow Connector 367">
            <a:extLst>
              <a:ext uri="{FF2B5EF4-FFF2-40B4-BE49-F238E27FC236}">
                <a16:creationId xmlns:a16="http://schemas.microsoft.com/office/drawing/2014/main" id="{1D32E234-6D9E-4728-603E-A5D97EBEC324}"/>
              </a:ext>
            </a:extLst>
          </p:cNvPr>
          <p:cNvCxnSpPr>
            <a:cxnSpLocks/>
          </p:cNvCxnSpPr>
          <p:nvPr/>
        </p:nvCxnSpPr>
        <p:spPr>
          <a:xfrm>
            <a:off x="6000593" y="7384066"/>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71" name="TextBox 370">
            <a:extLst>
              <a:ext uri="{FF2B5EF4-FFF2-40B4-BE49-F238E27FC236}">
                <a16:creationId xmlns:a16="http://schemas.microsoft.com/office/drawing/2014/main" id="{09B1710F-770E-65F4-1977-2682B2D0C653}"/>
              </a:ext>
            </a:extLst>
          </p:cNvPr>
          <p:cNvSpPr txBox="1"/>
          <p:nvPr/>
        </p:nvSpPr>
        <p:spPr>
          <a:xfrm>
            <a:off x="4685424" y="3778567"/>
            <a:ext cx="4534280" cy="5105264"/>
          </a:xfrm>
          <a:prstGeom prst="rect">
            <a:avLst/>
          </a:prstGeom>
          <a:noFill/>
          <a:ln w="1270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6" name="TextBox 375">
            <a:extLst>
              <a:ext uri="{FF2B5EF4-FFF2-40B4-BE49-F238E27FC236}">
                <a16:creationId xmlns:a16="http://schemas.microsoft.com/office/drawing/2014/main" id="{A6617BE5-636B-1F1F-9F7E-FD60F2A41AA2}"/>
              </a:ext>
            </a:extLst>
          </p:cNvPr>
          <p:cNvSpPr txBox="1"/>
          <p:nvPr/>
        </p:nvSpPr>
        <p:spPr>
          <a:xfrm>
            <a:off x="4719010" y="3769481"/>
            <a:ext cx="2770949"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endParaRPr lang="en-US" sz="2400" b="1" i="0" u="none" strike="noStrike" cap="none" spc="0" normalizeH="0" baseline="0">
              <a:ln>
                <a:noFill/>
              </a:ln>
              <a:solidFill>
                <a:srgbClr val="4C4C4C"/>
              </a:solidFill>
              <a:effectLst/>
              <a:uFillTx/>
              <a:latin typeface="Source Sans Pro"/>
              <a:ea typeface="Source Sans Pro"/>
              <a:cs typeface="Source Sans Pro"/>
            </a:endParaRPr>
          </a:p>
        </p:txBody>
      </p:sp>
    </p:spTree>
    <p:extLst>
      <p:ext uri="{BB962C8B-B14F-4D97-AF65-F5344CB8AC3E}">
        <p14:creationId xmlns:p14="http://schemas.microsoft.com/office/powerpoint/2010/main" val="244382291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BB0C5-8F91-35E5-65BC-2CD14487E95D}"/>
            </a:ext>
          </a:extLst>
        </p:cNvPr>
        <p:cNvGrpSpPr/>
        <p:nvPr/>
      </p:nvGrpSpPr>
      <p:grpSpPr>
        <a:xfrm>
          <a:off x="0" y="0"/>
          <a:ext cx="0" cy="0"/>
          <a:chOff x="0" y="0"/>
          <a:chExt cx="0" cy="0"/>
        </a:xfrm>
      </p:grpSpPr>
      <p:sp>
        <p:nvSpPr>
          <p:cNvPr id="373" name="TextBox 372">
            <a:extLst>
              <a:ext uri="{FF2B5EF4-FFF2-40B4-BE49-F238E27FC236}">
                <a16:creationId xmlns:a16="http://schemas.microsoft.com/office/drawing/2014/main" id="{C011E325-E94C-E87E-256D-29D39D41774C}"/>
              </a:ext>
            </a:extLst>
          </p:cNvPr>
          <p:cNvSpPr txBox="1"/>
          <p:nvPr/>
        </p:nvSpPr>
        <p:spPr>
          <a:xfrm>
            <a:off x="4821857" y="4262778"/>
            <a:ext cx="2428745" cy="28623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49" name="TextBox 348">
            <a:extLst>
              <a:ext uri="{FF2B5EF4-FFF2-40B4-BE49-F238E27FC236}">
                <a16:creationId xmlns:a16="http://schemas.microsoft.com/office/drawing/2014/main" id="{9E7248CC-1B10-0AB4-77D4-3174D1049DEB}"/>
              </a:ext>
            </a:extLst>
          </p:cNvPr>
          <p:cNvSpPr txBox="1"/>
          <p:nvPr/>
        </p:nvSpPr>
        <p:spPr>
          <a:xfrm>
            <a:off x="275783" y="7476898"/>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49BB3AF2-4ADC-AF89-EE69-62A88B0B80DA}"/>
              </a:ext>
            </a:extLst>
          </p:cNvPr>
          <p:cNvPicPr>
            <a:picLocks noChangeAspect="1"/>
          </p:cNvPicPr>
          <p:nvPr/>
        </p:nvPicPr>
        <p:blipFill>
          <a:blip r:embed="rId3"/>
          <a:stretch>
            <a:fillRect/>
          </a:stretch>
        </p:blipFill>
        <p:spPr>
          <a:xfrm>
            <a:off x="12836408" y="3797106"/>
            <a:ext cx="763378" cy="807934"/>
          </a:xfrm>
          <a:prstGeom prst="rect">
            <a:avLst/>
          </a:prstGeom>
        </p:spPr>
      </p:pic>
      <p:pic>
        <p:nvPicPr>
          <p:cNvPr id="292" name="Image" descr="Image">
            <a:extLst>
              <a:ext uri="{FF2B5EF4-FFF2-40B4-BE49-F238E27FC236}">
                <a16:creationId xmlns:a16="http://schemas.microsoft.com/office/drawing/2014/main" id="{6029C4D3-3C83-C573-2CB4-4DAEBB1717A4}"/>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AD55F787-7178-A114-CDB8-6440185495D8}"/>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208FD86-7AFC-10E3-BE0D-0B21E486AE36}"/>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2DEA2725-6C73-D809-6690-5580BF4A1287}"/>
              </a:ext>
            </a:extLst>
          </p:cNvPr>
          <p:cNvSpPr/>
          <p:nvPr/>
        </p:nvSpPr>
        <p:spPr>
          <a:xfrm>
            <a:off x="220507" y="2380098"/>
            <a:ext cx="4349097" cy="142526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18E6080B-5FFD-3B75-ECA4-7DF760947D7F}"/>
              </a:ext>
            </a:extLst>
          </p:cNvPr>
          <p:cNvSpPr txBox="1"/>
          <p:nvPr/>
        </p:nvSpPr>
        <p:spPr>
          <a:xfrm>
            <a:off x="304155" y="2381578"/>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22E353BC-AC91-0357-2613-834C2E628D72}"/>
              </a:ext>
            </a:extLst>
          </p:cNvPr>
          <p:cNvSpPr txBox="1"/>
          <p:nvPr/>
        </p:nvSpPr>
        <p:spPr>
          <a:xfrm>
            <a:off x="293295" y="2761785"/>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a:cs typeface="Arial"/>
              </a:rPr>
              <a:t>The first part of running any vignette is setting up your project configuration file (examples in conf/</a:t>
            </a:r>
            <a:r>
              <a:rPr lang="en-US" b="0" err="1">
                <a:cs typeface="Arial"/>
              </a:rPr>
              <a:t>kaiaulu</a:t>
            </a:r>
            <a:r>
              <a:rPr lang="en-US" b="0">
                <a:cs typeface="Arial"/>
              </a:rPr>
              <a:t>).</a:t>
            </a:r>
            <a:r>
              <a:rPr>
                <a:cs typeface="Arial"/>
              </a:rPr>
              <a:t> </a:t>
            </a:r>
            <a:endParaRPr lang="en-US">
              <a:cs typeface="Arial"/>
            </a:endParaRPr>
          </a:p>
        </p:txBody>
      </p:sp>
      <p:sp>
        <p:nvSpPr>
          <p:cNvPr id="324" name="Cheatsheets make it easy for R users…">
            <a:extLst>
              <a:ext uri="{FF2B5EF4-FFF2-40B4-BE49-F238E27FC236}">
                <a16:creationId xmlns:a16="http://schemas.microsoft.com/office/drawing/2014/main" id="{33840324-241B-B389-F414-8D3A4B6F50E2}"/>
              </a:ext>
            </a:extLst>
          </p:cNvPr>
          <p:cNvSpPr txBox="1"/>
          <p:nvPr/>
        </p:nvSpPr>
        <p:spPr>
          <a:xfrm>
            <a:off x="312386" y="3146499"/>
            <a:ext cx="4122651" cy="602800"/>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B34949E2-F23A-7535-7706-061DCF78CFEA}"/>
              </a:ext>
            </a:extLst>
          </p:cNvPr>
          <p:cNvSpPr txBox="1"/>
          <p:nvPr/>
        </p:nvSpPr>
        <p:spPr>
          <a:xfrm>
            <a:off x="279130" y="6525210"/>
            <a:ext cx="197810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Exec Workflow</a:t>
            </a:r>
            <a:endParaRPr lang="en-US"/>
          </a:p>
        </p:txBody>
      </p:sp>
      <p:sp>
        <p:nvSpPr>
          <p:cNvPr id="334" name="Three Column Layout: : CHEAT SHEET">
            <a:extLst>
              <a:ext uri="{FF2B5EF4-FFF2-40B4-BE49-F238E27FC236}">
                <a16:creationId xmlns:a16="http://schemas.microsoft.com/office/drawing/2014/main" id="{4E2AE588-92BB-0BD1-EBC1-A9E3ABA80AC5}"/>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8EB988C7-A6EF-5092-C0D5-BD0FCA7AFCD6}"/>
              </a:ext>
            </a:extLst>
          </p:cNvPr>
          <p:cNvSpPr txBox="1"/>
          <p:nvPr/>
        </p:nvSpPr>
        <p:spPr>
          <a:xfrm>
            <a:off x="4681179" y="2700666"/>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004C02F8-DB30-E7D6-57CD-038FB87654E2}"/>
              </a:ext>
            </a:extLst>
          </p:cNvPr>
          <p:cNvSpPr txBox="1"/>
          <p:nvPr/>
        </p:nvSpPr>
        <p:spPr>
          <a:xfrm>
            <a:off x="257982" y="1466006"/>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6D6FE093-315D-7903-1AF0-77D55575DA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4CADADF1-6AD4-B946-C08A-6E6B5B0B44CA}"/>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lang="en-US" sz="1000" b="0">
                <a:solidFill>
                  <a:schemeClr val="tx1"/>
                </a:solidFill>
              </a:rPr>
              <a:t>Cohen Ruport,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Carlos Paradis,</a:t>
            </a:r>
            <a:r>
              <a:rPr lang="en-US" sz="1000" b="0">
                <a:solidFill>
                  <a:schemeClr val="tx1"/>
                </a:solidFill>
              </a:rPr>
              <a: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0.0.0.9700 (in development) •  Updated: </a:t>
            </a:r>
            <a:r>
              <a:rPr lang="en-US" sz="1000" b="0">
                <a:solidFill>
                  <a:schemeClr val="tx1"/>
                </a:solidFill>
              </a:rPr>
              <a:t>2026-4</a:t>
            </a:r>
            <a:endPar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2C41E051-F1B0-9262-6860-94496D300E2F}"/>
              </a:ext>
            </a:extLst>
          </p:cNvPr>
          <p:cNvSpPr/>
          <p:nvPr/>
        </p:nvSpPr>
        <p:spPr>
          <a:xfrm>
            <a:off x="222735" y="5197764"/>
            <a:ext cx="4355706" cy="118521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F97C1C6C-F2F0-7968-9CC1-D2BFABBF45C0}"/>
              </a:ext>
            </a:extLst>
          </p:cNvPr>
          <p:cNvSpPr txBox="1"/>
          <p:nvPr/>
        </p:nvSpPr>
        <p:spPr>
          <a:xfrm>
            <a:off x="347617" y="5247099"/>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466AC59B-1F84-F47E-EF8B-5085F2BC7781}"/>
              </a:ext>
            </a:extLst>
          </p:cNvPr>
          <p:cNvSpPr txBox="1"/>
          <p:nvPr/>
        </p:nvSpPr>
        <p:spPr>
          <a:xfrm>
            <a:off x="339098" y="5842984"/>
            <a:ext cx="4105332" cy="432239"/>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err="1">
                <a:cs typeface="Arial"/>
              </a:rPr>
              <a:t>perceval</a:t>
            </a:r>
            <a:r>
              <a:rPr lang="en-US" dirty="0">
                <a:cs typeface="Arial"/>
              </a:rPr>
              <a:t>: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F177136F-C4B1-B00A-AF6D-2FAFB45F7CF7}"/>
              </a:ext>
            </a:extLst>
          </p:cNvPr>
          <p:cNvPicPr>
            <a:picLocks noChangeAspect="1"/>
          </p:cNvPicPr>
          <p:nvPr/>
        </p:nvPicPr>
        <p:blipFill>
          <a:blip r:embed="rId7"/>
          <a:stretch>
            <a:fillRect/>
          </a:stretch>
        </p:blipFill>
        <p:spPr>
          <a:xfrm>
            <a:off x="11535616" y="506116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334F57D9-B1E3-12B3-CD44-71D8D712EF3A}"/>
              </a:ext>
            </a:extLst>
          </p:cNvPr>
          <p:cNvSpPr txBox="1"/>
          <p:nvPr/>
        </p:nvSpPr>
        <p:spPr>
          <a:xfrm>
            <a:off x="328655" y="5558635"/>
            <a:ext cx="4369511" cy="2625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sz="1100" dirty="0">
                <a:cs typeface="Arial"/>
              </a:rPr>
              <a:t>The required external tools must be specified  in tools.</a:t>
            </a:r>
            <a:r>
              <a:rPr lang="en-US" sz="1100" noProof="1">
                <a:cs typeface="Arial"/>
              </a:rPr>
              <a:t>yml</a:t>
            </a:r>
            <a:r>
              <a:rPr lang="en-US" sz="1100" dirty="0">
                <a:cs typeface="Arial"/>
              </a:rPr>
              <a:t>:</a:t>
            </a:r>
            <a:endParaRPr lang="en-US" sz="1100" u="sng" dirty="0">
              <a:solidFill>
                <a:schemeClr val="hlink"/>
              </a:solidFill>
              <a:cs typeface="Arial"/>
              <a:hlinkClick r:id="" action="ppaction://noaction">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D0E522C8-DA10-19DD-88FA-B2975D787865}"/>
              </a:ext>
            </a:extLst>
          </p:cNvPr>
          <p:cNvPicPr>
            <a:picLocks noChangeAspect="1"/>
          </p:cNvPicPr>
          <p:nvPr/>
        </p:nvPicPr>
        <p:blipFill>
          <a:blip r:embed="rId8"/>
          <a:stretch>
            <a:fillRect/>
          </a:stretch>
        </p:blipFill>
        <p:spPr>
          <a:xfrm>
            <a:off x="11550620" y="2749374"/>
            <a:ext cx="546328" cy="546436"/>
          </a:xfrm>
          <a:prstGeom prst="rect">
            <a:avLst/>
          </a:prstGeom>
        </p:spPr>
      </p:pic>
      <p:pic>
        <p:nvPicPr>
          <p:cNvPr id="23" name="Picture 22">
            <a:extLst>
              <a:ext uri="{FF2B5EF4-FFF2-40B4-BE49-F238E27FC236}">
                <a16:creationId xmlns:a16="http://schemas.microsoft.com/office/drawing/2014/main" id="{D8291FDA-BBCE-5DA2-321C-5EE78436680D}"/>
              </a:ext>
            </a:extLst>
          </p:cNvPr>
          <p:cNvPicPr>
            <a:picLocks noChangeAspect="1"/>
          </p:cNvPicPr>
          <p:nvPr/>
        </p:nvPicPr>
        <p:blipFill>
          <a:blip r:embed="rId9"/>
          <a:stretch>
            <a:fillRect/>
          </a:stretch>
        </p:blipFill>
        <p:spPr>
          <a:xfrm>
            <a:off x="9398319" y="4743260"/>
            <a:ext cx="544372" cy="486505"/>
          </a:xfrm>
          <a:prstGeom prst="rect">
            <a:avLst/>
          </a:prstGeom>
        </p:spPr>
      </p:pic>
      <p:pic>
        <p:nvPicPr>
          <p:cNvPr id="24" name="Picture 23">
            <a:extLst>
              <a:ext uri="{FF2B5EF4-FFF2-40B4-BE49-F238E27FC236}">
                <a16:creationId xmlns:a16="http://schemas.microsoft.com/office/drawing/2014/main" id="{83413E5E-4214-BF72-4E60-13AE398BD2B5}"/>
              </a:ext>
            </a:extLst>
          </p:cNvPr>
          <p:cNvPicPr>
            <a:picLocks noChangeAspect="1"/>
          </p:cNvPicPr>
          <p:nvPr/>
        </p:nvPicPr>
        <p:blipFill>
          <a:blip r:embed="rId10"/>
          <a:stretch>
            <a:fillRect/>
          </a:stretch>
        </p:blipFill>
        <p:spPr>
          <a:xfrm>
            <a:off x="9543024" y="4118620"/>
            <a:ext cx="742783" cy="609600"/>
          </a:xfrm>
          <a:prstGeom prst="rect">
            <a:avLst/>
          </a:prstGeom>
        </p:spPr>
      </p:pic>
      <p:pic>
        <p:nvPicPr>
          <p:cNvPr id="25" name="Picture 24">
            <a:extLst>
              <a:ext uri="{FF2B5EF4-FFF2-40B4-BE49-F238E27FC236}">
                <a16:creationId xmlns:a16="http://schemas.microsoft.com/office/drawing/2014/main" id="{A0CAB70E-F873-6000-E7AB-8569A2ECFF11}"/>
              </a:ext>
            </a:extLst>
          </p:cNvPr>
          <p:cNvPicPr>
            <a:picLocks noChangeAspect="1"/>
          </p:cNvPicPr>
          <p:nvPr/>
        </p:nvPicPr>
        <p:blipFill>
          <a:blip r:embed="rId11"/>
          <a:stretch>
            <a:fillRect/>
          </a:stretch>
        </p:blipFill>
        <p:spPr>
          <a:xfrm>
            <a:off x="12021419" y="3235853"/>
            <a:ext cx="372044" cy="354363"/>
          </a:xfrm>
          <a:prstGeom prst="rect">
            <a:avLst/>
          </a:prstGeom>
        </p:spPr>
      </p:pic>
      <p:pic>
        <p:nvPicPr>
          <p:cNvPr id="38" name="Picture 37">
            <a:extLst>
              <a:ext uri="{FF2B5EF4-FFF2-40B4-BE49-F238E27FC236}">
                <a16:creationId xmlns:a16="http://schemas.microsoft.com/office/drawing/2014/main" id="{3494BC0F-9282-2606-8EE4-F22224C5312A}"/>
              </a:ext>
            </a:extLst>
          </p:cNvPr>
          <p:cNvPicPr>
            <a:picLocks noChangeAspect="1"/>
          </p:cNvPicPr>
          <p:nvPr/>
        </p:nvPicPr>
        <p:blipFill>
          <a:blip r:embed="rId10"/>
          <a:stretch>
            <a:fillRect/>
          </a:stretch>
        </p:blipFill>
        <p:spPr>
          <a:xfrm rot="10800000">
            <a:off x="9913619" y="4435494"/>
            <a:ext cx="742783" cy="609600"/>
          </a:xfrm>
          <a:prstGeom prst="rect">
            <a:avLst/>
          </a:prstGeom>
        </p:spPr>
      </p:pic>
      <p:pic>
        <p:nvPicPr>
          <p:cNvPr id="39" name="Picture 38">
            <a:extLst>
              <a:ext uri="{FF2B5EF4-FFF2-40B4-BE49-F238E27FC236}">
                <a16:creationId xmlns:a16="http://schemas.microsoft.com/office/drawing/2014/main" id="{0BA7D230-EE4D-B59B-B630-DB5A68700215}"/>
              </a:ext>
            </a:extLst>
          </p:cNvPr>
          <p:cNvPicPr>
            <a:picLocks noChangeAspect="1"/>
          </p:cNvPicPr>
          <p:nvPr/>
        </p:nvPicPr>
        <p:blipFill>
          <a:blip r:embed="rId12"/>
          <a:stretch>
            <a:fillRect/>
          </a:stretch>
        </p:blipFill>
        <p:spPr>
          <a:xfrm>
            <a:off x="10892178" y="4118426"/>
            <a:ext cx="560207" cy="171450"/>
          </a:xfrm>
          <a:prstGeom prst="rect">
            <a:avLst/>
          </a:prstGeom>
        </p:spPr>
      </p:pic>
      <p:pic>
        <p:nvPicPr>
          <p:cNvPr id="40" name="Picture 39">
            <a:extLst>
              <a:ext uri="{FF2B5EF4-FFF2-40B4-BE49-F238E27FC236}">
                <a16:creationId xmlns:a16="http://schemas.microsoft.com/office/drawing/2014/main" id="{560CFF28-B9A0-CAE0-874E-48B1CA1978CB}"/>
              </a:ext>
            </a:extLst>
          </p:cNvPr>
          <p:cNvPicPr>
            <a:picLocks noChangeAspect="1"/>
          </p:cNvPicPr>
          <p:nvPr/>
        </p:nvPicPr>
        <p:blipFill>
          <a:blip r:embed="rId12"/>
          <a:stretch>
            <a:fillRect/>
          </a:stretch>
        </p:blipFill>
        <p:spPr>
          <a:xfrm rot="10800000">
            <a:off x="12257860" y="4121569"/>
            <a:ext cx="571524" cy="171450"/>
          </a:xfrm>
          <a:prstGeom prst="rect">
            <a:avLst/>
          </a:prstGeom>
        </p:spPr>
      </p:pic>
      <p:pic>
        <p:nvPicPr>
          <p:cNvPr id="41" name="Picture 40">
            <a:extLst>
              <a:ext uri="{FF2B5EF4-FFF2-40B4-BE49-F238E27FC236}">
                <a16:creationId xmlns:a16="http://schemas.microsoft.com/office/drawing/2014/main" id="{4284F593-474F-126C-4D67-C7C9538078A2}"/>
              </a:ext>
            </a:extLst>
          </p:cNvPr>
          <p:cNvPicPr>
            <a:picLocks noChangeAspect="1"/>
          </p:cNvPicPr>
          <p:nvPr/>
        </p:nvPicPr>
        <p:blipFill>
          <a:blip r:embed="rId12"/>
          <a:stretch>
            <a:fillRect/>
          </a:stretch>
        </p:blipFill>
        <p:spPr>
          <a:xfrm rot="5400000">
            <a:off x="11535414" y="3476923"/>
            <a:ext cx="571524" cy="171450"/>
          </a:xfrm>
          <a:prstGeom prst="rect">
            <a:avLst/>
          </a:prstGeom>
        </p:spPr>
      </p:pic>
      <p:sp>
        <p:nvSpPr>
          <p:cNvPr id="42" name="TextBox 41">
            <a:extLst>
              <a:ext uri="{FF2B5EF4-FFF2-40B4-BE49-F238E27FC236}">
                <a16:creationId xmlns:a16="http://schemas.microsoft.com/office/drawing/2014/main" id="{AE38164B-B45D-6E05-DF0B-46056A2F8A8E}"/>
              </a:ext>
            </a:extLst>
          </p:cNvPr>
          <p:cNvSpPr txBox="1"/>
          <p:nvPr/>
        </p:nvSpPr>
        <p:spPr>
          <a:xfrm>
            <a:off x="9686582" y="428721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Activity</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70166B82-8033-1185-93CA-0FE3AC209606}"/>
              </a:ext>
            </a:extLst>
          </p:cNvPr>
          <p:cNvSpPr txBox="1"/>
          <p:nvPr/>
        </p:nvSpPr>
        <p:spPr>
          <a:xfrm>
            <a:off x="12978381" y="4033696"/>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C511B30A-7396-A4FE-8BD1-D0095E42FDC9}"/>
              </a:ext>
            </a:extLst>
          </p:cNvPr>
          <p:cNvPicPr>
            <a:picLocks noChangeAspect="1"/>
          </p:cNvPicPr>
          <p:nvPr/>
        </p:nvPicPr>
        <p:blipFill>
          <a:blip r:embed="rId12"/>
          <a:stretch>
            <a:fillRect/>
          </a:stretch>
        </p:blipFill>
        <p:spPr>
          <a:xfrm rot="5400000">
            <a:off x="11540938" y="4650191"/>
            <a:ext cx="571524" cy="171450"/>
          </a:xfrm>
          <a:prstGeom prst="rect">
            <a:avLst/>
          </a:prstGeom>
        </p:spPr>
      </p:pic>
      <p:sp>
        <p:nvSpPr>
          <p:cNvPr id="51" name="TextBox 50">
            <a:extLst>
              <a:ext uri="{FF2B5EF4-FFF2-40B4-BE49-F238E27FC236}">
                <a16:creationId xmlns:a16="http://schemas.microsoft.com/office/drawing/2014/main" id="{493D0F04-718A-D12E-8A5E-D4E895EC32B2}"/>
              </a:ext>
            </a:extLst>
          </p:cNvPr>
          <p:cNvSpPr txBox="1"/>
          <p:nvPr/>
        </p:nvSpPr>
        <p:spPr>
          <a:xfrm>
            <a:off x="10292164" y="4045603"/>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33C202A2-0DD1-95F2-C6D7-DC27DBE4A2C0}"/>
              </a:ext>
            </a:extLst>
          </p:cNvPr>
          <p:cNvSpPr txBox="1"/>
          <p:nvPr/>
        </p:nvSpPr>
        <p:spPr>
          <a:xfrm>
            <a:off x="12351538" y="323831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BA7BA511-0D51-AF4B-D890-0C8F5E042698}"/>
              </a:ext>
            </a:extLst>
          </p:cNvPr>
          <p:cNvSpPr txBox="1"/>
          <p:nvPr/>
        </p:nvSpPr>
        <p:spPr>
          <a:xfrm>
            <a:off x="11400376" y="568409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CF8D3CAC-C885-A2D7-5E54-E19A1DCFDABE}"/>
              </a:ext>
            </a:extLst>
          </p:cNvPr>
          <p:cNvSpPr txBox="1"/>
          <p:nvPr/>
        </p:nvSpPr>
        <p:spPr>
          <a:xfrm>
            <a:off x="9473435" y="1452105"/>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cs typeface="Arial"/>
              </a:rPr>
              <a:t>Server Side </a:t>
            </a:r>
            <a:r>
              <a:rPr lang="en-US" err="1">
                <a:cs typeface="Arial"/>
              </a:rPr>
              <a:t>Executi</a:t>
            </a:r>
            <a:r>
              <a:rPr lang="en-US">
                <a:cs typeface="Arial"/>
              </a:rPr>
              <a:t>on</a:t>
            </a:r>
            <a:endParaRPr lang="en-US"/>
          </a:p>
        </p:txBody>
      </p:sp>
      <p:sp>
        <p:nvSpPr>
          <p:cNvPr id="30" name="TextBox 29">
            <a:extLst>
              <a:ext uri="{FF2B5EF4-FFF2-40B4-BE49-F238E27FC236}">
                <a16:creationId xmlns:a16="http://schemas.microsoft.com/office/drawing/2014/main" id="{4BA91AB4-38D0-C7B1-5BDC-2306469D3B88}"/>
              </a:ext>
            </a:extLst>
          </p:cNvPr>
          <p:cNvSpPr txBox="1"/>
          <p:nvPr/>
        </p:nvSpPr>
        <p:spPr>
          <a:xfrm>
            <a:off x="4827038" y="4268998"/>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Sailuh/kaiaulu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F0C5E60F-0398-0980-F207-D61512BE2B75}"/>
              </a:ext>
            </a:extLst>
          </p:cNvPr>
          <p:cNvSpPr txBox="1"/>
          <p:nvPr/>
        </p:nvSpPr>
        <p:spPr>
          <a:xfrm>
            <a:off x="5129309" y="849341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59D4B15D-016F-9105-0728-C2E0985C15A6}"/>
              </a:ext>
            </a:extLst>
          </p:cNvPr>
          <p:cNvSpPr txBox="1"/>
          <p:nvPr/>
        </p:nvSpPr>
        <p:spPr>
          <a:xfrm>
            <a:off x="7559088" y="7949626"/>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3A8AA57B-D939-DE15-37F2-08F9318BEF75}"/>
              </a:ext>
            </a:extLst>
          </p:cNvPr>
          <p:cNvSpPr txBox="1"/>
          <p:nvPr/>
        </p:nvSpPr>
        <p:spPr>
          <a:xfrm>
            <a:off x="6913055" y="8514433"/>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Sailuh/sentiment_classifier</a:t>
            </a:r>
          </a:p>
        </p:txBody>
      </p:sp>
      <p:sp>
        <p:nvSpPr>
          <p:cNvPr id="272" name="TextBox 271">
            <a:extLst>
              <a:ext uri="{FF2B5EF4-FFF2-40B4-BE49-F238E27FC236}">
                <a16:creationId xmlns:a16="http://schemas.microsoft.com/office/drawing/2014/main" id="{CB89B944-6209-0501-2542-104957219153}"/>
              </a:ext>
            </a:extLst>
          </p:cNvPr>
          <p:cNvSpPr txBox="1"/>
          <p:nvPr/>
        </p:nvSpPr>
        <p:spPr>
          <a:xfrm>
            <a:off x="6237179" y="9393013"/>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D46F9F44-49AC-0C8B-DE33-2F1E6F46EED2}"/>
              </a:ext>
            </a:extLst>
          </p:cNvPr>
          <p:cNvSpPr txBox="1"/>
          <p:nvPr/>
        </p:nvSpPr>
        <p:spPr>
          <a:xfrm>
            <a:off x="222484" y="1697960"/>
            <a:ext cx="435228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Executables provide access to Kaiaulu's functions through a command line interface. This allows other tools to build on Kaiaulu capabilities or use it server-side.</a:t>
            </a:r>
            <a:endParaRPr lang="en-US" b="0" i="0" u="none" strike="noStrike" cap="none" spc="0" normalizeH="0" baseline="0">
              <a:ln>
                <a:noFill/>
              </a:ln>
              <a:solidFill>
                <a:srgbClr val="4C4C4C"/>
              </a:solidFill>
              <a:effectLst/>
              <a:uFillTx/>
              <a:cs typeface="Helvetica"/>
            </a:endParaRPr>
          </a:p>
        </p:txBody>
      </p:sp>
      <p:sp>
        <p:nvSpPr>
          <p:cNvPr id="274" name="TextBox 273">
            <a:extLst>
              <a:ext uri="{FF2B5EF4-FFF2-40B4-BE49-F238E27FC236}">
                <a16:creationId xmlns:a16="http://schemas.microsoft.com/office/drawing/2014/main" id="{3B283740-4494-FA6C-6370-51F8C12D3BE1}"/>
              </a:ext>
            </a:extLst>
          </p:cNvPr>
          <p:cNvSpPr txBox="1"/>
          <p:nvPr/>
        </p:nvSpPr>
        <p:spPr>
          <a:xfrm>
            <a:off x="9473688" y="169503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F2837F20-910E-5232-07DB-863A9BAB99CA}"/>
              </a:ext>
            </a:extLst>
          </p:cNvPr>
          <p:cNvSpPr txBox="1"/>
          <p:nvPr/>
        </p:nvSpPr>
        <p:spPr>
          <a:xfrm>
            <a:off x="4663205" y="2938852"/>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cs typeface="Helvetica"/>
              </a:rPr>
              <a:t>Sailuh tools such as pykumu rely on kaiaulu executables to download and refresh data. Kaiaulu executables are also made to provide kaiaulu's functions to users, tools, and projects outside of the sailuh ecosystem.</a:t>
            </a:r>
          </a:p>
        </p:txBody>
      </p:sp>
      <p:sp>
        <p:nvSpPr>
          <p:cNvPr id="298" name="TextBox 297">
            <a:extLst>
              <a:ext uri="{FF2B5EF4-FFF2-40B4-BE49-F238E27FC236}">
                <a16:creationId xmlns:a16="http://schemas.microsoft.com/office/drawing/2014/main" id="{2B9F519D-9622-AAD4-20E4-A1096183E219}"/>
              </a:ext>
            </a:extLst>
          </p:cNvPr>
          <p:cNvSpPr txBox="1"/>
          <p:nvPr/>
        </p:nvSpPr>
        <p:spPr>
          <a:xfrm>
            <a:off x="274081" y="6728216"/>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a:solidFill>
                  <a:srgbClr val="000000"/>
                </a:solidFill>
              </a:rPr>
              <a:t>.</a:t>
            </a: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9" name="Group">
            <a:extLst>
              <a:ext uri="{FF2B5EF4-FFF2-40B4-BE49-F238E27FC236}">
                <a16:creationId xmlns:a16="http://schemas.microsoft.com/office/drawing/2014/main" id="{3066E29A-B18C-CB87-14C7-8A11DEAC2EB4}"/>
              </a:ext>
            </a:extLst>
          </p:cNvPr>
          <p:cNvSpPr/>
          <p:nvPr/>
        </p:nvSpPr>
        <p:spPr>
          <a:xfrm>
            <a:off x="220611" y="3835425"/>
            <a:ext cx="4357974" cy="13469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A64BA438-E5C6-C748-27EB-81C559146DFE}"/>
              </a:ext>
            </a:extLst>
          </p:cNvPr>
          <p:cNvSpPr txBox="1"/>
          <p:nvPr/>
        </p:nvSpPr>
        <p:spPr>
          <a:xfrm>
            <a:off x="322463" y="3913614"/>
            <a:ext cx="364653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0B78C80D-21E3-A29C-C00A-35B1BF7F3DF4}"/>
              </a:ext>
            </a:extLst>
          </p:cNvPr>
          <p:cNvSpPr txBox="1"/>
          <p:nvPr/>
        </p:nvSpPr>
        <p:spPr>
          <a:xfrm>
            <a:off x="265065" y="4272946"/>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181E3A03-526A-40DA-F258-D2249BDBFCA1}"/>
              </a:ext>
            </a:extLst>
          </p:cNvPr>
          <p:cNvSpPr txBox="1"/>
          <p:nvPr/>
        </p:nvSpPr>
        <p:spPr>
          <a:xfrm>
            <a:off x="310787" y="4473296"/>
            <a:ext cx="4127831" cy="6370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87E3BE9-D1B7-7A6B-A751-34831593F762}"/>
              </a:ext>
            </a:extLst>
          </p:cNvPr>
          <p:cNvSpPr txBox="1"/>
          <p:nvPr/>
        </p:nvSpPr>
        <p:spPr>
          <a:xfrm>
            <a:off x="4735369" y="7929869"/>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Sailuh/pykumu</a:t>
            </a:r>
          </a:p>
        </p:txBody>
      </p:sp>
      <p:sp>
        <p:nvSpPr>
          <p:cNvPr id="22" name="TextBox 21">
            <a:extLst>
              <a:ext uri="{FF2B5EF4-FFF2-40B4-BE49-F238E27FC236}">
                <a16:creationId xmlns:a16="http://schemas.microsoft.com/office/drawing/2014/main" id="{5EB31C88-4E9A-4202-B6E6-472F66148002}"/>
              </a:ext>
            </a:extLst>
          </p:cNvPr>
          <p:cNvSpPr txBox="1"/>
          <p:nvPr/>
        </p:nvSpPr>
        <p:spPr>
          <a:xfrm>
            <a:off x="4710551" y="9727979"/>
            <a:ext cx="417477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Kaiaulu executables provide data from sources such as Mail, JIRA, and GitHub. </a:t>
            </a:r>
          </a:p>
        </p:txBody>
      </p:sp>
      <p:pic>
        <p:nvPicPr>
          <p:cNvPr id="60" name="Picture 59" descr="A close-up of a letter&#10;&#10;AI-generated content may be incorrect.">
            <a:extLst>
              <a:ext uri="{FF2B5EF4-FFF2-40B4-BE49-F238E27FC236}">
                <a16:creationId xmlns:a16="http://schemas.microsoft.com/office/drawing/2014/main" id="{A2F23C01-B8F1-31B8-B245-66E0FF67AB20}"/>
              </a:ext>
            </a:extLst>
          </p:cNvPr>
          <p:cNvPicPr>
            <a:picLocks noChangeAspect="1"/>
          </p:cNvPicPr>
          <p:nvPr/>
        </p:nvPicPr>
        <p:blipFill>
          <a:blip r:embed="rId13"/>
          <a:stretch>
            <a:fillRect/>
          </a:stretch>
        </p:blipFill>
        <p:spPr>
          <a:xfrm>
            <a:off x="7419116" y="4462452"/>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6AACEAEB-0BBC-CA6E-1BE7-1869F0A83629}"/>
              </a:ext>
            </a:extLst>
          </p:cNvPr>
          <p:cNvPicPr>
            <a:picLocks noChangeAspect="1"/>
          </p:cNvPicPr>
          <p:nvPr/>
        </p:nvPicPr>
        <p:blipFill>
          <a:blip r:embed="rId14"/>
          <a:stretch>
            <a:fillRect/>
          </a:stretch>
        </p:blipFill>
        <p:spPr>
          <a:xfrm>
            <a:off x="6243124" y="6167317"/>
            <a:ext cx="914258" cy="905585"/>
          </a:xfrm>
          <a:prstGeom prst="rect">
            <a:avLst/>
          </a:prstGeom>
        </p:spPr>
      </p:pic>
      <p:pic>
        <p:nvPicPr>
          <p:cNvPr id="43" name="Picture 42">
            <a:extLst>
              <a:ext uri="{FF2B5EF4-FFF2-40B4-BE49-F238E27FC236}">
                <a16:creationId xmlns:a16="http://schemas.microsoft.com/office/drawing/2014/main" id="{C9DCE757-C7F8-2AE4-FBEA-0F2DEA56F8C8}"/>
              </a:ext>
            </a:extLst>
          </p:cNvPr>
          <p:cNvPicPr>
            <a:picLocks noChangeAspect="1"/>
          </p:cNvPicPr>
          <p:nvPr/>
        </p:nvPicPr>
        <p:blipFill>
          <a:blip r:embed="rId15"/>
          <a:stretch>
            <a:fillRect/>
          </a:stretch>
        </p:blipFill>
        <p:spPr>
          <a:xfrm>
            <a:off x="8508987" y="4481030"/>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67783501-B1D1-32AF-4EBF-CF99518CDE48}"/>
              </a:ext>
            </a:extLst>
          </p:cNvPr>
          <p:cNvSpPr txBox="1"/>
          <p:nvPr/>
        </p:nvSpPr>
        <p:spPr>
          <a:xfrm>
            <a:off x="8509461" y="485904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5F363733-5659-2AEE-75C1-E0E1BADC8FFF}"/>
              </a:ext>
            </a:extLst>
          </p:cNvPr>
          <p:cNvSpPr txBox="1"/>
          <p:nvPr/>
        </p:nvSpPr>
        <p:spPr>
          <a:xfrm>
            <a:off x="7981261" y="484903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2D3B13ED-06F3-374A-9C5E-A802613A4750}"/>
              </a:ext>
            </a:extLst>
          </p:cNvPr>
          <p:cNvSpPr txBox="1"/>
          <p:nvPr/>
        </p:nvSpPr>
        <p:spPr>
          <a:xfrm>
            <a:off x="7417908" y="483482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mc:AlternateContent xmlns:mc="http://schemas.openxmlformats.org/markup-compatibility/2006" xmlns:p14="http://schemas.microsoft.com/office/powerpoint/2010/main">
        <mc:Choice Requires="p14">
          <p:contentPart p14:bwMode="auto" r:id="rId16">
            <p14:nvContentPartPr>
              <p14:cNvPr id="300" name="Ink 299">
                <a:extLst>
                  <a:ext uri="{FF2B5EF4-FFF2-40B4-BE49-F238E27FC236}">
                    <a16:creationId xmlns:a16="http://schemas.microsoft.com/office/drawing/2014/main" id="{C5CCDF0A-0CFA-7C6E-C979-A0C8270FFCED}"/>
                  </a:ext>
                </a:extLst>
              </p14:cNvPr>
              <p14:cNvContentPartPr/>
              <p14:nvPr/>
            </p14:nvContentPartPr>
            <p14:xfrm>
              <a:off x="8237478" y="6581665"/>
              <a:ext cx="13744" cy="13744"/>
            </p14:xfrm>
          </p:contentPart>
        </mc:Choice>
        <mc:Fallback xmlns="">
          <p:pic>
            <p:nvPicPr>
              <p:cNvPr id="300" name="Ink 299">
                <a:extLst>
                  <a:ext uri="{FF2B5EF4-FFF2-40B4-BE49-F238E27FC236}">
                    <a16:creationId xmlns:a16="http://schemas.microsoft.com/office/drawing/2014/main" id="{C5CCDF0A-0CFA-7C6E-C979-A0C8270FFCED}"/>
                  </a:ext>
                </a:extLst>
              </p:cNvPr>
              <p:cNvPicPr/>
              <p:nvPr/>
            </p:nvPicPr>
            <p:blipFill>
              <a:blip r:embed="rId17"/>
              <a:stretch>
                <a:fillRect/>
              </a:stretch>
            </p:blipFill>
            <p:spPr>
              <a:xfrm>
                <a:off x="7550278" y="5894465"/>
                <a:ext cx="1374400" cy="1374400"/>
              </a:xfrm>
              <a:prstGeom prst="rect">
                <a:avLst/>
              </a:prstGeom>
            </p:spPr>
          </p:pic>
        </mc:Fallback>
      </mc:AlternateContent>
      <p:pic>
        <p:nvPicPr>
          <p:cNvPr id="304" name="Picture 303" descr="A black and white logo&#10;&#10;AI-generated content may be incorrect.">
            <a:extLst>
              <a:ext uri="{FF2B5EF4-FFF2-40B4-BE49-F238E27FC236}">
                <a16:creationId xmlns:a16="http://schemas.microsoft.com/office/drawing/2014/main" id="{33C3CD8B-DD1B-55C4-E1C9-29362FD2B301}"/>
              </a:ext>
            </a:extLst>
          </p:cNvPr>
          <p:cNvPicPr>
            <a:picLocks noChangeAspect="1"/>
          </p:cNvPicPr>
          <p:nvPr/>
        </p:nvPicPr>
        <p:blipFill>
          <a:blip r:embed="rId18"/>
          <a:stretch>
            <a:fillRect/>
          </a:stretch>
        </p:blipFill>
        <p:spPr>
          <a:xfrm>
            <a:off x="5162093" y="7740596"/>
            <a:ext cx="276189" cy="277029"/>
          </a:xfrm>
          <a:prstGeom prst="rect">
            <a:avLst/>
          </a:prstGeom>
        </p:spPr>
      </p:pic>
      <p:pic>
        <p:nvPicPr>
          <p:cNvPr id="305" name="Picture 304" descr="A black and white logo&#10;&#10;AI-generated content may be incorrect.">
            <a:extLst>
              <a:ext uri="{FF2B5EF4-FFF2-40B4-BE49-F238E27FC236}">
                <a16:creationId xmlns:a16="http://schemas.microsoft.com/office/drawing/2014/main" id="{E63D3CC2-F08F-4643-B89D-1DB35D503C3D}"/>
              </a:ext>
            </a:extLst>
          </p:cNvPr>
          <p:cNvPicPr>
            <a:picLocks noChangeAspect="1"/>
          </p:cNvPicPr>
          <p:nvPr/>
        </p:nvPicPr>
        <p:blipFill>
          <a:blip r:embed="rId18"/>
          <a:stretch>
            <a:fillRect/>
          </a:stretch>
        </p:blipFill>
        <p:spPr>
          <a:xfrm>
            <a:off x="5837227" y="8240107"/>
            <a:ext cx="327111" cy="288344"/>
          </a:xfrm>
          <a:prstGeom prst="rect">
            <a:avLst/>
          </a:prstGeom>
        </p:spPr>
      </p:pic>
      <p:pic>
        <p:nvPicPr>
          <p:cNvPr id="306" name="Picture 305" descr="A black and white logo&#10;&#10;AI-generated content may be incorrect.">
            <a:extLst>
              <a:ext uri="{FF2B5EF4-FFF2-40B4-BE49-F238E27FC236}">
                <a16:creationId xmlns:a16="http://schemas.microsoft.com/office/drawing/2014/main" id="{EEC1164C-6A98-4F0A-510A-ED81C3FB25F9}"/>
              </a:ext>
            </a:extLst>
          </p:cNvPr>
          <p:cNvPicPr>
            <a:picLocks noChangeAspect="1"/>
          </p:cNvPicPr>
          <p:nvPr/>
        </p:nvPicPr>
        <p:blipFill>
          <a:blip r:embed="rId18"/>
          <a:stretch>
            <a:fillRect/>
          </a:stretch>
        </p:blipFill>
        <p:spPr>
          <a:xfrm>
            <a:off x="8301630" y="7739818"/>
            <a:ext cx="327111" cy="288344"/>
          </a:xfrm>
          <a:prstGeom prst="rect">
            <a:avLst/>
          </a:prstGeom>
        </p:spPr>
      </p:pic>
      <p:pic>
        <p:nvPicPr>
          <p:cNvPr id="307" name="Picture 306" descr="A black and white logo&#10;&#10;AI-generated content may be incorrect.">
            <a:extLst>
              <a:ext uri="{FF2B5EF4-FFF2-40B4-BE49-F238E27FC236}">
                <a16:creationId xmlns:a16="http://schemas.microsoft.com/office/drawing/2014/main" id="{807428F9-B3A5-5678-3568-AA8E78BFA61D}"/>
              </a:ext>
            </a:extLst>
          </p:cNvPr>
          <p:cNvPicPr>
            <a:picLocks noChangeAspect="1"/>
          </p:cNvPicPr>
          <p:nvPr/>
        </p:nvPicPr>
        <p:blipFill>
          <a:blip r:embed="rId18"/>
          <a:stretch>
            <a:fillRect/>
          </a:stretch>
        </p:blipFill>
        <p:spPr>
          <a:xfrm>
            <a:off x="7301095" y="8277866"/>
            <a:ext cx="327111" cy="288344"/>
          </a:xfrm>
          <a:prstGeom prst="rect">
            <a:avLst/>
          </a:prstGeom>
        </p:spPr>
      </p:pic>
      <p:sp>
        <p:nvSpPr>
          <p:cNvPr id="318" name="Rectangle 317">
            <a:extLst>
              <a:ext uri="{FF2B5EF4-FFF2-40B4-BE49-F238E27FC236}">
                <a16:creationId xmlns:a16="http://schemas.microsoft.com/office/drawing/2014/main" id="{3BBAC93B-9460-09EE-C5DF-8A7A2D06F8A0}"/>
              </a:ext>
            </a:extLst>
          </p:cNvPr>
          <p:cNvSpPr/>
          <p:nvPr/>
        </p:nvSpPr>
        <p:spPr>
          <a:xfrm>
            <a:off x="3004804" y="763620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5923AA3F-FE00-7A5B-4E09-ED91B4404F78}"/>
              </a:ext>
            </a:extLst>
          </p:cNvPr>
          <p:cNvSpPr/>
          <p:nvPr/>
        </p:nvSpPr>
        <p:spPr>
          <a:xfrm>
            <a:off x="2499832" y="803890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56D3FA00-E9C7-C58E-137E-71A2BCAA21B4}"/>
              </a:ext>
            </a:extLst>
          </p:cNvPr>
          <p:cNvSpPr/>
          <p:nvPr/>
        </p:nvSpPr>
        <p:spPr>
          <a:xfrm>
            <a:off x="3340229" y="8038908"/>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621F40D3-B98D-AB37-519A-607FA10A0E02}"/>
              </a:ext>
            </a:extLst>
          </p:cNvPr>
          <p:cNvCxnSpPr/>
          <p:nvPr/>
        </p:nvCxnSpPr>
        <p:spPr>
          <a:xfrm rot="16200000" flipH="1">
            <a:off x="3812006" y="7802510"/>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9561C7CB-A590-9735-5E20-7A2813AC8E02}"/>
              </a:ext>
            </a:extLst>
          </p:cNvPr>
          <p:cNvCxnSpPr>
            <a:cxnSpLocks/>
          </p:cNvCxnSpPr>
          <p:nvPr/>
        </p:nvCxnSpPr>
        <p:spPr>
          <a:xfrm rot="10800000" flipH="1">
            <a:off x="2783498" y="7808928"/>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40F11F0F-600E-1D0E-372F-D0D892EA173B}"/>
              </a:ext>
            </a:extLst>
          </p:cNvPr>
          <p:cNvCxnSpPr>
            <a:cxnSpLocks/>
          </p:cNvCxnSpPr>
          <p:nvPr/>
        </p:nvCxnSpPr>
        <p:spPr>
          <a:xfrm rot="2700000" flipH="1">
            <a:off x="3168733" y="828288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A7A71E15-D758-174F-EFE7-A57B824A77DB}"/>
              </a:ext>
            </a:extLst>
          </p:cNvPr>
          <p:cNvSpPr txBox="1"/>
          <p:nvPr/>
        </p:nvSpPr>
        <p:spPr>
          <a:xfrm>
            <a:off x="3008743" y="7560173"/>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A1934880-FE69-4094-61E5-86536A32335C}"/>
              </a:ext>
            </a:extLst>
          </p:cNvPr>
          <p:cNvSpPr txBox="1"/>
          <p:nvPr/>
        </p:nvSpPr>
        <p:spPr>
          <a:xfrm>
            <a:off x="2523213" y="7964355"/>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C55E2518-0EAC-1AD4-AEA6-5BAEDBAA70AC}"/>
              </a:ext>
            </a:extLst>
          </p:cNvPr>
          <p:cNvSpPr txBox="1"/>
          <p:nvPr/>
        </p:nvSpPr>
        <p:spPr>
          <a:xfrm>
            <a:off x="3357192" y="797209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cxnSp>
        <p:nvCxnSpPr>
          <p:cNvPr id="55" name="Straight Connector 54">
            <a:extLst>
              <a:ext uri="{FF2B5EF4-FFF2-40B4-BE49-F238E27FC236}">
                <a16:creationId xmlns:a16="http://schemas.microsoft.com/office/drawing/2014/main" id="{4F5B3489-F089-248D-AC79-33537A9E677C}"/>
              </a:ext>
            </a:extLst>
          </p:cNvPr>
          <p:cNvCxnSpPr/>
          <p:nvPr/>
        </p:nvCxnSpPr>
        <p:spPr>
          <a:xfrm>
            <a:off x="2953488" y="7816878"/>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C4155283-05BD-07B7-5D63-0C27AA335EF6}"/>
              </a:ext>
            </a:extLst>
          </p:cNvPr>
          <p:cNvCxnSpPr>
            <a:cxnSpLocks/>
          </p:cNvCxnSpPr>
          <p:nvPr/>
        </p:nvCxnSpPr>
        <p:spPr>
          <a:xfrm rot="5400000">
            <a:off x="2953488" y="7825719"/>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 name="Rectangle 56">
            <a:extLst>
              <a:ext uri="{FF2B5EF4-FFF2-40B4-BE49-F238E27FC236}">
                <a16:creationId xmlns:a16="http://schemas.microsoft.com/office/drawing/2014/main" id="{286865E7-6897-C996-FC91-BB5237282A59}"/>
              </a:ext>
            </a:extLst>
          </p:cNvPr>
          <p:cNvSpPr/>
          <p:nvPr/>
        </p:nvSpPr>
        <p:spPr>
          <a:xfrm>
            <a:off x="2918994" y="9225807"/>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17C6AA62-3387-7E87-E7FD-314BA31388B9}"/>
              </a:ext>
            </a:extLst>
          </p:cNvPr>
          <p:cNvSpPr txBox="1"/>
          <p:nvPr/>
        </p:nvSpPr>
        <p:spPr>
          <a:xfrm>
            <a:off x="2914837" y="9377396"/>
            <a:ext cx="1357903" cy="7103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&gt; Rscript</a:t>
            </a:r>
            <a:r>
              <a:rPr lang="en-US" sz="1100">
                <a:solidFill>
                  <a:srgbClr val="000000"/>
                </a:solidFill>
              </a:rPr>
              <a:t> </a:t>
            </a:r>
            <a:r>
              <a:rPr lang="en-US">
                <a:solidFill>
                  <a:srgbClr val="0B4EB2"/>
                </a:solidFill>
              </a:rPr>
              <a:t>exec/*.R</a:t>
            </a:r>
            <a:endParaRPr lang="en-US" b="0">
              <a:solidFill>
                <a:srgbClr val="000000"/>
              </a:solidFill>
            </a:endParaRPr>
          </a:p>
          <a:p>
            <a:r>
              <a:rPr lang="en-US" sz="1100">
                <a:solidFill>
                  <a:srgbClr val="000000"/>
                </a:solidFill>
              </a:rPr>
              <a:t> </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project1.yml</a:t>
            </a:r>
            <a:endParaRPr lang="en-US"/>
          </a:p>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analysisB.yml</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258" name="TextBox 766">
            <a:extLst>
              <a:ext uri="{FF2B5EF4-FFF2-40B4-BE49-F238E27FC236}">
                <a16:creationId xmlns:a16="http://schemas.microsoft.com/office/drawing/2014/main" id="{0C5F5627-7CBF-2607-0E1B-FF9133E20B98}"/>
              </a:ext>
            </a:extLst>
          </p:cNvPr>
          <p:cNvSpPr txBox="1"/>
          <p:nvPr/>
        </p:nvSpPr>
        <p:spPr>
          <a:xfrm>
            <a:off x="484057" y="747880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D48C2026-7C61-186A-455E-ABFFE663AEF6}"/>
              </a:ext>
            </a:extLst>
          </p:cNvPr>
          <p:cNvSpPr txBox="1"/>
          <p:nvPr/>
        </p:nvSpPr>
        <p:spPr>
          <a:xfrm>
            <a:off x="2910994" y="8937743"/>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513920DB-591D-684E-B0F4-028EABD04937}"/>
              </a:ext>
            </a:extLst>
          </p:cNvPr>
          <p:cNvSpPr txBox="1"/>
          <p:nvPr/>
        </p:nvSpPr>
        <p:spPr>
          <a:xfrm>
            <a:off x="2509455" y="747244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A20A140D-D753-78F6-C549-FBC20E4792C7}"/>
              </a:ext>
            </a:extLst>
          </p:cNvPr>
          <p:cNvSpPr txBox="1"/>
          <p:nvPr/>
        </p:nvSpPr>
        <p:spPr>
          <a:xfrm>
            <a:off x="292087" y="8470716"/>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F8C301ED-8337-53BC-6A90-3093AF643070}"/>
              </a:ext>
            </a:extLst>
          </p:cNvPr>
          <p:cNvGrpSpPr/>
          <p:nvPr/>
        </p:nvGrpSpPr>
        <p:grpSpPr>
          <a:xfrm>
            <a:off x="299450" y="8693770"/>
            <a:ext cx="1454607" cy="1359206"/>
            <a:chOff x="4888883" y="5320096"/>
            <a:chExt cx="1741511" cy="1781653"/>
          </a:xfrm>
        </p:grpSpPr>
        <p:sp>
          <p:nvSpPr>
            <p:cNvPr id="277" name="Rectangle 276">
              <a:extLst>
                <a:ext uri="{FF2B5EF4-FFF2-40B4-BE49-F238E27FC236}">
                  <a16:creationId xmlns:a16="http://schemas.microsoft.com/office/drawing/2014/main" id="{FB907516-072D-B36A-0D4E-AA8FB30B6737}"/>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1" name="TextBox 754">
              <a:extLst>
                <a:ext uri="{FF2B5EF4-FFF2-40B4-BE49-F238E27FC236}">
                  <a16:creationId xmlns:a16="http://schemas.microsoft.com/office/drawing/2014/main" id="{31515A67-ABEC-9B72-07F6-BE2056DFB5CA}"/>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1AFC232B-5272-3876-94F6-545C67B6C945}"/>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B9DA4A7F-1E17-445B-B064-2F44265319C2}"/>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56646C48-B9CD-D9F8-F891-C495A106B0C1}"/>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846FBC19-7AC0-3AE7-8347-66132A071AA5}"/>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55555DE9-D915-B3A7-7B85-4F91EEDA10FF}"/>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CE18C52F-8CD9-218D-0439-DD4435D8DE3F}"/>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89" name="Rectangle 288">
              <a:extLst>
                <a:ext uri="{FF2B5EF4-FFF2-40B4-BE49-F238E27FC236}">
                  <a16:creationId xmlns:a16="http://schemas.microsoft.com/office/drawing/2014/main" id="{94817C3A-CC00-3A1B-F8FB-658F3412493A}"/>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1" name="Rectangle 290">
              <a:extLst>
                <a:ext uri="{FF2B5EF4-FFF2-40B4-BE49-F238E27FC236}">
                  <a16:creationId xmlns:a16="http://schemas.microsoft.com/office/drawing/2014/main" id="{8953C74C-4204-554D-D661-2E6EE65D16B0}"/>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D3BAE427-7386-E582-0629-54B216DC6AD8}"/>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sp>
          <p:nvSpPr>
            <p:cNvPr id="294" name="TextBox 5">
              <a:extLst>
                <a:ext uri="{FF2B5EF4-FFF2-40B4-BE49-F238E27FC236}">
                  <a16:creationId xmlns:a16="http://schemas.microsoft.com/office/drawing/2014/main" id="{86A369D0-E970-003F-AC74-E57F9CB51EB2}"/>
                </a:ext>
              </a:extLst>
            </p:cNvPr>
            <p:cNvSpPr txBox="1"/>
            <p:nvPr/>
          </p:nvSpPr>
          <p:spPr>
            <a:xfrm>
              <a:off x="5035667" y="6255106"/>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grpSp>
          <p:nvGrpSpPr>
            <p:cNvPr id="295" name="Group 294">
              <a:extLst>
                <a:ext uri="{FF2B5EF4-FFF2-40B4-BE49-F238E27FC236}">
                  <a16:creationId xmlns:a16="http://schemas.microsoft.com/office/drawing/2014/main" id="{8CCBD7E9-C83B-132B-863B-E34F391272E7}"/>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35B371F9-2A10-78EA-B177-61CF25F46EEA}"/>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3717E199-DE75-C81B-E114-A42CC2C8C20D}"/>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B522E342-6EFA-F1C1-DD4F-83A3B0C0D56A}"/>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AEDDF063-72CD-5A62-CC5F-7FA8AF79617B}"/>
              </a:ext>
            </a:extLst>
          </p:cNvPr>
          <p:cNvSpPr/>
          <p:nvPr/>
        </p:nvSpPr>
        <p:spPr>
          <a:xfrm>
            <a:off x="892950" y="763625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A9D5C4A8-7120-71CA-F320-83CF225C8827}"/>
              </a:ext>
            </a:extLst>
          </p:cNvPr>
          <p:cNvSpPr/>
          <p:nvPr/>
        </p:nvSpPr>
        <p:spPr>
          <a:xfrm>
            <a:off x="387877" y="803896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7B1BC722-D734-23C1-16B4-3338DD8DC8A5}"/>
              </a:ext>
            </a:extLst>
          </p:cNvPr>
          <p:cNvSpPr/>
          <p:nvPr/>
        </p:nvSpPr>
        <p:spPr>
          <a:xfrm>
            <a:off x="1228441" y="8038960"/>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4C1CD1A1-B69F-E3BB-9304-615F67F0F851}"/>
              </a:ext>
            </a:extLst>
          </p:cNvPr>
          <p:cNvCxnSpPr>
            <a:cxnSpLocks/>
          </p:cNvCxnSpPr>
          <p:nvPr/>
        </p:nvCxnSpPr>
        <p:spPr>
          <a:xfrm rot="16200000" flipH="1">
            <a:off x="1700312" y="7802561"/>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B1FB7018-E621-2321-5501-2A8C0F835343}"/>
              </a:ext>
            </a:extLst>
          </p:cNvPr>
          <p:cNvCxnSpPr>
            <a:cxnSpLocks/>
          </p:cNvCxnSpPr>
          <p:nvPr/>
        </p:nvCxnSpPr>
        <p:spPr>
          <a:xfrm rot="10800000" flipH="1">
            <a:off x="671600" y="7808980"/>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9E903C36-13B1-D031-4D83-DC690D73F946}"/>
              </a:ext>
            </a:extLst>
          </p:cNvPr>
          <p:cNvCxnSpPr>
            <a:cxnSpLocks/>
          </p:cNvCxnSpPr>
          <p:nvPr/>
        </p:nvCxnSpPr>
        <p:spPr>
          <a:xfrm rot="2700000" flipH="1">
            <a:off x="1056911" y="8282936"/>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43CE3545-8DCA-A314-B5A6-E5A2F57CDF84}"/>
              </a:ext>
            </a:extLst>
          </p:cNvPr>
          <p:cNvSpPr txBox="1"/>
          <p:nvPr/>
        </p:nvSpPr>
        <p:spPr>
          <a:xfrm>
            <a:off x="896889" y="7560225"/>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CC1C0F70-C504-BD0E-BC9C-6253B15F9174}"/>
              </a:ext>
            </a:extLst>
          </p:cNvPr>
          <p:cNvSpPr txBox="1"/>
          <p:nvPr/>
        </p:nvSpPr>
        <p:spPr>
          <a:xfrm>
            <a:off x="411263" y="7964406"/>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5C06C154-E45A-FFED-04EC-8619A85A389C}"/>
              </a:ext>
            </a:extLst>
          </p:cNvPr>
          <p:cNvSpPr txBox="1"/>
          <p:nvPr/>
        </p:nvSpPr>
        <p:spPr>
          <a:xfrm>
            <a:off x="1245408" y="797214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47" name="Straight Connector 346">
            <a:extLst>
              <a:ext uri="{FF2B5EF4-FFF2-40B4-BE49-F238E27FC236}">
                <a16:creationId xmlns:a16="http://schemas.microsoft.com/office/drawing/2014/main" id="{9F4F4FF1-7D11-D928-9E09-2843781CBF0D}"/>
              </a:ext>
            </a:extLst>
          </p:cNvPr>
          <p:cNvCxnSpPr>
            <a:cxnSpLocks/>
          </p:cNvCxnSpPr>
          <p:nvPr/>
        </p:nvCxnSpPr>
        <p:spPr>
          <a:xfrm>
            <a:off x="841623" y="7816929"/>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3C10C783-014D-B9D5-5D5B-7B4E6A4B9EE3}"/>
              </a:ext>
            </a:extLst>
          </p:cNvPr>
          <p:cNvCxnSpPr>
            <a:cxnSpLocks/>
          </p:cNvCxnSpPr>
          <p:nvPr/>
        </p:nvCxnSpPr>
        <p:spPr>
          <a:xfrm rot="5400000">
            <a:off x="841623" y="7825771"/>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0" name="Straight Arrow Connector 349">
            <a:extLst>
              <a:ext uri="{FF2B5EF4-FFF2-40B4-BE49-F238E27FC236}">
                <a16:creationId xmlns:a16="http://schemas.microsoft.com/office/drawing/2014/main" id="{0FB3ECAC-F6F2-B4A0-DB0B-A38CEF210D97}"/>
              </a:ext>
            </a:extLst>
          </p:cNvPr>
          <p:cNvCxnSpPr/>
          <p:nvPr/>
        </p:nvCxnSpPr>
        <p:spPr>
          <a:xfrm>
            <a:off x="3416547" y="8541264"/>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F3909853-F7A2-9CE9-673F-0006BE916545}"/>
              </a:ext>
            </a:extLst>
          </p:cNvPr>
          <p:cNvSpPr txBox="1"/>
          <p:nvPr/>
        </p:nvSpPr>
        <p:spPr>
          <a:xfrm>
            <a:off x="3488746" y="8620398"/>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344EE2E0-542C-31AD-D797-5323A0FA9C8B}"/>
              </a:ext>
            </a:extLst>
          </p:cNvPr>
          <p:cNvSpPr txBox="1"/>
          <p:nvPr/>
        </p:nvSpPr>
        <p:spPr>
          <a:xfrm>
            <a:off x="2915551" y="9216125"/>
            <a:ext cx="1358728"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F07D9757-E13B-A427-8161-8064369D5B16}"/>
              </a:ext>
            </a:extLst>
          </p:cNvPr>
          <p:cNvSpPr txBox="1"/>
          <p:nvPr/>
        </p:nvSpPr>
        <p:spPr>
          <a:xfrm>
            <a:off x="3738365" y="8821827"/>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7D6C8188-26E1-137A-D19B-38214966DB10}"/>
              </a:ext>
            </a:extLst>
          </p:cNvPr>
          <p:cNvSpPr txBox="1"/>
          <p:nvPr/>
        </p:nvSpPr>
        <p:spPr>
          <a:xfrm>
            <a:off x="1996975" y="8592927"/>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DD9BD7A3-2682-752B-107B-167AF6F8A74F}"/>
              </a:ext>
            </a:extLst>
          </p:cNvPr>
          <p:cNvCxnSpPr/>
          <p:nvPr/>
        </p:nvCxnSpPr>
        <p:spPr>
          <a:xfrm flipH="1">
            <a:off x="1713673" y="9575828"/>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467995C0-2481-70D2-23E9-656B926108AC}"/>
              </a:ext>
            </a:extLst>
          </p:cNvPr>
          <p:cNvCxnSpPr/>
          <p:nvPr/>
        </p:nvCxnSpPr>
        <p:spPr>
          <a:xfrm flipH="1">
            <a:off x="1983283" y="8527771"/>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CAFAB99F-7F11-5C20-BE02-2CBCDB829916}"/>
              </a:ext>
            </a:extLst>
          </p:cNvPr>
          <p:cNvSpPr txBox="1"/>
          <p:nvPr/>
        </p:nvSpPr>
        <p:spPr>
          <a:xfrm>
            <a:off x="5011890" y="5454558"/>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F7DF63C1-06A9-2038-9F4B-8D3E5876E8C3}"/>
              </a:ext>
            </a:extLst>
          </p:cNvPr>
          <p:cNvSpPr txBox="1"/>
          <p:nvPr/>
        </p:nvSpPr>
        <p:spPr>
          <a:xfrm>
            <a:off x="6022638" y="5455499"/>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analysis.yml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86508172-923F-67B5-AE90-3E99A26C63C1}"/>
              </a:ext>
            </a:extLst>
          </p:cNvPr>
          <p:cNvPicPr>
            <a:picLocks noChangeAspect="1"/>
          </p:cNvPicPr>
          <p:nvPr/>
        </p:nvPicPr>
        <p:blipFill>
          <a:blip r:embed="rId19"/>
          <a:stretch>
            <a:fillRect/>
          </a:stretch>
        </p:blipFill>
        <p:spPr>
          <a:xfrm>
            <a:off x="5161656" y="4700873"/>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EC41F6AE-631C-1331-6BB7-94A3A7414852}"/>
              </a:ext>
            </a:extLst>
          </p:cNvPr>
          <p:cNvPicPr>
            <a:picLocks noChangeAspect="1"/>
          </p:cNvPicPr>
          <p:nvPr/>
        </p:nvPicPr>
        <p:blipFill>
          <a:blip r:embed="rId19"/>
          <a:stretch>
            <a:fillRect/>
          </a:stretch>
        </p:blipFill>
        <p:spPr>
          <a:xfrm>
            <a:off x="6146433" y="4700873"/>
            <a:ext cx="666623" cy="838200"/>
          </a:xfrm>
          <a:prstGeom prst="rect">
            <a:avLst/>
          </a:prstGeom>
        </p:spPr>
      </p:pic>
      <p:pic>
        <p:nvPicPr>
          <p:cNvPr id="359" name="Picture 358">
            <a:extLst>
              <a:ext uri="{FF2B5EF4-FFF2-40B4-BE49-F238E27FC236}">
                <a16:creationId xmlns:a16="http://schemas.microsoft.com/office/drawing/2014/main" id="{7F29956C-5EBC-A55A-05A9-DFB89CD10E3A}"/>
              </a:ext>
            </a:extLst>
          </p:cNvPr>
          <p:cNvPicPr>
            <a:picLocks noChangeAspect="1"/>
          </p:cNvPicPr>
          <p:nvPr/>
        </p:nvPicPr>
        <p:blipFill>
          <a:blip r:embed="rId15"/>
          <a:stretch>
            <a:fillRect/>
          </a:stretch>
        </p:blipFill>
        <p:spPr>
          <a:xfrm>
            <a:off x="7909422" y="4481066"/>
            <a:ext cx="554321" cy="415604"/>
          </a:xfrm>
          <a:prstGeom prst="rect">
            <a:avLst/>
          </a:prstGeom>
          <a:ln w="28575">
            <a:solidFill>
              <a:schemeClr val="bg1"/>
            </a:solidFill>
          </a:ln>
        </p:spPr>
      </p:pic>
      <p:pic>
        <p:nvPicPr>
          <p:cNvPr id="363" name="Picture 362">
            <a:extLst>
              <a:ext uri="{FF2B5EF4-FFF2-40B4-BE49-F238E27FC236}">
                <a16:creationId xmlns:a16="http://schemas.microsoft.com/office/drawing/2014/main" id="{789DA96E-E4F4-41EB-F57F-87C6C55BF208}"/>
              </a:ext>
            </a:extLst>
          </p:cNvPr>
          <p:cNvPicPr>
            <a:picLocks noChangeAspect="1"/>
          </p:cNvPicPr>
          <p:nvPr/>
        </p:nvPicPr>
        <p:blipFill>
          <a:blip r:embed="rId14"/>
          <a:stretch>
            <a:fillRect/>
          </a:stretch>
        </p:blipFill>
        <p:spPr>
          <a:xfrm>
            <a:off x="11585418" y="3795869"/>
            <a:ext cx="538060" cy="507646"/>
          </a:xfrm>
          <a:prstGeom prst="rect">
            <a:avLst/>
          </a:prstGeom>
        </p:spPr>
      </p:pic>
      <p:sp>
        <p:nvSpPr>
          <p:cNvPr id="365" name="TextBox 364">
            <a:extLst>
              <a:ext uri="{FF2B5EF4-FFF2-40B4-BE49-F238E27FC236}">
                <a16:creationId xmlns:a16="http://schemas.microsoft.com/office/drawing/2014/main" id="{467290EF-AE8D-6FE5-9668-4E2E86B3E5C8}"/>
              </a:ext>
            </a:extLst>
          </p:cNvPr>
          <p:cNvSpPr txBox="1"/>
          <p:nvPr/>
        </p:nvSpPr>
        <p:spPr>
          <a:xfrm>
            <a:off x="11534104" y="4168473"/>
            <a:ext cx="940417"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solidFill>
                  <a:srgbClr val="0B4EB2"/>
                </a:solidFill>
              </a:rPr>
              <a:t>exec/*.R</a:t>
            </a:r>
            <a:endParaRPr lang="en-US" b="0">
              <a:solidFill>
                <a:srgbClr val="000000"/>
              </a:solidFill>
            </a:endParaRPr>
          </a:p>
          <a:p>
            <a:pPr marL="0" marR="0" indent="0" algn="l" defTabSz="584200">
              <a:lnSpc>
                <a:spcPct val="100000"/>
              </a:lnSpc>
              <a:spcBef>
                <a:spcPts val="200"/>
              </a:spcBef>
              <a:spcAft>
                <a:spcPts val="0"/>
              </a:spcAft>
              <a:buClrTx/>
              <a:buSzTx/>
              <a:buFontTx/>
              <a:buNone/>
              <a:tabLst/>
            </a:pP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DDBABB92-CD63-D95D-B7A1-D30583B7C753}"/>
              </a:ext>
            </a:extLst>
          </p:cNvPr>
          <p:cNvSpPr txBox="1"/>
          <p:nvPr/>
        </p:nvSpPr>
        <p:spPr>
          <a:xfrm>
            <a:off x="9546400" y="6478881"/>
            <a:ext cx="24609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Pipelines</a:t>
            </a:r>
            <a:endParaRPr lang="en-US"/>
          </a:p>
        </p:txBody>
      </p:sp>
      <p:sp>
        <p:nvSpPr>
          <p:cNvPr id="367" name="TextBox 366">
            <a:extLst>
              <a:ext uri="{FF2B5EF4-FFF2-40B4-BE49-F238E27FC236}">
                <a16:creationId xmlns:a16="http://schemas.microsoft.com/office/drawing/2014/main" id="{30AC2D73-DE7A-844B-C271-B5410B8100F1}"/>
              </a:ext>
            </a:extLst>
          </p:cNvPr>
          <p:cNvSpPr txBox="1"/>
          <p:nvPr/>
        </p:nvSpPr>
        <p:spPr>
          <a:xfrm>
            <a:off x="9489530" y="6756044"/>
            <a:ext cx="4269963"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remove the need to manually write R scripts, fetch data, or manage complex workflows. Instead of handling APIs and parsing data manually, Kaiaulu executables do this using configuration files. Executables can also be chained together to construct more complex pipelines.</a:t>
            </a:r>
            <a:endParaRPr lang="en-US">
              <a:solidFill>
                <a:srgbClr val="000000"/>
              </a:solidFill>
            </a:endParaRPr>
          </a:p>
        </p:txBody>
      </p:sp>
      <p:sp>
        <p:nvSpPr>
          <p:cNvPr id="372" name="TextBox 371">
            <a:extLst>
              <a:ext uri="{FF2B5EF4-FFF2-40B4-BE49-F238E27FC236}">
                <a16:creationId xmlns:a16="http://schemas.microsoft.com/office/drawing/2014/main" id="{3C0F23D4-748B-3914-68E8-7984A137CC92}"/>
              </a:ext>
            </a:extLst>
          </p:cNvPr>
          <p:cNvSpPr txBox="1"/>
          <p:nvPr/>
        </p:nvSpPr>
        <p:spPr>
          <a:xfrm>
            <a:off x="4666383" y="1688503"/>
            <a:ext cx="4360185" cy="1269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Any </a:t>
            </a:r>
            <a:r>
              <a:rPr lang="en-US" b="0" err="1">
                <a:solidFill>
                  <a:srgbClr val="000000"/>
                </a:solidFill>
                <a:cs typeface="Helvetica"/>
              </a:rPr>
              <a:t>project.yml</a:t>
            </a:r>
            <a:r>
              <a:rPr lang="en-US" b="0">
                <a:solidFill>
                  <a:srgbClr val="000000"/>
                </a:solidFill>
                <a:cs typeface="Helvetica"/>
              </a:rPr>
              <a:t> files (1) can be combined with any </a:t>
            </a:r>
            <a:r>
              <a:rPr lang="en-US" b="0" err="1">
                <a:solidFill>
                  <a:srgbClr val="000000"/>
                </a:solidFill>
                <a:cs typeface="Helvetica"/>
              </a:rPr>
              <a:t>analysis.yml</a:t>
            </a:r>
            <a:r>
              <a:rPr lang="en-US" b="0">
                <a:solidFill>
                  <a:srgbClr val="000000"/>
                </a:solidFill>
                <a:cs typeface="Helvetica"/>
              </a:rPr>
              <a:t> files (2). This allows users to run the same analysis on multiple projects or run different analyses on the same project, reducing duplication of configuration sections. See Configuration (.</a:t>
            </a:r>
            <a:r>
              <a:rPr lang="en-US" b="0" err="1">
                <a:solidFill>
                  <a:srgbClr val="000000"/>
                </a:solidFill>
                <a:cs typeface="Helvetica"/>
              </a:rPr>
              <a:t>yml</a:t>
            </a:r>
            <a:r>
              <a:rPr lang="en-US" b="0">
                <a:solidFill>
                  <a:srgbClr val="000000"/>
                </a:solidFill>
                <a:cs typeface="Helvetica"/>
              </a:rPr>
              <a:t>) </a:t>
            </a:r>
            <a:r>
              <a:rPr lang="en-US" b="0" err="1">
                <a:solidFill>
                  <a:srgbClr val="000000"/>
                </a:solidFill>
                <a:cs typeface="Helvetica"/>
              </a:rPr>
              <a:t>cheatsheet</a:t>
            </a:r>
            <a:r>
              <a:rPr lang="en-US" b="0">
                <a:solidFill>
                  <a:srgbClr val="000000"/>
                </a:solidFill>
                <a:cs typeface="Helvetica"/>
              </a:rPr>
              <a:t> for more information.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EA953D54-ADDC-205B-99C0-226A335406CA}"/>
              </a:ext>
            </a:extLst>
          </p:cNvPr>
          <p:cNvSpPr txBox="1"/>
          <p:nvPr/>
        </p:nvSpPr>
        <p:spPr>
          <a:xfrm>
            <a:off x="4677569" y="1465815"/>
            <a:ext cx="430634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cs typeface="Arial"/>
              </a:rPr>
              <a:t>Interchangable</a:t>
            </a:r>
            <a:r>
              <a:rPr lang="en-US" dirty="0">
                <a:cs typeface="Arial"/>
              </a:rPr>
              <a:t> </a:t>
            </a:r>
            <a:r>
              <a:rPr lang="en-US" dirty="0" err="1">
                <a:cs typeface="Arial"/>
              </a:rPr>
              <a:t>Configura</a:t>
            </a:r>
            <a:r>
              <a:rPr lang="en-US" dirty="0">
                <a:cs typeface="Arial"/>
              </a:rPr>
              <a:t>tions</a:t>
            </a:r>
            <a:endParaRPr lang="en-US" dirty="0"/>
          </a:p>
        </p:txBody>
      </p:sp>
      <p:sp>
        <p:nvSpPr>
          <p:cNvPr id="12" name="Line">
            <a:extLst>
              <a:ext uri="{FF2B5EF4-FFF2-40B4-BE49-F238E27FC236}">
                <a16:creationId xmlns:a16="http://schemas.microsoft.com/office/drawing/2014/main" id="{CB6DB8D9-662A-3DA1-D313-93B29E2C1B26}"/>
              </a:ext>
            </a:extLst>
          </p:cNvPr>
          <p:cNvSpPr/>
          <p:nvPr/>
        </p:nvSpPr>
        <p:spPr>
          <a:xfrm>
            <a:off x="4694971" y="9723661"/>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1" name="TextBox 20">
            <a:extLst>
              <a:ext uri="{FF2B5EF4-FFF2-40B4-BE49-F238E27FC236}">
                <a16:creationId xmlns:a16="http://schemas.microsoft.com/office/drawing/2014/main" id="{D318FB03-3444-7492-0151-EA094660DF71}"/>
              </a:ext>
            </a:extLst>
          </p:cNvPr>
          <p:cNvSpPr txBox="1"/>
          <p:nvPr/>
        </p:nvSpPr>
        <p:spPr>
          <a:xfrm>
            <a:off x="6339064" y="6847726"/>
            <a:ext cx="718914"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a:solidFill>
                  <a:srgbClr val="0B4EB2"/>
                </a:solidFill>
                <a:cs typeface="Helvetica"/>
              </a:rPr>
              <a:t>exec/*.R</a:t>
            </a:r>
            <a:endParaRPr lang="en-US" b="1">
              <a:solidFill>
                <a:srgbClr val="0B4EB2"/>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a:extLst>
              <a:ext uri="{FF2B5EF4-FFF2-40B4-BE49-F238E27FC236}">
                <a16:creationId xmlns:a16="http://schemas.microsoft.com/office/drawing/2014/main" id="{1817E01F-46CF-3B24-4481-2E0AF9C778A3}"/>
              </a:ext>
            </a:extLst>
          </p:cNvPr>
          <p:cNvPicPr>
            <a:picLocks noChangeAspect="1"/>
          </p:cNvPicPr>
          <p:nvPr/>
        </p:nvPicPr>
        <p:blipFill>
          <a:blip r:embed="rId14"/>
          <a:stretch>
            <a:fillRect/>
          </a:stretch>
        </p:blipFill>
        <p:spPr>
          <a:xfrm>
            <a:off x="10199549" y="8507016"/>
            <a:ext cx="538060" cy="507646"/>
          </a:xfrm>
          <a:prstGeom prst="rect">
            <a:avLst/>
          </a:prstGeom>
        </p:spPr>
      </p:pic>
      <p:pic>
        <p:nvPicPr>
          <p:cNvPr id="36" name="Picture 35">
            <a:extLst>
              <a:ext uri="{FF2B5EF4-FFF2-40B4-BE49-F238E27FC236}">
                <a16:creationId xmlns:a16="http://schemas.microsoft.com/office/drawing/2014/main" id="{E3BF8342-FF2F-7546-145F-F329C81AA2D0}"/>
              </a:ext>
            </a:extLst>
          </p:cNvPr>
          <p:cNvPicPr>
            <a:picLocks noChangeAspect="1"/>
          </p:cNvPicPr>
          <p:nvPr/>
        </p:nvPicPr>
        <p:blipFill>
          <a:blip r:embed="rId14"/>
          <a:stretch>
            <a:fillRect/>
          </a:stretch>
        </p:blipFill>
        <p:spPr>
          <a:xfrm>
            <a:off x="10199637" y="7868327"/>
            <a:ext cx="538060" cy="507646"/>
          </a:xfrm>
          <a:prstGeom prst="rect">
            <a:avLst/>
          </a:prstGeom>
        </p:spPr>
      </p:pic>
      <p:pic>
        <p:nvPicPr>
          <p:cNvPr id="46" name="Picture 45">
            <a:extLst>
              <a:ext uri="{FF2B5EF4-FFF2-40B4-BE49-F238E27FC236}">
                <a16:creationId xmlns:a16="http://schemas.microsoft.com/office/drawing/2014/main" id="{D7BB4465-308F-5E69-55AE-F8030DBC8CF3}"/>
              </a:ext>
            </a:extLst>
          </p:cNvPr>
          <p:cNvPicPr>
            <a:picLocks noChangeAspect="1"/>
          </p:cNvPicPr>
          <p:nvPr/>
        </p:nvPicPr>
        <p:blipFill>
          <a:blip r:embed="rId14"/>
          <a:stretch>
            <a:fillRect/>
          </a:stretch>
        </p:blipFill>
        <p:spPr>
          <a:xfrm>
            <a:off x="11441446" y="7850639"/>
            <a:ext cx="538060" cy="507646"/>
          </a:xfrm>
          <a:prstGeom prst="rect">
            <a:avLst/>
          </a:prstGeom>
        </p:spPr>
      </p:pic>
      <p:pic>
        <p:nvPicPr>
          <p:cNvPr id="59" name="Picture 58">
            <a:extLst>
              <a:ext uri="{FF2B5EF4-FFF2-40B4-BE49-F238E27FC236}">
                <a16:creationId xmlns:a16="http://schemas.microsoft.com/office/drawing/2014/main" id="{FF75B934-3FB4-44D0-2B84-4BF3073A7B4A}"/>
              </a:ext>
            </a:extLst>
          </p:cNvPr>
          <p:cNvPicPr>
            <a:picLocks noChangeAspect="1"/>
          </p:cNvPicPr>
          <p:nvPr/>
        </p:nvPicPr>
        <p:blipFill>
          <a:blip r:embed="rId14"/>
          <a:stretch>
            <a:fillRect/>
          </a:stretch>
        </p:blipFill>
        <p:spPr>
          <a:xfrm>
            <a:off x="11477011" y="8507180"/>
            <a:ext cx="538060" cy="507646"/>
          </a:xfrm>
          <a:prstGeom prst="rect">
            <a:avLst/>
          </a:prstGeom>
        </p:spPr>
      </p:pic>
      <p:pic>
        <p:nvPicPr>
          <p:cNvPr id="61" name="table">
            <a:extLst>
              <a:ext uri="{FF2B5EF4-FFF2-40B4-BE49-F238E27FC236}">
                <a16:creationId xmlns:a16="http://schemas.microsoft.com/office/drawing/2014/main" id="{DD4BED43-2CCE-2F43-8DB3-D93B66F5F6DB}"/>
              </a:ext>
            </a:extLst>
          </p:cNvPr>
          <p:cNvPicPr>
            <a:picLocks noChangeAspect="1"/>
          </p:cNvPicPr>
          <p:nvPr/>
        </p:nvPicPr>
        <p:blipFill>
          <a:blip r:embed="rId7"/>
          <a:stretch>
            <a:fillRect/>
          </a:stretch>
        </p:blipFill>
        <p:spPr>
          <a:xfrm>
            <a:off x="10965727" y="7980540"/>
            <a:ext cx="267508" cy="302355"/>
          </a:xfrm>
          <a:prstGeom prst="rect">
            <a:avLst/>
          </a:prstGeom>
        </p:spPr>
      </p:pic>
      <p:pic>
        <p:nvPicPr>
          <p:cNvPr id="62" name="table">
            <a:extLst>
              <a:ext uri="{FF2B5EF4-FFF2-40B4-BE49-F238E27FC236}">
                <a16:creationId xmlns:a16="http://schemas.microsoft.com/office/drawing/2014/main" id="{57939F5D-001E-D0B0-A309-134966CDD9E2}"/>
              </a:ext>
            </a:extLst>
          </p:cNvPr>
          <p:cNvPicPr>
            <a:picLocks noChangeAspect="1"/>
          </p:cNvPicPr>
          <p:nvPr/>
        </p:nvPicPr>
        <p:blipFill>
          <a:blip r:embed="rId7"/>
          <a:stretch>
            <a:fillRect/>
          </a:stretch>
        </p:blipFill>
        <p:spPr>
          <a:xfrm>
            <a:off x="13575937" y="8849995"/>
            <a:ext cx="267508" cy="302355"/>
          </a:xfrm>
          <a:prstGeom prst="rect">
            <a:avLst/>
          </a:prstGeom>
        </p:spPr>
      </p:pic>
      <p:pic>
        <p:nvPicPr>
          <p:cNvPr id="63" name="table">
            <a:extLst>
              <a:ext uri="{FF2B5EF4-FFF2-40B4-BE49-F238E27FC236}">
                <a16:creationId xmlns:a16="http://schemas.microsoft.com/office/drawing/2014/main" id="{3565944B-7040-917D-603F-B7CAC8772072}"/>
              </a:ext>
            </a:extLst>
          </p:cNvPr>
          <p:cNvPicPr>
            <a:picLocks noChangeAspect="1"/>
          </p:cNvPicPr>
          <p:nvPr/>
        </p:nvPicPr>
        <p:blipFill>
          <a:blip r:embed="rId7"/>
          <a:stretch>
            <a:fillRect/>
          </a:stretch>
        </p:blipFill>
        <p:spPr>
          <a:xfrm>
            <a:off x="10968405" y="8646007"/>
            <a:ext cx="267508" cy="302355"/>
          </a:xfrm>
          <a:prstGeom prst="rect">
            <a:avLst/>
          </a:prstGeom>
        </p:spPr>
      </p:pic>
      <p:pic>
        <p:nvPicPr>
          <p:cNvPr id="256" name="table">
            <a:extLst>
              <a:ext uri="{FF2B5EF4-FFF2-40B4-BE49-F238E27FC236}">
                <a16:creationId xmlns:a16="http://schemas.microsoft.com/office/drawing/2014/main" id="{0BDE96D8-7B06-3B06-491B-9A6F16F0E2A4}"/>
              </a:ext>
            </a:extLst>
          </p:cNvPr>
          <p:cNvPicPr>
            <a:picLocks noChangeAspect="1"/>
          </p:cNvPicPr>
          <p:nvPr/>
        </p:nvPicPr>
        <p:blipFill>
          <a:blip r:embed="rId7"/>
          <a:stretch>
            <a:fillRect/>
          </a:stretch>
        </p:blipFill>
        <p:spPr>
          <a:xfrm>
            <a:off x="12192476" y="7936346"/>
            <a:ext cx="267508" cy="302355"/>
          </a:xfrm>
          <a:prstGeom prst="rect">
            <a:avLst/>
          </a:prstGeom>
        </p:spPr>
      </p:pic>
      <p:pic>
        <p:nvPicPr>
          <p:cNvPr id="257" name="table">
            <a:extLst>
              <a:ext uri="{FF2B5EF4-FFF2-40B4-BE49-F238E27FC236}">
                <a16:creationId xmlns:a16="http://schemas.microsoft.com/office/drawing/2014/main" id="{8F0B2673-5D34-6F00-462A-2686E0A273EE}"/>
              </a:ext>
            </a:extLst>
          </p:cNvPr>
          <p:cNvPicPr>
            <a:picLocks noChangeAspect="1"/>
          </p:cNvPicPr>
          <p:nvPr/>
        </p:nvPicPr>
        <p:blipFill>
          <a:blip r:embed="rId7"/>
          <a:stretch>
            <a:fillRect/>
          </a:stretch>
        </p:blipFill>
        <p:spPr>
          <a:xfrm>
            <a:off x="12201431" y="8619501"/>
            <a:ext cx="267508" cy="302355"/>
          </a:xfrm>
          <a:prstGeom prst="rect">
            <a:avLst/>
          </a:prstGeom>
        </p:spPr>
      </p:pic>
      <p:pic>
        <p:nvPicPr>
          <p:cNvPr id="263" name="Picture 262">
            <a:extLst>
              <a:ext uri="{FF2B5EF4-FFF2-40B4-BE49-F238E27FC236}">
                <a16:creationId xmlns:a16="http://schemas.microsoft.com/office/drawing/2014/main" id="{DB5B299D-EBD4-3F5F-5082-227FA59E81EE}"/>
              </a:ext>
            </a:extLst>
          </p:cNvPr>
          <p:cNvPicPr>
            <a:picLocks noChangeAspect="1"/>
          </p:cNvPicPr>
          <p:nvPr/>
        </p:nvPicPr>
        <p:blipFill>
          <a:blip r:embed="rId14"/>
          <a:stretch>
            <a:fillRect/>
          </a:stretch>
        </p:blipFill>
        <p:spPr>
          <a:xfrm>
            <a:off x="12836644" y="8764452"/>
            <a:ext cx="538060" cy="507646"/>
          </a:xfrm>
          <a:prstGeom prst="rect">
            <a:avLst/>
          </a:prstGeom>
        </p:spPr>
      </p:pic>
      <p:pic>
        <p:nvPicPr>
          <p:cNvPr id="267" name="Picture 266" descr="A close-up of a letter&#10;&#10;AI-generated content may be incorrect.">
            <a:extLst>
              <a:ext uri="{FF2B5EF4-FFF2-40B4-BE49-F238E27FC236}">
                <a16:creationId xmlns:a16="http://schemas.microsoft.com/office/drawing/2014/main" id="{101EFE0C-AE31-81CB-CE71-332E000129EA}"/>
              </a:ext>
            </a:extLst>
          </p:cNvPr>
          <p:cNvPicPr>
            <a:picLocks noChangeAspect="1"/>
          </p:cNvPicPr>
          <p:nvPr/>
        </p:nvPicPr>
        <p:blipFill>
          <a:blip r:embed="rId13"/>
          <a:stretch>
            <a:fillRect/>
          </a:stretch>
        </p:blipFill>
        <p:spPr>
          <a:xfrm>
            <a:off x="9495569" y="8532644"/>
            <a:ext cx="396915" cy="386557"/>
          </a:xfrm>
          <a:prstGeom prst="rect">
            <a:avLst/>
          </a:prstGeom>
          <a:ln w="28575">
            <a:solidFill>
              <a:schemeClr val="bg1"/>
            </a:solidFill>
          </a:ln>
        </p:spPr>
      </p:pic>
      <p:pic>
        <p:nvPicPr>
          <p:cNvPr id="278" name="Picture 277">
            <a:extLst>
              <a:ext uri="{FF2B5EF4-FFF2-40B4-BE49-F238E27FC236}">
                <a16:creationId xmlns:a16="http://schemas.microsoft.com/office/drawing/2014/main" id="{9D8B8D09-92FE-4F13-85C9-E78499C31309}"/>
              </a:ext>
            </a:extLst>
          </p:cNvPr>
          <p:cNvPicPr>
            <a:picLocks noChangeAspect="1"/>
          </p:cNvPicPr>
          <p:nvPr/>
        </p:nvPicPr>
        <p:blipFill>
          <a:blip r:embed="rId15"/>
          <a:stretch>
            <a:fillRect/>
          </a:stretch>
        </p:blipFill>
        <p:spPr>
          <a:xfrm>
            <a:off x="9494497" y="7930221"/>
            <a:ext cx="554321" cy="415604"/>
          </a:xfrm>
          <a:prstGeom prst="rect">
            <a:avLst/>
          </a:prstGeom>
          <a:ln w="28575">
            <a:solidFill>
              <a:schemeClr val="bg1"/>
            </a:solidFill>
          </a:ln>
        </p:spPr>
      </p:pic>
      <p:cxnSp>
        <p:nvCxnSpPr>
          <p:cNvPr id="279" name="Straight Arrow Connector 278">
            <a:extLst>
              <a:ext uri="{FF2B5EF4-FFF2-40B4-BE49-F238E27FC236}">
                <a16:creationId xmlns:a16="http://schemas.microsoft.com/office/drawing/2014/main" id="{1EBB5380-B3C7-47E2-0658-282290ABE6F6}"/>
              </a:ext>
            </a:extLst>
          </p:cNvPr>
          <p:cNvCxnSpPr/>
          <p:nvPr/>
        </p:nvCxnSpPr>
        <p:spPr>
          <a:xfrm>
            <a:off x="10029205" y="811939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25263E58-5253-F0DD-01A8-BDDF0E99E423}"/>
              </a:ext>
            </a:extLst>
          </p:cNvPr>
          <p:cNvCxnSpPr>
            <a:cxnSpLocks/>
          </p:cNvCxnSpPr>
          <p:nvPr/>
        </p:nvCxnSpPr>
        <p:spPr>
          <a:xfrm>
            <a:off x="10696753" y="812832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EA060C60-90A1-EC81-82FB-69836D5CBADA}"/>
              </a:ext>
            </a:extLst>
          </p:cNvPr>
          <p:cNvCxnSpPr>
            <a:cxnSpLocks/>
          </p:cNvCxnSpPr>
          <p:nvPr/>
        </p:nvCxnSpPr>
        <p:spPr>
          <a:xfrm>
            <a:off x="9969544" y="87937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BF67B716-E8A3-AF4D-E0B4-BA2E68AA3FF5}"/>
              </a:ext>
            </a:extLst>
          </p:cNvPr>
          <p:cNvCxnSpPr>
            <a:cxnSpLocks/>
          </p:cNvCxnSpPr>
          <p:nvPr/>
        </p:nvCxnSpPr>
        <p:spPr>
          <a:xfrm>
            <a:off x="10696926" y="881153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98C9C792-BDE4-5B07-2EF1-CE7142B8F0F2}"/>
              </a:ext>
            </a:extLst>
          </p:cNvPr>
          <p:cNvCxnSpPr>
            <a:cxnSpLocks/>
          </p:cNvCxnSpPr>
          <p:nvPr/>
        </p:nvCxnSpPr>
        <p:spPr>
          <a:xfrm>
            <a:off x="11246918" y="811961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34A86136-CDCE-5B65-4DD7-018C7FF2652D}"/>
              </a:ext>
            </a:extLst>
          </p:cNvPr>
          <p:cNvCxnSpPr>
            <a:cxnSpLocks/>
          </p:cNvCxnSpPr>
          <p:nvPr/>
        </p:nvCxnSpPr>
        <p:spPr>
          <a:xfrm>
            <a:off x="11238135" y="879389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9" name="Straight Arrow Connector 298">
            <a:extLst>
              <a:ext uri="{FF2B5EF4-FFF2-40B4-BE49-F238E27FC236}">
                <a16:creationId xmlns:a16="http://schemas.microsoft.com/office/drawing/2014/main" id="{3AFE3B26-4F9A-DC1F-8121-F216FC3521E0}"/>
              </a:ext>
            </a:extLst>
          </p:cNvPr>
          <p:cNvCxnSpPr>
            <a:cxnSpLocks/>
          </p:cNvCxnSpPr>
          <p:nvPr/>
        </p:nvCxnSpPr>
        <p:spPr>
          <a:xfrm>
            <a:off x="11965517" y="879395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1" name="Straight Arrow Connector 300">
            <a:extLst>
              <a:ext uri="{FF2B5EF4-FFF2-40B4-BE49-F238E27FC236}">
                <a16:creationId xmlns:a16="http://schemas.microsoft.com/office/drawing/2014/main" id="{E31A1809-E172-7D0D-1AC0-009078BDC28E}"/>
              </a:ext>
            </a:extLst>
          </p:cNvPr>
          <p:cNvCxnSpPr>
            <a:cxnSpLocks/>
          </p:cNvCxnSpPr>
          <p:nvPr/>
        </p:nvCxnSpPr>
        <p:spPr>
          <a:xfrm>
            <a:off x="11956735" y="812864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1" name="Straight Arrow Connector 310">
            <a:extLst>
              <a:ext uri="{FF2B5EF4-FFF2-40B4-BE49-F238E27FC236}">
                <a16:creationId xmlns:a16="http://schemas.microsoft.com/office/drawing/2014/main" id="{8AC545C7-38FE-DBB1-F6E8-B0E9D5C37B6F}"/>
              </a:ext>
            </a:extLst>
          </p:cNvPr>
          <p:cNvCxnSpPr>
            <a:cxnSpLocks/>
          </p:cNvCxnSpPr>
          <p:nvPr/>
        </p:nvCxnSpPr>
        <p:spPr>
          <a:xfrm>
            <a:off x="13340455" y="901584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331" name="Picture 330" descr="A black and white logo&#10;&#10;AI-generated content may be incorrect.">
            <a:extLst>
              <a:ext uri="{FF2B5EF4-FFF2-40B4-BE49-F238E27FC236}">
                <a16:creationId xmlns:a16="http://schemas.microsoft.com/office/drawing/2014/main" id="{733772B0-241B-431F-D4DD-24D91862384C}"/>
              </a:ext>
            </a:extLst>
          </p:cNvPr>
          <p:cNvPicPr>
            <a:picLocks noChangeAspect="1"/>
          </p:cNvPicPr>
          <p:nvPr/>
        </p:nvPicPr>
        <p:blipFill>
          <a:blip r:embed="rId18"/>
          <a:stretch>
            <a:fillRect/>
          </a:stretch>
        </p:blipFill>
        <p:spPr>
          <a:xfrm>
            <a:off x="5835035" y="9133674"/>
            <a:ext cx="327111" cy="288344"/>
          </a:xfrm>
          <a:prstGeom prst="rect">
            <a:avLst/>
          </a:prstGeom>
        </p:spPr>
      </p:pic>
      <p:pic>
        <p:nvPicPr>
          <p:cNvPr id="332" name="Picture 331" descr="A black and white logo&#10;&#10;AI-generated content may be incorrect.">
            <a:extLst>
              <a:ext uri="{FF2B5EF4-FFF2-40B4-BE49-F238E27FC236}">
                <a16:creationId xmlns:a16="http://schemas.microsoft.com/office/drawing/2014/main" id="{ECC7F63E-29F6-7CA4-5843-681AE86B2A5A}"/>
              </a:ext>
            </a:extLst>
          </p:cNvPr>
          <p:cNvPicPr>
            <a:picLocks noChangeAspect="1"/>
          </p:cNvPicPr>
          <p:nvPr/>
        </p:nvPicPr>
        <p:blipFill>
          <a:blip r:embed="rId18"/>
          <a:stretch>
            <a:fillRect/>
          </a:stretch>
        </p:blipFill>
        <p:spPr>
          <a:xfrm>
            <a:off x="6239907" y="9133673"/>
            <a:ext cx="327111" cy="288344"/>
          </a:xfrm>
          <a:prstGeom prst="rect">
            <a:avLst/>
          </a:prstGeom>
        </p:spPr>
      </p:pic>
      <p:sp>
        <p:nvSpPr>
          <p:cNvPr id="333" name="TextBox 332">
            <a:extLst>
              <a:ext uri="{FF2B5EF4-FFF2-40B4-BE49-F238E27FC236}">
                <a16:creationId xmlns:a16="http://schemas.microsoft.com/office/drawing/2014/main" id="{6A7690B0-4EA6-7332-9ABE-37B0048B0B61}"/>
              </a:ext>
            </a:extLst>
          </p:cNvPr>
          <p:cNvSpPr txBox="1"/>
          <p:nvPr/>
        </p:nvSpPr>
        <p:spPr>
          <a:xfrm>
            <a:off x="6701048" y="9032894"/>
            <a:ext cx="3206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5" name="Picture 334" descr="A black and white logo&#10;&#10;AI-generated content may be incorrect.">
            <a:extLst>
              <a:ext uri="{FF2B5EF4-FFF2-40B4-BE49-F238E27FC236}">
                <a16:creationId xmlns:a16="http://schemas.microsoft.com/office/drawing/2014/main" id="{3AC3D2A0-71B5-0AF2-11CC-D807E7D9FFAF}"/>
              </a:ext>
            </a:extLst>
          </p:cNvPr>
          <p:cNvPicPr>
            <a:picLocks noChangeAspect="1"/>
          </p:cNvPicPr>
          <p:nvPr/>
        </p:nvPicPr>
        <p:blipFill>
          <a:blip r:embed="rId18"/>
          <a:stretch>
            <a:fillRect/>
          </a:stretch>
        </p:blipFill>
        <p:spPr>
          <a:xfrm>
            <a:off x="7096034" y="9131649"/>
            <a:ext cx="327111" cy="288344"/>
          </a:xfrm>
          <a:prstGeom prst="rect">
            <a:avLst/>
          </a:prstGeom>
        </p:spPr>
      </p:pic>
      <p:cxnSp>
        <p:nvCxnSpPr>
          <p:cNvPr id="336" name="Straight Arrow Connector 335">
            <a:extLst>
              <a:ext uri="{FF2B5EF4-FFF2-40B4-BE49-F238E27FC236}">
                <a16:creationId xmlns:a16="http://schemas.microsoft.com/office/drawing/2014/main" id="{1B47470F-58A0-8E86-89F2-2020ED58C165}"/>
              </a:ext>
            </a:extLst>
          </p:cNvPr>
          <p:cNvCxnSpPr/>
          <p:nvPr/>
        </p:nvCxnSpPr>
        <p:spPr>
          <a:xfrm>
            <a:off x="5476160" y="5990099"/>
            <a:ext cx="2786744" cy="2054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Arrow Connector 338">
            <a:extLst>
              <a:ext uri="{FF2B5EF4-FFF2-40B4-BE49-F238E27FC236}">
                <a16:creationId xmlns:a16="http://schemas.microsoft.com/office/drawing/2014/main" id="{C6DE1A18-2394-764E-34D5-51D8D1B1D5D7}"/>
              </a:ext>
            </a:extLst>
          </p:cNvPr>
          <p:cNvCxnSpPr/>
          <p:nvPr/>
        </p:nvCxnSpPr>
        <p:spPr>
          <a:xfrm>
            <a:off x="8240318" y="5254399"/>
            <a:ext cx="4975" cy="74632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0" name="Straight Arrow Connector 339">
            <a:extLst>
              <a:ext uri="{FF2B5EF4-FFF2-40B4-BE49-F238E27FC236}">
                <a16:creationId xmlns:a16="http://schemas.microsoft.com/office/drawing/2014/main" id="{7C2982B5-2190-4E4D-667E-441080E71978}"/>
              </a:ext>
            </a:extLst>
          </p:cNvPr>
          <p:cNvCxnSpPr/>
          <p:nvPr/>
        </p:nvCxnSpPr>
        <p:spPr>
          <a:xfrm flipH="1" flipV="1">
            <a:off x="5476491" y="5738690"/>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5" name="Straight Arrow Connector 354">
            <a:extLst>
              <a:ext uri="{FF2B5EF4-FFF2-40B4-BE49-F238E27FC236}">
                <a16:creationId xmlns:a16="http://schemas.microsoft.com/office/drawing/2014/main" id="{E6C59D52-17E1-22DC-8DA5-4446859D763F}"/>
              </a:ext>
            </a:extLst>
          </p:cNvPr>
          <p:cNvCxnSpPr>
            <a:cxnSpLocks/>
          </p:cNvCxnSpPr>
          <p:nvPr/>
        </p:nvCxnSpPr>
        <p:spPr>
          <a:xfrm flipH="1" flipV="1">
            <a:off x="6452587" y="5731053"/>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6" name="Straight Arrow Connector 355">
            <a:extLst>
              <a:ext uri="{FF2B5EF4-FFF2-40B4-BE49-F238E27FC236}">
                <a16:creationId xmlns:a16="http://schemas.microsoft.com/office/drawing/2014/main" id="{11B32453-A232-4DAC-37EB-19FC95A849A5}"/>
              </a:ext>
            </a:extLst>
          </p:cNvPr>
          <p:cNvCxnSpPr/>
          <p:nvPr/>
        </p:nvCxnSpPr>
        <p:spPr>
          <a:xfrm>
            <a:off x="6722531" y="5989650"/>
            <a:ext cx="4972" cy="2879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A9A7F801-0DDD-4C9A-C6B6-F8F8EA02366E}"/>
              </a:ext>
            </a:extLst>
          </p:cNvPr>
          <p:cNvSpPr txBox="1"/>
          <p:nvPr/>
        </p:nvSpPr>
        <p:spPr>
          <a:xfrm>
            <a:off x="9637294" y="9067398"/>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pic>
        <p:nvPicPr>
          <p:cNvPr id="20" name="Picture 19">
            <a:extLst>
              <a:ext uri="{FF2B5EF4-FFF2-40B4-BE49-F238E27FC236}">
                <a16:creationId xmlns:a16="http://schemas.microsoft.com/office/drawing/2014/main" id="{504D3C99-57BD-CA2E-7243-C72D774CF960}"/>
              </a:ext>
            </a:extLst>
          </p:cNvPr>
          <p:cNvPicPr>
            <a:picLocks noChangeAspect="1"/>
          </p:cNvPicPr>
          <p:nvPr/>
        </p:nvPicPr>
        <p:blipFill>
          <a:blip r:embed="rId14"/>
          <a:stretch>
            <a:fillRect/>
          </a:stretch>
        </p:blipFill>
        <p:spPr>
          <a:xfrm>
            <a:off x="10193141" y="9536212"/>
            <a:ext cx="538060" cy="507646"/>
          </a:xfrm>
          <a:prstGeom prst="rect">
            <a:avLst/>
          </a:prstGeom>
        </p:spPr>
      </p:pic>
      <p:pic>
        <p:nvPicPr>
          <p:cNvPr id="26" name="Picture 25">
            <a:extLst>
              <a:ext uri="{FF2B5EF4-FFF2-40B4-BE49-F238E27FC236}">
                <a16:creationId xmlns:a16="http://schemas.microsoft.com/office/drawing/2014/main" id="{C30CBF82-7111-D6D8-1DEF-AA31C7216A08}"/>
              </a:ext>
            </a:extLst>
          </p:cNvPr>
          <p:cNvPicPr>
            <a:picLocks noChangeAspect="1"/>
          </p:cNvPicPr>
          <p:nvPr/>
        </p:nvPicPr>
        <p:blipFill>
          <a:blip r:embed="rId14"/>
          <a:stretch>
            <a:fillRect/>
          </a:stretch>
        </p:blipFill>
        <p:spPr>
          <a:xfrm>
            <a:off x="11435228" y="9518524"/>
            <a:ext cx="538060" cy="507646"/>
          </a:xfrm>
          <a:prstGeom prst="rect">
            <a:avLst/>
          </a:prstGeom>
        </p:spPr>
      </p:pic>
      <p:pic>
        <p:nvPicPr>
          <p:cNvPr id="29" name="table">
            <a:extLst>
              <a:ext uri="{FF2B5EF4-FFF2-40B4-BE49-F238E27FC236}">
                <a16:creationId xmlns:a16="http://schemas.microsoft.com/office/drawing/2014/main" id="{F9311CA4-1ABA-1A44-CC2E-CEB8224D62FF}"/>
              </a:ext>
            </a:extLst>
          </p:cNvPr>
          <p:cNvPicPr>
            <a:picLocks noChangeAspect="1"/>
          </p:cNvPicPr>
          <p:nvPr/>
        </p:nvPicPr>
        <p:blipFill>
          <a:blip r:embed="rId7"/>
          <a:stretch>
            <a:fillRect/>
          </a:stretch>
        </p:blipFill>
        <p:spPr>
          <a:xfrm>
            <a:off x="10959403" y="9648425"/>
            <a:ext cx="267508" cy="302355"/>
          </a:xfrm>
          <a:prstGeom prst="rect">
            <a:avLst/>
          </a:prstGeom>
        </p:spPr>
      </p:pic>
      <p:pic>
        <p:nvPicPr>
          <p:cNvPr id="34" name="table">
            <a:extLst>
              <a:ext uri="{FF2B5EF4-FFF2-40B4-BE49-F238E27FC236}">
                <a16:creationId xmlns:a16="http://schemas.microsoft.com/office/drawing/2014/main" id="{1520E11D-3CC3-ED55-1891-D7FC46F93F47}"/>
              </a:ext>
            </a:extLst>
          </p:cNvPr>
          <p:cNvPicPr>
            <a:picLocks noChangeAspect="1"/>
          </p:cNvPicPr>
          <p:nvPr/>
        </p:nvPicPr>
        <p:blipFill>
          <a:blip r:embed="rId7"/>
          <a:stretch>
            <a:fillRect/>
          </a:stretch>
        </p:blipFill>
        <p:spPr>
          <a:xfrm>
            <a:off x="12186427" y="9604231"/>
            <a:ext cx="267508" cy="302355"/>
          </a:xfrm>
          <a:prstGeom prst="rect">
            <a:avLst/>
          </a:prstGeom>
        </p:spPr>
      </p:pic>
      <p:pic>
        <p:nvPicPr>
          <p:cNvPr id="35" name="Picture 34">
            <a:extLst>
              <a:ext uri="{FF2B5EF4-FFF2-40B4-BE49-F238E27FC236}">
                <a16:creationId xmlns:a16="http://schemas.microsoft.com/office/drawing/2014/main" id="{B3159239-88BE-BF87-EE71-B84BF3053613}"/>
              </a:ext>
            </a:extLst>
          </p:cNvPr>
          <p:cNvPicPr>
            <a:picLocks noChangeAspect="1"/>
          </p:cNvPicPr>
          <p:nvPr/>
        </p:nvPicPr>
        <p:blipFill>
          <a:blip r:embed="rId15"/>
          <a:stretch>
            <a:fillRect/>
          </a:stretch>
        </p:blipFill>
        <p:spPr>
          <a:xfrm>
            <a:off x="9487843" y="9598106"/>
            <a:ext cx="554321" cy="415604"/>
          </a:xfrm>
          <a:prstGeom prst="rect">
            <a:avLst/>
          </a:prstGeom>
          <a:ln w="28575">
            <a:solidFill>
              <a:schemeClr val="bg1"/>
            </a:solidFill>
          </a:ln>
        </p:spPr>
      </p:pic>
      <p:cxnSp>
        <p:nvCxnSpPr>
          <p:cNvPr id="268" name="Straight Arrow Connector 267">
            <a:extLst>
              <a:ext uri="{FF2B5EF4-FFF2-40B4-BE49-F238E27FC236}">
                <a16:creationId xmlns:a16="http://schemas.microsoft.com/office/drawing/2014/main" id="{D889FF4C-C295-3DFA-81D7-4E1E8F7D0C43}"/>
              </a:ext>
            </a:extLst>
          </p:cNvPr>
          <p:cNvCxnSpPr>
            <a:cxnSpLocks/>
          </p:cNvCxnSpPr>
          <p:nvPr/>
        </p:nvCxnSpPr>
        <p:spPr>
          <a:xfrm>
            <a:off x="10022671" y="978728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61B23BBB-4274-5493-0778-45A04629347A}"/>
              </a:ext>
            </a:extLst>
          </p:cNvPr>
          <p:cNvCxnSpPr>
            <a:cxnSpLocks/>
          </p:cNvCxnSpPr>
          <p:nvPr/>
        </p:nvCxnSpPr>
        <p:spPr>
          <a:xfrm>
            <a:off x="10690368" y="979620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0" name="Straight Arrow Connector 269">
            <a:extLst>
              <a:ext uri="{FF2B5EF4-FFF2-40B4-BE49-F238E27FC236}">
                <a16:creationId xmlns:a16="http://schemas.microsoft.com/office/drawing/2014/main" id="{A870E96A-5917-84E2-43F9-C19DF5909E2A}"/>
              </a:ext>
            </a:extLst>
          </p:cNvPr>
          <p:cNvCxnSpPr>
            <a:cxnSpLocks/>
          </p:cNvCxnSpPr>
          <p:nvPr/>
        </p:nvCxnSpPr>
        <p:spPr>
          <a:xfrm>
            <a:off x="11240657" y="978749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CF9BE22F-7205-0667-16EA-D555BA9D6A90}"/>
              </a:ext>
            </a:extLst>
          </p:cNvPr>
          <p:cNvCxnSpPr>
            <a:cxnSpLocks/>
          </p:cNvCxnSpPr>
          <p:nvPr/>
        </p:nvCxnSpPr>
        <p:spPr>
          <a:xfrm>
            <a:off x="11950633" y="97965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97FE77B4-3C52-4997-2379-F11D50C9DAD7}"/>
              </a:ext>
            </a:extLst>
          </p:cNvPr>
          <p:cNvCxnSpPr/>
          <p:nvPr/>
        </p:nvCxnSpPr>
        <p:spPr>
          <a:xfrm>
            <a:off x="12480161" y="8108336"/>
            <a:ext cx="417374" cy="861135"/>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8A0FA0D5-9E4F-C21E-A22E-CCC52050DA34}"/>
              </a:ext>
            </a:extLst>
          </p:cNvPr>
          <p:cNvCxnSpPr/>
          <p:nvPr/>
        </p:nvCxnSpPr>
        <p:spPr>
          <a:xfrm flipV="1">
            <a:off x="12472261" y="9058034"/>
            <a:ext cx="399623" cy="727931"/>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9" name="Connector: Elbow 308">
            <a:extLst>
              <a:ext uri="{FF2B5EF4-FFF2-40B4-BE49-F238E27FC236}">
                <a16:creationId xmlns:a16="http://schemas.microsoft.com/office/drawing/2014/main" id="{DEA3E9F5-1451-88A3-8BDF-F54B550B20F6}"/>
              </a:ext>
            </a:extLst>
          </p:cNvPr>
          <p:cNvCxnSpPr/>
          <p:nvPr/>
        </p:nvCxnSpPr>
        <p:spPr>
          <a:xfrm>
            <a:off x="12490386" y="8810533"/>
            <a:ext cx="399622" cy="15981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4" name="TextBox 353">
            <a:extLst>
              <a:ext uri="{FF2B5EF4-FFF2-40B4-BE49-F238E27FC236}">
                <a16:creationId xmlns:a16="http://schemas.microsoft.com/office/drawing/2014/main" id="{259AFC94-96EC-006B-472F-73261A87FB52}"/>
              </a:ext>
            </a:extLst>
          </p:cNvPr>
          <p:cNvSpPr txBox="1"/>
          <p:nvPr/>
        </p:nvSpPr>
        <p:spPr>
          <a:xfrm>
            <a:off x="9631710" y="8890024"/>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sp>
        <p:nvSpPr>
          <p:cNvPr id="360" name="TextBox 359">
            <a:extLst>
              <a:ext uri="{FF2B5EF4-FFF2-40B4-BE49-F238E27FC236}">
                <a16:creationId xmlns:a16="http://schemas.microsoft.com/office/drawing/2014/main" id="{71D68209-1EC0-E421-936E-66B1DC8FA4AA}"/>
              </a:ext>
            </a:extLst>
          </p:cNvPr>
          <p:cNvSpPr txBox="1"/>
          <p:nvPr/>
        </p:nvSpPr>
        <p:spPr>
          <a:xfrm>
            <a:off x="9622927" y="8712649"/>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a:t>
            </a:r>
          </a:p>
        </p:txBody>
      </p:sp>
      <p:sp>
        <p:nvSpPr>
          <p:cNvPr id="361" name="Line">
            <a:extLst>
              <a:ext uri="{FF2B5EF4-FFF2-40B4-BE49-F238E27FC236}">
                <a16:creationId xmlns:a16="http://schemas.microsoft.com/office/drawing/2014/main" id="{1C3043AD-2BC3-9490-FE2E-65C1C02F76FF}"/>
              </a:ext>
            </a:extLst>
          </p:cNvPr>
          <p:cNvSpPr/>
          <p:nvPr/>
        </p:nvSpPr>
        <p:spPr>
          <a:xfrm>
            <a:off x="9690700" y="6201753"/>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362" name="Straight Arrow Connector 361">
            <a:extLst>
              <a:ext uri="{FF2B5EF4-FFF2-40B4-BE49-F238E27FC236}">
                <a16:creationId xmlns:a16="http://schemas.microsoft.com/office/drawing/2014/main" id="{91F3F826-04CB-9C1C-8C51-F41C7A6D451B}"/>
              </a:ext>
            </a:extLst>
          </p:cNvPr>
          <p:cNvCxnSpPr/>
          <p:nvPr/>
        </p:nvCxnSpPr>
        <p:spPr>
          <a:xfrm flipH="1">
            <a:off x="6709005" y="7154130"/>
            <a:ext cx="8649" cy="190867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B881991B-8076-9539-281C-471B63867C99}"/>
              </a:ext>
            </a:extLst>
          </p:cNvPr>
          <p:cNvCxnSpPr/>
          <p:nvPr/>
        </p:nvCxnSpPr>
        <p:spPr>
          <a:xfrm>
            <a:off x="5294108" y="7363747"/>
            <a:ext cx="3133270" cy="1777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5" name="Straight Arrow Connector 314">
            <a:extLst>
              <a:ext uri="{FF2B5EF4-FFF2-40B4-BE49-F238E27FC236}">
                <a16:creationId xmlns:a16="http://schemas.microsoft.com/office/drawing/2014/main" id="{079EF469-86DB-3021-358C-6B53DEC0EECA}"/>
              </a:ext>
            </a:extLst>
          </p:cNvPr>
          <p:cNvCxnSpPr/>
          <p:nvPr/>
        </p:nvCxnSpPr>
        <p:spPr>
          <a:xfrm>
            <a:off x="8435666" y="7371990"/>
            <a:ext cx="17976" cy="34624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6" name="Straight Arrow Connector 315">
            <a:extLst>
              <a:ext uri="{FF2B5EF4-FFF2-40B4-BE49-F238E27FC236}">
                <a16:creationId xmlns:a16="http://schemas.microsoft.com/office/drawing/2014/main" id="{38B977D7-91B0-396F-7451-93D3B75D2282}"/>
              </a:ext>
            </a:extLst>
          </p:cNvPr>
          <p:cNvCxnSpPr/>
          <p:nvPr/>
        </p:nvCxnSpPr>
        <p:spPr>
          <a:xfrm>
            <a:off x="5286998" y="7374285"/>
            <a:ext cx="9102" cy="36399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4" name="Straight Arrow Connector 363">
            <a:extLst>
              <a:ext uri="{FF2B5EF4-FFF2-40B4-BE49-F238E27FC236}">
                <a16:creationId xmlns:a16="http://schemas.microsoft.com/office/drawing/2014/main" id="{B297D645-FD40-A907-9C07-F6562B71A3A4}"/>
              </a:ext>
            </a:extLst>
          </p:cNvPr>
          <p:cNvCxnSpPr/>
          <p:nvPr/>
        </p:nvCxnSpPr>
        <p:spPr>
          <a:xfrm>
            <a:off x="7426823" y="7392884"/>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8" name="Straight Arrow Connector 367">
            <a:extLst>
              <a:ext uri="{FF2B5EF4-FFF2-40B4-BE49-F238E27FC236}">
                <a16:creationId xmlns:a16="http://schemas.microsoft.com/office/drawing/2014/main" id="{222E820A-969C-D7F5-1FAF-E87FE792E808}"/>
              </a:ext>
            </a:extLst>
          </p:cNvPr>
          <p:cNvCxnSpPr>
            <a:cxnSpLocks/>
          </p:cNvCxnSpPr>
          <p:nvPr/>
        </p:nvCxnSpPr>
        <p:spPr>
          <a:xfrm>
            <a:off x="6000593" y="7384066"/>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71" name="TextBox 370">
            <a:extLst>
              <a:ext uri="{FF2B5EF4-FFF2-40B4-BE49-F238E27FC236}">
                <a16:creationId xmlns:a16="http://schemas.microsoft.com/office/drawing/2014/main" id="{82694862-276A-9EC7-F5B9-2214D82256E8}"/>
              </a:ext>
            </a:extLst>
          </p:cNvPr>
          <p:cNvSpPr txBox="1"/>
          <p:nvPr/>
        </p:nvSpPr>
        <p:spPr>
          <a:xfrm>
            <a:off x="4685424" y="3778567"/>
            <a:ext cx="4534280" cy="5105264"/>
          </a:xfrm>
          <a:prstGeom prst="rect">
            <a:avLst/>
          </a:prstGeom>
          <a:noFill/>
          <a:ln w="1270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6" name="TextBox 375">
            <a:extLst>
              <a:ext uri="{FF2B5EF4-FFF2-40B4-BE49-F238E27FC236}">
                <a16:creationId xmlns:a16="http://schemas.microsoft.com/office/drawing/2014/main" id="{AFA29F1F-130B-4114-A8D2-8F459ADA2820}"/>
              </a:ext>
            </a:extLst>
          </p:cNvPr>
          <p:cNvSpPr txBox="1"/>
          <p:nvPr/>
        </p:nvSpPr>
        <p:spPr>
          <a:xfrm>
            <a:off x="4719010" y="3769481"/>
            <a:ext cx="2770949"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endParaRPr lang="en-US" sz="2400" b="1" i="0" u="none" strike="noStrike" cap="none" spc="0" normalizeH="0" baseline="0">
              <a:ln>
                <a:noFill/>
              </a:ln>
              <a:solidFill>
                <a:srgbClr val="4C4C4C"/>
              </a:solidFill>
              <a:effectLst/>
              <a:uFillTx/>
              <a:latin typeface="Source Sans Pro"/>
              <a:ea typeface="Source Sans Pro"/>
              <a:cs typeface="Source Sans Pro"/>
            </a:endParaRPr>
          </a:p>
        </p:txBody>
      </p:sp>
    </p:spTree>
    <p:extLst>
      <p:ext uri="{BB962C8B-B14F-4D97-AF65-F5344CB8AC3E}">
        <p14:creationId xmlns:p14="http://schemas.microsoft.com/office/powerpoint/2010/main" val="425604184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87B07-4540-6BDE-BF33-BA88359BCCD3}"/>
            </a:ext>
          </a:extLst>
        </p:cNvPr>
        <p:cNvGrpSpPr/>
        <p:nvPr/>
      </p:nvGrpSpPr>
      <p:grpSpPr>
        <a:xfrm>
          <a:off x="0" y="0"/>
          <a:ext cx="0" cy="0"/>
          <a:chOff x="0" y="0"/>
          <a:chExt cx="0" cy="0"/>
        </a:xfrm>
      </p:grpSpPr>
      <p:sp>
        <p:nvSpPr>
          <p:cNvPr id="371" name="TextBox 370">
            <a:extLst>
              <a:ext uri="{FF2B5EF4-FFF2-40B4-BE49-F238E27FC236}">
                <a16:creationId xmlns:a16="http://schemas.microsoft.com/office/drawing/2014/main" id="{630B9592-A0DD-A8B4-A1AF-EB85F37709D6}"/>
              </a:ext>
            </a:extLst>
          </p:cNvPr>
          <p:cNvSpPr txBox="1"/>
          <p:nvPr/>
        </p:nvSpPr>
        <p:spPr>
          <a:xfrm>
            <a:off x="4685424" y="3778567"/>
            <a:ext cx="4534280" cy="5105264"/>
          </a:xfrm>
          <a:prstGeom prst="rect">
            <a:avLst/>
          </a:prstGeom>
          <a:noFill/>
          <a:ln w="1270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3" name="TextBox 372">
            <a:extLst>
              <a:ext uri="{FF2B5EF4-FFF2-40B4-BE49-F238E27FC236}">
                <a16:creationId xmlns:a16="http://schemas.microsoft.com/office/drawing/2014/main" id="{FA1AB789-8100-6FF3-04D2-50DA77549298}"/>
              </a:ext>
            </a:extLst>
          </p:cNvPr>
          <p:cNvSpPr txBox="1"/>
          <p:nvPr/>
        </p:nvSpPr>
        <p:spPr>
          <a:xfrm>
            <a:off x="4821857" y="4262778"/>
            <a:ext cx="2428745" cy="28623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49" name="TextBox 348">
            <a:extLst>
              <a:ext uri="{FF2B5EF4-FFF2-40B4-BE49-F238E27FC236}">
                <a16:creationId xmlns:a16="http://schemas.microsoft.com/office/drawing/2014/main" id="{F56797DA-1804-F2A1-F2CE-195F00AE8204}"/>
              </a:ext>
            </a:extLst>
          </p:cNvPr>
          <p:cNvSpPr txBox="1"/>
          <p:nvPr/>
        </p:nvSpPr>
        <p:spPr>
          <a:xfrm>
            <a:off x="275783" y="7476898"/>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44BCD9D4-D6CB-DF79-514E-13328564246F}"/>
              </a:ext>
            </a:extLst>
          </p:cNvPr>
          <p:cNvPicPr>
            <a:picLocks noChangeAspect="1"/>
          </p:cNvPicPr>
          <p:nvPr/>
        </p:nvPicPr>
        <p:blipFill>
          <a:blip r:embed="rId3"/>
          <a:stretch>
            <a:fillRect/>
          </a:stretch>
        </p:blipFill>
        <p:spPr>
          <a:xfrm>
            <a:off x="12836408" y="3797106"/>
            <a:ext cx="763378" cy="807934"/>
          </a:xfrm>
          <a:prstGeom prst="rect">
            <a:avLst/>
          </a:prstGeom>
        </p:spPr>
      </p:pic>
      <p:pic>
        <p:nvPicPr>
          <p:cNvPr id="292" name="Image" descr="Image">
            <a:extLst>
              <a:ext uri="{FF2B5EF4-FFF2-40B4-BE49-F238E27FC236}">
                <a16:creationId xmlns:a16="http://schemas.microsoft.com/office/drawing/2014/main" id="{46C5CF99-28F7-12E3-7B41-2C07088AEC95}"/>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B2FC14AA-7F59-7BA1-10AA-AAA7F170DAFE}"/>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DE6B0120-87C1-DDB2-689F-30A62E815E3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err="1"/>
              <a:t>Kaiāulu</a:t>
            </a:r>
            <a:endParaRPr sz="2400"/>
          </a:p>
        </p:txBody>
      </p:sp>
      <p:sp>
        <p:nvSpPr>
          <p:cNvPr id="314" name="Group">
            <a:extLst>
              <a:ext uri="{FF2B5EF4-FFF2-40B4-BE49-F238E27FC236}">
                <a16:creationId xmlns:a16="http://schemas.microsoft.com/office/drawing/2014/main" id="{84582435-3598-627E-8ACE-B20A9757BEA4}"/>
              </a:ext>
            </a:extLst>
          </p:cNvPr>
          <p:cNvSpPr/>
          <p:nvPr/>
        </p:nvSpPr>
        <p:spPr>
          <a:xfrm>
            <a:off x="220479" y="2480214"/>
            <a:ext cx="4355409" cy="1450198"/>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F7FEA726-ABF0-DF3D-C4E2-71AF36ABD27E}"/>
              </a:ext>
            </a:extLst>
          </p:cNvPr>
          <p:cNvSpPr txBox="1"/>
          <p:nvPr/>
        </p:nvSpPr>
        <p:spPr>
          <a:xfrm>
            <a:off x="297901" y="2562901"/>
            <a:ext cx="276678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12895066-E3FD-E327-FDAD-DCD54C59AF8A}"/>
              </a:ext>
            </a:extLst>
          </p:cNvPr>
          <p:cNvSpPr txBox="1"/>
          <p:nvPr/>
        </p:nvSpPr>
        <p:spPr>
          <a:xfrm>
            <a:off x="293295" y="2899340"/>
            <a:ext cx="4264736"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dirty="0">
                <a:cs typeface="Arial"/>
              </a:rPr>
              <a:t>The first part of running any vignette is setting up your project </a:t>
            </a:r>
            <a:r>
              <a:rPr lang="en-US" b="0">
                <a:cs typeface="Arial"/>
              </a:rPr>
              <a:t>configuration file (examples in /conf).</a:t>
            </a:r>
            <a:r>
              <a:rPr dirty="0">
                <a:cs typeface="Arial"/>
              </a:rPr>
              <a:t> </a:t>
            </a:r>
            <a:endParaRPr lang="en-US" dirty="0">
              <a:cs typeface="Arial"/>
            </a:endParaRPr>
          </a:p>
        </p:txBody>
      </p:sp>
      <p:sp>
        <p:nvSpPr>
          <p:cNvPr id="324" name="Cheatsheets make it easy for R users…">
            <a:extLst>
              <a:ext uri="{FF2B5EF4-FFF2-40B4-BE49-F238E27FC236}">
                <a16:creationId xmlns:a16="http://schemas.microsoft.com/office/drawing/2014/main" id="{EEB5F4DC-A6E9-FDEA-5662-9E6C1E271CA8}"/>
              </a:ext>
            </a:extLst>
          </p:cNvPr>
          <p:cNvSpPr txBox="1"/>
          <p:nvPr/>
        </p:nvSpPr>
        <p:spPr>
          <a:xfrm>
            <a:off x="312386" y="3284054"/>
            <a:ext cx="4122651" cy="602800"/>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err="1">
                <a:cs typeface="Arial"/>
              </a:rPr>
              <a:t>mailing_list</a:t>
            </a:r>
            <a:r>
              <a:rPr lang="en-US">
                <a:cs typeface="Arial"/>
              </a:rPr>
              <a:t>:     ...</a:t>
            </a:r>
          </a:p>
          <a:p>
            <a:pPr marL="171450" lvl="3" indent="-171450">
              <a:lnSpc>
                <a:spcPct val="90000"/>
              </a:lnSpc>
              <a:spcBef>
                <a:spcPts val="0"/>
              </a:spcBef>
              <a:buFont typeface="Arial" panose="020B0604020202020204" pitchFamily="34" charset="0"/>
              <a:buChar char="•"/>
              <a:defRPr>
                <a:solidFill>
                  <a:srgbClr val="000000"/>
                </a:solidFill>
              </a:defRPr>
            </a:pPr>
            <a:r>
              <a:rPr lang="en-US" err="1">
                <a:cs typeface="Arial"/>
              </a:rPr>
              <a:t>issue_tracker</a:t>
            </a:r>
            <a:r>
              <a:rPr lang="en-US">
                <a:cs typeface="Arial"/>
              </a:rPr>
              <a:t>: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C227CA52-76B6-4358-D1A0-28CB366D6EF3}"/>
              </a:ext>
            </a:extLst>
          </p:cNvPr>
          <p:cNvSpPr txBox="1"/>
          <p:nvPr/>
        </p:nvSpPr>
        <p:spPr>
          <a:xfrm>
            <a:off x="279130" y="6525210"/>
            <a:ext cx="25519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Exec </a:t>
            </a:r>
            <a:r>
              <a:rPr lang="en-US" dirty="0" err="1">
                <a:cs typeface="Arial"/>
              </a:rPr>
              <a:t>Configuratio</a:t>
            </a:r>
            <a:r>
              <a:rPr lang="en-US" dirty="0">
                <a:cs typeface="Arial"/>
              </a:rPr>
              <a:t>n</a:t>
            </a:r>
            <a:endParaRPr lang="en-US" dirty="0"/>
          </a:p>
        </p:txBody>
      </p:sp>
      <p:sp>
        <p:nvSpPr>
          <p:cNvPr id="334" name="Three Column Layout: : CHEAT SHEET">
            <a:extLst>
              <a:ext uri="{FF2B5EF4-FFF2-40B4-BE49-F238E27FC236}">
                <a16:creationId xmlns:a16="http://schemas.microsoft.com/office/drawing/2014/main" id="{59643BB3-17B4-CD66-113F-B9A4BAB5CDDF}"/>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99C7CA85-C232-9915-643F-1AF2A09726FE}"/>
              </a:ext>
            </a:extLst>
          </p:cNvPr>
          <p:cNvSpPr txBox="1"/>
          <p:nvPr/>
        </p:nvSpPr>
        <p:spPr>
          <a:xfrm>
            <a:off x="4681179" y="2700666"/>
            <a:ext cx="209352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783C23A1-DD50-5990-59FE-AEC8061814F0}"/>
              </a:ext>
            </a:extLst>
          </p:cNvPr>
          <p:cNvSpPr txBox="1"/>
          <p:nvPr/>
        </p:nvSpPr>
        <p:spPr>
          <a:xfrm>
            <a:off x="257982" y="1466006"/>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85FB393C-2B8F-9330-07E0-0F7E1CF22E6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7C6C6760-DBDB-C65E-C471-51F0567A7926}"/>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lang="en-US" sz="1000" b="0">
                <a:solidFill>
                  <a:schemeClr val="tx1"/>
                </a:solidFill>
              </a:rPr>
              <a:t>Cohen Ruport,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Carlos Paradis,</a:t>
            </a:r>
            <a:r>
              <a:rPr lang="en-US" sz="1000" b="0">
                <a:solidFill>
                  <a:schemeClr val="tx1"/>
                </a:solidFill>
              </a:rPr>
              <a:t>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Kaiaulu package version 0.0.0.9700 (in development) •  Updated: </a:t>
            </a:r>
            <a:r>
              <a:rPr lang="en-US" sz="1000" b="0">
                <a:solidFill>
                  <a:schemeClr val="tx1"/>
                </a:solidFill>
              </a:rPr>
              <a:t>2026-4</a:t>
            </a:r>
            <a:endParaRPr lang="en-US" sz="1000" b="0" i="0" u="none" strike="noStrike" cap="none" spc="0" normalizeH="0" baseline="0">
              <a:ln>
                <a:noFill/>
              </a:ln>
              <a:solidFill>
                <a:schemeClr val="tx1"/>
              </a:solidFill>
              <a:effectLst/>
              <a:uFillTx/>
              <a:latin typeface="Source Sans Pro"/>
              <a:ea typeface="Source Sans Pro"/>
              <a:cs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A0D1FC7E-C385-625D-9545-6EE03A3750B9}"/>
              </a:ext>
            </a:extLst>
          </p:cNvPr>
          <p:cNvSpPr/>
          <p:nvPr/>
        </p:nvSpPr>
        <p:spPr>
          <a:xfrm>
            <a:off x="222735" y="5285299"/>
            <a:ext cx="4355706" cy="118521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1A308B98-7C0F-8C59-6234-8995AA72DF7F}"/>
              </a:ext>
            </a:extLst>
          </p:cNvPr>
          <p:cNvSpPr txBox="1"/>
          <p:nvPr/>
        </p:nvSpPr>
        <p:spPr>
          <a:xfrm>
            <a:off x="347617" y="5334634"/>
            <a:ext cx="254396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F5B68C6A-6C2F-5705-8781-E676839EF0A5}"/>
              </a:ext>
            </a:extLst>
          </p:cNvPr>
          <p:cNvSpPr txBox="1"/>
          <p:nvPr/>
        </p:nvSpPr>
        <p:spPr>
          <a:xfrm>
            <a:off x="339098" y="5930519"/>
            <a:ext cx="4105332" cy="432239"/>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err="1">
                <a:cs typeface="Arial"/>
              </a:rPr>
              <a:t>perceval</a:t>
            </a:r>
            <a:r>
              <a:rPr lang="en-US" dirty="0">
                <a:cs typeface="Arial"/>
              </a:rPr>
              <a:t>: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5FAAC769-CB20-7085-839B-E9DDF7B2E003}"/>
              </a:ext>
            </a:extLst>
          </p:cNvPr>
          <p:cNvPicPr>
            <a:picLocks noChangeAspect="1"/>
          </p:cNvPicPr>
          <p:nvPr/>
        </p:nvPicPr>
        <p:blipFill>
          <a:blip r:embed="rId7"/>
          <a:stretch>
            <a:fillRect/>
          </a:stretch>
        </p:blipFill>
        <p:spPr>
          <a:xfrm>
            <a:off x="11535616" y="506116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0BB72155-734F-4FA3-E45A-F380210D8E9E}"/>
              </a:ext>
            </a:extLst>
          </p:cNvPr>
          <p:cNvSpPr txBox="1"/>
          <p:nvPr/>
        </p:nvSpPr>
        <p:spPr>
          <a:xfrm>
            <a:off x="328655" y="5646170"/>
            <a:ext cx="4369511"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t">
            <a:spAutoFit/>
          </a:bodyPr>
          <a:lstStyle/>
          <a:p>
            <a:pPr>
              <a:lnSpc>
                <a:spcPct val="90000"/>
              </a:lnSpc>
              <a:buSzPts val="3700"/>
            </a:pPr>
            <a:r>
              <a:rPr lang="en-US" b="0" dirty="0">
                <a:solidFill>
                  <a:srgbClr val="000000"/>
                </a:solidFill>
                <a:cs typeface="Arial"/>
              </a:rPr>
              <a:t>The required external tools must be specified  in </a:t>
            </a:r>
            <a:r>
              <a:rPr lang="en-US" b="0" dirty="0" err="1">
                <a:solidFill>
                  <a:srgbClr val="000000"/>
                </a:solidFill>
                <a:cs typeface="Arial"/>
              </a:rPr>
              <a:t>tools.</a:t>
            </a:r>
            <a:r>
              <a:rPr lang="en-US" b="0" noProof="1">
                <a:solidFill>
                  <a:srgbClr val="000000"/>
                </a:solidFill>
                <a:cs typeface="Arial"/>
              </a:rPr>
              <a:t>yml</a:t>
            </a:r>
            <a:r>
              <a:rPr lang="en-US" b="0" dirty="0">
                <a:solidFill>
                  <a:srgbClr val="000000"/>
                </a:solidFill>
                <a:cs typeface="Arial"/>
              </a:rPr>
              <a:t>:</a:t>
            </a:r>
            <a:endParaRPr lang="en-US" b="0" u="sng">
              <a:solidFill>
                <a:srgbClr val="000000"/>
              </a:solidFill>
              <a:cs typeface="Arial"/>
            </a:endParaRPr>
          </a:p>
        </p:txBody>
      </p:sp>
      <p:pic>
        <p:nvPicPr>
          <p:cNvPr id="17" name="Picture 16">
            <a:extLst>
              <a:ext uri="{FF2B5EF4-FFF2-40B4-BE49-F238E27FC236}">
                <a16:creationId xmlns:a16="http://schemas.microsoft.com/office/drawing/2014/main" id="{98FE2609-9652-2231-1F29-C8D9BF94F3EE}"/>
              </a:ext>
            </a:extLst>
          </p:cNvPr>
          <p:cNvPicPr>
            <a:picLocks noChangeAspect="1"/>
          </p:cNvPicPr>
          <p:nvPr/>
        </p:nvPicPr>
        <p:blipFill>
          <a:blip r:embed="rId8"/>
          <a:stretch>
            <a:fillRect/>
          </a:stretch>
        </p:blipFill>
        <p:spPr>
          <a:xfrm>
            <a:off x="11550620" y="2749374"/>
            <a:ext cx="546328" cy="546436"/>
          </a:xfrm>
          <a:prstGeom prst="rect">
            <a:avLst/>
          </a:prstGeom>
        </p:spPr>
      </p:pic>
      <p:pic>
        <p:nvPicPr>
          <p:cNvPr id="23" name="Picture 22">
            <a:extLst>
              <a:ext uri="{FF2B5EF4-FFF2-40B4-BE49-F238E27FC236}">
                <a16:creationId xmlns:a16="http://schemas.microsoft.com/office/drawing/2014/main" id="{1EF63E98-6C3D-6E26-F106-F6B7ED6C2E3F}"/>
              </a:ext>
            </a:extLst>
          </p:cNvPr>
          <p:cNvPicPr>
            <a:picLocks noChangeAspect="1"/>
          </p:cNvPicPr>
          <p:nvPr/>
        </p:nvPicPr>
        <p:blipFill>
          <a:blip r:embed="rId9"/>
          <a:stretch>
            <a:fillRect/>
          </a:stretch>
        </p:blipFill>
        <p:spPr>
          <a:xfrm>
            <a:off x="9398319" y="4743260"/>
            <a:ext cx="544372" cy="486505"/>
          </a:xfrm>
          <a:prstGeom prst="rect">
            <a:avLst/>
          </a:prstGeom>
        </p:spPr>
      </p:pic>
      <p:pic>
        <p:nvPicPr>
          <p:cNvPr id="24" name="Picture 23">
            <a:extLst>
              <a:ext uri="{FF2B5EF4-FFF2-40B4-BE49-F238E27FC236}">
                <a16:creationId xmlns:a16="http://schemas.microsoft.com/office/drawing/2014/main" id="{5251B9B4-6B9C-5776-2825-10472F8606C1}"/>
              </a:ext>
            </a:extLst>
          </p:cNvPr>
          <p:cNvPicPr>
            <a:picLocks noChangeAspect="1"/>
          </p:cNvPicPr>
          <p:nvPr/>
        </p:nvPicPr>
        <p:blipFill>
          <a:blip r:embed="rId10"/>
          <a:stretch>
            <a:fillRect/>
          </a:stretch>
        </p:blipFill>
        <p:spPr>
          <a:xfrm>
            <a:off x="9543024" y="4118620"/>
            <a:ext cx="742783" cy="609600"/>
          </a:xfrm>
          <a:prstGeom prst="rect">
            <a:avLst/>
          </a:prstGeom>
        </p:spPr>
      </p:pic>
      <p:pic>
        <p:nvPicPr>
          <p:cNvPr id="25" name="Picture 24">
            <a:extLst>
              <a:ext uri="{FF2B5EF4-FFF2-40B4-BE49-F238E27FC236}">
                <a16:creationId xmlns:a16="http://schemas.microsoft.com/office/drawing/2014/main" id="{4DA86A38-97B5-204F-126B-98190E1A31C8}"/>
              </a:ext>
            </a:extLst>
          </p:cNvPr>
          <p:cNvPicPr>
            <a:picLocks noChangeAspect="1"/>
          </p:cNvPicPr>
          <p:nvPr/>
        </p:nvPicPr>
        <p:blipFill>
          <a:blip r:embed="rId11"/>
          <a:stretch>
            <a:fillRect/>
          </a:stretch>
        </p:blipFill>
        <p:spPr>
          <a:xfrm>
            <a:off x="12021419" y="3235853"/>
            <a:ext cx="372044" cy="354363"/>
          </a:xfrm>
          <a:prstGeom prst="rect">
            <a:avLst/>
          </a:prstGeom>
        </p:spPr>
      </p:pic>
      <p:pic>
        <p:nvPicPr>
          <p:cNvPr id="38" name="Picture 37">
            <a:extLst>
              <a:ext uri="{FF2B5EF4-FFF2-40B4-BE49-F238E27FC236}">
                <a16:creationId xmlns:a16="http://schemas.microsoft.com/office/drawing/2014/main" id="{DDA30026-34CD-F224-72A0-23FC93DD090F}"/>
              </a:ext>
            </a:extLst>
          </p:cNvPr>
          <p:cNvPicPr>
            <a:picLocks noChangeAspect="1"/>
          </p:cNvPicPr>
          <p:nvPr/>
        </p:nvPicPr>
        <p:blipFill>
          <a:blip r:embed="rId10"/>
          <a:stretch>
            <a:fillRect/>
          </a:stretch>
        </p:blipFill>
        <p:spPr>
          <a:xfrm rot="10800000">
            <a:off x="9913619" y="4435494"/>
            <a:ext cx="742783" cy="609600"/>
          </a:xfrm>
          <a:prstGeom prst="rect">
            <a:avLst/>
          </a:prstGeom>
        </p:spPr>
      </p:pic>
      <p:pic>
        <p:nvPicPr>
          <p:cNvPr id="39" name="Picture 38">
            <a:extLst>
              <a:ext uri="{FF2B5EF4-FFF2-40B4-BE49-F238E27FC236}">
                <a16:creationId xmlns:a16="http://schemas.microsoft.com/office/drawing/2014/main" id="{14C4294F-C2A5-D7E7-9FB0-87AE1B328FC0}"/>
              </a:ext>
            </a:extLst>
          </p:cNvPr>
          <p:cNvPicPr>
            <a:picLocks noChangeAspect="1"/>
          </p:cNvPicPr>
          <p:nvPr/>
        </p:nvPicPr>
        <p:blipFill>
          <a:blip r:embed="rId12"/>
          <a:stretch>
            <a:fillRect/>
          </a:stretch>
        </p:blipFill>
        <p:spPr>
          <a:xfrm>
            <a:off x="10892178" y="4118426"/>
            <a:ext cx="560207" cy="171450"/>
          </a:xfrm>
          <a:prstGeom prst="rect">
            <a:avLst/>
          </a:prstGeom>
        </p:spPr>
      </p:pic>
      <p:pic>
        <p:nvPicPr>
          <p:cNvPr id="40" name="Picture 39">
            <a:extLst>
              <a:ext uri="{FF2B5EF4-FFF2-40B4-BE49-F238E27FC236}">
                <a16:creationId xmlns:a16="http://schemas.microsoft.com/office/drawing/2014/main" id="{4152CEF2-33CE-26B4-2D19-98761A91599E}"/>
              </a:ext>
            </a:extLst>
          </p:cNvPr>
          <p:cNvPicPr>
            <a:picLocks noChangeAspect="1"/>
          </p:cNvPicPr>
          <p:nvPr/>
        </p:nvPicPr>
        <p:blipFill>
          <a:blip r:embed="rId12"/>
          <a:stretch>
            <a:fillRect/>
          </a:stretch>
        </p:blipFill>
        <p:spPr>
          <a:xfrm rot="10800000">
            <a:off x="12257860" y="4121569"/>
            <a:ext cx="571524" cy="171450"/>
          </a:xfrm>
          <a:prstGeom prst="rect">
            <a:avLst/>
          </a:prstGeom>
        </p:spPr>
      </p:pic>
      <p:pic>
        <p:nvPicPr>
          <p:cNvPr id="41" name="Picture 40">
            <a:extLst>
              <a:ext uri="{FF2B5EF4-FFF2-40B4-BE49-F238E27FC236}">
                <a16:creationId xmlns:a16="http://schemas.microsoft.com/office/drawing/2014/main" id="{BE1DF2E8-F0C6-1D69-0583-EB6A0AB0A330}"/>
              </a:ext>
            </a:extLst>
          </p:cNvPr>
          <p:cNvPicPr>
            <a:picLocks noChangeAspect="1"/>
          </p:cNvPicPr>
          <p:nvPr/>
        </p:nvPicPr>
        <p:blipFill>
          <a:blip r:embed="rId12"/>
          <a:stretch>
            <a:fillRect/>
          </a:stretch>
        </p:blipFill>
        <p:spPr>
          <a:xfrm rot="5400000">
            <a:off x="11535414" y="3476923"/>
            <a:ext cx="571524" cy="171450"/>
          </a:xfrm>
          <a:prstGeom prst="rect">
            <a:avLst/>
          </a:prstGeom>
        </p:spPr>
      </p:pic>
      <p:sp>
        <p:nvSpPr>
          <p:cNvPr id="42" name="TextBox 41">
            <a:extLst>
              <a:ext uri="{FF2B5EF4-FFF2-40B4-BE49-F238E27FC236}">
                <a16:creationId xmlns:a16="http://schemas.microsoft.com/office/drawing/2014/main" id="{243FEB9E-0782-787B-D09B-49EBFCB3DD6C}"/>
              </a:ext>
            </a:extLst>
          </p:cNvPr>
          <p:cNvSpPr txBox="1"/>
          <p:nvPr/>
        </p:nvSpPr>
        <p:spPr>
          <a:xfrm>
            <a:off x="9686582" y="428721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Activity</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3BB25F4D-7519-AF9B-5667-50C9B7D13702}"/>
              </a:ext>
            </a:extLst>
          </p:cNvPr>
          <p:cNvSpPr txBox="1"/>
          <p:nvPr/>
        </p:nvSpPr>
        <p:spPr>
          <a:xfrm>
            <a:off x="12978381" y="4033696"/>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DAD5E395-88C8-C12A-CBB7-835C0ABD8140}"/>
              </a:ext>
            </a:extLst>
          </p:cNvPr>
          <p:cNvPicPr>
            <a:picLocks noChangeAspect="1"/>
          </p:cNvPicPr>
          <p:nvPr/>
        </p:nvPicPr>
        <p:blipFill>
          <a:blip r:embed="rId12"/>
          <a:stretch>
            <a:fillRect/>
          </a:stretch>
        </p:blipFill>
        <p:spPr>
          <a:xfrm rot="5400000">
            <a:off x="11540938" y="4650191"/>
            <a:ext cx="571524" cy="171450"/>
          </a:xfrm>
          <a:prstGeom prst="rect">
            <a:avLst/>
          </a:prstGeom>
        </p:spPr>
      </p:pic>
      <p:sp>
        <p:nvSpPr>
          <p:cNvPr id="51" name="TextBox 50">
            <a:extLst>
              <a:ext uri="{FF2B5EF4-FFF2-40B4-BE49-F238E27FC236}">
                <a16:creationId xmlns:a16="http://schemas.microsoft.com/office/drawing/2014/main" id="{BFCC75E7-8B29-FE2F-5269-7731A0D86592}"/>
              </a:ext>
            </a:extLst>
          </p:cNvPr>
          <p:cNvSpPr txBox="1"/>
          <p:nvPr/>
        </p:nvSpPr>
        <p:spPr>
          <a:xfrm>
            <a:off x="10292164" y="4045603"/>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C77FA03A-1267-779F-D316-2404BD60AC26}"/>
              </a:ext>
            </a:extLst>
          </p:cNvPr>
          <p:cNvSpPr txBox="1"/>
          <p:nvPr/>
        </p:nvSpPr>
        <p:spPr>
          <a:xfrm>
            <a:off x="12351538" y="323831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196664BA-E4BF-AF17-D7E3-7EBF5DB17F68}"/>
              </a:ext>
            </a:extLst>
          </p:cNvPr>
          <p:cNvSpPr txBox="1"/>
          <p:nvPr/>
        </p:nvSpPr>
        <p:spPr>
          <a:xfrm>
            <a:off x="11400376" y="568409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3ACE7289-1DFE-EEF3-38A9-A9BA395FBE07}"/>
              </a:ext>
            </a:extLst>
          </p:cNvPr>
          <p:cNvSpPr txBox="1"/>
          <p:nvPr/>
        </p:nvSpPr>
        <p:spPr>
          <a:xfrm>
            <a:off x="9473435" y="1452105"/>
            <a:ext cx="292548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Server Side Execution</a:t>
            </a:r>
            <a:endParaRPr lang="en-US" dirty="0"/>
          </a:p>
        </p:txBody>
      </p:sp>
      <p:sp>
        <p:nvSpPr>
          <p:cNvPr id="30" name="TextBox 29">
            <a:extLst>
              <a:ext uri="{FF2B5EF4-FFF2-40B4-BE49-F238E27FC236}">
                <a16:creationId xmlns:a16="http://schemas.microsoft.com/office/drawing/2014/main" id="{D855EC2B-1288-98A5-134F-30D18BE9025E}"/>
              </a:ext>
            </a:extLst>
          </p:cNvPr>
          <p:cNvSpPr txBox="1"/>
          <p:nvPr/>
        </p:nvSpPr>
        <p:spPr>
          <a:xfrm>
            <a:off x="4827038" y="4268998"/>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Sailuh/kaiaulu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B6699165-A862-CEF8-86D1-CAE53D3BC43C}"/>
              </a:ext>
            </a:extLst>
          </p:cNvPr>
          <p:cNvSpPr txBox="1"/>
          <p:nvPr/>
        </p:nvSpPr>
        <p:spPr>
          <a:xfrm>
            <a:off x="5129309" y="849341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BA624E4D-BCC3-1C09-A2BE-EFDF63D584E4}"/>
              </a:ext>
            </a:extLst>
          </p:cNvPr>
          <p:cNvSpPr txBox="1"/>
          <p:nvPr/>
        </p:nvSpPr>
        <p:spPr>
          <a:xfrm>
            <a:off x="7559088" y="7949626"/>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065A9C92-C2A8-C9E2-FFEE-B507545E6B5E}"/>
              </a:ext>
            </a:extLst>
          </p:cNvPr>
          <p:cNvSpPr txBox="1"/>
          <p:nvPr/>
        </p:nvSpPr>
        <p:spPr>
          <a:xfrm>
            <a:off x="6913055" y="8514433"/>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Sailuh/sentiment_classifier</a:t>
            </a:r>
          </a:p>
        </p:txBody>
      </p:sp>
      <p:sp>
        <p:nvSpPr>
          <p:cNvPr id="272" name="TextBox 271">
            <a:extLst>
              <a:ext uri="{FF2B5EF4-FFF2-40B4-BE49-F238E27FC236}">
                <a16:creationId xmlns:a16="http://schemas.microsoft.com/office/drawing/2014/main" id="{B02BA719-7583-5F98-7811-19E1E7B90693}"/>
              </a:ext>
            </a:extLst>
          </p:cNvPr>
          <p:cNvSpPr txBox="1"/>
          <p:nvPr/>
        </p:nvSpPr>
        <p:spPr>
          <a:xfrm>
            <a:off x="6237179" y="9393013"/>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F6DFCF0E-D2B9-2B76-A4F4-C722B30049F5}"/>
              </a:ext>
            </a:extLst>
          </p:cNvPr>
          <p:cNvSpPr txBox="1"/>
          <p:nvPr/>
        </p:nvSpPr>
        <p:spPr>
          <a:xfrm>
            <a:off x="222484" y="1697960"/>
            <a:ext cx="435228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provide access to </a:t>
            </a:r>
            <a:r>
              <a:rPr lang="en-US" b="0" err="1">
                <a:solidFill>
                  <a:srgbClr val="000000"/>
                </a:solidFill>
                <a:cs typeface="Helvetica"/>
              </a:rPr>
              <a:t>Kaiaulu's</a:t>
            </a:r>
            <a:r>
              <a:rPr lang="en-US" b="0">
                <a:solidFill>
                  <a:srgbClr val="000000"/>
                </a:solidFill>
                <a:cs typeface="Helvetica"/>
              </a:rPr>
              <a:t> functions through a command line interface. This allows other tools to build on </a:t>
            </a:r>
            <a:r>
              <a:rPr lang="en-US" b="0" err="1">
                <a:solidFill>
                  <a:srgbClr val="000000"/>
                </a:solidFill>
                <a:cs typeface="Helvetica"/>
              </a:rPr>
              <a:t>Kaiaulu</a:t>
            </a:r>
            <a:r>
              <a:rPr lang="en-US" b="0">
                <a:solidFill>
                  <a:srgbClr val="000000"/>
                </a:solidFill>
                <a:cs typeface="Helvetica"/>
              </a:rPr>
              <a:t> capabilities or use it server-side.</a:t>
            </a:r>
            <a:endParaRPr lang="en-US" b="0" i="0" u="none" strike="noStrike" cap="none" spc="0" normalizeH="0" baseline="0">
              <a:ln>
                <a:noFill/>
              </a:ln>
              <a:solidFill>
                <a:srgbClr val="000000"/>
              </a:solidFill>
              <a:effectLst/>
              <a:uFillTx/>
              <a:cs typeface="Helvetica"/>
            </a:endParaRPr>
          </a:p>
        </p:txBody>
      </p:sp>
      <p:sp>
        <p:nvSpPr>
          <p:cNvPr id="274" name="TextBox 273">
            <a:extLst>
              <a:ext uri="{FF2B5EF4-FFF2-40B4-BE49-F238E27FC236}">
                <a16:creationId xmlns:a16="http://schemas.microsoft.com/office/drawing/2014/main" id="{24249CAE-C1A2-D0E6-C9CF-425046C35A20}"/>
              </a:ext>
            </a:extLst>
          </p:cNvPr>
          <p:cNvSpPr txBox="1"/>
          <p:nvPr/>
        </p:nvSpPr>
        <p:spPr>
          <a:xfrm>
            <a:off x="9473688" y="169503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80AEA4FA-8159-5B49-A114-A4F254BF4606}"/>
              </a:ext>
            </a:extLst>
          </p:cNvPr>
          <p:cNvSpPr txBox="1"/>
          <p:nvPr/>
        </p:nvSpPr>
        <p:spPr>
          <a:xfrm>
            <a:off x="4663205" y="2938852"/>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solidFill>
                  <a:srgbClr val="000000"/>
                </a:solidFill>
                <a:cs typeface="Helvetica"/>
              </a:rPr>
              <a:t>Sailuh</a:t>
            </a:r>
            <a:r>
              <a:rPr lang="en-US" b="0">
                <a:solidFill>
                  <a:srgbClr val="000000"/>
                </a:solidFill>
                <a:cs typeface="Helvetica"/>
              </a:rPr>
              <a:t> tools such as </a:t>
            </a:r>
            <a:r>
              <a:rPr lang="en-US" b="0" err="1">
                <a:solidFill>
                  <a:srgbClr val="000000"/>
                </a:solidFill>
                <a:cs typeface="Helvetica"/>
              </a:rPr>
              <a:t>pykumu</a:t>
            </a:r>
            <a:r>
              <a:rPr lang="en-US" b="0">
                <a:solidFill>
                  <a:srgbClr val="000000"/>
                </a:solidFill>
                <a:cs typeface="Helvetica"/>
              </a:rPr>
              <a:t> rely on </a:t>
            </a:r>
            <a:r>
              <a:rPr lang="en-US" b="0" err="1">
                <a:solidFill>
                  <a:srgbClr val="000000"/>
                </a:solidFill>
                <a:cs typeface="Helvetica"/>
              </a:rPr>
              <a:t>kaiaulu</a:t>
            </a:r>
            <a:r>
              <a:rPr lang="en-US" b="0">
                <a:solidFill>
                  <a:srgbClr val="000000"/>
                </a:solidFill>
                <a:cs typeface="Helvetica"/>
              </a:rPr>
              <a:t> executables to download and refresh data. </a:t>
            </a:r>
            <a:r>
              <a:rPr lang="en-US" b="0" err="1">
                <a:solidFill>
                  <a:srgbClr val="000000"/>
                </a:solidFill>
                <a:cs typeface="Helvetica"/>
              </a:rPr>
              <a:t>Kaiaulu</a:t>
            </a:r>
            <a:r>
              <a:rPr lang="en-US" b="0">
                <a:solidFill>
                  <a:srgbClr val="000000"/>
                </a:solidFill>
                <a:cs typeface="Helvetica"/>
              </a:rPr>
              <a:t> executables are also made to provide </a:t>
            </a:r>
            <a:r>
              <a:rPr lang="en-US" b="0" err="1">
                <a:solidFill>
                  <a:srgbClr val="000000"/>
                </a:solidFill>
                <a:cs typeface="Helvetica"/>
              </a:rPr>
              <a:t>kaiaulu's</a:t>
            </a:r>
            <a:r>
              <a:rPr lang="en-US" b="0">
                <a:solidFill>
                  <a:srgbClr val="000000"/>
                </a:solidFill>
                <a:cs typeface="Helvetica"/>
              </a:rPr>
              <a:t> functions to users, tools, and projects outside of the </a:t>
            </a:r>
            <a:r>
              <a:rPr lang="en-US" b="0" err="1">
                <a:solidFill>
                  <a:srgbClr val="000000"/>
                </a:solidFill>
                <a:cs typeface="Helvetica"/>
              </a:rPr>
              <a:t>sailuh</a:t>
            </a:r>
            <a:r>
              <a:rPr lang="en-US" b="0">
                <a:solidFill>
                  <a:srgbClr val="000000"/>
                </a:solidFill>
                <a:cs typeface="Helvetica"/>
              </a:rPr>
              <a:t> ecosystem.</a:t>
            </a:r>
          </a:p>
        </p:txBody>
      </p:sp>
      <p:sp>
        <p:nvSpPr>
          <p:cNvPr id="298" name="TextBox 297">
            <a:extLst>
              <a:ext uri="{FF2B5EF4-FFF2-40B4-BE49-F238E27FC236}">
                <a16:creationId xmlns:a16="http://schemas.microsoft.com/office/drawing/2014/main" id="{FAC2A3CB-87CB-C678-45FC-6FCD76AA0B76}"/>
              </a:ext>
            </a:extLst>
          </p:cNvPr>
          <p:cNvSpPr txBox="1"/>
          <p:nvPr/>
        </p:nvSpPr>
        <p:spPr>
          <a:xfrm>
            <a:off x="274081" y="6728216"/>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a:solidFill>
                  <a:srgbClr val="000000"/>
                </a:solidFill>
              </a:rPr>
              <a:t>.</a:t>
            </a:r>
            <a:endParaRPr lang="en-US">
              <a:solidFill>
                <a:srgbClr val="000000"/>
              </a:solidFill>
            </a:endParaRPr>
          </a:p>
          <a:p>
            <a:pPr marL="0" marR="0" indent="0" algn="l" defTabSz="584200" rtl="0" fontAlgn="auto" latinLnBrk="0" hangingPunct="0">
              <a:lnSpc>
                <a:spcPct val="100000"/>
              </a:lnSpc>
              <a:spcBef>
                <a:spcPts val="200"/>
              </a:spcBef>
              <a:spcAft>
                <a:spcPts val="0"/>
              </a:spcAft>
              <a:buClrTx/>
              <a:buSzTx/>
              <a:buFontTx/>
              <a:buNone/>
              <a:tabLst/>
            </a:pP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9" name="Group">
            <a:extLst>
              <a:ext uri="{FF2B5EF4-FFF2-40B4-BE49-F238E27FC236}">
                <a16:creationId xmlns:a16="http://schemas.microsoft.com/office/drawing/2014/main" id="{642E13E5-08A5-C659-412C-F9596B853FA1}"/>
              </a:ext>
            </a:extLst>
          </p:cNvPr>
          <p:cNvSpPr/>
          <p:nvPr/>
        </p:nvSpPr>
        <p:spPr>
          <a:xfrm>
            <a:off x="214327" y="3954377"/>
            <a:ext cx="4364258" cy="13092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661E0CA4-7C8D-6578-740B-6122A8D9C509}"/>
              </a:ext>
            </a:extLst>
          </p:cNvPr>
          <p:cNvSpPr txBox="1"/>
          <p:nvPr/>
        </p:nvSpPr>
        <p:spPr>
          <a:xfrm>
            <a:off x="297334" y="4013712"/>
            <a:ext cx="364653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A9BEDA38-BB0B-CBB7-943A-276E20551D3B}"/>
              </a:ext>
            </a:extLst>
          </p:cNvPr>
          <p:cNvSpPr txBox="1"/>
          <p:nvPr/>
        </p:nvSpPr>
        <p:spPr>
          <a:xfrm>
            <a:off x="315323" y="4360481"/>
            <a:ext cx="4357808" cy="38704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dirty="0">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3BAC1DEA-BF27-02A0-482A-7F650E32A63D}"/>
              </a:ext>
            </a:extLst>
          </p:cNvPr>
          <p:cNvSpPr txBox="1"/>
          <p:nvPr/>
        </p:nvSpPr>
        <p:spPr>
          <a:xfrm>
            <a:off x="310787" y="4560831"/>
            <a:ext cx="4127831" cy="637024"/>
          </a:xfrm>
          <a:prstGeom prst="rect">
            <a:avLst/>
          </a:prstGeom>
          <a:solidFill>
            <a:schemeClr val="bg1"/>
          </a:solidFill>
          <a:ln w="12700">
            <a:solidFill>
              <a:schemeClr val="bg2"/>
            </a:solid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endParaRPr lang="en-US" b="0">
              <a:cs typeface="Arial"/>
            </a:endParaRP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3445897-D01A-9572-4BD1-2CF884CF36E0}"/>
              </a:ext>
            </a:extLst>
          </p:cNvPr>
          <p:cNvSpPr txBox="1"/>
          <p:nvPr/>
        </p:nvSpPr>
        <p:spPr>
          <a:xfrm>
            <a:off x="4735369" y="7929869"/>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Sailuh/pykumu</a:t>
            </a:r>
          </a:p>
        </p:txBody>
      </p:sp>
      <p:sp>
        <p:nvSpPr>
          <p:cNvPr id="22" name="TextBox 21">
            <a:extLst>
              <a:ext uri="{FF2B5EF4-FFF2-40B4-BE49-F238E27FC236}">
                <a16:creationId xmlns:a16="http://schemas.microsoft.com/office/drawing/2014/main" id="{F9E668B1-E60D-5827-DC95-A3F7A1BE2864}"/>
              </a:ext>
            </a:extLst>
          </p:cNvPr>
          <p:cNvSpPr txBox="1"/>
          <p:nvPr/>
        </p:nvSpPr>
        <p:spPr>
          <a:xfrm>
            <a:off x="4710551" y="9727979"/>
            <a:ext cx="417477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err="1">
                <a:solidFill>
                  <a:srgbClr val="000000"/>
                </a:solidFill>
                <a:cs typeface="Helvetica"/>
              </a:rPr>
              <a:t>Kaiaulu</a:t>
            </a:r>
            <a:r>
              <a:rPr lang="en-US" b="0">
                <a:solidFill>
                  <a:srgbClr val="000000"/>
                </a:solidFill>
                <a:cs typeface="Helvetica"/>
              </a:rPr>
              <a:t> executables provide data from sources such as Mail, JIRA, and GitHub. </a:t>
            </a:r>
          </a:p>
        </p:txBody>
      </p:sp>
      <p:pic>
        <p:nvPicPr>
          <p:cNvPr id="60" name="Picture 59" descr="A close-up of a letter&#10;&#10;AI-generated content may be incorrect.">
            <a:extLst>
              <a:ext uri="{FF2B5EF4-FFF2-40B4-BE49-F238E27FC236}">
                <a16:creationId xmlns:a16="http://schemas.microsoft.com/office/drawing/2014/main" id="{30CDD29C-5BD0-0ED6-B4B2-7F22C245E126}"/>
              </a:ext>
            </a:extLst>
          </p:cNvPr>
          <p:cNvPicPr>
            <a:picLocks noChangeAspect="1"/>
          </p:cNvPicPr>
          <p:nvPr/>
        </p:nvPicPr>
        <p:blipFill>
          <a:blip r:embed="rId13"/>
          <a:stretch>
            <a:fillRect/>
          </a:stretch>
        </p:blipFill>
        <p:spPr>
          <a:xfrm>
            <a:off x="7419116" y="4462452"/>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636BFB7C-2D71-A8CB-C677-D981EB9404FC}"/>
              </a:ext>
            </a:extLst>
          </p:cNvPr>
          <p:cNvPicPr>
            <a:picLocks noChangeAspect="1"/>
          </p:cNvPicPr>
          <p:nvPr/>
        </p:nvPicPr>
        <p:blipFill>
          <a:blip r:embed="rId14"/>
          <a:stretch>
            <a:fillRect/>
          </a:stretch>
        </p:blipFill>
        <p:spPr>
          <a:xfrm>
            <a:off x="6243124" y="6167317"/>
            <a:ext cx="914258" cy="905585"/>
          </a:xfrm>
          <a:prstGeom prst="rect">
            <a:avLst/>
          </a:prstGeom>
        </p:spPr>
      </p:pic>
      <p:pic>
        <p:nvPicPr>
          <p:cNvPr id="43" name="Picture 42">
            <a:extLst>
              <a:ext uri="{FF2B5EF4-FFF2-40B4-BE49-F238E27FC236}">
                <a16:creationId xmlns:a16="http://schemas.microsoft.com/office/drawing/2014/main" id="{936BDE84-3BD6-5627-1211-FE2BCA309E5E}"/>
              </a:ext>
            </a:extLst>
          </p:cNvPr>
          <p:cNvPicPr>
            <a:picLocks noChangeAspect="1"/>
          </p:cNvPicPr>
          <p:nvPr/>
        </p:nvPicPr>
        <p:blipFill>
          <a:blip r:embed="rId15"/>
          <a:stretch>
            <a:fillRect/>
          </a:stretch>
        </p:blipFill>
        <p:spPr>
          <a:xfrm>
            <a:off x="8508987" y="4481030"/>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26E892B7-F3FC-23F4-4370-A944B57A25C5}"/>
              </a:ext>
            </a:extLst>
          </p:cNvPr>
          <p:cNvSpPr txBox="1"/>
          <p:nvPr/>
        </p:nvSpPr>
        <p:spPr>
          <a:xfrm>
            <a:off x="8509461" y="485904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BF8FF815-1F61-0003-BDB2-D7C69A9E738B}"/>
              </a:ext>
            </a:extLst>
          </p:cNvPr>
          <p:cNvSpPr txBox="1"/>
          <p:nvPr/>
        </p:nvSpPr>
        <p:spPr>
          <a:xfrm>
            <a:off x="7981261" y="484903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F235C62C-B557-02D6-FD86-7C6A6CB7CE70}"/>
              </a:ext>
            </a:extLst>
          </p:cNvPr>
          <p:cNvSpPr txBox="1"/>
          <p:nvPr/>
        </p:nvSpPr>
        <p:spPr>
          <a:xfrm>
            <a:off x="7417908" y="483482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mc:AlternateContent xmlns:mc="http://schemas.openxmlformats.org/markup-compatibility/2006" xmlns:p14="http://schemas.microsoft.com/office/powerpoint/2010/main">
        <mc:Choice Requires="p14">
          <p:contentPart p14:bwMode="auto" r:id="rId16">
            <p14:nvContentPartPr>
              <p14:cNvPr id="300" name="Ink 299">
                <a:extLst>
                  <a:ext uri="{FF2B5EF4-FFF2-40B4-BE49-F238E27FC236}">
                    <a16:creationId xmlns:a16="http://schemas.microsoft.com/office/drawing/2014/main" id="{FA08F274-0889-FB2C-E090-581F93188866}"/>
                  </a:ext>
                </a:extLst>
              </p14:cNvPr>
              <p14:cNvContentPartPr/>
              <p14:nvPr/>
            </p14:nvContentPartPr>
            <p14:xfrm>
              <a:off x="8237478" y="6581665"/>
              <a:ext cx="13744" cy="13744"/>
            </p14:xfrm>
          </p:contentPart>
        </mc:Choice>
        <mc:Fallback xmlns="">
          <p:pic>
            <p:nvPicPr>
              <p:cNvPr id="300" name="Ink 299">
                <a:extLst>
                  <a:ext uri="{FF2B5EF4-FFF2-40B4-BE49-F238E27FC236}">
                    <a16:creationId xmlns:a16="http://schemas.microsoft.com/office/drawing/2014/main" id="{FA08F274-0889-FB2C-E090-581F93188866}"/>
                  </a:ext>
                </a:extLst>
              </p:cNvPr>
              <p:cNvPicPr/>
              <p:nvPr/>
            </p:nvPicPr>
            <p:blipFill>
              <a:blip r:embed="rId17"/>
              <a:stretch>
                <a:fillRect/>
              </a:stretch>
            </p:blipFill>
            <p:spPr>
              <a:xfrm>
                <a:off x="7550278" y="5894465"/>
                <a:ext cx="1374400" cy="1374400"/>
              </a:xfrm>
              <a:prstGeom prst="rect">
                <a:avLst/>
              </a:prstGeom>
            </p:spPr>
          </p:pic>
        </mc:Fallback>
      </mc:AlternateContent>
      <p:sp>
        <p:nvSpPr>
          <p:cNvPr id="318" name="Rectangle 317">
            <a:extLst>
              <a:ext uri="{FF2B5EF4-FFF2-40B4-BE49-F238E27FC236}">
                <a16:creationId xmlns:a16="http://schemas.microsoft.com/office/drawing/2014/main" id="{8C764B69-B104-88A5-D079-D11D9A8DA0C5}"/>
              </a:ext>
            </a:extLst>
          </p:cNvPr>
          <p:cNvSpPr/>
          <p:nvPr/>
        </p:nvSpPr>
        <p:spPr>
          <a:xfrm>
            <a:off x="3004804" y="763620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BD1DBF36-FF80-AF8C-0167-FBA113C8C9D6}"/>
              </a:ext>
            </a:extLst>
          </p:cNvPr>
          <p:cNvSpPr/>
          <p:nvPr/>
        </p:nvSpPr>
        <p:spPr>
          <a:xfrm>
            <a:off x="2499832" y="803890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B058EC97-A219-5FA9-BEEE-EB6C2AF927F7}"/>
              </a:ext>
            </a:extLst>
          </p:cNvPr>
          <p:cNvSpPr/>
          <p:nvPr/>
        </p:nvSpPr>
        <p:spPr>
          <a:xfrm>
            <a:off x="3340229" y="8038908"/>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ABD4DD3A-AC3D-B8FD-F310-BF4036DAF5EC}"/>
              </a:ext>
            </a:extLst>
          </p:cNvPr>
          <p:cNvCxnSpPr/>
          <p:nvPr/>
        </p:nvCxnSpPr>
        <p:spPr>
          <a:xfrm rot="16200000" flipH="1">
            <a:off x="3812006" y="7802510"/>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F636D478-0581-75FA-7BFF-DAB2C02F2E15}"/>
              </a:ext>
            </a:extLst>
          </p:cNvPr>
          <p:cNvCxnSpPr>
            <a:cxnSpLocks/>
          </p:cNvCxnSpPr>
          <p:nvPr/>
        </p:nvCxnSpPr>
        <p:spPr>
          <a:xfrm rot="10800000" flipH="1">
            <a:off x="2783498" y="7808928"/>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F913A299-200D-5E5C-4086-5C94957ACA6E}"/>
              </a:ext>
            </a:extLst>
          </p:cNvPr>
          <p:cNvCxnSpPr>
            <a:cxnSpLocks/>
          </p:cNvCxnSpPr>
          <p:nvPr/>
        </p:nvCxnSpPr>
        <p:spPr>
          <a:xfrm rot="2700000" flipH="1">
            <a:off x="3168733" y="828288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01E8A93F-C808-2B82-DD7E-396F22047375}"/>
              </a:ext>
            </a:extLst>
          </p:cNvPr>
          <p:cNvSpPr txBox="1"/>
          <p:nvPr/>
        </p:nvSpPr>
        <p:spPr>
          <a:xfrm>
            <a:off x="3008743" y="7560173"/>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14624E91-E97A-DAA1-705E-9B249AF421A7}"/>
              </a:ext>
            </a:extLst>
          </p:cNvPr>
          <p:cNvSpPr txBox="1"/>
          <p:nvPr/>
        </p:nvSpPr>
        <p:spPr>
          <a:xfrm>
            <a:off x="2523213" y="7964355"/>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4FE96BAE-4D8F-DC37-2A15-46BC9D24EF69}"/>
              </a:ext>
            </a:extLst>
          </p:cNvPr>
          <p:cNvSpPr txBox="1"/>
          <p:nvPr/>
        </p:nvSpPr>
        <p:spPr>
          <a:xfrm>
            <a:off x="3357192" y="797209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cxnSp>
        <p:nvCxnSpPr>
          <p:cNvPr id="55" name="Straight Connector 54">
            <a:extLst>
              <a:ext uri="{FF2B5EF4-FFF2-40B4-BE49-F238E27FC236}">
                <a16:creationId xmlns:a16="http://schemas.microsoft.com/office/drawing/2014/main" id="{F445483C-10AF-3C83-AE0D-85A2B92D908D}"/>
              </a:ext>
            </a:extLst>
          </p:cNvPr>
          <p:cNvCxnSpPr/>
          <p:nvPr/>
        </p:nvCxnSpPr>
        <p:spPr>
          <a:xfrm>
            <a:off x="2953488" y="7816878"/>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4043BD1B-43C3-BC70-8495-BA5FF5C01E68}"/>
              </a:ext>
            </a:extLst>
          </p:cNvPr>
          <p:cNvCxnSpPr>
            <a:cxnSpLocks/>
          </p:cNvCxnSpPr>
          <p:nvPr/>
        </p:nvCxnSpPr>
        <p:spPr>
          <a:xfrm rot="5400000">
            <a:off x="2953488" y="7825719"/>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 name="Rectangle 56">
            <a:extLst>
              <a:ext uri="{FF2B5EF4-FFF2-40B4-BE49-F238E27FC236}">
                <a16:creationId xmlns:a16="http://schemas.microsoft.com/office/drawing/2014/main" id="{3521C3A8-D890-0A2C-3198-16A9868CAD49}"/>
              </a:ext>
            </a:extLst>
          </p:cNvPr>
          <p:cNvSpPr/>
          <p:nvPr/>
        </p:nvSpPr>
        <p:spPr>
          <a:xfrm>
            <a:off x="2918994" y="9225807"/>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4E7807DC-DFF8-9AFC-7492-DA517F5EBBB5}"/>
              </a:ext>
            </a:extLst>
          </p:cNvPr>
          <p:cNvSpPr txBox="1"/>
          <p:nvPr/>
        </p:nvSpPr>
        <p:spPr>
          <a:xfrm>
            <a:off x="2914837" y="9377396"/>
            <a:ext cx="1357903" cy="7103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&gt; Rscript</a:t>
            </a:r>
            <a:r>
              <a:rPr lang="en-US" sz="1100">
                <a:solidFill>
                  <a:srgbClr val="000000"/>
                </a:solidFill>
              </a:rPr>
              <a:t> </a:t>
            </a:r>
            <a:r>
              <a:rPr lang="en-US">
                <a:solidFill>
                  <a:srgbClr val="0B4EB2"/>
                </a:solidFill>
              </a:rPr>
              <a:t>exec/*.R</a:t>
            </a:r>
            <a:endParaRPr lang="en-US" b="0">
              <a:solidFill>
                <a:srgbClr val="000000"/>
              </a:solidFill>
            </a:endParaRPr>
          </a:p>
          <a:p>
            <a:r>
              <a:rPr lang="en-US" sz="1100">
                <a:solidFill>
                  <a:srgbClr val="000000"/>
                </a:solidFill>
              </a:rPr>
              <a:t> </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project1.yml</a:t>
            </a:r>
            <a:endParaRPr lang="en-US"/>
          </a:p>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analysisB.yml</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258" name="TextBox 766">
            <a:extLst>
              <a:ext uri="{FF2B5EF4-FFF2-40B4-BE49-F238E27FC236}">
                <a16:creationId xmlns:a16="http://schemas.microsoft.com/office/drawing/2014/main" id="{8B2B5B11-5EA8-4BCF-8B83-922181C2BD7A}"/>
              </a:ext>
            </a:extLst>
          </p:cNvPr>
          <p:cNvSpPr txBox="1"/>
          <p:nvPr/>
        </p:nvSpPr>
        <p:spPr>
          <a:xfrm>
            <a:off x="484057" y="747880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078F9774-51DA-43B6-25ED-958DDB177C28}"/>
              </a:ext>
            </a:extLst>
          </p:cNvPr>
          <p:cNvSpPr txBox="1"/>
          <p:nvPr/>
        </p:nvSpPr>
        <p:spPr>
          <a:xfrm>
            <a:off x="2910994" y="8937743"/>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078392C3-278A-D2FD-518C-5F20E0108E43}"/>
              </a:ext>
            </a:extLst>
          </p:cNvPr>
          <p:cNvSpPr txBox="1"/>
          <p:nvPr/>
        </p:nvSpPr>
        <p:spPr>
          <a:xfrm>
            <a:off x="2509455" y="747244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8AB544B1-557F-9AA0-4F34-B09C7158671A}"/>
              </a:ext>
            </a:extLst>
          </p:cNvPr>
          <p:cNvSpPr txBox="1"/>
          <p:nvPr/>
        </p:nvSpPr>
        <p:spPr>
          <a:xfrm>
            <a:off x="292087" y="8470716"/>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B54DCD9E-59B1-7FAC-4609-9B8887BD71EB}"/>
              </a:ext>
            </a:extLst>
          </p:cNvPr>
          <p:cNvGrpSpPr/>
          <p:nvPr/>
        </p:nvGrpSpPr>
        <p:grpSpPr>
          <a:xfrm>
            <a:off x="299450" y="8693770"/>
            <a:ext cx="1454607" cy="1359206"/>
            <a:chOff x="4888883" y="5320096"/>
            <a:chExt cx="1741511" cy="1781653"/>
          </a:xfrm>
        </p:grpSpPr>
        <p:sp>
          <p:nvSpPr>
            <p:cNvPr id="277" name="Rectangle 276">
              <a:extLst>
                <a:ext uri="{FF2B5EF4-FFF2-40B4-BE49-F238E27FC236}">
                  <a16:creationId xmlns:a16="http://schemas.microsoft.com/office/drawing/2014/main" id="{979EA284-717C-EF5B-E2DB-E2598D718B1D}"/>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9" name="Rectangle 288">
              <a:extLst>
                <a:ext uri="{FF2B5EF4-FFF2-40B4-BE49-F238E27FC236}">
                  <a16:creationId xmlns:a16="http://schemas.microsoft.com/office/drawing/2014/main" id="{27DB5FA3-706B-B626-FDA3-F9FFE64F311F}"/>
                </a:ext>
              </a:extLst>
            </p:cNvPr>
            <p:cNvSpPr/>
            <p:nvPr/>
          </p:nvSpPr>
          <p:spPr>
            <a:xfrm>
              <a:off x="4993880" y="6280151"/>
              <a:ext cx="1199524" cy="448998"/>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4" name="TextBox 5">
              <a:extLst>
                <a:ext uri="{FF2B5EF4-FFF2-40B4-BE49-F238E27FC236}">
                  <a16:creationId xmlns:a16="http://schemas.microsoft.com/office/drawing/2014/main" id="{35D57054-7CB6-7783-A2A2-526C3070680D}"/>
                </a:ext>
              </a:extLst>
            </p:cNvPr>
            <p:cNvSpPr txBox="1"/>
            <p:nvPr/>
          </p:nvSpPr>
          <p:spPr>
            <a:xfrm>
              <a:off x="4982573" y="6243478"/>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sp>
          <p:nvSpPr>
            <p:cNvPr id="281" name="TextBox 754">
              <a:extLst>
                <a:ext uri="{FF2B5EF4-FFF2-40B4-BE49-F238E27FC236}">
                  <a16:creationId xmlns:a16="http://schemas.microsoft.com/office/drawing/2014/main" id="{A9F5639E-FB4C-3778-DCC4-DBFB7274C693}"/>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8595350A-A85B-1AE5-689D-4CD7CFBD304A}"/>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800C34ED-88D0-D0E4-20E5-1DC2A6051CD7}"/>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0490DE74-18BE-8FAB-ED0E-189C607BB514}"/>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DE17C7D0-C431-0BC5-D783-267EBC7B74BF}"/>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F5226D7B-8110-D82D-E48F-7C56F2D1AB02}"/>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15573833-7B5B-4948-E714-5454EB0C1BB2}"/>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91" name="Rectangle 290">
              <a:extLst>
                <a:ext uri="{FF2B5EF4-FFF2-40B4-BE49-F238E27FC236}">
                  <a16:creationId xmlns:a16="http://schemas.microsoft.com/office/drawing/2014/main" id="{7309631E-C63B-3EA4-4AFF-E07EF8E2DE24}"/>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C1B53C2A-1BE0-D0BF-C4C6-338755B4688F}"/>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grpSp>
          <p:nvGrpSpPr>
            <p:cNvPr id="295" name="Group 294">
              <a:extLst>
                <a:ext uri="{FF2B5EF4-FFF2-40B4-BE49-F238E27FC236}">
                  <a16:creationId xmlns:a16="http://schemas.microsoft.com/office/drawing/2014/main" id="{EA111820-7EFC-D3B9-A1AF-AB77BCCAD9C6}"/>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4CBE425D-1FEC-013E-9875-62E1AAAE7656}"/>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D940536F-7809-91BA-22DF-0443D67ABE92}"/>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D24D940D-E907-FD15-B2BE-5AFA2691639B}"/>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532B8B77-0BBC-ABA6-DA78-B0523E8727A3}"/>
              </a:ext>
            </a:extLst>
          </p:cNvPr>
          <p:cNvSpPr/>
          <p:nvPr/>
        </p:nvSpPr>
        <p:spPr>
          <a:xfrm>
            <a:off x="892950" y="763625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D1D48A04-DA40-9C7F-569F-0285B3E113C0}"/>
              </a:ext>
            </a:extLst>
          </p:cNvPr>
          <p:cNvSpPr/>
          <p:nvPr/>
        </p:nvSpPr>
        <p:spPr>
          <a:xfrm>
            <a:off x="387877" y="803896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DE0D8C4C-790C-EA6F-3EE8-3D331A4591CC}"/>
              </a:ext>
            </a:extLst>
          </p:cNvPr>
          <p:cNvSpPr/>
          <p:nvPr/>
        </p:nvSpPr>
        <p:spPr>
          <a:xfrm>
            <a:off x="1228441" y="8038960"/>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3E19756A-6DEB-90E7-21EA-812B45CF024A}"/>
              </a:ext>
            </a:extLst>
          </p:cNvPr>
          <p:cNvCxnSpPr>
            <a:cxnSpLocks/>
          </p:cNvCxnSpPr>
          <p:nvPr/>
        </p:nvCxnSpPr>
        <p:spPr>
          <a:xfrm rot="16200000" flipH="1">
            <a:off x="1700312" y="7802561"/>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81D8E30E-8B2D-B0B9-BC84-1F3F3A385DBE}"/>
              </a:ext>
            </a:extLst>
          </p:cNvPr>
          <p:cNvCxnSpPr>
            <a:cxnSpLocks/>
          </p:cNvCxnSpPr>
          <p:nvPr/>
        </p:nvCxnSpPr>
        <p:spPr>
          <a:xfrm rot="10800000" flipH="1">
            <a:off x="671600" y="7808980"/>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644A8502-15CD-3C7B-E5A8-65E27A5DA7D0}"/>
              </a:ext>
            </a:extLst>
          </p:cNvPr>
          <p:cNvCxnSpPr>
            <a:cxnSpLocks/>
          </p:cNvCxnSpPr>
          <p:nvPr/>
        </p:nvCxnSpPr>
        <p:spPr>
          <a:xfrm rot="2700000" flipH="1">
            <a:off x="1056911" y="8282936"/>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236136A6-2A6B-95A5-B12A-A56CB1E75A11}"/>
              </a:ext>
            </a:extLst>
          </p:cNvPr>
          <p:cNvSpPr txBox="1"/>
          <p:nvPr/>
        </p:nvSpPr>
        <p:spPr>
          <a:xfrm>
            <a:off x="896889" y="7560225"/>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C7D2F547-7346-53BE-4439-5F0B72F712BA}"/>
              </a:ext>
            </a:extLst>
          </p:cNvPr>
          <p:cNvSpPr txBox="1"/>
          <p:nvPr/>
        </p:nvSpPr>
        <p:spPr>
          <a:xfrm>
            <a:off x="411263" y="7964406"/>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10959E9A-0F47-D1AD-236A-13534092489B}"/>
              </a:ext>
            </a:extLst>
          </p:cNvPr>
          <p:cNvSpPr txBox="1"/>
          <p:nvPr/>
        </p:nvSpPr>
        <p:spPr>
          <a:xfrm>
            <a:off x="1245408" y="797214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47" name="Straight Connector 346">
            <a:extLst>
              <a:ext uri="{FF2B5EF4-FFF2-40B4-BE49-F238E27FC236}">
                <a16:creationId xmlns:a16="http://schemas.microsoft.com/office/drawing/2014/main" id="{BCF9D091-0DE5-D6DB-AF76-3603FD35B45F}"/>
              </a:ext>
            </a:extLst>
          </p:cNvPr>
          <p:cNvCxnSpPr>
            <a:cxnSpLocks/>
          </p:cNvCxnSpPr>
          <p:nvPr/>
        </p:nvCxnSpPr>
        <p:spPr>
          <a:xfrm>
            <a:off x="841623" y="7816929"/>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A230AAFB-F9DB-0154-59D3-79E1F32AF2BC}"/>
              </a:ext>
            </a:extLst>
          </p:cNvPr>
          <p:cNvCxnSpPr>
            <a:cxnSpLocks/>
          </p:cNvCxnSpPr>
          <p:nvPr/>
        </p:nvCxnSpPr>
        <p:spPr>
          <a:xfrm rot="5400000">
            <a:off x="841623" y="7825771"/>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0" name="Straight Arrow Connector 349">
            <a:extLst>
              <a:ext uri="{FF2B5EF4-FFF2-40B4-BE49-F238E27FC236}">
                <a16:creationId xmlns:a16="http://schemas.microsoft.com/office/drawing/2014/main" id="{2EB8C7C2-F6A5-EAF2-D718-AAF62660B9C5}"/>
              </a:ext>
            </a:extLst>
          </p:cNvPr>
          <p:cNvCxnSpPr/>
          <p:nvPr/>
        </p:nvCxnSpPr>
        <p:spPr>
          <a:xfrm>
            <a:off x="3416547" y="8541264"/>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1BBDDF9A-4550-888C-2326-A23B7F135F0F}"/>
              </a:ext>
            </a:extLst>
          </p:cNvPr>
          <p:cNvSpPr txBox="1"/>
          <p:nvPr/>
        </p:nvSpPr>
        <p:spPr>
          <a:xfrm>
            <a:off x="3488746" y="8620398"/>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5C5D78CC-5BA4-A7F8-289C-52E52FDF4612}"/>
              </a:ext>
            </a:extLst>
          </p:cNvPr>
          <p:cNvSpPr txBox="1"/>
          <p:nvPr/>
        </p:nvSpPr>
        <p:spPr>
          <a:xfrm>
            <a:off x="2915551" y="9216125"/>
            <a:ext cx="1358728"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5ABBD457-91DF-7149-D000-798DD31826E5}"/>
              </a:ext>
            </a:extLst>
          </p:cNvPr>
          <p:cNvSpPr txBox="1"/>
          <p:nvPr/>
        </p:nvSpPr>
        <p:spPr>
          <a:xfrm>
            <a:off x="3738365" y="8821827"/>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88E18D16-BCC8-EB14-6F11-384CE3CC1006}"/>
              </a:ext>
            </a:extLst>
          </p:cNvPr>
          <p:cNvSpPr txBox="1"/>
          <p:nvPr/>
        </p:nvSpPr>
        <p:spPr>
          <a:xfrm>
            <a:off x="1996975" y="8592927"/>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648A9B07-0182-67A9-8BFC-04C6AC71B8E2}"/>
              </a:ext>
            </a:extLst>
          </p:cNvPr>
          <p:cNvCxnSpPr/>
          <p:nvPr/>
        </p:nvCxnSpPr>
        <p:spPr>
          <a:xfrm flipH="1">
            <a:off x="1713673" y="9575828"/>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F26BC9B2-DBA8-EBE0-F0E2-702F410EC49D}"/>
              </a:ext>
            </a:extLst>
          </p:cNvPr>
          <p:cNvCxnSpPr/>
          <p:nvPr/>
        </p:nvCxnSpPr>
        <p:spPr>
          <a:xfrm flipH="1">
            <a:off x="1983283" y="8527771"/>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CD94E9C0-FD3F-4F0C-4925-19D3285B878B}"/>
              </a:ext>
            </a:extLst>
          </p:cNvPr>
          <p:cNvSpPr txBox="1"/>
          <p:nvPr/>
        </p:nvSpPr>
        <p:spPr>
          <a:xfrm>
            <a:off x="5011890" y="5454558"/>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2347B664-E9A3-0F48-8811-5061340B731C}"/>
              </a:ext>
            </a:extLst>
          </p:cNvPr>
          <p:cNvSpPr txBox="1"/>
          <p:nvPr/>
        </p:nvSpPr>
        <p:spPr>
          <a:xfrm>
            <a:off x="6022638" y="5455499"/>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analysis.yml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1AF073DB-EE5F-381B-5978-F481FE55A9AA}"/>
              </a:ext>
            </a:extLst>
          </p:cNvPr>
          <p:cNvPicPr>
            <a:picLocks noChangeAspect="1"/>
          </p:cNvPicPr>
          <p:nvPr/>
        </p:nvPicPr>
        <p:blipFill>
          <a:blip r:embed="rId18"/>
          <a:stretch>
            <a:fillRect/>
          </a:stretch>
        </p:blipFill>
        <p:spPr>
          <a:xfrm>
            <a:off x="5161656" y="4700873"/>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A37C32ED-808B-C304-0BC3-FF42AA1ACE57}"/>
              </a:ext>
            </a:extLst>
          </p:cNvPr>
          <p:cNvPicPr>
            <a:picLocks noChangeAspect="1"/>
          </p:cNvPicPr>
          <p:nvPr/>
        </p:nvPicPr>
        <p:blipFill>
          <a:blip r:embed="rId18"/>
          <a:stretch>
            <a:fillRect/>
          </a:stretch>
        </p:blipFill>
        <p:spPr>
          <a:xfrm>
            <a:off x="6146433" y="4700873"/>
            <a:ext cx="666623" cy="838200"/>
          </a:xfrm>
          <a:prstGeom prst="rect">
            <a:avLst/>
          </a:prstGeom>
        </p:spPr>
      </p:pic>
      <p:pic>
        <p:nvPicPr>
          <p:cNvPr id="359" name="Picture 358">
            <a:extLst>
              <a:ext uri="{FF2B5EF4-FFF2-40B4-BE49-F238E27FC236}">
                <a16:creationId xmlns:a16="http://schemas.microsoft.com/office/drawing/2014/main" id="{3056A128-D866-68C4-0854-8CD550E18103}"/>
              </a:ext>
            </a:extLst>
          </p:cNvPr>
          <p:cNvPicPr>
            <a:picLocks noChangeAspect="1"/>
          </p:cNvPicPr>
          <p:nvPr/>
        </p:nvPicPr>
        <p:blipFill>
          <a:blip r:embed="rId15"/>
          <a:stretch>
            <a:fillRect/>
          </a:stretch>
        </p:blipFill>
        <p:spPr>
          <a:xfrm>
            <a:off x="7909422" y="4481066"/>
            <a:ext cx="554321" cy="415604"/>
          </a:xfrm>
          <a:prstGeom prst="rect">
            <a:avLst/>
          </a:prstGeom>
          <a:ln w="28575">
            <a:solidFill>
              <a:schemeClr val="bg1"/>
            </a:solidFill>
          </a:ln>
        </p:spPr>
      </p:pic>
      <p:pic>
        <p:nvPicPr>
          <p:cNvPr id="363" name="Picture 362">
            <a:extLst>
              <a:ext uri="{FF2B5EF4-FFF2-40B4-BE49-F238E27FC236}">
                <a16:creationId xmlns:a16="http://schemas.microsoft.com/office/drawing/2014/main" id="{11E9015D-4332-7439-DD56-FDD27D649111}"/>
              </a:ext>
            </a:extLst>
          </p:cNvPr>
          <p:cNvPicPr>
            <a:picLocks noChangeAspect="1"/>
          </p:cNvPicPr>
          <p:nvPr/>
        </p:nvPicPr>
        <p:blipFill>
          <a:blip r:embed="rId14"/>
          <a:stretch>
            <a:fillRect/>
          </a:stretch>
        </p:blipFill>
        <p:spPr>
          <a:xfrm>
            <a:off x="11585418" y="3795869"/>
            <a:ext cx="538060" cy="507646"/>
          </a:xfrm>
          <a:prstGeom prst="rect">
            <a:avLst/>
          </a:prstGeom>
        </p:spPr>
      </p:pic>
      <p:sp>
        <p:nvSpPr>
          <p:cNvPr id="365" name="TextBox 364">
            <a:extLst>
              <a:ext uri="{FF2B5EF4-FFF2-40B4-BE49-F238E27FC236}">
                <a16:creationId xmlns:a16="http://schemas.microsoft.com/office/drawing/2014/main" id="{06887110-8337-570E-DCF0-3EE5030E4E32}"/>
              </a:ext>
            </a:extLst>
          </p:cNvPr>
          <p:cNvSpPr txBox="1"/>
          <p:nvPr/>
        </p:nvSpPr>
        <p:spPr>
          <a:xfrm>
            <a:off x="11534104" y="4168473"/>
            <a:ext cx="940417"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solidFill>
                  <a:srgbClr val="0B4EB2"/>
                </a:solidFill>
              </a:rPr>
              <a:t>exec/*.R</a:t>
            </a:r>
            <a:endParaRPr lang="en-US" b="0">
              <a:solidFill>
                <a:srgbClr val="000000"/>
              </a:solidFill>
            </a:endParaRPr>
          </a:p>
          <a:p>
            <a:pPr marL="0" marR="0" indent="0" algn="l" defTabSz="584200">
              <a:lnSpc>
                <a:spcPct val="100000"/>
              </a:lnSpc>
              <a:spcBef>
                <a:spcPts val="200"/>
              </a:spcBef>
              <a:spcAft>
                <a:spcPts val="0"/>
              </a:spcAft>
              <a:buClrTx/>
              <a:buSzTx/>
              <a:buFontTx/>
              <a:buNone/>
              <a:tabLst/>
            </a:pP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786F0336-4D75-AC9B-421B-5DD0E66B3E34}"/>
              </a:ext>
            </a:extLst>
          </p:cNvPr>
          <p:cNvSpPr txBox="1"/>
          <p:nvPr/>
        </p:nvSpPr>
        <p:spPr>
          <a:xfrm>
            <a:off x="9546400" y="6478881"/>
            <a:ext cx="24609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Pipelines</a:t>
            </a:r>
            <a:endParaRPr lang="en-US"/>
          </a:p>
        </p:txBody>
      </p:sp>
      <p:sp>
        <p:nvSpPr>
          <p:cNvPr id="367" name="TextBox 366">
            <a:extLst>
              <a:ext uri="{FF2B5EF4-FFF2-40B4-BE49-F238E27FC236}">
                <a16:creationId xmlns:a16="http://schemas.microsoft.com/office/drawing/2014/main" id="{6CD4C270-7C6A-0A9D-6765-0FD73C6A7381}"/>
              </a:ext>
            </a:extLst>
          </p:cNvPr>
          <p:cNvSpPr txBox="1"/>
          <p:nvPr/>
        </p:nvSpPr>
        <p:spPr>
          <a:xfrm>
            <a:off x="9489530" y="6756044"/>
            <a:ext cx="4269963"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remove the need to manually write R scripts, fetch data, or manage complex workflows. Instead of handling APIs and parsing data manually, </a:t>
            </a:r>
            <a:r>
              <a:rPr lang="en-US" b="0" err="1">
                <a:solidFill>
                  <a:srgbClr val="000000"/>
                </a:solidFill>
                <a:cs typeface="Helvetica"/>
              </a:rPr>
              <a:t>Kaiaulu</a:t>
            </a:r>
            <a:r>
              <a:rPr lang="en-US" b="0">
                <a:solidFill>
                  <a:srgbClr val="000000"/>
                </a:solidFill>
                <a:cs typeface="Helvetica"/>
              </a:rPr>
              <a:t> executables do this using configuration files. Executables can also be chained together to construct more complex pipelines.</a:t>
            </a:r>
            <a:endParaRPr lang="en-US">
              <a:solidFill>
                <a:srgbClr val="000000"/>
              </a:solidFill>
            </a:endParaRPr>
          </a:p>
        </p:txBody>
      </p:sp>
      <p:sp>
        <p:nvSpPr>
          <p:cNvPr id="372" name="TextBox 371">
            <a:extLst>
              <a:ext uri="{FF2B5EF4-FFF2-40B4-BE49-F238E27FC236}">
                <a16:creationId xmlns:a16="http://schemas.microsoft.com/office/drawing/2014/main" id="{5BD95409-5F97-A986-6462-DFDFA4835493}"/>
              </a:ext>
            </a:extLst>
          </p:cNvPr>
          <p:cNvSpPr txBox="1"/>
          <p:nvPr/>
        </p:nvSpPr>
        <p:spPr>
          <a:xfrm>
            <a:off x="4666383" y="1688503"/>
            <a:ext cx="4360185" cy="1269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Any </a:t>
            </a:r>
            <a:r>
              <a:rPr lang="en-US" b="0" err="1">
                <a:solidFill>
                  <a:srgbClr val="000000"/>
                </a:solidFill>
                <a:cs typeface="Helvetica"/>
              </a:rPr>
              <a:t>project.yml</a:t>
            </a:r>
            <a:r>
              <a:rPr lang="en-US" b="0">
                <a:solidFill>
                  <a:srgbClr val="000000"/>
                </a:solidFill>
                <a:cs typeface="Helvetica"/>
              </a:rPr>
              <a:t> files (1) can be combined with any </a:t>
            </a:r>
            <a:r>
              <a:rPr lang="en-US" b="0" err="1">
                <a:solidFill>
                  <a:srgbClr val="000000"/>
                </a:solidFill>
                <a:cs typeface="Helvetica"/>
              </a:rPr>
              <a:t>analysis.yml</a:t>
            </a:r>
            <a:r>
              <a:rPr lang="en-US" b="0">
                <a:solidFill>
                  <a:srgbClr val="000000"/>
                </a:solidFill>
                <a:cs typeface="Helvetica"/>
              </a:rPr>
              <a:t> files (2). This allows users to run the same analysis on multiple projects or run different analyses on the same project, reducing duplication of configuration sections. See Configuration (.</a:t>
            </a:r>
            <a:r>
              <a:rPr lang="en-US" b="0" err="1">
                <a:solidFill>
                  <a:srgbClr val="000000"/>
                </a:solidFill>
                <a:cs typeface="Helvetica"/>
              </a:rPr>
              <a:t>yml</a:t>
            </a:r>
            <a:r>
              <a:rPr lang="en-US" b="0">
                <a:solidFill>
                  <a:srgbClr val="000000"/>
                </a:solidFill>
                <a:cs typeface="Helvetica"/>
              </a:rPr>
              <a:t>) </a:t>
            </a:r>
            <a:r>
              <a:rPr lang="en-US" b="0" err="1">
                <a:solidFill>
                  <a:srgbClr val="000000"/>
                </a:solidFill>
                <a:cs typeface="Helvetica"/>
              </a:rPr>
              <a:t>cheatsheet</a:t>
            </a:r>
            <a:r>
              <a:rPr lang="en-US" b="0">
                <a:solidFill>
                  <a:srgbClr val="000000"/>
                </a:solidFill>
                <a:cs typeface="Helvetica"/>
              </a:rPr>
              <a:t> for more information.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7AE69AF6-7DFB-8525-6CE6-0B1DE748340E}"/>
              </a:ext>
            </a:extLst>
          </p:cNvPr>
          <p:cNvSpPr txBox="1"/>
          <p:nvPr/>
        </p:nvSpPr>
        <p:spPr>
          <a:xfrm>
            <a:off x="4461143" y="1480457"/>
            <a:ext cx="4070303" cy="528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t">
            <a:spAutoFit/>
          </a:bodyPr>
          <a:lstStyle/>
          <a:p>
            <a:pPr lvl="1">
              <a:defRPr sz="2500" b="0">
                <a:solidFill>
                  <a:srgbClr val="628DB5"/>
                </a:solidFill>
              </a:defRPr>
            </a:pPr>
            <a:r>
              <a:rPr lang="en-US" sz="1800">
                <a:solidFill>
                  <a:schemeClr val="tx1"/>
                </a:solidFill>
                <a:cs typeface="Arial"/>
              </a:rPr>
              <a:t>Interchangeable Configurations</a:t>
            </a:r>
            <a:endParaRPr lang="en-US" sz="1800">
              <a:solidFill>
                <a:schemeClr val="tx1"/>
              </a:solidFill>
            </a:endParaRPr>
          </a:p>
          <a:p>
            <a:pPr lvl="1" indent="0">
              <a:lnSpc>
                <a:spcPct val="80000"/>
              </a:lnSpc>
              <a:spcBef>
                <a:spcPts val="0"/>
              </a:spcBef>
              <a:defRPr sz="2500" b="0">
                <a:solidFill>
                  <a:srgbClr val="628DB5"/>
                </a:solidFill>
              </a:defRPr>
            </a:pPr>
            <a:endParaRPr lang="en-US" sz="1800" dirty="0">
              <a:solidFill>
                <a:schemeClr val="tx1"/>
              </a:solidFill>
              <a:cs typeface="Arial"/>
            </a:endParaRPr>
          </a:p>
        </p:txBody>
      </p:sp>
      <p:sp>
        <p:nvSpPr>
          <p:cNvPr id="21" name="TextBox 20">
            <a:extLst>
              <a:ext uri="{FF2B5EF4-FFF2-40B4-BE49-F238E27FC236}">
                <a16:creationId xmlns:a16="http://schemas.microsoft.com/office/drawing/2014/main" id="{8EA4E268-3EAA-507B-D921-68F6920C398B}"/>
              </a:ext>
            </a:extLst>
          </p:cNvPr>
          <p:cNvSpPr txBox="1"/>
          <p:nvPr/>
        </p:nvSpPr>
        <p:spPr>
          <a:xfrm>
            <a:off x="6339064" y="6847726"/>
            <a:ext cx="718914"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a:solidFill>
                  <a:srgbClr val="0B4EB2"/>
                </a:solidFill>
                <a:cs typeface="Helvetica"/>
              </a:rPr>
              <a:t>exec/*.R</a:t>
            </a:r>
            <a:endParaRPr lang="en-US" b="1">
              <a:solidFill>
                <a:srgbClr val="0B4EB2"/>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a:extLst>
              <a:ext uri="{FF2B5EF4-FFF2-40B4-BE49-F238E27FC236}">
                <a16:creationId xmlns:a16="http://schemas.microsoft.com/office/drawing/2014/main" id="{5D62BE49-D8C4-9B14-1F08-A85ADCBC15C5}"/>
              </a:ext>
            </a:extLst>
          </p:cNvPr>
          <p:cNvPicPr>
            <a:picLocks noChangeAspect="1"/>
          </p:cNvPicPr>
          <p:nvPr/>
        </p:nvPicPr>
        <p:blipFill>
          <a:blip r:embed="rId14"/>
          <a:stretch>
            <a:fillRect/>
          </a:stretch>
        </p:blipFill>
        <p:spPr>
          <a:xfrm>
            <a:off x="10199549" y="8507016"/>
            <a:ext cx="538060" cy="507646"/>
          </a:xfrm>
          <a:prstGeom prst="rect">
            <a:avLst/>
          </a:prstGeom>
        </p:spPr>
      </p:pic>
      <p:pic>
        <p:nvPicPr>
          <p:cNvPr id="36" name="Picture 35">
            <a:extLst>
              <a:ext uri="{FF2B5EF4-FFF2-40B4-BE49-F238E27FC236}">
                <a16:creationId xmlns:a16="http://schemas.microsoft.com/office/drawing/2014/main" id="{DC6C48FB-0996-68A8-B06A-04884A7152F1}"/>
              </a:ext>
            </a:extLst>
          </p:cNvPr>
          <p:cNvPicPr>
            <a:picLocks noChangeAspect="1"/>
          </p:cNvPicPr>
          <p:nvPr/>
        </p:nvPicPr>
        <p:blipFill>
          <a:blip r:embed="rId14"/>
          <a:stretch>
            <a:fillRect/>
          </a:stretch>
        </p:blipFill>
        <p:spPr>
          <a:xfrm>
            <a:off x="10199637" y="7868327"/>
            <a:ext cx="538060" cy="507646"/>
          </a:xfrm>
          <a:prstGeom prst="rect">
            <a:avLst/>
          </a:prstGeom>
        </p:spPr>
      </p:pic>
      <p:pic>
        <p:nvPicPr>
          <p:cNvPr id="46" name="Picture 45">
            <a:extLst>
              <a:ext uri="{FF2B5EF4-FFF2-40B4-BE49-F238E27FC236}">
                <a16:creationId xmlns:a16="http://schemas.microsoft.com/office/drawing/2014/main" id="{3299F130-8737-902C-DA09-B8A98A8A5ACB}"/>
              </a:ext>
            </a:extLst>
          </p:cNvPr>
          <p:cNvPicPr>
            <a:picLocks noChangeAspect="1"/>
          </p:cNvPicPr>
          <p:nvPr/>
        </p:nvPicPr>
        <p:blipFill>
          <a:blip r:embed="rId14"/>
          <a:stretch>
            <a:fillRect/>
          </a:stretch>
        </p:blipFill>
        <p:spPr>
          <a:xfrm>
            <a:off x="11441446" y="7850639"/>
            <a:ext cx="538060" cy="507646"/>
          </a:xfrm>
          <a:prstGeom prst="rect">
            <a:avLst/>
          </a:prstGeom>
        </p:spPr>
      </p:pic>
      <p:pic>
        <p:nvPicPr>
          <p:cNvPr id="59" name="Picture 58">
            <a:extLst>
              <a:ext uri="{FF2B5EF4-FFF2-40B4-BE49-F238E27FC236}">
                <a16:creationId xmlns:a16="http://schemas.microsoft.com/office/drawing/2014/main" id="{1ED07CC0-4345-E544-F4B1-D79487FC3731}"/>
              </a:ext>
            </a:extLst>
          </p:cNvPr>
          <p:cNvPicPr>
            <a:picLocks noChangeAspect="1"/>
          </p:cNvPicPr>
          <p:nvPr/>
        </p:nvPicPr>
        <p:blipFill>
          <a:blip r:embed="rId14"/>
          <a:stretch>
            <a:fillRect/>
          </a:stretch>
        </p:blipFill>
        <p:spPr>
          <a:xfrm>
            <a:off x="11477011" y="8507180"/>
            <a:ext cx="538060" cy="507646"/>
          </a:xfrm>
          <a:prstGeom prst="rect">
            <a:avLst/>
          </a:prstGeom>
        </p:spPr>
      </p:pic>
      <p:pic>
        <p:nvPicPr>
          <p:cNvPr id="61" name="table">
            <a:extLst>
              <a:ext uri="{FF2B5EF4-FFF2-40B4-BE49-F238E27FC236}">
                <a16:creationId xmlns:a16="http://schemas.microsoft.com/office/drawing/2014/main" id="{26D9CCE7-48ED-A279-A1AE-BD37DA3BA756}"/>
              </a:ext>
            </a:extLst>
          </p:cNvPr>
          <p:cNvPicPr>
            <a:picLocks noChangeAspect="1"/>
          </p:cNvPicPr>
          <p:nvPr/>
        </p:nvPicPr>
        <p:blipFill>
          <a:blip r:embed="rId7"/>
          <a:stretch>
            <a:fillRect/>
          </a:stretch>
        </p:blipFill>
        <p:spPr>
          <a:xfrm>
            <a:off x="10965727" y="7980540"/>
            <a:ext cx="267508" cy="302355"/>
          </a:xfrm>
          <a:prstGeom prst="rect">
            <a:avLst/>
          </a:prstGeom>
        </p:spPr>
      </p:pic>
      <p:pic>
        <p:nvPicPr>
          <p:cNvPr id="62" name="table">
            <a:extLst>
              <a:ext uri="{FF2B5EF4-FFF2-40B4-BE49-F238E27FC236}">
                <a16:creationId xmlns:a16="http://schemas.microsoft.com/office/drawing/2014/main" id="{476D0049-906D-66F6-A2BB-844F417997E2}"/>
              </a:ext>
            </a:extLst>
          </p:cNvPr>
          <p:cNvPicPr>
            <a:picLocks noChangeAspect="1"/>
          </p:cNvPicPr>
          <p:nvPr/>
        </p:nvPicPr>
        <p:blipFill>
          <a:blip r:embed="rId7"/>
          <a:stretch>
            <a:fillRect/>
          </a:stretch>
        </p:blipFill>
        <p:spPr>
          <a:xfrm>
            <a:off x="13575937" y="8849995"/>
            <a:ext cx="267508" cy="302355"/>
          </a:xfrm>
          <a:prstGeom prst="rect">
            <a:avLst/>
          </a:prstGeom>
        </p:spPr>
      </p:pic>
      <p:pic>
        <p:nvPicPr>
          <p:cNvPr id="63" name="table">
            <a:extLst>
              <a:ext uri="{FF2B5EF4-FFF2-40B4-BE49-F238E27FC236}">
                <a16:creationId xmlns:a16="http://schemas.microsoft.com/office/drawing/2014/main" id="{B7CD8535-AD7E-7B8C-412D-E28CF89CA272}"/>
              </a:ext>
            </a:extLst>
          </p:cNvPr>
          <p:cNvPicPr>
            <a:picLocks noChangeAspect="1"/>
          </p:cNvPicPr>
          <p:nvPr/>
        </p:nvPicPr>
        <p:blipFill>
          <a:blip r:embed="rId7"/>
          <a:stretch>
            <a:fillRect/>
          </a:stretch>
        </p:blipFill>
        <p:spPr>
          <a:xfrm>
            <a:off x="10968405" y="8646007"/>
            <a:ext cx="267508" cy="302355"/>
          </a:xfrm>
          <a:prstGeom prst="rect">
            <a:avLst/>
          </a:prstGeom>
        </p:spPr>
      </p:pic>
      <p:pic>
        <p:nvPicPr>
          <p:cNvPr id="256" name="table">
            <a:extLst>
              <a:ext uri="{FF2B5EF4-FFF2-40B4-BE49-F238E27FC236}">
                <a16:creationId xmlns:a16="http://schemas.microsoft.com/office/drawing/2014/main" id="{C1678814-D667-A52B-5337-55867DEC42E1}"/>
              </a:ext>
            </a:extLst>
          </p:cNvPr>
          <p:cNvPicPr>
            <a:picLocks noChangeAspect="1"/>
          </p:cNvPicPr>
          <p:nvPr/>
        </p:nvPicPr>
        <p:blipFill>
          <a:blip r:embed="rId7"/>
          <a:stretch>
            <a:fillRect/>
          </a:stretch>
        </p:blipFill>
        <p:spPr>
          <a:xfrm>
            <a:off x="12192476" y="7936346"/>
            <a:ext cx="267508" cy="302355"/>
          </a:xfrm>
          <a:prstGeom prst="rect">
            <a:avLst/>
          </a:prstGeom>
        </p:spPr>
      </p:pic>
      <p:pic>
        <p:nvPicPr>
          <p:cNvPr id="257" name="table">
            <a:extLst>
              <a:ext uri="{FF2B5EF4-FFF2-40B4-BE49-F238E27FC236}">
                <a16:creationId xmlns:a16="http://schemas.microsoft.com/office/drawing/2014/main" id="{6D2DC3C0-3040-3D19-5752-CDD7FF3777F0}"/>
              </a:ext>
            </a:extLst>
          </p:cNvPr>
          <p:cNvPicPr>
            <a:picLocks noChangeAspect="1"/>
          </p:cNvPicPr>
          <p:nvPr/>
        </p:nvPicPr>
        <p:blipFill>
          <a:blip r:embed="rId7"/>
          <a:stretch>
            <a:fillRect/>
          </a:stretch>
        </p:blipFill>
        <p:spPr>
          <a:xfrm>
            <a:off x="12201431" y="8619501"/>
            <a:ext cx="267508" cy="302355"/>
          </a:xfrm>
          <a:prstGeom prst="rect">
            <a:avLst/>
          </a:prstGeom>
        </p:spPr>
      </p:pic>
      <p:pic>
        <p:nvPicPr>
          <p:cNvPr id="263" name="Picture 262">
            <a:extLst>
              <a:ext uri="{FF2B5EF4-FFF2-40B4-BE49-F238E27FC236}">
                <a16:creationId xmlns:a16="http://schemas.microsoft.com/office/drawing/2014/main" id="{065E1999-D547-E24D-244E-FEC786C52662}"/>
              </a:ext>
            </a:extLst>
          </p:cNvPr>
          <p:cNvPicPr>
            <a:picLocks noChangeAspect="1"/>
          </p:cNvPicPr>
          <p:nvPr/>
        </p:nvPicPr>
        <p:blipFill>
          <a:blip r:embed="rId14"/>
          <a:stretch>
            <a:fillRect/>
          </a:stretch>
        </p:blipFill>
        <p:spPr>
          <a:xfrm>
            <a:off x="12836644" y="8764452"/>
            <a:ext cx="538060" cy="507646"/>
          </a:xfrm>
          <a:prstGeom prst="rect">
            <a:avLst/>
          </a:prstGeom>
        </p:spPr>
      </p:pic>
      <p:pic>
        <p:nvPicPr>
          <p:cNvPr id="267" name="Picture 266" descr="A close-up of a letter&#10;&#10;AI-generated content may be incorrect.">
            <a:extLst>
              <a:ext uri="{FF2B5EF4-FFF2-40B4-BE49-F238E27FC236}">
                <a16:creationId xmlns:a16="http://schemas.microsoft.com/office/drawing/2014/main" id="{5A463A75-5E42-EDCD-1D35-42CBE2A3E508}"/>
              </a:ext>
            </a:extLst>
          </p:cNvPr>
          <p:cNvPicPr>
            <a:picLocks noChangeAspect="1"/>
          </p:cNvPicPr>
          <p:nvPr/>
        </p:nvPicPr>
        <p:blipFill>
          <a:blip r:embed="rId13"/>
          <a:stretch>
            <a:fillRect/>
          </a:stretch>
        </p:blipFill>
        <p:spPr>
          <a:xfrm>
            <a:off x="9495569" y="8532644"/>
            <a:ext cx="396915" cy="386557"/>
          </a:xfrm>
          <a:prstGeom prst="rect">
            <a:avLst/>
          </a:prstGeom>
          <a:ln w="28575">
            <a:solidFill>
              <a:schemeClr val="bg1"/>
            </a:solidFill>
          </a:ln>
        </p:spPr>
      </p:pic>
      <p:pic>
        <p:nvPicPr>
          <p:cNvPr id="278" name="Picture 277">
            <a:extLst>
              <a:ext uri="{FF2B5EF4-FFF2-40B4-BE49-F238E27FC236}">
                <a16:creationId xmlns:a16="http://schemas.microsoft.com/office/drawing/2014/main" id="{8963891E-CDE3-940D-AFBD-EFB2DDDA127F}"/>
              </a:ext>
            </a:extLst>
          </p:cNvPr>
          <p:cNvPicPr>
            <a:picLocks noChangeAspect="1"/>
          </p:cNvPicPr>
          <p:nvPr/>
        </p:nvPicPr>
        <p:blipFill>
          <a:blip r:embed="rId15"/>
          <a:stretch>
            <a:fillRect/>
          </a:stretch>
        </p:blipFill>
        <p:spPr>
          <a:xfrm>
            <a:off x="9494497" y="7930221"/>
            <a:ext cx="554321" cy="415604"/>
          </a:xfrm>
          <a:prstGeom prst="rect">
            <a:avLst/>
          </a:prstGeom>
          <a:ln w="28575">
            <a:solidFill>
              <a:schemeClr val="bg1"/>
            </a:solidFill>
          </a:ln>
        </p:spPr>
      </p:pic>
      <p:cxnSp>
        <p:nvCxnSpPr>
          <p:cNvPr id="279" name="Straight Arrow Connector 278">
            <a:extLst>
              <a:ext uri="{FF2B5EF4-FFF2-40B4-BE49-F238E27FC236}">
                <a16:creationId xmlns:a16="http://schemas.microsoft.com/office/drawing/2014/main" id="{4B3917E3-C3F4-4260-08FB-72AB13C15B17}"/>
              </a:ext>
            </a:extLst>
          </p:cNvPr>
          <p:cNvCxnSpPr/>
          <p:nvPr/>
        </p:nvCxnSpPr>
        <p:spPr>
          <a:xfrm>
            <a:off x="10029205" y="811939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B33429F6-441E-190E-B88F-10C8070A3048}"/>
              </a:ext>
            </a:extLst>
          </p:cNvPr>
          <p:cNvCxnSpPr>
            <a:cxnSpLocks/>
          </p:cNvCxnSpPr>
          <p:nvPr/>
        </p:nvCxnSpPr>
        <p:spPr>
          <a:xfrm>
            <a:off x="10696753" y="812832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D4391962-CDC1-EE63-2142-5C6188783545}"/>
              </a:ext>
            </a:extLst>
          </p:cNvPr>
          <p:cNvCxnSpPr>
            <a:cxnSpLocks/>
          </p:cNvCxnSpPr>
          <p:nvPr/>
        </p:nvCxnSpPr>
        <p:spPr>
          <a:xfrm>
            <a:off x="9969544" y="87937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58308E4F-B662-246D-BF4A-A321C34E788A}"/>
              </a:ext>
            </a:extLst>
          </p:cNvPr>
          <p:cNvCxnSpPr>
            <a:cxnSpLocks/>
          </p:cNvCxnSpPr>
          <p:nvPr/>
        </p:nvCxnSpPr>
        <p:spPr>
          <a:xfrm>
            <a:off x="10696926" y="881153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C05DA49F-0520-7969-CF78-03ED68361BCF}"/>
              </a:ext>
            </a:extLst>
          </p:cNvPr>
          <p:cNvCxnSpPr>
            <a:cxnSpLocks/>
          </p:cNvCxnSpPr>
          <p:nvPr/>
        </p:nvCxnSpPr>
        <p:spPr>
          <a:xfrm>
            <a:off x="11246918" y="811961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BAEB45D0-40D9-6B89-49B0-A61714816434}"/>
              </a:ext>
            </a:extLst>
          </p:cNvPr>
          <p:cNvCxnSpPr>
            <a:cxnSpLocks/>
          </p:cNvCxnSpPr>
          <p:nvPr/>
        </p:nvCxnSpPr>
        <p:spPr>
          <a:xfrm>
            <a:off x="11238135" y="879389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9" name="Straight Arrow Connector 298">
            <a:extLst>
              <a:ext uri="{FF2B5EF4-FFF2-40B4-BE49-F238E27FC236}">
                <a16:creationId xmlns:a16="http://schemas.microsoft.com/office/drawing/2014/main" id="{0792F367-4142-F715-9DF8-8EFDD8F3156E}"/>
              </a:ext>
            </a:extLst>
          </p:cNvPr>
          <p:cNvCxnSpPr>
            <a:cxnSpLocks/>
          </p:cNvCxnSpPr>
          <p:nvPr/>
        </p:nvCxnSpPr>
        <p:spPr>
          <a:xfrm>
            <a:off x="11965517" y="879395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1" name="Straight Arrow Connector 300">
            <a:extLst>
              <a:ext uri="{FF2B5EF4-FFF2-40B4-BE49-F238E27FC236}">
                <a16:creationId xmlns:a16="http://schemas.microsoft.com/office/drawing/2014/main" id="{C821342F-FA30-394C-7D12-584350A17306}"/>
              </a:ext>
            </a:extLst>
          </p:cNvPr>
          <p:cNvCxnSpPr>
            <a:cxnSpLocks/>
          </p:cNvCxnSpPr>
          <p:nvPr/>
        </p:nvCxnSpPr>
        <p:spPr>
          <a:xfrm>
            <a:off x="11956735" y="812864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1" name="Straight Arrow Connector 310">
            <a:extLst>
              <a:ext uri="{FF2B5EF4-FFF2-40B4-BE49-F238E27FC236}">
                <a16:creationId xmlns:a16="http://schemas.microsoft.com/office/drawing/2014/main" id="{991BE91F-DDFD-2D73-EB26-44FFB376D570}"/>
              </a:ext>
            </a:extLst>
          </p:cNvPr>
          <p:cNvCxnSpPr>
            <a:cxnSpLocks/>
          </p:cNvCxnSpPr>
          <p:nvPr/>
        </p:nvCxnSpPr>
        <p:spPr>
          <a:xfrm>
            <a:off x="13340455" y="901584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3" name="TextBox 332">
            <a:extLst>
              <a:ext uri="{FF2B5EF4-FFF2-40B4-BE49-F238E27FC236}">
                <a16:creationId xmlns:a16="http://schemas.microsoft.com/office/drawing/2014/main" id="{2C236C75-478A-A761-155A-6E4E03C46C92}"/>
              </a:ext>
            </a:extLst>
          </p:cNvPr>
          <p:cNvSpPr txBox="1"/>
          <p:nvPr/>
        </p:nvSpPr>
        <p:spPr>
          <a:xfrm>
            <a:off x="6674440" y="9077251"/>
            <a:ext cx="3206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336" name="Straight Arrow Connector 335">
            <a:extLst>
              <a:ext uri="{FF2B5EF4-FFF2-40B4-BE49-F238E27FC236}">
                <a16:creationId xmlns:a16="http://schemas.microsoft.com/office/drawing/2014/main" id="{D9D68D1F-D981-E0ED-8BFD-0074F00EE384}"/>
              </a:ext>
            </a:extLst>
          </p:cNvPr>
          <p:cNvCxnSpPr/>
          <p:nvPr/>
        </p:nvCxnSpPr>
        <p:spPr>
          <a:xfrm>
            <a:off x="5476160" y="5990099"/>
            <a:ext cx="2786744" cy="2054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Arrow Connector 338">
            <a:extLst>
              <a:ext uri="{FF2B5EF4-FFF2-40B4-BE49-F238E27FC236}">
                <a16:creationId xmlns:a16="http://schemas.microsoft.com/office/drawing/2014/main" id="{38E6476D-8823-57E5-4F5A-7659282E1340}"/>
              </a:ext>
            </a:extLst>
          </p:cNvPr>
          <p:cNvCxnSpPr/>
          <p:nvPr/>
        </p:nvCxnSpPr>
        <p:spPr>
          <a:xfrm>
            <a:off x="8240318" y="5254399"/>
            <a:ext cx="4975" cy="74632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0" name="Straight Arrow Connector 339">
            <a:extLst>
              <a:ext uri="{FF2B5EF4-FFF2-40B4-BE49-F238E27FC236}">
                <a16:creationId xmlns:a16="http://schemas.microsoft.com/office/drawing/2014/main" id="{A838A678-CA28-4793-0555-AAF402A016D2}"/>
              </a:ext>
            </a:extLst>
          </p:cNvPr>
          <p:cNvCxnSpPr/>
          <p:nvPr/>
        </p:nvCxnSpPr>
        <p:spPr>
          <a:xfrm flipH="1" flipV="1">
            <a:off x="5476491" y="5738690"/>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5" name="Straight Arrow Connector 354">
            <a:extLst>
              <a:ext uri="{FF2B5EF4-FFF2-40B4-BE49-F238E27FC236}">
                <a16:creationId xmlns:a16="http://schemas.microsoft.com/office/drawing/2014/main" id="{6E4F44CA-2889-F203-3028-8B0044082D1C}"/>
              </a:ext>
            </a:extLst>
          </p:cNvPr>
          <p:cNvCxnSpPr>
            <a:cxnSpLocks/>
          </p:cNvCxnSpPr>
          <p:nvPr/>
        </p:nvCxnSpPr>
        <p:spPr>
          <a:xfrm flipH="1" flipV="1">
            <a:off x="6452587" y="5731053"/>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6" name="Straight Arrow Connector 355">
            <a:extLst>
              <a:ext uri="{FF2B5EF4-FFF2-40B4-BE49-F238E27FC236}">
                <a16:creationId xmlns:a16="http://schemas.microsoft.com/office/drawing/2014/main" id="{2ECA3D35-AB0E-393D-7A7B-18D3854ECD64}"/>
              </a:ext>
            </a:extLst>
          </p:cNvPr>
          <p:cNvCxnSpPr/>
          <p:nvPr/>
        </p:nvCxnSpPr>
        <p:spPr>
          <a:xfrm>
            <a:off x="6722531" y="5989650"/>
            <a:ext cx="4972" cy="2879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D6AC450F-F90E-C900-9A6D-C35BC27C00E5}"/>
              </a:ext>
            </a:extLst>
          </p:cNvPr>
          <p:cNvSpPr txBox="1"/>
          <p:nvPr/>
        </p:nvSpPr>
        <p:spPr>
          <a:xfrm rot="5400000">
            <a:off x="9399955" y="9171237"/>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 . .</a:t>
            </a:r>
          </a:p>
        </p:txBody>
      </p:sp>
      <p:pic>
        <p:nvPicPr>
          <p:cNvPr id="20" name="Picture 19">
            <a:extLst>
              <a:ext uri="{FF2B5EF4-FFF2-40B4-BE49-F238E27FC236}">
                <a16:creationId xmlns:a16="http://schemas.microsoft.com/office/drawing/2014/main" id="{82FEAC4C-DBF4-3919-0C11-8AAFD2353CB5}"/>
              </a:ext>
            </a:extLst>
          </p:cNvPr>
          <p:cNvPicPr>
            <a:picLocks noChangeAspect="1"/>
          </p:cNvPicPr>
          <p:nvPr/>
        </p:nvPicPr>
        <p:blipFill>
          <a:blip r:embed="rId14"/>
          <a:stretch>
            <a:fillRect/>
          </a:stretch>
        </p:blipFill>
        <p:spPr>
          <a:xfrm>
            <a:off x="10193141" y="9536212"/>
            <a:ext cx="538060" cy="507646"/>
          </a:xfrm>
          <a:prstGeom prst="rect">
            <a:avLst/>
          </a:prstGeom>
        </p:spPr>
      </p:pic>
      <p:pic>
        <p:nvPicPr>
          <p:cNvPr id="26" name="Picture 25">
            <a:extLst>
              <a:ext uri="{FF2B5EF4-FFF2-40B4-BE49-F238E27FC236}">
                <a16:creationId xmlns:a16="http://schemas.microsoft.com/office/drawing/2014/main" id="{9F3F72BE-DF31-A71A-9F80-083C71B5C82D}"/>
              </a:ext>
            </a:extLst>
          </p:cNvPr>
          <p:cNvPicPr>
            <a:picLocks noChangeAspect="1"/>
          </p:cNvPicPr>
          <p:nvPr/>
        </p:nvPicPr>
        <p:blipFill>
          <a:blip r:embed="rId14"/>
          <a:stretch>
            <a:fillRect/>
          </a:stretch>
        </p:blipFill>
        <p:spPr>
          <a:xfrm>
            <a:off x="11435228" y="9518524"/>
            <a:ext cx="538060" cy="507646"/>
          </a:xfrm>
          <a:prstGeom prst="rect">
            <a:avLst/>
          </a:prstGeom>
        </p:spPr>
      </p:pic>
      <p:pic>
        <p:nvPicPr>
          <p:cNvPr id="29" name="table">
            <a:extLst>
              <a:ext uri="{FF2B5EF4-FFF2-40B4-BE49-F238E27FC236}">
                <a16:creationId xmlns:a16="http://schemas.microsoft.com/office/drawing/2014/main" id="{F34B3BFA-0899-73D3-689F-F219DBB211CD}"/>
              </a:ext>
            </a:extLst>
          </p:cNvPr>
          <p:cNvPicPr>
            <a:picLocks noChangeAspect="1"/>
          </p:cNvPicPr>
          <p:nvPr/>
        </p:nvPicPr>
        <p:blipFill>
          <a:blip r:embed="rId7"/>
          <a:stretch>
            <a:fillRect/>
          </a:stretch>
        </p:blipFill>
        <p:spPr>
          <a:xfrm>
            <a:off x="10959403" y="9648425"/>
            <a:ext cx="267508" cy="302355"/>
          </a:xfrm>
          <a:prstGeom prst="rect">
            <a:avLst/>
          </a:prstGeom>
        </p:spPr>
      </p:pic>
      <p:pic>
        <p:nvPicPr>
          <p:cNvPr id="34" name="table">
            <a:extLst>
              <a:ext uri="{FF2B5EF4-FFF2-40B4-BE49-F238E27FC236}">
                <a16:creationId xmlns:a16="http://schemas.microsoft.com/office/drawing/2014/main" id="{FC5FDF39-741E-1CE2-CD69-AF6D3496DD76}"/>
              </a:ext>
            </a:extLst>
          </p:cNvPr>
          <p:cNvPicPr>
            <a:picLocks noChangeAspect="1"/>
          </p:cNvPicPr>
          <p:nvPr/>
        </p:nvPicPr>
        <p:blipFill>
          <a:blip r:embed="rId7"/>
          <a:stretch>
            <a:fillRect/>
          </a:stretch>
        </p:blipFill>
        <p:spPr>
          <a:xfrm>
            <a:off x="12186427" y="9604231"/>
            <a:ext cx="267508" cy="302355"/>
          </a:xfrm>
          <a:prstGeom prst="rect">
            <a:avLst/>
          </a:prstGeom>
        </p:spPr>
      </p:pic>
      <p:pic>
        <p:nvPicPr>
          <p:cNvPr id="35" name="Picture 34">
            <a:extLst>
              <a:ext uri="{FF2B5EF4-FFF2-40B4-BE49-F238E27FC236}">
                <a16:creationId xmlns:a16="http://schemas.microsoft.com/office/drawing/2014/main" id="{2D5866BF-0C88-CE88-6273-CCB66744F416}"/>
              </a:ext>
            </a:extLst>
          </p:cNvPr>
          <p:cNvPicPr>
            <a:picLocks noChangeAspect="1"/>
          </p:cNvPicPr>
          <p:nvPr/>
        </p:nvPicPr>
        <p:blipFill>
          <a:blip r:embed="rId15"/>
          <a:stretch>
            <a:fillRect/>
          </a:stretch>
        </p:blipFill>
        <p:spPr>
          <a:xfrm>
            <a:off x="9487843" y="9598106"/>
            <a:ext cx="554321" cy="415604"/>
          </a:xfrm>
          <a:prstGeom prst="rect">
            <a:avLst/>
          </a:prstGeom>
          <a:ln w="28575">
            <a:solidFill>
              <a:schemeClr val="bg1"/>
            </a:solidFill>
          </a:ln>
        </p:spPr>
      </p:pic>
      <p:cxnSp>
        <p:nvCxnSpPr>
          <p:cNvPr id="268" name="Straight Arrow Connector 267">
            <a:extLst>
              <a:ext uri="{FF2B5EF4-FFF2-40B4-BE49-F238E27FC236}">
                <a16:creationId xmlns:a16="http://schemas.microsoft.com/office/drawing/2014/main" id="{B2D90FB3-49B1-6CB5-FD7E-37FD4C2526A7}"/>
              </a:ext>
            </a:extLst>
          </p:cNvPr>
          <p:cNvCxnSpPr>
            <a:cxnSpLocks/>
          </p:cNvCxnSpPr>
          <p:nvPr/>
        </p:nvCxnSpPr>
        <p:spPr>
          <a:xfrm>
            <a:off x="10022671" y="978728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D94EAF35-B798-18DA-6EB6-B3DE745C8987}"/>
              </a:ext>
            </a:extLst>
          </p:cNvPr>
          <p:cNvCxnSpPr>
            <a:cxnSpLocks/>
          </p:cNvCxnSpPr>
          <p:nvPr/>
        </p:nvCxnSpPr>
        <p:spPr>
          <a:xfrm>
            <a:off x="10690368" y="979620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0" name="Straight Arrow Connector 269">
            <a:extLst>
              <a:ext uri="{FF2B5EF4-FFF2-40B4-BE49-F238E27FC236}">
                <a16:creationId xmlns:a16="http://schemas.microsoft.com/office/drawing/2014/main" id="{A4A092DD-CE6A-EC36-590E-2D222497B3E5}"/>
              </a:ext>
            </a:extLst>
          </p:cNvPr>
          <p:cNvCxnSpPr>
            <a:cxnSpLocks/>
          </p:cNvCxnSpPr>
          <p:nvPr/>
        </p:nvCxnSpPr>
        <p:spPr>
          <a:xfrm>
            <a:off x="11240657" y="978749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620C3FA5-74FE-E785-8F68-1419DC680D2A}"/>
              </a:ext>
            </a:extLst>
          </p:cNvPr>
          <p:cNvCxnSpPr>
            <a:cxnSpLocks/>
          </p:cNvCxnSpPr>
          <p:nvPr/>
        </p:nvCxnSpPr>
        <p:spPr>
          <a:xfrm>
            <a:off x="11950633" y="97965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C927CD7A-649D-72CB-37D1-E01ECA1CBC13}"/>
              </a:ext>
            </a:extLst>
          </p:cNvPr>
          <p:cNvCxnSpPr/>
          <p:nvPr/>
        </p:nvCxnSpPr>
        <p:spPr>
          <a:xfrm>
            <a:off x="12480161" y="8108336"/>
            <a:ext cx="417374" cy="861135"/>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09972F24-CC19-1EB5-A48C-6F87F2C05349}"/>
              </a:ext>
            </a:extLst>
          </p:cNvPr>
          <p:cNvCxnSpPr/>
          <p:nvPr/>
        </p:nvCxnSpPr>
        <p:spPr>
          <a:xfrm flipV="1">
            <a:off x="12472261" y="9058034"/>
            <a:ext cx="399623" cy="727931"/>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9" name="Connector: Elbow 308">
            <a:extLst>
              <a:ext uri="{FF2B5EF4-FFF2-40B4-BE49-F238E27FC236}">
                <a16:creationId xmlns:a16="http://schemas.microsoft.com/office/drawing/2014/main" id="{B8C8A997-10DE-183A-BA64-74D72CC0B910}"/>
              </a:ext>
            </a:extLst>
          </p:cNvPr>
          <p:cNvCxnSpPr/>
          <p:nvPr/>
        </p:nvCxnSpPr>
        <p:spPr>
          <a:xfrm>
            <a:off x="12490386" y="8810533"/>
            <a:ext cx="399622" cy="15981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61" name="Line">
            <a:extLst>
              <a:ext uri="{FF2B5EF4-FFF2-40B4-BE49-F238E27FC236}">
                <a16:creationId xmlns:a16="http://schemas.microsoft.com/office/drawing/2014/main" id="{C455CA82-44DA-A589-857B-B63A36EE2712}"/>
              </a:ext>
            </a:extLst>
          </p:cNvPr>
          <p:cNvSpPr/>
          <p:nvPr/>
        </p:nvSpPr>
        <p:spPr>
          <a:xfrm>
            <a:off x="9690700" y="6201753"/>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362" name="Straight Arrow Connector 361">
            <a:extLst>
              <a:ext uri="{FF2B5EF4-FFF2-40B4-BE49-F238E27FC236}">
                <a16:creationId xmlns:a16="http://schemas.microsoft.com/office/drawing/2014/main" id="{61A99120-F3DE-F050-05E1-C1FB67609A34}"/>
              </a:ext>
            </a:extLst>
          </p:cNvPr>
          <p:cNvCxnSpPr/>
          <p:nvPr/>
        </p:nvCxnSpPr>
        <p:spPr>
          <a:xfrm flipH="1">
            <a:off x="6709005" y="7154130"/>
            <a:ext cx="8649" cy="190867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F4C77141-5F15-90EE-470D-701AD1D12AB6}"/>
              </a:ext>
            </a:extLst>
          </p:cNvPr>
          <p:cNvCxnSpPr/>
          <p:nvPr/>
        </p:nvCxnSpPr>
        <p:spPr>
          <a:xfrm>
            <a:off x="5288449" y="7375062"/>
            <a:ext cx="3184194" cy="1211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5" name="Straight Arrow Connector 314">
            <a:extLst>
              <a:ext uri="{FF2B5EF4-FFF2-40B4-BE49-F238E27FC236}">
                <a16:creationId xmlns:a16="http://schemas.microsoft.com/office/drawing/2014/main" id="{71191CA7-C039-5460-5B19-4FF789103A19}"/>
              </a:ext>
            </a:extLst>
          </p:cNvPr>
          <p:cNvCxnSpPr/>
          <p:nvPr/>
        </p:nvCxnSpPr>
        <p:spPr>
          <a:xfrm>
            <a:off x="8463956" y="7377647"/>
            <a:ext cx="1002" cy="34058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6" name="Straight Arrow Connector 315">
            <a:extLst>
              <a:ext uri="{FF2B5EF4-FFF2-40B4-BE49-F238E27FC236}">
                <a16:creationId xmlns:a16="http://schemas.microsoft.com/office/drawing/2014/main" id="{D7413546-55D8-663F-80E4-A93BB3D0F838}"/>
              </a:ext>
            </a:extLst>
          </p:cNvPr>
          <p:cNvCxnSpPr/>
          <p:nvPr/>
        </p:nvCxnSpPr>
        <p:spPr>
          <a:xfrm>
            <a:off x="5286998" y="7374285"/>
            <a:ext cx="9102" cy="36399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4" name="Straight Arrow Connector 363">
            <a:extLst>
              <a:ext uri="{FF2B5EF4-FFF2-40B4-BE49-F238E27FC236}">
                <a16:creationId xmlns:a16="http://schemas.microsoft.com/office/drawing/2014/main" id="{44CC675D-2FD4-BE96-44DF-45B2756F7CD7}"/>
              </a:ext>
            </a:extLst>
          </p:cNvPr>
          <p:cNvCxnSpPr/>
          <p:nvPr/>
        </p:nvCxnSpPr>
        <p:spPr>
          <a:xfrm>
            <a:off x="7426823" y="7392884"/>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8" name="Straight Arrow Connector 367">
            <a:extLst>
              <a:ext uri="{FF2B5EF4-FFF2-40B4-BE49-F238E27FC236}">
                <a16:creationId xmlns:a16="http://schemas.microsoft.com/office/drawing/2014/main" id="{8C41B783-12B9-D2B3-72BE-ED1C1B38925E}"/>
              </a:ext>
            </a:extLst>
          </p:cNvPr>
          <p:cNvCxnSpPr>
            <a:cxnSpLocks/>
          </p:cNvCxnSpPr>
          <p:nvPr/>
        </p:nvCxnSpPr>
        <p:spPr>
          <a:xfrm>
            <a:off x="6000593" y="7384066"/>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76" name="TextBox 375">
            <a:extLst>
              <a:ext uri="{FF2B5EF4-FFF2-40B4-BE49-F238E27FC236}">
                <a16:creationId xmlns:a16="http://schemas.microsoft.com/office/drawing/2014/main" id="{8158657E-7FDE-937F-FE39-C4AE4BF89E65}"/>
              </a:ext>
            </a:extLst>
          </p:cNvPr>
          <p:cNvSpPr txBox="1"/>
          <p:nvPr/>
        </p:nvSpPr>
        <p:spPr>
          <a:xfrm>
            <a:off x="4719010" y="3769481"/>
            <a:ext cx="2770949"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endParaRPr lang="en-US" sz="2400" b="1" i="0" u="none" strike="noStrike" cap="none" spc="0" normalizeH="0" baseline="0">
              <a:ln>
                <a:noFill/>
              </a:ln>
              <a:solidFill>
                <a:srgbClr val="4C4C4C"/>
              </a:solidFill>
              <a:effectLst/>
              <a:uFillTx/>
              <a:latin typeface="Source Sans Pro"/>
              <a:ea typeface="Source Sans Pro"/>
              <a:cs typeface="Source Sans Pro"/>
            </a:endParaRPr>
          </a:p>
        </p:txBody>
      </p:sp>
      <p:pic>
        <p:nvPicPr>
          <p:cNvPr id="7" name="Picture 6" descr="A white symbol on a black background&#10;&#10;AI-generated content may be incorrect.">
            <a:extLst>
              <a:ext uri="{FF2B5EF4-FFF2-40B4-BE49-F238E27FC236}">
                <a16:creationId xmlns:a16="http://schemas.microsoft.com/office/drawing/2014/main" id="{D20E7612-9CEA-2C1B-7CC6-7AD786F9422A}"/>
              </a:ext>
            </a:extLst>
          </p:cNvPr>
          <p:cNvPicPr>
            <a:picLocks noChangeAspect="1"/>
          </p:cNvPicPr>
          <p:nvPr/>
        </p:nvPicPr>
        <p:blipFill>
          <a:blip r:embed="rId19"/>
          <a:stretch>
            <a:fillRect/>
          </a:stretch>
        </p:blipFill>
        <p:spPr>
          <a:xfrm>
            <a:off x="5867239" y="8278371"/>
            <a:ext cx="280697" cy="279423"/>
          </a:xfrm>
          <a:prstGeom prst="rect">
            <a:avLst/>
          </a:prstGeom>
        </p:spPr>
      </p:pic>
      <p:pic>
        <p:nvPicPr>
          <p:cNvPr id="369" name="Picture 368" descr="A white symbol on a black background&#10;&#10;AI-generated content may be incorrect.">
            <a:extLst>
              <a:ext uri="{FF2B5EF4-FFF2-40B4-BE49-F238E27FC236}">
                <a16:creationId xmlns:a16="http://schemas.microsoft.com/office/drawing/2014/main" id="{352DBC36-40C4-7C6D-1EF7-059B1B830EB9}"/>
              </a:ext>
            </a:extLst>
          </p:cNvPr>
          <p:cNvPicPr>
            <a:picLocks noChangeAspect="1"/>
          </p:cNvPicPr>
          <p:nvPr/>
        </p:nvPicPr>
        <p:blipFill>
          <a:blip r:embed="rId19"/>
          <a:stretch>
            <a:fillRect/>
          </a:stretch>
        </p:blipFill>
        <p:spPr>
          <a:xfrm>
            <a:off x="8306166" y="7746138"/>
            <a:ext cx="280697" cy="279423"/>
          </a:xfrm>
          <a:prstGeom prst="rect">
            <a:avLst/>
          </a:prstGeom>
        </p:spPr>
      </p:pic>
      <p:pic>
        <p:nvPicPr>
          <p:cNvPr id="370" name="Picture 369" descr="A white symbol on a black background&#10;&#10;AI-generated content may be incorrect.">
            <a:extLst>
              <a:ext uri="{FF2B5EF4-FFF2-40B4-BE49-F238E27FC236}">
                <a16:creationId xmlns:a16="http://schemas.microsoft.com/office/drawing/2014/main" id="{F6C93BDB-5DF3-773F-D2CB-37806285126E}"/>
              </a:ext>
            </a:extLst>
          </p:cNvPr>
          <p:cNvPicPr>
            <a:picLocks noChangeAspect="1"/>
          </p:cNvPicPr>
          <p:nvPr/>
        </p:nvPicPr>
        <p:blipFill>
          <a:blip r:embed="rId19"/>
          <a:stretch>
            <a:fillRect/>
          </a:stretch>
        </p:blipFill>
        <p:spPr>
          <a:xfrm>
            <a:off x="5157596" y="7746193"/>
            <a:ext cx="280697" cy="279423"/>
          </a:xfrm>
          <a:prstGeom prst="rect">
            <a:avLst/>
          </a:prstGeom>
        </p:spPr>
      </p:pic>
      <p:pic>
        <p:nvPicPr>
          <p:cNvPr id="375" name="Picture 374" descr="A white symbol on a black background&#10;&#10;AI-generated content may be incorrect.">
            <a:extLst>
              <a:ext uri="{FF2B5EF4-FFF2-40B4-BE49-F238E27FC236}">
                <a16:creationId xmlns:a16="http://schemas.microsoft.com/office/drawing/2014/main" id="{20FFE823-9CD2-042B-1FCC-01690D7C5B1F}"/>
              </a:ext>
            </a:extLst>
          </p:cNvPr>
          <p:cNvPicPr>
            <a:picLocks noChangeAspect="1"/>
          </p:cNvPicPr>
          <p:nvPr/>
        </p:nvPicPr>
        <p:blipFill>
          <a:blip r:embed="rId19"/>
          <a:stretch>
            <a:fillRect/>
          </a:stretch>
        </p:blipFill>
        <p:spPr>
          <a:xfrm>
            <a:off x="6355059" y="9130193"/>
            <a:ext cx="280697" cy="279423"/>
          </a:xfrm>
          <a:prstGeom prst="rect">
            <a:avLst/>
          </a:prstGeom>
        </p:spPr>
      </p:pic>
      <p:pic>
        <p:nvPicPr>
          <p:cNvPr id="377" name="Picture 376" descr="A white symbol on a black background&#10;&#10;AI-generated content may be incorrect.">
            <a:extLst>
              <a:ext uri="{FF2B5EF4-FFF2-40B4-BE49-F238E27FC236}">
                <a16:creationId xmlns:a16="http://schemas.microsoft.com/office/drawing/2014/main" id="{174B8E36-BF45-257C-91E6-7770CC42171A}"/>
              </a:ext>
            </a:extLst>
          </p:cNvPr>
          <p:cNvPicPr>
            <a:picLocks noChangeAspect="1"/>
          </p:cNvPicPr>
          <p:nvPr/>
        </p:nvPicPr>
        <p:blipFill>
          <a:blip r:embed="rId19"/>
          <a:stretch>
            <a:fillRect/>
          </a:stretch>
        </p:blipFill>
        <p:spPr>
          <a:xfrm>
            <a:off x="7286438" y="8314074"/>
            <a:ext cx="280697" cy="279423"/>
          </a:xfrm>
          <a:prstGeom prst="rect">
            <a:avLst/>
          </a:prstGeom>
        </p:spPr>
      </p:pic>
      <p:pic>
        <p:nvPicPr>
          <p:cNvPr id="378" name="Picture 377" descr="A white symbol on a black background&#10;&#10;AI-generated content may be incorrect.">
            <a:extLst>
              <a:ext uri="{FF2B5EF4-FFF2-40B4-BE49-F238E27FC236}">
                <a16:creationId xmlns:a16="http://schemas.microsoft.com/office/drawing/2014/main" id="{3C9D5571-4774-4719-653D-BC12907AA430}"/>
              </a:ext>
            </a:extLst>
          </p:cNvPr>
          <p:cNvPicPr>
            <a:picLocks noChangeAspect="1"/>
          </p:cNvPicPr>
          <p:nvPr/>
        </p:nvPicPr>
        <p:blipFill>
          <a:blip r:embed="rId19"/>
          <a:stretch>
            <a:fillRect/>
          </a:stretch>
        </p:blipFill>
        <p:spPr>
          <a:xfrm>
            <a:off x="5964975" y="9130302"/>
            <a:ext cx="280697" cy="279423"/>
          </a:xfrm>
          <a:prstGeom prst="rect">
            <a:avLst/>
          </a:prstGeom>
        </p:spPr>
      </p:pic>
      <p:pic>
        <p:nvPicPr>
          <p:cNvPr id="379" name="Picture 378" descr="A white symbol on a black background&#10;&#10;AI-generated content may be incorrect.">
            <a:extLst>
              <a:ext uri="{FF2B5EF4-FFF2-40B4-BE49-F238E27FC236}">
                <a16:creationId xmlns:a16="http://schemas.microsoft.com/office/drawing/2014/main" id="{87667A3D-CE60-4F90-1750-0D4ECEA48834}"/>
              </a:ext>
            </a:extLst>
          </p:cNvPr>
          <p:cNvPicPr>
            <a:picLocks noChangeAspect="1"/>
          </p:cNvPicPr>
          <p:nvPr/>
        </p:nvPicPr>
        <p:blipFill>
          <a:blip r:embed="rId19"/>
          <a:stretch>
            <a:fillRect/>
          </a:stretch>
        </p:blipFill>
        <p:spPr>
          <a:xfrm>
            <a:off x="6949572" y="9130357"/>
            <a:ext cx="280697" cy="279423"/>
          </a:xfrm>
          <a:prstGeom prst="rect">
            <a:avLst/>
          </a:prstGeom>
        </p:spPr>
      </p:pic>
    </p:spTree>
    <p:extLst>
      <p:ext uri="{BB962C8B-B14F-4D97-AF65-F5344CB8AC3E}">
        <p14:creationId xmlns:p14="http://schemas.microsoft.com/office/powerpoint/2010/main" val="302344167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EE9C-DD1C-646F-723E-8C2DB68ADD42}"/>
            </a:ext>
          </a:extLst>
        </p:cNvPr>
        <p:cNvGrpSpPr/>
        <p:nvPr/>
      </p:nvGrpSpPr>
      <p:grpSpPr>
        <a:xfrm>
          <a:off x="0" y="0"/>
          <a:ext cx="0" cy="0"/>
          <a:chOff x="0" y="0"/>
          <a:chExt cx="0" cy="0"/>
        </a:xfrm>
      </p:grpSpPr>
      <p:sp>
        <p:nvSpPr>
          <p:cNvPr id="349" name="TextBox 348">
            <a:extLst>
              <a:ext uri="{FF2B5EF4-FFF2-40B4-BE49-F238E27FC236}">
                <a16:creationId xmlns:a16="http://schemas.microsoft.com/office/drawing/2014/main" id="{DE900629-5DC6-02D6-B709-0E4672B66BF8}"/>
              </a:ext>
            </a:extLst>
          </p:cNvPr>
          <p:cNvSpPr txBox="1"/>
          <p:nvPr/>
        </p:nvSpPr>
        <p:spPr>
          <a:xfrm>
            <a:off x="275783" y="7476898"/>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1" name="TextBox 370">
            <a:extLst>
              <a:ext uri="{FF2B5EF4-FFF2-40B4-BE49-F238E27FC236}">
                <a16:creationId xmlns:a16="http://schemas.microsoft.com/office/drawing/2014/main" id="{97D5C78D-C90E-64E0-EBDD-4ADB1093AFD6}"/>
              </a:ext>
            </a:extLst>
          </p:cNvPr>
          <p:cNvSpPr txBox="1"/>
          <p:nvPr/>
        </p:nvSpPr>
        <p:spPr>
          <a:xfrm>
            <a:off x="4685424" y="3778567"/>
            <a:ext cx="4534280" cy="5105264"/>
          </a:xfrm>
          <a:prstGeom prst="rect">
            <a:avLst/>
          </a:prstGeom>
          <a:noFill/>
          <a:ln w="1270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3" name="TextBox 372">
            <a:extLst>
              <a:ext uri="{FF2B5EF4-FFF2-40B4-BE49-F238E27FC236}">
                <a16:creationId xmlns:a16="http://schemas.microsoft.com/office/drawing/2014/main" id="{1418B6F5-C545-DB44-ACE7-7344D9B1597C}"/>
              </a:ext>
            </a:extLst>
          </p:cNvPr>
          <p:cNvSpPr txBox="1"/>
          <p:nvPr/>
        </p:nvSpPr>
        <p:spPr>
          <a:xfrm>
            <a:off x="4821857" y="4262778"/>
            <a:ext cx="2428745" cy="28623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4BACA8D5-C67A-ED36-8BF1-485E1F638A2E}"/>
              </a:ext>
            </a:extLst>
          </p:cNvPr>
          <p:cNvPicPr>
            <a:picLocks noChangeAspect="1"/>
          </p:cNvPicPr>
          <p:nvPr/>
        </p:nvPicPr>
        <p:blipFill>
          <a:blip r:embed="rId3"/>
          <a:stretch>
            <a:fillRect/>
          </a:stretch>
        </p:blipFill>
        <p:spPr>
          <a:xfrm>
            <a:off x="12836408" y="3797106"/>
            <a:ext cx="763378" cy="807934"/>
          </a:xfrm>
          <a:prstGeom prst="rect">
            <a:avLst/>
          </a:prstGeom>
        </p:spPr>
      </p:pic>
      <p:pic>
        <p:nvPicPr>
          <p:cNvPr id="292" name="Image" descr="Image">
            <a:extLst>
              <a:ext uri="{FF2B5EF4-FFF2-40B4-BE49-F238E27FC236}">
                <a16:creationId xmlns:a16="http://schemas.microsoft.com/office/drawing/2014/main" id="{94D65301-9B96-2398-7701-987F3780883B}"/>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90DB967C-28BB-EC99-78D2-28470565DCD7}"/>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F24F3110-E9BF-E83C-88F4-10F4074E706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a:extLst>
              <a:ext uri="{FF2B5EF4-FFF2-40B4-BE49-F238E27FC236}">
                <a16:creationId xmlns:a16="http://schemas.microsoft.com/office/drawing/2014/main" id="{B19BB907-64F1-8672-2114-566C9243D238}"/>
              </a:ext>
            </a:extLst>
          </p:cNvPr>
          <p:cNvSpPr/>
          <p:nvPr/>
        </p:nvSpPr>
        <p:spPr>
          <a:xfrm>
            <a:off x="220479" y="2480214"/>
            <a:ext cx="4355409" cy="1450198"/>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EB96D967-0F51-2FDD-4293-71799E89CEEC}"/>
              </a:ext>
            </a:extLst>
          </p:cNvPr>
          <p:cNvSpPr txBox="1"/>
          <p:nvPr/>
        </p:nvSpPr>
        <p:spPr>
          <a:xfrm>
            <a:off x="297901" y="2562901"/>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DEECA408-EDE9-DB46-80ED-E20085A4C205}"/>
              </a:ext>
            </a:extLst>
          </p:cNvPr>
          <p:cNvSpPr txBox="1"/>
          <p:nvPr/>
        </p:nvSpPr>
        <p:spPr>
          <a:xfrm>
            <a:off x="319410" y="2892812"/>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dirty="0">
                <a:cs typeface="Arial"/>
              </a:rPr>
              <a:t>The first part of running any vignette is setting up your project </a:t>
            </a:r>
            <a:r>
              <a:rPr lang="en-US" b="0">
                <a:cs typeface="Arial"/>
              </a:rPr>
              <a:t>configuration file (examples in /conf).</a:t>
            </a:r>
            <a:r>
              <a:rPr dirty="0">
                <a:cs typeface="Arial"/>
              </a:rPr>
              <a:t> </a:t>
            </a:r>
            <a:endParaRPr lang="en-US" dirty="0">
              <a:cs typeface="Arial"/>
            </a:endParaRPr>
          </a:p>
        </p:txBody>
      </p:sp>
      <p:sp>
        <p:nvSpPr>
          <p:cNvPr id="324" name="Cheatsheets make it easy for R users…">
            <a:extLst>
              <a:ext uri="{FF2B5EF4-FFF2-40B4-BE49-F238E27FC236}">
                <a16:creationId xmlns:a16="http://schemas.microsoft.com/office/drawing/2014/main" id="{263EBE19-A732-AD3A-999E-727716D3DF97}"/>
              </a:ext>
            </a:extLst>
          </p:cNvPr>
          <p:cNvSpPr txBox="1"/>
          <p:nvPr/>
        </p:nvSpPr>
        <p:spPr>
          <a:xfrm>
            <a:off x="312386" y="3284054"/>
            <a:ext cx="4122651" cy="602800"/>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mailing_list:     ...</a:t>
            </a:r>
          </a:p>
          <a:p>
            <a:pPr marL="171450" lvl="3" indent="-171450">
              <a:lnSpc>
                <a:spcPct val="90000"/>
              </a:lnSpc>
              <a:spcBef>
                <a:spcPts val="0"/>
              </a:spcBef>
              <a:buFont typeface="Arial" panose="020B0604020202020204" pitchFamily="34" charset="0"/>
              <a:buChar char="•"/>
              <a:defRPr>
                <a:solidFill>
                  <a:srgbClr val="000000"/>
                </a:solidFill>
              </a:defRPr>
            </a:pPr>
            <a:r>
              <a:rPr lang="en-US">
                <a:cs typeface="Arial"/>
              </a:rPr>
              <a:t>issue_tracker: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6304369A-8388-2477-0B3D-468F616488A2}"/>
              </a:ext>
            </a:extLst>
          </p:cNvPr>
          <p:cNvSpPr txBox="1"/>
          <p:nvPr/>
        </p:nvSpPr>
        <p:spPr>
          <a:xfrm>
            <a:off x="260834" y="6468545"/>
            <a:ext cx="25519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Exec </a:t>
            </a:r>
            <a:r>
              <a:rPr lang="en-US" noProof="1">
                <a:cs typeface="Arial"/>
              </a:rPr>
              <a:t>Configuration</a:t>
            </a:r>
            <a:endParaRPr lang="en-US" noProof="1"/>
          </a:p>
        </p:txBody>
      </p:sp>
      <p:sp>
        <p:nvSpPr>
          <p:cNvPr id="334" name="Three Column Layout: : CHEAT SHEET">
            <a:extLst>
              <a:ext uri="{FF2B5EF4-FFF2-40B4-BE49-F238E27FC236}">
                <a16:creationId xmlns:a16="http://schemas.microsoft.com/office/drawing/2014/main" id="{F3570B2C-C799-4726-D77B-86F88452CFFA}"/>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E5FEBCCF-9882-0F58-9BEB-0B54D69733E5}"/>
              </a:ext>
            </a:extLst>
          </p:cNvPr>
          <p:cNvSpPr txBox="1"/>
          <p:nvPr/>
        </p:nvSpPr>
        <p:spPr>
          <a:xfrm>
            <a:off x="4681179" y="2700666"/>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C5A13D59-C1F5-6498-10D4-1FCE5A5E9DDB}"/>
              </a:ext>
            </a:extLst>
          </p:cNvPr>
          <p:cNvSpPr txBox="1"/>
          <p:nvPr/>
        </p:nvSpPr>
        <p:spPr>
          <a:xfrm>
            <a:off x="257982" y="1466006"/>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About</a:t>
            </a:r>
            <a:endParaRPr>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884D0C51-A776-CDA3-801C-4A5FDFD35E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50574A3A-9486-E791-A460-4300AEFA9DCB}"/>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sng" strike="noStrike" cap="none" spc="0" normalizeH="0" baseline="0" dirty="0">
                <a:ln>
                  <a:noFill/>
                </a:ln>
                <a:solidFill>
                  <a:schemeClr val="tx1"/>
                </a:solidFill>
                <a:effectLst/>
                <a:uFillTx/>
                <a:latin typeface="Source Sans Pro"/>
                <a:ea typeface="Source Sans Pro"/>
                <a:cs typeface="Source Sans Pro"/>
                <a:sym typeface="Source Sans Pro"/>
              </a:rPr>
              <a:t>CC BY </a:t>
            </a:r>
            <a:r>
              <a:rPr lang="en-US" sz="1000" b="0" u="sng" dirty="0">
                <a:solidFill>
                  <a:schemeClr val="tx1"/>
                </a:solidFill>
              </a:rPr>
              <a:t>SA</a:t>
            </a:r>
            <a:r>
              <a:rPr lang="en-US" sz="1000" b="0" dirty="0">
                <a:solidFill>
                  <a:schemeClr val="tx1"/>
                </a:solidFill>
              </a:rPr>
              <a:t> Cohen Ruport,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noProof="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Updated: </a:t>
            </a:r>
            <a:r>
              <a:rPr lang="en-US" sz="1000" b="0" dirty="0">
                <a:solidFill>
                  <a:schemeClr val="tx1"/>
                </a:solidFill>
              </a:rPr>
              <a:t>2026-4</a:t>
            </a:r>
            <a:endParaRPr lang="en-US" sz="1000" b="0" i="0" u="none" strike="noStrike" cap="none" spc="0" normalizeH="0" baseline="0" dirty="0">
              <a:ln>
                <a:noFill/>
              </a:ln>
              <a:solidFill>
                <a:schemeClr val="tx1"/>
              </a:solidFill>
              <a:effectLst/>
              <a:uFillTx/>
              <a:latin typeface="Source Sans Pro"/>
              <a:ea typeface="Source Sans Pro"/>
              <a:cs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B202E9CE-0B04-4816-7176-8ECE71A5E8B1}"/>
              </a:ext>
            </a:extLst>
          </p:cNvPr>
          <p:cNvSpPr/>
          <p:nvPr/>
        </p:nvSpPr>
        <p:spPr>
          <a:xfrm>
            <a:off x="222735" y="5285299"/>
            <a:ext cx="4355706" cy="118521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B1CF2957-0573-6CF5-3A09-21F9E55BFFBE}"/>
              </a:ext>
            </a:extLst>
          </p:cNvPr>
          <p:cNvSpPr txBox="1"/>
          <p:nvPr/>
        </p:nvSpPr>
        <p:spPr>
          <a:xfrm>
            <a:off x="347617" y="5334634"/>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FB4C4855-9DD3-9869-63F2-F99109CD9F2C}"/>
              </a:ext>
            </a:extLst>
          </p:cNvPr>
          <p:cNvSpPr txBox="1"/>
          <p:nvPr/>
        </p:nvSpPr>
        <p:spPr>
          <a:xfrm>
            <a:off x="339098" y="5930519"/>
            <a:ext cx="4105332" cy="432239"/>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a:cs typeface="Arial"/>
              </a:rPr>
              <a:t>perceval</a:t>
            </a:r>
            <a:r>
              <a:rPr lang="en-US">
                <a:cs typeface="Arial"/>
              </a:rPr>
              <a:t>: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46C0D462-FA5F-5B00-85AF-564DDE9FBF87}"/>
              </a:ext>
            </a:extLst>
          </p:cNvPr>
          <p:cNvPicPr>
            <a:picLocks noChangeAspect="1"/>
          </p:cNvPicPr>
          <p:nvPr/>
        </p:nvPicPr>
        <p:blipFill>
          <a:blip r:embed="rId6"/>
          <a:stretch>
            <a:fillRect/>
          </a:stretch>
        </p:blipFill>
        <p:spPr>
          <a:xfrm>
            <a:off x="11535616" y="506116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B3B35B90-2D1B-7F4A-1761-E89E284437FD}"/>
              </a:ext>
            </a:extLst>
          </p:cNvPr>
          <p:cNvSpPr txBox="1"/>
          <p:nvPr/>
        </p:nvSpPr>
        <p:spPr>
          <a:xfrm>
            <a:off x="328655" y="5646170"/>
            <a:ext cx="4369511"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b="0">
                <a:solidFill>
                  <a:srgbClr val="000000"/>
                </a:solidFill>
                <a:cs typeface="Arial"/>
              </a:rPr>
              <a:t>The required external tools must be specified in </a:t>
            </a:r>
            <a:r>
              <a:rPr lang="en-US" b="0" dirty="0">
                <a:solidFill>
                  <a:srgbClr val="000000"/>
                </a:solidFill>
                <a:cs typeface="Arial"/>
              </a:rPr>
              <a:t>tools</a:t>
            </a:r>
            <a:r>
              <a:rPr lang="en-US" b="0">
                <a:solidFill>
                  <a:srgbClr val="000000"/>
                </a:solidFill>
                <a:cs typeface="Arial"/>
              </a:rPr>
              <a:t>.</a:t>
            </a:r>
            <a:r>
              <a:rPr lang="en-US" b="0" dirty="0">
                <a:solidFill>
                  <a:srgbClr val="000000"/>
                </a:solidFill>
                <a:cs typeface="Arial"/>
              </a:rPr>
              <a:t>yml</a:t>
            </a:r>
            <a:r>
              <a:rPr lang="en-US" b="0">
                <a:solidFill>
                  <a:srgbClr val="000000"/>
                </a:solidFill>
                <a:cs typeface="Arial"/>
              </a:rPr>
              <a:t>:</a:t>
            </a:r>
            <a:endParaRPr lang="en-US" b="0" u="sng">
              <a:solidFill>
                <a:srgbClr val="000000"/>
              </a:solidFill>
              <a:cs typeface="Arial"/>
            </a:endParaRPr>
          </a:p>
        </p:txBody>
      </p:sp>
      <p:pic>
        <p:nvPicPr>
          <p:cNvPr id="17" name="Picture 16">
            <a:extLst>
              <a:ext uri="{FF2B5EF4-FFF2-40B4-BE49-F238E27FC236}">
                <a16:creationId xmlns:a16="http://schemas.microsoft.com/office/drawing/2014/main" id="{9FD0F218-4E68-F311-10AA-B6404ECFE030}"/>
              </a:ext>
            </a:extLst>
          </p:cNvPr>
          <p:cNvPicPr>
            <a:picLocks noChangeAspect="1"/>
          </p:cNvPicPr>
          <p:nvPr/>
        </p:nvPicPr>
        <p:blipFill>
          <a:blip r:embed="rId7"/>
          <a:stretch>
            <a:fillRect/>
          </a:stretch>
        </p:blipFill>
        <p:spPr>
          <a:xfrm>
            <a:off x="11550620" y="2749374"/>
            <a:ext cx="546328" cy="546436"/>
          </a:xfrm>
          <a:prstGeom prst="rect">
            <a:avLst/>
          </a:prstGeom>
        </p:spPr>
      </p:pic>
      <p:pic>
        <p:nvPicPr>
          <p:cNvPr id="23" name="Picture 22">
            <a:extLst>
              <a:ext uri="{FF2B5EF4-FFF2-40B4-BE49-F238E27FC236}">
                <a16:creationId xmlns:a16="http://schemas.microsoft.com/office/drawing/2014/main" id="{6E529211-1B04-630F-1012-B8D154FFB622}"/>
              </a:ext>
            </a:extLst>
          </p:cNvPr>
          <p:cNvPicPr>
            <a:picLocks noChangeAspect="1"/>
          </p:cNvPicPr>
          <p:nvPr/>
        </p:nvPicPr>
        <p:blipFill>
          <a:blip r:embed="rId8"/>
          <a:stretch>
            <a:fillRect/>
          </a:stretch>
        </p:blipFill>
        <p:spPr>
          <a:xfrm>
            <a:off x="9398319" y="4743260"/>
            <a:ext cx="544372" cy="486505"/>
          </a:xfrm>
          <a:prstGeom prst="rect">
            <a:avLst/>
          </a:prstGeom>
        </p:spPr>
      </p:pic>
      <p:pic>
        <p:nvPicPr>
          <p:cNvPr id="24" name="Picture 23">
            <a:extLst>
              <a:ext uri="{FF2B5EF4-FFF2-40B4-BE49-F238E27FC236}">
                <a16:creationId xmlns:a16="http://schemas.microsoft.com/office/drawing/2014/main" id="{40D85F67-A19C-B2B6-EC29-D417F7FF7EBE}"/>
              </a:ext>
            </a:extLst>
          </p:cNvPr>
          <p:cNvPicPr>
            <a:picLocks noChangeAspect="1"/>
          </p:cNvPicPr>
          <p:nvPr/>
        </p:nvPicPr>
        <p:blipFill>
          <a:blip r:embed="rId9"/>
          <a:stretch>
            <a:fillRect/>
          </a:stretch>
        </p:blipFill>
        <p:spPr>
          <a:xfrm>
            <a:off x="9543024" y="4118620"/>
            <a:ext cx="742783" cy="609600"/>
          </a:xfrm>
          <a:prstGeom prst="rect">
            <a:avLst/>
          </a:prstGeom>
        </p:spPr>
      </p:pic>
      <p:pic>
        <p:nvPicPr>
          <p:cNvPr id="25" name="Picture 24">
            <a:extLst>
              <a:ext uri="{FF2B5EF4-FFF2-40B4-BE49-F238E27FC236}">
                <a16:creationId xmlns:a16="http://schemas.microsoft.com/office/drawing/2014/main" id="{22FE55FB-240E-B0BC-3534-62252EA2957A}"/>
              </a:ext>
            </a:extLst>
          </p:cNvPr>
          <p:cNvPicPr>
            <a:picLocks noChangeAspect="1"/>
          </p:cNvPicPr>
          <p:nvPr/>
        </p:nvPicPr>
        <p:blipFill>
          <a:blip r:embed="rId10"/>
          <a:stretch>
            <a:fillRect/>
          </a:stretch>
        </p:blipFill>
        <p:spPr>
          <a:xfrm>
            <a:off x="12021419" y="3235853"/>
            <a:ext cx="372044" cy="354363"/>
          </a:xfrm>
          <a:prstGeom prst="rect">
            <a:avLst/>
          </a:prstGeom>
        </p:spPr>
      </p:pic>
      <p:pic>
        <p:nvPicPr>
          <p:cNvPr id="38" name="Picture 37">
            <a:extLst>
              <a:ext uri="{FF2B5EF4-FFF2-40B4-BE49-F238E27FC236}">
                <a16:creationId xmlns:a16="http://schemas.microsoft.com/office/drawing/2014/main" id="{5919BFFF-C518-40F6-38F0-7E25C0A000E1}"/>
              </a:ext>
            </a:extLst>
          </p:cNvPr>
          <p:cNvPicPr>
            <a:picLocks noChangeAspect="1"/>
          </p:cNvPicPr>
          <p:nvPr/>
        </p:nvPicPr>
        <p:blipFill>
          <a:blip r:embed="rId9"/>
          <a:stretch>
            <a:fillRect/>
          </a:stretch>
        </p:blipFill>
        <p:spPr>
          <a:xfrm rot="10800000">
            <a:off x="9913619" y="4435494"/>
            <a:ext cx="742783" cy="609600"/>
          </a:xfrm>
          <a:prstGeom prst="rect">
            <a:avLst/>
          </a:prstGeom>
        </p:spPr>
      </p:pic>
      <p:pic>
        <p:nvPicPr>
          <p:cNvPr id="39" name="Picture 38">
            <a:extLst>
              <a:ext uri="{FF2B5EF4-FFF2-40B4-BE49-F238E27FC236}">
                <a16:creationId xmlns:a16="http://schemas.microsoft.com/office/drawing/2014/main" id="{D8ECF58A-A7B1-DAEE-8659-A0745DF74506}"/>
              </a:ext>
            </a:extLst>
          </p:cNvPr>
          <p:cNvPicPr>
            <a:picLocks noChangeAspect="1"/>
          </p:cNvPicPr>
          <p:nvPr/>
        </p:nvPicPr>
        <p:blipFill>
          <a:blip r:embed="rId11"/>
          <a:stretch>
            <a:fillRect/>
          </a:stretch>
        </p:blipFill>
        <p:spPr>
          <a:xfrm>
            <a:off x="10892178" y="4118426"/>
            <a:ext cx="560207" cy="171450"/>
          </a:xfrm>
          <a:prstGeom prst="rect">
            <a:avLst/>
          </a:prstGeom>
        </p:spPr>
      </p:pic>
      <p:pic>
        <p:nvPicPr>
          <p:cNvPr id="40" name="Picture 39">
            <a:extLst>
              <a:ext uri="{FF2B5EF4-FFF2-40B4-BE49-F238E27FC236}">
                <a16:creationId xmlns:a16="http://schemas.microsoft.com/office/drawing/2014/main" id="{5A12496A-BE90-B9FF-D576-1BDD8D2B718B}"/>
              </a:ext>
            </a:extLst>
          </p:cNvPr>
          <p:cNvPicPr>
            <a:picLocks noChangeAspect="1"/>
          </p:cNvPicPr>
          <p:nvPr/>
        </p:nvPicPr>
        <p:blipFill>
          <a:blip r:embed="rId11"/>
          <a:stretch>
            <a:fillRect/>
          </a:stretch>
        </p:blipFill>
        <p:spPr>
          <a:xfrm rot="10800000">
            <a:off x="12257860" y="4121569"/>
            <a:ext cx="571524" cy="171450"/>
          </a:xfrm>
          <a:prstGeom prst="rect">
            <a:avLst/>
          </a:prstGeom>
        </p:spPr>
      </p:pic>
      <p:pic>
        <p:nvPicPr>
          <p:cNvPr id="41" name="Picture 40">
            <a:extLst>
              <a:ext uri="{FF2B5EF4-FFF2-40B4-BE49-F238E27FC236}">
                <a16:creationId xmlns:a16="http://schemas.microsoft.com/office/drawing/2014/main" id="{927CE544-C5DF-F5EC-AF3F-ADF27F94721D}"/>
              </a:ext>
            </a:extLst>
          </p:cNvPr>
          <p:cNvPicPr>
            <a:picLocks noChangeAspect="1"/>
          </p:cNvPicPr>
          <p:nvPr/>
        </p:nvPicPr>
        <p:blipFill>
          <a:blip r:embed="rId11"/>
          <a:stretch>
            <a:fillRect/>
          </a:stretch>
        </p:blipFill>
        <p:spPr>
          <a:xfrm rot="5400000">
            <a:off x="11535414" y="3476923"/>
            <a:ext cx="571524" cy="171450"/>
          </a:xfrm>
          <a:prstGeom prst="rect">
            <a:avLst/>
          </a:prstGeom>
        </p:spPr>
      </p:pic>
      <p:sp>
        <p:nvSpPr>
          <p:cNvPr id="42" name="TextBox 41">
            <a:extLst>
              <a:ext uri="{FF2B5EF4-FFF2-40B4-BE49-F238E27FC236}">
                <a16:creationId xmlns:a16="http://schemas.microsoft.com/office/drawing/2014/main" id="{A1A8FC4A-429A-CFCF-2A79-3A224888C32E}"/>
              </a:ext>
            </a:extLst>
          </p:cNvPr>
          <p:cNvSpPr txBox="1"/>
          <p:nvPr/>
        </p:nvSpPr>
        <p:spPr>
          <a:xfrm>
            <a:off x="9686582" y="428721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Activity</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7AFF4256-148A-38E9-57B8-39E679D30480}"/>
              </a:ext>
            </a:extLst>
          </p:cNvPr>
          <p:cNvSpPr txBox="1"/>
          <p:nvPr/>
        </p:nvSpPr>
        <p:spPr>
          <a:xfrm>
            <a:off x="12978381" y="4033696"/>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54BCF959-AC25-5217-242A-F5D1E73AF99A}"/>
              </a:ext>
            </a:extLst>
          </p:cNvPr>
          <p:cNvPicPr>
            <a:picLocks noChangeAspect="1"/>
          </p:cNvPicPr>
          <p:nvPr/>
        </p:nvPicPr>
        <p:blipFill>
          <a:blip r:embed="rId11"/>
          <a:stretch>
            <a:fillRect/>
          </a:stretch>
        </p:blipFill>
        <p:spPr>
          <a:xfrm rot="5400000">
            <a:off x="11540938" y="4650191"/>
            <a:ext cx="571524" cy="171450"/>
          </a:xfrm>
          <a:prstGeom prst="rect">
            <a:avLst/>
          </a:prstGeom>
        </p:spPr>
      </p:pic>
      <p:sp>
        <p:nvSpPr>
          <p:cNvPr id="51" name="TextBox 50">
            <a:extLst>
              <a:ext uri="{FF2B5EF4-FFF2-40B4-BE49-F238E27FC236}">
                <a16:creationId xmlns:a16="http://schemas.microsoft.com/office/drawing/2014/main" id="{47843AB2-686F-0FC8-1245-59C10777B3E6}"/>
              </a:ext>
            </a:extLst>
          </p:cNvPr>
          <p:cNvSpPr txBox="1"/>
          <p:nvPr/>
        </p:nvSpPr>
        <p:spPr>
          <a:xfrm>
            <a:off x="10292164" y="4045603"/>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D878419A-AB16-D9D8-D8AC-41F1914690BA}"/>
              </a:ext>
            </a:extLst>
          </p:cNvPr>
          <p:cNvSpPr txBox="1"/>
          <p:nvPr/>
        </p:nvSpPr>
        <p:spPr>
          <a:xfrm>
            <a:off x="12351538" y="323831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1F7FF6C1-4AFE-1E7D-83B6-1D98BD6B85F8}"/>
              </a:ext>
            </a:extLst>
          </p:cNvPr>
          <p:cNvSpPr txBox="1"/>
          <p:nvPr/>
        </p:nvSpPr>
        <p:spPr>
          <a:xfrm>
            <a:off x="11400376" y="568409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1A6BD873-269A-641F-B977-74DBE13067B9}"/>
              </a:ext>
            </a:extLst>
          </p:cNvPr>
          <p:cNvSpPr txBox="1"/>
          <p:nvPr/>
        </p:nvSpPr>
        <p:spPr>
          <a:xfrm>
            <a:off x="9473435" y="1452105"/>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Server Side Execution</a:t>
            </a:r>
            <a:endParaRPr lang="en-US" dirty="0"/>
          </a:p>
        </p:txBody>
      </p:sp>
      <p:sp>
        <p:nvSpPr>
          <p:cNvPr id="30" name="TextBox 29">
            <a:extLst>
              <a:ext uri="{FF2B5EF4-FFF2-40B4-BE49-F238E27FC236}">
                <a16:creationId xmlns:a16="http://schemas.microsoft.com/office/drawing/2014/main" id="{486DD16B-0700-95E2-E792-6413A839A84A}"/>
              </a:ext>
            </a:extLst>
          </p:cNvPr>
          <p:cNvSpPr txBox="1"/>
          <p:nvPr/>
        </p:nvSpPr>
        <p:spPr>
          <a:xfrm>
            <a:off x="4827038" y="4268998"/>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Sailuh/kaiaulu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260F14F5-E0F7-3F14-3D35-B84C9395AFC9}"/>
              </a:ext>
            </a:extLst>
          </p:cNvPr>
          <p:cNvSpPr txBox="1"/>
          <p:nvPr/>
        </p:nvSpPr>
        <p:spPr>
          <a:xfrm>
            <a:off x="5129309" y="849341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C396C345-A0F2-19C8-D039-72852C53F4FE}"/>
              </a:ext>
            </a:extLst>
          </p:cNvPr>
          <p:cNvSpPr txBox="1"/>
          <p:nvPr/>
        </p:nvSpPr>
        <p:spPr>
          <a:xfrm>
            <a:off x="7559088" y="7949626"/>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ADE6DCB3-F363-12F2-8346-DFEE4647659C}"/>
              </a:ext>
            </a:extLst>
          </p:cNvPr>
          <p:cNvSpPr txBox="1"/>
          <p:nvPr/>
        </p:nvSpPr>
        <p:spPr>
          <a:xfrm>
            <a:off x="6913055" y="8514433"/>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Sailuh/sentiment_classifier</a:t>
            </a:r>
          </a:p>
        </p:txBody>
      </p:sp>
      <p:sp>
        <p:nvSpPr>
          <p:cNvPr id="272" name="TextBox 271">
            <a:extLst>
              <a:ext uri="{FF2B5EF4-FFF2-40B4-BE49-F238E27FC236}">
                <a16:creationId xmlns:a16="http://schemas.microsoft.com/office/drawing/2014/main" id="{1380A8AB-2A2A-A2D9-F622-FA904830F0D7}"/>
              </a:ext>
            </a:extLst>
          </p:cNvPr>
          <p:cNvSpPr txBox="1"/>
          <p:nvPr/>
        </p:nvSpPr>
        <p:spPr>
          <a:xfrm>
            <a:off x="6237179" y="9393013"/>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B735E371-2466-8F54-B9C9-B71063989AFF}"/>
              </a:ext>
            </a:extLst>
          </p:cNvPr>
          <p:cNvSpPr txBox="1"/>
          <p:nvPr/>
        </p:nvSpPr>
        <p:spPr>
          <a:xfrm>
            <a:off x="222484" y="1697960"/>
            <a:ext cx="435228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provide access to Kaiaulu's functions through a command line interface. This allows other tools to build on Kaiaulu capabilities or use it server-side.</a:t>
            </a:r>
            <a:endParaRPr lang="en-US" b="0" i="0" u="none" strike="noStrike" cap="none" spc="0" normalizeH="0" baseline="0">
              <a:ln>
                <a:noFill/>
              </a:ln>
              <a:solidFill>
                <a:srgbClr val="000000"/>
              </a:solidFill>
              <a:effectLst/>
              <a:uFillTx/>
              <a:cs typeface="Helvetica"/>
            </a:endParaRPr>
          </a:p>
        </p:txBody>
      </p:sp>
      <p:sp>
        <p:nvSpPr>
          <p:cNvPr id="274" name="TextBox 273">
            <a:extLst>
              <a:ext uri="{FF2B5EF4-FFF2-40B4-BE49-F238E27FC236}">
                <a16:creationId xmlns:a16="http://schemas.microsoft.com/office/drawing/2014/main" id="{E5377576-1D2F-9E84-EAEF-B991E7F34771}"/>
              </a:ext>
            </a:extLst>
          </p:cNvPr>
          <p:cNvSpPr txBox="1"/>
          <p:nvPr/>
        </p:nvSpPr>
        <p:spPr>
          <a:xfrm>
            <a:off x="9473688" y="1695035"/>
            <a:ext cx="3717165" cy="1084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Cron jobs can be used to call refresh scripts every x minutes (E.g., 60 minutes). The refresher script is called regularly to ensure that local data is always up to date without manual intervention.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B2918E18-1386-4D0B-C784-CF28313515FC}"/>
              </a:ext>
            </a:extLst>
          </p:cNvPr>
          <p:cNvSpPr txBox="1"/>
          <p:nvPr/>
        </p:nvSpPr>
        <p:spPr>
          <a:xfrm>
            <a:off x="4663205" y="2938852"/>
            <a:ext cx="4541719"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noProof="1">
                <a:solidFill>
                  <a:srgbClr val="000000"/>
                </a:solidFill>
                <a:cs typeface="Helvetica"/>
              </a:rPr>
              <a:t>Sailuh tools such as pykumu rely on kaiaulu executables to download and refresh data. Kaiaulu executables are also made to provide kaiaulu's functions to users, tools, and projects outside of the sailuh ecosystem.</a:t>
            </a:r>
          </a:p>
        </p:txBody>
      </p:sp>
      <p:sp>
        <p:nvSpPr>
          <p:cNvPr id="298" name="TextBox 297">
            <a:extLst>
              <a:ext uri="{FF2B5EF4-FFF2-40B4-BE49-F238E27FC236}">
                <a16:creationId xmlns:a16="http://schemas.microsoft.com/office/drawing/2014/main" id="{359229B8-4E95-2569-F6C2-B8900AE90033}"/>
              </a:ext>
            </a:extLst>
          </p:cNvPr>
          <p:cNvSpPr txBox="1"/>
          <p:nvPr/>
        </p:nvSpPr>
        <p:spPr>
          <a:xfrm>
            <a:off x="261884" y="6729111"/>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a:solidFill>
                  <a:srgbClr val="000000"/>
                </a:solidFill>
              </a:rPr>
              <a:t>.</a:t>
            </a:r>
            <a:endParaRPr lang="en-US">
              <a:solidFill>
                <a:srgbClr val="000000"/>
              </a:solidFill>
            </a:endParaRPr>
          </a:p>
          <a:p>
            <a:pPr marL="0" marR="0" indent="0" algn="l" defTabSz="584200" rtl="0" fontAlgn="auto" latinLnBrk="0" hangingPunct="0">
              <a:lnSpc>
                <a:spcPct val="100000"/>
              </a:lnSpc>
              <a:spcBef>
                <a:spcPts val="200"/>
              </a:spcBef>
              <a:spcAft>
                <a:spcPts val="0"/>
              </a:spcAft>
              <a:buClrTx/>
              <a:buSzTx/>
              <a:buFontTx/>
              <a:buNone/>
              <a:tabLst/>
            </a:pP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9" name="Group">
            <a:extLst>
              <a:ext uri="{FF2B5EF4-FFF2-40B4-BE49-F238E27FC236}">
                <a16:creationId xmlns:a16="http://schemas.microsoft.com/office/drawing/2014/main" id="{BBAA5F44-4B8F-3B15-D36C-65E0F0516B40}"/>
              </a:ext>
            </a:extLst>
          </p:cNvPr>
          <p:cNvSpPr/>
          <p:nvPr/>
        </p:nvSpPr>
        <p:spPr>
          <a:xfrm>
            <a:off x="219985" y="3943057"/>
            <a:ext cx="4358600" cy="132623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5DCBE908-BD3F-99FD-E05F-32FA7C3C6C0C}"/>
              </a:ext>
            </a:extLst>
          </p:cNvPr>
          <p:cNvSpPr txBox="1"/>
          <p:nvPr/>
        </p:nvSpPr>
        <p:spPr>
          <a:xfrm>
            <a:off x="297334" y="4013712"/>
            <a:ext cx="364653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67CE2F31-E201-C70F-C8C3-13D35453AAC7}"/>
              </a:ext>
            </a:extLst>
          </p:cNvPr>
          <p:cNvSpPr txBox="1"/>
          <p:nvPr/>
        </p:nvSpPr>
        <p:spPr>
          <a:xfrm>
            <a:off x="315323" y="4360481"/>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dirty="0">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191CB485-8AD9-8FB5-8970-4D5413FFC337}"/>
              </a:ext>
            </a:extLst>
          </p:cNvPr>
          <p:cNvSpPr txBox="1"/>
          <p:nvPr/>
        </p:nvSpPr>
        <p:spPr>
          <a:xfrm>
            <a:off x="310787" y="4560831"/>
            <a:ext cx="4127831" cy="6370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F7DEADA-BA86-8E2D-C974-0A022C0DD4D3}"/>
              </a:ext>
            </a:extLst>
          </p:cNvPr>
          <p:cNvSpPr txBox="1"/>
          <p:nvPr/>
        </p:nvSpPr>
        <p:spPr>
          <a:xfrm>
            <a:off x="4735369" y="7929869"/>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Sailuh/pykumu</a:t>
            </a:r>
          </a:p>
        </p:txBody>
      </p:sp>
      <p:sp>
        <p:nvSpPr>
          <p:cNvPr id="22" name="TextBox 21">
            <a:extLst>
              <a:ext uri="{FF2B5EF4-FFF2-40B4-BE49-F238E27FC236}">
                <a16:creationId xmlns:a16="http://schemas.microsoft.com/office/drawing/2014/main" id="{FCF4E90E-3713-64EB-C1DD-E27B14DC52D3}"/>
              </a:ext>
            </a:extLst>
          </p:cNvPr>
          <p:cNvSpPr txBox="1"/>
          <p:nvPr/>
        </p:nvSpPr>
        <p:spPr>
          <a:xfrm>
            <a:off x="4710551" y="9719486"/>
            <a:ext cx="4522961"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Kaiaulu executables provide data from sources such as Mail, JIRA, and GitHub. </a:t>
            </a:r>
          </a:p>
        </p:txBody>
      </p:sp>
      <p:pic>
        <p:nvPicPr>
          <p:cNvPr id="60" name="Picture 59" descr="A close-up of a letter&#10;&#10;AI-generated content may be incorrect.">
            <a:extLst>
              <a:ext uri="{FF2B5EF4-FFF2-40B4-BE49-F238E27FC236}">
                <a16:creationId xmlns:a16="http://schemas.microsoft.com/office/drawing/2014/main" id="{ABB4BEF7-3DAA-BA77-7378-B34F253B3C48}"/>
              </a:ext>
            </a:extLst>
          </p:cNvPr>
          <p:cNvPicPr>
            <a:picLocks noChangeAspect="1"/>
          </p:cNvPicPr>
          <p:nvPr/>
        </p:nvPicPr>
        <p:blipFill>
          <a:blip r:embed="rId12"/>
          <a:stretch>
            <a:fillRect/>
          </a:stretch>
        </p:blipFill>
        <p:spPr>
          <a:xfrm>
            <a:off x="7419116" y="4462452"/>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CA03B833-2405-DB84-AA59-0E7D11FC0508}"/>
              </a:ext>
            </a:extLst>
          </p:cNvPr>
          <p:cNvPicPr>
            <a:picLocks noChangeAspect="1"/>
          </p:cNvPicPr>
          <p:nvPr/>
        </p:nvPicPr>
        <p:blipFill>
          <a:blip r:embed="rId13"/>
          <a:stretch>
            <a:fillRect/>
          </a:stretch>
        </p:blipFill>
        <p:spPr>
          <a:xfrm>
            <a:off x="6243124" y="6167317"/>
            <a:ext cx="914258" cy="905585"/>
          </a:xfrm>
          <a:prstGeom prst="rect">
            <a:avLst/>
          </a:prstGeom>
        </p:spPr>
      </p:pic>
      <p:pic>
        <p:nvPicPr>
          <p:cNvPr id="43" name="Picture 42">
            <a:extLst>
              <a:ext uri="{FF2B5EF4-FFF2-40B4-BE49-F238E27FC236}">
                <a16:creationId xmlns:a16="http://schemas.microsoft.com/office/drawing/2014/main" id="{8F598E05-D238-4C0F-D32E-DE52D3F32E91}"/>
              </a:ext>
            </a:extLst>
          </p:cNvPr>
          <p:cNvPicPr>
            <a:picLocks noChangeAspect="1"/>
          </p:cNvPicPr>
          <p:nvPr/>
        </p:nvPicPr>
        <p:blipFill>
          <a:blip r:embed="rId14"/>
          <a:stretch>
            <a:fillRect/>
          </a:stretch>
        </p:blipFill>
        <p:spPr>
          <a:xfrm>
            <a:off x="8508987" y="4481030"/>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660E531D-F62F-DCA3-AC9E-740BC1A024BD}"/>
              </a:ext>
            </a:extLst>
          </p:cNvPr>
          <p:cNvSpPr txBox="1"/>
          <p:nvPr/>
        </p:nvSpPr>
        <p:spPr>
          <a:xfrm>
            <a:off x="8509461" y="485904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6E6A05E2-B224-1735-F643-2B4E4A26D0C9}"/>
              </a:ext>
            </a:extLst>
          </p:cNvPr>
          <p:cNvSpPr txBox="1"/>
          <p:nvPr/>
        </p:nvSpPr>
        <p:spPr>
          <a:xfrm>
            <a:off x="7981261" y="484903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52801169-F0E0-01C6-9A95-71D7173E6983}"/>
              </a:ext>
            </a:extLst>
          </p:cNvPr>
          <p:cNvSpPr txBox="1"/>
          <p:nvPr/>
        </p:nvSpPr>
        <p:spPr>
          <a:xfrm>
            <a:off x="7417908" y="483482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mc:AlternateContent xmlns:mc="http://schemas.openxmlformats.org/markup-compatibility/2006" xmlns:p14="http://schemas.microsoft.com/office/powerpoint/2010/main">
        <mc:Choice Requires="p14">
          <p:contentPart p14:bwMode="auto" r:id="rId15">
            <p14:nvContentPartPr>
              <p14:cNvPr id="300" name="Ink 299">
                <a:extLst>
                  <a:ext uri="{FF2B5EF4-FFF2-40B4-BE49-F238E27FC236}">
                    <a16:creationId xmlns:a16="http://schemas.microsoft.com/office/drawing/2014/main" id="{AE22036C-25B8-FAEB-ED41-7836637D79ED}"/>
                  </a:ext>
                </a:extLst>
              </p14:cNvPr>
              <p14:cNvContentPartPr/>
              <p14:nvPr/>
            </p14:nvContentPartPr>
            <p14:xfrm>
              <a:off x="8237478" y="6581665"/>
              <a:ext cx="13744" cy="13744"/>
            </p14:xfrm>
          </p:contentPart>
        </mc:Choice>
        <mc:Fallback xmlns="">
          <p:pic>
            <p:nvPicPr>
              <p:cNvPr id="300" name="Ink 299">
                <a:extLst>
                  <a:ext uri="{FF2B5EF4-FFF2-40B4-BE49-F238E27FC236}">
                    <a16:creationId xmlns:a16="http://schemas.microsoft.com/office/drawing/2014/main" id="{AE22036C-25B8-FAEB-ED41-7836637D79ED}"/>
                  </a:ext>
                </a:extLst>
              </p:cNvPr>
              <p:cNvPicPr/>
              <p:nvPr/>
            </p:nvPicPr>
            <p:blipFill>
              <a:blip r:embed="rId16"/>
              <a:stretch>
                <a:fillRect/>
              </a:stretch>
            </p:blipFill>
            <p:spPr>
              <a:xfrm>
                <a:off x="7550278" y="5894465"/>
                <a:ext cx="1374400" cy="1374400"/>
              </a:xfrm>
              <a:prstGeom prst="rect">
                <a:avLst/>
              </a:prstGeom>
            </p:spPr>
          </p:pic>
        </mc:Fallback>
      </mc:AlternateContent>
      <p:sp>
        <p:nvSpPr>
          <p:cNvPr id="318" name="Rectangle 317">
            <a:extLst>
              <a:ext uri="{FF2B5EF4-FFF2-40B4-BE49-F238E27FC236}">
                <a16:creationId xmlns:a16="http://schemas.microsoft.com/office/drawing/2014/main" id="{BBA18696-96D1-B6BF-47D9-288BB1426368}"/>
              </a:ext>
            </a:extLst>
          </p:cNvPr>
          <p:cNvSpPr/>
          <p:nvPr/>
        </p:nvSpPr>
        <p:spPr>
          <a:xfrm>
            <a:off x="3004804" y="763620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DC7D4716-BC43-9BD7-D7D0-1709311BD5E7}"/>
              </a:ext>
            </a:extLst>
          </p:cNvPr>
          <p:cNvSpPr/>
          <p:nvPr/>
        </p:nvSpPr>
        <p:spPr>
          <a:xfrm>
            <a:off x="2499832" y="803890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317E450A-CE4D-2540-472D-A8FB2353CD22}"/>
              </a:ext>
            </a:extLst>
          </p:cNvPr>
          <p:cNvSpPr/>
          <p:nvPr/>
        </p:nvSpPr>
        <p:spPr>
          <a:xfrm>
            <a:off x="3340229" y="8038908"/>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28352C37-2158-ACFB-400C-0C74D659E9A2}"/>
              </a:ext>
            </a:extLst>
          </p:cNvPr>
          <p:cNvCxnSpPr/>
          <p:nvPr/>
        </p:nvCxnSpPr>
        <p:spPr>
          <a:xfrm rot="16200000" flipH="1">
            <a:off x="3812006" y="7802510"/>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54D55608-C7AF-2290-6DE7-A97BC385F5D1}"/>
              </a:ext>
            </a:extLst>
          </p:cNvPr>
          <p:cNvCxnSpPr>
            <a:cxnSpLocks/>
          </p:cNvCxnSpPr>
          <p:nvPr/>
        </p:nvCxnSpPr>
        <p:spPr>
          <a:xfrm rot="10800000" flipH="1">
            <a:off x="2783498" y="7808928"/>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368AA11D-9D07-7F72-5A3A-64F61190E28A}"/>
              </a:ext>
            </a:extLst>
          </p:cNvPr>
          <p:cNvCxnSpPr>
            <a:cxnSpLocks/>
          </p:cNvCxnSpPr>
          <p:nvPr/>
        </p:nvCxnSpPr>
        <p:spPr>
          <a:xfrm rot="2700000" flipH="1">
            <a:off x="3168733" y="828288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776FD395-0226-8C9F-1151-CF943F563A40}"/>
              </a:ext>
            </a:extLst>
          </p:cNvPr>
          <p:cNvSpPr txBox="1"/>
          <p:nvPr/>
        </p:nvSpPr>
        <p:spPr>
          <a:xfrm>
            <a:off x="3008743" y="7560173"/>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AE7450D8-FF8B-EAB2-748F-EF574B3B32AB}"/>
              </a:ext>
            </a:extLst>
          </p:cNvPr>
          <p:cNvSpPr txBox="1"/>
          <p:nvPr/>
        </p:nvSpPr>
        <p:spPr>
          <a:xfrm>
            <a:off x="2523213" y="7964355"/>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EADC233F-1F61-D171-8754-FC44B80A7E38}"/>
              </a:ext>
            </a:extLst>
          </p:cNvPr>
          <p:cNvSpPr txBox="1"/>
          <p:nvPr/>
        </p:nvSpPr>
        <p:spPr>
          <a:xfrm>
            <a:off x="3357192" y="797209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57" name="Rectangle 56">
            <a:extLst>
              <a:ext uri="{FF2B5EF4-FFF2-40B4-BE49-F238E27FC236}">
                <a16:creationId xmlns:a16="http://schemas.microsoft.com/office/drawing/2014/main" id="{68E42369-F2DD-0C81-9EB5-59F51B16AE5A}"/>
              </a:ext>
            </a:extLst>
          </p:cNvPr>
          <p:cNvSpPr/>
          <p:nvPr/>
        </p:nvSpPr>
        <p:spPr>
          <a:xfrm>
            <a:off x="2918994" y="9225807"/>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BC08D9B1-76C0-9844-B6F9-306DCF23CE3A}"/>
              </a:ext>
            </a:extLst>
          </p:cNvPr>
          <p:cNvSpPr txBox="1"/>
          <p:nvPr/>
        </p:nvSpPr>
        <p:spPr>
          <a:xfrm>
            <a:off x="2914837" y="9377396"/>
            <a:ext cx="1357903" cy="7103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&gt; Rscript</a:t>
            </a:r>
            <a:r>
              <a:rPr lang="en-US" sz="1100">
                <a:solidFill>
                  <a:srgbClr val="000000"/>
                </a:solidFill>
              </a:rPr>
              <a:t> </a:t>
            </a:r>
            <a:r>
              <a:rPr lang="en-US">
                <a:solidFill>
                  <a:srgbClr val="0B4EB2"/>
                </a:solidFill>
              </a:rPr>
              <a:t>exec/*.R</a:t>
            </a:r>
            <a:endParaRPr lang="en-US" b="0">
              <a:solidFill>
                <a:srgbClr val="000000"/>
              </a:solidFill>
            </a:endParaRPr>
          </a:p>
          <a:p>
            <a:r>
              <a:rPr lang="en-US" sz="1100">
                <a:solidFill>
                  <a:srgbClr val="000000"/>
                </a:solidFill>
              </a:rPr>
              <a:t> </a:t>
            </a: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project1.yml</a:t>
            </a:r>
            <a:endParaRPr lang="en-US"/>
          </a:p>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analysisB.yml</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258" name="TextBox 766">
            <a:extLst>
              <a:ext uri="{FF2B5EF4-FFF2-40B4-BE49-F238E27FC236}">
                <a16:creationId xmlns:a16="http://schemas.microsoft.com/office/drawing/2014/main" id="{5552F0C6-5C1E-F9A5-65EB-6E3687CEEEFD}"/>
              </a:ext>
            </a:extLst>
          </p:cNvPr>
          <p:cNvSpPr txBox="1"/>
          <p:nvPr/>
        </p:nvSpPr>
        <p:spPr>
          <a:xfrm>
            <a:off x="484057" y="747880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451DA07C-308B-C557-592F-082C6266A2EE}"/>
              </a:ext>
            </a:extLst>
          </p:cNvPr>
          <p:cNvSpPr txBox="1"/>
          <p:nvPr/>
        </p:nvSpPr>
        <p:spPr>
          <a:xfrm>
            <a:off x="2910994" y="8937743"/>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27268C1F-35C6-538D-53E9-9177C60E0B1A}"/>
              </a:ext>
            </a:extLst>
          </p:cNvPr>
          <p:cNvSpPr txBox="1"/>
          <p:nvPr/>
        </p:nvSpPr>
        <p:spPr>
          <a:xfrm>
            <a:off x="2509455" y="747244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FBD6ABE1-3003-83A2-E473-28B5256C9596}"/>
              </a:ext>
            </a:extLst>
          </p:cNvPr>
          <p:cNvSpPr txBox="1"/>
          <p:nvPr/>
        </p:nvSpPr>
        <p:spPr>
          <a:xfrm>
            <a:off x="292087" y="8470716"/>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CDE60857-8810-5F4A-10EB-B94C65B4AD16}"/>
              </a:ext>
            </a:extLst>
          </p:cNvPr>
          <p:cNvGrpSpPr/>
          <p:nvPr/>
        </p:nvGrpSpPr>
        <p:grpSpPr>
          <a:xfrm>
            <a:off x="299450" y="8693770"/>
            <a:ext cx="1454607" cy="1359206"/>
            <a:chOff x="4888883" y="5320096"/>
            <a:chExt cx="1741511" cy="1781653"/>
          </a:xfrm>
        </p:grpSpPr>
        <p:sp>
          <p:nvSpPr>
            <p:cNvPr id="277" name="Rectangle 276">
              <a:extLst>
                <a:ext uri="{FF2B5EF4-FFF2-40B4-BE49-F238E27FC236}">
                  <a16:creationId xmlns:a16="http://schemas.microsoft.com/office/drawing/2014/main" id="{C9A5E9CF-C974-7C88-6B0D-20F0BE9B339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9" name="Rectangle 288">
              <a:extLst>
                <a:ext uri="{FF2B5EF4-FFF2-40B4-BE49-F238E27FC236}">
                  <a16:creationId xmlns:a16="http://schemas.microsoft.com/office/drawing/2014/main" id="{EF74A674-BB84-2980-869D-FA0565645F90}"/>
                </a:ext>
              </a:extLst>
            </p:cNvPr>
            <p:cNvSpPr/>
            <p:nvPr/>
          </p:nvSpPr>
          <p:spPr>
            <a:xfrm>
              <a:off x="4993880" y="6280151"/>
              <a:ext cx="1199524" cy="448998"/>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4" name="TextBox 5">
              <a:extLst>
                <a:ext uri="{FF2B5EF4-FFF2-40B4-BE49-F238E27FC236}">
                  <a16:creationId xmlns:a16="http://schemas.microsoft.com/office/drawing/2014/main" id="{2DC3A4BF-6A40-374D-49FC-D69ECD878F19}"/>
                </a:ext>
              </a:extLst>
            </p:cNvPr>
            <p:cNvSpPr txBox="1"/>
            <p:nvPr/>
          </p:nvSpPr>
          <p:spPr>
            <a:xfrm>
              <a:off x="4982573" y="6243478"/>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sp>
          <p:nvSpPr>
            <p:cNvPr id="281" name="TextBox 754">
              <a:extLst>
                <a:ext uri="{FF2B5EF4-FFF2-40B4-BE49-F238E27FC236}">
                  <a16:creationId xmlns:a16="http://schemas.microsoft.com/office/drawing/2014/main" id="{34C24F6F-B82A-E579-3596-39891A5D3A4F}"/>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28E946CC-EAA7-1714-F89C-53215DE1D3B9}"/>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47D6FA88-D211-5AFB-034C-423C05C7C152}"/>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DF234E55-823C-9F26-DB0B-B4814AF5CB30}"/>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CE7D6008-F7FA-594E-EB5C-668132E4DF0D}"/>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404BF60E-4D84-0FA0-8A94-887336E91271}"/>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CA89452C-5051-D000-01BC-B255940DCF89}"/>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91" name="Rectangle 290">
              <a:extLst>
                <a:ext uri="{FF2B5EF4-FFF2-40B4-BE49-F238E27FC236}">
                  <a16:creationId xmlns:a16="http://schemas.microsoft.com/office/drawing/2014/main" id="{51656023-70D6-416F-AE5E-B18357B0963D}"/>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57F6E9C0-DF68-48B4-C5F5-8659410E0E32}"/>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grpSp>
          <p:nvGrpSpPr>
            <p:cNvPr id="295" name="Group 294">
              <a:extLst>
                <a:ext uri="{FF2B5EF4-FFF2-40B4-BE49-F238E27FC236}">
                  <a16:creationId xmlns:a16="http://schemas.microsoft.com/office/drawing/2014/main" id="{DDF8E54D-EDA2-C335-ADB6-50532ACCD11B}"/>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ACC26051-ADEF-9A77-5E0F-D287CDC5DBA6}"/>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BE901A3B-A8DF-1B8C-9731-2E658981A693}"/>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67813DE7-E7F1-C076-C925-07237BE8BD15}"/>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53C4964F-C1A6-1934-859E-3BF0695BC069}"/>
              </a:ext>
            </a:extLst>
          </p:cNvPr>
          <p:cNvSpPr/>
          <p:nvPr/>
        </p:nvSpPr>
        <p:spPr>
          <a:xfrm>
            <a:off x="892950" y="763625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1F589179-A5B8-E2AD-CECC-CDB71AD2D335}"/>
              </a:ext>
            </a:extLst>
          </p:cNvPr>
          <p:cNvSpPr/>
          <p:nvPr/>
        </p:nvSpPr>
        <p:spPr>
          <a:xfrm>
            <a:off x="387877" y="803896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657FD141-D727-9579-917A-DF8E4E24F469}"/>
              </a:ext>
            </a:extLst>
          </p:cNvPr>
          <p:cNvSpPr/>
          <p:nvPr/>
        </p:nvSpPr>
        <p:spPr>
          <a:xfrm>
            <a:off x="1228441" y="8038960"/>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B531469A-FE06-F88D-34F9-1DA2E84F2444}"/>
              </a:ext>
            </a:extLst>
          </p:cNvPr>
          <p:cNvCxnSpPr>
            <a:cxnSpLocks/>
          </p:cNvCxnSpPr>
          <p:nvPr/>
        </p:nvCxnSpPr>
        <p:spPr>
          <a:xfrm rot="16200000" flipH="1">
            <a:off x="1700312" y="7802561"/>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4218741F-2936-4CE5-A0BB-335B91D10673}"/>
              </a:ext>
            </a:extLst>
          </p:cNvPr>
          <p:cNvCxnSpPr>
            <a:cxnSpLocks/>
          </p:cNvCxnSpPr>
          <p:nvPr/>
        </p:nvCxnSpPr>
        <p:spPr>
          <a:xfrm rot="10800000" flipH="1">
            <a:off x="671600" y="7808980"/>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0D58ACD1-B904-6A18-981C-4CCB85C4BB15}"/>
              </a:ext>
            </a:extLst>
          </p:cNvPr>
          <p:cNvCxnSpPr>
            <a:cxnSpLocks/>
          </p:cNvCxnSpPr>
          <p:nvPr/>
        </p:nvCxnSpPr>
        <p:spPr>
          <a:xfrm rot="2700000" flipH="1">
            <a:off x="1056911" y="8282936"/>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D08C86BB-32C7-3FF2-FACC-01F8B4696791}"/>
              </a:ext>
            </a:extLst>
          </p:cNvPr>
          <p:cNvSpPr txBox="1"/>
          <p:nvPr/>
        </p:nvSpPr>
        <p:spPr>
          <a:xfrm>
            <a:off x="896889" y="7560225"/>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B5E2BA11-32F4-7923-F937-A1CDA5DFC27F}"/>
              </a:ext>
            </a:extLst>
          </p:cNvPr>
          <p:cNvSpPr txBox="1"/>
          <p:nvPr/>
        </p:nvSpPr>
        <p:spPr>
          <a:xfrm>
            <a:off x="411263" y="7964406"/>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509B9B95-61B1-BDA9-6DA2-9BE76C7A6814}"/>
              </a:ext>
            </a:extLst>
          </p:cNvPr>
          <p:cNvSpPr txBox="1"/>
          <p:nvPr/>
        </p:nvSpPr>
        <p:spPr>
          <a:xfrm>
            <a:off x="1245408" y="797214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50" name="Straight Arrow Connector 349">
            <a:extLst>
              <a:ext uri="{FF2B5EF4-FFF2-40B4-BE49-F238E27FC236}">
                <a16:creationId xmlns:a16="http://schemas.microsoft.com/office/drawing/2014/main" id="{73101DA8-A3D0-9170-ECA6-AB110756890C}"/>
              </a:ext>
            </a:extLst>
          </p:cNvPr>
          <p:cNvCxnSpPr/>
          <p:nvPr/>
        </p:nvCxnSpPr>
        <p:spPr>
          <a:xfrm>
            <a:off x="3416547" y="8541264"/>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BFD013EC-D705-2FC5-8E71-F27BA8D8F8CE}"/>
              </a:ext>
            </a:extLst>
          </p:cNvPr>
          <p:cNvSpPr txBox="1"/>
          <p:nvPr/>
        </p:nvSpPr>
        <p:spPr>
          <a:xfrm>
            <a:off x="3488746" y="8620398"/>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BD6F1853-0CFD-7757-4952-4B1FE37364B4}"/>
              </a:ext>
            </a:extLst>
          </p:cNvPr>
          <p:cNvSpPr txBox="1"/>
          <p:nvPr/>
        </p:nvSpPr>
        <p:spPr>
          <a:xfrm>
            <a:off x="2915551" y="9216125"/>
            <a:ext cx="1358728"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AAB5F834-CF2A-DA4C-9DF4-A7B96EFB2E1E}"/>
              </a:ext>
            </a:extLst>
          </p:cNvPr>
          <p:cNvSpPr txBox="1"/>
          <p:nvPr/>
        </p:nvSpPr>
        <p:spPr>
          <a:xfrm>
            <a:off x="3738365" y="8821827"/>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986ABA7F-0CDC-22F2-C2B8-35D8DB345452}"/>
              </a:ext>
            </a:extLst>
          </p:cNvPr>
          <p:cNvSpPr txBox="1"/>
          <p:nvPr/>
        </p:nvSpPr>
        <p:spPr>
          <a:xfrm>
            <a:off x="1996975" y="8592927"/>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8C0B5DF2-0BE9-19C5-DF42-8DB87EDB077A}"/>
              </a:ext>
            </a:extLst>
          </p:cNvPr>
          <p:cNvCxnSpPr/>
          <p:nvPr/>
        </p:nvCxnSpPr>
        <p:spPr>
          <a:xfrm flipH="1">
            <a:off x="1713673" y="9575828"/>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86998E1E-60C5-4837-1769-D43E3F0E2B3E}"/>
              </a:ext>
            </a:extLst>
          </p:cNvPr>
          <p:cNvCxnSpPr/>
          <p:nvPr/>
        </p:nvCxnSpPr>
        <p:spPr>
          <a:xfrm flipH="1">
            <a:off x="1983283" y="8527771"/>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3BBA75B9-AD4C-18D5-DE84-906A03298FDF}"/>
              </a:ext>
            </a:extLst>
          </p:cNvPr>
          <p:cNvSpPr txBox="1"/>
          <p:nvPr/>
        </p:nvSpPr>
        <p:spPr>
          <a:xfrm>
            <a:off x="5011890" y="5454558"/>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FD4B199C-CC7E-27E1-4353-DC262335685A}"/>
              </a:ext>
            </a:extLst>
          </p:cNvPr>
          <p:cNvSpPr txBox="1"/>
          <p:nvPr/>
        </p:nvSpPr>
        <p:spPr>
          <a:xfrm>
            <a:off x="6022638" y="5455499"/>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analysis.yml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EC651565-A812-E7ED-EA1E-F018713E96E1}"/>
              </a:ext>
            </a:extLst>
          </p:cNvPr>
          <p:cNvPicPr>
            <a:picLocks noChangeAspect="1"/>
          </p:cNvPicPr>
          <p:nvPr/>
        </p:nvPicPr>
        <p:blipFill>
          <a:blip r:embed="rId17"/>
          <a:stretch>
            <a:fillRect/>
          </a:stretch>
        </p:blipFill>
        <p:spPr>
          <a:xfrm>
            <a:off x="5161656" y="4700873"/>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1CF413F4-4C8F-96C0-4796-4466DE0A29D4}"/>
              </a:ext>
            </a:extLst>
          </p:cNvPr>
          <p:cNvPicPr>
            <a:picLocks noChangeAspect="1"/>
          </p:cNvPicPr>
          <p:nvPr/>
        </p:nvPicPr>
        <p:blipFill>
          <a:blip r:embed="rId17"/>
          <a:stretch>
            <a:fillRect/>
          </a:stretch>
        </p:blipFill>
        <p:spPr>
          <a:xfrm>
            <a:off x="6146433" y="4700873"/>
            <a:ext cx="666623" cy="838200"/>
          </a:xfrm>
          <a:prstGeom prst="rect">
            <a:avLst/>
          </a:prstGeom>
        </p:spPr>
      </p:pic>
      <p:pic>
        <p:nvPicPr>
          <p:cNvPr id="359" name="Picture 358">
            <a:extLst>
              <a:ext uri="{FF2B5EF4-FFF2-40B4-BE49-F238E27FC236}">
                <a16:creationId xmlns:a16="http://schemas.microsoft.com/office/drawing/2014/main" id="{D9D353C7-35F6-29B0-8A7A-CB53F7511B98}"/>
              </a:ext>
            </a:extLst>
          </p:cNvPr>
          <p:cNvPicPr>
            <a:picLocks noChangeAspect="1"/>
          </p:cNvPicPr>
          <p:nvPr/>
        </p:nvPicPr>
        <p:blipFill>
          <a:blip r:embed="rId14"/>
          <a:stretch>
            <a:fillRect/>
          </a:stretch>
        </p:blipFill>
        <p:spPr>
          <a:xfrm>
            <a:off x="7909422" y="4481066"/>
            <a:ext cx="554321" cy="415604"/>
          </a:xfrm>
          <a:prstGeom prst="rect">
            <a:avLst/>
          </a:prstGeom>
          <a:ln w="28575">
            <a:solidFill>
              <a:schemeClr val="bg1"/>
            </a:solidFill>
          </a:ln>
        </p:spPr>
      </p:pic>
      <p:pic>
        <p:nvPicPr>
          <p:cNvPr id="363" name="Picture 362">
            <a:extLst>
              <a:ext uri="{FF2B5EF4-FFF2-40B4-BE49-F238E27FC236}">
                <a16:creationId xmlns:a16="http://schemas.microsoft.com/office/drawing/2014/main" id="{6AE1E4D7-DFBB-FDD1-8562-90B0CCB13077}"/>
              </a:ext>
            </a:extLst>
          </p:cNvPr>
          <p:cNvPicPr>
            <a:picLocks noChangeAspect="1"/>
          </p:cNvPicPr>
          <p:nvPr/>
        </p:nvPicPr>
        <p:blipFill>
          <a:blip r:embed="rId13"/>
          <a:stretch>
            <a:fillRect/>
          </a:stretch>
        </p:blipFill>
        <p:spPr>
          <a:xfrm>
            <a:off x="11585418" y="3795869"/>
            <a:ext cx="538060" cy="507646"/>
          </a:xfrm>
          <a:prstGeom prst="rect">
            <a:avLst/>
          </a:prstGeom>
        </p:spPr>
      </p:pic>
      <p:sp>
        <p:nvSpPr>
          <p:cNvPr id="365" name="TextBox 364">
            <a:extLst>
              <a:ext uri="{FF2B5EF4-FFF2-40B4-BE49-F238E27FC236}">
                <a16:creationId xmlns:a16="http://schemas.microsoft.com/office/drawing/2014/main" id="{3EC82527-426F-3F0C-ABEA-D739C63DF29D}"/>
              </a:ext>
            </a:extLst>
          </p:cNvPr>
          <p:cNvSpPr txBox="1"/>
          <p:nvPr/>
        </p:nvSpPr>
        <p:spPr>
          <a:xfrm>
            <a:off x="11534104" y="4168473"/>
            <a:ext cx="940417"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solidFill>
                  <a:srgbClr val="0B4EB2"/>
                </a:solidFill>
              </a:rPr>
              <a:t>exec/*.R</a:t>
            </a:r>
            <a:endParaRPr lang="en-US" b="0">
              <a:solidFill>
                <a:srgbClr val="000000"/>
              </a:solidFill>
            </a:endParaRPr>
          </a:p>
          <a:p>
            <a:pPr marL="0" marR="0" indent="0" algn="l" defTabSz="584200">
              <a:lnSpc>
                <a:spcPct val="100000"/>
              </a:lnSpc>
              <a:spcBef>
                <a:spcPts val="200"/>
              </a:spcBef>
              <a:spcAft>
                <a:spcPts val="0"/>
              </a:spcAft>
              <a:buClrTx/>
              <a:buSzTx/>
              <a:buFontTx/>
              <a:buNone/>
              <a:tabLst/>
            </a:pP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A4B6C6D2-47F3-92EB-B7A9-75EDE957AA50}"/>
              </a:ext>
            </a:extLst>
          </p:cNvPr>
          <p:cNvSpPr txBox="1"/>
          <p:nvPr/>
        </p:nvSpPr>
        <p:spPr>
          <a:xfrm>
            <a:off x="9507228" y="6472353"/>
            <a:ext cx="24609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Pipelines</a:t>
            </a:r>
            <a:endParaRPr lang="en-US"/>
          </a:p>
        </p:txBody>
      </p:sp>
      <p:sp>
        <p:nvSpPr>
          <p:cNvPr id="367" name="TextBox 366">
            <a:extLst>
              <a:ext uri="{FF2B5EF4-FFF2-40B4-BE49-F238E27FC236}">
                <a16:creationId xmlns:a16="http://schemas.microsoft.com/office/drawing/2014/main" id="{0C34E4C1-6463-D292-8897-8E412FB3D48C}"/>
              </a:ext>
            </a:extLst>
          </p:cNvPr>
          <p:cNvSpPr txBox="1"/>
          <p:nvPr/>
        </p:nvSpPr>
        <p:spPr>
          <a:xfrm>
            <a:off x="9489530" y="6756044"/>
            <a:ext cx="4269963"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Executables remove the need to manually write R scripts, fetch data, or manage complex workflows. Instead of handling APIs and parsing data manually, Kaiaulu executables do this using configuration files. Executables can also be chained together to construct more complex pipelines.</a:t>
            </a:r>
            <a:endParaRPr lang="en-US">
              <a:solidFill>
                <a:srgbClr val="000000"/>
              </a:solidFill>
            </a:endParaRPr>
          </a:p>
        </p:txBody>
      </p:sp>
      <p:sp>
        <p:nvSpPr>
          <p:cNvPr id="372" name="TextBox 371">
            <a:extLst>
              <a:ext uri="{FF2B5EF4-FFF2-40B4-BE49-F238E27FC236}">
                <a16:creationId xmlns:a16="http://schemas.microsoft.com/office/drawing/2014/main" id="{8DB97A55-2CF0-4119-9CDC-D6B86978C245}"/>
              </a:ext>
            </a:extLst>
          </p:cNvPr>
          <p:cNvSpPr txBox="1"/>
          <p:nvPr/>
        </p:nvSpPr>
        <p:spPr>
          <a:xfrm>
            <a:off x="4674875" y="1688503"/>
            <a:ext cx="4547018" cy="12610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Any project.yml files (1) can be combined with any analysis.yml files (2). This allows users to run the same analysis on multiple projects or run different analyses on the same project, reducing duplication of configuration sections. See Configuration (.yml) cheatsheet for more information.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4438DBAA-186E-F800-433E-6CFD2C160DCF}"/>
              </a:ext>
            </a:extLst>
          </p:cNvPr>
          <p:cNvSpPr txBox="1"/>
          <p:nvPr/>
        </p:nvSpPr>
        <p:spPr>
          <a:xfrm>
            <a:off x="4461143" y="1480457"/>
            <a:ext cx="4070303" cy="528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t">
            <a:spAutoFit/>
          </a:bodyPr>
          <a:lstStyle/>
          <a:p>
            <a:pPr lvl="1">
              <a:defRPr sz="2500" b="0">
                <a:solidFill>
                  <a:srgbClr val="628DB5"/>
                </a:solidFill>
              </a:defRPr>
            </a:pPr>
            <a:r>
              <a:rPr lang="en-US" sz="1800">
                <a:solidFill>
                  <a:schemeClr val="tx1"/>
                </a:solidFill>
                <a:cs typeface="Arial"/>
              </a:rPr>
              <a:t>Interchangeable Configurations</a:t>
            </a:r>
            <a:endParaRPr lang="en-US" sz="1800">
              <a:solidFill>
                <a:schemeClr val="tx1"/>
              </a:solidFill>
            </a:endParaRPr>
          </a:p>
          <a:p>
            <a:pPr lvl="1" indent="0">
              <a:lnSpc>
                <a:spcPct val="80000"/>
              </a:lnSpc>
              <a:spcBef>
                <a:spcPts val="0"/>
              </a:spcBef>
              <a:defRPr sz="2500" b="0">
                <a:solidFill>
                  <a:srgbClr val="628DB5"/>
                </a:solidFill>
              </a:defRPr>
            </a:pPr>
            <a:endParaRPr lang="en-US" sz="1800" dirty="0">
              <a:solidFill>
                <a:schemeClr val="tx1"/>
              </a:solidFill>
              <a:cs typeface="Arial"/>
            </a:endParaRPr>
          </a:p>
        </p:txBody>
      </p:sp>
      <p:sp>
        <p:nvSpPr>
          <p:cNvPr id="21" name="TextBox 20">
            <a:extLst>
              <a:ext uri="{FF2B5EF4-FFF2-40B4-BE49-F238E27FC236}">
                <a16:creationId xmlns:a16="http://schemas.microsoft.com/office/drawing/2014/main" id="{AA9BE487-107A-8404-41B2-E6AFB398D087}"/>
              </a:ext>
            </a:extLst>
          </p:cNvPr>
          <p:cNvSpPr txBox="1"/>
          <p:nvPr/>
        </p:nvSpPr>
        <p:spPr>
          <a:xfrm>
            <a:off x="6339064" y="6847726"/>
            <a:ext cx="718914"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a:solidFill>
                  <a:srgbClr val="0B4EB2"/>
                </a:solidFill>
                <a:cs typeface="Helvetica"/>
              </a:rPr>
              <a:t>exec/*.R</a:t>
            </a:r>
            <a:endParaRPr lang="en-US" b="1">
              <a:solidFill>
                <a:srgbClr val="0B4EB2"/>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a:extLst>
              <a:ext uri="{FF2B5EF4-FFF2-40B4-BE49-F238E27FC236}">
                <a16:creationId xmlns:a16="http://schemas.microsoft.com/office/drawing/2014/main" id="{CF3E97C7-6B57-D548-8EC8-5E8BD0C9470B}"/>
              </a:ext>
            </a:extLst>
          </p:cNvPr>
          <p:cNvPicPr>
            <a:picLocks noChangeAspect="1"/>
          </p:cNvPicPr>
          <p:nvPr/>
        </p:nvPicPr>
        <p:blipFill>
          <a:blip r:embed="rId13"/>
          <a:stretch>
            <a:fillRect/>
          </a:stretch>
        </p:blipFill>
        <p:spPr>
          <a:xfrm>
            <a:off x="10199549" y="8507016"/>
            <a:ext cx="538060" cy="507646"/>
          </a:xfrm>
          <a:prstGeom prst="rect">
            <a:avLst/>
          </a:prstGeom>
        </p:spPr>
      </p:pic>
      <p:pic>
        <p:nvPicPr>
          <p:cNvPr id="36" name="Picture 35">
            <a:extLst>
              <a:ext uri="{FF2B5EF4-FFF2-40B4-BE49-F238E27FC236}">
                <a16:creationId xmlns:a16="http://schemas.microsoft.com/office/drawing/2014/main" id="{9AB51507-4668-9192-3D64-28BC3F24E34C}"/>
              </a:ext>
            </a:extLst>
          </p:cNvPr>
          <p:cNvPicPr>
            <a:picLocks noChangeAspect="1"/>
          </p:cNvPicPr>
          <p:nvPr/>
        </p:nvPicPr>
        <p:blipFill>
          <a:blip r:embed="rId13"/>
          <a:stretch>
            <a:fillRect/>
          </a:stretch>
        </p:blipFill>
        <p:spPr>
          <a:xfrm>
            <a:off x="10199637" y="7868327"/>
            <a:ext cx="538060" cy="507646"/>
          </a:xfrm>
          <a:prstGeom prst="rect">
            <a:avLst/>
          </a:prstGeom>
        </p:spPr>
      </p:pic>
      <p:pic>
        <p:nvPicPr>
          <p:cNvPr id="46" name="Picture 45">
            <a:extLst>
              <a:ext uri="{FF2B5EF4-FFF2-40B4-BE49-F238E27FC236}">
                <a16:creationId xmlns:a16="http://schemas.microsoft.com/office/drawing/2014/main" id="{60A7490F-3CB7-6B9D-BBEF-C69EE9F0464A}"/>
              </a:ext>
            </a:extLst>
          </p:cNvPr>
          <p:cNvPicPr>
            <a:picLocks noChangeAspect="1"/>
          </p:cNvPicPr>
          <p:nvPr/>
        </p:nvPicPr>
        <p:blipFill>
          <a:blip r:embed="rId13"/>
          <a:stretch>
            <a:fillRect/>
          </a:stretch>
        </p:blipFill>
        <p:spPr>
          <a:xfrm>
            <a:off x="11441446" y="7850639"/>
            <a:ext cx="538060" cy="507646"/>
          </a:xfrm>
          <a:prstGeom prst="rect">
            <a:avLst/>
          </a:prstGeom>
        </p:spPr>
      </p:pic>
      <p:pic>
        <p:nvPicPr>
          <p:cNvPr id="59" name="Picture 58">
            <a:extLst>
              <a:ext uri="{FF2B5EF4-FFF2-40B4-BE49-F238E27FC236}">
                <a16:creationId xmlns:a16="http://schemas.microsoft.com/office/drawing/2014/main" id="{79022F78-7700-EAC4-D60C-98D3225FE9A1}"/>
              </a:ext>
            </a:extLst>
          </p:cNvPr>
          <p:cNvPicPr>
            <a:picLocks noChangeAspect="1"/>
          </p:cNvPicPr>
          <p:nvPr/>
        </p:nvPicPr>
        <p:blipFill>
          <a:blip r:embed="rId13"/>
          <a:stretch>
            <a:fillRect/>
          </a:stretch>
        </p:blipFill>
        <p:spPr>
          <a:xfrm>
            <a:off x="11477011" y="8507180"/>
            <a:ext cx="538060" cy="507646"/>
          </a:xfrm>
          <a:prstGeom prst="rect">
            <a:avLst/>
          </a:prstGeom>
        </p:spPr>
      </p:pic>
      <p:pic>
        <p:nvPicPr>
          <p:cNvPr id="61" name="table">
            <a:extLst>
              <a:ext uri="{FF2B5EF4-FFF2-40B4-BE49-F238E27FC236}">
                <a16:creationId xmlns:a16="http://schemas.microsoft.com/office/drawing/2014/main" id="{C8B0ECF8-2923-7DF5-4303-078D5C0012BA}"/>
              </a:ext>
            </a:extLst>
          </p:cNvPr>
          <p:cNvPicPr>
            <a:picLocks noChangeAspect="1"/>
          </p:cNvPicPr>
          <p:nvPr/>
        </p:nvPicPr>
        <p:blipFill>
          <a:blip r:embed="rId6"/>
          <a:stretch>
            <a:fillRect/>
          </a:stretch>
        </p:blipFill>
        <p:spPr>
          <a:xfrm>
            <a:off x="10965727" y="7980540"/>
            <a:ext cx="267508" cy="302355"/>
          </a:xfrm>
          <a:prstGeom prst="rect">
            <a:avLst/>
          </a:prstGeom>
        </p:spPr>
      </p:pic>
      <p:pic>
        <p:nvPicPr>
          <p:cNvPr id="62" name="table">
            <a:extLst>
              <a:ext uri="{FF2B5EF4-FFF2-40B4-BE49-F238E27FC236}">
                <a16:creationId xmlns:a16="http://schemas.microsoft.com/office/drawing/2014/main" id="{9C97E918-F51D-FE78-E08F-2F947EC4669E}"/>
              </a:ext>
            </a:extLst>
          </p:cNvPr>
          <p:cNvPicPr>
            <a:picLocks noChangeAspect="1"/>
          </p:cNvPicPr>
          <p:nvPr/>
        </p:nvPicPr>
        <p:blipFill>
          <a:blip r:embed="rId6"/>
          <a:stretch>
            <a:fillRect/>
          </a:stretch>
        </p:blipFill>
        <p:spPr>
          <a:xfrm>
            <a:off x="13575937" y="8849995"/>
            <a:ext cx="267508" cy="302355"/>
          </a:xfrm>
          <a:prstGeom prst="rect">
            <a:avLst/>
          </a:prstGeom>
        </p:spPr>
      </p:pic>
      <p:pic>
        <p:nvPicPr>
          <p:cNvPr id="63" name="table">
            <a:extLst>
              <a:ext uri="{FF2B5EF4-FFF2-40B4-BE49-F238E27FC236}">
                <a16:creationId xmlns:a16="http://schemas.microsoft.com/office/drawing/2014/main" id="{F2000093-683C-CBC4-2725-B4E1DD0431DA}"/>
              </a:ext>
            </a:extLst>
          </p:cNvPr>
          <p:cNvPicPr>
            <a:picLocks noChangeAspect="1"/>
          </p:cNvPicPr>
          <p:nvPr/>
        </p:nvPicPr>
        <p:blipFill>
          <a:blip r:embed="rId6"/>
          <a:stretch>
            <a:fillRect/>
          </a:stretch>
        </p:blipFill>
        <p:spPr>
          <a:xfrm>
            <a:off x="10968405" y="8646007"/>
            <a:ext cx="267508" cy="302355"/>
          </a:xfrm>
          <a:prstGeom prst="rect">
            <a:avLst/>
          </a:prstGeom>
        </p:spPr>
      </p:pic>
      <p:pic>
        <p:nvPicPr>
          <p:cNvPr id="256" name="table">
            <a:extLst>
              <a:ext uri="{FF2B5EF4-FFF2-40B4-BE49-F238E27FC236}">
                <a16:creationId xmlns:a16="http://schemas.microsoft.com/office/drawing/2014/main" id="{31C39AD7-3E55-B14D-5D3A-688B0D059B91}"/>
              </a:ext>
            </a:extLst>
          </p:cNvPr>
          <p:cNvPicPr>
            <a:picLocks noChangeAspect="1"/>
          </p:cNvPicPr>
          <p:nvPr/>
        </p:nvPicPr>
        <p:blipFill>
          <a:blip r:embed="rId6"/>
          <a:stretch>
            <a:fillRect/>
          </a:stretch>
        </p:blipFill>
        <p:spPr>
          <a:xfrm>
            <a:off x="12192476" y="7936346"/>
            <a:ext cx="267508" cy="302355"/>
          </a:xfrm>
          <a:prstGeom prst="rect">
            <a:avLst/>
          </a:prstGeom>
        </p:spPr>
      </p:pic>
      <p:pic>
        <p:nvPicPr>
          <p:cNvPr id="257" name="table">
            <a:extLst>
              <a:ext uri="{FF2B5EF4-FFF2-40B4-BE49-F238E27FC236}">
                <a16:creationId xmlns:a16="http://schemas.microsoft.com/office/drawing/2014/main" id="{46A5C4EE-FF6A-F6D1-5394-20AD21A63B5D}"/>
              </a:ext>
            </a:extLst>
          </p:cNvPr>
          <p:cNvPicPr>
            <a:picLocks noChangeAspect="1"/>
          </p:cNvPicPr>
          <p:nvPr/>
        </p:nvPicPr>
        <p:blipFill>
          <a:blip r:embed="rId6"/>
          <a:stretch>
            <a:fillRect/>
          </a:stretch>
        </p:blipFill>
        <p:spPr>
          <a:xfrm>
            <a:off x="12201431" y="8619501"/>
            <a:ext cx="267508" cy="302355"/>
          </a:xfrm>
          <a:prstGeom prst="rect">
            <a:avLst/>
          </a:prstGeom>
        </p:spPr>
      </p:pic>
      <p:pic>
        <p:nvPicPr>
          <p:cNvPr id="263" name="Picture 262">
            <a:extLst>
              <a:ext uri="{FF2B5EF4-FFF2-40B4-BE49-F238E27FC236}">
                <a16:creationId xmlns:a16="http://schemas.microsoft.com/office/drawing/2014/main" id="{65587AA4-A274-2167-9581-3AAAF1ADF4E5}"/>
              </a:ext>
            </a:extLst>
          </p:cNvPr>
          <p:cNvPicPr>
            <a:picLocks noChangeAspect="1"/>
          </p:cNvPicPr>
          <p:nvPr/>
        </p:nvPicPr>
        <p:blipFill>
          <a:blip r:embed="rId13"/>
          <a:stretch>
            <a:fillRect/>
          </a:stretch>
        </p:blipFill>
        <p:spPr>
          <a:xfrm>
            <a:off x="12836644" y="8764452"/>
            <a:ext cx="538060" cy="507646"/>
          </a:xfrm>
          <a:prstGeom prst="rect">
            <a:avLst/>
          </a:prstGeom>
        </p:spPr>
      </p:pic>
      <p:pic>
        <p:nvPicPr>
          <p:cNvPr id="267" name="Picture 266" descr="A close-up of a letter&#10;&#10;AI-generated content may be incorrect.">
            <a:extLst>
              <a:ext uri="{FF2B5EF4-FFF2-40B4-BE49-F238E27FC236}">
                <a16:creationId xmlns:a16="http://schemas.microsoft.com/office/drawing/2014/main" id="{878132F5-3389-78E5-B846-6D490CD4BD1F}"/>
              </a:ext>
            </a:extLst>
          </p:cNvPr>
          <p:cNvPicPr>
            <a:picLocks noChangeAspect="1"/>
          </p:cNvPicPr>
          <p:nvPr/>
        </p:nvPicPr>
        <p:blipFill>
          <a:blip r:embed="rId12"/>
          <a:stretch>
            <a:fillRect/>
          </a:stretch>
        </p:blipFill>
        <p:spPr>
          <a:xfrm>
            <a:off x="9495569" y="8532644"/>
            <a:ext cx="396915" cy="386557"/>
          </a:xfrm>
          <a:prstGeom prst="rect">
            <a:avLst/>
          </a:prstGeom>
          <a:ln w="28575">
            <a:solidFill>
              <a:schemeClr val="bg1"/>
            </a:solidFill>
          </a:ln>
        </p:spPr>
      </p:pic>
      <p:pic>
        <p:nvPicPr>
          <p:cNvPr id="278" name="Picture 277">
            <a:extLst>
              <a:ext uri="{FF2B5EF4-FFF2-40B4-BE49-F238E27FC236}">
                <a16:creationId xmlns:a16="http://schemas.microsoft.com/office/drawing/2014/main" id="{36EC99FC-0D7A-7700-CDA8-3F9A54D1FE61}"/>
              </a:ext>
            </a:extLst>
          </p:cNvPr>
          <p:cNvPicPr>
            <a:picLocks noChangeAspect="1"/>
          </p:cNvPicPr>
          <p:nvPr/>
        </p:nvPicPr>
        <p:blipFill>
          <a:blip r:embed="rId14"/>
          <a:stretch>
            <a:fillRect/>
          </a:stretch>
        </p:blipFill>
        <p:spPr>
          <a:xfrm>
            <a:off x="9494497" y="7930221"/>
            <a:ext cx="554321" cy="415604"/>
          </a:xfrm>
          <a:prstGeom prst="rect">
            <a:avLst/>
          </a:prstGeom>
          <a:ln w="28575">
            <a:solidFill>
              <a:schemeClr val="bg1"/>
            </a:solidFill>
          </a:ln>
        </p:spPr>
      </p:pic>
      <p:cxnSp>
        <p:nvCxnSpPr>
          <p:cNvPr id="279" name="Straight Arrow Connector 278">
            <a:extLst>
              <a:ext uri="{FF2B5EF4-FFF2-40B4-BE49-F238E27FC236}">
                <a16:creationId xmlns:a16="http://schemas.microsoft.com/office/drawing/2014/main" id="{4AB638C6-D00E-6E29-E3DB-FE40D0E71478}"/>
              </a:ext>
            </a:extLst>
          </p:cNvPr>
          <p:cNvCxnSpPr/>
          <p:nvPr/>
        </p:nvCxnSpPr>
        <p:spPr>
          <a:xfrm>
            <a:off x="10029205" y="811939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671B2D31-A5CD-AF34-86EC-A491A53C8369}"/>
              </a:ext>
            </a:extLst>
          </p:cNvPr>
          <p:cNvCxnSpPr>
            <a:cxnSpLocks/>
          </p:cNvCxnSpPr>
          <p:nvPr/>
        </p:nvCxnSpPr>
        <p:spPr>
          <a:xfrm>
            <a:off x="10696753" y="812832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0663ADFA-2B68-52D2-7E25-D58964BC77E3}"/>
              </a:ext>
            </a:extLst>
          </p:cNvPr>
          <p:cNvCxnSpPr>
            <a:cxnSpLocks/>
          </p:cNvCxnSpPr>
          <p:nvPr/>
        </p:nvCxnSpPr>
        <p:spPr>
          <a:xfrm>
            <a:off x="9969544" y="87937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3A686611-9251-97B1-F4BF-EE848475E2EC}"/>
              </a:ext>
            </a:extLst>
          </p:cNvPr>
          <p:cNvCxnSpPr>
            <a:cxnSpLocks/>
          </p:cNvCxnSpPr>
          <p:nvPr/>
        </p:nvCxnSpPr>
        <p:spPr>
          <a:xfrm>
            <a:off x="10696926" y="881153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DFF22EAB-9FB8-16BD-EBA1-3C30B0AE4A33}"/>
              </a:ext>
            </a:extLst>
          </p:cNvPr>
          <p:cNvCxnSpPr>
            <a:cxnSpLocks/>
          </p:cNvCxnSpPr>
          <p:nvPr/>
        </p:nvCxnSpPr>
        <p:spPr>
          <a:xfrm>
            <a:off x="11246918" y="811961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BB686367-5FE5-7606-A969-E865AFB50A81}"/>
              </a:ext>
            </a:extLst>
          </p:cNvPr>
          <p:cNvCxnSpPr>
            <a:cxnSpLocks/>
          </p:cNvCxnSpPr>
          <p:nvPr/>
        </p:nvCxnSpPr>
        <p:spPr>
          <a:xfrm>
            <a:off x="11238135" y="879389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9" name="Straight Arrow Connector 298">
            <a:extLst>
              <a:ext uri="{FF2B5EF4-FFF2-40B4-BE49-F238E27FC236}">
                <a16:creationId xmlns:a16="http://schemas.microsoft.com/office/drawing/2014/main" id="{661552C2-C8BF-223E-06FF-2EF05B198EE7}"/>
              </a:ext>
            </a:extLst>
          </p:cNvPr>
          <p:cNvCxnSpPr>
            <a:cxnSpLocks/>
          </p:cNvCxnSpPr>
          <p:nvPr/>
        </p:nvCxnSpPr>
        <p:spPr>
          <a:xfrm>
            <a:off x="11965517" y="879395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1" name="Straight Arrow Connector 300">
            <a:extLst>
              <a:ext uri="{FF2B5EF4-FFF2-40B4-BE49-F238E27FC236}">
                <a16:creationId xmlns:a16="http://schemas.microsoft.com/office/drawing/2014/main" id="{A218B5F7-7675-77AB-0D42-3F97E3D70D55}"/>
              </a:ext>
            </a:extLst>
          </p:cNvPr>
          <p:cNvCxnSpPr>
            <a:cxnSpLocks/>
          </p:cNvCxnSpPr>
          <p:nvPr/>
        </p:nvCxnSpPr>
        <p:spPr>
          <a:xfrm>
            <a:off x="11956735" y="812864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1" name="Straight Arrow Connector 310">
            <a:extLst>
              <a:ext uri="{FF2B5EF4-FFF2-40B4-BE49-F238E27FC236}">
                <a16:creationId xmlns:a16="http://schemas.microsoft.com/office/drawing/2014/main" id="{7057EEAA-AF3B-3195-0AF9-8A2F897A66B2}"/>
              </a:ext>
            </a:extLst>
          </p:cNvPr>
          <p:cNvCxnSpPr>
            <a:cxnSpLocks/>
          </p:cNvCxnSpPr>
          <p:nvPr/>
        </p:nvCxnSpPr>
        <p:spPr>
          <a:xfrm>
            <a:off x="13340455" y="901584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3" name="TextBox 332">
            <a:extLst>
              <a:ext uri="{FF2B5EF4-FFF2-40B4-BE49-F238E27FC236}">
                <a16:creationId xmlns:a16="http://schemas.microsoft.com/office/drawing/2014/main" id="{BDE26BEE-7FF5-5741-7452-A81BF6A19A94}"/>
              </a:ext>
            </a:extLst>
          </p:cNvPr>
          <p:cNvSpPr txBox="1"/>
          <p:nvPr/>
        </p:nvSpPr>
        <p:spPr>
          <a:xfrm>
            <a:off x="6674440" y="9077251"/>
            <a:ext cx="3206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336" name="Straight Arrow Connector 335">
            <a:extLst>
              <a:ext uri="{FF2B5EF4-FFF2-40B4-BE49-F238E27FC236}">
                <a16:creationId xmlns:a16="http://schemas.microsoft.com/office/drawing/2014/main" id="{4D4C9F69-B6CF-7F08-6010-4BDD30F0BE79}"/>
              </a:ext>
            </a:extLst>
          </p:cNvPr>
          <p:cNvCxnSpPr/>
          <p:nvPr/>
        </p:nvCxnSpPr>
        <p:spPr>
          <a:xfrm>
            <a:off x="5476160" y="5990099"/>
            <a:ext cx="2786744" cy="2054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Arrow Connector 338">
            <a:extLst>
              <a:ext uri="{FF2B5EF4-FFF2-40B4-BE49-F238E27FC236}">
                <a16:creationId xmlns:a16="http://schemas.microsoft.com/office/drawing/2014/main" id="{33AC309D-62D4-34C6-E9EC-BA7B92451202}"/>
              </a:ext>
            </a:extLst>
          </p:cNvPr>
          <p:cNvCxnSpPr/>
          <p:nvPr/>
        </p:nvCxnSpPr>
        <p:spPr>
          <a:xfrm>
            <a:off x="8240318" y="5254399"/>
            <a:ext cx="4975" cy="74632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0" name="Straight Arrow Connector 339">
            <a:extLst>
              <a:ext uri="{FF2B5EF4-FFF2-40B4-BE49-F238E27FC236}">
                <a16:creationId xmlns:a16="http://schemas.microsoft.com/office/drawing/2014/main" id="{6EB6D909-E0EA-A523-98D0-BD1B3E93FC63}"/>
              </a:ext>
            </a:extLst>
          </p:cNvPr>
          <p:cNvCxnSpPr/>
          <p:nvPr/>
        </p:nvCxnSpPr>
        <p:spPr>
          <a:xfrm flipH="1" flipV="1">
            <a:off x="5476491" y="5738690"/>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5" name="Straight Arrow Connector 354">
            <a:extLst>
              <a:ext uri="{FF2B5EF4-FFF2-40B4-BE49-F238E27FC236}">
                <a16:creationId xmlns:a16="http://schemas.microsoft.com/office/drawing/2014/main" id="{222DA967-868D-0B7A-A275-0D370047D32B}"/>
              </a:ext>
            </a:extLst>
          </p:cNvPr>
          <p:cNvCxnSpPr>
            <a:cxnSpLocks/>
          </p:cNvCxnSpPr>
          <p:nvPr/>
        </p:nvCxnSpPr>
        <p:spPr>
          <a:xfrm flipH="1" flipV="1">
            <a:off x="6452587" y="5731053"/>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6" name="Straight Arrow Connector 355">
            <a:extLst>
              <a:ext uri="{FF2B5EF4-FFF2-40B4-BE49-F238E27FC236}">
                <a16:creationId xmlns:a16="http://schemas.microsoft.com/office/drawing/2014/main" id="{05642E6A-A47A-8025-9F29-E31AE3663E2C}"/>
              </a:ext>
            </a:extLst>
          </p:cNvPr>
          <p:cNvCxnSpPr/>
          <p:nvPr/>
        </p:nvCxnSpPr>
        <p:spPr>
          <a:xfrm>
            <a:off x="6722531" y="5989650"/>
            <a:ext cx="4972" cy="2879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1CBA1AF2-C38F-7D07-EED4-4D59F5B0D3B6}"/>
              </a:ext>
            </a:extLst>
          </p:cNvPr>
          <p:cNvSpPr txBox="1"/>
          <p:nvPr/>
        </p:nvSpPr>
        <p:spPr>
          <a:xfrm rot="5400000">
            <a:off x="9399955" y="9171237"/>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 . .</a:t>
            </a:r>
          </a:p>
        </p:txBody>
      </p:sp>
      <p:pic>
        <p:nvPicPr>
          <p:cNvPr id="20" name="Picture 19">
            <a:extLst>
              <a:ext uri="{FF2B5EF4-FFF2-40B4-BE49-F238E27FC236}">
                <a16:creationId xmlns:a16="http://schemas.microsoft.com/office/drawing/2014/main" id="{D9BD99B7-E5F5-2DDC-130E-2F5101074375}"/>
              </a:ext>
            </a:extLst>
          </p:cNvPr>
          <p:cNvPicPr>
            <a:picLocks noChangeAspect="1"/>
          </p:cNvPicPr>
          <p:nvPr/>
        </p:nvPicPr>
        <p:blipFill>
          <a:blip r:embed="rId13"/>
          <a:stretch>
            <a:fillRect/>
          </a:stretch>
        </p:blipFill>
        <p:spPr>
          <a:xfrm>
            <a:off x="10193141" y="9536212"/>
            <a:ext cx="538060" cy="507646"/>
          </a:xfrm>
          <a:prstGeom prst="rect">
            <a:avLst/>
          </a:prstGeom>
        </p:spPr>
      </p:pic>
      <p:pic>
        <p:nvPicPr>
          <p:cNvPr id="26" name="Picture 25">
            <a:extLst>
              <a:ext uri="{FF2B5EF4-FFF2-40B4-BE49-F238E27FC236}">
                <a16:creationId xmlns:a16="http://schemas.microsoft.com/office/drawing/2014/main" id="{ABC68B19-DFF0-D7C6-E5D2-F49BBEAFFA5D}"/>
              </a:ext>
            </a:extLst>
          </p:cNvPr>
          <p:cNvPicPr>
            <a:picLocks noChangeAspect="1"/>
          </p:cNvPicPr>
          <p:nvPr/>
        </p:nvPicPr>
        <p:blipFill>
          <a:blip r:embed="rId13"/>
          <a:stretch>
            <a:fillRect/>
          </a:stretch>
        </p:blipFill>
        <p:spPr>
          <a:xfrm>
            <a:off x="11435228" y="9518524"/>
            <a:ext cx="538060" cy="507646"/>
          </a:xfrm>
          <a:prstGeom prst="rect">
            <a:avLst/>
          </a:prstGeom>
        </p:spPr>
      </p:pic>
      <p:pic>
        <p:nvPicPr>
          <p:cNvPr id="29" name="table">
            <a:extLst>
              <a:ext uri="{FF2B5EF4-FFF2-40B4-BE49-F238E27FC236}">
                <a16:creationId xmlns:a16="http://schemas.microsoft.com/office/drawing/2014/main" id="{856963DD-7A98-E87B-991B-BE4F3CA87AAE}"/>
              </a:ext>
            </a:extLst>
          </p:cNvPr>
          <p:cNvPicPr>
            <a:picLocks noChangeAspect="1"/>
          </p:cNvPicPr>
          <p:nvPr/>
        </p:nvPicPr>
        <p:blipFill>
          <a:blip r:embed="rId6"/>
          <a:stretch>
            <a:fillRect/>
          </a:stretch>
        </p:blipFill>
        <p:spPr>
          <a:xfrm>
            <a:off x="10959403" y="9648425"/>
            <a:ext cx="267508" cy="302355"/>
          </a:xfrm>
          <a:prstGeom prst="rect">
            <a:avLst/>
          </a:prstGeom>
        </p:spPr>
      </p:pic>
      <p:pic>
        <p:nvPicPr>
          <p:cNvPr id="34" name="table">
            <a:extLst>
              <a:ext uri="{FF2B5EF4-FFF2-40B4-BE49-F238E27FC236}">
                <a16:creationId xmlns:a16="http://schemas.microsoft.com/office/drawing/2014/main" id="{50D9F939-C086-BDAA-CF9E-555287D08576}"/>
              </a:ext>
            </a:extLst>
          </p:cNvPr>
          <p:cNvPicPr>
            <a:picLocks noChangeAspect="1"/>
          </p:cNvPicPr>
          <p:nvPr/>
        </p:nvPicPr>
        <p:blipFill>
          <a:blip r:embed="rId6"/>
          <a:stretch>
            <a:fillRect/>
          </a:stretch>
        </p:blipFill>
        <p:spPr>
          <a:xfrm>
            <a:off x="12186427" y="9604231"/>
            <a:ext cx="267508" cy="302355"/>
          </a:xfrm>
          <a:prstGeom prst="rect">
            <a:avLst/>
          </a:prstGeom>
        </p:spPr>
      </p:pic>
      <p:pic>
        <p:nvPicPr>
          <p:cNvPr id="35" name="Picture 34">
            <a:extLst>
              <a:ext uri="{FF2B5EF4-FFF2-40B4-BE49-F238E27FC236}">
                <a16:creationId xmlns:a16="http://schemas.microsoft.com/office/drawing/2014/main" id="{9876AACD-3CF3-C5BA-D3C9-BE28EDDF3CB1}"/>
              </a:ext>
            </a:extLst>
          </p:cNvPr>
          <p:cNvPicPr>
            <a:picLocks noChangeAspect="1"/>
          </p:cNvPicPr>
          <p:nvPr/>
        </p:nvPicPr>
        <p:blipFill>
          <a:blip r:embed="rId14"/>
          <a:stretch>
            <a:fillRect/>
          </a:stretch>
        </p:blipFill>
        <p:spPr>
          <a:xfrm>
            <a:off x="9487843" y="9598106"/>
            <a:ext cx="554321" cy="415604"/>
          </a:xfrm>
          <a:prstGeom prst="rect">
            <a:avLst/>
          </a:prstGeom>
          <a:ln w="28575">
            <a:solidFill>
              <a:schemeClr val="bg1"/>
            </a:solidFill>
          </a:ln>
        </p:spPr>
      </p:pic>
      <p:cxnSp>
        <p:nvCxnSpPr>
          <p:cNvPr id="268" name="Straight Arrow Connector 267">
            <a:extLst>
              <a:ext uri="{FF2B5EF4-FFF2-40B4-BE49-F238E27FC236}">
                <a16:creationId xmlns:a16="http://schemas.microsoft.com/office/drawing/2014/main" id="{EB193343-3617-BDA4-785B-1F8278A04249}"/>
              </a:ext>
            </a:extLst>
          </p:cNvPr>
          <p:cNvCxnSpPr>
            <a:cxnSpLocks/>
          </p:cNvCxnSpPr>
          <p:nvPr/>
        </p:nvCxnSpPr>
        <p:spPr>
          <a:xfrm>
            <a:off x="10022671" y="978728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7C4FF55D-D3D1-E3C7-554A-A1CA53F0A3CE}"/>
              </a:ext>
            </a:extLst>
          </p:cNvPr>
          <p:cNvCxnSpPr>
            <a:cxnSpLocks/>
          </p:cNvCxnSpPr>
          <p:nvPr/>
        </p:nvCxnSpPr>
        <p:spPr>
          <a:xfrm>
            <a:off x="10690368" y="979620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0" name="Straight Arrow Connector 269">
            <a:extLst>
              <a:ext uri="{FF2B5EF4-FFF2-40B4-BE49-F238E27FC236}">
                <a16:creationId xmlns:a16="http://schemas.microsoft.com/office/drawing/2014/main" id="{E7A72DDB-692C-CB01-7005-D05CDFF9E177}"/>
              </a:ext>
            </a:extLst>
          </p:cNvPr>
          <p:cNvCxnSpPr>
            <a:cxnSpLocks/>
          </p:cNvCxnSpPr>
          <p:nvPr/>
        </p:nvCxnSpPr>
        <p:spPr>
          <a:xfrm>
            <a:off x="11240657" y="978749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12716C29-01F1-4CCE-7393-13EE76B90218}"/>
              </a:ext>
            </a:extLst>
          </p:cNvPr>
          <p:cNvCxnSpPr>
            <a:cxnSpLocks/>
          </p:cNvCxnSpPr>
          <p:nvPr/>
        </p:nvCxnSpPr>
        <p:spPr>
          <a:xfrm>
            <a:off x="11950633" y="97965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B6D49C2D-95E8-9C99-C795-E1F5999ABB3E}"/>
              </a:ext>
            </a:extLst>
          </p:cNvPr>
          <p:cNvCxnSpPr/>
          <p:nvPr/>
        </p:nvCxnSpPr>
        <p:spPr>
          <a:xfrm>
            <a:off x="12480161" y="8108336"/>
            <a:ext cx="417374" cy="861135"/>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EA2D1540-7292-0608-1ABB-FCB079A54D07}"/>
              </a:ext>
            </a:extLst>
          </p:cNvPr>
          <p:cNvCxnSpPr/>
          <p:nvPr/>
        </p:nvCxnSpPr>
        <p:spPr>
          <a:xfrm flipV="1">
            <a:off x="12472261" y="9058034"/>
            <a:ext cx="399623" cy="727931"/>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9" name="Connector: Elbow 308">
            <a:extLst>
              <a:ext uri="{FF2B5EF4-FFF2-40B4-BE49-F238E27FC236}">
                <a16:creationId xmlns:a16="http://schemas.microsoft.com/office/drawing/2014/main" id="{61EE8D8F-CE65-2171-0FB0-E73E038B3459}"/>
              </a:ext>
            </a:extLst>
          </p:cNvPr>
          <p:cNvCxnSpPr/>
          <p:nvPr/>
        </p:nvCxnSpPr>
        <p:spPr>
          <a:xfrm>
            <a:off x="12490386" y="8810533"/>
            <a:ext cx="399622" cy="15981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61" name="Line">
            <a:extLst>
              <a:ext uri="{FF2B5EF4-FFF2-40B4-BE49-F238E27FC236}">
                <a16:creationId xmlns:a16="http://schemas.microsoft.com/office/drawing/2014/main" id="{3D32F354-E2A3-4C00-4A5E-7B60C5F9BB2E}"/>
              </a:ext>
            </a:extLst>
          </p:cNvPr>
          <p:cNvSpPr/>
          <p:nvPr/>
        </p:nvSpPr>
        <p:spPr>
          <a:xfrm>
            <a:off x="9547069" y="6815396"/>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362" name="Straight Arrow Connector 361">
            <a:extLst>
              <a:ext uri="{FF2B5EF4-FFF2-40B4-BE49-F238E27FC236}">
                <a16:creationId xmlns:a16="http://schemas.microsoft.com/office/drawing/2014/main" id="{1D043507-EC71-D93D-5E65-D6BB6B2FE67C}"/>
              </a:ext>
            </a:extLst>
          </p:cNvPr>
          <p:cNvCxnSpPr/>
          <p:nvPr/>
        </p:nvCxnSpPr>
        <p:spPr>
          <a:xfrm flipH="1">
            <a:off x="6709005" y="7154130"/>
            <a:ext cx="8649" cy="190867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26D92D08-B4D5-1400-694D-32A3B9725D3A}"/>
              </a:ext>
            </a:extLst>
          </p:cNvPr>
          <p:cNvCxnSpPr/>
          <p:nvPr/>
        </p:nvCxnSpPr>
        <p:spPr>
          <a:xfrm>
            <a:off x="5288449" y="7375062"/>
            <a:ext cx="3184194" cy="1211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5" name="Straight Arrow Connector 314">
            <a:extLst>
              <a:ext uri="{FF2B5EF4-FFF2-40B4-BE49-F238E27FC236}">
                <a16:creationId xmlns:a16="http://schemas.microsoft.com/office/drawing/2014/main" id="{A03BEF48-AD53-C75A-D8AA-9016145E4847}"/>
              </a:ext>
            </a:extLst>
          </p:cNvPr>
          <p:cNvCxnSpPr/>
          <p:nvPr/>
        </p:nvCxnSpPr>
        <p:spPr>
          <a:xfrm>
            <a:off x="8463956" y="7377647"/>
            <a:ext cx="1002" cy="34058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6" name="Straight Arrow Connector 315">
            <a:extLst>
              <a:ext uri="{FF2B5EF4-FFF2-40B4-BE49-F238E27FC236}">
                <a16:creationId xmlns:a16="http://schemas.microsoft.com/office/drawing/2014/main" id="{7A835425-B9F5-6974-1886-31ECBFEB5DD1}"/>
              </a:ext>
            </a:extLst>
          </p:cNvPr>
          <p:cNvCxnSpPr/>
          <p:nvPr/>
        </p:nvCxnSpPr>
        <p:spPr>
          <a:xfrm>
            <a:off x="5286998" y="7374285"/>
            <a:ext cx="9102" cy="36399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4" name="Straight Arrow Connector 363">
            <a:extLst>
              <a:ext uri="{FF2B5EF4-FFF2-40B4-BE49-F238E27FC236}">
                <a16:creationId xmlns:a16="http://schemas.microsoft.com/office/drawing/2014/main" id="{6D76EAC5-39AE-4BFE-E5A6-03E8C3234188}"/>
              </a:ext>
            </a:extLst>
          </p:cNvPr>
          <p:cNvCxnSpPr/>
          <p:nvPr/>
        </p:nvCxnSpPr>
        <p:spPr>
          <a:xfrm>
            <a:off x="7426823" y="7392884"/>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8" name="Straight Arrow Connector 367">
            <a:extLst>
              <a:ext uri="{FF2B5EF4-FFF2-40B4-BE49-F238E27FC236}">
                <a16:creationId xmlns:a16="http://schemas.microsoft.com/office/drawing/2014/main" id="{FC927F23-5B4B-D463-7FF1-7EEB0F8BEAEE}"/>
              </a:ext>
            </a:extLst>
          </p:cNvPr>
          <p:cNvCxnSpPr>
            <a:cxnSpLocks/>
          </p:cNvCxnSpPr>
          <p:nvPr/>
        </p:nvCxnSpPr>
        <p:spPr>
          <a:xfrm>
            <a:off x="6000593" y="7384066"/>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76" name="TextBox 375">
            <a:extLst>
              <a:ext uri="{FF2B5EF4-FFF2-40B4-BE49-F238E27FC236}">
                <a16:creationId xmlns:a16="http://schemas.microsoft.com/office/drawing/2014/main" id="{3ED91360-D0D9-54FB-9CF8-04252596ED98}"/>
              </a:ext>
            </a:extLst>
          </p:cNvPr>
          <p:cNvSpPr txBox="1"/>
          <p:nvPr/>
        </p:nvSpPr>
        <p:spPr>
          <a:xfrm>
            <a:off x="4719010" y="3769481"/>
            <a:ext cx="2770949"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endParaRPr lang="en-US" sz="2400" b="1" i="0" u="none" strike="noStrike" cap="none" spc="0" normalizeH="0" baseline="0">
              <a:ln>
                <a:noFill/>
              </a:ln>
              <a:solidFill>
                <a:srgbClr val="4C4C4C"/>
              </a:solidFill>
              <a:effectLst/>
              <a:uFillTx/>
              <a:latin typeface="Source Sans Pro"/>
              <a:ea typeface="Source Sans Pro"/>
              <a:cs typeface="Source Sans Pro"/>
            </a:endParaRPr>
          </a:p>
        </p:txBody>
      </p:sp>
      <p:pic>
        <p:nvPicPr>
          <p:cNvPr id="7" name="Picture 6" descr="A white symbol on a black background&#10;&#10;AI-generated content may be incorrect.">
            <a:extLst>
              <a:ext uri="{FF2B5EF4-FFF2-40B4-BE49-F238E27FC236}">
                <a16:creationId xmlns:a16="http://schemas.microsoft.com/office/drawing/2014/main" id="{CC049600-643C-CF60-0D65-C8DF49D02125}"/>
              </a:ext>
            </a:extLst>
          </p:cNvPr>
          <p:cNvPicPr>
            <a:picLocks noChangeAspect="1"/>
          </p:cNvPicPr>
          <p:nvPr/>
        </p:nvPicPr>
        <p:blipFill>
          <a:blip r:embed="rId18"/>
          <a:stretch>
            <a:fillRect/>
          </a:stretch>
        </p:blipFill>
        <p:spPr>
          <a:xfrm>
            <a:off x="5867239" y="8278371"/>
            <a:ext cx="280697" cy="279423"/>
          </a:xfrm>
          <a:prstGeom prst="rect">
            <a:avLst/>
          </a:prstGeom>
        </p:spPr>
      </p:pic>
      <p:pic>
        <p:nvPicPr>
          <p:cNvPr id="369" name="Picture 368" descr="A white symbol on a black background&#10;&#10;AI-generated content may be incorrect.">
            <a:extLst>
              <a:ext uri="{FF2B5EF4-FFF2-40B4-BE49-F238E27FC236}">
                <a16:creationId xmlns:a16="http://schemas.microsoft.com/office/drawing/2014/main" id="{995CCC7E-65EB-6841-3767-0C1B2B8EEE42}"/>
              </a:ext>
            </a:extLst>
          </p:cNvPr>
          <p:cNvPicPr>
            <a:picLocks noChangeAspect="1"/>
          </p:cNvPicPr>
          <p:nvPr/>
        </p:nvPicPr>
        <p:blipFill>
          <a:blip r:embed="rId18"/>
          <a:stretch>
            <a:fillRect/>
          </a:stretch>
        </p:blipFill>
        <p:spPr>
          <a:xfrm>
            <a:off x="8306166" y="7746138"/>
            <a:ext cx="280697" cy="279423"/>
          </a:xfrm>
          <a:prstGeom prst="rect">
            <a:avLst/>
          </a:prstGeom>
        </p:spPr>
      </p:pic>
      <p:pic>
        <p:nvPicPr>
          <p:cNvPr id="370" name="Picture 369" descr="A white symbol on a black background&#10;&#10;AI-generated content may be incorrect.">
            <a:extLst>
              <a:ext uri="{FF2B5EF4-FFF2-40B4-BE49-F238E27FC236}">
                <a16:creationId xmlns:a16="http://schemas.microsoft.com/office/drawing/2014/main" id="{1D30CD02-24F3-E570-4BAB-EDFF60CC4652}"/>
              </a:ext>
            </a:extLst>
          </p:cNvPr>
          <p:cNvPicPr>
            <a:picLocks noChangeAspect="1"/>
          </p:cNvPicPr>
          <p:nvPr/>
        </p:nvPicPr>
        <p:blipFill>
          <a:blip r:embed="rId18"/>
          <a:stretch>
            <a:fillRect/>
          </a:stretch>
        </p:blipFill>
        <p:spPr>
          <a:xfrm>
            <a:off x="5157596" y="7746193"/>
            <a:ext cx="280697" cy="279423"/>
          </a:xfrm>
          <a:prstGeom prst="rect">
            <a:avLst/>
          </a:prstGeom>
        </p:spPr>
      </p:pic>
      <p:pic>
        <p:nvPicPr>
          <p:cNvPr id="375" name="Picture 374" descr="A white symbol on a black background&#10;&#10;AI-generated content may be incorrect.">
            <a:extLst>
              <a:ext uri="{FF2B5EF4-FFF2-40B4-BE49-F238E27FC236}">
                <a16:creationId xmlns:a16="http://schemas.microsoft.com/office/drawing/2014/main" id="{B5279219-FDC2-2978-1B33-464FE8042823}"/>
              </a:ext>
            </a:extLst>
          </p:cNvPr>
          <p:cNvPicPr>
            <a:picLocks noChangeAspect="1"/>
          </p:cNvPicPr>
          <p:nvPr/>
        </p:nvPicPr>
        <p:blipFill>
          <a:blip r:embed="rId18"/>
          <a:stretch>
            <a:fillRect/>
          </a:stretch>
        </p:blipFill>
        <p:spPr>
          <a:xfrm>
            <a:off x="6355059" y="9130193"/>
            <a:ext cx="280697" cy="279423"/>
          </a:xfrm>
          <a:prstGeom prst="rect">
            <a:avLst/>
          </a:prstGeom>
        </p:spPr>
      </p:pic>
      <p:pic>
        <p:nvPicPr>
          <p:cNvPr id="377" name="Picture 376" descr="A white symbol on a black background&#10;&#10;AI-generated content may be incorrect.">
            <a:extLst>
              <a:ext uri="{FF2B5EF4-FFF2-40B4-BE49-F238E27FC236}">
                <a16:creationId xmlns:a16="http://schemas.microsoft.com/office/drawing/2014/main" id="{55A67D17-3DB0-0DF1-B49A-AC973DF42D0A}"/>
              </a:ext>
            </a:extLst>
          </p:cNvPr>
          <p:cNvPicPr>
            <a:picLocks noChangeAspect="1"/>
          </p:cNvPicPr>
          <p:nvPr/>
        </p:nvPicPr>
        <p:blipFill>
          <a:blip r:embed="rId18"/>
          <a:stretch>
            <a:fillRect/>
          </a:stretch>
        </p:blipFill>
        <p:spPr>
          <a:xfrm>
            <a:off x="7286438" y="8314074"/>
            <a:ext cx="280697" cy="279423"/>
          </a:xfrm>
          <a:prstGeom prst="rect">
            <a:avLst/>
          </a:prstGeom>
        </p:spPr>
      </p:pic>
      <p:pic>
        <p:nvPicPr>
          <p:cNvPr id="378" name="Picture 377" descr="A white symbol on a black background&#10;&#10;AI-generated content may be incorrect.">
            <a:extLst>
              <a:ext uri="{FF2B5EF4-FFF2-40B4-BE49-F238E27FC236}">
                <a16:creationId xmlns:a16="http://schemas.microsoft.com/office/drawing/2014/main" id="{905477A6-2740-FF53-189C-12A3248A3E01}"/>
              </a:ext>
            </a:extLst>
          </p:cNvPr>
          <p:cNvPicPr>
            <a:picLocks noChangeAspect="1"/>
          </p:cNvPicPr>
          <p:nvPr/>
        </p:nvPicPr>
        <p:blipFill>
          <a:blip r:embed="rId18"/>
          <a:stretch>
            <a:fillRect/>
          </a:stretch>
        </p:blipFill>
        <p:spPr>
          <a:xfrm>
            <a:off x="5964975" y="9130302"/>
            <a:ext cx="280697" cy="279423"/>
          </a:xfrm>
          <a:prstGeom prst="rect">
            <a:avLst/>
          </a:prstGeom>
        </p:spPr>
      </p:pic>
      <p:pic>
        <p:nvPicPr>
          <p:cNvPr id="379" name="Picture 378" descr="A white symbol on a black background&#10;&#10;AI-generated content may be incorrect.">
            <a:extLst>
              <a:ext uri="{FF2B5EF4-FFF2-40B4-BE49-F238E27FC236}">
                <a16:creationId xmlns:a16="http://schemas.microsoft.com/office/drawing/2014/main" id="{4F8B7F36-92C5-EC00-7626-6363C439B4E4}"/>
              </a:ext>
            </a:extLst>
          </p:cNvPr>
          <p:cNvPicPr>
            <a:picLocks noChangeAspect="1"/>
          </p:cNvPicPr>
          <p:nvPr/>
        </p:nvPicPr>
        <p:blipFill>
          <a:blip r:embed="rId18"/>
          <a:stretch>
            <a:fillRect/>
          </a:stretch>
        </p:blipFill>
        <p:spPr>
          <a:xfrm>
            <a:off x="6949572" y="9130357"/>
            <a:ext cx="280697" cy="279423"/>
          </a:xfrm>
          <a:prstGeom prst="rect">
            <a:avLst/>
          </a:prstGeom>
        </p:spPr>
      </p:pic>
      <p:cxnSp>
        <p:nvCxnSpPr>
          <p:cNvPr id="12" name="Straight Arrow Connector 11">
            <a:extLst>
              <a:ext uri="{FF2B5EF4-FFF2-40B4-BE49-F238E27FC236}">
                <a16:creationId xmlns:a16="http://schemas.microsoft.com/office/drawing/2014/main" id="{02308E54-8E7A-51D2-C24D-42EFED596073}"/>
              </a:ext>
            </a:extLst>
          </p:cNvPr>
          <p:cNvCxnSpPr/>
          <p:nvPr/>
        </p:nvCxnSpPr>
        <p:spPr>
          <a:xfrm>
            <a:off x="2240413" y="7850757"/>
            <a:ext cx="3214" cy="36230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4" name="Straight Arrow Connector 303">
            <a:extLst>
              <a:ext uri="{FF2B5EF4-FFF2-40B4-BE49-F238E27FC236}">
                <a16:creationId xmlns:a16="http://schemas.microsoft.com/office/drawing/2014/main" id="{A19E78D8-B712-F65C-6505-05CFAA869516}"/>
              </a:ext>
            </a:extLst>
          </p:cNvPr>
          <p:cNvCxnSpPr>
            <a:cxnSpLocks/>
          </p:cNvCxnSpPr>
          <p:nvPr/>
        </p:nvCxnSpPr>
        <p:spPr>
          <a:xfrm flipH="1">
            <a:off x="2057480" y="8024558"/>
            <a:ext cx="377998" cy="7211"/>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05" name="Line">
            <a:extLst>
              <a:ext uri="{FF2B5EF4-FFF2-40B4-BE49-F238E27FC236}">
                <a16:creationId xmlns:a16="http://schemas.microsoft.com/office/drawing/2014/main" id="{EB35B2C3-4494-1DE2-CDCD-9685CC62D771}"/>
              </a:ext>
            </a:extLst>
          </p:cNvPr>
          <p:cNvSpPr/>
          <p:nvPr/>
        </p:nvSpPr>
        <p:spPr>
          <a:xfrm>
            <a:off x="9501009" y="1782655"/>
            <a:ext cx="3261928"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6" name="Line">
            <a:extLst>
              <a:ext uri="{FF2B5EF4-FFF2-40B4-BE49-F238E27FC236}">
                <a16:creationId xmlns:a16="http://schemas.microsoft.com/office/drawing/2014/main" id="{FAF06C92-8FAA-46CD-C8FA-5F29DC75BC90}"/>
              </a:ext>
            </a:extLst>
          </p:cNvPr>
          <p:cNvSpPr/>
          <p:nvPr/>
        </p:nvSpPr>
        <p:spPr>
          <a:xfrm flipV="1">
            <a:off x="4726617" y="2985342"/>
            <a:ext cx="4497071" cy="2547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7" name="Line">
            <a:extLst>
              <a:ext uri="{FF2B5EF4-FFF2-40B4-BE49-F238E27FC236}">
                <a16:creationId xmlns:a16="http://schemas.microsoft.com/office/drawing/2014/main" id="{3D32F354-E2A3-4C00-4A5E-7B60C5F9BB2E}"/>
              </a:ext>
            </a:extLst>
          </p:cNvPr>
          <p:cNvSpPr/>
          <p:nvPr/>
        </p:nvSpPr>
        <p:spPr>
          <a:xfrm>
            <a:off x="265904" y="1775276"/>
            <a:ext cx="4310238" cy="25480"/>
          </a:xfrm>
          <a:prstGeom prst="line">
            <a:avLst/>
          </a:prstGeom>
          <a:ln w="12700">
            <a:solidFill>
              <a:srgbClr val="E4E4E3"/>
            </a:solidFill>
            <a:miter lim="400000"/>
          </a:ln>
        </p:spPr>
        <p:txBody>
          <a:bodyPr lIns="54570" tIns="54570" rIns="54570" bIns="5457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80000"/>
              </a:lnSpc>
              <a:spcBef>
                <a:spcPts val="600"/>
              </a:spcBef>
              <a:defRPr b="0">
                <a:solidFill>
                  <a:srgbClr val="000000"/>
                </a:solidFill>
              </a:defRPr>
            </a:pPr>
            <a:endParaRPr/>
          </a:p>
        </p:txBody>
      </p:sp>
      <p:sp>
        <p:nvSpPr>
          <p:cNvPr id="331" name="Line">
            <a:extLst>
              <a:ext uri="{FF2B5EF4-FFF2-40B4-BE49-F238E27FC236}">
                <a16:creationId xmlns:a16="http://schemas.microsoft.com/office/drawing/2014/main" id="{934B1E9C-139F-7DF3-A963-D397F18EF41F}"/>
              </a:ext>
            </a:extLst>
          </p:cNvPr>
          <p:cNvSpPr/>
          <p:nvPr/>
        </p:nvSpPr>
        <p:spPr>
          <a:xfrm flipV="1">
            <a:off x="260109" y="6792080"/>
            <a:ext cx="4318731" cy="33971"/>
          </a:xfrm>
          <a:prstGeom prst="line">
            <a:avLst/>
          </a:prstGeom>
          <a:ln w="12700">
            <a:solidFill>
              <a:srgbClr val="E4E4E3"/>
            </a:solidFill>
            <a:miter lim="400000"/>
          </a:ln>
        </p:spPr>
        <p:txBody>
          <a:bodyPr lIns="54570" tIns="54570" rIns="54570" bIns="5457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12581322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EE9C-DD1C-646F-723E-8C2DB68ADD42}"/>
            </a:ext>
          </a:extLst>
        </p:cNvPr>
        <p:cNvGrpSpPr/>
        <p:nvPr/>
      </p:nvGrpSpPr>
      <p:grpSpPr>
        <a:xfrm>
          <a:off x="0" y="0"/>
          <a:ext cx="0" cy="0"/>
          <a:chOff x="0" y="0"/>
          <a:chExt cx="0" cy="0"/>
        </a:xfrm>
      </p:grpSpPr>
      <p:sp>
        <p:nvSpPr>
          <p:cNvPr id="349" name="TextBox 348">
            <a:extLst>
              <a:ext uri="{FF2B5EF4-FFF2-40B4-BE49-F238E27FC236}">
                <a16:creationId xmlns:a16="http://schemas.microsoft.com/office/drawing/2014/main" id="{DE900629-5DC6-02D6-B709-0E4672B66BF8}"/>
              </a:ext>
            </a:extLst>
          </p:cNvPr>
          <p:cNvSpPr txBox="1"/>
          <p:nvPr/>
        </p:nvSpPr>
        <p:spPr>
          <a:xfrm>
            <a:off x="275783" y="7476898"/>
            <a:ext cx="4152693" cy="1047864"/>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1" name="TextBox 370">
            <a:extLst>
              <a:ext uri="{FF2B5EF4-FFF2-40B4-BE49-F238E27FC236}">
                <a16:creationId xmlns:a16="http://schemas.microsoft.com/office/drawing/2014/main" id="{97D5C78D-C90E-64E0-EBDD-4ADB1093AFD6}"/>
              </a:ext>
            </a:extLst>
          </p:cNvPr>
          <p:cNvSpPr txBox="1"/>
          <p:nvPr/>
        </p:nvSpPr>
        <p:spPr>
          <a:xfrm>
            <a:off x="4685424" y="3778567"/>
            <a:ext cx="4534280" cy="5105264"/>
          </a:xfrm>
          <a:prstGeom prst="rect">
            <a:avLst/>
          </a:prstGeom>
          <a:noFill/>
          <a:ln w="12700"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3" name="TextBox 372">
            <a:extLst>
              <a:ext uri="{FF2B5EF4-FFF2-40B4-BE49-F238E27FC236}">
                <a16:creationId xmlns:a16="http://schemas.microsoft.com/office/drawing/2014/main" id="{1418B6F5-C545-DB44-ACE7-7344D9B1597C}"/>
              </a:ext>
            </a:extLst>
          </p:cNvPr>
          <p:cNvSpPr txBox="1"/>
          <p:nvPr/>
        </p:nvSpPr>
        <p:spPr>
          <a:xfrm>
            <a:off x="4821857" y="4262778"/>
            <a:ext cx="2428745" cy="2862367"/>
          </a:xfrm>
          <a:prstGeom prst="rect">
            <a:avLst/>
          </a:prstGeom>
          <a:noFill/>
          <a:ln w="2857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18" name="Picture 17">
            <a:extLst>
              <a:ext uri="{FF2B5EF4-FFF2-40B4-BE49-F238E27FC236}">
                <a16:creationId xmlns:a16="http://schemas.microsoft.com/office/drawing/2014/main" id="{4BACA8D5-C67A-ED36-8BF1-485E1F638A2E}"/>
              </a:ext>
            </a:extLst>
          </p:cNvPr>
          <p:cNvPicPr>
            <a:picLocks noChangeAspect="1"/>
          </p:cNvPicPr>
          <p:nvPr/>
        </p:nvPicPr>
        <p:blipFill>
          <a:blip r:embed="rId3"/>
          <a:stretch>
            <a:fillRect/>
          </a:stretch>
        </p:blipFill>
        <p:spPr>
          <a:xfrm>
            <a:off x="12836408" y="3797106"/>
            <a:ext cx="763378" cy="807934"/>
          </a:xfrm>
          <a:prstGeom prst="rect">
            <a:avLst/>
          </a:prstGeom>
        </p:spPr>
      </p:pic>
      <p:pic>
        <p:nvPicPr>
          <p:cNvPr id="292" name="Image" descr="Image">
            <a:extLst>
              <a:ext uri="{FF2B5EF4-FFF2-40B4-BE49-F238E27FC236}">
                <a16:creationId xmlns:a16="http://schemas.microsoft.com/office/drawing/2014/main" id="{94D65301-9B96-2398-7701-987F3780883B}"/>
              </a:ext>
            </a:extLst>
          </p:cNvPr>
          <p:cNvPicPr>
            <a:picLocks noChangeAspect="1"/>
          </p:cNvPicPr>
          <p:nvPr/>
        </p:nvPicPr>
        <p:blipFill>
          <a:blip r:embed="rId4"/>
          <a:srcRect l="-68" r="568" b="27552"/>
          <a:stretch>
            <a:fillRect/>
          </a:stretch>
        </p:blipFill>
        <p:spPr>
          <a:xfrm>
            <a:off x="8378495" y="-676677"/>
            <a:ext cx="5570468" cy="2166253"/>
          </a:xfrm>
          <a:prstGeom prst="rect">
            <a:avLst/>
          </a:prstGeom>
          <a:ln w="12700">
            <a:miter lim="400000"/>
          </a:ln>
        </p:spPr>
      </p:pic>
      <p:sp>
        <p:nvSpPr>
          <p:cNvPr id="312" name="Line">
            <a:extLst>
              <a:ext uri="{FF2B5EF4-FFF2-40B4-BE49-F238E27FC236}">
                <a16:creationId xmlns:a16="http://schemas.microsoft.com/office/drawing/2014/main" id="{90DB967C-28BB-EC99-78D2-28470565DCD7}"/>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F24F3110-E9BF-E83C-88F4-10F4074E706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a:extLst>
              <a:ext uri="{FF2B5EF4-FFF2-40B4-BE49-F238E27FC236}">
                <a16:creationId xmlns:a16="http://schemas.microsoft.com/office/drawing/2014/main" id="{B19BB907-64F1-8672-2114-566C9243D238}"/>
              </a:ext>
            </a:extLst>
          </p:cNvPr>
          <p:cNvSpPr/>
          <p:nvPr/>
        </p:nvSpPr>
        <p:spPr>
          <a:xfrm>
            <a:off x="220479" y="2480214"/>
            <a:ext cx="4355409" cy="1450198"/>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19" name="Basics">
            <a:extLst>
              <a:ext uri="{FF2B5EF4-FFF2-40B4-BE49-F238E27FC236}">
                <a16:creationId xmlns:a16="http://schemas.microsoft.com/office/drawing/2014/main" id="{EB96D967-0F51-2FDD-4293-71799E89CEEC}"/>
              </a:ext>
            </a:extLst>
          </p:cNvPr>
          <p:cNvSpPr txBox="1"/>
          <p:nvPr/>
        </p:nvSpPr>
        <p:spPr>
          <a:xfrm>
            <a:off x="297901" y="2562901"/>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latin typeface="Source Sans Pro" panose="020B0503030403020204" pitchFamily="34" charset="0"/>
                <a:ea typeface="Source Sans Pro" panose="020B0503030403020204" pitchFamily="34" charset="0"/>
                <a:cs typeface="Arial" panose="020B0604020202020204" pitchFamily="34" charset="0"/>
              </a:rPr>
              <a:t>Project Config Setup</a:t>
            </a:r>
            <a:endParaRPr>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a:extLst>
              <a:ext uri="{FF2B5EF4-FFF2-40B4-BE49-F238E27FC236}">
                <a16:creationId xmlns:a16="http://schemas.microsoft.com/office/drawing/2014/main" id="{DEECA408-EDE9-DB46-80ED-E20085A4C205}"/>
              </a:ext>
            </a:extLst>
          </p:cNvPr>
          <p:cNvSpPr txBox="1"/>
          <p:nvPr/>
        </p:nvSpPr>
        <p:spPr>
          <a:xfrm>
            <a:off x="319410" y="2892812"/>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0" dirty="0">
                <a:cs typeface="Arial"/>
              </a:rPr>
              <a:t>The first part of running any vignette is setting up your project </a:t>
            </a:r>
            <a:r>
              <a:rPr lang="en-US" b="0">
                <a:cs typeface="Arial"/>
              </a:rPr>
              <a:t>configuration file (examples in /conf).</a:t>
            </a:r>
            <a:r>
              <a:rPr dirty="0">
                <a:cs typeface="Arial"/>
              </a:rPr>
              <a:t> </a:t>
            </a:r>
            <a:endParaRPr lang="en-US" dirty="0">
              <a:cs typeface="Arial"/>
            </a:endParaRPr>
          </a:p>
        </p:txBody>
      </p:sp>
      <p:sp>
        <p:nvSpPr>
          <p:cNvPr id="324" name="Cheatsheets make it easy for R users…">
            <a:extLst>
              <a:ext uri="{FF2B5EF4-FFF2-40B4-BE49-F238E27FC236}">
                <a16:creationId xmlns:a16="http://schemas.microsoft.com/office/drawing/2014/main" id="{263EBE19-A732-AD3A-999E-727716D3DF97}"/>
              </a:ext>
            </a:extLst>
          </p:cNvPr>
          <p:cNvSpPr txBox="1"/>
          <p:nvPr/>
        </p:nvSpPr>
        <p:spPr>
          <a:xfrm>
            <a:off x="312386" y="3284054"/>
            <a:ext cx="4122651" cy="602800"/>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a:cs typeface="Arial"/>
              </a:rPr>
              <a:t>mailing_list:     ...</a:t>
            </a:r>
          </a:p>
          <a:p>
            <a:pPr marL="171450" lvl="3" indent="-171450">
              <a:lnSpc>
                <a:spcPct val="90000"/>
              </a:lnSpc>
              <a:spcBef>
                <a:spcPts val="0"/>
              </a:spcBef>
              <a:buFont typeface="Arial" panose="020B0604020202020204" pitchFamily="34" charset="0"/>
              <a:buChar char="•"/>
              <a:defRPr>
                <a:solidFill>
                  <a:srgbClr val="000000"/>
                </a:solidFill>
              </a:defRPr>
            </a:pPr>
            <a:r>
              <a:rPr lang="en-US">
                <a:cs typeface="Arial"/>
              </a:rPr>
              <a:t>issue_tracker:     ...</a:t>
            </a:r>
          </a:p>
          <a:p>
            <a:pPr marL="171450"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a:extLst>
              <a:ext uri="{FF2B5EF4-FFF2-40B4-BE49-F238E27FC236}">
                <a16:creationId xmlns:a16="http://schemas.microsoft.com/office/drawing/2014/main" id="{6304369A-8388-2477-0B3D-468F616488A2}"/>
              </a:ext>
            </a:extLst>
          </p:cNvPr>
          <p:cNvSpPr txBox="1"/>
          <p:nvPr/>
        </p:nvSpPr>
        <p:spPr>
          <a:xfrm>
            <a:off x="260834" y="6468545"/>
            <a:ext cx="25519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Exec </a:t>
            </a:r>
            <a:r>
              <a:rPr lang="en-US" noProof="1">
                <a:cs typeface="Arial"/>
              </a:rPr>
              <a:t>Configuration</a:t>
            </a:r>
            <a:endParaRPr lang="en-US" noProof="1"/>
          </a:p>
        </p:txBody>
      </p:sp>
      <p:sp>
        <p:nvSpPr>
          <p:cNvPr id="334" name="Three Column Layout: : CHEAT SHEET">
            <a:extLst>
              <a:ext uri="{FF2B5EF4-FFF2-40B4-BE49-F238E27FC236}">
                <a16:creationId xmlns:a16="http://schemas.microsoft.com/office/drawing/2014/main" id="{F3570B2C-C799-4726-D77B-86F88452CFFA}"/>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err="1"/>
              <a:t>Kaiaulu</a:t>
            </a:r>
            <a:r>
              <a:rPr lang="en-US"/>
              <a:t> Executables</a:t>
            </a:r>
            <a:r>
              <a:t>: : </a:t>
            </a:r>
            <a:r>
              <a:rPr sz="3300">
                <a:latin typeface="Source Sans Pro Semibold"/>
                <a:ea typeface="Source Sans Pro Semibold"/>
                <a:cs typeface="Source Sans Pro Semibold"/>
                <a:sym typeface="Source Sans Pro Semibold"/>
              </a:rPr>
              <a:t>CHEAT SHEET</a:t>
            </a:r>
            <a:r>
              <a:t> </a:t>
            </a:r>
          </a:p>
        </p:txBody>
      </p:sp>
      <p:sp>
        <p:nvSpPr>
          <p:cNvPr id="382" name="Logistics">
            <a:extLst>
              <a:ext uri="{FF2B5EF4-FFF2-40B4-BE49-F238E27FC236}">
                <a16:creationId xmlns:a16="http://schemas.microsoft.com/office/drawing/2014/main" id="{E5FEBCCF-9882-0F58-9BEB-0B54D69733E5}"/>
              </a:ext>
            </a:extLst>
          </p:cNvPr>
          <p:cNvSpPr txBox="1"/>
          <p:nvPr/>
        </p:nvSpPr>
        <p:spPr>
          <a:xfrm>
            <a:off x="4681179" y="2700666"/>
            <a:ext cx="20935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Extraction</a:t>
            </a:r>
            <a:endParaRPr lang="en-US"/>
          </a:p>
        </p:txBody>
      </p:sp>
      <p:sp>
        <p:nvSpPr>
          <p:cNvPr id="384" name="Layout Suggestions">
            <a:extLst>
              <a:ext uri="{FF2B5EF4-FFF2-40B4-BE49-F238E27FC236}">
                <a16:creationId xmlns:a16="http://schemas.microsoft.com/office/drawing/2014/main" id="{C5A13D59-C1F5-6498-10D4-1FCE5A5E9DDB}"/>
              </a:ext>
            </a:extLst>
          </p:cNvPr>
          <p:cNvSpPr txBox="1"/>
          <p:nvPr/>
        </p:nvSpPr>
        <p:spPr>
          <a:xfrm>
            <a:off x="257982" y="1466006"/>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884D0C51-A776-CDA3-801C-4A5FDFD35E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50574A3A-9486-E791-A460-4300AEFA9DCB}"/>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kumimoji="0" lang="en-US" sz="1000" b="0" i="0" u="sng" strike="noStrike" cap="none" spc="0" normalizeH="0" baseline="0" dirty="0">
                <a:ln>
                  <a:noFill/>
                </a:ln>
                <a:solidFill>
                  <a:schemeClr val="tx1"/>
                </a:solidFill>
                <a:effectLst/>
                <a:uFillTx/>
                <a:latin typeface="Source Sans Pro"/>
                <a:ea typeface="Source Sans Pro"/>
                <a:cs typeface="Source Sans Pro"/>
                <a:sym typeface="Source Sans Pro"/>
              </a:rPr>
              <a:t>CC BY </a:t>
            </a:r>
            <a:r>
              <a:rPr lang="en-US" sz="1000" b="0" u="sng" dirty="0">
                <a:solidFill>
                  <a:schemeClr val="tx1"/>
                </a:solidFill>
              </a:rPr>
              <a:t>SA</a:t>
            </a:r>
            <a:r>
              <a:rPr lang="en-US" sz="1000" b="0" dirty="0">
                <a:solidFill>
                  <a:schemeClr val="tx1"/>
                </a:solidFill>
              </a:rPr>
              <a:t> Cohen Ruport,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noProof="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Updated: </a:t>
            </a:r>
            <a:r>
              <a:rPr lang="en-US" sz="1000" b="0" dirty="0">
                <a:solidFill>
                  <a:schemeClr val="tx1"/>
                </a:solidFill>
              </a:rPr>
              <a:t>2026-4</a:t>
            </a:r>
            <a:endParaRPr lang="en-US" sz="1000" b="0" i="0" u="none" strike="noStrike" cap="none" spc="0" normalizeH="0" baseline="0" dirty="0">
              <a:ln>
                <a:noFill/>
              </a:ln>
              <a:solidFill>
                <a:schemeClr val="tx1"/>
              </a:solidFill>
              <a:effectLst/>
              <a:uFillTx/>
              <a:latin typeface="Source Sans Pro"/>
              <a:ea typeface="Source Sans Pro"/>
              <a:cs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Group">
            <a:extLst>
              <a:ext uri="{FF2B5EF4-FFF2-40B4-BE49-F238E27FC236}">
                <a16:creationId xmlns:a16="http://schemas.microsoft.com/office/drawing/2014/main" id="{B202E9CE-0B04-4816-7176-8ECE71A5E8B1}"/>
              </a:ext>
            </a:extLst>
          </p:cNvPr>
          <p:cNvSpPr/>
          <p:nvPr/>
        </p:nvSpPr>
        <p:spPr>
          <a:xfrm>
            <a:off x="222735" y="5285299"/>
            <a:ext cx="4355706" cy="118521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5" name="Basics">
            <a:extLst>
              <a:ext uri="{FF2B5EF4-FFF2-40B4-BE49-F238E27FC236}">
                <a16:creationId xmlns:a16="http://schemas.microsoft.com/office/drawing/2014/main" id="{B1CF2957-0573-6CF5-3A09-21F9E55BFFBE}"/>
              </a:ext>
            </a:extLst>
          </p:cNvPr>
          <p:cNvSpPr txBox="1"/>
          <p:nvPr/>
        </p:nvSpPr>
        <p:spPr>
          <a:xfrm>
            <a:off x="347617" y="5334634"/>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Tools Config Setup</a:t>
            </a:r>
            <a:endParaRPr/>
          </a:p>
        </p:txBody>
      </p:sp>
      <p:sp>
        <p:nvSpPr>
          <p:cNvPr id="13" name="Cheatsheets make it easy for R users…">
            <a:extLst>
              <a:ext uri="{FF2B5EF4-FFF2-40B4-BE49-F238E27FC236}">
                <a16:creationId xmlns:a16="http://schemas.microsoft.com/office/drawing/2014/main" id="{FB4C4855-9DD3-9869-63F2-F99109CD9F2C}"/>
              </a:ext>
            </a:extLst>
          </p:cNvPr>
          <p:cNvSpPr txBox="1"/>
          <p:nvPr/>
        </p:nvSpPr>
        <p:spPr>
          <a:xfrm>
            <a:off x="339098" y="5930519"/>
            <a:ext cx="4105332" cy="432239"/>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nchor="t"/>
          <a:lstStyle/>
          <a:p>
            <a:pPr algn="ctr">
              <a:lnSpc>
                <a:spcPct val="90000"/>
              </a:lnSpc>
              <a:spcBef>
                <a:spcPts val="0"/>
              </a:spcBef>
              <a:defRPr>
                <a:solidFill>
                  <a:srgbClr val="000000"/>
                </a:solidFill>
              </a:defRPr>
            </a:pPr>
            <a:r>
              <a:rPr lang="en-US" sz="140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a:cs typeface="Arial"/>
              </a:rPr>
              <a:t>perceval</a:t>
            </a:r>
            <a:r>
              <a:rPr lang="en-US">
                <a:cs typeface="Arial"/>
              </a:rPr>
              <a:t>:     ...</a:t>
            </a:r>
          </a:p>
          <a:p>
            <a:pPr marL="171450" lvl="1" indent="-171450">
              <a:lnSpc>
                <a:spcPct val="90000"/>
              </a:lnSpc>
              <a:spcBef>
                <a:spcPts val="0"/>
              </a:spcBef>
              <a:buFont typeface="Arial" panose="020B0604020202020204" pitchFamily="34" charset="0"/>
              <a:buChar char="•"/>
              <a:defRPr>
                <a:solidFill>
                  <a:srgbClr val="000000"/>
                </a:solidFill>
              </a:defRPr>
            </a:pPr>
            <a:endParaRPr lang="en-US">
              <a:latin typeface="Source Sans Pro" panose="020B0503030403020204" pitchFamily="34" charset="0"/>
              <a:ea typeface="Source Sans Pro" panose="020B0503030403020204" pitchFamily="34" charset="0"/>
              <a:cs typeface="Arial" panose="020B0604020202020204" pitchFamily="34" charset="0"/>
            </a:endParaRPr>
          </a:p>
        </p:txBody>
      </p:sp>
      <p:pic>
        <p:nvPicPr>
          <p:cNvPr id="10" name="table">
            <a:extLst>
              <a:ext uri="{FF2B5EF4-FFF2-40B4-BE49-F238E27FC236}">
                <a16:creationId xmlns:a16="http://schemas.microsoft.com/office/drawing/2014/main" id="{46C0D462-FA5F-5B00-85AF-564DDE9FBF87}"/>
              </a:ext>
            </a:extLst>
          </p:cNvPr>
          <p:cNvPicPr>
            <a:picLocks noChangeAspect="1"/>
          </p:cNvPicPr>
          <p:nvPr/>
        </p:nvPicPr>
        <p:blipFill>
          <a:blip r:embed="rId6"/>
          <a:stretch>
            <a:fillRect/>
          </a:stretch>
        </p:blipFill>
        <p:spPr>
          <a:xfrm>
            <a:off x="11535616" y="5061164"/>
            <a:ext cx="631402" cy="675209"/>
          </a:xfrm>
          <a:prstGeom prst="rect">
            <a:avLst/>
          </a:prstGeom>
        </p:spPr>
      </p:pic>
      <p:sp>
        <p:nvSpPr>
          <p:cNvPr id="4" name="Use headers, colors, and/or backgrounds to separate or group together sections.">
            <a:extLst>
              <a:ext uri="{FF2B5EF4-FFF2-40B4-BE49-F238E27FC236}">
                <a16:creationId xmlns:a16="http://schemas.microsoft.com/office/drawing/2014/main" id="{B3B35B90-2D1B-7F4A-1761-E89E284437FD}"/>
              </a:ext>
            </a:extLst>
          </p:cNvPr>
          <p:cNvSpPr txBox="1"/>
          <p:nvPr/>
        </p:nvSpPr>
        <p:spPr>
          <a:xfrm>
            <a:off x="328655" y="5646170"/>
            <a:ext cx="4369511"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buSzPts val="3700"/>
            </a:pPr>
            <a:r>
              <a:rPr lang="en-US" b="0" dirty="0">
                <a:solidFill>
                  <a:srgbClr val="000000"/>
                </a:solidFill>
                <a:cs typeface="Arial"/>
              </a:rPr>
              <a:t>The required external tools must be specified in </a:t>
            </a:r>
            <a:r>
              <a:rPr lang="en-US" b="0" dirty="0" err="1">
                <a:solidFill>
                  <a:srgbClr val="000000"/>
                </a:solidFill>
                <a:cs typeface="Arial"/>
              </a:rPr>
              <a:t>tools.yml</a:t>
            </a:r>
            <a:r>
              <a:rPr lang="en-US" b="0" dirty="0">
                <a:solidFill>
                  <a:srgbClr val="000000"/>
                </a:solidFill>
                <a:cs typeface="Arial"/>
              </a:rPr>
              <a:t>.</a:t>
            </a:r>
            <a:endParaRPr lang="en-US" b="0" u="sng" dirty="0">
              <a:solidFill>
                <a:srgbClr val="000000"/>
              </a:solidFill>
              <a:cs typeface="Arial"/>
            </a:endParaRPr>
          </a:p>
        </p:txBody>
      </p:sp>
      <p:pic>
        <p:nvPicPr>
          <p:cNvPr id="17" name="Picture 16">
            <a:extLst>
              <a:ext uri="{FF2B5EF4-FFF2-40B4-BE49-F238E27FC236}">
                <a16:creationId xmlns:a16="http://schemas.microsoft.com/office/drawing/2014/main" id="{9FD0F218-4E68-F311-10AA-B6404ECFE030}"/>
              </a:ext>
            </a:extLst>
          </p:cNvPr>
          <p:cNvPicPr>
            <a:picLocks noChangeAspect="1"/>
          </p:cNvPicPr>
          <p:nvPr/>
        </p:nvPicPr>
        <p:blipFill>
          <a:blip r:embed="rId7"/>
          <a:stretch>
            <a:fillRect/>
          </a:stretch>
        </p:blipFill>
        <p:spPr>
          <a:xfrm>
            <a:off x="11550620" y="2749374"/>
            <a:ext cx="546328" cy="546436"/>
          </a:xfrm>
          <a:prstGeom prst="rect">
            <a:avLst/>
          </a:prstGeom>
        </p:spPr>
      </p:pic>
      <p:pic>
        <p:nvPicPr>
          <p:cNvPr id="23" name="Picture 22">
            <a:extLst>
              <a:ext uri="{FF2B5EF4-FFF2-40B4-BE49-F238E27FC236}">
                <a16:creationId xmlns:a16="http://schemas.microsoft.com/office/drawing/2014/main" id="{6E529211-1B04-630F-1012-B8D154FFB622}"/>
              </a:ext>
            </a:extLst>
          </p:cNvPr>
          <p:cNvPicPr>
            <a:picLocks noChangeAspect="1"/>
          </p:cNvPicPr>
          <p:nvPr/>
        </p:nvPicPr>
        <p:blipFill>
          <a:blip r:embed="rId8"/>
          <a:stretch>
            <a:fillRect/>
          </a:stretch>
        </p:blipFill>
        <p:spPr>
          <a:xfrm>
            <a:off x="9398319" y="4743260"/>
            <a:ext cx="544372" cy="486505"/>
          </a:xfrm>
          <a:prstGeom prst="rect">
            <a:avLst/>
          </a:prstGeom>
        </p:spPr>
      </p:pic>
      <p:pic>
        <p:nvPicPr>
          <p:cNvPr id="24" name="Picture 23">
            <a:extLst>
              <a:ext uri="{FF2B5EF4-FFF2-40B4-BE49-F238E27FC236}">
                <a16:creationId xmlns:a16="http://schemas.microsoft.com/office/drawing/2014/main" id="{40D85F67-A19C-B2B6-EC29-D417F7FF7EBE}"/>
              </a:ext>
            </a:extLst>
          </p:cNvPr>
          <p:cNvPicPr>
            <a:picLocks noChangeAspect="1"/>
          </p:cNvPicPr>
          <p:nvPr/>
        </p:nvPicPr>
        <p:blipFill>
          <a:blip r:embed="rId9"/>
          <a:stretch>
            <a:fillRect/>
          </a:stretch>
        </p:blipFill>
        <p:spPr>
          <a:xfrm>
            <a:off x="9543024" y="4118620"/>
            <a:ext cx="742783" cy="609600"/>
          </a:xfrm>
          <a:prstGeom prst="rect">
            <a:avLst/>
          </a:prstGeom>
        </p:spPr>
      </p:pic>
      <p:pic>
        <p:nvPicPr>
          <p:cNvPr id="25" name="Picture 24">
            <a:extLst>
              <a:ext uri="{FF2B5EF4-FFF2-40B4-BE49-F238E27FC236}">
                <a16:creationId xmlns:a16="http://schemas.microsoft.com/office/drawing/2014/main" id="{22FE55FB-240E-B0BC-3534-62252EA2957A}"/>
              </a:ext>
            </a:extLst>
          </p:cNvPr>
          <p:cNvPicPr>
            <a:picLocks noChangeAspect="1"/>
          </p:cNvPicPr>
          <p:nvPr/>
        </p:nvPicPr>
        <p:blipFill>
          <a:blip r:embed="rId10"/>
          <a:stretch>
            <a:fillRect/>
          </a:stretch>
        </p:blipFill>
        <p:spPr>
          <a:xfrm>
            <a:off x="12021419" y="3235853"/>
            <a:ext cx="372044" cy="354363"/>
          </a:xfrm>
          <a:prstGeom prst="rect">
            <a:avLst/>
          </a:prstGeom>
        </p:spPr>
      </p:pic>
      <p:pic>
        <p:nvPicPr>
          <p:cNvPr id="38" name="Picture 37">
            <a:extLst>
              <a:ext uri="{FF2B5EF4-FFF2-40B4-BE49-F238E27FC236}">
                <a16:creationId xmlns:a16="http://schemas.microsoft.com/office/drawing/2014/main" id="{5919BFFF-C518-40F6-38F0-7E25C0A000E1}"/>
              </a:ext>
            </a:extLst>
          </p:cNvPr>
          <p:cNvPicPr>
            <a:picLocks noChangeAspect="1"/>
          </p:cNvPicPr>
          <p:nvPr/>
        </p:nvPicPr>
        <p:blipFill>
          <a:blip r:embed="rId9"/>
          <a:stretch>
            <a:fillRect/>
          </a:stretch>
        </p:blipFill>
        <p:spPr>
          <a:xfrm rot="10800000">
            <a:off x="9913619" y="4435494"/>
            <a:ext cx="742783" cy="609600"/>
          </a:xfrm>
          <a:prstGeom prst="rect">
            <a:avLst/>
          </a:prstGeom>
        </p:spPr>
      </p:pic>
      <p:pic>
        <p:nvPicPr>
          <p:cNvPr id="39" name="Picture 38">
            <a:extLst>
              <a:ext uri="{FF2B5EF4-FFF2-40B4-BE49-F238E27FC236}">
                <a16:creationId xmlns:a16="http://schemas.microsoft.com/office/drawing/2014/main" id="{D8ECF58A-A7B1-DAEE-8659-A0745DF74506}"/>
              </a:ext>
            </a:extLst>
          </p:cNvPr>
          <p:cNvPicPr>
            <a:picLocks noChangeAspect="1"/>
          </p:cNvPicPr>
          <p:nvPr/>
        </p:nvPicPr>
        <p:blipFill>
          <a:blip r:embed="rId11"/>
          <a:stretch>
            <a:fillRect/>
          </a:stretch>
        </p:blipFill>
        <p:spPr>
          <a:xfrm>
            <a:off x="10892178" y="4118426"/>
            <a:ext cx="560207" cy="171450"/>
          </a:xfrm>
          <a:prstGeom prst="rect">
            <a:avLst/>
          </a:prstGeom>
        </p:spPr>
      </p:pic>
      <p:pic>
        <p:nvPicPr>
          <p:cNvPr id="40" name="Picture 39">
            <a:extLst>
              <a:ext uri="{FF2B5EF4-FFF2-40B4-BE49-F238E27FC236}">
                <a16:creationId xmlns:a16="http://schemas.microsoft.com/office/drawing/2014/main" id="{5A12496A-BE90-B9FF-D576-1BDD8D2B718B}"/>
              </a:ext>
            </a:extLst>
          </p:cNvPr>
          <p:cNvPicPr>
            <a:picLocks noChangeAspect="1"/>
          </p:cNvPicPr>
          <p:nvPr/>
        </p:nvPicPr>
        <p:blipFill>
          <a:blip r:embed="rId11"/>
          <a:stretch>
            <a:fillRect/>
          </a:stretch>
        </p:blipFill>
        <p:spPr>
          <a:xfrm rot="10800000">
            <a:off x="12257860" y="4121569"/>
            <a:ext cx="571524" cy="171450"/>
          </a:xfrm>
          <a:prstGeom prst="rect">
            <a:avLst/>
          </a:prstGeom>
        </p:spPr>
      </p:pic>
      <p:pic>
        <p:nvPicPr>
          <p:cNvPr id="41" name="Picture 40">
            <a:extLst>
              <a:ext uri="{FF2B5EF4-FFF2-40B4-BE49-F238E27FC236}">
                <a16:creationId xmlns:a16="http://schemas.microsoft.com/office/drawing/2014/main" id="{927CE544-C5DF-F5EC-AF3F-ADF27F94721D}"/>
              </a:ext>
            </a:extLst>
          </p:cNvPr>
          <p:cNvPicPr>
            <a:picLocks noChangeAspect="1"/>
          </p:cNvPicPr>
          <p:nvPr/>
        </p:nvPicPr>
        <p:blipFill>
          <a:blip r:embed="rId11"/>
          <a:stretch>
            <a:fillRect/>
          </a:stretch>
        </p:blipFill>
        <p:spPr>
          <a:xfrm rot="5400000">
            <a:off x="11535414" y="3476923"/>
            <a:ext cx="571524" cy="171450"/>
          </a:xfrm>
          <a:prstGeom prst="rect">
            <a:avLst/>
          </a:prstGeom>
        </p:spPr>
      </p:pic>
      <p:sp>
        <p:nvSpPr>
          <p:cNvPr id="42" name="TextBox 41">
            <a:extLst>
              <a:ext uri="{FF2B5EF4-FFF2-40B4-BE49-F238E27FC236}">
                <a16:creationId xmlns:a16="http://schemas.microsoft.com/office/drawing/2014/main" id="{A1A8FC4A-429A-CFCF-2A79-3A224888C32E}"/>
              </a:ext>
            </a:extLst>
          </p:cNvPr>
          <p:cNvSpPr txBox="1"/>
          <p:nvPr/>
        </p:nvSpPr>
        <p:spPr>
          <a:xfrm>
            <a:off x="9686582" y="4287218"/>
            <a:ext cx="978963"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Project Activity</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49" name="TextBox 48">
            <a:extLst>
              <a:ext uri="{FF2B5EF4-FFF2-40B4-BE49-F238E27FC236}">
                <a16:creationId xmlns:a16="http://schemas.microsoft.com/office/drawing/2014/main" id="{7AFF4256-148A-38E9-57B8-39E679D30480}"/>
              </a:ext>
            </a:extLst>
          </p:cNvPr>
          <p:cNvSpPr txBox="1"/>
          <p:nvPr/>
        </p:nvSpPr>
        <p:spPr>
          <a:xfrm>
            <a:off x="12978381" y="4033696"/>
            <a:ext cx="58081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/conf</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pic>
        <p:nvPicPr>
          <p:cNvPr id="50" name="Picture 49">
            <a:extLst>
              <a:ext uri="{FF2B5EF4-FFF2-40B4-BE49-F238E27FC236}">
                <a16:creationId xmlns:a16="http://schemas.microsoft.com/office/drawing/2014/main" id="{54BCF959-AC25-5217-242A-F5D1E73AF99A}"/>
              </a:ext>
            </a:extLst>
          </p:cNvPr>
          <p:cNvPicPr>
            <a:picLocks noChangeAspect="1"/>
          </p:cNvPicPr>
          <p:nvPr/>
        </p:nvPicPr>
        <p:blipFill>
          <a:blip r:embed="rId11"/>
          <a:stretch>
            <a:fillRect/>
          </a:stretch>
        </p:blipFill>
        <p:spPr>
          <a:xfrm rot="5400000">
            <a:off x="11540938" y="4650191"/>
            <a:ext cx="571524" cy="171450"/>
          </a:xfrm>
          <a:prstGeom prst="rect">
            <a:avLst/>
          </a:prstGeom>
        </p:spPr>
      </p:pic>
      <p:sp>
        <p:nvSpPr>
          <p:cNvPr id="51" name="TextBox 50">
            <a:extLst>
              <a:ext uri="{FF2B5EF4-FFF2-40B4-BE49-F238E27FC236}">
                <a16:creationId xmlns:a16="http://schemas.microsoft.com/office/drawing/2014/main" id="{47843AB2-686F-0FC8-1245-59C10777B3E6}"/>
              </a:ext>
            </a:extLst>
          </p:cNvPr>
          <p:cNvSpPr txBox="1"/>
          <p:nvPr/>
        </p:nvSpPr>
        <p:spPr>
          <a:xfrm>
            <a:off x="10292164" y="4045603"/>
            <a:ext cx="73753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2" name="TextBox 51">
            <a:extLst>
              <a:ext uri="{FF2B5EF4-FFF2-40B4-BE49-F238E27FC236}">
                <a16:creationId xmlns:a16="http://schemas.microsoft.com/office/drawing/2014/main" id="{D878419A-AB16-D9D8-D8AC-41F1914690BA}"/>
              </a:ext>
            </a:extLst>
          </p:cNvPr>
          <p:cNvSpPr txBox="1"/>
          <p:nvPr/>
        </p:nvSpPr>
        <p:spPr>
          <a:xfrm>
            <a:off x="12351538" y="3238315"/>
            <a:ext cx="83494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60 mins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3" name="TextBox 52">
            <a:extLst>
              <a:ext uri="{FF2B5EF4-FFF2-40B4-BE49-F238E27FC236}">
                <a16:creationId xmlns:a16="http://schemas.microsoft.com/office/drawing/2014/main" id="{1F7FF6C1-4AFE-1E7D-83B6-1D98BD6B85F8}"/>
              </a:ext>
            </a:extLst>
          </p:cNvPr>
          <p:cNvSpPr txBox="1"/>
          <p:nvPr/>
        </p:nvSpPr>
        <p:spPr>
          <a:xfrm>
            <a:off x="11400376" y="5684094"/>
            <a:ext cx="12802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Data Tables</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54" name="Manipulate Variables">
            <a:extLst>
              <a:ext uri="{FF2B5EF4-FFF2-40B4-BE49-F238E27FC236}">
                <a16:creationId xmlns:a16="http://schemas.microsoft.com/office/drawing/2014/main" id="{1A6BD873-269A-641F-B977-74DBE13067B9}"/>
              </a:ext>
            </a:extLst>
          </p:cNvPr>
          <p:cNvSpPr txBox="1"/>
          <p:nvPr/>
        </p:nvSpPr>
        <p:spPr>
          <a:xfrm>
            <a:off x="9473435" y="1463040"/>
            <a:ext cx="292548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cs typeface="Arial"/>
              </a:rPr>
              <a:t>Server Side Execution</a:t>
            </a:r>
            <a:endParaRPr lang="en-US" dirty="0"/>
          </a:p>
        </p:txBody>
      </p:sp>
      <p:sp>
        <p:nvSpPr>
          <p:cNvPr id="30" name="TextBox 29">
            <a:extLst>
              <a:ext uri="{FF2B5EF4-FFF2-40B4-BE49-F238E27FC236}">
                <a16:creationId xmlns:a16="http://schemas.microsoft.com/office/drawing/2014/main" id="{486DD16B-0700-95E2-E792-6413A839A84A}"/>
              </a:ext>
            </a:extLst>
          </p:cNvPr>
          <p:cNvSpPr txBox="1"/>
          <p:nvPr/>
        </p:nvSpPr>
        <p:spPr>
          <a:xfrm>
            <a:off x="4827038" y="4268998"/>
            <a:ext cx="1651798"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a:t>Sailuh/kaiaulu</a:t>
            </a:r>
            <a:endParaRPr lang="en-US" sz="1800" b="1" i="0" u="none" strike="noStrike" cap="none" spc="0" normalizeH="0" baseline="0">
              <a:ln>
                <a:noFill/>
              </a:ln>
              <a:solidFill>
                <a:srgbClr val="4C4C4C"/>
              </a:solidFill>
              <a:effectLst/>
              <a:uFillTx/>
              <a:latin typeface="Source Sans Pro"/>
              <a:ea typeface="Source Sans Pro"/>
              <a:cs typeface="Source Sans Pro"/>
            </a:endParaRPr>
          </a:p>
        </p:txBody>
      </p:sp>
      <p:sp>
        <p:nvSpPr>
          <p:cNvPr id="261" name="TextBox 260">
            <a:extLst>
              <a:ext uri="{FF2B5EF4-FFF2-40B4-BE49-F238E27FC236}">
                <a16:creationId xmlns:a16="http://schemas.microsoft.com/office/drawing/2014/main" id="{260F14F5-E0F7-3F14-3D35-B84C9395AFC9}"/>
              </a:ext>
            </a:extLst>
          </p:cNvPr>
          <p:cNvSpPr txBox="1"/>
          <p:nvPr/>
        </p:nvSpPr>
        <p:spPr>
          <a:xfrm>
            <a:off x="5129309" y="8493411"/>
            <a:ext cx="1532391"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Sailuh/kaiaulu_react</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4" name="TextBox 263">
            <a:extLst>
              <a:ext uri="{FF2B5EF4-FFF2-40B4-BE49-F238E27FC236}">
                <a16:creationId xmlns:a16="http://schemas.microsoft.com/office/drawing/2014/main" id="{C396C345-A0F2-19C8-D039-72852C53F4FE}"/>
              </a:ext>
            </a:extLst>
          </p:cNvPr>
          <p:cNvSpPr txBox="1"/>
          <p:nvPr/>
        </p:nvSpPr>
        <p:spPr>
          <a:xfrm>
            <a:off x="7559088" y="7949626"/>
            <a:ext cx="1755156"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Sailuh/process_mining</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65" name="TextBox 264">
            <a:extLst>
              <a:ext uri="{FF2B5EF4-FFF2-40B4-BE49-F238E27FC236}">
                <a16:creationId xmlns:a16="http://schemas.microsoft.com/office/drawing/2014/main" id="{ADE6DCB3-F363-12F2-8346-DFEE4647659C}"/>
              </a:ext>
            </a:extLst>
          </p:cNvPr>
          <p:cNvSpPr txBox="1"/>
          <p:nvPr/>
        </p:nvSpPr>
        <p:spPr>
          <a:xfrm>
            <a:off x="6913055" y="8514433"/>
            <a:ext cx="198854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Sailuh/sentiment_classifier</a:t>
            </a:r>
          </a:p>
        </p:txBody>
      </p:sp>
      <p:sp>
        <p:nvSpPr>
          <p:cNvPr id="272" name="TextBox 271">
            <a:extLst>
              <a:ext uri="{FF2B5EF4-FFF2-40B4-BE49-F238E27FC236}">
                <a16:creationId xmlns:a16="http://schemas.microsoft.com/office/drawing/2014/main" id="{1380A8AB-2A2A-A2D9-F622-FA904830F0D7}"/>
              </a:ext>
            </a:extLst>
          </p:cNvPr>
          <p:cNvSpPr txBox="1"/>
          <p:nvPr/>
        </p:nvSpPr>
        <p:spPr>
          <a:xfrm>
            <a:off x="6237179" y="9393013"/>
            <a:ext cx="22704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t>Other Tools</a:t>
            </a:r>
            <a:endParaRPr lang="en-US" b="1" i="0" u="none" strike="noStrike" cap="none" spc="0" normalizeH="0" baseline="0">
              <a:ln>
                <a:noFill/>
              </a:ln>
              <a:solidFill>
                <a:srgbClr val="4C4C4C"/>
              </a:solidFill>
              <a:effectLst/>
              <a:uFillTx/>
              <a:latin typeface="Source Sans Pro"/>
              <a:ea typeface="Source Sans Pro"/>
              <a:cs typeface="Source Sans Pro"/>
            </a:endParaRPr>
          </a:p>
        </p:txBody>
      </p:sp>
      <p:sp>
        <p:nvSpPr>
          <p:cNvPr id="273" name="TextBox 272">
            <a:extLst>
              <a:ext uri="{FF2B5EF4-FFF2-40B4-BE49-F238E27FC236}">
                <a16:creationId xmlns:a16="http://schemas.microsoft.com/office/drawing/2014/main" id="{B735E371-2466-8F54-B9C9-B71063989AFF}"/>
              </a:ext>
            </a:extLst>
          </p:cNvPr>
          <p:cNvSpPr txBox="1"/>
          <p:nvPr/>
        </p:nvSpPr>
        <p:spPr>
          <a:xfrm>
            <a:off x="222484" y="1742785"/>
            <a:ext cx="4352283"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cs typeface="Helvetica"/>
              </a:rPr>
              <a:t>Executables provide access to </a:t>
            </a:r>
            <a:r>
              <a:rPr lang="en-US" b="0" dirty="0" err="1">
                <a:solidFill>
                  <a:srgbClr val="000000"/>
                </a:solidFill>
                <a:cs typeface="Helvetica"/>
              </a:rPr>
              <a:t>Kaiaulu's</a:t>
            </a:r>
            <a:r>
              <a:rPr lang="en-US" b="0" dirty="0">
                <a:solidFill>
                  <a:srgbClr val="000000"/>
                </a:solidFill>
                <a:cs typeface="Helvetica"/>
              </a:rPr>
              <a:t> functions through a command line interface. This allows other tools to build on </a:t>
            </a:r>
            <a:r>
              <a:rPr lang="en-US" b="0" dirty="0" err="1">
                <a:solidFill>
                  <a:srgbClr val="000000"/>
                </a:solidFill>
                <a:cs typeface="Helvetica"/>
              </a:rPr>
              <a:t>Kaiaulu</a:t>
            </a:r>
            <a:r>
              <a:rPr lang="en-US" b="0" dirty="0">
                <a:solidFill>
                  <a:srgbClr val="000000"/>
                </a:solidFill>
                <a:cs typeface="Helvetica"/>
              </a:rPr>
              <a:t> capabilities or use it server-side.</a:t>
            </a:r>
            <a:endParaRPr lang="en-US" b="0" i="0" u="none" strike="noStrike" cap="none" spc="0" normalizeH="0" baseline="0" dirty="0">
              <a:ln>
                <a:noFill/>
              </a:ln>
              <a:solidFill>
                <a:srgbClr val="000000"/>
              </a:solidFill>
              <a:effectLst/>
              <a:uFillTx/>
              <a:cs typeface="Helvetica"/>
            </a:endParaRPr>
          </a:p>
        </p:txBody>
      </p:sp>
      <p:sp>
        <p:nvSpPr>
          <p:cNvPr id="274" name="TextBox 273">
            <a:extLst>
              <a:ext uri="{FF2B5EF4-FFF2-40B4-BE49-F238E27FC236}">
                <a16:creationId xmlns:a16="http://schemas.microsoft.com/office/drawing/2014/main" id="{E5377576-1D2F-9E84-EAEF-B991E7F34771}"/>
              </a:ext>
            </a:extLst>
          </p:cNvPr>
          <p:cNvSpPr txBox="1"/>
          <p:nvPr/>
        </p:nvSpPr>
        <p:spPr>
          <a:xfrm>
            <a:off x="9473688" y="1774363"/>
            <a:ext cx="3717165" cy="1059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cs typeface="Helvetica"/>
              </a:rPr>
              <a:t>Cron jobs can be used to call executable download scripts every x minutes (E.g., 60 minutes) using the refresher API. This can be combined to the </a:t>
            </a:r>
            <a:r>
              <a:rPr lang="en-US" b="0" dirty="0" err="1">
                <a:solidFill>
                  <a:srgbClr val="000000"/>
                </a:solidFill>
                <a:cs typeface="Helvetica"/>
              </a:rPr>
              <a:t>sailuh</a:t>
            </a:r>
            <a:r>
              <a:rPr lang="en-US" b="0" dirty="0">
                <a:solidFill>
                  <a:srgbClr val="000000"/>
                </a:solidFill>
                <a:cs typeface="Helvetica"/>
              </a:rPr>
              <a:t>/</a:t>
            </a:r>
            <a:r>
              <a:rPr lang="en-US" b="0" dirty="0" err="1">
                <a:solidFill>
                  <a:srgbClr val="000000"/>
                </a:solidFill>
                <a:cs typeface="Helvetica"/>
              </a:rPr>
              <a:t>kaiaulu_react</a:t>
            </a:r>
            <a:r>
              <a:rPr lang="en-US" b="0" dirty="0">
                <a:solidFill>
                  <a:srgbClr val="000000"/>
                </a:solidFill>
                <a:cs typeface="Helvetica"/>
              </a:rPr>
              <a:t> to monitor project health or create data warehouses.</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5" name="TextBox 274">
            <a:extLst>
              <a:ext uri="{FF2B5EF4-FFF2-40B4-BE49-F238E27FC236}">
                <a16:creationId xmlns:a16="http://schemas.microsoft.com/office/drawing/2014/main" id="{B2918E18-1386-4D0B-C784-CF28313515FC}"/>
              </a:ext>
            </a:extLst>
          </p:cNvPr>
          <p:cNvSpPr txBox="1"/>
          <p:nvPr/>
        </p:nvSpPr>
        <p:spPr>
          <a:xfrm>
            <a:off x="4663205" y="3031185"/>
            <a:ext cx="4541719"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noProof="1">
                <a:solidFill>
                  <a:srgbClr val="000000"/>
                </a:solidFill>
                <a:cs typeface="Helvetica"/>
              </a:rPr>
              <a:t>Sailuh tools in tools.yml rely on kaiaulu executables to download and refresh data. Kaiaulu executables also expose capabilities to other tools outside of the sailuh ecosystem.</a:t>
            </a:r>
          </a:p>
        </p:txBody>
      </p:sp>
      <p:sp>
        <p:nvSpPr>
          <p:cNvPr id="298" name="TextBox 297">
            <a:extLst>
              <a:ext uri="{FF2B5EF4-FFF2-40B4-BE49-F238E27FC236}">
                <a16:creationId xmlns:a16="http://schemas.microsoft.com/office/drawing/2014/main" id="{359229B8-4E95-2569-F6C2-B8900AE90033}"/>
              </a:ext>
            </a:extLst>
          </p:cNvPr>
          <p:cNvSpPr txBox="1"/>
          <p:nvPr/>
        </p:nvSpPr>
        <p:spPr>
          <a:xfrm>
            <a:off x="261884" y="6791866"/>
            <a:ext cx="4311670" cy="9001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rPr>
              <a:t>Executables require configuration files to find information about the project, analysis parameters and tools needed. The project and analysis config are also used by notebooks in </a:t>
            </a:r>
            <a:r>
              <a:rPr lang="en-US" b="0" noProof="1">
                <a:solidFill>
                  <a:srgbClr val="000000"/>
                </a:solidFill>
              </a:rPr>
              <a:t>Kaiaulu</a:t>
            </a:r>
            <a:r>
              <a:rPr lang="en-US" b="0" dirty="0">
                <a:solidFill>
                  <a:srgbClr val="000000"/>
                </a:solidFill>
              </a:rPr>
              <a:t>.</a:t>
            </a:r>
            <a:endParaRPr lang="en-US" dirty="0">
              <a:solidFill>
                <a:srgbClr val="000000"/>
              </a:solidFill>
            </a:endParaRPr>
          </a:p>
          <a:p>
            <a:pPr marL="0" marR="0" indent="0" algn="l" defTabSz="584200" rtl="0" fontAlgn="auto" latinLnBrk="0" hangingPunct="0">
              <a:lnSpc>
                <a:spcPct val="100000"/>
              </a:lnSpc>
              <a:spcBef>
                <a:spcPts val="200"/>
              </a:spcBef>
              <a:spcAft>
                <a:spcPts val="0"/>
              </a:spcAft>
              <a:buClrTx/>
              <a:buSzTx/>
              <a:buFontTx/>
              <a:buNone/>
              <a:tabLst/>
            </a:pPr>
            <a:endParaRPr lang="en-US" sz="1200" b="1" i="0" u="none" strike="noStrike" cap="none" spc="0" normalizeH="0" baseline="0" dirty="0">
              <a:ln>
                <a:noFill/>
              </a:ln>
              <a:solidFill>
                <a:srgbClr val="000000"/>
              </a:solidFill>
              <a:effectLst/>
              <a:uFillTx/>
              <a:latin typeface="Source Sans Pro"/>
              <a:ea typeface="Source Sans Pro"/>
              <a:cs typeface="Source Sans Pro"/>
            </a:endParaRPr>
          </a:p>
        </p:txBody>
      </p:sp>
      <p:sp>
        <p:nvSpPr>
          <p:cNvPr id="9" name="Group">
            <a:extLst>
              <a:ext uri="{FF2B5EF4-FFF2-40B4-BE49-F238E27FC236}">
                <a16:creationId xmlns:a16="http://schemas.microsoft.com/office/drawing/2014/main" id="{BBAA5F44-4B8F-3B15-D36C-65E0F0516B40}"/>
              </a:ext>
            </a:extLst>
          </p:cNvPr>
          <p:cNvSpPr/>
          <p:nvPr/>
        </p:nvSpPr>
        <p:spPr>
          <a:xfrm>
            <a:off x="219985" y="3943057"/>
            <a:ext cx="4358600" cy="132623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11" name="Basics">
            <a:extLst>
              <a:ext uri="{FF2B5EF4-FFF2-40B4-BE49-F238E27FC236}">
                <a16:creationId xmlns:a16="http://schemas.microsoft.com/office/drawing/2014/main" id="{5DCBE908-BD3F-99FD-E05F-32FA7C3C6C0C}"/>
              </a:ext>
            </a:extLst>
          </p:cNvPr>
          <p:cNvSpPr txBox="1"/>
          <p:nvPr/>
        </p:nvSpPr>
        <p:spPr>
          <a:xfrm>
            <a:off x="297334" y="4013712"/>
            <a:ext cx="364653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Analysis Config Setup</a:t>
            </a:r>
            <a:endParaRPr>
              <a:cs typeface="Arial"/>
            </a:endParaRPr>
          </a:p>
        </p:txBody>
      </p:sp>
      <p:sp>
        <p:nvSpPr>
          <p:cNvPr id="14" name="Thank you for making a new cheatsheet for R! These cheatsheets have an important job:">
            <a:extLst>
              <a:ext uri="{FF2B5EF4-FFF2-40B4-BE49-F238E27FC236}">
                <a16:creationId xmlns:a16="http://schemas.microsoft.com/office/drawing/2014/main" id="{67CE2F31-E201-C70F-C8C3-13D35453AAC7}"/>
              </a:ext>
            </a:extLst>
          </p:cNvPr>
          <p:cNvSpPr txBox="1"/>
          <p:nvPr/>
        </p:nvSpPr>
        <p:spPr>
          <a:xfrm>
            <a:off x="315323" y="4360481"/>
            <a:ext cx="4357808" cy="3870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ormAutofit/>
          </a:bodyPr>
          <a:lstStyle/>
          <a:p>
            <a:pPr>
              <a:lnSpc>
                <a:spcPct val="90000"/>
              </a:lnSpc>
              <a:spcBef>
                <a:spcPts val="0"/>
              </a:spcBef>
              <a:buClr>
                <a:schemeClr val="accent4">
                  <a:hueOff val="384618"/>
                  <a:satOff val="3869"/>
                  <a:lumOff val="5802"/>
                </a:schemeClr>
              </a:buClr>
              <a:defRPr b="0">
                <a:solidFill>
                  <a:srgbClr val="000000"/>
                </a:solidFill>
              </a:defRPr>
            </a:pPr>
            <a:r>
              <a:rPr lang="en-US" dirty="0">
                <a:cs typeface="Arial"/>
              </a:rPr>
              <a:t>An analysis file is also required to specify filters and parameters.</a:t>
            </a:r>
          </a:p>
        </p:txBody>
      </p:sp>
      <p:sp>
        <p:nvSpPr>
          <p:cNvPr id="15" name="Cheatsheets make it easy for R users…">
            <a:extLst>
              <a:ext uri="{FF2B5EF4-FFF2-40B4-BE49-F238E27FC236}">
                <a16:creationId xmlns:a16="http://schemas.microsoft.com/office/drawing/2014/main" id="{191CB485-8AD9-8FB5-8970-4D5413FFC337}"/>
              </a:ext>
            </a:extLst>
          </p:cNvPr>
          <p:cNvSpPr txBox="1"/>
          <p:nvPr/>
        </p:nvSpPr>
        <p:spPr>
          <a:xfrm>
            <a:off x="310787" y="4560831"/>
            <a:ext cx="4127831" cy="637024"/>
          </a:xfrm>
          <a:prstGeom prst="rect">
            <a:avLst/>
          </a:prstGeom>
          <a:solidFill>
            <a:schemeClr val="bg1"/>
          </a:solidFill>
          <a:ln w="12700">
            <a:solidFill>
              <a:schemeClr val="bg2"/>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2700" tIns="12700" rIns="12700" bIns="12700" anchor="t"/>
          <a:lstStyle/>
          <a:p>
            <a:pPr algn="ctr">
              <a:lnSpc>
                <a:spcPct val="90000"/>
              </a:lnSpc>
              <a:spcBef>
                <a:spcPts val="0"/>
              </a:spcBef>
              <a:defRPr>
                <a:solidFill>
                  <a:srgbClr val="000000"/>
                </a:solidFill>
              </a:defRPr>
            </a:pPr>
            <a:r>
              <a:rPr lang="en-US" sz="1400">
                <a:cs typeface="Arial"/>
              </a:rPr>
              <a:t>Required Fields</a:t>
            </a:r>
            <a:endParaRPr lang="en-US">
              <a:cs typeface="Arial"/>
            </a:endParaRPr>
          </a:p>
          <a:p>
            <a:pPr marL="171450" indent="-171450">
              <a:lnSpc>
                <a:spcPct val="90000"/>
              </a:lnSpc>
              <a:spcBef>
                <a:spcPts val="0"/>
              </a:spcBef>
              <a:buFont typeface="Arial,Sans-Serif" panose="020B0604020202020204" pitchFamily="34" charset="0"/>
              <a:buChar char="•"/>
              <a:defRPr>
                <a:solidFill>
                  <a:srgbClr val="000000"/>
                </a:solidFill>
              </a:defRPr>
            </a:pPr>
            <a:r>
              <a:rPr lang="en-US">
                <a:cs typeface="Arial"/>
              </a:rPr>
              <a:t>filters:     ...</a:t>
            </a:r>
          </a:p>
          <a:p>
            <a:pPr marL="171450" lvl="3" indent="-171450">
              <a:lnSpc>
                <a:spcPct val="90000"/>
              </a:lnSpc>
              <a:spcBef>
                <a:spcPts val="0"/>
              </a:spcBef>
              <a:buFont typeface="Arial,Sans-Serif" panose="020B0604020202020204" pitchFamily="34" charset="0"/>
              <a:buChar char="•"/>
              <a:defRPr>
                <a:solidFill>
                  <a:srgbClr val="000000"/>
                </a:solidFill>
              </a:defRPr>
            </a:pPr>
            <a:r>
              <a:rPr lang="en-US">
                <a:cs typeface="Arial"/>
              </a:rPr>
              <a:t>analysis:     ...</a:t>
            </a:r>
            <a:endParaRPr lang="en-US"/>
          </a:p>
          <a:p>
            <a:pPr marL="171450" lvl="1" indent="-171450">
              <a:lnSpc>
                <a:spcPct val="90000"/>
              </a:lnSpc>
              <a:spcBef>
                <a:spcPts val="0"/>
              </a:spcBef>
              <a:buFont typeface="Arial" panose="020B0604020202020204" pitchFamily="34" charset="0"/>
              <a:buChar char="•"/>
              <a:defRPr>
                <a:solidFill>
                  <a:srgbClr val="000000"/>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F7DEADA-BA86-8E2D-C974-0A022C0DD4D3}"/>
              </a:ext>
            </a:extLst>
          </p:cNvPr>
          <p:cNvSpPr txBox="1"/>
          <p:nvPr/>
        </p:nvSpPr>
        <p:spPr>
          <a:xfrm>
            <a:off x="4735369" y="7929869"/>
            <a:ext cx="1289180" cy="320520"/>
          </a:xfrm>
          <a:prstGeom prst="rect">
            <a:avLst/>
          </a:prstGeom>
          <a:noFill/>
          <a:ln w="285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t>Sailuh/pykumu</a:t>
            </a:r>
          </a:p>
        </p:txBody>
      </p:sp>
      <p:sp>
        <p:nvSpPr>
          <p:cNvPr id="22" name="TextBox 21">
            <a:extLst>
              <a:ext uri="{FF2B5EF4-FFF2-40B4-BE49-F238E27FC236}">
                <a16:creationId xmlns:a16="http://schemas.microsoft.com/office/drawing/2014/main" id="{FCF4E90E-3713-64EB-C1DD-E27B14DC52D3}"/>
              </a:ext>
            </a:extLst>
          </p:cNvPr>
          <p:cNvSpPr txBox="1"/>
          <p:nvPr/>
        </p:nvSpPr>
        <p:spPr>
          <a:xfrm>
            <a:off x="4710551" y="9719486"/>
            <a:ext cx="4522961"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err="1">
                <a:solidFill>
                  <a:srgbClr val="000000"/>
                </a:solidFill>
                <a:cs typeface="Helvetica"/>
              </a:rPr>
              <a:t>Kaiaulu</a:t>
            </a:r>
            <a:r>
              <a:rPr lang="en-US" b="0" dirty="0">
                <a:solidFill>
                  <a:srgbClr val="000000"/>
                </a:solidFill>
                <a:cs typeface="Helvetica"/>
              </a:rPr>
              <a:t> executables provide data from sources such as Mail, JIRA, GitHub, and other analyses, including social smells. </a:t>
            </a:r>
          </a:p>
        </p:txBody>
      </p:sp>
      <p:pic>
        <p:nvPicPr>
          <p:cNvPr id="60" name="Picture 59" descr="A close-up of a letter&#10;&#10;AI-generated content may be incorrect.">
            <a:extLst>
              <a:ext uri="{FF2B5EF4-FFF2-40B4-BE49-F238E27FC236}">
                <a16:creationId xmlns:a16="http://schemas.microsoft.com/office/drawing/2014/main" id="{ABB4BEF7-3DAA-BA77-7378-B34F253B3C48}"/>
              </a:ext>
            </a:extLst>
          </p:cNvPr>
          <p:cNvPicPr>
            <a:picLocks noChangeAspect="1"/>
          </p:cNvPicPr>
          <p:nvPr/>
        </p:nvPicPr>
        <p:blipFill>
          <a:blip r:embed="rId12"/>
          <a:stretch>
            <a:fillRect/>
          </a:stretch>
        </p:blipFill>
        <p:spPr>
          <a:xfrm>
            <a:off x="7419116" y="4462452"/>
            <a:ext cx="396915" cy="386557"/>
          </a:xfrm>
          <a:prstGeom prst="rect">
            <a:avLst/>
          </a:prstGeom>
          <a:ln w="28575">
            <a:solidFill>
              <a:schemeClr val="bg1"/>
            </a:solidFill>
          </a:ln>
        </p:spPr>
      </p:pic>
      <p:pic>
        <p:nvPicPr>
          <p:cNvPr id="27" name="Picture 26">
            <a:extLst>
              <a:ext uri="{FF2B5EF4-FFF2-40B4-BE49-F238E27FC236}">
                <a16:creationId xmlns:a16="http://schemas.microsoft.com/office/drawing/2014/main" id="{CA03B833-2405-DB84-AA59-0E7D11FC0508}"/>
              </a:ext>
            </a:extLst>
          </p:cNvPr>
          <p:cNvPicPr>
            <a:picLocks noChangeAspect="1"/>
          </p:cNvPicPr>
          <p:nvPr/>
        </p:nvPicPr>
        <p:blipFill>
          <a:blip r:embed="rId13"/>
          <a:stretch>
            <a:fillRect/>
          </a:stretch>
        </p:blipFill>
        <p:spPr>
          <a:xfrm>
            <a:off x="6243124" y="6167317"/>
            <a:ext cx="914258" cy="905585"/>
          </a:xfrm>
          <a:prstGeom prst="rect">
            <a:avLst/>
          </a:prstGeom>
        </p:spPr>
      </p:pic>
      <p:pic>
        <p:nvPicPr>
          <p:cNvPr id="43" name="Picture 42">
            <a:extLst>
              <a:ext uri="{FF2B5EF4-FFF2-40B4-BE49-F238E27FC236}">
                <a16:creationId xmlns:a16="http://schemas.microsoft.com/office/drawing/2014/main" id="{8F598E05-D238-4C0F-D32E-DE52D3F32E91}"/>
              </a:ext>
            </a:extLst>
          </p:cNvPr>
          <p:cNvPicPr>
            <a:picLocks noChangeAspect="1"/>
          </p:cNvPicPr>
          <p:nvPr/>
        </p:nvPicPr>
        <p:blipFill>
          <a:blip r:embed="rId14"/>
          <a:stretch>
            <a:fillRect/>
          </a:stretch>
        </p:blipFill>
        <p:spPr>
          <a:xfrm>
            <a:off x="8508987" y="4481030"/>
            <a:ext cx="554321" cy="415604"/>
          </a:xfrm>
          <a:prstGeom prst="rect">
            <a:avLst/>
          </a:prstGeom>
          <a:ln w="28575">
            <a:solidFill>
              <a:schemeClr val="bg1"/>
            </a:solidFill>
          </a:ln>
        </p:spPr>
      </p:pic>
      <p:sp>
        <p:nvSpPr>
          <p:cNvPr id="44" name="TextBox 43">
            <a:extLst>
              <a:ext uri="{FF2B5EF4-FFF2-40B4-BE49-F238E27FC236}">
                <a16:creationId xmlns:a16="http://schemas.microsoft.com/office/drawing/2014/main" id="{660E531D-F62F-DCA3-AC9E-740BC1A024BD}"/>
              </a:ext>
            </a:extLst>
          </p:cNvPr>
          <p:cNvSpPr txBox="1"/>
          <p:nvPr/>
        </p:nvSpPr>
        <p:spPr>
          <a:xfrm>
            <a:off x="8509461" y="485904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solidFill>
                  <a:srgbClr val="000000"/>
                </a:solidFill>
              </a:rPr>
              <a:t>GitHub</a:t>
            </a:r>
            <a:endParaRPr lang="en-US" sz="1200" b="1" i="0" u="none" strike="noStrike" cap="none" spc="0" normalizeH="0" baseline="0">
              <a:ln>
                <a:noFill/>
              </a:ln>
              <a:solidFill>
                <a:srgbClr val="000000"/>
              </a:solidFill>
              <a:effectLst/>
              <a:uFillTx/>
              <a:latin typeface="Source Sans Pro"/>
              <a:ea typeface="Source Sans Pro"/>
              <a:cs typeface="Source Sans Pro"/>
            </a:endParaRPr>
          </a:p>
        </p:txBody>
      </p:sp>
      <p:sp>
        <p:nvSpPr>
          <p:cNvPr id="45" name="TextBox 44">
            <a:extLst>
              <a:ext uri="{FF2B5EF4-FFF2-40B4-BE49-F238E27FC236}">
                <a16:creationId xmlns:a16="http://schemas.microsoft.com/office/drawing/2014/main" id="{6E6A05E2-B224-1735-F643-2B4E4A26D0C9}"/>
              </a:ext>
            </a:extLst>
          </p:cNvPr>
          <p:cNvSpPr txBox="1"/>
          <p:nvPr/>
        </p:nvSpPr>
        <p:spPr>
          <a:xfrm>
            <a:off x="7981261" y="4849037"/>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Jira</a:t>
            </a:r>
          </a:p>
        </p:txBody>
      </p:sp>
      <p:sp>
        <p:nvSpPr>
          <p:cNvPr id="47" name="TextBox 46">
            <a:extLst>
              <a:ext uri="{FF2B5EF4-FFF2-40B4-BE49-F238E27FC236}">
                <a16:creationId xmlns:a16="http://schemas.microsoft.com/office/drawing/2014/main" id="{52801169-F0E0-01C6-9A95-71D7173E6983}"/>
              </a:ext>
            </a:extLst>
          </p:cNvPr>
          <p:cNvSpPr txBox="1"/>
          <p:nvPr/>
        </p:nvSpPr>
        <p:spPr>
          <a:xfrm>
            <a:off x="7417908" y="4834828"/>
            <a:ext cx="65368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a:lnSpc>
                <a:spcPct val="100000"/>
              </a:lnSpc>
              <a:spcBef>
                <a:spcPts val="200"/>
              </a:spcBef>
              <a:spcAft>
                <a:spcPts val="0"/>
              </a:spcAft>
              <a:buNone/>
              <a:tabLst/>
            </a:pPr>
            <a:r>
              <a:rPr lang="en-US">
                <a:solidFill>
                  <a:srgbClr val="000000"/>
                </a:solidFill>
              </a:rPr>
              <a:t>Mail</a:t>
            </a:r>
          </a:p>
        </p:txBody>
      </p:sp>
      <mc:AlternateContent xmlns:mc="http://schemas.openxmlformats.org/markup-compatibility/2006">
        <mc:Choice xmlns:p14="http://schemas.microsoft.com/office/powerpoint/2010/main" Requires="p14">
          <p:contentPart p14:bwMode="auto" r:id="rId15">
            <p14:nvContentPartPr>
              <p14:cNvPr id="300" name="Ink 299">
                <a:extLst>
                  <a:ext uri="{FF2B5EF4-FFF2-40B4-BE49-F238E27FC236}">
                    <a16:creationId xmlns:a16="http://schemas.microsoft.com/office/drawing/2014/main" id="{AE22036C-25B8-FAEB-ED41-7836637D79ED}"/>
                  </a:ext>
                </a:extLst>
              </p14:cNvPr>
              <p14:cNvContentPartPr/>
              <p14:nvPr/>
            </p14:nvContentPartPr>
            <p14:xfrm>
              <a:off x="8237478" y="6581665"/>
              <a:ext cx="13744" cy="13744"/>
            </p14:xfrm>
          </p:contentPart>
        </mc:Choice>
        <mc:Fallback>
          <p:pic>
            <p:nvPicPr>
              <p:cNvPr id="300" name="Ink 299">
                <a:extLst>
                  <a:ext uri="{FF2B5EF4-FFF2-40B4-BE49-F238E27FC236}">
                    <a16:creationId xmlns:a16="http://schemas.microsoft.com/office/drawing/2014/main" id="{AE22036C-25B8-FAEB-ED41-7836637D79ED}"/>
                  </a:ext>
                </a:extLst>
              </p:cNvPr>
              <p:cNvPicPr/>
              <p:nvPr/>
            </p:nvPicPr>
            <p:blipFill>
              <a:blip r:embed="rId16"/>
              <a:stretch>
                <a:fillRect/>
              </a:stretch>
            </p:blipFill>
            <p:spPr>
              <a:xfrm>
                <a:off x="7550278" y="5894465"/>
                <a:ext cx="1374400" cy="1374400"/>
              </a:xfrm>
              <a:prstGeom prst="rect">
                <a:avLst/>
              </a:prstGeom>
            </p:spPr>
          </p:pic>
        </mc:Fallback>
      </mc:AlternateContent>
      <p:sp>
        <p:nvSpPr>
          <p:cNvPr id="318" name="Rectangle 317">
            <a:extLst>
              <a:ext uri="{FF2B5EF4-FFF2-40B4-BE49-F238E27FC236}">
                <a16:creationId xmlns:a16="http://schemas.microsoft.com/office/drawing/2014/main" id="{BBA18696-96D1-B6BF-47D9-288BB1426368}"/>
              </a:ext>
            </a:extLst>
          </p:cNvPr>
          <p:cNvSpPr/>
          <p:nvPr/>
        </p:nvSpPr>
        <p:spPr>
          <a:xfrm>
            <a:off x="3004804" y="7636203"/>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0" name="Rectangle 319">
            <a:extLst>
              <a:ext uri="{FF2B5EF4-FFF2-40B4-BE49-F238E27FC236}">
                <a16:creationId xmlns:a16="http://schemas.microsoft.com/office/drawing/2014/main" id="{DC7D4716-BC43-9BD7-D7D0-1709311BD5E7}"/>
              </a:ext>
            </a:extLst>
          </p:cNvPr>
          <p:cNvSpPr/>
          <p:nvPr/>
        </p:nvSpPr>
        <p:spPr>
          <a:xfrm>
            <a:off x="2499832" y="8038908"/>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1" name="Rectangle 320">
            <a:extLst>
              <a:ext uri="{FF2B5EF4-FFF2-40B4-BE49-F238E27FC236}">
                <a16:creationId xmlns:a16="http://schemas.microsoft.com/office/drawing/2014/main" id="{317E450A-CE4D-2540-472D-A8FB2353CD22}"/>
              </a:ext>
            </a:extLst>
          </p:cNvPr>
          <p:cNvSpPr/>
          <p:nvPr/>
        </p:nvSpPr>
        <p:spPr>
          <a:xfrm>
            <a:off x="3340229" y="8038908"/>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2" name="Connector: Curved 321">
            <a:extLst>
              <a:ext uri="{FF2B5EF4-FFF2-40B4-BE49-F238E27FC236}">
                <a16:creationId xmlns:a16="http://schemas.microsoft.com/office/drawing/2014/main" id="{28352C37-2158-ACFB-400C-0C74D659E9A2}"/>
              </a:ext>
            </a:extLst>
          </p:cNvPr>
          <p:cNvCxnSpPr/>
          <p:nvPr/>
        </p:nvCxnSpPr>
        <p:spPr>
          <a:xfrm rot="16200000" flipH="1">
            <a:off x="3812006" y="7802510"/>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5" name="Connector: Curved 324">
            <a:extLst>
              <a:ext uri="{FF2B5EF4-FFF2-40B4-BE49-F238E27FC236}">
                <a16:creationId xmlns:a16="http://schemas.microsoft.com/office/drawing/2014/main" id="{54D55608-C7AF-2290-6DE7-A97BC385F5D1}"/>
              </a:ext>
            </a:extLst>
          </p:cNvPr>
          <p:cNvCxnSpPr>
            <a:cxnSpLocks/>
          </p:cNvCxnSpPr>
          <p:nvPr/>
        </p:nvCxnSpPr>
        <p:spPr>
          <a:xfrm rot="10800000" flipH="1">
            <a:off x="2783498" y="7808928"/>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7" name="Connector: Curved 326">
            <a:extLst>
              <a:ext uri="{FF2B5EF4-FFF2-40B4-BE49-F238E27FC236}">
                <a16:creationId xmlns:a16="http://schemas.microsoft.com/office/drawing/2014/main" id="{368AA11D-9D07-7F72-5A3A-64F61190E28A}"/>
              </a:ext>
            </a:extLst>
          </p:cNvPr>
          <p:cNvCxnSpPr>
            <a:cxnSpLocks/>
          </p:cNvCxnSpPr>
          <p:nvPr/>
        </p:nvCxnSpPr>
        <p:spPr>
          <a:xfrm rot="2700000" flipH="1">
            <a:off x="3168733" y="8282885"/>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8" name="TextBox 336">
            <a:extLst>
              <a:ext uri="{FF2B5EF4-FFF2-40B4-BE49-F238E27FC236}">
                <a16:creationId xmlns:a16="http://schemas.microsoft.com/office/drawing/2014/main" id="{776FD395-0226-8C9F-1151-CF943F563A40}"/>
              </a:ext>
            </a:extLst>
          </p:cNvPr>
          <p:cNvSpPr txBox="1"/>
          <p:nvPr/>
        </p:nvSpPr>
        <p:spPr>
          <a:xfrm>
            <a:off x="3008743" y="7560173"/>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analysisA</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330" name="TextBox 338">
            <a:extLst>
              <a:ext uri="{FF2B5EF4-FFF2-40B4-BE49-F238E27FC236}">
                <a16:creationId xmlns:a16="http://schemas.microsoft.com/office/drawing/2014/main" id="{AE7450D8-FF8B-EAB2-748F-EF574B3B32AB}"/>
              </a:ext>
            </a:extLst>
          </p:cNvPr>
          <p:cNvSpPr txBox="1"/>
          <p:nvPr/>
        </p:nvSpPr>
        <p:spPr>
          <a:xfrm>
            <a:off x="2523213" y="7964355"/>
            <a:ext cx="69690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rPr>
              <a:t>analysisC</a:t>
            </a:r>
          </a:p>
        </p:txBody>
      </p:sp>
      <p:sp>
        <p:nvSpPr>
          <p:cNvPr id="329" name="TextBox 337">
            <a:extLst>
              <a:ext uri="{FF2B5EF4-FFF2-40B4-BE49-F238E27FC236}">
                <a16:creationId xmlns:a16="http://schemas.microsoft.com/office/drawing/2014/main" id="{EADC233F-1F61-D171-8754-FC44B80A7E38}"/>
              </a:ext>
            </a:extLst>
          </p:cNvPr>
          <p:cNvSpPr txBox="1"/>
          <p:nvPr/>
        </p:nvSpPr>
        <p:spPr>
          <a:xfrm>
            <a:off x="3357192" y="797209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noProof="1">
                <a:solidFill>
                  <a:srgbClr val="000000"/>
                </a:solidFill>
              </a:rPr>
              <a:t>analysisB</a:t>
            </a:r>
            <a:endParaRPr kumimoji="0" lang="en-US" sz="1100" b="1" i="0" u="none" strike="noStrike" cap="none" spc="0" normalizeH="0" baseline="0" noProof="1">
              <a:ln>
                <a:noFill/>
              </a:ln>
              <a:solidFill>
                <a:srgbClr val="000000"/>
              </a:solidFill>
              <a:effectLst/>
              <a:uFillTx/>
              <a:latin typeface="Source Sans Pro"/>
              <a:ea typeface="Source Sans Pro"/>
              <a:cs typeface="Source Sans Pro"/>
              <a:sym typeface="Source Sans Pro"/>
            </a:endParaRPr>
          </a:p>
        </p:txBody>
      </p:sp>
      <p:sp>
        <p:nvSpPr>
          <p:cNvPr id="57" name="Rectangle 56">
            <a:extLst>
              <a:ext uri="{FF2B5EF4-FFF2-40B4-BE49-F238E27FC236}">
                <a16:creationId xmlns:a16="http://schemas.microsoft.com/office/drawing/2014/main" id="{68E42369-F2DD-0C81-9EB5-59F51B16AE5A}"/>
              </a:ext>
            </a:extLst>
          </p:cNvPr>
          <p:cNvSpPr/>
          <p:nvPr/>
        </p:nvSpPr>
        <p:spPr>
          <a:xfrm>
            <a:off x="2918994" y="9225807"/>
            <a:ext cx="1332973" cy="859983"/>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TextBox 762">
            <a:extLst>
              <a:ext uri="{FF2B5EF4-FFF2-40B4-BE49-F238E27FC236}">
                <a16:creationId xmlns:a16="http://schemas.microsoft.com/office/drawing/2014/main" id="{BC08D9B1-76C0-9844-B6F9-306DCF23CE3A}"/>
              </a:ext>
            </a:extLst>
          </p:cNvPr>
          <p:cNvSpPr txBox="1"/>
          <p:nvPr/>
        </p:nvSpPr>
        <p:spPr>
          <a:xfrm>
            <a:off x="2914837" y="9323536"/>
            <a:ext cx="1357903" cy="818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kumimoji="0" lang="en-US" sz="1900" i="0" u="none" strike="noStrike" cap="none" spc="0" normalizeH="0" baseline="0" dirty="0">
                <a:ln>
                  <a:noFill/>
                </a:ln>
                <a:solidFill>
                  <a:srgbClr val="000000"/>
                </a:solidFill>
                <a:effectLst/>
                <a:uFillTx/>
                <a:latin typeface="Source Sans Pro"/>
                <a:ea typeface="Source Sans Pro"/>
                <a:cs typeface="Source Sans Pro"/>
                <a:sym typeface="Source Sans Pro"/>
              </a:rPr>
              <a:t>&gt;</a:t>
            </a:r>
            <a:r>
              <a:rPr kumimoji="0" lang="en-US" sz="1100" b="1" i="0" u="none" strike="noStrike" cap="none" spc="0" normalizeH="0" baseline="0" dirty="0">
                <a:ln>
                  <a:noFill/>
                </a:ln>
                <a:solidFill>
                  <a:srgbClr val="000000"/>
                </a:solidFill>
                <a:effectLst/>
                <a:uFillTx/>
                <a:latin typeface="Source Sans Pro"/>
                <a:ea typeface="Source Sans Pro"/>
                <a:cs typeface="Source Sans Pro"/>
                <a:sym typeface="Source Sans Pro"/>
              </a:rPr>
              <a:t> </a:t>
            </a:r>
            <a:r>
              <a:rPr kumimoji="0" lang="en-US" sz="1100" b="1" i="0" u="none" strike="noStrike" cap="none" spc="0" normalizeH="0" baseline="0" dirty="0" err="1">
                <a:ln>
                  <a:noFill/>
                </a:ln>
                <a:solidFill>
                  <a:srgbClr val="000000"/>
                </a:solidFill>
                <a:effectLst/>
                <a:uFillTx/>
                <a:latin typeface="Source Sans Pro"/>
                <a:ea typeface="Source Sans Pro"/>
                <a:cs typeface="Source Sans Pro"/>
                <a:sym typeface="Source Sans Pro"/>
              </a:rPr>
              <a:t>Rscript</a:t>
            </a:r>
            <a:r>
              <a:rPr lang="en-US" sz="1100" dirty="0">
                <a:solidFill>
                  <a:srgbClr val="000000"/>
                </a:solidFill>
              </a:rPr>
              <a:t> </a:t>
            </a:r>
            <a:r>
              <a:rPr lang="en-US" dirty="0">
                <a:solidFill>
                  <a:srgbClr val="0B4EB2"/>
                </a:solidFill>
              </a:rPr>
              <a:t>exec/*.R</a:t>
            </a:r>
            <a:endParaRPr lang="en-US" b="0" dirty="0">
              <a:solidFill>
                <a:srgbClr val="000000"/>
              </a:solidFill>
            </a:endParaRPr>
          </a:p>
          <a:p>
            <a:r>
              <a:rPr lang="en-US" sz="1100" dirty="0">
                <a:solidFill>
                  <a:srgbClr val="000000"/>
                </a:solidFill>
              </a:rPr>
              <a:t> </a:t>
            </a:r>
            <a:r>
              <a:rPr kumimoji="0" lang="en-US" sz="1100" b="1" i="0" u="none" strike="noStrike" cap="none" spc="0" normalizeH="0" baseline="0" dirty="0">
                <a:ln>
                  <a:noFill/>
                </a:ln>
                <a:solidFill>
                  <a:srgbClr val="000000"/>
                </a:solidFill>
                <a:effectLst/>
                <a:uFillTx/>
                <a:latin typeface="Source Sans Pro"/>
                <a:ea typeface="Source Sans Pro"/>
                <a:cs typeface="Source Sans Pro"/>
                <a:sym typeface="Source Sans Pro"/>
              </a:rPr>
              <a:t>project1.yml</a:t>
            </a:r>
            <a:endParaRPr lang="en-US" dirty="0"/>
          </a:p>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rgbClr val="000000"/>
                </a:solidFill>
              </a:rPr>
              <a:t>analysisB.yml</a:t>
            </a:r>
            <a:endParaRPr lang="en-US" sz="1100" b="1" i="0" u="none" strike="noStrike" cap="none" spc="0" normalizeH="0" baseline="0" dirty="0">
              <a:ln>
                <a:noFill/>
              </a:ln>
              <a:solidFill>
                <a:srgbClr val="000000"/>
              </a:solidFill>
              <a:effectLst/>
              <a:uFillTx/>
              <a:latin typeface="Source Sans Pro"/>
              <a:ea typeface="Source Sans Pro"/>
              <a:cs typeface="Source Sans Pro"/>
            </a:endParaRPr>
          </a:p>
        </p:txBody>
      </p:sp>
      <p:sp>
        <p:nvSpPr>
          <p:cNvPr id="258" name="TextBox 766">
            <a:extLst>
              <a:ext uri="{FF2B5EF4-FFF2-40B4-BE49-F238E27FC236}">
                <a16:creationId xmlns:a16="http://schemas.microsoft.com/office/drawing/2014/main" id="{5552F0C6-5C1E-F9A5-65EB-6E3687CEEEFD}"/>
              </a:ext>
            </a:extLst>
          </p:cNvPr>
          <p:cNvSpPr txBox="1"/>
          <p:nvPr/>
        </p:nvSpPr>
        <p:spPr>
          <a:xfrm>
            <a:off x="484057" y="7478804"/>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(1)</a:t>
            </a:r>
          </a:p>
        </p:txBody>
      </p:sp>
      <p:sp>
        <p:nvSpPr>
          <p:cNvPr id="259" name="TextBox 321">
            <a:extLst>
              <a:ext uri="{FF2B5EF4-FFF2-40B4-BE49-F238E27FC236}">
                <a16:creationId xmlns:a16="http://schemas.microsoft.com/office/drawing/2014/main" id="{451DA07C-308B-C557-592F-082C6266A2EE}"/>
              </a:ext>
            </a:extLst>
          </p:cNvPr>
          <p:cNvSpPr txBox="1"/>
          <p:nvPr/>
        </p:nvSpPr>
        <p:spPr>
          <a:xfrm>
            <a:off x="2910994" y="8937743"/>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(4)</a:t>
            </a:r>
          </a:p>
        </p:txBody>
      </p:sp>
      <p:sp>
        <p:nvSpPr>
          <p:cNvPr id="260" name="TextBox 350">
            <a:extLst>
              <a:ext uri="{FF2B5EF4-FFF2-40B4-BE49-F238E27FC236}">
                <a16:creationId xmlns:a16="http://schemas.microsoft.com/office/drawing/2014/main" id="{27268C1F-35C6-538D-53E9-9177C60E0B1A}"/>
              </a:ext>
            </a:extLst>
          </p:cNvPr>
          <p:cNvSpPr txBox="1"/>
          <p:nvPr/>
        </p:nvSpPr>
        <p:spPr>
          <a:xfrm>
            <a:off x="2509455" y="747244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a:ln>
                  <a:noFill/>
                </a:ln>
                <a:solidFill>
                  <a:srgbClr val="4C4C4C"/>
                </a:solidFill>
                <a:effectLst/>
                <a:uFillTx/>
                <a:latin typeface="Source Sans Pro"/>
                <a:ea typeface="Source Sans Pro"/>
                <a:cs typeface="Source Sans Pro"/>
                <a:sym typeface="Source Sans Pro"/>
              </a:rPr>
              <a:t>(2)</a:t>
            </a:r>
          </a:p>
        </p:txBody>
      </p:sp>
      <p:sp>
        <p:nvSpPr>
          <p:cNvPr id="262" name="TextBox 351">
            <a:extLst>
              <a:ext uri="{FF2B5EF4-FFF2-40B4-BE49-F238E27FC236}">
                <a16:creationId xmlns:a16="http://schemas.microsoft.com/office/drawing/2014/main" id="{FBD6ABE1-3003-83A2-E473-28B5256C9596}"/>
              </a:ext>
            </a:extLst>
          </p:cNvPr>
          <p:cNvSpPr txBox="1"/>
          <p:nvPr/>
        </p:nvSpPr>
        <p:spPr>
          <a:xfrm>
            <a:off x="292087" y="8470716"/>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(3)</a:t>
            </a:r>
          </a:p>
        </p:txBody>
      </p:sp>
      <p:grpSp>
        <p:nvGrpSpPr>
          <p:cNvPr id="266" name="Group 265">
            <a:extLst>
              <a:ext uri="{FF2B5EF4-FFF2-40B4-BE49-F238E27FC236}">
                <a16:creationId xmlns:a16="http://schemas.microsoft.com/office/drawing/2014/main" id="{CDE60857-8810-5F4A-10EB-B94C65B4AD16}"/>
              </a:ext>
            </a:extLst>
          </p:cNvPr>
          <p:cNvGrpSpPr/>
          <p:nvPr/>
        </p:nvGrpSpPr>
        <p:grpSpPr>
          <a:xfrm>
            <a:off x="299450" y="8693770"/>
            <a:ext cx="1454607" cy="1359206"/>
            <a:chOff x="4888883" y="5320096"/>
            <a:chExt cx="1741511" cy="1781653"/>
          </a:xfrm>
        </p:grpSpPr>
        <p:sp>
          <p:nvSpPr>
            <p:cNvPr id="277" name="Rectangle 276">
              <a:extLst>
                <a:ext uri="{FF2B5EF4-FFF2-40B4-BE49-F238E27FC236}">
                  <a16:creationId xmlns:a16="http://schemas.microsoft.com/office/drawing/2014/main" id="{C9A5E9CF-C974-7C88-6B0D-20F0BE9B339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9" name="Rectangle 288">
              <a:extLst>
                <a:ext uri="{FF2B5EF4-FFF2-40B4-BE49-F238E27FC236}">
                  <a16:creationId xmlns:a16="http://schemas.microsoft.com/office/drawing/2014/main" id="{EF74A674-BB84-2980-869D-FA0565645F90}"/>
                </a:ext>
              </a:extLst>
            </p:cNvPr>
            <p:cNvSpPr/>
            <p:nvPr/>
          </p:nvSpPr>
          <p:spPr>
            <a:xfrm>
              <a:off x="4993880" y="6280151"/>
              <a:ext cx="1199524" cy="448998"/>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4" name="TextBox 5">
              <a:extLst>
                <a:ext uri="{FF2B5EF4-FFF2-40B4-BE49-F238E27FC236}">
                  <a16:creationId xmlns:a16="http://schemas.microsoft.com/office/drawing/2014/main" id="{2DC3A4BF-6A40-374D-49FC-D69ECD878F19}"/>
                </a:ext>
              </a:extLst>
            </p:cNvPr>
            <p:cNvSpPr txBox="1"/>
            <p:nvPr/>
          </p:nvSpPr>
          <p:spPr>
            <a:xfrm>
              <a:off x="4982573" y="6243478"/>
              <a:ext cx="1215550" cy="5344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a:solidFill>
                    <a:srgbClr val="000000"/>
                  </a:solidFill>
                </a:rPr>
                <a:t>g</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et(</a:t>
              </a:r>
              <a:r>
                <a:rPr lang="en-US" sz="800">
                  <a:solidFill>
                    <a:srgbClr val="000000"/>
                  </a:solidFill>
                </a:rPr>
                <a:t>project1.yml</a:t>
              </a:r>
              <a:r>
                <a:rPr kumimoji="0" lang="en-US" sz="800" b="1" i="0" u="none" strike="noStrike" cap="none" spc="0" normalizeH="0" baseline="0">
                  <a:ln>
                    <a:noFill/>
                  </a:ln>
                  <a:solidFill>
                    <a:srgbClr val="000000"/>
                  </a:solidFill>
                  <a:effectLst/>
                  <a:uFillTx/>
                  <a:latin typeface="Source Sans Pro"/>
                  <a:ea typeface="Source Sans Pro"/>
                  <a:cs typeface="Source Sans Pro"/>
                  <a:sym typeface="Source Sans Pro"/>
                </a:rPr>
                <a:t>)</a:t>
              </a:r>
              <a:endParaRPr lang="en-US" sz="800" b="1" i="0" u="none" strike="noStrike" cap="none" spc="0" normalizeH="0" baseline="0">
                <a:ln>
                  <a:noFill/>
                </a:ln>
                <a:solidFill>
                  <a:srgbClr val="000000"/>
                </a:solidFill>
                <a:effectLst/>
                <a:uFillTx/>
                <a:latin typeface="Source Sans Pro"/>
                <a:ea typeface="Source Sans Pro"/>
                <a:cs typeface="Source Sans Pro"/>
              </a:endParaRPr>
            </a:p>
            <a:p>
              <a:r>
                <a:rPr lang="en-US" sz="800">
                  <a:solidFill>
                    <a:srgbClr val="000000"/>
                  </a:solidFill>
                </a:rPr>
                <a:t>get (analysisB.yml)</a:t>
              </a:r>
              <a:endParaRPr lang="en-US" sz="800" b="1" i="0" u="none" strike="noStrike" cap="none" spc="0" normalizeH="0" baseline="0">
                <a:ln>
                  <a:noFill/>
                </a:ln>
                <a:solidFill>
                  <a:srgbClr val="000000"/>
                </a:solidFill>
                <a:effectLst/>
                <a:uFillTx/>
                <a:latin typeface="Source Sans Pro"/>
                <a:ea typeface="Source Sans Pro"/>
                <a:cs typeface="Source Sans Pro"/>
              </a:endParaRPr>
            </a:p>
          </p:txBody>
        </p:sp>
        <p:sp>
          <p:nvSpPr>
            <p:cNvPr id="281" name="TextBox 754">
              <a:extLst>
                <a:ext uri="{FF2B5EF4-FFF2-40B4-BE49-F238E27FC236}">
                  <a16:creationId xmlns:a16="http://schemas.microsoft.com/office/drawing/2014/main" id="{34C24F6F-B82A-E579-3596-39891A5D3A4F}"/>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t>Introduction</a:t>
              </a:r>
              <a:endPar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286" name="Straight Connector 285">
              <a:extLst>
                <a:ext uri="{FF2B5EF4-FFF2-40B4-BE49-F238E27FC236}">
                  <a16:creationId xmlns:a16="http://schemas.microsoft.com/office/drawing/2014/main" id="{28E946CC-EAA7-1714-F89C-53215DE1D3B9}"/>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87" name="Group 286">
              <a:extLst>
                <a:ext uri="{FF2B5EF4-FFF2-40B4-BE49-F238E27FC236}">
                  <a16:creationId xmlns:a16="http://schemas.microsoft.com/office/drawing/2014/main" id="{47D6FA88-D211-5AFB-034C-423C05C7C152}"/>
                </a:ext>
              </a:extLst>
            </p:cNvPr>
            <p:cNvGrpSpPr/>
            <p:nvPr/>
          </p:nvGrpSpPr>
          <p:grpSpPr>
            <a:xfrm>
              <a:off x="5428649" y="5853301"/>
              <a:ext cx="10229" cy="217570"/>
              <a:chOff x="5428649" y="5853301"/>
              <a:chExt cx="10229" cy="217570"/>
            </a:xfrm>
          </p:grpSpPr>
          <p:sp>
            <p:nvSpPr>
              <p:cNvPr id="303" name="Oval 302">
                <a:extLst>
                  <a:ext uri="{FF2B5EF4-FFF2-40B4-BE49-F238E27FC236}">
                    <a16:creationId xmlns:a16="http://schemas.microsoft.com/office/drawing/2014/main" id="{DF234E55-823C-9F26-DB0B-B4814AF5CB30}"/>
                  </a:ext>
                </a:extLst>
              </p:cNvPr>
              <p:cNvSpPr/>
              <p:nvPr/>
            </p:nvSpPr>
            <p:spPr>
              <a:xfrm>
                <a:off x="5429733" y="585330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0" name="Oval 309">
                <a:extLst>
                  <a:ext uri="{FF2B5EF4-FFF2-40B4-BE49-F238E27FC236}">
                    <a16:creationId xmlns:a16="http://schemas.microsoft.com/office/drawing/2014/main" id="{CE7D6008-F7FA-594E-EB5C-668132E4DF0D}"/>
                  </a:ext>
                </a:extLst>
              </p:cNvPr>
              <p:cNvSpPr/>
              <p:nvPr/>
            </p:nvSpPr>
            <p:spPr>
              <a:xfrm>
                <a:off x="5428649" y="595751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7" name="Oval 316">
                <a:extLst>
                  <a:ext uri="{FF2B5EF4-FFF2-40B4-BE49-F238E27FC236}">
                    <a16:creationId xmlns:a16="http://schemas.microsoft.com/office/drawing/2014/main" id="{404BF60E-4D84-0FA0-8A94-887336E91271}"/>
                  </a:ext>
                </a:extLst>
              </p:cNvPr>
              <p:cNvSpPr/>
              <p:nvPr/>
            </p:nvSpPr>
            <p:spPr>
              <a:xfrm>
                <a:off x="5429734" y="6061727"/>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288" name="TextBox 757">
              <a:extLst>
                <a:ext uri="{FF2B5EF4-FFF2-40B4-BE49-F238E27FC236}">
                  <a16:creationId xmlns:a16="http://schemas.microsoft.com/office/drawing/2014/main" id="{CA89452C-5051-D000-01BC-B255940DCF89}"/>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Configuration</a:t>
              </a:r>
            </a:p>
          </p:txBody>
        </p:sp>
        <p:sp>
          <p:nvSpPr>
            <p:cNvPr id="291" name="Rectangle 290">
              <a:extLst>
                <a:ext uri="{FF2B5EF4-FFF2-40B4-BE49-F238E27FC236}">
                  <a16:creationId xmlns:a16="http://schemas.microsoft.com/office/drawing/2014/main" id="{51656023-70D6-416F-AE5E-B18357B0963D}"/>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3" name="TextBox 782">
              <a:extLst>
                <a:ext uri="{FF2B5EF4-FFF2-40B4-BE49-F238E27FC236}">
                  <a16:creationId xmlns:a16="http://schemas.microsoft.com/office/drawing/2014/main" id="{57F6E9C0-DF68-48B4-C5F5-8659410E0E32}"/>
                </a:ext>
              </a:extLst>
            </p:cNvPr>
            <p:cNvSpPr txBox="1"/>
            <p:nvPr/>
          </p:nvSpPr>
          <p:spPr>
            <a:xfrm>
              <a:off x="6105019" y="5320096"/>
              <a:ext cx="525375" cy="3999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noProof="1">
                  <a:ln>
                    <a:noFill/>
                  </a:ln>
                  <a:solidFill>
                    <a:srgbClr val="4C4C4C"/>
                  </a:solidFill>
                  <a:effectLst/>
                  <a:uFillTx/>
                  <a:latin typeface="Source Sans Pro"/>
                  <a:ea typeface="Source Sans Pro"/>
                  <a:cs typeface="Source Sans Pro"/>
                  <a:sym typeface="Source Sans Pro"/>
                </a:rPr>
                <a:t>Rmd</a:t>
              </a:r>
            </a:p>
          </p:txBody>
        </p:sp>
        <p:grpSp>
          <p:nvGrpSpPr>
            <p:cNvPr id="295" name="Group 294">
              <a:extLst>
                <a:ext uri="{FF2B5EF4-FFF2-40B4-BE49-F238E27FC236}">
                  <a16:creationId xmlns:a16="http://schemas.microsoft.com/office/drawing/2014/main" id="{DDF8E54D-EDA2-C335-ADB6-50532ACCD11B}"/>
                </a:ext>
              </a:extLst>
            </p:cNvPr>
            <p:cNvGrpSpPr/>
            <p:nvPr/>
          </p:nvGrpSpPr>
          <p:grpSpPr>
            <a:xfrm>
              <a:off x="5419505" y="6817298"/>
              <a:ext cx="10229" cy="217570"/>
              <a:chOff x="5419505" y="6817298"/>
              <a:chExt cx="10229" cy="217570"/>
            </a:xfrm>
          </p:grpSpPr>
          <p:sp>
            <p:nvSpPr>
              <p:cNvPr id="296" name="Oval 295">
                <a:extLst>
                  <a:ext uri="{FF2B5EF4-FFF2-40B4-BE49-F238E27FC236}">
                    <a16:creationId xmlns:a16="http://schemas.microsoft.com/office/drawing/2014/main" id="{ACC26051-ADEF-9A77-5E0F-D287CDC5DBA6}"/>
                  </a:ext>
                </a:extLst>
              </p:cNvPr>
              <p:cNvSpPr/>
              <p:nvPr/>
            </p:nvSpPr>
            <p:spPr>
              <a:xfrm>
                <a:off x="5420589" y="6817298"/>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BE901A3B-A8DF-1B8C-9731-2E658981A693}"/>
                  </a:ext>
                </a:extLst>
              </p:cNvPr>
              <p:cNvSpPr/>
              <p:nvPr/>
            </p:nvSpPr>
            <p:spPr>
              <a:xfrm>
                <a:off x="5419505" y="6921511"/>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2" name="Oval 301">
                <a:extLst>
                  <a:ext uri="{FF2B5EF4-FFF2-40B4-BE49-F238E27FC236}">
                    <a16:creationId xmlns:a16="http://schemas.microsoft.com/office/drawing/2014/main" id="{67813DE7-E7F1-C076-C925-07237BE8BD15}"/>
                  </a:ext>
                </a:extLst>
              </p:cNvPr>
              <p:cNvSpPr/>
              <p:nvPr/>
            </p:nvSpPr>
            <p:spPr>
              <a:xfrm>
                <a:off x="5420590" y="7025724"/>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1" name="Rectangle 30">
            <a:extLst>
              <a:ext uri="{FF2B5EF4-FFF2-40B4-BE49-F238E27FC236}">
                <a16:creationId xmlns:a16="http://schemas.microsoft.com/office/drawing/2014/main" id="{53C4964F-C1A6-1934-859E-3BF0695BC069}"/>
              </a:ext>
            </a:extLst>
          </p:cNvPr>
          <p:cNvSpPr/>
          <p:nvPr/>
        </p:nvSpPr>
        <p:spPr>
          <a:xfrm>
            <a:off x="892950" y="7636255"/>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1F589179-A5B8-E2AD-CECC-CDB71AD2D335}"/>
              </a:ext>
            </a:extLst>
          </p:cNvPr>
          <p:cNvSpPr/>
          <p:nvPr/>
        </p:nvSpPr>
        <p:spPr>
          <a:xfrm>
            <a:off x="387877" y="8038960"/>
            <a:ext cx="732719"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8" name="Rectangle 47">
            <a:extLst>
              <a:ext uri="{FF2B5EF4-FFF2-40B4-BE49-F238E27FC236}">
                <a16:creationId xmlns:a16="http://schemas.microsoft.com/office/drawing/2014/main" id="{657FD141-D727-9579-917A-DF8E4E24F469}"/>
              </a:ext>
            </a:extLst>
          </p:cNvPr>
          <p:cNvSpPr/>
          <p:nvPr/>
        </p:nvSpPr>
        <p:spPr>
          <a:xfrm>
            <a:off x="1228441" y="8038960"/>
            <a:ext cx="729417" cy="215031"/>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1" name="Connector: Curved 340">
            <a:extLst>
              <a:ext uri="{FF2B5EF4-FFF2-40B4-BE49-F238E27FC236}">
                <a16:creationId xmlns:a16="http://schemas.microsoft.com/office/drawing/2014/main" id="{B531469A-FE06-F88D-34F9-1DA2E84F2444}"/>
              </a:ext>
            </a:extLst>
          </p:cNvPr>
          <p:cNvCxnSpPr>
            <a:cxnSpLocks/>
          </p:cNvCxnSpPr>
          <p:nvPr/>
        </p:nvCxnSpPr>
        <p:spPr>
          <a:xfrm rot="16200000" flipH="1">
            <a:off x="1700312" y="7802561"/>
            <a:ext cx="156502" cy="12862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2" name="Connector: Curved 341">
            <a:extLst>
              <a:ext uri="{FF2B5EF4-FFF2-40B4-BE49-F238E27FC236}">
                <a16:creationId xmlns:a16="http://schemas.microsoft.com/office/drawing/2014/main" id="{4218741F-2936-4CE5-A0BB-335B91D10673}"/>
              </a:ext>
            </a:extLst>
          </p:cNvPr>
          <p:cNvCxnSpPr>
            <a:cxnSpLocks/>
          </p:cNvCxnSpPr>
          <p:nvPr/>
        </p:nvCxnSpPr>
        <p:spPr>
          <a:xfrm rot="10800000" flipH="1">
            <a:off x="671600" y="7808980"/>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3" name="Connector: Curved 342">
            <a:extLst>
              <a:ext uri="{FF2B5EF4-FFF2-40B4-BE49-F238E27FC236}">
                <a16:creationId xmlns:a16="http://schemas.microsoft.com/office/drawing/2014/main" id="{0D58ACD1-B904-6A18-981C-4CCB85C4BB15}"/>
              </a:ext>
            </a:extLst>
          </p:cNvPr>
          <p:cNvCxnSpPr>
            <a:cxnSpLocks/>
          </p:cNvCxnSpPr>
          <p:nvPr/>
        </p:nvCxnSpPr>
        <p:spPr>
          <a:xfrm rot="2700000" flipH="1">
            <a:off x="1056911" y="8282936"/>
            <a:ext cx="155103" cy="129782"/>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4" name="TextBox 336">
            <a:extLst>
              <a:ext uri="{FF2B5EF4-FFF2-40B4-BE49-F238E27FC236}">
                <a16:creationId xmlns:a16="http://schemas.microsoft.com/office/drawing/2014/main" id="{D08C86BB-32C7-3FF2-FACC-01F8B4696791}"/>
              </a:ext>
            </a:extLst>
          </p:cNvPr>
          <p:cNvSpPr txBox="1"/>
          <p:nvPr/>
        </p:nvSpPr>
        <p:spPr>
          <a:xfrm>
            <a:off x="896889" y="7560225"/>
            <a:ext cx="72878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project1</a:t>
            </a:r>
            <a:endParaRPr kumimoji="0" lang="en-US" sz="1100" b="1"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5" name="TextBox 338">
            <a:extLst>
              <a:ext uri="{FF2B5EF4-FFF2-40B4-BE49-F238E27FC236}">
                <a16:creationId xmlns:a16="http://schemas.microsoft.com/office/drawing/2014/main" id="{B5E2BA11-32F4-7923-F937-A1CDA5DFC27F}"/>
              </a:ext>
            </a:extLst>
          </p:cNvPr>
          <p:cNvSpPr txBox="1"/>
          <p:nvPr/>
        </p:nvSpPr>
        <p:spPr>
          <a:xfrm>
            <a:off x="411263" y="7964406"/>
            <a:ext cx="63118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non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project3</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sp>
        <p:nvSpPr>
          <p:cNvPr id="346" name="TextBox 337">
            <a:extLst>
              <a:ext uri="{FF2B5EF4-FFF2-40B4-BE49-F238E27FC236}">
                <a16:creationId xmlns:a16="http://schemas.microsoft.com/office/drawing/2014/main" id="{509B9B95-61B1-BDA9-6DA2-9BE76C7A6814}"/>
              </a:ext>
            </a:extLst>
          </p:cNvPr>
          <p:cNvSpPr txBox="1"/>
          <p:nvPr/>
        </p:nvSpPr>
        <p:spPr>
          <a:xfrm>
            <a:off x="1245408" y="7972145"/>
            <a:ext cx="714040"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100">
                <a:solidFill>
                  <a:srgbClr val="000000"/>
                </a:solidFill>
              </a:rPr>
              <a:t>project2</a:t>
            </a:r>
            <a:endParaRPr lang="en-US" sz="11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350" name="Straight Arrow Connector 349">
            <a:extLst>
              <a:ext uri="{FF2B5EF4-FFF2-40B4-BE49-F238E27FC236}">
                <a16:creationId xmlns:a16="http://schemas.microsoft.com/office/drawing/2014/main" id="{73101DA8-A3D0-9170-ECA6-AB110756890C}"/>
              </a:ext>
            </a:extLst>
          </p:cNvPr>
          <p:cNvCxnSpPr/>
          <p:nvPr/>
        </p:nvCxnSpPr>
        <p:spPr>
          <a:xfrm>
            <a:off x="3416547" y="8541264"/>
            <a:ext cx="7769" cy="62264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51" name="TextBox 783">
            <a:extLst>
              <a:ext uri="{FF2B5EF4-FFF2-40B4-BE49-F238E27FC236}">
                <a16:creationId xmlns:a16="http://schemas.microsoft.com/office/drawing/2014/main" id="{BFD013EC-D705-2FC5-8E71-F27BA8D8F8CE}"/>
              </a:ext>
            </a:extLst>
          </p:cNvPr>
          <p:cNvSpPr txBox="1"/>
          <p:nvPr/>
        </p:nvSpPr>
        <p:spPr>
          <a:xfrm>
            <a:off x="3488746" y="8620398"/>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sp>
        <p:nvSpPr>
          <p:cNvPr id="352" name="TextBox 351">
            <a:extLst>
              <a:ext uri="{FF2B5EF4-FFF2-40B4-BE49-F238E27FC236}">
                <a16:creationId xmlns:a16="http://schemas.microsoft.com/office/drawing/2014/main" id="{BD6F1853-0CFD-7757-4952-4B1FE37364B4}"/>
              </a:ext>
            </a:extLst>
          </p:cNvPr>
          <p:cNvSpPr txBox="1"/>
          <p:nvPr/>
        </p:nvSpPr>
        <p:spPr>
          <a:xfrm>
            <a:off x="2915551" y="9216125"/>
            <a:ext cx="1340573" cy="179077"/>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endParaRPr lang="en-US"/>
          </a:p>
        </p:txBody>
      </p:sp>
      <p:sp>
        <p:nvSpPr>
          <p:cNvPr id="353" name="TextBox 352">
            <a:extLst>
              <a:ext uri="{FF2B5EF4-FFF2-40B4-BE49-F238E27FC236}">
                <a16:creationId xmlns:a16="http://schemas.microsoft.com/office/drawing/2014/main" id="{AAB5F834-CF2A-DA4C-9DF4-A7B96EFB2E1E}"/>
              </a:ext>
            </a:extLst>
          </p:cNvPr>
          <p:cNvSpPr txBox="1"/>
          <p:nvPr/>
        </p:nvSpPr>
        <p:spPr>
          <a:xfrm>
            <a:off x="3738365" y="8821827"/>
            <a:ext cx="552557"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600">
                <a:solidFill>
                  <a:schemeClr val="bg1"/>
                </a:solidFill>
              </a:rPr>
              <a:t>...</a:t>
            </a:r>
            <a:endParaRPr lang="en-US" sz="3600" b="1" i="0" u="none" strike="noStrike" cap="none" spc="0" normalizeH="0" baseline="0">
              <a:ln>
                <a:noFill/>
              </a:ln>
              <a:solidFill>
                <a:schemeClr val="bg1"/>
              </a:solidFill>
              <a:effectLst/>
              <a:uFillTx/>
              <a:latin typeface="Source Sans Pro"/>
              <a:ea typeface="Source Sans Pro"/>
              <a:cs typeface="Source Sans Pro"/>
            </a:endParaRPr>
          </a:p>
        </p:txBody>
      </p:sp>
      <p:sp>
        <p:nvSpPr>
          <p:cNvPr id="6" name="TextBox 783">
            <a:extLst>
              <a:ext uri="{FF2B5EF4-FFF2-40B4-BE49-F238E27FC236}">
                <a16:creationId xmlns:a16="http://schemas.microsoft.com/office/drawing/2014/main" id="{986ABA7F-0CDC-22F2-C2B8-35D8DB345452}"/>
              </a:ext>
            </a:extLst>
          </p:cNvPr>
          <p:cNvSpPr txBox="1"/>
          <p:nvPr/>
        </p:nvSpPr>
        <p:spPr>
          <a:xfrm>
            <a:off x="1996975" y="8592927"/>
            <a:ext cx="1476483" cy="454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100000"/>
              </a:lnSpc>
              <a:spcBef>
                <a:spcPts val="200"/>
              </a:spcBef>
              <a:spcAft>
                <a:spcPts val="0"/>
              </a:spcAft>
              <a:buClrTx/>
              <a:buSzTx/>
              <a:buFontTx/>
              <a:buNone/>
              <a:tabLst/>
            </a:pPr>
            <a:r>
              <a:rPr lang="en-US" sz="1000">
                <a:solidFill>
                  <a:srgbClr val="000000"/>
                </a:solidFill>
              </a:rPr>
              <a:t>project1.yml + analysisB.yml</a:t>
            </a:r>
            <a:endParaRPr lang="en-US" sz="1000" b="1" i="0" u="none" strike="noStrike" cap="none" spc="0" normalizeH="0" baseline="0">
              <a:ln>
                <a:noFill/>
              </a:ln>
              <a:solidFill>
                <a:srgbClr val="000000"/>
              </a:solidFill>
              <a:effectLst/>
              <a:uFillTx/>
              <a:latin typeface="Source Sans Pro"/>
              <a:ea typeface="Source Sans Pro"/>
              <a:cs typeface="Source Sans Pro"/>
            </a:endParaRPr>
          </a:p>
        </p:txBody>
      </p:sp>
      <p:cxnSp>
        <p:nvCxnSpPr>
          <p:cNvPr id="19" name="Straight Arrow Connector 18">
            <a:extLst>
              <a:ext uri="{FF2B5EF4-FFF2-40B4-BE49-F238E27FC236}">
                <a16:creationId xmlns:a16="http://schemas.microsoft.com/office/drawing/2014/main" id="{8C0B5DF2-0BE9-19C5-DF42-8DB87EDB077A}"/>
              </a:ext>
            </a:extLst>
          </p:cNvPr>
          <p:cNvCxnSpPr/>
          <p:nvPr/>
        </p:nvCxnSpPr>
        <p:spPr>
          <a:xfrm flipH="1">
            <a:off x="1713673" y="9575828"/>
            <a:ext cx="279121" cy="517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86998E1E-60C5-4837-1769-D43E3F0E2B3E}"/>
              </a:ext>
            </a:extLst>
          </p:cNvPr>
          <p:cNvCxnSpPr/>
          <p:nvPr/>
        </p:nvCxnSpPr>
        <p:spPr>
          <a:xfrm flipH="1">
            <a:off x="1983283" y="8527771"/>
            <a:ext cx="3328" cy="1072454"/>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3BBA75B9-AD4C-18D5-DE84-906A03298FDF}"/>
              </a:ext>
            </a:extLst>
          </p:cNvPr>
          <p:cNvSpPr txBox="1"/>
          <p:nvPr/>
        </p:nvSpPr>
        <p:spPr>
          <a:xfrm>
            <a:off x="5011890" y="5454558"/>
            <a:ext cx="97754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project.yml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sp>
        <p:nvSpPr>
          <p:cNvPr id="338" name="TextBox 337">
            <a:extLst>
              <a:ext uri="{FF2B5EF4-FFF2-40B4-BE49-F238E27FC236}">
                <a16:creationId xmlns:a16="http://schemas.microsoft.com/office/drawing/2014/main" id="{FD4B199C-CC7E-27E1-4353-DC262335685A}"/>
              </a:ext>
            </a:extLst>
          </p:cNvPr>
          <p:cNvSpPr txBox="1"/>
          <p:nvPr/>
        </p:nvSpPr>
        <p:spPr>
          <a:xfrm>
            <a:off x="6022638" y="5455499"/>
            <a:ext cx="109565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analysis.yml</a:t>
            </a:r>
            <a:endParaRPr lang="en-US" sz="1200" b="1" i="0" u="none" strike="noStrike" cap="none" spc="0" normalizeH="0" baseline="0">
              <a:ln>
                <a:noFill/>
              </a:ln>
              <a:solidFill>
                <a:srgbClr val="4C4C4C"/>
              </a:solidFill>
              <a:effectLst/>
              <a:uFillTx/>
              <a:latin typeface="Source Sans Pro"/>
              <a:ea typeface="Source Sans Pro"/>
              <a:cs typeface="Source Sans Pro"/>
            </a:endParaRPr>
          </a:p>
        </p:txBody>
      </p:sp>
      <p:pic>
        <p:nvPicPr>
          <p:cNvPr id="357" name="Picture 356" descr="A stack of white paper&#10;&#10;AI-generated content may be incorrect.">
            <a:extLst>
              <a:ext uri="{FF2B5EF4-FFF2-40B4-BE49-F238E27FC236}">
                <a16:creationId xmlns:a16="http://schemas.microsoft.com/office/drawing/2014/main" id="{EC651565-A812-E7ED-EA1E-F018713E96E1}"/>
              </a:ext>
            </a:extLst>
          </p:cNvPr>
          <p:cNvPicPr>
            <a:picLocks noChangeAspect="1"/>
          </p:cNvPicPr>
          <p:nvPr/>
        </p:nvPicPr>
        <p:blipFill>
          <a:blip r:embed="rId17"/>
          <a:stretch>
            <a:fillRect/>
          </a:stretch>
        </p:blipFill>
        <p:spPr>
          <a:xfrm>
            <a:off x="5161656" y="4700873"/>
            <a:ext cx="666623" cy="838200"/>
          </a:xfrm>
          <a:prstGeom prst="rect">
            <a:avLst/>
          </a:prstGeom>
        </p:spPr>
      </p:pic>
      <p:pic>
        <p:nvPicPr>
          <p:cNvPr id="358" name="Picture 357" descr="A stack of white paper&#10;&#10;AI-generated content may be incorrect.">
            <a:extLst>
              <a:ext uri="{FF2B5EF4-FFF2-40B4-BE49-F238E27FC236}">
                <a16:creationId xmlns:a16="http://schemas.microsoft.com/office/drawing/2014/main" id="{1CF413F4-4C8F-96C0-4796-4466DE0A29D4}"/>
              </a:ext>
            </a:extLst>
          </p:cNvPr>
          <p:cNvPicPr>
            <a:picLocks noChangeAspect="1"/>
          </p:cNvPicPr>
          <p:nvPr/>
        </p:nvPicPr>
        <p:blipFill>
          <a:blip r:embed="rId17"/>
          <a:stretch>
            <a:fillRect/>
          </a:stretch>
        </p:blipFill>
        <p:spPr>
          <a:xfrm>
            <a:off x="6146433" y="4700873"/>
            <a:ext cx="666623" cy="838200"/>
          </a:xfrm>
          <a:prstGeom prst="rect">
            <a:avLst/>
          </a:prstGeom>
        </p:spPr>
      </p:pic>
      <p:pic>
        <p:nvPicPr>
          <p:cNvPr id="359" name="Picture 358">
            <a:extLst>
              <a:ext uri="{FF2B5EF4-FFF2-40B4-BE49-F238E27FC236}">
                <a16:creationId xmlns:a16="http://schemas.microsoft.com/office/drawing/2014/main" id="{D9D353C7-35F6-29B0-8A7A-CB53F7511B98}"/>
              </a:ext>
            </a:extLst>
          </p:cNvPr>
          <p:cNvPicPr>
            <a:picLocks noChangeAspect="1"/>
          </p:cNvPicPr>
          <p:nvPr/>
        </p:nvPicPr>
        <p:blipFill>
          <a:blip r:embed="rId14"/>
          <a:stretch>
            <a:fillRect/>
          </a:stretch>
        </p:blipFill>
        <p:spPr>
          <a:xfrm>
            <a:off x="7909422" y="4481066"/>
            <a:ext cx="554321" cy="415604"/>
          </a:xfrm>
          <a:prstGeom prst="rect">
            <a:avLst/>
          </a:prstGeom>
          <a:ln w="28575">
            <a:solidFill>
              <a:schemeClr val="bg1"/>
            </a:solidFill>
          </a:ln>
        </p:spPr>
      </p:pic>
      <p:pic>
        <p:nvPicPr>
          <p:cNvPr id="363" name="Picture 362">
            <a:extLst>
              <a:ext uri="{FF2B5EF4-FFF2-40B4-BE49-F238E27FC236}">
                <a16:creationId xmlns:a16="http://schemas.microsoft.com/office/drawing/2014/main" id="{6AE1E4D7-DFBB-FDD1-8562-90B0CCB13077}"/>
              </a:ext>
            </a:extLst>
          </p:cNvPr>
          <p:cNvPicPr>
            <a:picLocks noChangeAspect="1"/>
          </p:cNvPicPr>
          <p:nvPr/>
        </p:nvPicPr>
        <p:blipFill>
          <a:blip r:embed="rId13"/>
          <a:stretch>
            <a:fillRect/>
          </a:stretch>
        </p:blipFill>
        <p:spPr>
          <a:xfrm>
            <a:off x="11585418" y="3795869"/>
            <a:ext cx="538060" cy="507646"/>
          </a:xfrm>
          <a:prstGeom prst="rect">
            <a:avLst/>
          </a:prstGeom>
        </p:spPr>
      </p:pic>
      <p:sp>
        <p:nvSpPr>
          <p:cNvPr id="365" name="TextBox 364">
            <a:extLst>
              <a:ext uri="{FF2B5EF4-FFF2-40B4-BE49-F238E27FC236}">
                <a16:creationId xmlns:a16="http://schemas.microsoft.com/office/drawing/2014/main" id="{3EC82527-426F-3F0C-ABEA-D739C63DF29D}"/>
              </a:ext>
            </a:extLst>
          </p:cNvPr>
          <p:cNvSpPr txBox="1"/>
          <p:nvPr/>
        </p:nvSpPr>
        <p:spPr>
          <a:xfrm>
            <a:off x="11534104" y="4168473"/>
            <a:ext cx="940417"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a:solidFill>
                  <a:srgbClr val="0B4EB2"/>
                </a:solidFill>
              </a:rPr>
              <a:t>exec/*.R</a:t>
            </a:r>
            <a:endParaRPr lang="en-US" b="0">
              <a:solidFill>
                <a:srgbClr val="000000"/>
              </a:solidFill>
            </a:endParaRPr>
          </a:p>
          <a:p>
            <a:pPr marL="0" marR="0" indent="0" algn="l" defTabSz="584200">
              <a:lnSpc>
                <a:spcPct val="100000"/>
              </a:lnSpc>
              <a:spcBef>
                <a:spcPts val="200"/>
              </a:spcBef>
              <a:spcAft>
                <a:spcPts val="0"/>
              </a:spcAft>
              <a:buClrTx/>
              <a:buSzTx/>
              <a:buFontTx/>
              <a:buNone/>
              <a:tabLst/>
            </a:pPr>
            <a:endParaRPr lang="en-US" sz="1200" b="1" i="0" u="none" strike="noStrike" cap="none" spc="0" normalizeH="0" baseline="0">
              <a:ln>
                <a:noFill/>
              </a:ln>
              <a:solidFill>
                <a:srgbClr val="FF0000"/>
              </a:solidFill>
              <a:effectLst/>
              <a:uFillTx/>
              <a:latin typeface="Source Sans Pro"/>
              <a:ea typeface="Source Sans Pro"/>
              <a:cs typeface="Source Sans Pro"/>
            </a:endParaRPr>
          </a:p>
        </p:txBody>
      </p:sp>
      <p:sp>
        <p:nvSpPr>
          <p:cNvPr id="366" name="Logistics">
            <a:extLst>
              <a:ext uri="{FF2B5EF4-FFF2-40B4-BE49-F238E27FC236}">
                <a16:creationId xmlns:a16="http://schemas.microsoft.com/office/drawing/2014/main" id="{A4B6C6D2-47F3-92EB-B7A9-75EDE957AA50}"/>
              </a:ext>
            </a:extLst>
          </p:cNvPr>
          <p:cNvSpPr txBox="1"/>
          <p:nvPr/>
        </p:nvSpPr>
        <p:spPr>
          <a:xfrm>
            <a:off x="9507228" y="6472353"/>
            <a:ext cx="24609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cs typeface="Arial"/>
              </a:rPr>
              <a:t>Data Pipelines</a:t>
            </a:r>
            <a:endParaRPr lang="en-US"/>
          </a:p>
        </p:txBody>
      </p:sp>
      <p:sp>
        <p:nvSpPr>
          <p:cNvPr id="367" name="TextBox 366">
            <a:extLst>
              <a:ext uri="{FF2B5EF4-FFF2-40B4-BE49-F238E27FC236}">
                <a16:creationId xmlns:a16="http://schemas.microsoft.com/office/drawing/2014/main" id="{0C34E4C1-6463-D292-8897-8E412FB3D48C}"/>
              </a:ext>
            </a:extLst>
          </p:cNvPr>
          <p:cNvSpPr txBox="1"/>
          <p:nvPr/>
        </p:nvSpPr>
        <p:spPr>
          <a:xfrm>
            <a:off x="9489530" y="6848377"/>
            <a:ext cx="4269963"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dirty="0">
                <a:solidFill>
                  <a:srgbClr val="000000"/>
                </a:solidFill>
                <a:cs typeface="Helvetica"/>
              </a:rPr>
              <a:t>Executables can also be chained together to construct more complex pipelines. By using different combinations of </a:t>
            </a:r>
            <a:r>
              <a:rPr lang="en-US" b="0" dirty="0" err="1">
                <a:solidFill>
                  <a:srgbClr val="000000"/>
                </a:solidFill>
                <a:cs typeface="Helvetica"/>
              </a:rPr>
              <a:t>project.yml</a:t>
            </a:r>
            <a:r>
              <a:rPr lang="en-US" b="0" dirty="0">
                <a:solidFill>
                  <a:srgbClr val="000000"/>
                </a:solidFill>
                <a:cs typeface="Helvetica"/>
              </a:rPr>
              <a:t> and </a:t>
            </a:r>
            <a:r>
              <a:rPr lang="en-US" b="0" dirty="0" err="1">
                <a:solidFill>
                  <a:srgbClr val="000000"/>
                </a:solidFill>
                <a:cs typeface="Helvetica"/>
              </a:rPr>
              <a:t>analysis.yml</a:t>
            </a:r>
            <a:r>
              <a:rPr lang="en-US" b="0" dirty="0">
                <a:solidFill>
                  <a:srgbClr val="000000"/>
                </a:solidFill>
                <a:cs typeface="Helvetica"/>
              </a:rPr>
              <a:t> files, this can facilitate extending data pipelines, much like chaining commands in bash. </a:t>
            </a:r>
            <a:endParaRPr lang="en-US" dirty="0">
              <a:solidFill>
                <a:srgbClr val="000000"/>
              </a:solidFill>
            </a:endParaRPr>
          </a:p>
        </p:txBody>
      </p:sp>
      <p:sp>
        <p:nvSpPr>
          <p:cNvPr id="372" name="TextBox 371">
            <a:extLst>
              <a:ext uri="{FF2B5EF4-FFF2-40B4-BE49-F238E27FC236}">
                <a16:creationId xmlns:a16="http://schemas.microsoft.com/office/drawing/2014/main" id="{8DB97A55-2CF0-4119-9CDC-D6B86978C245}"/>
              </a:ext>
            </a:extLst>
          </p:cNvPr>
          <p:cNvSpPr txBox="1"/>
          <p:nvPr/>
        </p:nvSpPr>
        <p:spPr>
          <a:xfrm>
            <a:off x="4672584" y="1688503"/>
            <a:ext cx="4547018" cy="12610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b="0">
                <a:solidFill>
                  <a:srgbClr val="000000"/>
                </a:solidFill>
                <a:cs typeface="Helvetica"/>
              </a:rPr>
              <a:t>Any project.yml files (1) can be combined with any analysis.yml files (2). This allows users to run the same analysis on multiple projects or run different analyses on the same project, reducing duplication of configuration sections. See Configuration (.yml) cheatsheet for more information.</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374" name="Logistics">
            <a:extLst>
              <a:ext uri="{FF2B5EF4-FFF2-40B4-BE49-F238E27FC236}">
                <a16:creationId xmlns:a16="http://schemas.microsoft.com/office/drawing/2014/main" id="{4438DBAA-186E-F800-433E-6CFD2C160DCF}"/>
              </a:ext>
            </a:extLst>
          </p:cNvPr>
          <p:cNvSpPr txBox="1"/>
          <p:nvPr/>
        </p:nvSpPr>
        <p:spPr>
          <a:xfrm>
            <a:off x="4461143" y="1463040"/>
            <a:ext cx="4070303" cy="528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t">
            <a:spAutoFit/>
          </a:bodyPr>
          <a:lstStyle/>
          <a:p>
            <a:pPr lvl="1">
              <a:defRPr sz="2500" b="0">
                <a:solidFill>
                  <a:srgbClr val="628DB5"/>
                </a:solidFill>
              </a:defRPr>
            </a:pPr>
            <a:r>
              <a:rPr lang="en-US" sz="1800" dirty="0">
                <a:solidFill>
                  <a:schemeClr val="tx1"/>
                </a:solidFill>
                <a:cs typeface="Arial"/>
              </a:rPr>
              <a:t>Interchangeable Configurations</a:t>
            </a:r>
            <a:endParaRPr lang="en-US" sz="1800" dirty="0">
              <a:solidFill>
                <a:schemeClr val="tx1"/>
              </a:solidFill>
            </a:endParaRPr>
          </a:p>
          <a:p>
            <a:pPr lvl="1" indent="0">
              <a:lnSpc>
                <a:spcPct val="80000"/>
              </a:lnSpc>
              <a:spcBef>
                <a:spcPts val="0"/>
              </a:spcBef>
              <a:defRPr sz="2500" b="0">
                <a:solidFill>
                  <a:srgbClr val="628DB5"/>
                </a:solidFill>
              </a:defRPr>
            </a:pPr>
            <a:endParaRPr lang="en-US" sz="1800" dirty="0">
              <a:solidFill>
                <a:schemeClr val="tx1"/>
              </a:solidFill>
              <a:cs typeface="Arial"/>
            </a:endParaRPr>
          </a:p>
        </p:txBody>
      </p:sp>
      <p:sp>
        <p:nvSpPr>
          <p:cNvPr id="21" name="TextBox 20">
            <a:extLst>
              <a:ext uri="{FF2B5EF4-FFF2-40B4-BE49-F238E27FC236}">
                <a16:creationId xmlns:a16="http://schemas.microsoft.com/office/drawing/2014/main" id="{AA9BE487-107A-8404-41B2-E6AFB398D087}"/>
              </a:ext>
            </a:extLst>
          </p:cNvPr>
          <p:cNvSpPr txBox="1"/>
          <p:nvPr/>
        </p:nvSpPr>
        <p:spPr>
          <a:xfrm>
            <a:off x="6339064" y="6847726"/>
            <a:ext cx="718914"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algn="l"/>
            <a:r>
              <a:rPr lang="en-US">
                <a:solidFill>
                  <a:srgbClr val="0B4EB2"/>
                </a:solidFill>
                <a:cs typeface="Helvetica"/>
              </a:rPr>
              <a:t>exec/*.R</a:t>
            </a:r>
            <a:endParaRPr lang="en-US" b="1">
              <a:solidFill>
                <a:srgbClr val="0B4EB2"/>
              </a:solidFill>
              <a:cs typeface="Helvetica"/>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3" name="Picture 32">
            <a:extLst>
              <a:ext uri="{FF2B5EF4-FFF2-40B4-BE49-F238E27FC236}">
                <a16:creationId xmlns:a16="http://schemas.microsoft.com/office/drawing/2014/main" id="{CF3E97C7-6B57-D548-8EC8-5E8BD0C9470B}"/>
              </a:ext>
            </a:extLst>
          </p:cNvPr>
          <p:cNvPicPr>
            <a:picLocks noChangeAspect="1"/>
          </p:cNvPicPr>
          <p:nvPr/>
        </p:nvPicPr>
        <p:blipFill>
          <a:blip r:embed="rId13"/>
          <a:stretch>
            <a:fillRect/>
          </a:stretch>
        </p:blipFill>
        <p:spPr>
          <a:xfrm>
            <a:off x="10199549" y="8507016"/>
            <a:ext cx="538060" cy="507646"/>
          </a:xfrm>
          <a:prstGeom prst="rect">
            <a:avLst/>
          </a:prstGeom>
        </p:spPr>
      </p:pic>
      <p:pic>
        <p:nvPicPr>
          <p:cNvPr id="36" name="Picture 35">
            <a:extLst>
              <a:ext uri="{FF2B5EF4-FFF2-40B4-BE49-F238E27FC236}">
                <a16:creationId xmlns:a16="http://schemas.microsoft.com/office/drawing/2014/main" id="{9AB51507-4668-9192-3D64-28BC3F24E34C}"/>
              </a:ext>
            </a:extLst>
          </p:cNvPr>
          <p:cNvPicPr>
            <a:picLocks noChangeAspect="1"/>
          </p:cNvPicPr>
          <p:nvPr/>
        </p:nvPicPr>
        <p:blipFill>
          <a:blip r:embed="rId13"/>
          <a:stretch>
            <a:fillRect/>
          </a:stretch>
        </p:blipFill>
        <p:spPr>
          <a:xfrm>
            <a:off x="10199637" y="7868327"/>
            <a:ext cx="538060" cy="507646"/>
          </a:xfrm>
          <a:prstGeom prst="rect">
            <a:avLst/>
          </a:prstGeom>
        </p:spPr>
      </p:pic>
      <p:pic>
        <p:nvPicPr>
          <p:cNvPr id="46" name="Picture 45">
            <a:extLst>
              <a:ext uri="{FF2B5EF4-FFF2-40B4-BE49-F238E27FC236}">
                <a16:creationId xmlns:a16="http://schemas.microsoft.com/office/drawing/2014/main" id="{60A7490F-3CB7-6B9D-BBEF-C69EE9F0464A}"/>
              </a:ext>
            </a:extLst>
          </p:cNvPr>
          <p:cNvPicPr>
            <a:picLocks noChangeAspect="1"/>
          </p:cNvPicPr>
          <p:nvPr/>
        </p:nvPicPr>
        <p:blipFill>
          <a:blip r:embed="rId13"/>
          <a:stretch>
            <a:fillRect/>
          </a:stretch>
        </p:blipFill>
        <p:spPr>
          <a:xfrm>
            <a:off x="11441446" y="7850639"/>
            <a:ext cx="538060" cy="507646"/>
          </a:xfrm>
          <a:prstGeom prst="rect">
            <a:avLst/>
          </a:prstGeom>
        </p:spPr>
      </p:pic>
      <p:pic>
        <p:nvPicPr>
          <p:cNvPr id="59" name="Picture 58">
            <a:extLst>
              <a:ext uri="{FF2B5EF4-FFF2-40B4-BE49-F238E27FC236}">
                <a16:creationId xmlns:a16="http://schemas.microsoft.com/office/drawing/2014/main" id="{79022F78-7700-EAC4-D60C-98D3225FE9A1}"/>
              </a:ext>
            </a:extLst>
          </p:cNvPr>
          <p:cNvPicPr>
            <a:picLocks noChangeAspect="1"/>
          </p:cNvPicPr>
          <p:nvPr/>
        </p:nvPicPr>
        <p:blipFill>
          <a:blip r:embed="rId13"/>
          <a:stretch>
            <a:fillRect/>
          </a:stretch>
        </p:blipFill>
        <p:spPr>
          <a:xfrm>
            <a:off x="11477011" y="8507180"/>
            <a:ext cx="538060" cy="507646"/>
          </a:xfrm>
          <a:prstGeom prst="rect">
            <a:avLst/>
          </a:prstGeom>
        </p:spPr>
      </p:pic>
      <p:pic>
        <p:nvPicPr>
          <p:cNvPr id="61" name="table">
            <a:extLst>
              <a:ext uri="{FF2B5EF4-FFF2-40B4-BE49-F238E27FC236}">
                <a16:creationId xmlns:a16="http://schemas.microsoft.com/office/drawing/2014/main" id="{C8B0ECF8-2923-7DF5-4303-078D5C0012BA}"/>
              </a:ext>
            </a:extLst>
          </p:cNvPr>
          <p:cNvPicPr>
            <a:picLocks noChangeAspect="1"/>
          </p:cNvPicPr>
          <p:nvPr/>
        </p:nvPicPr>
        <p:blipFill>
          <a:blip r:embed="rId6"/>
          <a:stretch>
            <a:fillRect/>
          </a:stretch>
        </p:blipFill>
        <p:spPr>
          <a:xfrm>
            <a:off x="10965727" y="7980540"/>
            <a:ext cx="267508" cy="302355"/>
          </a:xfrm>
          <a:prstGeom prst="rect">
            <a:avLst/>
          </a:prstGeom>
        </p:spPr>
      </p:pic>
      <p:pic>
        <p:nvPicPr>
          <p:cNvPr id="62" name="table">
            <a:extLst>
              <a:ext uri="{FF2B5EF4-FFF2-40B4-BE49-F238E27FC236}">
                <a16:creationId xmlns:a16="http://schemas.microsoft.com/office/drawing/2014/main" id="{9C97E918-F51D-FE78-E08F-2F947EC4669E}"/>
              </a:ext>
            </a:extLst>
          </p:cNvPr>
          <p:cNvPicPr>
            <a:picLocks noChangeAspect="1"/>
          </p:cNvPicPr>
          <p:nvPr/>
        </p:nvPicPr>
        <p:blipFill>
          <a:blip r:embed="rId6"/>
          <a:stretch>
            <a:fillRect/>
          </a:stretch>
        </p:blipFill>
        <p:spPr>
          <a:xfrm>
            <a:off x="13575937" y="8849995"/>
            <a:ext cx="267508" cy="302355"/>
          </a:xfrm>
          <a:prstGeom prst="rect">
            <a:avLst/>
          </a:prstGeom>
        </p:spPr>
      </p:pic>
      <p:pic>
        <p:nvPicPr>
          <p:cNvPr id="63" name="table">
            <a:extLst>
              <a:ext uri="{FF2B5EF4-FFF2-40B4-BE49-F238E27FC236}">
                <a16:creationId xmlns:a16="http://schemas.microsoft.com/office/drawing/2014/main" id="{F2000093-683C-CBC4-2725-B4E1DD0431DA}"/>
              </a:ext>
            </a:extLst>
          </p:cNvPr>
          <p:cNvPicPr>
            <a:picLocks noChangeAspect="1"/>
          </p:cNvPicPr>
          <p:nvPr/>
        </p:nvPicPr>
        <p:blipFill>
          <a:blip r:embed="rId6"/>
          <a:stretch>
            <a:fillRect/>
          </a:stretch>
        </p:blipFill>
        <p:spPr>
          <a:xfrm>
            <a:off x="10968405" y="8646007"/>
            <a:ext cx="267508" cy="302355"/>
          </a:xfrm>
          <a:prstGeom prst="rect">
            <a:avLst/>
          </a:prstGeom>
        </p:spPr>
      </p:pic>
      <p:pic>
        <p:nvPicPr>
          <p:cNvPr id="256" name="table">
            <a:extLst>
              <a:ext uri="{FF2B5EF4-FFF2-40B4-BE49-F238E27FC236}">
                <a16:creationId xmlns:a16="http://schemas.microsoft.com/office/drawing/2014/main" id="{31C39AD7-3E55-B14D-5D3A-688B0D059B91}"/>
              </a:ext>
            </a:extLst>
          </p:cNvPr>
          <p:cNvPicPr>
            <a:picLocks noChangeAspect="1"/>
          </p:cNvPicPr>
          <p:nvPr/>
        </p:nvPicPr>
        <p:blipFill>
          <a:blip r:embed="rId6"/>
          <a:stretch>
            <a:fillRect/>
          </a:stretch>
        </p:blipFill>
        <p:spPr>
          <a:xfrm>
            <a:off x="12192476" y="7936346"/>
            <a:ext cx="267508" cy="302355"/>
          </a:xfrm>
          <a:prstGeom prst="rect">
            <a:avLst/>
          </a:prstGeom>
        </p:spPr>
      </p:pic>
      <p:pic>
        <p:nvPicPr>
          <p:cNvPr id="257" name="table">
            <a:extLst>
              <a:ext uri="{FF2B5EF4-FFF2-40B4-BE49-F238E27FC236}">
                <a16:creationId xmlns:a16="http://schemas.microsoft.com/office/drawing/2014/main" id="{46A5C4EE-FF6A-F6D1-5394-20AD21A63B5D}"/>
              </a:ext>
            </a:extLst>
          </p:cNvPr>
          <p:cNvPicPr>
            <a:picLocks noChangeAspect="1"/>
          </p:cNvPicPr>
          <p:nvPr/>
        </p:nvPicPr>
        <p:blipFill>
          <a:blip r:embed="rId6"/>
          <a:stretch>
            <a:fillRect/>
          </a:stretch>
        </p:blipFill>
        <p:spPr>
          <a:xfrm>
            <a:off x="12201431" y="8619501"/>
            <a:ext cx="267508" cy="302355"/>
          </a:xfrm>
          <a:prstGeom prst="rect">
            <a:avLst/>
          </a:prstGeom>
        </p:spPr>
      </p:pic>
      <p:pic>
        <p:nvPicPr>
          <p:cNvPr id="263" name="Picture 262">
            <a:extLst>
              <a:ext uri="{FF2B5EF4-FFF2-40B4-BE49-F238E27FC236}">
                <a16:creationId xmlns:a16="http://schemas.microsoft.com/office/drawing/2014/main" id="{65587AA4-A274-2167-9581-3AAAF1ADF4E5}"/>
              </a:ext>
            </a:extLst>
          </p:cNvPr>
          <p:cNvPicPr>
            <a:picLocks noChangeAspect="1"/>
          </p:cNvPicPr>
          <p:nvPr/>
        </p:nvPicPr>
        <p:blipFill>
          <a:blip r:embed="rId13"/>
          <a:stretch>
            <a:fillRect/>
          </a:stretch>
        </p:blipFill>
        <p:spPr>
          <a:xfrm>
            <a:off x="12836644" y="8764452"/>
            <a:ext cx="538060" cy="507646"/>
          </a:xfrm>
          <a:prstGeom prst="rect">
            <a:avLst/>
          </a:prstGeom>
        </p:spPr>
      </p:pic>
      <p:pic>
        <p:nvPicPr>
          <p:cNvPr id="267" name="Picture 266" descr="A close-up of a letter&#10;&#10;AI-generated content may be incorrect.">
            <a:extLst>
              <a:ext uri="{FF2B5EF4-FFF2-40B4-BE49-F238E27FC236}">
                <a16:creationId xmlns:a16="http://schemas.microsoft.com/office/drawing/2014/main" id="{878132F5-3389-78E5-B846-6D490CD4BD1F}"/>
              </a:ext>
            </a:extLst>
          </p:cNvPr>
          <p:cNvPicPr>
            <a:picLocks noChangeAspect="1"/>
          </p:cNvPicPr>
          <p:nvPr/>
        </p:nvPicPr>
        <p:blipFill>
          <a:blip r:embed="rId12"/>
          <a:stretch>
            <a:fillRect/>
          </a:stretch>
        </p:blipFill>
        <p:spPr>
          <a:xfrm>
            <a:off x="9495569" y="8532644"/>
            <a:ext cx="396915" cy="386557"/>
          </a:xfrm>
          <a:prstGeom prst="rect">
            <a:avLst/>
          </a:prstGeom>
          <a:ln w="28575">
            <a:solidFill>
              <a:schemeClr val="bg1"/>
            </a:solidFill>
          </a:ln>
        </p:spPr>
      </p:pic>
      <p:pic>
        <p:nvPicPr>
          <p:cNvPr id="278" name="Picture 277">
            <a:extLst>
              <a:ext uri="{FF2B5EF4-FFF2-40B4-BE49-F238E27FC236}">
                <a16:creationId xmlns:a16="http://schemas.microsoft.com/office/drawing/2014/main" id="{36EC99FC-0D7A-7700-CDA8-3F9A54D1FE61}"/>
              </a:ext>
            </a:extLst>
          </p:cNvPr>
          <p:cNvPicPr>
            <a:picLocks noChangeAspect="1"/>
          </p:cNvPicPr>
          <p:nvPr/>
        </p:nvPicPr>
        <p:blipFill>
          <a:blip r:embed="rId14"/>
          <a:stretch>
            <a:fillRect/>
          </a:stretch>
        </p:blipFill>
        <p:spPr>
          <a:xfrm>
            <a:off x="9494497" y="7930221"/>
            <a:ext cx="554321" cy="415604"/>
          </a:xfrm>
          <a:prstGeom prst="rect">
            <a:avLst/>
          </a:prstGeom>
          <a:ln w="28575">
            <a:solidFill>
              <a:schemeClr val="bg1"/>
            </a:solidFill>
          </a:ln>
        </p:spPr>
      </p:pic>
      <p:cxnSp>
        <p:nvCxnSpPr>
          <p:cNvPr id="279" name="Straight Arrow Connector 278">
            <a:extLst>
              <a:ext uri="{FF2B5EF4-FFF2-40B4-BE49-F238E27FC236}">
                <a16:creationId xmlns:a16="http://schemas.microsoft.com/office/drawing/2014/main" id="{4AB638C6-D00E-6E29-E3DB-FE40D0E71478}"/>
              </a:ext>
            </a:extLst>
          </p:cNvPr>
          <p:cNvCxnSpPr/>
          <p:nvPr/>
        </p:nvCxnSpPr>
        <p:spPr>
          <a:xfrm>
            <a:off x="10029205" y="811939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671B2D31-A5CD-AF34-86EC-A491A53C8369}"/>
              </a:ext>
            </a:extLst>
          </p:cNvPr>
          <p:cNvCxnSpPr>
            <a:cxnSpLocks/>
          </p:cNvCxnSpPr>
          <p:nvPr/>
        </p:nvCxnSpPr>
        <p:spPr>
          <a:xfrm>
            <a:off x="10696753" y="812832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0663ADFA-2B68-52D2-7E25-D58964BC77E3}"/>
              </a:ext>
            </a:extLst>
          </p:cNvPr>
          <p:cNvCxnSpPr>
            <a:cxnSpLocks/>
          </p:cNvCxnSpPr>
          <p:nvPr/>
        </p:nvCxnSpPr>
        <p:spPr>
          <a:xfrm>
            <a:off x="9969544" y="87937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3A686611-9251-97B1-F4BF-EE848475E2EC}"/>
              </a:ext>
            </a:extLst>
          </p:cNvPr>
          <p:cNvCxnSpPr>
            <a:cxnSpLocks/>
          </p:cNvCxnSpPr>
          <p:nvPr/>
        </p:nvCxnSpPr>
        <p:spPr>
          <a:xfrm>
            <a:off x="10696926" y="881153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4" name="Straight Arrow Connector 283">
            <a:extLst>
              <a:ext uri="{FF2B5EF4-FFF2-40B4-BE49-F238E27FC236}">
                <a16:creationId xmlns:a16="http://schemas.microsoft.com/office/drawing/2014/main" id="{DFF22EAB-9FB8-16BD-EBA1-3C30B0AE4A33}"/>
              </a:ext>
            </a:extLst>
          </p:cNvPr>
          <p:cNvCxnSpPr>
            <a:cxnSpLocks/>
          </p:cNvCxnSpPr>
          <p:nvPr/>
        </p:nvCxnSpPr>
        <p:spPr>
          <a:xfrm>
            <a:off x="11246918" y="811961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5" name="Straight Arrow Connector 284">
            <a:extLst>
              <a:ext uri="{FF2B5EF4-FFF2-40B4-BE49-F238E27FC236}">
                <a16:creationId xmlns:a16="http://schemas.microsoft.com/office/drawing/2014/main" id="{BB686367-5FE5-7606-A969-E865AFB50A81}"/>
              </a:ext>
            </a:extLst>
          </p:cNvPr>
          <p:cNvCxnSpPr>
            <a:cxnSpLocks/>
          </p:cNvCxnSpPr>
          <p:nvPr/>
        </p:nvCxnSpPr>
        <p:spPr>
          <a:xfrm>
            <a:off x="11238135" y="879389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9" name="Straight Arrow Connector 298">
            <a:extLst>
              <a:ext uri="{FF2B5EF4-FFF2-40B4-BE49-F238E27FC236}">
                <a16:creationId xmlns:a16="http://schemas.microsoft.com/office/drawing/2014/main" id="{661552C2-C8BF-223E-06FF-2EF05B198EE7}"/>
              </a:ext>
            </a:extLst>
          </p:cNvPr>
          <p:cNvCxnSpPr>
            <a:cxnSpLocks/>
          </p:cNvCxnSpPr>
          <p:nvPr/>
        </p:nvCxnSpPr>
        <p:spPr>
          <a:xfrm>
            <a:off x="11965517" y="8793953"/>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1" name="Straight Arrow Connector 300">
            <a:extLst>
              <a:ext uri="{FF2B5EF4-FFF2-40B4-BE49-F238E27FC236}">
                <a16:creationId xmlns:a16="http://schemas.microsoft.com/office/drawing/2014/main" id="{A218B5F7-7675-77AB-0D42-3F97E3D70D55}"/>
              </a:ext>
            </a:extLst>
          </p:cNvPr>
          <p:cNvCxnSpPr>
            <a:cxnSpLocks/>
          </p:cNvCxnSpPr>
          <p:nvPr/>
        </p:nvCxnSpPr>
        <p:spPr>
          <a:xfrm>
            <a:off x="11956735" y="812864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1" name="Straight Arrow Connector 310">
            <a:extLst>
              <a:ext uri="{FF2B5EF4-FFF2-40B4-BE49-F238E27FC236}">
                <a16:creationId xmlns:a16="http://schemas.microsoft.com/office/drawing/2014/main" id="{7057EEAA-AF3B-3195-0AF9-8A2F897A66B2}"/>
              </a:ext>
            </a:extLst>
          </p:cNvPr>
          <p:cNvCxnSpPr>
            <a:cxnSpLocks/>
          </p:cNvCxnSpPr>
          <p:nvPr/>
        </p:nvCxnSpPr>
        <p:spPr>
          <a:xfrm>
            <a:off x="13340455" y="9015848"/>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3" name="TextBox 332">
            <a:extLst>
              <a:ext uri="{FF2B5EF4-FFF2-40B4-BE49-F238E27FC236}">
                <a16:creationId xmlns:a16="http://schemas.microsoft.com/office/drawing/2014/main" id="{BDE26BEE-7FF5-5741-7452-A81BF6A19A94}"/>
              </a:ext>
            </a:extLst>
          </p:cNvPr>
          <p:cNvSpPr txBox="1"/>
          <p:nvPr/>
        </p:nvSpPr>
        <p:spPr>
          <a:xfrm>
            <a:off x="6674440" y="9077251"/>
            <a:ext cx="3206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a:t>...</a:t>
            </a: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336" name="Straight Arrow Connector 335">
            <a:extLst>
              <a:ext uri="{FF2B5EF4-FFF2-40B4-BE49-F238E27FC236}">
                <a16:creationId xmlns:a16="http://schemas.microsoft.com/office/drawing/2014/main" id="{4D4C9F69-B6CF-7F08-6010-4BDD30F0BE79}"/>
              </a:ext>
            </a:extLst>
          </p:cNvPr>
          <p:cNvCxnSpPr/>
          <p:nvPr/>
        </p:nvCxnSpPr>
        <p:spPr>
          <a:xfrm>
            <a:off x="5476160" y="5990099"/>
            <a:ext cx="2786744" cy="2054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Arrow Connector 338">
            <a:extLst>
              <a:ext uri="{FF2B5EF4-FFF2-40B4-BE49-F238E27FC236}">
                <a16:creationId xmlns:a16="http://schemas.microsoft.com/office/drawing/2014/main" id="{33AC309D-62D4-34C6-E9EC-BA7B92451202}"/>
              </a:ext>
            </a:extLst>
          </p:cNvPr>
          <p:cNvCxnSpPr/>
          <p:nvPr/>
        </p:nvCxnSpPr>
        <p:spPr>
          <a:xfrm>
            <a:off x="8240318" y="5254399"/>
            <a:ext cx="4975" cy="746325"/>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0" name="Straight Arrow Connector 339">
            <a:extLst>
              <a:ext uri="{FF2B5EF4-FFF2-40B4-BE49-F238E27FC236}">
                <a16:creationId xmlns:a16="http://schemas.microsoft.com/office/drawing/2014/main" id="{6EB6D909-E0EA-A523-98D0-BD1B3E93FC63}"/>
              </a:ext>
            </a:extLst>
          </p:cNvPr>
          <p:cNvCxnSpPr/>
          <p:nvPr/>
        </p:nvCxnSpPr>
        <p:spPr>
          <a:xfrm flipH="1" flipV="1">
            <a:off x="5476491" y="5738690"/>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5" name="Straight Arrow Connector 354">
            <a:extLst>
              <a:ext uri="{FF2B5EF4-FFF2-40B4-BE49-F238E27FC236}">
                <a16:creationId xmlns:a16="http://schemas.microsoft.com/office/drawing/2014/main" id="{222DA967-868D-0B7A-A275-0D370047D32B}"/>
              </a:ext>
            </a:extLst>
          </p:cNvPr>
          <p:cNvCxnSpPr>
            <a:cxnSpLocks/>
          </p:cNvCxnSpPr>
          <p:nvPr/>
        </p:nvCxnSpPr>
        <p:spPr>
          <a:xfrm flipH="1" flipV="1">
            <a:off x="6452587" y="5731053"/>
            <a:ext cx="2668" cy="262126"/>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6" name="Straight Arrow Connector 355">
            <a:extLst>
              <a:ext uri="{FF2B5EF4-FFF2-40B4-BE49-F238E27FC236}">
                <a16:creationId xmlns:a16="http://schemas.microsoft.com/office/drawing/2014/main" id="{05642E6A-A47A-8025-9F29-E31AE3663E2C}"/>
              </a:ext>
            </a:extLst>
          </p:cNvPr>
          <p:cNvCxnSpPr/>
          <p:nvPr/>
        </p:nvCxnSpPr>
        <p:spPr>
          <a:xfrm>
            <a:off x="6722531" y="5989650"/>
            <a:ext cx="4972" cy="28793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1CBA1AF2-C38F-7D07-EED4-4D59F5B0D3B6}"/>
              </a:ext>
            </a:extLst>
          </p:cNvPr>
          <p:cNvSpPr txBox="1"/>
          <p:nvPr/>
        </p:nvSpPr>
        <p:spPr>
          <a:xfrm rot="5400000">
            <a:off x="9399955" y="9171237"/>
            <a:ext cx="806094"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r>
              <a:rPr lang="en-US" sz="2400">
                <a:solidFill>
                  <a:srgbClr val="000000"/>
                </a:solidFill>
                <a:latin typeface="Source Sans Pro SemiBold"/>
                <a:ea typeface="Source Sans Pro SemiBold"/>
              </a:rPr>
              <a:t>. . .</a:t>
            </a:r>
          </a:p>
        </p:txBody>
      </p:sp>
      <p:pic>
        <p:nvPicPr>
          <p:cNvPr id="20" name="Picture 19">
            <a:extLst>
              <a:ext uri="{FF2B5EF4-FFF2-40B4-BE49-F238E27FC236}">
                <a16:creationId xmlns:a16="http://schemas.microsoft.com/office/drawing/2014/main" id="{D9BD99B7-E5F5-2DDC-130E-2F5101074375}"/>
              </a:ext>
            </a:extLst>
          </p:cNvPr>
          <p:cNvPicPr>
            <a:picLocks noChangeAspect="1"/>
          </p:cNvPicPr>
          <p:nvPr/>
        </p:nvPicPr>
        <p:blipFill>
          <a:blip r:embed="rId13"/>
          <a:stretch>
            <a:fillRect/>
          </a:stretch>
        </p:blipFill>
        <p:spPr>
          <a:xfrm>
            <a:off x="10193141" y="9536212"/>
            <a:ext cx="538060" cy="507646"/>
          </a:xfrm>
          <a:prstGeom prst="rect">
            <a:avLst/>
          </a:prstGeom>
        </p:spPr>
      </p:pic>
      <p:pic>
        <p:nvPicPr>
          <p:cNvPr id="26" name="Picture 25">
            <a:extLst>
              <a:ext uri="{FF2B5EF4-FFF2-40B4-BE49-F238E27FC236}">
                <a16:creationId xmlns:a16="http://schemas.microsoft.com/office/drawing/2014/main" id="{ABC68B19-DFF0-D7C6-E5D2-F49BBEAFFA5D}"/>
              </a:ext>
            </a:extLst>
          </p:cNvPr>
          <p:cNvPicPr>
            <a:picLocks noChangeAspect="1"/>
          </p:cNvPicPr>
          <p:nvPr/>
        </p:nvPicPr>
        <p:blipFill>
          <a:blip r:embed="rId13"/>
          <a:stretch>
            <a:fillRect/>
          </a:stretch>
        </p:blipFill>
        <p:spPr>
          <a:xfrm>
            <a:off x="11435228" y="9518524"/>
            <a:ext cx="538060" cy="507646"/>
          </a:xfrm>
          <a:prstGeom prst="rect">
            <a:avLst/>
          </a:prstGeom>
        </p:spPr>
      </p:pic>
      <p:pic>
        <p:nvPicPr>
          <p:cNvPr id="29" name="table">
            <a:extLst>
              <a:ext uri="{FF2B5EF4-FFF2-40B4-BE49-F238E27FC236}">
                <a16:creationId xmlns:a16="http://schemas.microsoft.com/office/drawing/2014/main" id="{856963DD-7A98-E87B-991B-BE4F3CA87AAE}"/>
              </a:ext>
            </a:extLst>
          </p:cNvPr>
          <p:cNvPicPr>
            <a:picLocks noChangeAspect="1"/>
          </p:cNvPicPr>
          <p:nvPr/>
        </p:nvPicPr>
        <p:blipFill>
          <a:blip r:embed="rId6"/>
          <a:stretch>
            <a:fillRect/>
          </a:stretch>
        </p:blipFill>
        <p:spPr>
          <a:xfrm>
            <a:off x="10959403" y="9648425"/>
            <a:ext cx="267508" cy="302355"/>
          </a:xfrm>
          <a:prstGeom prst="rect">
            <a:avLst/>
          </a:prstGeom>
        </p:spPr>
      </p:pic>
      <p:pic>
        <p:nvPicPr>
          <p:cNvPr id="34" name="table">
            <a:extLst>
              <a:ext uri="{FF2B5EF4-FFF2-40B4-BE49-F238E27FC236}">
                <a16:creationId xmlns:a16="http://schemas.microsoft.com/office/drawing/2014/main" id="{50D9F939-C086-BDAA-CF9E-555287D08576}"/>
              </a:ext>
            </a:extLst>
          </p:cNvPr>
          <p:cNvPicPr>
            <a:picLocks noChangeAspect="1"/>
          </p:cNvPicPr>
          <p:nvPr/>
        </p:nvPicPr>
        <p:blipFill>
          <a:blip r:embed="rId6"/>
          <a:stretch>
            <a:fillRect/>
          </a:stretch>
        </p:blipFill>
        <p:spPr>
          <a:xfrm>
            <a:off x="12186427" y="9604231"/>
            <a:ext cx="267508" cy="302355"/>
          </a:xfrm>
          <a:prstGeom prst="rect">
            <a:avLst/>
          </a:prstGeom>
        </p:spPr>
      </p:pic>
      <p:pic>
        <p:nvPicPr>
          <p:cNvPr id="35" name="Picture 34">
            <a:extLst>
              <a:ext uri="{FF2B5EF4-FFF2-40B4-BE49-F238E27FC236}">
                <a16:creationId xmlns:a16="http://schemas.microsoft.com/office/drawing/2014/main" id="{9876AACD-3CF3-C5BA-D3C9-BE28EDDF3CB1}"/>
              </a:ext>
            </a:extLst>
          </p:cNvPr>
          <p:cNvPicPr>
            <a:picLocks noChangeAspect="1"/>
          </p:cNvPicPr>
          <p:nvPr/>
        </p:nvPicPr>
        <p:blipFill>
          <a:blip r:embed="rId14"/>
          <a:stretch>
            <a:fillRect/>
          </a:stretch>
        </p:blipFill>
        <p:spPr>
          <a:xfrm>
            <a:off x="9487843" y="9598106"/>
            <a:ext cx="554321" cy="415604"/>
          </a:xfrm>
          <a:prstGeom prst="rect">
            <a:avLst/>
          </a:prstGeom>
          <a:ln w="28575">
            <a:solidFill>
              <a:schemeClr val="bg1"/>
            </a:solidFill>
          </a:ln>
        </p:spPr>
      </p:pic>
      <p:cxnSp>
        <p:nvCxnSpPr>
          <p:cNvPr id="268" name="Straight Arrow Connector 267">
            <a:extLst>
              <a:ext uri="{FF2B5EF4-FFF2-40B4-BE49-F238E27FC236}">
                <a16:creationId xmlns:a16="http://schemas.microsoft.com/office/drawing/2014/main" id="{EB193343-3617-BDA4-785B-1F8278A04249}"/>
              </a:ext>
            </a:extLst>
          </p:cNvPr>
          <p:cNvCxnSpPr>
            <a:cxnSpLocks/>
          </p:cNvCxnSpPr>
          <p:nvPr/>
        </p:nvCxnSpPr>
        <p:spPr>
          <a:xfrm>
            <a:off x="10022671" y="9787281"/>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7C4FF55D-D3D1-E3C7-554A-A1CA53F0A3CE}"/>
              </a:ext>
            </a:extLst>
          </p:cNvPr>
          <p:cNvCxnSpPr>
            <a:cxnSpLocks/>
          </p:cNvCxnSpPr>
          <p:nvPr/>
        </p:nvCxnSpPr>
        <p:spPr>
          <a:xfrm>
            <a:off x="10690368" y="9796206"/>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0" name="Straight Arrow Connector 269">
            <a:extLst>
              <a:ext uri="{FF2B5EF4-FFF2-40B4-BE49-F238E27FC236}">
                <a16:creationId xmlns:a16="http://schemas.microsoft.com/office/drawing/2014/main" id="{E7A72DDB-692C-CB01-7005-D05CDFF9E177}"/>
              </a:ext>
            </a:extLst>
          </p:cNvPr>
          <p:cNvCxnSpPr>
            <a:cxnSpLocks/>
          </p:cNvCxnSpPr>
          <p:nvPr/>
        </p:nvCxnSpPr>
        <p:spPr>
          <a:xfrm>
            <a:off x="11240657" y="9787499"/>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1" name="Straight Arrow Connector 270">
            <a:extLst>
              <a:ext uri="{FF2B5EF4-FFF2-40B4-BE49-F238E27FC236}">
                <a16:creationId xmlns:a16="http://schemas.microsoft.com/office/drawing/2014/main" id="{12716C29-01F1-4CCE-7393-13EE76B90218}"/>
              </a:ext>
            </a:extLst>
          </p:cNvPr>
          <p:cNvCxnSpPr>
            <a:cxnSpLocks/>
          </p:cNvCxnSpPr>
          <p:nvPr/>
        </p:nvCxnSpPr>
        <p:spPr>
          <a:xfrm>
            <a:off x="11950633" y="9796534"/>
            <a:ext cx="230987" cy="889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Connector: Elbow 289">
            <a:extLst>
              <a:ext uri="{FF2B5EF4-FFF2-40B4-BE49-F238E27FC236}">
                <a16:creationId xmlns:a16="http://schemas.microsoft.com/office/drawing/2014/main" id="{B6D49C2D-95E8-9C99-C795-E1F5999ABB3E}"/>
              </a:ext>
            </a:extLst>
          </p:cNvPr>
          <p:cNvCxnSpPr/>
          <p:nvPr/>
        </p:nvCxnSpPr>
        <p:spPr>
          <a:xfrm>
            <a:off x="12480161" y="8108336"/>
            <a:ext cx="417374" cy="861135"/>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EA2D1540-7292-0608-1ABB-FCB079A54D07}"/>
              </a:ext>
            </a:extLst>
          </p:cNvPr>
          <p:cNvCxnSpPr/>
          <p:nvPr/>
        </p:nvCxnSpPr>
        <p:spPr>
          <a:xfrm flipV="1">
            <a:off x="12472261" y="9058034"/>
            <a:ext cx="399623" cy="727931"/>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9" name="Connector: Elbow 308">
            <a:extLst>
              <a:ext uri="{FF2B5EF4-FFF2-40B4-BE49-F238E27FC236}">
                <a16:creationId xmlns:a16="http://schemas.microsoft.com/office/drawing/2014/main" id="{61EE8D8F-CE65-2171-0FB0-E73E038B3459}"/>
              </a:ext>
            </a:extLst>
          </p:cNvPr>
          <p:cNvCxnSpPr/>
          <p:nvPr/>
        </p:nvCxnSpPr>
        <p:spPr>
          <a:xfrm>
            <a:off x="12490386" y="8810533"/>
            <a:ext cx="399622" cy="159816"/>
          </a:xfrm>
          <a:prstGeom prst="bentConnector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61" name="Line">
            <a:extLst>
              <a:ext uri="{FF2B5EF4-FFF2-40B4-BE49-F238E27FC236}">
                <a16:creationId xmlns:a16="http://schemas.microsoft.com/office/drawing/2014/main" id="{3D32F354-E2A3-4C00-4A5E-7B60C5F9BB2E}"/>
              </a:ext>
            </a:extLst>
          </p:cNvPr>
          <p:cNvSpPr/>
          <p:nvPr/>
        </p:nvSpPr>
        <p:spPr>
          <a:xfrm>
            <a:off x="9547069" y="6815396"/>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362" name="Straight Arrow Connector 361">
            <a:extLst>
              <a:ext uri="{FF2B5EF4-FFF2-40B4-BE49-F238E27FC236}">
                <a16:creationId xmlns:a16="http://schemas.microsoft.com/office/drawing/2014/main" id="{1D043507-EC71-D93D-5E65-D6BB6B2FE67C}"/>
              </a:ext>
            </a:extLst>
          </p:cNvPr>
          <p:cNvCxnSpPr/>
          <p:nvPr/>
        </p:nvCxnSpPr>
        <p:spPr>
          <a:xfrm flipH="1">
            <a:off x="6709005" y="7154130"/>
            <a:ext cx="8649" cy="190867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6" name="Straight Arrow Connector 275">
            <a:extLst>
              <a:ext uri="{FF2B5EF4-FFF2-40B4-BE49-F238E27FC236}">
                <a16:creationId xmlns:a16="http://schemas.microsoft.com/office/drawing/2014/main" id="{26D92D08-B4D5-1400-694D-32A3B9725D3A}"/>
              </a:ext>
            </a:extLst>
          </p:cNvPr>
          <p:cNvCxnSpPr/>
          <p:nvPr/>
        </p:nvCxnSpPr>
        <p:spPr>
          <a:xfrm>
            <a:off x="5288449" y="7375062"/>
            <a:ext cx="3184194" cy="1211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5" name="Straight Arrow Connector 314">
            <a:extLst>
              <a:ext uri="{FF2B5EF4-FFF2-40B4-BE49-F238E27FC236}">
                <a16:creationId xmlns:a16="http://schemas.microsoft.com/office/drawing/2014/main" id="{A03BEF48-AD53-C75A-D8AA-9016145E4847}"/>
              </a:ext>
            </a:extLst>
          </p:cNvPr>
          <p:cNvCxnSpPr/>
          <p:nvPr/>
        </p:nvCxnSpPr>
        <p:spPr>
          <a:xfrm>
            <a:off x="8463956" y="7377647"/>
            <a:ext cx="1002" cy="34058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6" name="Straight Arrow Connector 315">
            <a:extLst>
              <a:ext uri="{FF2B5EF4-FFF2-40B4-BE49-F238E27FC236}">
                <a16:creationId xmlns:a16="http://schemas.microsoft.com/office/drawing/2014/main" id="{7A835425-B9F5-6974-1886-31ECBFEB5DD1}"/>
              </a:ext>
            </a:extLst>
          </p:cNvPr>
          <p:cNvCxnSpPr/>
          <p:nvPr/>
        </p:nvCxnSpPr>
        <p:spPr>
          <a:xfrm>
            <a:off x="5286998" y="7374285"/>
            <a:ext cx="9102" cy="36399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4" name="Straight Arrow Connector 363">
            <a:extLst>
              <a:ext uri="{FF2B5EF4-FFF2-40B4-BE49-F238E27FC236}">
                <a16:creationId xmlns:a16="http://schemas.microsoft.com/office/drawing/2014/main" id="{6D76EAC5-39AE-4BFE-E5A6-03E8C3234188}"/>
              </a:ext>
            </a:extLst>
          </p:cNvPr>
          <p:cNvCxnSpPr/>
          <p:nvPr/>
        </p:nvCxnSpPr>
        <p:spPr>
          <a:xfrm>
            <a:off x="7426823" y="7392884"/>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8" name="Straight Arrow Connector 367">
            <a:extLst>
              <a:ext uri="{FF2B5EF4-FFF2-40B4-BE49-F238E27FC236}">
                <a16:creationId xmlns:a16="http://schemas.microsoft.com/office/drawing/2014/main" id="{FC927F23-5B4B-D463-7FF1-7EEB0F8BEAEE}"/>
              </a:ext>
            </a:extLst>
          </p:cNvPr>
          <p:cNvCxnSpPr>
            <a:cxnSpLocks/>
          </p:cNvCxnSpPr>
          <p:nvPr/>
        </p:nvCxnSpPr>
        <p:spPr>
          <a:xfrm>
            <a:off x="6000593" y="7384066"/>
            <a:ext cx="229" cy="76348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76" name="TextBox 375">
            <a:extLst>
              <a:ext uri="{FF2B5EF4-FFF2-40B4-BE49-F238E27FC236}">
                <a16:creationId xmlns:a16="http://schemas.microsoft.com/office/drawing/2014/main" id="{3ED91360-D0D9-54FB-9CF8-04252596ED98}"/>
              </a:ext>
            </a:extLst>
          </p:cNvPr>
          <p:cNvSpPr txBox="1"/>
          <p:nvPr/>
        </p:nvSpPr>
        <p:spPr>
          <a:xfrm>
            <a:off x="4719010" y="3769481"/>
            <a:ext cx="2770949"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fromWordArt="0" anchor="ctr" anchorCtr="0" forceAA="0" compatLnSpc="1">
            <a:prstTxWarp prst="textNoShape">
              <a:avLst/>
            </a:prstTxWarp>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400"/>
              <a:t>Sailuh</a:t>
            </a:r>
            <a:endParaRPr lang="en-US" sz="2400" b="1" i="0" u="none" strike="noStrike" cap="none" spc="0" normalizeH="0" baseline="0">
              <a:ln>
                <a:noFill/>
              </a:ln>
              <a:solidFill>
                <a:srgbClr val="4C4C4C"/>
              </a:solidFill>
              <a:effectLst/>
              <a:uFillTx/>
              <a:latin typeface="Source Sans Pro"/>
              <a:ea typeface="Source Sans Pro"/>
              <a:cs typeface="Source Sans Pro"/>
            </a:endParaRPr>
          </a:p>
        </p:txBody>
      </p:sp>
      <p:pic>
        <p:nvPicPr>
          <p:cNvPr id="7" name="Picture 6" descr="A white symbol on a black background&#10;&#10;AI-generated content may be incorrect.">
            <a:extLst>
              <a:ext uri="{FF2B5EF4-FFF2-40B4-BE49-F238E27FC236}">
                <a16:creationId xmlns:a16="http://schemas.microsoft.com/office/drawing/2014/main" id="{CC049600-643C-CF60-0D65-C8DF49D02125}"/>
              </a:ext>
            </a:extLst>
          </p:cNvPr>
          <p:cNvPicPr>
            <a:picLocks noChangeAspect="1"/>
          </p:cNvPicPr>
          <p:nvPr/>
        </p:nvPicPr>
        <p:blipFill>
          <a:blip r:embed="rId18"/>
          <a:stretch>
            <a:fillRect/>
          </a:stretch>
        </p:blipFill>
        <p:spPr>
          <a:xfrm>
            <a:off x="5867239" y="8278371"/>
            <a:ext cx="280697" cy="279423"/>
          </a:xfrm>
          <a:prstGeom prst="rect">
            <a:avLst/>
          </a:prstGeom>
        </p:spPr>
      </p:pic>
      <p:pic>
        <p:nvPicPr>
          <p:cNvPr id="369" name="Picture 368" descr="A white symbol on a black background&#10;&#10;AI-generated content may be incorrect.">
            <a:extLst>
              <a:ext uri="{FF2B5EF4-FFF2-40B4-BE49-F238E27FC236}">
                <a16:creationId xmlns:a16="http://schemas.microsoft.com/office/drawing/2014/main" id="{995CCC7E-65EB-6841-3767-0C1B2B8EEE42}"/>
              </a:ext>
            </a:extLst>
          </p:cNvPr>
          <p:cNvPicPr>
            <a:picLocks noChangeAspect="1"/>
          </p:cNvPicPr>
          <p:nvPr/>
        </p:nvPicPr>
        <p:blipFill>
          <a:blip r:embed="rId18"/>
          <a:stretch>
            <a:fillRect/>
          </a:stretch>
        </p:blipFill>
        <p:spPr>
          <a:xfrm>
            <a:off x="8306166" y="7746138"/>
            <a:ext cx="280697" cy="279423"/>
          </a:xfrm>
          <a:prstGeom prst="rect">
            <a:avLst/>
          </a:prstGeom>
        </p:spPr>
      </p:pic>
      <p:pic>
        <p:nvPicPr>
          <p:cNvPr id="370" name="Picture 369" descr="A white symbol on a black background&#10;&#10;AI-generated content may be incorrect.">
            <a:extLst>
              <a:ext uri="{FF2B5EF4-FFF2-40B4-BE49-F238E27FC236}">
                <a16:creationId xmlns:a16="http://schemas.microsoft.com/office/drawing/2014/main" id="{1D30CD02-24F3-E570-4BAB-EDFF60CC4652}"/>
              </a:ext>
            </a:extLst>
          </p:cNvPr>
          <p:cNvPicPr>
            <a:picLocks noChangeAspect="1"/>
          </p:cNvPicPr>
          <p:nvPr/>
        </p:nvPicPr>
        <p:blipFill>
          <a:blip r:embed="rId18"/>
          <a:stretch>
            <a:fillRect/>
          </a:stretch>
        </p:blipFill>
        <p:spPr>
          <a:xfrm>
            <a:off x="5157596" y="7746193"/>
            <a:ext cx="280697" cy="279423"/>
          </a:xfrm>
          <a:prstGeom prst="rect">
            <a:avLst/>
          </a:prstGeom>
        </p:spPr>
      </p:pic>
      <p:pic>
        <p:nvPicPr>
          <p:cNvPr id="375" name="Picture 374" descr="A white symbol on a black background&#10;&#10;AI-generated content may be incorrect.">
            <a:extLst>
              <a:ext uri="{FF2B5EF4-FFF2-40B4-BE49-F238E27FC236}">
                <a16:creationId xmlns:a16="http://schemas.microsoft.com/office/drawing/2014/main" id="{B5279219-FDC2-2978-1B33-464FE8042823}"/>
              </a:ext>
            </a:extLst>
          </p:cNvPr>
          <p:cNvPicPr>
            <a:picLocks noChangeAspect="1"/>
          </p:cNvPicPr>
          <p:nvPr/>
        </p:nvPicPr>
        <p:blipFill>
          <a:blip r:embed="rId18"/>
          <a:stretch>
            <a:fillRect/>
          </a:stretch>
        </p:blipFill>
        <p:spPr>
          <a:xfrm>
            <a:off x="6355059" y="9130193"/>
            <a:ext cx="280697" cy="279423"/>
          </a:xfrm>
          <a:prstGeom prst="rect">
            <a:avLst/>
          </a:prstGeom>
        </p:spPr>
      </p:pic>
      <p:pic>
        <p:nvPicPr>
          <p:cNvPr id="377" name="Picture 376" descr="A white symbol on a black background&#10;&#10;AI-generated content may be incorrect.">
            <a:extLst>
              <a:ext uri="{FF2B5EF4-FFF2-40B4-BE49-F238E27FC236}">
                <a16:creationId xmlns:a16="http://schemas.microsoft.com/office/drawing/2014/main" id="{55A67D17-3DB0-0DF1-B49A-AC973DF42D0A}"/>
              </a:ext>
            </a:extLst>
          </p:cNvPr>
          <p:cNvPicPr>
            <a:picLocks noChangeAspect="1"/>
          </p:cNvPicPr>
          <p:nvPr/>
        </p:nvPicPr>
        <p:blipFill>
          <a:blip r:embed="rId18"/>
          <a:stretch>
            <a:fillRect/>
          </a:stretch>
        </p:blipFill>
        <p:spPr>
          <a:xfrm>
            <a:off x="7286438" y="8314074"/>
            <a:ext cx="280697" cy="279423"/>
          </a:xfrm>
          <a:prstGeom prst="rect">
            <a:avLst/>
          </a:prstGeom>
        </p:spPr>
      </p:pic>
      <p:pic>
        <p:nvPicPr>
          <p:cNvPr id="378" name="Picture 377" descr="A white symbol on a black background&#10;&#10;AI-generated content may be incorrect.">
            <a:extLst>
              <a:ext uri="{FF2B5EF4-FFF2-40B4-BE49-F238E27FC236}">
                <a16:creationId xmlns:a16="http://schemas.microsoft.com/office/drawing/2014/main" id="{905477A6-2740-FF53-189C-12A3248A3E01}"/>
              </a:ext>
            </a:extLst>
          </p:cNvPr>
          <p:cNvPicPr>
            <a:picLocks noChangeAspect="1"/>
          </p:cNvPicPr>
          <p:nvPr/>
        </p:nvPicPr>
        <p:blipFill>
          <a:blip r:embed="rId18"/>
          <a:stretch>
            <a:fillRect/>
          </a:stretch>
        </p:blipFill>
        <p:spPr>
          <a:xfrm>
            <a:off x="5964975" y="9130302"/>
            <a:ext cx="280697" cy="279423"/>
          </a:xfrm>
          <a:prstGeom prst="rect">
            <a:avLst/>
          </a:prstGeom>
        </p:spPr>
      </p:pic>
      <p:pic>
        <p:nvPicPr>
          <p:cNvPr id="379" name="Picture 378" descr="A white symbol on a black background&#10;&#10;AI-generated content may be incorrect.">
            <a:extLst>
              <a:ext uri="{FF2B5EF4-FFF2-40B4-BE49-F238E27FC236}">
                <a16:creationId xmlns:a16="http://schemas.microsoft.com/office/drawing/2014/main" id="{4F8B7F36-92C5-EC00-7626-6363C439B4E4}"/>
              </a:ext>
            </a:extLst>
          </p:cNvPr>
          <p:cNvPicPr>
            <a:picLocks noChangeAspect="1"/>
          </p:cNvPicPr>
          <p:nvPr/>
        </p:nvPicPr>
        <p:blipFill>
          <a:blip r:embed="rId18"/>
          <a:stretch>
            <a:fillRect/>
          </a:stretch>
        </p:blipFill>
        <p:spPr>
          <a:xfrm>
            <a:off x="6949572" y="9130357"/>
            <a:ext cx="280697" cy="279423"/>
          </a:xfrm>
          <a:prstGeom prst="rect">
            <a:avLst/>
          </a:prstGeom>
        </p:spPr>
      </p:pic>
      <p:cxnSp>
        <p:nvCxnSpPr>
          <p:cNvPr id="12" name="Straight Arrow Connector 11">
            <a:extLst>
              <a:ext uri="{FF2B5EF4-FFF2-40B4-BE49-F238E27FC236}">
                <a16:creationId xmlns:a16="http://schemas.microsoft.com/office/drawing/2014/main" id="{02308E54-8E7A-51D2-C24D-42EFED596073}"/>
              </a:ext>
            </a:extLst>
          </p:cNvPr>
          <p:cNvCxnSpPr/>
          <p:nvPr/>
        </p:nvCxnSpPr>
        <p:spPr>
          <a:xfrm>
            <a:off x="2240413" y="7850757"/>
            <a:ext cx="3214" cy="362309"/>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4" name="Straight Arrow Connector 303">
            <a:extLst>
              <a:ext uri="{FF2B5EF4-FFF2-40B4-BE49-F238E27FC236}">
                <a16:creationId xmlns:a16="http://schemas.microsoft.com/office/drawing/2014/main" id="{A19E78D8-B712-F65C-6505-05CFAA869516}"/>
              </a:ext>
            </a:extLst>
          </p:cNvPr>
          <p:cNvCxnSpPr>
            <a:cxnSpLocks/>
          </p:cNvCxnSpPr>
          <p:nvPr/>
        </p:nvCxnSpPr>
        <p:spPr>
          <a:xfrm flipH="1">
            <a:off x="2057480" y="8024558"/>
            <a:ext cx="377998" cy="7211"/>
          </a:xfrm>
          <a:prstGeom prst="straightConnector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05" name="Line">
            <a:extLst>
              <a:ext uri="{FF2B5EF4-FFF2-40B4-BE49-F238E27FC236}">
                <a16:creationId xmlns:a16="http://schemas.microsoft.com/office/drawing/2014/main" id="{EB35B2C3-4494-1DE2-CDCD-9685CC62D771}"/>
              </a:ext>
            </a:extLst>
          </p:cNvPr>
          <p:cNvSpPr/>
          <p:nvPr/>
        </p:nvSpPr>
        <p:spPr>
          <a:xfrm>
            <a:off x="9501009" y="1782655"/>
            <a:ext cx="3261928"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6" name="Line">
            <a:extLst>
              <a:ext uri="{FF2B5EF4-FFF2-40B4-BE49-F238E27FC236}">
                <a16:creationId xmlns:a16="http://schemas.microsoft.com/office/drawing/2014/main" id="{FAF06C92-8FAA-46CD-C8FA-5F29DC75BC90}"/>
              </a:ext>
            </a:extLst>
          </p:cNvPr>
          <p:cNvSpPr/>
          <p:nvPr/>
        </p:nvSpPr>
        <p:spPr>
          <a:xfrm flipV="1">
            <a:off x="4726617" y="2985342"/>
            <a:ext cx="4497071" cy="2547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7" name="Line">
            <a:extLst>
              <a:ext uri="{FF2B5EF4-FFF2-40B4-BE49-F238E27FC236}">
                <a16:creationId xmlns:a16="http://schemas.microsoft.com/office/drawing/2014/main" id="{3D32F354-E2A3-4C00-4A5E-7B60C5F9BB2E}"/>
              </a:ext>
            </a:extLst>
          </p:cNvPr>
          <p:cNvSpPr/>
          <p:nvPr/>
        </p:nvSpPr>
        <p:spPr>
          <a:xfrm>
            <a:off x="265904" y="1775276"/>
            <a:ext cx="4310238" cy="25480"/>
          </a:xfrm>
          <a:prstGeom prst="line">
            <a:avLst/>
          </a:prstGeom>
          <a:ln w="12700">
            <a:solidFill>
              <a:srgbClr val="E4E4E3"/>
            </a:solidFill>
            <a:miter lim="400000"/>
          </a:ln>
        </p:spPr>
        <p:txBody>
          <a:bodyPr lIns="54570" tIns="54570" rIns="54570" bIns="5457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80000"/>
              </a:lnSpc>
              <a:spcBef>
                <a:spcPts val="600"/>
              </a:spcBef>
              <a:defRPr b="0">
                <a:solidFill>
                  <a:srgbClr val="000000"/>
                </a:solidFill>
              </a:defRPr>
            </a:pPr>
            <a:endParaRPr/>
          </a:p>
        </p:txBody>
      </p:sp>
      <p:sp>
        <p:nvSpPr>
          <p:cNvPr id="331" name="Line">
            <a:extLst>
              <a:ext uri="{FF2B5EF4-FFF2-40B4-BE49-F238E27FC236}">
                <a16:creationId xmlns:a16="http://schemas.microsoft.com/office/drawing/2014/main" id="{934B1E9C-139F-7DF3-A963-D397F18EF41F}"/>
              </a:ext>
            </a:extLst>
          </p:cNvPr>
          <p:cNvSpPr/>
          <p:nvPr/>
        </p:nvSpPr>
        <p:spPr>
          <a:xfrm flipV="1">
            <a:off x="260109" y="6792080"/>
            <a:ext cx="4318731" cy="33971"/>
          </a:xfrm>
          <a:prstGeom prst="line">
            <a:avLst/>
          </a:prstGeom>
          <a:ln w="12700">
            <a:solidFill>
              <a:srgbClr val="E4E4E3"/>
            </a:solidFill>
            <a:miter lim="400000"/>
          </a:ln>
        </p:spPr>
        <p:txBody>
          <a:bodyPr lIns="54570" tIns="54570" rIns="54570" bIns="5457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155757412"/>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White</vt:lpstr>
      <vt:lpstr>Sentiment Analysis: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lpstr>Kaiaulu Executables: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 </dc:title>
  <cp:revision>46</cp:revision>
  <dcterms:modified xsi:type="dcterms:W3CDTF">2026-05-10T00:57:35Z</dcterms:modified>
</cp:coreProperties>
</file>