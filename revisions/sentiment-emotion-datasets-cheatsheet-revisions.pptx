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2_4E01F529.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9" r:id="rId2"/>
    <p:sldId id="260" r:id="rId3"/>
    <p:sldId id="262" r:id="rId4"/>
    <p:sldId id="258" r:id="rId5"/>
    <p:sldId id="263" r:id="rId6"/>
    <p:sldId id="264" r:id="rId7"/>
    <p:sldId id="265" r:id="rId8"/>
    <p:sldId id="266" r:id="rId9"/>
    <p:sldId id="261" r:id="rId10"/>
    <p:sldId id="267" r:id="rId11"/>
    <p:sldId id="268" r:id="rId12"/>
  </p:sldIdLst>
  <p:sldSz cx="13970000" cy="10795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p:defaultTextStyle>
  <p:extLst>
    <p:ext uri="{EFAFB233-063F-42B5-8137-9DF3F51BA10A}">
      <p15:sldGuideLst xmlns:p15="http://schemas.microsoft.com/office/powerpoint/2012/main">
        <p15:guide id="1" orient="horz" pos="6496" userDrawn="1">
          <p15:clr>
            <a:srgbClr val="A4A3A4"/>
          </p15:clr>
        </p15:guide>
        <p15:guide id="2" pos="71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5F85F20-1AB1-3DFA-4EEC-088869AD13F5}" name="Samantha Limon" initials="SL" userId="S::splimon@hawaii.edu::1cb68a3a-15d5-4a67-839f-c6649e8c0e09" providerId="AD"/>
  <p188:author id="{00381DA6-9065-D171-5CA0-FB9CF094C2E7}" name="Carlos P." initials="CP" userId="435ab8475c8754a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DCA7"/>
    <a:srgbClr val="676F76"/>
    <a:srgbClr val="618DB5"/>
    <a:srgbClr val="E0E0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
          <a:latin typeface="Source Sans Pro"/>
          <a:ea typeface="Source Sans Pro"/>
          <a:cs typeface="Source Sans Pro"/>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
          <a:latin typeface="Source Sans Pro"/>
          <a:ea typeface="Source Sans Pro"/>
          <a:cs typeface="Source Sans Pro"/>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
          <a:latin typeface="Source Sans Pro"/>
          <a:ea typeface="Source Sans Pro"/>
          <a:cs typeface="Source Sans Pro"/>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
          <a:latin typeface="Source Sans Pro"/>
          <a:ea typeface="Source Sans Pro"/>
          <a:cs typeface="Source Sans Pro"/>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024" autoAdjust="0"/>
    <p:restoredTop sz="94684"/>
  </p:normalViewPr>
  <p:slideViewPr>
    <p:cSldViewPr snapToGrid="0" snapToObjects="1">
      <p:cViewPr varScale="1">
        <p:scale>
          <a:sx n="67" d="100"/>
          <a:sy n="67" d="100"/>
        </p:scale>
        <p:origin x="1432" y="192"/>
      </p:cViewPr>
      <p:guideLst>
        <p:guide orient="horz" pos="6496"/>
        <p:guide pos="71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omments/modernComment_102_4E01F529.xml><?xml version="1.0" encoding="utf-8"?>
<p188:cmLst xmlns:a="http://schemas.openxmlformats.org/drawingml/2006/main" xmlns:r="http://schemas.openxmlformats.org/officeDocument/2006/relationships" xmlns:p188="http://schemas.microsoft.com/office/powerpoint/2018/8/main">
  <p188:cm id="{E46E00EC-C393-5343-A06A-E407D35FF06B}" authorId="{00381DA6-9065-D171-5CA0-FB9CF094C2E7}" status="resolved" created="2026-04-17T23:31:47.424" complete="100000">
    <ac:deMkLst xmlns:ac="http://schemas.microsoft.com/office/drawing/2013/main/command">
      <pc:docMk xmlns:pc="http://schemas.microsoft.com/office/powerpoint/2013/main/command"/>
      <pc:sldMk xmlns:pc="http://schemas.microsoft.com/office/powerpoint/2013/main/command" cId="1308751145" sldId="258"/>
      <ac:spMk id="1303" creationId="{A2A199CB-EA65-D71B-EC4F-CB6CAF5DB6BC}"/>
    </ac:deMkLst>
    <p188:txBody>
      <a:bodyPr/>
      <a:lstStyle/>
      <a:p>
        <a:r>
          <a:rPr lang="en-US"/>
          <a:t>Re-apply this thinned up DB across the rest of the cheatsheet. </a:t>
        </a:r>
      </a:p>
    </p188:txBody>
  </p188:cm>
  <p188:cm id="{F64F8439-308A-DC4C-9A4B-AF5E484A6CD0}" authorId="{00381DA6-9065-D171-5CA0-FB9CF094C2E7}" status="resolved" created="2026-04-17T23:39:43.365" complete="100000">
    <ac:deMkLst xmlns:ac="http://schemas.microsoft.com/office/drawing/2013/main/command">
      <pc:docMk xmlns:pc="http://schemas.microsoft.com/office/powerpoint/2013/main/command"/>
      <pc:sldMk xmlns:pc="http://schemas.microsoft.com/office/powerpoint/2013/main/command" cId="1308751145" sldId="258"/>
      <ac:spMk id="381" creationId="{5A440B0B-656E-F49F-6191-E924B27F1A39}"/>
    </ac:deMkLst>
    <p188:txBody>
      <a:bodyPr/>
      <a:lstStyle/>
      <a:p>
        <a:r>
          <a:rPr lang="en-US"/>
          <a:t>Please align positions. I edited so it follows citation formating</a:t>
        </a:r>
      </a:p>
    </p188:txBody>
  </p188:cm>
  <p188:cm id="{A75E8337-D034-C34F-B324-4A17185EED82}" authorId="{00381DA6-9065-D171-5CA0-FB9CF094C2E7}" status="resolved" created="2026-04-17T23:45:52.769" complete="100000">
    <ac:deMkLst xmlns:ac="http://schemas.microsoft.com/office/drawing/2013/main/command">
      <pc:docMk xmlns:pc="http://schemas.microsoft.com/office/powerpoint/2013/main/command"/>
      <pc:sldMk xmlns:pc="http://schemas.microsoft.com/office/powerpoint/2013/main/command" cId="1308751145" sldId="258"/>
      <ac:spMk id="305" creationId="{953A274C-FF3E-E99B-9820-AE13F76A869C}"/>
    </ac:deMkLst>
    <p188:txBody>
      <a:bodyPr/>
      <a:lstStyle/>
      <a:p>
        <a:r>
          <a:rPr lang="en-US"/>
          <a:t>Where this DB comes from again?</a:t>
        </a:r>
      </a:p>
    </p188:txBody>
  </p188:cm>
  <p188:cm id="{31D304EA-0D5A-C242-A2B2-09F75675BCDA}" authorId="{00381DA6-9065-D171-5CA0-FB9CF094C2E7}" status="resolved" created="2026-04-17T23:48:06.068" complete="100000">
    <ac:txMkLst xmlns:ac="http://schemas.microsoft.com/office/drawing/2013/main/command">
      <pc:docMk xmlns:pc="http://schemas.microsoft.com/office/powerpoint/2013/main/command"/>
      <pc:sldMk xmlns:pc="http://schemas.microsoft.com/office/powerpoint/2013/main/command" cId="1308751145" sldId="258"/>
      <ac:spMk id="7" creationId="{D6558791-51EC-5B6D-0DA0-775D6A770731}"/>
      <ac:txMk cp="509" len="36">
        <ac:context len="548" hash="3711052209"/>
      </ac:txMk>
    </ac:txMkLst>
    <p188:txBody>
      <a:bodyPr/>
      <a:lstStyle/>
      <a:p>
        <a:r>
          <a:rPr lang="en-US"/>
          <a:t>mention the repo and file name (i.e. sailuh/kaiaulu_cheatsheet blabla.pdf)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5" name="Shape 125"/>
          <p:cNvSpPr>
            <a:spLocks noGrp="1" noRot="1" noChangeAspect="1"/>
          </p:cNvSpPr>
          <p:nvPr>
            <p:ph type="sldImg"/>
          </p:nvPr>
        </p:nvSpPr>
        <p:spPr>
          <a:xfrm>
            <a:off x="1143000" y="685800"/>
            <a:ext cx="4572000" cy="3429000"/>
          </a:xfrm>
          <a:prstGeom prst="rect">
            <a:avLst/>
          </a:prstGeom>
        </p:spPr>
        <p:txBody>
          <a:bodyPr/>
          <a:lstStyle/>
          <a:p>
            <a:endParaRPr/>
          </a:p>
        </p:txBody>
      </p:sp>
      <p:sp>
        <p:nvSpPr>
          <p:cNvPr id="126" name="Shape 12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2600">
        <a:latin typeface="Avenir"/>
        <a:ea typeface="Avenir"/>
        <a:cs typeface="Avenir"/>
        <a:sym typeface="Avenir Roman"/>
      </a:defRPr>
    </a:lvl1pPr>
    <a:lvl2pPr indent="228600" defTabSz="457200" latinLnBrk="0">
      <a:lnSpc>
        <a:spcPct val="125000"/>
      </a:lnSpc>
      <a:defRPr sz="2600">
        <a:latin typeface="Avenir"/>
        <a:ea typeface="Avenir"/>
        <a:cs typeface="Avenir"/>
        <a:sym typeface="Avenir Roman"/>
      </a:defRPr>
    </a:lvl2pPr>
    <a:lvl3pPr indent="457200" defTabSz="457200" latinLnBrk="0">
      <a:lnSpc>
        <a:spcPct val="125000"/>
      </a:lnSpc>
      <a:defRPr sz="2600">
        <a:latin typeface="Avenir"/>
        <a:ea typeface="Avenir"/>
        <a:cs typeface="Avenir"/>
        <a:sym typeface="Avenir Roman"/>
      </a:defRPr>
    </a:lvl3pPr>
    <a:lvl4pPr indent="685800" defTabSz="457200" latinLnBrk="0">
      <a:lnSpc>
        <a:spcPct val="125000"/>
      </a:lnSpc>
      <a:defRPr sz="2600">
        <a:latin typeface="Avenir"/>
        <a:ea typeface="Avenir"/>
        <a:cs typeface="Avenir"/>
        <a:sym typeface="Avenir Roman"/>
      </a:defRPr>
    </a:lvl4pPr>
    <a:lvl5pPr indent="914400" defTabSz="457200" latinLnBrk="0">
      <a:lnSpc>
        <a:spcPct val="125000"/>
      </a:lnSpc>
      <a:defRPr sz="2600">
        <a:latin typeface="Avenir"/>
        <a:ea typeface="Avenir"/>
        <a:cs typeface="Avenir"/>
        <a:sym typeface="Avenir Roman"/>
      </a:defRPr>
    </a:lvl5pPr>
    <a:lvl6pPr indent="1143000" defTabSz="457200" latinLnBrk="0">
      <a:lnSpc>
        <a:spcPct val="125000"/>
      </a:lnSpc>
      <a:defRPr sz="2600">
        <a:latin typeface="Avenir"/>
        <a:ea typeface="Avenir"/>
        <a:cs typeface="Avenir"/>
        <a:sym typeface="Avenir Roman"/>
      </a:defRPr>
    </a:lvl6pPr>
    <a:lvl7pPr indent="1371600" defTabSz="457200" latinLnBrk="0">
      <a:lnSpc>
        <a:spcPct val="125000"/>
      </a:lnSpc>
      <a:defRPr sz="2600">
        <a:latin typeface="Avenir"/>
        <a:ea typeface="Avenir"/>
        <a:cs typeface="Avenir"/>
        <a:sym typeface="Avenir Roman"/>
      </a:defRPr>
    </a:lvl7pPr>
    <a:lvl8pPr indent="1600200" defTabSz="457200" latinLnBrk="0">
      <a:lnSpc>
        <a:spcPct val="125000"/>
      </a:lnSpc>
      <a:defRPr sz="2600">
        <a:latin typeface="Avenir"/>
        <a:ea typeface="Avenir"/>
        <a:cs typeface="Avenir"/>
        <a:sym typeface="Avenir Roman"/>
      </a:defRPr>
    </a:lvl8pPr>
    <a:lvl9pPr indent="1828800" defTabSz="457200" latinLnBrk="0">
      <a:lnSpc>
        <a:spcPct val="125000"/>
      </a:lnSpc>
      <a:defRPr sz="2600">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3306F-BF96-ED53-85F6-1268961287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92D922-AC8F-6B02-DA24-A76F46567A8C}"/>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1FD7E422-B459-B19F-395C-A9C51F075AA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63556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9675" y="685800"/>
            <a:ext cx="443865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66545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D992C-9073-95ED-D45A-9F62AEA8A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45687A-A11E-926C-981D-5F98AC42179F}"/>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16BB61EB-8378-06CA-966D-C135793CA36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87831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DB048-5319-BE32-8705-87AFAA417E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B8E32-27A9-611A-5E43-788FB8E6373D}"/>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1EC26963-99D4-B48C-F8F5-E934CB33083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4998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7C8BD-F8D4-35AA-1FFB-6235920782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591F8-A903-491A-96CB-0BA1E02E6C0E}"/>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39E85DD4-2565-471E-F459-E6843D0F027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99843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7352F-EBE3-847E-9710-3E8FDEED33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AA9C48-5D23-A134-9262-CCB548C137EF}"/>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1B5B69F6-E5D0-07F1-18A5-F0C1D606424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83063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0FBF4-8B74-77D7-E159-2D5A7ABE3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C81558-482E-9CF0-CFCC-B164ECBBD3B2}"/>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45BFA92C-94C2-7F1E-B45C-66676D1074D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680091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69AE5-9763-BBA6-6A79-F660F12CC2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15B0C-536A-CE1B-715C-7763166A556E}"/>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4C8C6353-EA9D-9552-AAC4-AA74948F678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172365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FCC15-A96B-F2E6-DA5A-B862191825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3B1E90-4BF3-6216-773A-C4DEFB527068}"/>
              </a:ext>
            </a:extLst>
          </p:cNvPr>
          <p:cNvSpPr>
            <a:spLocks noGrp="1" noRot="1" noChangeAspect="1"/>
          </p:cNvSpPr>
          <p:nvPr>
            <p:ph type="sldImg"/>
          </p:nvPr>
        </p:nvSpPr>
        <p:spPr>
          <a:xfrm>
            <a:off x="1209675" y="685800"/>
            <a:ext cx="4438650" cy="3429000"/>
          </a:xfrm>
        </p:spPr>
      </p:sp>
      <p:sp>
        <p:nvSpPr>
          <p:cNvPr id="3" name="Notes Placeholder 2">
            <a:extLst>
              <a:ext uri="{FF2B5EF4-FFF2-40B4-BE49-F238E27FC236}">
                <a16:creationId xmlns:a16="http://schemas.microsoft.com/office/drawing/2014/main" id="{49BE7DF6-1AF3-8174-AADC-68F7A0931B5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10328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364257" y="1918642"/>
            <a:ext cx="11241486" cy="3547071"/>
          </a:xfrm>
          <a:prstGeom prst="rect">
            <a:avLst/>
          </a:prstGeom>
        </p:spPr>
        <p:txBody>
          <a:bodyPr anchor="b"/>
          <a:lstStyle/>
          <a:p>
            <a:r>
              <a:t>Title Text</a:t>
            </a:r>
          </a:p>
        </p:txBody>
      </p:sp>
      <p:sp>
        <p:nvSpPr>
          <p:cNvPr id="12" name="Body Level One…"/>
          <p:cNvSpPr txBox="1">
            <a:spLocks noGrp="1"/>
          </p:cNvSpPr>
          <p:nvPr>
            <p:ph type="body" sz="quarter" idx="1"/>
          </p:nvPr>
        </p:nvSpPr>
        <p:spPr>
          <a:xfrm>
            <a:off x="1364257" y="5561210"/>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1725786" y="840878"/>
            <a:ext cx="10504786" cy="6357443"/>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1364257" y="7375673"/>
            <a:ext cx="11241486" cy="1527970"/>
          </a:xfrm>
          <a:prstGeom prst="rect">
            <a:avLst/>
          </a:prstGeom>
        </p:spPr>
        <p:txBody>
          <a:bodyPr anchor="b"/>
          <a:lstStyle/>
          <a:p>
            <a:r>
              <a:t>Title Text</a:t>
            </a:r>
          </a:p>
        </p:txBody>
      </p:sp>
      <p:sp>
        <p:nvSpPr>
          <p:cNvPr id="22" name="Body Level One…"/>
          <p:cNvSpPr txBox="1">
            <a:spLocks noGrp="1"/>
          </p:cNvSpPr>
          <p:nvPr>
            <p:ph type="body" sz="quarter" idx="1"/>
          </p:nvPr>
        </p:nvSpPr>
        <p:spPr>
          <a:xfrm>
            <a:off x="1364257" y="8958212"/>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xfrm>
            <a:off x="6790156" y="10090546"/>
            <a:ext cx="376045" cy="38854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364257" y="3623964"/>
            <a:ext cx="11241486" cy="3547072"/>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7216923" y="840878"/>
            <a:ext cx="5729884" cy="8840392"/>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1023193" y="840878"/>
            <a:ext cx="5729884" cy="4283771"/>
          </a:xfrm>
          <a:prstGeom prst="rect">
            <a:avLst/>
          </a:prstGeom>
        </p:spPr>
        <p:txBody>
          <a:bodyPr anchor="b"/>
          <a:lstStyle>
            <a:lvl1pPr>
              <a:defRPr sz="3300">
                <a:latin typeface="Source Sans Pro Semibold"/>
                <a:ea typeface="Source Sans Pro Semibold"/>
                <a:cs typeface="Source Sans Pro Semibold"/>
                <a:sym typeface="Source Sans Pro Semibold"/>
              </a:defRPr>
            </a:lvl1pPr>
          </a:lstStyle>
          <a:p>
            <a:r>
              <a:t>Title Text</a:t>
            </a:r>
          </a:p>
        </p:txBody>
      </p:sp>
      <p:sp>
        <p:nvSpPr>
          <p:cNvPr id="40" name="Body Level One…"/>
          <p:cNvSpPr txBox="1">
            <a:spLocks noGrp="1"/>
          </p:cNvSpPr>
          <p:nvPr>
            <p:ph type="body" sz="quarter" idx="1"/>
          </p:nvPr>
        </p:nvSpPr>
        <p:spPr>
          <a:xfrm>
            <a:off x="1023193" y="5274716"/>
            <a:ext cx="5729884" cy="4406554"/>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7216923" y="2955478"/>
            <a:ext cx="5729884" cy="6753077"/>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1023193" y="2955478"/>
            <a:ext cx="5729884" cy="6753077"/>
          </a:xfrm>
          <a:prstGeom prst="rect">
            <a:avLst/>
          </a:prstGeom>
        </p:spPr>
        <p:txBody>
          <a:bodyPr/>
          <a:lstStyle>
            <a:lvl1pPr marL="146957" indent="-146957">
              <a:defRPr b="1"/>
            </a:lvl1pPr>
            <a:lvl2pPr marL="489857" indent="-146957">
              <a:defRPr b="1"/>
            </a:lvl2pPr>
            <a:lvl3pPr marL="832757" indent="-146957">
              <a:defRPr b="1"/>
            </a:lvl3pPr>
            <a:lvl4pPr marL="1175657" indent="-146957">
              <a:defRPr b="1"/>
            </a:lvl4pPr>
            <a:lvl5pPr marL="1518557" indent="-146957">
              <a:defRPr b="1"/>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023193" y="1523007"/>
            <a:ext cx="11923614" cy="7748986"/>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half" idx="13"/>
          </p:nvPr>
        </p:nvSpPr>
        <p:spPr>
          <a:xfrm>
            <a:off x="1023193" y="1113730"/>
            <a:ext cx="5729884" cy="8567540"/>
          </a:xfrm>
          <a:prstGeom prst="rect">
            <a:avLst/>
          </a:prstGeom>
        </p:spPr>
        <p:txBody>
          <a:bodyPr lIns="91439" tIns="45719" rIns="91439" bIns="45719" anchor="t">
            <a:noAutofit/>
          </a:bodyPr>
          <a:lstStyle/>
          <a:p>
            <a:endParaRPr/>
          </a:p>
        </p:txBody>
      </p:sp>
      <p:sp>
        <p:nvSpPr>
          <p:cNvPr id="84" name="Image"/>
          <p:cNvSpPr>
            <a:spLocks noGrp="1"/>
          </p:cNvSpPr>
          <p:nvPr>
            <p:ph type="pic" sz="quarter" idx="14"/>
          </p:nvPr>
        </p:nvSpPr>
        <p:spPr>
          <a:xfrm>
            <a:off x="7216923" y="5629423"/>
            <a:ext cx="5729884" cy="4051847"/>
          </a:xfrm>
          <a:prstGeom prst="rect">
            <a:avLst/>
          </a:prstGeom>
        </p:spPr>
        <p:txBody>
          <a:bodyPr lIns="91439" tIns="45719" rIns="91439" bIns="45719" anchor="t">
            <a:noAutofit/>
          </a:bodyPr>
          <a:lstStyle/>
          <a:p>
            <a:endParaRPr/>
          </a:p>
        </p:txBody>
      </p:sp>
      <p:sp>
        <p:nvSpPr>
          <p:cNvPr id="85" name="Image"/>
          <p:cNvSpPr>
            <a:spLocks noGrp="1"/>
          </p:cNvSpPr>
          <p:nvPr>
            <p:ph type="pic" sz="quarter" idx="15"/>
          </p:nvPr>
        </p:nvSpPr>
        <p:spPr>
          <a:xfrm>
            <a:off x="7223603" y="1113730"/>
            <a:ext cx="5729884" cy="4051847"/>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a:spLocks noGrp="1"/>
          </p:cNvSpPr>
          <p:nvPr>
            <p:ph type="body" sz="quarter" idx="13"/>
          </p:nvPr>
        </p:nvSpPr>
        <p:spPr>
          <a:xfrm>
            <a:off x="1364257" y="6993681"/>
            <a:ext cx="11241486" cy="508001"/>
          </a:xfrm>
          <a:prstGeom prst="rect">
            <a:avLst/>
          </a:prstGeom>
        </p:spPr>
        <p:txBody>
          <a:bodyPr anchor="t">
            <a:spAutoFit/>
          </a:bodyPr>
          <a:lstStyle>
            <a:lvl1pPr marL="0" indent="0" algn="r">
              <a:lnSpc>
                <a:spcPct val="90000"/>
              </a:lnSpc>
              <a:buSzTx/>
              <a:buNone/>
              <a:defRPr sz="900"/>
            </a:lvl1pPr>
          </a:lstStyle>
          <a:p>
            <a:r>
              <a:t>–Johnny Appleseed</a:t>
            </a:r>
          </a:p>
        </p:txBody>
      </p:sp>
      <p:sp>
        <p:nvSpPr>
          <p:cNvPr id="94" name="“Type a quote here.”"/>
          <p:cNvSpPr>
            <a:spLocks noGrp="1"/>
          </p:cNvSpPr>
          <p:nvPr>
            <p:ph type="body" sz="quarter" idx="14"/>
          </p:nvPr>
        </p:nvSpPr>
        <p:spPr>
          <a:xfrm>
            <a:off x="1364257" y="4742656"/>
            <a:ext cx="11241486" cy="736700"/>
          </a:xfrm>
          <a:prstGeom prst="rect">
            <a:avLst/>
          </a:prstGeom>
        </p:spPr>
        <p:txBody>
          <a:bodyPr>
            <a:spAutoFit/>
          </a:bodyPr>
          <a:lstStyle>
            <a:lvl1pPr marL="0" indent="0">
              <a:buSzTx/>
              <a:buNone/>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158750"/>
            <a:ext cx="13964218" cy="10477500"/>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023193" y="636240"/>
            <a:ext cx="11923614" cy="23192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4570" tIns="54570" rIns="54570" bIns="54570" anchor="ctr">
            <a:normAutofit/>
          </a:bodyPr>
          <a:lstStyle/>
          <a:p>
            <a:r>
              <a:t>Title Text</a:t>
            </a:r>
          </a:p>
        </p:txBody>
      </p:sp>
      <p:sp>
        <p:nvSpPr>
          <p:cNvPr id="3" name="Body Level One…"/>
          <p:cNvSpPr txBox="1">
            <a:spLocks noGrp="1"/>
          </p:cNvSpPr>
          <p:nvPr>
            <p:ph type="body" idx="1"/>
          </p:nvPr>
        </p:nvSpPr>
        <p:spPr>
          <a:xfrm>
            <a:off x="1023193" y="2955478"/>
            <a:ext cx="11923614" cy="67530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4570" tIns="54570" rIns="54570" bIns="5457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790156" y="10097368"/>
            <a:ext cx="376045" cy="388541"/>
          </a:xfrm>
          <a:prstGeom prst="rect">
            <a:avLst/>
          </a:prstGeom>
          <a:ln w="12700">
            <a:miter lim="400000"/>
          </a:ln>
        </p:spPr>
        <p:txBody>
          <a:bodyPr wrap="none" lIns="54570" tIns="54570" rIns="54570" bIns="54570">
            <a:spAutoFit/>
          </a:bodyPr>
          <a:lstStyle>
            <a:lvl1pPr algn="ctr">
              <a:spcBef>
                <a:spcPts val="0"/>
              </a:spcBef>
              <a:defRPr sz="1800" b="0">
                <a:solidFill>
                  <a:srgbClr val="000000"/>
                </a:solidFill>
                <a:latin typeface="Helvetica Light"/>
                <a:ea typeface="Helvetica Light"/>
                <a:cs typeface="Helvetica Light"/>
                <a:sym typeface="Helvetica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1pPr>
      <a:lvl2pPr marL="0" marR="0" indent="228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2pPr>
      <a:lvl3pPr marL="0" marR="0" indent="457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3pPr>
      <a:lvl4pPr marL="0" marR="0" indent="685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4pPr>
      <a:lvl5pPr marL="0" marR="0" indent="9144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5pPr>
      <a:lvl6pPr marL="0" marR="0" indent="11430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6pPr>
      <a:lvl7pPr marL="0" marR="0" indent="1371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7pPr>
      <a:lvl8pPr marL="0" marR="0" indent="1600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8pPr>
      <a:lvl9pPr marL="0" marR="0" indent="1828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9pPr>
    </p:titleStyle>
    <p:bodyStyle>
      <a:lvl1pPr marL="148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5" Type="http://schemas.openxmlformats.org/officeDocument/2006/relationships/image" Target="../media/image5.png"/><Relationship Id="rId4" Type="http://schemas.openxmlformats.org/officeDocument/2006/relationships/hyperlink" Target="http://fortawesome.github.io/Font-Awesome/get-started/"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microsoft.com/office/2018/10/relationships/comments" Target="../comments/modernComment_102_4E01F529.xml"/><Relationship Id="rId7" Type="http://schemas.openxmlformats.org/officeDocument/2006/relationships/hyperlink" Target="https://creativecommons.org/licenses/by-sa/4.0/" TargetMode="External"/><Relationship Id="rId12"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hyperlink" Target="http://fortawesome.github.io/Font-Awesome/get-started/" TargetMode="External"/><Relationship Id="rId10" Type="http://schemas.openxmlformats.org/officeDocument/2006/relationships/image" Target="../media/image9.svg"/><Relationship Id="rId4" Type="http://schemas.openxmlformats.org/officeDocument/2006/relationships/image" Target="../media/image4.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png"/><Relationship Id="rId7" Type="http://schemas.openxmlformats.org/officeDocument/2006/relationships/image" Target="../media/image7.sv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11.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hyperlink" Target="http://fortawesome.github.io/Font-Awesome/get-started/" TargetMode="External"/><Relationship Id="rId9" Type="http://schemas.openxmlformats.org/officeDocument/2006/relationships/image" Target="../media/image9.svg"/></Relationships>
</file>

<file path=ppt/slides/_rels/slide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png"/><Relationship Id="rId7"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11.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hyperlink" Target="http://fortawesome.github.io/Font-Awesome/get-started/" TargetMode="External"/><Relationship Id="rId9" Type="http://schemas.openxmlformats.org/officeDocument/2006/relationships/image" Target="../media/image9.svg"/></Relationships>
</file>

<file path=ppt/slides/_rels/slide7.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4.png"/><Relationship Id="rId7"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5" Type="http://schemas.openxmlformats.org/officeDocument/2006/relationships/image" Target="../media/image5.png"/><Relationship Id="rId10" Type="http://schemas.openxmlformats.org/officeDocument/2006/relationships/image" Target="../media/image13.svg"/><Relationship Id="rId4" Type="http://schemas.openxmlformats.org/officeDocument/2006/relationships/hyperlink" Target="http://fortawesome.github.io/Font-Awesome/get-started/" TargetMode="External"/><Relationship Id="rId9" Type="http://schemas.openxmlformats.org/officeDocument/2006/relationships/image" Target="../media/image12.svg"/></Relationships>
</file>

<file path=ppt/slides/_rels/slide8.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4.png"/><Relationship Id="rId7"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5" Type="http://schemas.openxmlformats.org/officeDocument/2006/relationships/image" Target="../media/image5.png"/><Relationship Id="rId10" Type="http://schemas.openxmlformats.org/officeDocument/2006/relationships/image" Target="../media/image13.svg"/><Relationship Id="rId4" Type="http://schemas.openxmlformats.org/officeDocument/2006/relationships/hyperlink" Target="http://fortawesome.github.io/Font-Awesome/get-started/" TargetMode="External"/><Relationship Id="rId9" Type="http://schemas.openxmlformats.org/officeDocument/2006/relationships/image" Target="../media/image12.svg"/></Relationships>
</file>

<file path=ppt/slides/_rels/slide9.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4.png"/><Relationship Id="rId7" Type="http://schemas.openxmlformats.org/officeDocument/2006/relationships/image" Target="../media/image7.sv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5" Type="http://schemas.openxmlformats.org/officeDocument/2006/relationships/image" Target="../media/image5.png"/><Relationship Id="rId10" Type="http://schemas.openxmlformats.org/officeDocument/2006/relationships/image" Target="../media/image13.svg"/><Relationship Id="rId4" Type="http://schemas.openxmlformats.org/officeDocument/2006/relationships/hyperlink" Target="http://fortawesome.github.io/Font-Awesome/get-started/" TargetMode="External"/><Relationship Id="rId9" Type="http://schemas.openxmlformats.org/officeDocument/2006/relationships/image" Target="../media/image12.svg"/></Relationships>
</file>

<file path=ppt/slides/_rels/slide10.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4.png"/><Relationship Id="rId7" Type="http://schemas.openxmlformats.org/officeDocument/2006/relationships/image" Target="../media/image7.sv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5" Type="http://schemas.openxmlformats.org/officeDocument/2006/relationships/image" Target="../media/image5.png"/><Relationship Id="rId10" Type="http://schemas.openxmlformats.org/officeDocument/2006/relationships/image" Target="../media/image13.svg"/><Relationship Id="rId4" Type="http://schemas.openxmlformats.org/officeDocument/2006/relationships/hyperlink" Target="http://fortawesome.github.io/Font-Awesome/get-started/" TargetMode="External"/><Relationship Id="rId9" Type="http://schemas.openxmlformats.org/officeDocument/2006/relationships/image" Target="../media/image12.svg"/></Relationships>
</file>

<file path=ppt/slides/_rels/slide1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4.png"/><Relationship Id="rId7" Type="http://schemas.openxmlformats.org/officeDocument/2006/relationships/image" Target="../media/image7.sv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5" Type="http://schemas.openxmlformats.org/officeDocument/2006/relationships/image" Target="../media/image5.png"/><Relationship Id="rId10" Type="http://schemas.openxmlformats.org/officeDocument/2006/relationships/image" Target="../media/image13.svg"/><Relationship Id="rId4" Type="http://schemas.openxmlformats.org/officeDocument/2006/relationships/hyperlink" Target="http://fortawesome.github.io/Font-Awesome/get-started/" TargetMode="External"/><Relationship Id="rId9"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9A40E1-510B-4817-A46D-CB6BB9FB04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3245" y="148882"/>
            <a:ext cx="8003510" cy="10497235"/>
          </a:xfrm>
          <a:prstGeom prst="rect">
            <a:avLst/>
          </a:prstGeom>
        </p:spPr>
      </p:pic>
      <p:sp>
        <p:nvSpPr>
          <p:cNvPr id="6" name="TextBox 5">
            <a:extLst>
              <a:ext uri="{FF2B5EF4-FFF2-40B4-BE49-F238E27FC236}">
                <a16:creationId xmlns:a16="http://schemas.microsoft.com/office/drawing/2014/main" id="{A30FA1C4-365F-B5C0-3DF2-9D79B662B5C8}"/>
              </a:ext>
            </a:extLst>
          </p:cNvPr>
          <p:cNvSpPr txBox="1"/>
          <p:nvPr/>
        </p:nvSpPr>
        <p:spPr>
          <a:xfrm>
            <a:off x="-2599075" y="1256962"/>
            <a:ext cx="1894349" cy="5975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3000" b="1" i="0" u="none" strike="noStrike" cap="none" spc="0" normalizeH="0" baseline="0" dirty="0">
                <a:ln>
                  <a:noFill/>
                </a:ln>
                <a:solidFill>
                  <a:srgbClr val="4C4C4C"/>
                </a:solidFill>
                <a:effectLst/>
                <a:uFillTx/>
                <a:latin typeface="Source Sans Pro"/>
                <a:ea typeface="Source Sans Pro"/>
                <a:cs typeface="Source Sans Pro"/>
                <a:sym typeface="Source Sans Pro"/>
              </a:rPr>
              <a:t>Iteration 1</a:t>
            </a:r>
          </a:p>
        </p:txBody>
      </p:sp>
    </p:spTree>
    <p:extLst>
      <p:ext uri="{BB962C8B-B14F-4D97-AF65-F5344CB8AC3E}">
        <p14:creationId xmlns:p14="http://schemas.microsoft.com/office/powerpoint/2010/main" val="315432621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0A12F0-FED3-B086-DF5E-FC748CA2CF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41562"/>
            <a:ext cx="13970000" cy="6111875"/>
          </a:xfrm>
          <a:prstGeom prst="rect">
            <a:avLst/>
          </a:prstGeom>
        </p:spPr>
      </p:pic>
      <p:sp>
        <p:nvSpPr>
          <p:cNvPr id="6" name="TextBox 5">
            <a:extLst>
              <a:ext uri="{FF2B5EF4-FFF2-40B4-BE49-F238E27FC236}">
                <a16:creationId xmlns:a16="http://schemas.microsoft.com/office/drawing/2014/main" id="{4D51DD79-F231-0BC6-1B38-D22BFE7EE0DC}"/>
              </a:ext>
            </a:extLst>
          </p:cNvPr>
          <p:cNvSpPr txBox="1"/>
          <p:nvPr/>
        </p:nvSpPr>
        <p:spPr>
          <a:xfrm>
            <a:off x="-2599075" y="1256962"/>
            <a:ext cx="1894349" cy="5975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3000" b="1" i="0" u="none" strike="noStrike" cap="none" spc="0" normalizeH="0" baseline="0" dirty="0">
                <a:ln>
                  <a:noFill/>
                </a:ln>
                <a:solidFill>
                  <a:srgbClr val="4C4C4C"/>
                </a:solidFill>
                <a:effectLst/>
                <a:uFillTx/>
                <a:latin typeface="Source Sans Pro"/>
                <a:ea typeface="Source Sans Pro"/>
                <a:cs typeface="Source Sans Pro"/>
                <a:sym typeface="Source Sans Pro"/>
              </a:rPr>
              <a:t>Iteration 2</a:t>
            </a:r>
          </a:p>
        </p:txBody>
      </p:sp>
    </p:spTree>
    <p:extLst>
      <p:ext uri="{BB962C8B-B14F-4D97-AF65-F5344CB8AC3E}">
        <p14:creationId xmlns:p14="http://schemas.microsoft.com/office/powerpoint/2010/main" val="2482992710"/>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51EBD-B1B1-63B5-1142-3483D520C97E}"/>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3B8991D0-2280-E8D2-0043-E1E7E8D5E985}"/>
              </a:ext>
            </a:extLst>
          </p:cNvPr>
          <p:cNvPicPr>
            <a:picLocks noGrp="1" noRot="1" noChangeAspect="1" noMove="1" noResize="1" noEditPoints="1" noAdjustHandles="1" noChangeArrowheads="1" noChangeShapeType="1" noCrop="1"/>
          </p:cNvPicPr>
          <p:nvPr/>
        </p:nvPicPr>
        <p:blipFill>
          <a:blip r:embed="rId3"/>
          <a:stretch>
            <a:fillRect/>
          </a:stretch>
        </p:blipFill>
        <p:spPr>
          <a:xfrm>
            <a:off x="8397917" y="-673983"/>
            <a:ext cx="5598432" cy="2990088"/>
          </a:xfrm>
          <a:prstGeom prst="rect">
            <a:avLst/>
          </a:prstGeom>
          <a:ln w="12700">
            <a:miter lim="400000"/>
          </a:ln>
        </p:spPr>
      </p:pic>
      <p:sp>
        <p:nvSpPr>
          <p:cNvPr id="312" name="Line">
            <a:extLst>
              <a:ext uri="{FF2B5EF4-FFF2-40B4-BE49-F238E27FC236}">
                <a16:creationId xmlns:a16="http://schemas.microsoft.com/office/drawing/2014/main" id="{92DF4FA0-4787-EB7D-C18B-E8724E9DB5EB}"/>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49" name="Line">
            <a:extLst>
              <a:ext uri="{FF2B5EF4-FFF2-40B4-BE49-F238E27FC236}">
                <a16:creationId xmlns:a16="http://schemas.microsoft.com/office/drawing/2014/main" id="{F4ED173F-FEA8-637C-499C-F52B67A69B82}"/>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50" name="YOUR LOGO…">
            <a:extLst>
              <a:ext uri="{FF2B5EF4-FFF2-40B4-BE49-F238E27FC236}">
                <a16:creationId xmlns:a16="http://schemas.microsoft.com/office/drawing/2014/main" id="{D9FC2881-6850-5F44-766D-36D9A205CEE1}"/>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err="1"/>
              <a:t>Kaiāulu</a:t>
            </a:r>
            <a:endParaRPr sz="2400" dirty="0"/>
          </a:p>
        </p:txBody>
      </p:sp>
      <p:sp>
        <p:nvSpPr>
          <p:cNvPr id="351" name="Three Column Layout: : CHEAT SHEET">
            <a:extLst>
              <a:ext uri="{FF2B5EF4-FFF2-40B4-BE49-F238E27FC236}">
                <a16:creationId xmlns:a16="http://schemas.microsoft.com/office/drawing/2014/main" id="{42E3D2FE-A4D9-62B6-D2FE-86EF31997AFF}"/>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Sentiment Dataset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52" name="Use headers, colors, and/or backgrounds to separate or group together sections.">
            <a:extLst>
              <a:ext uri="{FF2B5EF4-FFF2-40B4-BE49-F238E27FC236}">
                <a16:creationId xmlns:a16="http://schemas.microsoft.com/office/drawing/2014/main" id="{5CDE7ED2-5D83-AFCD-B95F-2CD9A23E5B94}"/>
              </a:ext>
            </a:extLst>
          </p:cNvPr>
          <p:cNvSpPr txBox="1"/>
          <p:nvPr/>
        </p:nvSpPr>
        <p:spPr>
          <a:xfrm>
            <a:off x="219190" y="1892216"/>
            <a:ext cx="4085200" cy="1273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lvl="0">
              <a:lnSpc>
                <a:spcPct val="90000"/>
              </a:lnSpc>
              <a:buSzPts val="3700"/>
            </a:pPr>
            <a:r>
              <a:rPr lang="en-US" b="0" dirty="0"/>
              <a:t>The GitHub Gold Standard and Jira Emotion datasets contain sentiment and emotion labels for developer communication comments, but each CSV is incomplete. They have labels but no project context. Without that context, the labels cannot be connected to </a:t>
            </a:r>
            <a:r>
              <a:rPr lang="en-US" b="0" dirty="0" err="1"/>
              <a:t>Kaiaulu's</a:t>
            </a:r>
            <a:r>
              <a:rPr lang="en-US" b="0" dirty="0"/>
              <a:t> downloaded data. By joining each CSV to its corresponding database dump, we recover the missing context and make the labels usable in </a:t>
            </a:r>
            <a:r>
              <a:rPr lang="en-US" b="0" dirty="0" err="1"/>
              <a:t>Kaiaulu</a:t>
            </a:r>
            <a:r>
              <a:rPr lang="en-US" b="0" dirty="0"/>
              <a:t>.</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353" name="Logistics">
            <a:extLst>
              <a:ext uri="{FF2B5EF4-FFF2-40B4-BE49-F238E27FC236}">
                <a16:creationId xmlns:a16="http://schemas.microsoft.com/office/drawing/2014/main" id="{12C72881-F400-18C4-9F39-7FFF70116265}"/>
              </a:ext>
            </a:extLst>
          </p:cNvPr>
          <p:cNvSpPr txBox="1"/>
          <p:nvPr/>
        </p:nvSpPr>
        <p:spPr>
          <a:xfrm>
            <a:off x="4968243" y="1513569"/>
            <a:ext cx="3953005"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Sentiment Dataset to </a:t>
            </a:r>
            <a:r>
              <a:rPr lang="en-US" dirty="0" err="1">
                <a:latin typeface="Source Sans Pro" panose="020B0503030403020204" pitchFamily="34" charset="0"/>
                <a:ea typeface="Source Sans Pro" panose="020B0503030403020204" pitchFamily="34" charset="0"/>
                <a:cs typeface="Arial" panose="020B0604020202020204" pitchFamily="34" charset="0"/>
              </a:rPr>
              <a:t>Kaiaulu</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354" name="Layout Suggestions">
            <a:extLst>
              <a:ext uri="{FF2B5EF4-FFF2-40B4-BE49-F238E27FC236}">
                <a16:creationId xmlns:a16="http://schemas.microsoft.com/office/drawing/2014/main" id="{436A00CF-C96D-04DF-2CBB-811A7D580D7A}"/>
              </a:ext>
            </a:extLst>
          </p:cNvPr>
          <p:cNvSpPr txBox="1"/>
          <p:nvPr/>
        </p:nvSpPr>
        <p:spPr>
          <a:xfrm>
            <a:off x="275721" y="1519235"/>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About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pic>
        <p:nvPicPr>
          <p:cNvPr id="355" name="Picture 354" descr="A picture containing text&#10;&#10;Description automatically generated">
            <a:extLst>
              <a:ext uri="{FF2B5EF4-FFF2-40B4-BE49-F238E27FC236}">
                <a16:creationId xmlns:a16="http://schemas.microsoft.com/office/drawing/2014/main" id="{C7CDA96D-B6A8-8A8C-43CC-FD504779461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356" name="TextBox 355">
            <a:extLst>
              <a:ext uri="{FF2B5EF4-FFF2-40B4-BE49-F238E27FC236}">
                <a16:creationId xmlns:a16="http://schemas.microsoft.com/office/drawing/2014/main" id="{D849B1AC-7ADD-C757-E2B5-C77C22828286}"/>
              </a:ext>
            </a:extLst>
          </p:cNvPr>
          <p:cNvSpPr txBox="1"/>
          <p:nvPr/>
        </p:nvSpPr>
        <p:spPr>
          <a:xfrm>
            <a:off x="7369010" y="10301097"/>
            <a:ext cx="6288562"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Samantha </a:t>
            </a:r>
            <a:r>
              <a:rPr lang="en-US" sz="1000" b="0" dirty="0">
                <a:solidFill>
                  <a:schemeClr val="tx1"/>
                </a:solidFill>
              </a:rPr>
              <a:t>Limon,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Carlos Paradis</a:t>
            </a:r>
            <a:r>
              <a:rPr lang="en-US" sz="1000" b="0" dirty="0">
                <a:solidFill>
                  <a:schemeClr val="tx1"/>
                </a:solidFill>
              </a:rPr>
              <a: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a:t>
            </a:r>
            <a:r>
              <a:rPr kumimoji="0" lang="en-US" sz="1000" b="0" i="0" u="none" strike="noStrike" cap="none" spc="0" normalizeH="0" baseline="0" dirty="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57" name="Layout Suggestions">
            <a:extLst>
              <a:ext uri="{FF2B5EF4-FFF2-40B4-BE49-F238E27FC236}">
                <a16:creationId xmlns:a16="http://schemas.microsoft.com/office/drawing/2014/main" id="{FA9B54F4-0BFB-187F-FBED-CFCFCE34EE52}"/>
              </a:ext>
            </a:extLst>
          </p:cNvPr>
          <p:cNvSpPr txBox="1"/>
          <p:nvPr/>
        </p:nvSpPr>
        <p:spPr>
          <a:xfrm>
            <a:off x="232119" y="3526199"/>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Getting Started</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358" name="TextBox 357">
            <a:extLst>
              <a:ext uri="{FF2B5EF4-FFF2-40B4-BE49-F238E27FC236}">
                <a16:creationId xmlns:a16="http://schemas.microsoft.com/office/drawing/2014/main" id="{D6A4C69A-C524-9E64-591E-0CB30DDA569E}"/>
              </a:ext>
            </a:extLst>
          </p:cNvPr>
          <p:cNvSpPr txBox="1"/>
          <p:nvPr/>
        </p:nvSpPr>
        <p:spPr>
          <a:xfrm>
            <a:off x="232119" y="5861589"/>
            <a:ext cx="4346831"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original Gold Standard has only three columns. After joining to </a:t>
            </a:r>
            <a:r>
              <a:rPr lang="en-US" b="0" dirty="0" err="1"/>
              <a:t>GHTorrent</a:t>
            </a:r>
            <a:r>
              <a:rPr lang="en-US" b="0" dirty="0"/>
              <a:t>, we now have the project and author context needed to connect each comment to </a:t>
            </a:r>
            <a:r>
              <a:rPr lang="en-US" b="0" dirty="0" err="1"/>
              <a:t>Kaiaulu</a:t>
            </a:r>
            <a:r>
              <a:rPr lang="en-US" b="0" dirty="0"/>
              <a:t>.</a:t>
            </a:r>
          </a:p>
        </p:txBody>
      </p:sp>
      <p:sp>
        <p:nvSpPr>
          <p:cNvPr id="359" name="Manipulate Variables">
            <a:extLst>
              <a:ext uri="{FF2B5EF4-FFF2-40B4-BE49-F238E27FC236}">
                <a16:creationId xmlns:a16="http://schemas.microsoft.com/office/drawing/2014/main" id="{77C0C248-278D-8B90-6AC6-148F07DB2144}"/>
              </a:ext>
            </a:extLst>
          </p:cNvPr>
          <p:cNvSpPr txBox="1"/>
          <p:nvPr/>
        </p:nvSpPr>
        <p:spPr>
          <a:xfrm>
            <a:off x="9588309" y="1528419"/>
            <a:ext cx="2585644"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Related Notebooks</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360" name="Create a visual hierarchy. Help users navigate the page with titles, subtitles, and subsubtitles">
            <a:extLst>
              <a:ext uri="{FF2B5EF4-FFF2-40B4-BE49-F238E27FC236}">
                <a16:creationId xmlns:a16="http://schemas.microsoft.com/office/drawing/2014/main" id="{D64A743D-4611-E838-9C8D-5AE044E12929}"/>
              </a:ext>
            </a:extLst>
          </p:cNvPr>
          <p:cNvSpPr txBox="1"/>
          <p:nvPr/>
        </p:nvSpPr>
        <p:spPr>
          <a:xfrm>
            <a:off x="9545296" y="1911334"/>
            <a:ext cx="4001355" cy="7750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See supplementary notebooks in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sailuh</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github_sentiment_dataset</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 that go in-depth on the documentation on making the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Github</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 Gold Standard dataset compatible with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Kaiaulu</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a:t>
            </a:r>
          </a:p>
        </p:txBody>
      </p:sp>
      <p:sp>
        <p:nvSpPr>
          <p:cNvPr id="361" name="TextBox 360">
            <a:extLst>
              <a:ext uri="{FF2B5EF4-FFF2-40B4-BE49-F238E27FC236}">
                <a16:creationId xmlns:a16="http://schemas.microsoft.com/office/drawing/2014/main" id="{0C217613-1388-7B63-01F1-39C9B3B768F0}"/>
              </a:ext>
            </a:extLst>
          </p:cNvPr>
          <p:cNvSpPr txBox="1"/>
          <p:nvPr/>
        </p:nvSpPr>
        <p:spPr>
          <a:xfrm>
            <a:off x="9587184" y="2805715"/>
            <a:ext cx="3656656" cy="951462"/>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01_load_sentiment_csv_to_mysql.ipynb</a:t>
            </a:r>
          </a:p>
          <a:p>
            <a:pPr marL="228600" indent="-228600">
              <a:buFont typeface="+mj-lt"/>
              <a:buAutoNum type="arabicPeriod"/>
            </a:pPr>
            <a:r>
              <a:rPr lang="en-US" dirty="0"/>
              <a:t>02_explore_relevant_projects.ipynb</a:t>
            </a:r>
          </a:p>
          <a:p>
            <a:pPr marL="228600" indent="-228600">
              <a:buFont typeface="+mj-lt"/>
              <a:buAutoNum type="arabicPeriod"/>
            </a:pPr>
            <a:r>
              <a:rPr lang="en-US" dirty="0"/>
              <a:t>03_scale_config_files.ipynb</a:t>
            </a:r>
          </a:p>
          <a:p>
            <a:pPr marL="228600" indent="-228600">
              <a:buFont typeface="+mj-lt"/>
              <a:buAutoNum type="arabicPeriod"/>
            </a:pPr>
            <a:r>
              <a:rPr lang="en-US" dirty="0"/>
              <a:t>04_add_sentiment_to_kaiaulu.ipynb</a:t>
            </a:r>
          </a:p>
        </p:txBody>
      </p:sp>
      <p:sp>
        <p:nvSpPr>
          <p:cNvPr id="362" name="Manipulate Variables">
            <a:extLst>
              <a:ext uri="{FF2B5EF4-FFF2-40B4-BE49-F238E27FC236}">
                <a16:creationId xmlns:a16="http://schemas.microsoft.com/office/drawing/2014/main" id="{ABEEF42F-100F-258D-BE8B-623CF2357572}"/>
              </a:ext>
            </a:extLst>
          </p:cNvPr>
          <p:cNvSpPr txBox="1"/>
          <p:nvPr/>
        </p:nvSpPr>
        <p:spPr>
          <a:xfrm>
            <a:off x="9587184" y="5566630"/>
            <a:ext cx="210634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Data Expansion</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363" name="Create a visual hierarchy. Help users navigate the page with titles, subtitles, and subsubtitles">
            <a:extLst>
              <a:ext uri="{FF2B5EF4-FFF2-40B4-BE49-F238E27FC236}">
                <a16:creationId xmlns:a16="http://schemas.microsoft.com/office/drawing/2014/main" id="{2A95B71D-604F-6F62-C12A-FE4616375A29}"/>
              </a:ext>
            </a:extLst>
          </p:cNvPr>
          <p:cNvSpPr txBox="1"/>
          <p:nvPr/>
        </p:nvSpPr>
        <p:spPr>
          <a:xfrm>
            <a:off x="9544171" y="5949545"/>
            <a:ext cx="4001355" cy="22441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r>
              <a:rPr lang="en-US" b="0" dirty="0"/>
              <a:t>Through this pipeline, we recover the context that is missing from the sentiment CSVs. That context enables two types of dataset expansion using </a:t>
            </a:r>
            <a:r>
              <a:rPr lang="en-US" b="0" dirty="0" err="1"/>
              <a:t>Kaiaulu</a:t>
            </a:r>
            <a:r>
              <a:rPr lang="en-US" b="0" dirty="0"/>
              <a:t>:</a:t>
            </a:r>
          </a:p>
          <a:p>
            <a:endParaRPr lang="en-US" b="0" dirty="0"/>
          </a:p>
          <a:p>
            <a:pPr marL="228600" indent="-228600">
              <a:buAutoNum type="arabicPeriod"/>
            </a:pPr>
            <a:r>
              <a:rPr lang="en-US" dirty="0"/>
              <a:t>Temporal expansion</a:t>
            </a:r>
            <a:r>
              <a:rPr lang="en-US" b="0" dirty="0"/>
              <a:t>: Re-download the same projects' comments from 2004 through today.</a:t>
            </a:r>
          </a:p>
          <a:p>
            <a:pPr marL="228600" indent="-228600">
              <a:buAutoNum type="arabicPeriod"/>
            </a:pPr>
            <a:r>
              <a:rPr lang="en-US" dirty="0"/>
              <a:t>Horizontal expansion</a:t>
            </a:r>
            <a:r>
              <a:rPr lang="en-US" b="0" dirty="0"/>
              <a:t>: Download additional data sources for those same projects (e.g., source code, version control history) that can be linked back to sentiment labels</a:t>
            </a:r>
          </a:p>
          <a:p>
            <a:endParaRPr lang="en-US" b="0" dirty="0"/>
          </a:p>
        </p:txBody>
      </p:sp>
      <p:sp>
        <p:nvSpPr>
          <p:cNvPr id="364" name="Layout Suggestions">
            <a:extLst>
              <a:ext uri="{FF2B5EF4-FFF2-40B4-BE49-F238E27FC236}">
                <a16:creationId xmlns:a16="http://schemas.microsoft.com/office/drawing/2014/main" id="{C0917B6D-D88C-73D3-5109-DDA6779F1EA3}"/>
              </a:ext>
            </a:extLst>
          </p:cNvPr>
          <p:cNvSpPr txBox="1"/>
          <p:nvPr/>
        </p:nvSpPr>
        <p:spPr>
          <a:xfrm>
            <a:off x="232119" y="5510928"/>
            <a:ext cx="433390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Contextualized Dataset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365" name="TextBox 364">
            <a:extLst>
              <a:ext uri="{FF2B5EF4-FFF2-40B4-BE49-F238E27FC236}">
                <a16:creationId xmlns:a16="http://schemas.microsoft.com/office/drawing/2014/main" id="{1FA8A480-D5C5-1055-D461-3B64878F7502}"/>
              </a:ext>
            </a:extLst>
          </p:cNvPr>
          <p:cNvSpPr txBox="1"/>
          <p:nvPr/>
        </p:nvSpPr>
        <p:spPr>
          <a:xfrm>
            <a:off x="222937" y="3848619"/>
            <a:ext cx="4346831" cy="13720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following must be set up/downloaded:</a:t>
            </a:r>
          </a:p>
          <a:p>
            <a:endParaRPr lang="en-US" b="0" dirty="0"/>
          </a:p>
          <a:p>
            <a:r>
              <a:rPr lang="en-US" b="0" dirty="0"/>
              <a:t>1. </a:t>
            </a:r>
            <a:r>
              <a:rPr lang="en-US" b="0" dirty="0" err="1"/>
              <a:t>Github</a:t>
            </a:r>
            <a:r>
              <a:rPr lang="en-US" b="0" dirty="0"/>
              <a:t> Gold Standard Dataset</a:t>
            </a:r>
          </a:p>
          <a:p>
            <a:r>
              <a:rPr lang="en-US" b="0" dirty="0"/>
              <a:t>2. </a:t>
            </a:r>
            <a:r>
              <a:rPr lang="en-US" b="0" dirty="0" err="1"/>
              <a:t>GHTorrent</a:t>
            </a:r>
            <a:r>
              <a:rPr lang="en-US" b="0" dirty="0"/>
              <a:t> 2004 MySQL Dump</a:t>
            </a:r>
          </a:p>
          <a:p>
            <a:r>
              <a:rPr lang="en-US" b="0" dirty="0"/>
              <a:t>3. Jira Emotion Dataset</a:t>
            </a:r>
          </a:p>
          <a:p>
            <a:r>
              <a:rPr lang="en-US" b="0" dirty="0"/>
              <a:t>4. Jira </a:t>
            </a:r>
            <a:r>
              <a:rPr lang="en-US" b="0" dirty="0" err="1"/>
              <a:t>PostgresSQL</a:t>
            </a:r>
            <a:r>
              <a:rPr lang="en-US" b="0" dirty="0"/>
              <a:t> Dump</a:t>
            </a:r>
          </a:p>
        </p:txBody>
      </p:sp>
      <p:sp>
        <p:nvSpPr>
          <p:cNvPr id="366" name="Rectangle 365">
            <a:extLst>
              <a:ext uri="{FF2B5EF4-FFF2-40B4-BE49-F238E27FC236}">
                <a16:creationId xmlns:a16="http://schemas.microsoft.com/office/drawing/2014/main" id="{D598DF5C-7287-274C-13B2-9983A5F77C15}"/>
              </a:ext>
            </a:extLst>
          </p:cNvPr>
          <p:cNvSpPr/>
          <p:nvPr/>
        </p:nvSpPr>
        <p:spPr>
          <a:xfrm>
            <a:off x="287663" y="6898210"/>
            <a:ext cx="1810148" cy="1782991"/>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67" name="TextBox 366">
            <a:extLst>
              <a:ext uri="{FF2B5EF4-FFF2-40B4-BE49-F238E27FC236}">
                <a16:creationId xmlns:a16="http://schemas.microsoft.com/office/drawing/2014/main" id="{DA5DE42E-5308-F3DD-3110-45AB96A59364}"/>
              </a:ext>
            </a:extLst>
          </p:cNvPr>
          <p:cNvSpPr txBox="1"/>
          <p:nvPr/>
        </p:nvSpPr>
        <p:spPr>
          <a:xfrm>
            <a:off x="275720" y="6483873"/>
            <a:ext cx="182209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b="0" dirty="0"/>
              <a:t>Old</a:t>
            </a:r>
          </a:p>
        </p:txBody>
      </p:sp>
      <p:sp>
        <p:nvSpPr>
          <p:cNvPr id="368" name="TextBox 367">
            <a:extLst>
              <a:ext uri="{FF2B5EF4-FFF2-40B4-BE49-F238E27FC236}">
                <a16:creationId xmlns:a16="http://schemas.microsoft.com/office/drawing/2014/main" id="{37F8E04C-CF8F-5A5F-883B-CBBD5B7F2BE1}"/>
              </a:ext>
            </a:extLst>
          </p:cNvPr>
          <p:cNvSpPr txBox="1"/>
          <p:nvPr/>
        </p:nvSpPr>
        <p:spPr>
          <a:xfrm>
            <a:off x="2351320" y="6483873"/>
            <a:ext cx="182209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b="0" dirty="0"/>
              <a:t>New</a:t>
            </a:r>
          </a:p>
        </p:txBody>
      </p:sp>
      <p:sp>
        <p:nvSpPr>
          <p:cNvPr id="369" name="Rectangle 368">
            <a:extLst>
              <a:ext uri="{FF2B5EF4-FFF2-40B4-BE49-F238E27FC236}">
                <a16:creationId xmlns:a16="http://schemas.microsoft.com/office/drawing/2014/main" id="{15EE582A-FC58-3396-6017-760A1FEEC2E8}"/>
              </a:ext>
            </a:extLst>
          </p:cNvPr>
          <p:cNvSpPr/>
          <p:nvPr/>
        </p:nvSpPr>
        <p:spPr>
          <a:xfrm>
            <a:off x="440063" y="7050611"/>
            <a:ext cx="1488225" cy="387049"/>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0" name="Rectangle 369">
            <a:extLst>
              <a:ext uri="{FF2B5EF4-FFF2-40B4-BE49-F238E27FC236}">
                <a16:creationId xmlns:a16="http://schemas.microsoft.com/office/drawing/2014/main" id="{EF9D9F00-A352-A753-E167-A247EE84F5AA}"/>
              </a:ext>
            </a:extLst>
          </p:cNvPr>
          <p:cNvSpPr/>
          <p:nvPr/>
        </p:nvSpPr>
        <p:spPr>
          <a:xfrm>
            <a:off x="436518" y="7444055"/>
            <a:ext cx="1488225" cy="387049"/>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1" name="Rectangle 370">
            <a:extLst>
              <a:ext uri="{FF2B5EF4-FFF2-40B4-BE49-F238E27FC236}">
                <a16:creationId xmlns:a16="http://schemas.microsoft.com/office/drawing/2014/main" id="{C659D43C-E44D-A617-DC04-22A36559CE1C}"/>
              </a:ext>
            </a:extLst>
          </p:cNvPr>
          <p:cNvSpPr/>
          <p:nvPr/>
        </p:nvSpPr>
        <p:spPr>
          <a:xfrm>
            <a:off x="440062" y="7831104"/>
            <a:ext cx="1488225" cy="387049"/>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2" name="TextBox 371">
            <a:extLst>
              <a:ext uri="{FF2B5EF4-FFF2-40B4-BE49-F238E27FC236}">
                <a16:creationId xmlns:a16="http://schemas.microsoft.com/office/drawing/2014/main" id="{A8053DF9-CC52-9F7C-8B01-40BB036A089B}"/>
              </a:ext>
            </a:extLst>
          </p:cNvPr>
          <p:cNvSpPr txBox="1"/>
          <p:nvPr/>
        </p:nvSpPr>
        <p:spPr>
          <a:xfrm>
            <a:off x="281691" y="7063556"/>
            <a:ext cx="182209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b="0" dirty="0"/>
              <a:t>ID</a:t>
            </a:r>
          </a:p>
        </p:txBody>
      </p:sp>
      <p:sp>
        <p:nvSpPr>
          <p:cNvPr id="373" name="TextBox 372">
            <a:extLst>
              <a:ext uri="{FF2B5EF4-FFF2-40B4-BE49-F238E27FC236}">
                <a16:creationId xmlns:a16="http://schemas.microsoft.com/office/drawing/2014/main" id="{04A2DFE9-0BFE-83ED-3FC7-DFBE9F56ED48}"/>
              </a:ext>
            </a:extLst>
          </p:cNvPr>
          <p:cNvSpPr txBox="1"/>
          <p:nvPr/>
        </p:nvSpPr>
        <p:spPr>
          <a:xfrm>
            <a:off x="269584" y="7470924"/>
            <a:ext cx="182209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b="0" dirty="0"/>
              <a:t>polarity</a:t>
            </a:r>
          </a:p>
        </p:txBody>
      </p:sp>
      <p:sp>
        <p:nvSpPr>
          <p:cNvPr id="374" name="TextBox 373">
            <a:extLst>
              <a:ext uri="{FF2B5EF4-FFF2-40B4-BE49-F238E27FC236}">
                <a16:creationId xmlns:a16="http://schemas.microsoft.com/office/drawing/2014/main" id="{4EB5C7D0-101A-6B2F-2A81-45EB8B2E7F6A}"/>
              </a:ext>
            </a:extLst>
          </p:cNvPr>
          <p:cNvSpPr txBox="1"/>
          <p:nvPr/>
        </p:nvSpPr>
        <p:spPr>
          <a:xfrm>
            <a:off x="257477" y="7878292"/>
            <a:ext cx="182209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b="0" dirty="0"/>
              <a:t>text</a:t>
            </a:r>
          </a:p>
        </p:txBody>
      </p:sp>
      <p:sp>
        <p:nvSpPr>
          <p:cNvPr id="375" name="Rectangle 374">
            <a:extLst>
              <a:ext uri="{FF2B5EF4-FFF2-40B4-BE49-F238E27FC236}">
                <a16:creationId xmlns:a16="http://schemas.microsoft.com/office/drawing/2014/main" id="{E3341EB1-3FCC-C930-2F21-AB600B599F68}"/>
              </a:ext>
            </a:extLst>
          </p:cNvPr>
          <p:cNvSpPr/>
          <p:nvPr/>
        </p:nvSpPr>
        <p:spPr>
          <a:xfrm>
            <a:off x="2553442" y="7045735"/>
            <a:ext cx="1500425" cy="379694"/>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6" name="Rectangle 375">
            <a:extLst>
              <a:ext uri="{FF2B5EF4-FFF2-40B4-BE49-F238E27FC236}">
                <a16:creationId xmlns:a16="http://schemas.microsoft.com/office/drawing/2014/main" id="{96851514-832A-02C3-92C3-D2A3B2BF4C0D}"/>
              </a:ext>
            </a:extLst>
          </p:cNvPr>
          <p:cNvSpPr/>
          <p:nvPr/>
        </p:nvSpPr>
        <p:spPr>
          <a:xfrm>
            <a:off x="2553442" y="7431823"/>
            <a:ext cx="1500425" cy="379694"/>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7" name="Rectangle 376">
            <a:extLst>
              <a:ext uri="{FF2B5EF4-FFF2-40B4-BE49-F238E27FC236}">
                <a16:creationId xmlns:a16="http://schemas.microsoft.com/office/drawing/2014/main" id="{D51A9C1C-6B75-05FA-EB90-784ABDDD15D3}"/>
              </a:ext>
            </a:extLst>
          </p:cNvPr>
          <p:cNvSpPr/>
          <p:nvPr/>
        </p:nvSpPr>
        <p:spPr>
          <a:xfrm>
            <a:off x="2553442" y="7810563"/>
            <a:ext cx="1500425" cy="379694"/>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8" name="Rectangle 377">
            <a:extLst>
              <a:ext uri="{FF2B5EF4-FFF2-40B4-BE49-F238E27FC236}">
                <a16:creationId xmlns:a16="http://schemas.microsoft.com/office/drawing/2014/main" id="{ADCB6A6D-8C9D-A506-70AE-338A7E2EA0A4}"/>
              </a:ext>
            </a:extLst>
          </p:cNvPr>
          <p:cNvSpPr/>
          <p:nvPr/>
        </p:nvSpPr>
        <p:spPr>
          <a:xfrm>
            <a:off x="2553442" y="8200527"/>
            <a:ext cx="1500425" cy="379694"/>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79" name="Rectangle 378">
            <a:extLst>
              <a:ext uri="{FF2B5EF4-FFF2-40B4-BE49-F238E27FC236}">
                <a16:creationId xmlns:a16="http://schemas.microsoft.com/office/drawing/2014/main" id="{845C228B-886E-85C9-C071-A4E48D5662DB}"/>
              </a:ext>
            </a:extLst>
          </p:cNvPr>
          <p:cNvSpPr/>
          <p:nvPr/>
        </p:nvSpPr>
        <p:spPr>
          <a:xfrm>
            <a:off x="2553441" y="8589085"/>
            <a:ext cx="1500425" cy="379694"/>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80" name="TextBox 379">
            <a:extLst>
              <a:ext uri="{FF2B5EF4-FFF2-40B4-BE49-F238E27FC236}">
                <a16:creationId xmlns:a16="http://schemas.microsoft.com/office/drawing/2014/main" id="{6624FB07-E4BE-9808-1B7C-A622EFB6114F}"/>
              </a:ext>
            </a:extLst>
          </p:cNvPr>
          <p:cNvSpPr txBox="1"/>
          <p:nvPr/>
        </p:nvSpPr>
        <p:spPr>
          <a:xfrm>
            <a:off x="2392607" y="7057832"/>
            <a:ext cx="182209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b="0" dirty="0"/>
              <a:t>ID</a:t>
            </a:r>
          </a:p>
        </p:txBody>
      </p:sp>
      <p:sp>
        <p:nvSpPr>
          <p:cNvPr id="381" name="TextBox 380">
            <a:extLst>
              <a:ext uri="{FF2B5EF4-FFF2-40B4-BE49-F238E27FC236}">
                <a16:creationId xmlns:a16="http://schemas.microsoft.com/office/drawing/2014/main" id="{CCC6C4E5-8FE1-4663-BAE3-85D5247B3731}"/>
              </a:ext>
            </a:extLst>
          </p:cNvPr>
          <p:cNvSpPr txBox="1"/>
          <p:nvPr/>
        </p:nvSpPr>
        <p:spPr>
          <a:xfrm>
            <a:off x="2392607" y="7453727"/>
            <a:ext cx="182209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b="0" dirty="0"/>
              <a:t>polarity</a:t>
            </a:r>
          </a:p>
        </p:txBody>
      </p:sp>
      <p:sp>
        <p:nvSpPr>
          <p:cNvPr id="382" name="TextBox 381">
            <a:extLst>
              <a:ext uri="{FF2B5EF4-FFF2-40B4-BE49-F238E27FC236}">
                <a16:creationId xmlns:a16="http://schemas.microsoft.com/office/drawing/2014/main" id="{CA11B5FE-8916-7BA5-3E72-D48ADD7F13C1}"/>
              </a:ext>
            </a:extLst>
          </p:cNvPr>
          <p:cNvSpPr txBox="1"/>
          <p:nvPr/>
        </p:nvSpPr>
        <p:spPr>
          <a:xfrm>
            <a:off x="2392607" y="7848540"/>
            <a:ext cx="182209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b="0" dirty="0"/>
              <a:t>text</a:t>
            </a:r>
          </a:p>
        </p:txBody>
      </p:sp>
      <p:sp>
        <p:nvSpPr>
          <p:cNvPr id="383" name="TextBox 382">
            <a:extLst>
              <a:ext uri="{FF2B5EF4-FFF2-40B4-BE49-F238E27FC236}">
                <a16:creationId xmlns:a16="http://schemas.microsoft.com/office/drawing/2014/main" id="{58E3007D-1BF2-D58D-D1CA-4970BAB6A709}"/>
              </a:ext>
            </a:extLst>
          </p:cNvPr>
          <p:cNvSpPr txBox="1"/>
          <p:nvPr/>
        </p:nvSpPr>
        <p:spPr>
          <a:xfrm>
            <a:off x="2392607" y="8218812"/>
            <a:ext cx="182209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b="0" dirty="0" err="1"/>
              <a:t>created_at</a:t>
            </a:r>
            <a:endParaRPr lang="en-US" b="0" dirty="0"/>
          </a:p>
        </p:txBody>
      </p:sp>
      <p:sp>
        <p:nvSpPr>
          <p:cNvPr id="384" name="TextBox 383">
            <a:extLst>
              <a:ext uri="{FF2B5EF4-FFF2-40B4-BE49-F238E27FC236}">
                <a16:creationId xmlns:a16="http://schemas.microsoft.com/office/drawing/2014/main" id="{AE70BD28-1CB5-0D1D-6412-93702C5C119D}"/>
              </a:ext>
            </a:extLst>
          </p:cNvPr>
          <p:cNvSpPr txBox="1"/>
          <p:nvPr/>
        </p:nvSpPr>
        <p:spPr>
          <a:xfrm>
            <a:off x="2392605" y="8606065"/>
            <a:ext cx="182209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b="0" dirty="0" err="1"/>
              <a:t>author_login</a:t>
            </a:r>
            <a:endParaRPr lang="en-US" b="0" dirty="0"/>
          </a:p>
        </p:txBody>
      </p:sp>
      <p:sp>
        <p:nvSpPr>
          <p:cNvPr id="385" name="Rectangle 384">
            <a:extLst>
              <a:ext uri="{FF2B5EF4-FFF2-40B4-BE49-F238E27FC236}">
                <a16:creationId xmlns:a16="http://schemas.microsoft.com/office/drawing/2014/main" id="{B4F5A406-AEC3-AF42-2FE0-D51C1747D590}"/>
              </a:ext>
            </a:extLst>
          </p:cNvPr>
          <p:cNvSpPr/>
          <p:nvPr/>
        </p:nvSpPr>
        <p:spPr>
          <a:xfrm>
            <a:off x="2553441" y="8961932"/>
            <a:ext cx="1500425" cy="379694"/>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86" name="Rectangle 385">
            <a:extLst>
              <a:ext uri="{FF2B5EF4-FFF2-40B4-BE49-F238E27FC236}">
                <a16:creationId xmlns:a16="http://schemas.microsoft.com/office/drawing/2014/main" id="{284636B6-0442-B2A2-811E-BA497D9D9701}"/>
              </a:ext>
            </a:extLst>
          </p:cNvPr>
          <p:cNvSpPr/>
          <p:nvPr/>
        </p:nvSpPr>
        <p:spPr>
          <a:xfrm>
            <a:off x="2553439" y="9340987"/>
            <a:ext cx="1500425" cy="379694"/>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87" name="TextBox 386">
            <a:extLst>
              <a:ext uri="{FF2B5EF4-FFF2-40B4-BE49-F238E27FC236}">
                <a16:creationId xmlns:a16="http://schemas.microsoft.com/office/drawing/2014/main" id="{A25002E2-6F6F-86E4-EE69-171DFB9D67A6}"/>
              </a:ext>
            </a:extLst>
          </p:cNvPr>
          <p:cNvSpPr txBox="1"/>
          <p:nvPr/>
        </p:nvSpPr>
        <p:spPr>
          <a:xfrm>
            <a:off x="2400694" y="8978273"/>
            <a:ext cx="182209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b="0" dirty="0"/>
              <a:t>owner</a:t>
            </a:r>
          </a:p>
        </p:txBody>
      </p:sp>
      <p:sp>
        <p:nvSpPr>
          <p:cNvPr id="388" name="TextBox 387">
            <a:extLst>
              <a:ext uri="{FF2B5EF4-FFF2-40B4-BE49-F238E27FC236}">
                <a16:creationId xmlns:a16="http://schemas.microsoft.com/office/drawing/2014/main" id="{975F0242-D780-063C-2AF9-93B22BA47A34}"/>
              </a:ext>
            </a:extLst>
          </p:cNvPr>
          <p:cNvSpPr txBox="1"/>
          <p:nvPr/>
        </p:nvSpPr>
        <p:spPr>
          <a:xfrm>
            <a:off x="2408783" y="9350481"/>
            <a:ext cx="182209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b="0" dirty="0"/>
              <a:t>repo</a:t>
            </a:r>
          </a:p>
        </p:txBody>
      </p:sp>
      <p:sp>
        <p:nvSpPr>
          <p:cNvPr id="389" name="Rectangle 388">
            <a:extLst>
              <a:ext uri="{FF2B5EF4-FFF2-40B4-BE49-F238E27FC236}">
                <a16:creationId xmlns:a16="http://schemas.microsoft.com/office/drawing/2014/main" id="{4B97C39E-226C-9B0B-902F-0B8013359216}"/>
              </a:ext>
            </a:extLst>
          </p:cNvPr>
          <p:cNvSpPr/>
          <p:nvPr/>
        </p:nvSpPr>
        <p:spPr>
          <a:xfrm>
            <a:off x="2397948" y="6888910"/>
            <a:ext cx="1832926" cy="329184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90" name="Create a visual hierarchy. Help users navigate the page with titles, subtitles, and subsubtitles">
            <a:extLst>
              <a:ext uri="{FF2B5EF4-FFF2-40B4-BE49-F238E27FC236}">
                <a16:creationId xmlns:a16="http://schemas.microsoft.com/office/drawing/2014/main" id="{305DB367-6DC7-80BE-B30D-E16B1E422EE8}"/>
              </a:ext>
            </a:extLst>
          </p:cNvPr>
          <p:cNvSpPr txBox="1"/>
          <p:nvPr/>
        </p:nvSpPr>
        <p:spPr>
          <a:xfrm>
            <a:off x="9544170" y="3876555"/>
            <a:ext cx="4202893" cy="14798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r>
              <a:rPr lang="en-US" dirty="0"/>
              <a:t>Notebook 1</a:t>
            </a:r>
            <a:r>
              <a:rPr lang="en-US" b="0" dirty="0"/>
              <a:t>: Load Gold Standard into MySQL database that contains the </a:t>
            </a:r>
            <a:r>
              <a:rPr lang="en-US" b="0" dirty="0" err="1"/>
              <a:t>GHTorrent</a:t>
            </a:r>
            <a:r>
              <a:rPr lang="en-US" b="0" dirty="0"/>
              <a:t> 2004 dump.</a:t>
            </a:r>
          </a:p>
          <a:p>
            <a:r>
              <a:rPr lang="en-US" dirty="0"/>
              <a:t>Notebook 2</a:t>
            </a:r>
            <a:r>
              <a:rPr lang="en-US" b="0" dirty="0"/>
              <a:t>: Add project context columns to CSV via SQL joins.</a:t>
            </a:r>
          </a:p>
          <a:p>
            <a:r>
              <a:rPr lang="en-US" dirty="0"/>
              <a:t>Notebook 3</a:t>
            </a:r>
            <a:r>
              <a:rPr lang="en-US" b="0" dirty="0"/>
              <a:t>: Auto-generate </a:t>
            </a:r>
            <a:r>
              <a:rPr lang="en-US" b="0" dirty="0" err="1"/>
              <a:t>Kaiaulu</a:t>
            </a:r>
            <a:r>
              <a:rPr lang="en-US" b="0" dirty="0"/>
              <a:t> config files for 82 repos. Download and parse comments via </a:t>
            </a:r>
            <a:r>
              <a:rPr lang="en-US" b="0" dirty="0" err="1"/>
              <a:t>Kaiaulu</a:t>
            </a:r>
            <a:r>
              <a:rPr lang="en-US" b="0" dirty="0"/>
              <a:t> vignettes</a:t>
            </a:r>
          </a:p>
          <a:p>
            <a:r>
              <a:rPr lang="en-US" dirty="0"/>
              <a:t>Notebook 4</a:t>
            </a:r>
            <a:r>
              <a:rPr lang="en-US" b="0" dirty="0"/>
              <a:t>: INNER JOIN sentiment labels to </a:t>
            </a:r>
            <a:r>
              <a:rPr lang="en-US" b="0" dirty="0" err="1"/>
              <a:t>Kaiaulu's</a:t>
            </a:r>
            <a:r>
              <a:rPr lang="en-US" b="0" dirty="0"/>
              <a:t> downloaded comment data.</a:t>
            </a:r>
          </a:p>
        </p:txBody>
      </p:sp>
      <p:sp>
        <p:nvSpPr>
          <p:cNvPr id="391" name="TextBox 390">
            <a:extLst>
              <a:ext uri="{FF2B5EF4-FFF2-40B4-BE49-F238E27FC236}">
                <a16:creationId xmlns:a16="http://schemas.microsoft.com/office/drawing/2014/main" id="{296470DB-7044-0643-F91B-26C9F574283E}"/>
              </a:ext>
            </a:extLst>
          </p:cNvPr>
          <p:cNvSpPr txBox="1"/>
          <p:nvPr/>
        </p:nvSpPr>
        <p:spPr>
          <a:xfrm>
            <a:off x="4898062" y="3304109"/>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err="1"/>
              <a:t>Github</a:t>
            </a:r>
            <a:r>
              <a:rPr lang="en-US" dirty="0"/>
              <a:t> Gold CSV</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92" name="Straight Arrow Connector 391">
            <a:extLst>
              <a:ext uri="{FF2B5EF4-FFF2-40B4-BE49-F238E27FC236}">
                <a16:creationId xmlns:a16="http://schemas.microsoft.com/office/drawing/2014/main" id="{31A141F6-6EAE-CF38-90A7-F7509E48ED47}"/>
              </a:ext>
            </a:extLst>
          </p:cNvPr>
          <p:cNvCxnSpPr>
            <a:cxnSpLocks/>
          </p:cNvCxnSpPr>
          <p:nvPr/>
        </p:nvCxnSpPr>
        <p:spPr>
          <a:xfrm>
            <a:off x="6127817" y="2739306"/>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393" name="Table">
            <a:extLst>
              <a:ext uri="{FF2B5EF4-FFF2-40B4-BE49-F238E27FC236}">
                <a16:creationId xmlns:a16="http://schemas.microsoft.com/office/drawing/2014/main" id="{38C04CB2-8517-9D4D-E688-B7981A265561}"/>
              </a:ext>
            </a:extLst>
          </p:cNvPr>
          <p:cNvGraphicFramePr/>
          <p:nvPr>
            <p:extLst>
              <p:ext uri="{D42A27DB-BD31-4B8C-83A1-F6EECF244321}">
                <p14:modId xmlns:p14="http://schemas.microsoft.com/office/powerpoint/2010/main" val="777287019"/>
              </p:ext>
            </p:extLst>
          </p:nvPr>
        </p:nvGraphicFramePr>
        <p:xfrm>
          <a:off x="5214672" y="2681254"/>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394" name="TextBox 393">
            <a:extLst>
              <a:ext uri="{FF2B5EF4-FFF2-40B4-BE49-F238E27FC236}">
                <a16:creationId xmlns:a16="http://schemas.microsoft.com/office/drawing/2014/main" id="{FD3C26B7-5012-BA24-4AE4-D664BC070136}"/>
              </a:ext>
            </a:extLst>
          </p:cNvPr>
          <p:cNvSpPr txBox="1"/>
          <p:nvPr/>
        </p:nvSpPr>
        <p:spPr>
          <a:xfrm>
            <a:off x="6160379" y="2512222"/>
            <a:ext cx="127533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95" name="TextBox 394">
            <a:extLst>
              <a:ext uri="{FF2B5EF4-FFF2-40B4-BE49-F238E27FC236}">
                <a16:creationId xmlns:a16="http://schemas.microsoft.com/office/drawing/2014/main" id="{DC91E13D-5438-FC4C-5357-25A2908BDAB3}"/>
              </a:ext>
            </a:extLst>
          </p:cNvPr>
          <p:cNvSpPr txBox="1"/>
          <p:nvPr/>
        </p:nvSpPr>
        <p:spPr>
          <a:xfrm>
            <a:off x="6165384" y="2758990"/>
            <a:ext cx="144108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Q-Join-Commit-Comments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96" name="TextBox 395">
            <a:extLst>
              <a:ext uri="{FF2B5EF4-FFF2-40B4-BE49-F238E27FC236}">
                <a16:creationId xmlns:a16="http://schemas.microsoft.com/office/drawing/2014/main" id="{B02FE6FD-FC3F-8738-643E-FCD0E1565905}"/>
              </a:ext>
            </a:extLst>
          </p:cNvPr>
          <p:cNvSpPr txBox="1"/>
          <p:nvPr/>
        </p:nvSpPr>
        <p:spPr>
          <a:xfrm>
            <a:off x="6091806" y="3030690"/>
            <a:ext cx="1514660" cy="2333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800" b="0" dirty="0"/>
              <a:t>Q-Join-Pull-Request-Comments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97" name="Straight Arrow Connector 396">
            <a:extLst>
              <a:ext uri="{FF2B5EF4-FFF2-40B4-BE49-F238E27FC236}">
                <a16:creationId xmlns:a16="http://schemas.microsoft.com/office/drawing/2014/main" id="{2D728655-EE71-A158-9602-83B49DB81243}"/>
              </a:ext>
            </a:extLst>
          </p:cNvPr>
          <p:cNvCxnSpPr>
            <a:cxnSpLocks/>
          </p:cNvCxnSpPr>
          <p:nvPr/>
        </p:nvCxnSpPr>
        <p:spPr>
          <a:xfrm>
            <a:off x="6127817" y="2985359"/>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8" name="Straight Arrow Connector 397">
            <a:extLst>
              <a:ext uri="{FF2B5EF4-FFF2-40B4-BE49-F238E27FC236}">
                <a16:creationId xmlns:a16="http://schemas.microsoft.com/office/drawing/2014/main" id="{C6AE8C48-C1F5-217B-CCC6-D7DADAAEEBA3}"/>
              </a:ext>
            </a:extLst>
          </p:cNvPr>
          <p:cNvCxnSpPr>
            <a:cxnSpLocks/>
          </p:cNvCxnSpPr>
          <p:nvPr/>
        </p:nvCxnSpPr>
        <p:spPr>
          <a:xfrm>
            <a:off x="6127817" y="3231412"/>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9" name="Can 398">
            <a:extLst>
              <a:ext uri="{FF2B5EF4-FFF2-40B4-BE49-F238E27FC236}">
                <a16:creationId xmlns:a16="http://schemas.microsoft.com/office/drawing/2014/main" id="{A4AD9137-7EA8-3BB2-8A40-09044F2384E4}"/>
              </a:ext>
            </a:extLst>
          </p:cNvPr>
          <p:cNvSpPr/>
          <p:nvPr/>
        </p:nvSpPr>
        <p:spPr>
          <a:xfrm>
            <a:off x="7910427" y="2631598"/>
            <a:ext cx="765111" cy="707521"/>
          </a:xfrm>
          <a:prstGeom prst="can">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0" name="TextBox 399">
            <a:extLst>
              <a:ext uri="{FF2B5EF4-FFF2-40B4-BE49-F238E27FC236}">
                <a16:creationId xmlns:a16="http://schemas.microsoft.com/office/drawing/2014/main" id="{97E40091-5B73-3FFB-592C-C9F67E5034FE}"/>
              </a:ext>
            </a:extLst>
          </p:cNvPr>
          <p:cNvSpPr txBox="1"/>
          <p:nvPr/>
        </p:nvSpPr>
        <p:spPr>
          <a:xfrm>
            <a:off x="7655312" y="3300027"/>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MySQL DB</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01" name="Rectangle 400">
            <a:extLst>
              <a:ext uri="{FF2B5EF4-FFF2-40B4-BE49-F238E27FC236}">
                <a16:creationId xmlns:a16="http://schemas.microsoft.com/office/drawing/2014/main" id="{F42E8EF7-CB86-73F3-4CD1-94311B92A54D}"/>
              </a:ext>
            </a:extLst>
          </p:cNvPr>
          <p:cNvSpPr/>
          <p:nvPr/>
        </p:nvSpPr>
        <p:spPr>
          <a:xfrm>
            <a:off x="5120891" y="3805792"/>
            <a:ext cx="3703320" cy="173736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lnSpc>
                <a:spcPct val="80000"/>
              </a:lnSpc>
              <a:spcBef>
                <a:spcPts val="0"/>
              </a:spcBef>
            </a:pPr>
            <a:endParaRPr lang="en-US" sz="1000" b="0" dirty="0">
              <a:solidFill>
                <a:srgbClr val="000000"/>
              </a:solidFill>
            </a:endParaRPr>
          </a:p>
        </p:txBody>
      </p:sp>
      <p:sp>
        <p:nvSpPr>
          <p:cNvPr id="402" name="TextBox 401">
            <a:extLst>
              <a:ext uri="{FF2B5EF4-FFF2-40B4-BE49-F238E27FC236}">
                <a16:creationId xmlns:a16="http://schemas.microsoft.com/office/drawing/2014/main" id="{C922C375-6DEA-7374-F8A5-46438A6D0397}"/>
              </a:ext>
            </a:extLst>
          </p:cNvPr>
          <p:cNvSpPr txBox="1"/>
          <p:nvPr/>
        </p:nvSpPr>
        <p:spPr>
          <a:xfrm>
            <a:off x="5117144" y="5499880"/>
            <a:ext cx="370331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err="1"/>
              <a:t>Kaiaulu</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403" name="Graphic 402" descr="Paper outline">
            <a:extLst>
              <a:ext uri="{FF2B5EF4-FFF2-40B4-BE49-F238E27FC236}">
                <a16:creationId xmlns:a16="http://schemas.microsoft.com/office/drawing/2014/main" id="{C5085A34-DB3E-578D-A10D-39D7F949603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22795" y="4243995"/>
            <a:ext cx="633826" cy="633826"/>
          </a:xfrm>
          <a:prstGeom prst="rect">
            <a:avLst/>
          </a:prstGeom>
        </p:spPr>
      </p:pic>
      <p:sp>
        <p:nvSpPr>
          <p:cNvPr id="404" name="TextBox 403">
            <a:extLst>
              <a:ext uri="{FF2B5EF4-FFF2-40B4-BE49-F238E27FC236}">
                <a16:creationId xmlns:a16="http://schemas.microsoft.com/office/drawing/2014/main" id="{D65A8A56-2819-17D1-1595-D959623138DA}"/>
              </a:ext>
            </a:extLst>
          </p:cNvPr>
          <p:cNvSpPr txBox="1"/>
          <p:nvPr/>
        </p:nvSpPr>
        <p:spPr>
          <a:xfrm>
            <a:off x="5458581" y="4831527"/>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aphicFrame>
        <p:nvGraphicFramePr>
          <p:cNvPr id="405" name="Table">
            <a:extLst>
              <a:ext uri="{FF2B5EF4-FFF2-40B4-BE49-F238E27FC236}">
                <a16:creationId xmlns:a16="http://schemas.microsoft.com/office/drawing/2014/main" id="{D692C661-510D-656A-5612-EF758315FB01}"/>
              </a:ext>
            </a:extLst>
          </p:cNvPr>
          <p:cNvGraphicFramePr/>
          <p:nvPr>
            <p:extLst>
              <p:ext uri="{D42A27DB-BD31-4B8C-83A1-F6EECF244321}">
                <p14:modId xmlns:p14="http://schemas.microsoft.com/office/powerpoint/2010/main" val="3132062335"/>
              </p:ext>
            </p:extLst>
          </p:nvPr>
        </p:nvGraphicFramePr>
        <p:xfrm>
          <a:off x="6268026" y="4272738"/>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406" name="Table">
            <a:extLst>
              <a:ext uri="{FF2B5EF4-FFF2-40B4-BE49-F238E27FC236}">
                <a16:creationId xmlns:a16="http://schemas.microsoft.com/office/drawing/2014/main" id="{676FE38A-4D30-A353-57D2-402D8D3CA1D1}"/>
              </a:ext>
            </a:extLst>
          </p:cNvPr>
          <p:cNvGraphicFramePr/>
          <p:nvPr>
            <p:extLst>
              <p:ext uri="{D42A27DB-BD31-4B8C-83A1-F6EECF244321}">
                <p14:modId xmlns:p14="http://schemas.microsoft.com/office/powerpoint/2010/main" val="1681402984"/>
              </p:ext>
            </p:extLst>
          </p:nvPr>
        </p:nvGraphicFramePr>
        <p:xfrm>
          <a:off x="6885664" y="4272738"/>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sp>
        <p:nvSpPr>
          <p:cNvPr id="407" name="TextBox 406">
            <a:extLst>
              <a:ext uri="{FF2B5EF4-FFF2-40B4-BE49-F238E27FC236}">
                <a16:creationId xmlns:a16="http://schemas.microsoft.com/office/drawing/2014/main" id="{38F72633-B398-A2D5-8FB1-E4BFC841F72D}"/>
              </a:ext>
            </a:extLst>
          </p:cNvPr>
          <p:cNvSpPr txBox="1"/>
          <p:nvPr/>
        </p:nvSpPr>
        <p:spPr>
          <a:xfrm>
            <a:off x="6190043" y="4840233"/>
            <a:ext cx="139124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err="1"/>
              <a:t>Github</a:t>
            </a:r>
            <a:r>
              <a:rPr lang="en-US" sz="800" b="0" dirty="0"/>
              <a:t> Gold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08" name="Line">
            <a:extLst>
              <a:ext uri="{FF2B5EF4-FFF2-40B4-BE49-F238E27FC236}">
                <a16:creationId xmlns:a16="http://schemas.microsoft.com/office/drawing/2014/main" id="{2E59C0C0-D21C-F3E5-0625-F06B3B7D5605}"/>
              </a:ext>
            </a:extLst>
          </p:cNvPr>
          <p:cNvSpPr/>
          <p:nvPr/>
        </p:nvSpPr>
        <p:spPr>
          <a:xfrm flipV="1">
            <a:off x="4898062" y="6088024"/>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09" name="TextBox 408">
            <a:extLst>
              <a:ext uri="{FF2B5EF4-FFF2-40B4-BE49-F238E27FC236}">
                <a16:creationId xmlns:a16="http://schemas.microsoft.com/office/drawing/2014/main" id="{6C10B71D-F7F7-6CC9-E0D0-CF2A83E2ABBF}"/>
              </a:ext>
            </a:extLst>
          </p:cNvPr>
          <p:cNvSpPr txBox="1"/>
          <p:nvPr/>
        </p:nvSpPr>
        <p:spPr>
          <a:xfrm>
            <a:off x="4907496" y="7376582"/>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Jira Emotion CSV</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410" name="Straight Arrow Connector 409">
            <a:extLst>
              <a:ext uri="{FF2B5EF4-FFF2-40B4-BE49-F238E27FC236}">
                <a16:creationId xmlns:a16="http://schemas.microsoft.com/office/drawing/2014/main" id="{6E459F0F-81F2-0F9F-758D-37ABC4B85597}"/>
              </a:ext>
            </a:extLst>
          </p:cNvPr>
          <p:cNvCxnSpPr>
            <a:cxnSpLocks/>
          </p:cNvCxnSpPr>
          <p:nvPr/>
        </p:nvCxnSpPr>
        <p:spPr>
          <a:xfrm>
            <a:off x="6135419" y="6933077"/>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411" name="Table">
            <a:extLst>
              <a:ext uri="{FF2B5EF4-FFF2-40B4-BE49-F238E27FC236}">
                <a16:creationId xmlns:a16="http://schemas.microsoft.com/office/drawing/2014/main" id="{2582E798-3072-A4AA-566B-A272F3F780F9}"/>
              </a:ext>
            </a:extLst>
          </p:cNvPr>
          <p:cNvGraphicFramePr/>
          <p:nvPr>
            <p:extLst>
              <p:ext uri="{D42A27DB-BD31-4B8C-83A1-F6EECF244321}">
                <p14:modId xmlns:p14="http://schemas.microsoft.com/office/powerpoint/2010/main" val="3573817486"/>
              </p:ext>
            </p:extLst>
          </p:nvPr>
        </p:nvGraphicFramePr>
        <p:xfrm>
          <a:off x="5224106" y="6753727"/>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cxnSp>
        <p:nvCxnSpPr>
          <p:cNvPr id="412" name="Straight Arrow Connector 411">
            <a:extLst>
              <a:ext uri="{FF2B5EF4-FFF2-40B4-BE49-F238E27FC236}">
                <a16:creationId xmlns:a16="http://schemas.microsoft.com/office/drawing/2014/main" id="{4441805E-259B-9D58-A862-0B06082ED4EB}"/>
              </a:ext>
            </a:extLst>
          </p:cNvPr>
          <p:cNvCxnSpPr>
            <a:cxnSpLocks/>
          </p:cNvCxnSpPr>
          <p:nvPr/>
        </p:nvCxnSpPr>
        <p:spPr>
          <a:xfrm>
            <a:off x="6135419" y="7179130"/>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3" name="Can 412">
            <a:extLst>
              <a:ext uri="{FF2B5EF4-FFF2-40B4-BE49-F238E27FC236}">
                <a16:creationId xmlns:a16="http://schemas.microsoft.com/office/drawing/2014/main" id="{01988FC6-B3B6-97EE-F632-81F81FB99B42}"/>
              </a:ext>
            </a:extLst>
          </p:cNvPr>
          <p:cNvSpPr/>
          <p:nvPr/>
        </p:nvSpPr>
        <p:spPr>
          <a:xfrm>
            <a:off x="7919861" y="6704071"/>
            <a:ext cx="765111" cy="707521"/>
          </a:xfrm>
          <a:prstGeom prst="can">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4" name="TextBox 413">
            <a:extLst>
              <a:ext uri="{FF2B5EF4-FFF2-40B4-BE49-F238E27FC236}">
                <a16:creationId xmlns:a16="http://schemas.microsoft.com/office/drawing/2014/main" id="{11C27183-786C-BBFB-68D6-5291FF500EC4}"/>
              </a:ext>
            </a:extLst>
          </p:cNvPr>
          <p:cNvSpPr txBox="1"/>
          <p:nvPr/>
        </p:nvSpPr>
        <p:spPr>
          <a:xfrm>
            <a:off x="7664746" y="7372500"/>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PostgreSQL DB</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15" name="TextBox 414">
            <a:extLst>
              <a:ext uri="{FF2B5EF4-FFF2-40B4-BE49-F238E27FC236}">
                <a16:creationId xmlns:a16="http://schemas.microsoft.com/office/drawing/2014/main" id="{E28B032C-D5FB-6C8B-C1FF-BDEAD4D929C2}"/>
              </a:ext>
            </a:extLst>
          </p:cNvPr>
          <p:cNvSpPr txBox="1"/>
          <p:nvPr/>
        </p:nvSpPr>
        <p:spPr>
          <a:xfrm>
            <a:off x="6129023" y="6689831"/>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16" name="TextBox 415">
            <a:extLst>
              <a:ext uri="{FF2B5EF4-FFF2-40B4-BE49-F238E27FC236}">
                <a16:creationId xmlns:a16="http://schemas.microsoft.com/office/drawing/2014/main" id="{B314641E-0BDC-CA38-7848-E19AC0B67A39}"/>
              </a:ext>
            </a:extLst>
          </p:cNvPr>
          <p:cNvSpPr txBox="1"/>
          <p:nvPr/>
        </p:nvSpPr>
        <p:spPr>
          <a:xfrm>
            <a:off x="6135419" y="6941250"/>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17" name="TextBox 416">
            <a:extLst>
              <a:ext uri="{FF2B5EF4-FFF2-40B4-BE49-F238E27FC236}">
                <a16:creationId xmlns:a16="http://schemas.microsoft.com/office/drawing/2014/main" id="{B6A1747E-D052-6B33-B344-CEB1592148D6}"/>
              </a:ext>
            </a:extLst>
          </p:cNvPr>
          <p:cNvSpPr txBox="1"/>
          <p:nvPr/>
        </p:nvSpPr>
        <p:spPr>
          <a:xfrm>
            <a:off x="4879086" y="1907656"/>
            <a:ext cx="272738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500" dirty="0" err="1"/>
              <a:t>Github</a:t>
            </a:r>
            <a:r>
              <a:rPr lang="en-US" sz="1500" dirty="0"/>
              <a:t> Gold Standard Dataset</a:t>
            </a:r>
            <a:endParaRPr kumimoji="0" lang="en-US" sz="1500" b="1" i="0" strike="noStrike" cap="none" spc="0" normalizeH="0" baseline="0" dirty="0">
              <a:ln>
                <a:noFill/>
              </a:ln>
              <a:effectLst/>
              <a:uFillTx/>
              <a:latin typeface="Source Sans Pro"/>
              <a:ea typeface="Source Sans Pro"/>
              <a:cs typeface="Source Sans Pro"/>
              <a:sym typeface="Source Sans Pro"/>
            </a:endParaRPr>
          </a:p>
        </p:txBody>
      </p:sp>
      <p:sp>
        <p:nvSpPr>
          <p:cNvPr id="418" name="TextBox 417">
            <a:extLst>
              <a:ext uri="{FF2B5EF4-FFF2-40B4-BE49-F238E27FC236}">
                <a16:creationId xmlns:a16="http://schemas.microsoft.com/office/drawing/2014/main" id="{E16D2C3E-4C9B-9653-64F5-3A2D068F63F3}"/>
              </a:ext>
            </a:extLst>
          </p:cNvPr>
          <p:cNvSpPr txBox="1"/>
          <p:nvPr/>
        </p:nvSpPr>
        <p:spPr>
          <a:xfrm>
            <a:off x="4832459" y="6219676"/>
            <a:ext cx="217099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500" dirty="0"/>
              <a:t>Jira Emotion Dataset</a:t>
            </a:r>
            <a:endParaRPr kumimoji="0" lang="en-US" sz="1500" b="1" i="0" strike="noStrike" cap="none" spc="0" normalizeH="0" baseline="0" dirty="0">
              <a:ln>
                <a:noFill/>
              </a:ln>
              <a:effectLst/>
              <a:uFillTx/>
              <a:latin typeface="Source Sans Pro"/>
              <a:ea typeface="Source Sans Pro"/>
              <a:cs typeface="Source Sans Pro"/>
              <a:sym typeface="Source Sans Pro"/>
            </a:endParaRPr>
          </a:p>
        </p:txBody>
      </p:sp>
      <p:grpSp>
        <p:nvGrpSpPr>
          <p:cNvPr id="419" name="Group 418">
            <a:extLst>
              <a:ext uri="{FF2B5EF4-FFF2-40B4-BE49-F238E27FC236}">
                <a16:creationId xmlns:a16="http://schemas.microsoft.com/office/drawing/2014/main" id="{8D3FDB73-0353-2F64-957E-648E97E75051}"/>
              </a:ext>
            </a:extLst>
          </p:cNvPr>
          <p:cNvGrpSpPr/>
          <p:nvPr/>
        </p:nvGrpSpPr>
        <p:grpSpPr>
          <a:xfrm>
            <a:off x="8058479" y="3794774"/>
            <a:ext cx="569700" cy="1688313"/>
            <a:chOff x="8715063" y="3858862"/>
            <a:chExt cx="569700" cy="1688313"/>
          </a:xfrm>
        </p:grpSpPr>
        <p:sp>
          <p:nvSpPr>
            <p:cNvPr id="420" name="Google Shape;324;p18">
              <a:extLst>
                <a:ext uri="{FF2B5EF4-FFF2-40B4-BE49-F238E27FC236}">
                  <a16:creationId xmlns:a16="http://schemas.microsoft.com/office/drawing/2014/main" id="{D7F0DEEE-7A3F-75EF-1E07-653C791D1E4A}"/>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421" name="Google Shape;359;p18">
              <a:extLst>
                <a:ext uri="{FF2B5EF4-FFF2-40B4-BE49-F238E27FC236}">
                  <a16:creationId xmlns:a16="http://schemas.microsoft.com/office/drawing/2014/main" id="{4175649A-EFB5-3BEB-E17A-BD5242D64178}"/>
                </a:ext>
              </a:extLst>
            </p:cNvPr>
            <p:cNvGrpSpPr/>
            <p:nvPr/>
          </p:nvGrpSpPr>
          <p:grpSpPr>
            <a:xfrm>
              <a:off x="8838265" y="4043887"/>
              <a:ext cx="307200" cy="189300"/>
              <a:chOff x="3007175" y="1757600"/>
              <a:chExt cx="307200" cy="189300"/>
            </a:xfrm>
          </p:grpSpPr>
          <p:sp>
            <p:nvSpPr>
              <p:cNvPr id="446" name="Google Shape;360;p18">
                <a:extLst>
                  <a:ext uri="{FF2B5EF4-FFF2-40B4-BE49-F238E27FC236}">
                    <a16:creationId xmlns:a16="http://schemas.microsoft.com/office/drawing/2014/main" id="{87FC943E-4824-6439-C822-41842B2F442E}"/>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 name="Google Shape;361;p18">
                <a:extLst>
                  <a:ext uri="{FF2B5EF4-FFF2-40B4-BE49-F238E27FC236}">
                    <a16:creationId xmlns:a16="http://schemas.microsoft.com/office/drawing/2014/main" id="{D060D707-77DD-292B-55DD-3EA25069473F}"/>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8" name="Google Shape;362;p18">
                <a:extLst>
                  <a:ext uri="{FF2B5EF4-FFF2-40B4-BE49-F238E27FC236}">
                    <a16:creationId xmlns:a16="http://schemas.microsoft.com/office/drawing/2014/main" id="{8A19DCD8-82CD-D207-EFBA-A2FBE7F04D03}"/>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9" name="Google Shape;363;p18">
                <a:extLst>
                  <a:ext uri="{FF2B5EF4-FFF2-40B4-BE49-F238E27FC236}">
                    <a16:creationId xmlns:a16="http://schemas.microsoft.com/office/drawing/2014/main" id="{CD734C66-46DD-6C6D-3820-25C98CF3CC4F}"/>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50" name="Google Shape;364;p18">
                <a:extLst>
                  <a:ext uri="{FF2B5EF4-FFF2-40B4-BE49-F238E27FC236}">
                    <a16:creationId xmlns:a16="http://schemas.microsoft.com/office/drawing/2014/main" id="{712A9849-6B7C-6CDB-1EA1-D5BF66B113A6}"/>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51" name="Google Shape;365;p18">
                <a:extLst>
                  <a:ext uri="{FF2B5EF4-FFF2-40B4-BE49-F238E27FC236}">
                    <a16:creationId xmlns:a16="http://schemas.microsoft.com/office/drawing/2014/main" id="{A6112DB1-DA2B-56FB-C1A3-49AE9C0C3019}"/>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52" name="Google Shape;366;p18">
                <a:extLst>
                  <a:ext uri="{FF2B5EF4-FFF2-40B4-BE49-F238E27FC236}">
                    <a16:creationId xmlns:a16="http://schemas.microsoft.com/office/drawing/2014/main" id="{8A19BA14-663D-9E4B-F70A-3E1C1748B883}"/>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422" name="Google Shape;367;p18">
              <a:extLst>
                <a:ext uri="{FF2B5EF4-FFF2-40B4-BE49-F238E27FC236}">
                  <a16:creationId xmlns:a16="http://schemas.microsoft.com/office/drawing/2014/main" id="{B4AC98DA-A49B-7DAD-6C34-3A6BFC36186C}"/>
                </a:ext>
              </a:extLst>
            </p:cNvPr>
            <p:cNvGrpSpPr/>
            <p:nvPr/>
          </p:nvGrpSpPr>
          <p:grpSpPr>
            <a:xfrm>
              <a:off x="8838252" y="4387350"/>
              <a:ext cx="307200" cy="189300"/>
              <a:chOff x="3007175" y="1757600"/>
              <a:chExt cx="307200" cy="189300"/>
            </a:xfrm>
          </p:grpSpPr>
          <p:sp>
            <p:nvSpPr>
              <p:cNvPr id="439" name="Google Shape;368;p18">
                <a:extLst>
                  <a:ext uri="{FF2B5EF4-FFF2-40B4-BE49-F238E27FC236}">
                    <a16:creationId xmlns:a16="http://schemas.microsoft.com/office/drawing/2014/main" id="{F2FD9622-27C0-A72B-9E96-79CBD97E00FF}"/>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0" name="Google Shape;369;p18">
                <a:extLst>
                  <a:ext uri="{FF2B5EF4-FFF2-40B4-BE49-F238E27FC236}">
                    <a16:creationId xmlns:a16="http://schemas.microsoft.com/office/drawing/2014/main" id="{C26BC863-6D88-8223-3175-F504F719115C}"/>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1" name="Google Shape;370;p18">
                <a:extLst>
                  <a:ext uri="{FF2B5EF4-FFF2-40B4-BE49-F238E27FC236}">
                    <a16:creationId xmlns:a16="http://schemas.microsoft.com/office/drawing/2014/main" id="{980EEB0E-063C-1482-8F3D-3203B14D1F5C}"/>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2" name="Google Shape;371;p18">
                <a:extLst>
                  <a:ext uri="{FF2B5EF4-FFF2-40B4-BE49-F238E27FC236}">
                    <a16:creationId xmlns:a16="http://schemas.microsoft.com/office/drawing/2014/main" id="{DE03D77C-07A2-E350-D59B-25BBBAAD03F1}"/>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43" name="Google Shape;372;p18">
                <a:extLst>
                  <a:ext uri="{FF2B5EF4-FFF2-40B4-BE49-F238E27FC236}">
                    <a16:creationId xmlns:a16="http://schemas.microsoft.com/office/drawing/2014/main" id="{0AC32DF9-EC0B-A37A-F37A-258FC454D45A}"/>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44" name="Google Shape;373;p18">
                <a:extLst>
                  <a:ext uri="{FF2B5EF4-FFF2-40B4-BE49-F238E27FC236}">
                    <a16:creationId xmlns:a16="http://schemas.microsoft.com/office/drawing/2014/main" id="{414ABC23-07EA-353A-1723-F82CDCA0A4D2}"/>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45" name="Google Shape;374;p18">
                <a:extLst>
                  <a:ext uri="{FF2B5EF4-FFF2-40B4-BE49-F238E27FC236}">
                    <a16:creationId xmlns:a16="http://schemas.microsoft.com/office/drawing/2014/main" id="{D067FDE0-6403-F691-5F1B-C2A70CE34798}"/>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423" name="Google Shape;375;p18">
              <a:extLst>
                <a:ext uri="{FF2B5EF4-FFF2-40B4-BE49-F238E27FC236}">
                  <a16:creationId xmlns:a16="http://schemas.microsoft.com/office/drawing/2014/main" id="{84107878-A6D0-B7BA-689B-E38C8B931D13}"/>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GitHub</a:t>
              </a:r>
              <a:endParaRPr sz="686">
                <a:solidFill>
                  <a:schemeClr val="dk2"/>
                </a:solidFill>
                <a:latin typeface="Source Sans 3"/>
                <a:ea typeface="Source Sans 3"/>
                <a:cs typeface="Source Sans 3"/>
                <a:sym typeface="Source Sans 3"/>
              </a:endParaRPr>
            </a:p>
          </p:txBody>
        </p:sp>
        <p:sp>
          <p:nvSpPr>
            <p:cNvPr id="424" name="Google Shape;376;p18">
              <a:extLst>
                <a:ext uri="{FF2B5EF4-FFF2-40B4-BE49-F238E27FC236}">
                  <a16:creationId xmlns:a16="http://schemas.microsoft.com/office/drawing/2014/main" id="{62CFDF30-CE51-82FC-D4EA-CAEF55D5674C}"/>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425" name="Google Shape;377;p18">
              <a:extLst>
                <a:ext uri="{FF2B5EF4-FFF2-40B4-BE49-F238E27FC236}">
                  <a16:creationId xmlns:a16="http://schemas.microsoft.com/office/drawing/2014/main" id="{2F4F3E4E-0288-C69B-5C8B-2816455BD551}"/>
                </a:ext>
              </a:extLst>
            </p:cNvPr>
            <p:cNvGrpSpPr/>
            <p:nvPr/>
          </p:nvGrpSpPr>
          <p:grpSpPr>
            <a:xfrm>
              <a:off x="8846302" y="4841125"/>
              <a:ext cx="307200" cy="297900"/>
              <a:chOff x="3021975" y="2389850"/>
              <a:chExt cx="307200" cy="297900"/>
            </a:xfrm>
          </p:grpSpPr>
          <p:sp>
            <p:nvSpPr>
              <p:cNvPr id="429" name="Google Shape;378;p18">
                <a:extLst>
                  <a:ext uri="{FF2B5EF4-FFF2-40B4-BE49-F238E27FC236}">
                    <a16:creationId xmlns:a16="http://schemas.microsoft.com/office/drawing/2014/main" id="{4A8605FB-B860-916D-C5F2-AC1134B7290F}"/>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430" name="Google Shape;379;p18">
                <a:extLst>
                  <a:ext uri="{FF2B5EF4-FFF2-40B4-BE49-F238E27FC236}">
                    <a16:creationId xmlns:a16="http://schemas.microsoft.com/office/drawing/2014/main" id="{3E2AE4A8-F949-FD7E-2FA3-A0DFD8533999}"/>
                  </a:ext>
                </a:extLst>
              </p:cNvPr>
              <p:cNvGrpSpPr/>
              <p:nvPr/>
            </p:nvGrpSpPr>
            <p:grpSpPr>
              <a:xfrm>
                <a:off x="3021975" y="2389850"/>
                <a:ext cx="307200" cy="295800"/>
                <a:chOff x="3021975" y="2389850"/>
                <a:chExt cx="307200" cy="295800"/>
              </a:xfrm>
            </p:grpSpPr>
            <p:sp>
              <p:nvSpPr>
                <p:cNvPr id="431" name="Google Shape;380;p18">
                  <a:extLst>
                    <a:ext uri="{FF2B5EF4-FFF2-40B4-BE49-F238E27FC236}">
                      <a16:creationId xmlns:a16="http://schemas.microsoft.com/office/drawing/2014/main" id="{2A3BCC89-AE7B-248B-1001-03F5988485B7}"/>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2" name="Google Shape;381;p18">
                  <a:extLst>
                    <a:ext uri="{FF2B5EF4-FFF2-40B4-BE49-F238E27FC236}">
                      <a16:creationId xmlns:a16="http://schemas.microsoft.com/office/drawing/2014/main" id="{C990A999-D1AB-6FC4-C764-CE349B44E538}"/>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33" name="Google Shape;382;p18">
                  <a:extLst>
                    <a:ext uri="{FF2B5EF4-FFF2-40B4-BE49-F238E27FC236}">
                      <a16:creationId xmlns:a16="http://schemas.microsoft.com/office/drawing/2014/main" id="{E67A4118-899C-346D-895B-09B21A6A1114}"/>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434" name="Google Shape;383;p18">
                  <a:extLst>
                    <a:ext uri="{FF2B5EF4-FFF2-40B4-BE49-F238E27FC236}">
                      <a16:creationId xmlns:a16="http://schemas.microsoft.com/office/drawing/2014/main" id="{B6DD22BB-40A4-2F2C-FDB4-9013C48EB85D}"/>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435" name="Google Shape;384;p18">
                  <a:extLst>
                    <a:ext uri="{FF2B5EF4-FFF2-40B4-BE49-F238E27FC236}">
                      <a16:creationId xmlns:a16="http://schemas.microsoft.com/office/drawing/2014/main" id="{15F61F5B-6D97-2320-3011-670990DB40E6}"/>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36" name="Google Shape;385;p18">
                  <a:extLst>
                    <a:ext uri="{FF2B5EF4-FFF2-40B4-BE49-F238E27FC236}">
                      <a16:creationId xmlns:a16="http://schemas.microsoft.com/office/drawing/2014/main" id="{41FFD4EE-77D8-312D-DEF5-9076876D7028}"/>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437" name="Google Shape;386;p18">
                  <a:extLst>
                    <a:ext uri="{FF2B5EF4-FFF2-40B4-BE49-F238E27FC236}">
                      <a16:creationId xmlns:a16="http://schemas.microsoft.com/office/drawing/2014/main" id="{305102AD-36AE-F8F6-0B4A-042CBDCB0CD7}"/>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438" name="Google Shape;387;p18">
                  <a:extLst>
                    <a:ext uri="{FF2B5EF4-FFF2-40B4-BE49-F238E27FC236}">
                      <a16:creationId xmlns:a16="http://schemas.microsoft.com/office/drawing/2014/main" id="{4732159D-E414-5138-734E-F0A4E8D4A904}"/>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426" name="Google Shape;388;p18">
              <a:extLst>
                <a:ext uri="{FF2B5EF4-FFF2-40B4-BE49-F238E27FC236}">
                  <a16:creationId xmlns:a16="http://schemas.microsoft.com/office/drawing/2014/main" id="{BA128A72-8077-4DCE-45F4-C37F8C5B1C03}"/>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cxnSp>
          <p:nvCxnSpPr>
            <p:cNvPr id="427" name="Google Shape;389;p18">
              <a:extLst>
                <a:ext uri="{FF2B5EF4-FFF2-40B4-BE49-F238E27FC236}">
                  <a16:creationId xmlns:a16="http://schemas.microsoft.com/office/drawing/2014/main" id="{7F5C7739-5012-2E12-0937-6C8E9245D447}"/>
                </a:ext>
              </a:extLst>
            </p:cNvPr>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428" name="Google Shape;390;p18">
              <a:extLst>
                <a:ext uri="{FF2B5EF4-FFF2-40B4-BE49-F238E27FC236}">
                  <a16:creationId xmlns:a16="http://schemas.microsoft.com/office/drawing/2014/main" id="{21FC276A-3B2B-1450-CB99-12B4EDF55FD0}"/>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cxnSp>
        <p:nvCxnSpPr>
          <p:cNvPr id="453" name="Straight Arrow Connector 452">
            <a:extLst>
              <a:ext uri="{FF2B5EF4-FFF2-40B4-BE49-F238E27FC236}">
                <a16:creationId xmlns:a16="http://schemas.microsoft.com/office/drawing/2014/main" id="{6B30AD29-51C8-5A63-DBBE-564F43BDCD7B}"/>
              </a:ext>
            </a:extLst>
          </p:cNvPr>
          <p:cNvCxnSpPr>
            <a:cxnSpLocks/>
          </p:cNvCxnSpPr>
          <p:nvPr/>
        </p:nvCxnSpPr>
        <p:spPr>
          <a:xfrm flipH="1">
            <a:off x="5932583" y="3526199"/>
            <a:ext cx="1864018" cy="7460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4" name="Straight Arrow Connector 453">
            <a:extLst>
              <a:ext uri="{FF2B5EF4-FFF2-40B4-BE49-F238E27FC236}">
                <a16:creationId xmlns:a16="http://schemas.microsoft.com/office/drawing/2014/main" id="{A9CC2582-6707-1B67-28AC-938676811B3E}"/>
              </a:ext>
            </a:extLst>
          </p:cNvPr>
          <p:cNvCxnSpPr>
            <a:cxnSpLocks/>
          </p:cNvCxnSpPr>
          <p:nvPr/>
        </p:nvCxnSpPr>
        <p:spPr>
          <a:xfrm flipH="1">
            <a:off x="7435718" y="3656692"/>
            <a:ext cx="528266" cy="5232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5" name="Straight Arrow Connector 1198">
            <a:extLst>
              <a:ext uri="{FF2B5EF4-FFF2-40B4-BE49-F238E27FC236}">
                <a16:creationId xmlns:a16="http://schemas.microsoft.com/office/drawing/2014/main" id="{05F792BD-F1D5-FFEB-3A42-48A4C795F457}"/>
              </a:ext>
            </a:extLst>
          </p:cNvPr>
          <p:cNvCxnSpPr>
            <a:cxnSpLocks/>
          </p:cNvCxnSpPr>
          <p:nvPr/>
        </p:nvCxnSpPr>
        <p:spPr>
          <a:xfrm flipV="1">
            <a:off x="7554819" y="4077668"/>
            <a:ext cx="569099" cy="407420"/>
          </a:xfrm>
          <a:prstGeom prst="bentConnector3">
            <a:avLst>
              <a:gd name="adj1" fmla="val 58264"/>
            </a:avLst>
          </a:prstGeom>
          <a:ln>
            <a:tailEnd type="triangle"/>
          </a:ln>
        </p:spPr>
        <p:style>
          <a:lnRef idx="1">
            <a:schemeClr val="dk1"/>
          </a:lnRef>
          <a:fillRef idx="0">
            <a:schemeClr val="dk1"/>
          </a:fillRef>
          <a:effectRef idx="0">
            <a:schemeClr val="dk1"/>
          </a:effectRef>
          <a:fontRef idx="minor">
            <a:schemeClr val="tx1"/>
          </a:fontRef>
        </p:style>
      </p:cxnSp>
      <p:sp>
        <p:nvSpPr>
          <p:cNvPr id="456" name="Rectangle 455">
            <a:extLst>
              <a:ext uri="{FF2B5EF4-FFF2-40B4-BE49-F238E27FC236}">
                <a16:creationId xmlns:a16="http://schemas.microsoft.com/office/drawing/2014/main" id="{5B5E920E-C9FE-BDF7-10B0-5B18AA15AC0F}"/>
              </a:ext>
            </a:extLst>
          </p:cNvPr>
          <p:cNvSpPr/>
          <p:nvPr/>
        </p:nvSpPr>
        <p:spPr>
          <a:xfrm>
            <a:off x="5117143" y="7993194"/>
            <a:ext cx="3703320" cy="173736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lnSpc>
                <a:spcPct val="80000"/>
              </a:lnSpc>
              <a:spcBef>
                <a:spcPts val="0"/>
              </a:spcBef>
            </a:pPr>
            <a:endParaRPr lang="en-US" sz="1000" b="0" dirty="0">
              <a:solidFill>
                <a:srgbClr val="000000"/>
              </a:solidFill>
            </a:endParaRPr>
          </a:p>
        </p:txBody>
      </p:sp>
      <p:sp>
        <p:nvSpPr>
          <p:cNvPr id="457" name="TextBox 456">
            <a:extLst>
              <a:ext uri="{FF2B5EF4-FFF2-40B4-BE49-F238E27FC236}">
                <a16:creationId xmlns:a16="http://schemas.microsoft.com/office/drawing/2014/main" id="{6CD62C62-DF7B-A5B5-30D0-FF6E05B957C7}"/>
              </a:ext>
            </a:extLst>
          </p:cNvPr>
          <p:cNvSpPr txBox="1"/>
          <p:nvPr/>
        </p:nvSpPr>
        <p:spPr>
          <a:xfrm>
            <a:off x="5113396" y="9687282"/>
            <a:ext cx="370331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err="1"/>
              <a:t>Kaiaulu</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458" name="Graphic 457" descr="Paper outline">
            <a:extLst>
              <a:ext uri="{FF2B5EF4-FFF2-40B4-BE49-F238E27FC236}">
                <a16:creationId xmlns:a16="http://schemas.microsoft.com/office/drawing/2014/main" id="{63216E9F-D292-CC63-4929-D02001253E5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19047" y="8431397"/>
            <a:ext cx="633826" cy="633826"/>
          </a:xfrm>
          <a:prstGeom prst="rect">
            <a:avLst/>
          </a:prstGeom>
        </p:spPr>
      </p:pic>
      <p:sp>
        <p:nvSpPr>
          <p:cNvPr id="459" name="TextBox 458">
            <a:extLst>
              <a:ext uri="{FF2B5EF4-FFF2-40B4-BE49-F238E27FC236}">
                <a16:creationId xmlns:a16="http://schemas.microsoft.com/office/drawing/2014/main" id="{FD447621-2268-6D4F-8BC9-2BF0ADB4D185}"/>
              </a:ext>
            </a:extLst>
          </p:cNvPr>
          <p:cNvSpPr txBox="1"/>
          <p:nvPr/>
        </p:nvSpPr>
        <p:spPr>
          <a:xfrm>
            <a:off x="5454833" y="9018929"/>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aphicFrame>
        <p:nvGraphicFramePr>
          <p:cNvPr id="460" name="Table">
            <a:extLst>
              <a:ext uri="{FF2B5EF4-FFF2-40B4-BE49-F238E27FC236}">
                <a16:creationId xmlns:a16="http://schemas.microsoft.com/office/drawing/2014/main" id="{5CD36137-09FC-B6BD-17E4-409CADBD00B0}"/>
              </a:ext>
            </a:extLst>
          </p:cNvPr>
          <p:cNvGraphicFramePr/>
          <p:nvPr>
            <p:extLst>
              <p:ext uri="{D42A27DB-BD31-4B8C-83A1-F6EECF244321}">
                <p14:modId xmlns:p14="http://schemas.microsoft.com/office/powerpoint/2010/main" val="1527198258"/>
              </p:ext>
            </p:extLst>
          </p:nvPr>
        </p:nvGraphicFramePr>
        <p:xfrm>
          <a:off x="6264278" y="84601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461" name="Table">
            <a:extLst>
              <a:ext uri="{FF2B5EF4-FFF2-40B4-BE49-F238E27FC236}">
                <a16:creationId xmlns:a16="http://schemas.microsoft.com/office/drawing/2014/main" id="{71F2B996-D31B-C569-6AD4-E6589493683B}"/>
              </a:ext>
            </a:extLst>
          </p:cNvPr>
          <p:cNvGraphicFramePr/>
          <p:nvPr>
            <p:extLst>
              <p:ext uri="{D42A27DB-BD31-4B8C-83A1-F6EECF244321}">
                <p14:modId xmlns:p14="http://schemas.microsoft.com/office/powerpoint/2010/main" val="2907173761"/>
              </p:ext>
            </p:extLst>
          </p:nvPr>
        </p:nvGraphicFramePr>
        <p:xfrm>
          <a:off x="6881916" y="84601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sp>
        <p:nvSpPr>
          <p:cNvPr id="462" name="TextBox 461">
            <a:extLst>
              <a:ext uri="{FF2B5EF4-FFF2-40B4-BE49-F238E27FC236}">
                <a16:creationId xmlns:a16="http://schemas.microsoft.com/office/drawing/2014/main" id="{F9A1998D-563A-79AB-45AA-B48A2DE4603B}"/>
              </a:ext>
            </a:extLst>
          </p:cNvPr>
          <p:cNvSpPr txBox="1"/>
          <p:nvPr/>
        </p:nvSpPr>
        <p:spPr>
          <a:xfrm>
            <a:off x="6186295" y="9027635"/>
            <a:ext cx="139124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Jira Emotion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463" name="Group 462">
            <a:extLst>
              <a:ext uri="{FF2B5EF4-FFF2-40B4-BE49-F238E27FC236}">
                <a16:creationId xmlns:a16="http://schemas.microsoft.com/office/drawing/2014/main" id="{C37CBEFB-50F5-1F7F-EF4C-C8CDA50F8DB9}"/>
              </a:ext>
            </a:extLst>
          </p:cNvPr>
          <p:cNvGrpSpPr/>
          <p:nvPr/>
        </p:nvGrpSpPr>
        <p:grpSpPr>
          <a:xfrm>
            <a:off x="8054731" y="7982176"/>
            <a:ext cx="569700" cy="1688313"/>
            <a:chOff x="8715063" y="3858862"/>
            <a:chExt cx="569700" cy="1688313"/>
          </a:xfrm>
        </p:grpSpPr>
        <p:sp>
          <p:nvSpPr>
            <p:cNvPr id="464" name="Google Shape;324;p18">
              <a:extLst>
                <a:ext uri="{FF2B5EF4-FFF2-40B4-BE49-F238E27FC236}">
                  <a16:creationId xmlns:a16="http://schemas.microsoft.com/office/drawing/2014/main" id="{C297F091-FC30-DD6C-45DD-0B3460B59590}"/>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465" name="Google Shape;359;p18">
              <a:extLst>
                <a:ext uri="{FF2B5EF4-FFF2-40B4-BE49-F238E27FC236}">
                  <a16:creationId xmlns:a16="http://schemas.microsoft.com/office/drawing/2014/main" id="{3F4E9028-FA74-D82B-454C-63000F4FB4D3}"/>
                </a:ext>
              </a:extLst>
            </p:cNvPr>
            <p:cNvGrpSpPr/>
            <p:nvPr/>
          </p:nvGrpSpPr>
          <p:grpSpPr>
            <a:xfrm>
              <a:off x="8838265" y="4043887"/>
              <a:ext cx="307200" cy="189300"/>
              <a:chOff x="3007175" y="1757600"/>
              <a:chExt cx="307200" cy="189300"/>
            </a:xfrm>
          </p:grpSpPr>
          <p:sp>
            <p:nvSpPr>
              <p:cNvPr id="490" name="Google Shape;360;p18">
                <a:extLst>
                  <a:ext uri="{FF2B5EF4-FFF2-40B4-BE49-F238E27FC236}">
                    <a16:creationId xmlns:a16="http://schemas.microsoft.com/office/drawing/2014/main" id="{40483A49-5A1D-5A66-48CC-59B31C5CC0BB}"/>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1" name="Google Shape;361;p18">
                <a:extLst>
                  <a:ext uri="{FF2B5EF4-FFF2-40B4-BE49-F238E27FC236}">
                    <a16:creationId xmlns:a16="http://schemas.microsoft.com/office/drawing/2014/main" id="{58BB06F0-2EA9-2F72-AF96-0E747CA83E45}"/>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2" name="Google Shape;362;p18">
                <a:extLst>
                  <a:ext uri="{FF2B5EF4-FFF2-40B4-BE49-F238E27FC236}">
                    <a16:creationId xmlns:a16="http://schemas.microsoft.com/office/drawing/2014/main" id="{08A4BD25-F315-8CFD-4BDD-E5542EA91E71}"/>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3" name="Google Shape;363;p18">
                <a:extLst>
                  <a:ext uri="{FF2B5EF4-FFF2-40B4-BE49-F238E27FC236}">
                    <a16:creationId xmlns:a16="http://schemas.microsoft.com/office/drawing/2014/main" id="{F906B0E1-DA14-076E-9C85-2ED4D6EB0EEE}"/>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94" name="Google Shape;364;p18">
                <a:extLst>
                  <a:ext uri="{FF2B5EF4-FFF2-40B4-BE49-F238E27FC236}">
                    <a16:creationId xmlns:a16="http://schemas.microsoft.com/office/drawing/2014/main" id="{EB1CCB43-4BE8-448B-65D4-4DE21583CA51}"/>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95" name="Google Shape;365;p18">
                <a:extLst>
                  <a:ext uri="{FF2B5EF4-FFF2-40B4-BE49-F238E27FC236}">
                    <a16:creationId xmlns:a16="http://schemas.microsoft.com/office/drawing/2014/main" id="{5C2BAF11-7A2E-0463-D297-E442002DBB36}"/>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96" name="Google Shape;366;p18">
                <a:extLst>
                  <a:ext uri="{FF2B5EF4-FFF2-40B4-BE49-F238E27FC236}">
                    <a16:creationId xmlns:a16="http://schemas.microsoft.com/office/drawing/2014/main" id="{974CF048-8815-C41A-9848-5C38611C8EAD}"/>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466" name="Google Shape;367;p18">
              <a:extLst>
                <a:ext uri="{FF2B5EF4-FFF2-40B4-BE49-F238E27FC236}">
                  <a16:creationId xmlns:a16="http://schemas.microsoft.com/office/drawing/2014/main" id="{3DCEF22E-09BB-6F2A-6CB0-425585C9F223}"/>
                </a:ext>
              </a:extLst>
            </p:cNvPr>
            <p:cNvGrpSpPr/>
            <p:nvPr/>
          </p:nvGrpSpPr>
          <p:grpSpPr>
            <a:xfrm>
              <a:off x="8838252" y="4387350"/>
              <a:ext cx="307200" cy="189300"/>
              <a:chOff x="3007175" y="1757600"/>
              <a:chExt cx="307200" cy="189300"/>
            </a:xfrm>
          </p:grpSpPr>
          <p:sp>
            <p:nvSpPr>
              <p:cNvPr id="483" name="Google Shape;368;p18">
                <a:extLst>
                  <a:ext uri="{FF2B5EF4-FFF2-40B4-BE49-F238E27FC236}">
                    <a16:creationId xmlns:a16="http://schemas.microsoft.com/office/drawing/2014/main" id="{AEC65BA7-7EFD-BD60-5017-FECFEB81D678}"/>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4" name="Google Shape;369;p18">
                <a:extLst>
                  <a:ext uri="{FF2B5EF4-FFF2-40B4-BE49-F238E27FC236}">
                    <a16:creationId xmlns:a16="http://schemas.microsoft.com/office/drawing/2014/main" id="{91D1DF29-C463-CA57-1ED7-B9561DDDA338}"/>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5" name="Google Shape;370;p18">
                <a:extLst>
                  <a:ext uri="{FF2B5EF4-FFF2-40B4-BE49-F238E27FC236}">
                    <a16:creationId xmlns:a16="http://schemas.microsoft.com/office/drawing/2014/main" id="{7155047A-1FAF-0B2A-BDCB-5D0FA030E8F3}"/>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 name="Google Shape;371;p18">
                <a:extLst>
                  <a:ext uri="{FF2B5EF4-FFF2-40B4-BE49-F238E27FC236}">
                    <a16:creationId xmlns:a16="http://schemas.microsoft.com/office/drawing/2014/main" id="{2B18B1CD-9401-7095-CC0D-1B253658638E}"/>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87" name="Google Shape;372;p18">
                <a:extLst>
                  <a:ext uri="{FF2B5EF4-FFF2-40B4-BE49-F238E27FC236}">
                    <a16:creationId xmlns:a16="http://schemas.microsoft.com/office/drawing/2014/main" id="{53B61686-77E5-1C0D-5FE7-AB01012956A4}"/>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88" name="Google Shape;373;p18">
                <a:extLst>
                  <a:ext uri="{FF2B5EF4-FFF2-40B4-BE49-F238E27FC236}">
                    <a16:creationId xmlns:a16="http://schemas.microsoft.com/office/drawing/2014/main" id="{F4675F8C-B28A-EE06-015B-46109FD35E63}"/>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89" name="Google Shape;374;p18">
                <a:extLst>
                  <a:ext uri="{FF2B5EF4-FFF2-40B4-BE49-F238E27FC236}">
                    <a16:creationId xmlns:a16="http://schemas.microsoft.com/office/drawing/2014/main" id="{001BF1A0-2B4A-44BA-CDD4-4EDDBECE15E7}"/>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467" name="Google Shape;375;p18">
              <a:extLst>
                <a:ext uri="{FF2B5EF4-FFF2-40B4-BE49-F238E27FC236}">
                  <a16:creationId xmlns:a16="http://schemas.microsoft.com/office/drawing/2014/main" id="{8F2E88B0-9DAC-C7D8-64CE-C16BC622E38A}"/>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GitHub</a:t>
              </a:r>
              <a:endParaRPr sz="686">
                <a:solidFill>
                  <a:schemeClr val="dk2"/>
                </a:solidFill>
                <a:latin typeface="Source Sans 3"/>
                <a:ea typeface="Source Sans 3"/>
                <a:cs typeface="Source Sans 3"/>
                <a:sym typeface="Source Sans 3"/>
              </a:endParaRPr>
            </a:p>
          </p:txBody>
        </p:sp>
        <p:sp>
          <p:nvSpPr>
            <p:cNvPr id="468" name="Google Shape;376;p18">
              <a:extLst>
                <a:ext uri="{FF2B5EF4-FFF2-40B4-BE49-F238E27FC236}">
                  <a16:creationId xmlns:a16="http://schemas.microsoft.com/office/drawing/2014/main" id="{1A43F3BA-5C1D-D040-7E67-1AADE2B9806E}"/>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469" name="Google Shape;377;p18">
              <a:extLst>
                <a:ext uri="{FF2B5EF4-FFF2-40B4-BE49-F238E27FC236}">
                  <a16:creationId xmlns:a16="http://schemas.microsoft.com/office/drawing/2014/main" id="{213D0888-B3EA-9990-EEF0-642DEFA2CC1E}"/>
                </a:ext>
              </a:extLst>
            </p:cNvPr>
            <p:cNvGrpSpPr/>
            <p:nvPr/>
          </p:nvGrpSpPr>
          <p:grpSpPr>
            <a:xfrm>
              <a:off x="8846302" y="4841125"/>
              <a:ext cx="307200" cy="297900"/>
              <a:chOff x="3021975" y="2389850"/>
              <a:chExt cx="307200" cy="297900"/>
            </a:xfrm>
          </p:grpSpPr>
          <p:sp>
            <p:nvSpPr>
              <p:cNvPr id="473" name="Google Shape;378;p18">
                <a:extLst>
                  <a:ext uri="{FF2B5EF4-FFF2-40B4-BE49-F238E27FC236}">
                    <a16:creationId xmlns:a16="http://schemas.microsoft.com/office/drawing/2014/main" id="{50C89BC9-D342-F41B-D89B-92708C490F41}"/>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474" name="Google Shape;379;p18">
                <a:extLst>
                  <a:ext uri="{FF2B5EF4-FFF2-40B4-BE49-F238E27FC236}">
                    <a16:creationId xmlns:a16="http://schemas.microsoft.com/office/drawing/2014/main" id="{86535642-53B6-C400-60BD-62415BADB726}"/>
                  </a:ext>
                </a:extLst>
              </p:cNvPr>
              <p:cNvGrpSpPr/>
              <p:nvPr/>
            </p:nvGrpSpPr>
            <p:grpSpPr>
              <a:xfrm>
                <a:off x="3021975" y="2389850"/>
                <a:ext cx="307200" cy="295800"/>
                <a:chOff x="3021975" y="2389850"/>
                <a:chExt cx="307200" cy="295800"/>
              </a:xfrm>
            </p:grpSpPr>
            <p:sp>
              <p:nvSpPr>
                <p:cNvPr id="475" name="Google Shape;380;p18">
                  <a:extLst>
                    <a:ext uri="{FF2B5EF4-FFF2-40B4-BE49-F238E27FC236}">
                      <a16:creationId xmlns:a16="http://schemas.microsoft.com/office/drawing/2014/main" id="{AE7AE1C7-8ACA-82E8-57A9-81F0A7A1F34B}"/>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6" name="Google Shape;381;p18">
                  <a:extLst>
                    <a:ext uri="{FF2B5EF4-FFF2-40B4-BE49-F238E27FC236}">
                      <a16:creationId xmlns:a16="http://schemas.microsoft.com/office/drawing/2014/main" id="{EB59B586-9334-3F3C-2CB6-7B056A47FEE0}"/>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77" name="Google Shape;382;p18">
                  <a:extLst>
                    <a:ext uri="{FF2B5EF4-FFF2-40B4-BE49-F238E27FC236}">
                      <a16:creationId xmlns:a16="http://schemas.microsoft.com/office/drawing/2014/main" id="{472BE2D3-EA99-400F-2368-4E2157726A4E}"/>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478" name="Google Shape;383;p18">
                  <a:extLst>
                    <a:ext uri="{FF2B5EF4-FFF2-40B4-BE49-F238E27FC236}">
                      <a16:creationId xmlns:a16="http://schemas.microsoft.com/office/drawing/2014/main" id="{E9EF579A-C37D-82E9-3C09-FEF3B3266E5D}"/>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479" name="Google Shape;384;p18">
                  <a:extLst>
                    <a:ext uri="{FF2B5EF4-FFF2-40B4-BE49-F238E27FC236}">
                      <a16:creationId xmlns:a16="http://schemas.microsoft.com/office/drawing/2014/main" id="{3A7D31C6-ED39-5F8A-2AD9-7062832E45AE}"/>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80" name="Google Shape;385;p18">
                  <a:extLst>
                    <a:ext uri="{FF2B5EF4-FFF2-40B4-BE49-F238E27FC236}">
                      <a16:creationId xmlns:a16="http://schemas.microsoft.com/office/drawing/2014/main" id="{3A035373-A17A-F2EE-C703-5078476A76EF}"/>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481" name="Google Shape;386;p18">
                  <a:extLst>
                    <a:ext uri="{FF2B5EF4-FFF2-40B4-BE49-F238E27FC236}">
                      <a16:creationId xmlns:a16="http://schemas.microsoft.com/office/drawing/2014/main" id="{788B5E88-49CA-38B5-2B43-A89BFE55D1A2}"/>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482" name="Google Shape;387;p18">
                  <a:extLst>
                    <a:ext uri="{FF2B5EF4-FFF2-40B4-BE49-F238E27FC236}">
                      <a16:creationId xmlns:a16="http://schemas.microsoft.com/office/drawing/2014/main" id="{3A397C24-6F9F-9D0D-1F1C-9E0896E331EF}"/>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470" name="Google Shape;388;p18">
              <a:extLst>
                <a:ext uri="{FF2B5EF4-FFF2-40B4-BE49-F238E27FC236}">
                  <a16:creationId xmlns:a16="http://schemas.microsoft.com/office/drawing/2014/main" id="{7DCF03D6-E8EA-854A-F331-849A880674D9}"/>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cxnSp>
          <p:nvCxnSpPr>
            <p:cNvPr id="471" name="Google Shape;389;p18">
              <a:extLst>
                <a:ext uri="{FF2B5EF4-FFF2-40B4-BE49-F238E27FC236}">
                  <a16:creationId xmlns:a16="http://schemas.microsoft.com/office/drawing/2014/main" id="{DDA3EE85-91AB-5D83-699B-9771544733E2}"/>
                </a:ext>
              </a:extLst>
            </p:cNvPr>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472" name="Google Shape;390;p18">
              <a:extLst>
                <a:ext uri="{FF2B5EF4-FFF2-40B4-BE49-F238E27FC236}">
                  <a16:creationId xmlns:a16="http://schemas.microsoft.com/office/drawing/2014/main" id="{6731651F-461B-6658-9A3C-EE2B0F4717D5}"/>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cxnSp>
        <p:nvCxnSpPr>
          <p:cNvPr id="497" name="Straight Arrow Connector 1198">
            <a:extLst>
              <a:ext uri="{FF2B5EF4-FFF2-40B4-BE49-F238E27FC236}">
                <a16:creationId xmlns:a16="http://schemas.microsoft.com/office/drawing/2014/main" id="{2ECE8AD5-C1C8-86D0-7663-E22529D3D3A9}"/>
              </a:ext>
            </a:extLst>
          </p:cNvPr>
          <p:cNvCxnSpPr>
            <a:cxnSpLocks/>
          </p:cNvCxnSpPr>
          <p:nvPr/>
        </p:nvCxnSpPr>
        <p:spPr>
          <a:xfrm flipV="1">
            <a:off x="7551071" y="8617339"/>
            <a:ext cx="520485" cy="34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8" name="Straight Arrow Connector 497">
            <a:extLst>
              <a:ext uri="{FF2B5EF4-FFF2-40B4-BE49-F238E27FC236}">
                <a16:creationId xmlns:a16="http://schemas.microsoft.com/office/drawing/2014/main" id="{67B5CBC0-D783-3FA8-36E5-C4C4CF73A73A}"/>
              </a:ext>
            </a:extLst>
          </p:cNvPr>
          <p:cNvCxnSpPr>
            <a:cxnSpLocks/>
          </p:cNvCxnSpPr>
          <p:nvPr/>
        </p:nvCxnSpPr>
        <p:spPr>
          <a:xfrm flipH="1">
            <a:off x="5866737" y="7628595"/>
            <a:ext cx="1864018" cy="7460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9" name="Straight Arrow Connector 498">
            <a:extLst>
              <a:ext uri="{FF2B5EF4-FFF2-40B4-BE49-F238E27FC236}">
                <a16:creationId xmlns:a16="http://schemas.microsoft.com/office/drawing/2014/main" id="{1332590F-74C5-4D8A-8742-84592737CD71}"/>
              </a:ext>
            </a:extLst>
          </p:cNvPr>
          <p:cNvCxnSpPr>
            <a:cxnSpLocks/>
          </p:cNvCxnSpPr>
          <p:nvPr/>
        </p:nvCxnSpPr>
        <p:spPr>
          <a:xfrm flipH="1">
            <a:off x="7369872" y="7762858"/>
            <a:ext cx="549989" cy="5195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0" name="TextBox 499">
            <a:extLst>
              <a:ext uri="{FF2B5EF4-FFF2-40B4-BE49-F238E27FC236}">
                <a16:creationId xmlns:a16="http://schemas.microsoft.com/office/drawing/2014/main" id="{153D2011-2F27-5483-AA32-E99356499EE3}"/>
              </a:ext>
            </a:extLst>
          </p:cNvPr>
          <p:cNvSpPr txBox="1"/>
          <p:nvPr/>
        </p:nvSpPr>
        <p:spPr>
          <a:xfrm>
            <a:off x="3222752" y="9687282"/>
            <a:ext cx="366686" cy="5181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vert" wrap="square" lIns="54570" tIns="54570" rIns="54570" bIns="54570" numCol="1" spcCol="38100" rtlCol="0" anchor="ctr">
            <a:spAutoFit/>
          </a:bodyPr>
          <a:lstStyle/>
          <a:p>
            <a:pPr algn="ctr"/>
            <a:r>
              <a:rPr lang="en-US" sz="1500" b="0" dirty="0"/>
              <a:t>…</a:t>
            </a:r>
          </a:p>
        </p:txBody>
      </p:sp>
      <p:sp>
        <p:nvSpPr>
          <p:cNvPr id="501" name="TextBox 500">
            <a:extLst>
              <a:ext uri="{FF2B5EF4-FFF2-40B4-BE49-F238E27FC236}">
                <a16:creationId xmlns:a16="http://schemas.microsoft.com/office/drawing/2014/main" id="{B81A6225-3E11-2323-891F-D1EE437F9381}"/>
              </a:ext>
            </a:extLst>
          </p:cNvPr>
          <p:cNvSpPr txBox="1"/>
          <p:nvPr/>
        </p:nvSpPr>
        <p:spPr>
          <a:xfrm>
            <a:off x="-2599075" y="1256962"/>
            <a:ext cx="1894349" cy="5975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3000" b="1" i="0" u="none" strike="noStrike" cap="none" spc="0" normalizeH="0" baseline="0" dirty="0">
                <a:ln>
                  <a:noFill/>
                </a:ln>
                <a:solidFill>
                  <a:srgbClr val="4C4C4C"/>
                </a:solidFill>
                <a:effectLst/>
                <a:uFillTx/>
                <a:latin typeface="Source Sans Pro"/>
                <a:ea typeface="Source Sans Pro"/>
                <a:cs typeface="Source Sans Pro"/>
                <a:sym typeface="Source Sans Pro"/>
              </a:rPr>
              <a:t>Iteration 3</a:t>
            </a:r>
          </a:p>
        </p:txBody>
      </p:sp>
    </p:spTree>
    <p:extLst>
      <p:ext uri="{BB962C8B-B14F-4D97-AF65-F5344CB8AC3E}">
        <p14:creationId xmlns:p14="http://schemas.microsoft.com/office/powerpoint/2010/main" val="308870136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 name="Image" descr="Image"/>
          <p:cNvPicPr>
            <a:picLocks noGrp="1" noRot="1" noChangeAspect="1" noMove="1" noResize="1" noEditPoints="1" noAdjustHandles="1" noChangeArrowheads="1" noChangeShapeType="1" noCrop="1"/>
          </p:cNvPicPr>
          <p:nvPr/>
        </p:nvPicPr>
        <p:blipFill>
          <a:blip r:embed="rId4"/>
          <a:stretch>
            <a:fillRect/>
          </a:stretch>
        </p:blipFill>
        <p:spPr>
          <a:xfrm>
            <a:off x="8397917" y="-673983"/>
            <a:ext cx="5598432" cy="2990088"/>
          </a:xfrm>
          <a:prstGeom prst="rect">
            <a:avLst/>
          </a:prstGeom>
          <a:ln w="12700">
            <a:miter lim="400000"/>
          </a:ln>
        </p:spPr>
      </p:pic>
      <p:sp>
        <p:nvSpPr>
          <p:cNvPr id="312" name="Line"/>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pic>
        <p:nvPicPr>
          <p:cNvPr id="1631" name="Image" descr="Image">
            <a:extLst>
              <a:ext uri="{FF2B5EF4-FFF2-40B4-BE49-F238E27FC236}">
                <a16:creationId xmlns:a16="http://schemas.microsoft.com/office/drawing/2014/main" id="{C141B2E4-B3C0-94DC-7962-F10DD332034B}"/>
              </a:ext>
            </a:extLst>
          </p:cNvPr>
          <p:cNvPicPr/>
          <p:nvPr/>
        </p:nvPicPr>
        <p:blipFill>
          <a:blip r:embed="rId4"/>
          <a:stretch>
            <a:fillRect/>
          </a:stretch>
        </p:blipFill>
        <p:spPr>
          <a:xfrm>
            <a:off x="8397917" y="-673983"/>
            <a:ext cx="5598432" cy="2990088"/>
          </a:xfrm>
          <a:prstGeom prst="rect">
            <a:avLst/>
          </a:prstGeom>
          <a:ln w="12700">
            <a:miter lim="400000"/>
          </a:ln>
        </p:spPr>
      </p:pic>
      <p:sp>
        <p:nvSpPr>
          <p:cNvPr id="1632" name="Line">
            <a:extLst>
              <a:ext uri="{FF2B5EF4-FFF2-40B4-BE49-F238E27FC236}">
                <a16:creationId xmlns:a16="http://schemas.microsoft.com/office/drawing/2014/main" id="{93F7BFB9-DC4E-2161-86AB-BCD2A5B3BF36}"/>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633" name="YOUR LOGO…">
            <a:extLst>
              <a:ext uri="{FF2B5EF4-FFF2-40B4-BE49-F238E27FC236}">
                <a16:creationId xmlns:a16="http://schemas.microsoft.com/office/drawing/2014/main" id="{35A4F9B3-AA21-E728-60BA-48734029C383}"/>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err="1"/>
              <a:t>Kaiāulu</a:t>
            </a:r>
            <a:endParaRPr sz="2400" dirty="0"/>
          </a:p>
        </p:txBody>
      </p:sp>
      <p:sp>
        <p:nvSpPr>
          <p:cNvPr id="1634" name="Three Column Layout: : CHEAT SHEET">
            <a:extLst>
              <a:ext uri="{FF2B5EF4-FFF2-40B4-BE49-F238E27FC236}">
                <a16:creationId xmlns:a16="http://schemas.microsoft.com/office/drawing/2014/main" id="{ADC61FF5-7C4F-73F9-09C7-F4295FABD53D}"/>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Sentiment Dataset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1635" name="Use headers, colors, and/or backgrounds to separate or group together sections.">
            <a:extLst>
              <a:ext uri="{FF2B5EF4-FFF2-40B4-BE49-F238E27FC236}">
                <a16:creationId xmlns:a16="http://schemas.microsoft.com/office/drawing/2014/main" id="{09249659-E2F4-637C-8E6B-00862938091E}"/>
              </a:ext>
            </a:extLst>
          </p:cNvPr>
          <p:cNvSpPr txBox="1"/>
          <p:nvPr/>
        </p:nvSpPr>
        <p:spPr>
          <a:xfrm>
            <a:off x="219190" y="1892216"/>
            <a:ext cx="4336216" cy="1273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lvl="0">
              <a:lnSpc>
                <a:spcPct val="90000"/>
              </a:lnSpc>
              <a:buSzPts val="3700"/>
            </a:pPr>
            <a:r>
              <a:rPr lang="en-US" b="0" dirty="0"/>
              <a:t>Manually annotated sentiment/emotion labels can be useful to train machine learning models. The existing gold standard datasets contain sentiment and emotion labels for developer communication comments, but each CSV is incomplete. There is insufficient metadata to retrace them to the original data source. By joining each CSV to its corresponding database dump, we recover the missing data and make the labels usable in </a:t>
            </a:r>
            <a:r>
              <a:rPr lang="en-US" b="0" dirty="0" err="1"/>
              <a:t>Kaiaulu</a:t>
            </a:r>
            <a:r>
              <a:rPr lang="en-US" b="0" dirty="0"/>
              <a:t>.</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5"/>
            </a:endParaRPr>
          </a:p>
        </p:txBody>
      </p:sp>
      <p:sp>
        <p:nvSpPr>
          <p:cNvPr id="1636" name="Logistics">
            <a:extLst>
              <a:ext uri="{FF2B5EF4-FFF2-40B4-BE49-F238E27FC236}">
                <a16:creationId xmlns:a16="http://schemas.microsoft.com/office/drawing/2014/main" id="{80527984-1F2F-FACD-86E0-FFB6C01B1D25}"/>
              </a:ext>
            </a:extLst>
          </p:cNvPr>
          <p:cNvSpPr txBox="1"/>
          <p:nvPr/>
        </p:nvSpPr>
        <p:spPr>
          <a:xfrm>
            <a:off x="4968243" y="1513569"/>
            <a:ext cx="3953005"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Sentiment Dataset to </a:t>
            </a:r>
            <a:r>
              <a:rPr lang="en-US" dirty="0" err="1">
                <a:latin typeface="Source Sans Pro" panose="020B0503030403020204" pitchFamily="34" charset="0"/>
                <a:ea typeface="Source Sans Pro" panose="020B0503030403020204" pitchFamily="34" charset="0"/>
                <a:cs typeface="Arial" panose="020B0604020202020204" pitchFamily="34" charset="0"/>
              </a:rPr>
              <a:t>Kaiaulu</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637" name="Layout Suggestions">
            <a:extLst>
              <a:ext uri="{FF2B5EF4-FFF2-40B4-BE49-F238E27FC236}">
                <a16:creationId xmlns:a16="http://schemas.microsoft.com/office/drawing/2014/main" id="{76CB1151-DC73-6C6F-9AD5-E812AF0E935E}"/>
              </a:ext>
            </a:extLst>
          </p:cNvPr>
          <p:cNvSpPr txBox="1"/>
          <p:nvPr/>
        </p:nvSpPr>
        <p:spPr>
          <a:xfrm>
            <a:off x="275721" y="1519235"/>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About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pic>
        <p:nvPicPr>
          <p:cNvPr id="1638" name="Picture 1637" descr="A picture containing text&#10;&#10;Description automatically generated">
            <a:extLst>
              <a:ext uri="{FF2B5EF4-FFF2-40B4-BE49-F238E27FC236}">
                <a16:creationId xmlns:a16="http://schemas.microsoft.com/office/drawing/2014/main" id="{5CBC34D7-478A-78C5-0D57-128AD87631C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1639" name="TextBox 1638">
            <a:extLst>
              <a:ext uri="{FF2B5EF4-FFF2-40B4-BE49-F238E27FC236}">
                <a16:creationId xmlns:a16="http://schemas.microsoft.com/office/drawing/2014/main" id="{E1EC7713-CB8E-70D1-78EB-2237F6C93BA5}"/>
              </a:ext>
            </a:extLst>
          </p:cNvPr>
          <p:cNvSpPr txBox="1"/>
          <p:nvPr/>
        </p:nvSpPr>
        <p:spPr>
          <a:xfrm>
            <a:off x="7369010" y="10301097"/>
            <a:ext cx="6288562"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hlinkClick r:id="rId7">
                  <a:extLst>
                    <a:ext uri="{A12FA001-AC4F-418D-AE19-62706E023703}">
                      <ahyp:hlinkClr xmlns:ahyp="http://schemas.microsoft.com/office/drawing/2018/hyperlinkcolor" val="tx"/>
                    </a:ext>
                  </a:extLst>
                </a:hlinkClick>
              </a:rPr>
              <a:t>CC BY SA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Samantha </a:t>
            </a:r>
            <a:r>
              <a:rPr lang="en-US" sz="1000" b="0" dirty="0">
                <a:solidFill>
                  <a:schemeClr val="tx1"/>
                </a:solidFill>
              </a:rPr>
              <a:t>Limon,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Carlos Paradis</a:t>
            </a:r>
            <a:r>
              <a:rPr lang="en-US" sz="1000" b="0" dirty="0">
                <a:solidFill>
                  <a:schemeClr val="tx1"/>
                </a:solidFill>
              </a:rPr>
              <a: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a:t>
            </a:r>
            <a:r>
              <a:rPr kumimoji="0" lang="en-US" sz="1000" b="0" i="0" u="none" strike="noStrike" cap="none" spc="0" normalizeH="0" baseline="0" dirty="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1640" name="Layout Suggestions">
            <a:extLst>
              <a:ext uri="{FF2B5EF4-FFF2-40B4-BE49-F238E27FC236}">
                <a16:creationId xmlns:a16="http://schemas.microsoft.com/office/drawing/2014/main" id="{0FD766FB-4A1F-3F3F-05C8-DD088C61047C}"/>
              </a:ext>
            </a:extLst>
          </p:cNvPr>
          <p:cNvSpPr txBox="1"/>
          <p:nvPr/>
        </p:nvSpPr>
        <p:spPr>
          <a:xfrm>
            <a:off x="244833" y="3313747"/>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Getting Started</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641" name="Manipulate Variables">
            <a:extLst>
              <a:ext uri="{FF2B5EF4-FFF2-40B4-BE49-F238E27FC236}">
                <a16:creationId xmlns:a16="http://schemas.microsoft.com/office/drawing/2014/main" id="{021851BC-CA89-7010-80FC-8E228F6A9723}"/>
              </a:ext>
            </a:extLst>
          </p:cNvPr>
          <p:cNvSpPr txBox="1"/>
          <p:nvPr/>
        </p:nvSpPr>
        <p:spPr>
          <a:xfrm>
            <a:off x="9587107" y="1513568"/>
            <a:ext cx="2585644"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Related Notebooks</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642" name="Create a visual hierarchy. Help users navigate the page with titles, subtitles, and subsubtitles">
            <a:extLst>
              <a:ext uri="{FF2B5EF4-FFF2-40B4-BE49-F238E27FC236}">
                <a16:creationId xmlns:a16="http://schemas.microsoft.com/office/drawing/2014/main" id="{9954B94A-D38C-0B4F-696F-255FE77B1282}"/>
              </a:ext>
            </a:extLst>
          </p:cNvPr>
          <p:cNvSpPr txBox="1"/>
          <p:nvPr/>
        </p:nvSpPr>
        <p:spPr>
          <a:xfrm>
            <a:off x="9545296" y="1911334"/>
            <a:ext cx="4001355" cy="6088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See supplementary notebooks that go in-depth on the documentation on making the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Github</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 Gold Standard  and Jira Emotion datasets compatible with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Kaiaulu</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a:t>
            </a:r>
          </a:p>
        </p:txBody>
      </p:sp>
      <p:sp>
        <p:nvSpPr>
          <p:cNvPr id="1643" name="TextBox 1642">
            <a:extLst>
              <a:ext uri="{FF2B5EF4-FFF2-40B4-BE49-F238E27FC236}">
                <a16:creationId xmlns:a16="http://schemas.microsoft.com/office/drawing/2014/main" id="{1323F8A0-2826-AAF4-5780-3D4667C8CEA0}"/>
              </a:ext>
            </a:extLst>
          </p:cNvPr>
          <p:cNvSpPr txBox="1"/>
          <p:nvPr/>
        </p:nvSpPr>
        <p:spPr>
          <a:xfrm>
            <a:off x="9585321" y="2775783"/>
            <a:ext cx="3656656" cy="951462"/>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1_load_sentiment_csv_to_mysql.ipynb</a:t>
            </a:r>
          </a:p>
          <a:p>
            <a:pPr marL="228600" indent="-228600">
              <a:buFont typeface="+mj-lt"/>
              <a:buAutoNum type="arabicPeriod"/>
            </a:pPr>
            <a:r>
              <a:rPr lang="en-US" dirty="0"/>
              <a:t>2_explore_relevant_projects.ipynb</a:t>
            </a:r>
          </a:p>
          <a:p>
            <a:pPr marL="228600" indent="-228600">
              <a:buFont typeface="+mj-lt"/>
              <a:buAutoNum type="arabicPeriod"/>
            </a:pPr>
            <a:r>
              <a:rPr lang="en-US" dirty="0"/>
              <a:t>3_scale_config_files.ipynb</a:t>
            </a:r>
          </a:p>
          <a:p>
            <a:pPr marL="228600" indent="-228600">
              <a:buFont typeface="+mj-lt"/>
              <a:buAutoNum type="arabicPeriod"/>
            </a:pPr>
            <a:r>
              <a:rPr lang="en-US" dirty="0"/>
              <a:t>4_add_sentiment_to_kaiaulu.ipynb</a:t>
            </a:r>
          </a:p>
        </p:txBody>
      </p:sp>
      <p:sp>
        <p:nvSpPr>
          <p:cNvPr id="1644" name="Manipulate Variables">
            <a:extLst>
              <a:ext uri="{FF2B5EF4-FFF2-40B4-BE49-F238E27FC236}">
                <a16:creationId xmlns:a16="http://schemas.microsoft.com/office/drawing/2014/main" id="{7B726F16-0506-CCAE-A939-1A6E9DCF3580}"/>
              </a:ext>
            </a:extLst>
          </p:cNvPr>
          <p:cNvSpPr txBox="1"/>
          <p:nvPr/>
        </p:nvSpPr>
        <p:spPr>
          <a:xfrm>
            <a:off x="9542306" y="4660893"/>
            <a:ext cx="210634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Data Expansion</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645" name="Create a visual hierarchy. Help users navigate the page with titles, subtitles, and subsubtitles">
            <a:extLst>
              <a:ext uri="{FF2B5EF4-FFF2-40B4-BE49-F238E27FC236}">
                <a16:creationId xmlns:a16="http://schemas.microsoft.com/office/drawing/2014/main" id="{082E143F-AB40-1CE0-4281-AB7DF2A1AB78}"/>
              </a:ext>
            </a:extLst>
          </p:cNvPr>
          <p:cNvSpPr txBox="1"/>
          <p:nvPr/>
        </p:nvSpPr>
        <p:spPr>
          <a:xfrm>
            <a:off x="9517994" y="5036356"/>
            <a:ext cx="4001355" cy="20491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r>
              <a:rPr lang="en-US" sz="1100" b="0" dirty="0"/>
              <a:t>Through this pipeline, we recover the data that is missing from the sentiment CSVs. That context enables two types of dataset expansion using </a:t>
            </a:r>
            <a:r>
              <a:rPr lang="en-US" sz="1100" b="0" dirty="0" err="1"/>
              <a:t>Kaiaulu</a:t>
            </a:r>
            <a:r>
              <a:rPr lang="en-US" sz="1100" b="0" dirty="0"/>
              <a:t>:</a:t>
            </a:r>
          </a:p>
          <a:p>
            <a:pPr marL="228600" indent="-228600">
              <a:buAutoNum type="arabicPeriod"/>
            </a:pPr>
            <a:r>
              <a:rPr lang="en-US" sz="1100" dirty="0"/>
              <a:t>Temporal expansion</a:t>
            </a:r>
            <a:r>
              <a:rPr lang="en-US" sz="1100" b="0" dirty="0"/>
              <a:t>: Re-download the same projects' comments from 2014 through today.</a:t>
            </a:r>
          </a:p>
          <a:p>
            <a:pPr marL="228600" indent="-228600">
              <a:buAutoNum type="arabicPeriod"/>
            </a:pPr>
            <a:r>
              <a:rPr lang="en-US" sz="1100" dirty="0"/>
              <a:t>Horizontal expansion</a:t>
            </a:r>
            <a:r>
              <a:rPr lang="en-US" sz="1100" b="0" dirty="0"/>
              <a:t>: Download additional data sources for those same projects (e.g., source code, version control history) that can be linked back to sentiment labels</a:t>
            </a:r>
          </a:p>
          <a:p>
            <a:r>
              <a:rPr lang="en-US" sz="1100" b="0" dirty="0"/>
              <a:t>The labeled comments can be used to train the sentiment classifier and for engagement analysis (refer to the Sentiment Classifier </a:t>
            </a:r>
            <a:r>
              <a:rPr lang="en-US" sz="1100" b="0" dirty="0" err="1"/>
              <a:t>cheatsheet</a:t>
            </a:r>
            <a:r>
              <a:rPr lang="en-US" sz="1100" b="0" dirty="0"/>
              <a:t>).</a:t>
            </a:r>
          </a:p>
        </p:txBody>
      </p:sp>
      <p:sp>
        <p:nvSpPr>
          <p:cNvPr id="1646" name="Layout Suggestions">
            <a:extLst>
              <a:ext uri="{FF2B5EF4-FFF2-40B4-BE49-F238E27FC236}">
                <a16:creationId xmlns:a16="http://schemas.microsoft.com/office/drawing/2014/main" id="{9B74058D-B0DC-4616-30F4-E6BE2A245866}"/>
              </a:ext>
            </a:extLst>
          </p:cNvPr>
          <p:cNvSpPr txBox="1"/>
          <p:nvPr/>
        </p:nvSpPr>
        <p:spPr>
          <a:xfrm>
            <a:off x="221504" y="7101794"/>
            <a:ext cx="433390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647" name="TextBox 1646">
            <a:extLst>
              <a:ext uri="{FF2B5EF4-FFF2-40B4-BE49-F238E27FC236}">
                <a16:creationId xmlns:a16="http://schemas.microsoft.com/office/drawing/2014/main" id="{24A7BC13-9A00-6E2F-17EE-198FC4FDDE0C}"/>
              </a:ext>
            </a:extLst>
          </p:cNvPr>
          <p:cNvSpPr txBox="1"/>
          <p:nvPr/>
        </p:nvSpPr>
        <p:spPr>
          <a:xfrm>
            <a:off x="244833" y="3653776"/>
            <a:ext cx="43468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following must be set up/downloaded:</a:t>
            </a:r>
          </a:p>
        </p:txBody>
      </p:sp>
      <p:sp>
        <p:nvSpPr>
          <p:cNvPr id="1648" name="TextBox 1647">
            <a:extLst>
              <a:ext uri="{FF2B5EF4-FFF2-40B4-BE49-F238E27FC236}">
                <a16:creationId xmlns:a16="http://schemas.microsoft.com/office/drawing/2014/main" id="{21D62A94-AF82-30CC-8964-D57A8E65CB3B}"/>
              </a:ext>
            </a:extLst>
          </p:cNvPr>
          <p:cNvSpPr txBox="1"/>
          <p:nvPr/>
        </p:nvSpPr>
        <p:spPr>
          <a:xfrm>
            <a:off x="4898062" y="3304109"/>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err="1"/>
              <a:t>Github</a:t>
            </a:r>
            <a:r>
              <a:rPr lang="en-US" dirty="0"/>
              <a:t> Gold CSV</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1649" name="Straight Arrow Connector 1648">
            <a:extLst>
              <a:ext uri="{FF2B5EF4-FFF2-40B4-BE49-F238E27FC236}">
                <a16:creationId xmlns:a16="http://schemas.microsoft.com/office/drawing/2014/main" id="{D4EADA21-4CB4-7C48-1D3F-B7F03C616E07}"/>
              </a:ext>
            </a:extLst>
          </p:cNvPr>
          <p:cNvCxnSpPr>
            <a:cxnSpLocks/>
          </p:cNvCxnSpPr>
          <p:nvPr/>
        </p:nvCxnSpPr>
        <p:spPr>
          <a:xfrm>
            <a:off x="6127817" y="2739306"/>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650" name="Table">
            <a:extLst>
              <a:ext uri="{FF2B5EF4-FFF2-40B4-BE49-F238E27FC236}">
                <a16:creationId xmlns:a16="http://schemas.microsoft.com/office/drawing/2014/main" id="{4C1ADE43-1174-8DEF-9687-3F136A29B346}"/>
              </a:ext>
            </a:extLst>
          </p:cNvPr>
          <p:cNvGraphicFramePr/>
          <p:nvPr>
            <p:extLst>
              <p:ext uri="{D42A27DB-BD31-4B8C-83A1-F6EECF244321}">
                <p14:modId xmlns:p14="http://schemas.microsoft.com/office/powerpoint/2010/main" val="2380936630"/>
              </p:ext>
            </p:extLst>
          </p:nvPr>
        </p:nvGraphicFramePr>
        <p:xfrm>
          <a:off x="5214672" y="2681254"/>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1651" name="TextBox 1650">
            <a:extLst>
              <a:ext uri="{FF2B5EF4-FFF2-40B4-BE49-F238E27FC236}">
                <a16:creationId xmlns:a16="http://schemas.microsoft.com/office/drawing/2014/main" id="{E765DCEA-1053-0538-E1D5-BA89E9D157DD}"/>
              </a:ext>
            </a:extLst>
          </p:cNvPr>
          <p:cNvSpPr txBox="1"/>
          <p:nvPr/>
        </p:nvSpPr>
        <p:spPr>
          <a:xfrm>
            <a:off x="6160379" y="2512222"/>
            <a:ext cx="127533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1652" name="TextBox 1651">
            <a:extLst>
              <a:ext uri="{FF2B5EF4-FFF2-40B4-BE49-F238E27FC236}">
                <a16:creationId xmlns:a16="http://schemas.microsoft.com/office/drawing/2014/main" id="{10DE349C-33BE-CE1C-3D51-C359E86CE269}"/>
              </a:ext>
            </a:extLst>
          </p:cNvPr>
          <p:cNvSpPr txBox="1"/>
          <p:nvPr/>
        </p:nvSpPr>
        <p:spPr>
          <a:xfrm>
            <a:off x="6165384" y="2758990"/>
            <a:ext cx="144108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Q-Join-Commit-Comments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1653" name="TextBox 1652">
            <a:extLst>
              <a:ext uri="{FF2B5EF4-FFF2-40B4-BE49-F238E27FC236}">
                <a16:creationId xmlns:a16="http://schemas.microsoft.com/office/drawing/2014/main" id="{3C267FF8-8C4F-2C9B-B606-A21B20DDBC7F}"/>
              </a:ext>
            </a:extLst>
          </p:cNvPr>
          <p:cNvSpPr txBox="1"/>
          <p:nvPr/>
        </p:nvSpPr>
        <p:spPr>
          <a:xfrm>
            <a:off x="6091806" y="3030690"/>
            <a:ext cx="1514660" cy="2333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800" b="0" dirty="0"/>
              <a:t>Q-Join-Pull-Request-Comments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1654" name="Straight Arrow Connector 1653">
            <a:extLst>
              <a:ext uri="{FF2B5EF4-FFF2-40B4-BE49-F238E27FC236}">
                <a16:creationId xmlns:a16="http://schemas.microsoft.com/office/drawing/2014/main" id="{173780CB-6598-5F1B-0AE9-027BC757D7D6}"/>
              </a:ext>
            </a:extLst>
          </p:cNvPr>
          <p:cNvCxnSpPr>
            <a:cxnSpLocks/>
          </p:cNvCxnSpPr>
          <p:nvPr/>
        </p:nvCxnSpPr>
        <p:spPr>
          <a:xfrm>
            <a:off x="6127817" y="2985359"/>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5" name="Straight Arrow Connector 1654">
            <a:extLst>
              <a:ext uri="{FF2B5EF4-FFF2-40B4-BE49-F238E27FC236}">
                <a16:creationId xmlns:a16="http://schemas.microsoft.com/office/drawing/2014/main" id="{27A8BA11-5BDE-5E4F-3707-EC11DF685CDC}"/>
              </a:ext>
            </a:extLst>
          </p:cNvPr>
          <p:cNvCxnSpPr>
            <a:cxnSpLocks/>
          </p:cNvCxnSpPr>
          <p:nvPr/>
        </p:nvCxnSpPr>
        <p:spPr>
          <a:xfrm>
            <a:off x="6127817" y="3231412"/>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56" name="Can 1655">
            <a:extLst>
              <a:ext uri="{FF2B5EF4-FFF2-40B4-BE49-F238E27FC236}">
                <a16:creationId xmlns:a16="http://schemas.microsoft.com/office/drawing/2014/main" id="{07EB3F28-BBFC-B675-3E70-A6608195BE0B}"/>
              </a:ext>
            </a:extLst>
          </p:cNvPr>
          <p:cNvSpPr/>
          <p:nvPr/>
        </p:nvSpPr>
        <p:spPr>
          <a:xfrm>
            <a:off x="7942176" y="2632119"/>
            <a:ext cx="765111" cy="707521"/>
          </a:xfrm>
          <a:prstGeom prst="can">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657" name="TextBox 1656">
            <a:extLst>
              <a:ext uri="{FF2B5EF4-FFF2-40B4-BE49-F238E27FC236}">
                <a16:creationId xmlns:a16="http://schemas.microsoft.com/office/drawing/2014/main" id="{C831142C-18B0-AC3F-E3EF-ECF71D91A59D}"/>
              </a:ext>
            </a:extLst>
          </p:cNvPr>
          <p:cNvSpPr txBox="1"/>
          <p:nvPr/>
        </p:nvSpPr>
        <p:spPr>
          <a:xfrm>
            <a:off x="7593293" y="3309908"/>
            <a:ext cx="1418243"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err="1"/>
              <a:t>GHTorrent</a:t>
            </a:r>
            <a:r>
              <a:rPr lang="en-US" dirty="0"/>
              <a:t> 2014 DB</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1658" name="TextBox 1657">
            <a:extLst>
              <a:ext uri="{FF2B5EF4-FFF2-40B4-BE49-F238E27FC236}">
                <a16:creationId xmlns:a16="http://schemas.microsoft.com/office/drawing/2014/main" id="{CE3D0449-621E-DD91-BEB6-83C4997F1A19}"/>
              </a:ext>
            </a:extLst>
          </p:cNvPr>
          <p:cNvSpPr txBox="1"/>
          <p:nvPr/>
        </p:nvSpPr>
        <p:spPr>
          <a:xfrm>
            <a:off x="4805796" y="4961870"/>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1659" name="Group 1658">
            <a:extLst>
              <a:ext uri="{FF2B5EF4-FFF2-40B4-BE49-F238E27FC236}">
                <a16:creationId xmlns:a16="http://schemas.microsoft.com/office/drawing/2014/main" id="{9F2D4F47-E676-FF37-4793-7BCF0235C5CA}"/>
              </a:ext>
            </a:extLst>
          </p:cNvPr>
          <p:cNvGrpSpPr/>
          <p:nvPr/>
        </p:nvGrpSpPr>
        <p:grpSpPr>
          <a:xfrm>
            <a:off x="5609863" y="4520518"/>
            <a:ext cx="953200" cy="458010"/>
            <a:chOff x="5528605" y="4530831"/>
            <a:chExt cx="953200" cy="458010"/>
          </a:xfrm>
        </p:grpSpPr>
        <p:graphicFrame>
          <p:nvGraphicFramePr>
            <p:cNvPr id="1660" name="Table">
              <a:extLst>
                <a:ext uri="{FF2B5EF4-FFF2-40B4-BE49-F238E27FC236}">
                  <a16:creationId xmlns:a16="http://schemas.microsoft.com/office/drawing/2014/main" id="{E561EF8B-EBFA-BACA-10B7-F9BA42281ADB}"/>
                </a:ext>
              </a:extLst>
            </p:cNvPr>
            <p:cNvGraphicFramePr/>
            <p:nvPr>
              <p:extLst>
                <p:ext uri="{D42A27DB-BD31-4B8C-83A1-F6EECF244321}">
                  <p14:modId xmlns:p14="http://schemas.microsoft.com/office/powerpoint/2010/main" val="1355490848"/>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661" name="Table">
              <a:extLst>
                <a:ext uri="{FF2B5EF4-FFF2-40B4-BE49-F238E27FC236}">
                  <a16:creationId xmlns:a16="http://schemas.microsoft.com/office/drawing/2014/main" id="{812DB257-F410-FFA7-B801-2E01B5829764}"/>
                </a:ext>
              </a:extLst>
            </p:cNvPr>
            <p:cNvGraphicFramePr/>
            <p:nvPr>
              <p:extLst>
                <p:ext uri="{D42A27DB-BD31-4B8C-83A1-F6EECF244321}">
                  <p14:modId xmlns:p14="http://schemas.microsoft.com/office/powerpoint/2010/main" val="2413629898"/>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sp>
        <p:nvSpPr>
          <p:cNvPr id="1662" name="TextBox 1661">
            <a:extLst>
              <a:ext uri="{FF2B5EF4-FFF2-40B4-BE49-F238E27FC236}">
                <a16:creationId xmlns:a16="http://schemas.microsoft.com/office/drawing/2014/main" id="{D337A5AD-D4F1-78D8-5A97-8D011526C744}"/>
              </a:ext>
            </a:extLst>
          </p:cNvPr>
          <p:cNvSpPr txBox="1"/>
          <p:nvPr/>
        </p:nvSpPr>
        <p:spPr>
          <a:xfrm>
            <a:off x="5384035" y="4960252"/>
            <a:ext cx="139124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err="1"/>
              <a:t>Github</a:t>
            </a:r>
            <a:r>
              <a:rPr lang="en-US" sz="800" b="0" dirty="0"/>
              <a:t> Gold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1663" name="Line">
            <a:extLst>
              <a:ext uri="{FF2B5EF4-FFF2-40B4-BE49-F238E27FC236}">
                <a16:creationId xmlns:a16="http://schemas.microsoft.com/office/drawing/2014/main" id="{B1AF4B49-FAAF-CE38-7835-B5FFE752090E}"/>
              </a:ext>
            </a:extLst>
          </p:cNvPr>
          <p:cNvSpPr/>
          <p:nvPr/>
        </p:nvSpPr>
        <p:spPr>
          <a:xfrm flipV="1">
            <a:off x="4836043" y="5961806"/>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664" name="TextBox 1663">
            <a:extLst>
              <a:ext uri="{FF2B5EF4-FFF2-40B4-BE49-F238E27FC236}">
                <a16:creationId xmlns:a16="http://schemas.microsoft.com/office/drawing/2014/main" id="{B232D64C-8F3E-DF09-D5AF-34EC4FAD9FD1}"/>
              </a:ext>
            </a:extLst>
          </p:cNvPr>
          <p:cNvSpPr txBox="1"/>
          <p:nvPr/>
        </p:nvSpPr>
        <p:spPr>
          <a:xfrm>
            <a:off x="4907496" y="7376582"/>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Jira Emotion CSV</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1665" name="Straight Arrow Connector 1664">
            <a:extLst>
              <a:ext uri="{FF2B5EF4-FFF2-40B4-BE49-F238E27FC236}">
                <a16:creationId xmlns:a16="http://schemas.microsoft.com/office/drawing/2014/main" id="{F0CDD156-7E50-D154-E951-A28E94079DF9}"/>
              </a:ext>
            </a:extLst>
          </p:cNvPr>
          <p:cNvCxnSpPr>
            <a:cxnSpLocks/>
          </p:cNvCxnSpPr>
          <p:nvPr/>
        </p:nvCxnSpPr>
        <p:spPr>
          <a:xfrm>
            <a:off x="6135419" y="6933077"/>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666" name="Table">
            <a:extLst>
              <a:ext uri="{FF2B5EF4-FFF2-40B4-BE49-F238E27FC236}">
                <a16:creationId xmlns:a16="http://schemas.microsoft.com/office/drawing/2014/main" id="{88942995-34EC-BBDE-41AB-32F8A9108B93}"/>
              </a:ext>
            </a:extLst>
          </p:cNvPr>
          <p:cNvGraphicFramePr/>
          <p:nvPr>
            <p:extLst>
              <p:ext uri="{D42A27DB-BD31-4B8C-83A1-F6EECF244321}">
                <p14:modId xmlns:p14="http://schemas.microsoft.com/office/powerpoint/2010/main" val="693499468"/>
              </p:ext>
            </p:extLst>
          </p:nvPr>
        </p:nvGraphicFramePr>
        <p:xfrm>
          <a:off x="5224106" y="6753727"/>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cxnSp>
        <p:nvCxnSpPr>
          <p:cNvPr id="1667" name="Straight Arrow Connector 1666">
            <a:extLst>
              <a:ext uri="{FF2B5EF4-FFF2-40B4-BE49-F238E27FC236}">
                <a16:creationId xmlns:a16="http://schemas.microsoft.com/office/drawing/2014/main" id="{B06F6C55-3D34-EBE6-9347-450AD7163B28}"/>
              </a:ext>
            </a:extLst>
          </p:cNvPr>
          <p:cNvCxnSpPr>
            <a:cxnSpLocks/>
          </p:cNvCxnSpPr>
          <p:nvPr/>
        </p:nvCxnSpPr>
        <p:spPr>
          <a:xfrm>
            <a:off x="6135419" y="7179130"/>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68" name="Can 1667">
            <a:extLst>
              <a:ext uri="{FF2B5EF4-FFF2-40B4-BE49-F238E27FC236}">
                <a16:creationId xmlns:a16="http://schemas.microsoft.com/office/drawing/2014/main" id="{2CCE85C2-CEB4-BFDF-8962-4DD30C0D2449}"/>
              </a:ext>
            </a:extLst>
          </p:cNvPr>
          <p:cNvSpPr/>
          <p:nvPr/>
        </p:nvSpPr>
        <p:spPr>
          <a:xfrm>
            <a:off x="7919861" y="6704071"/>
            <a:ext cx="765111" cy="707521"/>
          </a:xfrm>
          <a:prstGeom prst="can">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669" name="TextBox 1668">
            <a:extLst>
              <a:ext uri="{FF2B5EF4-FFF2-40B4-BE49-F238E27FC236}">
                <a16:creationId xmlns:a16="http://schemas.microsoft.com/office/drawing/2014/main" id="{2F163100-BF8C-D92D-3DC6-BFD3482FB22C}"/>
              </a:ext>
            </a:extLst>
          </p:cNvPr>
          <p:cNvSpPr txBox="1"/>
          <p:nvPr/>
        </p:nvSpPr>
        <p:spPr>
          <a:xfrm>
            <a:off x="7664746" y="7372500"/>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PostgreSQL DB</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1670" name="TextBox 1669">
            <a:extLst>
              <a:ext uri="{FF2B5EF4-FFF2-40B4-BE49-F238E27FC236}">
                <a16:creationId xmlns:a16="http://schemas.microsoft.com/office/drawing/2014/main" id="{D586591D-9EBE-9EFC-5A40-CEA8A976BC10}"/>
              </a:ext>
            </a:extLst>
          </p:cNvPr>
          <p:cNvSpPr txBox="1"/>
          <p:nvPr/>
        </p:nvSpPr>
        <p:spPr>
          <a:xfrm>
            <a:off x="6129023" y="6689831"/>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1671" name="TextBox 1670">
            <a:extLst>
              <a:ext uri="{FF2B5EF4-FFF2-40B4-BE49-F238E27FC236}">
                <a16:creationId xmlns:a16="http://schemas.microsoft.com/office/drawing/2014/main" id="{6CF04791-0C7C-88B1-369D-E1FE66513D3E}"/>
              </a:ext>
            </a:extLst>
          </p:cNvPr>
          <p:cNvSpPr txBox="1"/>
          <p:nvPr/>
        </p:nvSpPr>
        <p:spPr>
          <a:xfrm>
            <a:off x="6135419" y="6941250"/>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1672" name="TextBox 1671">
            <a:extLst>
              <a:ext uri="{FF2B5EF4-FFF2-40B4-BE49-F238E27FC236}">
                <a16:creationId xmlns:a16="http://schemas.microsoft.com/office/drawing/2014/main" id="{BC31DEA4-0DE2-3675-DB05-16FBAC960821}"/>
              </a:ext>
            </a:extLst>
          </p:cNvPr>
          <p:cNvSpPr txBox="1"/>
          <p:nvPr/>
        </p:nvSpPr>
        <p:spPr>
          <a:xfrm>
            <a:off x="4879086" y="1907656"/>
            <a:ext cx="272738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500" dirty="0" err="1"/>
              <a:t>Github</a:t>
            </a:r>
            <a:r>
              <a:rPr lang="en-US" sz="1500" dirty="0"/>
              <a:t> Gold Standard Dataset</a:t>
            </a:r>
            <a:endParaRPr kumimoji="0" lang="en-US" sz="1500" b="1" i="0" strike="noStrike" cap="none" spc="0" normalizeH="0" baseline="0" dirty="0">
              <a:ln>
                <a:noFill/>
              </a:ln>
              <a:effectLst/>
              <a:uFillTx/>
              <a:latin typeface="Source Sans Pro"/>
              <a:ea typeface="Source Sans Pro"/>
              <a:cs typeface="Source Sans Pro"/>
              <a:sym typeface="Source Sans Pro"/>
            </a:endParaRPr>
          </a:p>
        </p:txBody>
      </p:sp>
      <p:sp>
        <p:nvSpPr>
          <p:cNvPr id="1673" name="TextBox 1672">
            <a:extLst>
              <a:ext uri="{FF2B5EF4-FFF2-40B4-BE49-F238E27FC236}">
                <a16:creationId xmlns:a16="http://schemas.microsoft.com/office/drawing/2014/main" id="{BC14CAF6-38E4-B3E6-AB44-8703E66F2CED}"/>
              </a:ext>
            </a:extLst>
          </p:cNvPr>
          <p:cNvSpPr txBox="1"/>
          <p:nvPr/>
        </p:nvSpPr>
        <p:spPr>
          <a:xfrm>
            <a:off x="4719773" y="6166156"/>
            <a:ext cx="217099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500" dirty="0"/>
              <a:t>Jira Emotion Dataset</a:t>
            </a:r>
            <a:endParaRPr kumimoji="0" lang="en-US" sz="1500" b="1" i="0" strike="noStrike" cap="none" spc="0" normalizeH="0" baseline="0" dirty="0">
              <a:ln>
                <a:noFill/>
              </a:ln>
              <a:effectLst/>
              <a:uFillTx/>
              <a:latin typeface="Source Sans Pro"/>
              <a:ea typeface="Source Sans Pro"/>
              <a:cs typeface="Source Sans Pro"/>
              <a:sym typeface="Source Sans Pro"/>
            </a:endParaRPr>
          </a:p>
        </p:txBody>
      </p:sp>
      <p:grpSp>
        <p:nvGrpSpPr>
          <p:cNvPr id="1674" name="Group 1673">
            <a:extLst>
              <a:ext uri="{FF2B5EF4-FFF2-40B4-BE49-F238E27FC236}">
                <a16:creationId xmlns:a16="http://schemas.microsoft.com/office/drawing/2014/main" id="{C136CF84-3B10-44FD-ECC7-F4D7A52C25CF}"/>
              </a:ext>
            </a:extLst>
          </p:cNvPr>
          <p:cNvGrpSpPr/>
          <p:nvPr/>
        </p:nvGrpSpPr>
        <p:grpSpPr>
          <a:xfrm>
            <a:off x="8573655" y="3978207"/>
            <a:ext cx="569700" cy="1688313"/>
            <a:chOff x="8715063" y="3858862"/>
            <a:chExt cx="569700" cy="1688313"/>
          </a:xfrm>
        </p:grpSpPr>
        <p:sp>
          <p:nvSpPr>
            <p:cNvPr id="1675" name="Google Shape;375;p18">
              <a:extLst>
                <a:ext uri="{FF2B5EF4-FFF2-40B4-BE49-F238E27FC236}">
                  <a16:creationId xmlns:a16="http://schemas.microsoft.com/office/drawing/2014/main" id="{A14BDC58-D628-8588-E989-788B34B42716}"/>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1676" name="Google Shape;388;p18">
              <a:extLst>
                <a:ext uri="{FF2B5EF4-FFF2-40B4-BE49-F238E27FC236}">
                  <a16:creationId xmlns:a16="http://schemas.microsoft.com/office/drawing/2014/main" id="{FFB86E65-8E34-D6B0-CD0F-B495950620AA}"/>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sp>
          <p:nvSpPr>
            <p:cNvPr id="1677" name="Google Shape;324;p18">
              <a:extLst>
                <a:ext uri="{FF2B5EF4-FFF2-40B4-BE49-F238E27FC236}">
                  <a16:creationId xmlns:a16="http://schemas.microsoft.com/office/drawing/2014/main" id="{BD507667-6C22-7E3C-29E6-EF0D7A2070E4}"/>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1678" name="Google Shape;359;p18">
              <a:extLst>
                <a:ext uri="{FF2B5EF4-FFF2-40B4-BE49-F238E27FC236}">
                  <a16:creationId xmlns:a16="http://schemas.microsoft.com/office/drawing/2014/main" id="{C1CC0A47-B22B-DFF2-7F78-B42C1112BDBA}"/>
                </a:ext>
              </a:extLst>
            </p:cNvPr>
            <p:cNvGrpSpPr/>
            <p:nvPr/>
          </p:nvGrpSpPr>
          <p:grpSpPr>
            <a:xfrm>
              <a:off x="8838265" y="4043887"/>
              <a:ext cx="307200" cy="189300"/>
              <a:chOff x="3007175" y="1757600"/>
              <a:chExt cx="307200" cy="189300"/>
            </a:xfrm>
          </p:grpSpPr>
          <p:sp>
            <p:nvSpPr>
              <p:cNvPr id="1701" name="Google Shape;360;p18">
                <a:extLst>
                  <a:ext uri="{FF2B5EF4-FFF2-40B4-BE49-F238E27FC236}">
                    <a16:creationId xmlns:a16="http://schemas.microsoft.com/office/drawing/2014/main" id="{04E40C74-764B-33C0-8CFC-707511FCAB69}"/>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2" name="Google Shape;361;p18">
                <a:extLst>
                  <a:ext uri="{FF2B5EF4-FFF2-40B4-BE49-F238E27FC236}">
                    <a16:creationId xmlns:a16="http://schemas.microsoft.com/office/drawing/2014/main" id="{57A7AA6E-FDB0-8718-DFF8-2DB65F454CDC}"/>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3" name="Google Shape;362;p18">
                <a:extLst>
                  <a:ext uri="{FF2B5EF4-FFF2-40B4-BE49-F238E27FC236}">
                    <a16:creationId xmlns:a16="http://schemas.microsoft.com/office/drawing/2014/main" id="{817C8AFC-DE05-8DCC-1C4D-68833856D1AD}"/>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4" name="Google Shape;363;p18">
                <a:extLst>
                  <a:ext uri="{FF2B5EF4-FFF2-40B4-BE49-F238E27FC236}">
                    <a16:creationId xmlns:a16="http://schemas.microsoft.com/office/drawing/2014/main" id="{21EFF688-4208-E290-2E42-DF9289F4B6D6}"/>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705" name="Google Shape;364;p18">
                <a:extLst>
                  <a:ext uri="{FF2B5EF4-FFF2-40B4-BE49-F238E27FC236}">
                    <a16:creationId xmlns:a16="http://schemas.microsoft.com/office/drawing/2014/main" id="{BB7705DA-1C57-B51D-EADD-9443A95EEF74}"/>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706" name="Google Shape;365;p18">
                <a:extLst>
                  <a:ext uri="{FF2B5EF4-FFF2-40B4-BE49-F238E27FC236}">
                    <a16:creationId xmlns:a16="http://schemas.microsoft.com/office/drawing/2014/main" id="{F710E38C-5237-A281-0862-7C06469F110A}"/>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707" name="Google Shape;366;p18">
                <a:extLst>
                  <a:ext uri="{FF2B5EF4-FFF2-40B4-BE49-F238E27FC236}">
                    <a16:creationId xmlns:a16="http://schemas.microsoft.com/office/drawing/2014/main" id="{2912E490-0D50-DB99-1949-A3EFB92A4DB5}"/>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1679" name="Google Shape;367;p18">
              <a:extLst>
                <a:ext uri="{FF2B5EF4-FFF2-40B4-BE49-F238E27FC236}">
                  <a16:creationId xmlns:a16="http://schemas.microsoft.com/office/drawing/2014/main" id="{4AF75E64-BD64-95AD-F00E-FBC87D314E92}"/>
                </a:ext>
              </a:extLst>
            </p:cNvPr>
            <p:cNvGrpSpPr/>
            <p:nvPr/>
          </p:nvGrpSpPr>
          <p:grpSpPr>
            <a:xfrm>
              <a:off x="8838252" y="4387350"/>
              <a:ext cx="307200" cy="189300"/>
              <a:chOff x="3007175" y="1757600"/>
              <a:chExt cx="307200" cy="189300"/>
            </a:xfrm>
          </p:grpSpPr>
          <p:sp>
            <p:nvSpPr>
              <p:cNvPr id="1694" name="Google Shape;368;p18">
                <a:extLst>
                  <a:ext uri="{FF2B5EF4-FFF2-40B4-BE49-F238E27FC236}">
                    <a16:creationId xmlns:a16="http://schemas.microsoft.com/office/drawing/2014/main" id="{CC7827A3-9153-38B7-F9C8-8D72211BAE49}"/>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5" name="Google Shape;369;p18">
                <a:extLst>
                  <a:ext uri="{FF2B5EF4-FFF2-40B4-BE49-F238E27FC236}">
                    <a16:creationId xmlns:a16="http://schemas.microsoft.com/office/drawing/2014/main" id="{759260CC-1E52-1E13-9250-32901ADED04A}"/>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6" name="Google Shape;370;p18">
                <a:extLst>
                  <a:ext uri="{FF2B5EF4-FFF2-40B4-BE49-F238E27FC236}">
                    <a16:creationId xmlns:a16="http://schemas.microsoft.com/office/drawing/2014/main" id="{EDAB9B13-7A50-3201-A4B0-B255A42CF590}"/>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7" name="Google Shape;371;p18">
                <a:extLst>
                  <a:ext uri="{FF2B5EF4-FFF2-40B4-BE49-F238E27FC236}">
                    <a16:creationId xmlns:a16="http://schemas.microsoft.com/office/drawing/2014/main" id="{20D00429-2C3B-56C3-826D-BF66E6281463}"/>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698" name="Google Shape;372;p18">
                <a:extLst>
                  <a:ext uri="{FF2B5EF4-FFF2-40B4-BE49-F238E27FC236}">
                    <a16:creationId xmlns:a16="http://schemas.microsoft.com/office/drawing/2014/main" id="{5AFA70AD-266D-DA43-47EC-8638FE9E4269}"/>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699" name="Google Shape;373;p18">
                <a:extLst>
                  <a:ext uri="{FF2B5EF4-FFF2-40B4-BE49-F238E27FC236}">
                    <a16:creationId xmlns:a16="http://schemas.microsoft.com/office/drawing/2014/main" id="{58A9F72E-7EDA-3EED-072F-4C05822E7B7E}"/>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700" name="Google Shape;374;p18">
                <a:extLst>
                  <a:ext uri="{FF2B5EF4-FFF2-40B4-BE49-F238E27FC236}">
                    <a16:creationId xmlns:a16="http://schemas.microsoft.com/office/drawing/2014/main" id="{C5F27377-3814-B636-D6C1-1723BBC6E6BE}"/>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1680" name="Google Shape;376;p18">
              <a:extLst>
                <a:ext uri="{FF2B5EF4-FFF2-40B4-BE49-F238E27FC236}">
                  <a16:creationId xmlns:a16="http://schemas.microsoft.com/office/drawing/2014/main" id="{41650DE4-5346-4C55-9A3A-45605C8DFE7C}"/>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1681" name="Google Shape;377;p18">
              <a:extLst>
                <a:ext uri="{FF2B5EF4-FFF2-40B4-BE49-F238E27FC236}">
                  <a16:creationId xmlns:a16="http://schemas.microsoft.com/office/drawing/2014/main" id="{4212AEC7-AE01-0545-CA39-BC39ADB7C78F}"/>
                </a:ext>
              </a:extLst>
            </p:cNvPr>
            <p:cNvGrpSpPr/>
            <p:nvPr/>
          </p:nvGrpSpPr>
          <p:grpSpPr>
            <a:xfrm>
              <a:off x="8846302" y="4841125"/>
              <a:ext cx="307200" cy="297900"/>
              <a:chOff x="3021975" y="2389850"/>
              <a:chExt cx="307200" cy="297900"/>
            </a:xfrm>
          </p:grpSpPr>
          <p:sp>
            <p:nvSpPr>
              <p:cNvPr id="1684" name="Google Shape;378;p18">
                <a:extLst>
                  <a:ext uri="{FF2B5EF4-FFF2-40B4-BE49-F238E27FC236}">
                    <a16:creationId xmlns:a16="http://schemas.microsoft.com/office/drawing/2014/main" id="{BFC77222-4A65-A873-7EF5-1437D859BCAF}"/>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685" name="Google Shape;379;p18">
                <a:extLst>
                  <a:ext uri="{FF2B5EF4-FFF2-40B4-BE49-F238E27FC236}">
                    <a16:creationId xmlns:a16="http://schemas.microsoft.com/office/drawing/2014/main" id="{D97FB9FC-8AF9-4724-30FE-0984C6D9BEC8}"/>
                  </a:ext>
                </a:extLst>
              </p:cNvPr>
              <p:cNvGrpSpPr/>
              <p:nvPr/>
            </p:nvGrpSpPr>
            <p:grpSpPr>
              <a:xfrm>
                <a:off x="3021975" y="2389850"/>
                <a:ext cx="307200" cy="295800"/>
                <a:chOff x="3021975" y="2389850"/>
                <a:chExt cx="307200" cy="295800"/>
              </a:xfrm>
            </p:grpSpPr>
            <p:sp>
              <p:nvSpPr>
                <p:cNvPr id="1686" name="Google Shape;380;p18">
                  <a:extLst>
                    <a:ext uri="{FF2B5EF4-FFF2-40B4-BE49-F238E27FC236}">
                      <a16:creationId xmlns:a16="http://schemas.microsoft.com/office/drawing/2014/main" id="{3F2E5743-AD43-931C-D626-D6B0C0ECC965}"/>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7" name="Google Shape;381;p18">
                  <a:extLst>
                    <a:ext uri="{FF2B5EF4-FFF2-40B4-BE49-F238E27FC236}">
                      <a16:creationId xmlns:a16="http://schemas.microsoft.com/office/drawing/2014/main" id="{B12D6B81-E509-79B6-9329-66A63DB802B5}"/>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688" name="Google Shape;382;p18">
                  <a:extLst>
                    <a:ext uri="{FF2B5EF4-FFF2-40B4-BE49-F238E27FC236}">
                      <a16:creationId xmlns:a16="http://schemas.microsoft.com/office/drawing/2014/main" id="{F201B82C-D9FB-DA3D-BFAD-5A481558CDE5}"/>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1689" name="Google Shape;383;p18">
                  <a:extLst>
                    <a:ext uri="{FF2B5EF4-FFF2-40B4-BE49-F238E27FC236}">
                      <a16:creationId xmlns:a16="http://schemas.microsoft.com/office/drawing/2014/main" id="{E12D1473-8697-056B-8506-F76E454ACCB3}"/>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1690" name="Google Shape;384;p18">
                  <a:extLst>
                    <a:ext uri="{FF2B5EF4-FFF2-40B4-BE49-F238E27FC236}">
                      <a16:creationId xmlns:a16="http://schemas.microsoft.com/office/drawing/2014/main" id="{38F1B537-058D-E105-AE8D-3F5A0F4D0CE8}"/>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691" name="Google Shape;385;p18">
                  <a:extLst>
                    <a:ext uri="{FF2B5EF4-FFF2-40B4-BE49-F238E27FC236}">
                      <a16:creationId xmlns:a16="http://schemas.microsoft.com/office/drawing/2014/main" id="{EE2DB87E-C06C-54F6-00DC-DED0BAFB74A5}"/>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692" name="Google Shape;386;p18">
                  <a:extLst>
                    <a:ext uri="{FF2B5EF4-FFF2-40B4-BE49-F238E27FC236}">
                      <a16:creationId xmlns:a16="http://schemas.microsoft.com/office/drawing/2014/main" id="{55942877-CD6E-B1FE-8A67-847F1116EFFE}"/>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693" name="Google Shape;387;p18">
                  <a:extLst>
                    <a:ext uri="{FF2B5EF4-FFF2-40B4-BE49-F238E27FC236}">
                      <a16:creationId xmlns:a16="http://schemas.microsoft.com/office/drawing/2014/main" id="{8C8B2FCE-2921-E83C-7284-FF77EB8415A1}"/>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cxnSp>
          <p:nvCxnSpPr>
            <p:cNvPr id="1682" name="Google Shape;389;p18">
              <a:extLst>
                <a:ext uri="{FF2B5EF4-FFF2-40B4-BE49-F238E27FC236}">
                  <a16:creationId xmlns:a16="http://schemas.microsoft.com/office/drawing/2014/main" id="{ED86B4B9-3E80-89A8-83DB-D9EB2845F852}"/>
                </a:ext>
              </a:extLst>
            </p:cNvPr>
            <p:cNvCxnSpPr>
              <a:cxnSpLocks/>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1683" name="Google Shape;390;p18">
              <a:extLst>
                <a:ext uri="{FF2B5EF4-FFF2-40B4-BE49-F238E27FC236}">
                  <a16:creationId xmlns:a16="http://schemas.microsoft.com/office/drawing/2014/main" id="{C28A7ED0-E8AE-051E-327E-D697CA46BA3D}"/>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cxnSp>
        <p:nvCxnSpPr>
          <p:cNvPr id="1708" name="Straight Arrow Connector 1198">
            <a:extLst>
              <a:ext uri="{FF2B5EF4-FFF2-40B4-BE49-F238E27FC236}">
                <a16:creationId xmlns:a16="http://schemas.microsoft.com/office/drawing/2014/main" id="{F764DABB-8129-0AA2-EA63-1A1AF38D8C16}"/>
              </a:ext>
            </a:extLst>
          </p:cNvPr>
          <p:cNvCxnSpPr>
            <a:cxnSpLocks/>
          </p:cNvCxnSpPr>
          <p:nvPr/>
        </p:nvCxnSpPr>
        <p:spPr>
          <a:xfrm flipV="1">
            <a:off x="8124120" y="4262578"/>
            <a:ext cx="486066" cy="30466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709" name="TextBox 1708">
            <a:extLst>
              <a:ext uri="{FF2B5EF4-FFF2-40B4-BE49-F238E27FC236}">
                <a16:creationId xmlns:a16="http://schemas.microsoft.com/office/drawing/2014/main" id="{6AC4E69F-A1FB-7DDF-E4E0-D47DC64069E5}"/>
              </a:ext>
            </a:extLst>
          </p:cNvPr>
          <p:cNvSpPr txBox="1"/>
          <p:nvPr/>
        </p:nvSpPr>
        <p:spPr>
          <a:xfrm>
            <a:off x="9558554" y="4159871"/>
            <a:ext cx="3656656" cy="320520"/>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1_emotion_csv_inter_rater_agreement.ipynb</a:t>
            </a:r>
          </a:p>
        </p:txBody>
      </p:sp>
      <p:sp>
        <p:nvSpPr>
          <p:cNvPr id="1710" name="TextBox 1709">
            <a:extLst>
              <a:ext uri="{FF2B5EF4-FFF2-40B4-BE49-F238E27FC236}">
                <a16:creationId xmlns:a16="http://schemas.microsoft.com/office/drawing/2014/main" id="{B42F1958-1303-88BE-C584-9BBAE1ABD1B9}"/>
              </a:ext>
            </a:extLst>
          </p:cNvPr>
          <p:cNvSpPr txBox="1"/>
          <p:nvPr/>
        </p:nvSpPr>
        <p:spPr>
          <a:xfrm>
            <a:off x="9517994" y="2470516"/>
            <a:ext cx="3400799" cy="3359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1300" dirty="0" err="1"/>
              <a:t>sailuh</a:t>
            </a:r>
            <a:r>
              <a:rPr lang="en-US" sz="1300" dirty="0"/>
              <a:t>/</a:t>
            </a:r>
            <a:r>
              <a:rPr lang="en-US" sz="1300" dirty="0" err="1"/>
              <a:t>sentiment_github_dataset</a:t>
            </a:r>
            <a:endParaRPr kumimoji="0" lang="en-US" sz="1300" b="1" i="0" strike="noStrike" cap="none" spc="0" normalizeH="0" baseline="0" dirty="0">
              <a:ln>
                <a:noFill/>
              </a:ln>
              <a:effectLst/>
              <a:uFillTx/>
              <a:latin typeface="Source Sans Pro"/>
              <a:ea typeface="Source Sans Pro"/>
              <a:cs typeface="Source Sans Pro"/>
              <a:sym typeface="Source Sans Pro"/>
            </a:endParaRPr>
          </a:p>
        </p:txBody>
      </p:sp>
      <p:sp>
        <p:nvSpPr>
          <p:cNvPr id="1711" name="TextBox 1710">
            <a:extLst>
              <a:ext uri="{FF2B5EF4-FFF2-40B4-BE49-F238E27FC236}">
                <a16:creationId xmlns:a16="http://schemas.microsoft.com/office/drawing/2014/main" id="{85E391A9-2642-B66B-0FB5-C7D55B4ACB28}"/>
              </a:ext>
            </a:extLst>
          </p:cNvPr>
          <p:cNvSpPr txBox="1"/>
          <p:nvPr/>
        </p:nvSpPr>
        <p:spPr>
          <a:xfrm>
            <a:off x="9517994" y="3859880"/>
            <a:ext cx="3400799" cy="3359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1300" dirty="0" err="1"/>
              <a:t>sailuh</a:t>
            </a:r>
            <a:r>
              <a:rPr lang="en-US" sz="1300" dirty="0"/>
              <a:t>/</a:t>
            </a:r>
            <a:r>
              <a:rPr lang="en-US" sz="1300" dirty="0" err="1"/>
              <a:t>emotion_jira_dataset</a:t>
            </a:r>
            <a:endParaRPr kumimoji="0" lang="en-US" sz="1300" b="1" i="0" strike="noStrike" cap="none" spc="0" normalizeH="0" baseline="0" dirty="0">
              <a:ln>
                <a:noFill/>
              </a:ln>
              <a:effectLst/>
              <a:uFillTx/>
              <a:latin typeface="Source Sans Pro"/>
              <a:ea typeface="Source Sans Pro"/>
              <a:cs typeface="Source Sans Pro"/>
              <a:sym typeface="Source Sans Pro"/>
            </a:endParaRPr>
          </a:p>
        </p:txBody>
      </p:sp>
      <p:pic>
        <p:nvPicPr>
          <p:cNvPr id="1712" name="Graphic 1711" descr="Paper outline">
            <a:extLst>
              <a:ext uri="{FF2B5EF4-FFF2-40B4-BE49-F238E27FC236}">
                <a16:creationId xmlns:a16="http://schemas.microsoft.com/office/drawing/2014/main" id="{D1BD496B-1BC9-41C5-FC0E-3131476355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18621" y="4473903"/>
            <a:ext cx="536605" cy="536605"/>
          </a:xfrm>
          <a:prstGeom prst="rect">
            <a:avLst/>
          </a:prstGeom>
        </p:spPr>
      </p:pic>
      <p:graphicFrame>
        <p:nvGraphicFramePr>
          <p:cNvPr id="1713" name="Table">
            <a:extLst>
              <a:ext uri="{FF2B5EF4-FFF2-40B4-BE49-F238E27FC236}">
                <a16:creationId xmlns:a16="http://schemas.microsoft.com/office/drawing/2014/main" id="{980D425A-F218-DA5D-4462-706EE877F574}"/>
              </a:ext>
            </a:extLst>
          </p:cNvPr>
          <p:cNvGraphicFramePr/>
          <p:nvPr>
            <p:extLst>
              <p:ext uri="{D42A27DB-BD31-4B8C-83A1-F6EECF244321}">
                <p14:modId xmlns:p14="http://schemas.microsoft.com/office/powerpoint/2010/main" val="2220323990"/>
              </p:ext>
            </p:extLst>
          </p:nvPr>
        </p:nvGraphicFramePr>
        <p:xfrm>
          <a:off x="667796" y="4029325"/>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1714" name="TextBox 1713">
            <a:extLst>
              <a:ext uri="{FF2B5EF4-FFF2-40B4-BE49-F238E27FC236}">
                <a16:creationId xmlns:a16="http://schemas.microsoft.com/office/drawing/2014/main" id="{CA7D95A2-CA86-5007-9336-5AE49A3CB565}"/>
              </a:ext>
            </a:extLst>
          </p:cNvPr>
          <p:cNvSpPr txBox="1"/>
          <p:nvPr/>
        </p:nvSpPr>
        <p:spPr>
          <a:xfrm>
            <a:off x="464293" y="4651746"/>
            <a:ext cx="103487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err="1"/>
              <a:t>Github</a:t>
            </a:r>
            <a:r>
              <a:rPr lang="en-US" sz="1000" b="0" dirty="0"/>
              <a:t> Gold CSV</a:t>
            </a:r>
          </a:p>
          <a:p>
            <a:pPr algn="ctr"/>
            <a:r>
              <a:rPr lang="en-US" sz="800" b="0" dirty="0"/>
              <a:t>Novielli et al. (2020)</a:t>
            </a:r>
          </a:p>
        </p:txBody>
      </p:sp>
      <p:sp>
        <p:nvSpPr>
          <p:cNvPr id="1715" name="Rectangle 1714">
            <a:extLst>
              <a:ext uri="{FF2B5EF4-FFF2-40B4-BE49-F238E27FC236}">
                <a16:creationId xmlns:a16="http://schemas.microsoft.com/office/drawing/2014/main" id="{D55A49F7-D7EA-FB6A-4E5C-7D57EC7FF7EF}"/>
              </a:ext>
            </a:extLst>
          </p:cNvPr>
          <p:cNvSpPr/>
          <p:nvPr/>
        </p:nvSpPr>
        <p:spPr>
          <a:xfrm>
            <a:off x="7222506" y="4464300"/>
            <a:ext cx="865876" cy="593692"/>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lnSpc>
                <a:spcPct val="80000"/>
              </a:lnSpc>
              <a:spcBef>
                <a:spcPts val="0"/>
              </a:spcBef>
            </a:pPr>
            <a:endParaRPr lang="en-US" sz="1000" b="0" dirty="0">
              <a:solidFill>
                <a:srgbClr val="000000"/>
              </a:solidFill>
            </a:endParaRPr>
          </a:p>
        </p:txBody>
      </p:sp>
      <p:sp>
        <p:nvSpPr>
          <p:cNvPr id="1716" name="TextBox 1715">
            <a:extLst>
              <a:ext uri="{FF2B5EF4-FFF2-40B4-BE49-F238E27FC236}">
                <a16:creationId xmlns:a16="http://schemas.microsoft.com/office/drawing/2014/main" id="{A2598F98-7E7C-8D95-BC5D-3521F17ABA78}"/>
              </a:ext>
            </a:extLst>
          </p:cNvPr>
          <p:cNvSpPr txBox="1"/>
          <p:nvPr/>
        </p:nvSpPr>
        <p:spPr>
          <a:xfrm>
            <a:off x="7294969" y="4604467"/>
            <a:ext cx="72095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err="1"/>
              <a:t>sailuh</a:t>
            </a:r>
            <a:r>
              <a:rPr lang="en-US" sz="800" b="0" dirty="0"/>
              <a:t>/</a:t>
            </a:r>
            <a:r>
              <a:rPr lang="en-US" sz="800" b="0" dirty="0" err="1"/>
              <a:t>kaiaulu</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1717" name="TextBox 1716">
            <a:extLst>
              <a:ext uri="{FF2B5EF4-FFF2-40B4-BE49-F238E27FC236}">
                <a16:creationId xmlns:a16="http://schemas.microsoft.com/office/drawing/2014/main" id="{B69F51E7-55C1-1B69-F3A2-BB982FA6ACF3}"/>
              </a:ext>
            </a:extLst>
          </p:cNvPr>
          <p:cNvSpPr txBox="1"/>
          <p:nvPr/>
        </p:nvSpPr>
        <p:spPr>
          <a:xfrm>
            <a:off x="5368049" y="4613137"/>
            <a:ext cx="15549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1718" name="Straight Arrow Connector 1717">
            <a:extLst>
              <a:ext uri="{FF2B5EF4-FFF2-40B4-BE49-F238E27FC236}">
                <a16:creationId xmlns:a16="http://schemas.microsoft.com/office/drawing/2014/main" id="{5C4FC942-56B5-72DB-AEC2-2A698E9112E4}"/>
              </a:ext>
            </a:extLst>
          </p:cNvPr>
          <p:cNvCxnSpPr>
            <a:cxnSpLocks/>
          </p:cNvCxnSpPr>
          <p:nvPr/>
        </p:nvCxnSpPr>
        <p:spPr>
          <a:xfrm>
            <a:off x="6644325" y="4739740"/>
            <a:ext cx="520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19" name="Elbow Connector 1718">
            <a:extLst>
              <a:ext uri="{FF2B5EF4-FFF2-40B4-BE49-F238E27FC236}">
                <a16:creationId xmlns:a16="http://schemas.microsoft.com/office/drawing/2014/main" id="{7B132414-9CBA-F13C-7CE0-F55842CA07E7}"/>
              </a:ext>
            </a:extLst>
          </p:cNvPr>
          <p:cNvCxnSpPr>
            <a:cxnSpLocks/>
          </p:cNvCxnSpPr>
          <p:nvPr/>
        </p:nvCxnSpPr>
        <p:spPr>
          <a:xfrm rot="5400000">
            <a:off x="6980891" y="2693604"/>
            <a:ext cx="389103" cy="2253944"/>
          </a:xfrm>
          <a:prstGeom prst="bentConnector2">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720" name="Straight Arrow Connector 1719">
            <a:extLst>
              <a:ext uri="{FF2B5EF4-FFF2-40B4-BE49-F238E27FC236}">
                <a16:creationId xmlns:a16="http://schemas.microsoft.com/office/drawing/2014/main" id="{5ED8C226-7F17-F3BD-530A-BE19B0E88E2F}"/>
              </a:ext>
            </a:extLst>
          </p:cNvPr>
          <p:cNvCxnSpPr>
            <a:cxnSpLocks/>
          </p:cNvCxnSpPr>
          <p:nvPr/>
        </p:nvCxnSpPr>
        <p:spPr>
          <a:xfrm flipH="1">
            <a:off x="6048470" y="4019531"/>
            <a:ext cx="1" cy="454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1" name="Elbow Connector 1720">
            <a:extLst>
              <a:ext uri="{FF2B5EF4-FFF2-40B4-BE49-F238E27FC236}">
                <a16:creationId xmlns:a16="http://schemas.microsoft.com/office/drawing/2014/main" id="{485BD49D-BD69-0219-07AF-49E634AC8B70}"/>
              </a:ext>
            </a:extLst>
          </p:cNvPr>
          <p:cNvCxnSpPr>
            <a:cxnSpLocks/>
            <a:stCxn id="1657" idx="1"/>
          </p:cNvCxnSpPr>
          <p:nvPr/>
        </p:nvCxnSpPr>
        <p:spPr>
          <a:xfrm rot="10800000" flipV="1">
            <a:off x="5047051" y="3470167"/>
            <a:ext cx="2546242" cy="338701"/>
          </a:xfrm>
          <a:prstGeom prst="bentConnector3">
            <a:avLst>
              <a:gd name="adj1" fmla="val 13253"/>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722" name="Straight Arrow Connector 1721">
            <a:extLst>
              <a:ext uri="{FF2B5EF4-FFF2-40B4-BE49-F238E27FC236}">
                <a16:creationId xmlns:a16="http://schemas.microsoft.com/office/drawing/2014/main" id="{05269397-5CA4-B21B-F565-5FDE247DB1A7}"/>
              </a:ext>
            </a:extLst>
          </p:cNvPr>
          <p:cNvCxnSpPr>
            <a:cxnSpLocks/>
          </p:cNvCxnSpPr>
          <p:nvPr/>
        </p:nvCxnSpPr>
        <p:spPr>
          <a:xfrm>
            <a:off x="5047052" y="3809205"/>
            <a:ext cx="0" cy="655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23" name="TextBox 1722">
            <a:extLst>
              <a:ext uri="{FF2B5EF4-FFF2-40B4-BE49-F238E27FC236}">
                <a16:creationId xmlns:a16="http://schemas.microsoft.com/office/drawing/2014/main" id="{BB36CBA2-6516-5D0C-7E37-71FABF1DD330}"/>
              </a:ext>
            </a:extLst>
          </p:cNvPr>
          <p:cNvSpPr txBox="1"/>
          <p:nvPr/>
        </p:nvSpPr>
        <p:spPr>
          <a:xfrm>
            <a:off x="4719773" y="9025990"/>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1724" name="Group 1723">
            <a:extLst>
              <a:ext uri="{FF2B5EF4-FFF2-40B4-BE49-F238E27FC236}">
                <a16:creationId xmlns:a16="http://schemas.microsoft.com/office/drawing/2014/main" id="{69176A34-BC0E-789B-74C9-4D47E52BB2F0}"/>
              </a:ext>
            </a:extLst>
          </p:cNvPr>
          <p:cNvGrpSpPr/>
          <p:nvPr/>
        </p:nvGrpSpPr>
        <p:grpSpPr>
          <a:xfrm>
            <a:off x="5523840" y="8584638"/>
            <a:ext cx="953200" cy="458010"/>
            <a:chOff x="5528605" y="4530831"/>
            <a:chExt cx="953200" cy="458010"/>
          </a:xfrm>
        </p:grpSpPr>
        <p:graphicFrame>
          <p:nvGraphicFramePr>
            <p:cNvPr id="1725" name="Table">
              <a:extLst>
                <a:ext uri="{FF2B5EF4-FFF2-40B4-BE49-F238E27FC236}">
                  <a16:creationId xmlns:a16="http://schemas.microsoft.com/office/drawing/2014/main" id="{5DB5CBFC-316E-1504-780A-64DAB56B826E}"/>
                </a:ext>
              </a:extLst>
            </p:cNvPr>
            <p:cNvGraphicFramePr/>
            <p:nvPr>
              <p:extLst>
                <p:ext uri="{D42A27DB-BD31-4B8C-83A1-F6EECF244321}">
                  <p14:modId xmlns:p14="http://schemas.microsoft.com/office/powerpoint/2010/main" val="1033780133"/>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726" name="Table">
              <a:extLst>
                <a:ext uri="{FF2B5EF4-FFF2-40B4-BE49-F238E27FC236}">
                  <a16:creationId xmlns:a16="http://schemas.microsoft.com/office/drawing/2014/main" id="{EAB82CA6-66FF-7140-021B-1A31BBCBADB8}"/>
                </a:ext>
              </a:extLst>
            </p:cNvPr>
            <p:cNvGraphicFramePr/>
            <p:nvPr>
              <p:extLst>
                <p:ext uri="{D42A27DB-BD31-4B8C-83A1-F6EECF244321}">
                  <p14:modId xmlns:p14="http://schemas.microsoft.com/office/powerpoint/2010/main" val="2305580787"/>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sp>
        <p:nvSpPr>
          <p:cNvPr id="1727" name="TextBox 1726">
            <a:extLst>
              <a:ext uri="{FF2B5EF4-FFF2-40B4-BE49-F238E27FC236}">
                <a16:creationId xmlns:a16="http://schemas.microsoft.com/office/drawing/2014/main" id="{6BE9140C-091C-602D-6E1E-5C1EE450A8A9}"/>
              </a:ext>
            </a:extLst>
          </p:cNvPr>
          <p:cNvSpPr txBox="1"/>
          <p:nvPr/>
        </p:nvSpPr>
        <p:spPr>
          <a:xfrm>
            <a:off x="5298012" y="9024372"/>
            <a:ext cx="139124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Jira Emotion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1728" name="Group 1727">
            <a:extLst>
              <a:ext uri="{FF2B5EF4-FFF2-40B4-BE49-F238E27FC236}">
                <a16:creationId xmlns:a16="http://schemas.microsoft.com/office/drawing/2014/main" id="{821393AE-87E2-66F8-8B30-EB37C1693CB4}"/>
              </a:ext>
            </a:extLst>
          </p:cNvPr>
          <p:cNvGrpSpPr/>
          <p:nvPr/>
        </p:nvGrpSpPr>
        <p:grpSpPr>
          <a:xfrm>
            <a:off x="8527164" y="8193234"/>
            <a:ext cx="569700" cy="1688313"/>
            <a:chOff x="8715063" y="3858862"/>
            <a:chExt cx="569700" cy="1688313"/>
          </a:xfrm>
        </p:grpSpPr>
        <p:sp>
          <p:nvSpPr>
            <p:cNvPr id="1729" name="Google Shape;324;p18">
              <a:extLst>
                <a:ext uri="{FF2B5EF4-FFF2-40B4-BE49-F238E27FC236}">
                  <a16:creationId xmlns:a16="http://schemas.microsoft.com/office/drawing/2014/main" id="{98CCF995-256C-BAA4-97FB-412187DADB0A}"/>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1730" name="Google Shape;359;p18">
              <a:extLst>
                <a:ext uri="{FF2B5EF4-FFF2-40B4-BE49-F238E27FC236}">
                  <a16:creationId xmlns:a16="http://schemas.microsoft.com/office/drawing/2014/main" id="{FB5631AA-0670-E6AC-A7D2-3DD417140AF0}"/>
                </a:ext>
              </a:extLst>
            </p:cNvPr>
            <p:cNvGrpSpPr/>
            <p:nvPr/>
          </p:nvGrpSpPr>
          <p:grpSpPr>
            <a:xfrm>
              <a:off x="8838265" y="4043887"/>
              <a:ext cx="307200" cy="189300"/>
              <a:chOff x="3007175" y="1757600"/>
              <a:chExt cx="307200" cy="189300"/>
            </a:xfrm>
          </p:grpSpPr>
          <p:sp>
            <p:nvSpPr>
              <p:cNvPr id="1755" name="Google Shape;360;p18">
                <a:extLst>
                  <a:ext uri="{FF2B5EF4-FFF2-40B4-BE49-F238E27FC236}">
                    <a16:creationId xmlns:a16="http://schemas.microsoft.com/office/drawing/2014/main" id="{62BCAC4B-AB73-A21D-1039-126726E48D9E}"/>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6" name="Google Shape;361;p18">
                <a:extLst>
                  <a:ext uri="{FF2B5EF4-FFF2-40B4-BE49-F238E27FC236}">
                    <a16:creationId xmlns:a16="http://schemas.microsoft.com/office/drawing/2014/main" id="{81365AB3-A374-FFD1-76C5-9A3179E931B8}"/>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7" name="Google Shape;362;p18">
                <a:extLst>
                  <a:ext uri="{FF2B5EF4-FFF2-40B4-BE49-F238E27FC236}">
                    <a16:creationId xmlns:a16="http://schemas.microsoft.com/office/drawing/2014/main" id="{70B94DE8-CC9E-35F8-8F7B-0CC7F68916C4}"/>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8" name="Google Shape;363;p18">
                <a:extLst>
                  <a:ext uri="{FF2B5EF4-FFF2-40B4-BE49-F238E27FC236}">
                    <a16:creationId xmlns:a16="http://schemas.microsoft.com/office/drawing/2014/main" id="{8B2D25AF-B2FE-94E1-3137-0AB2D863E3FD}"/>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759" name="Google Shape;364;p18">
                <a:extLst>
                  <a:ext uri="{FF2B5EF4-FFF2-40B4-BE49-F238E27FC236}">
                    <a16:creationId xmlns:a16="http://schemas.microsoft.com/office/drawing/2014/main" id="{5AE0B360-4DB2-B72B-F26C-A03DD64C73A2}"/>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760" name="Google Shape;365;p18">
                <a:extLst>
                  <a:ext uri="{FF2B5EF4-FFF2-40B4-BE49-F238E27FC236}">
                    <a16:creationId xmlns:a16="http://schemas.microsoft.com/office/drawing/2014/main" id="{A8B3CBEB-0186-C22C-B895-90E1DA339798}"/>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761" name="Google Shape;366;p18">
                <a:extLst>
                  <a:ext uri="{FF2B5EF4-FFF2-40B4-BE49-F238E27FC236}">
                    <a16:creationId xmlns:a16="http://schemas.microsoft.com/office/drawing/2014/main" id="{9CCF36BB-4214-DB08-E1E8-EAD092EA06FF}"/>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1731" name="Google Shape;367;p18">
              <a:extLst>
                <a:ext uri="{FF2B5EF4-FFF2-40B4-BE49-F238E27FC236}">
                  <a16:creationId xmlns:a16="http://schemas.microsoft.com/office/drawing/2014/main" id="{5EB8EBCF-A0B1-B8BB-EA9B-984CFD0E137E}"/>
                </a:ext>
              </a:extLst>
            </p:cNvPr>
            <p:cNvGrpSpPr/>
            <p:nvPr/>
          </p:nvGrpSpPr>
          <p:grpSpPr>
            <a:xfrm>
              <a:off x="8838252" y="4387350"/>
              <a:ext cx="307200" cy="189300"/>
              <a:chOff x="3007175" y="1757600"/>
              <a:chExt cx="307200" cy="189300"/>
            </a:xfrm>
          </p:grpSpPr>
          <p:sp>
            <p:nvSpPr>
              <p:cNvPr id="1748" name="Google Shape;368;p18">
                <a:extLst>
                  <a:ext uri="{FF2B5EF4-FFF2-40B4-BE49-F238E27FC236}">
                    <a16:creationId xmlns:a16="http://schemas.microsoft.com/office/drawing/2014/main" id="{387F9242-8FB0-E5C2-284B-6989C9120A57}"/>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9" name="Google Shape;369;p18">
                <a:extLst>
                  <a:ext uri="{FF2B5EF4-FFF2-40B4-BE49-F238E27FC236}">
                    <a16:creationId xmlns:a16="http://schemas.microsoft.com/office/drawing/2014/main" id="{C6458D79-E0FF-61F7-EC91-65C2601F8CAB}"/>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0" name="Google Shape;370;p18">
                <a:extLst>
                  <a:ext uri="{FF2B5EF4-FFF2-40B4-BE49-F238E27FC236}">
                    <a16:creationId xmlns:a16="http://schemas.microsoft.com/office/drawing/2014/main" id="{C2F9FF33-3807-BD74-5497-B8C2351E5FE0}"/>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1" name="Google Shape;371;p18">
                <a:extLst>
                  <a:ext uri="{FF2B5EF4-FFF2-40B4-BE49-F238E27FC236}">
                    <a16:creationId xmlns:a16="http://schemas.microsoft.com/office/drawing/2014/main" id="{5F78D429-6381-6418-51AA-C0327DCF949E}"/>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752" name="Google Shape;372;p18">
                <a:extLst>
                  <a:ext uri="{FF2B5EF4-FFF2-40B4-BE49-F238E27FC236}">
                    <a16:creationId xmlns:a16="http://schemas.microsoft.com/office/drawing/2014/main" id="{138DA551-CC56-8C3E-C08C-E317B7201DE7}"/>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753" name="Google Shape;373;p18">
                <a:extLst>
                  <a:ext uri="{FF2B5EF4-FFF2-40B4-BE49-F238E27FC236}">
                    <a16:creationId xmlns:a16="http://schemas.microsoft.com/office/drawing/2014/main" id="{24C64D38-158C-4154-FDB2-3F3D051D9018}"/>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754" name="Google Shape;374;p18">
                <a:extLst>
                  <a:ext uri="{FF2B5EF4-FFF2-40B4-BE49-F238E27FC236}">
                    <a16:creationId xmlns:a16="http://schemas.microsoft.com/office/drawing/2014/main" id="{F39ACDD8-920A-F1C7-22B8-468E45149719}"/>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1732" name="Google Shape;375;p18">
              <a:extLst>
                <a:ext uri="{FF2B5EF4-FFF2-40B4-BE49-F238E27FC236}">
                  <a16:creationId xmlns:a16="http://schemas.microsoft.com/office/drawing/2014/main" id="{BB22D6A2-E138-3008-1E27-D5B15743690F}"/>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GitHub</a:t>
              </a:r>
              <a:endParaRPr sz="686">
                <a:solidFill>
                  <a:schemeClr val="dk2"/>
                </a:solidFill>
                <a:latin typeface="Source Sans 3"/>
                <a:ea typeface="Source Sans 3"/>
                <a:cs typeface="Source Sans 3"/>
                <a:sym typeface="Source Sans 3"/>
              </a:endParaRPr>
            </a:p>
          </p:txBody>
        </p:sp>
        <p:sp>
          <p:nvSpPr>
            <p:cNvPr id="1733" name="Google Shape;376;p18">
              <a:extLst>
                <a:ext uri="{FF2B5EF4-FFF2-40B4-BE49-F238E27FC236}">
                  <a16:creationId xmlns:a16="http://schemas.microsoft.com/office/drawing/2014/main" id="{F7B685E8-F2A7-497C-B382-33679D4CFC5B}"/>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1734" name="Google Shape;377;p18">
              <a:extLst>
                <a:ext uri="{FF2B5EF4-FFF2-40B4-BE49-F238E27FC236}">
                  <a16:creationId xmlns:a16="http://schemas.microsoft.com/office/drawing/2014/main" id="{8809D7D4-9CED-15FC-F09A-B03070C6F6A9}"/>
                </a:ext>
              </a:extLst>
            </p:cNvPr>
            <p:cNvGrpSpPr/>
            <p:nvPr/>
          </p:nvGrpSpPr>
          <p:grpSpPr>
            <a:xfrm>
              <a:off x="8846302" y="4841125"/>
              <a:ext cx="307200" cy="297900"/>
              <a:chOff x="3021975" y="2389850"/>
              <a:chExt cx="307200" cy="297900"/>
            </a:xfrm>
          </p:grpSpPr>
          <p:sp>
            <p:nvSpPr>
              <p:cNvPr id="1738" name="Google Shape;378;p18">
                <a:extLst>
                  <a:ext uri="{FF2B5EF4-FFF2-40B4-BE49-F238E27FC236}">
                    <a16:creationId xmlns:a16="http://schemas.microsoft.com/office/drawing/2014/main" id="{8968822F-ACBB-59ED-EEC4-AF91442C3951}"/>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739" name="Google Shape;379;p18">
                <a:extLst>
                  <a:ext uri="{FF2B5EF4-FFF2-40B4-BE49-F238E27FC236}">
                    <a16:creationId xmlns:a16="http://schemas.microsoft.com/office/drawing/2014/main" id="{99E03E02-34F7-128B-BAA7-BB14503A5133}"/>
                  </a:ext>
                </a:extLst>
              </p:cNvPr>
              <p:cNvGrpSpPr/>
              <p:nvPr/>
            </p:nvGrpSpPr>
            <p:grpSpPr>
              <a:xfrm>
                <a:off x="3021975" y="2389850"/>
                <a:ext cx="307200" cy="295800"/>
                <a:chOff x="3021975" y="2389850"/>
                <a:chExt cx="307200" cy="295800"/>
              </a:xfrm>
            </p:grpSpPr>
            <p:sp>
              <p:nvSpPr>
                <p:cNvPr id="1740" name="Google Shape;380;p18">
                  <a:extLst>
                    <a:ext uri="{FF2B5EF4-FFF2-40B4-BE49-F238E27FC236}">
                      <a16:creationId xmlns:a16="http://schemas.microsoft.com/office/drawing/2014/main" id="{46A4B482-A97E-B802-36C0-9EBF2B417E0B}"/>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1" name="Google Shape;381;p18">
                  <a:extLst>
                    <a:ext uri="{FF2B5EF4-FFF2-40B4-BE49-F238E27FC236}">
                      <a16:creationId xmlns:a16="http://schemas.microsoft.com/office/drawing/2014/main" id="{ABE9535B-164A-39B5-F29B-68D6D8357D27}"/>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742" name="Google Shape;382;p18">
                  <a:extLst>
                    <a:ext uri="{FF2B5EF4-FFF2-40B4-BE49-F238E27FC236}">
                      <a16:creationId xmlns:a16="http://schemas.microsoft.com/office/drawing/2014/main" id="{054B0603-CC84-1AC9-26C7-342100083E32}"/>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1743" name="Google Shape;383;p18">
                  <a:extLst>
                    <a:ext uri="{FF2B5EF4-FFF2-40B4-BE49-F238E27FC236}">
                      <a16:creationId xmlns:a16="http://schemas.microsoft.com/office/drawing/2014/main" id="{333E72B9-7598-1C06-6052-9467A309AFB6}"/>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1744" name="Google Shape;384;p18">
                  <a:extLst>
                    <a:ext uri="{FF2B5EF4-FFF2-40B4-BE49-F238E27FC236}">
                      <a16:creationId xmlns:a16="http://schemas.microsoft.com/office/drawing/2014/main" id="{7DE41349-C362-ADCC-D7E0-5020DF73BB7B}"/>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745" name="Google Shape;385;p18">
                  <a:extLst>
                    <a:ext uri="{FF2B5EF4-FFF2-40B4-BE49-F238E27FC236}">
                      <a16:creationId xmlns:a16="http://schemas.microsoft.com/office/drawing/2014/main" id="{63A66404-9497-890A-34E1-F1617A78CC3D}"/>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746" name="Google Shape;386;p18">
                  <a:extLst>
                    <a:ext uri="{FF2B5EF4-FFF2-40B4-BE49-F238E27FC236}">
                      <a16:creationId xmlns:a16="http://schemas.microsoft.com/office/drawing/2014/main" id="{92E3CAF5-A78C-439A-C78B-AB7EF65B18FB}"/>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747" name="Google Shape;387;p18">
                  <a:extLst>
                    <a:ext uri="{FF2B5EF4-FFF2-40B4-BE49-F238E27FC236}">
                      <a16:creationId xmlns:a16="http://schemas.microsoft.com/office/drawing/2014/main" id="{132A6C12-E9A8-2664-52D6-C872F1562743}"/>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1735" name="Google Shape;388;p18">
              <a:extLst>
                <a:ext uri="{FF2B5EF4-FFF2-40B4-BE49-F238E27FC236}">
                  <a16:creationId xmlns:a16="http://schemas.microsoft.com/office/drawing/2014/main" id="{B1401F62-87F4-CE17-1A0B-FC5173EB6A12}"/>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cxnSp>
          <p:nvCxnSpPr>
            <p:cNvPr id="1736" name="Google Shape;389;p18">
              <a:extLst>
                <a:ext uri="{FF2B5EF4-FFF2-40B4-BE49-F238E27FC236}">
                  <a16:creationId xmlns:a16="http://schemas.microsoft.com/office/drawing/2014/main" id="{1FEE284C-5F13-12F3-B1A1-6C2E2D92FE2C}"/>
                </a:ext>
              </a:extLst>
            </p:cNvPr>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1737" name="Google Shape;390;p18">
              <a:extLst>
                <a:ext uri="{FF2B5EF4-FFF2-40B4-BE49-F238E27FC236}">
                  <a16:creationId xmlns:a16="http://schemas.microsoft.com/office/drawing/2014/main" id="{767248FE-F97C-4314-27A0-4AF5B39AE3F9}"/>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1762" name="Graphic 1761" descr="Paper outline">
            <a:extLst>
              <a:ext uri="{FF2B5EF4-FFF2-40B4-BE49-F238E27FC236}">
                <a16:creationId xmlns:a16="http://schemas.microsoft.com/office/drawing/2014/main" id="{0C711700-7863-44F3-13BD-D6E469AEBD2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32598" y="8538023"/>
            <a:ext cx="536605" cy="536605"/>
          </a:xfrm>
          <a:prstGeom prst="rect">
            <a:avLst/>
          </a:prstGeom>
        </p:spPr>
      </p:pic>
      <p:sp>
        <p:nvSpPr>
          <p:cNvPr id="1763" name="Rectangle 1762">
            <a:extLst>
              <a:ext uri="{FF2B5EF4-FFF2-40B4-BE49-F238E27FC236}">
                <a16:creationId xmlns:a16="http://schemas.microsoft.com/office/drawing/2014/main" id="{DAFC5110-F4CB-51A9-C4C8-6C23F67A9151}"/>
              </a:ext>
            </a:extLst>
          </p:cNvPr>
          <p:cNvSpPr/>
          <p:nvPr/>
        </p:nvSpPr>
        <p:spPr>
          <a:xfrm>
            <a:off x="7136483" y="8528420"/>
            <a:ext cx="865876" cy="593692"/>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lnSpc>
                <a:spcPct val="80000"/>
              </a:lnSpc>
              <a:spcBef>
                <a:spcPts val="0"/>
              </a:spcBef>
            </a:pPr>
            <a:endParaRPr lang="en-US" sz="1000" b="0" dirty="0">
              <a:solidFill>
                <a:srgbClr val="000000"/>
              </a:solidFill>
            </a:endParaRPr>
          </a:p>
        </p:txBody>
      </p:sp>
      <p:sp>
        <p:nvSpPr>
          <p:cNvPr id="1764" name="TextBox 1763">
            <a:extLst>
              <a:ext uri="{FF2B5EF4-FFF2-40B4-BE49-F238E27FC236}">
                <a16:creationId xmlns:a16="http://schemas.microsoft.com/office/drawing/2014/main" id="{1E348BDE-4A17-BD9C-BCC4-4F71AF10C0AE}"/>
              </a:ext>
            </a:extLst>
          </p:cNvPr>
          <p:cNvSpPr txBox="1"/>
          <p:nvPr/>
        </p:nvSpPr>
        <p:spPr>
          <a:xfrm>
            <a:off x="7208946" y="8668587"/>
            <a:ext cx="72095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err="1"/>
              <a:t>sailuh</a:t>
            </a:r>
            <a:r>
              <a:rPr lang="en-US" sz="800" b="0" dirty="0"/>
              <a:t>/</a:t>
            </a:r>
            <a:r>
              <a:rPr lang="en-US" sz="800" b="0" dirty="0" err="1"/>
              <a:t>kaiaulu</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1765" name="TextBox 1764">
            <a:extLst>
              <a:ext uri="{FF2B5EF4-FFF2-40B4-BE49-F238E27FC236}">
                <a16:creationId xmlns:a16="http://schemas.microsoft.com/office/drawing/2014/main" id="{D6415D4C-2899-C23A-B220-43E8330404B6}"/>
              </a:ext>
            </a:extLst>
          </p:cNvPr>
          <p:cNvSpPr txBox="1"/>
          <p:nvPr/>
        </p:nvSpPr>
        <p:spPr>
          <a:xfrm>
            <a:off x="5277476" y="8649598"/>
            <a:ext cx="15549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1766" name="Straight Arrow Connector 1765">
            <a:extLst>
              <a:ext uri="{FF2B5EF4-FFF2-40B4-BE49-F238E27FC236}">
                <a16:creationId xmlns:a16="http://schemas.microsoft.com/office/drawing/2014/main" id="{17C48CA0-71F8-B291-8D62-20C3B48AE0CF}"/>
              </a:ext>
            </a:extLst>
          </p:cNvPr>
          <p:cNvCxnSpPr>
            <a:cxnSpLocks/>
          </p:cNvCxnSpPr>
          <p:nvPr/>
        </p:nvCxnSpPr>
        <p:spPr>
          <a:xfrm>
            <a:off x="6558302" y="8803860"/>
            <a:ext cx="520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7" name="Straight Arrow Connector 1766">
            <a:extLst>
              <a:ext uri="{FF2B5EF4-FFF2-40B4-BE49-F238E27FC236}">
                <a16:creationId xmlns:a16="http://schemas.microsoft.com/office/drawing/2014/main" id="{CAE09207-E3E8-3751-2FE9-9A79A13A676B}"/>
              </a:ext>
            </a:extLst>
          </p:cNvPr>
          <p:cNvCxnSpPr>
            <a:cxnSpLocks/>
          </p:cNvCxnSpPr>
          <p:nvPr/>
        </p:nvCxnSpPr>
        <p:spPr>
          <a:xfrm flipH="1">
            <a:off x="5962447" y="8083651"/>
            <a:ext cx="1" cy="454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8" name="Elbow Connector 1767">
            <a:extLst>
              <a:ext uri="{FF2B5EF4-FFF2-40B4-BE49-F238E27FC236}">
                <a16:creationId xmlns:a16="http://schemas.microsoft.com/office/drawing/2014/main" id="{91ED2F01-441E-0CD3-2DC3-F59B66644CF8}"/>
              </a:ext>
            </a:extLst>
          </p:cNvPr>
          <p:cNvCxnSpPr>
            <a:cxnSpLocks/>
          </p:cNvCxnSpPr>
          <p:nvPr/>
        </p:nvCxnSpPr>
        <p:spPr>
          <a:xfrm rot="10800000" flipV="1">
            <a:off x="4988395" y="7549615"/>
            <a:ext cx="2772299" cy="340036"/>
          </a:xfrm>
          <a:prstGeom prst="bentConnector3">
            <a:avLst>
              <a:gd name="adj1" fmla="val 16558"/>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769" name="Straight Arrow Connector 1768">
            <a:extLst>
              <a:ext uri="{FF2B5EF4-FFF2-40B4-BE49-F238E27FC236}">
                <a16:creationId xmlns:a16="http://schemas.microsoft.com/office/drawing/2014/main" id="{2297CE97-2DEC-362E-25B1-66481FDAB1FC}"/>
              </a:ext>
            </a:extLst>
          </p:cNvPr>
          <p:cNvCxnSpPr>
            <a:cxnSpLocks/>
          </p:cNvCxnSpPr>
          <p:nvPr/>
        </p:nvCxnSpPr>
        <p:spPr>
          <a:xfrm>
            <a:off x="4988395" y="7887589"/>
            <a:ext cx="0" cy="655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0" name="Elbow Connector 1769">
            <a:extLst>
              <a:ext uri="{FF2B5EF4-FFF2-40B4-BE49-F238E27FC236}">
                <a16:creationId xmlns:a16="http://schemas.microsoft.com/office/drawing/2014/main" id="{7967E95F-8DA1-E4F0-8A04-BC4E0C9A2C88}"/>
              </a:ext>
            </a:extLst>
          </p:cNvPr>
          <p:cNvCxnSpPr>
            <a:cxnSpLocks/>
          </p:cNvCxnSpPr>
          <p:nvPr/>
        </p:nvCxnSpPr>
        <p:spPr>
          <a:xfrm rot="10800000" flipV="1">
            <a:off x="5962448" y="7689643"/>
            <a:ext cx="2330535" cy="395891"/>
          </a:xfrm>
          <a:prstGeom prst="bentConnector3">
            <a:avLst>
              <a:gd name="adj1" fmla="val 138"/>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771" name="Straight Arrow Connector 1770">
            <a:extLst>
              <a:ext uri="{FF2B5EF4-FFF2-40B4-BE49-F238E27FC236}">
                <a16:creationId xmlns:a16="http://schemas.microsoft.com/office/drawing/2014/main" id="{EF38AF53-0529-6A85-289F-469F86DF14D3}"/>
              </a:ext>
            </a:extLst>
          </p:cNvPr>
          <p:cNvCxnSpPr>
            <a:cxnSpLocks/>
          </p:cNvCxnSpPr>
          <p:nvPr/>
        </p:nvCxnSpPr>
        <p:spPr>
          <a:xfrm>
            <a:off x="8042038" y="8798069"/>
            <a:ext cx="4914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72" name="Can 1771">
            <a:extLst>
              <a:ext uri="{FF2B5EF4-FFF2-40B4-BE49-F238E27FC236}">
                <a16:creationId xmlns:a16="http://schemas.microsoft.com/office/drawing/2014/main" id="{6DB674B6-9878-BC0A-C26E-3A9DA14F1411}"/>
              </a:ext>
            </a:extLst>
          </p:cNvPr>
          <p:cNvSpPr/>
          <p:nvPr/>
        </p:nvSpPr>
        <p:spPr>
          <a:xfrm>
            <a:off x="1969177" y="4032312"/>
            <a:ext cx="658678" cy="621792"/>
          </a:xfrm>
          <a:prstGeom prst="can">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773" name="TextBox 1772">
            <a:extLst>
              <a:ext uri="{FF2B5EF4-FFF2-40B4-BE49-F238E27FC236}">
                <a16:creationId xmlns:a16="http://schemas.microsoft.com/office/drawing/2014/main" id="{1811E6AE-2A2C-EF02-7ED4-DD26BCD56DAF}"/>
              </a:ext>
            </a:extLst>
          </p:cNvPr>
          <p:cNvSpPr txBox="1"/>
          <p:nvPr/>
        </p:nvSpPr>
        <p:spPr>
          <a:xfrm>
            <a:off x="1591688" y="4647123"/>
            <a:ext cx="144929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err="1"/>
              <a:t>GHTorrent</a:t>
            </a:r>
            <a:r>
              <a:rPr lang="en-US" sz="1000" b="0" dirty="0"/>
              <a:t> 2014 DB</a:t>
            </a:r>
          </a:p>
          <a:p>
            <a:pPr algn="ctr"/>
            <a:r>
              <a:rPr lang="en-US" sz="800" b="0" dirty="0"/>
              <a:t>MSR Challenge 2014</a:t>
            </a:r>
          </a:p>
        </p:txBody>
      </p:sp>
      <p:sp>
        <p:nvSpPr>
          <p:cNvPr id="1774" name="Line">
            <a:extLst>
              <a:ext uri="{FF2B5EF4-FFF2-40B4-BE49-F238E27FC236}">
                <a16:creationId xmlns:a16="http://schemas.microsoft.com/office/drawing/2014/main" id="{0E866D9F-C2C5-3DD5-66DD-290E1A6C5422}"/>
              </a:ext>
            </a:extLst>
          </p:cNvPr>
          <p:cNvSpPr/>
          <p:nvPr/>
        </p:nvSpPr>
        <p:spPr>
          <a:xfrm flipV="1">
            <a:off x="252723" y="5213745"/>
            <a:ext cx="3367943" cy="0"/>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aphicFrame>
        <p:nvGraphicFramePr>
          <p:cNvPr id="1775" name="Table">
            <a:extLst>
              <a:ext uri="{FF2B5EF4-FFF2-40B4-BE49-F238E27FC236}">
                <a16:creationId xmlns:a16="http://schemas.microsoft.com/office/drawing/2014/main" id="{24C562EF-9F7D-C113-D5D8-0F995A10DC9D}"/>
              </a:ext>
            </a:extLst>
          </p:cNvPr>
          <p:cNvGraphicFramePr/>
          <p:nvPr>
            <p:extLst>
              <p:ext uri="{D42A27DB-BD31-4B8C-83A1-F6EECF244321}">
                <p14:modId xmlns:p14="http://schemas.microsoft.com/office/powerpoint/2010/main" val="3734865257"/>
              </p:ext>
            </p:extLst>
          </p:nvPr>
        </p:nvGraphicFramePr>
        <p:xfrm>
          <a:off x="650320" y="5396945"/>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1776" name="TextBox 1775">
            <a:extLst>
              <a:ext uri="{FF2B5EF4-FFF2-40B4-BE49-F238E27FC236}">
                <a16:creationId xmlns:a16="http://schemas.microsoft.com/office/drawing/2014/main" id="{38E5B161-2265-9C84-5F79-210A1B4A769D}"/>
              </a:ext>
            </a:extLst>
          </p:cNvPr>
          <p:cNvSpPr txBox="1"/>
          <p:nvPr/>
        </p:nvSpPr>
        <p:spPr>
          <a:xfrm>
            <a:off x="446817" y="6019366"/>
            <a:ext cx="103487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Emotion CSV</a:t>
            </a:r>
          </a:p>
          <a:p>
            <a:pPr algn="ctr"/>
            <a:r>
              <a:rPr lang="en-US" sz="800" b="0" dirty="0"/>
              <a:t>Ortu et al. (2016)</a:t>
            </a:r>
          </a:p>
        </p:txBody>
      </p:sp>
      <p:sp>
        <p:nvSpPr>
          <p:cNvPr id="1777" name="Can 1776">
            <a:extLst>
              <a:ext uri="{FF2B5EF4-FFF2-40B4-BE49-F238E27FC236}">
                <a16:creationId xmlns:a16="http://schemas.microsoft.com/office/drawing/2014/main" id="{DE5CAF71-C074-95FD-A00C-382FECADA639}"/>
              </a:ext>
            </a:extLst>
          </p:cNvPr>
          <p:cNvSpPr/>
          <p:nvPr/>
        </p:nvSpPr>
        <p:spPr>
          <a:xfrm>
            <a:off x="1969177" y="5377697"/>
            <a:ext cx="658678" cy="621792"/>
          </a:xfrm>
          <a:prstGeom prst="can">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778" name="TextBox 1777">
            <a:extLst>
              <a:ext uri="{FF2B5EF4-FFF2-40B4-BE49-F238E27FC236}">
                <a16:creationId xmlns:a16="http://schemas.microsoft.com/office/drawing/2014/main" id="{99788965-ED5C-56BC-D36B-A897DBD704A2}"/>
              </a:ext>
            </a:extLst>
          </p:cNvPr>
          <p:cNvSpPr txBox="1"/>
          <p:nvPr/>
        </p:nvSpPr>
        <p:spPr>
          <a:xfrm>
            <a:off x="1574212" y="6014743"/>
            <a:ext cx="144929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a:t>Jira PostgreSQL DB</a:t>
            </a:r>
          </a:p>
          <a:p>
            <a:pPr algn="ctr"/>
            <a:r>
              <a:rPr lang="en-US" sz="800" b="0" dirty="0"/>
              <a:t>MSR Challenge 2016</a:t>
            </a:r>
          </a:p>
        </p:txBody>
      </p:sp>
      <p:sp>
        <p:nvSpPr>
          <p:cNvPr id="1779" name="TextBox 1778">
            <a:extLst>
              <a:ext uri="{FF2B5EF4-FFF2-40B4-BE49-F238E27FC236}">
                <a16:creationId xmlns:a16="http://schemas.microsoft.com/office/drawing/2014/main" id="{75E702BD-46FD-D179-6548-54AB4CB2AB53}"/>
              </a:ext>
            </a:extLst>
          </p:cNvPr>
          <p:cNvSpPr txBox="1"/>
          <p:nvPr/>
        </p:nvSpPr>
        <p:spPr>
          <a:xfrm>
            <a:off x="418722" y="3954492"/>
            <a:ext cx="231205"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[1]</a:t>
            </a:r>
          </a:p>
        </p:txBody>
      </p:sp>
      <p:sp>
        <p:nvSpPr>
          <p:cNvPr id="1780" name="TextBox 1779">
            <a:extLst>
              <a:ext uri="{FF2B5EF4-FFF2-40B4-BE49-F238E27FC236}">
                <a16:creationId xmlns:a16="http://schemas.microsoft.com/office/drawing/2014/main" id="{0A98ABF9-5249-7E09-DE6B-C0A749CE218D}"/>
              </a:ext>
            </a:extLst>
          </p:cNvPr>
          <p:cNvSpPr txBox="1"/>
          <p:nvPr/>
        </p:nvSpPr>
        <p:spPr>
          <a:xfrm>
            <a:off x="1705490" y="3940547"/>
            <a:ext cx="231205"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[2]</a:t>
            </a:r>
          </a:p>
        </p:txBody>
      </p:sp>
      <p:sp>
        <p:nvSpPr>
          <p:cNvPr id="1781" name="TextBox 1780">
            <a:extLst>
              <a:ext uri="{FF2B5EF4-FFF2-40B4-BE49-F238E27FC236}">
                <a16:creationId xmlns:a16="http://schemas.microsoft.com/office/drawing/2014/main" id="{2C846104-7314-7706-B45B-E8113E1B3683}"/>
              </a:ext>
            </a:extLst>
          </p:cNvPr>
          <p:cNvSpPr txBox="1"/>
          <p:nvPr/>
        </p:nvSpPr>
        <p:spPr>
          <a:xfrm>
            <a:off x="413336" y="5324703"/>
            <a:ext cx="231205"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[3]</a:t>
            </a:r>
          </a:p>
        </p:txBody>
      </p:sp>
      <p:sp>
        <p:nvSpPr>
          <p:cNvPr id="1782" name="TextBox 1781">
            <a:extLst>
              <a:ext uri="{FF2B5EF4-FFF2-40B4-BE49-F238E27FC236}">
                <a16:creationId xmlns:a16="http://schemas.microsoft.com/office/drawing/2014/main" id="{450DF08F-A78F-A11B-9BA9-C4427FF97FCD}"/>
              </a:ext>
            </a:extLst>
          </p:cNvPr>
          <p:cNvSpPr txBox="1"/>
          <p:nvPr/>
        </p:nvSpPr>
        <p:spPr>
          <a:xfrm>
            <a:off x="1718013" y="5285329"/>
            <a:ext cx="231205"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[4]</a:t>
            </a:r>
          </a:p>
        </p:txBody>
      </p:sp>
      <p:sp>
        <p:nvSpPr>
          <p:cNvPr id="1783" name="TextBox 1782">
            <a:extLst>
              <a:ext uri="{FF2B5EF4-FFF2-40B4-BE49-F238E27FC236}">
                <a16:creationId xmlns:a16="http://schemas.microsoft.com/office/drawing/2014/main" id="{8C0F2BB6-A323-0D0B-7F4F-74C57EE83AAE}"/>
              </a:ext>
            </a:extLst>
          </p:cNvPr>
          <p:cNvSpPr txBox="1"/>
          <p:nvPr/>
        </p:nvSpPr>
        <p:spPr>
          <a:xfrm>
            <a:off x="9468971" y="9437117"/>
            <a:ext cx="4207266" cy="8591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600" b="0" dirty="0"/>
              <a:t>[1] N. Novielli, Fabio Calefato, Davide </a:t>
            </a:r>
            <a:r>
              <a:rPr lang="en-US" sz="600" b="0" dirty="0" err="1"/>
              <a:t>Dongiovanni</a:t>
            </a:r>
            <a:r>
              <a:rPr lang="en-US" sz="600" b="0" dirty="0"/>
              <a:t>, D. Girardi, and Filippo Lanubile, “Can We Use SE-specific Sentiment Analysis Tools in a Cross-Platform Setting?,” Jun. 2020, </a:t>
            </a:r>
            <a:r>
              <a:rPr lang="en-US" sz="600" b="0" dirty="0" err="1"/>
              <a:t>doi</a:t>
            </a:r>
            <a:r>
              <a:rPr lang="en-US" sz="600" b="0" dirty="0"/>
              <a:t>: https://doi.org/10.1145/3379597.3387446. </a:t>
            </a:r>
          </a:p>
          <a:p>
            <a:r>
              <a:rPr lang="en-US" sz="600" b="0" dirty="0"/>
              <a:t>[2]https://web.archive.org/web/20210224080543/http://ansymore.uantwerpen.be/system/files/uploads/artefacts/alessandro/MSR16/archive3.zip</a:t>
            </a:r>
          </a:p>
          <a:p>
            <a:r>
              <a:rPr lang="en-US" sz="600" b="0" dirty="0"/>
              <a:t>[3] M. Ortu </a:t>
            </a:r>
            <a:r>
              <a:rPr lang="en-US" sz="600" b="0" i="1" dirty="0"/>
              <a:t>et al.</a:t>
            </a:r>
            <a:r>
              <a:rPr lang="en-US" sz="600" b="0" dirty="0"/>
              <a:t>, “The emotional side of software developers in JIRA,” </a:t>
            </a:r>
            <a:r>
              <a:rPr lang="en-US" sz="600" b="0" i="1" dirty="0"/>
              <a:t>Proceedings of the 13th International Conference on Mining Software Repositories</a:t>
            </a:r>
            <a:r>
              <a:rPr lang="en-US" sz="600" b="0" dirty="0"/>
              <a:t>, May 2016, </a:t>
            </a:r>
            <a:r>
              <a:rPr lang="en-US" sz="600" b="0" dirty="0" err="1"/>
              <a:t>doi</a:t>
            </a:r>
            <a:r>
              <a:rPr lang="en-US" sz="600" b="0" dirty="0"/>
              <a:t>: https://doi.org/10.1145/2901739.2903505. </a:t>
            </a:r>
          </a:p>
          <a:p>
            <a:r>
              <a:rPr lang="en-US" sz="600" b="0" dirty="0"/>
              <a:t>[4]https://web.archive.org/web/20150206005357/http://ghtorrent.org/msr14.html </a:t>
            </a:r>
          </a:p>
        </p:txBody>
      </p:sp>
      <p:grpSp>
        <p:nvGrpSpPr>
          <p:cNvPr id="1784" name="Group 1783">
            <a:extLst>
              <a:ext uri="{FF2B5EF4-FFF2-40B4-BE49-F238E27FC236}">
                <a16:creationId xmlns:a16="http://schemas.microsoft.com/office/drawing/2014/main" id="{41F9027C-644A-E12A-47D5-CE7C0C19EE10}"/>
              </a:ext>
            </a:extLst>
          </p:cNvPr>
          <p:cNvGrpSpPr/>
          <p:nvPr/>
        </p:nvGrpSpPr>
        <p:grpSpPr>
          <a:xfrm>
            <a:off x="9705867" y="7243461"/>
            <a:ext cx="3667112" cy="2099743"/>
            <a:chOff x="8467065" y="1114845"/>
            <a:chExt cx="3254813" cy="1896300"/>
          </a:xfrm>
        </p:grpSpPr>
        <p:sp>
          <p:nvSpPr>
            <p:cNvPr id="1785" name="Google Shape;324;p18">
              <a:extLst>
                <a:ext uri="{FF2B5EF4-FFF2-40B4-BE49-F238E27FC236}">
                  <a16:creationId xmlns:a16="http://schemas.microsoft.com/office/drawing/2014/main" id="{3D742AF2-6728-8935-B4EF-33CE80721D95}"/>
                </a:ext>
              </a:extLst>
            </p:cNvPr>
            <p:cNvSpPr/>
            <p:nvPr/>
          </p:nvSpPr>
          <p:spPr>
            <a:xfrm>
              <a:off x="8547103" y="133324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sp>
          <p:nvSpPr>
            <p:cNvPr id="1786" name="Google Shape;325;p18">
              <a:extLst>
                <a:ext uri="{FF2B5EF4-FFF2-40B4-BE49-F238E27FC236}">
                  <a16:creationId xmlns:a16="http://schemas.microsoft.com/office/drawing/2014/main" id="{0E87F63A-9620-5067-48CF-6727675651F3}"/>
                </a:ext>
              </a:extLst>
            </p:cNvPr>
            <p:cNvSpPr txBox="1"/>
            <p:nvPr/>
          </p:nvSpPr>
          <p:spPr>
            <a:xfrm>
              <a:off x="8467065" y="1143895"/>
              <a:ext cx="5898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Comments</a:t>
              </a:r>
              <a:endParaRPr sz="686">
                <a:solidFill>
                  <a:schemeClr val="dk2"/>
                </a:solidFill>
                <a:latin typeface="Source Sans 3"/>
                <a:ea typeface="Source Sans 3"/>
                <a:cs typeface="Source Sans 3"/>
                <a:sym typeface="Source Sans 3"/>
              </a:endParaRPr>
            </a:p>
          </p:txBody>
        </p:sp>
        <p:sp>
          <p:nvSpPr>
            <p:cNvPr id="1787" name="Google Shape;326;p18">
              <a:extLst>
                <a:ext uri="{FF2B5EF4-FFF2-40B4-BE49-F238E27FC236}">
                  <a16:creationId xmlns:a16="http://schemas.microsoft.com/office/drawing/2014/main" id="{9E6C12DC-DA85-44E0-0FFD-79EFB63AFE6F}"/>
                </a:ext>
              </a:extLst>
            </p:cNvPr>
            <p:cNvSpPr/>
            <p:nvPr/>
          </p:nvSpPr>
          <p:spPr>
            <a:xfrm>
              <a:off x="8476178" y="1114845"/>
              <a:ext cx="3245700" cy="18963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8" name="Google Shape;327;p18">
              <a:extLst>
                <a:ext uri="{FF2B5EF4-FFF2-40B4-BE49-F238E27FC236}">
                  <a16:creationId xmlns:a16="http://schemas.microsoft.com/office/drawing/2014/main" id="{3640860E-9D02-0A2C-0996-4785E8DC0484}"/>
                </a:ext>
              </a:extLst>
            </p:cNvPr>
            <p:cNvSpPr/>
            <p:nvPr/>
          </p:nvSpPr>
          <p:spPr>
            <a:xfrm>
              <a:off x="9194189" y="1685753"/>
              <a:ext cx="660000" cy="5394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sp>
          <p:nvSpPr>
            <p:cNvPr id="1789" name="Google Shape;328;p18">
              <a:extLst>
                <a:ext uri="{FF2B5EF4-FFF2-40B4-BE49-F238E27FC236}">
                  <a16:creationId xmlns:a16="http://schemas.microsoft.com/office/drawing/2014/main" id="{0FC819EA-2D88-A23C-A689-B1D113B0654B}"/>
                </a:ext>
              </a:extLst>
            </p:cNvPr>
            <p:cNvSpPr txBox="1"/>
            <p:nvPr/>
          </p:nvSpPr>
          <p:spPr>
            <a:xfrm>
              <a:off x="9194178" y="1823420"/>
              <a:ext cx="6876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sailuh/kaiaulu</a:t>
              </a:r>
              <a:endParaRPr sz="686">
                <a:solidFill>
                  <a:schemeClr val="dk2"/>
                </a:solidFill>
                <a:latin typeface="Source Sans 3"/>
                <a:ea typeface="Source Sans 3"/>
                <a:cs typeface="Source Sans 3"/>
                <a:sym typeface="Source Sans 3"/>
              </a:endParaRPr>
            </a:p>
          </p:txBody>
        </p:sp>
        <p:cxnSp>
          <p:nvCxnSpPr>
            <p:cNvPr id="1790" name="Google Shape;329;p18">
              <a:extLst>
                <a:ext uri="{FF2B5EF4-FFF2-40B4-BE49-F238E27FC236}">
                  <a16:creationId xmlns:a16="http://schemas.microsoft.com/office/drawing/2014/main" id="{720D00B5-A02E-7F20-596F-286FBF5C1C01}"/>
                </a:ext>
              </a:extLst>
            </p:cNvPr>
            <p:cNvCxnSpPr/>
            <p:nvPr/>
          </p:nvCxnSpPr>
          <p:spPr>
            <a:xfrm>
              <a:off x="9524199" y="2225090"/>
              <a:ext cx="0" cy="297300"/>
            </a:xfrm>
            <a:prstGeom prst="straightConnector1">
              <a:avLst/>
            </a:prstGeom>
            <a:noFill/>
            <a:ln w="8175" cap="flat" cmpd="sng">
              <a:solidFill>
                <a:schemeClr val="dk2"/>
              </a:solidFill>
              <a:prstDash val="solid"/>
              <a:round/>
              <a:headEnd type="none" w="med" len="med"/>
              <a:tailEnd type="triangle" w="med" len="med"/>
            </a:ln>
          </p:spPr>
        </p:cxnSp>
        <p:sp>
          <p:nvSpPr>
            <p:cNvPr id="1791" name="Google Shape;330;p18">
              <a:extLst>
                <a:ext uri="{FF2B5EF4-FFF2-40B4-BE49-F238E27FC236}">
                  <a16:creationId xmlns:a16="http://schemas.microsoft.com/office/drawing/2014/main" id="{2FFBE8BC-A712-B209-953F-0C5A80559B60}"/>
                </a:ext>
              </a:extLst>
            </p:cNvPr>
            <p:cNvSpPr txBox="1"/>
            <p:nvPr/>
          </p:nvSpPr>
          <p:spPr>
            <a:xfrm>
              <a:off x="9029988" y="2467514"/>
              <a:ext cx="1094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rgbClr val="628DB5"/>
                  </a:solidFill>
                  <a:latin typeface="Source Sans 3"/>
                  <a:ea typeface="Source Sans 3"/>
                  <a:cs typeface="Source Sans 3"/>
                  <a:sym typeface="Source Sans 3"/>
                </a:rPr>
                <a:t>engagement_sentiment()</a:t>
              </a:r>
              <a:endParaRPr sz="686">
                <a:solidFill>
                  <a:srgbClr val="628DB5"/>
                </a:solidFill>
                <a:latin typeface="Source Sans 3"/>
                <a:ea typeface="Source Sans 3"/>
                <a:cs typeface="Source Sans 3"/>
                <a:sym typeface="Source Sans 3"/>
              </a:endParaRPr>
            </a:p>
          </p:txBody>
        </p:sp>
        <p:sp>
          <p:nvSpPr>
            <p:cNvPr id="1792" name="Google Shape;331;p18">
              <a:extLst>
                <a:ext uri="{FF2B5EF4-FFF2-40B4-BE49-F238E27FC236}">
                  <a16:creationId xmlns:a16="http://schemas.microsoft.com/office/drawing/2014/main" id="{FCC29B41-9CC6-2669-F4FA-91C649ADC456}"/>
                </a:ext>
              </a:extLst>
            </p:cNvPr>
            <p:cNvSpPr/>
            <p:nvPr/>
          </p:nvSpPr>
          <p:spPr>
            <a:xfrm>
              <a:off x="10562628" y="1685745"/>
              <a:ext cx="1099800" cy="554100"/>
            </a:xfrm>
            <a:prstGeom prst="rect">
              <a:avLst/>
            </a:prstGeom>
            <a:noFill/>
            <a:ln w="8200" cap="flat" cmpd="sng">
              <a:solidFill>
                <a:schemeClr val="dk2"/>
              </a:solidFill>
              <a:prstDash val="solid"/>
              <a:round/>
              <a:headEnd type="none" w="sm" len="sm"/>
              <a:tailEnd type="none" w="sm" len="sm"/>
            </a:ln>
          </p:spPr>
          <p:txBody>
            <a:bodyPr spcFirstLastPara="1" wrap="square" lIns="78800" tIns="78800" rIns="78800" bIns="78800" anchor="ctr" anchorCtr="0">
              <a:noAutofit/>
            </a:bodyPr>
            <a:lstStyle/>
            <a:p>
              <a:pPr marL="0" lvl="0" indent="0" algn="ctr" rtl="0">
                <a:spcBef>
                  <a:spcPts val="0"/>
                </a:spcBef>
                <a:spcAft>
                  <a:spcPts val="0"/>
                </a:spcAft>
                <a:buNone/>
              </a:pPr>
              <a:endParaRPr sz="1207"/>
            </a:p>
          </p:txBody>
        </p:sp>
        <p:sp>
          <p:nvSpPr>
            <p:cNvPr id="1793" name="Google Shape;332;p18">
              <a:extLst>
                <a:ext uri="{FF2B5EF4-FFF2-40B4-BE49-F238E27FC236}">
                  <a16:creationId xmlns:a16="http://schemas.microsoft.com/office/drawing/2014/main" id="{64A139C2-4685-3690-36D0-445E00950307}"/>
                </a:ext>
              </a:extLst>
            </p:cNvPr>
            <p:cNvSpPr txBox="1"/>
            <p:nvPr/>
          </p:nvSpPr>
          <p:spPr>
            <a:xfrm>
              <a:off x="10544028" y="1682645"/>
              <a:ext cx="1150800" cy="265200"/>
            </a:xfrm>
            <a:prstGeom prst="rect">
              <a:avLst/>
            </a:prstGeom>
            <a:noFill/>
            <a:ln>
              <a:noFill/>
            </a:ln>
          </p:spPr>
          <p:txBody>
            <a:bodyPr spcFirstLastPara="1" wrap="square" lIns="78800" tIns="78800" rIns="78800" bIns="78800" anchor="t" anchorCtr="0">
              <a:spAutoFit/>
            </a:bodyPr>
            <a:lstStyle/>
            <a:p>
              <a:pPr marL="0" lvl="0" indent="0" algn="l" rtl="0">
                <a:spcBef>
                  <a:spcPts val="0"/>
                </a:spcBef>
                <a:spcAft>
                  <a:spcPts val="0"/>
                </a:spcAft>
                <a:buNone/>
              </a:pPr>
              <a:r>
                <a:rPr lang="en" sz="689" dirty="0" err="1">
                  <a:solidFill>
                    <a:schemeClr val="dk2"/>
                  </a:solidFill>
                  <a:latin typeface="Source Sans 3"/>
                  <a:ea typeface="Source Sans 3"/>
                  <a:cs typeface="Source Sans 3"/>
                  <a:sym typeface="Source Sans 3"/>
                </a:rPr>
                <a:t>sailuh</a:t>
              </a:r>
              <a:r>
                <a:rPr lang="en" sz="689" dirty="0">
                  <a:solidFill>
                    <a:schemeClr val="dk2"/>
                  </a:solidFill>
                  <a:latin typeface="Source Sans 3"/>
                  <a:ea typeface="Source Sans 3"/>
                  <a:cs typeface="Source Sans 3"/>
                  <a:sym typeface="Source Sans 3"/>
                </a:rPr>
                <a:t>/</a:t>
              </a:r>
              <a:r>
                <a:rPr lang="en" sz="689" dirty="0" err="1">
                  <a:solidFill>
                    <a:schemeClr val="dk2"/>
                  </a:solidFill>
                  <a:latin typeface="Source Sans 3"/>
                  <a:ea typeface="Source Sans 3"/>
                  <a:cs typeface="Source Sans 3"/>
                  <a:sym typeface="Source Sans 3"/>
                </a:rPr>
                <a:t>sentiment_classifier</a:t>
              </a:r>
              <a:endParaRPr sz="689" dirty="0">
                <a:solidFill>
                  <a:schemeClr val="dk2"/>
                </a:solidFill>
                <a:latin typeface="Source Sans 3"/>
                <a:ea typeface="Source Sans 3"/>
                <a:cs typeface="Source Sans 3"/>
                <a:sym typeface="Source Sans 3"/>
              </a:endParaRPr>
            </a:p>
          </p:txBody>
        </p:sp>
        <p:cxnSp>
          <p:nvCxnSpPr>
            <p:cNvPr id="1794" name="Google Shape;333;p18">
              <a:extLst>
                <a:ext uri="{FF2B5EF4-FFF2-40B4-BE49-F238E27FC236}">
                  <a16:creationId xmlns:a16="http://schemas.microsoft.com/office/drawing/2014/main" id="{00C04EDE-39D3-21E0-0954-9D7A6EC8EFF1}"/>
                </a:ext>
              </a:extLst>
            </p:cNvPr>
            <p:cNvCxnSpPr/>
            <p:nvPr/>
          </p:nvCxnSpPr>
          <p:spPr>
            <a:xfrm rot="10800000" flipH="1">
              <a:off x="9890815" y="1865994"/>
              <a:ext cx="632700" cy="900"/>
            </a:xfrm>
            <a:prstGeom prst="straightConnector1">
              <a:avLst/>
            </a:prstGeom>
            <a:noFill/>
            <a:ln w="9525" cap="flat" cmpd="sng">
              <a:solidFill>
                <a:schemeClr val="dk2"/>
              </a:solidFill>
              <a:prstDash val="solid"/>
              <a:round/>
              <a:headEnd type="none" w="med" len="med"/>
              <a:tailEnd type="triangle" w="med" len="med"/>
            </a:ln>
          </p:spPr>
        </p:cxnSp>
        <p:cxnSp>
          <p:nvCxnSpPr>
            <p:cNvPr id="1795" name="Google Shape;334;p18">
              <a:extLst>
                <a:ext uri="{FF2B5EF4-FFF2-40B4-BE49-F238E27FC236}">
                  <a16:creationId xmlns:a16="http://schemas.microsoft.com/office/drawing/2014/main" id="{11C1CD88-5B16-AFF0-9021-CE8BA4514442}"/>
                </a:ext>
              </a:extLst>
            </p:cNvPr>
            <p:cNvCxnSpPr/>
            <p:nvPr/>
          </p:nvCxnSpPr>
          <p:spPr>
            <a:xfrm rot="10800000">
              <a:off x="9866990" y="2086194"/>
              <a:ext cx="632700" cy="900"/>
            </a:xfrm>
            <a:prstGeom prst="straightConnector1">
              <a:avLst/>
            </a:prstGeom>
            <a:noFill/>
            <a:ln w="9525" cap="flat" cmpd="sng">
              <a:solidFill>
                <a:schemeClr val="dk2"/>
              </a:solidFill>
              <a:prstDash val="solid"/>
              <a:round/>
              <a:headEnd type="none" w="med" len="med"/>
              <a:tailEnd type="triangle" w="med" len="med"/>
            </a:ln>
          </p:spPr>
        </p:cxnSp>
        <p:sp>
          <p:nvSpPr>
            <p:cNvPr id="1796" name="Google Shape;335;p18">
              <a:extLst>
                <a:ext uri="{FF2B5EF4-FFF2-40B4-BE49-F238E27FC236}">
                  <a16:creationId xmlns:a16="http://schemas.microsoft.com/office/drawing/2014/main" id="{5929405A-B323-D002-110A-5A3DF8E4188B}"/>
                </a:ext>
              </a:extLst>
            </p:cNvPr>
            <p:cNvSpPr txBox="1"/>
            <p:nvPr/>
          </p:nvSpPr>
          <p:spPr>
            <a:xfrm>
              <a:off x="10046553" y="2123170"/>
              <a:ext cx="3483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label</a:t>
              </a:r>
              <a:endParaRPr sz="686">
                <a:solidFill>
                  <a:schemeClr val="dk2"/>
                </a:solidFill>
                <a:latin typeface="Source Sans 3"/>
                <a:ea typeface="Source Sans 3"/>
                <a:cs typeface="Source Sans 3"/>
                <a:sym typeface="Source Sans 3"/>
              </a:endParaRPr>
            </a:p>
          </p:txBody>
        </p:sp>
        <p:sp>
          <p:nvSpPr>
            <p:cNvPr id="1797" name="Google Shape;336;p18">
              <a:extLst>
                <a:ext uri="{FF2B5EF4-FFF2-40B4-BE49-F238E27FC236}">
                  <a16:creationId xmlns:a16="http://schemas.microsoft.com/office/drawing/2014/main" id="{DF33B45B-F11B-95E6-A293-42369C90FEBE}"/>
                </a:ext>
              </a:extLst>
            </p:cNvPr>
            <p:cNvSpPr/>
            <p:nvPr/>
          </p:nvSpPr>
          <p:spPr>
            <a:xfrm>
              <a:off x="10370240" y="2300395"/>
              <a:ext cx="133800" cy="114600"/>
            </a:xfrm>
            <a:prstGeom prst="wedgeRectCallout">
              <a:avLst>
                <a:gd name="adj1" fmla="val -20833"/>
                <a:gd name="adj2" fmla="val 62500"/>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8" name="Google Shape;337;p18">
              <a:extLst>
                <a:ext uri="{FF2B5EF4-FFF2-40B4-BE49-F238E27FC236}">
                  <a16:creationId xmlns:a16="http://schemas.microsoft.com/office/drawing/2014/main" id="{C04971AD-7965-84F4-871A-03596CE82C76}"/>
                </a:ext>
              </a:extLst>
            </p:cNvPr>
            <p:cNvSpPr txBox="1"/>
            <p:nvPr/>
          </p:nvSpPr>
          <p:spPr>
            <a:xfrm>
              <a:off x="9829328" y="1578732"/>
              <a:ext cx="8400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pysenti_predict()</a:t>
              </a:r>
              <a:endParaRPr sz="686">
                <a:solidFill>
                  <a:schemeClr val="dk2"/>
                </a:solidFill>
                <a:latin typeface="Source Sans 3"/>
                <a:ea typeface="Source Sans 3"/>
                <a:cs typeface="Source Sans 3"/>
                <a:sym typeface="Source Sans 3"/>
              </a:endParaRPr>
            </a:p>
          </p:txBody>
        </p:sp>
        <p:sp>
          <p:nvSpPr>
            <p:cNvPr id="1799" name="Google Shape;338;p18">
              <a:extLst>
                <a:ext uri="{FF2B5EF4-FFF2-40B4-BE49-F238E27FC236}">
                  <a16:creationId xmlns:a16="http://schemas.microsoft.com/office/drawing/2014/main" id="{5022FF03-099A-3C0D-E6C4-15DA8587C1C9}"/>
                </a:ext>
              </a:extLst>
            </p:cNvPr>
            <p:cNvSpPr/>
            <p:nvPr/>
          </p:nvSpPr>
          <p:spPr>
            <a:xfrm>
              <a:off x="10116428" y="1532095"/>
              <a:ext cx="133800" cy="114600"/>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0" name="Google Shape;339;p18">
              <a:extLst>
                <a:ext uri="{FF2B5EF4-FFF2-40B4-BE49-F238E27FC236}">
                  <a16:creationId xmlns:a16="http://schemas.microsoft.com/office/drawing/2014/main" id="{250F5284-0548-DFFD-18AC-B9895FEC8FF9}"/>
                </a:ext>
              </a:extLst>
            </p:cNvPr>
            <p:cNvSpPr/>
            <p:nvPr/>
          </p:nvSpPr>
          <p:spPr>
            <a:xfrm>
              <a:off x="9482353" y="2661807"/>
              <a:ext cx="113100" cy="114600"/>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1" name="Google Shape;340;p18">
              <a:extLst>
                <a:ext uri="{FF2B5EF4-FFF2-40B4-BE49-F238E27FC236}">
                  <a16:creationId xmlns:a16="http://schemas.microsoft.com/office/drawing/2014/main" id="{12DA882F-F8B7-81AA-27DD-2B1B501C0D48}"/>
                </a:ext>
              </a:extLst>
            </p:cNvPr>
            <p:cNvSpPr txBox="1"/>
            <p:nvPr/>
          </p:nvSpPr>
          <p:spPr>
            <a:xfrm>
              <a:off x="9400286" y="2595959"/>
              <a:ext cx="289200" cy="23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00">
                  <a:solidFill>
                    <a:schemeClr val="lt1"/>
                  </a:solidFill>
                </a:rPr>
                <a:t>0.27</a:t>
              </a:r>
              <a:endParaRPr sz="400">
                <a:solidFill>
                  <a:schemeClr val="lt1"/>
                </a:solidFill>
              </a:endParaRPr>
            </a:p>
          </p:txBody>
        </p:sp>
        <p:sp>
          <p:nvSpPr>
            <p:cNvPr id="1802" name="Google Shape;341;p18">
              <a:extLst>
                <a:ext uri="{FF2B5EF4-FFF2-40B4-BE49-F238E27FC236}">
                  <a16:creationId xmlns:a16="http://schemas.microsoft.com/office/drawing/2014/main" id="{DD67C8D5-A6F9-90DE-54E7-ED91C5DC1F6C}"/>
                </a:ext>
              </a:extLst>
            </p:cNvPr>
            <p:cNvSpPr/>
            <p:nvPr/>
          </p:nvSpPr>
          <p:spPr>
            <a:xfrm>
              <a:off x="10141503" y="2300395"/>
              <a:ext cx="133800" cy="114600"/>
            </a:xfrm>
            <a:prstGeom prst="wedgeRectCallout">
              <a:avLst>
                <a:gd name="adj1" fmla="val -20833"/>
                <a:gd name="adj2" fmla="val 62500"/>
              </a:avLst>
            </a:prstGeom>
            <a:solidFill>
              <a:srgbClr val="E0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3" name="Google Shape;342;p18">
              <a:extLst>
                <a:ext uri="{FF2B5EF4-FFF2-40B4-BE49-F238E27FC236}">
                  <a16:creationId xmlns:a16="http://schemas.microsoft.com/office/drawing/2014/main" id="{CD4BE6AE-E477-05C1-8EF1-24EB0319851F}"/>
                </a:ext>
              </a:extLst>
            </p:cNvPr>
            <p:cNvSpPr/>
            <p:nvPr/>
          </p:nvSpPr>
          <p:spPr>
            <a:xfrm>
              <a:off x="9912740" y="2300395"/>
              <a:ext cx="133800" cy="114600"/>
            </a:xfrm>
            <a:prstGeom prst="wedgeRectCallout">
              <a:avLst>
                <a:gd name="adj1" fmla="val -20833"/>
                <a:gd name="adj2" fmla="val 625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4" name="Google Shape;344;p18">
              <a:extLst>
                <a:ext uri="{FF2B5EF4-FFF2-40B4-BE49-F238E27FC236}">
                  <a16:creationId xmlns:a16="http://schemas.microsoft.com/office/drawing/2014/main" id="{34A05F68-BC83-2F25-0E36-B0B451AF5E85}"/>
                </a:ext>
              </a:extLst>
            </p:cNvPr>
            <p:cNvSpPr txBox="1"/>
            <p:nvPr/>
          </p:nvSpPr>
          <p:spPr>
            <a:xfrm>
              <a:off x="10062053" y="1668745"/>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(2)</a:t>
              </a:r>
              <a:endParaRPr sz="686">
                <a:solidFill>
                  <a:schemeClr val="dk2"/>
                </a:solidFill>
                <a:latin typeface="Source Sans 3"/>
                <a:ea typeface="Source Sans 3"/>
                <a:cs typeface="Source Sans 3"/>
                <a:sym typeface="Source Sans 3"/>
              </a:endParaRPr>
            </a:p>
          </p:txBody>
        </p:sp>
        <p:sp>
          <p:nvSpPr>
            <p:cNvPr id="1805" name="Google Shape;345;p18">
              <a:extLst>
                <a:ext uri="{FF2B5EF4-FFF2-40B4-BE49-F238E27FC236}">
                  <a16:creationId xmlns:a16="http://schemas.microsoft.com/office/drawing/2014/main" id="{F6DEB13D-F7BA-5B65-BB45-E59112B042BC}"/>
                </a:ext>
              </a:extLst>
            </p:cNvPr>
            <p:cNvSpPr txBox="1"/>
            <p:nvPr/>
          </p:nvSpPr>
          <p:spPr>
            <a:xfrm>
              <a:off x="10079303" y="2023132"/>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(4)</a:t>
              </a:r>
              <a:endParaRPr sz="686">
                <a:solidFill>
                  <a:schemeClr val="dk2"/>
                </a:solidFill>
                <a:latin typeface="Source Sans 3"/>
                <a:ea typeface="Source Sans 3"/>
                <a:cs typeface="Source Sans 3"/>
                <a:sym typeface="Source Sans 3"/>
              </a:endParaRPr>
            </a:p>
          </p:txBody>
        </p:sp>
        <p:sp>
          <p:nvSpPr>
            <p:cNvPr id="1806" name="Google Shape;346;p18">
              <a:extLst>
                <a:ext uri="{FF2B5EF4-FFF2-40B4-BE49-F238E27FC236}">
                  <a16:creationId xmlns:a16="http://schemas.microsoft.com/office/drawing/2014/main" id="{AF6F2632-1C00-E09D-ED77-56D33D2855D9}"/>
                </a:ext>
              </a:extLst>
            </p:cNvPr>
            <p:cNvSpPr txBox="1"/>
            <p:nvPr/>
          </p:nvSpPr>
          <p:spPr>
            <a:xfrm>
              <a:off x="10964278" y="1800070"/>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(3)</a:t>
              </a:r>
              <a:endParaRPr sz="686">
                <a:solidFill>
                  <a:schemeClr val="dk2"/>
                </a:solidFill>
                <a:latin typeface="Source Sans 3"/>
                <a:ea typeface="Source Sans 3"/>
                <a:cs typeface="Source Sans 3"/>
                <a:sym typeface="Source Sans 3"/>
              </a:endParaRPr>
            </a:p>
          </p:txBody>
        </p:sp>
        <p:sp>
          <p:nvSpPr>
            <p:cNvPr id="1807" name="Google Shape;347;p18">
              <a:extLst>
                <a:ext uri="{FF2B5EF4-FFF2-40B4-BE49-F238E27FC236}">
                  <a16:creationId xmlns:a16="http://schemas.microsoft.com/office/drawing/2014/main" id="{0E13BBFE-63A4-A574-29B4-D936E4D7D6E0}"/>
                </a:ext>
              </a:extLst>
            </p:cNvPr>
            <p:cNvSpPr/>
            <p:nvPr/>
          </p:nvSpPr>
          <p:spPr>
            <a:xfrm>
              <a:off x="107684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1808" name="Google Shape;348;p18">
              <a:extLst>
                <a:ext uri="{FF2B5EF4-FFF2-40B4-BE49-F238E27FC236}">
                  <a16:creationId xmlns:a16="http://schemas.microsoft.com/office/drawing/2014/main" id="{3B629D2D-BCFE-BAD3-483C-E4598365DBEB}"/>
                </a:ext>
              </a:extLst>
            </p:cNvPr>
            <p:cNvSpPr txBox="1"/>
            <p:nvPr/>
          </p:nvSpPr>
          <p:spPr>
            <a:xfrm>
              <a:off x="10702335" y="1945845"/>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1809" name="Google Shape;349;p18">
              <a:extLst>
                <a:ext uri="{FF2B5EF4-FFF2-40B4-BE49-F238E27FC236}">
                  <a16:creationId xmlns:a16="http://schemas.microsoft.com/office/drawing/2014/main" id="{47454A1A-0A6E-75BC-2B32-FFF4E98C8D99}"/>
                </a:ext>
              </a:extLst>
            </p:cNvPr>
            <p:cNvSpPr txBox="1"/>
            <p:nvPr/>
          </p:nvSpPr>
          <p:spPr>
            <a:xfrm>
              <a:off x="11020518" y="1948023"/>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1810" name="Google Shape;350;p18">
              <a:extLst>
                <a:ext uri="{FF2B5EF4-FFF2-40B4-BE49-F238E27FC236}">
                  <a16:creationId xmlns:a16="http://schemas.microsoft.com/office/drawing/2014/main" id="{B9690DA9-6048-DC62-A636-CAF5D26B2B01}"/>
                </a:ext>
              </a:extLst>
            </p:cNvPr>
            <p:cNvSpPr/>
            <p:nvPr/>
          </p:nvSpPr>
          <p:spPr>
            <a:xfrm>
              <a:off x="109289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1811" name="Google Shape;351;p18">
              <a:extLst>
                <a:ext uri="{FF2B5EF4-FFF2-40B4-BE49-F238E27FC236}">
                  <a16:creationId xmlns:a16="http://schemas.microsoft.com/office/drawing/2014/main" id="{30DDA279-32AC-5E39-F84C-7418EB8D29EB}"/>
                </a:ext>
              </a:extLst>
            </p:cNvPr>
            <p:cNvSpPr/>
            <p:nvPr/>
          </p:nvSpPr>
          <p:spPr>
            <a:xfrm>
              <a:off x="110894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1812" name="Google Shape;352;p18">
              <a:extLst>
                <a:ext uri="{FF2B5EF4-FFF2-40B4-BE49-F238E27FC236}">
                  <a16:creationId xmlns:a16="http://schemas.microsoft.com/office/drawing/2014/main" id="{297DCAE6-CD91-B822-5486-0CC6553EAFFF}"/>
                </a:ext>
              </a:extLst>
            </p:cNvPr>
            <p:cNvSpPr/>
            <p:nvPr/>
          </p:nvSpPr>
          <p:spPr>
            <a:xfrm>
              <a:off x="112499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1813" name="Google Shape;353;p18">
              <a:extLst>
                <a:ext uri="{FF2B5EF4-FFF2-40B4-BE49-F238E27FC236}">
                  <a16:creationId xmlns:a16="http://schemas.microsoft.com/office/drawing/2014/main" id="{58D70680-1D10-191F-671C-745AC5E09BB3}"/>
                </a:ext>
              </a:extLst>
            </p:cNvPr>
            <p:cNvSpPr txBox="1"/>
            <p:nvPr/>
          </p:nvSpPr>
          <p:spPr>
            <a:xfrm>
              <a:off x="10863720" y="1948470"/>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1814" name="Google Shape;354;p18">
              <a:extLst>
                <a:ext uri="{FF2B5EF4-FFF2-40B4-BE49-F238E27FC236}">
                  <a16:creationId xmlns:a16="http://schemas.microsoft.com/office/drawing/2014/main" id="{43FDA391-6D4F-B20B-49FC-CCEF70841E2F}"/>
                </a:ext>
              </a:extLst>
            </p:cNvPr>
            <p:cNvSpPr txBox="1"/>
            <p:nvPr/>
          </p:nvSpPr>
          <p:spPr>
            <a:xfrm>
              <a:off x="11183172" y="1948019"/>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cxnSp>
          <p:nvCxnSpPr>
            <p:cNvPr id="1815" name="Google Shape;357;p18">
              <a:extLst>
                <a:ext uri="{FF2B5EF4-FFF2-40B4-BE49-F238E27FC236}">
                  <a16:creationId xmlns:a16="http://schemas.microsoft.com/office/drawing/2014/main" id="{B71C1895-64B1-3F1C-47F3-C3A771CB3367}"/>
                </a:ext>
              </a:extLst>
            </p:cNvPr>
            <p:cNvCxnSpPr>
              <a:stCxn id="1788" idx="0"/>
              <a:endCxn id="1793" idx="0"/>
            </p:cNvCxnSpPr>
            <p:nvPr/>
          </p:nvCxnSpPr>
          <p:spPr>
            <a:xfrm rot="16200000">
              <a:off x="10320239" y="886703"/>
              <a:ext cx="3000" cy="1595100"/>
            </a:xfrm>
            <a:prstGeom prst="bentConnector3">
              <a:avLst>
                <a:gd name="adj1" fmla="val 8041114"/>
              </a:avLst>
            </a:prstGeom>
            <a:noFill/>
            <a:ln w="9525" cap="flat" cmpd="sng">
              <a:solidFill>
                <a:schemeClr val="dk2"/>
              </a:solidFill>
              <a:prstDash val="solid"/>
              <a:round/>
              <a:headEnd type="none" w="med" len="med"/>
              <a:tailEnd type="none" w="med" len="med"/>
            </a:ln>
          </p:spPr>
        </p:cxnSp>
        <p:sp>
          <p:nvSpPr>
            <p:cNvPr id="1816" name="Google Shape;358;p18">
              <a:extLst>
                <a:ext uri="{FF2B5EF4-FFF2-40B4-BE49-F238E27FC236}">
                  <a16:creationId xmlns:a16="http://schemas.microsoft.com/office/drawing/2014/main" id="{F14BAFC6-BA27-9A0B-8218-7CB8A3319CF3}"/>
                </a:ext>
              </a:extLst>
            </p:cNvPr>
            <p:cNvSpPr txBox="1"/>
            <p:nvPr/>
          </p:nvSpPr>
          <p:spPr>
            <a:xfrm>
              <a:off x="9795878" y="1222007"/>
              <a:ext cx="972600" cy="18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dirty="0" err="1">
                  <a:solidFill>
                    <a:schemeClr val="dk2"/>
                  </a:solidFill>
                  <a:latin typeface="Source Sans 3"/>
                  <a:ea typeface="Source Sans 3"/>
                  <a:cs typeface="Source Sans 3"/>
                  <a:sym typeface="Source Sans 3"/>
                </a:rPr>
                <a:t>pysenti_train_model</a:t>
              </a:r>
              <a:r>
                <a:rPr lang="en" sz="650" dirty="0">
                  <a:solidFill>
                    <a:schemeClr val="dk2"/>
                  </a:solidFill>
                  <a:latin typeface="Source Sans 3"/>
                  <a:ea typeface="Source Sans 3"/>
                  <a:cs typeface="Source Sans 3"/>
                  <a:sym typeface="Source Sans 3"/>
                </a:rPr>
                <a:t>()</a:t>
              </a:r>
              <a:endParaRPr sz="650" dirty="0">
                <a:solidFill>
                  <a:schemeClr val="dk2"/>
                </a:solidFill>
                <a:latin typeface="Source Sans 3"/>
                <a:ea typeface="Source Sans 3"/>
                <a:cs typeface="Source Sans 3"/>
                <a:sym typeface="Source Sans 3"/>
              </a:endParaRPr>
            </a:p>
          </p:txBody>
        </p:sp>
        <p:grpSp>
          <p:nvGrpSpPr>
            <p:cNvPr id="1817" name="Google Shape;359;p18">
              <a:extLst>
                <a:ext uri="{FF2B5EF4-FFF2-40B4-BE49-F238E27FC236}">
                  <a16:creationId xmlns:a16="http://schemas.microsoft.com/office/drawing/2014/main" id="{BEB846CB-E49D-1E0A-C614-C63101F07918}"/>
                </a:ext>
              </a:extLst>
            </p:cNvPr>
            <p:cNvGrpSpPr/>
            <p:nvPr/>
          </p:nvGrpSpPr>
          <p:grpSpPr>
            <a:xfrm>
              <a:off x="8600328" y="1454457"/>
              <a:ext cx="307200" cy="189300"/>
              <a:chOff x="3007175" y="1757600"/>
              <a:chExt cx="307200" cy="189300"/>
            </a:xfrm>
          </p:grpSpPr>
          <p:sp>
            <p:nvSpPr>
              <p:cNvPr id="1845" name="Google Shape;360;p18">
                <a:extLst>
                  <a:ext uri="{FF2B5EF4-FFF2-40B4-BE49-F238E27FC236}">
                    <a16:creationId xmlns:a16="http://schemas.microsoft.com/office/drawing/2014/main" id="{34F5F890-84BD-50CC-61DB-508E90B6B1D8}"/>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46" name="Google Shape;361;p18">
                <a:extLst>
                  <a:ext uri="{FF2B5EF4-FFF2-40B4-BE49-F238E27FC236}">
                    <a16:creationId xmlns:a16="http://schemas.microsoft.com/office/drawing/2014/main" id="{5E500274-F873-E3C4-92B1-ACCF01258119}"/>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47" name="Google Shape;362;p18">
                <a:extLst>
                  <a:ext uri="{FF2B5EF4-FFF2-40B4-BE49-F238E27FC236}">
                    <a16:creationId xmlns:a16="http://schemas.microsoft.com/office/drawing/2014/main" id="{8E0B1BDA-540E-7AD1-F991-1DE82B7F8BBE}"/>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48" name="Google Shape;363;p18">
                <a:extLst>
                  <a:ext uri="{FF2B5EF4-FFF2-40B4-BE49-F238E27FC236}">
                    <a16:creationId xmlns:a16="http://schemas.microsoft.com/office/drawing/2014/main" id="{0165968A-66FE-0E2D-FB16-FEBC4A6658B3}"/>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49" name="Google Shape;364;p18">
                <a:extLst>
                  <a:ext uri="{FF2B5EF4-FFF2-40B4-BE49-F238E27FC236}">
                    <a16:creationId xmlns:a16="http://schemas.microsoft.com/office/drawing/2014/main" id="{8B132549-F816-3F51-5DAE-3B85DD3A95C5}"/>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850" name="Google Shape;365;p18">
                <a:extLst>
                  <a:ext uri="{FF2B5EF4-FFF2-40B4-BE49-F238E27FC236}">
                    <a16:creationId xmlns:a16="http://schemas.microsoft.com/office/drawing/2014/main" id="{605EA389-0D86-2A79-5325-66ADA74BAC40}"/>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851" name="Google Shape;366;p18">
                <a:extLst>
                  <a:ext uri="{FF2B5EF4-FFF2-40B4-BE49-F238E27FC236}">
                    <a16:creationId xmlns:a16="http://schemas.microsoft.com/office/drawing/2014/main" id="{FA527B2C-F73A-D0AE-BF59-62FC9D2C4956}"/>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1818" name="Google Shape;367;p18">
              <a:extLst>
                <a:ext uri="{FF2B5EF4-FFF2-40B4-BE49-F238E27FC236}">
                  <a16:creationId xmlns:a16="http://schemas.microsoft.com/office/drawing/2014/main" id="{D6011957-2604-45E9-53A8-65FE358316A4}"/>
                </a:ext>
              </a:extLst>
            </p:cNvPr>
            <p:cNvGrpSpPr/>
            <p:nvPr/>
          </p:nvGrpSpPr>
          <p:grpSpPr>
            <a:xfrm>
              <a:off x="8600315" y="1797920"/>
              <a:ext cx="307200" cy="189300"/>
              <a:chOff x="3007175" y="1757600"/>
              <a:chExt cx="307200" cy="189300"/>
            </a:xfrm>
          </p:grpSpPr>
          <p:sp>
            <p:nvSpPr>
              <p:cNvPr id="1838" name="Google Shape;368;p18">
                <a:extLst>
                  <a:ext uri="{FF2B5EF4-FFF2-40B4-BE49-F238E27FC236}">
                    <a16:creationId xmlns:a16="http://schemas.microsoft.com/office/drawing/2014/main" id="{6197DAAA-76B3-E320-ECBC-DF41593C01C9}"/>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39" name="Google Shape;369;p18">
                <a:extLst>
                  <a:ext uri="{FF2B5EF4-FFF2-40B4-BE49-F238E27FC236}">
                    <a16:creationId xmlns:a16="http://schemas.microsoft.com/office/drawing/2014/main" id="{83CDF528-03A0-C70D-BD37-F5255452487B}"/>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40" name="Google Shape;370;p18">
                <a:extLst>
                  <a:ext uri="{FF2B5EF4-FFF2-40B4-BE49-F238E27FC236}">
                    <a16:creationId xmlns:a16="http://schemas.microsoft.com/office/drawing/2014/main" id="{865DA085-D816-ECF7-E6D3-3465E1CB397A}"/>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41" name="Google Shape;371;p18">
                <a:extLst>
                  <a:ext uri="{FF2B5EF4-FFF2-40B4-BE49-F238E27FC236}">
                    <a16:creationId xmlns:a16="http://schemas.microsoft.com/office/drawing/2014/main" id="{ECCD3DC0-CE81-03FC-0676-517FDDC01508}"/>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42" name="Google Shape;372;p18">
                <a:extLst>
                  <a:ext uri="{FF2B5EF4-FFF2-40B4-BE49-F238E27FC236}">
                    <a16:creationId xmlns:a16="http://schemas.microsoft.com/office/drawing/2014/main" id="{A141E2F9-3273-CC65-FCD5-D838FAF8E72F}"/>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843" name="Google Shape;373;p18">
                <a:extLst>
                  <a:ext uri="{FF2B5EF4-FFF2-40B4-BE49-F238E27FC236}">
                    <a16:creationId xmlns:a16="http://schemas.microsoft.com/office/drawing/2014/main" id="{20B1414C-313A-F913-7D56-64ACBD0FBC08}"/>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844" name="Google Shape;374;p18">
                <a:extLst>
                  <a:ext uri="{FF2B5EF4-FFF2-40B4-BE49-F238E27FC236}">
                    <a16:creationId xmlns:a16="http://schemas.microsoft.com/office/drawing/2014/main" id="{5699BFB0-A484-2110-9E27-504BCAC5B1CC}"/>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1819" name="Google Shape;375;p18">
              <a:extLst>
                <a:ext uri="{FF2B5EF4-FFF2-40B4-BE49-F238E27FC236}">
                  <a16:creationId xmlns:a16="http://schemas.microsoft.com/office/drawing/2014/main" id="{4DCD9E20-205F-619C-0916-0FBA640DA439}"/>
                </a:ext>
              </a:extLst>
            </p:cNvPr>
            <p:cNvSpPr txBox="1"/>
            <p:nvPr/>
          </p:nvSpPr>
          <p:spPr>
            <a:xfrm>
              <a:off x="8540115" y="126943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GitHub</a:t>
              </a:r>
              <a:endParaRPr sz="686">
                <a:solidFill>
                  <a:schemeClr val="dk2"/>
                </a:solidFill>
                <a:latin typeface="Source Sans 3"/>
                <a:ea typeface="Source Sans 3"/>
                <a:cs typeface="Source Sans 3"/>
                <a:sym typeface="Source Sans 3"/>
              </a:endParaRPr>
            </a:p>
          </p:txBody>
        </p:sp>
        <p:sp>
          <p:nvSpPr>
            <p:cNvPr id="1820" name="Google Shape;376;p18">
              <a:extLst>
                <a:ext uri="{FF2B5EF4-FFF2-40B4-BE49-F238E27FC236}">
                  <a16:creationId xmlns:a16="http://schemas.microsoft.com/office/drawing/2014/main" id="{839771B7-8019-AB55-2075-5748F8EA861C}"/>
                </a:ext>
              </a:extLst>
            </p:cNvPr>
            <p:cNvSpPr txBox="1"/>
            <p:nvPr/>
          </p:nvSpPr>
          <p:spPr>
            <a:xfrm>
              <a:off x="8600328" y="161682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1821" name="Google Shape;377;p18">
              <a:extLst>
                <a:ext uri="{FF2B5EF4-FFF2-40B4-BE49-F238E27FC236}">
                  <a16:creationId xmlns:a16="http://schemas.microsoft.com/office/drawing/2014/main" id="{47A20F9C-F7CE-ABB6-9C16-4165F02B8D53}"/>
                </a:ext>
              </a:extLst>
            </p:cNvPr>
            <p:cNvGrpSpPr/>
            <p:nvPr/>
          </p:nvGrpSpPr>
          <p:grpSpPr>
            <a:xfrm>
              <a:off x="8608365" y="2251695"/>
              <a:ext cx="307200" cy="297900"/>
              <a:chOff x="3021975" y="2389850"/>
              <a:chExt cx="307200" cy="297900"/>
            </a:xfrm>
          </p:grpSpPr>
          <p:sp>
            <p:nvSpPr>
              <p:cNvPr id="1828" name="Google Shape;378;p18">
                <a:extLst>
                  <a:ext uri="{FF2B5EF4-FFF2-40B4-BE49-F238E27FC236}">
                    <a16:creationId xmlns:a16="http://schemas.microsoft.com/office/drawing/2014/main" id="{8AD2DCAD-25AA-A3D5-9A7F-4C6A9B6ECCF7}"/>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829" name="Google Shape;379;p18">
                <a:extLst>
                  <a:ext uri="{FF2B5EF4-FFF2-40B4-BE49-F238E27FC236}">
                    <a16:creationId xmlns:a16="http://schemas.microsoft.com/office/drawing/2014/main" id="{D6ECEDA8-7271-CC55-B60B-0A1B6827F4D6}"/>
                  </a:ext>
                </a:extLst>
              </p:cNvPr>
              <p:cNvGrpSpPr/>
              <p:nvPr/>
            </p:nvGrpSpPr>
            <p:grpSpPr>
              <a:xfrm>
                <a:off x="3021975" y="2389850"/>
                <a:ext cx="307200" cy="295800"/>
                <a:chOff x="3021975" y="2389850"/>
                <a:chExt cx="307200" cy="295800"/>
              </a:xfrm>
            </p:grpSpPr>
            <p:sp>
              <p:nvSpPr>
                <p:cNvPr id="1830" name="Google Shape;380;p18">
                  <a:extLst>
                    <a:ext uri="{FF2B5EF4-FFF2-40B4-BE49-F238E27FC236}">
                      <a16:creationId xmlns:a16="http://schemas.microsoft.com/office/drawing/2014/main" id="{CBD9F4CD-3ACF-7F0D-A743-FA16278D83D0}"/>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31" name="Google Shape;381;p18">
                  <a:extLst>
                    <a:ext uri="{FF2B5EF4-FFF2-40B4-BE49-F238E27FC236}">
                      <a16:creationId xmlns:a16="http://schemas.microsoft.com/office/drawing/2014/main" id="{AAF3FB99-030B-F1B4-CDAF-A8486D229EC7}"/>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32" name="Google Shape;382;p18">
                  <a:extLst>
                    <a:ext uri="{FF2B5EF4-FFF2-40B4-BE49-F238E27FC236}">
                      <a16:creationId xmlns:a16="http://schemas.microsoft.com/office/drawing/2014/main" id="{88A4E207-95CE-D669-7489-F36624789F59}"/>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1833" name="Google Shape;383;p18">
                  <a:extLst>
                    <a:ext uri="{FF2B5EF4-FFF2-40B4-BE49-F238E27FC236}">
                      <a16:creationId xmlns:a16="http://schemas.microsoft.com/office/drawing/2014/main" id="{17C09B35-3E58-A8ED-F639-5C08E983FA29}"/>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1834" name="Google Shape;384;p18">
                  <a:extLst>
                    <a:ext uri="{FF2B5EF4-FFF2-40B4-BE49-F238E27FC236}">
                      <a16:creationId xmlns:a16="http://schemas.microsoft.com/office/drawing/2014/main" id="{18D6E103-76C7-4461-6147-407DF687E2F0}"/>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35" name="Google Shape;385;p18">
                  <a:extLst>
                    <a:ext uri="{FF2B5EF4-FFF2-40B4-BE49-F238E27FC236}">
                      <a16:creationId xmlns:a16="http://schemas.microsoft.com/office/drawing/2014/main" id="{536CD4B5-4E0F-1C91-6CDA-A21B8B22C596}"/>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836" name="Google Shape;386;p18">
                  <a:extLst>
                    <a:ext uri="{FF2B5EF4-FFF2-40B4-BE49-F238E27FC236}">
                      <a16:creationId xmlns:a16="http://schemas.microsoft.com/office/drawing/2014/main" id="{6A5BF56F-3029-02BD-54B6-E0092DDB76C7}"/>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837" name="Google Shape;387;p18">
                  <a:extLst>
                    <a:ext uri="{FF2B5EF4-FFF2-40B4-BE49-F238E27FC236}">
                      <a16:creationId xmlns:a16="http://schemas.microsoft.com/office/drawing/2014/main" id="{0878F34F-ABFD-29A2-F1F3-C5ACA3F5F030}"/>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1822" name="Google Shape;388;p18">
              <a:extLst>
                <a:ext uri="{FF2B5EF4-FFF2-40B4-BE49-F238E27FC236}">
                  <a16:creationId xmlns:a16="http://schemas.microsoft.com/office/drawing/2014/main" id="{05BE1DB6-BA92-462A-8FCE-71A3C17A982A}"/>
                </a:ext>
              </a:extLst>
            </p:cNvPr>
            <p:cNvSpPr txBox="1"/>
            <p:nvPr/>
          </p:nvSpPr>
          <p:spPr>
            <a:xfrm>
              <a:off x="8477126" y="196418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a:solidFill>
                    <a:schemeClr val="dk2"/>
                  </a:solidFill>
                  <a:latin typeface="Source Sans 3"/>
                  <a:ea typeface="Source Sans 3"/>
                  <a:cs typeface="Source Sans 3"/>
                  <a:sym typeface="Source Sans 3"/>
                </a:rPr>
                <a:t>Mailing Lists</a:t>
              </a:r>
              <a:endParaRPr sz="686">
                <a:solidFill>
                  <a:schemeClr val="dk2"/>
                </a:solidFill>
                <a:latin typeface="Source Sans 3"/>
                <a:ea typeface="Source Sans 3"/>
                <a:cs typeface="Source Sans 3"/>
                <a:sym typeface="Source Sans 3"/>
              </a:endParaRPr>
            </a:p>
          </p:txBody>
        </p:sp>
        <p:cxnSp>
          <p:nvCxnSpPr>
            <p:cNvPr id="1823" name="Google Shape;389;p18">
              <a:extLst>
                <a:ext uri="{FF2B5EF4-FFF2-40B4-BE49-F238E27FC236}">
                  <a16:creationId xmlns:a16="http://schemas.microsoft.com/office/drawing/2014/main" id="{5092C81C-4957-B484-A748-B5B0C97C5AFD}"/>
                </a:ext>
              </a:extLst>
            </p:cNvPr>
            <p:cNvCxnSpPr/>
            <p:nvPr/>
          </p:nvCxnSpPr>
          <p:spPr>
            <a:xfrm>
              <a:off x="8757253" y="2588620"/>
              <a:ext cx="0" cy="105900"/>
            </a:xfrm>
            <a:prstGeom prst="straightConnector1">
              <a:avLst/>
            </a:prstGeom>
            <a:noFill/>
            <a:ln w="9525" cap="flat" cmpd="sng">
              <a:solidFill>
                <a:schemeClr val="dk2"/>
              </a:solidFill>
              <a:prstDash val="dot"/>
              <a:round/>
              <a:headEnd type="none" w="med" len="med"/>
              <a:tailEnd type="none" w="med" len="med"/>
            </a:ln>
          </p:spPr>
        </p:cxnSp>
        <p:sp>
          <p:nvSpPr>
            <p:cNvPr id="1824" name="Google Shape;390;p18">
              <a:extLst>
                <a:ext uri="{FF2B5EF4-FFF2-40B4-BE49-F238E27FC236}">
                  <a16:creationId xmlns:a16="http://schemas.microsoft.com/office/drawing/2014/main" id="{2EE58204-E8D1-599B-8197-DF158A3CA79E}"/>
                </a:ext>
              </a:extLst>
            </p:cNvPr>
            <p:cNvSpPr/>
            <p:nvPr/>
          </p:nvSpPr>
          <p:spPr>
            <a:xfrm>
              <a:off x="8607990" y="271704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25" name="Google Shape;391;p18">
              <a:extLst>
                <a:ext uri="{FF2B5EF4-FFF2-40B4-BE49-F238E27FC236}">
                  <a16:creationId xmlns:a16="http://schemas.microsoft.com/office/drawing/2014/main" id="{F05FD703-8675-0519-41A8-4185CB313073}"/>
                </a:ext>
              </a:extLst>
            </p:cNvPr>
            <p:cNvCxnSpPr>
              <a:endCxn id="1789" idx="1"/>
            </p:cNvCxnSpPr>
            <p:nvPr/>
          </p:nvCxnSpPr>
          <p:spPr>
            <a:xfrm rot="16200000" flipH="1">
              <a:off x="8867778" y="1629020"/>
              <a:ext cx="420900" cy="231900"/>
            </a:xfrm>
            <a:prstGeom prst="curvedConnector2">
              <a:avLst/>
            </a:prstGeom>
            <a:noFill/>
            <a:ln w="9525" cap="flat" cmpd="sng">
              <a:solidFill>
                <a:schemeClr val="dk2"/>
              </a:solidFill>
              <a:prstDash val="solid"/>
              <a:round/>
              <a:headEnd type="none" w="med" len="med"/>
              <a:tailEnd type="none" w="med" len="med"/>
            </a:ln>
          </p:spPr>
        </p:cxnSp>
        <p:cxnSp>
          <p:nvCxnSpPr>
            <p:cNvPr id="1826" name="Google Shape;392;p18">
              <a:extLst>
                <a:ext uri="{FF2B5EF4-FFF2-40B4-BE49-F238E27FC236}">
                  <a16:creationId xmlns:a16="http://schemas.microsoft.com/office/drawing/2014/main" id="{094BEFD4-46FC-2F3E-6B10-EBEE190D31BB}"/>
                </a:ext>
              </a:extLst>
            </p:cNvPr>
            <p:cNvCxnSpPr>
              <a:endCxn id="1789" idx="1"/>
            </p:cNvCxnSpPr>
            <p:nvPr/>
          </p:nvCxnSpPr>
          <p:spPr>
            <a:xfrm>
              <a:off x="8962278" y="1894520"/>
              <a:ext cx="231900" cy="60900"/>
            </a:xfrm>
            <a:prstGeom prst="curvedConnector3">
              <a:avLst>
                <a:gd name="adj1" fmla="val 50000"/>
              </a:avLst>
            </a:prstGeom>
            <a:noFill/>
            <a:ln w="9525" cap="flat" cmpd="sng">
              <a:solidFill>
                <a:schemeClr val="dk2"/>
              </a:solidFill>
              <a:prstDash val="solid"/>
              <a:round/>
              <a:headEnd type="none" w="med" len="med"/>
              <a:tailEnd type="none" w="med" len="med"/>
            </a:ln>
          </p:spPr>
        </p:cxnSp>
        <p:cxnSp>
          <p:nvCxnSpPr>
            <p:cNvPr id="1827" name="Google Shape;393;p18">
              <a:extLst>
                <a:ext uri="{FF2B5EF4-FFF2-40B4-BE49-F238E27FC236}">
                  <a16:creationId xmlns:a16="http://schemas.microsoft.com/office/drawing/2014/main" id="{C3C66912-5CCD-F4ED-6C42-6255CD04AB02}"/>
                </a:ext>
              </a:extLst>
            </p:cNvPr>
            <p:cNvCxnSpPr>
              <a:endCxn id="1789" idx="1"/>
            </p:cNvCxnSpPr>
            <p:nvPr/>
          </p:nvCxnSpPr>
          <p:spPr>
            <a:xfrm rot="16200000">
              <a:off x="8853828" y="2065670"/>
              <a:ext cx="450600" cy="230100"/>
            </a:xfrm>
            <a:prstGeom prst="curvedConnector2">
              <a:avLst/>
            </a:prstGeom>
            <a:noFill/>
            <a:ln w="9525" cap="flat" cmpd="sng">
              <a:solidFill>
                <a:schemeClr val="dk2"/>
              </a:solidFill>
              <a:prstDash val="solid"/>
              <a:round/>
              <a:headEnd type="none" w="med" len="med"/>
              <a:tailEnd type="none" w="med" len="med"/>
            </a:ln>
          </p:spPr>
        </p:cxnSp>
      </p:grpSp>
      <p:sp>
        <p:nvSpPr>
          <p:cNvPr id="1852" name="Google Shape;394;p18">
            <a:extLst>
              <a:ext uri="{FF2B5EF4-FFF2-40B4-BE49-F238E27FC236}">
                <a16:creationId xmlns:a16="http://schemas.microsoft.com/office/drawing/2014/main" id="{4DF317F6-D65A-7583-3E05-0CB96A93D22C}"/>
              </a:ext>
            </a:extLst>
          </p:cNvPr>
          <p:cNvSpPr txBox="1"/>
          <p:nvPr/>
        </p:nvSpPr>
        <p:spPr>
          <a:xfrm>
            <a:off x="10963395" y="7010441"/>
            <a:ext cx="1433762" cy="10229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dirty="0" err="1">
                <a:solidFill>
                  <a:schemeClr val="dk2"/>
                </a:solidFill>
                <a:latin typeface="Source Sans 3"/>
                <a:ea typeface="Source Sans 3"/>
                <a:cs typeface="Source Sans 3"/>
                <a:sym typeface="Source Sans 3"/>
              </a:rPr>
              <a:t>sentiment_analysis.Rmd</a:t>
            </a:r>
            <a:endParaRPr sz="800" dirty="0">
              <a:solidFill>
                <a:schemeClr val="dk2"/>
              </a:solidFill>
              <a:latin typeface="Source Sans 3"/>
              <a:ea typeface="Source Sans 3"/>
              <a:cs typeface="Source Sans 3"/>
              <a:sym typeface="Source Sans 3"/>
            </a:endParaRPr>
          </a:p>
        </p:txBody>
      </p:sp>
      <p:graphicFrame>
        <p:nvGraphicFramePr>
          <p:cNvPr id="1853" name="Table">
            <a:extLst>
              <a:ext uri="{FF2B5EF4-FFF2-40B4-BE49-F238E27FC236}">
                <a16:creationId xmlns:a16="http://schemas.microsoft.com/office/drawing/2014/main" id="{41919854-1098-ACA2-F146-0A87EF348FA5}"/>
              </a:ext>
            </a:extLst>
          </p:cNvPr>
          <p:cNvGraphicFramePr/>
          <p:nvPr>
            <p:extLst>
              <p:ext uri="{D42A27DB-BD31-4B8C-83A1-F6EECF244321}">
                <p14:modId xmlns:p14="http://schemas.microsoft.com/office/powerpoint/2010/main" val="3055089077"/>
              </p:ext>
            </p:extLst>
          </p:nvPr>
        </p:nvGraphicFramePr>
        <p:xfrm>
          <a:off x="1067053" y="7756407"/>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1854" name="Layout Suggestions">
            <a:extLst>
              <a:ext uri="{FF2B5EF4-FFF2-40B4-BE49-F238E27FC236}">
                <a16:creationId xmlns:a16="http://schemas.microsoft.com/office/drawing/2014/main" id="{56EC4326-E5FB-A0BD-AA83-70C21DFB8CD3}"/>
              </a:ext>
            </a:extLst>
          </p:cNvPr>
          <p:cNvSpPr txBox="1"/>
          <p:nvPr/>
        </p:nvSpPr>
        <p:spPr>
          <a:xfrm>
            <a:off x="159998" y="6661138"/>
            <a:ext cx="423108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Exploring Relevant Comments</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855" name="TextBox 1854">
            <a:extLst>
              <a:ext uri="{FF2B5EF4-FFF2-40B4-BE49-F238E27FC236}">
                <a16:creationId xmlns:a16="http://schemas.microsoft.com/office/drawing/2014/main" id="{A10502EB-771F-A4A4-0987-223197E7D8D8}"/>
              </a:ext>
            </a:extLst>
          </p:cNvPr>
          <p:cNvSpPr txBox="1"/>
          <p:nvPr/>
        </p:nvSpPr>
        <p:spPr>
          <a:xfrm>
            <a:off x="132572" y="6999241"/>
            <a:ext cx="4346831"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Sentiment labels span both main project repos and forks. However, since fork repos contain fewer labeled comments, we will only be analyzing comments from the project’s main repo.</a:t>
            </a:r>
          </a:p>
        </p:txBody>
      </p:sp>
      <p:sp>
        <p:nvSpPr>
          <p:cNvPr id="1856" name="Rectangle 1855">
            <a:extLst>
              <a:ext uri="{FF2B5EF4-FFF2-40B4-BE49-F238E27FC236}">
                <a16:creationId xmlns:a16="http://schemas.microsoft.com/office/drawing/2014/main" id="{C53561E9-AEA7-4940-908D-80AD429BE5DA}"/>
              </a:ext>
            </a:extLst>
          </p:cNvPr>
          <p:cNvSpPr/>
          <p:nvPr/>
        </p:nvSpPr>
        <p:spPr>
          <a:xfrm>
            <a:off x="1275871" y="7887798"/>
            <a:ext cx="150229" cy="49034"/>
          </a:xfrm>
          <a:prstGeom prst="rect">
            <a:avLst/>
          </a:prstGeom>
          <a:solidFill>
            <a:schemeClr val="accent2"/>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857" name="Rectangle 1856">
            <a:extLst>
              <a:ext uri="{FF2B5EF4-FFF2-40B4-BE49-F238E27FC236}">
                <a16:creationId xmlns:a16="http://schemas.microsoft.com/office/drawing/2014/main" id="{971FA5B1-3219-D4E5-5017-F5FE7CC511C5}"/>
              </a:ext>
            </a:extLst>
          </p:cNvPr>
          <p:cNvSpPr/>
          <p:nvPr/>
        </p:nvSpPr>
        <p:spPr>
          <a:xfrm>
            <a:off x="1348336" y="8006438"/>
            <a:ext cx="150229" cy="49034"/>
          </a:xfrm>
          <a:prstGeom prst="rect">
            <a:avLst/>
          </a:prstGeom>
          <a:solidFill>
            <a:schemeClr val="accent5"/>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858" name="Rectangle 1857">
            <a:extLst>
              <a:ext uri="{FF2B5EF4-FFF2-40B4-BE49-F238E27FC236}">
                <a16:creationId xmlns:a16="http://schemas.microsoft.com/office/drawing/2014/main" id="{2F3C17A5-8A7E-208A-9E98-01DAB42A455B}"/>
              </a:ext>
            </a:extLst>
          </p:cNvPr>
          <p:cNvSpPr/>
          <p:nvPr/>
        </p:nvSpPr>
        <p:spPr>
          <a:xfrm>
            <a:off x="1275871" y="8131170"/>
            <a:ext cx="150229" cy="49034"/>
          </a:xfrm>
          <a:prstGeom prst="rect">
            <a:avLst/>
          </a:prstGeom>
          <a:solidFill>
            <a:schemeClr val="tx2"/>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859" name="Rectangle 1858">
            <a:extLst>
              <a:ext uri="{FF2B5EF4-FFF2-40B4-BE49-F238E27FC236}">
                <a16:creationId xmlns:a16="http://schemas.microsoft.com/office/drawing/2014/main" id="{5F0294D5-0D01-4CDD-7E3B-03EFCD87448F}"/>
              </a:ext>
            </a:extLst>
          </p:cNvPr>
          <p:cNvSpPr/>
          <p:nvPr/>
        </p:nvSpPr>
        <p:spPr>
          <a:xfrm>
            <a:off x="1350986" y="8242829"/>
            <a:ext cx="150229" cy="49034"/>
          </a:xfrm>
          <a:prstGeom prst="rect">
            <a:avLst/>
          </a:prstGeom>
          <a:solidFill>
            <a:schemeClr val="accent2"/>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860" name="TextBox 1859">
            <a:extLst>
              <a:ext uri="{FF2B5EF4-FFF2-40B4-BE49-F238E27FC236}">
                <a16:creationId xmlns:a16="http://schemas.microsoft.com/office/drawing/2014/main" id="{33847D1F-6D23-C522-728A-6DCD874171A1}"/>
              </a:ext>
            </a:extLst>
          </p:cNvPr>
          <p:cNvSpPr txBox="1"/>
          <p:nvPr/>
        </p:nvSpPr>
        <p:spPr>
          <a:xfrm>
            <a:off x="863550" y="8295048"/>
            <a:ext cx="10348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Main Repo</a:t>
            </a:r>
            <a:endParaRPr lang="en-US" sz="800" b="0" dirty="0"/>
          </a:p>
        </p:txBody>
      </p:sp>
      <p:sp>
        <p:nvSpPr>
          <p:cNvPr id="1861" name="TextBox 1860">
            <a:extLst>
              <a:ext uri="{FF2B5EF4-FFF2-40B4-BE49-F238E27FC236}">
                <a16:creationId xmlns:a16="http://schemas.microsoft.com/office/drawing/2014/main" id="{8760BCA7-FBAB-6C41-85C2-1FA676743FE6}"/>
              </a:ext>
            </a:extLst>
          </p:cNvPr>
          <p:cNvSpPr txBox="1"/>
          <p:nvPr/>
        </p:nvSpPr>
        <p:spPr>
          <a:xfrm>
            <a:off x="1958832" y="8313373"/>
            <a:ext cx="10348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Fork Repo</a:t>
            </a:r>
            <a:endParaRPr lang="en-US" sz="800" b="0" dirty="0"/>
          </a:p>
        </p:txBody>
      </p:sp>
      <p:graphicFrame>
        <p:nvGraphicFramePr>
          <p:cNvPr id="1862" name="Table">
            <a:extLst>
              <a:ext uri="{FF2B5EF4-FFF2-40B4-BE49-F238E27FC236}">
                <a16:creationId xmlns:a16="http://schemas.microsoft.com/office/drawing/2014/main" id="{37C38F4A-F53A-17F2-CED8-1C353A316970}"/>
              </a:ext>
            </a:extLst>
          </p:cNvPr>
          <p:cNvGraphicFramePr/>
          <p:nvPr>
            <p:extLst>
              <p:ext uri="{D42A27DB-BD31-4B8C-83A1-F6EECF244321}">
                <p14:modId xmlns:p14="http://schemas.microsoft.com/office/powerpoint/2010/main" val="3282468206"/>
              </p:ext>
            </p:extLst>
          </p:nvPr>
        </p:nvGraphicFramePr>
        <p:xfrm>
          <a:off x="2173456" y="7753034"/>
          <a:ext cx="627864" cy="356253"/>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bl>
          </a:graphicData>
        </a:graphic>
      </p:graphicFrame>
      <p:sp>
        <p:nvSpPr>
          <p:cNvPr id="1863" name="Rectangle 1862">
            <a:extLst>
              <a:ext uri="{FF2B5EF4-FFF2-40B4-BE49-F238E27FC236}">
                <a16:creationId xmlns:a16="http://schemas.microsoft.com/office/drawing/2014/main" id="{0E141A07-90A8-9600-44D9-E3A8E4832161}"/>
              </a:ext>
            </a:extLst>
          </p:cNvPr>
          <p:cNvSpPr/>
          <p:nvPr/>
        </p:nvSpPr>
        <p:spPr>
          <a:xfrm>
            <a:off x="2392187" y="7900921"/>
            <a:ext cx="150229" cy="49034"/>
          </a:xfrm>
          <a:prstGeom prst="rect">
            <a:avLst/>
          </a:prstGeom>
          <a:solidFill>
            <a:schemeClr val="accent2"/>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1864" name="Rectangle 1863">
            <a:extLst>
              <a:ext uri="{FF2B5EF4-FFF2-40B4-BE49-F238E27FC236}">
                <a16:creationId xmlns:a16="http://schemas.microsoft.com/office/drawing/2014/main" id="{D4F0E807-30D5-4093-66BF-3103AC20B66D}"/>
              </a:ext>
            </a:extLst>
          </p:cNvPr>
          <p:cNvSpPr/>
          <p:nvPr/>
        </p:nvSpPr>
        <p:spPr>
          <a:xfrm>
            <a:off x="2464652" y="8019561"/>
            <a:ext cx="150229" cy="49034"/>
          </a:xfrm>
          <a:prstGeom prst="rect">
            <a:avLst/>
          </a:prstGeom>
          <a:solidFill>
            <a:schemeClr val="accent5"/>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865" name="Straight Connector 1864">
            <a:extLst>
              <a:ext uri="{FF2B5EF4-FFF2-40B4-BE49-F238E27FC236}">
                <a16:creationId xmlns:a16="http://schemas.microsoft.com/office/drawing/2014/main" id="{0CEE7F4B-E8B4-39EF-36C6-7C29274C2DDB}"/>
              </a:ext>
            </a:extLst>
          </p:cNvPr>
          <p:cNvCxnSpPr>
            <a:cxnSpLocks/>
          </p:cNvCxnSpPr>
          <p:nvPr/>
        </p:nvCxnSpPr>
        <p:spPr>
          <a:xfrm>
            <a:off x="2120855" y="7696256"/>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cxnSp>
        <p:nvCxnSpPr>
          <p:cNvPr id="1866" name="Straight Connector 1865">
            <a:extLst>
              <a:ext uri="{FF2B5EF4-FFF2-40B4-BE49-F238E27FC236}">
                <a16:creationId xmlns:a16="http://schemas.microsoft.com/office/drawing/2014/main" id="{F9F6B281-64DB-F2DD-5567-EF39D120B92E}"/>
              </a:ext>
            </a:extLst>
          </p:cNvPr>
          <p:cNvCxnSpPr>
            <a:cxnSpLocks/>
          </p:cNvCxnSpPr>
          <p:nvPr/>
        </p:nvCxnSpPr>
        <p:spPr>
          <a:xfrm flipV="1">
            <a:off x="2134108" y="7704154"/>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sp>
        <p:nvSpPr>
          <p:cNvPr id="1867" name="TextBox 1866">
            <a:extLst>
              <a:ext uri="{FF2B5EF4-FFF2-40B4-BE49-F238E27FC236}">
                <a16:creationId xmlns:a16="http://schemas.microsoft.com/office/drawing/2014/main" id="{9819C123-26D9-90D7-046C-46083B069B27}"/>
              </a:ext>
            </a:extLst>
          </p:cNvPr>
          <p:cNvSpPr txBox="1"/>
          <p:nvPr/>
        </p:nvSpPr>
        <p:spPr>
          <a:xfrm>
            <a:off x="142917" y="8602715"/>
            <a:ext cx="4346831"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Jira Emotion CSV contains emotion labels manually determined from multiple raters. We want to look at comments with labels that have a majority consensus inter-rate agreement.</a:t>
            </a:r>
          </a:p>
        </p:txBody>
      </p:sp>
      <p:pic>
        <p:nvPicPr>
          <p:cNvPr id="1868" name="Graphic 1867" descr="Users with solid fill">
            <a:extLst>
              <a:ext uri="{FF2B5EF4-FFF2-40B4-BE49-F238E27FC236}">
                <a16:creationId xmlns:a16="http://schemas.microsoft.com/office/drawing/2014/main" id="{EE4FC1F1-DA3B-4097-40EB-F95DC44D096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88404" y="9419076"/>
            <a:ext cx="668157" cy="668157"/>
          </a:xfrm>
          <a:prstGeom prst="rect">
            <a:avLst/>
          </a:prstGeom>
        </p:spPr>
      </p:pic>
      <p:sp>
        <p:nvSpPr>
          <p:cNvPr id="1869" name="Google Shape;338;p18">
            <a:extLst>
              <a:ext uri="{FF2B5EF4-FFF2-40B4-BE49-F238E27FC236}">
                <a16:creationId xmlns:a16="http://schemas.microsoft.com/office/drawing/2014/main" id="{DC82FDCC-0B42-765E-199A-6122838696F6}"/>
              </a:ext>
            </a:extLst>
          </p:cNvPr>
          <p:cNvSpPr/>
          <p:nvPr/>
        </p:nvSpPr>
        <p:spPr>
          <a:xfrm>
            <a:off x="1573813" y="9356815"/>
            <a:ext cx="387998" cy="258963"/>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70" name="Google Shape;338;p18">
            <a:extLst>
              <a:ext uri="{FF2B5EF4-FFF2-40B4-BE49-F238E27FC236}">
                <a16:creationId xmlns:a16="http://schemas.microsoft.com/office/drawing/2014/main" id="{148FF718-3A3D-DF3A-32ED-930A49A02A8D}"/>
              </a:ext>
            </a:extLst>
          </p:cNvPr>
          <p:cNvSpPr/>
          <p:nvPr/>
        </p:nvSpPr>
        <p:spPr>
          <a:xfrm>
            <a:off x="2560768" y="9359550"/>
            <a:ext cx="387998" cy="258963"/>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871" name="Graphic 1870" descr="Smiling face outline with solid fill">
            <a:extLst>
              <a:ext uri="{FF2B5EF4-FFF2-40B4-BE49-F238E27FC236}">
                <a16:creationId xmlns:a16="http://schemas.microsoft.com/office/drawing/2014/main" id="{7BE89798-005A-3A4A-5B2E-EAB8B3A6857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638863" y="9349085"/>
            <a:ext cx="273841" cy="273841"/>
          </a:xfrm>
          <a:prstGeom prst="rect">
            <a:avLst/>
          </a:prstGeom>
        </p:spPr>
      </p:pic>
      <p:pic>
        <p:nvPicPr>
          <p:cNvPr id="1872" name="Graphic 1871" descr="Sad face outline with solid fill">
            <a:extLst>
              <a:ext uri="{FF2B5EF4-FFF2-40B4-BE49-F238E27FC236}">
                <a16:creationId xmlns:a16="http://schemas.microsoft.com/office/drawing/2014/main" id="{BB09931A-3A3D-93A2-2DB3-A11F5B751DF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626885" y="9352708"/>
            <a:ext cx="270117" cy="270117"/>
          </a:xfrm>
          <a:prstGeom prst="rect">
            <a:avLst/>
          </a:prstGeom>
        </p:spPr>
      </p:pic>
      <p:pic>
        <p:nvPicPr>
          <p:cNvPr id="1873" name="Graphic 1872" descr="User with solid fill">
            <a:extLst>
              <a:ext uri="{FF2B5EF4-FFF2-40B4-BE49-F238E27FC236}">
                <a16:creationId xmlns:a16="http://schemas.microsoft.com/office/drawing/2014/main" id="{C3A3CEA6-932D-D845-BA18-31232A8FF33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222006" y="9525702"/>
            <a:ext cx="453647" cy="453647"/>
          </a:xfrm>
          <a:prstGeom prst="rect">
            <a:avLst/>
          </a:prstGeom>
        </p:spPr>
      </p:pic>
      <p:cxnSp>
        <p:nvCxnSpPr>
          <p:cNvPr id="1874" name="Straight Connector 1873">
            <a:extLst>
              <a:ext uri="{FF2B5EF4-FFF2-40B4-BE49-F238E27FC236}">
                <a16:creationId xmlns:a16="http://schemas.microsoft.com/office/drawing/2014/main" id="{03635C4A-65F0-60CB-C9A9-DA7C0BA2043F}"/>
              </a:ext>
            </a:extLst>
          </p:cNvPr>
          <p:cNvCxnSpPr>
            <a:cxnSpLocks/>
          </p:cNvCxnSpPr>
          <p:nvPr/>
        </p:nvCxnSpPr>
        <p:spPr>
          <a:xfrm>
            <a:off x="2259562" y="9366703"/>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cxnSp>
        <p:nvCxnSpPr>
          <p:cNvPr id="1875" name="Straight Connector 1874">
            <a:extLst>
              <a:ext uri="{FF2B5EF4-FFF2-40B4-BE49-F238E27FC236}">
                <a16:creationId xmlns:a16="http://schemas.microsoft.com/office/drawing/2014/main" id="{2021C71C-D9BD-3D12-7BD7-85892785EB60}"/>
              </a:ext>
            </a:extLst>
          </p:cNvPr>
          <p:cNvCxnSpPr>
            <a:cxnSpLocks/>
          </p:cNvCxnSpPr>
          <p:nvPr/>
        </p:nvCxnSpPr>
        <p:spPr>
          <a:xfrm flipV="1">
            <a:off x="2272815" y="9374601"/>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sp>
        <p:nvSpPr>
          <p:cNvPr id="1876" name="TextBox 1875">
            <a:extLst>
              <a:ext uri="{FF2B5EF4-FFF2-40B4-BE49-F238E27FC236}">
                <a16:creationId xmlns:a16="http://schemas.microsoft.com/office/drawing/2014/main" id="{821CE26E-867D-0093-D2D7-A42026A2E2B3}"/>
              </a:ext>
            </a:extLst>
          </p:cNvPr>
          <p:cNvSpPr txBox="1"/>
          <p:nvPr/>
        </p:nvSpPr>
        <p:spPr>
          <a:xfrm>
            <a:off x="-2599075" y="1256962"/>
            <a:ext cx="1894349" cy="5975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3000" b="1" i="0" u="none" strike="noStrike" cap="none" spc="0" normalizeH="0" baseline="0" dirty="0">
                <a:ln>
                  <a:noFill/>
                </a:ln>
                <a:solidFill>
                  <a:srgbClr val="4C4C4C"/>
                </a:solidFill>
                <a:effectLst/>
                <a:uFillTx/>
                <a:latin typeface="Source Sans Pro"/>
                <a:ea typeface="Source Sans Pro"/>
                <a:cs typeface="Source Sans Pro"/>
                <a:sym typeface="Source Sans Pro"/>
              </a:rPr>
              <a:t>Iteration 4</a:t>
            </a:r>
          </a:p>
        </p:txBody>
      </p:sp>
    </p:spTree>
    <p:extLst>
      <p:ext uri="{BB962C8B-B14F-4D97-AF65-F5344CB8AC3E}">
        <p14:creationId xmlns:p14="http://schemas.microsoft.com/office/powerpoint/2010/main" val="1308751145"/>
      </p:ext>
    </p:extLst>
  </p:cSld>
  <p:clrMapOvr>
    <a:masterClrMapping/>
  </p:clrMapOvr>
  <p:transition spd="med"/>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CC4B4-0813-B10A-FA20-79C77FDABE7E}"/>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A396A558-FED6-B19C-FCF9-247FD2843DD9}"/>
              </a:ext>
            </a:extLst>
          </p:cNvPr>
          <p:cNvPicPr>
            <a:picLocks noGrp="1" noRot="1" noChangeAspect="1" noMove="1" noResize="1" noEditPoints="1" noAdjustHandles="1" noChangeArrowheads="1" noChangeShapeType="1" noCrop="1"/>
          </p:cNvPicPr>
          <p:nvPr/>
        </p:nvPicPr>
        <p:blipFill>
          <a:blip r:embed="rId3"/>
          <a:stretch>
            <a:fillRect/>
          </a:stretch>
        </p:blipFill>
        <p:spPr>
          <a:xfrm>
            <a:off x="8397917" y="-673983"/>
            <a:ext cx="5598432" cy="2990088"/>
          </a:xfrm>
          <a:prstGeom prst="rect">
            <a:avLst/>
          </a:prstGeom>
          <a:ln w="12700">
            <a:miter lim="400000"/>
          </a:ln>
        </p:spPr>
      </p:pic>
      <p:sp>
        <p:nvSpPr>
          <p:cNvPr id="312" name="Line">
            <a:extLst>
              <a:ext uri="{FF2B5EF4-FFF2-40B4-BE49-F238E27FC236}">
                <a16:creationId xmlns:a16="http://schemas.microsoft.com/office/drawing/2014/main" id="{C33F6DD9-C996-40A4-C6D9-558491AAEB47}"/>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 name="Line">
            <a:extLst>
              <a:ext uri="{FF2B5EF4-FFF2-40B4-BE49-F238E27FC236}">
                <a16:creationId xmlns:a16="http://schemas.microsoft.com/office/drawing/2014/main" id="{36E7DBAE-CF26-7907-0073-B051481B00A5}"/>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 name="YOUR LOGO…">
            <a:extLst>
              <a:ext uri="{FF2B5EF4-FFF2-40B4-BE49-F238E27FC236}">
                <a16:creationId xmlns:a16="http://schemas.microsoft.com/office/drawing/2014/main" id="{2E0BEC37-A95F-5A0E-44DB-5C628F482587}"/>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err="1"/>
              <a:t>Kaiāulu</a:t>
            </a:r>
            <a:endParaRPr sz="2400" dirty="0"/>
          </a:p>
        </p:txBody>
      </p:sp>
      <p:sp>
        <p:nvSpPr>
          <p:cNvPr id="4" name="Three Column Layout: : CHEAT SHEET">
            <a:extLst>
              <a:ext uri="{FF2B5EF4-FFF2-40B4-BE49-F238E27FC236}">
                <a16:creationId xmlns:a16="http://schemas.microsoft.com/office/drawing/2014/main" id="{7F621231-65DF-11F7-7E17-3912872A9EB0}"/>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Sentiment Dataset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5" name="Use headers, colors, and/or backgrounds to separate or group together sections.">
            <a:extLst>
              <a:ext uri="{FF2B5EF4-FFF2-40B4-BE49-F238E27FC236}">
                <a16:creationId xmlns:a16="http://schemas.microsoft.com/office/drawing/2014/main" id="{E864578D-83EE-E7B8-BA35-54CD1D75C00D}"/>
              </a:ext>
            </a:extLst>
          </p:cNvPr>
          <p:cNvSpPr txBox="1"/>
          <p:nvPr/>
        </p:nvSpPr>
        <p:spPr>
          <a:xfrm>
            <a:off x="219190" y="1892216"/>
            <a:ext cx="4336216" cy="1439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lvl="0">
              <a:lnSpc>
                <a:spcPct val="90000"/>
              </a:lnSpc>
              <a:buSzPts val="3700"/>
            </a:pPr>
            <a:r>
              <a:rPr lang="en-US" b="0" dirty="0"/>
              <a:t>Manually annotated sentiment/emotion labels can be useful for training and evaluating novel machine learning classifiers. However, these labels lack sufficient metadata to be extended with new observations for the same projects they were created. This </a:t>
            </a:r>
            <a:r>
              <a:rPr lang="en-US" b="0" dirty="0" err="1"/>
              <a:t>cheatsheet</a:t>
            </a:r>
            <a:r>
              <a:rPr lang="en-US" b="0" dirty="0"/>
              <a:t> demonstrates the reconstruction process used to expand labels' metadata, define reproducible project configuration files, and make them usable in </a:t>
            </a:r>
            <a:r>
              <a:rPr lang="en-US" b="0" dirty="0" err="1"/>
              <a:t>Kaiaulu</a:t>
            </a:r>
            <a:r>
              <a:rPr lang="en-US" b="0" dirty="0"/>
              <a:t> for new analyses.</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6" name="Logistics">
            <a:extLst>
              <a:ext uri="{FF2B5EF4-FFF2-40B4-BE49-F238E27FC236}">
                <a16:creationId xmlns:a16="http://schemas.microsoft.com/office/drawing/2014/main" id="{E5A3F05F-CC9A-369F-0FDA-1F2A05D6508E}"/>
              </a:ext>
            </a:extLst>
          </p:cNvPr>
          <p:cNvSpPr txBox="1"/>
          <p:nvPr/>
        </p:nvSpPr>
        <p:spPr>
          <a:xfrm>
            <a:off x="4968243" y="1513569"/>
            <a:ext cx="3953005"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Sentiment Dataset to </a:t>
            </a:r>
            <a:r>
              <a:rPr lang="en-US" dirty="0" err="1">
                <a:latin typeface="Source Sans Pro" panose="020B0503030403020204" pitchFamily="34" charset="0"/>
                <a:ea typeface="Source Sans Pro" panose="020B0503030403020204" pitchFamily="34" charset="0"/>
                <a:cs typeface="Arial" panose="020B0604020202020204" pitchFamily="34" charset="0"/>
              </a:rPr>
              <a:t>Kaiaulu</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7" name="Layout Suggestions">
            <a:extLst>
              <a:ext uri="{FF2B5EF4-FFF2-40B4-BE49-F238E27FC236}">
                <a16:creationId xmlns:a16="http://schemas.microsoft.com/office/drawing/2014/main" id="{53A1C88F-93BB-5665-A981-D6E4E80C2200}"/>
              </a:ext>
            </a:extLst>
          </p:cNvPr>
          <p:cNvSpPr txBox="1"/>
          <p:nvPr/>
        </p:nvSpPr>
        <p:spPr>
          <a:xfrm>
            <a:off x="275721" y="1519235"/>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About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8189BBCC-A8D3-3F02-36BE-B5D697FDF21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9" name="TextBox 8">
            <a:extLst>
              <a:ext uri="{FF2B5EF4-FFF2-40B4-BE49-F238E27FC236}">
                <a16:creationId xmlns:a16="http://schemas.microsoft.com/office/drawing/2014/main" id="{D21A6943-5552-99B9-7BE8-AD819FA5A09E}"/>
              </a:ext>
            </a:extLst>
          </p:cNvPr>
          <p:cNvSpPr txBox="1"/>
          <p:nvPr/>
        </p:nvSpPr>
        <p:spPr>
          <a:xfrm>
            <a:off x="7369010" y="10301097"/>
            <a:ext cx="6288562"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Samantha </a:t>
            </a:r>
            <a:r>
              <a:rPr lang="en-US" sz="1000" b="0" dirty="0">
                <a:solidFill>
                  <a:schemeClr val="tx1"/>
                </a:solidFill>
              </a:rPr>
              <a:t>Limon,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Carlos Paradis</a:t>
            </a:r>
            <a:r>
              <a:rPr lang="en-US" sz="1000" b="0" dirty="0">
                <a:solidFill>
                  <a:schemeClr val="tx1"/>
                </a:solidFill>
              </a:rPr>
              <a: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a:t>
            </a:r>
            <a:r>
              <a:rPr kumimoji="0" lang="en-US" sz="1000" b="0" i="0" u="none" strike="noStrike" cap="none" spc="0" normalizeH="0" baseline="0" dirty="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10" name="Layout Suggestions">
            <a:extLst>
              <a:ext uri="{FF2B5EF4-FFF2-40B4-BE49-F238E27FC236}">
                <a16:creationId xmlns:a16="http://schemas.microsoft.com/office/drawing/2014/main" id="{B411AB8C-1F53-1C8C-E052-A8664FD40138}"/>
              </a:ext>
            </a:extLst>
          </p:cNvPr>
          <p:cNvSpPr txBox="1"/>
          <p:nvPr/>
        </p:nvSpPr>
        <p:spPr>
          <a:xfrm>
            <a:off x="244833" y="3313747"/>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Dataset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1" name="Manipulate Variables">
            <a:extLst>
              <a:ext uri="{FF2B5EF4-FFF2-40B4-BE49-F238E27FC236}">
                <a16:creationId xmlns:a16="http://schemas.microsoft.com/office/drawing/2014/main" id="{9D7035C2-1715-3CDA-E413-3EC94F30A6F9}"/>
              </a:ext>
            </a:extLst>
          </p:cNvPr>
          <p:cNvSpPr txBox="1"/>
          <p:nvPr/>
        </p:nvSpPr>
        <p:spPr>
          <a:xfrm>
            <a:off x="9587107" y="1513568"/>
            <a:ext cx="258564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Related Notebooks</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2" name="Create a visual hierarchy. Help users navigate the page with titles, subtitles, and subsubtitles">
            <a:extLst>
              <a:ext uri="{FF2B5EF4-FFF2-40B4-BE49-F238E27FC236}">
                <a16:creationId xmlns:a16="http://schemas.microsoft.com/office/drawing/2014/main" id="{260622F7-2FAC-7947-BBA3-94AB066063CF}"/>
              </a:ext>
            </a:extLst>
          </p:cNvPr>
          <p:cNvSpPr txBox="1"/>
          <p:nvPr/>
        </p:nvSpPr>
        <p:spPr>
          <a:xfrm>
            <a:off x="9545296" y="1911334"/>
            <a:ext cx="4001355"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See supplementary notebooks that go in-depth on the documentation on making the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Github</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 Gold Standard  and Jira Emotion datasets compatible with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Kaiaulu</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a:t>
            </a:r>
          </a:p>
        </p:txBody>
      </p:sp>
      <p:sp>
        <p:nvSpPr>
          <p:cNvPr id="13" name="TextBox 12">
            <a:extLst>
              <a:ext uri="{FF2B5EF4-FFF2-40B4-BE49-F238E27FC236}">
                <a16:creationId xmlns:a16="http://schemas.microsoft.com/office/drawing/2014/main" id="{9326AD3A-D885-504E-7CCC-E072600AEF39}"/>
              </a:ext>
            </a:extLst>
          </p:cNvPr>
          <p:cNvSpPr txBox="1"/>
          <p:nvPr/>
        </p:nvSpPr>
        <p:spPr>
          <a:xfrm>
            <a:off x="9585321" y="2775783"/>
            <a:ext cx="3656656" cy="951462"/>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1_load_sentiment_csv_to_mysql.ipynb</a:t>
            </a:r>
          </a:p>
          <a:p>
            <a:pPr marL="228600" indent="-228600">
              <a:buFont typeface="+mj-lt"/>
              <a:buAutoNum type="arabicPeriod"/>
            </a:pPr>
            <a:r>
              <a:rPr lang="en-US" dirty="0"/>
              <a:t>2_explore_relevant_projects.ipynb</a:t>
            </a:r>
          </a:p>
          <a:p>
            <a:pPr marL="228600" indent="-228600">
              <a:buFont typeface="+mj-lt"/>
              <a:buAutoNum type="arabicPeriod"/>
            </a:pPr>
            <a:r>
              <a:rPr lang="en-US" dirty="0"/>
              <a:t>3_scale_config_files.ipynb</a:t>
            </a:r>
          </a:p>
          <a:p>
            <a:pPr marL="228600" indent="-228600">
              <a:buFont typeface="+mj-lt"/>
              <a:buAutoNum type="arabicPeriod"/>
            </a:pPr>
            <a:r>
              <a:rPr lang="en-US" dirty="0"/>
              <a:t>4_add_sentiment_to_kaiaulu.ipynb</a:t>
            </a:r>
          </a:p>
        </p:txBody>
      </p:sp>
      <p:sp>
        <p:nvSpPr>
          <p:cNvPr id="14" name="Manipulate Variables">
            <a:extLst>
              <a:ext uri="{FF2B5EF4-FFF2-40B4-BE49-F238E27FC236}">
                <a16:creationId xmlns:a16="http://schemas.microsoft.com/office/drawing/2014/main" id="{F43101B1-6146-6FB1-FBFF-B48A1A7E6D62}"/>
              </a:ext>
            </a:extLst>
          </p:cNvPr>
          <p:cNvSpPr txBox="1"/>
          <p:nvPr/>
        </p:nvSpPr>
        <p:spPr>
          <a:xfrm>
            <a:off x="9542306" y="4660893"/>
            <a:ext cx="210634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Data Expansion</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5" name="Create a visual hierarchy. Help users navigate the page with titles, subtitles, and subsubtitles">
            <a:extLst>
              <a:ext uri="{FF2B5EF4-FFF2-40B4-BE49-F238E27FC236}">
                <a16:creationId xmlns:a16="http://schemas.microsoft.com/office/drawing/2014/main" id="{F05C3E30-A8C7-B205-1CF0-48FD92C2663E}"/>
              </a:ext>
            </a:extLst>
          </p:cNvPr>
          <p:cNvSpPr txBox="1"/>
          <p:nvPr/>
        </p:nvSpPr>
        <p:spPr>
          <a:xfrm>
            <a:off x="9517994" y="5036356"/>
            <a:ext cx="4001355" cy="20491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r>
              <a:rPr lang="en-US" sz="1100" b="0" dirty="0"/>
              <a:t>Through this pipeline, we recover sufficient metadata to re-obtain the data using </a:t>
            </a:r>
            <a:r>
              <a:rPr lang="en-US" sz="1100" b="0" dirty="0" err="1"/>
              <a:t>Kaiaulu</a:t>
            </a:r>
            <a:r>
              <a:rPr lang="en-US" sz="1100" b="0" dirty="0"/>
              <a:t>. This metadata enables two types of dataset expansion using </a:t>
            </a:r>
            <a:r>
              <a:rPr lang="en-US" sz="1100" b="0" dirty="0" err="1"/>
              <a:t>Kaiaulu</a:t>
            </a:r>
            <a:r>
              <a:rPr lang="en-US" sz="1100" b="0" dirty="0"/>
              <a:t>:</a:t>
            </a:r>
          </a:p>
          <a:p>
            <a:pPr marL="228600" indent="-228600">
              <a:buAutoNum type="arabicPeriod"/>
            </a:pPr>
            <a:r>
              <a:rPr lang="en-US" sz="1100" dirty="0"/>
              <a:t>Temporal expansion</a:t>
            </a:r>
            <a:r>
              <a:rPr lang="en-US" sz="1100" b="0" dirty="0"/>
              <a:t>: Re-download the same projects' comments from 2014 through today.</a:t>
            </a:r>
          </a:p>
          <a:p>
            <a:pPr marL="228600" indent="-228600">
              <a:buAutoNum type="arabicPeriod"/>
            </a:pPr>
            <a:r>
              <a:rPr lang="en-US" sz="1100" dirty="0"/>
              <a:t>Horizontal expansion</a:t>
            </a:r>
            <a:r>
              <a:rPr lang="en-US" sz="1100" b="0" dirty="0"/>
              <a:t>: Download additional data sources for those same projects (e.g., source code, version control history) that can be linked back to sentiment labels</a:t>
            </a:r>
          </a:p>
          <a:p>
            <a:r>
              <a:rPr lang="en-US" sz="1100" b="0" dirty="0"/>
              <a:t>The labeled comments can be used to train the sentiment classifier and for engagement analysis (refer to the Sentiment Classifier </a:t>
            </a:r>
            <a:r>
              <a:rPr lang="en-US" sz="1100" b="0" dirty="0" err="1"/>
              <a:t>cheatsheet</a:t>
            </a:r>
            <a:r>
              <a:rPr lang="en-US" sz="1100" b="0" dirty="0"/>
              <a:t>).</a:t>
            </a:r>
          </a:p>
        </p:txBody>
      </p:sp>
      <p:sp>
        <p:nvSpPr>
          <p:cNvPr id="16" name="Layout Suggestions">
            <a:extLst>
              <a:ext uri="{FF2B5EF4-FFF2-40B4-BE49-F238E27FC236}">
                <a16:creationId xmlns:a16="http://schemas.microsoft.com/office/drawing/2014/main" id="{DFC3AB68-4FEE-D41A-88D8-2E512B644528}"/>
              </a:ext>
            </a:extLst>
          </p:cNvPr>
          <p:cNvSpPr txBox="1"/>
          <p:nvPr/>
        </p:nvSpPr>
        <p:spPr>
          <a:xfrm>
            <a:off x="221504" y="7101794"/>
            <a:ext cx="433390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F5749FFF-6393-B7D8-B570-13283FEB4320}"/>
              </a:ext>
            </a:extLst>
          </p:cNvPr>
          <p:cNvSpPr txBox="1"/>
          <p:nvPr/>
        </p:nvSpPr>
        <p:spPr>
          <a:xfrm>
            <a:off x="244833" y="3653776"/>
            <a:ext cx="43468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following must be set up/downloaded:</a:t>
            </a:r>
          </a:p>
        </p:txBody>
      </p:sp>
      <p:sp>
        <p:nvSpPr>
          <p:cNvPr id="18" name="TextBox 17">
            <a:extLst>
              <a:ext uri="{FF2B5EF4-FFF2-40B4-BE49-F238E27FC236}">
                <a16:creationId xmlns:a16="http://schemas.microsoft.com/office/drawing/2014/main" id="{421838D9-5B7C-DF50-3AC1-39066613D555}"/>
              </a:ext>
            </a:extLst>
          </p:cNvPr>
          <p:cNvSpPr txBox="1"/>
          <p:nvPr/>
        </p:nvSpPr>
        <p:spPr>
          <a:xfrm>
            <a:off x="4898062" y="3304109"/>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err="1"/>
              <a:t>Github</a:t>
            </a:r>
            <a:r>
              <a:rPr lang="en-US" dirty="0"/>
              <a:t> Gold CSV</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19" name="Straight Arrow Connector 18">
            <a:extLst>
              <a:ext uri="{FF2B5EF4-FFF2-40B4-BE49-F238E27FC236}">
                <a16:creationId xmlns:a16="http://schemas.microsoft.com/office/drawing/2014/main" id="{CB0EAD27-6034-374F-E1AB-1BD42F4A63F5}"/>
              </a:ext>
            </a:extLst>
          </p:cNvPr>
          <p:cNvCxnSpPr>
            <a:cxnSpLocks/>
          </p:cNvCxnSpPr>
          <p:nvPr/>
        </p:nvCxnSpPr>
        <p:spPr>
          <a:xfrm>
            <a:off x="6127817" y="2739306"/>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0" name="Table">
            <a:extLst>
              <a:ext uri="{FF2B5EF4-FFF2-40B4-BE49-F238E27FC236}">
                <a16:creationId xmlns:a16="http://schemas.microsoft.com/office/drawing/2014/main" id="{CA1EB26F-FBDB-3940-B9BA-14AEDDBDEA13}"/>
              </a:ext>
            </a:extLst>
          </p:cNvPr>
          <p:cNvGraphicFramePr/>
          <p:nvPr>
            <p:extLst>
              <p:ext uri="{D42A27DB-BD31-4B8C-83A1-F6EECF244321}">
                <p14:modId xmlns:p14="http://schemas.microsoft.com/office/powerpoint/2010/main" val="4090906515"/>
              </p:ext>
            </p:extLst>
          </p:nvPr>
        </p:nvGraphicFramePr>
        <p:xfrm>
          <a:off x="5214672" y="2681254"/>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1" name="TextBox 20">
            <a:extLst>
              <a:ext uri="{FF2B5EF4-FFF2-40B4-BE49-F238E27FC236}">
                <a16:creationId xmlns:a16="http://schemas.microsoft.com/office/drawing/2014/main" id="{DC0ECF1B-B001-CA20-14A5-CC6F596407DE}"/>
              </a:ext>
            </a:extLst>
          </p:cNvPr>
          <p:cNvSpPr txBox="1"/>
          <p:nvPr/>
        </p:nvSpPr>
        <p:spPr>
          <a:xfrm>
            <a:off x="6160379" y="2512222"/>
            <a:ext cx="127533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9CE7D06A-6E93-3B2F-2C29-86B558EFE8DA}"/>
              </a:ext>
            </a:extLst>
          </p:cNvPr>
          <p:cNvSpPr txBox="1"/>
          <p:nvPr/>
        </p:nvSpPr>
        <p:spPr>
          <a:xfrm>
            <a:off x="6165384" y="2758990"/>
            <a:ext cx="144108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Q-Join-Commit-Comments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3" name="TextBox 22">
            <a:extLst>
              <a:ext uri="{FF2B5EF4-FFF2-40B4-BE49-F238E27FC236}">
                <a16:creationId xmlns:a16="http://schemas.microsoft.com/office/drawing/2014/main" id="{5E5990DC-1A50-3AD0-89F4-8C4A95799600}"/>
              </a:ext>
            </a:extLst>
          </p:cNvPr>
          <p:cNvSpPr txBox="1"/>
          <p:nvPr/>
        </p:nvSpPr>
        <p:spPr>
          <a:xfrm>
            <a:off x="6091806" y="3030690"/>
            <a:ext cx="1514660" cy="2333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800" b="0" dirty="0"/>
              <a:t>Q-Join-Pull-Request-Comments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4" name="Straight Arrow Connector 23">
            <a:extLst>
              <a:ext uri="{FF2B5EF4-FFF2-40B4-BE49-F238E27FC236}">
                <a16:creationId xmlns:a16="http://schemas.microsoft.com/office/drawing/2014/main" id="{52230D05-1920-6DB0-F71A-56A35BA4A9A0}"/>
              </a:ext>
            </a:extLst>
          </p:cNvPr>
          <p:cNvCxnSpPr>
            <a:cxnSpLocks/>
          </p:cNvCxnSpPr>
          <p:nvPr/>
        </p:nvCxnSpPr>
        <p:spPr>
          <a:xfrm>
            <a:off x="6127817" y="2985359"/>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EBCEC72F-DC7F-5E82-885E-055BC345CB26}"/>
              </a:ext>
            </a:extLst>
          </p:cNvPr>
          <p:cNvCxnSpPr>
            <a:cxnSpLocks/>
          </p:cNvCxnSpPr>
          <p:nvPr/>
        </p:nvCxnSpPr>
        <p:spPr>
          <a:xfrm>
            <a:off x="6127817" y="3231412"/>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Can 25">
            <a:extLst>
              <a:ext uri="{FF2B5EF4-FFF2-40B4-BE49-F238E27FC236}">
                <a16:creationId xmlns:a16="http://schemas.microsoft.com/office/drawing/2014/main" id="{C016F3AE-5905-7A66-545D-05D51DCCBD5F}"/>
              </a:ext>
            </a:extLst>
          </p:cNvPr>
          <p:cNvSpPr/>
          <p:nvPr/>
        </p:nvSpPr>
        <p:spPr>
          <a:xfrm>
            <a:off x="7942176" y="2632119"/>
            <a:ext cx="765111" cy="707521"/>
          </a:xfrm>
          <a:prstGeom prst="can">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27" name="TextBox 26">
            <a:extLst>
              <a:ext uri="{FF2B5EF4-FFF2-40B4-BE49-F238E27FC236}">
                <a16:creationId xmlns:a16="http://schemas.microsoft.com/office/drawing/2014/main" id="{DBD5CACC-42B0-6C11-861C-C74C9EB426AE}"/>
              </a:ext>
            </a:extLst>
          </p:cNvPr>
          <p:cNvSpPr txBox="1"/>
          <p:nvPr/>
        </p:nvSpPr>
        <p:spPr>
          <a:xfrm>
            <a:off x="7593293" y="3309908"/>
            <a:ext cx="1418243"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err="1"/>
              <a:t>GHTorrent</a:t>
            </a:r>
            <a:r>
              <a:rPr lang="en-US" dirty="0"/>
              <a:t> 2014 DB</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8" name="TextBox 27">
            <a:extLst>
              <a:ext uri="{FF2B5EF4-FFF2-40B4-BE49-F238E27FC236}">
                <a16:creationId xmlns:a16="http://schemas.microsoft.com/office/drawing/2014/main" id="{AF44DE55-E153-E241-3A71-CB5E7B959483}"/>
              </a:ext>
            </a:extLst>
          </p:cNvPr>
          <p:cNvSpPr txBox="1"/>
          <p:nvPr/>
        </p:nvSpPr>
        <p:spPr>
          <a:xfrm>
            <a:off x="4805796" y="4961870"/>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29" name="Group 28">
            <a:extLst>
              <a:ext uri="{FF2B5EF4-FFF2-40B4-BE49-F238E27FC236}">
                <a16:creationId xmlns:a16="http://schemas.microsoft.com/office/drawing/2014/main" id="{AC502396-48A9-3A74-37F3-CEEB93118061}"/>
              </a:ext>
            </a:extLst>
          </p:cNvPr>
          <p:cNvGrpSpPr/>
          <p:nvPr/>
        </p:nvGrpSpPr>
        <p:grpSpPr>
          <a:xfrm>
            <a:off x="5609863" y="4520518"/>
            <a:ext cx="953200" cy="458010"/>
            <a:chOff x="5528605" y="4530831"/>
            <a:chExt cx="953200" cy="458010"/>
          </a:xfrm>
        </p:grpSpPr>
        <p:graphicFrame>
          <p:nvGraphicFramePr>
            <p:cNvPr id="30" name="Table">
              <a:extLst>
                <a:ext uri="{FF2B5EF4-FFF2-40B4-BE49-F238E27FC236}">
                  <a16:creationId xmlns:a16="http://schemas.microsoft.com/office/drawing/2014/main" id="{32566805-EE6B-B797-31A7-283A328894AD}"/>
                </a:ext>
              </a:extLst>
            </p:cNvPr>
            <p:cNvGraphicFramePr/>
            <p:nvPr>
              <p:extLst>
                <p:ext uri="{D42A27DB-BD31-4B8C-83A1-F6EECF244321}">
                  <p14:modId xmlns:p14="http://schemas.microsoft.com/office/powerpoint/2010/main" val="129110268"/>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31" name="Table">
              <a:extLst>
                <a:ext uri="{FF2B5EF4-FFF2-40B4-BE49-F238E27FC236}">
                  <a16:creationId xmlns:a16="http://schemas.microsoft.com/office/drawing/2014/main" id="{AFFEB0BB-8848-5E84-FD63-8733E05B3E84}"/>
                </a:ext>
              </a:extLst>
            </p:cNvPr>
            <p:cNvGraphicFramePr/>
            <p:nvPr>
              <p:extLst>
                <p:ext uri="{D42A27DB-BD31-4B8C-83A1-F6EECF244321}">
                  <p14:modId xmlns:p14="http://schemas.microsoft.com/office/powerpoint/2010/main" val="2009885983"/>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sp>
        <p:nvSpPr>
          <p:cNvPr id="32" name="TextBox 31">
            <a:extLst>
              <a:ext uri="{FF2B5EF4-FFF2-40B4-BE49-F238E27FC236}">
                <a16:creationId xmlns:a16="http://schemas.microsoft.com/office/drawing/2014/main" id="{0E4BC3A3-FF0E-C9B1-8BCF-AE3699D9FDCB}"/>
              </a:ext>
            </a:extLst>
          </p:cNvPr>
          <p:cNvSpPr txBox="1"/>
          <p:nvPr/>
        </p:nvSpPr>
        <p:spPr>
          <a:xfrm>
            <a:off x="5384035" y="4960252"/>
            <a:ext cx="139124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err="1"/>
              <a:t>Github</a:t>
            </a:r>
            <a:r>
              <a:rPr lang="en-US" sz="800" b="0" dirty="0"/>
              <a:t> Gold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3" name="Line">
            <a:extLst>
              <a:ext uri="{FF2B5EF4-FFF2-40B4-BE49-F238E27FC236}">
                <a16:creationId xmlns:a16="http://schemas.microsoft.com/office/drawing/2014/main" id="{EB8D27CE-8EAC-722E-F6BB-F19F04534608}"/>
              </a:ext>
            </a:extLst>
          </p:cNvPr>
          <p:cNvSpPr/>
          <p:nvPr/>
        </p:nvSpPr>
        <p:spPr>
          <a:xfrm flipV="1">
            <a:off x="4836043" y="5961806"/>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4" name="TextBox 33">
            <a:extLst>
              <a:ext uri="{FF2B5EF4-FFF2-40B4-BE49-F238E27FC236}">
                <a16:creationId xmlns:a16="http://schemas.microsoft.com/office/drawing/2014/main" id="{A6B6F51C-3BE1-FB16-364D-2E08A9B7D606}"/>
              </a:ext>
            </a:extLst>
          </p:cNvPr>
          <p:cNvSpPr txBox="1"/>
          <p:nvPr/>
        </p:nvSpPr>
        <p:spPr>
          <a:xfrm>
            <a:off x="4907496" y="7376582"/>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Jira Emotion CSV</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5" name="Straight Arrow Connector 34">
            <a:extLst>
              <a:ext uri="{FF2B5EF4-FFF2-40B4-BE49-F238E27FC236}">
                <a16:creationId xmlns:a16="http://schemas.microsoft.com/office/drawing/2014/main" id="{36914A82-A96D-29A1-8A68-4A0B5A81EDF8}"/>
              </a:ext>
            </a:extLst>
          </p:cNvPr>
          <p:cNvCxnSpPr>
            <a:cxnSpLocks/>
          </p:cNvCxnSpPr>
          <p:nvPr/>
        </p:nvCxnSpPr>
        <p:spPr>
          <a:xfrm>
            <a:off x="6135419" y="6933077"/>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36" name="Table">
            <a:extLst>
              <a:ext uri="{FF2B5EF4-FFF2-40B4-BE49-F238E27FC236}">
                <a16:creationId xmlns:a16="http://schemas.microsoft.com/office/drawing/2014/main" id="{888A97C0-FC08-48FE-EA8B-BF8279648054}"/>
              </a:ext>
            </a:extLst>
          </p:cNvPr>
          <p:cNvGraphicFramePr/>
          <p:nvPr>
            <p:extLst>
              <p:ext uri="{D42A27DB-BD31-4B8C-83A1-F6EECF244321}">
                <p14:modId xmlns:p14="http://schemas.microsoft.com/office/powerpoint/2010/main" val="1608027905"/>
              </p:ext>
            </p:extLst>
          </p:nvPr>
        </p:nvGraphicFramePr>
        <p:xfrm>
          <a:off x="5224106" y="6753727"/>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cxnSp>
        <p:nvCxnSpPr>
          <p:cNvPr id="37" name="Straight Arrow Connector 36">
            <a:extLst>
              <a:ext uri="{FF2B5EF4-FFF2-40B4-BE49-F238E27FC236}">
                <a16:creationId xmlns:a16="http://schemas.microsoft.com/office/drawing/2014/main" id="{4DAC9130-6F5A-E615-9867-052088E1F2CC}"/>
              </a:ext>
            </a:extLst>
          </p:cNvPr>
          <p:cNvCxnSpPr>
            <a:cxnSpLocks/>
          </p:cNvCxnSpPr>
          <p:nvPr/>
        </p:nvCxnSpPr>
        <p:spPr>
          <a:xfrm>
            <a:off x="6135419" y="7179130"/>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Can 37">
            <a:extLst>
              <a:ext uri="{FF2B5EF4-FFF2-40B4-BE49-F238E27FC236}">
                <a16:creationId xmlns:a16="http://schemas.microsoft.com/office/drawing/2014/main" id="{196A0F68-3877-980F-66D3-C27BE870C3F5}"/>
              </a:ext>
            </a:extLst>
          </p:cNvPr>
          <p:cNvSpPr/>
          <p:nvPr/>
        </p:nvSpPr>
        <p:spPr>
          <a:xfrm>
            <a:off x="7919861" y="6704071"/>
            <a:ext cx="765111" cy="707521"/>
          </a:xfrm>
          <a:prstGeom prst="can">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9" name="TextBox 38">
            <a:extLst>
              <a:ext uri="{FF2B5EF4-FFF2-40B4-BE49-F238E27FC236}">
                <a16:creationId xmlns:a16="http://schemas.microsoft.com/office/drawing/2014/main" id="{FA3EE4B5-88BC-F9AD-013A-493620CC5874}"/>
              </a:ext>
            </a:extLst>
          </p:cNvPr>
          <p:cNvSpPr txBox="1"/>
          <p:nvPr/>
        </p:nvSpPr>
        <p:spPr>
          <a:xfrm>
            <a:off x="7664746" y="7372500"/>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PostgreSQL DB</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0" name="TextBox 39">
            <a:extLst>
              <a:ext uri="{FF2B5EF4-FFF2-40B4-BE49-F238E27FC236}">
                <a16:creationId xmlns:a16="http://schemas.microsoft.com/office/drawing/2014/main" id="{541126B1-684F-61A3-361B-BD934FF8B1E6}"/>
              </a:ext>
            </a:extLst>
          </p:cNvPr>
          <p:cNvSpPr txBox="1"/>
          <p:nvPr/>
        </p:nvSpPr>
        <p:spPr>
          <a:xfrm>
            <a:off x="6129023" y="6689831"/>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479B3977-C4A6-56C7-6420-45AB7EEEA741}"/>
              </a:ext>
            </a:extLst>
          </p:cNvPr>
          <p:cNvSpPr txBox="1"/>
          <p:nvPr/>
        </p:nvSpPr>
        <p:spPr>
          <a:xfrm>
            <a:off x="6135419" y="6941250"/>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2" name="TextBox 41">
            <a:extLst>
              <a:ext uri="{FF2B5EF4-FFF2-40B4-BE49-F238E27FC236}">
                <a16:creationId xmlns:a16="http://schemas.microsoft.com/office/drawing/2014/main" id="{8C766188-0451-6338-90AB-B0F0207D0E39}"/>
              </a:ext>
            </a:extLst>
          </p:cNvPr>
          <p:cNvSpPr txBox="1"/>
          <p:nvPr/>
        </p:nvSpPr>
        <p:spPr>
          <a:xfrm>
            <a:off x="4879086" y="1907656"/>
            <a:ext cx="272738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500" dirty="0" err="1"/>
              <a:t>Github</a:t>
            </a:r>
            <a:r>
              <a:rPr lang="en-US" sz="1500" dirty="0"/>
              <a:t> Gold Standard Dataset</a:t>
            </a:r>
            <a:endParaRPr kumimoji="0" lang="en-US" sz="1500" b="1" i="0" strike="noStrike" cap="none" spc="0" normalizeH="0" baseline="0" dirty="0">
              <a:ln>
                <a:noFill/>
              </a:ln>
              <a:effectLst/>
              <a:uFillTx/>
              <a:latin typeface="Source Sans Pro"/>
              <a:ea typeface="Source Sans Pro"/>
              <a:cs typeface="Source Sans Pro"/>
              <a:sym typeface="Source Sans Pro"/>
            </a:endParaRPr>
          </a:p>
        </p:txBody>
      </p:sp>
      <p:sp>
        <p:nvSpPr>
          <p:cNvPr id="43" name="TextBox 42">
            <a:extLst>
              <a:ext uri="{FF2B5EF4-FFF2-40B4-BE49-F238E27FC236}">
                <a16:creationId xmlns:a16="http://schemas.microsoft.com/office/drawing/2014/main" id="{D3398025-B8D1-80A0-73C8-D1C6B7E4F6EE}"/>
              </a:ext>
            </a:extLst>
          </p:cNvPr>
          <p:cNvSpPr txBox="1"/>
          <p:nvPr/>
        </p:nvSpPr>
        <p:spPr>
          <a:xfrm>
            <a:off x="4719773" y="6166156"/>
            <a:ext cx="217099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500" dirty="0"/>
              <a:t>Jira Emotion Dataset</a:t>
            </a:r>
            <a:endParaRPr kumimoji="0" lang="en-US" sz="1500" b="1" i="0" strike="noStrike" cap="none" spc="0" normalizeH="0" baseline="0" dirty="0">
              <a:ln>
                <a:noFill/>
              </a:ln>
              <a:effectLst/>
              <a:uFillTx/>
              <a:latin typeface="Source Sans Pro"/>
              <a:ea typeface="Source Sans Pro"/>
              <a:cs typeface="Source Sans Pro"/>
              <a:sym typeface="Source Sans Pro"/>
            </a:endParaRPr>
          </a:p>
        </p:txBody>
      </p:sp>
      <p:grpSp>
        <p:nvGrpSpPr>
          <p:cNvPr id="44" name="Group 43">
            <a:extLst>
              <a:ext uri="{FF2B5EF4-FFF2-40B4-BE49-F238E27FC236}">
                <a16:creationId xmlns:a16="http://schemas.microsoft.com/office/drawing/2014/main" id="{555D852C-238A-FAD8-5A5A-5D02667CF7AD}"/>
              </a:ext>
            </a:extLst>
          </p:cNvPr>
          <p:cNvGrpSpPr/>
          <p:nvPr/>
        </p:nvGrpSpPr>
        <p:grpSpPr>
          <a:xfrm>
            <a:off x="8573655" y="3978207"/>
            <a:ext cx="569700" cy="1688313"/>
            <a:chOff x="8715063" y="3858862"/>
            <a:chExt cx="569700" cy="1688313"/>
          </a:xfrm>
        </p:grpSpPr>
        <p:sp>
          <p:nvSpPr>
            <p:cNvPr id="45" name="Google Shape;375;p18">
              <a:extLst>
                <a:ext uri="{FF2B5EF4-FFF2-40B4-BE49-F238E27FC236}">
                  <a16:creationId xmlns:a16="http://schemas.microsoft.com/office/drawing/2014/main" id="{8A10FE96-0197-2281-ECBE-135A554F1E0C}"/>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46" name="Google Shape;388;p18">
              <a:extLst>
                <a:ext uri="{FF2B5EF4-FFF2-40B4-BE49-F238E27FC236}">
                  <a16:creationId xmlns:a16="http://schemas.microsoft.com/office/drawing/2014/main" id="{01AAE0DF-A93E-B5DE-674F-0D7474ADE70B}"/>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sp>
          <p:nvSpPr>
            <p:cNvPr id="47" name="Google Shape;324;p18">
              <a:extLst>
                <a:ext uri="{FF2B5EF4-FFF2-40B4-BE49-F238E27FC236}">
                  <a16:creationId xmlns:a16="http://schemas.microsoft.com/office/drawing/2014/main" id="{06215462-84AC-3815-5D87-1D61A815D99C}"/>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48" name="Google Shape;359;p18">
              <a:extLst>
                <a:ext uri="{FF2B5EF4-FFF2-40B4-BE49-F238E27FC236}">
                  <a16:creationId xmlns:a16="http://schemas.microsoft.com/office/drawing/2014/main" id="{5D42D01A-7A1C-DCF2-6284-D2C9F74B1EB5}"/>
                </a:ext>
              </a:extLst>
            </p:cNvPr>
            <p:cNvGrpSpPr/>
            <p:nvPr/>
          </p:nvGrpSpPr>
          <p:grpSpPr>
            <a:xfrm>
              <a:off x="8838265" y="4043887"/>
              <a:ext cx="307200" cy="189300"/>
              <a:chOff x="3007175" y="1757600"/>
              <a:chExt cx="307200" cy="189300"/>
            </a:xfrm>
          </p:grpSpPr>
          <p:sp>
            <p:nvSpPr>
              <p:cNvPr id="263" name="Google Shape;360;p18">
                <a:extLst>
                  <a:ext uri="{FF2B5EF4-FFF2-40B4-BE49-F238E27FC236}">
                    <a16:creationId xmlns:a16="http://schemas.microsoft.com/office/drawing/2014/main" id="{50FF0BE8-9531-E3CB-5A5C-B23B32CACB98}"/>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4" name="Google Shape;361;p18">
                <a:extLst>
                  <a:ext uri="{FF2B5EF4-FFF2-40B4-BE49-F238E27FC236}">
                    <a16:creationId xmlns:a16="http://schemas.microsoft.com/office/drawing/2014/main" id="{3E735D0C-AD35-65A3-04E8-65011FF43A2F}"/>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5" name="Google Shape;362;p18">
                <a:extLst>
                  <a:ext uri="{FF2B5EF4-FFF2-40B4-BE49-F238E27FC236}">
                    <a16:creationId xmlns:a16="http://schemas.microsoft.com/office/drawing/2014/main" id="{F1842AE8-15EC-A367-EDCC-8939B6A927DF}"/>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6" name="Google Shape;363;p18">
                <a:extLst>
                  <a:ext uri="{FF2B5EF4-FFF2-40B4-BE49-F238E27FC236}">
                    <a16:creationId xmlns:a16="http://schemas.microsoft.com/office/drawing/2014/main" id="{618C17BE-0244-A32B-81E7-3E0434083695}"/>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67" name="Google Shape;364;p18">
                <a:extLst>
                  <a:ext uri="{FF2B5EF4-FFF2-40B4-BE49-F238E27FC236}">
                    <a16:creationId xmlns:a16="http://schemas.microsoft.com/office/drawing/2014/main" id="{5FDF4A82-06AD-3BFD-938B-3DD5D75D24F7}"/>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68" name="Google Shape;365;p18">
                <a:extLst>
                  <a:ext uri="{FF2B5EF4-FFF2-40B4-BE49-F238E27FC236}">
                    <a16:creationId xmlns:a16="http://schemas.microsoft.com/office/drawing/2014/main" id="{271806AD-8740-0C9B-87B7-5D3CBF2B32A2}"/>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69" name="Google Shape;366;p18">
                <a:extLst>
                  <a:ext uri="{FF2B5EF4-FFF2-40B4-BE49-F238E27FC236}">
                    <a16:creationId xmlns:a16="http://schemas.microsoft.com/office/drawing/2014/main" id="{018E21AF-FA7D-4CB6-0430-34C51A23E0BE}"/>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49" name="Google Shape;367;p18">
              <a:extLst>
                <a:ext uri="{FF2B5EF4-FFF2-40B4-BE49-F238E27FC236}">
                  <a16:creationId xmlns:a16="http://schemas.microsoft.com/office/drawing/2014/main" id="{DBC2536F-1CCE-BCAD-D3B1-A06A3183E58C}"/>
                </a:ext>
              </a:extLst>
            </p:cNvPr>
            <p:cNvGrpSpPr/>
            <p:nvPr/>
          </p:nvGrpSpPr>
          <p:grpSpPr>
            <a:xfrm>
              <a:off x="8838252" y="4387350"/>
              <a:ext cx="307200" cy="189300"/>
              <a:chOff x="3007175" y="1757600"/>
              <a:chExt cx="307200" cy="189300"/>
            </a:xfrm>
          </p:grpSpPr>
          <p:sp>
            <p:nvSpPr>
              <p:cNvPr id="256" name="Google Shape;368;p18">
                <a:extLst>
                  <a:ext uri="{FF2B5EF4-FFF2-40B4-BE49-F238E27FC236}">
                    <a16:creationId xmlns:a16="http://schemas.microsoft.com/office/drawing/2014/main" id="{989886BA-0D8D-F32D-D316-6053FE2CA6AF}"/>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7" name="Google Shape;369;p18">
                <a:extLst>
                  <a:ext uri="{FF2B5EF4-FFF2-40B4-BE49-F238E27FC236}">
                    <a16:creationId xmlns:a16="http://schemas.microsoft.com/office/drawing/2014/main" id="{5D59C987-3F7F-1C3C-ED61-EF2180CFC09B}"/>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8" name="Google Shape;370;p18">
                <a:extLst>
                  <a:ext uri="{FF2B5EF4-FFF2-40B4-BE49-F238E27FC236}">
                    <a16:creationId xmlns:a16="http://schemas.microsoft.com/office/drawing/2014/main" id="{92F1D20E-5CC2-FC0C-37A1-82C31A63F5F7}"/>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9" name="Google Shape;371;p18">
                <a:extLst>
                  <a:ext uri="{FF2B5EF4-FFF2-40B4-BE49-F238E27FC236}">
                    <a16:creationId xmlns:a16="http://schemas.microsoft.com/office/drawing/2014/main" id="{A0E38132-FBC3-9710-304D-C62B1A2D5ACE}"/>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60" name="Google Shape;372;p18">
                <a:extLst>
                  <a:ext uri="{FF2B5EF4-FFF2-40B4-BE49-F238E27FC236}">
                    <a16:creationId xmlns:a16="http://schemas.microsoft.com/office/drawing/2014/main" id="{10BD582D-ECD8-F4A5-2170-9D2A65A84A35}"/>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61" name="Google Shape;373;p18">
                <a:extLst>
                  <a:ext uri="{FF2B5EF4-FFF2-40B4-BE49-F238E27FC236}">
                    <a16:creationId xmlns:a16="http://schemas.microsoft.com/office/drawing/2014/main" id="{C740DE85-F30F-CBA5-5589-7BA3D9DC3ECD}"/>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62" name="Google Shape;374;p18">
                <a:extLst>
                  <a:ext uri="{FF2B5EF4-FFF2-40B4-BE49-F238E27FC236}">
                    <a16:creationId xmlns:a16="http://schemas.microsoft.com/office/drawing/2014/main" id="{FB3AB8B2-D573-8438-5593-7757DD415DCA}"/>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50" name="Google Shape;376;p18">
              <a:extLst>
                <a:ext uri="{FF2B5EF4-FFF2-40B4-BE49-F238E27FC236}">
                  <a16:creationId xmlns:a16="http://schemas.microsoft.com/office/drawing/2014/main" id="{8EEEDEC4-0B4D-5E4E-3063-13DDD0CD191D}"/>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51" name="Google Shape;377;p18">
              <a:extLst>
                <a:ext uri="{FF2B5EF4-FFF2-40B4-BE49-F238E27FC236}">
                  <a16:creationId xmlns:a16="http://schemas.microsoft.com/office/drawing/2014/main" id="{7DCBBDF4-E591-D28F-CE21-CC91772DF399}"/>
                </a:ext>
              </a:extLst>
            </p:cNvPr>
            <p:cNvGrpSpPr/>
            <p:nvPr/>
          </p:nvGrpSpPr>
          <p:grpSpPr>
            <a:xfrm>
              <a:off x="8846302" y="4841125"/>
              <a:ext cx="307200" cy="297900"/>
              <a:chOff x="3021975" y="2389850"/>
              <a:chExt cx="307200" cy="297900"/>
            </a:xfrm>
          </p:grpSpPr>
          <p:sp>
            <p:nvSpPr>
              <p:cNvPr id="54" name="Google Shape;378;p18">
                <a:extLst>
                  <a:ext uri="{FF2B5EF4-FFF2-40B4-BE49-F238E27FC236}">
                    <a16:creationId xmlns:a16="http://schemas.microsoft.com/office/drawing/2014/main" id="{20CA085E-5C32-8FC0-EE65-AFD6FA27E6B8}"/>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55" name="Google Shape;379;p18">
                <a:extLst>
                  <a:ext uri="{FF2B5EF4-FFF2-40B4-BE49-F238E27FC236}">
                    <a16:creationId xmlns:a16="http://schemas.microsoft.com/office/drawing/2014/main" id="{CDAD4370-9117-2C06-7F47-E894B1BABE74}"/>
                  </a:ext>
                </a:extLst>
              </p:cNvPr>
              <p:cNvGrpSpPr/>
              <p:nvPr/>
            </p:nvGrpSpPr>
            <p:grpSpPr>
              <a:xfrm>
                <a:off x="3021975" y="2389850"/>
                <a:ext cx="307200" cy="295800"/>
                <a:chOff x="3021975" y="2389850"/>
                <a:chExt cx="307200" cy="295800"/>
              </a:xfrm>
            </p:grpSpPr>
            <p:sp>
              <p:nvSpPr>
                <p:cNvPr id="56" name="Google Shape;380;p18">
                  <a:extLst>
                    <a:ext uri="{FF2B5EF4-FFF2-40B4-BE49-F238E27FC236}">
                      <a16:creationId xmlns:a16="http://schemas.microsoft.com/office/drawing/2014/main" id="{D626BD28-9E36-B144-B54D-33A76C939147}"/>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Google Shape;381;p18">
                  <a:extLst>
                    <a:ext uri="{FF2B5EF4-FFF2-40B4-BE49-F238E27FC236}">
                      <a16:creationId xmlns:a16="http://schemas.microsoft.com/office/drawing/2014/main" id="{43B0A660-E484-18C7-B903-961762793873}"/>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58" name="Google Shape;382;p18">
                  <a:extLst>
                    <a:ext uri="{FF2B5EF4-FFF2-40B4-BE49-F238E27FC236}">
                      <a16:creationId xmlns:a16="http://schemas.microsoft.com/office/drawing/2014/main" id="{15AE4B4D-9457-3743-DFCB-3688EC8AEA88}"/>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59" name="Google Shape;383;p18">
                  <a:extLst>
                    <a:ext uri="{FF2B5EF4-FFF2-40B4-BE49-F238E27FC236}">
                      <a16:creationId xmlns:a16="http://schemas.microsoft.com/office/drawing/2014/main" id="{B273EDB9-E3A7-4E64-0A09-51FD810963C4}"/>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60" name="Google Shape;384;p18">
                  <a:extLst>
                    <a:ext uri="{FF2B5EF4-FFF2-40B4-BE49-F238E27FC236}">
                      <a16:creationId xmlns:a16="http://schemas.microsoft.com/office/drawing/2014/main" id="{850963D5-7B14-8E52-7600-45BD96972D12}"/>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61" name="Google Shape;385;p18">
                  <a:extLst>
                    <a:ext uri="{FF2B5EF4-FFF2-40B4-BE49-F238E27FC236}">
                      <a16:creationId xmlns:a16="http://schemas.microsoft.com/office/drawing/2014/main" id="{7C0B012A-B1F1-CDC1-3EC7-10F7D2835391}"/>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62" name="Google Shape;386;p18">
                  <a:extLst>
                    <a:ext uri="{FF2B5EF4-FFF2-40B4-BE49-F238E27FC236}">
                      <a16:creationId xmlns:a16="http://schemas.microsoft.com/office/drawing/2014/main" id="{5BCCEEAB-9692-D07F-D3EC-C362A53A82F1}"/>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63" name="Google Shape;387;p18">
                  <a:extLst>
                    <a:ext uri="{FF2B5EF4-FFF2-40B4-BE49-F238E27FC236}">
                      <a16:creationId xmlns:a16="http://schemas.microsoft.com/office/drawing/2014/main" id="{5E4FD21D-806A-6567-D865-4FDF5821B8AB}"/>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cxnSp>
          <p:nvCxnSpPr>
            <p:cNvPr id="52" name="Google Shape;389;p18">
              <a:extLst>
                <a:ext uri="{FF2B5EF4-FFF2-40B4-BE49-F238E27FC236}">
                  <a16:creationId xmlns:a16="http://schemas.microsoft.com/office/drawing/2014/main" id="{45575142-2A71-BFDE-3AF4-5C6E20B4BF5E}"/>
                </a:ext>
              </a:extLst>
            </p:cNvPr>
            <p:cNvCxnSpPr>
              <a:cxnSpLocks/>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53" name="Google Shape;390;p18">
              <a:extLst>
                <a:ext uri="{FF2B5EF4-FFF2-40B4-BE49-F238E27FC236}">
                  <a16:creationId xmlns:a16="http://schemas.microsoft.com/office/drawing/2014/main" id="{0B777979-D7C0-0709-2CCB-7DEF386531DD}"/>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cxnSp>
        <p:nvCxnSpPr>
          <p:cNvPr id="270" name="Straight Arrow Connector 1198">
            <a:extLst>
              <a:ext uri="{FF2B5EF4-FFF2-40B4-BE49-F238E27FC236}">
                <a16:creationId xmlns:a16="http://schemas.microsoft.com/office/drawing/2014/main" id="{AFA1E4B9-FDDA-3F5D-8346-D0AA59A76D79}"/>
              </a:ext>
            </a:extLst>
          </p:cNvPr>
          <p:cNvCxnSpPr>
            <a:cxnSpLocks/>
          </p:cNvCxnSpPr>
          <p:nvPr/>
        </p:nvCxnSpPr>
        <p:spPr>
          <a:xfrm flipV="1">
            <a:off x="8124120" y="4262578"/>
            <a:ext cx="486066" cy="30466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71" name="TextBox 270">
            <a:extLst>
              <a:ext uri="{FF2B5EF4-FFF2-40B4-BE49-F238E27FC236}">
                <a16:creationId xmlns:a16="http://schemas.microsoft.com/office/drawing/2014/main" id="{C958961E-8B90-0A39-25BF-EB677B631278}"/>
              </a:ext>
            </a:extLst>
          </p:cNvPr>
          <p:cNvSpPr txBox="1"/>
          <p:nvPr/>
        </p:nvSpPr>
        <p:spPr>
          <a:xfrm>
            <a:off x="9558554" y="4159871"/>
            <a:ext cx="3656656" cy="320520"/>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1_emotion_csv_inter_rater_agreement.ipynb</a:t>
            </a:r>
          </a:p>
        </p:txBody>
      </p:sp>
      <p:sp>
        <p:nvSpPr>
          <p:cNvPr id="272" name="TextBox 271">
            <a:extLst>
              <a:ext uri="{FF2B5EF4-FFF2-40B4-BE49-F238E27FC236}">
                <a16:creationId xmlns:a16="http://schemas.microsoft.com/office/drawing/2014/main" id="{A1615D17-13F4-FCF0-3EEF-20411A68926E}"/>
              </a:ext>
            </a:extLst>
          </p:cNvPr>
          <p:cNvSpPr txBox="1"/>
          <p:nvPr/>
        </p:nvSpPr>
        <p:spPr>
          <a:xfrm>
            <a:off x="9517994" y="2470516"/>
            <a:ext cx="3400799" cy="3359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1300" dirty="0" err="1"/>
              <a:t>sailuh</a:t>
            </a:r>
            <a:r>
              <a:rPr lang="en-US" sz="1300" dirty="0"/>
              <a:t>/</a:t>
            </a:r>
            <a:r>
              <a:rPr lang="en-US" sz="1300" dirty="0" err="1"/>
              <a:t>sentiment_github_dataset</a:t>
            </a:r>
            <a:endParaRPr kumimoji="0" lang="en-US" sz="1300" b="1" i="0" strike="noStrike" cap="none" spc="0" normalizeH="0" baseline="0" dirty="0">
              <a:ln>
                <a:noFill/>
              </a:ln>
              <a:effectLst/>
              <a:uFillTx/>
              <a:latin typeface="Source Sans Pro"/>
              <a:ea typeface="Source Sans Pro"/>
              <a:cs typeface="Source Sans Pro"/>
              <a:sym typeface="Source Sans Pro"/>
            </a:endParaRPr>
          </a:p>
        </p:txBody>
      </p:sp>
      <p:sp>
        <p:nvSpPr>
          <p:cNvPr id="273" name="TextBox 272">
            <a:extLst>
              <a:ext uri="{FF2B5EF4-FFF2-40B4-BE49-F238E27FC236}">
                <a16:creationId xmlns:a16="http://schemas.microsoft.com/office/drawing/2014/main" id="{409DA890-AC73-B381-30F1-EB28938DD6FF}"/>
              </a:ext>
            </a:extLst>
          </p:cNvPr>
          <p:cNvSpPr txBox="1"/>
          <p:nvPr/>
        </p:nvSpPr>
        <p:spPr>
          <a:xfrm>
            <a:off x="9517994" y="3859880"/>
            <a:ext cx="3400799" cy="3359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1300" dirty="0" err="1"/>
              <a:t>sailuh</a:t>
            </a:r>
            <a:r>
              <a:rPr lang="en-US" sz="1300" dirty="0"/>
              <a:t>/</a:t>
            </a:r>
            <a:r>
              <a:rPr lang="en-US" sz="1300" dirty="0" err="1"/>
              <a:t>emotion_jira_dataset</a:t>
            </a:r>
            <a:endParaRPr kumimoji="0" lang="en-US" sz="1300" b="1" i="0" strike="noStrike" cap="none" spc="0" normalizeH="0" baseline="0" dirty="0">
              <a:ln>
                <a:noFill/>
              </a:ln>
              <a:effectLst/>
              <a:uFillTx/>
              <a:latin typeface="Source Sans Pro"/>
              <a:ea typeface="Source Sans Pro"/>
              <a:cs typeface="Source Sans Pro"/>
              <a:sym typeface="Source Sans Pro"/>
            </a:endParaRPr>
          </a:p>
        </p:txBody>
      </p:sp>
      <p:pic>
        <p:nvPicPr>
          <p:cNvPr id="274" name="Graphic 273" descr="Paper outline">
            <a:extLst>
              <a:ext uri="{FF2B5EF4-FFF2-40B4-BE49-F238E27FC236}">
                <a16:creationId xmlns:a16="http://schemas.microsoft.com/office/drawing/2014/main" id="{FAED246D-E265-3395-150B-D6867305F94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18621" y="4473903"/>
            <a:ext cx="536605" cy="536605"/>
          </a:xfrm>
          <a:prstGeom prst="rect">
            <a:avLst/>
          </a:prstGeom>
        </p:spPr>
      </p:pic>
      <p:graphicFrame>
        <p:nvGraphicFramePr>
          <p:cNvPr id="275" name="Table">
            <a:extLst>
              <a:ext uri="{FF2B5EF4-FFF2-40B4-BE49-F238E27FC236}">
                <a16:creationId xmlns:a16="http://schemas.microsoft.com/office/drawing/2014/main" id="{9A2E149E-5B6D-8A79-84C1-390937F15E25}"/>
              </a:ext>
            </a:extLst>
          </p:cNvPr>
          <p:cNvGraphicFramePr/>
          <p:nvPr>
            <p:extLst>
              <p:ext uri="{D42A27DB-BD31-4B8C-83A1-F6EECF244321}">
                <p14:modId xmlns:p14="http://schemas.microsoft.com/office/powerpoint/2010/main" val="4209319564"/>
              </p:ext>
            </p:extLst>
          </p:nvPr>
        </p:nvGraphicFramePr>
        <p:xfrm>
          <a:off x="667796" y="4029325"/>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76" name="TextBox 275">
            <a:extLst>
              <a:ext uri="{FF2B5EF4-FFF2-40B4-BE49-F238E27FC236}">
                <a16:creationId xmlns:a16="http://schemas.microsoft.com/office/drawing/2014/main" id="{DC8AE152-E5C2-EA55-2F6B-C357006A0A2F}"/>
              </a:ext>
            </a:extLst>
          </p:cNvPr>
          <p:cNvSpPr txBox="1"/>
          <p:nvPr/>
        </p:nvSpPr>
        <p:spPr>
          <a:xfrm>
            <a:off x="464293" y="4651746"/>
            <a:ext cx="103487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err="1"/>
              <a:t>Github</a:t>
            </a:r>
            <a:r>
              <a:rPr lang="en-US" sz="1000" b="0" dirty="0"/>
              <a:t> 2020 CSV</a:t>
            </a:r>
          </a:p>
          <a:p>
            <a:pPr algn="ctr"/>
            <a:r>
              <a:rPr lang="en-US" sz="800" b="0" dirty="0"/>
              <a:t>Novielli et al. [1]</a:t>
            </a:r>
          </a:p>
        </p:txBody>
      </p:sp>
      <p:sp>
        <p:nvSpPr>
          <p:cNvPr id="277" name="TextBox 276">
            <a:extLst>
              <a:ext uri="{FF2B5EF4-FFF2-40B4-BE49-F238E27FC236}">
                <a16:creationId xmlns:a16="http://schemas.microsoft.com/office/drawing/2014/main" id="{1B8F0BDB-317B-349A-2506-5A561F4ED831}"/>
              </a:ext>
            </a:extLst>
          </p:cNvPr>
          <p:cNvSpPr txBox="1"/>
          <p:nvPr/>
        </p:nvSpPr>
        <p:spPr>
          <a:xfrm>
            <a:off x="7334956" y="5045761"/>
            <a:ext cx="72095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err="1"/>
              <a:t>sailuh</a:t>
            </a:r>
            <a:r>
              <a:rPr lang="en-US" sz="800" b="0" dirty="0"/>
              <a:t>/</a:t>
            </a:r>
            <a:r>
              <a:rPr lang="en-US" sz="800" b="0" dirty="0" err="1"/>
              <a:t>kaiaulu</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78" name="TextBox 277">
            <a:extLst>
              <a:ext uri="{FF2B5EF4-FFF2-40B4-BE49-F238E27FC236}">
                <a16:creationId xmlns:a16="http://schemas.microsoft.com/office/drawing/2014/main" id="{1FD7D6D3-95B2-886A-A6E5-C7B57FA2AABD}"/>
              </a:ext>
            </a:extLst>
          </p:cNvPr>
          <p:cNvSpPr txBox="1"/>
          <p:nvPr/>
        </p:nvSpPr>
        <p:spPr>
          <a:xfrm>
            <a:off x="5368049" y="4613137"/>
            <a:ext cx="15549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79" name="Straight Arrow Connector 278">
            <a:extLst>
              <a:ext uri="{FF2B5EF4-FFF2-40B4-BE49-F238E27FC236}">
                <a16:creationId xmlns:a16="http://schemas.microsoft.com/office/drawing/2014/main" id="{7BA9FAA4-B133-F767-E8CE-E76D865AF01F}"/>
              </a:ext>
            </a:extLst>
          </p:cNvPr>
          <p:cNvCxnSpPr>
            <a:cxnSpLocks/>
          </p:cNvCxnSpPr>
          <p:nvPr/>
        </p:nvCxnSpPr>
        <p:spPr>
          <a:xfrm>
            <a:off x="6705969" y="4739740"/>
            <a:ext cx="520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0" name="Elbow Connector 279">
            <a:extLst>
              <a:ext uri="{FF2B5EF4-FFF2-40B4-BE49-F238E27FC236}">
                <a16:creationId xmlns:a16="http://schemas.microsoft.com/office/drawing/2014/main" id="{BDE92147-94D8-9D08-056E-D4E6B58FF462}"/>
              </a:ext>
            </a:extLst>
          </p:cNvPr>
          <p:cNvCxnSpPr>
            <a:cxnSpLocks/>
          </p:cNvCxnSpPr>
          <p:nvPr/>
        </p:nvCxnSpPr>
        <p:spPr>
          <a:xfrm rot="5400000">
            <a:off x="6980891" y="2693604"/>
            <a:ext cx="389103" cy="2253944"/>
          </a:xfrm>
          <a:prstGeom prst="bentConnector2">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1" name="Straight Arrow Connector 280">
            <a:extLst>
              <a:ext uri="{FF2B5EF4-FFF2-40B4-BE49-F238E27FC236}">
                <a16:creationId xmlns:a16="http://schemas.microsoft.com/office/drawing/2014/main" id="{9ECE02D7-2C48-F289-D3D6-15A685C2F5FF}"/>
              </a:ext>
            </a:extLst>
          </p:cNvPr>
          <p:cNvCxnSpPr>
            <a:cxnSpLocks/>
          </p:cNvCxnSpPr>
          <p:nvPr/>
        </p:nvCxnSpPr>
        <p:spPr>
          <a:xfrm flipH="1">
            <a:off x="6048470" y="4019531"/>
            <a:ext cx="1" cy="454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2" name="Elbow Connector 281">
            <a:extLst>
              <a:ext uri="{FF2B5EF4-FFF2-40B4-BE49-F238E27FC236}">
                <a16:creationId xmlns:a16="http://schemas.microsoft.com/office/drawing/2014/main" id="{B2FF89FE-0FE7-0B75-FECE-5526BA9871D5}"/>
              </a:ext>
            </a:extLst>
          </p:cNvPr>
          <p:cNvCxnSpPr>
            <a:cxnSpLocks/>
            <a:stCxn id="27" idx="1"/>
          </p:cNvCxnSpPr>
          <p:nvPr/>
        </p:nvCxnSpPr>
        <p:spPr>
          <a:xfrm rot="10800000" flipV="1">
            <a:off x="5047051" y="3470167"/>
            <a:ext cx="2546242" cy="338701"/>
          </a:xfrm>
          <a:prstGeom prst="bentConnector3">
            <a:avLst>
              <a:gd name="adj1" fmla="val 13253"/>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3" name="Straight Arrow Connector 282">
            <a:extLst>
              <a:ext uri="{FF2B5EF4-FFF2-40B4-BE49-F238E27FC236}">
                <a16:creationId xmlns:a16="http://schemas.microsoft.com/office/drawing/2014/main" id="{69E3D7B9-B6A2-0A76-0BF9-09E2BB4C469E}"/>
              </a:ext>
            </a:extLst>
          </p:cNvPr>
          <p:cNvCxnSpPr>
            <a:cxnSpLocks/>
          </p:cNvCxnSpPr>
          <p:nvPr/>
        </p:nvCxnSpPr>
        <p:spPr>
          <a:xfrm>
            <a:off x="5047052" y="3809205"/>
            <a:ext cx="0" cy="655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4" name="TextBox 283">
            <a:extLst>
              <a:ext uri="{FF2B5EF4-FFF2-40B4-BE49-F238E27FC236}">
                <a16:creationId xmlns:a16="http://schemas.microsoft.com/office/drawing/2014/main" id="{38330A08-3DC5-C9D3-EF4F-274795458D8F}"/>
              </a:ext>
            </a:extLst>
          </p:cNvPr>
          <p:cNvSpPr txBox="1"/>
          <p:nvPr/>
        </p:nvSpPr>
        <p:spPr>
          <a:xfrm>
            <a:off x="4719773" y="9025990"/>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285" name="Group 284">
            <a:extLst>
              <a:ext uri="{FF2B5EF4-FFF2-40B4-BE49-F238E27FC236}">
                <a16:creationId xmlns:a16="http://schemas.microsoft.com/office/drawing/2014/main" id="{330163E4-707B-E1CC-094E-6C3D045647C2}"/>
              </a:ext>
            </a:extLst>
          </p:cNvPr>
          <p:cNvGrpSpPr/>
          <p:nvPr/>
        </p:nvGrpSpPr>
        <p:grpSpPr>
          <a:xfrm>
            <a:off x="5523840" y="8584638"/>
            <a:ext cx="953200" cy="458010"/>
            <a:chOff x="5528605" y="4530831"/>
            <a:chExt cx="953200" cy="458010"/>
          </a:xfrm>
        </p:grpSpPr>
        <p:graphicFrame>
          <p:nvGraphicFramePr>
            <p:cNvPr id="286" name="Table">
              <a:extLst>
                <a:ext uri="{FF2B5EF4-FFF2-40B4-BE49-F238E27FC236}">
                  <a16:creationId xmlns:a16="http://schemas.microsoft.com/office/drawing/2014/main" id="{C8A4B3FA-30A0-8F0F-0445-713FD62FFC49}"/>
                </a:ext>
              </a:extLst>
            </p:cNvPr>
            <p:cNvGraphicFramePr/>
            <p:nvPr>
              <p:extLst>
                <p:ext uri="{D42A27DB-BD31-4B8C-83A1-F6EECF244321}">
                  <p14:modId xmlns:p14="http://schemas.microsoft.com/office/powerpoint/2010/main" val="1091666893"/>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287" name="Table">
              <a:extLst>
                <a:ext uri="{FF2B5EF4-FFF2-40B4-BE49-F238E27FC236}">
                  <a16:creationId xmlns:a16="http://schemas.microsoft.com/office/drawing/2014/main" id="{CB05F643-3202-DDDF-746B-CA8A18A9DA09}"/>
                </a:ext>
              </a:extLst>
            </p:cNvPr>
            <p:cNvGraphicFramePr/>
            <p:nvPr>
              <p:extLst>
                <p:ext uri="{D42A27DB-BD31-4B8C-83A1-F6EECF244321}">
                  <p14:modId xmlns:p14="http://schemas.microsoft.com/office/powerpoint/2010/main" val="2309176289"/>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sp>
        <p:nvSpPr>
          <p:cNvPr id="288" name="TextBox 287">
            <a:extLst>
              <a:ext uri="{FF2B5EF4-FFF2-40B4-BE49-F238E27FC236}">
                <a16:creationId xmlns:a16="http://schemas.microsoft.com/office/drawing/2014/main" id="{DCF870CA-AF9A-2AFA-5301-CB666496DC9D}"/>
              </a:ext>
            </a:extLst>
          </p:cNvPr>
          <p:cNvSpPr txBox="1"/>
          <p:nvPr/>
        </p:nvSpPr>
        <p:spPr>
          <a:xfrm>
            <a:off x="5298012" y="9024372"/>
            <a:ext cx="139124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Jira Emotion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289" name="Group 288">
            <a:extLst>
              <a:ext uri="{FF2B5EF4-FFF2-40B4-BE49-F238E27FC236}">
                <a16:creationId xmlns:a16="http://schemas.microsoft.com/office/drawing/2014/main" id="{C7FF0F57-0AFA-0088-63BA-4969F44F0C02}"/>
              </a:ext>
            </a:extLst>
          </p:cNvPr>
          <p:cNvGrpSpPr/>
          <p:nvPr/>
        </p:nvGrpSpPr>
        <p:grpSpPr>
          <a:xfrm>
            <a:off x="8527164" y="8193234"/>
            <a:ext cx="569700" cy="1688313"/>
            <a:chOff x="8715063" y="3858862"/>
            <a:chExt cx="569700" cy="1688313"/>
          </a:xfrm>
        </p:grpSpPr>
        <p:sp>
          <p:nvSpPr>
            <p:cNvPr id="290" name="Google Shape;324;p18">
              <a:extLst>
                <a:ext uri="{FF2B5EF4-FFF2-40B4-BE49-F238E27FC236}">
                  <a16:creationId xmlns:a16="http://schemas.microsoft.com/office/drawing/2014/main" id="{2DCD59EF-C718-5E55-9C2A-555C20936C45}"/>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291" name="Google Shape;359;p18">
              <a:extLst>
                <a:ext uri="{FF2B5EF4-FFF2-40B4-BE49-F238E27FC236}">
                  <a16:creationId xmlns:a16="http://schemas.microsoft.com/office/drawing/2014/main" id="{9F55FCC8-F65C-7B3F-EF28-ED0BEDE4E4BE}"/>
                </a:ext>
              </a:extLst>
            </p:cNvPr>
            <p:cNvGrpSpPr/>
            <p:nvPr/>
          </p:nvGrpSpPr>
          <p:grpSpPr>
            <a:xfrm>
              <a:off x="8838265" y="4043887"/>
              <a:ext cx="307200" cy="189300"/>
              <a:chOff x="3007175" y="1757600"/>
              <a:chExt cx="307200" cy="189300"/>
            </a:xfrm>
          </p:grpSpPr>
          <p:sp>
            <p:nvSpPr>
              <p:cNvPr id="318" name="Google Shape;360;p18">
                <a:extLst>
                  <a:ext uri="{FF2B5EF4-FFF2-40B4-BE49-F238E27FC236}">
                    <a16:creationId xmlns:a16="http://schemas.microsoft.com/office/drawing/2014/main" id="{2C073AF8-803E-5103-BACA-DC2003C4723C}"/>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9" name="Google Shape;361;p18">
                <a:extLst>
                  <a:ext uri="{FF2B5EF4-FFF2-40B4-BE49-F238E27FC236}">
                    <a16:creationId xmlns:a16="http://schemas.microsoft.com/office/drawing/2014/main" id="{AE6E3456-1FE3-9255-957E-61F564374737}"/>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0" name="Google Shape;362;p18">
                <a:extLst>
                  <a:ext uri="{FF2B5EF4-FFF2-40B4-BE49-F238E27FC236}">
                    <a16:creationId xmlns:a16="http://schemas.microsoft.com/office/drawing/2014/main" id="{D1D7531F-085D-490C-F814-C6A3BF235DDB}"/>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1" name="Google Shape;363;p18">
                <a:extLst>
                  <a:ext uri="{FF2B5EF4-FFF2-40B4-BE49-F238E27FC236}">
                    <a16:creationId xmlns:a16="http://schemas.microsoft.com/office/drawing/2014/main" id="{0D9695A6-F5AF-D37B-E5B9-F62C8B5EDC18}"/>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22" name="Google Shape;364;p18">
                <a:extLst>
                  <a:ext uri="{FF2B5EF4-FFF2-40B4-BE49-F238E27FC236}">
                    <a16:creationId xmlns:a16="http://schemas.microsoft.com/office/drawing/2014/main" id="{105E2288-B006-E419-9C08-B4F343346B8B}"/>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23" name="Google Shape;365;p18">
                <a:extLst>
                  <a:ext uri="{FF2B5EF4-FFF2-40B4-BE49-F238E27FC236}">
                    <a16:creationId xmlns:a16="http://schemas.microsoft.com/office/drawing/2014/main" id="{5CE00902-F18D-0781-53E1-0EE36805F35C}"/>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24" name="Google Shape;366;p18">
                <a:extLst>
                  <a:ext uri="{FF2B5EF4-FFF2-40B4-BE49-F238E27FC236}">
                    <a16:creationId xmlns:a16="http://schemas.microsoft.com/office/drawing/2014/main" id="{40D6FDE3-4042-553E-C9EB-3D5966870B39}"/>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293" name="Google Shape;367;p18">
              <a:extLst>
                <a:ext uri="{FF2B5EF4-FFF2-40B4-BE49-F238E27FC236}">
                  <a16:creationId xmlns:a16="http://schemas.microsoft.com/office/drawing/2014/main" id="{4183B9DF-5046-2C21-4EC9-AB27C348EDFB}"/>
                </a:ext>
              </a:extLst>
            </p:cNvPr>
            <p:cNvGrpSpPr/>
            <p:nvPr/>
          </p:nvGrpSpPr>
          <p:grpSpPr>
            <a:xfrm>
              <a:off x="8838252" y="4387350"/>
              <a:ext cx="307200" cy="189300"/>
              <a:chOff x="3007175" y="1757600"/>
              <a:chExt cx="307200" cy="189300"/>
            </a:xfrm>
          </p:grpSpPr>
          <p:sp>
            <p:nvSpPr>
              <p:cNvPr id="310" name="Google Shape;368;p18">
                <a:extLst>
                  <a:ext uri="{FF2B5EF4-FFF2-40B4-BE49-F238E27FC236}">
                    <a16:creationId xmlns:a16="http://schemas.microsoft.com/office/drawing/2014/main" id="{ACA24F98-62DB-543D-120C-1B24029579B6}"/>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1" name="Google Shape;369;p18">
                <a:extLst>
                  <a:ext uri="{FF2B5EF4-FFF2-40B4-BE49-F238E27FC236}">
                    <a16:creationId xmlns:a16="http://schemas.microsoft.com/office/drawing/2014/main" id="{93EC4B1F-29E2-44E5-1FAE-B7798563D540}"/>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3" name="Google Shape;370;p18">
                <a:extLst>
                  <a:ext uri="{FF2B5EF4-FFF2-40B4-BE49-F238E27FC236}">
                    <a16:creationId xmlns:a16="http://schemas.microsoft.com/office/drawing/2014/main" id="{F5E7E427-D70A-DD4C-AB89-FE3FD89ED348}"/>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4" name="Google Shape;371;p18">
                <a:extLst>
                  <a:ext uri="{FF2B5EF4-FFF2-40B4-BE49-F238E27FC236}">
                    <a16:creationId xmlns:a16="http://schemas.microsoft.com/office/drawing/2014/main" id="{5029D35B-B7BB-1796-7C29-0156AFEF32C4}"/>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15" name="Google Shape;372;p18">
                <a:extLst>
                  <a:ext uri="{FF2B5EF4-FFF2-40B4-BE49-F238E27FC236}">
                    <a16:creationId xmlns:a16="http://schemas.microsoft.com/office/drawing/2014/main" id="{0A80F2BA-5E18-9B8A-47CE-7E06F6DC82A0}"/>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16" name="Google Shape;373;p18">
                <a:extLst>
                  <a:ext uri="{FF2B5EF4-FFF2-40B4-BE49-F238E27FC236}">
                    <a16:creationId xmlns:a16="http://schemas.microsoft.com/office/drawing/2014/main" id="{927C390D-BFE3-6345-2845-69C1D1E85CF9}"/>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17" name="Google Shape;374;p18">
                <a:extLst>
                  <a:ext uri="{FF2B5EF4-FFF2-40B4-BE49-F238E27FC236}">
                    <a16:creationId xmlns:a16="http://schemas.microsoft.com/office/drawing/2014/main" id="{35E94745-CB75-4FD9-C0FA-BFCD2E7F309C}"/>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294" name="Google Shape;375;p18">
              <a:extLst>
                <a:ext uri="{FF2B5EF4-FFF2-40B4-BE49-F238E27FC236}">
                  <a16:creationId xmlns:a16="http://schemas.microsoft.com/office/drawing/2014/main" id="{910D6D55-E952-FDA2-3303-2462BA97B5DC}"/>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GitHub</a:t>
              </a:r>
              <a:endParaRPr sz="686">
                <a:solidFill>
                  <a:schemeClr val="dk2"/>
                </a:solidFill>
                <a:latin typeface="Source Sans 3"/>
                <a:ea typeface="Source Sans 3"/>
                <a:cs typeface="Source Sans 3"/>
                <a:sym typeface="Source Sans 3"/>
              </a:endParaRPr>
            </a:p>
          </p:txBody>
        </p:sp>
        <p:sp>
          <p:nvSpPr>
            <p:cNvPr id="295" name="Google Shape;376;p18">
              <a:extLst>
                <a:ext uri="{FF2B5EF4-FFF2-40B4-BE49-F238E27FC236}">
                  <a16:creationId xmlns:a16="http://schemas.microsoft.com/office/drawing/2014/main" id="{53C6737D-9570-2DCC-2925-AE1A7C06B837}"/>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296" name="Google Shape;377;p18">
              <a:extLst>
                <a:ext uri="{FF2B5EF4-FFF2-40B4-BE49-F238E27FC236}">
                  <a16:creationId xmlns:a16="http://schemas.microsoft.com/office/drawing/2014/main" id="{F068BBEF-C31C-E950-D913-8CCEC6B47DE2}"/>
                </a:ext>
              </a:extLst>
            </p:cNvPr>
            <p:cNvGrpSpPr/>
            <p:nvPr/>
          </p:nvGrpSpPr>
          <p:grpSpPr>
            <a:xfrm>
              <a:off x="8846302" y="4841125"/>
              <a:ext cx="307200" cy="297900"/>
              <a:chOff x="3021975" y="2389850"/>
              <a:chExt cx="307200" cy="297900"/>
            </a:xfrm>
          </p:grpSpPr>
          <p:sp>
            <p:nvSpPr>
              <p:cNvPr id="300" name="Google Shape;378;p18">
                <a:extLst>
                  <a:ext uri="{FF2B5EF4-FFF2-40B4-BE49-F238E27FC236}">
                    <a16:creationId xmlns:a16="http://schemas.microsoft.com/office/drawing/2014/main" id="{4FBC89E0-5686-345D-B20D-BBD0BF70B8F6}"/>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301" name="Google Shape;379;p18">
                <a:extLst>
                  <a:ext uri="{FF2B5EF4-FFF2-40B4-BE49-F238E27FC236}">
                    <a16:creationId xmlns:a16="http://schemas.microsoft.com/office/drawing/2014/main" id="{484D522D-EE15-F83F-419A-CE8E78E0F0B9}"/>
                  </a:ext>
                </a:extLst>
              </p:cNvPr>
              <p:cNvGrpSpPr/>
              <p:nvPr/>
            </p:nvGrpSpPr>
            <p:grpSpPr>
              <a:xfrm>
                <a:off x="3021975" y="2389850"/>
                <a:ext cx="307200" cy="295800"/>
                <a:chOff x="3021975" y="2389850"/>
                <a:chExt cx="307200" cy="295800"/>
              </a:xfrm>
            </p:grpSpPr>
            <p:sp>
              <p:nvSpPr>
                <p:cNvPr id="302" name="Google Shape;380;p18">
                  <a:extLst>
                    <a:ext uri="{FF2B5EF4-FFF2-40B4-BE49-F238E27FC236}">
                      <a16:creationId xmlns:a16="http://schemas.microsoft.com/office/drawing/2014/main" id="{F42D01A4-A000-C848-4630-3E6D7382E8CD}"/>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3" name="Google Shape;381;p18">
                  <a:extLst>
                    <a:ext uri="{FF2B5EF4-FFF2-40B4-BE49-F238E27FC236}">
                      <a16:creationId xmlns:a16="http://schemas.microsoft.com/office/drawing/2014/main" id="{170BAA17-CA7A-9B27-3D80-09631E45ECA9}"/>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04" name="Google Shape;382;p18">
                  <a:extLst>
                    <a:ext uri="{FF2B5EF4-FFF2-40B4-BE49-F238E27FC236}">
                      <a16:creationId xmlns:a16="http://schemas.microsoft.com/office/drawing/2014/main" id="{2F081AB5-FFE8-4668-67BC-1D1A16CF83E4}"/>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05" name="Google Shape;383;p18">
                  <a:extLst>
                    <a:ext uri="{FF2B5EF4-FFF2-40B4-BE49-F238E27FC236}">
                      <a16:creationId xmlns:a16="http://schemas.microsoft.com/office/drawing/2014/main" id="{A9EDDEB0-0D15-245C-913D-EC775D03DA3E}"/>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06" name="Google Shape;384;p18">
                  <a:extLst>
                    <a:ext uri="{FF2B5EF4-FFF2-40B4-BE49-F238E27FC236}">
                      <a16:creationId xmlns:a16="http://schemas.microsoft.com/office/drawing/2014/main" id="{1FC23FDC-1A13-2B61-87B7-EBA970DA29D5}"/>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07" name="Google Shape;385;p18">
                  <a:extLst>
                    <a:ext uri="{FF2B5EF4-FFF2-40B4-BE49-F238E27FC236}">
                      <a16:creationId xmlns:a16="http://schemas.microsoft.com/office/drawing/2014/main" id="{4C4DF329-D5AF-FD59-9BA0-6AB32F5D3E95}"/>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08" name="Google Shape;386;p18">
                  <a:extLst>
                    <a:ext uri="{FF2B5EF4-FFF2-40B4-BE49-F238E27FC236}">
                      <a16:creationId xmlns:a16="http://schemas.microsoft.com/office/drawing/2014/main" id="{72EEB48F-DD15-6488-A5C0-90FE8EB65688}"/>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09" name="Google Shape;387;p18">
                  <a:extLst>
                    <a:ext uri="{FF2B5EF4-FFF2-40B4-BE49-F238E27FC236}">
                      <a16:creationId xmlns:a16="http://schemas.microsoft.com/office/drawing/2014/main" id="{3F99AEDC-EE3A-95C1-7E2D-A4544054F7B7}"/>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297" name="Google Shape;388;p18">
              <a:extLst>
                <a:ext uri="{FF2B5EF4-FFF2-40B4-BE49-F238E27FC236}">
                  <a16:creationId xmlns:a16="http://schemas.microsoft.com/office/drawing/2014/main" id="{21963EF1-7AEC-2BE0-37F7-0A1C6C00B9AF}"/>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cxnSp>
          <p:nvCxnSpPr>
            <p:cNvPr id="298" name="Google Shape;389;p18">
              <a:extLst>
                <a:ext uri="{FF2B5EF4-FFF2-40B4-BE49-F238E27FC236}">
                  <a16:creationId xmlns:a16="http://schemas.microsoft.com/office/drawing/2014/main" id="{47E04464-2643-006C-2EEC-B01E011A8C41}"/>
                </a:ext>
              </a:extLst>
            </p:cNvPr>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299" name="Google Shape;390;p18">
              <a:extLst>
                <a:ext uri="{FF2B5EF4-FFF2-40B4-BE49-F238E27FC236}">
                  <a16:creationId xmlns:a16="http://schemas.microsoft.com/office/drawing/2014/main" id="{895762FB-3172-FF03-8130-02A338065359}"/>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325" name="Graphic 324" descr="Paper outline">
            <a:extLst>
              <a:ext uri="{FF2B5EF4-FFF2-40B4-BE49-F238E27FC236}">
                <a16:creationId xmlns:a16="http://schemas.microsoft.com/office/drawing/2014/main" id="{6D5CECB0-E5F4-B6BB-55EA-AD9679E7EFD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32598" y="8538023"/>
            <a:ext cx="536605" cy="536605"/>
          </a:xfrm>
          <a:prstGeom prst="rect">
            <a:avLst/>
          </a:prstGeom>
        </p:spPr>
      </p:pic>
      <p:sp>
        <p:nvSpPr>
          <p:cNvPr id="326" name="TextBox 325">
            <a:extLst>
              <a:ext uri="{FF2B5EF4-FFF2-40B4-BE49-F238E27FC236}">
                <a16:creationId xmlns:a16="http://schemas.microsoft.com/office/drawing/2014/main" id="{777F68A4-55DC-B4AB-3C6A-355DF600D9AB}"/>
              </a:ext>
            </a:extLst>
          </p:cNvPr>
          <p:cNvSpPr txBox="1"/>
          <p:nvPr/>
        </p:nvSpPr>
        <p:spPr>
          <a:xfrm>
            <a:off x="5277476" y="8649598"/>
            <a:ext cx="15549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27" name="Straight Arrow Connector 326">
            <a:extLst>
              <a:ext uri="{FF2B5EF4-FFF2-40B4-BE49-F238E27FC236}">
                <a16:creationId xmlns:a16="http://schemas.microsoft.com/office/drawing/2014/main" id="{C0D759CE-5492-F013-16E7-504EB5AA98C3}"/>
              </a:ext>
            </a:extLst>
          </p:cNvPr>
          <p:cNvCxnSpPr>
            <a:cxnSpLocks/>
          </p:cNvCxnSpPr>
          <p:nvPr/>
        </p:nvCxnSpPr>
        <p:spPr>
          <a:xfrm>
            <a:off x="6558302" y="8803860"/>
            <a:ext cx="520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8" name="Straight Arrow Connector 327">
            <a:extLst>
              <a:ext uri="{FF2B5EF4-FFF2-40B4-BE49-F238E27FC236}">
                <a16:creationId xmlns:a16="http://schemas.microsoft.com/office/drawing/2014/main" id="{370395DC-C45E-2B34-5D7A-F3C95B19FC88}"/>
              </a:ext>
            </a:extLst>
          </p:cNvPr>
          <p:cNvCxnSpPr>
            <a:cxnSpLocks/>
          </p:cNvCxnSpPr>
          <p:nvPr/>
        </p:nvCxnSpPr>
        <p:spPr>
          <a:xfrm flipH="1">
            <a:off x="5962447" y="8083651"/>
            <a:ext cx="1" cy="454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9" name="Elbow Connector 328">
            <a:extLst>
              <a:ext uri="{FF2B5EF4-FFF2-40B4-BE49-F238E27FC236}">
                <a16:creationId xmlns:a16="http://schemas.microsoft.com/office/drawing/2014/main" id="{B743F360-2EC8-CC08-4698-69CC47B01EE4}"/>
              </a:ext>
            </a:extLst>
          </p:cNvPr>
          <p:cNvCxnSpPr>
            <a:cxnSpLocks/>
          </p:cNvCxnSpPr>
          <p:nvPr/>
        </p:nvCxnSpPr>
        <p:spPr>
          <a:xfrm rot="10800000" flipV="1">
            <a:off x="4988395" y="7549615"/>
            <a:ext cx="2772299" cy="340036"/>
          </a:xfrm>
          <a:prstGeom prst="bentConnector3">
            <a:avLst>
              <a:gd name="adj1" fmla="val 16558"/>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0" name="Straight Arrow Connector 329">
            <a:extLst>
              <a:ext uri="{FF2B5EF4-FFF2-40B4-BE49-F238E27FC236}">
                <a16:creationId xmlns:a16="http://schemas.microsoft.com/office/drawing/2014/main" id="{C47FC506-82A6-5B9D-E440-E708E9BFC501}"/>
              </a:ext>
            </a:extLst>
          </p:cNvPr>
          <p:cNvCxnSpPr>
            <a:cxnSpLocks/>
          </p:cNvCxnSpPr>
          <p:nvPr/>
        </p:nvCxnSpPr>
        <p:spPr>
          <a:xfrm>
            <a:off x="4988395" y="7887589"/>
            <a:ext cx="0" cy="655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1" name="Elbow Connector 330">
            <a:extLst>
              <a:ext uri="{FF2B5EF4-FFF2-40B4-BE49-F238E27FC236}">
                <a16:creationId xmlns:a16="http://schemas.microsoft.com/office/drawing/2014/main" id="{6EF66DE3-658C-E1CC-A1A4-3C8111F8D8AC}"/>
              </a:ext>
            </a:extLst>
          </p:cNvPr>
          <p:cNvCxnSpPr>
            <a:cxnSpLocks/>
          </p:cNvCxnSpPr>
          <p:nvPr/>
        </p:nvCxnSpPr>
        <p:spPr>
          <a:xfrm rot="10800000" flipV="1">
            <a:off x="5962448" y="7689643"/>
            <a:ext cx="2330535" cy="395891"/>
          </a:xfrm>
          <a:prstGeom prst="bentConnector3">
            <a:avLst>
              <a:gd name="adj1" fmla="val 138"/>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2" name="Straight Arrow Connector 331">
            <a:extLst>
              <a:ext uri="{FF2B5EF4-FFF2-40B4-BE49-F238E27FC236}">
                <a16:creationId xmlns:a16="http://schemas.microsoft.com/office/drawing/2014/main" id="{C000A63E-3562-19B0-1B02-3CB3A6A459FE}"/>
              </a:ext>
            </a:extLst>
          </p:cNvPr>
          <p:cNvCxnSpPr>
            <a:cxnSpLocks/>
          </p:cNvCxnSpPr>
          <p:nvPr/>
        </p:nvCxnSpPr>
        <p:spPr>
          <a:xfrm>
            <a:off x="8042038" y="8798069"/>
            <a:ext cx="4914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3" name="Can 332">
            <a:extLst>
              <a:ext uri="{FF2B5EF4-FFF2-40B4-BE49-F238E27FC236}">
                <a16:creationId xmlns:a16="http://schemas.microsoft.com/office/drawing/2014/main" id="{A758A086-ADDD-019C-1552-22C48A5F6DA9}"/>
              </a:ext>
            </a:extLst>
          </p:cNvPr>
          <p:cNvSpPr/>
          <p:nvPr/>
        </p:nvSpPr>
        <p:spPr>
          <a:xfrm>
            <a:off x="2110583" y="4032312"/>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34" name="TextBox 333">
            <a:extLst>
              <a:ext uri="{FF2B5EF4-FFF2-40B4-BE49-F238E27FC236}">
                <a16:creationId xmlns:a16="http://schemas.microsoft.com/office/drawing/2014/main" id="{9A2CFA46-7167-88CE-EBA4-835CC9CAFD61}"/>
              </a:ext>
            </a:extLst>
          </p:cNvPr>
          <p:cNvSpPr txBox="1"/>
          <p:nvPr/>
        </p:nvSpPr>
        <p:spPr>
          <a:xfrm>
            <a:off x="1591688" y="4647123"/>
            <a:ext cx="144929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err="1"/>
              <a:t>GHTorrent</a:t>
            </a:r>
            <a:r>
              <a:rPr lang="en-US" sz="1000" b="0" dirty="0"/>
              <a:t> 2014 DB</a:t>
            </a:r>
          </a:p>
          <a:p>
            <a:pPr algn="ctr"/>
            <a:r>
              <a:rPr lang="en-US" sz="800" b="0" dirty="0"/>
              <a:t>MSR Challenge [2]</a:t>
            </a:r>
          </a:p>
        </p:txBody>
      </p:sp>
      <p:sp>
        <p:nvSpPr>
          <p:cNvPr id="335" name="Line">
            <a:extLst>
              <a:ext uri="{FF2B5EF4-FFF2-40B4-BE49-F238E27FC236}">
                <a16:creationId xmlns:a16="http://schemas.microsoft.com/office/drawing/2014/main" id="{CC64D0AF-F8DA-385A-022B-7D8E67709076}"/>
              </a:ext>
            </a:extLst>
          </p:cNvPr>
          <p:cNvSpPr/>
          <p:nvPr/>
        </p:nvSpPr>
        <p:spPr>
          <a:xfrm flipV="1">
            <a:off x="252723" y="5254841"/>
            <a:ext cx="3367943" cy="0"/>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aphicFrame>
        <p:nvGraphicFramePr>
          <p:cNvPr id="336" name="Table">
            <a:extLst>
              <a:ext uri="{FF2B5EF4-FFF2-40B4-BE49-F238E27FC236}">
                <a16:creationId xmlns:a16="http://schemas.microsoft.com/office/drawing/2014/main" id="{5D1E910C-818B-F61E-F48D-360F1A8CC6CF}"/>
              </a:ext>
            </a:extLst>
          </p:cNvPr>
          <p:cNvGraphicFramePr/>
          <p:nvPr>
            <p:extLst>
              <p:ext uri="{D42A27DB-BD31-4B8C-83A1-F6EECF244321}">
                <p14:modId xmlns:p14="http://schemas.microsoft.com/office/powerpoint/2010/main" val="243011654"/>
              </p:ext>
            </p:extLst>
          </p:nvPr>
        </p:nvGraphicFramePr>
        <p:xfrm>
          <a:off x="650320" y="5396945"/>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337" name="TextBox 336">
            <a:extLst>
              <a:ext uri="{FF2B5EF4-FFF2-40B4-BE49-F238E27FC236}">
                <a16:creationId xmlns:a16="http://schemas.microsoft.com/office/drawing/2014/main" id="{9D208154-F2B0-E53B-0882-35F13782EBC5}"/>
              </a:ext>
            </a:extLst>
          </p:cNvPr>
          <p:cNvSpPr txBox="1"/>
          <p:nvPr/>
        </p:nvSpPr>
        <p:spPr>
          <a:xfrm>
            <a:off x="446817" y="5942422"/>
            <a:ext cx="1034870" cy="5923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Emotion 2016 CSV</a:t>
            </a:r>
          </a:p>
          <a:p>
            <a:pPr algn="ctr"/>
            <a:r>
              <a:rPr lang="en-US" sz="800" b="0" dirty="0"/>
              <a:t>Ortu et al. [3]</a:t>
            </a:r>
          </a:p>
        </p:txBody>
      </p:sp>
      <p:sp>
        <p:nvSpPr>
          <p:cNvPr id="338" name="Can 337">
            <a:extLst>
              <a:ext uri="{FF2B5EF4-FFF2-40B4-BE49-F238E27FC236}">
                <a16:creationId xmlns:a16="http://schemas.microsoft.com/office/drawing/2014/main" id="{A06CBC85-CDAE-7BDB-6B28-1ACFE759AA1C}"/>
              </a:ext>
            </a:extLst>
          </p:cNvPr>
          <p:cNvSpPr/>
          <p:nvPr/>
        </p:nvSpPr>
        <p:spPr>
          <a:xfrm>
            <a:off x="1969177" y="5377697"/>
            <a:ext cx="658678" cy="621792"/>
          </a:xfrm>
          <a:prstGeom prst="can">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39" name="TextBox 338">
            <a:extLst>
              <a:ext uri="{FF2B5EF4-FFF2-40B4-BE49-F238E27FC236}">
                <a16:creationId xmlns:a16="http://schemas.microsoft.com/office/drawing/2014/main" id="{8D002822-6A74-C6EC-CB85-98BAF2EB100E}"/>
              </a:ext>
            </a:extLst>
          </p:cNvPr>
          <p:cNvSpPr txBox="1"/>
          <p:nvPr/>
        </p:nvSpPr>
        <p:spPr>
          <a:xfrm>
            <a:off x="1574212" y="6014743"/>
            <a:ext cx="144929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a:t>Jira PostgreSQL 2016 DB</a:t>
            </a:r>
          </a:p>
          <a:p>
            <a:pPr algn="ctr"/>
            <a:r>
              <a:rPr lang="en-US" sz="800" b="0" dirty="0"/>
              <a:t>MSR Challenge [4]</a:t>
            </a:r>
          </a:p>
        </p:txBody>
      </p:sp>
      <p:sp>
        <p:nvSpPr>
          <p:cNvPr id="340" name="TextBox 339">
            <a:extLst>
              <a:ext uri="{FF2B5EF4-FFF2-40B4-BE49-F238E27FC236}">
                <a16:creationId xmlns:a16="http://schemas.microsoft.com/office/drawing/2014/main" id="{D64F0744-9CD3-1F5E-1653-E6610241365E}"/>
              </a:ext>
            </a:extLst>
          </p:cNvPr>
          <p:cNvSpPr txBox="1"/>
          <p:nvPr/>
        </p:nvSpPr>
        <p:spPr>
          <a:xfrm>
            <a:off x="9468971" y="9437117"/>
            <a:ext cx="4207266" cy="8591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600" b="0" dirty="0"/>
              <a:t>[1] N. Novielli, Fabio Calefato, Davide </a:t>
            </a:r>
            <a:r>
              <a:rPr lang="en-US" sz="600" b="0" dirty="0" err="1"/>
              <a:t>Dongiovanni</a:t>
            </a:r>
            <a:r>
              <a:rPr lang="en-US" sz="600" b="0" dirty="0"/>
              <a:t>, D. Girardi, and Filippo Lanubile, “Can We Use SE-specific Sentiment Analysis Tools in a Cross-Platform Setting?,” Jun. 2020, </a:t>
            </a:r>
            <a:r>
              <a:rPr lang="en-US" sz="600" b="0" dirty="0" err="1"/>
              <a:t>doi</a:t>
            </a:r>
            <a:r>
              <a:rPr lang="en-US" sz="600" b="0" dirty="0"/>
              <a:t>: https://doi.org/10.1145/3379597.3387446. </a:t>
            </a:r>
          </a:p>
          <a:p>
            <a:r>
              <a:rPr lang="en-US" sz="600" b="0" dirty="0"/>
              <a:t>[2]https://web.archive.org/web/20210224080543/http://ansymore.uantwerpen.be/system/files/uploads/artefacts/alessandro/MSR16/archive3.zip</a:t>
            </a:r>
          </a:p>
          <a:p>
            <a:r>
              <a:rPr lang="en-US" sz="600" b="0" dirty="0"/>
              <a:t>[3] M. Ortu </a:t>
            </a:r>
            <a:r>
              <a:rPr lang="en-US" sz="600" b="0" i="1" dirty="0"/>
              <a:t>et al.</a:t>
            </a:r>
            <a:r>
              <a:rPr lang="en-US" sz="600" b="0" dirty="0"/>
              <a:t>, “The emotional side of software developers in JIRA,” </a:t>
            </a:r>
            <a:r>
              <a:rPr lang="en-US" sz="600" b="0" i="1" dirty="0"/>
              <a:t>Proceedings of the 13th International Conference on Mining Software Repositories</a:t>
            </a:r>
            <a:r>
              <a:rPr lang="en-US" sz="600" b="0" dirty="0"/>
              <a:t>, May 2016, </a:t>
            </a:r>
            <a:r>
              <a:rPr lang="en-US" sz="600" b="0" dirty="0" err="1"/>
              <a:t>doi</a:t>
            </a:r>
            <a:r>
              <a:rPr lang="en-US" sz="600" b="0" dirty="0"/>
              <a:t>: https://doi.org/10.1145/2901739.2903505. </a:t>
            </a:r>
          </a:p>
          <a:p>
            <a:r>
              <a:rPr lang="en-US" sz="600" b="0" dirty="0"/>
              <a:t>[4]https://web.archive.org/web/20150206005357/http://ghtorrent.org/msr14.html </a:t>
            </a:r>
          </a:p>
        </p:txBody>
      </p:sp>
      <p:grpSp>
        <p:nvGrpSpPr>
          <p:cNvPr id="341" name="Group 340">
            <a:extLst>
              <a:ext uri="{FF2B5EF4-FFF2-40B4-BE49-F238E27FC236}">
                <a16:creationId xmlns:a16="http://schemas.microsoft.com/office/drawing/2014/main" id="{B501BA9D-978B-3DBA-CC64-F4DD97D929CE}"/>
              </a:ext>
            </a:extLst>
          </p:cNvPr>
          <p:cNvGrpSpPr/>
          <p:nvPr/>
        </p:nvGrpSpPr>
        <p:grpSpPr>
          <a:xfrm>
            <a:off x="9705867" y="7243461"/>
            <a:ext cx="3667112" cy="2099743"/>
            <a:chOff x="8467065" y="1114845"/>
            <a:chExt cx="3254813" cy="1896300"/>
          </a:xfrm>
        </p:grpSpPr>
        <p:sp>
          <p:nvSpPr>
            <p:cNvPr id="342" name="Google Shape;324;p18">
              <a:extLst>
                <a:ext uri="{FF2B5EF4-FFF2-40B4-BE49-F238E27FC236}">
                  <a16:creationId xmlns:a16="http://schemas.microsoft.com/office/drawing/2014/main" id="{B34F89F9-4A0D-2FFE-7EC7-1E0B00FD050B}"/>
                </a:ext>
              </a:extLst>
            </p:cNvPr>
            <p:cNvSpPr/>
            <p:nvPr/>
          </p:nvSpPr>
          <p:spPr>
            <a:xfrm>
              <a:off x="8547103" y="133324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sp>
          <p:nvSpPr>
            <p:cNvPr id="343" name="Google Shape;325;p18">
              <a:extLst>
                <a:ext uri="{FF2B5EF4-FFF2-40B4-BE49-F238E27FC236}">
                  <a16:creationId xmlns:a16="http://schemas.microsoft.com/office/drawing/2014/main" id="{E37128C8-B626-65FA-DFD3-325C6FF63474}"/>
                </a:ext>
              </a:extLst>
            </p:cNvPr>
            <p:cNvSpPr txBox="1"/>
            <p:nvPr/>
          </p:nvSpPr>
          <p:spPr>
            <a:xfrm>
              <a:off x="8467065" y="1143895"/>
              <a:ext cx="5898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Comments</a:t>
              </a:r>
              <a:endParaRPr sz="686">
                <a:solidFill>
                  <a:schemeClr val="dk2"/>
                </a:solidFill>
                <a:latin typeface="Source Sans 3"/>
                <a:ea typeface="Source Sans 3"/>
                <a:cs typeface="Source Sans 3"/>
                <a:sym typeface="Source Sans 3"/>
              </a:endParaRPr>
            </a:p>
          </p:txBody>
        </p:sp>
        <p:sp>
          <p:nvSpPr>
            <p:cNvPr id="344" name="Google Shape;326;p18">
              <a:extLst>
                <a:ext uri="{FF2B5EF4-FFF2-40B4-BE49-F238E27FC236}">
                  <a16:creationId xmlns:a16="http://schemas.microsoft.com/office/drawing/2014/main" id="{FBD8AA27-462B-F380-672D-356EEDC6D34F}"/>
                </a:ext>
              </a:extLst>
            </p:cNvPr>
            <p:cNvSpPr/>
            <p:nvPr/>
          </p:nvSpPr>
          <p:spPr>
            <a:xfrm>
              <a:off x="8476178" y="1114845"/>
              <a:ext cx="3245700" cy="18963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5" name="Google Shape;327;p18">
              <a:extLst>
                <a:ext uri="{FF2B5EF4-FFF2-40B4-BE49-F238E27FC236}">
                  <a16:creationId xmlns:a16="http://schemas.microsoft.com/office/drawing/2014/main" id="{55A98F10-47F7-0F84-453F-18C45A7E023C}"/>
                </a:ext>
              </a:extLst>
            </p:cNvPr>
            <p:cNvSpPr/>
            <p:nvPr/>
          </p:nvSpPr>
          <p:spPr>
            <a:xfrm>
              <a:off x="9194189" y="1685753"/>
              <a:ext cx="660000" cy="5394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sp>
          <p:nvSpPr>
            <p:cNvPr id="346" name="Google Shape;328;p18">
              <a:extLst>
                <a:ext uri="{FF2B5EF4-FFF2-40B4-BE49-F238E27FC236}">
                  <a16:creationId xmlns:a16="http://schemas.microsoft.com/office/drawing/2014/main" id="{5B9EADB9-2CF3-F6A1-1286-D1589AD5DF7B}"/>
                </a:ext>
              </a:extLst>
            </p:cNvPr>
            <p:cNvSpPr txBox="1"/>
            <p:nvPr/>
          </p:nvSpPr>
          <p:spPr>
            <a:xfrm>
              <a:off x="9194178" y="1823420"/>
              <a:ext cx="6876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sailuh/kaiaulu</a:t>
              </a:r>
              <a:endParaRPr sz="686">
                <a:solidFill>
                  <a:schemeClr val="dk2"/>
                </a:solidFill>
                <a:latin typeface="Source Sans 3"/>
                <a:ea typeface="Source Sans 3"/>
                <a:cs typeface="Source Sans 3"/>
                <a:sym typeface="Source Sans 3"/>
              </a:endParaRPr>
            </a:p>
          </p:txBody>
        </p:sp>
        <p:cxnSp>
          <p:nvCxnSpPr>
            <p:cNvPr id="347" name="Google Shape;329;p18">
              <a:extLst>
                <a:ext uri="{FF2B5EF4-FFF2-40B4-BE49-F238E27FC236}">
                  <a16:creationId xmlns:a16="http://schemas.microsoft.com/office/drawing/2014/main" id="{A171DBE3-115C-C03C-A1B5-CA0B813D350C}"/>
                </a:ext>
              </a:extLst>
            </p:cNvPr>
            <p:cNvCxnSpPr/>
            <p:nvPr/>
          </p:nvCxnSpPr>
          <p:spPr>
            <a:xfrm>
              <a:off x="9524199" y="2225090"/>
              <a:ext cx="0" cy="297300"/>
            </a:xfrm>
            <a:prstGeom prst="straightConnector1">
              <a:avLst/>
            </a:prstGeom>
            <a:noFill/>
            <a:ln w="8175" cap="flat" cmpd="sng">
              <a:solidFill>
                <a:schemeClr val="dk2"/>
              </a:solidFill>
              <a:prstDash val="solid"/>
              <a:round/>
              <a:headEnd type="none" w="med" len="med"/>
              <a:tailEnd type="triangle" w="med" len="med"/>
            </a:ln>
          </p:spPr>
        </p:cxnSp>
        <p:sp>
          <p:nvSpPr>
            <p:cNvPr id="348" name="Google Shape;330;p18">
              <a:extLst>
                <a:ext uri="{FF2B5EF4-FFF2-40B4-BE49-F238E27FC236}">
                  <a16:creationId xmlns:a16="http://schemas.microsoft.com/office/drawing/2014/main" id="{36CB060D-12B7-7210-ED03-7323304B4D7F}"/>
                </a:ext>
              </a:extLst>
            </p:cNvPr>
            <p:cNvSpPr txBox="1"/>
            <p:nvPr/>
          </p:nvSpPr>
          <p:spPr>
            <a:xfrm>
              <a:off x="9029988" y="2467514"/>
              <a:ext cx="1094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rgbClr val="628DB5"/>
                  </a:solidFill>
                  <a:latin typeface="Source Sans 3"/>
                  <a:ea typeface="Source Sans 3"/>
                  <a:cs typeface="Source Sans 3"/>
                  <a:sym typeface="Source Sans 3"/>
                </a:rPr>
                <a:t>engagement_sentiment()</a:t>
              </a:r>
              <a:endParaRPr sz="686">
                <a:solidFill>
                  <a:srgbClr val="628DB5"/>
                </a:solidFill>
                <a:latin typeface="Source Sans 3"/>
                <a:ea typeface="Source Sans 3"/>
                <a:cs typeface="Source Sans 3"/>
                <a:sym typeface="Source Sans 3"/>
              </a:endParaRPr>
            </a:p>
          </p:txBody>
        </p:sp>
        <p:sp>
          <p:nvSpPr>
            <p:cNvPr id="349" name="Google Shape;331;p18">
              <a:extLst>
                <a:ext uri="{FF2B5EF4-FFF2-40B4-BE49-F238E27FC236}">
                  <a16:creationId xmlns:a16="http://schemas.microsoft.com/office/drawing/2014/main" id="{5EC67701-401B-DC36-E26B-67101184CFEC}"/>
                </a:ext>
              </a:extLst>
            </p:cNvPr>
            <p:cNvSpPr/>
            <p:nvPr/>
          </p:nvSpPr>
          <p:spPr>
            <a:xfrm>
              <a:off x="10562628" y="1685745"/>
              <a:ext cx="1099800" cy="554100"/>
            </a:xfrm>
            <a:prstGeom prst="rect">
              <a:avLst/>
            </a:prstGeom>
            <a:noFill/>
            <a:ln w="8200" cap="flat" cmpd="sng">
              <a:solidFill>
                <a:schemeClr val="dk2"/>
              </a:solidFill>
              <a:prstDash val="solid"/>
              <a:round/>
              <a:headEnd type="none" w="sm" len="sm"/>
              <a:tailEnd type="none" w="sm" len="sm"/>
            </a:ln>
          </p:spPr>
          <p:txBody>
            <a:bodyPr spcFirstLastPara="1" wrap="square" lIns="78800" tIns="78800" rIns="78800" bIns="78800" anchor="ctr" anchorCtr="0">
              <a:noAutofit/>
            </a:bodyPr>
            <a:lstStyle/>
            <a:p>
              <a:pPr marL="0" lvl="0" indent="0" algn="ctr" rtl="0">
                <a:spcBef>
                  <a:spcPts val="0"/>
                </a:spcBef>
                <a:spcAft>
                  <a:spcPts val="0"/>
                </a:spcAft>
                <a:buNone/>
              </a:pPr>
              <a:endParaRPr sz="1207"/>
            </a:p>
          </p:txBody>
        </p:sp>
        <p:sp>
          <p:nvSpPr>
            <p:cNvPr id="350" name="Google Shape;332;p18">
              <a:extLst>
                <a:ext uri="{FF2B5EF4-FFF2-40B4-BE49-F238E27FC236}">
                  <a16:creationId xmlns:a16="http://schemas.microsoft.com/office/drawing/2014/main" id="{B679DF61-E214-34D1-B177-50909FCF04AD}"/>
                </a:ext>
              </a:extLst>
            </p:cNvPr>
            <p:cNvSpPr txBox="1"/>
            <p:nvPr/>
          </p:nvSpPr>
          <p:spPr>
            <a:xfrm>
              <a:off x="10544028" y="1682645"/>
              <a:ext cx="1150800" cy="265200"/>
            </a:xfrm>
            <a:prstGeom prst="rect">
              <a:avLst/>
            </a:prstGeom>
            <a:noFill/>
            <a:ln>
              <a:noFill/>
            </a:ln>
          </p:spPr>
          <p:txBody>
            <a:bodyPr spcFirstLastPara="1" wrap="square" lIns="78800" tIns="78800" rIns="78800" bIns="78800" anchor="t" anchorCtr="0">
              <a:spAutoFit/>
            </a:bodyPr>
            <a:lstStyle/>
            <a:p>
              <a:pPr marL="0" lvl="0" indent="0" algn="l" rtl="0">
                <a:spcBef>
                  <a:spcPts val="0"/>
                </a:spcBef>
                <a:spcAft>
                  <a:spcPts val="0"/>
                </a:spcAft>
                <a:buNone/>
              </a:pPr>
              <a:r>
                <a:rPr lang="en" sz="689" dirty="0" err="1">
                  <a:solidFill>
                    <a:schemeClr val="dk2"/>
                  </a:solidFill>
                  <a:latin typeface="Source Sans 3"/>
                  <a:ea typeface="Source Sans 3"/>
                  <a:cs typeface="Source Sans 3"/>
                  <a:sym typeface="Source Sans 3"/>
                </a:rPr>
                <a:t>sailuh</a:t>
              </a:r>
              <a:r>
                <a:rPr lang="en" sz="689" dirty="0">
                  <a:solidFill>
                    <a:schemeClr val="dk2"/>
                  </a:solidFill>
                  <a:latin typeface="Source Sans 3"/>
                  <a:ea typeface="Source Sans 3"/>
                  <a:cs typeface="Source Sans 3"/>
                  <a:sym typeface="Source Sans 3"/>
                </a:rPr>
                <a:t>/</a:t>
              </a:r>
              <a:r>
                <a:rPr lang="en" sz="689" dirty="0" err="1">
                  <a:solidFill>
                    <a:schemeClr val="dk2"/>
                  </a:solidFill>
                  <a:latin typeface="Source Sans 3"/>
                  <a:ea typeface="Source Sans 3"/>
                  <a:cs typeface="Source Sans 3"/>
                  <a:sym typeface="Source Sans 3"/>
                </a:rPr>
                <a:t>sentiment_classifier</a:t>
              </a:r>
              <a:endParaRPr sz="689" dirty="0">
                <a:solidFill>
                  <a:schemeClr val="dk2"/>
                </a:solidFill>
                <a:latin typeface="Source Sans 3"/>
                <a:ea typeface="Source Sans 3"/>
                <a:cs typeface="Source Sans 3"/>
                <a:sym typeface="Source Sans 3"/>
              </a:endParaRPr>
            </a:p>
          </p:txBody>
        </p:sp>
        <p:cxnSp>
          <p:nvCxnSpPr>
            <p:cNvPr id="351" name="Google Shape;333;p18">
              <a:extLst>
                <a:ext uri="{FF2B5EF4-FFF2-40B4-BE49-F238E27FC236}">
                  <a16:creationId xmlns:a16="http://schemas.microsoft.com/office/drawing/2014/main" id="{234D8B66-24E0-B24E-8427-2122CBD040CB}"/>
                </a:ext>
              </a:extLst>
            </p:cNvPr>
            <p:cNvCxnSpPr/>
            <p:nvPr/>
          </p:nvCxnSpPr>
          <p:spPr>
            <a:xfrm rot="10800000" flipH="1">
              <a:off x="9890815" y="1865994"/>
              <a:ext cx="632700" cy="900"/>
            </a:xfrm>
            <a:prstGeom prst="straightConnector1">
              <a:avLst/>
            </a:prstGeom>
            <a:noFill/>
            <a:ln w="9525" cap="flat" cmpd="sng">
              <a:solidFill>
                <a:schemeClr val="dk2"/>
              </a:solidFill>
              <a:prstDash val="solid"/>
              <a:round/>
              <a:headEnd type="none" w="med" len="med"/>
              <a:tailEnd type="triangle" w="med" len="med"/>
            </a:ln>
          </p:spPr>
        </p:cxnSp>
        <p:cxnSp>
          <p:nvCxnSpPr>
            <p:cNvPr id="352" name="Google Shape;334;p18">
              <a:extLst>
                <a:ext uri="{FF2B5EF4-FFF2-40B4-BE49-F238E27FC236}">
                  <a16:creationId xmlns:a16="http://schemas.microsoft.com/office/drawing/2014/main" id="{E23301BD-01F4-BC41-C865-FD2355C01832}"/>
                </a:ext>
              </a:extLst>
            </p:cNvPr>
            <p:cNvCxnSpPr/>
            <p:nvPr/>
          </p:nvCxnSpPr>
          <p:spPr>
            <a:xfrm rot="10800000">
              <a:off x="9866990" y="2086194"/>
              <a:ext cx="632700" cy="900"/>
            </a:xfrm>
            <a:prstGeom prst="straightConnector1">
              <a:avLst/>
            </a:prstGeom>
            <a:noFill/>
            <a:ln w="9525" cap="flat" cmpd="sng">
              <a:solidFill>
                <a:schemeClr val="dk2"/>
              </a:solidFill>
              <a:prstDash val="solid"/>
              <a:round/>
              <a:headEnd type="none" w="med" len="med"/>
              <a:tailEnd type="triangle" w="med" len="med"/>
            </a:ln>
          </p:spPr>
        </p:cxnSp>
        <p:sp>
          <p:nvSpPr>
            <p:cNvPr id="353" name="Google Shape;335;p18">
              <a:extLst>
                <a:ext uri="{FF2B5EF4-FFF2-40B4-BE49-F238E27FC236}">
                  <a16:creationId xmlns:a16="http://schemas.microsoft.com/office/drawing/2014/main" id="{6425EBD6-318E-80B8-F593-E164F40E321B}"/>
                </a:ext>
              </a:extLst>
            </p:cNvPr>
            <p:cNvSpPr txBox="1"/>
            <p:nvPr/>
          </p:nvSpPr>
          <p:spPr>
            <a:xfrm>
              <a:off x="10046553" y="2123170"/>
              <a:ext cx="3483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label</a:t>
              </a:r>
              <a:endParaRPr sz="686">
                <a:solidFill>
                  <a:schemeClr val="dk2"/>
                </a:solidFill>
                <a:latin typeface="Source Sans 3"/>
                <a:ea typeface="Source Sans 3"/>
                <a:cs typeface="Source Sans 3"/>
                <a:sym typeface="Source Sans 3"/>
              </a:endParaRPr>
            </a:p>
          </p:txBody>
        </p:sp>
        <p:sp>
          <p:nvSpPr>
            <p:cNvPr id="354" name="Google Shape;336;p18">
              <a:extLst>
                <a:ext uri="{FF2B5EF4-FFF2-40B4-BE49-F238E27FC236}">
                  <a16:creationId xmlns:a16="http://schemas.microsoft.com/office/drawing/2014/main" id="{F82E689A-85EA-7C6D-DC65-17EC4C0F7D3B}"/>
                </a:ext>
              </a:extLst>
            </p:cNvPr>
            <p:cNvSpPr/>
            <p:nvPr/>
          </p:nvSpPr>
          <p:spPr>
            <a:xfrm>
              <a:off x="10370240" y="2300395"/>
              <a:ext cx="133800" cy="114600"/>
            </a:xfrm>
            <a:prstGeom prst="wedgeRectCallout">
              <a:avLst>
                <a:gd name="adj1" fmla="val -20833"/>
                <a:gd name="adj2" fmla="val 62500"/>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 name="Google Shape;337;p18">
              <a:extLst>
                <a:ext uri="{FF2B5EF4-FFF2-40B4-BE49-F238E27FC236}">
                  <a16:creationId xmlns:a16="http://schemas.microsoft.com/office/drawing/2014/main" id="{CBA8FA92-8931-AFD8-7FCB-F75369E59B14}"/>
                </a:ext>
              </a:extLst>
            </p:cNvPr>
            <p:cNvSpPr txBox="1"/>
            <p:nvPr/>
          </p:nvSpPr>
          <p:spPr>
            <a:xfrm>
              <a:off x="9829328" y="1578732"/>
              <a:ext cx="8400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pysenti_predict()</a:t>
              </a:r>
              <a:endParaRPr sz="686">
                <a:solidFill>
                  <a:schemeClr val="dk2"/>
                </a:solidFill>
                <a:latin typeface="Source Sans 3"/>
                <a:ea typeface="Source Sans 3"/>
                <a:cs typeface="Source Sans 3"/>
                <a:sym typeface="Source Sans 3"/>
              </a:endParaRPr>
            </a:p>
          </p:txBody>
        </p:sp>
        <p:sp>
          <p:nvSpPr>
            <p:cNvPr id="356" name="Google Shape;338;p18">
              <a:extLst>
                <a:ext uri="{FF2B5EF4-FFF2-40B4-BE49-F238E27FC236}">
                  <a16:creationId xmlns:a16="http://schemas.microsoft.com/office/drawing/2014/main" id="{5B8312B9-C34D-7F10-2C1D-0C6A439FC391}"/>
                </a:ext>
              </a:extLst>
            </p:cNvPr>
            <p:cNvSpPr/>
            <p:nvPr/>
          </p:nvSpPr>
          <p:spPr>
            <a:xfrm>
              <a:off x="10116428" y="1532095"/>
              <a:ext cx="133800" cy="114600"/>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7" name="Google Shape;339;p18">
              <a:extLst>
                <a:ext uri="{FF2B5EF4-FFF2-40B4-BE49-F238E27FC236}">
                  <a16:creationId xmlns:a16="http://schemas.microsoft.com/office/drawing/2014/main" id="{707A73F9-B0A1-F9DE-B13A-9C4A95CAF163}"/>
                </a:ext>
              </a:extLst>
            </p:cNvPr>
            <p:cNvSpPr/>
            <p:nvPr/>
          </p:nvSpPr>
          <p:spPr>
            <a:xfrm>
              <a:off x="9482353" y="2661807"/>
              <a:ext cx="113100" cy="114600"/>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 name="Google Shape;340;p18">
              <a:extLst>
                <a:ext uri="{FF2B5EF4-FFF2-40B4-BE49-F238E27FC236}">
                  <a16:creationId xmlns:a16="http://schemas.microsoft.com/office/drawing/2014/main" id="{398F5500-513C-1F3D-0EEA-7AA24270F7A8}"/>
                </a:ext>
              </a:extLst>
            </p:cNvPr>
            <p:cNvSpPr txBox="1"/>
            <p:nvPr/>
          </p:nvSpPr>
          <p:spPr>
            <a:xfrm>
              <a:off x="9400286" y="2595959"/>
              <a:ext cx="289200" cy="23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00">
                  <a:solidFill>
                    <a:schemeClr val="lt1"/>
                  </a:solidFill>
                </a:rPr>
                <a:t>0.27</a:t>
              </a:r>
              <a:endParaRPr sz="400">
                <a:solidFill>
                  <a:schemeClr val="lt1"/>
                </a:solidFill>
              </a:endParaRPr>
            </a:p>
          </p:txBody>
        </p:sp>
        <p:sp>
          <p:nvSpPr>
            <p:cNvPr id="359" name="Google Shape;341;p18">
              <a:extLst>
                <a:ext uri="{FF2B5EF4-FFF2-40B4-BE49-F238E27FC236}">
                  <a16:creationId xmlns:a16="http://schemas.microsoft.com/office/drawing/2014/main" id="{F7042CB7-1FB6-CBE8-5F3A-8B70D1B761F3}"/>
                </a:ext>
              </a:extLst>
            </p:cNvPr>
            <p:cNvSpPr/>
            <p:nvPr/>
          </p:nvSpPr>
          <p:spPr>
            <a:xfrm>
              <a:off x="10141503" y="2300395"/>
              <a:ext cx="133800" cy="114600"/>
            </a:xfrm>
            <a:prstGeom prst="wedgeRectCallout">
              <a:avLst>
                <a:gd name="adj1" fmla="val -20833"/>
                <a:gd name="adj2" fmla="val 62500"/>
              </a:avLst>
            </a:prstGeom>
            <a:solidFill>
              <a:srgbClr val="E0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0" name="Google Shape;342;p18">
              <a:extLst>
                <a:ext uri="{FF2B5EF4-FFF2-40B4-BE49-F238E27FC236}">
                  <a16:creationId xmlns:a16="http://schemas.microsoft.com/office/drawing/2014/main" id="{CB64A3E0-0167-3497-47AE-0CA14EE7EE5A}"/>
                </a:ext>
              </a:extLst>
            </p:cNvPr>
            <p:cNvSpPr/>
            <p:nvPr/>
          </p:nvSpPr>
          <p:spPr>
            <a:xfrm>
              <a:off x="9912740" y="2300395"/>
              <a:ext cx="133800" cy="114600"/>
            </a:xfrm>
            <a:prstGeom prst="wedgeRectCallout">
              <a:avLst>
                <a:gd name="adj1" fmla="val -20833"/>
                <a:gd name="adj2" fmla="val 625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1" name="Google Shape;344;p18">
              <a:extLst>
                <a:ext uri="{FF2B5EF4-FFF2-40B4-BE49-F238E27FC236}">
                  <a16:creationId xmlns:a16="http://schemas.microsoft.com/office/drawing/2014/main" id="{D0F154C0-A801-D87F-BB5E-1CA9C214B35C}"/>
                </a:ext>
              </a:extLst>
            </p:cNvPr>
            <p:cNvSpPr txBox="1"/>
            <p:nvPr/>
          </p:nvSpPr>
          <p:spPr>
            <a:xfrm>
              <a:off x="10062053" y="1668745"/>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(2)</a:t>
              </a:r>
              <a:endParaRPr sz="686">
                <a:solidFill>
                  <a:schemeClr val="dk2"/>
                </a:solidFill>
                <a:latin typeface="Source Sans 3"/>
                <a:ea typeface="Source Sans 3"/>
                <a:cs typeface="Source Sans 3"/>
                <a:sym typeface="Source Sans 3"/>
              </a:endParaRPr>
            </a:p>
          </p:txBody>
        </p:sp>
        <p:sp>
          <p:nvSpPr>
            <p:cNvPr id="362" name="Google Shape;345;p18">
              <a:extLst>
                <a:ext uri="{FF2B5EF4-FFF2-40B4-BE49-F238E27FC236}">
                  <a16:creationId xmlns:a16="http://schemas.microsoft.com/office/drawing/2014/main" id="{2FFFA666-F529-C5DE-A4BE-AC545E1CB4F0}"/>
                </a:ext>
              </a:extLst>
            </p:cNvPr>
            <p:cNvSpPr txBox="1"/>
            <p:nvPr/>
          </p:nvSpPr>
          <p:spPr>
            <a:xfrm>
              <a:off x="10079303" y="2023132"/>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(4)</a:t>
              </a:r>
              <a:endParaRPr sz="686">
                <a:solidFill>
                  <a:schemeClr val="dk2"/>
                </a:solidFill>
                <a:latin typeface="Source Sans 3"/>
                <a:ea typeface="Source Sans 3"/>
                <a:cs typeface="Source Sans 3"/>
                <a:sym typeface="Source Sans 3"/>
              </a:endParaRPr>
            </a:p>
          </p:txBody>
        </p:sp>
        <p:sp>
          <p:nvSpPr>
            <p:cNvPr id="363" name="Google Shape;346;p18">
              <a:extLst>
                <a:ext uri="{FF2B5EF4-FFF2-40B4-BE49-F238E27FC236}">
                  <a16:creationId xmlns:a16="http://schemas.microsoft.com/office/drawing/2014/main" id="{284F5D50-63BB-42EE-05CF-3238C8671C9C}"/>
                </a:ext>
              </a:extLst>
            </p:cNvPr>
            <p:cNvSpPr txBox="1"/>
            <p:nvPr/>
          </p:nvSpPr>
          <p:spPr>
            <a:xfrm>
              <a:off x="10964278" y="1800070"/>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(3)</a:t>
              </a:r>
              <a:endParaRPr sz="686">
                <a:solidFill>
                  <a:schemeClr val="dk2"/>
                </a:solidFill>
                <a:latin typeface="Source Sans 3"/>
                <a:ea typeface="Source Sans 3"/>
                <a:cs typeface="Source Sans 3"/>
                <a:sym typeface="Source Sans 3"/>
              </a:endParaRPr>
            </a:p>
          </p:txBody>
        </p:sp>
        <p:sp>
          <p:nvSpPr>
            <p:cNvPr id="364" name="Google Shape;347;p18">
              <a:extLst>
                <a:ext uri="{FF2B5EF4-FFF2-40B4-BE49-F238E27FC236}">
                  <a16:creationId xmlns:a16="http://schemas.microsoft.com/office/drawing/2014/main" id="{85FE0FE5-84E2-4AAB-12F7-9503D721FB36}"/>
                </a:ext>
              </a:extLst>
            </p:cNvPr>
            <p:cNvSpPr/>
            <p:nvPr/>
          </p:nvSpPr>
          <p:spPr>
            <a:xfrm>
              <a:off x="107684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5" name="Google Shape;348;p18">
              <a:extLst>
                <a:ext uri="{FF2B5EF4-FFF2-40B4-BE49-F238E27FC236}">
                  <a16:creationId xmlns:a16="http://schemas.microsoft.com/office/drawing/2014/main" id="{6397435A-0F7D-1F1A-634F-C586E29DF53F}"/>
                </a:ext>
              </a:extLst>
            </p:cNvPr>
            <p:cNvSpPr txBox="1"/>
            <p:nvPr/>
          </p:nvSpPr>
          <p:spPr>
            <a:xfrm>
              <a:off x="10702335" y="1945845"/>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366" name="Google Shape;349;p18">
              <a:extLst>
                <a:ext uri="{FF2B5EF4-FFF2-40B4-BE49-F238E27FC236}">
                  <a16:creationId xmlns:a16="http://schemas.microsoft.com/office/drawing/2014/main" id="{0C1A8CBB-F75B-02CB-08D1-5DA76810173D}"/>
                </a:ext>
              </a:extLst>
            </p:cNvPr>
            <p:cNvSpPr txBox="1"/>
            <p:nvPr/>
          </p:nvSpPr>
          <p:spPr>
            <a:xfrm>
              <a:off x="11020518" y="1948023"/>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367" name="Google Shape;350;p18">
              <a:extLst>
                <a:ext uri="{FF2B5EF4-FFF2-40B4-BE49-F238E27FC236}">
                  <a16:creationId xmlns:a16="http://schemas.microsoft.com/office/drawing/2014/main" id="{8AB56A8F-A6A1-CF5E-5A1C-AE519B7E990D}"/>
                </a:ext>
              </a:extLst>
            </p:cNvPr>
            <p:cNvSpPr/>
            <p:nvPr/>
          </p:nvSpPr>
          <p:spPr>
            <a:xfrm>
              <a:off x="109289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8" name="Google Shape;351;p18">
              <a:extLst>
                <a:ext uri="{FF2B5EF4-FFF2-40B4-BE49-F238E27FC236}">
                  <a16:creationId xmlns:a16="http://schemas.microsoft.com/office/drawing/2014/main" id="{FD29DF9E-7ADF-BCFE-902E-AFEACDC22D19}"/>
                </a:ext>
              </a:extLst>
            </p:cNvPr>
            <p:cNvSpPr/>
            <p:nvPr/>
          </p:nvSpPr>
          <p:spPr>
            <a:xfrm>
              <a:off x="110894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9" name="Google Shape;352;p18">
              <a:extLst>
                <a:ext uri="{FF2B5EF4-FFF2-40B4-BE49-F238E27FC236}">
                  <a16:creationId xmlns:a16="http://schemas.microsoft.com/office/drawing/2014/main" id="{91B3F125-FB1E-2720-2CAE-F6AFFA0C808E}"/>
                </a:ext>
              </a:extLst>
            </p:cNvPr>
            <p:cNvSpPr/>
            <p:nvPr/>
          </p:nvSpPr>
          <p:spPr>
            <a:xfrm>
              <a:off x="112499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70" name="Google Shape;353;p18">
              <a:extLst>
                <a:ext uri="{FF2B5EF4-FFF2-40B4-BE49-F238E27FC236}">
                  <a16:creationId xmlns:a16="http://schemas.microsoft.com/office/drawing/2014/main" id="{55F1E441-840B-86FB-2408-F73B51B60EAF}"/>
                </a:ext>
              </a:extLst>
            </p:cNvPr>
            <p:cNvSpPr txBox="1"/>
            <p:nvPr/>
          </p:nvSpPr>
          <p:spPr>
            <a:xfrm>
              <a:off x="10863720" y="1948470"/>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371" name="Google Shape;354;p18">
              <a:extLst>
                <a:ext uri="{FF2B5EF4-FFF2-40B4-BE49-F238E27FC236}">
                  <a16:creationId xmlns:a16="http://schemas.microsoft.com/office/drawing/2014/main" id="{A30A62EA-05A8-D5B4-A833-C7F0F82D7DC8}"/>
                </a:ext>
              </a:extLst>
            </p:cNvPr>
            <p:cNvSpPr txBox="1"/>
            <p:nvPr/>
          </p:nvSpPr>
          <p:spPr>
            <a:xfrm>
              <a:off x="11183172" y="1948019"/>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cxnSp>
          <p:nvCxnSpPr>
            <p:cNvPr id="372" name="Google Shape;357;p18">
              <a:extLst>
                <a:ext uri="{FF2B5EF4-FFF2-40B4-BE49-F238E27FC236}">
                  <a16:creationId xmlns:a16="http://schemas.microsoft.com/office/drawing/2014/main" id="{DDDF3BC5-E4B5-88B3-1BAD-B66A23E643A8}"/>
                </a:ext>
              </a:extLst>
            </p:cNvPr>
            <p:cNvCxnSpPr>
              <a:stCxn id="345" idx="0"/>
              <a:endCxn id="350" idx="0"/>
            </p:cNvCxnSpPr>
            <p:nvPr/>
          </p:nvCxnSpPr>
          <p:spPr>
            <a:xfrm rot="16200000">
              <a:off x="10320239" y="886703"/>
              <a:ext cx="3000" cy="1595100"/>
            </a:xfrm>
            <a:prstGeom prst="bentConnector3">
              <a:avLst>
                <a:gd name="adj1" fmla="val 8041114"/>
              </a:avLst>
            </a:prstGeom>
            <a:noFill/>
            <a:ln w="9525" cap="flat" cmpd="sng">
              <a:solidFill>
                <a:schemeClr val="dk2"/>
              </a:solidFill>
              <a:prstDash val="solid"/>
              <a:round/>
              <a:headEnd type="none" w="med" len="med"/>
              <a:tailEnd type="none" w="med" len="med"/>
            </a:ln>
          </p:spPr>
        </p:cxnSp>
        <p:sp>
          <p:nvSpPr>
            <p:cNvPr id="373" name="Google Shape;358;p18">
              <a:extLst>
                <a:ext uri="{FF2B5EF4-FFF2-40B4-BE49-F238E27FC236}">
                  <a16:creationId xmlns:a16="http://schemas.microsoft.com/office/drawing/2014/main" id="{EC8BC751-106C-9A13-0F88-007A344836D6}"/>
                </a:ext>
              </a:extLst>
            </p:cNvPr>
            <p:cNvSpPr txBox="1"/>
            <p:nvPr/>
          </p:nvSpPr>
          <p:spPr>
            <a:xfrm>
              <a:off x="9795878" y="1222007"/>
              <a:ext cx="972600" cy="18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dirty="0" err="1">
                  <a:solidFill>
                    <a:schemeClr val="dk2"/>
                  </a:solidFill>
                  <a:latin typeface="Source Sans 3"/>
                  <a:ea typeface="Source Sans 3"/>
                  <a:cs typeface="Source Sans 3"/>
                  <a:sym typeface="Source Sans 3"/>
                </a:rPr>
                <a:t>pysenti_train_model</a:t>
              </a:r>
              <a:r>
                <a:rPr lang="en" sz="650" dirty="0">
                  <a:solidFill>
                    <a:schemeClr val="dk2"/>
                  </a:solidFill>
                  <a:latin typeface="Source Sans 3"/>
                  <a:ea typeface="Source Sans 3"/>
                  <a:cs typeface="Source Sans 3"/>
                  <a:sym typeface="Source Sans 3"/>
                </a:rPr>
                <a:t>()</a:t>
              </a:r>
              <a:endParaRPr sz="650" dirty="0">
                <a:solidFill>
                  <a:schemeClr val="dk2"/>
                </a:solidFill>
                <a:latin typeface="Source Sans 3"/>
                <a:ea typeface="Source Sans 3"/>
                <a:cs typeface="Source Sans 3"/>
                <a:sym typeface="Source Sans 3"/>
              </a:endParaRPr>
            </a:p>
          </p:txBody>
        </p:sp>
        <p:grpSp>
          <p:nvGrpSpPr>
            <p:cNvPr id="374" name="Google Shape;359;p18">
              <a:extLst>
                <a:ext uri="{FF2B5EF4-FFF2-40B4-BE49-F238E27FC236}">
                  <a16:creationId xmlns:a16="http://schemas.microsoft.com/office/drawing/2014/main" id="{5E54E915-B749-9A49-FBAC-C7DA9B412DFB}"/>
                </a:ext>
              </a:extLst>
            </p:cNvPr>
            <p:cNvGrpSpPr/>
            <p:nvPr/>
          </p:nvGrpSpPr>
          <p:grpSpPr>
            <a:xfrm>
              <a:off x="8600328" y="1454457"/>
              <a:ext cx="307200" cy="189300"/>
              <a:chOff x="3007175" y="1757600"/>
              <a:chExt cx="307200" cy="189300"/>
            </a:xfrm>
          </p:grpSpPr>
          <p:sp>
            <p:nvSpPr>
              <p:cNvPr id="402" name="Google Shape;360;p18">
                <a:extLst>
                  <a:ext uri="{FF2B5EF4-FFF2-40B4-BE49-F238E27FC236}">
                    <a16:creationId xmlns:a16="http://schemas.microsoft.com/office/drawing/2014/main" id="{D218FE99-C885-4BB1-D947-2323114C64D3}"/>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3" name="Google Shape;361;p18">
                <a:extLst>
                  <a:ext uri="{FF2B5EF4-FFF2-40B4-BE49-F238E27FC236}">
                    <a16:creationId xmlns:a16="http://schemas.microsoft.com/office/drawing/2014/main" id="{178E18FD-1B56-ADA4-CB04-1B61FF6EDE04}"/>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4" name="Google Shape;362;p18">
                <a:extLst>
                  <a:ext uri="{FF2B5EF4-FFF2-40B4-BE49-F238E27FC236}">
                    <a16:creationId xmlns:a16="http://schemas.microsoft.com/office/drawing/2014/main" id="{ED4719BB-03CC-8757-4B91-EDE775514005}"/>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5" name="Google Shape;363;p18">
                <a:extLst>
                  <a:ext uri="{FF2B5EF4-FFF2-40B4-BE49-F238E27FC236}">
                    <a16:creationId xmlns:a16="http://schemas.microsoft.com/office/drawing/2014/main" id="{10BDBD70-0349-4B13-6B7A-694D681EBA58}"/>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06" name="Google Shape;364;p18">
                <a:extLst>
                  <a:ext uri="{FF2B5EF4-FFF2-40B4-BE49-F238E27FC236}">
                    <a16:creationId xmlns:a16="http://schemas.microsoft.com/office/drawing/2014/main" id="{006F42F4-B92E-8384-C802-E28FD1D128D0}"/>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7" name="Google Shape;365;p18">
                <a:extLst>
                  <a:ext uri="{FF2B5EF4-FFF2-40B4-BE49-F238E27FC236}">
                    <a16:creationId xmlns:a16="http://schemas.microsoft.com/office/drawing/2014/main" id="{33906E0A-76CF-4A28-23EC-B157B92D98A9}"/>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8" name="Google Shape;366;p18">
                <a:extLst>
                  <a:ext uri="{FF2B5EF4-FFF2-40B4-BE49-F238E27FC236}">
                    <a16:creationId xmlns:a16="http://schemas.microsoft.com/office/drawing/2014/main" id="{3DD4862A-118A-13BD-C4DE-F8F13515F170}"/>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375" name="Google Shape;367;p18">
              <a:extLst>
                <a:ext uri="{FF2B5EF4-FFF2-40B4-BE49-F238E27FC236}">
                  <a16:creationId xmlns:a16="http://schemas.microsoft.com/office/drawing/2014/main" id="{C9E3B3A5-C57C-92DE-16A5-5462F8E3EAB1}"/>
                </a:ext>
              </a:extLst>
            </p:cNvPr>
            <p:cNvGrpSpPr/>
            <p:nvPr/>
          </p:nvGrpSpPr>
          <p:grpSpPr>
            <a:xfrm>
              <a:off x="8600315" y="1797920"/>
              <a:ext cx="307200" cy="189300"/>
              <a:chOff x="3007175" y="1757600"/>
              <a:chExt cx="307200" cy="189300"/>
            </a:xfrm>
          </p:grpSpPr>
          <p:sp>
            <p:nvSpPr>
              <p:cNvPr id="395" name="Google Shape;368;p18">
                <a:extLst>
                  <a:ext uri="{FF2B5EF4-FFF2-40B4-BE49-F238E27FC236}">
                    <a16:creationId xmlns:a16="http://schemas.microsoft.com/office/drawing/2014/main" id="{EC6705BF-E3F0-09B0-F8A6-4590E9853288}"/>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6" name="Google Shape;369;p18">
                <a:extLst>
                  <a:ext uri="{FF2B5EF4-FFF2-40B4-BE49-F238E27FC236}">
                    <a16:creationId xmlns:a16="http://schemas.microsoft.com/office/drawing/2014/main" id="{04E6F3F3-0B01-B7B7-AF49-0EA93BCA2FA6}"/>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7" name="Google Shape;370;p18">
                <a:extLst>
                  <a:ext uri="{FF2B5EF4-FFF2-40B4-BE49-F238E27FC236}">
                    <a16:creationId xmlns:a16="http://schemas.microsoft.com/office/drawing/2014/main" id="{534B4007-2F06-DB00-C0C1-2A992E02221A}"/>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8" name="Google Shape;371;p18">
                <a:extLst>
                  <a:ext uri="{FF2B5EF4-FFF2-40B4-BE49-F238E27FC236}">
                    <a16:creationId xmlns:a16="http://schemas.microsoft.com/office/drawing/2014/main" id="{C732C27B-76FA-33B2-B33B-C97FAF34CCBB}"/>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99" name="Google Shape;372;p18">
                <a:extLst>
                  <a:ext uri="{FF2B5EF4-FFF2-40B4-BE49-F238E27FC236}">
                    <a16:creationId xmlns:a16="http://schemas.microsoft.com/office/drawing/2014/main" id="{291D2EB7-B2DE-9D90-70FB-45182E599C20}"/>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0" name="Google Shape;373;p18">
                <a:extLst>
                  <a:ext uri="{FF2B5EF4-FFF2-40B4-BE49-F238E27FC236}">
                    <a16:creationId xmlns:a16="http://schemas.microsoft.com/office/drawing/2014/main" id="{3D670310-B8E2-CDC1-BB6E-461A11DC60DD}"/>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1" name="Google Shape;374;p18">
                <a:extLst>
                  <a:ext uri="{FF2B5EF4-FFF2-40B4-BE49-F238E27FC236}">
                    <a16:creationId xmlns:a16="http://schemas.microsoft.com/office/drawing/2014/main" id="{F979DDAC-DC9F-358C-AE97-BABED19B374E}"/>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376" name="Google Shape;375;p18">
              <a:extLst>
                <a:ext uri="{FF2B5EF4-FFF2-40B4-BE49-F238E27FC236}">
                  <a16:creationId xmlns:a16="http://schemas.microsoft.com/office/drawing/2014/main" id="{A2F18466-6726-7DD1-7BBC-E4BFB1DB2901}"/>
                </a:ext>
              </a:extLst>
            </p:cNvPr>
            <p:cNvSpPr txBox="1"/>
            <p:nvPr/>
          </p:nvSpPr>
          <p:spPr>
            <a:xfrm>
              <a:off x="8540115" y="126943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GitHub</a:t>
              </a:r>
              <a:endParaRPr sz="686">
                <a:solidFill>
                  <a:schemeClr val="dk2"/>
                </a:solidFill>
                <a:latin typeface="Source Sans 3"/>
                <a:ea typeface="Source Sans 3"/>
                <a:cs typeface="Source Sans 3"/>
                <a:sym typeface="Source Sans 3"/>
              </a:endParaRPr>
            </a:p>
          </p:txBody>
        </p:sp>
        <p:sp>
          <p:nvSpPr>
            <p:cNvPr id="377" name="Google Shape;376;p18">
              <a:extLst>
                <a:ext uri="{FF2B5EF4-FFF2-40B4-BE49-F238E27FC236}">
                  <a16:creationId xmlns:a16="http://schemas.microsoft.com/office/drawing/2014/main" id="{58BF3B15-548E-95C7-A607-DA2464C1785A}"/>
                </a:ext>
              </a:extLst>
            </p:cNvPr>
            <p:cNvSpPr txBox="1"/>
            <p:nvPr/>
          </p:nvSpPr>
          <p:spPr>
            <a:xfrm>
              <a:off x="8600328" y="161682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378" name="Google Shape;377;p18">
              <a:extLst>
                <a:ext uri="{FF2B5EF4-FFF2-40B4-BE49-F238E27FC236}">
                  <a16:creationId xmlns:a16="http://schemas.microsoft.com/office/drawing/2014/main" id="{6646B830-01AE-C2D3-3965-3D1135E0167C}"/>
                </a:ext>
              </a:extLst>
            </p:cNvPr>
            <p:cNvGrpSpPr/>
            <p:nvPr/>
          </p:nvGrpSpPr>
          <p:grpSpPr>
            <a:xfrm>
              <a:off x="8608365" y="2251695"/>
              <a:ext cx="307200" cy="297900"/>
              <a:chOff x="3021975" y="2389850"/>
              <a:chExt cx="307200" cy="297900"/>
            </a:xfrm>
          </p:grpSpPr>
          <p:sp>
            <p:nvSpPr>
              <p:cNvPr id="385" name="Google Shape;378;p18">
                <a:extLst>
                  <a:ext uri="{FF2B5EF4-FFF2-40B4-BE49-F238E27FC236}">
                    <a16:creationId xmlns:a16="http://schemas.microsoft.com/office/drawing/2014/main" id="{80C8DF9A-7C8D-1B7E-5712-6AC7475D4D29}"/>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386" name="Google Shape;379;p18">
                <a:extLst>
                  <a:ext uri="{FF2B5EF4-FFF2-40B4-BE49-F238E27FC236}">
                    <a16:creationId xmlns:a16="http://schemas.microsoft.com/office/drawing/2014/main" id="{2BC2FD19-11AB-6197-E43F-86BD6638562A}"/>
                  </a:ext>
                </a:extLst>
              </p:cNvPr>
              <p:cNvGrpSpPr/>
              <p:nvPr/>
            </p:nvGrpSpPr>
            <p:grpSpPr>
              <a:xfrm>
                <a:off x="3021975" y="2389850"/>
                <a:ext cx="307200" cy="295800"/>
                <a:chOff x="3021975" y="2389850"/>
                <a:chExt cx="307200" cy="295800"/>
              </a:xfrm>
            </p:grpSpPr>
            <p:sp>
              <p:nvSpPr>
                <p:cNvPr id="387" name="Google Shape;380;p18">
                  <a:extLst>
                    <a:ext uri="{FF2B5EF4-FFF2-40B4-BE49-F238E27FC236}">
                      <a16:creationId xmlns:a16="http://schemas.microsoft.com/office/drawing/2014/main" id="{F0709765-9FB8-EE71-A654-DEDE3ADD8433}"/>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8" name="Google Shape;381;p18">
                  <a:extLst>
                    <a:ext uri="{FF2B5EF4-FFF2-40B4-BE49-F238E27FC236}">
                      <a16:creationId xmlns:a16="http://schemas.microsoft.com/office/drawing/2014/main" id="{4829EEE0-21E8-86F8-8440-20095D8C8AFE}"/>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89" name="Google Shape;382;p18">
                  <a:extLst>
                    <a:ext uri="{FF2B5EF4-FFF2-40B4-BE49-F238E27FC236}">
                      <a16:creationId xmlns:a16="http://schemas.microsoft.com/office/drawing/2014/main" id="{E57A17D2-004A-55F7-F822-BF27378A5923}"/>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90" name="Google Shape;383;p18">
                  <a:extLst>
                    <a:ext uri="{FF2B5EF4-FFF2-40B4-BE49-F238E27FC236}">
                      <a16:creationId xmlns:a16="http://schemas.microsoft.com/office/drawing/2014/main" id="{5824A9C7-DDA9-FEB5-1BA8-66F8F83780D4}"/>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91" name="Google Shape;384;p18">
                  <a:extLst>
                    <a:ext uri="{FF2B5EF4-FFF2-40B4-BE49-F238E27FC236}">
                      <a16:creationId xmlns:a16="http://schemas.microsoft.com/office/drawing/2014/main" id="{245A42CD-5049-5782-3652-5D77181F6211}"/>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92" name="Google Shape;385;p18">
                  <a:extLst>
                    <a:ext uri="{FF2B5EF4-FFF2-40B4-BE49-F238E27FC236}">
                      <a16:creationId xmlns:a16="http://schemas.microsoft.com/office/drawing/2014/main" id="{F45DF72F-0B5A-B3E9-EB8A-7EF03F9C6BEA}"/>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93" name="Google Shape;386;p18">
                  <a:extLst>
                    <a:ext uri="{FF2B5EF4-FFF2-40B4-BE49-F238E27FC236}">
                      <a16:creationId xmlns:a16="http://schemas.microsoft.com/office/drawing/2014/main" id="{6BFA1A16-5DB6-225C-FEB6-05D021F31BA3}"/>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94" name="Google Shape;387;p18">
                  <a:extLst>
                    <a:ext uri="{FF2B5EF4-FFF2-40B4-BE49-F238E27FC236}">
                      <a16:creationId xmlns:a16="http://schemas.microsoft.com/office/drawing/2014/main" id="{91E700B3-D212-3DE9-E736-0D7B4F5D6627}"/>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379" name="Google Shape;388;p18">
              <a:extLst>
                <a:ext uri="{FF2B5EF4-FFF2-40B4-BE49-F238E27FC236}">
                  <a16:creationId xmlns:a16="http://schemas.microsoft.com/office/drawing/2014/main" id="{2357611A-C75F-16B5-1A8A-EE421F2D57EF}"/>
                </a:ext>
              </a:extLst>
            </p:cNvPr>
            <p:cNvSpPr txBox="1"/>
            <p:nvPr/>
          </p:nvSpPr>
          <p:spPr>
            <a:xfrm>
              <a:off x="8477126" y="196418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a:solidFill>
                    <a:schemeClr val="dk2"/>
                  </a:solidFill>
                  <a:latin typeface="Source Sans 3"/>
                  <a:ea typeface="Source Sans 3"/>
                  <a:cs typeface="Source Sans 3"/>
                  <a:sym typeface="Source Sans 3"/>
                </a:rPr>
                <a:t>Mailing Lists</a:t>
              </a:r>
              <a:endParaRPr sz="686">
                <a:solidFill>
                  <a:schemeClr val="dk2"/>
                </a:solidFill>
                <a:latin typeface="Source Sans 3"/>
                <a:ea typeface="Source Sans 3"/>
                <a:cs typeface="Source Sans 3"/>
                <a:sym typeface="Source Sans 3"/>
              </a:endParaRPr>
            </a:p>
          </p:txBody>
        </p:sp>
        <p:cxnSp>
          <p:nvCxnSpPr>
            <p:cNvPr id="380" name="Google Shape;389;p18">
              <a:extLst>
                <a:ext uri="{FF2B5EF4-FFF2-40B4-BE49-F238E27FC236}">
                  <a16:creationId xmlns:a16="http://schemas.microsoft.com/office/drawing/2014/main" id="{422B011E-DB68-1B83-D0E9-47FBD7DB5715}"/>
                </a:ext>
              </a:extLst>
            </p:cNvPr>
            <p:cNvCxnSpPr/>
            <p:nvPr/>
          </p:nvCxnSpPr>
          <p:spPr>
            <a:xfrm>
              <a:off x="8757253" y="2588620"/>
              <a:ext cx="0" cy="105900"/>
            </a:xfrm>
            <a:prstGeom prst="straightConnector1">
              <a:avLst/>
            </a:prstGeom>
            <a:noFill/>
            <a:ln w="9525" cap="flat" cmpd="sng">
              <a:solidFill>
                <a:schemeClr val="dk2"/>
              </a:solidFill>
              <a:prstDash val="dot"/>
              <a:round/>
              <a:headEnd type="none" w="med" len="med"/>
              <a:tailEnd type="none" w="med" len="med"/>
            </a:ln>
          </p:spPr>
        </p:cxnSp>
        <p:sp>
          <p:nvSpPr>
            <p:cNvPr id="381" name="Google Shape;390;p18">
              <a:extLst>
                <a:ext uri="{FF2B5EF4-FFF2-40B4-BE49-F238E27FC236}">
                  <a16:creationId xmlns:a16="http://schemas.microsoft.com/office/drawing/2014/main" id="{6DF2467D-0A13-589C-0F47-D97A8228B3F5}"/>
                </a:ext>
              </a:extLst>
            </p:cNvPr>
            <p:cNvSpPr/>
            <p:nvPr/>
          </p:nvSpPr>
          <p:spPr>
            <a:xfrm>
              <a:off x="8607990" y="271704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82" name="Google Shape;391;p18">
              <a:extLst>
                <a:ext uri="{FF2B5EF4-FFF2-40B4-BE49-F238E27FC236}">
                  <a16:creationId xmlns:a16="http://schemas.microsoft.com/office/drawing/2014/main" id="{8540053E-0434-1160-1ABB-9E0A02E79B35}"/>
                </a:ext>
              </a:extLst>
            </p:cNvPr>
            <p:cNvCxnSpPr>
              <a:endCxn id="346" idx="1"/>
            </p:cNvCxnSpPr>
            <p:nvPr/>
          </p:nvCxnSpPr>
          <p:spPr>
            <a:xfrm rot="16200000" flipH="1">
              <a:off x="8867778" y="1629020"/>
              <a:ext cx="420900" cy="231900"/>
            </a:xfrm>
            <a:prstGeom prst="curvedConnector2">
              <a:avLst/>
            </a:prstGeom>
            <a:noFill/>
            <a:ln w="9525" cap="flat" cmpd="sng">
              <a:solidFill>
                <a:schemeClr val="dk2"/>
              </a:solidFill>
              <a:prstDash val="solid"/>
              <a:round/>
              <a:headEnd type="none" w="med" len="med"/>
              <a:tailEnd type="none" w="med" len="med"/>
            </a:ln>
          </p:spPr>
        </p:cxnSp>
        <p:cxnSp>
          <p:nvCxnSpPr>
            <p:cNvPr id="383" name="Google Shape;392;p18">
              <a:extLst>
                <a:ext uri="{FF2B5EF4-FFF2-40B4-BE49-F238E27FC236}">
                  <a16:creationId xmlns:a16="http://schemas.microsoft.com/office/drawing/2014/main" id="{7A9598E0-A6F2-ADF8-E230-D69DF33B9BDF}"/>
                </a:ext>
              </a:extLst>
            </p:cNvPr>
            <p:cNvCxnSpPr>
              <a:endCxn id="346" idx="1"/>
            </p:cNvCxnSpPr>
            <p:nvPr/>
          </p:nvCxnSpPr>
          <p:spPr>
            <a:xfrm>
              <a:off x="8962278" y="1894520"/>
              <a:ext cx="231900" cy="60900"/>
            </a:xfrm>
            <a:prstGeom prst="curvedConnector3">
              <a:avLst>
                <a:gd name="adj1" fmla="val 50000"/>
              </a:avLst>
            </a:prstGeom>
            <a:noFill/>
            <a:ln w="9525" cap="flat" cmpd="sng">
              <a:solidFill>
                <a:schemeClr val="dk2"/>
              </a:solidFill>
              <a:prstDash val="solid"/>
              <a:round/>
              <a:headEnd type="none" w="med" len="med"/>
              <a:tailEnd type="none" w="med" len="med"/>
            </a:ln>
          </p:spPr>
        </p:cxnSp>
        <p:cxnSp>
          <p:nvCxnSpPr>
            <p:cNvPr id="384" name="Google Shape;393;p18">
              <a:extLst>
                <a:ext uri="{FF2B5EF4-FFF2-40B4-BE49-F238E27FC236}">
                  <a16:creationId xmlns:a16="http://schemas.microsoft.com/office/drawing/2014/main" id="{6E19F4B9-3E21-B7B1-19F7-290EE5470187}"/>
                </a:ext>
              </a:extLst>
            </p:cNvPr>
            <p:cNvCxnSpPr>
              <a:endCxn id="346" idx="1"/>
            </p:cNvCxnSpPr>
            <p:nvPr/>
          </p:nvCxnSpPr>
          <p:spPr>
            <a:xfrm rot="16200000">
              <a:off x="8853828" y="2065670"/>
              <a:ext cx="450600" cy="230100"/>
            </a:xfrm>
            <a:prstGeom prst="curvedConnector2">
              <a:avLst/>
            </a:prstGeom>
            <a:noFill/>
            <a:ln w="9525" cap="flat" cmpd="sng">
              <a:solidFill>
                <a:schemeClr val="dk2"/>
              </a:solidFill>
              <a:prstDash val="solid"/>
              <a:round/>
              <a:headEnd type="none" w="med" len="med"/>
              <a:tailEnd type="none" w="med" len="med"/>
            </a:ln>
          </p:spPr>
        </p:cxnSp>
      </p:grpSp>
      <p:sp>
        <p:nvSpPr>
          <p:cNvPr id="409" name="Google Shape;394;p18">
            <a:extLst>
              <a:ext uri="{FF2B5EF4-FFF2-40B4-BE49-F238E27FC236}">
                <a16:creationId xmlns:a16="http://schemas.microsoft.com/office/drawing/2014/main" id="{67E45E19-77C2-6B39-2D59-2F42957919E1}"/>
              </a:ext>
            </a:extLst>
          </p:cNvPr>
          <p:cNvSpPr txBox="1"/>
          <p:nvPr/>
        </p:nvSpPr>
        <p:spPr>
          <a:xfrm>
            <a:off x="10963395" y="7010441"/>
            <a:ext cx="1433762" cy="10229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dirty="0" err="1">
                <a:solidFill>
                  <a:schemeClr val="dk2"/>
                </a:solidFill>
                <a:latin typeface="Source Sans 3"/>
                <a:ea typeface="Source Sans 3"/>
                <a:cs typeface="Source Sans 3"/>
                <a:sym typeface="Source Sans 3"/>
              </a:rPr>
              <a:t>sentiment_analysis.Rmd</a:t>
            </a:r>
            <a:endParaRPr sz="800" dirty="0">
              <a:solidFill>
                <a:schemeClr val="dk2"/>
              </a:solidFill>
              <a:latin typeface="Source Sans 3"/>
              <a:ea typeface="Source Sans 3"/>
              <a:cs typeface="Source Sans 3"/>
              <a:sym typeface="Source Sans 3"/>
            </a:endParaRPr>
          </a:p>
        </p:txBody>
      </p:sp>
      <p:graphicFrame>
        <p:nvGraphicFramePr>
          <p:cNvPr id="410" name="Table">
            <a:extLst>
              <a:ext uri="{FF2B5EF4-FFF2-40B4-BE49-F238E27FC236}">
                <a16:creationId xmlns:a16="http://schemas.microsoft.com/office/drawing/2014/main" id="{4DBB8E42-4CCD-EE95-D1F3-88C6CDD6B767}"/>
              </a:ext>
            </a:extLst>
          </p:cNvPr>
          <p:cNvGraphicFramePr/>
          <p:nvPr>
            <p:extLst>
              <p:ext uri="{D42A27DB-BD31-4B8C-83A1-F6EECF244321}">
                <p14:modId xmlns:p14="http://schemas.microsoft.com/office/powerpoint/2010/main" val="1668982891"/>
              </p:ext>
            </p:extLst>
          </p:nvPr>
        </p:nvGraphicFramePr>
        <p:xfrm>
          <a:off x="1067053" y="7756407"/>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411" name="Layout Suggestions">
            <a:extLst>
              <a:ext uri="{FF2B5EF4-FFF2-40B4-BE49-F238E27FC236}">
                <a16:creationId xmlns:a16="http://schemas.microsoft.com/office/drawing/2014/main" id="{AF12891B-BF93-4449-A853-E0A668C06A86}"/>
              </a:ext>
            </a:extLst>
          </p:cNvPr>
          <p:cNvSpPr txBox="1"/>
          <p:nvPr/>
        </p:nvSpPr>
        <p:spPr>
          <a:xfrm>
            <a:off x="159998" y="6661138"/>
            <a:ext cx="423108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Exploring Relevant Comments</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412" name="TextBox 411">
            <a:extLst>
              <a:ext uri="{FF2B5EF4-FFF2-40B4-BE49-F238E27FC236}">
                <a16:creationId xmlns:a16="http://schemas.microsoft.com/office/drawing/2014/main" id="{931B4A59-32E7-83FF-C6FC-6D279AC5E1C1}"/>
              </a:ext>
            </a:extLst>
          </p:cNvPr>
          <p:cNvSpPr txBox="1"/>
          <p:nvPr/>
        </p:nvSpPr>
        <p:spPr>
          <a:xfrm>
            <a:off x="132572" y="6906908"/>
            <a:ext cx="4346831"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Sentiment labels span both main project repos and their forks. However, since forked repos contain a small fraction (&lt; 10%)  of labeled comments, only comments from the project’s main repo are kept.</a:t>
            </a:r>
          </a:p>
        </p:txBody>
      </p:sp>
      <p:sp>
        <p:nvSpPr>
          <p:cNvPr id="413" name="Rectangle 412">
            <a:extLst>
              <a:ext uri="{FF2B5EF4-FFF2-40B4-BE49-F238E27FC236}">
                <a16:creationId xmlns:a16="http://schemas.microsoft.com/office/drawing/2014/main" id="{DB55FC76-40DD-FC75-9DB4-B13C5A91BC28}"/>
              </a:ext>
            </a:extLst>
          </p:cNvPr>
          <p:cNvSpPr/>
          <p:nvPr/>
        </p:nvSpPr>
        <p:spPr>
          <a:xfrm>
            <a:off x="1275871" y="7887798"/>
            <a:ext cx="150229" cy="49034"/>
          </a:xfrm>
          <a:prstGeom prst="rect">
            <a:avLst/>
          </a:prstGeom>
          <a:solidFill>
            <a:schemeClr val="accent2"/>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4" name="Rectangle 413">
            <a:extLst>
              <a:ext uri="{FF2B5EF4-FFF2-40B4-BE49-F238E27FC236}">
                <a16:creationId xmlns:a16="http://schemas.microsoft.com/office/drawing/2014/main" id="{1D089752-A474-AD2F-8240-9BB20DFD3795}"/>
              </a:ext>
            </a:extLst>
          </p:cNvPr>
          <p:cNvSpPr/>
          <p:nvPr/>
        </p:nvSpPr>
        <p:spPr>
          <a:xfrm>
            <a:off x="1348336" y="8006438"/>
            <a:ext cx="150229" cy="49034"/>
          </a:xfrm>
          <a:prstGeom prst="rect">
            <a:avLst/>
          </a:prstGeom>
          <a:solidFill>
            <a:schemeClr val="accent5"/>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5" name="Rectangle 414">
            <a:extLst>
              <a:ext uri="{FF2B5EF4-FFF2-40B4-BE49-F238E27FC236}">
                <a16:creationId xmlns:a16="http://schemas.microsoft.com/office/drawing/2014/main" id="{7C3A9730-BC0C-B068-5BD2-85A903272939}"/>
              </a:ext>
            </a:extLst>
          </p:cNvPr>
          <p:cNvSpPr/>
          <p:nvPr/>
        </p:nvSpPr>
        <p:spPr>
          <a:xfrm>
            <a:off x="1275871" y="8131170"/>
            <a:ext cx="150229" cy="49034"/>
          </a:xfrm>
          <a:prstGeom prst="rect">
            <a:avLst/>
          </a:prstGeom>
          <a:solidFill>
            <a:schemeClr val="tx2"/>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6" name="Rectangle 415">
            <a:extLst>
              <a:ext uri="{FF2B5EF4-FFF2-40B4-BE49-F238E27FC236}">
                <a16:creationId xmlns:a16="http://schemas.microsoft.com/office/drawing/2014/main" id="{1A80CE22-8F39-0AA0-1DE0-90A4E51B854B}"/>
              </a:ext>
            </a:extLst>
          </p:cNvPr>
          <p:cNvSpPr/>
          <p:nvPr/>
        </p:nvSpPr>
        <p:spPr>
          <a:xfrm>
            <a:off x="1350986" y="8242829"/>
            <a:ext cx="150229" cy="49034"/>
          </a:xfrm>
          <a:prstGeom prst="rect">
            <a:avLst/>
          </a:prstGeom>
          <a:solidFill>
            <a:schemeClr val="accent2"/>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7" name="TextBox 416">
            <a:extLst>
              <a:ext uri="{FF2B5EF4-FFF2-40B4-BE49-F238E27FC236}">
                <a16:creationId xmlns:a16="http://schemas.microsoft.com/office/drawing/2014/main" id="{011F5836-5AE7-02CE-6D3E-B8AF98CAAC01}"/>
              </a:ext>
            </a:extLst>
          </p:cNvPr>
          <p:cNvSpPr txBox="1"/>
          <p:nvPr/>
        </p:nvSpPr>
        <p:spPr>
          <a:xfrm>
            <a:off x="863550" y="8295048"/>
            <a:ext cx="10348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Main Repo</a:t>
            </a:r>
            <a:endParaRPr lang="en-US" sz="800" b="0" dirty="0"/>
          </a:p>
        </p:txBody>
      </p:sp>
      <p:sp>
        <p:nvSpPr>
          <p:cNvPr id="418" name="TextBox 417">
            <a:extLst>
              <a:ext uri="{FF2B5EF4-FFF2-40B4-BE49-F238E27FC236}">
                <a16:creationId xmlns:a16="http://schemas.microsoft.com/office/drawing/2014/main" id="{9FCD318E-8F41-503B-80A4-6EB7E89CA21D}"/>
              </a:ext>
            </a:extLst>
          </p:cNvPr>
          <p:cNvSpPr txBox="1"/>
          <p:nvPr/>
        </p:nvSpPr>
        <p:spPr>
          <a:xfrm>
            <a:off x="1958832" y="8313373"/>
            <a:ext cx="10348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Fork Repo</a:t>
            </a:r>
            <a:endParaRPr lang="en-US" sz="800" b="0" dirty="0"/>
          </a:p>
        </p:txBody>
      </p:sp>
      <p:graphicFrame>
        <p:nvGraphicFramePr>
          <p:cNvPr id="419" name="Table">
            <a:extLst>
              <a:ext uri="{FF2B5EF4-FFF2-40B4-BE49-F238E27FC236}">
                <a16:creationId xmlns:a16="http://schemas.microsoft.com/office/drawing/2014/main" id="{054A7194-312F-7E62-6724-AC660CCB6D3A}"/>
              </a:ext>
            </a:extLst>
          </p:cNvPr>
          <p:cNvGraphicFramePr/>
          <p:nvPr>
            <p:extLst>
              <p:ext uri="{D42A27DB-BD31-4B8C-83A1-F6EECF244321}">
                <p14:modId xmlns:p14="http://schemas.microsoft.com/office/powerpoint/2010/main" val="2850190720"/>
              </p:ext>
            </p:extLst>
          </p:nvPr>
        </p:nvGraphicFramePr>
        <p:xfrm>
          <a:off x="2173456" y="7753034"/>
          <a:ext cx="627864" cy="356253"/>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bl>
          </a:graphicData>
        </a:graphic>
      </p:graphicFrame>
      <p:sp>
        <p:nvSpPr>
          <p:cNvPr id="420" name="Rectangle 419">
            <a:extLst>
              <a:ext uri="{FF2B5EF4-FFF2-40B4-BE49-F238E27FC236}">
                <a16:creationId xmlns:a16="http://schemas.microsoft.com/office/drawing/2014/main" id="{51B79FFD-E3DC-5693-3056-C064193BBA16}"/>
              </a:ext>
            </a:extLst>
          </p:cNvPr>
          <p:cNvSpPr/>
          <p:nvPr/>
        </p:nvSpPr>
        <p:spPr>
          <a:xfrm>
            <a:off x="2392187" y="7900921"/>
            <a:ext cx="150229" cy="49034"/>
          </a:xfrm>
          <a:prstGeom prst="rect">
            <a:avLst/>
          </a:prstGeom>
          <a:solidFill>
            <a:schemeClr val="accent2"/>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21" name="Rectangle 420">
            <a:extLst>
              <a:ext uri="{FF2B5EF4-FFF2-40B4-BE49-F238E27FC236}">
                <a16:creationId xmlns:a16="http://schemas.microsoft.com/office/drawing/2014/main" id="{451199BA-0762-B9C8-F3B1-B1E7BE6DEC51}"/>
              </a:ext>
            </a:extLst>
          </p:cNvPr>
          <p:cNvSpPr/>
          <p:nvPr/>
        </p:nvSpPr>
        <p:spPr>
          <a:xfrm>
            <a:off x="2464652" y="8019561"/>
            <a:ext cx="150229" cy="49034"/>
          </a:xfrm>
          <a:prstGeom prst="rect">
            <a:avLst/>
          </a:prstGeom>
          <a:solidFill>
            <a:schemeClr val="accent5"/>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22" name="Straight Connector 421">
            <a:extLst>
              <a:ext uri="{FF2B5EF4-FFF2-40B4-BE49-F238E27FC236}">
                <a16:creationId xmlns:a16="http://schemas.microsoft.com/office/drawing/2014/main" id="{53BDC556-0F80-6275-E2A7-9BCF63DEE8AE}"/>
              </a:ext>
            </a:extLst>
          </p:cNvPr>
          <p:cNvCxnSpPr>
            <a:cxnSpLocks/>
          </p:cNvCxnSpPr>
          <p:nvPr/>
        </p:nvCxnSpPr>
        <p:spPr>
          <a:xfrm>
            <a:off x="2120855" y="7696256"/>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cxnSp>
        <p:nvCxnSpPr>
          <p:cNvPr id="423" name="Straight Connector 422">
            <a:extLst>
              <a:ext uri="{FF2B5EF4-FFF2-40B4-BE49-F238E27FC236}">
                <a16:creationId xmlns:a16="http://schemas.microsoft.com/office/drawing/2014/main" id="{4DD8220F-1B04-87B3-10AB-2A8009FB5AE6}"/>
              </a:ext>
            </a:extLst>
          </p:cNvPr>
          <p:cNvCxnSpPr>
            <a:cxnSpLocks/>
          </p:cNvCxnSpPr>
          <p:nvPr/>
        </p:nvCxnSpPr>
        <p:spPr>
          <a:xfrm flipV="1">
            <a:off x="2134108" y="7704154"/>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sp>
        <p:nvSpPr>
          <p:cNvPr id="424" name="TextBox 423">
            <a:extLst>
              <a:ext uri="{FF2B5EF4-FFF2-40B4-BE49-F238E27FC236}">
                <a16:creationId xmlns:a16="http://schemas.microsoft.com/office/drawing/2014/main" id="{EEAFB56B-12CF-02E5-B441-61EB3E8D168D}"/>
              </a:ext>
            </a:extLst>
          </p:cNvPr>
          <p:cNvSpPr txBox="1"/>
          <p:nvPr/>
        </p:nvSpPr>
        <p:spPr>
          <a:xfrm>
            <a:off x="142917" y="8602715"/>
            <a:ext cx="4346831"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Jira Emotion CSV contains emotion labels manually determined from multiple raters. Only comments with labels that show higher inter-rater agreement are kept.</a:t>
            </a:r>
          </a:p>
        </p:txBody>
      </p:sp>
      <p:pic>
        <p:nvPicPr>
          <p:cNvPr id="425" name="Graphic 424" descr="Users with solid fill">
            <a:extLst>
              <a:ext uri="{FF2B5EF4-FFF2-40B4-BE49-F238E27FC236}">
                <a16:creationId xmlns:a16="http://schemas.microsoft.com/office/drawing/2014/main" id="{00336AC9-D6CD-93ED-5526-F218FC65AD7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8404" y="9419076"/>
            <a:ext cx="668157" cy="668157"/>
          </a:xfrm>
          <a:prstGeom prst="rect">
            <a:avLst/>
          </a:prstGeom>
        </p:spPr>
      </p:pic>
      <p:sp>
        <p:nvSpPr>
          <p:cNvPr id="426" name="Google Shape;338;p18">
            <a:extLst>
              <a:ext uri="{FF2B5EF4-FFF2-40B4-BE49-F238E27FC236}">
                <a16:creationId xmlns:a16="http://schemas.microsoft.com/office/drawing/2014/main" id="{C9B42633-5384-5C4C-957B-D94368DDB770}"/>
              </a:ext>
            </a:extLst>
          </p:cNvPr>
          <p:cNvSpPr/>
          <p:nvPr/>
        </p:nvSpPr>
        <p:spPr>
          <a:xfrm>
            <a:off x="1573813" y="9356815"/>
            <a:ext cx="387998" cy="258963"/>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7" name="Google Shape;338;p18">
            <a:extLst>
              <a:ext uri="{FF2B5EF4-FFF2-40B4-BE49-F238E27FC236}">
                <a16:creationId xmlns:a16="http://schemas.microsoft.com/office/drawing/2014/main" id="{26917900-02FD-26A8-6F12-C6B0F838F604}"/>
              </a:ext>
            </a:extLst>
          </p:cNvPr>
          <p:cNvSpPr/>
          <p:nvPr/>
        </p:nvSpPr>
        <p:spPr>
          <a:xfrm>
            <a:off x="2560768" y="9359550"/>
            <a:ext cx="387998" cy="258963"/>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28" name="Graphic 427" descr="Smiling face outline with solid fill">
            <a:extLst>
              <a:ext uri="{FF2B5EF4-FFF2-40B4-BE49-F238E27FC236}">
                <a16:creationId xmlns:a16="http://schemas.microsoft.com/office/drawing/2014/main" id="{811FC525-372E-ACBC-BA16-BF65515F56A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38863" y="9349085"/>
            <a:ext cx="273841" cy="273841"/>
          </a:xfrm>
          <a:prstGeom prst="rect">
            <a:avLst/>
          </a:prstGeom>
        </p:spPr>
      </p:pic>
      <p:pic>
        <p:nvPicPr>
          <p:cNvPr id="429" name="Graphic 428" descr="Sad face outline with solid fill">
            <a:extLst>
              <a:ext uri="{FF2B5EF4-FFF2-40B4-BE49-F238E27FC236}">
                <a16:creationId xmlns:a16="http://schemas.microsoft.com/office/drawing/2014/main" id="{34ABC55A-C813-D5F7-8420-015B09601CE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626885" y="9352708"/>
            <a:ext cx="270117" cy="270117"/>
          </a:xfrm>
          <a:prstGeom prst="rect">
            <a:avLst/>
          </a:prstGeom>
        </p:spPr>
      </p:pic>
      <p:pic>
        <p:nvPicPr>
          <p:cNvPr id="430" name="Graphic 429" descr="User with solid fill">
            <a:extLst>
              <a:ext uri="{FF2B5EF4-FFF2-40B4-BE49-F238E27FC236}">
                <a16:creationId xmlns:a16="http://schemas.microsoft.com/office/drawing/2014/main" id="{3B474CB5-242F-32EE-6DAA-8CB6207D17C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222006" y="9525702"/>
            <a:ext cx="453647" cy="453647"/>
          </a:xfrm>
          <a:prstGeom prst="rect">
            <a:avLst/>
          </a:prstGeom>
        </p:spPr>
      </p:pic>
      <p:cxnSp>
        <p:nvCxnSpPr>
          <p:cNvPr id="431" name="Straight Connector 430">
            <a:extLst>
              <a:ext uri="{FF2B5EF4-FFF2-40B4-BE49-F238E27FC236}">
                <a16:creationId xmlns:a16="http://schemas.microsoft.com/office/drawing/2014/main" id="{77E7A879-D83A-3841-374D-610A0175830E}"/>
              </a:ext>
            </a:extLst>
          </p:cNvPr>
          <p:cNvCxnSpPr>
            <a:cxnSpLocks/>
          </p:cNvCxnSpPr>
          <p:nvPr/>
        </p:nvCxnSpPr>
        <p:spPr>
          <a:xfrm>
            <a:off x="2259562" y="9366703"/>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cxnSp>
        <p:nvCxnSpPr>
          <p:cNvPr id="432" name="Straight Connector 431">
            <a:extLst>
              <a:ext uri="{FF2B5EF4-FFF2-40B4-BE49-F238E27FC236}">
                <a16:creationId xmlns:a16="http://schemas.microsoft.com/office/drawing/2014/main" id="{23E46E86-B764-C7B6-3599-1BA4807F8F6B}"/>
              </a:ext>
            </a:extLst>
          </p:cNvPr>
          <p:cNvCxnSpPr>
            <a:cxnSpLocks/>
          </p:cNvCxnSpPr>
          <p:nvPr/>
        </p:nvCxnSpPr>
        <p:spPr>
          <a:xfrm flipV="1">
            <a:off x="2272815" y="9374601"/>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sp>
        <p:nvSpPr>
          <p:cNvPr id="433" name="Line">
            <a:extLst>
              <a:ext uri="{FF2B5EF4-FFF2-40B4-BE49-F238E27FC236}">
                <a16:creationId xmlns:a16="http://schemas.microsoft.com/office/drawing/2014/main" id="{D9E81BC5-FF52-01AB-4837-74078042C43D}"/>
              </a:ext>
            </a:extLst>
          </p:cNvPr>
          <p:cNvSpPr/>
          <p:nvPr/>
        </p:nvSpPr>
        <p:spPr>
          <a:xfrm flipH="1" flipV="1">
            <a:off x="3113441" y="4041188"/>
            <a:ext cx="1" cy="945321"/>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34" name="TextBox 433">
            <a:extLst>
              <a:ext uri="{FF2B5EF4-FFF2-40B4-BE49-F238E27FC236}">
                <a16:creationId xmlns:a16="http://schemas.microsoft.com/office/drawing/2014/main" id="{CACC2A92-B3C0-5F7D-01A1-5474EBB6FFD5}"/>
              </a:ext>
            </a:extLst>
          </p:cNvPr>
          <p:cNvSpPr txBox="1"/>
          <p:nvPr/>
        </p:nvSpPr>
        <p:spPr>
          <a:xfrm>
            <a:off x="3180405" y="4237806"/>
            <a:ext cx="97054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Sentiment</a:t>
            </a:r>
          </a:p>
        </p:txBody>
      </p:sp>
      <p:sp>
        <p:nvSpPr>
          <p:cNvPr id="435" name="Line">
            <a:extLst>
              <a:ext uri="{FF2B5EF4-FFF2-40B4-BE49-F238E27FC236}">
                <a16:creationId xmlns:a16="http://schemas.microsoft.com/office/drawing/2014/main" id="{425AF42C-A0F6-B606-8E9A-815828627145}"/>
              </a:ext>
            </a:extLst>
          </p:cNvPr>
          <p:cNvSpPr/>
          <p:nvPr/>
        </p:nvSpPr>
        <p:spPr>
          <a:xfrm flipH="1" flipV="1">
            <a:off x="3162257" y="5448883"/>
            <a:ext cx="1" cy="945321"/>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36" name="TextBox 435">
            <a:extLst>
              <a:ext uri="{FF2B5EF4-FFF2-40B4-BE49-F238E27FC236}">
                <a16:creationId xmlns:a16="http://schemas.microsoft.com/office/drawing/2014/main" id="{F08C727F-B88A-4227-C85F-857605611649}"/>
              </a:ext>
            </a:extLst>
          </p:cNvPr>
          <p:cNvSpPr txBox="1"/>
          <p:nvPr/>
        </p:nvSpPr>
        <p:spPr>
          <a:xfrm>
            <a:off x="3229221" y="5645501"/>
            <a:ext cx="97054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Emotion</a:t>
            </a:r>
          </a:p>
        </p:txBody>
      </p:sp>
      <p:pic>
        <p:nvPicPr>
          <p:cNvPr id="437" name="Picture 436" descr="A picture containing text&#10;&#10;Description automatically generated">
            <a:extLst>
              <a:ext uri="{FF2B5EF4-FFF2-40B4-BE49-F238E27FC236}">
                <a16:creationId xmlns:a16="http://schemas.microsoft.com/office/drawing/2014/main" id="{7EE891F1-7E4C-36FC-D338-BF0E4ED643C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11428" y="4383757"/>
            <a:ext cx="585008" cy="679364"/>
          </a:xfrm>
          <a:prstGeom prst="rect">
            <a:avLst/>
          </a:prstGeom>
        </p:spPr>
      </p:pic>
      <p:sp>
        <p:nvSpPr>
          <p:cNvPr id="438" name="TextBox 437">
            <a:extLst>
              <a:ext uri="{FF2B5EF4-FFF2-40B4-BE49-F238E27FC236}">
                <a16:creationId xmlns:a16="http://schemas.microsoft.com/office/drawing/2014/main" id="{2E3597F9-BAA5-67DB-2DC5-41C30760EC0E}"/>
              </a:ext>
            </a:extLst>
          </p:cNvPr>
          <p:cNvSpPr txBox="1"/>
          <p:nvPr/>
        </p:nvSpPr>
        <p:spPr>
          <a:xfrm>
            <a:off x="7198911" y="9130878"/>
            <a:ext cx="72095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err="1"/>
              <a:t>sailuh</a:t>
            </a:r>
            <a:r>
              <a:rPr lang="en-US" sz="800" b="0" dirty="0"/>
              <a:t>/</a:t>
            </a:r>
            <a:r>
              <a:rPr lang="en-US" sz="800" b="0" dirty="0" err="1"/>
              <a:t>kaiaulu</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439" name="Picture 438" descr="A picture containing text&#10;&#10;Description automatically generated">
            <a:extLst>
              <a:ext uri="{FF2B5EF4-FFF2-40B4-BE49-F238E27FC236}">
                <a16:creationId xmlns:a16="http://schemas.microsoft.com/office/drawing/2014/main" id="{E2147D57-C302-1A9A-A9BA-391C7BF52CC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75383" y="8468874"/>
            <a:ext cx="585008" cy="679364"/>
          </a:xfrm>
          <a:prstGeom prst="rect">
            <a:avLst/>
          </a:prstGeom>
        </p:spPr>
      </p:pic>
      <p:sp>
        <p:nvSpPr>
          <p:cNvPr id="440" name="TextBox 439">
            <a:extLst>
              <a:ext uri="{FF2B5EF4-FFF2-40B4-BE49-F238E27FC236}">
                <a16:creationId xmlns:a16="http://schemas.microsoft.com/office/drawing/2014/main" id="{F1DE8AAF-E2BE-653E-63B9-9FE59DC20315}"/>
              </a:ext>
            </a:extLst>
          </p:cNvPr>
          <p:cNvSpPr txBox="1"/>
          <p:nvPr/>
        </p:nvSpPr>
        <p:spPr>
          <a:xfrm>
            <a:off x="-2599075" y="1256962"/>
            <a:ext cx="1894349" cy="5975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3000" b="1" i="0" u="none" strike="noStrike" cap="none" spc="0" normalizeH="0" baseline="0" dirty="0">
                <a:ln>
                  <a:noFill/>
                </a:ln>
                <a:solidFill>
                  <a:srgbClr val="4C4C4C"/>
                </a:solidFill>
                <a:effectLst/>
                <a:uFillTx/>
                <a:latin typeface="Source Sans Pro"/>
                <a:ea typeface="Source Sans Pro"/>
                <a:cs typeface="Source Sans Pro"/>
                <a:sym typeface="Source Sans Pro"/>
              </a:rPr>
              <a:t>Iteration 5</a:t>
            </a:r>
          </a:p>
        </p:txBody>
      </p:sp>
    </p:spTree>
    <p:extLst>
      <p:ext uri="{BB962C8B-B14F-4D97-AF65-F5344CB8AC3E}">
        <p14:creationId xmlns:p14="http://schemas.microsoft.com/office/powerpoint/2010/main" val="358049182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CAB5E-EF97-C5EE-84AB-C07EDCCF26C2}"/>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5D6A963D-8C19-6823-05E6-EE69E9C93DEA}"/>
              </a:ext>
            </a:extLst>
          </p:cNvPr>
          <p:cNvPicPr>
            <a:picLocks noGrp="1" noRot="1" noChangeAspect="1" noMove="1" noResize="1" noEditPoints="1" noAdjustHandles="1" noChangeArrowheads="1" noChangeShapeType="1" noCrop="1"/>
          </p:cNvPicPr>
          <p:nvPr/>
        </p:nvPicPr>
        <p:blipFill>
          <a:blip r:embed="rId3"/>
          <a:stretch>
            <a:fillRect/>
          </a:stretch>
        </p:blipFill>
        <p:spPr>
          <a:xfrm>
            <a:off x="8397917" y="-673983"/>
            <a:ext cx="5598432" cy="2990088"/>
          </a:xfrm>
          <a:prstGeom prst="rect">
            <a:avLst/>
          </a:prstGeom>
          <a:ln w="12700">
            <a:miter lim="400000"/>
          </a:ln>
        </p:spPr>
      </p:pic>
      <p:sp>
        <p:nvSpPr>
          <p:cNvPr id="312" name="Line">
            <a:extLst>
              <a:ext uri="{FF2B5EF4-FFF2-40B4-BE49-F238E27FC236}">
                <a16:creationId xmlns:a16="http://schemas.microsoft.com/office/drawing/2014/main" id="{CE312F09-29ED-FB6D-784D-040AD3351F6E}"/>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 name="Line">
            <a:extLst>
              <a:ext uri="{FF2B5EF4-FFF2-40B4-BE49-F238E27FC236}">
                <a16:creationId xmlns:a16="http://schemas.microsoft.com/office/drawing/2014/main" id="{E7278E2A-41C3-D6B9-7991-B23D0DC24170}"/>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 name="YOUR LOGO…">
            <a:extLst>
              <a:ext uri="{FF2B5EF4-FFF2-40B4-BE49-F238E27FC236}">
                <a16:creationId xmlns:a16="http://schemas.microsoft.com/office/drawing/2014/main" id="{DD77FCD3-1B62-3448-BA4A-52619C908615}"/>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err="1"/>
              <a:t>Kaiāulu</a:t>
            </a:r>
            <a:endParaRPr sz="2400" dirty="0"/>
          </a:p>
        </p:txBody>
      </p:sp>
      <p:sp>
        <p:nvSpPr>
          <p:cNvPr id="4" name="Three Column Layout: : CHEAT SHEET">
            <a:extLst>
              <a:ext uri="{FF2B5EF4-FFF2-40B4-BE49-F238E27FC236}">
                <a16:creationId xmlns:a16="http://schemas.microsoft.com/office/drawing/2014/main" id="{1DAF758F-41D8-630F-6DAA-20663642B186}"/>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Sentiment Dataset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5" name="Use headers, colors, and/or backgrounds to separate or group together sections.">
            <a:extLst>
              <a:ext uri="{FF2B5EF4-FFF2-40B4-BE49-F238E27FC236}">
                <a16:creationId xmlns:a16="http://schemas.microsoft.com/office/drawing/2014/main" id="{1589F323-E358-F4AF-7BBE-B3B40A2132B0}"/>
              </a:ext>
            </a:extLst>
          </p:cNvPr>
          <p:cNvSpPr txBox="1"/>
          <p:nvPr/>
        </p:nvSpPr>
        <p:spPr>
          <a:xfrm>
            <a:off x="219190" y="1892216"/>
            <a:ext cx="4336216" cy="1439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lvl="0">
              <a:lnSpc>
                <a:spcPct val="90000"/>
              </a:lnSpc>
              <a:buSzPts val="3700"/>
            </a:pPr>
            <a:r>
              <a:rPr lang="en-US" b="0" dirty="0"/>
              <a:t>Manually annotated sentiment/emotion labels can be useful for training and evaluating novel machine learning classifiers. However, these labels lack sufficient metadata to be extended with new observations for the same projects that were created. This </a:t>
            </a:r>
            <a:r>
              <a:rPr lang="en-US" b="0" dirty="0" err="1"/>
              <a:t>cheatsheet</a:t>
            </a:r>
            <a:r>
              <a:rPr lang="en-US" b="0" dirty="0"/>
              <a:t> demonstrates the reconstruction process used to expand labels' metadata, define reproducible project configuration files, and make them usable in </a:t>
            </a:r>
            <a:r>
              <a:rPr lang="en-US" b="0" dirty="0" err="1"/>
              <a:t>Kaiaulu</a:t>
            </a:r>
            <a:r>
              <a:rPr lang="en-US" b="0" dirty="0"/>
              <a:t> for new analyses.</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6" name="Logistics">
            <a:extLst>
              <a:ext uri="{FF2B5EF4-FFF2-40B4-BE49-F238E27FC236}">
                <a16:creationId xmlns:a16="http://schemas.microsoft.com/office/drawing/2014/main" id="{334F6865-7BFD-6BB8-99B0-6686C7AA8BAF}"/>
              </a:ext>
            </a:extLst>
          </p:cNvPr>
          <p:cNvSpPr txBox="1"/>
          <p:nvPr/>
        </p:nvSpPr>
        <p:spPr>
          <a:xfrm>
            <a:off x="4968243" y="1513569"/>
            <a:ext cx="3953005"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Sentiment Dataset to </a:t>
            </a:r>
            <a:r>
              <a:rPr lang="en-US" dirty="0" err="1">
                <a:latin typeface="Source Sans Pro" panose="020B0503030403020204" pitchFamily="34" charset="0"/>
                <a:ea typeface="Source Sans Pro" panose="020B0503030403020204" pitchFamily="34" charset="0"/>
                <a:cs typeface="Arial" panose="020B0604020202020204" pitchFamily="34" charset="0"/>
              </a:rPr>
              <a:t>Kaiaulu</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7" name="Layout Suggestions">
            <a:extLst>
              <a:ext uri="{FF2B5EF4-FFF2-40B4-BE49-F238E27FC236}">
                <a16:creationId xmlns:a16="http://schemas.microsoft.com/office/drawing/2014/main" id="{8EA17C42-3987-6343-1448-36567E47A229}"/>
              </a:ext>
            </a:extLst>
          </p:cNvPr>
          <p:cNvSpPr txBox="1"/>
          <p:nvPr/>
        </p:nvSpPr>
        <p:spPr>
          <a:xfrm>
            <a:off x="275721" y="1519235"/>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About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4DAA318E-BBBB-F6D9-A64E-0942B5EA1F5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9" name="TextBox 8">
            <a:extLst>
              <a:ext uri="{FF2B5EF4-FFF2-40B4-BE49-F238E27FC236}">
                <a16:creationId xmlns:a16="http://schemas.microsoft.com/office/drawing/2014/main" id="{564CB7A1-664A-C9CE-1509-8859C2703FCA}"/>
              </a:ext>
            </a:extLst>
          </p:cNvPr>
          <p:cNvSpPr txBox="1"/>
          <p:nvPr/>
        </p:nvSpPr>
        <p:spPr>
          <a:xfrm>
            <a:off x="7369010" y="10301097"/>
            <a:ext cx="6288562"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Samantha </a:t>
            </a:r>
            <a:r>
              <a:rPr lang="en-US" sz="1000" b="0" dirty="0">
                <a:solidFill>
                  <a:schemeClr val="tx1"/>
                </a:solidFill>
              </a:rPr>
              <a:t>Limon,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Carlos Paradis</a:t>
            </a:r>
            <a:r>
              <a:rPr lang="en-US" sz="1000" b="0" dirty="0">
                <a:solidFill>
                  <a:schemeClr val="tx1"/>
                </a:solidFill>
              </a:rPr>
              <a: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a:t>
            </a:r>
            <a:r>
              <a:rPr kumimoji="0" lang="en-US" sz="1000" b="0" i="0" u="none" strike="noStrike" cap="none" spc="0" normalizeH="0" baseline="0" dirty="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10" name="Layout Suggestions">
            <a:extLst>
              <a:ext uri="{FF2B5EF4-FFF2-40B4-BE49-F238E27FC236}">
                <a16:creationId xmlns:a16="http://schemas.microsoft.com/office/drawing/2014/main" id="{4A523ED0-3DF5-8FFA-D025-138DBBA68D24}"/>
              </a:ext>
            </a:extLst>
          </p:cNvPr>
          <p:cNvSpPr txBox="1"/>
          <p:nvPr/>
        </p:nvSpPr>
        <p:spPr>
          <a:xfrm>
            <a:off x="258034" y="3385150"/>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Dataset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1" name="Manipulate Variables">
            <a:extLst>
              <a:ext uri="{FF2B5EF4-FFF2-40B4-BE49-F238E27FC236}">
                <a16:creationId xmlns:a16="http://schemas.microsoft.com/office/drawing/2014/main" id="{FCD0AA6C-A950-CAA2-66C1-75FD4903DDBB}"/>
              </a:ext>
            </a:extLst>
          </p:cNvPr>
          <p:cNvSpPr txBox="1"/>
          <p:nvPr/>
        </p:nvSpPr>
        <p:spPr>
          <a:xfrm>
            <a:off x="9587107" y="1513568"/>
            <a:ext cx="258564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Related Notebooks</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2" name="Create a visual hierarchy. Help users navigate the page with titles, subtitles, and subsubtitles">
            <a:extLst>
              <a:ext uri="{FF2B5EF4-FFF2-40B4-BE49-F238E27FC236}">
                <a16:creationId xmlns:a16="http://schemas.microsoft.com/office/drawing/2014/main" id="{2366D9CA-9E23-9CBE-5CEA-A0742D1B3D67}"/>
              </a:ext>
            </a:extLst>
          </p:cNvPr>
          <p:cNvSpPr txBox="1"/>
          <p:nvPr/>
        </p:nvSpPr>
        <p:spPr>
          <a:xfrm>
            <a:off x="9545296" y="1911334"/>
            <a:ext cx="4001355"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See supplementary notebooks that go in-depth on the documentation on making the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Github</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 Gold Standard  and Jira Emotion datasets compatible with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Kaiaulu</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a:t>
            </a:r>
          </a:p>
        </p:txBody>
      </p:sp>
      <p:sp>
        <p:nvSpPr>
          <p:cNvPr id="13" name="TextBox 12">
            <a:extLst>
              <a:ext uri="{FF2B5EF4-FFF2-40B4-BE49-F238E27FC236}">
                <a16:creationId xmlns:a16="http://schemas.microsoft.com/office/drawing/2014/main" id="{2C32BA6A-9DD5-328E-A163-3B51B8145A70}"/>
              </a:ext>
            </a:extLst>
          </p:cNvPr>
          <p:cNvSpPr txBox="1"/>
          <p:nvPr/>
        </p:nvSpPr>
        <p:spPr>
          <a:xfrm>
            <a:off x="9585321" y="2775783"/>
            <a:ext cx="3656656" cy="951462"/>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1_load_sentiment_csv_to_mysql.ipynb</a:t>
            </a:r>
          </a:p>
          <a:p>
            <a:pPr marL="228600" indent="-228600">
              <a:buFont typeface="+mj-lt"/>
              <a:buAutoNum type="arabicPeriod"/>
            </a:pPr>
            <a:r>
              <a:rPr lang="en-US" dirty="0"/>
              <a:t>2_explore_relevant_projects.ipynb</a:t>
            </a:r>
          </a:p>
          <a:p>
            <a:pPr marL="228600" indent="-228600">
              <a:buFont typeface="+mj-lt"/>
              <a:buAutoNum type="arabicPeriod"/>
            </a:pPr>
            <a:r>
              <a:rPr lang="en-US" dirty="0"/>
              <a:t>3_scale_config_files.ipynb</a:t>
            </a:r>
          </a:p>
          <a:p>
            <a:pPr marL="228600" indent="-228600">
              <a:buFont typeface="+mj-lt"/>
              <a:buAutoNum type="arabicPeriod"/>
            </a:pPr>
            <a:r>
              <a:rPr lang="en-US" dirty="0"/>
              <a:t>4_add_sentiment_to_kaiaulu.ipynb</a:t>
            </a:r>
          </a:p>
        </p:txBody>
      </p:sp>
      <p:sp>
        <p:nvSpPr>
          <p:cNvPr id="14" name="Manipulate Variables">
            <a:extLst>
              <a:ext uri="{FF2B5EF4-FFF2-40B4-BE49-F238E27FC236}">
                <a16:creationId xmlns:a16="http://schemas.microsoft.com/office/drawing/2014/main" id="{9A469586-C0D2-A26C-FBA3-A137C9811E0B}"/>
              </a:ext>
            </a:extLst>
          </p:cNvPr>
          <p:cNvSpPr txBox="1"/>
          <p:nvPr/>
        </p:nvSpPr>
        <p:spPr>
          <a:xfrm>
            <a:off x="9542306" y="4660893"/>
            <a:ext cx="210634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Data Expansion</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5" name="Create a visual hierarchy. Help users navigate the page with titles, subtitles, and subsubtitles">
            <a:extLst>
              <a:ext uri="{FF2B5EF4-FFF2-40B4-BE49-F238E27FC236}">
                <a16:creationId xmlns:a16="http://schemas.microsoft.com/office/drawing/2014/main" id="{BF629F26-470D-272A-660B-FB14D715F4D7}"/>
              </a:ext>
            </a:extLst>
          </p:cNvPr>
          <p:cNvSpPr txBox="1"/>
          <p:nvPr/>
        </p:nvSpPr>
        <p:spPr>
          <a:xfrm>
            <a:off x="9517994" y="5036356"/>
            <a:ext cx="4001355" cy="20491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r>
              <a:rPr lang="en-US" sz="1100" b="0" dirty="0"/>
              <a:t>Through this pipeline, we recover sufficient metadata to re-obtain the data using </a:t>
            </a:r>
            <a:r>
              <a:rPr lang="en-US" sz="1100" b="0" dirty="0" err="1"/>
              <a:t>Kaiaulu</a:t>
            </a:r>
            <a:r>
              <a:rPr lang="en-US" sz="1100" b="0" dirty="0"/>
              <a:t>. This metadata enables two types of dataset expansion using </a:t>
            </a:r>
            <a:r>
              <a:rPr lang="en-US" sz="1100" b="0" dirty="0" err="1"/>
              <a:t>Kaiaulu</a:t>
            </a:r>
            <a:r>
              <a:rPr lang="en-US" sz="1100" b="0" dirty="0"/>
              <a:t>:</a:t>
            </a:r>
          </a:p>
          <a:p>
            <a:pPr marL="228600" indent="-228600">
              <a:buAutoNum type="arabicPeriod"/>
            </a:pPr>
            <a:r>
              <a:rPr lang="en-US" sz="1100" dirty="0"/>
              <a:t>Temporal expansion</a:t>
            </a:r>
            <a:r>
              <a:rPr lang="en-US" sz="1100" b="0" dirty="0"/>
              <a:t>: Re-download the same projects' comments from 2014 through today.</a:t>
            </a:r>
          </a:p>
          <a:p>
            <a:pPr marL="228600" indent="-228600">
              <a:buAutoNum type="arabicPeriod"/>
            </a:pPr>
            <a:r>
              <a:rPr lang="en-US" sz="1100" dirty="0"/>
              <a:t>Horizontal expansion</a:t>
            </a:r>
            <a:r>
              <a:rPr lang="en-US" sz="1100" b="0" dirty="0"/>
              <a:t>: Download additional data sources for those same projects (e.g., source code, version control history) that can be linked back to sentiment labels</a:t>
            </a:r>
          </a:p>
          <a:p>
            <a:r>
              <a:rPr lang="en-US" sz="1100" b="0" dirty="0"/>
              <a:t>The labeled comments can be used to train the sentiment classifier and for engagement analysis (refer to </a:t>
            </a:r>
            <a:r>
              <a:rPr lang="en-US" sz="1100" b="0" dirty="0" err="1"/>
              <a:t>sailuh</a:t>
            </a:r>
            <a:r>
              <a:rPr lang="en-US" sz="1100" b="0" dirty="0"/>
              <a:t>/sentiment-classifier).</a:t>
            </a:r>
          </a:p>
        </p:txBody>
      </p:sp>
      <p:sp>
        <p:nvSpPr>
          <p:cNvPr id="16" name="Layout Suggestions">
            <a:extLst>
              <a:ext uri="{FF2B5EF4-FFF2-40B4-BE49-F238E27FC236}">
                <a16:creationId xmlns:a16="http://schemas.microsoft.com/office/drawing/2014/main" id="{AE59011F-9B81-9013-131D-372BDF87BA5B}"/>
              </a:ext>
            </a:extLst>
          </p:cNvPr>
          <p:cNvSpPr txBox="1"/>
          <p:nvPr/>
        </p:nvSpPr>
        <p:spPr>
          <a:xfrm>
            <a:off x="221504" y="7101794"/>
            <a:ext cx="433390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929CBF09-07C1-018B-E420-9F71B9EBED15}"/>
              </a:ext>
            </a:extLst>
          </p:cNvPr>
          <p:cNvSpPr txBox="1"/>
          <p:nvPr/>
        </p:nvSpPr>
        <p:spPr>
          <a:xfrm>
            <a:off x="244833" y="3653776"/>
            <a:ext cx="43468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following must be set up/downloaded:</a:t>
            </a:r>
          </a:p>
        </p:txBody>
      </p:sp>
      <p:sp>
        <p:nvSpPr>
          <p:cNvPr id="18" name="TextBox 17">
            <a:extLst>
              <a:ext uri="{FF2B5EF4-FFF2-40B4-BE49-F238E27FC236}">
                <a16:creationId xmlns:a16="http://schemas.microsoft.com/office/drawing/2014/main" id="{CE234545-3AE3-E768-6B05-8985C30BF05A}"/>
              </a:ext>
            </a:extLst>
          </p:cNvPr>
          <p:cNvSpPr txBox="1"/>
          <p:nvPr/>
        </p:nvSpPr>
        <p:spPr>
          <a:xfrm>
            <a:off x="4898062" y="3304109"/>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err="1"/>
              <a:t>Github</a:t>
            </a:r>
            <a:r>
              <a:rPr lang="en-US" dirty="0"/>
              <a:t> Gold CSV</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19" name="Straight Arrow Connector 18">
            <a:extLst>
              <a:ext uri="{FF2B5EF4-FFF2-40B4-BE49-F238E27FC236}">
                <a16:creationId xmlns:a16="http://schemas.microsoft.com/office/drawing/2014/main" id="{3579FF6A-9355-F3BB-22C1-DEEC0DBF8EA1}"/>
              </a:ext>
            </a:extLst>
          </p:cNvPr>
          <p:cNvCxnSpPr>
            <a:cxnSpLocks/>
          </p:cNvCxnSpPr>
          <p:nvPr/>
        </p:nvCxnSpPr>
        <p:spPr>
          <a:xfrm>
            <a:off x="6127817" y="2739306"/>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0" name="Table">
            <a:extLst>
              <a:ext uri="{FF2B5EF4-FFF2-40B4-BE49-F238E27FC236}">
                <a16:creationId xmlns:a16="http://schemas.microsoft.com/office/drawing/2014/main" id="{A750AA9B-BBFD-E4B8-8D72-071D6C6F234D}"/>
              </a:ext>
            </a:extLst>
          </p:cNvPr>
          <p:cNvGraphicFramePr/>
          <p:nvPr>
            <p:extLst>
              <p:ext uri="{D42A27DB-BD31-4B8C-83A1-F6EECF244321}">
                <p14:modId xmlns:p14="http://schemas.microsoft.com/office/powerpoint/2010/main" val="530760606"/>
              </p:ext>
            </p:extLst>
          </p:nvPr>
        </p:nvGraphicFramePr>
        <p:xfrm>
          <a:off x="5214672" y="2681254"/>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1" name="TextBox 20">
            <a:extLst>
              <a:ext uri="{FF2B5EF4-FFF2-40B4-BE49-F238E27FC236}">
                <a16:creationId xmlns:a16="http://schemas.microsoft.com/office/drawing/2014/main" id="{3478EBAC-53DD-FBD9-A077-6E8AA866CD3D}"/>
              </a:ext>
            </a:extLst>
          </p:cNvPr>
          <p:cNvSpPr txBox="1"/>
          <p:nvPr/>
        </p:nvSpPr>
        <p:spPr>
          <a:xfrm>
            <a:off x="6160379" y="2512222"/>
            <a:ext cx="127533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6B526C9C-3827-383D-B24B-1B04B0012A50}"/>
              </a:ext>
            </a:extLst>
          </p:cNvPr>
          <p:cNvSpPr txBox="1"/>
          <p:nvPr/>
        </p:nvSpPr>
        <p:spPr>
          <a:xfrm>
            <a:off x="6165384" y="2758990"/>
            <a:ext cx="144108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Q-Join-Commit-Comments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3" name="TextBox 22">
            <a:extLst>
              <a:ext uri="{FF2B5EF4-FFF2-40B4-BE49-F238E27FC236}">
                <a16:creationId xmlns:a16="http://schemas.microsoft.com/office/drawing/2014/main" id="{9031548A-0731-6823-D13E-5056805127BC}"/>
              </a:ext>
            </a:extLst>
          </p:cNvPr>
          <p:cNvSpPr txBox="1"/>
          <p:nvPr/>
        </p:nvSpPr>
        <p:spPr>
          <a:xfrm>
            <a:off x="6091806" y="3030690"/>
            <a:ext cx="1514660" cy="2333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800" b="0" dirty="0"/>
              <a:t>Q-Join-Pull-Request-Comments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4" name="Straight Arrow Connector 23">
            <a:extLst>
              <a:ext uri="{FF2B5EF4-FFF2-40B4-BE49-F238E27FC236}">
                <a16:creationId xmlns:a16="http://schemas.microsoft.com/office/drawing/2014/main" id="{CFCE69F4-A42C-0DF6-D34E-4E383CAA0BAB}"/>
              </a:ext>
            </a:extLst>
          </p:cNvPr>
          <p:cNvCxnSpPr>
            <a:cxnSpLocks/>
          </p:cNvCxnSpPr>
          <p:nvPr/>
        </p:nvCxnSpPr>
        <p:spPr>
          <a:xfrm>
            <a:off x="6127817" y="2985359"/>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38D3D4F2-5444-A3F0-89D4-F42D2CA3272C}"/>
              </a:ext>
            </a:extLst>
          </p:cNvPr>
          <p:cNvCxnSpPr>
            <a:cxnSpLocks/>
          </p:cNvCxnSpPr>
          <p:nvPr/>
        </p:nvCxnSpPr>
        <p:spPr>
          <a:xfrm>
            <a:off x="6127817" y="3231412"/>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65C24F2A-A462-AAD2-2666-99BC57627541}"/>
              </a:ext>
            </a:extLst>
          </p:cNvPr>
          <p:cNvSpPr txBox="1"/>
          <p:nvPr/>
        </p:nvSpPr>
        <p:spPr>
          <a:xfrm>
            <a:off x="7593293" y="3309908"/>
            <a:ext cx="1418243"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err="1"/>
              <a:t>GHTorrent</a:t>
            </a:r>
            <a:r>
              <a:rPr lang="en-US" dirty="0"/>
              <a:t> 2014 DB</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7" name="TextBox 26">
            <a:extLst>
              <a:ext uri="{FF2B5EF4-FFF2-40B4-BE49-F238E27FC236}">
                <a16:creationId xmlns:a16="http://schemas.microsoft.com/office/drawing/2014/main" id="{CA2511EF-13F5-EACB-46DD-AC0970BE2C76}"/>
              </a:ext>
            </a:extLst>
          </p:cNvPr>
          <p:cNvSpPr txBox="1"/>
          <p:nvPr/>
        </p:nvSpPr>
        <p:spPr>
          <a:xfrm>
            <a:off x="4805796" y="4961870"/>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28" name="Group 27">
            <a:extLst>
              <a:ext uri="{FF2B5EF4-FFF2-40B4-BE49-F238E27FC236}">
                <a16:creationId xmlns:a16="http://schemas.microsoft.com/office/drawing/2014/main" id="{78CBB2DE-95F4-6728-A350-437D4CF19525}"/>
              </a:ext>
            </a:extLst>
          </p:cNvPr>
          <p:cNvGrpSpPr/>
          <p:nvPr/>
        </p:nvGrpSpPr>
        <p:grpSpPr>
          <a:xfrm>
            <a:off x="5609863" y="4520518"/>
            <a:ext cx="953200" cy="458010"/>
            <a:chOff x="5528605" y="4530831"/>
            <a:chExt cx="953200" cy="458010"/>
          </a:xfrm>
        </p:grpSpPr>
        <p:graphicFrame>
          <p:nvGraphicFramePr>
            <p:cNvPr id="29" name="Table">
              <a:extLst>
                <a:ext uri="{FF2B5EF4-FFF2-40B4-BE49-F238E27FC236}">
                  <a16:creationId xmlns:a16="http://schemas.microsoft.com/office/drawing/2014/main" id="{C9922A50-7691-9951-09A0-814D1B1CCF28}"/>
                </a:ext>
              </a:extLst>
            </p:cNvPr>
            <p:cNvGraphicFramePr/>
            <p:nvPr>
              <p:extLst>
                <p:ext uri="{D42A27DB-BD31-4B8C-83A1-F6EECF244321}">
                  <p14:modId xmlns:p14="http://schemas.microsoft.com/office/powerpoint/2010/main" val="2191099551"/>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30" name="Table">
              <a:extLst>
                <a:ext uri="{FF2B5EF4-FFF2-40B4-BE49-F238E27FC236}">
                  <a16:creationId xmlns:a16="http://schemas.microsoft.com/office/drawing/2014/main" id="{194BD3D0-EDF7-20B2-042E-9F176BA2D5D3}"/>
                </a:ext>
              </a:extLst>
            </p:cNvPr>
            <p:cNvGraphicFramePr/>
            <p:nvPr>
              <p:extLst>
                <p:ext uri="{D42A27DB-BD31-4B8C-83A1-F6EECF244321}">
                  <p14:modId xmlns:p14="http://schemas.microsoft.com/office/powerpoint/2010/main" val="2876436268"/>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sp>
        <p:nvSpPr>
          <p:cNvPr id="31" name="TextBox 30">
            <a:extLst>
              <a:ext uri="{FF2B5EF4-FFF2-40B4-BE49-F238E27FC236}">
                <a16:creationId xmlns:a16="http://schemas.microsoft.com/office/drawing/2014/main" id="{BBA50991-C5FA-C47F-F7AE-862A02A40783}"/>
              </a:ext>
            </a:extLst>
          </p:cNvPr>
          <p:cNvSpPr txBox="1"/>
          <p:nvPr/>
        </p:nvSpPr>
        <p:spPr>
          <a:xfrm>
            <a:off x="5384035" y="4960252"/>
            <a:ext cx="139124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err="1"/>
              <a:t>Github</a:t>
            </a:r>
            <a:r>
              <a:rPr lang="en-US" sz="800" b="0" dirty="0"/>
              <a:t> Gold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2" name="Line">
            <a:extLst>
              <a:ext uri="{FF2B5EF4-FFF2-40B4-BE49-F238E27FC236}">
                <a16:creationId xmlns:a16="http://schemas.microsoft.com/office/drawing/2014/main" id="{6E3A402D-937A-03B8-100D-8BE9A204DBC7}"/>
              </a:ext>
            </a:extLst>
          </p:cNvPr>
          <p:cNvSpPr/>
          <p:nvPr/>
        </p:nvSpPr>
        <p:spPr>
          <a:xfrm flipV="1">
            <a:off x="4836043" y="5961806"/>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3" name="TextBox 32">
            <a:extLst>
              <a:ext uri="{FF2B5EF4-FFF2-40B4-BE49-F238E27FC236}">
                <a16:creationId xmlns:a16="http://schemas.microsoft.com/office/drawing/2014/main" id="{73FF8507-5C50-5DC7-2D4C-7A0793AE2F6A}"/>
              </a:ext>
            </a:extLst>
          </p:cNvPr>
          <p:cNvSpPr txBox="1"/>
          <p:nvPr/>
        </p:nvSpPr>
        <p:spPr>
          <a:xfrm>
            <a:off x="4907496" y="7376582"/>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Jira Emotion CSV</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4" name="Straight Arrow Connector 33">
            <a:extLst>
              <a:ext uri="{FF2B5EF4-FFF2-40B4-BE49-F238E27FC236}">
                <a16:creationId xmlns:a16="http://schemas.microsoft.com/office/drawing/2014/main" id="{D780CFCA-28F0-EBB9-104C-31070834E2B8}"/>
              </a:ext>
            </a:extLst>
          </p:cNvPr>
          <p:cNvCxnSpPr>
            <a:cxnSpLocks/>
          </p:cNvCxnSpPr>
          <p:nvPr/>
        </p:nvCxnSpPr>
        <p:spPr>
          <a:xfrm>
            <a:off x="6135419" y="6933077"/>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35" name="Table">
            <a:extLst>
              <a:ext uri="{FF2B5EF4-FFF2-40B4-BE49-F238E27FC236}">
                <a16:creationId xmlns:a16="http://schemas.microsoft.com/office/drawing/2014/main" id="{839A9B52-D703-C252-AEDD-EF3DFE65FDB6}"/>
              </a:ext>
            </a:extLst>
          </p:cNvPr>
          <p:cNvGraphicFramePr/>
          <p:nvPr>
            <p:extLst>
              <p:ext uri="{D42A27DB-BD31-4B8C-83A1-F6EECF244321}">
                <p14:modId xmlns:p14="http://schemas.microsoft.com/office/powerpoint/2010/main" val="3452197394"/>
              </p:ext>
            </p:extLst>
          </p:nvPr>
        </p:nvGraphicFramePr>
        <p:xfrm>
          <a:off x="5224106" y="6753727"/>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cxnSp>
        <p:nvCxnSpPr>
          <p:cNvPr id="36" name="Straight Arrow Connector 35">
            <a:extLst>
              <a:ext uri="{FF2B5EF4-FFF2-40B4-BE49-F238E27FC236}">
                <a16:creationId xmlns:a16="http://schemas.microsoft.com/office/drawing/2014/main" id="{215BBED5-0AC6-34D0-F06A-2985077188B4}"/>
              </a:ext>
            </a:extLst>
          </p:cNvPr>
          <p:cNvCxnSpPr>
            <a:cxnSpLocks/>
          </p:cNvCxnSpPr>
          <p:nvPr/>
        </p:nvCxnSpPr>
        <p:spPr>
          <a:xfrm>
            <a:off x="6135419" y="7179130"/>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BDC5710A-FCE0-CA1A-1007-ACB3FECF9E08}"/>
              </a:ext>
            </a:extLst>
          </p:cNvPr>
          <p:cNvSpPr txBox="1"/>
          <p:nvPr/>
        </p:nvSpPr>
        <p:spPr>
          <a:xfrm>
            <a:off x="7559039" y="7389118"/>
            <a:ext cx="14867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PostgreSQL 2016 DB</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8" name="TextBox 37">
            <a:extLst>
              <a:ext uri="{FF2B5EF4-FFF2-40B4-BE49-F238E27FC236}">
                <a16:creationId xmlns:a16="http://schemas.microsoft.com/office/drawing/2014/main" id="{5FDA8D75-2421-BBB6-A3E3-ED5A0152820D}"/>
              </a:ext>
            </a:extLst>
          </p:cNvPr>
          <p:cNvSpPr txBox="1"/>
          <p:nvPr/>
        </p:nvSpPr>
        <p:spPr>
          <a:xfrm>
            <a:off x="6129023" y="6689831"/>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9" name="TextBox 38">
            <a:extLst>
              <a:ext uri="{FF2B5EF4-FFF2-40B4-BE49-F238E27FC236}">
                <a16:creationId xmlns:a16="http://schemas.microsoft.com/office/drawing/2014/main" id="{89E406A4-31CD-5D58-04FC-B02E89E5AA3D}"/>
              </a:ext>
            </a:extLst>
          </p:cNvPr>
          <p:cNvSpPr txBox="1"/>
          <p:nvPr/>
        </p:nvSpPr>
        <p:spPr>
          <a:xfrm>
            <a:off x="6135419" y="6941250"/>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0" name="TextBox 39">
            <a:extLst>
              <a:ext uri="{FF2B5EF4-FFF2-40B4-BE49-F238E27FC236}">
                <a16:creationId xmlns:a16="http://schemas.microsoft.com/office/drawing/2014/main" id="{DEFE265A-B570-A255-455D-7FEC22FA9720}"/>
              </a:ext>
            </a:extLst>
          </p:cNvPr>
          <p:cNvSpPr txBox="1"/>
          <p:nvPr/>
        </p:nvSpPr>
        <p:spPr>
          <a:xfrm>
            <a:off x="4879086" y="1907656"/>
            <a:ext cx="272738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500" dirty="0" err="1"/>
              <a:t>Github</a:t>
            </a:r>
            <a:r>
              <a:rPr lang="en-US" sz="1500" dirty="0"/>
              <a:t> Gold Standard Dataset</a:t>
            </a:r>
            <a:endParaRPr kumimoji="0" lang="en-US" sz="1500" b="1" i="0" strike="noStrike" cap="none" spc="0" normalizeH="0" baseline="0" dirty="0">
              <a:ln>
                <a:noFill/>
              </a:ln>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34B3E3B1-40B6-1347-6275-4F85703E34AF}"/>
              </a:ext>
            </a:extLst>
          </p:cNvPr>
          <p:cNvSpPr txBox="1"/>
          <p:nvPr/>
        </p:nvSpPr>
        <p:spPr>
          <a:xfrm>
            <a:off x="4719773" y="6166156"/>
            <a:ext cx="217099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500" dirty="0"/>
              <a:t>Jira Emotion Dataset</a:t>
            </a:r>
            <a:endParaRPr kumimoji="0" lang="en-US" sz="1500" b="1" i="0" strike="noStrike" cap="none" spc="0" normalizeH="0" baseline="0" dirty="0">
              <a:ln>
                <a:noFill/>
              </a:ln>
              <a:effectLst/>
              <a:uFillTx/>
              <a:latin typeface="Source Sans Pro"/>
              <a:ea typeface="Source Sans Pro"/>
              <a:cs typeface="Source Sans Pro"/>
              <a:sym typeface="Source Sans Pro"/>
            </a:endParaRPr>
          </a:p>
        </p:txBody>
      </p:sp>
      <p:grpSp>
        <p:nvGrpSpPr>
          <p:cNvPr id="42" name="Group 41">
            <a:extLst>
              <a:ext uri="{FF2B5EF4-FFF2-40B4-BE49-F238E27FC236}">
                <a16:creationId xmlns:a16="http://schemas.microsoft.com/office/drawing/2014/main" id="{6250FE76-A3C7-BBB0-EECD-CCEBDE6EE9E1}"/>
              </a:ext>
            </a:extLst>
          </p:cNvPr>
          <p:cNvGrpSpPr/>
          <p:nvPr/>
        </p:nvGrpSpPr>
        <p:grpSpPr>
          <a:xfrm>
            <a:off x="8573655" y="3978207"/>
            <a:ext cx="569700" cy="1688313"/>
            <a:chOff x="8715063" y="3858862"/>
            <a:chExt cx="569700" cy="1688313"/>
          </a:xfrm>
        </p:grpSpPr>
        <p:sp>
          <p:nvSpPr>
            <p:cNvPr id="43" name="Google Shape;375;p18">
              <a:extLst>
                <a:ext uri="{FF2B5EF4-FFF2-40B4-BE49-F238E27FC236}">
                  <a16:creationId xmlns:a16="http://schemas.microsoft.com/office/drawing/2014/main" id="{3B68272D-5918-75C1-BB31-FE45F6EA97C3}"/>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44" name="Google Shape;388;p18">
              <a:extLst>
                <a:ext uri="{FF2B5EF4-FFF2-40B4-BE49-F238E27FC236}">
                  <a16:creationId xmlns:a16="http://schemas.microsoft.com/office/drawing/2014/main" id="{570A8892-FD64-9A43-8B84-26F5B372A277}"/>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sp>
          <p:nvSpPr>
            <p:cNvPr id="45" name="Google Shape;324;p18">
              <a:extLst>
                <a:ext uri="{FF2B5EF4-FFF2-40B4-BE49-F238E27FC236}">
                  <a16:creationId xmlns:a16="http://schemas.microsoft.com/office/drawing/2014/main" id="{74D57112-8ADF-6D72-0676-0A7B6BF03551}"/>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46" name="Google Shape;359;p18">
              <a:extLst>
                <a:ext uri="{FF2B5EF4-FFF2-40B4-BE49-F238E27FC236}">
                  <a16:creationId xmlns:a16="http://schemas.microsoft.com/office/drawing/2014/main" id="{6499B9EB-D43F-C4C9-B97D-5F20EA4454C2}"/>
                </a:ext>
              </a:extLst>
            </p:cNvPr>
            <p:cNvGrpSpPr/>
            <p:nvPr/>
          </p:nvGrpSpPr>
          <p:grpSpPr>
            <a:xfrm>
              <a:off x="8838265" y="4043887"/>
              <a:ext cx="307200" cy="189300"/>
              <a:chOff x="3007175" y="1757600"/>
              <a:chExt cx="307200" cy="189300"/>
            </a:xfrm>
          </p:grpSpPr>
          <p:sp>
            <p:nvSpPr>
              <p:cNvPr id="261" name="Google Shape;360;p18">
                <a:extLst>
                  <a:ext uri="{FF2B5EF4-FFF2-40B4-BE49-F238E27FC236}">
                    <a16:creationId xmlns:a16="http://schemas.microsoft.com/office/drawing/2014/main" id="{301D528B-3DEA-569C-30D6-0776B4F767E0}"/>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2" name="Google Shape;361;p18">
                <a:extLst>
                  <a:ext uri="{FF2B5EF4-FFF2-40B4-BE49-F238E27FC236}">
                    <a16:creationId xmlns:a16="http://schemas.microsoft.com/office/drawing/2014/main" id="{2254D219-D5F3-CFE6-6BD1-BA2D38D85025}"/>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362;p18">
                <a:extLst>
                  <a:ext uri="{FF2B5EF4-FFF2-40B4-BE49-F238E27FC236}">
                    <a16:creationId xmlns:a16="http://schemas.microsoft.com/office/drawing/2014/main" id="{9084C971-E4ED-879D-DC9A-A902C196AA4E}"/>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4" name="Google Shape;363;p18">
                <a:extLst>
                  <a:ext uri="{FF2B5EF4-FFF2-40B4-BE49-F238E27FC236}">
                    <a16:creationId xmlns:a16="http://schemas.microsoft.com/office/drawing/2014/main" id="{A4400423-868D-8A6C-5E12-458C9B61AEED}"/>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65" name="Google Shape;364;p18">
                <a:extLst>
                  <a:ext uri="{FF2B5EF4-FFF2-40B4-BE49-F238E27FC236}">
                    <a16:creationId xmlns:a16="http://schemas.microsoft.com/office/drawing/2014/main" id="{11A3FD19-E267-0C06-2175-9545D438AC6E}"/>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66" name="Google Shape;365;p18">
                <a:extLst>
                  <a:ext uri="{FF2B5EF4-FFF2-40B4-BE49-F238E27FC236}">
                    <a16:creationId xmlns:a16="http://schemas.microsoft.com/office/drawing/2014/main" id="{D41D7670-DB00-9A22-9911-EE0D43510458}"/>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67" name="Google Shape;366;p18">
                <a:extLst>
                  <a:ext uri="{FF2B5EF4-FFF2-40B4-BE49-F238E27FC236}">
                    <a16:creationId xmlns:a16="http://schemas.microsoft.com/office/drawing/2014/main" id="{1D5DD4AB-D8D4-577B-B937-741BA617EA3E}"/>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47" name="Google Shape;367;p18">
              <a:extLst>
                <a:ext uri="{FF2B5EF4-FFF2-40B4-BE49-F238E27FC236}">
                  <a16:creationId xmlns:a16="http://schemas.microsoft.com/office/drawing/2014/main" id="{5F8BC6C6-A54B-4D6F-60FD-2E8AF44860BF}"/>
                </a:ext>
              </a:extLst>
            </p:cNvPr>
            <p:cNvGrpSpPr/>
            <p:nvPr/>
          </p:nvGrpSpPr>
          <p:grpSpPr>
            <a:xfrm>
              <a:off x="8838252" y="4387350"/>
              <a:ext cx="307200" cy="189300"/>
              <a:chOff x="3007175" y="1757600"/>
              <a:chExt cx="307200" cy="189300"/>
            </a:xfrm>
          </p:grpSpPr>
          <p:sp>
            <p:nvSpPr>
              <p:cNvPr id="62" name="Google Shape;368;p18">
                <a:extLst>
                  <a:ext uri="{FF2B5EF4-FFF2-40B4-BE49-F238E27FC236}">
                    <a16:creationId xmlns:a16="http://schemas.microsoft.com/office/drawing/2014/main" id="{BCF5923D-9F59-6E35-4466-11EA462D3B55}"/>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 name="Google Shape;369;p18">
                <a:extLst>
                  <a:ext uri="{FF2B5EF4-FFF2-40B4-BE49-F238E27FC236}">
                    <a16:creationId xmlns:a16="http://schemas.microsoft.com/office/drawing/2014/main" id="{C5E47896-2998-C91A-553E-45118A9411B6}"/>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370;p18">
                <a:extLst>
                  <a:ext uri="{FF2B5EF4-FFF2-40B4-BE49-F238E27FC236}">
                    <a16:creationId xmlns:a16="http://schemas.microsoft.com/office/drawing/2014/main" id="{4B86D4F6-64CB-DB66-F3A7-CE8EA940FA19}"/>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7" name="Google Shape;371;p18">
                <a:extLst>
                  <a:ext uri="{FF2B5EF4-FFF2-40B4-BE49-F238E27FC236}">
                    <a16:creationId xmlns:a16="http://schemas.microsoft.com/office/drawing/2014/main" id="{F2ECC71D-4904-285C-30B0-2CB58746E887}"/>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58" name="Google Shape;372;p18">
                <a:extLst>
                  <a:ext uri="{FF2B5EF4-FFF2-40B4-BE49-F238E27FC236}">
                    <a16:creationId xmlns:a16="http://schemas.microsoft.com/office/drawing/2014/main" id="{19A8B957-A7E8-B3AF-18ED-564F003F2904}"/>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59" name="Google Shape;373;p18">
                <a:extLst>
                  <a:ext uri="{FF2B5EF4-FFF2-40B4-BE49-F238E27FC236}">
                    <a16:creationId xmlns:a16="http://schemas.microsoft.com/office/drawing/2014/main" id="{34D1F04B-48D1-1651-FEFE-321D6F6D8D40}"/>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60" name="Google Shape;374;p18">
                <a:extLst>
                  <a:ext uri="{FF2B5EF4-FFF2-40B4-BE49-F238E27FC236}">
                    <a16:creationId xmlns:a16="http://schemas.microsoft.com/office/drawing/2014/main" id="{40CB2993-CD37-BC41-4D9F-FF3F336121D9}"/>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48" name="Google Shape;376;p18">
              <a:extLst>
                <a:ext uri="{FF2B5EF4-FFF2-40B4-BE49-F238E27FC236}">
                  <a16:creationId xmlns:a16="http://schemas.microsoft.com/office/drawing/2014/main" id="{06110F41-47CB-B030-9040-E4F000C3526B}"/>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49" name="Google Shape;377;p18">
              <a:extLst>
                <a:ext uri="{FF2B5EF4-FFF2-40B4-BE49-F238E27FC236}">
                  <a16:creationId xmlns:a16="http://schemas.microsoft.com/office/drawing/2014/main" id="{536F3BEC-7A6F-A62B-846B-3641337C5259}"/>
                </a:ext>
              </a:extLst>
            </p:cNvPr>
            <p:cNvGrpSpPr/>
            <p:nvPr/>
          </p:nvGrpSpPr>
          <p:grpSpPr>
            <a:xfrm>
              <a:off x="8846302" y="4841125"/>
              <a:ext cx="307200" cy="297900"/>
              <a:chOff x="3021975" y="2389850"/>
              <a:chExt cx="307200" cy="297900"/>
            </a:xfrm>
          </p:grpSpPr>
          <p:sp>
            <p:nvSpPr>
              <p:cNvPr id="52" name="Google Shape;378;p18">
                <a:extLst>
                  <a:ext uri="{FF2B5EF4-FFF2-40B4-BE49-F238E27FC236}">
                    <a16:creationId xmlns:a16="http://schemas.microsoft.com/office/drawing/2014/main" id="{79D9E4F8-DCD9-3D7A-1B1F-F15544B35B7A}"/>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53" name="Google Shape;379;p18">
                <a:extLst>
                  <a:ext uri="{FF2B5EF4-FFF2-40B4-BE49-F238E27FC236}">
                    <a16:creationId xmlns:a16="http://schemas.microsoft.com/office/drawing/2014/main" id="{C2F88CD6-76A2-AED8-CD0A-367FDFA9B3D4}"/>
                  </a:ext>
                </a:extLst>
              </p:cNvPr>
              <p:cNvGrpSpPr/>
              <p:nvPr/>
            </p:nvGrpSpPr>
            <p:grpSpPr>
              <a:xfrm>
                <a:off x="3021975" y="2389850"/>
                <a:ext cx="307200" cy="295800"/>
                <a:chOff x="3021975" y="2389850"/>
                <a:chExt cx="307200" cy="295800"/>
              </a:xfrm>
            </p:grpSpPr>
            <p:sp>
              <p:nvSpPr>
                <p:cNvPr id="54" name="Google Shape;380;p18">
                  <a:extLst>
                    <a:ext uri="{FF2B5EF4-FFF2-40B4-BE49-F238E27FC236}">
                      <a16:creationId xmlns:a16="http://schemas.microsoft.com/office/drawing/2014/main" id="{EE1EB28F-544C-5AB6-F93F-22A4466964F8}"/>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 name="Google Shape;381;p18">
                  <a:extLst>
                    <a:ext uri="{FF2B5EF4-FFF2-40B4-BE49-F238E27FC236}">
                      <a16:creationId xmlns:a16="http://schemas.microsoft.com/office/drawing/2014/main" id="{124A8D05-68AE-369E-9CD7-3C0176E9811E}"/>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56" name="Google Shape;382;p18">
                  <a:extLst>
                    <a:ext uri="{FF2B5EF4-FFF2-40B4-BE49-F238E27FC236}">
                      <a16:creationId xmlns:a16="http://schemas.microsoft.com/office/drawing/2014/main" id="{5FA26C83-D9F3-4D3D-A1E0-F96228122228}"/>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57" name="Google Shape;383;p18">
                  <a:extLst>
                    <a:ext uri="{FF2B5EF4-FFF2-40B4-BE49-F238E27FC236}">
                      <a16:creationId xmlns:a16="http://schemas.microsoft.com/office/drawing/2014/main" id="{4DFC9164-C134-B9A9-1523-AD2E438E1A79}"/>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58" name="Google Shape;384;p18">
                  <a:extLst>
                    <a:ext uri="{FF2B5EF4-FFF2-40B4-BE49-F238E27FC236}">
                      <a16:creationId xmlns:a16="http://schemas.microsoft.com/office/drawing/2014/main" id="{DE0FBE50-C190-E944-7B16-3CB548B607DF}"/>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59" name="Google Shape;385;p18">
                  <a:extLst>
                    <a:ext uri="{FF2B5EF4-FFF2-40B4-BE49-F238E27FC236}">
                      <a16:creationId xmlns:a16="http://schemas.microsoft.com/office/drawing/2014/main" id="{4AC63417-5734-176E-D9F4-A43589178B13}"/>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386;p18">
                  <a:extLst>
                    <a:ext uri="{FF2B5EF4-FFF2-40B4-BE49-F238E27FC236}">
                      <a16:creationId xmlns:a16="http://schemas.microsoft.com/office/drawing/2014/main" id="{73E55E69-5DCA-C4AE-FE08-771D2CCBB346}"/>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61" name="Google Shape;387;p18">
                  <a:extLst>
                    <a:ext uri="{FF2B5EF4-FFF2-40B4-BE49-F238E27FC236}">
                      <a16:creationId xmlns:a16="http://schemas.microsoft.com/office/drawing/2014/main" id="{E06109FF-1A84-4E82-215C-A3FCA44979E5}"/>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cxnSp>
          <p:nvCxnSpPr>
            <p:cNvPr id="50" name="Google Shape;389;p18">
              <a:extLst>
                <a:ext uri="{FF2B5EF4-FFF2-40B4-BE49-F238E27FC236}">
                  <a16:creationId xmlns:a16="http://schemas.microsoft.com/office/drawing/2014/main" id="{7D3DF62A-8D53-F64C-F8A0-C7660ABF9CC6}"/>
                </a:ext>
              </a:extLst>
            </p:cNvPr>
            <p:cNvCxnSpPr>
              <a:cxnSpLocks/>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51" name="Google Shape;390;p18">
              <a:extLst>
                <a:ext uri="{FF2B5EF4-FFF2-40B4-BE49-F238E27FC236}">
                  <a16:creationId xmlns:a16="http://schemas.microsoft.com/office/drawing/2014/main" id="{C9A22B98-C79F-A548-DF6A-417FFAA62F24}"/>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cxnSp>
        <p:nvCxnSpPr>
          <p:cNvPr id="268" name="Straight Arrow Connector 1198">
            <a:extLst>
              <a:ext uri="{FF2B5EF4-FFF2-40B4-BE49-F238E27FC236}">
                <a16:creationId xmlns:a16="http://schemas.microsoft.com/office/drawing/2014/main" id="{227135CD-A2CE-7106-B180-E12950D8C26C}"/>
              </a:ext>
            </a:extLst>
          </p:cNvPr>
          <p:cNvCxnSpPr>
            <a:cxnSpLocks/>
          </p:cNvCxnSpPr>
          <p:nvPr/>
        </p:nvCxnSpPr>
        <p:spPr>
          <a:xfrm flipV="1">
            <a:off x="8124120" y="4262578"/>
            <a:ext cx="486066" cy="30466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69" name="TextBox 268">
            <a:extLst>
              <a:ext uri="{FF2B5EF4-FFF2-40B4-BE49-F238E27FC236}">
                <a16:creationId xmlns:a16="http://schemas.microsoft.com/office/drawing/2014/main" id="{6A780924-752D-F134-81B1-E117FE28A710}"/>
              </a:ext>
            </a:extLst>
          </p:cNvPr>
          <p:cNvSpPr txBox="1"/>
          <p:nvPr/>
        </p:nvSpPr>
        <p:spPr>
          <a:xfrm>
            <a:off x="9558554" y="4159871"/>
            <a:ext cx="3656656" cy="320520"/>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1_emotion_csv_inter_rater_agreement.ipynb</a:t>
            </a:r>
          </a:p>
        </p:txBody>
      </p:sp>
      <p:sp>
        <p:nvSpPr>
          <p:cNvPr id="270" name="TextBox 269">
            <a:extLst>
              <a:ext uri="{FF2B5EF4-FFF2-40B4-BE49-F238E27FC236}">
                <a16:creationId xmlns:a16="http://schemas.microsoft.com/office/drawing/2014/main" id="{057CB9B6-2DCF-2963-DC86-9A97EC2599F7}"/>
              </a:ext>
            </a:extLst>
          </p:cNvPr>
          <p:cNvSpPr txBox="1"/>
          <p:nvPr/>
        </p:nvSpPr>
        <p:spPr>
          <a:xfrm>
            <a:off x="9517994" y="2470516"/>
            <a:ext cx="3400799" cy="3359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1300" dirty="0" err="1"/>
              <a:t>sailuh</a:t>
            </a:r>
            <a:r>
              <a:rPr lang="en-US" sz="1300" dirty="0"/>
              <a:t>/</a:t>
            </a:r>
            <a:r>
              <a:rPr lang="en-US" sz="1300" dirty="0" err="1"/>
              <a:t>sentiment_github_dataset</a:t>
            </a:r>
            <a:endParaRPr kumimoji="0" lang="en-US" sz="1300" b="1" i="0" strike="noStrike" cap="none" spc="0" normalizeH="0" baseline="0" dirty="0">
              <a:ln>
                <a:noFill/>
              </a:ln>
              <a:effectLst/>
              <a:uFillTx/>
              <a:latin typeface="Source Sans Pro"/>
              <a:ea typeface="Source Sans Pro"/>
              <a:cs typeface="Source Sans Pro"/>
              <a:sym typeface="Source Sans Pro"/>
            </a:endParaRPr>
          </a:p>
        </p:txBody>
      </p:sp>
      <p:sp>
        <p:nvSpPr>
          <p:cNvPr id="271" name="TextBox 270">
            <a:extLst>
              <a:ext uri="{FF2B5EF4-FFF2-40B4-BE49-F238E27FC236}">
                <a16:creationId xmlns:a16="http://schemas.microsoft.com/office/drawing/2014/main" id="{1B21C239-1C55-97BA-9EF3-79DBE06AF069}"/>
              </a:ext>
            </a:extLst>
          </p:cNvPr>
          <p:cNvSpPr txBox="1"/>
          <p:nvPr/>
        </p:nvSpPr>
        <p:spPr>
          <a:xfrm>
            <a:off x="9517994" y="3859880"/>
            <a:ext cx="3400799" cy="3359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1300" dirty="0" err="1"/>
              <a:t>sailuh</a:t>
            </a:r>
            <a:r>
              <a:rPr lang="en-US" sz="1300" dirty="0"/>
              <a:t>/</a:t>
            </a:r>
            <a:r>
              <a:rPr lang="en-US" sz="1300" dirty="0" err="1"/>
              <a:t>emotion_jira_dataset</a:t>
            </a:r>
            <a:endParaRPr kumimoji="0" lang="en-US" sz="1300" b="1" i="0" strike="noStrike" cap="none" spc="0" normalizeH="0" baseline="0" dirty="0">
              <a:ln>
                <a:noFill/>
              </a:ln>
              <a:effectLst/>
              <a:uFillTx/>
              <a:latin typeface="Source Sans Pro"/>
              <a:ea typeface="Source Sans Pro"/>
              <a:cs typeface="Source Sans Pro"/>
              <a:sym typeface="Source Sans Pro"/>
            </a:endParaRPr>
          </a:p>
        </p:txBody>
      </p:sp>
      <p:pic>
        <p:nvPicPr>
          <p:cNvPr id="272" name="Graphic 271" descr="Paper outline">
            <a:extLst>
              <a:ext uri="{FF2B5EF4-FFF2-40B4-BE49-F238E27FC236}">
                <a16:creationId xmlns:a16="http://schemas.microsoft.com/office/drawing/2014/main" id="{841C0964-1549-FE1C-9602-737E9471160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18621" y="4473903"/>
            <a:ext cx="536605" cy="536605"/>
          </a:xfrm>
          <a:prstGeom prst="rect">
            <a:avLst/>
          </a:prstGeom>
        </p:spPr>
      </p:pic>
      <p:graphicFrame>
        <p:nvGraphicFramePr>
          <p:cNvPr id="273" name="Table">
            <a:extLst>
              <a:ext uri="{FF2B5EF4-FFF2-40B4-BE49-F238E27FC236}">
                <a16:creationId xmlns:a16="http://schemas.microsoft.com/office/drawing/2014/main" id="{DDA62467-24B5-197F-735E-35C2068F0FB3}"/>
              </a:ext>
            </a:extLst>
          </p:cNvPr>
          <p:cNvGraphicFramePr/>
          <p:nvPr>
            <p:extLst>
              <p:ext uri="{D42A27DB-BD31-4B8C-83A1-F6EECF244321}">
                <p14:modId xmlns:p14="http://schemas.microsoft.com/office/powerpoint/2010/main" val="4286195351"/>
              </p:ext>
            </p:extLst>
          </p:nvPr>
        </p:nvGraphicFramePr>
        <p:xfrm>
          <a:off x="648007" y="40891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74" name="TextBox 273">
            <a:extLst>
              <a:ext uri="{FF2B5EF4-FFF2-40B4-BE49-F238E27FC236}">
                <a16:creationId xmlns:a16="http://schemas.microsoft.com/office/drawing/2014/main" id="{CB391D59-3644-D319-295B-375B63292FC3}"/>
              </a:ext>
            </a:extLst>
          </p:cNvPr>
          <p:cNvSpPr txBox="1"/>
          <p:nvPr/>
        </p:nvSpPr>
        <p:spPr>
          <a:xfrm>
            <a:off x="444504" y="4711561"/>
            <a:ext cx="103487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err="1"/>
              <a:t>Github</a:t>
            </a:r>
            <a:r>
              <a:rPr lang="en-US" sz="1000" b="0" dirty="0"/>
              <a:t> 2020 CSV</a:t>
            </a:r>
          </a:p>
          <a:p>
            <a:pPr algn="ctr"/>
            <a:r>
              <a:rPr lang="en-US" sz="800" b="0" dirty="0"/>
              <a:t>Novielli et al. [1]</a:t>
            </a:r>
          </a:p>
        </p:txBody>
      </p:sp>
      <p:sp>
        <p:nvSpPr>
          <p:cNvPr id="275" name="TextBox 274">
            <a:extLst>
              <a:ext uri="{FF2B5EF4-FFF2-40B4-BE49-F238E27FC236}">
                <a16:creationId xmlns:a16="http://schemas.microsoft.com/office/drawing/2014/main" id="{43C78D58-9C1A-45CD-D396-E31FBD344E37}"/>
              </a:ext>
            </a:extLst>
          </p:cNvPr>
          <p:cNvSpPr txBox="1"/>
          <p:nvPr/>
        </p:nvSpPr>
        <p:spPr>
          <a:xfrm>
            <a:off x="7334956" y="5045761"/>
            <a:ext cx="72095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err="1"/>
              <a:t>sailuh</a:t>
            </a:r>
            <a:r>
              <a:rPr lang="en-US" sz="800" b="0" dirty="0"/>
              <a:t>/</a:t>
            </a:r>
            <a:r>
              <a:rPr lang="en-US" sz="800" b="0" dirty="0" err="1"/>
              <a:t>kaiaulu</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76" name="TextBox 275">
            <a:extLst>
              <a:ext uri="{FF2B5EF4-FFF2-40B4-BE49-F238E27FC236}">
                <a16:creationId xmlns:a16="http://schemas.microsoft.com/office/drawing/2014/main" id="{521C84D7-C062-BB21-2094-750E951A6BB7}"/>
              </a:ext>
            </a:extLst>
          </p:cNvPr>
          <p:cNvSpPr txBox="1"/>
          <p:nvPr/>
        </p:nvSpPr>
        <p:spPr>
          <a:xfrm>
            <a:off x="5368049" y="4613137"/>
            <a:ext cx="15549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77" name="Straight Arrow Connector 276">
            <a:extLst>
              <a:ext uri="{FF2B5EF4-FFF2-40B4-BE49-F238E27FC236}">
                <a16:creationId xmlns:a16="http://schemas.microsoft.com/office/drawing/2014/main" id="{839D3454-5BC8-9B46-86EF-18A838FF16E0}"/>
              </a:ext>
            </a:extLst>
          </p:cNvPr>
          <p:cNvCxnSpPr>
            <a:cxnSpLocks/>
          </p:cNvCxnSpPr>
          <p:nvPr/>
        </p:nvCxnSpPr>
        <p:spPr>
          <a:xfrm>
            <a:off x="6705969" y="4739740"/>
            <a:ext cx="520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8" name="Elbow Connector 277">
            <a:extLst>
              <a:ext uri="{FF2B5EF4-FFF2-40B4-BE49-F238E27FC236}">
                <a16:creationId xmlns:a16="http://schemas.microsoft.com/office/drawing/2014/main" id="{75DFE1AE-77A1-B1CC-D007-876093801216}"/>
              </a:ext>
            </a:extLst>
          </p:cNvPr>
          <p:cNvCxnSpPr>
            <a:cxnSpLocks/>
          </p:cNvCxnSpPr>
          <p:nvPr/>
        </p:nvCxnSpPr>
        <p:spPr>
          <a:xfrm rot="5400000">
            <a:off x="6980891" y="2693604"/>
            <a:ext cx="389103" cy="2253944"/>
          </a:xfrm>
          <a:prstGeom prst="bentConnector2">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79" name="Straight Arrow Connector 278">
            <a:extLst>
              <a:ext uri="{FF2B5EF4-FFF2-40B4-BE49-F238E27FC236}">
                <a16:creationId xmlns:a16="http://schemas.microsoft.com/office/drawing/2014/main" id="{908D04D8-C69A-5965-94DB-60215F069E0F}"/>
              </a:ext>
            </a:extLst>
          </p:cNvPr>
          <p:cNvCxnSpPr>
            <a:cxnSpLocks/>
          </p:cNvCxnSpPr>
          <p:nvPr/>
        </p:nvCxnSpPr>
        <p:spPr>
          <a:xfrm flipH="1">
            <a:off x="6048470" y="4019531"/>
            <a:ext cx="1" cy="454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0" name="Elbow Connector 279">
            <a:extLst>
              <a:ext uri="{FF2B5EF4-FFF2-40B4-BE49-F238E27FC236}">
                <a16:creationId xmlns:a16="http://schemas.microsoft.com/office/drawing/2014/main" id="{4CA6B0AF-842F-AB9B-BF3C-2AD8FC2BDE43}"/>
              </a:ext>
            </a:extLst>
          </p:cNvPr>
          <p:cNvCxnSpPr>
            <a:cxnSpLocks/>
            <a:stCxn id="26" idx="1"/>
          </p:cNvCxnSpPr>
          <p:nvPr/>
        </p:nvCxnSpPr>
        <p:spPr>
          <a:xfrm rot="10800000" flipV="1">
            <a:off x="5047051" y="3470167"/>
            <a:ext cx="2546242" cy="338701"/>
          </a:xfrm>
          <a:prstGeom prst="bentConnector3">
            <a:avLst>
              <a:gd name="adj1" fmla="val 13253"/>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1" name="Straight Arrow Connector 280">
            <a:extLst>
              <a:ext uri="{FF2B5EF4-FFF2-40B4-BE49-F238E27FC236}">
                <a16:creationId xmlns:a16="http://schemas.microsoft.com/office/drawing/2014/main" id="{EBE77CB1-3239-D93E-3213-BAD28977DAE6}"/>
              </a:ext>
            </a:extLst>
          </p:cNvPr>
          <p:cNvCxnSpPr>
            <a:cxnSpLocks/>
          </p:cNvCxnSpPr>
          <p:nvPr/>
        </p:nvCxnSpPr>
        <p:spPr>
          <a:xfrm>
            <a:off x="5047052" y="3809205"/>
            <a:ext cx="0" cy="655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2" name="TextBox 281">
            <a:extLst>
              <a:ext uri="{FF2B5EF4-FFF2-40B4-BE49-F238E27FC236}">
                <a16:creationId xmlns:a16="http://schemas.microsoft.com/office/drawing/2014/main" id="{9AD205A5-D436-15BC-C1BB-E01C27FB025E}"/>
              </a:ext>
            </a:extLst>
          </p:cNvPr>
          <p:cNvSpPr txBox="1"/>
          <p:nvPr/>
        </p:nvSpPr>
        <p:spPr>
          <a:xfrm>
            <a:off x="4719773" y="9025990"/>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283" name="Group 282">
            <a:extLst>
              <a:ext uri="{FF2B5EF4-FFF2-40B4-BE49-F238E27FC236}">
                <a16:creationId xmlns:a16="http://schemas.microsoft.com/office/drawing/2014/main" id="{5C58E4CC-65F0-63C9-C1CD-2EC4384BBFD7}"/>
              </a:ext>
            </a:extLst>
          </p:cNvPr>
          <p:cNvGrpSpPr/>
          <p:nvPr/>
        </p:nvGrpSpPr>
        <p:grpSpPr>
          <a:xfrm>
            <a:off x="5523840" y="8584638"/>
            <a:ext cx="953200" cy="458010"/>
            <a:chOff x="5528605" y="4530831"/>
            <a:chExt cx="953200" cy="458010"/>
          </a:xfrm>
        </p:grpSpPr>
        <p:graphicFrame>
          <p:nvGraphicFramePr>
            <p:cNvPr id="284" name="Table">
              <a:extLst>
                <a:ext uri="{FF2B5EF4-FFF2-40B4-BE49-F238E27FC236}">
                  <a16:creationId xmlns:a16="http://schemas.microsoft.com/office/drawing/2014/main" id="{3B304CC0-EB31-13A1-3C24-810C7BCEC6A3}"/>
                </a:ext>
              </a:extLst>
            </p:cNvPr>
            <p:cNvGraphicFramePr/>
            <p:nvPr>
              <p:extLst>
                <p:ext uri="{D42A27DB-BD31-4B8C-83A1-F6EECF244321}">
                  <p14:modId xmlns:p14="http://schemas.microsoft.com/office/powerpoint/2010/main" val="1077149104"/>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285" name="Table">
              <a:extLst>
                <a:ext uri="{FF2B5EF4-FFF2-40B4-BE49-F238E27FC236}">
                  <a16:creationId xmlns:a16="http://schemas.microsoft.com/office/drawing/2014/main" id="{B6B9C865-73B2-1C03-565D-8A89FDEF73B1}"/>
                </a:ext>
              </a:extLst>
            </p:cNvPr>
            <p:cNvGraphicFramePr/>
            <p:nvPr>
              <p:extLst>
                <p:ext uri="{D42A27DB-BD31-4B8C-83A1-F6EECF244321}">
                  <p14:modId xmlns:p14="http://schemas.microsoft.com/office/powerpoint/2010/main" val="2454112222"/>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sp>
        <p:nvSpPr>
          <p:cNvPr id="286" name="TextBox 285">
            <a:extLst>
              <a:ext uri="{FF2B5EF4-FFF2-40B4-BE49-F238E27FC236}">
                <a16:creationId xmlns:a16="http://schemas.microsoft.com/office/drawing/2014/main" id="{7779784B-4FB4-C42C-7727-785B12F7FA5B}"/>
              </a:ext>
            </a:extLst>
          </p:cNvPr>
          <p:cNvSpPr txBox="1"/>
          <p:nvPr/>
        </p:nvSpPr>
        <p:spPr>
          <a:xfrm>
            <a:off x="5298012" y="9024372"/>
            <a:ext cx="139124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Jira Emotion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287" name="Group 286">
            <a:extLst>
              <a:ext uri="{FF2B5EF4-FFF2-40B4-BE49-F238E27FC236}">
                <a16:creationId xmlns:a16="http://schemas.microsoft.com/office/drawing/2014/main" id="{EBF22B6D-BBA3-1658-9845-0062780D361B}"/>
              </a:ext>
            </a:extLst>
          </p:cNvPr>
          <p:cNvGrpSpPr/>
          <p:nvPr/>
        </p:nvGrpSpPr>
        <p:grpSpPr>
          <a:xfrm>
            <a:off x="8527164" y="8193234"/>
            <a:ext cx="569700" cy="1688313"/>
            <a:chOff x="8715063" y="3858862"/>
            <a:chExt cx="569700" cy="1688313"/>
          </a:xfrm>
        </p:grpSpPr>
        <p:sp>
          <p:nvSpPr>
            <p:cNvPr id="288" name="Google Shape;324;p18">
              <a:extLst>
                <a:ext uri="{FF2B5EF4-FFF2-40B4-BE49-F238E27FC236}">
                  <a16:creationId xmlns:a16="http://schemas.microsoft.com/office/drawing/2014/main" id="{13679901-9E57-D744-7A2C-9E53BF54A157}"/>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289" name="Google Shape;359;p18">
              <a:extLst>
                <a:ext uri="{FF2B5EF4-FFF2-40B4-BE49-F238E27FC236}">
                  <a16:creationId xmlns:a16="http://schemas.microsoft.com/office/drawing/2014/main" id="{82FFCBAE-59C4-2AA4-01A4-04198FF57795}"/>
                </a:ext>
              </a:extLst>
            </p:cNvPr>
            <p:cNvGrpSpPr/>
            <p:nvPr/>
          </p:nvGrpSpPr>
          <p:grpSpPr>
            <a:xfrm>
              <a:off x="8838265" y="4043887"/>
              <a:ext cx="307200" cy="189300"/>
              <a:chOff x="3007175" y="1757600"/>
              <a:chExt cx="307200" cy="189300"/>
            </a:xfrm>
          </p:grpSpPr>
          <p:sp>
            <p:nvSpPr>
              <p:cNvPr id="316" name="Google Shape;360;p18">
                <a:extLst>
                  <a:ext uri="{FF2B5EF4-FFF2-40B4-BE49-F238E27FC236}">
                    <a16:creationId xmlns:a16="http://schemas.microsoft.com/office/drawing/2014/main" id="{D56E624B-A583-BAC7-0190-E542CD224D04}"/>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7" name="Google Shape;361;p18">
                <a:extLst>
                  <a:ext uri="{FF2B5EF4-FFF2-40B4-BE49-F238E27FC236}">
                    <a16:creationId xmlns:a16="http://schemas.microsoft.com/office/drawing/2014/main" id="{34E89FBF-8BBB-F666-CD47-62A3838A6A78}"/>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8" name="Google Shape;362;p18">
                <a:extLst>
                  <a:ext uri="{FF2B5EF4-FFF2-40B4-BE49-F238E27FC236}">
                    <a16:creationId xmlns:a16="http://schemas.microsoft.com/office/drawing/2014/main" id="{3B9F7557-F6D8-9AE4-5396-52B62277C347}"/>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9" name="Google Shape;363;p18">
                <a:extLst>
                  <a:ext uri="{FF2B5EF4-FFF2-40B4-BE49-F238E27FC236}">
                    <a16:creationId xmlns:a16="http://schemas.microsoft.com/office/drawing/2014/main" id="{E5899EDE-6D17-1FA6-F4E2-FBC4ABB89202}"/>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20" name="Google Shape;364;p18">
                <a:extLst>
                  <a:ext uri="{FF2B5EF4-FFF2-40B4-BE49-F238E27FC236}">
                    <a16:creationId xmlns:a16="http://schemas.microsoft.com/office/drawing/2014/main" id="{1A6FCDEC-C964-F841-2780-76C5108CE810}"/>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21" name="Google Shape;365;p18">
                <a:extLst>
                  <a:ext uri="{FF2B5EF4-FFF2-40B4-BE49-F238E27FC236}">
                    <a16:creationId xmlns:a16="http://schemas.microsoft.com/office/drawing/2014/main" id="{C6A0564A-F121-A8D9-4B72-8E4FD636ACC5}"/>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22" name="Google Shape;366;p18">
                <a:extLst>
                  <a:ext uri="{FF2B5EF4-FFF2-40B4-BE49-F238E27FC236}">
                    <a16:creationId xmlns:a16="http://schemas.microsoft.com/office/drawing/2014/main" id="{31E44D08-145B-20EE-72E0-CD3940910AC1}"/>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290" name="Google Shape;367;p18">
              <a:extLst>
                <a:ext uri="{FF2B5EF4-FFF2-40B4-BE49-F238E27FC236}">
                  <a16:creationId xmlns:a16="http://schemas.microsoft.com/office/drawing/2014/main" id="{DED4CCE4-A20F-90D4-B3F8-6FC09ECD2338}"/>
                </a:ext>
              </a:extLst>
            </p:cNvPr>
            <p:cNvGrpSpPr/>
            <p:nvPr/>
          </p:nvGrpSpPr>
          <p:grpSpPr>
            <a:xfrm>
              <a:off x="8838252" y="4387350"/>
              <a:ext cx="307200" cy="189300"/>
              <a:chOff x="3007175" y="1757600"/>
              <a:chExt cx="307200" cy="189300"/>
            </a:xfrm>
          </p:grpSpPr>
          <p:sp>
            <p:nvSpPr>
              <p:cNvPr id="308" name="Google Shape;368;p18">
                <a:extLst>
                  <a:ext uri="{FF2B5EF4-FFF2-40B4-BE49-F238E27FC236}">
                    <a16:creationId xmlns:a16="http://schemas.microsoft.com/office/drawing/2014/main" id="{15A519F8-85F6-7FC4-E74C-E605778F0039}"/>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9" name="Google Shape;369;p18">
                <a:extLst>
                  <a:ext uri="{FF2B5EF4-FFF2-40B4-BE49-F238E27FC236}">
                    <a16:creationId xmlns:a16="http://schemas.microsoft.com/office/drawing/2014/main" id="{B6E9E551-AA35-47D5-A411-C6024F295E3C}"/>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0" name="Google Shape;370;p18">
                <a:extLst>
                  <a:ext uri="{FF2B5EF4-FFF2-40B4-BE49-F238E27FC236}">
                    <a16:creationId xmlns:a16="http://schemas.microsoft.com/office/drawing/2014/main" id="{49BD76B9-63E3-039A-964C-2E8A63A3495A}"/>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1" name="Google Shape;371;p18">
                <a:extLst>
                  <a:ext uri="{FF2B5EF4-FFF2-40B4-BE49-F238E27FC236}">
                    <a16:creationId xmlns:a16="http://schemas.microsoft.com/office/drawing/2014/main" id="{9C0B54F8-A68C-C7F6-58CA-37678344E170}"/>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13" name="Google Shape;372;p18">
                <a:extLst>
                  <a:ext uri="{FF2B5EF4-FFF2-40B4-BE49-F238E27FC236}">
                    <a16:creationId xmlns:a16="http://schemas.microsoft.com/office/drawing/2014/main" id="{0D5E3B71-E53B-2EE4-49CD-D951563FA131}"/>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14" name="Google Shape;373;p18">
                <a:extLst>
                  <a:ext uri="{FF2B5EF4-FFF2-40B4-BE49-F238E27FC236}">
                    <a16:creationId xmlns:a16="http://schemas.microsoft.com/office/drawing/2014/main" id="{200531C0-A52B-2CCE-9B7C-F0062D4FF91D}"/>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15" name="Google Shape;374;p18">
                <a:extLst>
                  <a:ext uri="{FF2B5EF4-FFF2-40B4-BE49-F238E27FC236}">
                    <a16:creationId xmlns:a16="http://schemas.microsoft.com/office/drawing/2014/main" id="{F24A2A19-CFA7-D4F4-01F5-F7EE9BA7A604}"/>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291" name="Google Shape;375;p18">
              <a:extLst>
                <a:ext uri="{FF2B5EF4-FFF2-40B4-BE49-F238E27FC236}">
                  <a16:creationId xmlns:a16="http://schemas.microsoft.com/office/drawing/2014/main" id="{40CAB0A5-7134-79BA-DD2D-D7CB7808409C}"/>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GitHub</a:t>
              </a:r>
              <a:endParaRPr sz="686">
                <a:solidFill>
                  <a:schemeClr val="dk2"/>
                </a:solidFill>
                <a:latin typeface="Source Sans 3"/>
                <a:ea typeface="Source Sans 3"/>
                <a:cs typeface="Source Sans 3"/>
                <a:sym typeface="Source Sans 3"/>
              </a:endParaRPr>
            </a:p>
          </p:txBody>
        </p:sp>
        <p:sp>
          <p:nvSpPr>
            <p:cNvPr id="293" name="Google Shape;376;p18">
              <a:extLst>
                <a:ext uri="{FF2B5EF4-FFF2-40B4-BE49-F238E27FC236}">
                  <a16:creationId xmlns:a16="http://schemas.microsoft.com/office/drawing/2014/main" id="{0F4E8F6A-F35E-4241-6022-0AD4ADC99C90}"/>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294" name="Google Shape;377;p18">
              <a:extLst>
                <a:ext uri="{FF2B5EF4-FFF2-40B4-BE49-F238E27FC236}">
                  <a16:creationId xmlns:a16="http://schemas.microsoft.com/office/drawing/2014/main" id="{42B22B07-48CC-D068-C01D-04111A653EE6}"/>
                </a:ext>
              </a:extLst>
            </p:cNvPr>
            <p:cNvGrpSpPr/>
            <p:nvPr/>
          </p:nvGrpSpPr>
          <p:grpSpPr>
            <a:xfrm>
              <a:off x="8846302" y="4841125"/>
              <a:ext cx="307200" cy="297900"/>
              <a:chOff x="3021975" y="2389850"/>
              <a:chExt cx="307200" cy="297900"/>
            </a:xfrm>
          </p:grpSpPr>
          <p:sp>
            <p:nvSpPr>
              <p:cNvPr id="298" name="Google Shape;378;p18">
                <a:extLst>
                  <a:ext uri="{FF2B5EF4-FFF2-40B4-BE49-F238E27FC236}">
                    <a16:creationId xmlns:a16="http://schemas.microsoft.com/office/drawing/2014/main" id="{1A4CFAFF-586E-DC50-12C9-20977D9E4486}"/>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99" name="Google Shape;379;p18">
                <a:extLst>
                  <a:ext uri="{FF2B5EF4-FFF2-40B4-BE49-F238E27FC236}">
                    <a16:creationId xmlns:a16="http://schemas.microsoft.com/office/drawing/2014/main" id="{0F8465C2-46B5-0B02-340C-393431355228}"/>
                  </a:ext>
                </a:extLst>
              </p:cNvPr>
              <p:cNvGrpSpPr/>
              <p:nvPr/>
            </p:nvGrpSpPr>
            <p:grpSpPr>
              <a:xfrm>
                <a:off x="3021975" y="2389850"/>
                <a:ext cx="307200" cy="295800"/>
                <a:chOff x="3021975" y="2389850"/>
                <a:chExt cx="307200" cy="295800"/>
              </a:xfrm>
            </p:grpSpPr>
            <p:sp>
              <p:nvSpPr>
                <p:cNvPr id="300" name="Google Shape;380;p18">
                  <a:extLst>
                    <a:ext uri="{FF2B5EF4-FFF2-40B4-BE49-F238E27FC236}">
                      <a16:creationId xmlns:a16="http://schemas.microsoft.com/office/drawing/2014/main" id="{F51651A2-14E2-492F-386A-D080895EF33D}"/>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1" name="Google Shape;381;p18">
                  <a:extLst>
                    <a:ext uri="{FF2B5EF4-FFF2-40B4-BE49-F238E27FC236}">
                      <a16:creationId xmlns:a16="http://schemas.microsoft.com/office/drawing/2014/main" id="{2204DDD5-ADB0-61FD-722A-9907E6566844}"/>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02" name="Google Shape;382;p18">
                  <a:extLst>
                    <a:ext uri="{FF2B5EF4-FFF2-40B4-BE49-F238E27FC236}">
                      <a16:creationId xmlns:a16="http://schemas.microsoft.com/office/drawing/2014/main" id="{2A17721C-24BB-E9F2-1709-FD2B83D48464}"/>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03" name="Google Shape;383;p18">
                  <a:extLst>
                    <a:ext uri="{FF2B5EF4-FFF2-40B4-BE49-F238E27FC236}">
                      <a16:creationId xmlns:a16="http://schemas.microsoft.com/office/drawing/2014/main" id="{BD024C65-37BB-786F-1D0A-4CF021235BFF}"/>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04" name="Google Shape;384;p18">
                  <a:extLst>
                    <a:ext uri="{FF2B5EF4-FFF2-40B4-BE49-F238E27FC236}">
                      <a16:creationId xmlns:a16="http://schemas.microsoft.com/office/drawing/2014/main" id="{0ABEFBC4-E498-305F-2472-179BD5BFBC8E}"/>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05" name="Google Shape;385;p18">
                  <a:extLst>
                    <a:ext uri="{FF2B5EF4-FFF2-40B4-BE49-F238E27FC236}">
                      <a16:creationId xmlns:a16="http://schemas.microsoft.com/office/drawing/2014/main" id="{3D1FDC18-5485-E40B-0045-14FF67E69459}"/>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06" name="Google Shape;386;p18">
                  <a:extLst>
                    <a:ext uri="{FF2B5EF4-FFF2-40B4-BE49-F238E27FC236}">
                      <a16:creationId xmlns:a16="http://schemas.microsoft.com/office/drawing/2014/main" id="{6BDFF552-F6FB-4A18-5198-A48A60FA3DF4}"/>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07" name="Google Shape;387;p18">
                  <a:extLst>
                    <a:ext uri="{FF2B5EF4-FFF2-40B4-BE49-F238E27FC236}">
                      <a16:creationId xmlns:a16="http://schemas.microsoft.com/office/drawing/2014/main" id="{925E21A8-0CFB-C11C-D166-E67015FDDBB8}"/>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295" name="Google Shape;388;p18">
              <a:extLst>
                <a:ext uri="{FF2B5EF4-FFF2-40B4-BE49-F238E27FC236}">
                  <a16:creationId xmlns:a16="http://schemas.microsoft.com/office/drawing/2014/main" id="{2ADA8BEB-8DF3-D3AD-CB18-397E7FCFAD55}"/>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cxnSp>
          <p:nvCxnSpPr>
            <p:cNvPr id="296" name="Google Shape;389;p18">
              <a:extLst>
                <a:ext uri="{FF2B5EF4-FFF2-40B4-BE49-F238E27FC236}">
                  <a16:creationId xmlns:a16="http://schemas.microsoft.com/office/drawing/2014/main" id="{93EF0DBB-8D0A-04CB-4620-862D53D8B2A6}"/>
                </a:ext>
              </a:extLst>
            </p:cNvPr>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297" name="Google Shape;390;p18">
              <a:extLst>
                <a:ext uri="{FF2B5EF4-FFF2-40B4-BE49-F238E27FC236}">
                  <a16:creationId xmlns:a16="http://schemas.microsoft.com/office/drawing/2014/main" id="{28759D39-C4D0-25E9-A2EA-826C7A04E733}"/>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323" name="Graphic 322" descr="Paper outline">
            <a:extLst>
              <a:ext uri="{FF2B5EF4-FFF2-40B4-BE49-F238E27FC236}">
                <a16:creationId xmlns:a16="http://schemas.microsoft.com/office/drawing/2014/main" id="{FF5BC969-BFE0-1E77-04BF-5712611F62D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32598" y="8538023"/>
            <a:ext cx="536605" cy="536605"/>
          </a:xfrm>
          <a:prstGeom prst="rect">
            <a:avLst/>
          </a:prstGeom>
        </p:spPr>
      </p:pic>
      <p:sp>
        <p:nvSpPr>
          <p:cNvPr id="324" name="TextBox 323">
            <a:extLst>
              <a:ext uri="{FF2B5EF4-FFF2-40B4-BE49-F238E27FC236}">
                <a16:creationId xmlns:a16="http://schemas.microsoft.com/office/drawing/2014/main" id="{F9E0403D-11B0-0427-6635-E9874A3E4B3D}"/>
              </a:ext>
            </a:extLst>
          </p:cNvPr>
          <p:cNvSpPr txBox="1"/>
          <p:nvPr/>
        </p:nvSpPr>
        <p:spPr>
          <a:xfrm>
            <a:off x="5277476" y="8649598"/>
            <a:ext cx="15549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25" name="Straight Arrow Connector 324">
            <a:extLst>
              <a:ext uri="{FF2B5EF4-FFF2-40B4-BE49-F238E27FC236}">
                <a16:creationId xmlns:a16="http://schemas.microsoft.com/office/drawing/2014/main" id="{2BFB5E1F-7A47-CE7D-921E-EFD9385299AE}"/>
              </a:ext>
            </a:extLst>
          </p:cNvPr>
          <p:cNvCxnSpPr>
            <a:cxnSpLocks/>
          </p:cNvCxnSpPr>
          <p:nvPr/>
        </p:nvCxnSpPr>
        <p:spPr>
          <a:xfrm>
            <a:off x="6558302" y="8803860"/>
            <a:ext cx="520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6" name="Straight Arrow Connector 325">
            <a:extLst>
              <a:ext uri="{FF2B5EF4-FFF2-40B4-BE49-F238E27FC236}">
                <a16:creationId xmlns:a16="http://schemas.microsoft.com/office/drawing/2014/main" id="{957F8F91-AC03-21B6-00ED-E19853AA56CB}"/>
              </a:ext>
            </a:extLst>
          </p:cNvPr>
          <p:cNvCxnSpPr>
            <a:cxnSpLocks/>
          </p:cNvCxnSpPr>
          <p:nvPr/>
        </p:nvCxnSpPr>
        <p:spPr>
          <a:xfrm flipH="1">
            <a:off x="5962447" y="8083651"/>
            <a:ext cx="1" cy="454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7" name="Elbow Connector 326">
            <a:extLst>
              <a:ext uri="{FF2B5EF4-FFF2-40B4-BE49-F238E27FC236}">
                <a16:creationId xmlns:a16="http://schemas.microsoft.com/office/drawing/2014/main" id="{D68EF2E2-75E3-C330-5255-A21818443129}"/>
              </a:ext>
            </a:extLst>
          </p:cNvPr>
          <p:cNvCxnSpPr>
            <a:cxnSpLocks/>
            <a:stCxn id="37" idx="1"/>
          </p:cNvCxnSpPr>
          <p:nvPr/>
        </p:nvCxnSpPr>
        <p:spPr>
          <a:xfrm rot="10800000" flipV="1">
            <a:off x="4988401" y="7549377"/>
            <a:ext cx="2570639" cy="340269"/>
          </a:xfrm>
          <a:prstGeom prst="bentConnector3">
            <a:avLst>
              <a:gd name="adj1" fmla="val 8758"/>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8" name="Straight Arrow Connector 327">
            <a:extLst>
              <a:ext uri="{FF2B5EF4-FFF2-40B4-BE49-F238E27FC236}">
                <a16:creationId xmlns:a16="http://schemas.microsoft.com/office/drawing/2014/main" id="{4D6C9707-B1BC-B065-0927-1D10D2FED4DA}"/>
              </a:ext>
            </a:extLst>
          </p:cNvPr>
          <p:cNvCxnSpPr>
            <a:cxnSpLocks/>
          </p:cNvCxnSpPr>
          <p:nvPr/>
        </p:nvCxnSpPr>
        <p:spPr>
          <a:xfrm>
            <a:off x="4988395" y="7887589"/>
            <a:ext cx="0" cy="655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9" name="Elbow Connector 328">
            <a:extLst>
              <a:ext uri="{FF2B5EF4-FFF2-40B4-BE49-F238E27FC236}">
                <a16:creationId xmlns:a16="http://schemas.microsoft.com/office/drawing/2014/main" id="{2851A7EE-0EC6-AD5F-33BF-51F620083270}"/>
              </a:ext>
            </a:extLst>
          </p:cNvPr>
          <p:cNvCxnSpPr>
            <a:cxnSpLocks/>
          </p:cNvCxnSpPr>
          <p:nvPr/>
        </p:nvCxnSpPr>
        <p:spPr>
          <a:xfrm rot="10800000" flipV="1">
            <a:off x="5962448" y="7689643"/>
            <a:ext cx="2330535" cy="395891"/>
          </a:xfrm>
          <a:prstGeom prst="bentConnector3">
            <a:avLst>
              <a:gd name="adj1" fmla="val 138"/>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0" name="Straight Arrow Connector 329">
            <a:extLst>
              <a:ext uri="{FF2B5EF4-FFF2-40B4-BE49-F238E27FC236}">
                <a16:creationId xmlns:a16="http://schemas.microsoft.com/office/drawing/2014/main" id="{B371B14F-6651-D19B-DBAD-8017C15F6032}"/>
              </a:ext>
            </a:extLst>
          </p:cNvPr>
          <p:cNvCxnSpPr>
            <a:cxnSpLocks/>
          </p:cNvCxnSpPr>
          <p:nvPr/>
        </p:nvCxnSpPr>
        <p:spPr>
          <a:xfrm>
            <a:off x="8042038" y="8798069"/>
            <a:ext cx="4914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1" name="Can 330">
            <a:extLst>
              <a:ext uri="{FF2B5EF4-FFF2-40B4-BE49-F238E27FC236}">
                <a16:creationId xmlns:a16="http://schemas.microsoft.com/office/drawing/2014/main" id="{362FDFC8-F6B5-3CB3-BDB9-6B1DAB8B91FD}"/>
              </a:ext>
            </a:extLst>
          </p:cNvPr>
          <p:cNvSpPr/>
          <p:nvPr/>
        </p:nvSpPr>
        <p:spPr>
          <a:xfrm>
            <a:off x="2161726" y="4087963"/>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32" name="TextBox 331">
            <a:extLst>
              <a:ext uri="{FF2B5EF4-FFF2-40B4-BE49-F238E27FC236}">
                <a16:creationId xmlns:a16="http://schemas.microsoft.com/office/drawing/2014/main" id="{1104BEE6-9AB2-35DE-4A1A-7F22AD3D1921}"/>
              </a:ext>
            </a:extLst>
          </p:cNvPr>
          <p:cNvSpPr txBox="1"/>
          <p:nvPr/>
        </p:nvSpPr>
        <p:spPr>
          <a:xfrm>
            <a:off x="1691738" y="4702673"/>
            <a:ext cx="144929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err="1"/>
              <a:t>GHTorrent</a:t>
            </a:r>
            <a:r>
              <a:rPr lang="en-US" sz="1000" b="0" dirty="0"/>
              <a:t> 2014 DB</a:t>
            </a:r>
          </a:p>
          <a:p>
            <a:pPr algn="ctr"/>
            <a:r>
              <a:rPr lang="en-US" sz="800" b="0" dirty="0"/>
              <a:t>MSR Challenge [2]</a:t>
            </a:r>
          </a:p>
        </p:txBody>
      </p:sp>
      <p:sp>
        <p:nvSpPr>
          <p:cNvPr id="333" name="Line">
            <a:extLst>
              <a:ext uri="{FF2B5EF4-FFF2-40B4-BE49-F238E27FC236}">
                <a16:creationId xmlns:a16="http://schemas.microsoft.com/office/drawing/2014/main" id="{EE450070-60BA-3D0C-207E-52FC536F3FBE}"/>
              </a:ext>
            </a:extLst>
          </p:cNvPr>
          <p:cNvSpPr/>
          <p:nvPr/>
        </p:nvSpPr>
        <p:spPr>
          <a:xfrm flipV="1">
            <a:off x="252723" y="5254841"/>
            <a:ext cx="3367943" cy="0"/>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aphicFrame>
        <p:nvGraphicFramePr>
          <p:cNvPr id="334" name="Table">
            <a:extLst>
              <a:ext uri="{FF2B5EF4-FFF2-40B4-BE49-F238E27FC236}">
                <a16:creationId xmlns:a16="http://schemas.microsoft.com/office/drawing/2014/main" id="{5214D712-7B7D-2EE1-6806-1FBD33548C7B}"/>
              </a:ext>
            </a:extLst>
          </p:cNvPr>
          <p:cNvGraphicFramePr/>
          <p:nvPr>
            <p:extLst>
              <p:ext uri="{D42A27DB-BD31-4B8C-83A1-F6EECF244321}">
                <p14:modId xmlns:p14="http://schemas.microsoft.com/office/powerpoint/2010/main" val="4259381672"/>
              </p:ext>
            </p:extLst>
          </p:nvPr>
        </p:nvGraphicFramePr>
        <p:xfrm>
          <a:off x="637915" y="5447796"/>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335" name="TextBox 334">
            <a:extLst>
              <a:ext uri="{FF2B5EF4-FFF2-40B4-BE49-F238E27FC236}">
                <a16:creationId xmlns:a16="http://schemas.microsoft.com/office/drawing/2014/main" id="{371D2CC4-04C3-A31C-EAD5-489DD3137E20}"/>
              </a:ext>
            </a:extLst>
          </p:cNvPr>
          <p:cNvSpPr txBox="1"/>
          <p:nvPr/>
        </p:nvSpPr>
        <p:spPr>
          <a:xfrm>
            <a:off x="275721" y="6080333"/>
            <a:ext cx="1349115"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Emotion 2016 CSV</a:t>
            </a:r>
          </a:p>
          <a:p>
            <a:pPr algn="ctr"/>
            <a:r>
              <a:rPr lang="en-US" sz="800" b="0" dirty="0"/>
              <a:t>Ortu et al. [3]</a:t>
            </a:r>
          </a:p>
        </p:txBody>
      </p:sp>
      <p:sp>
        <p:nvSpPr>
          <p:cNvPr id="336" name="TextBox 335">
            <a:extLst>
              <a:ext uri="{FF2B5EF4-FFF2-40B4-BE49-F238E27FC236}">
                <a16:creationId xmlns:a16="http://schemas.microsoft.com/office/drawing/2014/main" id="{3C80E5F5-B433-574E-7605-BFBA8054196E}"/>
              </a:ext>
            </a:extLst>
          </p:cNvPr>
          <p:cNvSpPr txBox="1"/>
          <p:nvPr/>
        </p:nvSpPr>
        <p:spPr>
          <a:xfrm>
            <a:off x="1667267" y="6096367"/>
            <a:ext cx="144929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a:t>Jira PostgreSQL 2016 DB</a:t>
            </a:r>
          </a:p>
          <a:p>
            <a:pPr algn="ctr"/>
            <a:r>
              <a:rPr lang="en-US" sz="800" b="0" dirty="0"/>
              <a:t>MSR Challenge [4]</a:t>
            </a:r>
          </a:p>
        </p:txBody>
      </p:sp>
      <p:sp>
        <p:nvSpPr>
          <p:cNvPr id="337" name="TextBox 336">
            <a:extLst>
              <a:ext uri="{FF2B5EF4-FFF2-40B4-BE49-F238E27FC236}">
                <a16:creationId xmlns:a16="http://schemas.microsoft.com/office/drawing/2014/main" id="{DDADC910-9A50-AE07-0483-789C9FAB4468}"/>
              </a:ext>
            </a:extLst>
          </p:cNvPr>
          <p:cNvSpPr txBox="1"/>
          <p:nvPr/>
        </p:nvSpPr>
        <p:spPr>
          <a:xfrm>
            <a:off x="9468971" y="9437117"/>
            <a:ext cx="4207266" cy="8591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600" b="0" dirty="0"/>
              <a:t>[1] N. Novielli, Fabio Calefato, Davide </a:t>
            </a:r>
            <a:r>
              <a:rPr lang="en-US" sz="600" b="0" dirty="0" err="1"/>
              <a:t>Dongiovanni</a:t>
            </a:r>
            <a:r>
              <a:rPr lang="en-US" sz="600" b="0" dirty="0"/>
              <a:t>, D. Girardi, and Filippo Lanubile, “Can We Use SE-specific Sentiment Analysis Tools in a Cross-Platform Setting?,” Jun. 2020, </a:t>
            </a:r>
            <a:r>
              <a:rPr lang="en-US" sz="600" b="0" dirty="0" err="1"/>
              <a:t>doi</a:t>
            </a:r>
            <a:r>
              <a:rPr lang="en-US" sz="600" b="0" dirty="0"/>
              <a:t>: https://doi.org/10.1145/3379597.3387446. </a:t>
            </a:r>
          </a:p>
          <a:p>
            <a:r>
              <a:rPr lang="en-US" sz="600" b="0" dirty="0"/>
              <a:t>[2]https://web.archive.org/web/20210224080543/http://ansymore.uantwerpen.be/system/files/uploads/artefacts/alessandro/MSR16/archive3.zip</a:t>
            </a:r>
          </a:p>
          <a:p>
            <a:r>
              <a:rPr lang="en-US" sz="600" b="0" dirty="0"/>
              <a:t>[3] M. Ortu </a:t>
            </a:r>
            <a:r>
              <a:rPr lang="en-US" sz="600" b="0" i="1" dirty="0"/>
              <a:t>et al.</a:t>
            </a:r>
            <a:r>
              <a:rPr lang="en-US" sz="600" b="0" dirty="0"/>
              <a:t>, “The emotional side of software developers in JIRA,” </a:t>
            </a:r>
            <a:r>
              <a:rPr lang="en-US" sz="600" b="0" i="1" dirty="0"/>
              <a:t>Proceedings of the 13th International Conference on Mining Software Repositories</a:t>
            </a:r>
            <a:r>
              <a:rPr lang="en-US" sz="600" b="0" dirty="0"/>
              <a:t>, May 2016, </a:t>
            </a:r>
            <a:r>
              <a:rPr lang="en-US" sz="600" b="0" dirty="0" err="1"/>
              <a:t>doi</a:t>
            </a:r>
            <a:r>
              <a:rPr lang="en-US" sz="600" b="0" dirty="0"/>
              <a:t>: https://doi.org/10.1145/2901739.2903505. </a:t>
            </a:r>
          </a:p>
          <a:p>
            <a:r>
              <a:rPr lang="en-US" sz="600" b="0" dirty="0"/>
              <a:t>[4]https://web.archive.org/web/20150206005357/http://ghtorrent.org/msr14.html </a:t>
            </a:r>
          </a:p>
        </p:txBody>
      </p:sp>
      <p:grpSp>
        <p:nvGrpSpPr>
          <p:cNvPr id="338" name="Group 337">
            <a:extLst>
              <a:ext uri="{FF2B5EF4-FFF2-40B4-BE49-F238E27FC236}">
                <a16:creationId xmlns:a16="http://schemas.microsoft.com/office/drawing/2014/main" id="{76001BCC-6A66-38AA-14C2-F77FAFD2D548}"/>
              </a:ext>
            </a:extLst>
          </p:cNvPr>
          <p:cNvGrpSpPr/>
          <p:nvPr/>
        </p:nvGrpSpPr>
        <p:grpSpPr>
          <a:xfrm>
            <a:off x="9716135" y="7200213"/>
            <a:ext cx="3656845" cy="2142989"/>
            <a:chOff x="8476178" y="1075788"/>
            <a:chExt cx="3245700" cy="1935357"/>
          </a:xfrm>
        </p:grpSpPr>
        <p:sp>
          <p:nvSpPr>
            <p:cNvPr id="339" name="Google Shape;324;p18">
              <a:extLst>
                <a:ext uri="{FF2B5EF4-FFF2-40B4-BE49-F238E27FC236}">
                  <a16:creationId xmlns:a16="http://schemas.microsoft.com/office/drawing/2014/main" id="{611D804B-2287-E4FB-3D18-43AF6126A428}"/>
                </a:ext>
              </a:extLst>
            </p:cNvPr>
            <p:cNvSpPr/>
            <p:nvPr/>
          </p:nvSpPr>
          <p:spPr>
            <a:xfrm>
              <a:off x="8547103" y="133324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sp>
          <p:nvSpPr>
            <p:cNvPr id="340" name="Google Shape;325;p18">
              <a:extLst>
                <a:ext uri="{FF2B5EF4-FFF2-40B4-BE49-F238E27FC236}">
                  <a16:creationId xmlns:a16="http://schemas.microsoft.com/office/drawing/2014/main" id="{00665B73-50A0-3176-004C-6E307BD6B854}"/>
                </a:ext>
              </a:extLst>
            </p:cNvPr>
            <p:cNvSpPr txBox="1"/>
            <p:nvPr/>
          </p:nvSpPr>
          <p:spPr>
            <a:xfrm>
              <a:off x="8512875" y="1160558"/>
              <a:ext cx="5898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Comments</a:t>
              </a:r>
              <a:endParaRPr sz="686" dirty="0">
                <a:solidFill>
                  <a:schemeClr val="dk2"/>
                </a:solidFill>
                <a:latin typeface="Source Sans 3"/>
                <a:ea typeface="Source Sans 3"/>
                <a:cs typeface="Source Sans 3"/>
                <a:sym typeface="Source Sans 3"/>
              </a:endParaRPr>
            </a:p>
          </p:txBody>
        </p:sp>
        <p:sp>
          <p:nvSpPr>
            <p:cNvPr id="341" name="Google Shape;326;p18">
              <a:extLst>
                <a:ext uri="{FF2B5EF4-FFF2-40B4-BE49-F238E27FC236}">
                  <a16:creationId xmlns:a16="http://schemas.microsoft.com/office/drawing/2014/main" id="{917BC0EF-3230-DFD7-ED50-59D616B5EBF1}"/>
                </a:ext>
              </a:extLst>
            </p:cNvPr>
            <p:cNvSpPr/>
            <p:nvPr/>
          </p:nvSpPr>
          <p:spPr>
            <a:xfrm>
              <a:off x="8476178" y="1114845"/>
              <a:ext cx="3245700" cy="18963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2" name="Google Shape;327;p18">
              <a:extLst>
                <a:ext uri="{FF2B5EF4-FFF2-40B4-BE49-F238E27FC236}">
                  <a16:creationId xmlns:a16="http://schemas.microsoft.com/office/drawing/2014/main" id="{F0EF9521-A7EC-3C06-4BBB-D56A6BC10B7C}"/>
                </a:ext>
              </a:extLst>
            </p:cNvPr>
            <p:cNvSpPr/>
            <p:nvPr/>
          </p:nvSpPr>
          <p:spPr>
            <a:xfrm>
              <a:off x="9194189" y="1685753"/>
              <a:ext cx="660000" cy="5394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sp>
          <p:nvSpPr>
            <p:cNvPr id="343" name="Google Shape;328;p18">
              <a:extLst>
                <a:ext uri="{FF2B5EF4-FFF2-40B4-BE49-F238E27FC236}">
                  <a16:creationId xmlns:a16="http://schemas.microsoft.com/office/drawing/2014/main" id="{2FC9A078-0556-6801-CC74-F231C3215EEC}"/>
                </a:ext>
              </a:extLst>
            </p:cNvPr>
            <p:cNvSpPr txBox="1"/>
            <p:nvPr/>
          </p:nvSpPr>
          <p:spPr>
            <a:xfrm>
              <a:off x="9194178" y="1823420"/>
              <a:ext cx="6876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sailuh/kaiaulu</a:t>
              </a:r>
              <a:endParaRPr sz="686">
                <a:solidFill>
                  <a:schemeClr val="dk2"/>
                </a:solidFill>
                <a:latin typeface="Source Sans 3"/>
                <a:ea typeface="Source Sans 3"/>
                <a:cs typeface="Source Sans 3"/>
                <a:sym typeface="Source Sans 3"/>
              </a:endParaRPr>
            </a:p>
          </p:txBody>
        </p:sp>
        <p:cxnSp>
          <p:nvCxnSpPr>
            <p:cNvPr id="344" name="Google Shape;329;p18">
              <a:extLst>
                <a:ext uri="{FF2B5EF4-FFF2-40B4-BE49-F238E27FC236}">
                  <a16:creationId xmlns:a16="http://schemas.microsoft.com/office/drawing/2014/main" id="{4ABEF1DE-4D80-E88C-6679-E530CF7CD9CE}"/>
                </a:ext>
              </a:extLst>
            </p:cNvPr>
            <p:cNvCxnSpPr/>
            <p:nvPr/>
          </p:nvCxnSpPr>
          <p:spPr>
            <a:xfrm>
              <a:off x="9524199" y="2225090"/>
              <a:ext cx="0" cy="297300"/>
            </a:xfrm>
            <a:prstGeom prst="straightConnector1">
              <a:avLst/>
            </a:prstGeom>
            <a:noFill/>
            <a:ln w="8175" cap="flat" cmpd="sng">
              <a:solidFill>
                <a:schemeClr val="dk2"/>
              </a:solidFill>
              <a:prstDash val="solid"/>
              <a:round/>
              <a:headEnd type="none" w="med" len="med"/>
              <a:tailEnd type="triangle" w="med" len="med"/>
            </a:ln>
          </p:spPr>
        </p:cxnSp>
        <p:sp>
          <p:nvSpPr>
            <p:cNvPr id="345" name="Google Shape;330;p18">
              <a:extLst>
                <a:ext uri="{FF2B5EF4-FFF2-40B4-BE49-F238E27FC236}">
                  <a16:creationId xmlns:a16="http://schemas.microsoft.com/office/drawing/2014/main" id="{08B96377-1DB4-03F5-5FD9-D02DCF10E991}"/>
                </a:ext>
              </a:extLst>
            </p:cNvPr>
            <p:cNvSpPr txBox="1"/>
            <p:nvPr/>
          </p:nvSpPr>
          <p:spPr>
            <a:xfrm>
              <a:off x="9029988" y="2467514"/>
              <a:ext cx="1094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rgbClr val="628DB5"/>
                  </a:solidFill>
                  <a:latin typeface="Source Sans 3"/>
                  <a:ea typeface="Source Sans 3"/>
                  <a:cs typeface="Source Sans 3"/>
                  <a:sym typeface="Source Sans 3"/>
                </a:rPr>
                <a:t>engagement_sentiment()</a:t>
              </a:r>
              <a:endParaRPr sz="686">
                <a:solidFill>
                  <a:srgbClr val="628DB5"/>
                </a:solidFill>
                <a:latin typeface="Source Sans 3"/>
                <a:ea typeface="Source Sans 3"/>
                <a:cs typeface="Source Sans 3"/>
                <a:sym typeface="Source Sans 3"/>
              </a:endParaRPr>
            </a:p>
          </p:txBody>
        </p:sp>
        <p:sp>
          <p:nvSpPr>
            <p:cNvPr id="346" name="Google Shape;331;p18">
              <a:extLst>
                <a:ext uri="{FF2B5EF4-FFF2-40B4-BE49-F238E27FC236}">
                  <a16:creationId xmlns:a16="http://schemas.microsoft.com/office/drawing/2014/main" id="{88032E02-A72B-8918-7601-D2BB0AD06470}"/>
                </a:ext>
              </a:extLst>
            </p:cNvPr>
            <p:cNvSpPr/>
            <p:nvPr/>
          </p:nvSpPr>
          <p:spPr>
            <a:xfrm>
              <a:off x="10562628" y="1685745"/>
              <a:ext cx="1099800" cy="554100"/>
            </a:xfrm>
            <a:prstGeom prst="rect">
              <a:avLst/>
            </a:prstGeom>
            <a:noFill/>
            <a:ln w="8200" cap="flat" cmpd="sng">
              <a:solidFill>
                <a:schemeClr val="dk2"/>
              </a:solidFill>
              <a:prstDash val="solid"/>
              <a:round/>
              <a:headEnd type="none" w="sm" len="sm"/>
              <a:tailEnd type="none" w="sm" len="sm"/>
            </a:ln>
          </p:spPr>
          <p:txBody>
            <a:bodyPr spcFirstLastPara="1" wrap="square" lIns="78800" tIns="78800" rIns="78800" bIns="78800" anchor="ctr" anchorCtr="0">
              <a:noAutofit/>
            </a:bodyPr>
            <a:lstStyle/>
            <a:p>
              <a:pPr marL="0" lvl="0" indent="0" algn="ctr" rtl="0">
                <a:spcBef>
                  <a:spcPts val="0"/>
                </a:spcBef>
                <a:spcAft>
                  <a:spcPts val="0"/>
                </a:spcAft>
                <a:buNone/>
              </a:pPr>
              <a:endParaRPr sz="1207"/>
            </a:p>
          </p:txBody>
        </p:sp>
        <p:sp>
          <p:nvSpPr>
            <p:cNvPr id="347" name="Google Shape;332;p18">
              <a:extLst>
                <a:ext uri="{FF2B5EF4-FFF2-40B4-BE49-F238E27FC236}">
                  <a16:creationId xmlns:a16="http://schemas.microsoft.com/office/drawing/2014/main" id="{161A6A58-CE07-37F0-4E3A-4CCA4290777F}"/>
                </a:ext>
              </a:extLst>
            </p:cNvPr>
            <p:cNvSpPr txBox="1"/>
            <p:nvPr/>
          </p:nvSpPr>
          <p:spPr>
            <a:xfrm>
              <a:off x="10544028" y="1682645"/>
              <a:ext cx="1150800" cy="265200"/>
            </a:xfrm>
            <a:prstGeom prst="rect">
              <a:avLst/>
            </a:prstGeom>
            <a:noFill/>
            <a:ln>
              <a:noFill/>
            </a:ln>
          </p:spPr>
          <p:txBody>
            <a:bodyPr spcFirstLastPara="1" wrap="square" lIns="78800" tIns="78800" rIns="78800" bIns="78800" anchor="t" anchorCtr="0">
              <a:spAutoFit/>
            </a:bodyPr>
            <a:lstStyle/>
            <a:p>
              <a:pPr marL="0" lvl="0" indent="0" algn="l" rtl="0">
                <a:spcBef>
                  <a:spcPts val="0"/>
                </a:spcBef>
                <a:spcAft>
                  <a:spcPts val="0"/>
                </a:spcAft>
                <a:buNone/>
              </a:pPr>
              <a:r>
                <a:rPr lang="en" sz="689" dirty="0" err="1">
                  <a:solidFill>
                    <a:schemeClr val="dk2"/>
                  </a:solidFill>
                  <a:latin typeface="Source Sans 3"/>
                  <a:ea typeface="Source Sans 3"/>
                  <a:cs typeface="Source Sans 3"/>
                  <a:sym typeface="Source Sans 3"/>
                </a:rPr>
                <a:t>sailuh</a:t>
              </a:r>
              <a:r>
                <a:rPr lang="en" sz="689" dirty="0">
                  <a:solidFill>
                    <a:schemeClr val="dk2"/>
                  </a:solidFill>
                  <a:latin typeface="Source Sans 3"/>
                  <a:ea typeface="Source Sans 3"/>
                  <a:cs typeface="Source Sans 3"/>
                  <a:sym typeface="Source Sans 3"/>
                </a:rPr>
                <a:t>/</a:t>
              </a:r>
              <a:r>
                <a:rPr lang="en" sz="689" dirty="0" err="1">
                  <a:solidFill>
                    <a:schemeClr val="dk2"/>
                  </a:solidFill>
                  <a:latin typeface="Source Sans 3"/>
                  <a:ea typeface="Source Sans 3"/>
                  <a:cs typeface="Source Sans 3"/>
                  <a:sym typeface="Source Sans 3"/>
                </a:rPr>
                <a:t>sentiment_classifier</a:t>
              </a:r>
              <a:endParaRPr sz="689" dirty="0">
                <a:solidFill>
                  <a:schemeClr val="dk2"/>
                </a:solidFill>
                <a:latin typeface="Source Sans 3"/>
                <a:ea typeface="Source Sans 3"/>
                <a:cs typeface="Source Sans 3"/>
                <a:sym typeface="Source Sans 3"/>
              </a:endParaRPr>
            </a:p>
          </p:txBody>
        </p:sp>
        <p:cxnSp>
          <p:nvCxnSpPr>
            <p:cNvPr id="348" name="Google Shape;333;p18">
              <a:extLst>
                <a:ext uri="{FF2B5EF4-FFF2-40B4-BE49-F238E27FC236}">
                  <a16:creationId xmlns:a16="http://schemas.microsoft.com/office/drawing/2014/main" id="{099B5AD8-C80A-1CFA-3D15-A595AC246394}"/>
                </a:ext>
              </a:extLst>
            </p:cNvPr>
            <p:cNvCxnSpPr/>
            <p:nvPr/>
          </p:nvCxnSpPr>
          <p:spPr>
            <a:xfrm rot="10800000" flipH="1">
              <a:off x="9890815" y="1865994"/>
              <a:ext cx="632700" cy="900"/>
            </a:xfrm>
            <a:prstGeom prst="straightConnector1">
              <a:avLst/>
            </a:prstGeom>
            <a:noFill/>
            <a:ln w="9525" cap="flat" cmpd="sng">
              <a:solidFill>
                <a:schemeClr val="dk2"/>
              </a:solidFill>
              <a:prstDash val="solid"/>
              <a:round/>
              <a:headEnd type="none" w="med" len="med"/>
              <a:tailEnd type="triangle" w="med" len="med"/>
            </a:ln>
          </p:spPr>
        </p:cxnSp>
        <p:cxnSp>
          <p:nvCxnSpPr>
            <p:cNvPr id="349" name="Google Shape;334;p18">
              <a:extLst>
                <a:ext uri="{FF2B5EF4-FFF2-40B4-BE49-F238E27FC236}">
                  <a16:creationId xmlns:a16="http://schemas.microsoft.com/office/drawing/2014/main" id="{58796A72-07BB-1164-15FE-8A3514D421FF}"/>
                </a:ext>
              </a:extLst>
            </p:cNvPr>
            <p:cNvCxnSpPr/>
            <p:nvPr/>
          </p:nvCxnSpPr>
          <p:spPr>
            <a:xfrm rot="10800000">
              <a:off x="9866990" y="2086194"/>
              <a:ext cx="632700" cy="900"/>
            </a:xfrm>
            <a:prstGeom prst="straightConnector1">
              <a:avLst/>
            </a:prstGeom>
            <a:noFill/>
            <a:ln w="9525" cap="flat" cmpd="sng">
              <a:solidFill>
                <a:schemeClr val="dk2"/>
              </a:solidFill>
              <a:prstDash val="solid"/>
              <a:round/>
              <a:headEnd type="none" w="med" len="med"/>
              <a:tailEnd type="triangle" w="med" len="med"/>
            </a:ln>
          </p:spPr>
        </p:cxnSp>
        <p:sp>
          <p:nvSpPr>
            <p:cNvPr id="350" name="Google Shape;335;p18">
              <a:extLst>
                <a:ext uri="{FF2B5EF4-FFF2-40B4-BE49-F238E27FC236}">
                  <a16:creationId xmlns:a16="http://schemas.microsoft.com/office/drawing/2014/main" id="{6953E21C-21F6-C03A-4C7C-4A27A6AF26BC}"/>
                </a:ext>
              </a:extLst>
            </p:cNvPr>
            <p:cNvSpPr txBox="1"/>
            <p:nvPr/>
          </p:nvSpPr>
          <p:spPr>
            <a:xfrm>
              <a:off x="10046553" y="2123170"/>
              <a:ext cx="3483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label</a:t>
              </a:r>
              <a:endParaRPr sz="686">
                <a:solidFill>
                  <a:schemeClr val="dk2"/>
                </a:solidFill>
                <a:latin typeface="Source Sans 3"/>
                <a:ea typeface="Source Sans 3"/>
                <a:cs typeface="Source Sans 3"/>
                <a:sym typeface="Source Sans 3"/>
              </a:endParaRPr>
            </a:p>
          </p:txBody>
        </p:sp>
        <p:sp>
          <p:nvSpPr>
            <p:cNvPr id="351" name="Google Shape;336;p18">
              <a:extLst>
                <a:ext uri="{FF2B5EF4-FFF2-40B4-BE49-F238E27FC236}">
                  <a16:creationId xmlns:a16="http://schemas.microsoft.com/office/drawing/2014/main" id="{9EDE1613-4315-B543-DCD5-4661D43E8CDF}"/>
                </a:ext>
              </a:extLst>
            </p:cNvPr>
            <p:cNvSpPr/>
            <p:nvPr/>
          </p:nvSpPr>
          <p:spPr>
            <a:xfrm>
              <a:off x="10370240" y="2300395"/>
              <a:ext cx="133800" cy="114600"/>
            </a:xfrm>
            <a:prstGeom prst="wedgeRectCallout">
              <a:avLst>
                <a:gd name="adj1" fmla="val -20833"/>
                <a:gd name="adj2" fmla="val 62500"/>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2" name="Google Shape;337;p18">
              <a:extLst>
                <a:ext uri="{FF2B5EF4-FFF2-40B4-BE49-F238E27FC236}">
                  <a16:creationId xmlns:a16="http://schemas.microsoft.com/office/drawing/2014/main" id="{3B40FCBB-95A1-B7D2-EDC8-50A610A97117}"/>
                </a:ext>
              </a:extLst>
            </p:cNvPr>
            <p:cNvSpPr txBox="1"/>
            <p:nvPr/>
          </p:nvSpPr>
          <p:spPr>
            <a:xfrm>
              <a:off x="9829328" y="1578732"/>
              <a:ext cx="8400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pysenti_predict()</a:t>
              </a:r>
              <a:endParaRPr sz="686">
                <a:solidFill>
                  <a:schemeClr val="dk2"/>
                </a:solidFill>
                <a:latin typeface="Source Sans 3"/>
                <a:ea typeface="Source Sans 3"/>
                <a:cs typeface="Source Sans 3"/>
                <a:sym typeface="Source Sans 3"/>
              </a:endParaRPr>
            </a:p>
          </p:txBody>
        </p:sp>
        <p:sp>
          <p:nvSpPr>
            <p:cNvPr id="353" name="Google Shape;338;p18">
              <a:extLst>
                <a:ext uri="{FF2B5EF4-FFF2-40B4-BE49-F238E27FC236}">
                  <a16:creationId xmlns:a16="http://schemas.microsoft.com/office/drawing/2014/main" id="{BCAD036E-43FC-FF67-37DC-71494DBB1337}"/>
                </a:ext>
              </a:extLst>
            </p:cNvPr>
            <p:cNvSpPr/>
            <p:nvPr/>
          </p:nvSpPr>
          <p:spPr>
            <a:xfrm>
              <a:off x="10116428" y="1532095"/>
              <a:ext cx="133800" cy="114600"/>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 name="Google Shape;339;p18">
              <a:extLst>
                <a:ext uri="{FF2B5EF4-FFF2-40B4-BE49-F238E27FC236}">
                  <a16:creationId xmlns:a16="http://schemas.microsoft.com/office/drawing/2014/main" id="{7E3CFC98-51E2-7B5D-BFC3-26C0176E76F1}"/>
                </a:ext>
              </a:extLst>
            </p:cNvPr>
            <p:cNvSpPr/>
            <p:nvPr/>
          </p:nvSpPr>
          <p:spPr>
            <a:xfrm>
              <a:off x="9482353" y="2661807"/>
              <a:ext cx="113100" cy="114600"/>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 name="Google Shape;340;p18">
              <a:extLst>
                <a:ext uri="{FF2B5EF4-FFF2-40B4-BE49-F238E27FC236}">
                  <a16:creationId xmlns:a16="http://schemas.microsoft.com/office/drawing/2014/main" id="{410CFABE-DFC7-015F-3A73-947427FFEE79}"/>
                </a:ext>
              </a:extLst>
            </p:cNvPr>
            <p:cNvSpPr txBox="1"/>
            <p:nvPr/>
          </p:nvSpPr>
          <p:spPr>
            <a:xfrm>
              <a:off x="9400286" y="2595959"/>
              <a:ext cx="289200" cy="23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00" dirty="0">
                  <a:solidFill>
                    <a:schemeClr val="lt1"/>
                  </a:solidFill>
                </a:rPr>
                <a:t> 0.25</a:t>
              </a:r>
              <a:endParaRPr sz="400" dirty="0">
                <a:solidFill>
                  <a:schemeClr val="lt1"/>
                </a:solidFill>
              </a:endParaRPr>
            </a:p>
          </p:txBody>
        </p:sp>
        <p:sp>
          <p:nvSpPr>
            <p:cNvPr id="356" name="Google Shape;341;p18">
              <a:extLst>
                <a:ext uri="{FF2B5EF4-FFF2-40B4-BE49-F238E27FC236}">
                  <a16:creationId xmlns:a16="http://schemas.microsoft.com/office/drawing/2014/main" id="{5DF799DF-B268-8962-1FD9-37D33D46CA55}"/>
                </a:ext>
              </a:extLst>
            </p:cNvPr>
            <p:cNvSpPr/>
            <p:nvPr/>
          </p:nvSpPr>
          <p:spPr>
            <a:xfrm>
              <a:off x="10141503" y="2300395"/>
              <a:ext cx="133800" cy="114600"/>
            </a:xfrm>
            <a:prstGeom prst="wedgeRectCallout">
              <a:avLst>
                <a:gd name="adj1" fmla="val -20833"/>
                <a:gd name="adj2" fmla="val 62500"/>
              </a:avLst>
            </a:prstGeom>
            <a:solidFill>
              <a:srgbClr val="E0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7" name="Google Shape;342;p18">
              <a:extLst>
                <a:ext uri="{FF2B5EF4-FFF2-40B4-BE49-F238E27FC236}">
                  <a16:creationId xmlns:a16="http://schemas.microsoft.com/office/drawing/2014/main" id="{803B0978-7C3C-19DD-4916-3658A7B86CE9}"/>
                </a:ext>
              </a:extLst>
            </p:cNvPr>
            <p:cNvSpPr/>
            <p:nvPr/>
          </p:nvSpPr>
          <p:spPr>
            <a:xfrm>
              <a:off x="9912740" y="2300395"/>
              <a:ext cx="133800" cy="114600"/>
            </a:xfrm>
            <a:prstGeom prst="wedgeRectCallout">
              <a:avLst>
                <a:gd name="adj1" fmla="val -20833"/>
                <a:gd name="adj2" fmla="val 625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 name="Google Shape;344;p18">
              <a:extLst>
                <a:ext uri="{FF2B5EF4-FFF2-40B4-BE49-F238E27FC236}">
                  <a16:creationId xmlns:a16="http://schemas.microsoft.com/office/drawing/2014/main" id="{D42F6ADF-1619-B55B-037C-BB3E04A0DEFF}"/>
                </a:ext>
              </a:extLst>
            </p:cNvPr>
            <p:cNvSpPr txBox="1"/>
            <p:nvPr/>
          </p:nvSpPr>
          <p:spPr>
            <a:xfrm>
              <a:off x="10062053" y="1668745"/>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(2)</a:t>
              </a:r>
              <a:endParaRPr sz="686" dirty="0">
                <a:solidFill>
                  <a:schemeClr val="dk2"/>
                </a:solidFill>
                <a:latin typeface="Source Sans 3"/>
                <a:ea typeface="Source Sans 3"/>
                <a:cs typeface="Source Sans 3"/>
                <a:sym typeface="Source Sans 3"/>
              </a:endParaRPr>
            </a:p>
          </p:txBody>
        </p:sp>
        <p:sp>
          <p:nvSpPr>
            <p:cNvPr id="359" name="Google Shape;345;p18">
              <a:extLst>
                <a:ext uri="{FF2B5EF4-FFF2-40B4-BE49-F238E27FC236}">
                  <a16:creationId xmlns:a16="http://schemas.microsoft.com/office/drawing/2014/main" id="{4C4EA411-FFFB-9EB4-6797-5BEAC6D7D86E}"/>
                </a:ext>
              </a:extLst>
            </p:cNvPr>
            <p:cNvSpPr txBox="1"/>
            <p:nvPr/>
          </p:nvSpPr>
          <p:spPr>
            <a:xfrm>
              <a:off x="10079303" y="2023132"/>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(4)</a:t>
              </a:r>
              <a:endParaRPr sz="686">
                <a:solidFill>
                  <a:schemeClr val="dk2"/>
                </a:solidFill>
                <a:latin typeface="Source Sans 3"/>
                <a:ea typeface="Source Sans 3"/>
                <a:cs typeface="Source Sans 3"/>
                <a:sym typeface="Source Sans 3"/>
              </a:endParaRPr>
            </a:p>
          </p:txBody>
        </p:sp>
        <p:sp>
          <p:nvSpPr>
            <p:cNvPr id="360" name="Google Shape;346;p18">
              <a:extLst>
                <a:ext uri="{FF2B5EF4-FFF2-40B4-BE49-F238E27FC236}">
                  <a16:creationId xmlns:a16="http://schemas.microsoft.com/office/drawing/2014/main" id="{3660404F-87E6-19DE-3102-7476B2267384}"/>
                </a:ext>
              </a:extLst>
            </p:cNvPr>
            <p:cNvSpPr txBox="1"/>
            <p:nvPr/>
          </p:nvSpPr>
          <p:spPr>
            <a:xfrm>
              <a:off x="10964278" y="1800070"/>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(3)</a:t>
              </a:r>
              <a:endParaRPr sz="686">
                <a:solidFill>
                  <a:schemeClr val="dk2"/>
                </a:solidFill>
                <a:latin typeface="Source Sans 3"/>
                <a:ea typeface="Source Sans 3"/>
                <a:cs typeface="Source Sans 3"/>
                <a:sym typeface="Source Sans 3"/>
              </a:endParaRPr>
            </a:p>
          </p:txBody>
        </p:sp>
        <p:sp>
          <p:nvSpPr>
            <p:cNvPr id="361" name="Google Shape;347;p18">
              <a:extLst>
                <a:ext uri="{FF2B5EF4-FFF2-40B4-BE49-F238E27FC236}">
                  <a16:creationId xmlns:a16="http://schemas.microsoft.com/office/drawing/2014/main" id="{1B964C26-F069-4407-6437-38F377C21134}"/>
                </a:ext>
              </a:extLst>
            </p:cNvPr>
            <p:cNvSpPr/>
            <p:nvPr/>
          </p:nvSpPr>
          <p:spPr>
            <a:xfrm>
              <a:off x="107684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2" name="Google Shape;348;p18">
              <a:extLst>
                <a:ext uri="{FF2B5EF4-FFF2-40B4-BE49-F238E27FC236}">
                  <a16:creationId xmlns:a16="http://schemas.microsoft.com/office/drawing/2014/main" id="{F1DA6457-C2E7-A788-3E8F-BBE0DCFB7389}"/>
                </a:ext>
              </a:extLst>
            </p:cNvPr>
            <p:cNvSpPr txBox="1"/>
            <p:nvPr/>
          </p:nvSpPr>
          <p:spPr>
            <a:xfrm>
              <a:off x="10702335" y="1945845"/>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363" name="Google Shape;349;p18">
              <a:extLst>
                <a:ext uri="{FF2B5EF4-FFF2-40B4-BE49-F238E27FC236}">
                  <a16:creationId xmlns:a16="http://schemas.microsoft.com/office/drawing/2014/main" id="{371AEEF4-06D6-0971-C253-E19188B56271}"/>
                </a:ext>
              </a:extLst>
            </p:cNvPr>
            <p:cNvSpPr txBox="1"/>
            <p:nvPr/>
          </p:nvSpPr>
          <p:spPr>
            <a:xfrm>
              <a:off x="11020518" y="1948023"/>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364" name="Google Shape;350;p18">
              <a:extLst>
                <a:ext uri="{FF2B5EF4-FFF2-40B4-BE49-F238E27FC236}">
                  <a16:creationId xmlns:a16="http://schemas.microsoft.com/office/drawing/2014/main" id="{D6E8B69F-18D5-7C85-F870-57E7BE2AA3FE}"/>
                </a:ext>
              </a:extLst>
            </p:cNvPr>
            <p:cNvSpPr/>
            <p:nvPr/>
          </p:nvSpPr>
          <p:spPr>
            <a:xfrm>
              <a:off x="109289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5" name="Google Shape;351;p18">
              <a:extLst>
                <a:ext uri="{FF2B5EF4-FFF2-40B4-BE49-F238E27FC236}">
                  <a16:creationId xmlns:a16="http://schemas.microsoft.com/office/drawing/2014/main" id="{93168591-50EC-B6B2-0138-A5965D4F2619}"/>
                </a:ext>
              </a:extLst>
            </p:cNvPr>
            <p:cNvSpPr/>
            <p:nvPr/>
          </p:nvSpPr>
          <p:spPr>
            <a:xfrm>
              <a:off x="110894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6" name="Google Shape;352;p18">
              <a:extLst>
                <a:ext uri="{FF2B5EF4-FFF2-40B4-BE49-F238E27FC236}">
                  <a16:creationId xmlns:a16="http://schemas.microsoft.com/office/drawing/2014/main" id="{7A2B6C38-137B-2776-EFAC-63986350ECCD}"/>
                </a:ext>
              </a:extLst>
            </p:cNvPr>
            <p:cNvSpPr/>
            <p:nvPr/>
          </p:nvSpPr>
          <p:spPr>
            <a:xfrm>
              <a:off x="112499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7" name="Google Shape;353;p18">
              <a:extLst>
                <a:ext uri="{FF2B5EF4-FFF2-40B4-BE49-F238E27FC236}">
                  <a16:creationId xmlns:a16="http://schemas.microsoft.com/office/drawing/2014/main" id="{3D21BB82-BE48-8FE0-4C74-6F675C741D35}"/>
                </a:ext>
              </a:extLst>
            </p:cNvPr>
            <p:cNvSpPr txBox="1"/>
            <p:nvPr/>
          </p:nvSpPr>
          <p:spPr>
            <a:xfrm>
              <a:off x="10863720" y="1948470"/>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368" name="Google Shape;354;p18">
              <a:extLst>
                <a:ext uri="{FF2B5EF4-FFF2-40B4-BE49-F238E27FC236}">
                  <a16:creationId xmlns:a16="http://schemas.microsoft.com/office/drawing/2014/main" id="{4E9A7D08-2E08-E2DB-2D0F-F89FEF96C8A1}"/>
                </a:ext>
              </a:extLst>
            </p:cNvPr>
            <p:cNvSpPr txBox="1"/>
            <p:nvPr/>
          </p:nvSpPr>
          <p:spPr>
            <a:xfrm>
              <a:off x="11183172" y="1948019"/>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cxnSp>
          <p:nvCxnSpPr>
            <p:cNvPr id="369" name="Google Shape;357;p18">
              <a:extLst>
                <a:ext uri="{FF2B5EF4-FFF2-40B4-BE49-F238E27FC236}">
                  <a16:creationId xmlns:a16="http://schemas.microsoft.com/office/drawing/2014/main" id="{6ED3EFC6-1167-F7DA-FFF0-10B882BEB475}"/>
                </a:ext>
              </a:extLst>
            </p:cNvPr>
            <p:cNvCxnSpPr>
              <a:stCxn id="342" idx="0"/>
              <a:endCxn id="347" idx="0"/>
            </p:cNvCxnSpPr>
            <p:nvPr/>
          </p:nvCxnSpPr>
          <p:spPr>
            <a:xfrm rot="16200000">
              <a:off x="10320239" y="886703"/>
              <a:ext cx="3000" cy="1595100"/>
            </a:xfrm>
            <a:prstGeom prst="bentConnector3">
              <a:avLst>
                <a:gd name="adj1" fmla="val 8041114"/>
              </a:avLst>
            </a:prstGeom>
            <a:noFill/>
            <a:ln w="9525" cap="flat" cmpd="sng">
              <a:solidFill>
                <a:schemeClr val="dk2"/>
              </a:solidFill>
              <a:prstDash val="solid"/>
              <a:round/>
              <a:headEnd type="none" w="med" len="med"/>
              <a:tailEnd type="none" w="med" len="med"/>
            </a:ln>
          </p:spPr>
        </p:cxnSp>
        <p:sp>
          <p:nvSpPr>
            <p:cNvPr id="370" name="Google Shape;358;p18">
              <a:extLst>
                <a:ext uri="{FF2B5EF4-FFF2-40B4-BE49-F238E27FC236}">
                  <a16:creationId xmlns:a16="http://schemas.microsoft.com/office/drawing/2014/main" id="{4E43DF77-FA36-8F4B-C7F8-C3379FFD9308}"/>
                </a:ext>
              </a:extLst>
            </p:cNvPr>
            <p:cNvSpPr txBox="1"/>
            <p:nvPr/>
          </p:nvSpPr>
          <p:spPr>
            <a:xfrm>
              <a:off x="9795878" y="1222007"/>
              <a:ext cx="972600" cy="18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dirty="0" err="1">
                  <a:solidFill>
                    <a:schemeClr val="dk2"/>
                  </a:solidFill>
                  <a:latin typeface="Source Sans 3"/>
                  <a:ea typeface="Source Sans 3"/>
                  <a:cs typeface="Source Sans 3"/>
                  <a:sym typeface="Source Sans 3"/>
                </a:rPr>
                <a:t>pysenti_train_model</a:t>
              </a:r>
              <a:r>
                <a:rPr lang="en" sz="650" dirty="0">
                  <a:solidFill>
                    <a:schemeClr val="dk2"/>
                  </a:solidFill>
                  <a:latin typeface="Source Sans 3"/>
                  <a:ea typeface="Source Sans 3"/>
                  <a:cs typeface="Source Sans 3"/>
                  <a:sym typeface="Source Sans 3"/>
                </a:rPr>
                <a:t>()</a:t>
              </a:r>
              <a:endParaRPr sz="650" dirty="0">
                <a:solidFill>
                  <a:schemeClr val="dk2"/>
                </a:solidFill>
                <a:latin typeface="Source Sans 3"/>
                <a:ea typeface="Source Sans 3"/>
                <a:cs typeface="Source Sans 3"/>
                <a:sym typeface="Source Sans 3"/>
              </a:endParaRPr>
            </a:p>
          </p:txBody>
        </p:sp>
        <p:grpSp>
          <p:nvGrpSpPr>
            <p:cNvPr id="371" name="Google Shape;359;p18">
              <a:extLst>
                <a:ext uri="{FF2B5EF4-FFF2-40B4-BE49-F238E27FC236}">
                  <a16:creationId xmlns:a16="http://schemas.microsoft.com/office/drawing/2014/main" id="{4AAC42EA-9540-479E-2940-59DA0357E787}"/>
                </a:ext>
              </a:extLst>
            </p:cNvPr>
            <p:cNvGrpSpPr/>
            <p:nvPr/>
          </p:nvGrpSpPr>
          <p:grpSpPr>
            <a:xfrm>
              <a:off x="8600328" y="1454457"/>
              <a:ext cx="307200" cy="189300"/>
              <a:chOff x="3007175" y="1757600"/>
              <a:chExt cx="307200" cy="189300"/>
            </a:xfrm>
          </p:grpSpPr>
          <p:sp>
            <p:nvSpPr>
              <p:cNvPr id="397" name="Google Shape;360;p18">
                <a:extLst>
                  <a:ext uri="{FF2B5EF4-FFF2-40B4-BE49-F238E27FC236}">
                    <a16:creationId xmlns:a16="http://schemas.microsoft.com/office/drawing/2014/main" id="{AD7C0F53-FBB2-9CA9-B1AA-54710DBD726F}"/>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8" name="Google Shape;361;p18">
                <a:extLst>
                  <a:ext uri="{FF2B5EF4-FFF2-40B4-BE49-F238E27FC236}">
                    <a16:creationId xmlns:a16="http://schemas.microsoft.com/office/drawing/2014/main" id="{FDA1D11F-21D1-8C40-ADC8-E6AAAB720316}"/>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9" name="Google Shape;362;p18">
                <a:extLst>
                  <a:ext uri="{FF2B5EF4-FFF2-40B4-BE49-F238E27FC236}">
                    <a16:creationId xmlns:a16="http://schemas.microsoft.com/office/drawing/2014/main" id="{66B68EDC-73B4-5D95-CFEC-83F13B2CA997}"/>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 name="Google Shape;363;p18">
                <a:extLst>
                  <a:ext uri="{FF2B5EF4-FFF2-40B4-BE49-F238E27FC236}">
                    <a16:creationId xmlns:a16="http://schemas.microsoft.com/office/drawing/2014/main" id="{BEE610CE-46CC-6F98-23FD-67EDF3E7DAFC}"/>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01" name="Google Shape;364;p18">
                <a:extLst>
                  <a:ext uri="{FF2B5EF4-FFF2-40B4-BE49-F238E27FC236}">
                    <a16:creationId xmlns:a16="http://schemas.microsoft.com/office/drawing/2014/main" id="{5FC23CE7-E22E-3BA5-6077-3C63688CC680}"/>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2" name="Google Shape;365;p18">
                <a:extLst>
                  <a:ext uri="{FF2B5EF4-FFF2-40B4-BE49-F238E27FC236}">
                    <a16:creationId xmlns:a16="http://schemas.microsoft.com/office/drawing/2014/main" id="{64A13D8C-359F-118C-1C20-FD82A58D916D}"/>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3" name="Google Shape;366;p18">
                <a:extLst>
                  <a:ext uri="{FF2B5EF4-FFF2-40B4-BE49-F238E27FC236}">
                    <a16:creationId xmlns:a16="http://schemas.microsoft.com/office/drawing/2014/main" id="{5802FA68-90D8-37E4-A4DC-DD7AAB5419DE}"/>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372" name="Google Shape;367;p18">
              <a:extLst>
                <a:ext uri="{FF2B5EF4-FFF2-40B4-BE49-F238E27FC236}">
                  <a16:creationId xmlns:a16="http://schemas.microsoft.com/office/drawing/2014/main" id="{85CA0C9F-F948-0033-B720-828650A78193}"/>
                </a:ext>
              </a:extLst>
            </p:cNvPr>
            <p:cNvGrpSpPr/>
            <p:nvPr/>
          </p:nvGrpSpPr>
          <p:grpSpPr>
            <a:xfrm>
              <a:off x="8600315" y="1797920"/>
              <a:ext cx="307200" cy="189300"/>
              <a:chOff x="3007175" y="1757600"/>
              <a:chExt cx="307200" cy="189300"/>
            </a:xfrm>
          </p:grpSpPr>
          <p:sp>
            <p:nvSpPr>
              <p:cNvPr id="390" name="Google Shape;368;p18">
                <a:extLst>
                  <a:ext uri="{FF2B5EF4-FFF2-40B4-BE49-F238E27FC236}">
                    <a16:creationId xmlns:a16="http://schemas.microsoft.com/office/drawing/2014/main" id="{EC84800C-FD14-C817-FC9D-1AED6EE86E4E}"/>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1" name="Google Shape;369;p18">
                <a:extLst>
                  <a:ext uri="{FF2B5EF4-FFF2-40B4-BE49-F238E27FC236}">
                    <a16:creationId xmlns:a16="http://schemas.microsoft.com/office/drawing/2014/main" id="{B1CDDB5E-1F7F-EE9F-CE33-B2E30896040B}"/>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 name="Google Shape;370;p18">
                <a:extLst>
                  <a:ext uri="{FF2B5EF4-FFF2-40B4-BE49-F238E27FC236}">
                    <a16:creationId xmlns:a16="http://schemas.microsoft.com/office/drawing/2014/main" id="{5320B576-0BE2-6CCB-8B8D-AEC4EF7009E7}"/>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 name="Google Shape;371;p18">
                <a:extLst>
                  <a:ext uri="{FF2B5EF4-FFF2-40B4-BE49-F238E27FC236}">
                    <a16:creationId xmlns:a16="http://schemas.microsoft.com/office/drawing/2014/main" id="{BA237875-2AFC-5EEC-EEBA-C15E40063ADF}"/>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94" name="Google Shape;372;p18">
                <a:extLst>
                  <a:ext uri="{FF2B5EF4-FFF2-40B4-BE49-F238E27FC236}">
                    <a16:creationId xmlns:a16="http://schemas.microsoft.com/office/drawing/2014/main" id="{B3ED3FA8-5894-5720-AC41-7D3CB9906CFF}"/>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95" name="Google Shape;373;p18">
                <a:extLst>
                  <a:ext uri="{FF2B5EF4-FFF2-40B4-BE49-F238E27FC236}">
                    <a16:creationId xmlns:a16="http://schemas.microsoft.com/office/drawing/2014/main" id="{B217D97F-3CF8-17EE-14B5-3443EEFCD0C9}"/>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96" name="Google Shape;374;p18">
                <a:extLst>
                  <a:ext uri="{FF2B5EF4-FFF2-40B4-BE49-F238E27FC236}">
                    <a16:creationId xmlns:a16="http://schemas.microsoft.com/office/drawing/2014/main" id="{DECA99A9-B013-D2B4-5974-B78CEF826B92}"/>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373" name="Google Shape;375;p18">
              <a:extLst>
                <a:ext uri="{FF2B5EF4-FFF2-40B4-BE49-F238E27FC236}">
                  <a16:creationId xmlns:a16="http://schemas.microsoft.com/office/drawing/2014/main" id="{E9FD6DC2-350A-1D33-6F30-FB25AA863095}"/>
                </a:ext>
              </a:extLst>
            </p:cNvPr>
            <p:cNvSpPr txBox="1"/>
            <p:nvPr/>
          </p:nvSpPr>
          <p:spPr>
            <a:xfrm>
              <a:off x="8540115" y="126943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GitHub</a:t>
              </a:r>
              <a:endParaRPr sz="686">
                <a:solidFill>
                  <a:schemeClr val="dk2"/>
                </a:solidFill>
                <a:latin typeface="Source Sans 3"/>
                <a:ea typeface="Source Sans 3"/>
                <a:cs typeface="Source Sans 3"/>
                <a:sym typeface="Source Sans 3"/>
              </a:endParaRPr>
            </a:p>
          </p:txBody>
        </p:sp>
        <p:sp>
          <p:nvSpPr>
            <p:cNvPr id="374" name="Google Shape;376;p18">
              <a:extLst>
                <a:ext uri="{FF2B5EF4-FFF2-40B4-BE49-F238E27FC236}">
                  <a16:creationId xmlns:a16="http://schemas.microsoft.com/office/drawing/2014/main" id="{75C0385B-B0EB-E0F4-94C2-596CD703C1F3}"/>
                </a:ext>
              </a:extLst>
            </p:cNvPr>
            <p:cNvSpPr txBox="1"/>
            <p:nvPr/>
          </p:nvSpPr>
          <p:spPr>
            <a:xfrm>
              <a:off x="8600328" y="161682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Jira</a:t>
              </a:r>
              <a:endParaRPr sz="686" dirty="0">
                <a:solidFill>
                  <a:schemeClr val="dk2"/>
                </a:solidFill>
                <a:latin typeface="Source Sans 3"/>
                <a:ea typeface="Source Sans 3"/>
                <a:cs typeface="Source Sans 3"/>
                <a:sym typeface="Source Sans 3"/>
              </a:endParaRPr>
            </a:p>
          </p:txBody>
        </p:sp>
        <p:grpSp>
          <p:nvGrpSpPr>
            <p:cNvPr id="375" name="Google Shape;377;p18">
              <a:extLst>
                <a:ext uri="{FF2B5EF4-FFF2-40B4-BE49-F238E27FC236}">
                  <a16:creationId xmlns:a16="http://schemas.microsoft.com/office/drawing/2014/main" id="{8301CCBE-C212-E3C1-CD1A-1035A7481AE8}"/>
                </a:ext>
              </a:extLst>
            </p:cNvPr>
            <p:cNvGrpSpPr/>
            <p:nvPr/>
          </p:nvGrpSpPr>
          <p:grpSpPr>
            <a:xfrm>
              <a:off x="8608365" y="2251695"/>
              <a:ext cx="307200" cy="297900"/>
              <a:chOff x="3021975" y="2389850"/>
              <a:chExt cx="307200" cy="297900"/>
            </a:xfrm>
          </p:grpSpPr>
          <p:sp>
            <p:nvSpPr>
              <p:cNvPr id="380" name="Google Shape;378;p18">
                <a:extLst>
                  <a:ext uri="{FF2B5EF4-FFF2-40B4-BE49-F238E27FC236}">
                    <a16:creationId xmlns:a16="http://schemas.microsoft.com/office/drawing/2014/main" id="{CDFA8BCF-4179-2335-8FFB-A2FA215ECA86}"/>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381" name="Google Shape;379;p18">
                <a:extLst>
                  <a:ext uri="{FF2B5EF4-FFF2-40B4-BE49-F238E27FC236}">
                    <a16:creationId xmlns:a16="http://schemas.microsoft.com/office/drawing/2014/main" id="{F0CC6984-B44D-9E6A-0195-F607E052DAC0}"/>
                  </a:ext>
                </a:extLst>
              </p:cNvPr>
              <p:cNvGrpSpPr/>
              <p:nvPr/>
            </p:nvGrpSpPr>
            <p:grpSpPr>
              <a:xfrm>
                <a:off x="3021975" y="2389850"/>
                <a:ext cx="307200" cy="295800"/>
                <a:chOff x="3021975" y="2389850"/>
                <a:chExt cx="307200" cy="295800"/>
              </a:xfrm>
            </p:grpSpPr>
            <p:sp>
              <p:nvSpPr>
                <p:cNvPr id="382" name="Google Shape;380;p18">
                  <a:extLst>
                    <a:ext uri="{FF2B5EF4-FFF2-40B4-BE49-F238E27FC236}">
                      <a16:creationId xmlns:a16="http://schemas.microsoft.com/office/drawing/2014/main" id="{3C59D4F3-5190-0F05-3A0A-431172288602}"/>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3" name="Google Shape;381;p18">
                  <a:extLst>
                    <a:ext uri="{FF2B5EF4-FFF2-40B4-BE49-F238E27FC236}">
                      <a16:creationId xmlns:a16="http://schemas.microsoft.com/office/drawing/2014/main" id="{BA2BFE31-6505-DEBA-7CA7-4072EC46D38F}"/>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84" name="Google Shape;382;p18">
                  <a:extLst>
                    <a:ext uri="{FF2B5EF4-FFF2-40B4-BE49-F238E27FC236}">
                      <a16:creationId xmlns:a16="http://schemas.microsoft.com/office/drawing/2014/main" id="{6DEB09D4-25A4-5206-D325-0789DBE5EA82}"/>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85" name="Google Shape;383;p18">
                  <a:extLst>
                    <a:ext uri="{FF2B5EF4-FFF2-40B4-BE49-F238E27FC236}">
                      <a16:creationId xmlns:a16="http://schemas.microsoft.com/office/drawing/2014/main" id="{5FF36A60-0A44-574C-E174-05036EFB7DB2}"/>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86" name="Google Shape;384;p18">
                  <a:extLst>
                    <a:ext uri="{FF2B5EF4-FFF2-40B4-BE49-F238E27FC236}">
                      <a16:creationId xmlns:a16="http://schemas.microsoft.com/office/drawing/2014/main" id="{90911E33-6740-AC54-4156-7B4937D9B0D0}"/>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87" name="Google Shape;385;p18">
                  <a:extLst>
                    <a:ext uri="{FF2B5EF4-FFF2-40B4-BE49-F238E27FC236}">
                      <a16:creationId xmlns:a16="http://schemas.microsoft.com/office/drawing/2014/main" id="{5F633C03-B3B2-3D8D-74B3-1A7FF8E55E2E}"/>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8" name="Google Shape;386;p18">
                  <a:extLst>
                    <a:ext uri="{FF2B5EF4-FFF2-40B4-BE49-F238E27FC236}">
                      <a16:creationId xmlns:a16="http://schemas.microsoft.com/office/drawing/2014/main" id="{71D21213-3AC1-93C1-8661-22E2C0A8C49F}"/>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9" name="Google Shape;387;p18">
                  <a:extLst>
                    <a:ext uri="{FF2B5EF4-FFF2-40B4-BE49-F238E27FC236}">
                      <a16:creationId xmlns:a16="http://schemas.microsoft.com/office/drawing/2014/main" id="{FBB866A1-D7B3-6406-A769-20F3169332FF}"/>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376" name="Google Shape;388;p18">
              <a:extLst>
                <a:ext uri="{FF2B5EF4-FFF2-40B4-BE49-F238E27FC236}">
                  <a16:creationId xmlns:a16="http://schemas.microsoft.com/office/drawing/2014/main" id="{C95DFD73-E670-0C6F-6841-03B763A6EBEF}"/>
                </a:ext>
              </a:extLst>
            </p:cNvPr>
            <p:cNvSpPr txBox="1"/>
            <p:nvPr/>
          </p:nvSpPr>
          <p:spPr>
            <a:xfrm>
              <a:off x="8477126" y="2049850"/>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cxnSp>
          <p:nvCxnSpPr>
            <p:cNvPr id="377" name="Google Shape;389;p18">
              <a:extLst>
                <a:ext uri="{FF2B5EF4-FFF2-40B4-BE49-F238E27FC236}">
                  <a16:creationId xmlns:a16="http://schemas.microsoft.com/office/drawing/2014/main" id="{844C30FE-B71A-070E-C0A4-686290EBB39D}"/>
                </a:ext>
              </a:extLst>
            </p:cNvPr>
            <p:cNvCxnSpPr/>
            <p:nvPr/>
          </p:nvCxnSpPr>
          <p:spPr>
            <a:xfrm>
              <a:off x="8757253" y="2588620"/>
              <a:ext cx="0" cy="105900"/>
            </a:xfrm>
            <a:prstGeom prst="straightConnector1">
              <a:avLst/>
            </a:prstGeom>
            <a:noFill/>
            <a:ln w="9525" cap="flat" cmpd="sng">
              <a:solidFill>
                <a:schemeClr val="dk2"/>
              </a:solidFill>
              <a:prstDash val="dot"/>
              <a:round/>
              <a:headEnd type="none" w="med" len="med"/>
              <a:tailEnd type="none" w="med" len="med"/>
            </a:ln>
          </p:spPr>
        </p:cxnSp>
        <p:sp>
          <p:nvSpPr>
            <p:cNvPr id="378" name="Google Shape;390;p18">
              <a:extLst>
                <a:ext uri="{FF2B5EF4-FFF2-40B4-BE49-F238E27FC236}">
                  <a16:creationId xmlns:a16="http://schemas.microsoft.com/office/drawing/2014/main" id="{279B501A-DF0D-1C8A-0F22-58DF7E206C66}"/>
                </a:ext>
              </a:extLst>
            </p:cNvPr>
            <p:cNvSpPr/>
            <p:nvPr/>
          </p:nvSpPr>
          <p:spPr>
            <a:xfrm>
              <a:off x="8607990" y="271704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9" name="Google Shape;344;p18">
              <a:extLst>
                <a:ext uri="{FF2B5EF4-FFF2-40B4-BE49-F238E27FC236}">
                  <a16:creationId xmlns:a16="http://schemas.microsoft.com/office/drawing/2014/main" id="{8CE02508-EE8B-C091-B55D-F22CA79C59A5}"/>
                </a:ext>
              </a:extLst>
            </p:cNvPr>
            <p:cNvSpPr txBox="1"/>
            <p:nvPr/>
          </p:nvSpPr>
          <p:spPr>
            <a:xfrm>
              <a:off x="8629070" y="1075788"/>
              <a:ext cx="274200" cy="23835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(1)</a:t>
              </a:r>
              <a:endParaRPr sz="686" dirty="0">
                <a:solidFill>
                  <a:schemeClr val="dk2"/>
                </a:solidFill>
                <a:latin typeface="Source Sans 3"/>
                <a:ea typeface="Source Sans 3"/>
                <a:cs typeface="Source Sans 3"/>
                <a:sym typeface="Source Sans 3"/>
              </a:endParaRPr>
            </a:p>
          </p:txBody>
        </p:sp>
      </p:grpSp>
      <p:sp>
        <p:nvSpPr>
          <p:cNvPr id="404" name="Google Shape;394;p18">
            <a:extLst>
              <a:ext uri="{FF2B5EF4-FFF2-40B4-BE49-F238E27FC236}">
                <a16:creationId xmlns:a16="http://schemas.microsoft.com/office/drawing/2014/main" id="{2337CE67-0ABD-8DF0-B8E6-DFE4A3F75B47}"/>
              </a:ext>
            </a:extLst>
          </p:cNvPr>
          <p:cNvSpPr txBox="1"/>
          <p:nvPr/>
        </p:nvSpPr>
        <p:spPr>
          <a:xfrm>
            <a:off x="10963395" y="7010441"/>
            <a:ext cx="1433762" cy="10229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dirty="0" err="1">
                <a:solidFill>
                  <a:schemeClr val="dk2"/>
                </a:solidFill>
                <a:latin typeface="Source Sans 3"/>
                <a:ea typeface="Source Sans 3"/>
                <a:cs typeface="Source Sans 3"/>
                <a:sym typeface="Source Sans 3"/>
              </a:rPr>
              <a:t>sentiment_analysis.Rmd</a:t>
            </a:r>
            <a:endParaRPr sz="800" dirty="0">
              <a:solidFill>
                <a:schemeClr val="dk2"/>
              </a:solidFill>
              <a:latin typeface="Source Sans 3"/>
              <a:ea typeface="Source Sans 3"/>
              <a:cs typeface="Source Sans 3"/>
              <a:sym typeface="Source Sans 3"/>
            </a:endParaRPr>
          </a:p>
        </p:txBody>
      </p:sp>
      <p:graphicFrame>
        <p:nvGraphicFramePr>
          <p:cNvPr id="405" name="Table">
            <a:extLst>
              <a:ext uri="{FF2B5EF4-FFF2-40B4-BE49-F238E27FC236}">
                <a16:creationId xmlns:a16="http://schemas.microsoft.com/office/drawing/2014/main" id="{8E1F5788-37BA-2ADC-BA42-9FA3E69C097B}"/>
              </a:ext>
            </a:extLst>
          </p:cNvPr>
          <p:cNvGraphicFramePr/>
          <p:nvPr>
            <p:extLst>
              <p:ext uri="{D42A27DB-BD31-4B8C-83A1-F6EECF244321}">
                <p14:modId xmlns:p14="http://schemas.microsoft.com/office/powerpoint/2010/main" val="3724045655"/>
              </p:ext>
            </p:extLst>
          </p:nvPr>
        </p:nvGraphicFramePr>
        <p:xfrm>
          <a:off x="1067053" y="7756407"/>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406" name="Layout Suggestions">
            <a:extLst>
              <a:ext uri="{FF2B5EF4-FFF2-40B4-BE49-F238E27FC236}">
                <a16:creationId xmlns:a16="http://schemas.microsoft.com/office/drawing/2014/main" id="{F07332D5-C5C2-3DAD-73FC-E4FA041EA367}"/>
              </a:ext>
            </a:extLst>
          </p:cNvPr>
          <p:cNvSpPr txBox="1"/>
          <p:nvPr/>
        </p:nvSpPr>
        <p:spPr>
          <a:xfrm>
            <a:off x="159998" y="6661138"/>
            <a:ext cx="423108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Exploring Relevant Comments</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407" name="TextBox 406">
            <a:extLst>
              <a:ext uri="{FF2B5EF4-FFF2-40B4-BE49-F238E27FC236}">
                <a16:creationId xmlns:a16="http://schemas.microsoft.com/office/drawing/2014/main" id="{EA706000-F3B9-EFB8-BA9A-8DFCBCC9AA9D}"/>
              </a:ext>
            </a:extLst>
          </p:cNvPr>
          <p:cNvSpPr txBox="1"/>
          <p:nvPr/>
        </p:nvSpPr>
        <p:spPr>
          <a:xfrm>
            <a:off x="132572" y="6906908"/>
            <a:ext cx="4258512"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Sentiment labels span both main project repos and their forks. However, since forked repos contain a small fraction (&lt; 10%)  of labeled comments, only comments from the project’s main repo are kept.</a:t>
            </a:r>
          </a:p>
        </p:txBody>
      </p:sp>
      <p:sp>
        <p:nvSpPr>
          <p:cNvPr id="408" name="Rectangle 407">
            <a:extLst>
              <a:ext uri="{FF2B5EF4-FFF2-40B4-BE49-F238E27FC236}">
                <a16:creationId xmlns:a16="http://schemas.microsoft.com/office/drawing/2014/main" id="{74E37ADF-C770-500A-3F5E-8DC14DB535C4}"/>
              </a:ext>
            </a:extLst>
          </p:cNvPr>
          <p:cNvSpPr/>
          <p:nvPr/>
        </p:nvSpPr>
        <p:spPr>
          <a:xfrm>
            <a:off x="1275871" y="7887798"/>
            <a:ext cx="150229" cy="49034"/>
          </a:xfrm>
          <a:prstGeom prst="rect">
            <a:avLst/>
          </a:prstGeom>
          <a:solidFill>
            <a:schemeClr val="accent2"/>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09" name="Rectangle 408">
            <a:extLst>
              <a:ext uri="{FF2B5EF4-FFF2-40B4-BE49-F238E27FC236}">
                <a16:creationId xmlns:a16="http://schemas.microsoft.com/office/drawing/2014/main" id="{355C547C-608F-6BF7-9DDD-4B3992482309}"/>
              </a:ext>
            </a:extLst>
          </p:cNvPr>
          <p:cNvSpPr/>
          <p:nvPr/>
        </p:nvSpPr>
        <p:spPr>
          <a:xfrm>
            <a:off x="1348336" y="8006438"/>
            <a:ext cx="150229" cy="49034"/>
          </a:xfrm>
          <a:prstGeom prst="rect">
            <a:avLst/>
          </a:prstGeom>
          <a:solidFill>
            <a:schemeClr val="accent5"/>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0" name="Rectangle 409">
            <a:extLst>
              <a:ext uri="{FF2B5EF4-FFF2-40B4-BE49-F238E27FC236}">
                <a16:creationId xmlns:a16="http://schemas.microsoft.com/office/drawing/2014/main" id="{9D003429-523A-EF4C-4213-443485514FE2}"/>
              </a:ext>
            </a:extLst>
          </p:cNvPr>
          <p:cNvSpPr/>
          <p:nvPr/>
        </p:nvSpPr>
        <p:spPr>
          <a:xfrm>
            <a:off x="1275871" y="8131170"/>
            <a:ext cx="150229" cy="49034"/>
          </a:xfrm>
          <a:prstGeom prst="rect">
            <a:avLst/>
          </a:prstGeom>
          <a:solidFill>
            <a:schemeClr val="tx2"/>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1" name="Rectangle 410">
            <a:extLst>
              <a:ext uri="{FF2B5EF4-FFF2-40B4-BE49-F238E27FC236}">
                <a16:creationId xmlns:a16="http://schemas.microsoft.com/office/drawing/2014/main" id="{15517BE3-2313-EFF4-6E35-8A965593BE87}"/>
              </a:ext>
            </a:extLst>
          </p:cNvPr>
          <p:cNvSpPr/>
          <p:nvPr/>
        </p:nvSpPr>
        <p:spPr>
          <a:xfrm>
            <a:off x="1350986" y="8242829"/>
            <a:ext cx="150229" cy="49034"/>
          </a:xfrm>
          <a:prstGeom prst="rect">
            <a:avLst/>
          </a:prstGeom>
          <a:solidFill>
            <a:schemeClr val="accent2"/>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2" name="TextBox 411">
            <a:extLst>
              <a:ext uri="{FF2B5EF4-FFF2-40B4-BE49-F238E27FC236}">
                <a16:creationId xmlns:a16="http://schemas.microsoft.com/office/drawing/2014/main" id="{7B37B61C-CBA4-6C83-FA8C-97B2B67F27F2}"/>
              </a:ext>
            </a:extLst>
          </p:cNvPr>
          <p:cNvSpPr txBox="1"/>
          <p:nvPr/>
        </p:nvSpPr>
        <p:spPr>
          <a:xfrm>
            <a:off x="863550" y="8295048"/>
            <a:ext cx="10348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Main Repo</a:t>
            </a:r>
            <a:endParaRPr lang="en-US" sz="800" b="0" dirty="0"/>
          </a:p>
        </p:txBody>
      </p:sp>
      <p:sp>
        <p:nvSpPr>
          <p:cNvPr id="413" name="TextBox 412">
            <a:extLst>
              <a:ext uri="{FF2B5EF4-FFF2-40B4-BE49-F238E27FC236}">
                <a16:creationId xmlns:a16="http://schemas.microsoft.com/office/drawing/2014/main" id="{FB2E95AD-4A01-480E-3231-9935D78E5D9F}"/>
              </a:ext>
            </a:extLst>
          </p:cNvPr>
          <p:cNvSpPr txBox="1"/>
          <p:nvPr/>
        </p:nvSpPr>
        <p:spPr>
          <a:xfrm>
            <a:off x="1958832" y="8313373"/>
            <a:ext cx="10348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Fork Repo</a:t>
            </a:r>
            <a:endParaRPr lang="en-US" sz="800" b="0" dirty="0"/>
          </a:p>
        </p:txBody>
      </p:sp>
      <p:graphicFrame>
        <p:nvGraphicFramePr>
          <p:cNvPr id="414" name="Table">
            <a:extLst>
              <a:ext uri="{FF2B5EF4-FFF2-40B4-BE49-F238E27FC236}">
                <a16:creationId xmlns:a16="http://schemas.microsoft.com/office/drawing/2014/main" id="{3A1FEBE6-E4B8-D79B-95CD-27AC6E7C9AA8}"/>
              </a:ext>
            </a:extLst>
          </p:cNvPr>
          <p:cNvGraphicFramePr/>
          <p:nvPr>
            <p:extLst>
              <p:ext uri="{D42A27DB-BD31-4B8C-83A1-F6EECF244321}">
                <p14:modId xmlns:p14="http://schemas.microsoft.com/office/powerpoint/2010/main" val="1574097958"/>
              </p:ext>
            </p:extLst>
          </p:nvPr>
        </p:nvGraphicFramePr>
        <p:xfrm>
          <a:off x="2173456" y="7753034"/>
          <a:ext cx="627864" cy="356253"/>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bl>
          </a:graphicData>
        </a:graphic>
      </p:graphicFrame>
      <p:sp>
        <p:nvSpPr>
          <p:cNvPr id="415" name="Rectangle 414">
            <a:extLst>
              <a:ext uri="{FF2B5EF4-FFF2-40B4-BE49-F238E27FC236}">
                <a16:creationId xmlns:a16="http://schemas.microsoft.com/office/drawing/2014/main" id="{6F78B836-6C21-C03F-CE87-A4541537EF59}"/>
              </a:ext>
            </a:extLst>
          </p:cNvPr>
          <p:cNvSpPr/>
          <p:nvPr/>
        </p:nvSpPr>
        <p:spPr>
          <a:xfrm>
            <a:off x="2392187" y="7900921"/>
            <a:ext cx="150229" cy="49034"/>
          </a:xfrm>
          <a:prstGeom prst="rect">
            <a:avLst/>
          </a:prstGeom>
          <a:solidFill>
            <a:schemeClr val="accent2"/>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16" name="Rectangle 415">
            <a:extLst>
              <a:ext uri="{FF2B5EF4-FFF2-40B4-BE49-F238E27FC236}">
                <a16:creationId xmlns:a16="http://schemas.microsoft.com/office/drawing/2014/main" id="{EA86D925-8738-967D-D409-5D0C5DB90747}"/>
              </a:ext>
            </a:extLst>
          </p:cNvPr>
          <p:cNvSpPr/>
          <p:nvPr/>
        </p:nvSpPr>
        <p:spPr>
          <a:xfrm>
            <a:off x="2464652" y="8019561"/>
            <a:ext cx="150229" cy="49034"/>
          </a:xfrm>
          <a:prstGeom prst="rect">
            <a:avLst/>
          </a:prstGeom>
          <a:solidFill>
            <a:schemeClr val="accent5"/>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17" name="Straight Connector 416">
            <a:extLst>
              <a:ext uri="{FF2B5EF4-FFF2-40B4-BE49-F238E27FC236}">
                <a16:creationId xmlns:a16="http://schemas.microsoft.com/office/drawing/2014/main" id="{5B63A723-E2E8-409C-C0D9-63F3BCBCAAD6}"/>
              </a:ext>
            </a:extLst>
          </p:cNvPr>
          <p:cNvCxnSpPr>
            <a:cxnSpLocks/>
          </p:cNvCxnSpPr>
          <p:nvPr/>
        </p:nvCxnSpPr>
        <p:spPr>
          <a:xfrm>
            <a:off x="2120855" y="7696256"/>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cxnSp>
        <p:nvCxnSpPr>
          <p:cNvPr id="418" name="Straight Connector 417">
            <a:extLst>
              <a:ext uri="{FF2B5EF4-FFF2-40B4-BE49-F238E27FC236}">
                <a16:creationId xmlns:a16="http://schemas.microsoft.com/office/drawing/2014/main" id="{B6D39C3B-ADB0-CCBF-8885-0BDCF93A6CDC}"/>
              </a:ext>
            </a:extLst>
          </p:cNvPr>
          <p:cNvCxnSpPr>
            <a:cxnSpLocks/>
          </p:cNvCxnSpPr>
          <p:nvPr/>
        </p:nvCxnSpPr>
        <p:spPr>
          <a:xfrm flipV="1">
            <a:off x="2134108" y="7704154"/>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sp>
        <p:nvSpPr>
          <p:cNvPr id="419" name="TextBox 418">
            <a:extLst>
              <a:ext uri="{FF2B5EF4-FFF2-40B4-BE49-F238E27FC236}">
                <a16:creationId xmlns:a16="http://schemas.microsoft.com/office/drawing/2014/main" id="{469DA257-B913-AAC4-28F1-5605763FD163}"/>
              </a:ext>
            </a:extLst>
          </p:cNvPr>
          <p:cNvSpPr txBox="1"/>
          <p:nvPr/>
        </p:nvSpPr>
        <p:spPr>
          <a:xfrm>
            <a:off x="142917" y="8602715"/>
            <a:ext cx="4346831"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Jira Emotion CSV contains emotion labels manually determined from multiple raters. Only comments with labels that show higher inter-rater agreement are kept.</a:t>
            </a:r>
          </a:p>
        </p:txBody>
      </p:sp>
      <p:pic>
        <p:nvPicPr>
          <p:cNvPr id="420" name="Graphic 419" descr="Users with solid fill">
            <a:extLst>
              <a:ext uri="{FF2B5EF4-FFF2-40B4-BE49-F238E27FC236}">
                <a16:creationId xmlns:a16="http://schemas.microsoft.com/office/drawing/2014/main" id="{CBE50AB2-9695-20BD-19D8-B05C9BA0E05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8404" y="9419076"/>
            <a:ext cx="668157" cy="668157"/>
          </a:xfrm>
          <a:prstGeom prst="rect">
            <a:avLst/>
          </a:prstGeom>
        </p:spPr>
      </p:pic>
      <p:sp>
        <p:nvSpPr>
          <p:cNvPr id="421" name="Google Shape;338;p18">
            <a:extLst>
              <a:ext uri="{FF2B5EF4-FFF2-40B4-BE49-F238E27FC236}">
                <a16:creationId xmlns:a16="http://schemas.microsoft.com/office/drawing/2014/main" id="{62A2ED53-4E6D-54C2-36AC-7AB060E1294F}"/>
              </a:ext>
            </a:extLst>
          </p:cNvPr>
          <p:cNvSpPr/>
          <p:nvPr/>
        </p:nvSpPr>
        <p:spPr>
          <a:xfrm>
            <a:off x="1573813" y="9356815"/>
            <a:ext cx="387998" cy="258963"/>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2" name="Google Shape;338;p18">
            <a:extLst>
              <a:ext uri="{FF2B5EF4-FFF2-40B4-BE49-F238E27FC236}">
                <a16:creationId xmlns:a16="http://schemas.microsoft.com/office/drawing/2014/main" id="{AF81669B-3B08-319A-E73E-C399195AD673}"/>
              </a:ext>
            </a:extLst>
          </p:cNvPr>
          <p:cNvSpPr/>
          <p:nvPr/>
        </p:nvSpPr>
        <p:spPr>
          <a:xfrm>
            <a:off x="2560768" y="9359550"/>
            <a:ext cx="387998" cy="258963"/>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23" name="Graphic 422" descr="Smiling face outline with solid fill">
            <a:extLst>
              <a:ext uri="{FF2B5EF4-FFF2-40B4-BE49-F238E27FC236}">
                <a16:creationId xmlns:a16="http://schemas.microsoft.com/office/drawing/2014/main" id="{1C8FBA4B-EE5F-CECF-29DE-CDDCCCD0F7F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38863" y="9349085"/>
            <a:ext cx="273841" cy="273841"/>
          </a:xfrm>
          <a:prstGeom prst="rect">
            <a:avLst/>
          </a:prstGeom>
        </p:spPr>
      </p:pic>
      <p:pic>
        <p:nvPicPr>
          <p:cNvPr id="424" name="Graphic 423" descr="Sad face outline with solid fill">
            <a:extLst>
              <a:ext uri="{FF2B5EF4-FFF2-40B4-BE49-F238E27FC236}">
                <a16:creationId xmlns:a16="http://schemas.microsoft.com/office/drawing/2014/main" id="{0ADCDE54-39D2-AD4E-A513-591C229A3A1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626885" y="9352708"/>
            <a:ext cx="270117" cy="270117"/>
          </a:xfrm>
          <a:prstGeom prst="rect">
            <a:avLst/>
          </a:prstGeom>
        </p:spPr>
      </p:pic>
      <p:pic>
        <p:nvPicPr>
          <p:cNvPr id="425" name="Graphic 424" descr="User with solid fill">
            <a:extLst>
              <a:ext uri="{FF2B5EF4-FFF2-40B4-BE49-F238E27FC236}">
                <a16:creationId xmlns:a16="http://schemas.microsoft.com/office/drawing/2014/main" id="{1073E141-CC54-0857-CF93-4824051D15B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222006" y="9525702"/>
            <a:ext cx="453647" cy="453647"/>
          </a:xfrm>
          <a:prstGeom prst="rect">
            <a:avLst/>
          </a:prstGeom>
        </p:spPr>
      </p:pic>
      <p:cxnSp>
        <p:nvCxnSpPr>
          <p:cNvPr id="426" name="Straight Connector 425">
            <a:extLst>
              <a:ext uri="{FF2B5EF4-FFF2-40B4-BE49-F238E27FC236}">
                <a16:creationId xmlns:a16="http://schemas.microsoft.com/office/drawing/2014/main" id="{32B5F069-C4D2-5122-FD59-D8B8CC97DD4A}"/>
              </a:ext>
            </a:extLst>
          </p:cNvPr>
          <p:cNvCxnSpPr>
            <a:cxnSpLocks/>
          </p:cNvCxnSpPr>
          <p:nvPr/>
        </p:nvCxnSpPr>
        <p:spPr>
          <a:xfrm>
            <a:off x="2259562" y="9366703"/>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cxnSp>
        <p:nvCxnSpPr>
          <p:cNvPr id="427" name="Straight Connector 426">
            <a:extLst>
              <a:ext uri="{FF2B5EF4-FFF2-40B4-BE49-F238E27FC236}">
                <a16:creationId xmlns:a16="http://schemas.microsoft.com/office/drawing/2014/main" id="{F681AC2E-0670-52A9-379B-A557641A9F46}"/>
              </a:ext>
            </a:extLst>
          </p:cNvPr>
          <p:cNvCxnSpPr>
            <a:cxnSpLocks/>
          </p:cNvCxnSpPr>
          <p:nvPr/>
        </p:nvCxnSpPr>
        <p:spPr>
          <a:xfrm flipV="1">
            <a:off x="2272815" y="9374601"/>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sp>
        <p:nvSpPr>
          <p:cNvPr id="428" name="Line">
            <a:extLst>
              <a:ext uri="{FF2B5EF4-FFF2-40B4-BE49-F238E27FC236}">
                <a16:creationId xmlns:a16="http://schemas.microsoft.com/office/drawing/2014/main" id="{460CF3E6-663B-662B-CA38-498397BA55CE}"/>
              </a:ext>
            </a:extLst>
          </p:cNvPr>
          <p:cNvSpPr/>
          <p:nvPr/>
        </p:nvSpPr>
        <p:spPr>
          <a:xfrm flipH="1" flipV="1">
            <a:off x="3154971" y="4050753"/>
            <a:ext cx="1" cy="945321"/>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29" name="TextBox 428">
            <a:extLst>
              <a:ext uri="{FF2B5EF4-FFF2-40B4-BE49-F238E27FC236}">
                <a16:creationId xmlns:a16="http://schemas.microsoft.com/office/drawing/2014/main" id="{F5F159B4-A849-D907-3ED4-CE8D9A92F866}"/>
              </a:ext>
            </a:extLst>
          </p:cNvPr>
          <p:cNvSpPr txBox="1"/>
          <p:nvPr/>
        </p:nvSpPr>
        <p:spPr>
          <a:xfrm>
            <a:off x="3221935" y="4247371"/>
            <a:ext cx="97054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Sentiment</a:t>
            </a:r>
          </a:p>
        </p:txBody>
      </p:sp>
      <p:sp>
        <p:nvSpPr>
          <p:cNvPr id="430" name="Line">
            <a:extLst>
              <a:ext uri="{FF2B5EF4-FFF2-40B4-BE49-F238E27FC236}">
                <a16:creationId xmlns:a16="http://schemas.microsoft.com/office/drawing/2014/main" id="{FDFC7D77-7C6D-6714-00C1-4820211F4F28}"/>
              </a:ext>
            </a:extLst>
          </p:cNvPr>
          <p:cNvSpPr/>
          <p:nvPr/>
        </p:nvSpPr>
        <p:spPr>
          <a:xfrm flipH="1" flipV="1">
            <a:off x="3162257" y="5448883"/>
            <a:ext cx="1" cy="945321"/>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31" name="TextBox 430">
            <a:extLst>
              <a:ext uri="{FF2B5EF4-FFF2-40B4-BE49-F238E27FC236}">
                <a16:creationId xmlns:a16="http://schemas.microsoft.com/office/drawing/2014/main" id="{5B005D9B-47E5-E3D4-B2D5-C2FD9A792A25}"/>
              </a:ext>
            </a:extLst>
          </p:cNvPr>
          <p:cNvSpPr txBox="1"/>
          <p:nvPr/>
        </p:nvSpPr>
        <p:spPr>
          <a:xfrm>
            <a:off x="3229221" y="5645501"/>
            <a:ext cx="97054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Emotion</a:t>
            </a:r>
          </a:p>
        </p:txBody>
      </p:sp>
      <p:pic>
        <p:nvPicPr>
          <p:cNvPr id="432" name="Picture 431" descr="A picture containing text&#10;&#10;Description automatically generated">
            <a:extLst>
              <a:ext uri="{FF2B5EF4-FFF2-40B4-BE49-F238E27FC236}">
                <a16:creationId xmlns:a16="http://schemas.microsoft.com/office/drawing/2014/main" id="{9E3A0CF9-A7E0-292B-77B2-46591826630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11428" y="4383757"/>
            <a:ext cx="585008" cy="679364"/>
          </a:xfrm>
          <a:prstGeom prst="rect">
            <a:avLst/>
          </a:prstGeom>
        </p:spPr>
      </p:pic>
      <p:sp>
        <p:nvSpPr>
          <p:cNvPr id="433" name="TextBox 432">
            <a:extLst>
              <a:ext uri="{FF2B5EF4-FFF2-40B4-BE49-F238E27FC236}">
                <a16:creationId xmlns:a16="http://schemas.microsoft.com/office/drawing/2014/main" id="{82D9AED6-BB5D-D09B-9299-B1B3BC543554}"/>
              </a:ext>
            </a:extLst>
          </p:cNvPr>
          <p:cNvSpPr txBox="1"/>
          <p:nvPr/>
        </p:nvSpPr>
        <p:spPr>
          <a:xfrm>
            <a:off x="7198911" y="9130878"/>
            <a:ext cx="72095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err="1"/>
              <a:t>sailuh</a:t>
            </a:r>
            <a:r>
              <a:rPr lang="en-US" sz="800" b="0" dirty="0"/>
              <a:t>/</a:t>
            </a:r>
            <a:r>
              <a:rPr lang="en-US" sz="800" b="0" dirty="0" err="1"/>
              <a:t>kaiaulu</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434" name="Picture 433" descr="A picture containing text&#10;&#10;Description automatically generated">
            <a:extLst>
              <a:ext uri="{FF2B5EF4-FFF2-40B4-BE49-F238E27FC236}">
                <a16:creationId xmlns:a16="http://schemas.microsoft.com/office/drawing/2014/main" id="{B80AE709-8AB2-5CB0-6C46-B1B54F1B2A3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75383" y="8468874"/>
            <a:ext cx="585008" cy="679364"/>
          </a:xfrm>
          <a:prstGeom prst="rect">
            <a:avLst/>
          </a:prstGeom>
        </p:spPr>
      </p:pic>
      <p:sp>
        <p:nvSpPr>
          <p:cNvPr id="435" name="Can 434">
            <a:extLst>
              <a:ext uri="{FF2B5EF4-FFF2-40B4-BE49-F238E27FC236}">
                <a16:creationId xmlns:a16="http://schemas.microsoft.com/office/drawing/2014/main" id="{760B1A91-C537-4295-6BE7-E46FFDBFD7AE}"/>
              </a:ext>
            </a:extLst>
          </p:cNvPr>
          <p:cNvSpPr/>
          <p:nvPr/>
        </p:nvSpPr>
        <p:spPr>
          <a:xfrm>
            <a:off x="2164242" y="5501642"/>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36" name="Can 435">
            <a:extLst>
              <a:ext uri="{FF2B5EF4-FFF2-40B4-BE49-F238E27FC236}">
                <a16:creationId xmlns:a16="http://schemas.microsoft.com/office/drawing/2014/main" id="{D9A82827-3154-1EF7-2EB6-37B846668887}"/>
              </a:ext>
            </a:extLst>
          </p:cNvPr>
          <p:cNvSpPr/>
          <p:nvPr/>
        </p:nvSpPr>
        <p:spPr>
          <a:xfrm>
            <a:off x="8107362" y="2662290"/>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37" name="Can 436">
            <a:extLst>
              <a:ext uri="{FF2B5EF4-FFF2-40B4-BE49-F238E27FC236}">
                <a16:creationId xmlns:a16="http://schemas.microsoft.com/office/drawing/2014/main" id="{1F6F829C-D373-2C22-CFC6-01C727328C35}"/>
              </a:ext>
            </a:extLst>
          </p:cNvPr>
          <p:cNvSpPr/>
          <p:nvPr/>
        </p:nvSpPr>
        <p:spPr>
          <a:xfrm>
            <a:off x="8060713" y="6674341"/>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438" name="Connector: Elbow 504">
            <a:extLst>
              <a:ext uri="{FF2B5EF4-FFF2-40B4-BE49-F238E27FC236}">
                <a16:creationId xmlns:a16="http://schemas.microsoft.com/office/drawing/2014/main" id="{0080E759-F15E-2E72-8797-BB3F4654FB09}"/>
              </a:ext>
            </a:extLst>
          </p:cNvPr>
          <p:cNvCxnSpPr>
            <a:cxnSpLocks/>
            <a:endCxn id="342" idx="1"/>
          </p:cNvCxnSpPr>
          <p:nvPr/>
        </p:nvCxnSpPr>
        <p:spPr>
          <a:xfrm>
            <a:off x="10264774" y="8108060"/>
            <a:ext cx="260324" cy="6619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439" name="Group 438">
            <a:extLst>
              <a:ext uri="{FF2B5EF4-FFF2-40B4-BE49-F238E27FC236}">
                <a16:creationId xmlns:a16="http://schemas.microsoft.com/office/drawing/2014/main" id="{66429F57-E359-ABA2-CF0D-62BB8618E5FE}"/>
              </a:ext>
            </a:extLst>
          </p:cNvPr>
          <p:cNvGrpSpPr/>
          <p:nvPr/>
        </p:nvGrpSpPr>
        <p:grpSpPr>
          <a:xfrm>
            <a:off x="10255192" y="8324484"/>
            <a:ext cx="258099" cy="400772"/>
            <a:chOff x="4995414" y="5124450"/>
            <a:chExt cx="279788" cy="627063"/>
          </a:xfrm>
        </p:grpSpPr>
        <p:cxnSp>
          <p:nvCxnSpPr>
            <p:cNvPr id="440" name="Straight Connector 439">
              <a:extLst>
                <a:ext uri="{FF2B5EF4-FFF2-40B4-BE49-F238E27FC236}">
                  <a16:creationId xmlns:a16="http://schemas.microsoft.com/office/drawing/2014/main" id="{F9CCFD00-3D81-73DD-69D3-AA9E73317EE4}"/>
                </a:ext>
              </a:extLst>
            </p:cNvPr>
            <p:cNvCxnSpPr>
              <a:cxnSpLocks/>
            </p:cNvCxnSpPr>
            <p:nvPr/>
          </p:nvCxnSpPr>
          <p:spPr>
            <a:xfrm>
              <a:off x="4995414" y="5748338"/>
              <a:ext cx="157186" cy="0"/>
            </a:xfrm>
            <a:prstGeom prst="line">
              <a:avLst/>
            </a:prstGeom>
          </p:spPr>
          <p:style>
            <a:lnRef idx="1">
              <a:schemeClr val="dk1"/>
            </a:lnRef>
            <a:fillRef idx="0">
              <a:schemeClr val="dk1"/>
            </a:fillRef>
            <a:effectRef idx="0">
              <a:schemeClr val="dk1"/>
            </a:effectRef>
            <a:fontRef idx="minor">
              <a:schemeClr val="tx1"/>
            </a:fontRef>
          </p:style>
        </p:cxnSp>
        <p:cxnSp>
          <p:nvCxnSpPr>
            <p:cNvPr id="441" name="Straight Connector 440">
              <a:extLst>
                <a:ext uri="{FF2B5EF4-FFF2-40B4-BE49-F238E27FC236}">
                  <a16:creationId xmlns:a16="http://schemas.microsoft.com/office/drawing/2014/main" id="{EC220F6E-7D05-A673-9850-79DA46AE9613}"/>
                </a:ext>
              </a:extLst>
            </p:cNvPr>
            <p:cNvCxnSpPr/>
            <p:nvPr/>
          </p:nvCxnSpPr>
          <p:spPr>
            <a:xfrm flipV="1">
              <a:off x="5152600" y="5124450"/>
              <a:ext cx="0" cy="627063"/>
            </a:xfrm>
            <a:prstGeom prst="line">
              <a:avLst/>
            </a:prstGeom>
          </p:spPr>
          <p:style>
            <a:lnRef idx="1">
              <a:schemeClr val="dk1"/>
            </a:lnRef>
            <a:fillRef idx="0">
              <a:schemeClr val="dk1"/>
            </a:fillRef>
            <a:effectRef idx="0">
              <a:schemeClr val="dk1"/>
            </a:effectRef>
            <a:fontRef idx="minor">
              <a:schemeClr val="tx1"/>
            </a:fontRef>
          </p:style>
        </p:cxnSp>
        <p:cxnSp>
          <p:nvCxnSpPr>
            <p:cNvPr id="442" name="Straight Arrow Connector 441">
              <a:extLst>
                <a:ext uri="{FF2B5EF4-FFF2-40B4-BE49-F238E27FC236}">
                  <a16:creationId xmlns:a16="http://schemas.microsoft.com/office/drawing/2014/main" id="{EDEE88CC-AA17-435E-45D8-35538560A24F}"/>
                </a:ext>
              </a:extLst>
            </p:cNvPr>
            <p:cNvCxnSpPr/>
            <p:nvPr/>
          </p:nvCxnSpPr>
          <p:spPr>
            <a:xfrm>
              <a:off x="5152600" y="5129213"/>
              <a:ext cx="1226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443" name="Group 442">
            <a:extLst>
              <a:ext uri="{FF2B5EF4-FFF2-40B4-BE49-F238E27FC236}">
                <a16:creationId xmlns:a16="http://schemas.microsoft.com/office/drawing/2014/main" id="{558AF676-3F9C-A9DD-9BD6-8BB20E7C9692}"/>
              </a:ext>
            </a:extLst>
          </p:cNvPr>
          <p:cNvGrpSpPr/>
          <p:nvPr/>
        </p:nvGrpSpPr>
        <p:grpSpPr>
          <a:xfrm>
            <a:off x="10273320" y="7711032"/>
            <a:ext cx="246605" cy="248161"/>
            <a:chOff x="4995414" y="4014788"/>
            <a:chExt cx="318346" cy="642937"/>
          </a:xfrm>
        </p:grpSpPr>
        <p:cxnSp>
          <p:nvCxnSpPr>
            <p:cNvPr id="444" name="Straight Connector 443">
              <a:extLst>
                <a:ext uri="{FF2B5EF4-FFF2-40B4-BE49-F238E27FC236}">
                  <a16:creationId xmlns:a16="http://schemas.microsoft.com/office/drawing/2014/main" id="{87DE306C-5E0F-F436-957F-DB1BE854DE50}"/>
                </a:ext>
              </a:extLst>
            </p:cNvPr>
            <p:cNvCxnSpPr>
              <a:cxnSpLocks/>
            </p:cNvCxnSpPr>
            <p:nvPr/>
          </p:nvCxnSpPr>
          <p:spPr>
            <a:xfrm>
              <a:off x="4995414" y="4014788"/>
              <a:ext cx="175470" cy="0"/>
            </a:xfrm>
            <a:prstGeom prst="line">
              <a:avLst/>
            </a:prstGeom>
          </p:spPr>
          <p:style>
            <a:lnRef idx="1">
              <a:schemeClr val="dk1"/>
            </a:lnRef>
            <a:fillRef idx="0">
              <a:schemeClr val="dk1"/>
            </a:fillRef>
            <a:effectRef idx="0">
              <a:schemeClr val="dk1"/>
            </a:effectRef>
            <a:fontRef idx="minor">
              <a:schemeClr val="tx1"/>
            </a:fontRef>
          </p:style>
        </p:cxnSp>
        <p:cxnSp>
          <p:nvCxnSpPr>
            <p:cNvPr id="445" name="Straight Connector 444">
              <a:extLst>
                <a:ext uri="{FF2B5EF4-FFF2-40B4-BE49-F238E27FC236}">
                  <a16:creationId xmlns:a16="http://schemas.microsoft.com/office/drawing/2014/main" id="{64566BB2-965C-E62C-6555-4496BF23E0DD}"/>
                </a:ext>
              </a:extLst>
            </p:cNvPr>
            <p:cNvCxnSpPr/>
            <p:nvPr/>
          </p:nvCxnSpPr>
          <p:spPr>
            <a:xfrm>
              <a:off x="5168503" y="4014788"/>
              <a:ext cx="0" cy="642937"/>
            </a:xfrm>
            <a:prstGeom prst="line">
              <a:avLst/>
            </a:prstGeom>
          </p:spPr>
          <p:style>
            <a:lnRef idx="1">
              <a:schemeClr val="dk1"/>
            </a:lnRef>
            <a:fillRef idx="0">
              <a:schemeClr val="dk1"/>
            </a:fillRef>
            <a:effectRef idx="0">
              <a:schemeClr val="dk1"/>
            </a:effectRef>
            <a:fontRef idx="minor">
              <a:schemeClr val="tx1"/>
            </a:fontRef>
          </p:style>
        </p:cxnSp>
        <p:cxnSp>
          <p:nvCxnSpPr>
            <p:cNvPr id="446" name="Straight Arrow Connector 445">
              <a:extLst>
                <a:ext uri="{FF2B5EF4-FFF2-40B4-BE49-F238E27FC236}">
                  <a16:creationId xmlns:a16="http://schemas.microsoft.com/office/drawing/2014/main" id="{4A15D611-E059-D1B1-1DC0-27583EF6F06F}"/>
                </a:ext>
              </a:extLst>
            </p:cNvPr>
            <p:cNvCxnSpPr/>
            <p:nvPr/>
          </p:nvCxnSpPr>
          <p:spPr>
            <a:xfrm>
              <a:off x="5163741" y="4657725"/>
              <a:ext cx="1500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47" name="TextBox 446">
            <a:extLst>
              <a:ext uri="{FF2B5EF4-FFF2-40B4-BE49-F238E27FC236}">
                <a16:creationId xmlns:a16="http://schemas.microsoft.com/office/drawing/2014/main" id="{3F5B357F-610E-CCAE-AA5A-D8DF2643C26F}"/>
              </a:ext>
            </a:extLst>
          </p:cNvPr>
          <p:cNvSpPr txBox="1"/>
          <p:nvPr/>
        </p:nvSpPr>
        <p:spPr>
          <a:xfrm>
            <a:off x="-2599075" y="1256962"/>
            <a:ext cx="1894349" cy="5975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3000" b="1" i="0" u="none" strike="noStrike" cap="none" spc="0" normalizeH="0" baseline="0" dirty="0">
                <a:ln>
                  <a:noFill/>
                </a:ln>
                <a:solidFill>
                  <a:srgbClr val="4C4C4C"/>
                </a:solidFill>
                <a:effectLst/>
                <a:uFillTx/>
                <a:latin typeface="Source Sans Pro"/>
                <a:ea typeface="Source Sans Pro"/>
                <a:cs typeface="Source Sans Pro"/>
                <a:sym typeface="Source Sans Pro"/>
              </a:rPr>
              <a:t>Iteration 6</a:t>
            </a:r>
          </a:p>
        </p:txBody>
      </p:sp>
    </p:spTree>
    <p:extLst>
      <p:ext uri="{BB962C8B-B14F-4D97-AF65-F5344CB8AC3E}">
        <p14:creationId xmlns:p14="http://schemas.microsoft.com/office/powerpoint/2010/main" val="365730496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3FEE7-F0C4-B370-93EF-4F882BBB5421}"/>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70DE6F40-DEDB-2804-68D3-63B21BB7A3C3}"/>
              </a:ext>
            </a:extLst>
          </p:cNvPr>
          <p:cNvPicPr>
            <a:picLocks noGrp="1" noRot="1" noChangeAspect="1" noMove="1" noResize="1" noEditPoints="1" noAdjustHandles="1" noChangeArrowheads="1" noChangeShapeType="1" noCrop="1"/>
          </p:cNvPicPr>
          <p:nvPr/>
        </p:nvPicPr>
        <p:blipFill>
          <a:blip r:embed="rId3"/>
          <a:stretch>
            <a:fillRect/>
          </a:stretch>
        </p:blipFill>
        <p:spPr>
          <a:xfrm>
            <a:off x="8397917" y="-673983"/>
            <a:ext cx="5598432" cy="2990088"/>
          </a:xfrm>
          <a:prstGeom prst="rect">
            <a:avLst/>
          </a:prstGeom>
          <a:ln w="12700">
            <a:miter lim="400000"/>
          </a:ln>
        </p:spPr>
      </p:pic>
      <p:sp>
        <p:nvSpPr>
          <p:cNvPr id="312" name="Line">
            <a:extLst>
              <a:ext uri="{FF2B5EF4-FFF2-40B4-BE49-F238E27FC236}">
                <a16:creationId xmlns:a16="http://schemas.microsoft.com/office/drawing/2014/main" id="{0F0E8141-97FF-867E-B4F6-6C449AE9031D}"/>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 name="Line">
            <a:extLst>
              <a:ext uri="{FF2B5EF4-FFF2-40B4-BE49-F238E27FC236}">
                <a16:creationId xmlns:a16="http://schemas.microsoft.com/office/drawing/2014/main" id="{F08E9FFF-F8C5-23AC-D9C7-A75A31DC439E}"/>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 name="YOUR LOGO…">
            <a:extLst>
              <a:ext uri="{FF2B5EF4-FFF2-40B4-BE49-F238E27FC236}">
                <a16:creationId xmlns:a16="http://schemas.microsoft.com/office/drawing/2014/main" id="{70411AE7-CCA8-DB87-C86D-76208C09838A}"/>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err="1"/>
              <a:t>Kaiāulu</a:t>
            </a:r>
            <a:endParaRPr sz="2400" dirty="0"/>
          </a:p>
        </p:txBody>
      </p:sp>
      <p:sp>
        <p:nvSpPr>
          <p:cNvPr id="4" name="Three Column Layout: : CHEAT SHEET">
            <a:extLst>
              <a:ext uri="{FF2B5EF4-FFF2-40B4-BE49-F238E27FC236}">
                <a16:creationId xmlns:a16="http://schemas.microsoft.com/office/drawing/2014/main" id="{F5DA6682-F28B-E80C-5E16-13F698A9535E}"/>
              </a:ext>
            </a:extLst>
          </p:cNvPr>
          <p:cNvSpPr txBox="1">
            <a:spLocks noGrp="1"/>
          </p:cNvSpPr>
          <p:nvPr>
            <p:ph type="title"/>
          </p:nvPr>
        </p:nvSpPr>
        <p:spPr>
          <a:xfrm>
            <a:off x="275721" y="361177"/>
            <a:ext cx="10898129" cy="803346"/>
          </a:xfrm>
          <a:prstGeom prst="rect">
            <a:avLst/>
          </a:prstGeom>
        </p:spPr>
        <p:txBody>
          <a:bodyPr lIns="0" tIns="0" rIns="0" bIns="0" anchor="t">
            <a:normAutofit fontScale="90000"/>
          </a:bodyPr>
          <a:lstStyle/>
          <a:p>
            <a:r>
              <a:rPr lang="en-US" dirty="0"/>
              <a:t>Sentiment and Emotion Datasets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5" name="Use headers, colors, and/or backgrounds to separate or group together sections.">
            <a:extLst>
              <a:ext uri="{FF2B5EF4-FFF2-40B4-BE49-F238E27FC236}">
                <a16:creationId xmlns:a16="http://schemas.microsoft.com/office/drawing/2014/main" id="{353C34FC-173F-C71C-1899-A4C28D35238C}"/>
              </a:ext>
            </a:extLst>
          </p:cNvPr>
          <p:cNvSpPr txBox="1"/>
          <p:nvPr/>
        </p:nvSpPr>
        <p:spPr>
          <a:xfrm>
            <a:off x="219190" y="1892216"/>
            <a:ext cx="4336216" cy="1439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lvl="0">
              <a:lnSpc>
                <a:spcPct val="90000"/>
              </a:lnSpc>
              <a:buSzPts val="3700"/>
            </a:pPr>
            <a:r>
              <a:rPr lang="en-US" b="0" dirty="0"/>
              <a:t>Manually annotated sentiment/emotion labels can be useful for training and evaluating novel machine learning classifiers. However, these labels lack sufficient metadata to be extended with new observations for the same projects that were created. This </a:t>
            </a:r>
            <a:r>
              <a:rPr lang="en-US" b="0" dirty="0" err="1"/>
              <a:t>cheatsheet</a:t>
            </a:r>
            <a:r>
              <a:rPr lang="en-US" b="0" dirty="0"/>
              <a:t> demonstrates the reconstruction process used to expand labels' metadata, define reproducible project configuration files, and make them usable in </a:t>
            </a:r>
            <a:r>
              <a:rPr lang="en-US" b="0" dirty="0" err="1"/>
              <a:t>Kaiaulu</a:t>
            </a:r>
            <a:r>
              <a:rPr lang="en-US" b="0" dirty="0"/>
              <a:t> for new analyses.</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6" name="Logistics">
            <a:extLst>
              <a:ext uri="{FF2B5EF4-FFF2-40B4-BE49-F238E27FC236}">
                <a16:creationId xmlns:a16="http://schemas.microsoft.com/office/drawing/2014/main" id="{F27F3BCB-B8B6-3A5B-432B-08CD3D054F5D}"/>
              </a:ext>
            </a:extLst>
          </p:cNvPr>
          <p:cNvSpPr txBox="1"/>
          <p:nvPr/>
        </p:nvSpPr>
        <p:spPr>
          <a:xfrm>
            <a:off x="4968243" y="1513569"/>
            <a:ext cx="262251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Datasets to </a:t>
            </a:r>
            <a:r>
              <a:rPr lang="en-US" dirty="0" err="1">
                <a:latin typeface="Source Sans Pro" panose="020B0503030403020204" pitchFamily="34" charset="0"/>
                <a:ea typeface="Source Sans Pro" panose="020B0503030403020204" pitchFamily="34" charset="0"/>
                <a:cs typeface="Arial" panose="020B0604020202020204" pitchFamily="34" charset="0"/>
              </a:rPr>
              <a:t>Kaiaulu</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7" name="Layout Suggestions">
            <a:extLst>
              <a:ext uri="{FF2B5EF4-FFF2-40B4-BE49-F238E27FC236}">
                <a16:creationId xmlns:a16="http://schemas.microsoft.com/office/drawing/2014/main" id="{C8A688BA-EE6E-CBCE-5F12-AE33A6EDEBA2}"/>
              </a:ext>
            </a:extLst>
          </p:cNvPr>
          <p:cNvSpPr txBox="1"/>
          <p:nvPr/>
        </p:nvSpPr>
        <p:spPr>
          <a:xfrm>
            <a:off x="275721" y="1519235"/>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About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F334E10D-9820-54DF-3FC9-8ED8320F9B1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9" name="TextBox 8">
            <a:extLst>
              <a:ext uri="{FF2B5EF4-FFF2-40B4-BE49-F238E27FC236}">
                <a16:creationId xmlns:a16="http://schemas.microsoft.com/office/drawing/2014/main" id="{9A4945EF-F66F-A5AD-3EB4-DC8DA624FB70}"/>
              </a:ext>
            </a:extLst>
          </p:cNvPr>
          <p:cNvSpPr txBox="1"/>
          <p:nvPr/>
        </p:nvSpPr>
        <p:spPr>
          <a:xfrm>
            <a:off x="7369010" y="10301097"/>
            <a:ext cx="6288562"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Samantha </a:t>
            </a:r>
            <a:r>
              <a:rPr lang="en-US" sz="1000" b="0" dirty="0">
                <a:solidFill>
                  <a:schemeClr val="tx1"/>
                </a:solidFill>
              </a:rPr>
              <a:t>Limon,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Carlos Paradis</a:t>
            </a:r>
            <a:r>
              <a:rPr lang="en-US" sz="1000" b="0" dirty="0">
                <a:solidFill>
                  <a:schemeClr val="tx1"/>
                </a:solidFill>
              </a:rPr>
              <a: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a:t>
            </a:r>
            <a:r>
              <a:rPr kumimoji="0" lang="en-US" sz="1000" b="0" i="0" u="none" strike="noStrike" cap="none" spc="0" normalizeH="0" baseline="0" dirty="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10" name="Layout Suggestions">
            <a:extLst>
              <a:ext uri="{FF2B5EF4-FFF2-40B4-BE49-F238E27FC236}">
                <a16:creationId xmlns:a16="http://schemas.microsoft.com/office/drawing/2014/main" id="{8FA7F2F4-0BBA-0A58-6543-0F7F8EE04829}"/>
              </a:ext>
            </a:extLst>
          </p:cNvPr>
          <p:cNvSpPr txBox="1"/>
          <p:nvPr/>
        </p:nvSpPr>
        <p:spPr>
          <a:xfrm>
            <a:off x="258034" y="3385150"/>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Dataset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1" name="Manipulate Variables">
            <a:extLst>
              <a:ext uri="{FF2B5EF4-FFF2-40B4-BE49-F238E27FC236}">
                <a16:creationId xmlns:a16="http://schemas.microsoft.com/office/drawing/2014/main" id="{11E5CFCD-56F7-BF35-541C-3A8A21AE9B60}"/>
              </a:ext>
            </a:extLst>
          </p:cNvPr>
          <p:cNvSpPr txBox="1"/>
          <p:nvPr/>
        </p:nvSpPr>
        <p:spPr>
          <a:xfrm>
            <a:off x="9587107" y="1513568"/>
            <a:ext cx="258564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Related Notebooks</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2" name="Create a visual hierarchy. Help users navigate the page with titles, subtitles, and subsubtitles">
            <a:extLst>
              <a:ext uri="{FF2B5EF4-FFF2-40B4-BE49-F238E27FC236}">
                <a16:creationId xmlns:a16="http://schemas.microsoft.com/office/drawing/2014/main" id="{2771306A-F2AA-5145-0900-FCD0F688BF2F}"/>
              </a:ext>
            </a:extLst>
          </p:cNvPr>
          <p:cNvSpPr txBox="1"/>
          <p:nvPr/>
        </p:nvSpPr>
        <p:spPr>
          <a:xfrm>
            <a:off x="9545296" y="1911334"/>
            <a:ext cx="4001355"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See supplementary notebooks that go in-depth on the documentation on making the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Github</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 Gold Standard  and Jira Emotion datasets compatible with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Kaiaulu</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a:t>
            </a:r>
          </a:p>
        </p:txBody>
      </p:sp>
      <p:sp>
        <p:nvSpPr>
          <p:cNvPr id="13" name="TextBox 12">
            <a:extLst>
              <a:ext uri="{FF2B5EF4-FFF2-40B4-BE49-F238E27FC236}">
                <a16:creationId xmlns:a16="http://schemas.microsoft.com/office/drawing/2014/main" id="{278322D5-3AA4-3B56-91AB-4707CF045461}"/>
              </a:ext>
            </a:extLst>
          </p:cNvPr>
          <p:cNvSpPr txBox="1"/>
          <p:nvPr/>
        </p:nvSpPr>
        <p:spPr>
          <a:xfrm>
            <a:off x="9585321" y="2775783"/>
            <a:ext cx="3656656" cy="951462"/>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1_load_sentiment_csv_to_mysql.ipynb</a:t>
            </a:r>
          </a:p>
          <a:p>
            <a:pPr marL="228600" indent="-228600">
              <a:buFont typeface="+mj-lt"/>
              <a:buAutoNum type="arabicPeriod"/>
            </a:pPr>
            <a:r>
              <a:rPr lang="en-US" dirty="0"/>
              <a:t>2_explore_relevant_projects.ipynb</a:t>
            </a:r>
          </a:p>
          <a:p>
            <a:pPr marL="228600" indent="-228600">
              <a:buFont typeface="+mj-lt"/>
              <a:buAutoNum type="arabicPeriod"/>
            </a:pPr>
            <a:r>
              <a:rPr lang="en-US" dirty="0"/>
              <a:t>3_scale_config_files.ipynb</a:t>
            </a:r>
          </a:p>
          <a:p>
            <a:pPr marL="228600" indent="-228600">
              <a:buFont typeface="+mj-lt"/>
              <a:buAutoNum type="arabicPeriod"/>
            </a:pPr>
            <a:r>
              <a:rPr lang="en-US" dirty="0"/>
              <a:t>4_add_sentiment_to_kaiaulu.ipynb</a:t>
            </a:r>
          </a:p>
        </p:txBody>
      </p:sp>
      <p:sp>
        <p:nvSpPr>
          <p:cNvPr id="14" name="Manipulate Variables">
            <a:extLst>
              <a:ext uri="{FF2B5EF4-FFF2-40B4-BE49-F238E27FC236}">
                <a16:creationId xmlns:a16="http://schemas.microsoft.com/office/drawing/2014/main" id="{51147DF1-E0D2-30D7-ED95-4BC91EEB699B}"/>
              </a:ext>
            </a:extLst>
          </p:cNvPr>
          <p:cNvSpPr txBox="1"/>
          <p:nvPr/>
        </p:nvSpPr>
        <p:spPr>
          <a:xfrm>
            <a:off x="9542306" y="4660893"/>
            <a:ext cx="210634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Data Expansion</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5" name="Create a visual hierarchy. Help users navigate the page with titles, subtitles, and subsubtitles">
            <a:extLst>
              <a:ext uri="{FF2B5EF4-FFF2-40B4-BE49-F238E27FC236}">
                <a16:creationId xmlns:a16="http://schemas.microsoft.com/office/drawing/2014/main" id="{3F186EA0-B45A-1B88-6729-9F0C7326B425}"/>
              </a:ext>
            </a:extLst>
          </p:cNvPr>
          <p:cNvSpPr txBox="1"/>
          <p:nvPr/>
        </p:nvSpPr>
        <p:spPr>
          <a:xfrm>
            <a:off x="9517994" y="5036356"/>
            <a:ext cx="4001355" cy="20491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r>
              <a:rPr lang="en-US" sz="1100" b="0" dirty="0"/>
              <a:t>Through this pipeline, we recover sufficient metadata to re-obtain the data using </a:t>
            </a:r>
            <a:r>
              <a:rPr lang="en-US" sz="1100" b="0" dirty="0" err="1"/>
              <a:t>Kaiaulu</a:t>
            </a:r>
            <a:r>
              <a:rPr lang="en-US" sz="1100" b="0" dirty="0"/>
              <a:t>. This metadata enables two types of dataset expansion using </a:t>
            </a:r>
            <a:r>
              <a:rPr lang="en-US" sz="1100" b="0" dirty="0" err="1"/>
              <a:t>Kaiaulu</a:t>
            </a:r>
            <a:r>
              <a:rPr lang="en-US" sz="1100" b="0" dirty="0"/>
              <a:t>:</a:t>
            </a:r>
          </a:p>
          <a:p>
            <a:pPr marL="228600" indent="-228600">
              <a:buAutoNum type="arabicPeriod"/>
            </a:pPr>
            <a:r>
              <a:rPr lang="en-US" sz="1100" dirty="0"/>
              <a:t>Temporal expansion</a:t>
            </a:r>
            <a:r>
              <a:rPr lang="en-US" sz="1100" b="0" dirty="0"/>
              <a:t>: Re-download the same projects' comments from 2014 through today.</a:t>
            </a:r>
          </a:p>
          <a:p>
            <a:pPr marL="228600" indent="-228600">
              <a:buAutoNum type="arabicPeriod"/>
            </a:pPr>
            <a:r>
              <a:rPr lang="en-US" sz="1100" dirty="0"/>
              <a:t>Horizontal expansion</a:t>
            </a:r>
            <a:r>
              <a:rPr lang="en-US" sz="1100" b="0" dirty="0"/>
              <a:t>: Download additional data sources for those same projects (e.g., source code, version control history) that can be linked back to sentiment labels</a:t>
            </a:r>
          </a:p>
          <a:p>
            <a:r>
              <a:rPr lang="en-US" sz="1100" b="0" dirty="0"/>
              <a:t>The labeled comments can be used to train the sentiment classifier and for engagement analysis (refer to </a:t>
            </a:r>
            <a:r>
              <a:rPr lang="en-US" sz="1100" b="0" dirty="0" err="1"/>
              <a:t>sailuh</a:t>
            </a:r>
            <a:r>
              <a:rPr lang="en-US" sz="1100" b="0" dirty="0"/>
              <a:t>/sentiment-classifier).</a:t>
            </a:r>
          </a:p>
        </p:txBody>
      </p:sp>
      <p:sp>
        <p:nvSpPr>
          <p:cNvPr id="16" name="Layout Suggestions">
            <a:extLst>
              <a:ext uri="{FF2B5EF4-FFF2-40B4-BE49-F238E27FC236}">
                <a16:creationId xmlns:a16="http://schemas.microsoft.com/office/drawing/2014/main" id="{EEDE0EAC-693C-6B4D-3530-36A918678374}"/>
              </a:ext>
            </a:extLst>
          </p:cNvPr>
          <p:cNvSpPr txBox="1"/>
          <p:nvPr/>
        </p:nvSpPr>
        <p:spPr>
          <a:xfrm>
            <a:off x="221504" y="7101794"/>
            <a:ext cx="433390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D04A20F8-8387-3458-50AB-BC9922C37BC9}"/>
              </a:ext>
            </a:extLst>
          </p:cNvPr>
          <p:cNvSpPr txBox="1"/>
          <p:nvPr/>
        </p:nvSpPr>
        <p:spPr>
          <a:xfrm>
            <a:off x="244833" y="3653776"/>
            <a:ext cx="43468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following must be set up/downloaded:</a:t>
            </a:r>
          </a:p>
        </p:txBody>
      </p:sp>
      <p:sp>
        <p:nvSpPr>
          <p:cNvPr id="18" name="TextBox 17">
            <a:extLst>
              <a:ext uri="{FF2B5EF4-FFF2-40B4-BE49-F238E27FC236}">
                <a16:creationId xmlns:a16="http://schemas.microsoft.com/office/drawing/2014/main" id="{4FAFC717-46C5-C888-E9FD-938BB483AC2E}"/>
              </a:ext>
            </a:extLst>
          </p:cNvPr>
          <p:cNvSpPr txBox="1"/>
          <p:nvPr/>
        </p:nvSpPr>
        <p:spPr>
          <a:xfrm>
            <a:off x="4898062" y="3304109"/>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err="1"/>
              <a:t>Github</a:t>
            </a:r>
            <a:r>
              <a:rPr lang="en-US" dirty="0"/>
              <a:t> Gold CSV</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19" name="Straight Arrow Connector 18">
            <a:extLst>
              <a:ext uri="{FF2B5EF4-FFF2-40B4-BE49-F238E27FC236}">
                <a16:creationId xmlns:a16="http://schemas.microsoft.com/office/drawing/2014/main" id="{ACA746A2-C1D6-5DAD-29C9-3DD4FCB4717E}"/>
              </a:ext>
            </a:extLst>
          </p:cNvPr>
          <p:cNvCxnSpPr>
            <a:cxnSpLocks/>
          </p:cNvCxnSpPr>
          <p:nvPr/>
        </p:nvCxnSpPr>
        <p:spPr>
          <a:xfrm>
            <a:off x="6127817" y="2739306"/>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0" name="Table">
            <a:extLst>
              <a:ext uri="{FF2B5EF4-FFF2-40B4-BE49-F238E27FC236}">
                <a16:creationId xmlns:a16="http://schemas.microsoft.com/office/drawing/2014/main" id="{A2F5A156-F1FD-9F16-88F6-75ED9E2517FA}"/>
              </a:ext>
            </a:extLst>
          </p:cNvPr>
          <p:cNvGraphicFramePr/>
          <p:nvPr>
            <p:extLst>
              <p:ext uri="{D42A27DB-BD31-4B8C-83A1-F6EECF244321}">
                <p14:modId xmlns:p14="http://schemas.microsoft.com/office/powerpoint/2010/main" val="3419752882"/>
              </p:ext>
            </p:extLst>
          </p:nvPr>
        </p:nvGraphicFramePr>
        <p:xfrm>
          <a:off x="5214672" y="2681254"/>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1" name="TextBox 20">
            <a:extLst>
              <a:ext uri="{FF2B5EF4-FFF2-40B4-BE49-F238E27FC236}">
                <a16:creationId xmlns:a16="http://schemas.microsoft.com/office/drawing/2014/main" id="{092D6B1F-EF8A-72E8-869A-A61E979202AE}"/>
              </a:ext>
            </a:extLst>
          </p:cNvPr>
          <p:cNvSpPr txBox="1"/>
          <p:nvPr/>
        </p:nvSpPr>
        <p:spPr>
          <a:xfrm>
            <a:off x="6160379" y="2512222"/>
            <a:ext cx="127533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C891A3AA-0287-26FE-56A2-3AEEF8FC24BF}"/>
              </a:ext>
            </a:extLst>
          </p:cNvPr>
          <p:cNvSpPr txBox="1"/>
          <p:nvPr/>
        </p:nvSpPr>
        <p:spPr>
          <a:xfrm>
            <a:off x="6165384" y="2758990"/>
            <a:ext cx="144108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Q-Join-Commit-Comments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3" name="TextBox 22">
            <a:extLst>
              <a:ext uri="{FF2B5EF4-FFF2-40B4-BE49-F238E27FC236}">
                <a16:creationId xmlns:a16="http://schemas.microsoft.com/office/drawing/2014/main" id="{9EA2AF06-D9DD-ADE4-10FC-174C4D661C55}"/>
              </a:ext>
            </a:extLst>
          </p:cNvPr>
          <p:cNvSpPr txBox="1"/>
          <p:nvPr/>
        </p:nvSpPr>
        <p:spPr>
          <a:xfrm>
            <a:off x="6091806" y="3030690"/>
            <a:ext cx="1514660" cy="2333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800" b="0" dirty="0"/>
              <a:t>Q-Join-Pull-Request-Comments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4" name="Straight Arrow Connector 23">
            <a:extLst>
              <a:ext uri="{FF2B5EF4-FFF2-40B4-BE49-F238E27FC236}">
                <a16:creationId xmlns:a16="http://schemas.microsoft.com/office/drawing/2014/main" id="{D1E77129-EA46-5F73-7F85-FD91BE668281}"/>
              </a:ext>
            </a:extLst>
          </p:cNvPr>
          <p:cNvCxnSpPr>
            <a:cxnSpLocks/>
          </p:cNvCxnSpPr>
          <p:nvPr/>
        </p:nvCxnSpPr>
        <p:spPr>
          <a:xfrm>
            <a:off x="6127817" y="2985359"/>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C7D2CA1E-8645-F669-022F-4892F26A236F}"/>
              </a:ext>
            </a:extLst>
          </p:cNvPr>
          <p:cNvCxnSpPr>
            <a:cxnSpLocks/>
          </p:cNvCxnSpPr>
          <p:nvPr/>
        </p:nvCxnSpPr>
        <p:spPr>
          <a:xfrm>
            <a:off x="6127817" y="3231412"/>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986BF478-F7FC-1479-7864-C711D2C21D37}"/>
              </a:ext>
            </a:extLst>
          </p:cNvPr>
          <p:cNvSpPr txBox="1"/>
          <p:nvPr/>
        </p:nvSpPr>
        <p:spPr>
          <a:xfrm>
            <a:off x="7593293" y="3309908"/>
            <a:ext cx="1418243"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err="1"/>
              <a:t>GHTorrent</a:t>
            </a:r>
            <a:r>
              <a:rPr lang="en-US" dirty="0"/>
              <a:t> 2014 DB</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7" name="TextBox 26">
            <a:extLst>
              <a:ext uri="{FF2B5EF4-FFF2-40B4-BE49-F238E27FC236}">
                <a16:creationId xmlns:a16="http://schemas.microsoft.com/office/drawing/2014/main" id="{74FC87DE-18DA-3F68-B977-4FF5C519754F}"/>
              </a:ext>
            </a:extLst>
          </p:cNvPr>
          <p:cNvSpPr txBox="1"/>
          <p:nvPr/>
        </p:nvSpPr>
        <p:spPr>
          <a:xfrm>
            <a:off x="4805796" y="4961870"/>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28" name="Group 27">
            <a:extLst>
              <a:ext uri="{FF2B5EF4-FFF2-40B4-BE49-F238E27FC236}">
                <a16:creationId xmlns:a16="http://schemas.microsoft.com/office/drawing/2014/main" id="{AE707EDA-4BDC-F735-A92D-AB4868E807FB}"/>
              </a:ext>
            </a:extLst>
          </p:cNvPr>
          <p:cNvGrpSpPr/>
          <p:nvPr/>
        </p:nvGrpSpPr>
        <p:grpSpPr>
          <a:xfrm>
            <a:off x="5609863" y="4520518"/>
            <a:ext cx="953200" cy="458010"/>
            <a:chOff x="5528605" y="4530831"/>
            <a:chExt cx="953200" cy="458010"/>
          </a:xfrm>
        </p:grpSpPr>
        <p:graphicFrame>
          <p:nvGraphicFramePr>
            <p:cNvPr id="29" name="Table">
              <a:extLst>
                <a:ext uri="{FF2B5EF4-FFF2-40B4-BE49-F238E27FC236}">
                  <a16:creationId xmlns:a16="http://schemas.microsoft.com/office/drawing/2014/main" id="{EF5149FA-5442-0E34-6142-1891F3FDCA85}"/>
                </a:ext>
              </a:extLst>
            </p:cNvPr>
            <p:cNvGraphicFramePr/>
            <p:nvPr>
              <p:extLst>
                <p:ext uri="{D42A27DB-BD31-4B8C-83A1-F6EECF244321}">
                  <p14:modId xmlns:p14="http://schemas.microsoft.com/office/powerpoint/2010/main" val="294316343"/>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30" name="Table">
              <a:extLst>
                <a:ext uri="{FF2B5EF4-FFF2-40B4-BE49-F238E27FC236}">
                  <a16:creationId xmlns:a16="http://schemas.microsoft.com/office/drawing/2014/main" id="{BAD0294F-80BD-1F0F-4A11-01127644E2CE}"/>
                </a:ext>
              </a:extLst>
            </p:cNvPr>
            <p:cNvGraphicFramePr/>
            <p:nvPr>
              <p:extLst>
                <p:ext uri="{D42A27DB-BD31-4B8C-83A1-F6EECF244321}">
                  <p14:modId xmlns:p14="http://schemas.microsoft.com/office/powerpoint/2010/main" val="4005147450"/>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sp>
        <p:nvSpPr>
          <p:cNvPr id="31" name="TextBox 30">
            <a:extLst>
              <a:ext uri="{FF2B5EF4-FFF2-40B4-BE49-F238E27FC236}">
                <a16:creationId xmlns:a16="http://schemas.microsoft.com/office/drawing/2014/main" id="{86628C08-6DC5-C4DC-C012-92AA6AB8B5D1}"/>
              </a:ext>
            </a:extLst>
          </p:cNvPr>
          <p:cNvSpPr txBox="1"/>
          <p:nvPr/>
        </p:nvSpPr>
        <p:spPr>
          <a:xfrm>
            <a:off x="5384035" y="4960252"/>
            <a:ext cx="139124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err="1"/>
              <a:t>Github</a:t>
            </a:r>
            <a:r>
              <a:rPr lang="en-US" sz="800" b="0" dirty="0"/>
              <a:t> Gold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2" name="Line">
            <a:extLst>
              <a:ext uri="{FF2B5EF4-FFF2-40B4-BE49-F238E27FC236}">
                <a16:creationId xmlns:a16="http://schemas.microsoft.com/office/drawing/2014/main" id="{0B8E4F23-8498-6E8A-7BD8-E74923ACFB2B}"/>
              </a:ext>
            </a:extLst>
          </p:cNvPr>
          <p:cNvSpPr/>
          <p:nvPr/>
        </p:nvSpPr>
        <p:spPr>
          <a:xfrm flipV="1">
            <a:off x="4836043" y="5961806"/>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3" name="TextBox 32">
            <a:extLst>
              <a:ext uri="{FF2B5EF4-FFF2-40B4-BE49-F238E27FC236}">
                <a16:creationId xmlns:a16="http://schemas.microsoft.com/office/drawing/2014/main" id="{13ABFE21-D6EB-2D4E-16DA-D8F76E0CCC6B}"/>
              </a:ext>
            </a:extLst>
          </p:cNvPr>
          <p:cNvSpPr txBox="1"/>
          <p:nvPr/>
        </p:nvSpPr>
        <p:spPr>
          <a:xfrm>
            <a:off x="4907496" y="7376582"/>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Jira Emotion CSV</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4" name="Straight Arrow Connector 33">
            <a:extLst>
              <a:ext uri="{FF2B5EF4-FFF2-40B4-BE49-F238E27FC236}">
                <a16:creationId xmlns:a16="http://schemas.microsoft.com/office/drawing/2014/main" id="{F8FFF120-F554-6B84-3FE7-8BC37FE00E82}"/>
              </a:ext>
            </a:extLst>
          </p:cNvPr>
          <p:cNvCxnSpPr>
            <a:cxnSpLocks/>
          </p:cNvCxnSpPr>
          <p:nvPr/>
        </p:nvCxnSpPr>
        <p:spPr>
          <a:xfrm>
            <a:off x="6135419" y="6933077"/>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35" name="Table">
            <a:extLst>
              <a:ext uri="{FF2B5EF4-FFF2-40B4-BE49-F238E27FC236}">
                <a16:creationId xmlns:a16="http://schemas.microsoft.com/office/drawing/2014/main" id="{50C7ACB3-4867-FBF1-2281-97104DF6C2CF}"/>
              </a:ext>
            </a:extLst>
          </p:cNvPr>
          <p:cNvGraphicFramePr/>
          <p:nvPr>
            <p:extLst>
              <p:ext uri="{D42A27DB-BD31-4B8C-83A1-F6EECF244321}">
                <p14:modId xmlns:p14="http://schemas.microsoft.com/office/powerpoint/2010/main" val="4003109569"/>
              </p:ext>
            </p:extLst>
          </p:nvPr>
        </p:nvGraphicFramePr>
        <p:xfrm>
          <a:off x="5224106" y="6753727"/>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cxnSp>
        <p:nvCxnSpPr>
          <p:cNvPr id="36" name="Straight Arrow Connector 35">
            <a:extLst>
              <a:ext uri="{FF2B5EF4-FFF2-40B4-BE49-F238E27FC236}">
                <a16:creationId xmlns:a16="http://schemas.microsoft.com/office/drawing/2014/main" id="{8FAC5F04-A745-DD43-65D7-C01BF2499B4B}"/>
              </a:ext>
            </a:extLst>
          </p:cNvPr>
          <p:cNvCxnSpPr>
            <a:cxnSpLocks/>
          </p:cNvCxnSpPr>
          <p:nvPr/>
        </p:nvCxnSpPr>
        <p:spPr>
          <a:xfrm>
            <a:off x="6135419" y="7179130"/>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0832AA00-C2A1-3E7E-64FD-1B7F9920EC3A}"/>
              </a:ext>
            </a:extLst>
          </p:cNvPr>
          <p:cNvSpPr txBox="1"/>
          <p:nvPr/>
        </p:nvSpPr>
        <p:spPr>
          <a:xfrm>
            <a:off x="7559039" y="7389118"/>
            <a:ext cx="148674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PostgreSQL 2016 DB</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8" name="TextBox 37">
            <a:extLst>
              <a:ext uri="{FF2B5EF4-FFF2-40B4-BE49-F238E27FC236}">
                <a16:creationId xmlns:a16="http://schemas.microsoft.com/office/drawing/2014/main" id="{E8728312-A59D-59CF-BA65-3D959EF9C995}"/>
              </a:ext>
            </a:extLst>
          </p:cNvPr>
          <p:cNvSpPr txBox="1"/>
          <p:nvPr/>
        </p:nvSpPr>
        <p:spPr>
          <a:xfrm>
            <a:off x="6129023" y="6689831"/>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9" name="TextBox 38">
            <a:extLst>
              <a:ext uri="{FF2B5EF4-FFF2-40B4-BE49-F238E27FC236}">
                <a16:creationId xmlns:a16="http://schemas.microsoft.com/office/drawing/2014/main" id="{E2E7EF44-49C0-74D7-82B9-6DBC0EC74557}"/>
              </a:ext>
            </a:extLst>
          </p:cNvPr>
          <p:cNvSpPr txBox="1"/>
          <p:nvPr/>
        </p:nvSpPr>
        <p:spPr>
          <a:xfrm>
            <a:off x="6135419" y="6941250"/>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0" name="TextBox 39">
            <a:extLst>
              <a:ext uri="{FF2B5EF4-FFF2-40B4-BE49-F238E27FC236}">
                <a16:creationId xmlns:a16="http://schemas.microsoft.com/office/drawing/2014/main" id="{B0B77D0B-EAB0-7EB1-4F38-11FAD85ECE0A}"/>
              </a:ext>
            </a:extLst>
          </p:cNvPr>
          <p:cNvSpPr txBox="1"/>
          <p:nvPr/>
        </p:nvSpPr>
        <p:spPr>
          <a:xfrm>
            <a:off x="4879086" y="1907656"/>
            <a:ext cx="272738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500" dirty="0" err="1"/>
              <a:t>Github</a:t>
            </a:r>
            <a:r>
              <a:rPr lang="en-US" sz="1500" dirty="0"/>
              <a:t> Gold Standard Dataset</a:t>
            </a:r>
            <a:endParaRPr kumimoji="0" lang="en-US" sz="1500" b="1" i="0" strike="noStrike" cap="none" spc="0" normalizeH="0" baseline="0" dirty="0">
              <a:ln>
                <a:noFill/>
              </a:ln>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8696CA8E-CB5C-69E8-DA6A-8A92CE7638CE}"/>
              </a:ext>
            </a:extLst>
          </p:cNvPr>
          <p:cNvSpPr txBox="1"/>
          <p:nvPr/>
        </p:nvSpPr>
        <p:spPr>
          <a:xfrm>
            <a:off x="4719773" y="6166156"/>
            <a:ext cx="217099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500" dirty="0"/>
              <a:t>Jira Emotion Dataset</a:t>
            </a:r>
            <a:endParaRPr kumimoji="0" lang="en-US" sz="1500" b="1" i="0" strike="noStrike" cap="none" spc="0" normalizeH="0" baseline="0" dirty="0">
              <a:ln>
                <a:noFill/>
              </a:ln>
              <a:effectLst/>
              <a:uFillTx/>
              <a:latin typeface="Source Sans Pro"/>
              <a:ea typeface="Source Sans Pro"/>
              <a:cs typeface="Source Sans Pro"/>
              <a:sym typeface="Source Sans Pro"/>
            </a:endParaRPr>
          </a:p>
        </p:txBody>
      </p:sp>
      <p:grpSp>
        <p:nvGrpSpPr>
          <p:cNvPr id="42" name="Group 41">
            <a:extLst>
              <a:ext uri="{FF2B5EF4-FFF2-40B4-BE49-F238E27FC236}">
                <a16:creationId xmlns:a16="http://schemas.microsoft.com/office/drawing/2014/main" id="{E26FD048-AAA1-4148-744B-C07352FC9D17}"/>
              </a:ext>
            </a:extLst>
          </p:cNvPr>
          <p:cNvGrpSpPr/>
          <p:nvPr/>
        </p:nvGrpSpPr>
        <p:grpSpPr>
          <a:xfrm>
            <a:off x="8573655" y="3978207"/>
            <a:ext cx="569700" cy="1688313"/>
            <a:chOff x="8715063" y="3858862"/>
            <a:chExt cx="569700" cy="1688313"/>
          </a:xfrm>
        </p:grpSpPr>
        <p:sp>
          <p:nvSpPr>
            <p:cNvPr id="43" name="Google Shape;375;p18">
              <a:extLst>
                <a:ext uri="{FF2B5EF4-FFF2-40B4-BE49-F238E27FC236}">
                  <a16:creationId xmlns:a16="http://schemas.microsoft.com/office/drawing/2014/main" id="{DB295AB9-3A5E-AA5E-B140-FB4465AAAE02}"/>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44" name="Google Shape;388;p18">
              <a:extLst>
                <a:ext uri="{FF2B5EF4-FFF2-40B4-BE49-F238E27FC236}">
                  <a16:creationId xmlns:a16="http://schemas.microsoft.com/office/drawing/2014/main" id="{C4552363-2E3E-DD5D-AC27-BBFB006BD331}"/>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sp>
          <p:nvSpPr>
            <p:cNvPr id="45" name="Google Shape;324;p18">
              <a:extLst>
                <a:ext uri="{FF2B5EF4-FFF2-40B4-BE49-F238E27FC236}">
                  <a16:creationId xmlns:a16="http://schemas.microsoft.com/office/drawing/2014/main" id="{83892DE9-1D62-9AD9-876E-88879D59A188}"/>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46" name="Google Shape;359;p18">
              <a:extLst>
                <a:ext uri="{FF2B5EF4-FFF2-40B4-BE49-F238E27FC236}">
                  <a16:creationId xmlns:a16="http://schemas.microsoft.com/office/drawing/2014/main" id="{9771E207-54A3-95E8-4153-5678EBBC1D1A}"/>
                </a:ext>
              </a:extLst>
            </p:cNvPr>
            <p:cNvGrpSpPr/>
            <p:nvPr/>
          </p:nvGrpSpPr>
          <p:grpSpPr>
            <a:xfrm>
              <a:off x="8838265" y="4043887"/>
              <a:ext cx="307200" cy="189300"/>
              <a:chOff x="3007175" y="1757600"/>
              <a:chExt cx="307200" cy="189300"/>
            </a:xfrm>
          </p:grpSpPr>
          <p:sp>
            <p:nvSpPr>
              <p:cNvPr id="261" name="Google Shape;360;p18">
                <a:extLst>
                  <a:ext uri="{FF2B5EF4-FFF2-40B4-BE49-F238E27FC236}">
                    <a16:creationId xmlns:a16="http://schemas.microsoft.com/office/drawing/2014/main" id="{1BC88821-5513-7A79-5F85-56E23F09745A}"/>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2" name="Google Shape;361;p18">
                <a:extLst>
                  <a:ext uri="{FF2B5EF4-FFF2-40B4-BE49-F238E27FC236}">
                    <a16:creationId xmlns:a16="http://schemas.microsoft.com/office/drawing/2014/main" id="{E444C097-A03B-6B1D-6B2A-F686E43279E4}"/>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362;p18">
                <a:extLst>
                  <a:ext uri="{FF2B5EF4-FFF2-40B4-BE49-F238E27FC236}">
                    <a16:creationId xmlns:a16="http://schemas.microsoft.com/office/drawing/2014/main" id="{F665D77E-F152-8523-3F9B-58B4113E1B1A}"/>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4" name="Google Shape;363;p18">
                <a:extLst>
                  <a:ext uri="{FF2B5EF4-FFF2-40B4-BE49-F238E27FC236}">
                    <a16:creationId xmlns:a16="http://schemas.microsoft.com/office/drawing/2014/main" id="{042F7407-8E09-9753-4DEA-97206FA99BCF}"/>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65" name="Google Shape;364;p18">
                <a:extLst>
                  <a:ext uri="{FF2B5EF4-FFF2-40B4-BE49-F238E27FC236}">
                    <a16:creationId xmlns:a16="http://schemas.microsoft.com/office/drawing/2014/main" id="{824EE86D-C9DD-B967-9CEF-84B54677D79F}"/>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66" name="Google Shape;365;p18">
                <a:extLst>
                  <a:ext uri="{FF2B5EF4-FFF2-40B4-BE49-F238E27FC236}">
                    <a16:creationId xmlns:a16="http://schemas.microsoft.com/office/drawing/2014/main" id="{D32A5417-A0FD-7EA4-B469-ACA49C5C74E8}"/>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67" name="Google Shape;366;p18">
                <a:extLst>
                  <a:ext uri="{FF2B5EF4-FFF2-40B4-BE49-F238E27FC236}">
                    <a16:creationId xmlns:a16="http://schemas.microsoft.com/office/drawing/2014/main" id="{39B2CB3E-0DBC-55B5-FA1C-50A9B7A27B5D}"/>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47" name="Google Shape;367;p18">
              <a:extLst>
                <a:ext uri="{FF2B5EF4-FFF2-40B4-BE49-F238E27FC236}">
                  <a16:creationId xmlns:a16="http://schemas.microsoft.com/office/drawing/2014/main" id="{38D55362-D402-59D7-BC86-D1D496925F2A}"/>
                </a:ext>
              </a:extLst>
            </p:cNvPr>
            <p:cNvGrpSpPr/>
            <p:nvPr/>
          </p:nvGrpSpPr>
          <p:grpSpPr>
            <a:xfrm>
              <a:off x="8838252" y="4387350"/>
              <a:ext cx="307200" cy="189300"/>
              <a:chOff x="3007175" y="1757600"/>
              <a:chExt cx="307200" cy="189300"/>
            </a:xfrm>
          </p:grpSpPr>
          <p:sp>
            <p:nvSpPr>
              <p:cNvPr id="62" name="Google Shape;368;p18">
                <a:extLst>
                  <a:ext uri="{FF2B5EF4-FFF2-40B4-BE49-F238E27FC236}">
                    <a16:creationId xmlns:a16="http://schemas.microsoft.com/office/drawing/2014/main" id="{9B2EB821-BC69-1EFA-DD59-DEFD6C28D8FA}"/>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 name="Google Shape;369;p18">
                <a:extLst>
                  <a:ext uri="{FF2B5EF4-FFF2-40B4-BE49-F238E27FC236}">
                    <a16:creationId xmlns:a16="http://schemas.microsoft.com/office/drawing/2014/main" id="{DF9E25A3-E9FC-2D0E-15DC-E4D2AC6DCF96}"/>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370;p18">
                <a:extLst>
                  <a:ext uri="{FF2B5EF4-FFF2-40B4-BE49-F238E27FC236}">
                    <a16:creationId xmlns:a16="http://schemas.microsoft.com/office/drawing/2014/main" id="{42A1B697-9CF9-CB9D-F96D-916F0C96E166}"/>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7" name="Google Shape;371;p18">
                <a:extLst>
                  <a:ext uri="{FF2B5EF4-FFF2-40B4-BE49-F238E27FC236}">
                    <a16:creationId xmlns:a16="http://schemas.microsoft.com/office/drawing/2014/main" id="{33198A0A-179C-996D-344A-27C39A58D3D5}"/>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58" name="Google Shape;372;p18">
                <a:extLst>
                  <a:ext uri="{FF2B5EF4-FFF2-40B4-BE49-F238E27FC236}">
                    <a16:creationId xmlns:a16="http://schemas.microsoft.com/office/drawing/2014/main" id="{682F0F57-6E3C-1BDF-DCCF-1CDE8873D689}"/>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59" name="Google Shape;373;p18">
                <a:extLst>
                  <a:ext uri="{FF2B5EF4-FFF2-40B4-BE49-F238E27FC236}">
                    <a16:creationId xmlns:a16="http://schemas.microsoft.com/office/drawing/2014/main" id="{82D7AEF1-B2A6-3736-008A-025A9980F999}"/>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60" name="Google Shape;374;p18">
                <a:extLst>
                  <a:ext uri="{FF2B5EF4-FFF2-40B4-BE49-F238E27FC236}">
                    <a16:creationId xmlns:a16="http://schemas.microsoft.com/office/drawing/2014/main" id="{6EE9B00A-848F-A3BD-E4E8-F1665B01782D}"/>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48" name="Google Shape;376;p18">
              <a:extLst>
                <a:ext uri="{FF2B5EF4-FFF2-40B4-BE49-F238E27FC236}">
                  <a16:creationId xmlns:a16="http://schemas.microsoft.com/office/drawing/2014/main" id="{38835F1B-D14E-86FC-ED52-1920A812D4B6}"/>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49" name="Google Shape;377;p18">
              <a:extLst>
                <a:ext uri="{FF2B5EF4-FFF2-40B4-BE49-F238E27FC236}">
                  <a16:creationId xmlns:a16="http://schemas.microsoft.com/office/drawing/2014/main" id="{DD3EFE42-5EBE-B624-7ABF-CF59E13AC5CF}"/>
                </a:ext>
              </a:extLst>
            </p:cNvPr>
            <p:cNvGrpSpPr/>
            <p:nvPr/>
          </p:nvGrpSpPr>
          <p:grpSpPr>
            <a:xfrm>
              <a:off x="8846302" y="4841125"/>
              <a:ext cx="307200" cy="297900"/>
              <a:chOff x="3021975" y="2389850"/>
              <a:chExt cx="307200" cy="297900"/>
            </a:xfrm>
          </p:grpSpPr>
          <p:sp>
            <p:nvSpPr>
              <p:cNvPr id="52" name="Google Shape;378;p18">
                <a:extLst>
                  <a:ext uri="{FF2B5EF4-FFF2-40B4-BE49-F238E27FC236}">
                    <a16:creationId xmlns:a16="http://schemas.microsoft.com/office/drawing/2014/main" id="{BA5C47BE-D993-EF2F-7404-736EA8A548D2}"/>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53" name="Google Shape;379;p18">
                <a:extLst>
                  <a:ext uri="{FF2B5EF4-FFF2-40B4-BE49-F238E27FC236}">
                    <a16:creationId xmlns:a16="http://schemas.microsoft.com/office/drawing/2014/main" id="{87D9E414-D51E-62B3-49C3-6AA64D49276F}"/>
                  </a:ext>
                </a:extLst>
              </p:cNvPr>
              <p:cNvGrpSpPr/>
              <p:nvPr/>
            </p:nvGrpSpPr>
            <p:grpSpPr>
              <a:xfrm>
                <a:off x="3021975" y="2389850"/>
                <a:ext cx="307200" cy="295800"/>
                <a:chOff x="3021975" y="2389850"/>
                <a:chExt cx="307200" cy="295800"/>
              </a:xfrm>
            </p:grpSpPr>
            <p:sp>
              <p:nvSpPr>
                <p:cNvPr id="54" name="Google Shape;380;p18">
                  <a:extLst>
                    <a:ext uri="{FF2B5EF4-FFF2-40B4-BE49-F238E27FC236}">
                      <a16:creationId xmlns:a16="http://schemas.microsoft.com/office/drawing/2014/main" id="{DFF0CA76-96BC-5D55-43CE-81915D7C3C56}"/>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 name="Google Shape;381;p18">
                  <a:extLst>
                    <a:ext uri="{FF2B5EF4-FFF2-40B4-BE49-F238E27FC236}">
                      <a16:creationId xmlns:a16="http://schemas.microsoft.com/office/drawing/2014/main" id="{143D1BE3-1C31-DB55-082A-F3469F8629FF}"/>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56" name="Google Shape;382;p18">
                  <a:extLst>
                    <a:ext uri="{FF2B5EF4-FFF2-40B4-BE49-F238E27FC236}">
                      <a16:creationId xmlns:a16="http://schemas.microsoft.com/office/drawing/2014/main" id="{25F8A612-907D-6AC8-3A35-B8CC4AE94EE0}"/>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57" name="Google Shape;383;p18">
                  <a:extLst>
                    <a:ext uri="{FF2B5EF4-FFF2-40B4-BE49-F238E27FC236}">
                      <a16:creationId xmlns:a16="http://schemas.microsoft.com/office/drawing/2014/main" id="{21688DF5-E476-08BA-A4E1-16DA7C83247F}"/>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58" name="Google Shape;384;p18">
                  <a:extLst>
                    <a:ext uri="{FF2B5EF4-FFF2-40B4-BE49-F238E27FC236}">
                      <a16:creationId xmlns:a16="http://schemas.microsoft.com/office/drawing/2014/main" id="{16883CA5-EC93-199E-3E4C-D2FB3623F451}"/>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59" name="Google Shape;385;p18">
                  <a:extLst>
                    <a:ext uri="{FF2B5EF4-FFF2-40B4-BE49-F238E27FC236}">
                      <a16:creationId xmlns:a16="http://schemas.microsoft.com/office/drawing/2014/main" id="{1F033A45-18CE-4ABE-87B6-61EEB04BABDF}"/>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386;p18">
                  <a:extLst>
                    <a:ext uri="{FF2B5EF4-FFF2-40B4-BE49-F238E27FC236}">
                      <a16:creationId xmlns:a16="http://schemas.microsoft.com/office/drawing/2014/main" id="{7388C3EB-D9B0-00DD-AE3E-FF410E25A6D3}"/>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61" name="Google Shape;387;p18">
                  <a:extLst>
                    <a:ext uri="{FF2B5EF4-FFF2-40B4-BE49-F238E27FC236}">
                      <a16:creationId xmlns:a16="http://schemas.microsoft.com/office/drawing/2014/main" id="{C903F498-2958-4E42-0A31-9B15E2C2B5C6}"/>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cxnSp>
          <p:nvCxnSpPr>
            <p:cNvPr id="50" name="Google Shape;389;p18">
              <a:extLst>
                <a:ext uri="{FF2B5EF4-FFF2-40B4-BE49-F238E27FC236}">
                  <a16:creationId xmlns:a16="http://schemas.microsoft.com/office/drawing/2014/main" id="{1E886059-EBAA-7C8A-E221-1BCAB682421B}"/>
                </a:ext>
              </a:extLst>
            </p:cNvPr>
            <p:cNvCxnSpPr>
              <a:cxnSpLocks/>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51" name="Google Shape;390;p18">
              <a:extLst>
                <a:ext uri="{FF2B5EF4-FFF2-40B4-BE49-F238E27FC236}">
                  <a16:creationId xmlns:a16="http://schemas.microsoft.com/office/drawing/2014/main" id="{642DC9F0-ADAE-A3CC-699B-A860518BD85D}"/>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cxnSp>
        <p:nvCxnSpPr>
          <p:cNvPr id="268" name="Straight Arrow Connector 1198">
            <a:extLst>
              <a:ext uri="{FF2B5EF4-FFF2-40B4-BE49-F238E27FC236}">
                <a16:creationId xmlns:a16="http://schemas.microsoft.com/office/drawing/2014/main" id="{EDA4BCFB-4146-A7E6-3A16-6BCD37CEE520}"/>
              </a:ext>
            </a:extLst>
          </p:cNvPr>
          <p:cNvCxnSpPr>
            <a:cxnSpLocks/>
          </p:cNvCxnSpPr>
          <p:nvPr/>
        </p:nvCxnSpPr>
        <p:spPr>
          <a:xfrm flipV="1">
            <a:off x="8124120" y="4262578"/>
            <a:ext cx="486066" cy="30466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69" name="TextBox 268">
            <a:extLst>
              <a:ext uri="{FF2B5EF4-FFF2-40B4-BE49-F238E27FC236}">
                <a16:creationId xmlns:a16="http://schemas.microsoft.com/office/drawing/2014/main" id="{E45770B9-80EE-772A-D24B-3BCDA641A68A}"/>
              </a:ext>
            </a:extLst>
          </p:cNvPr>
          <p:cNvSpPr txBox="1"/>
          <p:nvPr/>
        </p:nvSpPr>
        <p:spPr>
          <a:xfrm>
            <a:off x="9558554" y="4159871"/>
            <a:ext cx="3656656" cy="320520"/>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1_emotion_csv_inter_rater_agreement.ipynb</a:t>
            </a:r>
          </a:p>
        </p:txBody>
      </p:sp>
      <p:sp>
        <p:nvSpPr>
          <p:cNvPr id="270" name="TextBox 269">
            <a:extLst>
              <a:ext uri="{FF2B5EF4-FFF2-40B4-BE49-F238E27FC236}">
                <a16:creationId xmlns:a16="http://schemas.microsoft.com/office/drawing/2014/main" id="{37C35560-ECB5-092F-7B61-3D02E822CA44}"/>
              </a:ext>
            </a:extLst>
          </p:cNvPr>
          <p:cNvSpPr txBox="1"/>
          <p:nvPr/>
        </p:nvSpPr>
        <p:spPr>
          <a:xfrm>
            <a:off x="9517994" y="2470516"/>
            <a:ext cx="3400799" cy="3359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1300" dirty="0" err="1"/>
              <a:t>sailuh</a:t>
            </a:r>
            <a:r>
              <a:rPr lang="en-US" sz="1300" dirty="0"/>
              <a:t>/</a:t>
            </a:r>
            <a:r>
              <a:rPr lang="en-US" sz="1300" dirty="0" err="1"/>
              <a:t>sentiment_github_dataset</a:t>
            </a:r>
            <a:endParaRPr kumimoji="0" lang="en-US" sz="1300" b="1" i="0" strike="noStrike" cap="none" spc="0" normalizeH="0" baseline="0" dirty="0">
              <a:ln>
                <a:noFill/>
              </a:ln>
              <a:effectLst/>
              <a:uFillTx/>
              <a:latin typeface="Source Sans Pro"/>
              <a:ea typeface="Source Sans Pro"/>
              <a:cs typeface="Source Sans Pro"/>
              <a:sym typeface="Source Sans Pro"/>
            </a:endParaRPr>
          </a:p>
        </p:txBody>
      </p:sp>
      <p:sp>
        <p:nvSpPr>
          <p:cNvPr id="271" name="TextBox 270">
            <a:extLst>
              <a:ext uri="{FF2B5EF4-FFF2-40B4-BE49-F238E27FC236}">
                <a16:creationId xmlns:a16="http://schemas.microsoft.com/office/drawing/2014/main" id="{95529BAF-84A0-B630-978A-7C6E2E3C6E66}"/>
              </a:ext>
            </a:extLst>
          </p:cNvPr>
          <p:cNvSpPr txBox="1"/>
          <p:nvPr/>
        </p:nvSpPr>
        <p:spPr>
          <a:xfrm>
            <a:off x="9517994" y="3859880"/>
            <a:ext cx="3400799" cy="3359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1300" dirty="0" err="1"/>
              <a:t>sailuh</a:t>
            </a:r>
            <a:r>
              <a:rPr lang="en-US" sz="1300" dirty="0"/>
              <a:t>/</a:t>
            </a:r>
            <a:r>
              <a:rPr lang="en-US" sz="1300" dirty="0" err="1"/>
              <a:t>emotion_jira_dataset</a:t>
            </a:r>
            <a:endParaRPr kumimoji="0" lang="en-US" sz="1300" b="1" i="0" strike="noStrike" cap="none" spc="0" normalizeH="0" baseline="0" dirty="0">
              <a:ln>
                <a:noFill/>
              </a:ln>
              <a:effectLst/>
              <a:uFillTx/>
              <a:latin typeface="Source Sans Pro"/>
              <a:ea typeface="Source Sans Pro"/>
              <a:cs typeface="Source Sans Pro"/>
              <a:sym typeface="Source Sans Pro"/>
            </a:endParaRPr>
          </a:p>
        </p:txBody>
      </p:sp>
      <p:pic>
        <p:nvPicPr>
          <p:cNvPr id="272" name="Graphic 271" descr="Paper outline">
            <a:extLst>
              <a:ext uri="{FF2B5EF4-FFF2-40B4-BE49-F238E27FC236}">
                <a16:creationId xmlns:a16="http://schemas.microsoft.com/office/drawing/2014/main" id="{5D9E204C-655B-8DD5-26CF-A109E017ED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18621" y="4473903"/>
            <a:ext cx="536605" cy="536605"/>
          </a:xfrm>
          <a:prstGeom prst="rect">
            <a:avLst/>
          </a:prstGeom>
        </p:spPr>
      </p:pic>
      <p:graphicFrame>
        <p:nvGraphicFramePr>
          <p:cNvPr id="273" name="Table">
            <a:extLst>
              <a:ext uri="{FF2B5EF4-FFF2-40B4-BE49-F238E27FC236}">
                <a16:creationId xmlns:a16="http://schemas.microsoft.com/office/drawing/2014/main" id="{298D7021-29D1-23E3-06A8-5C2A9ECB568A}"/>
              </a:ext>
            </a:extLst>
          </p:cNvPr>
          <p:cNvGraphicFramePr/>
          <p:nvPr>
            <p:extLst>
              <p:ext uri="{D42A27DB-BD31-4B8C-83A1-F6EECF244321}">
                <p14:modId xmlns:p14="http://schemas.microsoft.com/office/powerpoint/2010/main" val="2580526161"/>
              </p:ext>
            </p:extLst>
          </p:nvPr>
        </p:nvGraphicFramePr>
        <p:xfrm>
          <a:off x="648007" y="40891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74" name="TextBox 273">
            <a:extLst>
              <a:ext uri="{FF2B5EF4-FFF2-40B4-BE49-F238E27FC236}">
                <a16:creationId xmlns:a16="http://schemas.microsoft.com/office/drawing/2014/main" id="{5222C5C1-9654-C96A-BABA-29E481D559AD}"/>
              </a:ext>
            </a:extLst>
          </p:cNvPr>
          <p:cNvSpPr txBox="1"/>
          <p:nvPr/>
        </p:nvSpPr>
        <p:spPr>
          <a:xfrm>
            <a:off x="444504" y="4711561"/>
            <a:ext cx="103487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err="1"/>
              <a:t>Github</a:t>
            </a:r>
            <a:r>
              <a:rPr lang="en-US" sz="1000" b="0" dirty="0"/>
              <a:t> 2020 CSV</a:t>
            </a:r>
          </a:p>
          <a:p>
            <a:pPr algn="ctr"/>
            <a:r>
              <a:rPr lang="en-US" sz="800" b="0" dirty="0"/>
              <a:t>Novielli et al. [1]</a:t>
            </a:r>
          </a:p>
        </p:txBody>
      </p:sp>
      <p:sp>
        <p:nvSpPr>
          <p:cNvPr id="275" name="TextBox 274">
            <a:extLst>
              <a:ext uri="{FF2B5EF4-FFF2-40B4-BE49-F238E27FC236}">
                <a16:creationId xmlns:a16="http://schemas.microsoft.com/office/drawing/2014/main" id="{A77BB213-C09B-09BF-48EB-C462D5F7EB89}"/>
              </a:ext>
            </a:extLst>
          </p:cNvPr>
          <p:cNvSpPr txBox="1"/>
          <p:nvPr/>
        </p:nvSpPr>
        <p:spPr>
          <a:xfrm>
            <a:off x="7334956" y="5045761"/>
            <a:ext cx="72095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err="1"/>
              <a:t>sailuh</a:t>
            </a:r>
            <a:r>
              <a:rPr lang="en-US" sz="800" b="0" dirty="0"/>
              <a:t>/</a:t>
            </a:r>
            <a:r>
              <a:rPr lang="en-US" sz="800" b="0" dirty="0" err="1"/>
              <a:t>kaiaulu</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76" name="TextBox 275">
            <a:extLst>
              <a:ext uri="{FF2B5EF4-FFF2-40B4-BE49-F238E27FC236}">
                <a16:creationId xmlns:a16="http://schemas.microsoft.com/office/drawing/2014/main" id="{3EB7B06F-5A84-FDB0-CC97-4F27C6A42796}"/>
              </a:ext>
            </a:extLst>
          </p:cNvPr>
          <p:cNvSpPr txBox="1"/>
          <p:nvPr/>
        </p:nvSpPr>
        <p:spPr>
          <a:xfrm>
            <a:off x="5368049" y="4613137"/>
            <a:ext cx="15549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77" name="Straight Arrow Connector 276">
            <a:extLst>
              <a:ext uri="{FF2B5EF4-FFF2-40B4-BE49-F238E27FC236}">
                <a16:creationId xmlns:a16="http://schemas.microsoft.com/office/drawing/2014/main" id="{2A7D4541-0A3A-A15E-BD21-0CD05A248946}"/>
              </a:ext>
            </a:extLst>
          </p:cNvPr>
          <p:cNvCxnSpPr>
            <a:cxnSpLocks/>
          </p:cNvCxnSpPr>
          <p:nvPr/>
        </p:nvCxnSpPr>
        <p:spPr>
          <a:xfrm>
            <a:off x="6705969" y="4739740"/>
            <a:ext cx="520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8" name="Elbow Connector 277">
            <a:extLst>
              <a:ext uri="{FF2B5EF4-FFF2-40B4-BE49-F238E27FC236}">
                <a16:creationId xmlns:a16="http://schemas.microsoft.com/office/drawing/2014/main" id="{133E6E44-B20A-AD90-9BCE-49D96C8680CC}"/>
              </a:ext>
            </a:extLst>
          </p:cNvPr>
          <p:cNvCxnSpPr>
            <a:cxnSpLocks/>
          </p:cNvCxnSpPr>
          <p:nvPr/>
        </p:nvCxnSpPr>
        <p:spPr>
          <a:xfrm rot="5400000">
            <a:off x="6980891" y="2693604"/>
            <a:ext cx="389103" cy="2253944"/>
          </a:xfrm>
          <a:prstGeom prst="bentConnector2">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79" name="Straight Arrow Connector 278">
            <a:extLst>
              <a:ext uri="{FF2B5EF4-FFF2-40B4-BE49-F238E27FC236}">
                <a16:creationId xmlns:a16="http://schemas.microsoft.com/office/drawing/2014/main" id="{33A1530B-C9AC-E646-7A23-C753060041E1}"/>
              </a:ext>
            </a:extLst>
          </p:cNvPr>
          <p:cNvCxnSpPr>
            <a:cxnSpLocks/>
          </p:cNvCxnSpPr>
          <p:nvPr/>
        </p:nvCxnSpPr>
        <p:spPr>
          <a:xfrm flipH="1">
            <a:off x="6048470" y="4019531"/>
            <a:ext cx="1" cy="454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0" name="Elbow Connector 279">
            <a:extLst>
              <a:ext uri="{FF2B5EF4-FFF2-40B4-BE49-F238E27FC236}">
                <a16:creationId xmlns:a16="http://schemas.microsoft.com/office/drawing/2014/main" id="{D907F3D0-370E-AAD1-ACC8-D1045EA166C1}"/>
              </a:ext>
            </a:extLst>
          </p:cNvPr>
          <p:cNvCxnSpPr>
            <a:cxnSpLocks/>
            <a:stCxn id="26" idx="1"/>
          </p:cNvCxnSpPr>
          <p:nvPr/>
        </p:nvCxnSpPr>
        <p:spPr>
          <a:xfrm rot="10800000" flipV="1">
            <a:off x="5047051" y="3470167"/>
            <a:ext cx="2546242" cy="338701"/>
          </a:xfrm>
          <a:prstGeom prst="bentConnector3">
            <a:avLst>
              <a:gd name="adj1" fmla="val 13253"/>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1" name="Straight Arrow Connector 280">
            <a:extLst>
              <a:ext uri="{FF2B5EF4-FFF2-40B4-BE49-F238E27FC236}">
                <a16:creationId xmlns:a16="http://schemas.microsoft.com/office/drawing/2014/main" id="{536C1BE3-3A3C-AAEF-67C4-B5CD997099DF}"/>
              </a:ext>
            </a:extLst>
          </p:cNvPr>
          <p:cNvCxnSpPr>
            <a:cxnSpLocks/>
          </p:cNvCxnSpPr>
          <p:nvPr/>
        </p:nvCxnSpPr>
        <p:spPr>
          <a:xfrm>
            <a:off x="5047052" y="3809205"/>
            <a:ext cx="0" cy="655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2" name="TextBox 281">
            <a:extLst>
              <a:ext uri="{FF2B5EF4-FFF2-40B4-BE49-F238E27FC236}">
                <a16:creationId xmlns:a16="http://schemas.microsoft.com/office/drawing/2014/main" id="{CD8E211A-36CF-FC33-F232-5327193A8842}"/>
              </a:ext>
            </a:extLst>
          </p:cNvPr>
          <p:cNvSpPr txBox="1"/>
          <p:nvPr/>
        </p:nvSpPr>
        <p:spPr>
          <a:xfrm>
            <a:off x="4719773" y="9025990"/>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283" name="Group 282">
            <a:extLst>
              <a:ext uri="{FF2B5EF4-FFF2-40B4-BE49-F238E27FC236}">
                <a16:creationId xmlns:a16="http://schemas.microsoft.com/office/drawing/2014/main" id="{206018AC-4388-82EA-C334-88E1552860AC}"/>
              </a:ext>
            </a:extLst>
          </p:cNvPr>
          <p:cNvGrpSpPr/>
          <p:nvPr/>
        </p:nvGrpSpPr>
        <p:grpSpPr>
          <a:xfrm>
            <a:off x="5523840" y="8584638"/>
            <a:ext cx="953200" cy="458010"/>
            <a:chOff x="5528605" y="4530831"/>
            <a:chExt cx="953200" cy="458010"/>
          </a:xfrm>
        </p:grpSpPr>
        <p:graphicFrame>
          <p:nvGraphicFramePr>
            <p:cNvPr id="284" name="Table">
              <a:extLst>
                <a:ext uri="{FF2B5EF4-FFF2-40B4-BE49-F238E27FC236}">
                  <a16:creationId xmlns:a16="http://schemas.microsoft.com/office/drawing/2014/main" id="{3418F9DA-3A93-F5D4-14F8-BAF2486F242D}"/>
                </a:ext>
              </a:extLst>
            </p:cNvPr>
            <p:cNvGraphicFramePr/>
            <p:nvPr>
              <p:extLst>
                <p:ext uri="{D42A27DB-BD31-4B8C-83A1-F6EECF244321}">
                  <p14:modId xmlns:p14="http://schemas.microsoft.com/office/powerpoint/2010/main" val="558247569"/>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285" name="Table">
              <a:extLst>
                <a:ext uri="{FF2B5EF4-FFF2-40B4-BE49-F238E27FC236}">
                  <a16:creationId xmlns:a16="http://schemas.microsoft.com/office/drawing/2014/main" id="{C0F6617F-A8EB-0F94-88D3-35072B9A42DA}"/>
                </a:ext>
              </a:extLst>
            </p:cNvPr>
            <p:cNvGraphicFramePr/>
            <p:nvPr>
              <p:extLst>
                <p:ext uri="{D42A27DB-BD31-4B8C-83A1-F6EECF244321}">
                  <p14:modId xmlns:p14="http://schemas.microsoft.com/office/powerpoint/2010/main" val="3846977627"/>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sp>
        <p:nvSpPr>
          <p:cNvPr id="286" name="TextBox 285">
            <a:extLst>
              <a:ext uri="{FF2B5EF4-FFF2-40B4-BE49-F238E27FC236}">
                <a16:creationId xmlns:a16="http://schemas.microsoft.com/office/drawing/2014/main" id="{72C02BFB-CA0B-D8AC-6385-940AD25E8A56}"/>
              </a:ext>
            </a:extLst>
          </p:cNvPr>
          <p:cNvSpPr txBox="1"/>
          <p:nvPr/>
        </p:nvSpPr>
        <p:spPr>
          <a:xfrm>
            <a:off x="5298012" y="9024372"/>
            <a:ext cx="139124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Jira Emotion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287" name="Group 286">
            <a:extLst>
              <a:ext uri="{FF2B5EF4-FFF2-40B4-BE49-F238E27FC236}">
                <a16:creationId xmlns:a16="http://schemas.microsoft.com/office/drawing/2014/main" id="{416A58D9-BCB9-EC31-0C44-5A0BC08F1F2A}"/>
              </a:ext>
            </a:extLst>
          </p:cNvPr>
          <p:cNvGrpSpPr/>
          <p:nvPr/>
        </p:nvGrpSpPr>
        <p:grpSpPr>
          <a:xfrm>
            <a:off x="8527164" y="8193234"/>
            <a:ext cx="569700" cy="1688313"/>
            <a:chOff x="8715063" y="3858862"/>
            <a:chExt cx="569700" cy="1688313"/>
          </a:xfrm>
        </p:grpSpPr>
        <p:sp>
          <p:nvSpPr>
            <p:cNvPr id="288" name="Google Shape;324;p18">
              <a:extLst>
                <a:ext uri="{FF2B5EF4-FFF2-40B4-BE49-F238E27FC236}">
                  <a16:creationId xmlns:a16="http://schemas.microsoft.com/office/drawing/2014/main" id="{CDED3447-2230-F3A2-0E4A-B01AEBED437F}"/>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289" name="Google Shape;359;p18">
              <a:extLst>
                <a:ext uri="{FF2B5EF4-FFF2-40B4-BE49-F238E27FC236}">
                  <a16:creationId xmlns:a16="http://schemas.microsoft.com/office/drawing/2014/main" id="{4347660C-8E78-4046-763A-975B5E63B517}"/>
                </a:ext>
              </a:extLst>
            </p:cNvPr>
            <p:cNvGrpSpPr/>
            <p:nvPr/>
          </p:nvGrpSpPr>
          <p:grpSpPr>
            <a:xfrm>
              <a:off x="8838265" y="4043887"/>
              <a:ext cx="307200" cy="189300"/>
              <a:chOff x="3007175" y="1757600"/>
              <a:chExt cx="307200" cy="189300"/>
            </a:xfrm>
          </p:grpSpPr>
          <p:sp>
            <p:nvSpPr>
              <p:cNvPr id="316" name="Google Shape;360;p18">
                <a:extLst>
                  <a:ext uri="{FF2B5EF4-FFF2-40B4-BE49-F238E27FC236}">
                    <a16:creationId xmlns:a16="http://schemas.microsoft.com/office/drawing/2014/main" id="{1005BBD1-DAE2-5A22-A7C1-9CE663C3460C}"/>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7" name="Google Shape;361;p18">
                <a:extLst>
                  <a:ext uri="{FF2B5EF4-FFF2-40B4-BE49-F238E27FC236}">
                    <a16:creationId xmlns:a16="http://schemas.microsoft.com/office/drawing/2014/main" id="{CBBF4763-4FBD-9E74-4C2A-D8719AE309A2}"/>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8" name="Google Shape;362;p18">
                <a:extLst>
                  <a:ext uri="{FF2B5EF4-FFF2-40B4-BE49-F238E27FC236}">
                    <a16:creationId xmlns:a16="http://schemas.microsoft.com/office/drawing/2014/main" id="{C473EB54-B5C7-981B-3A9F-966BF434B58E}"/>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9" name="Google Shape;363;p18">
                <a:extLst>
                  <a:ext uri="{FF2B5EF4-FFF2-40B4-BE49-F238E27FC236}">
                    <a16:creationId xmlns:a16="http://schemas.microsoft.com/office/drawing/2014/main" id="{05EB5B16-DE96-99CD-AB92-AABFAA5B4C2B}"/>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20" name="Google Shape;364;p18">
                <a:extLst>
                  <a:ext uri="{FF2B5EF4-FFF2-40B4-BE49-F238E27FC236}">
                    <a16:creationId xmlns:a16="http://schemas.microsoft.com/office/drawing/2014/main" id="{428960EC-CCBD-0FA6-F0C1-5258C96225F7}"/>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21" name="Google Shape;365;p18">
                <a:extLst>
                  <a:ext uri="{FF2B5EF4-FFF2-40B4-BE49-F238E27FC236}">
                    <a16:creationId xmlns:a16="http://schemas.microsoft.com/office/drawing/2014/main" id="{1DD18075-97C0-D260-EFD2-2FF25DC92593}"/>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22" name="Google Shape;366;p18">
                <a:extLst>
                  <a:ext uri="{FF2B5EF4-FFF2-40B4-BE49-F238E27FC236}">
                    <a16:creationId xmlns:a16="http://schemas.microsoft.com/office/drawing/2014/main" id="{910A0E41-F404-0142-1E60-3CCAF014E38B}"/>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290" name="Google Shape;367;p18">
              <a:extLst>
                <a:ext uri="{FF2B5EF4-FFF2-40B4-BE49-F238E27FC236}">
                  <a16:creationId xmlns:a16="http://schemas.microsoft.com/office/drawing/2014/main" id="{BDD2711D-273F-6DED-B1AB-981B141A88B5}"/>
                </a:ext>
              </a:extLst>
            </p:cNvPr>
            <p:cNvGrpSpPr/>
            <p:nvPr/>
          </p:nvGrpSpPr>
          <p:grpSpPr>
            <a:xfrm>
              <a:off x="8838252" y="4387350"/>
              <a:ext cx="307200" cy="189300"/>
              <a:chOff x="3007175" y="1757600"/>
              <a:chExt cx="307200" cy="189300"/>
            </a:xfrm>
          </p:grpSpPr>
          <p:sp>
            <p:nvSpPr>
              <p:cNvPr id="308" name="Google Shape;368;p18">
                <a:extLst>
                  <a:ext uri="{FF2B5EF4-FFF2-40B4-BE49-F238E27FC236}">
                    <a16:creationId xmlns:a16="http://schemas.microsoft.com/office/drawing/2014/main" id="{17E1CD65-57A5-0574-EFDE-A05CE8119211}"/>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9" name="Google Shape;369;p18">
                <a:extLst>
                  <a:ext uri="{FF2B5EF4-FFF2-40B4-BE49-F238E27FC236}">
                    <a16:creationId xmlns:a16="http://schemas.microsoft.com/office/drawing/2014/main" id="{C86F30C9-EE76-4809-DE63-49F98A6393E5}"/>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0" name="Google Shape;370;p18">
                <a:extLst>
                  <a:ext uri="{FF2B5EF4-FFF2-40B4-BE49-F238E27FC236}">
                    <a16:creationId xmlns:a16="http://schemas.microsoft.com/office/drawing/2014/main" id="{C247A7A8-3E9A-A021-E1E5-8AA2BCC36C8B}"/>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1" name="Google Shape;371;p18">
                <a:extLst>
                  <a:ext uri="{FF2B5EF4-FFF2-40B4-BE49-F238E27FC236}">
                    <a16:creationId xmlns:a16="http://schemas.microsoft.com/office/drawing/2014/main" id="{4772F24E-BF76-5612-04E0-D7140D6A333E}"/>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13" name="Google Shape;372;p18">
                <a:extLst>
                  <a:ext uri="{FF2B5EF4-FFF2-40B4-BE49-F238E27FC236}">
                    <a16:creationId xmlns:a16="http://schemas.microsoft.com/office/drawing/2014/main" id="{18F09496-F47E-A843-06AB-45D1CC944390}"/>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14" name="Google Shape;373;p18">
                <a:extLst>
                  <a:ext uri="{FF2B5EF4-FFF2-40B4-BE49-F238E27FC236}">
                    <a16:creationId xmlns:a16="http://schemas.microsoft.com/office/drawing/2014/main" id="{832CC8CF-A908-4C97-121B-6A13E7FBD39C}"/>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15" name="Google Shape;374;p18">
                <a:extLst>
                  <a:ext uri="{FF2B5EF4-FFF2-40B4-BE49-F238E27FC236}">
                    <a16:creationId xmlns:a16="http://schemas.microsoft.com/office/drawing/2014/main" id="{884C4C13-5490-B32A-2272-D4D6980C02BC}"/>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291" name="Google Shape;375;p18">
              <a:extLst>
                <a:ext uri="{FF2B5EF4-FFF2-40B4-BE49-F238E27FC236}">
                  <a16:creationId xmlns:a16="http://schemas.microsoft.com/office/drawing/2014/main" id="{956242D7-0FA6-1299-B2FF-279474FEB7AE}"/>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GitHub</a:t>
              </a:r>
              <a:endParaRPr sz="686">
                <a:solidFill>
                  <a:schemeClr val="dk2"/>
                </a:solidFill>
                <a:latin typeface="Source Sans 3"/>
                <a:ea typeface="Source Sans 3"/>
                <a:cs typeface="Source Sans 3"/>
                <a:sym typeface="Source Sans 3"/>
              </a:endParaRPr>
            </a:p>
          </p:txBody>
        </p:sp>
        <p:sp>
          <p:nvSpPr>
            <p:cNvPr id="293" name="Google Shape;376;p18">
              <a:extLst>
                <a:ext uri="{FF2B5EF4-FFF2-40B4-BE49-F238E27FC236}">
                  <a16:creationId xmlns:a16="http://schemas.microsoft.com/office/drawing/2014/main" id="{D2CC30E5-F3C8-23FB-BD13-0E6CE91E691D}"/>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294" name="Google Shape;377;p18">
              <a:extLst>
                <a:ext uri="{FF2B5EF4-FFF2-40B4-BE49-F238E27FC236}">
                  <a16:creationId xmlns:a16="http://schemas.microsoft.com/office/drawing/2014/main" id="{050928C8-866F-871B-B961-97E11DBA63DE}"/>
                </a:ext>
              </a:extLst>
            </p:cNvPr>
            <p:cNvGrpSpPr/>
            <p:nvPr/>
          </p:nvGrpSpPr>
          <p:grpSpPr>
            <a:xfrm>
              <a:off x="8846302" y="4841125"/>
              <a:ext cx="307200" cy="297900"/>
              <a:chOff x="3021975" y="2389850"/>
              <a:chExt cx="307200" cy="297900"/>
            </a:xfrm>
          </p:grpSpPr>
          <p:sp>
            <p:nvSpPr>
              <p:cNvPr id="298" name="Google Shape;378;p18">
                <a:extLst>
                  <a:ext uri="{FF2B5EF4-FFF2-40B4-BE49-F238E27FC236}">
                    <a16:creationId xmlns:a16="http://schemas.microsoft.com/office/drawing/2014/main" id="{E61E8282-E6A1-DF53-747C-6BF928D35DC3}"/>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99" name="Google Shape;379;p18">
                <a:extLst>
                  <a:ext uri="{FF2B5EF4-FFF2-40B4-BE49-F238E27FC236}">
                    <a16:creationId xmlns:a16="http://schemas.microsoft.com/office/drawing/2014/main" id="{519B9169-864C-6A06-AA89-5806A13355D6}"/>
                  </a:ext>
                </a:extLst>
              </p:cNvPr>
              <p:cNvGrpSpPr/>
              <p:nvPr/>
            </p:nvGrpSpPr>
            <p:grpSpPr>
              <a:xfrm>
                <a:off x="3021975" y="2389850"/>
                <a:ext cx="307200" cy="295800"/>
                <a:chOff x="3021975" y="2389850"/>
                <a:chExt cx="307200" cy="295800"/>
              </a:xfrm>
            </p:grpSpPr>
            <p:sp>
              <p:nvSpPr>
                <p:cNvPr id="300" name="Google Shape;380;p18">
                  <a:extLst>
                    <a:ext uri="{FF2B5EF4-FFF2-40B4-BE49-F238E27FC236}">
                      <a16:creationId xmlns:a16="http://schemas.microsoft.com/office/drawing/2014/main" id="{693E0E33-7B37-17D9-6546-BF76DDB6236C}"/>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1" name="Google Shape;381;p18">
                  <a:extLst>
                    <a:ext uri="{FF2B5EF4-FFF2-40B4-BE49-F238E27FC236}">
                      <a16:creationId xmlns:a16="http://schemas.microsoft.com/office/drawing/2014/main" id="{A1BFCE6E-511D-CD44-A595-CAE1594ED44F}"/>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02" name="Google Shape;382;p18">
                  <a:extLst>
                    <a:ext uri="{FF2B5EF4-FFF2-40B4-BE49-F238E27FC236}">
                      <a16:creationId xmlns:a16="http://schemas.microsoft.com/office/drawing/2014/main" id="{5D5FE9D7-ECBB-D88F-6B5E-E0871CB7B500}"/>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03" name="Google Shape;383;p18">
                  <a:extLst>
                    <a:ext uri="{FF2B5EF4-FFF2-40B4-BE49-F238E27FC236}">
                      <a16:creationId xmlns:a16="http://schemas.microsoft.com/office/drawing/2014/main" id="{E2D2821C-DE44-F947-B988-755F495374A7}"/>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04" name="Google Shape;384;p18">
                  <a:extLst>
                    <a:ext uri="{FF2B5EF4-FFF2-40B4-BE49-F238E27FC236}">
                      <a16:creationId xmlns:a16="http://schemas.microsoft.com/office/drawing/2014/main" id="{C323E218-0388-95B1-7114-90F99948190A}"/>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05" name="Google Shape;385;p18">
                  <a:extLst>
                    <a:ext uri="{FF2B5EF4-FFF2-40B4-BE49-F238E27FC236}">
                      <a16:creationId xmlns:a16="http://schemas.microsoft.com/office/drawing/2014/main" id="{870A89DC-629E-6DE6-A131-DCD3D3F43B04}"/>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06" name="Google Shape;386;p18">
                  <a:extLst>
                    <a:ext uri="{FF2B5EF4-FFF2-40B4-BE49-F238E27FC236}">
                      <a16:creationId xmlns:a16="http://schemas.microsoft.com/office/drawing/2014/main" id="{393CCE94-271E-40F6-81FD-F3717CA1065C}"/>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07" name="Google Shape;387;p18">
                  <a:extLst>
                    <a:ext uri="{FF2B5EF4-FFF2-40B4-BE49-F238E27FC236}">
                      <a16:creationId xmlns:a16="http://schemas.microsoft.com/office/drawing/2014/main" id="{1B077824-789D-C25C-5AAC-8E3BC988CDC8}"/>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295" name="Google Shape;388;p18">
              <a:extLst>
                <a:ext uri="{FF2B5EF4-FFF2-40B4-BE49-F238E27FC236}">
                  <a16:creationId xmlns:a16="http://schemas.microsoft.com/office/drawing/2014/main" id="{D7508104-2F3C-585E-1292-F334DF8A62E5}"/>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cxnSp>
          <p:nvCxnSpPr>
            <p:cNvPr id="296" name="Google Shape;389;p18">
              <a:extLst>
                <a:ext uri="{FF2B5EF4-FFF2-40B4-BE49-F238E27FC236}">
                  <a16:creationId xmlns:a16="http://schemas.microsoft.com/office/drawing/2014/main" id="{BAB4CF03-3524-A34E-24B2-D6001A94A211}"/>
                </a:ext>
              </a:extLst>
            </p:cNvPr>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297" name="Google Shape;390;p18">
              <a:extLst>
                <a:ext uri="{FF2B5EF4-FFF2-40B4-BE49-F238E27FC236}">
                  <a16:creationId xmlns:a16="http://schemas.microsoft.com/office/drawing/2014/main" id="{B2BB0B8E-B88F-4071-5872-F7BEFB0C9C77}"/>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323" name="Graphic 322" descr="Paper outline">
            <a:extLst>
              <a:ext uri="{FF2B5EF4-FFF2-40B4-BE49-F238E27FC236}">
                <a16:creationId xmlns:a16="http://schemas.microsoft.com/office/drawing/2014/main" id="{ACC86B97-3DDC-7D1D-E7C3-A994745C67E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32598" y="8538023"/>
            <a:ext cx="536605" cy="536605"/>
          </a:xfrm>
          <a:prstGeom prst="rect">
            <a:avLst/>
          </a:prstGeom>
        </p:spPr>
      </p:pic>
      <p:sp>
        <p:nvSpPr>
          <p:cNvPr id="324" name="TextBox 323">
            <a:extLst>
              <a:ext uri="{FF2B5EF4-FFF2-40B4-BE49-F238E27FC236}">
                <a16:creationId xmlns:a16="http://schemas.microsoft.com/office/drawing/2014/main" id="{A5712788-5FFA-2620-2D50-B5DC68F08AD9}"/>
              </a:ext>
            </a:extLst>
          </p:cNvPr>
          <p:cNvSpPr txBox="1"/>
          <p:nvPr/>
        </p:nvSpPr>
        <p:spPr>
          <a:xfrm>
            <a:off x="5277476" y="8649598"/>
            <a:ext cx="15549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25" name="Straight Arrow Connector 324">
            <a:extLst>
              <a:ext uri="{FF2B5EF4-FFF2-40B4-BE49-F238E27FC236}">
                <a16:creationId xmlns:a16="http://schemas.microsoft.com/office/drawing/2014/main" id="{6B9C4738-861E-B775-5F05-60EE00EA9B0C}"/>
              </a:ext>
            </a:extLst>
          </p:cNvPr>
          <p:cNvCxnSpPr>
            <a:cxnSpLocks/>
          </p:cNvCxnSpPr>
          <p:nvPr/>
        </p:nvCxnSpPr>
        <p:spPr>
          <a:xfrm>
            <a:off x="6558302" y="8803860"/>
            <a:ext cx="520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6" name="Straight Arrow Connector 325">
            <a:extLst>
              <a:ext uri="{FF2B5EF4-FFF2-40B4-BE49-F238E27FC236}">
                <a16:creationId xmlns:a16="http://schemas.microsoft.com/office/drawing/2014/main" id="{49B535B9-3F1B-3B05-58F0-860FA9ED5521}"/>
              </a:ext>
            </a:extLst>
          </p:cNvPr>
          <p:cNvCxnSpPr>
            <a:cxnSpLocks/>
          </p:cNvCxnSpPr>
          <p:nvPr/>
        </p:nvCxnSpPr>
        <p:spPr>
          <a:xfrm flipH="1">
            <a:off x="5962447" y="8083651"/>
            <a:ext cx="1" cy="454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7" name="Elbow Connector 326">
            <a:extLst>
              <a:ext uri="{FF2B5EF4-FFF2-40B4-BE49-F238E27FC236}">
                <a16:creationId xmlns:a16="http://schemas.microsoft.com/office/drawing/2014/main" id="{90B64377-A8C8-1C9F-D63D-1E8F2DFB4DF6}"/>
              </a:ext>
            </a:extLst>
          </p:cNvPr>
          <p:cNvCxnSpPr>
            <a:cxnSpLocks/>
            <a:stCxn id="37" idx="1"/>
          </p:cNvCxnSpPr>
          <p:nvPr/>
        </p:nvCxnSpPr>
        <p:spPr>
          <a:xfrm rot="10800000" flipV="1">
            <a:off x="4988401" y="7549377"/>
            <a:ext cx="2570639" cy="340269"/>
          </a:xfrm>
          <a:prstGeom prst="bentConnector3">
            <a:avLst>
              <a:gd name="adj1" fmla="val 8758"/>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8" name="Straight Arrow Connector 327">
            <a:extLst>
              <a:ext uri="{FF2B5EF4-FFF2-40B4-BE49-F238E27FC236}">
                <a16:creationId xmlns:a16="http://schemas.microsoft.com/office/drawing/2014/main" id="{AE6E14B0-D631-78EC-A883-FB4315C8FA02}"/>
              </a:ext>
            </a:extLst>
          </p:cNvPr>
          <p:cNvCxnSpPr>
            <a:cxnSpLocks/>
          </p:cNvCxnSpPr>
          <p:nvPr/>
        </p:nvCxnSpPr>
        <p:spPr>
          <a:xfrm>
            <a:off x="4988395" y="7887589"/>
            <a:ext cx="0" cy="655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9" name="Elbow Connector 328">
            <a:extLst>
              <a:ext uri="{FF2B5EF4-FFF2-40B4-BE49-F238E27FC236}">
                <a16:creationId xmlns:a16="http://schemas.microsoft.com/office/drawing/2014/main" id="{A3276CAC-6BA0-EDAB-000E-AE03FD1471EA}"/>
              </a:ext>
            </a:extLst>
          </p:cNvPr>
          <p:cNvCxnSpPr>
            <a:cxnSpLocks/>
          </p:cNvCxnSpPr>
          <p:nvPr/>
        </p:nvCxnSpPr>
        <p:spPr>
          <a:xfrm rot="10800000" flipV="1">
            <a:off x="5962448" y="7689643"/>
            <a:ext cx="2330535" cy="395891"/>
          </a:xfrm>
          <a:prstGeom prst="bentConnector3">
            <a:avLst>
              <a:gd name="adj1" fmla="val 138"/>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0" name="Straight Arrow Connector 329">
            <a:extLst>
              <a:ext uri="{FF2B5EF4-FFF2-40B4-BE49-F238E27FC236}">
                <a16:creationId xmlns:a16="http://schemas.microsoft.com/office/drawing/2014/main" id="{B590FABD-379B-D166-4B7A-E5083D3E6C1E}"/>
              </a:ext>
            </a:extLst>
          </p:cNvPr>
          <p:cNvCxnSpPr>
            <a:cxnSpLocks/>
          </p:cNvCxnSpPr>
          <p:nvPr/>
        </p:nvCxnSpPr>
        <p:spPr>
          <a:xfrm>
            <a:off x="8042038" y="8798069"/>
            <a:ext cx="4914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1" name="Can 330">
            <a:extLst>
              <a:ext uri="{FF2B5EF4-FFF2-40B4-BE49-F238E27FC236}">
                <a16:creationId xmlns:a16="http://schemas.microsoft.com/office/drawing/2014/main" id="{4B89CD86-2C00-3193-0CC8-A02F6E57513C}"/>
              </a:ext>
            </a:extLst>
          </p:cNvPr>
          <p:cNvSpPr/>
          <p:nvPr/>
        </p:nvSpPr>
        <p:spPr>
          <a:xfrm>
            <a:off x="2161726" y="4087963"/>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32" name="TextBox 331">
            <a:extLst>
              <a:ext uri="{FF2B5EF4-FFF2-40B4-BE49-F238E27FC236}">
                <a16:creationId xmlns:a16="http://schemas.microsoft.com/office/drawing/2014/main" id="{2E447F88-4318-9010-6007-FD3F128ADE3E}"/>
              </a:ext>
            </a:extLst>
          </p:cNvPr>
          <p:cNvSpPr txBox="1"/>
          <p:nvPr/>
        </p:nvSpPr>
        <p:spPr>
          <a:xfrm>
            <a:off x="1691738" y="4702673"/>
            <a:ext cx="144929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err="1"/>
              <a:t>GHTorrent</a:t>
            </a:r>
            <a:r>
              <a:rPr lang="en-US" sz="1000" b="0" dirty="0"/>
              <a:t> 2014 DB</a:t>
            </a:r>
          </a:p>
          <a:p>
            <a:pPr algn="ctr"/>
            <a:r>
              <a:rPr lang="en-US" sz="800" b="0" dirty="0"/>
              <a:t>MSR Challenge [2]</a:t>
            </a:r>
          </a:p>
        </p:txBody>
      </p:sp>
      <p:sp>
        <p:nvSpPr>
          <p:cNvPr id="333" name="Line">
            <a:extLst>
              <a:ext uri="{FF2B5EF4-FFF2-40B4-BE49-F238E27FC236}">
                <a16:creationId xmlns:a16="http://schemas.microsoft.com/office/drawing/2014/main" id="{E22DA86E-2CE8-3277-D02F-0C9681776F2D}"/>
              </a:ext>
            </a:extLst>
          </p:cNvPr>
          <p:cNvSpPr/>
          <p:nvPr/>
        </p:nvSpPr>
        <p:spPr>
          <a:xfrm flipV="1">
            <a:off x="252723" y="5254841"/>
            <a:ext cx="3367943" cy="0"/>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aphicFrame>
        <p:nvGraphicFramePr>
          <p:cNvPr id="334" name="Table">
            <a:extLst>
              <a:ext uri="{FF2B5EF4-FFF2-40B4-BE49-F238E27FC236}">
                <a16:creationId xmlns:a16="http://schemas.microsoft.com/office/drawing/2014/main" id="{F0645179-A632-4CB5-4337-A0303537C3FD}"/>
              </a:ext>
            </a:extLst>
          </p:cNvPr>
          <p:cNvGraphicFramePr/>
          <p:nvPr>
            <p:extLst>
              <p:ext uri="{D42A27DB-BD31-4B8C-83A1-F6EECF244321}">
                <p14:modId xmlns:p14="http://schemas.microsoft.com/office/powerpoint/2010/main" val="112444469"/>
              </p:ext>
            </p:extLst>
          </p:nvPr>
        </p:nvGraphicFramePr>
        <p:xfrm>
          <a:off x="637915" y="5447796"/>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335" name="TextBox 334">
            <a:extLst>
              <a:ext uri="{FF2B5EF4-FFF2-40B4-BE49-F238E27FC236}">
                <a16:creationId xmlns:a16="http://schemas.microsoft.com/office/drawing/2014/main" id="{70E56E3D-49F7-25FB-54CC-586EBAB68654}"/>
              </a:ext>
            </a:extLst>
          </p:cNvPr>
          <p:cNvSpPr txBox="1"/>
          <p:nvPr/>
        </p:nvSpPr>
        <p:spPr>
          <a:xfrm>
            <a:off x="275721" y="6080333"/>
            <a:ext cx="1349115"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Emotion 2016 CSV</a:t>
            </a:r>
          </a:p>
          <a:p>
            <a:pPr algn="ctr"/>
            <a:r>
              <a:rPr lang="en-US" sz="800" b="0" dirty="0"/>
              <a:t>Ortu et al. [3]</a:t>
            </a:r>
          </a:p>
        </p:txBody>
      </p:sp>
      <p:sp>
        <p:nvSpPr>
          <p:cNvPr id="336" name="TextBox 335">
            <a:extLst>
              <a:ext uri="{FF2B5EF4-FFF2-40B4-BE49-F238E27FC236}">
                <a16:creationId xmlns:a16="http://schemas.microsoft.com/office/drawing/2014/main" id="{93DE4709-0D2E-CDBF-E3B0-C66D04E6EE76}"/>
              </a:ext>
            </a:extLst>
          </p:cNvPr>
          <p:cNvSpPr txBox="1"/>
          <p:nvPr/>
        </p:nvSpPr>
        <p:spPr>
          <a:xfrm>
            <a:off x="1667267" y="6096367"/>
            <a:ext cx="144929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a:t>Jira PostgreSQL 2016 DB</a:t>
            </a:r>
          </a:p>
          <a:p>
            <a:pPr algn="ctr"/>
            <a:r>
              <a:rPr lang="en-US" sz="800" b="0" dirty="0"/>
              <a:t>MSR Challenge [4]</a:t>
            </a:r>
          </a:p>
        </p:txBody>
      </p:sp>
      <p:sp>
        <p:nvSpPr>
          <p:cNvPr id="337" name="TextBox 336">
            <a:extLst>
              <a:ext uri="{FF2B5EF4-FFF2-40B4-BE49-F238E27FC236}">
                <a16:creationId xmlns:a16="http://schemas.microsoft.com/office/drawing/2014/main" id="{6BF83266-9E48-3C7F-ACD2-4A8381EA6FA2}"/>
              </a:ext>
            </a:extLst>
          </p:cNvPr>
          <p:cNvSpPr txBox="1"/>
          <p:nvPr/>
        </p:nvSpPr>
        <p:spPr>
          <a:xfrm>
            <a:off x="9468971" y="9437117"/>
            <a:ext cx="4207266" cy="8591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600" b="0" dirty="0"/>
              <a:t>[1] N. Novielli, Fabio Calefato, Davide </a:t>
            </a:r>
            <a:r>
              <a:rPr lang="en-US" sz="600" b="0" dirty="0" err="1"/>
              <a:t>Dongiovanni</a:t>
            </a:r>
            <a:r>
              <a:rPr lang="en-US" sz="600" b="0" dirty="0"/>
              <a:t>, D. Girardi, and Filippo Lanubile, “Can We Use SE-specific Sentiment Analysis Tools in a Cross-Platform Setting?,” Jun. 2020, </a:t>
            </a:r>
            <a:r>
              <a:rPr lang="en-US" sz="600" b="0" dirty="0" err="1"/>
              <a:t>doi</a:t>
            </a:r>
            <a:r>
              <a:rPr lang="en-US" sz="600" b="0" dirty="0"/>
              <a:t>: https://doi.org/10.1145/3379597.3387446. </a:t>
            </a:r>
          </a:p>
          <a:p>
            <a:r>
              <a:rPr lang="en-US" sz="600" b="0" dirty="0"/>
              <a:t>[2]https://web.archive.org/web/20210224080543/http://ansymore.uantwerpen.be/system/files/uploads/artefacts/alessandro/MSR16/archive3.zip</a:t>
            </a:r>
          </a:p>
          <a:p>
            <a:r>
              <a:rPr lang="en-US" sz="600" b="0" dirty="0"/>
              <a:t>[3] M. Ortu </a:t>
            </a:r>
            <a:r>
              <a:rPr lang="en-US" sz="600" b="0" i="1" dirty="0"/>
              <a:t>et al.</a:t>
            </a:r>
            <a:r>
              <a:rPr lang="en-US" sz="600" b="0" dirty="0"/>
              <a:t>, “The emotional side of software developers in JIRA,” </a:t>
            </a:r>
            <a:r>
              <a:rPr lang="en-US" sz="600" b="0" i="1" dirty="0"/>
              <a:t>Proceedings of the 13th International Conference on Mining Software Repositories</a:t>
            </a:r>
            <a:r>
              <a:rPr lang="en-US" sz="600" b="0" dirty="0"/>
              <a:t>, May 2016, </a:t>
            </a:r>
            <a:r>
              <a:rPr lang="en-US" sz="600" b="0" dirty="0" err="1"/>
              <a:t>doi</a:t>
            </a:r>
            <a:r>
              <a:rPr lang="en-US" sz="600" b="0" dirty="0"/>
              <a:t>: https://doi.org/10.1145/2901739.2903505. </a:t>
            </a:r>
          </a:p>
          <a:p>
            <a:r>
              <a:rPr lang="en-US" sz="600" b="0" dirty="0"/>
              <a:t>[4]https://web.archive.org/web/20150206005357/http://ghtorrent.org/msr14.html </a:t>
            </a:r>
          </a:p>
        </p:txBody>
      </p:sp>
      <p:grpSp>
        <p:nvGrpSpPr>
          <p:cNvPr id="338" name="Group 337">
            <a:extLst>
              <a:ext uri="{FF2B5EF4-FFF2-40B4-BE49-F238E27FC236}">
                <a16:creationId xmlns:a16="http://schemas.microsoft.com/office/drawing/2014/main" id="{3B29EC10-DDB4-F29B-7892-1C9BF00B93CF}"/>
              </a:ext>
            </a:extLst>
          </p:cNvPr>
          <p:cNvGrpSpPr/>
          <p:nvPr/>
        </p:nvGrpSpPr>
        <p:grpSpPr>
          <a:xfrm>
            <a:off x="9716135" y="7200213"/>
            <a:ext cx="3656845" cy="2142989"/>
            <a:chOff x="8476178" y="1075788"/>
            <a:chExt cx="3245700" cy="1935357"/>
          </a:xfrm>
        </p:grpSpPr>
        <p:sp>
          <p:nvSpPr>
            <p:cNvPr id="339" name="Google Shape;324;p18">
              <a:extLst>
                <a:ext uri="{FF2B5EF4-FFF2-40B4-BE49-F238E27FC236}">
                  <a16:creationId xmlns:a16="http://schemas.microsoft.com/office/drawing/2014/main" id="{E85225AA-F861-6B9B-48E8-EFCFC0A5528B}"/>
                </a:ext>
              </a:extLst>
            </p:cNvPr>
            <p:cNvSpPr/>
            <p:nvPr/>
          </p:nvSpPr>
          <p:spPr>
            <a:xfrm>
              <a:off x="8547103" y="133324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sp>
          <p:nvSpPr>
            <p:cNvPr id="340" name="Google Shape;325;p18">
              <a:extLst>
                <a:ext uri="{FF2B5EF4-FFF2-40B4-BE49-F238E27FC236}">
                  <a16:creationId xmlns:a16="http://schemas.microsoft.com/office/drawing/2014/main" id="{CCBA97DC-D185-C8D5-0D49-67ADC8D47EB6}"/>
                </a:ext>
              </a:extLst>
            </p:cNvPr>
            <p:cNvSpPr txBox="1"/>
            <p:nvPr/>
          </p:nvSpPr>
          <p:spPr>
            <a:xfrm>
              <a:off x="8512875" y="1160558"/>
              <a:ext cx="5898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Comments</a:t>
              </a:r>
              <a:endParaRPr sz="686" dirty="0">
                <a:solidFill>
                  <a:schemeClr val="dk2"/>
                </a:solidFill>
                <a:latin typeface="Source Sans 3"/>
                <a:ea typeface="Source Sans 3"/>
                <a:cs typeface="Source Sans 3"/>
                <a:sym typeface="Source Sans 3"/>
              </a:endParaRPr>
            </a:p>
          </p:txBody>
        </p:sp>
        <p:sp>
          <p:nvSpPr>
            <p:cNvPr id="341" name="Google Shape;326;p18">
              <a:extLst>
                <a:ext uri="{FF2B5EF4-FFF2-40B4-BE49-F238E27FC236}">
                  <a16:creationId xmlns:a16="http://schemas.microsoft.com/office/drawing/2014/main" id="{8F2977B0-7DF1-69CC-4A06-032FCC755DB8}"/>
                </a:ext>
              </a:extLst>
            </p:cNvPr>
            <p:cNvSpPr/>
            <p:nvPr/>
          </p:nvSpPr>
          <p:spPr>
            <a:xfrm>
              <a:off x="8476178" y="1114845"/>
              <a:ext cx="3245700" cy="18963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2" name="Google Shape;327;p18">
              <a:extLst>
                <a:ext uri="{FF2B5EF4-FFF2-40B4-BE49-F238E27FC236}">
                  <a16:creationId xmlns:a16="http://schemas.microsoft.com/office/drawing/2014/main" id="{D34071ED-379A-D295-A6BF-FA8EFC6418D1}"/>
                </a:ext>
              </a:extLst>
            </p:cNvPr>
            <p:cNvSpPr/>
            <p:nvPr/>
          </p:nvSpPr>
          <p:spPr>
            <a:xfrm>
              <a:off x="9194189" y="1685753"/>
              <a:ext cx="660000" cy="5394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sp>
          <p:nvSpPr>
            <p:cNvPr id="343" name="Google Shape;328;p18">
              <a:extLst>
                <a:ext uri="{FF2B5EF4-FFF2-40B4-BE49-F238E27FC236}">
                  <a16:creationId xmlns:a16="http://schemas.microsoft.com/office/drawing/2014/main" id="{B715B655-D53B-4BAF-22C0-4C54AC584A31}"/>
                </a:ext>
              </a:extLst>
            </p:cNvPr>
            <p:cNvSpPr txBox="1"/>
            <p:nvPr/>
          </p:nvSpPr>
          <p:spPr>
            <a:xfrm>
              <a:off x="9194178" y="1823420"/>
              <a:ext cx="6876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sailuh/kaiaulu</a:t>
              </a:r>
              <a:endParaRPr sz="686">
                <a:solidFill>
                  <a:schemeClr val="dk2"/>
                </a:solidFill>
                <a:latin typeface="Source Sans 3"/>
                <a:ea typeface="Source Sans 3"/>
                <a:cs typeface="Source Sans 3"/>
                <a:sym typeface="Source Sans 3"/>
              </a:endParaRPr>
            </a:p>
          </p:txBody>
        </p:sp>
        <p:cxnSp>
          <p:nvCxnSpPr>
            <p:cNvPr id="344" name="Google Shape;329;p18">
              <a:extLst>
                <a:ext uri="{FF2B5EF4-FFF2-40B4-BE49-F238E27FC236}">
                  <a16:creationId xmlns:a16="http://schemas.microsoft.com/office/drawing/2014/main" id="{A0FE0A98-809A-9492-D657-8EF4E96D22E8}"/>
                </a:ext>
              </a:extLst>
            </p:cNvPr>
            <p:cNvCxnSpPr/>
            <p:nvPr/>
          </p:nvCxnSpPr>
          <p:spPr>
            <a:xfrm>
              <a:off x="9524199" y="2225090"/>
              <a:ext cx="0" cy="297300"/>
            </a:xfrm>
            <a:prstGeom prst="straightConnector1">
              <a:avLst/>
            </a:prstGeom>
            <a:noFill/>
            <a:ln w="8175" cap="flat" cmpd="sng">
              <a:solidFill>
                <a:schemeClr val="dk2"/>
              </a:solidFill>
              <a:prstDash val="solid"/>
              <a:round/>
              <a:headEnd type="none" w="med" len="med"/>
              <a:tailEnd type="triangle" w="med" len="med"/>
            </a:ln>
          </p:spPr>
        </p:cxnSp>
        <p:sp>
          <p:nvSpPr>
            <p:cNvPr id="345" name="Google Shape;330;p18">
              <a:extLst>
                <a:ext uri="{FF2B5EF4-FFF2-40B4-BE49-F238E27FC236}">
                  <a16:creationId xmlns:a16="http://schemas.microsoft.com/office/drawing/2014/main" id="{A3FCD818-83BA-B4F3-D226-CC46AB087D01}"/>
                </a:ext>
              </a:extLst>
            </p:cNvPr>
            <p:cNvSpPr txBox="1"/>
            <p:nvPr/>
          </p:nvSpPr>
          <p:spPr>
            <a:xfrm>
              <a:off x="9029988" y="2467514"/>
              <a:ext cx="1094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rgbClr val="628DB5"/>
                  </a:solidFill>
                  <a:latin typeface="Source Sans 3"/>
                  <a:ea typeface="Source Sans 3"/>
                  <a:cs typeface="Source Sans 3"/>
                  <a:sym typeface="Source Sans 3"/>
                </a:rPr>
                <a:t>engagement_sentiment()</a:t>
              </a:r>
              <a:endParaRPr sz="686">
                <a:solidFill>
                  <a:srgbClr val="628DB5"/>
                </a:solidFill>
                <a:latin typeface="Source Sans 3"/>
                <a:ea typeface="Source Sans 3"/>
                <a:cs typeface="Source Sans 3"/>
                <a:sym typeface="Source Sans 3"/>
              </a:endParaRPr>
            </a:p>
          </p:txBody>
        </p:sp>
        <p:sp>
          <p:nvSpPr>
            <p:cNvPr id="346" name="Google Shape;331;p18">
              <a:extLst>
                <a:ext uri="{FF2B5EF4-FFF2-40B4-BE49-F238E27FC236}">
                  <a16:creationId xmlns:a16="http://schemas.microsoft.com/office/drawing/2014/main" id="{F06E16E1-C521-C948-9AA7-89B177375072}"/>
                </a:ext>
              </a:extLst>
            </p:cNvPr>
            <p:cNvSpPr/>
            <p:nvPr/>
          </p:nvSpPr>
          <p:spPr>
            <a:xfrm>
              <a:off x="10562628" y="1685745"/>
              <a:ext cx="1099800" cy="554100"/>
            </a:xfrm>
            <a:prstGeom prst="rect">
              <a:avLst/>
            </a:prstGeom>
            <a:noFill/>
            <a:ln w="8200" cap="flat" cmpd="sng">
              <a:solidFill>
                <a:schemeClr val="dk2"/>
              </a:solidFill>
              <a:prstDash val="solid"/>
              <a:round/>
              <a:headEnd type="none" w="sm" len="sm"/>
              <a:tailEnd type="none" w="sm" len="sm"/>
            </a:ln>
          </p:spPr>
          <p:txBody>
            <a:bodyPr spcFirstLastPara="1" wrap="square" lIns="78800" tIns="78800" rIns="78800" bIns="78800" anchor="ctr" anchorCtr="0">
              <a:noAutofit/>
            </a:bodyPr>
            <a:lstStyle/>
            <a:p>
              <a:pPr marL="0" lvl="0" indent="0" algn="ctr" rtl="0">
                <a:spcBef>
                  <a:spcPts val="0"/>
                </a:spcBef>
                <a:spcAft>
                  <a:spcPts val="0"/>
                </a:spcAft>
                <a:buNone/>
              </a:pPr>
              <a:endParaRPr sz="1207"/>
            </a:p>
          </p:txBody>
        </p:sp>
        <p:sp>
          <p:nvSpPr>
            <p:cNvPr id="347" name="Google Shape;332;p18">
              <a:extLst>
                <a:ext uri="{FF2B5EF4-FFF2-40B4-BE49-F238E27FC236}">
                  <a16:creationId xmlns:a16="http://schemas.microsoft.com/office/drawing/2014/main" id="{4CE8C28D-1174-A94D-C35C-82613EDA6743}"/>
                </a:ext>
              </a:extLst>
            </p:cNvPr>
            <p:cNvSpPr txBox="1"/>
            <p:nvPr/>
          </p:nvSpPr>
          <p:spPr>
            <a:xfrm>
              <a:off x="10544028" y="1682645"/>
              <a:ext cx="1150800" cy="265200"/>
            </a:xfrm>
            <a:prstGeom prst="rect">
              <a:avLst/>
            </a:prstGeom>
            <a:noFill/>
            <a:ln>
              <a:noFill/>
            </a:ln>
          </p:spPr>
          <p:txBody>
            <a:bodyPr spcFirstLastPara="1" wrap="square" lIns="78800" tIns="78800" rIns="78800" bIns="78800" anchor="t" anchorCtr="0">
              <a:spAutoFit/>
            </a:bodyPr>
            <a:lstStyle/>
            <a:p>
              <a:pPr marL="0" lvl="0" indent="0" algn="l" rtl="0">
                <a:spcBef>
                  <a:spcPts val="0"/>
                </a:spcBef>
                <a:spcAft>
                  <a:spcPts val="0"/>
                </a:spcAft>
                <a:buNone/>
              </a:pPr>
              <a:r>
                <a:rPr lang="en" sz="689" dirty="0" err="1">
                  <a:solidFill>
                    <a:schemeClr val="dk2"/>
                  </a:solidFill>
                  <a:latin typeface="Source Sans 3"/>
                  <a:ea typeface="Source Sans 3"/>
                  <a:cs typeface="Source Sans 3"/>
                  <a:sym typeface="Source Sans 3"/>
                </a:rPr>
                <a:t>sailuh</a:t>
              </a:r>
              <a:r>
                <a:rPr lang="en" sz="689" dirty="0">
                  <a:solidFill>
                    <a:schemeClr val="dk2"/>
                  </a:solidFill>
                  <a:latin typeface="Source Sans 3"/>
                  <a:ea typeface="Source Sans 3"/>
                  <a:cs typeface="Source Sans 3"/>
                  <a:sym typeface="Source Sans 3"/>
                </a:rPr>
                <a:t>/</a:t>
              </a:r>
              <a:r>
                <a:rPr lang="en" sz="689" dirty="0" err="1">
                  <a:solidFill>
                    <a:schemeClr val="dk2"/>
                  </a:solidFill>
                  <a:latin typeface="Source Sans 3"/>
                  <a:ea typeface="Source Sans 3"/>
                  <a:cs typeface="Source Sans 3"/>
                  <a:sym typeface="Source Sans 3"/>
                </a:rPr>
                <a:t>sentiment_classifier</a:t>
              </a:r>
              <a:endParaRPr sz="689" dirty="0">
                <a:solidFill>
                  <a:schemeClr val="dk2"/>
                </a:solidFill>
                <a:latin typeface="Source Sans 3"/>
                <a:ea typeface="Source Sans 3"/>
                <a:cs typeface="Source Sans 3"/>
                <a:sym typeface="Source Sans 3"/>
              </a:endParaRPr>
            </a:p>
          </p:txBody>
        </p:sp>
        <p:cxnSp>
          <p:nvCxnSpPr>
            <p:cNvPr id="348" name="Google Shape;333;p18">
              <a:extLst>
                <a:ext uri="{FF2B5EF4-FFF2-40B4-BE49-F238E27FC236}">
                  <a16:creationId xmlns:a16="http://schemas.microsoft.com/office/drawing/2014/main" id="{0D5E7E80-E305-D0DF-C6DF-50A9D0085C4D}"/>
                </a:ext>
              </a:extLst>
            </p:cNvPr>
            <p:cNvCxnSpPr/>
            <p:nvPr/>
          </p:nvCxnSpPr>
          <p:spPr>
            <a:xfrm rot="10800000" flipH="1">
              <a:off x="9890815" y="1865994"/>
              <a:ext cx="632700" cy="900"/>
            </a:xfrm>
            <a:prstGeom prst="straightConnector1">
              <a:avLst/>
            </a:prstGeom>
            <a:noFill/>
            <a:ln w="9525" cap="flat" cmpd="sng">
              <a:solidFill>
                <a:schemeClr val="dk2"/>
              </a:solidFill>
              <a:prstDash val="solid"/>
              <a:round/>
              <a:headEnd type="none" w="med" len="med"/>
              <a:tailEnd type="triangle" w="med" len="med"/>
            </a:ln>
          </p:spPr>
        </p:cxnSp>
        <p:cxnSp>
          <p:nvCxnSpPr>
            <p:cNvPr id="349" name="Google Shape;334;p18">
              <a:extLst>
                <a:ext uri="{FF2B5EF4-FFF2-40B4-BE49-F238E27FC236}">
                  <a16:creationId xmlns:a16="http://schemas.microsoft.com/office/drawing/2014/main" id="{3393E55A-8D4D-0EEA-8695-C5CE20FDB009}"/>
                </a:ext>
              </a:extLst>
            </p:cNvPr>
            <p:cNvCxnSpPr/>
            <p:nvPr/>
          </p:nvCxnSpPr>
          <p:spPr>
            <a:xfrm rot="10800000">
              <a:off x="9866990" y="2086194"/>
              <a:ext cx="632700" cy="900"/>
            </a:xfrm>
            <a:prstGeom prst="straightConnector1">
              <a:avLst/>
            </a:prstGeom>
            <a:noFill/>
            <a:ln w="9525" cap="flat" cmpd="sng">
              <a:solidFill>
                <a:schemeClr val="dk2"/>
              </a:solidFill>
              <a:prstDash val="solid"/>
              <a:round/>
              <a:headEnd type="none" w="med" len="med"/>
              <a:tailEnd type="triangle" w="med" len="med"/>
            </a:ln>
          </p:spPr>
        </p:cxnSp>
        <p:sp>
          <p:nvSpPr>
            <p:cNvPr id="350" name="Google Shape;335;p18">
              <a:extLst>
                <a:ext uri="{FF2B5EF4-FFF2-40B4-BE49-F238E27FC236}">
                  <a16:creationId xmlns:a16="http://schemas.microsoft.com/office/drawing/2014/main" id="{E528107C-0B72-37E8-26DB-6C0DBF69B4CD}"/>
                </a:ext>
              </a:extLst>
            </p:cNvPr>
            <p:cNvSpPr txBox="1"/>
            <p:nvPr/>
          </p:nvSpPr>
          <p:spPr>
            <a:xfrm>
              <a:off x="10046553" y="2123170"/>
              <a:ext cx="3483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label</a:t>
              </a:r>
              <a:endParaRPr sz="686">
                <a:solidFill>
                  <a:schemeClr val="dk2"/>
                </a:solidFill>
                <a:latin typeface="Source Sans 3"/>
                <a:ea typeface="Source Sans 3"/>
                <a:cs typeface="Source Sans 3"/>
                <a:sym typeface="Source Sans 3"/>
              </a:endParaRPr>
            </a:p>
          </p:txBody>
        </p:sp>
        <p:sp>
          <p:nvSpPr>
            <p:cNvPr id="351" name="Google Shape;336;p18">
              <a:extLst>
                <a:ext uri="{FF2B5EF4-FFF2-40B4-BE49-F238E27FC236}">
                  <a16:creationId xmlns:a16="http://schemas.microsoft.com/office/drawing/2014/main" id="{C742FDFB-4C10-C538-3019-0F9B2FABEB5F}"/>
                </a:ext>
              </a:extLst>
            </p:cNvPr>
            <p:cNvSpPr/>
            <p:nvPr/>
          </p:nvSpPr>
          <p:spPr>
            <a:xfrm>
              <a:off x="10370240" y="2300395"/>
              <a:ext cx="133800" cy="114600"/>
            </a:xfrm>
            <a:prstGeom prst="wedgeRectCallout">
              <a:avLst>
                <a:gd name="adj1" fmla="val -20833"/>
                <a:gd name="adj2" fmla="val 62500"/>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2" name="Google Shape;337;p18">
              <a:extLst>
                <a:ext uri="{FF2B5EF4-FFF2-40B4-BE49-F238E27FC236}">
                  <a16:creationId xmlns:a16="http://schemas.microsoft.com/office/drawing/2014/main" id="{4568AFE8-250B-D1C0-5D70-589E4853C626}"/>
                </a:ext>
              </a:extLst>
            </p:cNvPr>
            <p:cNvSpPr txBox="1"/>
            <p:nvPr/>
          </p:nvSpPr>
          <p:spPr>
            <a:xfrm>
              <a:off x="9829328" y="1578732"/>
              <a:ext cx="8400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pysenti_predict()</a:t>
              </a:r>
              <a:endParaRPr sz="686">
                <a:solidFill>
                  <a:schemeClr val="dk2"/>
                </a:solidFill>
                <a:latin typeface="Source Sans 3"/>
                <a:ea typeface="Source Sans 3"/>
                <a:cs typeface="Source Sans 3"/>
                <a:sym typeface="Source Sans 3"/>
              </a:endParaRPr>
            </a:p>
          </p:txBody>
        </p:sp>
        <p:sp>
          <p:nvSpPr>
            <p:cNvPr id="353" name="Google Shape;338;p18">
              <a:extLst>
                <a:ext uri="{FF2B5EF4-FFF2-40B4-BE49-F238E27FC236}">
                  <a16:creationId xmlns:a16="http://schemas.microsoft.com/office/drawing/2014/main" id="{BA3BB4A7-6B9A-96E5-BAFE-144051ED709C}"/>
                </a:ext>
              </a:extLst>
            </p:cNvPr>
            <p:cNvSpPr/>
            <p:nvPr/>
          </p:nvSpPr>
          <p:spPr>
            <a:xfrm>
              <a:off x="10116428" y="1532095"/>
              <a:ext cx="133800" cy="114600"/>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 name="Google Shape;339;p18">
              <a:extLst>
                <a:ext uri="{FF2B5EF4-FFF2-40B4-BE49-F238E27FC236}">
                  <a16:creationId xmlns:a16="http://schemas.microsoft.com/office/drawing/2014/main" id="{FF8C69D8-3557-0A89-815C-C1EACB1E482C}"/>
                </a:ext>
              </a:extLst>
            </p:cNvPr>
            <p:cNvSpPr/>
            <p:nvPr/>
          </p:nvSpPr>
          <p:spPr>
            <a:xfrm>
              <a:off x="9482353" y="2661807"/>
              <a:ext cx="113100" cy="114600"/>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 name="Google Shape;340;p18">
              <a:extLst>
                <a:ext uri="{FF2B5EF4-FFF2-40B4-BE49-F238E27FC236}">
                  <a16:creationId xmlns:a16="http://schemas.microsoft.com/office/drawing/2014/main" id="{58A14EE3-EB59-ABEE-8C02-67E9E8E78D0B}"/>
                </a:ext>
              </a:extLst>
            </p:cNvPr>
            <p:cNvSpPr txBox="1"/>
            <p:nvPr/>
          </p:nvSpPr>
          <p:spPr>
            <a:xfrm>
              <a:off x="9400286" y="2595959"/>
              <a:ext cx="289200" cy="23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00" dirty="0">
                  <a:solidFill>
                    <a:schemeClr val="lt1"/>
                  </a:solidFill>
                </a:rPr>
                <a:t> 0.25</a:t>
              </a:r>
              <a:endParaRPr sz="400" dirty="0">
                <a:solidFill>
                  <a:schemeClr val="lt1"/>
                </a:solidFill>
              </a:endParaRPr>
            </a:p>
          </p:txBody>
        </p:sp>
        <p:sp>
          <p:nvSpPr>
            <p:cNvPr id="356" name="Google Shape;341;p18">
              <a:extLst>
                <a:ext uri="{FF2B5EF4-FFF2-40B4-BE49-F238E27FC236}">
                  <a16:creationId xmlns:a16="http://schemas.microsoft.com/office/drawing/2014/main" id="{A1B81E48-0B6A-1547-BDF1-910C39FCC1E4}"/>
                </a:ext>
              </a:extLst>
            </p:cNvPr>
            <p:cNvSpPr/>
            <p:nvPr/>
          </p:nvSpPr>
          <p:spPr>
            <a:xfrm>
              <a:off x="10141503" y="2300395"/>
              <a:ext cx="133800" cy="114600"/>
            </a:xfrm>
            <a:prstGeom prst="wedgeRectCallout">
              <a:avLst>
                <a:gd name="adj1" fmla="val -20833"/>
                <a:gd name="adj2" fmla="val 62500"/>
              </a:avLst>
            </a:prstGeom>
            <a:solidFill>
              <a:srgbClr val="E0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7" name="Google Shape;342;p18">
              <a:extLst>
                <a:ext uri="{FF2B5EF4-FFF2-40B4-BE49-F238E27FC236}">
                  <a16:creationId xmlns:a16="http://schemas.microsoft.com/office/drawing/2014/main" id="{3008E00B-58D4-9E3F-332E-25A7DEB1E253}"/>
                </a:ext>
              </a:extLst>
            </p:cNvPr>
            <p:cNvSpPr/>
            <p:nvPr/>
          </p:nvSpPr>
          <p:spPr>
            <a:xfrm>
              <a:off x="9912740" y="2300395"/>
              <a:ext cx="133800" cy="114600"/>
            </a:xfrm>
            <a:prstGeom prst="wedgeRectCallout">
              <a:avLst>
                <a:gd name="adj1" fmla="val -20833"/>
                <a:gd name="adj2" fmla="val 625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 name="Google Shape;344;p18">
              <a:extLst>
                <a:ext uri="{FF2B5EF4-FFF2-40B4-BE49-F238E27FC236}">
                  <a16:creationId xmlns:a16="http://schemas.microsoft.com/office/drawing/2014/main" id="{BCBCD868-1DC3-6F15-DCD3-CCB44637F836}"/>
                </a:ext>
              </a:extLst>
            </p:cNvPr>
            <p:cNvSpPr txBox="1"/>
            <p:nvPr/>
          </p:nvSpPr>
          <p:spPr>
            <a:xfrm>
              <a:off x="10062053" y="1668745"/>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(2)</a:t>
              </a:r>
              <a:endParaRPr sz="686" dirty="0">
                <a:solidFill>
                  <a:schemeClr val="dk2"/>
                </a:solidFill>
                <a:latin typeface="Source Sans 3"/>
                <a:ea typeface="Source Sans 3"/>
                <a:cs typeface="Source Sans 3"/>
                <a:sym typeface="Source Sans 3"/>
              </a:endParaRPr>
            </a:p>
          </p:txBody>
        </p:sp>
        <p:sp>
          <p:nvSpPr>
            <p:cNvPr id="359" name="Google Shape;345;p18">
              <a:extLst>
                <a:ext uri="{FF2B5EF4-FFF2-40B4-BE49-F238E27FC236}">
                  <a16:creationId xmlns:a16="http://schemas.microsoft.com/office/drawing/2014/main" id="{A0A2076F-FCB8-1112-CAB8-0E468931E9E4}"/>
                </a:ext>
              </a:extLst>
            </p:cNvPr>
            <p:cNvSpPr txBox="1"/>
            <p:nvPr/>
          </p:nvSpPr>
          <p:spPr>
            <a:xfrm>
              <a:off x="10079303" y="2023132"/>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(4)</a:t>
              </a:r>
              <a:endParaRPr sz="686">
                <a:solidFill>
                  <a:schemeClr val="dk2"/>
                </a:solidFill>
                <a:latin typeface="Source Sans 3"/>
                <a:ea typeface="Source Sans 3"/>
                <a:cs typeface="Source Sans 3"/>
                <a:sym typeface="Source Sans 3"/>
              </a:endParaRPr>
            </a:p>
          </p:txBody>
        </p:sp>
        <p:sp>
          <p:nvSpPr>
            <p:cNvPr id="360" name="Google Shape;346;p18">
              <a:extLst>
                <a:ext uri="{FF2B5EF4-FFF2-40B4-BE49-F238E27FC236}">
                  <a16:creationId xmlns:a16="http://schemas.microsoft.com/office/drawing/2014/main" id="{003B1865-F6AA-5045-CD7E-A585AAD8A08C}"/>
                </a:ext>
              </a:extLst>
            </p:cNvPr>
            <p:cNvSpPr txBox="1"/>
            <p:nvPr/>
          </p:nvSpPr>
          <p:spPr>
            <a:xfrm>
              <a:off x="10964278" y="1800070"/>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(3)</a:t>
              </a:r>
              <a:endParaRPr sz="686">
                <a:solidFill>
                  <a:schemeClr val="dk2"/>
                </a:solidFill>
                <a:latin typeface="Source Sans 3"/>
                <a:ea typeface="Source Sans 3"/>
                <a:cs typeface="Source Sans 3"/>
                <a:sym typeface="Source Sans 3"/>
              </a:endParaRPr>
            </a:p>
          </p:txBody>
        </p:sp>
        <p:sp>
          <p:nvSpPr>
            <p:cNvPr id="361" name="Google Shape;347;p18">
              <a:extLst>
                <a:ext uri="{FF2B5EF4-FFF2-40B4-BE49-F238E27FC236}">
                  <a16:creationId xmlns:a16="http://schemas.microsoft.com/office/drawing/2014/main" id="{7B58952B-EB35-7076-9C44-667B682173C8}"/>
                </a:ext>
              </a:extLst>
            </p:cNvPr>
            <p:cNvSpPr/>
            <p:nvPr/>
          </p:nvSpPr>
          <p:spPr>
            <a:xfrm>
              <a:off x="107684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2" name="Google Shape;348;p18">
              <a:extLst>
                <a:ext uri="{FF2B5EF4-FFF2-40B4-BE49-F238E27FC236}">
                  <a16:creationId xmlns:a16="http://schemas.microsoft.com/office/drawing/2014/main" id="{1CAD1DD6-94CC-2287-812F-CC6D4355C75E}"/>
                </a:ext>
              </a:extLst>
            </p:cNvPr>
            <p:cNvSpPr txBox="1"/>
            <p:nvPr/>
          </p:nvSpPr>
          <p:spPr>
            <a:xfrm>
              <a:off x="10702335" y="1945845"/>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363" name="Google Shape;349;p18">
              <a:extLst>
                <a:ext uri="{FF2B5EF4-FFF2-40B4-BE49-F238E27FC236}">
                  <a16:creationId xmlns:a16="http://schemas.microsoft.com/office/drawing/2014/main" id="{46B7B1F4-D1E4-427B-FFBD-935A2C0497BD}"/>
                </a:ext>
              </a:extLst>
            </p:cNvPr>
            <p:cNvSpPr txBox="1"/>
            <p:nvPr/>
          </p:nvSpPr>
          <p:spPr>
            <a:xfrm>
              <a:off x="11020518" y="1948023"/>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364" name="Google Shape;350;p18">
              <a:extLst>
                <a:ext uri="{FF2B5EF4-FFF2-40B4-BE49-F238E27FC236}">
                  <a16:creationId xmlns:a16="http://schemas.microsoft.com/office/drawing/2014/main" id="{1118300A-DB4D-AC63-1B7A-9FC372D0184D}"/>
                </a:ext>
              </a:extLst>
            </p:cNvPr>
            <p:cNvSpPr/>
            <p:nvPr/>
          </p:nvSpPr>
          <p:spPr>
            <a:xfrm>
              <a:off x="109289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5" name="Google Shape;351;p18">
              <a:extLst>
                <a:ext uri="{FF2B5EF4-FFF2-40B4-BE49-F238E27FC236}">
                  <a16:creationId xmlns:a16="http://schemas.microsoft.com/office/drawing/2014/main" id="{934BDAD7-6F03-0558-2196-400BB844681C}"/>
                </a:ext>
              </a:extLst>
            </p:cNvPr>
            <p:cNvSpPr/>
            <p:nvPr/>
          </p:nvSpPr>
          <p:spPr>
            <a:xfrm>
              <a:off x="110894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6" name="Google Shape;352;p18">
              <a:extLst>
                <a:ext uri="{FF2B5EF4-FFF2-40B4-BE49-F238E27FC236}">
                  <a16:creationId xmlns:a16="http://schemas.microsoft.com/office/drawing/2014/main" id="{1CC4A545-7518-E850-0866-791BE346FCBC}"/>
                </a:ext>
              </a:extLst>
            </p:cNvPr>
            <p:cNvSpPr/>
            <p:nvPr/>
          </p:nvSpPr>
          <p:spPr>
            <a:xfrm>
              <a:off x="112499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7" name="Google Shape;353;p18">
              <a:extLst>
                <a:ext uri="{FF2B5EF4-FFF2-40B4-BE49-F238E27FC236}">
                  <a16:creationId xmlns:a16="http://schemas.microsoft.com/office/drawing/2014/main" id="{CC89BBB6-72BD-E94D-9127-4D19EB218B72}"/>
                </a:ext>
              </a:extLst>
            </p:cNvPr>
            <p:cNvSpPr txBox="1"/>
            <p:nvPr/>
          </p:nvSpPr>
          <p:spPr>
            <a:xfrm>
              <a:off x="10863720" y="1948470"/>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368" name="Google Shape;354;p18">
              <a:extLst>
                <a:ext uri="{FF2B5EF4-FFF2-40B4-BE49-F238E27FC236}">
                  <a16:creationId xmlns:a16="http://schemas.microsoft.com/office/drawing/2014/main" id="{D5D250C2-3725-01E8-7225-36BDAE08927F}"/>
                </a:ext>
              </a:extLst>
            </p:cNvPr>
            <p:cNvSpPr txBox="1"/>
            <p:nvPr/>
          </p:nvSpPr>
          <p:spPr>
            <a:xfrm>
              <a:off x="11183172" y="1948019"/>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cxnSp>
          <p:nvCxnSpPr>
            <p:cNvPr id="369" name="Google Shape;357;p18">
              <a:extLst>
                <a:ext uri="{FF2B5EF4-FFF2-40B4-BE49-F238E27FC236}">
                  <a16:creationId xmlns:a16="http://schemas.microsoft.com/office/drawing/2014/main" id="{BE5F34C6-7E96-6FB7-DBAF-DC0187B444D2}"/>
                </a:ext>
              </a:extLst>
            </p:cNvPr>
            <p:cNvCxnSpPr>
              <a:stCxn id="342" idx="0"/>
              <a:endCxn id="347" idx="0"/>
            </p:cNvCxnSpPr>
            <p:nvPr/>
          </p:nvCxnSpPr>
          <p:spPr>
            <a:xfrm rot="16200000">
              <a:off x="10320239" y="886703"/>
              <a:ext cx="3000" cy="1595100"/>
            </a:xfrm>
            <a:prstGeom prst="bentConnector3">
              <a:avLst>
                <a:gd name="adj1" fmla="val 8041114"/>
              </a:avLst>
            </a:prstGeom>
            <a:noFill/>
            <a:ln w="9525" cap="flat" cmpd="sng">
              <a:solidFill>
                <a:schemeClr val="dk2"/>
              </a:solidFill>
              <a:prstDash val="solid"/>
              <a:round/>
              <a:headEnd type="none" w="med" len="med"/>
              <a:tailEnd type="none" w="med" len="med"/>
            </a:ln>
          </p:spPr>
        </p:cxnSp>
        <p:sp>
          <p:nvSpPr>
            <p:cNvPr id="370" name="Google Shape;358;p18">
              <a:extLst>
                <a:ext uri="{FF2B5EF4-FFF2-40B4-BE49-F238E27FC236}">
                  <a16:creationId xmlns:a16="http://schemas.microsoft.com/office/drawing/2014/main" id="{B7589228-BB3D-A1EB-A3AB-9889024D26CE}"/>
                </a:ext>
              </a:extLst>
            </p:cNvPr>
            <p:cNvSpPr txBox="1"/>
            <p:nvPr/>
          </p:nvSpPr>
          <p:spPr>
            <a:xfrm>
              <a:off x="9795878" y="1222007"/>
              <a:ext cx="972600" cy="18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dirty="0" err="1">
                  <a:solidFill>
                    <a:schemeClr val="dk2"/>
                  </a:solidFill>
                  <a:latin typeface="Source Sans 3"/>
                  <a:ea typeface="Source Sans 3"/>
                  <a:cs typeface="Source Sans 3"/>
                  <a:sym typeface="Source Sans 3"/>
                </a:rPr>
                <a:t>pysenti_train_model</a:t>
              </a:r>
              <a:r>
                <a:rPr lang="en" sz="650" dirty="0">
                  <a:solidFill>
                    <a:schemeClr val="dk2"/>
                  </a:solidFill>
                  <a:latin typeface="Source Sans 3"/>
                  <a:ea typeface="Source Sans 3"/>
                  <a:cs typeface="Source Sans 3"/>
                  <a:sym typeface="Source Sans 3"/>
                </a:rPr>
                <a:t>()</a:t>
              </a:r>
              <a:endParaRPr sz="650" dirty="0">
                <a:solidFill>
                  <a:schemeClr val="dk2"/>
                </a:solidFill>
                <a:latin typeface="Source Sans 3"/>
                <a:ea typeface="Source Sans 3"/>
                <a:cs typeface="Source Sans 3"/>
                <a:sym typeface="Source Sans 3"/>
              </a:endParaRPr>
            </a:p>
          </p:txBody>
        </p:sp>
        <p:grpSp>
          <p:nvGrpSpPr>
            <p:cNvPr id="371" name="Google Shape;359;p18">
              <a:extLst>
                <a:ext uri="{FF2B5EF4-FFF2-40B4-BE49-F238E27FC236}">
                  <a16:creationId xmlns:a16="http://schemas.microsoft.com/office/drawing/2014/main" id="{90A666B8-32EA-4C0C-D0D0-7F5EA2CC88F6}"/>
                </a:ext>
              </a:extLst>
            </p:cNvPr>
            <p:cNvGrpSpPr/>
            <p:nvPr/>
          </p:nvGrpSpPr>
          <p:grpSpPr>
            <a:xfrm>
              <a:off x="8600328" y="1454457"/>
              <a:ext cx="307200" cy="189300"/>
              <a:chOff x="3007175" y="1757600"/>
              <a:chExt cx="307200" cy="189300"/>
            </a:xfrm>
          </p:grpSpPr>
          <p:sp>
            <p:nvSpPr>
              <p:cNvPr id="397" name="Google Shape;360;p18">
                <a:extLst>
                  <a:ext uri="{FF2B5EF4-FFF2-40B4-BE49-F238E27FC236}">
                    <a16:creationId xmlns:a16="http://schemas.microsoft.com/office/drawing/2014/main" id="{3F589746-ED43-55A2-91CE-F16A0487D9AF}"/>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8" name="Google Shape;361;p18">
                <a:extLst>
                  <a:ext uri="{FF2B5EF4-FFF2-40B4-BE49-F238E27FC236}">
                    <a16:creationId xmlns:a16="http://schemas.microsoft.com/office/drawing/2014/main" id="{4A5FE7AA-6F99-3F26-93C3-0348785FB086}"/>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9" name="Google Shape;362;p18">
                <a:extLst>
                  <a:ext uri="{FF2B5EF4-FFF2-40B4-BE49-F238E27FC236}">
                    <a16:creationId xmlns:a16="http://schemas.microsoft.com/office/drawing/2014/main" id="{7AE945BF-D482-8CFB-8DBB-62E2B6CC3C67}"/>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 name="Google Shape;363;p18">
                <a:extLst>
                  <a:ext uri="{FF2B5EF4-FFF2-40B4-BE49-F238E27FC236}">
                    <a16:creationId xmlns:a16="http://schemas.microsoft.com/office/drawing/2014/main" id="{4A8F09CB-2F76-BE0A-22E7-E666762C1402}"/>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01" name="Google Shape;364;p18">
                <a:extLst>
                  <a:ext uri="{FF2B5EF4-FFF2-40B4-BE49-F238E27FC236}">
                    <a16:creationId xmlns:a16="http://schemas.microsoft.com/office/drawing/2014/main" id="{CBD80A9B-0983-FE8C-568A-E270C14DAB86}"/>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2" name="Google Shape;365;p18">
                <a:extLst>
                  <a:ext uri="{FF2B5EF4-FFF2-40B4-BE49-F238E27FC236}">
                    <a16:creationId xmlns:a16="http://schemas.microsoft.com/office/drawing/2014/main" id="{26DCD779-9B0F-2F42-B27D-608E8D8F1DBC}"/>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3" name="Google Shape;366;p18">
                <a:extLst>
                  <a:ext uri="{FF2B5EF4-FFF2-40B4-BE49-F238E27FC236}">
                    <a16:creationId xmlns:a16="http://schemas.microsoft.com/office/drawing/2014/main" id="{DB81566C-E169-2A56-E90B-88D632B2C0A5}"/>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372" name="Google Shape;367;p18">
              <a:extLst>
                <a:ext uri="{FF2B5EF4-FFF2-40B4-BE49-F238E27FC236}">
                  <a16:creationId xmlns:a16="http://schemas.microsoft.com/office/drawing/2014/main" id="{1056842F-97EF-F0A3-B20C-07A65C895123}"/>
                </a:ext>
              </a:extLst>
            </p:cNvPr>
            <p:cNvGrpSpPr/>
            <p:nvPr/>
          </p:nvGrpSpPr>
          <p:grpSpPr>
            <a:xfrm>
              <a:off x="8600315" y="1797920"/>
              <a:ext cx="307200" cy="189300"/>
              <a:chOff x="3007175" y="1757600"/>
              <a:chExt cx="307200" cy="189300"/>
            </a:xfrm>
          </p:grpSpPr>
          <p:sp>
            <p:nvSpPr>
              <p:cNvPr id="390" name="Google Shape;368;p18">
                <a:extLst>
                  <a:ext uri="{FF2B5EF4-FFF2-40B4-BE49-F238E27FC236}">
                    <a16:creationId xmlns:a16="http://schemas.microsoft.com/office/drawing/2014/main" id="{301FB565-7520-1018-7556-86B0C35FFE3A}"/>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1" name="Google Shape;369;p18">
                <a:extLst>
                  <a:ext uri="{FF2B5EF4-FFF2-40B4-BE49-F238E27FC236}">
                    <a16:creationId xmlns:a16="http://schemas.microsoft.com/office/drawing/2014/main" id="{CECD7E37-35ED-C569-9425-ED3C74C5D0CE}"/>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 name="Google Shape;370;p18">
                <a:extLst>
                  <a:ext uri="{FF2B5EF4-FFF2-40B4-BE49-F238E27FC236}">
                    <a16:creationId xmlns:a16="http://schemas.microsoft.com/office/drawing/2014/main" id="{CEF82159-21E3-A941-85A8-2379194CD83A}"/>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 name="Google Shape;371;p18">
                <a:extLst>
                  <a:ext uri="{FF2B5EF4-FFF2-40B4-BE49-F238E27FC236}">
                    <a16:creationId xmlns:a16="http://schemas.microsoft.com/office/drawing/2014/main" id="{616E740E-B714-C6B8-629E-976E31790553}"/>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94" name="Google Shape;372;p18">
                <a:extLst>
                  <a:ext uri="{FF2B5EF4-FFF2-40B4-BE49-F238E27FC236}">
                    <a16:creationId xmlns:a16="http://schemas.microsoft.com/office/drawing/2014/main" id="{BA44DC72-EF7F-F897-0B94-81AC88C36684}"/>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95" name="Google Shape;373;p18">
                <a:extLst>
                  <a:ext uri="{FF2B5EF4-FFF2-40B4-BE49-F238E27FC236}">
                    <a16:creationId xmlns:a16="http://schemas.microsoft.com/office/drawing/2014/main" id="{B6F8871F-6830-7F4B-4F43-B61736E32F1A}"/>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96" name="Google Shape;374;p18">
                <a:extLst>
                  <a:ext uri="{FF2B5EF4-FFF2-40B4-BE49-F238E27FC236}">
                    <a16:creationId xmlns:a16="http://schemas.microsoft.com/office/drawing/2014/main" id="{F11AEB14-AFCC-31A4-4347-8D3EDCD08EAD}"/>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373" name="Google Shape;375;p18">
              <a:extLst>
                <a:ext uri="{FF2B5EF4-FFF2-40B4-BE49-F238E27FC236}">
                  <a16:creationId xmlns:a16="http://schemas.microsoft.com/office/drawing/2014/main" id="{383C0C52-1937-40CA-C7B7-7D87B049F624}"/>
                </a:ext>
              </a:extLst>
            </p:cNvPr>
            <p:cNvSpPr txBox="1"/>
            <p:nvPr/>
          </p:nvSpPr>
          <p:spPr>
            <a:xfrm>
              <a:off x="8540115" y="126943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GitHub</a:t>
              </a:r>
              <a:endParaRPr sz="686">
                <a:solidFill>
                  <a:schemeClr val="dk2"/>
                </a:solidFill>
                <a:latin typeface="Source Sans 3"/>
                <a:ea typeface="Source Sans 3"/>
                <a:cs typeface="Source Sans 3"/>
                <a:sym typeface="Source Sans 3"/>
              </a:endParaRPr>
            </a:p>
          </p:txBody>
        </p:sp>
        <p:sp>
          <p:nvSpPr>
            <p:cNvPr id="374" name="Google Shape;376;p18">
              <a:extLst>
                <a:ext uri="{FF2B5EF4-FFF2-40B4-BE49-F238E27FC236}">
                  <a16:creationId xmlns:a16="http://schemas.microsoft.com/office/drawing/2014/main" id="{FC19E3C0-9925-3D45-78BA-4EC04D624A7B}"/>
                </a:ext>
              </a:extLst>
            </p:cNvPr>
            <p:cNvSpPr txBox="1"/>
            <p:nvPr/>
          </p:nvSpPr>
          <p:spPr>
            <a:xfrm>
              <a:off x="8600328" y="161682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Jira</a:t>
              </a:r>
              <a:endParaRPr sz="686" dirty="0">
                <a:solidFill>
                  <a:schemeClr val="dk2"/>
                </a:solidFill>
                <a:latin typeface="Source Sans 3"/>
                <a:ea typeface="Source Sans 3"/>
                <a:cs typeface="Source Sans 3"/>
                <a:sym typeface="Source Sans 3"/>
              </a:endParaRPr>
            </a:p>
          </p:txBody>
        </p:sp>
        <p:grpSp>
          <p:nvGrpSpPr>
            <p:cNvPr id="375" name="Google Shape;377;p18">
              <a:extLst>
                <a:ext uri="{FF2B5EF4-FFF2-40B4-BE49-F238E27FC236}">
                  <a16:creationId xmlns:a16="http://schemas.microsoft.com/office/drawing/2014/main" id="{69982BB9-8301-3799-93F4-C9F5ED4742CC}"/>
                </a:ext>
              </a:extLst>
            </p:cNvPr>
            <p:cNvGrpSpPr/>
            <p:nvPr/>
          </p:nvGrpSpPr>
          <p:grpSpPr>
            <a:xfrm>
              <a:off x="8608365" y="2251695"/>
              <a:ext cx="307200" cy="297900"/>
              <a:chOff x="3021975" y="2389850"/>
              <a:chExt cx="307200" cy="297900"/>
            </a:xfrm>
          </p:grpSpPr>
          <p:sp>
            <p:nvSpPr>
              <p:cNvPr id="380" name="Google Shape;378;p18">
                <a:extLst>
                  <a:ext uri="{FF2B5EF4-FFF2-40B4-BE49-F238E27FC236}">
                    <a16:creationId xmlns:a16="http://schemas.microsoft.com/office/drawing/2014/main" id="{97E70840-D0F0-A41F-5D32-38538FD1BE18}"/>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381" name="Google Shape;379;p18">
                <a:extLst>
                  <a:ext uri="{FF2B5EF4-FFF2-40B4-BE49-F238E27FC236}">
                    <a16:creationId xmlns:a16="http://schemas.microsoft.com/office/drawing/2014/main" id="{744D0FA3-561E-6511-65F1-F34770AF38C5}"/>
                  </a:ext>
                </a:extLst>
              </p:cNvPr>
              <p:cNvGrpSpPr/>
              <p:nvPr/>
            </p:nvGrpSpPr>
            <p:grpSpPr>
              <a:xfrm>
                <a:off x="3021975" y="2389850"/>
                <a:ext cx="307200" cy="295800"/>
                <a:chOff x="3021975" y="2389850"/>
                <a:chExt cx="307200" cy="295800"/>
              </a:xfrm>
            </p:grpSpPr>
            <p:sp>
              <p:nvSpPr>
                <p:cNvPr id="382" name="Google Shape;380;p18">
                  <a:extLst>
                    <a:ext uri="{FF2B5EF4-FFF2-40B4-BE49-F238E27FC236}">
                      <a16:creationId xmlns:a16="http://schemas.microsoft.com/office/drawing/2014/main" id="{58FCDBA7-2DFB-D7B3-A254-59B9BFED0783}"/>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3" name="Google Shape;381;p18">
                  <a:extLst>
                    <a:ext uri="{FF2B5EF4-FFF2-40B4-BE49-F238E27FC236}">
                      <a16:creationId xmlns:a16="http://schemas.microsoft.com/office/drawing/2014/main" id="{230C24F1-B65A-819C-E0E4-EEE8B243938A}"/>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84" name="Google Shape;382;p18">
                  <a:extLst>
                    <a:ext uri="{FF2B5EF4-FFF2-40B4-BE49-F238E27FC236}">
                      <a16:creationId xmlns:a16="http://schemas.microsoft.com/office/drawing/2014/main" id="{DCC3E344-74A6-65C5-D014-8764EE98458A}"/>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85" name="Google Shape;383;p18">
                  <a:extLst>
                    <a:ext uri="{FF2B5EF4-FFF2-40B4-BE49-F238E27FC236}">
                      <a16:creationId xmlns:a16="http://schemas.microsoft.com/office/drawing/2014/main" id="{C55371D2-7999-8A5B-A939-0A7D18597ED8}"/>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86" name="Google Shape;384;p18">
                  <a:extLst>
                    <a:ext uri="{FF2B5EF4-FFF2-40B4-BE49-F238E27FC236}">
                      <a16:creationId xmlns:a16="http://schemas.microsoft.com/office/drawing/2014/main" id="{22167C5B-6DF4-96AB-7C1C-38A57C65269B}"/>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87" name="Google Shape;385;p18">
                  <a:extLst>
                    <a:ext uri="{FF2B5EF4-FFF2-40B4-BE49-F238E27FC236}">
                      <a16:creationId xmlns:a16="http://schemas.microsoft.com/office/drawing/2014/main" id="{E68D5CD2-BD46-C2C9-A802-4EBB762E9B80}"/>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8" name="Google Shape;386;p18">
                  <a:extLst>
                    <a:ext uri="{FF2B5EF4-FFF2-40B4-BE49-F238E27FC236}">
                      <a16:creationId xmlns:a16="http://schemas.microsoft.com/office/drawing/2014/main" id="{63E0722C-BA0A-804F-8DE7-16DF8F7C40D5}"/>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9" name="Google Shape;387;p18">
                  <a:extLst>
                    <a:ext uri="{FF2B5EF4-FFF2-40B4-BE49-F238E27FC236}">
                      <a16:creationId xmlns:a16="http://schemas.microsoft.com/office/drawing/2014/main" id="{235C148D-7B88-50B5-319D-291B4B0B36CC}"/>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376" name="Google Shape;388;p18">
              <a:extLst>
                <a:ext uri="{FF2B5EF4-FFF2-40B4-BE49-F238E27FC236}">
                  <a16:creationId xmlns:a16="http://schemas.microsoft.com/office/drawing/2014/main" id="{7E28EA11-6784-2EB0-EBA3-631EA573AA5C}"/>
                </a:ext>
              </a:extLst>
            </p:cNvPr>
            <p:cNvSpPr txBox="1"/>
            <p:nvPr/>
          </p:nvSpPr>
          <p:spPr>
            <a:xfrm>
              <a:off x="8477126" y="2049850"/>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cxnSp>
          <p:nvCxnSpPr>
            <p:cNvPr id="377" name="Google Shape;389;p18">
              <a:extLst>
                <a:ext uri="{FF2B5EF4-FFF2-40B4-BE49-F238E27FC236}">
                  <a16:creationId xmlns:a16="http://schemas.microsoft.com/office/drawing/2014/main" id="{7C80E4B4-0A2D-AA08-AAD1-2050771C7B3C}"/>
                </a:ext>
              </a:extLst>
            </p:cNvPr>
            <p:cNvCxnSpPr/>
            <p:nvPr/>
          </p:nvCxnSpPr>
          <p:spPr>
            <a:xfrm>
              <a:off x="8757253" y="2588620"/>
              <a:ext cx="0" cy="105900"/>
            </a:xfrm>
            <a:prstGeom prst="straightConnector1">
              <a:avLst/>
            </a:prstGeom>
            <a:noFill/>
            <a:ln w="9525" cap="flat" cmpd="sng">
              <a:solidFill>
                <a:schemeClr val="dk2"/>
              </a:solidFill>
              <a:prstDash val="dot"/>
              <a:round/>
              <a:headEnd type="none" w="med" len="med"/>
              <a:tailEnd type="none" w="med" len="med"/>
            </a:ln>
          </p:spPr>
        </p:cxnSp>
        <p:sp>
          <p:nvSpPr>
            <p:cNvPr id="378" name="Google Shape;390;p18">
              <a:extLst>
                <a:ext uri="{FF2B5EF4-FFF2-40B4-BE49-F238E27FC236}">
                  <a16:creationId xmlns:a16="http://schemas.microsoft.com/office/drawing/2014/main" id="{6093E3A0-4665-3A4A-95BD-1D6ABCE84971}"/>
                </a:ext>
              </a:extLst>
            </p:cNvPr>
            <p:cNvSpPr/>
            <p:nvPr/>
          </p:nvSpPr>
          <p:spPr>
            <a:xfrm>
              <a:off x="8607990" y="271704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9" name="Google Shape;344;p18">
              <a:extLst>
                <a:ext uri="{FF2B5EF4-FFF2-40B4-BE49-F238E27FC236}">
                  <a16:creationId xmlns:a16="http://schemas.microsoft.com/office/drawing/2014/main" id="{0CE1AA29-E62D-7189-F102-692ED46C534D}"/>
                </a:ext>
              </a:extLst>
            </p:cNvPr>
            <p:cNvSpPr txBox="1"/>
            <p:nvPr/>
          </p:nvSpPr>
          <p:spPr>
            <a:xfrm>
              <a:off x="8629070" y="1075788"/>
              <a:ext cx="274200" cy="23835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(1)</a:t>
              </a:r>
              <a:endParaRPr sz="686" dirty="0">
                <a:solidFill>
                  <a:schemeClr val="dk2"/>
                </a:solidFill>
                <a:latin typeface="Source Sans 3"/>
                <a:ea typeface="Source Sans 3"/>
                <a:cs typeface="Source Sans 3"/>
                <a:sym typeface="Source Sans 3"/>
              </a:endParaRPr>
            </a:p>
          </p:txBody>
        </p:sp>
      </p:grpSp>
      <p:sp>
        <p:nvSpPr>
          <p:cNvPr id="404" name="Google Shape;394;p18">
            <a:extLst>
              <a:ext uri="{FF2B5EF4-FFF2-40B4-BE49-F238E27FC236}">
                <a16:creationId xmlns:a16="http://schemas.microsoft.com/office/drawing/2014/main" id="{2662C879-E31A-EF8F-7710-58D0F83FBC73}"/>
              </a:ext>
            </a:extLst>
          </p:cNvPr>
          <p:cNvSpPr txBox="1"/>
          <p:nvPr/>
        </p:nvSpPr>
        <p:spPr>
          <a:xfrm>
            <a:off x="10963395" y="7010441"/>
            <a:ext cx="1433762" cy="10229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dirty="0" err="1">
                <a:solidFill>
                  <a:schemeClr val="dk2"/>
                </a:solidFill>
                <a:latin typeface="Source Sans 3"/>
                <a:ea typeface="Source Sans 3"/>
                <a:cs typeface="Source Sans 3"/>
                <a:sym typeface="Source Sans 3"/>
              </a:rPr>
              <a:t>sentiment_analysis.Rmd</a:t>
            </a:r>
            <a:endParaRPr sz="800" dirty="0">
              <a:solidFill>
                <a:schemeClr val="dk2"/>
              </a:solidFill>
              <a:latin typeface="Source Sans 3"/>
              <a:ea typeface="Source Sans 3"/>
              <a:cs typeface="Source Sans 3"/>
              <a:sym typeface="Source Sans 3"/>
            </a:endParaRPr>
          </a:p>
        </p:txBody>
      </p:sp>
      <p:sp>
        <p:nvSpPr>
          <p:cNvPr id="405" name="Layout Suggestions">
            <a:extLst>
              <a:ext uri="{FF2B5EF4-FFF2-40B4-BE49-F238E27FC236}">
                <a16:creationId xmlns:a16="http://schemas.microsoft.com/office/drawing/2014/main" id="{9CD3FA1E-9FA8-CE22-4619-E09DFB93D4B0}"/>
              </a:ext>
            </a:extLst>
          </p:cNvPr>
          <p:cNvSpPr txBox="1"/>
          <p:nvPr/>
        </p:nvSpPr>
        <p:spPr>
          <a:xfrm>
            <a:off x="159998" y="6661138"/>
            <a:ext cx="423108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Exploring Relevant Comments</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406" name="TextBox 405">
            <a:extLst>
              <a:ext uri="{FF2B5EF4-FFF2-40B4-BE49-F238E27FC236}">
                <a16:creationId xmlns:a16="http://schemas.microsoft.com/office/drawing/2014/main" id="{FE453FF2-4DE6-9D53-BADB-E3E0568C2607}"/>
              </a:ext>
            </a:extLst>
          </p:cNvPr>
          <p:cNvSpPr txBox="1"/>
          <p:nvPr/>
        </p:nvSpPr>
        <p:spPr>
          <a:xfrm>
            <a:off x="132572" y="6906908"/>
            <a:ext cx="4258512"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Sentiment labels span both main project repos and their forks. However, since forked repos contain a small fraction (&lt; 10%)  of labeled comments, only comments from the project’s main repo are kept.</a:t>
            </a:r>
          </a:p>
        </p:txBody>
      </p:sp>
      <p:sp>
        <p:nvSpPr>
          <p:cNvPr id="407" name="TextBox 406">
            <a:extLst>
              <a:ext uri="{FF2B5EF4-FFF2-40B4-BE49-F238E27FC236}">
                <a16:creationId xmlns:a16="http://schemas.microsoft.com/office/drawing/2014/main" id="{654278D8-4A32-C41B-EA2A-217E6E334D84}"/>
              </a:ext>
            </a:extLst>
          </p:cNvPr>
          <p:cNvSpPr txBox="1"/>
          <p:nvPr/>
        </p:nvSpPr>
        <p:spPr>
          <a:xfrm>
            <a:off x="1030041" y="8215136"/>
            <a:ext cx="10348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Main Repo</a:t>
            </a:r>
            <a:endParaRPr lang="en-US" sz="800" b="0" dirty="0"/>
          </a:p>
        </p:txBody>
      </p:sp>
      <p:sp>
        <p:nvSpPr>
          <p:cNvPr id="408" name="TextBox 407">
            <a:extLst>
              <a:ext uri="{FF2B5EF4-FFF2-40B4-BE49-F238E27FC236}">
                <a16:creationId xmlns:a16="http://schemas.microsoft.com/office/drawing/2014/main" id="{D1DBC99D-8464-5554-3031-2775CE648799}"/>
              </a:ext>
            </a:extLst>
          </p:cNvPr>
          <p:cNvSpPr txBox="1"/>
          <p:nvPr/>
        </p:nvSpPr>
        <p:spPr>
          <a:xfrm>
            <a:off x="2416383" y="8215136"/>
            <a:ext cx="10348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Fork Repo</a:t>
            </a:r>
            <a:endParaRPr lang="en-US" sz="800" b="0" dirty="0"/>
          </a:p>
        </p:txBody>
      </p:sp>
      <p:sp>
        <p:nvSpPr>
          <p:cNvPr id="409" name="TextBox 408">
            <a:extLst>
              <a:ext uri="{FF2B5EF4-FFF2-40B4-BE49-F238E27FC236}">
                <a16:creationId xmlns:a16="http://schemas.microsoft.com/office/drawing/2014/main" id="{50BD2521-DC97-7B37-C34E-271AC13FFB36}"/>
              </a:ext>
            </a:extLst>
          </p:cNvPr>
          <p:cNvSpPr txBox="1"/>
          <p:nvPr/>
        </p:nvSpPr>
        <p:spPr>
          <a:xfrm>
            <a:off x="123843" y="8472311"/>
            <a:ext cx="4346831"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Jira Emotion CSV contains emotion labels manually determined from multiple raters. Only comments with labels that show higher inter-rater agreement are kept.</a:t>
            </a:r>
          </a:p>
        </p:txBody>
      </p:sp>
      <p:sp>
        <p:nvSpPr>
          <p:cNvPr id="410" name="Google Shape;338;p18">
            <a:extLst>
              <a:ext uri="{FF2B5EF4-FFF2-40B4-BE49-F238E27FC236}">
                <a16:creationId xmlns:a16="http://schemas.microsoft.com/office/drawing/2014/main" id="{8058D497-F155-5DE7-CB21-1354B68F230A}"/>
              </a:ext>
            </a:extLst>
          </p:cNvPr>
          <p:cNvSpPr/>
          <p:nvPr/>
        </p:nvSpPr>
        <p:spPr>
          <a:xfrm>
            <a:off x="678571" y="9348859"/>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1" name="Line">
            <a:extLst>
              <a:ext uri="{FF2B5EF4-FFF2-40B4-BE49-F238E27FC236}">
                <a16:creationId xmlns:a16="http://schemas.microsoft.com/office/drawing/2014/main" id="{41C8A1C7-3AEE-EEB6-FD90-D2A646DF3B70}"/>
              </a:ext>
            </a:extLst>
          </p:cNvPr>
          <p:cNvSpPr/>
          <p:nvPr/>
        </p:nvSpPr>
        <p:spPr>
          <a:xfrm flipH="1" flipV="1">
            <a:off x="3154971" y="4050753"/>
            <a:ext cx="1" cy="945321"/>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12" name="TextBox 411">
            <a:extLst>
              <a:ext uri="{FF2B5EF4-FFF2-40B4-BE49-F238E27FC236}">
                <a16:creationId xmlns:a16="http://schemas.microsoft.com/office/drawing/2014/main" id="{D6198E25-BBF1-EB38-ECCD-C26322E9E664}"/>
              </a:ext>
            </a:extLst>
          </p:cNvPr>
          <p:cNvSpPr txBox="1"/>
          <p:nvPr/>
        </p:nvSpPr>
        <p:spPr>
          <a:xfrm>
            <a:off x="3221935" y="4247371"/>
            <a:ext cx="97054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Sentiment</a:t>
            </a:r>
          </a:p>
        </p:txBody>
      </p:sp>
      <p:sp>
        <p:nvSpPr>
          <p:cNvPr id="413" name="Line">
            <a:extLst>
              <a:ext uri="{FF2B5EF4-FFF2-40B4-BE49-F238E27FC236}">
                <a16:creationId xmlns:a16="http://schemas.microsoft.com/office/drawing/2014/main" id="{EFA6FE9C-40F1-0911-CAF7-384543027219}"/>
              </a:ext>
            </a:extLst>
          </p:cNvPr>
          <p:cNvSpPr/>
          <p:nvPr/>
        </p:nvSpPr>
        <p:spPr>
          <a:xfrm flipH="1" flipV="1">
            <a:off x="3162257" y="5448883"/>
            <a:ext cx="1" cy="945321"/>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14" name="TextBox 413">
            <a:extLst>
              <a:ext uri="{FF2B5EF4-FFF2-40B4-BE49-F238E27FC236}">
                <a16:creationId xmlns:a16="http://schemas.microsoft.com/office/drawing/2014/main" id="{EE7580A2-829B-AF5C-322A-1A64124F9A4E}"/>
              </a:ext>
            </a:extLst>
          </p:cNvPr>
          <p:cNvSpPr txBox="1"/>
          <p:nvPr/>
        </p:nvSpPr>
        <p:spPr>
          <a:xfrm>
            <a:off x="3229221" y="5645501"/>
            <a:ext cx="97054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Emotion</a:t>
            </a:r>
          </a:p>
        </p:txBody>
      </p:sp>
      <p:pic>
        <p:nvPicPr>
          <p:cNvPr id="415" name="Picture 414" descr="A picture containing text&#10;&#10;Description automatically generated">
            <a:extLst>
              <a:ext uri="{FF2B5EF4-FFF2-40B4-BE49-F238E27FC236}">
                <a16:creationId xmlns:a16="http://schemas.microsoft.com/office/drawing/2014/main" id="{96149655-D3CB-3DC3-C3AC-2DB07E8CE89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11428" y="4383757"/>
            <a:ext cx="585008" cy="679364"/>
          </a:xfrm>
          <a:prstGeom prst="rect">
            <a:avLst/>
          </a:prstGeom>
        </p:spPr>
      </p:pic>
      <p:sp>
        <p:nvSpPr>
          <p:cNvPr id="416" name="TextBox 415">
            <a:extLst>
              <a:ext uri="{FF2B5EF4-FFF2-40B4-BE49-F238E27FC236}">
                <a16:creationId xmlns:a16="http://schemas.microsoft.com/office/drawing/2014/main" id="{770C8E16-A29D-9F2B-35B2-422280125D7D}"/>
              </a:ext>
            </a:extLst>
          </p:cNvPr>
          <p:cNvSpPr txBox="1"/>
          <p:nvPr/>
        </p:nvSpPr>
        <p:spPr>
          <a:xfrm>
            <a:off x="7198911" y="9130878"/>
            <a:ext cx="72095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err="1"/>
              <a:t>sailuh</a:t>
            </a:r>
            <a:r>
              <a:rPr lang="en-US" sz="800" b="0" dirty="0"/>
              <a:t>/</a:t>
            </a:r>
            <a:r>
              <a:rPr lang="en-US" sz="800" b="0" dirty="0" err="1"/>
              <a:t>kaiaulu</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417" name="Picture 416" descr="A picture containing text&#10;&#10;Description automatically generated">
            <a:extLst>
              <a:ext uri="{FF2B5EF4-FFF2-40B4-BE49-F238E27FC236}">
                <a16:creationId xmlns:a16="http://schemas.microsoft.com/office/drawing/2014/main" id="{14CE0B24-7DE3-5DB0-593F-B7795ED361D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75383" y="8468874"/>
            <a:ext cx="585008" cy="679364"/>
          </a:xfrm>
          <a:prstGeom prst="rect">
            <a:avLst/>
          </a:prstGeom>
        </p:spPr>
      </p:pic>
      <p:sp>
        <p:nvSpPr>
          <p:cNvPr id="418" name="Can 417">
            <a:extLst>
              <a:ext uri="{FF2B5EF4-FFF2-40B4-BE49-F238E27FC236}">
                <a16:creationId xmlns:a16="http://schemas.microsoft.com/office/drawing/2014/main" id="{83B1992A-06C9-9417-6166-431B03E06DCD}"/>
              </a:ext>
            </a:extLst>
          </p:cNvPr>
          <p:cNvSpPr/>
          <p:nvPr/>
        </p:nvSpPr>
        <p:spPr>
          <a:xfrm>
            <a:off x="2164242" y="5501642"/>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19" name="Can 418">
            <a:extLst>
              <a:ext uri="{FF2B5EF4-FFF2-40B4-BE49-F238E27FC236}">
                <a16:creationId xmlns:a16="http://schemas.microsoft.com/office/drawing/2014/main" id="{2F76A5EA-15FA-9ACD-8EFC-53CC749FB525}"/>
              </a:ext>
            </a:extLst>
          </p:cNvPr>
          <p:cNvSpPr/>
          <p:nvPr/>
        </p:nvSpPr>
        <p:spPr>
          <a:xfrm>
            <a:off x="8107362" y="2662290"/>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20" name="Can 419">
            <a:extLst>
              <a:ext uri="{FF2B5EF4-FFF2-40B4-BE49-F238E27FC236}">
                <a16:creationId xmlns:a16="http://schemas.microsoft.com/office/drawing/2014/main" id="{C9E5E18B-EC87-8343-36BD-452562C8401F}"/>
              </a:ext>
            </a:extLst>
          </p:cNvPr>
          <p:cNvSpPr/>
          <p:nvPr/>
        </p:nvSpPr>
        <p:spPr>
          <a:xfrm>
            <a:off x="8060713" y="6674341"/>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421" name="Connector: Elbow 504">
            <a:extLst>
              <a:ext uri="{FF2B5EF4-FFF2-40B4-BE49-F238E27FC236}">
                <a16:creationId xmlns:a16="http://schemas.microsoft.com/office/drawing/2014/main" id="{C719A585-AD6C-F60F-4D1F-BFC9FCAA1FC7}"/>
              </a:ext>
            </a:extLst>
          </p:cNvPr>
          <p:cNvCxnSpPr>
            <a:cxnSpLocks/>
            <a:endCxn id="342" idx="1"/>
          </p:cNvCxnSpPr>
          <p:nvPr/>
        </p:nvCxnSpPr>
        <p:spPr>
          <a:xfrm>
            <a:off x="10264774" y="8108060"/>
            <a:ext cx="260324" cy="6619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422" name="Group 421">
            <a:extLst>
              <a:ext uri="{FF2B5EF4-FFF2-40B4-BE49-F238E27FC236}">
                <a16:creationId xmlns:a16="http://schemas.microsoft.com/office/drawing/2014/main" id="{A125DC5B-9068-5313-369E-FF94DF8EF05F}"/>
              </a:ext>
            </a:extLst>
          </p:cNvPr>
          <p:cNvGrpSpPr/>
          <p:nvPr/>
        </p:nvGrpSpPr>
        <p:grpSpPr>
          <a:xfrm>
            <a:off x="10255192" y="8324484"/>
            <a:ext cx="258099" cy="400772"/>
            <a:chOff x="4995414" y="5124450"/>
            <a:chExt cx="279788" cy="627063"/>
          </a:xfrm>
        </p:grpSpPr>
        <p:cxnSp>
          <p:nvCxnSpPr>
            <p:cNvPr id="423" name="Straight Connector 422">
              <a:extLst>
                <a:ext uri="{FF2B5EF4-FFF2-40B4-BE49-F238E27FC236}">
                  <a16:creationId xmlns:a16="http://schemas.microsoft.com/office/drawing/2014/main" id="{72B77D64-4E7C-6D53-0F50-409B21F9E483}"/>
                </a:ext>
              </a:extLst>
            </p:cNvPr>
            <p:cNvCxnSpPr>
              <a:cxnSpLocks/>
            </p:cNvCxnSpPr>
            <p:nvPr/>
          </p:nvCxnSpPr>
          <p:spPr>
            <a:xfrm>
              <a:off x="4995414" y="5748338"/>
              <a:ext cx="157186" cy="0"/>
            </a:xfrm>
            <a:prstGeom prst="line">
              <a:avLst/>
            </a:prstGeom>
          </p:spPr>
          <p:style>
            <a:lnRef idx="1">
              <a:schemeClr val="dk1"/>
            </a:lnRef>
            <a:fillRef idx="0">
              <a:schemeClr val="dk1"/>
            </a:fillRef>
            <a:effectRef idx="0">
              <a:schemeClr val="dk1"/>
            </a:effectRef>
            <a:fontRef idx="minor">
              <a:schemeClr val="tx1"/>
            </a:fontRef>
          </p:style>
        </p:cxnSp>
        <p:cxnSp>
          <p:nvCxnSpPr>
            <p:cNvPr id="424" name="Straight Connector 423">
              <a:extLst>
                <a:ext uri="{FF2B5EF4-FFF2-40B4-BE49-F238E27FC236}">
                  <a16:creationId xmlns:a16="http://schemas.microsoft.com/office/drawing/2014/main" id="{9DADBE34-7247-3546-9254-0C77203A4212}"/>
                </a:ext>
              </a:extLst>
            </p:cNvPr>
            <p:cNvCxnSpPr/>
            <p:nvPr/>
          </p:nvCxnSpPr>
          <p:spPr>
            <a:xfrm flipV="1">
              <a:off x="5152600" y="5124450"/>
              <a:ext cx="0" cy="627063"/>
            </a:xfrm>
            <a:prstGeom prst="line">
              <a:avLst/>
            </a:prstGeom>
          </p:spPr>
          <p:style>
            <a:lnRef idx="1">
              <a:schemeClr val="dk1"/>
            </a:lnRef>
            <a:fillRef idx="0">
              <a:schemeClr val="dk1"/>
            </a:fillRef>
            <a:effectRef idx="0">
              <a:schemeClr val="dk1"/>
            </a:effectRef>
            <a:fontRef idx="minor">
              <a:schemeClr val="tx1"/>
            </a:fontRef>
          </p:style>
        </p:cxnSp>
        <p:cxnSp>
          <p:nvCxnSpPr>
            <p:cNvPr id="425" name="Straight Arrow Connector 424">
              <a:extLst>
                <a:ext uri="{FF2B5EF4-FFF2-40B4-BE49-F238E27FC236}">
                  <a16:creationId xmlns:a16="http://schemas.microsoft.com/office/drawing/2014/main" id="{6C211DA6-D5A9-7EA5-FD54-214FAF4BB8FF}"/>
                </a:ext>
              </a:extLst>
            </p:cNvPr>
            <p:cNvCxnSpPr/>
            <p:nvPr/>
          </p:nvCxnSpPr>
          <p:spPr>
            <a:xfrm>
              <a:off x="5152600" y="5129213"/>
              <a:ext cx="1226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426" name="Group 425">
            <a:extLst>
              <a:ext uri="{FF2B5EF4-FFF2-40B4-BE49-F238E27FC236}">
                <a16:creationId xmlns:a16="http://schemas.microsoft.com/office/drawing/2014/main" id="{8FF13A3B-733F-85BF-39A7-65B78B08E6A2}"/>
              </a:ext>
            </a:extLst>
          </p:cNvPr>
          <p:cNvGrpSpPr/>
          <p:nvPr/>
        </p:nvGrpSpPr>
        <p:grpSpPr>
          <a:xfrm>
            <a:off x="10273320" y="7711032"/>
            <a:ext cx="246605" cy="248161"/>
            <a:chOff x="4995414" y="4014788"/>
            <a:chExt cx="318346" cy="642937"/>
          </a:xfrm>
        </p:grpSpPr>
        <p:cxnSp>
          <p:nvCxnSpPr>
            <p:cNvPr id="427" name="Straight Connector 426">
              <a:extLst>
                <a:ext uri="{FF2B5EF4-FFF2-40B4-BE49-F238E27FC236}">
                  <a16:creationId xmlns:a16="http://schemas.microsoft.com/office/drawing/2014/main" id="{CE2E0077-499E-4F72-2F44-A626B8D7A6A6}"/>
                </a:ext>
              </a:extLst>
            </p:cNvPr>
            <p:cNvCxnSpPr>
              <a:cxnSpLocks/>
            </p:cNvCxnSpPr>
            <p:nvPr/>
          </p:nvCxnSpPr>
          <p:spPr>
            <a:xfrm>
              <a:off x="4995414" y="4014788"/>
              <a:ext cx="175470" cy="0"/>
            </a:xfrm>
            <a:prstGeom prst="line">
              <a:avLst/>
            </a:prstGeom>
          </p:spPr>
          <p:style>
            <a:lnRef idx="1">
              <a:schemeClr val="dk1"/>
            </a:lnRef>
            <a:fillRef idx="0">
              <a:schemeClr val="dk1"/>
            </a:fillRef>
            <a:effectRef idx="0">
              <a:schemeClr val="dk1"/>
            </a:effectRef>
            <a:fontRef idx="minor">
              <a:schemeClr val="tx1"/>
            </a:fontRef>
          </p:style>
        </p:cxnSp>
        <p:cxnSp>
          <p:nvCxnSpPr>
            <p:cNvPr id="428" name="Straight Connector 427">
              <a:extLst>
                <a:ext uri="{FF2B5EF4-FFF2-40B4-BE49-F238E27FC236}">
                  <a16:creationId xmlns:a16="http://schemas.microsoft.com/office/drawing/2014/main" id="{40DF6649-1F98-D23D-FF60-A80AAC601F40}"/>
                </a:ext>
              </a:extLst>
            </p:cNvPr>
            <p:cNvCxnSpPr/>
            <p:nvPr/>
          </p:nvCxnSpPr>
          <p:spPr>
            <a:xfrm>
              <a:off x="5168503" y="4014788"/>
              <a:ext cx="0" cy="642937"/>
            </a:xfrm>
            <a:prstGeom prst="line">
              <a:avLst/>
            </a:prstGeom>
          </p:spPr>
          <p:style>
            <a:lnRef idx="1">
              <a:schemeClr val="dk1"/>
            </a:lnRef>
            <a:fillRef idx="0">
              <a:schemeClr val="dk1"/>
            </a:fillRef>
            <a:effectRef idx="0">
              <a:schemeClr val="dk1"/>
            </a:effectRef>
            <a:fontRef idx="minor">
              <a:schemeClr val="tx1"/>
            </a:fontRef>
          </p:style>
        </p:cxnSp>
        <p:cxnSp>
          <p:nvCxnSpPr>
            <p:cNvPr id="429" name="Straight Arrow Connector 428">
              <a:extLst>
                <a:ext uri="{FF2B5EF4-FFF2-40B4-BE49-F238E27FC236}">
                  <a16:creationId xmlns:a16="http://schemas.microsoft.com/office/drawing/2014/main" id="{DB4377E6-C915-DFEB-F490-8BD193757984}"/>
                </a:ext>
              </a:extLst>
            </p:cNvPr>
            <p:cNvCxnSpPr/>
            <p:nvPr/>
          </p:nvCxnSpPr>
          <p:spPr>
            <a:xfrm>
              <a:off x="5163741" y="4657725"/>
              <a:ext cx="1500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0" name="Group 429">
            <a:extLst>
              <a:ext uri="{FF2B5EF4-FFF2-40B4-BE49-F238E27FC236}">
                <a16:creationId xmlns:a16="http://schemas.microsoft.com/office/drawing/2014/main" id="{4193DE39-65DF-D2A9-C126-4C651FD9E805}"/>
              </a:ext>
            </a:extLst>
          </p:cNvPr>
          <p:cNvGrpSpPr/>
          <p:nvPr/>
        </p:nvGrpSpPr>
        <p:grpSpPr>
          <a:xfrm>
            <a:off x="1092074" y="7766592"/>
            <a:ext cx="953200" cy="458010"/>
            <a:chOff x="5528605" y="4530831"/>
            <a:chExt cx="953200" cy="458010"/>
          </a:xfrm>
        </p:grpSpPr>
        <p:graphicFrame>
          <p:nvGraphicFramePr>
            <p:cNvPr id="431" name="Table">
              <a:extLst>
                <a:ext uri="{FF2B5EF4-FFF2-40B4-BE49-F238E27FC236}">
                  <a16:creationId xmlns:a16="http://schemas.microsoft.com/office/drawing/2014/main" id="{94A7DF5C-9E84-B438-9849-953C9DF493D9}"/>
                </a:ext>
              </a:extLst>
            </p:cNvPr>
            <p:cNvGraphicFramePr/>
            <p:nvPr>
              <p:extLst>
                <p:ext uri="{D42A27DB-BD31-4B8C-83A1-F6EECF244321}">
                  <p14:modId xmlns:p14="http://schemas.microsoft.com/office/powerpoint/2010/main" val="4173266319"/>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432" name="Table">
              <a:extLst>
                <a:ext uri="{FF2B5EF4-FFF2-40B4-BE49-F238E27FC236}">
                  <a16:creationId xmlns:a16="http://schemas.microsoft.com/office/drawing/2014/main" id="{5FD86FCD-23F7-3B67-69CA-62881A891C6D}"/>
                </a:ext>
              </a:extLst>
            </p:cNvPr>
            <p:cNvGraphicFramePr/>
            <p:nvPr>
              <p:extLst>
                <p:ext uri="{D42A27DB-BD31-4B8C-83A1-F6EECF244321}">
                  <p14:modId xmlns:p14="http://schemas.microsoft.com/office/powerpoint/2010/main" val="1749365374"/>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grpSp>
        <p:nvGrpSpPr>
          <p:cNvPr id="433" name="Group 432">
            <a:extLst>
              <a:ext uri="{FF2B5EF4-FFF2-40B4-BE49-F238E27FC236}">
                <a16:creationId xmlns:a16="http://schemas.microsoft.com/office/drawing/2014/main" id="{D9FD8366-70E5-28F1-76AD-DD97C2E23D52}"/>
              </a:ext>
            </a:extLst>
          </p:cNvPr>
          <p:cNvGrpSpPr/>
          <p:nvPr/>
        </p:nvGrpSpPr>
        <p:grpSpPr>
          <a:xfrm>
            <a:off x="2597665" y="7778932"/>
            <a:ext cx="630320" cy="458010"/>
            <a:chOff x="5528605" y="4530831"/>
            <a:chExt cx="630320" cy="458010"/>
          </a:xfrm>
        </p:grpSpPr>
        <p:graphicFrame>
          <p:nvGraphicFramePr>
            <p:cNvPr id="434" name="Table">
              <a:extLst>
                <a:ext uri="{FF2B5EF4-FFF2-40B4-BE49-F238E27FC236}">
                  <a16:creationId xmlns:a16="http://schemas.microsoft.com/office/drawing/2014/main" id="{4BBB609A-48CF-EA17-69FA-16C98686F57B}"/>
                </a:ext>
              </a:extLst>
            </p:cNvPr>
            <p:cNvGraphicFramePr/>
            <p:nvPr>
              <p:extLst>
                <p:ext uri="{D42A27DB-BD31-4B8C-83A1-F6EECF244321}">
                  <p14:modId xmlns:p14="http://schemas.microsoft.com/office/powerpoint/2010/main" val="2817441504"/>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435" name="Table">
              <a:extLst>
                <a:ext uri="{FF2B5EF4-FFF2-40B4-BE49-F238E27FC236}">
                  <a16:creationId xmlns:a16="http://schemas.microsoft.com/office/drawing/2014/main" id="{30D2DD79-BC52-96FC-C219-FC948DBF5018}"/>
                </a:ext>
              </a:extLst>
            </p:cNvPr>
            <p:cNvGraphicFramePr/>
            <p:nvPr>
              <p:extLst>
                <p:ext uri="{D42A27DB-BD31-4B8C-83A1-F6EECF244321}">
                  <p14:modId xmlns:p14="http://schemas.microsoft.com/office/powerpoint/2010/main" val="2054545127"/>
                </p:ext>
              </p:extLst>
            </p:nvPr>
          </p:nvGraphicFramePr>
          <p:xfrm>
            <a:off x="5997485" y="4530831"/>
            <a:ext cx="16144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grpSp>
        <p:nvGrpSpPr>
          <p:cNvPr id="436" name="Group 435">
            <a:extLst>
              <a:ext uri="{FF2B5EF4-FFF2-40B4-BE49-F238E27FC236}">
                <a16:creationId xmlns:a16="http://schemas.microsoft.com/office/drawing/2014/main" id="{6F762455-B412-7924-160E-7B399D8ADB64}"/>
              </a:ext>
            </a:extLst>
          </p:cNvPr>
          <p:cNvGrpSpPr/>
          <p:nvPr/>
        </p:nvGrpSpPr>
        <p:grpSpPr>
          <a:xfrm>
            <a:off x="2562975" y="7722007"/>
            <a:ext cx="665010" cy="540204"/>
            <a:chOff x="3045575" y="7702261"/>
            <a:chExt cx="665010" cy="540204"/>
          </a:xfrm>
        </p:grpSpPr>
        <p:cxnSp>
          <p:nvCxnSpPr>
            <p:cNvPr id="437" name="Straight Connector 436">
              <a:extLst>
                <a:ext uri="{FF2B5EF4-FFF2-40B4-BE49-F238E27FC236}">
                  <a16:creationId xmlns:a16="http://schemas.microsoft.com/office/drawing/2014/main" id="{93F66380-AF2F-FF0D-4A42-F47E7ABB76C9}"/>
                </a:ext>
              </a:extLst>
            </p:cNvPr>
            <p:cNvCxnSpPr>
              <a:cxnSpLocks/>
            </p:cNvCxnSpPr>
            <p:nvPr/>
          </p:nvCxnSpPr>
          <p:spPr>
            <a:xfrm>
              <a:off x="3045575" y="7702261"/>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cxnSp>
          <p:nvCxnSpPr>
            <p:cNvPr id="438" name="Straight Connector 437">
              <a:extLst>
                <a:ext uri="{FF2B5EF4-FFF2-40B4-BE49-F238E27FC236}">
                  <a16:creationId xmlns:a16="http://schemas.microsoft.com/office/drawing/2014/main" id="{B5537217-4D15-A35A-F210-4260FCEA62B6}"/>
                </a:ext>
              </a:extLst>
            </p:cNvPr>
            <p:cNvCxnSpPr>
              <a:cxnSpLocks/>
            </p:cNvCxnSpPr>
            <p:nvPr/>
          </p:nvCxnSpPr>
          <p:spPr>
            <a:xfrm flipV="1">
              <a:off x="3058828" y="7710159"/>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grpSp>
      <p:pic>
        <p:nvPicPr>
          <p:cNvPr id="439" name="Graphic 438" descr="User with solid fill">
            <a:extLst>
              <a:ext uri="{FF2B5EF4-FFF2-40B4-BE49-F238E27FC236}">
                <a16:creationId xmlns:a16="http://schemas.microsoft.com/office/drawing/2014/main" id="{56C49B41-55EF-16C8-52A5-71D293AA382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26048" y="9843576"/>
            <a:ext cx="381354" cy="381354"/>
          </a:xfrm>
          <a:prstGeom prst="rect">
            <a:avLst/>
          </a:prstGeom>
        </p:spPr>
      </p:pic>
      <p:pic>
        <p:nvPicPr>
          <p:cNvPr id="440" name="Graphic 439" descr="User with solid fill">
            <a:extLst>
              <a:ext uri="{FF2B5EF4-FFF2-40B4-BE49-F238E27FC236}">
                <a16:creationId xmlns:a16="http://schemas.microsoft.com/office/drawing/2014/main" id="{25DD1D43-C49D-1525-D560-EB8E58CB560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76126" y="9848058"/>
            <a:ext cx="381354" cy="381354"/>
          </a:xfrm>
          <a:prstGeom prst="rect">
            <a:avLst/>
          </a:prstGeom>
        </p:spPr>
      </p:pic>
      <p:pic>
        <p:nvPicPr>
          <p:cNvPr id="441" name="Graphic 440" descr="User with solid fill">
            <a:extLst>
              <a:ext uri="{FF2B5EF4-FFF2-40B4-BE49-F238E27FC236}">
                <a16:creationId xmlns:a16="http://schemas.microsoft.com/office/drawing/2014/main" id="{CBC4F09C-0225-9196-FB82-D078824816C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434159" y="9856625"/>
            <a:ext cx="381354" cy="381354"/>
          </a:xfrm>
          <a:prstGeom prst="rect">
            <a:avLst/>
          </a:prstGeom>
        </p:spPr>
      </p:pic>
      <p:pic>
        <p:nvPicPr>
          <p:cNvPr id="442" name="Graphic 441" descr="Heart outline">
            <a:extLst>
              <a:ext uri="{FF2B5EF4-FFF2-40B4-BE49-F238E27FC236}">
                <a16:creationId xmlns:a16="http://schemas.microsoft.com/office/drawing/2014/main" id="{DCF9DE09-024C-92B1-9149-F1FAEA974E3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8908" y="9348033"/>
            <a:ext cx="238741" cy="238741"/>
          </a:xfrm>
          <a:prstGeom prst="rect">
            <a:avLst/>
          </a:prstGeom>
        </p:spPr>
      </p:pic>
      <p:sp>
        <p:nvSpPr>
          <p:cNvPr id="443" name="Google Shape;338;p18">
            <a:extLst>
              <a:ext uri="{FF2B5EF4-FFF2-40B4-BE49-F238E27FC236}">
                <a16:creationId xmlns:a16="http://schemas.microsoft.com/office/drawing/2014/main" id="{79914161-E9B6-D274-CE23-70562D8B3BE1}"/>
              </a:ext>
            </a:extLst>
          </p:cNvPr>
          <p:cNvSpPr/>
          <p:nvPr/>
        </p:nvSpPr>
        <p:spPr>
          <a:xfrm>
            <a:off x="1116634" y="9343884"/>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44" name="Graphic 443" descr="Heart outline">
            <a:extLst>
              <a:ext uri="{FF2B5EF4-FFF2-40B4-BE49-F238E27FC236}">
                <a16:creationId xmlns:a16="http://schemas.microsoft.com/office/drawing/2014/main" id="{404FA7D4-0253-34BA-839A-2D7345C8BF9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76971" y="9343058"/>
            <a:ext cx="238741" cy="238741"/>
          </a:xfrm>
          <a:prstGeom prst="rect">
            <a:avLst/>
          </a:prstGeom>
        </p:spPr>
      </p:pic>
      <p:sp>
        <p:nvSpPr>
          <p:cNvPr id="445" name="Google Shape;338;p18">
            <a:extLst>
              <a:ext uri="{FF2B5EF4-FFF2-40B4-BE49-F238E27FC236}">
                <a16:creationId xmlns:a16="http://schemas.microsoft.com/office/drawing/2014/main" id="{0B72A3C8-3F34-2946-7AF3-764A73BDBE1A}"/>
              </a:ext>
            </a:extLst>
          </p:cNvPr>
          <p:cNvSpPr/>
          <p:nvPr/>
        </p:nvSpPr>
        <p:spPr>
          <a:xfrm>
            <a:off x="1545096" y="9341912"/>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 name="Rectangle 445">
            <a:extLst>
              <a:ext uri="{FF2B5EF4-FFF2-40B4-BE49-F238E27FC236}">
                <a16:creationId xmlns:a16="http://schemas.microsoft.com/office/drawing/2014/main" id="{1B2C3AF4-4EB1-9632-15CE-51A210C871E3}"/>
              </a:ext>
            </a:extLst>
          </p:cNvPr>
          <p:cNvSpPr/>
          <p:nvPr/>
        </p:nvSpPr>
        <p:spPr>
          <a:xfrm>
            <a:off x="564675" y="9293640"/>
            <a:ext cx="1492070" cy="36576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47" name="Straight Connector 446">
            <a:extLst>
              <a:ext uri="{FF2B5EF4-FFF2-40B4-BE49-F238E27FC236}">
                <a16:creationId xmlns:a16="http://schemas.microsoft.com/office/drawing/2014/main" id="{6C78D70E-6674-DE02-6FA3-9D0A343FECF3}"/>
              </a:ext>
            </a:extLst>
          </p:cNvPr>
          <p:cNvCxnSpPr>
            <a:cxnSpLocks/>
            <a:endCxn id="439" idx="0"/>
          </p:cNvCxnSpPr>
          <p:nvPr/>
        </p:nvCxnSpPr>
        <p:spPr>
          <a:xfrm>
            <a:off x="857253" y="9656636"/>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48" name="Straight Connector 447">
            <a:extLst>
              <a:ext uri="{FF2B5EF4-FFF2-40B4-BE49-F238E27FC236}">
                <a16:creationId xmlns:a16="http://schemas.microsoft.com/office/drawing/2014/main" id="{F65374DB-8970-6D76-F7D1-D2318EB01A29}"/>
              </a:ext>
            </a:extLst>
          </p:cNvPr>
          <p:cNvCxnSpPr>
            <a:cxnSpLocks/>
          </p:cNvCxnSpPr>
          <p:nvPr/>
        </p:nvCxnSpPr>
        <p:spPr>
          <a:xfrm flipV="1">
            <a:off x="1639240" y="9656636"/>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49" name="Straight Connector 448">
            <a:extLst>
              <a:ext uri="{FF2B5EF4-FFF2-40B4-BE49-F238E27FC236}">
                <a16:creationId xmlns:a16="http://schemas.microsoft.com/office/drawing/2014/main" id="{C9CEB57C-BE33-8AD7-0CB3-9A95C8A25CF9}"/>
              </a:ext>
            </a:extLst>
          </p:cNvPr>
          <p:cNvCxnSpPr>
            <a:cxnSpLocks/>
          </p:cNvCxnSpPr>
          <p:nvPr/>
        </p:nvCxnSpPr>
        <p:spPr>
          <a:xfrm flipV="1">
            <a:off x="1268752" y="9662737"/>
            <a:ext cx="0" cy="19030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50" name="Google Shape;338;p18">
            <a:extLst>
              <a:ext uri="{FF2B5EF4-FFF2-40B4-BE49-F238E27FC236}">
                <a16:creationId xmlns:a16="http://schemas.microsoft.com/office/drawing/2014/main" id="{3F3836BF-2F74-6B7A-1A8D-04807712A65F}"/>
              </a:ext>
            </a:extLst>
          </p:cNvPr>
          <p:cNvSpPr/>
          <p:nvPr/>
        </p:nvSpPr>
        <p:spPr>
          <a:xfrm>
            <a:off x="2483724" y="9376740"/>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51" name="Graphic 450" descr="User with solid fill">
            <a:extLst>
              <a:ext uri="{FF2B5EF4-FFF2-40B4-BE49-F238E27FC236}">
                <a16:creationId xmlns:a16="http://schemas.microsoft.com/office/drawing/2014/main" id="{5B926333-C3C9-1642-7C26-96E5051413E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31201" y="9871457"/>
            <a:ext cx="381354" cy="381354"/>
          </a:xfrm>
          <a:prstGeom prst="rect">
            <a:avLst/>
          </a:prstGeom>
        </p:spPr>
      </p:pic>
      <p:pic>
        <p:nvPicPr>
          <p:cNvPr id="452" name="Graphic 451" descr="User with solid fill">
            <a:extLst>
              <a:ext uri="{FF2B5EF4-FFF2-40B4-BE49-F238E27FC236}">
                <a16:creationId xmlns:a16="http://schemas.microsoft.com/office/drawing/2014/main" id="{72669C57-71FC-CDF0-A317-4C7CD2E984F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81279" y="9875939"/>
            <a:ext cx="381354" cy="381354"/>
          </a:xfrm>
          <a:prstGeom prst="rect">
            <a:avLst/>
          </a:prstGeom>
        </p:spPr>
      </p:pic>
      <p:pic>
        <p:nvPicPr>
          <p:cNvPr id="453" name="Graphic 452" descr="User with solid fill">
            <a:extLst>
              <a:ext uri="{FF2B5EF4-FFF2-40B4-BE49-F238E27FC236}">
                <a16:creationId xmlns:a16="http://schemas.microsoft.com/office/drawing/2014/main" id="{F20EB8F4-81F6-936D-A557-B19346F6C20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39312" y="9884506"/>
            <a:ext cx="381354" cy="381354"/>
          </a:xfrm>
          <a:prstGeom prst="rect">
            <a:avLst/>
          </a:prstGeom>
        </p:spPr>
      </p:pic>
      <p:pic>
        <p:nvPicPr>
          <p:cNvPr id="454" name="Graphic 453" descr="Heart outline">
            <a:extLst>
              <a:ext uri="{FF2B5EF4-FFF2-40B4-BE49-F238E27FC236}">
                <a16:creationId xmlns:a16="http://schemas.microsoft.com/office/drawing/2014/main" id="{60820844-AC7B-2BCB-8BFC-CAE7CDE6874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544061" y="9375914"/>
            <a:ext cx="238741" cy="238741"/>
          </a:xfrm>
          <a:prstGeom prst="rect">
            <a:avLst/>
          </a:prstGeom>
        </p:spPr>
      </p:pic>
      <p:sp>
        <p:nvSpPr>
          <p:cNvPr id="455" name="Google Shape;338;p18">
            <a:extLst>
              <a:ext uri="{FF2B5EF4-FFF2-40B4-BE49-F238E27FC236}">
                <a16:creationId xmlns:a16="http://schemas.microsoft.com/office/drawing/2014/main" id="{3D6579AF-2837-3ED1-30BD-2E65C44D972D}"/>
              </a:ext>
            </a:extLst>
          </p:cNvPr>
          <p:cNvSpPr/>
          <p:nvPr/>
        </p:nvSpPr>
        <p:spPr>
          <a:xfrm>
            <a:off x="2921787" y="9371765"/>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56" name="Graphic 455" descr="Heart outline">
            <a:extLst>
              <a:ext uri="{FF2B5EF4-FFF2-40B4-BE49-F238E27FC236}">
                <a16:creationId xmlns:a16="http://schemas.microsoft.com/office/drawing/2014/main" id="{09E2FFC1-CB5A-245D-6833-EFA9556172B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982124" y="9370939"/>
            <a:ext cx="238741" cy="238741"/>
          </a:xfrm>
          <a:prstGeom prst="rect">
            <a:avLst/>
          </a:prstGeom>
        </p:spPr>
      </p:pic>
      <p:sp>
        <p:nvSpPr>
          <p:cNvPr id="457" name="Google Shape;338;p18">
            <a:extLst>
              <a:ext uri="{FF2B5EF4-FFF2-40B4-BE49-F238E27FC236}">
                <a16:creationId xmlns:a16="http://schemas.microsoft.com/office/drawing/2014/main" id="{E8DC042D-9D7E-32FD-1EB5-194DBFE309DE}"/>
              </a:ext>
            </a:extLst>
          </p:cNvPr>
          <p:cNvSpPr/>
          <p:nvPr/>
        </p:nvSpPr>
        <p:spPr>
          <a:xfrm>
            <a:off x="3350249" y="9369793"/>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58" name="Graphic 457" descr="Heart outline">
            <a:extLst>
              <a:ext uri="{FF2B5EF4-FFF2-40B4-BE49-F238E27FC236}">
                <a16:creationId xmlns:a16="http://schemas.microsoft.com/office/drawing/2014/main" id="{40BD66FC-EFA9-BFB4-5B6E-D7D30F24835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01738" y="9348230"/>
            <a:ext cx="238741" cy="238741"/>
          </a:xfrm>
          <a:prstGeom prst="rect">
            <a:avLst/>
          </a:prstGeom>
        </p:spPr>
      </p:pic>
      <p:sp>
        <p:nvSpPr>
          <p:cNvPr id="459" name="Rectangle 458">
            <a:extLst>
              <a:ext uri="{FF2B5EF4-FFF2-40B4-BE49-F238E27FC236}">
                <a16:creationId xmlns:a16="http://schemas.microsoft.com/office/drawing/2014/main" id="{4EBD86AA-EB2D-0418-E57B-8A9FEB9E1693}"/>
              </a:ext>
            </a:extLst>
          </p:cNvPr>
          <p:cNvSpPr/>
          <p:nvPr/>
        </p:nvSpPr>
        <p:spPr>
          <a:xfrm>
            <a:off x="2369828" y="9321521"/>
            <a:ext cx="1492070" cy="36576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0" name="Straight Connector 459">
            <a:extLst>
              <a:ext uri="{FF2B5EF4-FFF2-40B4-BE49-F238E27FC236}">
                <a16:creationId xmlns:a16="http://schemas.microsoft.com/office/drawing/2014/main" id="{8305E467-28F3-42DA-344B-02540095C99F}"/>
              </a:ext>
            </a:extLst>
          </p:cNvPr>
          <p:cNvCxnSpPr>
            <a:cxnSpLocks/>
            <a:endCxn id="451" idx="0"/>
          </p:cNvCxnSpPr>
          <p:nvPr/>
        </p:nvCxnSpPr>
        <p:spPr>
          <a:xfrm>
            <a:off x="2662406" y="9684517"/>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1" name="Straight Connector 460">
            <a:extLst>
              <a:ext uri="{FF2B5EF4-FFF2-40B4-BE49-F238E27FC236}">
                <a16:creationId xmlns:a16="http://schemas.microsoft.com/office/drawing/2014/main" id="{50CC1FB7-7C1D-666C-833E-12F59A5E5E23}"/>
              </a:ext>
            </a:extLst>
          </p:cNvPr>
          <p:cNvCxnSpPr>
            <a:cxnSpLocks/>
          </p:cNvCxnSpPr>
          <p:nvPr/>
        </p:nvCxnSpPr>
        <p:spPr>
          <a:xfrm flipV="1">
            <a:off x="3444393" y="9684517"/>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2" name="Straight Connector 461">
            <a:extLst>
              <a:ext uri="{FF2B5EF4-FFF2-40B4-BE49-F238E27FC236}">
                <a16:creationId xmlns:a16="http://schemas.microsoft.com/office/drawing/2014/main" id="{CDD2130E-F564-54FA-F6FE-A322A1EA96D2}"/>
              </a:ext>
            </a:extLst>
          </p:cNvPr>
          <p:cNvCxnSpPr>
            <a:cxnSpLocks/>
          </p:cNvCxnSpPr>
          <p:nvPr/>
        </p:nvCxnSpPr>
        <p:spPr>
          <a:xfrm flipV="1">
            <a:off x="3073905" y="9690618"/>
            <a:ext cx="0" cy="19030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463" name="Graphic 462" descr="Angry face outline with solid fill">
            <a:extLst>
              <a:ext uri="{FF2B5EF4-FFF2-40B4-BE49-F238E27FC236}">
                <a16:creationId xmlns:a16="http://schemas.microsoft.com/office/drawing/2014/main" id="{CDA7CE1A-A306-1E00-F951-930705B0499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419525" y="9368586"/>
            <a:ext cx="239887" cy="239887"/>
          </a:xfrm>
          <a:prstGeom prst="rect">
            <a:avLst/>
          </a:prstGeom>
        </p:spPr>
      </p:pic>
      <p:grpSp>
        <p:nvGrpSpPr>
          <p:cNvPr id="464" name="Group 463">
            <a:extLst>
              <a:ext uri="{FF2B5EF4-FFF2-40B4-BE49-F238E27FC236}">
                <a16:creationId xmlns:a16="http://schemas.microsoft.com/office/drawing/2014/main" id="{3C6A81C0-4D0B-DFC3-9C18-FE64697F0631}"/>
              </a:ext>
            </a:extLst>
          </p:cNvPr>
          <p:cNvGrpSpPr/>
          <p:nvPr/>
        </p:nvGrpSpPr>
        <p:grpSpPr>
          <a:xfrm>
            <a:off x="2410008" y="9223247"/>
            <a:ext cx="1413097" cy="540204"/>
            <a:chOff x="3045575" y="7702261"/>
            <a:chExt cx="665010" cy="540204"/>
          </a:xfrm>
        </p:grpSpPr>
        <p:cxnSp>
          <p:nvCxnSpPr>
            <p:cNvPr id="465" name="Straight Connector 464">
              <a:extLst>
                <a:ext uri="{FF2B5EF4-FFF2-40B4-BE49-F238E27FC236}">
                  <a16:creationId xmlns:a16="http://schemas.microsoft.com/office/drawing/2014/main" id="{36A83839-0A25-FBC0-79D6-1E9C8EAF7024}"/>
                </a:ext>
              </a:extLst>
            </p:cNvPr>
            <p:cNvCxnSpPr>
              <a:cxnSpLocks/>
            </p:cNvCxnSpPr>
            <p:nvPr/>
          </p:nvCxnSpPr>
          <p:spPr>
            <a:xfrm>
              <a:off x="3045575" y="7702261"/>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cxnSp>
          <p:nvCxnSpPr>
            <p:cNvPr id="466" name="Straight Connector 465">
              <a:extLst>
                <a:ext uri="{FF2B5EF4-FFF2-40B4-BE49-F238E27FC236}">
                  <a16:creationId xmlns:a16="http://schemas.microsoft.com/office/drawing/2014/main" id="{2F39D2CD-62AF-53FC-88E1-A879A2D8C708}"/>
                </a:ext>
              </a:extLst>
            </p:cNvPr>
            <p:cNvCxnSpPr>
              <a:cxnSpLocks/>
            </p:cNvCxnSpPr>
            <p:nvPr/>
          </p:nvCxnSpPr>
          <p:spPr>
            <a:xfrm flipV="1">
              <a:off x="3058828" y="7710159"/>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grpSp>
      <p:sp>
        <p:nvSpPr>
          <p:cNvPr id="467" name="TextBox 466">
            <a:extLst>
              <a:ext uri="{FF2B5EF4-FFF2-40B4-BE49-F238E27FC236}">
                <a16:creationId xmlns:a16="http://schemas.microsoft.com/office/drawing/2014/main" id="{C098503B-DB3D-2528-C242-CB6E38F38698}"/>
              </a:ext>
            </a:extLst>
          </p:cNvPr>
          <p:cNvSpPr txBox="1"/>
          <p:nvPr/>
        </p:nvSpPr>
        <p:spPr>
          <a:xfrm>
            <a:off x="-2599075" y="1256962"/>
            <a:ext cx="1894349" cy="5975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3000" b="1" i="0" u="none" strike="noStrike" cap="none" spc="0" normalizeH="0" baseline="0" dirty="0">
                <a:ln>
                  <a:noFill/>
                </a:ln>
                <a:solidFill>
                  <a:srgbClr val="4C4C4C"/>
                </a:solidFill>
                <a:effectLst/>
                <a:uFillTx/>
                <a:latin typeface="Source Sans Pro"/>
                <a:ea typeface="Source Sans Pro"/>
                <a:cs typeface="Source Sans Pro"/>
                <a:sym typeface="Source Sans Pro"/>
              </a:rPr>
              <a:t>Iteration 7</a:t>
            </a:r>
          </a:p>
        </p:txBody>
      </p:sp>
    </p:spTree>
    <p:extLst>
      <p:ext uri="{BB962C8B-B14F-4D97-AF65-F5344CB8AC3E}">
        <p14:creationId xmlns:p14="http://schemas.microsoft.com/office/powerpoint/2010/main" val="212728369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33F41-1DAD-7CC4-09A4-42CED90E5CA4}"/>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98B29D94-44A2-FB1D-F640-B804A089F8E7}"/>
              </a:ext>
            </a:extLst>
          </p:cNvPr>
          <p:cNvPicPr>
            <a:picLocks noGrp="1" noRot="1" noChangeAspect="1" noMove="1" noResize="1" noEditPoints="1" noAdjustHandles="1" noChangeArrowheads="1" noChangeShapeType="1" noCrop="1"/>
          </p:cNvPicPr>
          <p:nvPr/>
        </p:nvPicPr>
        <p:blipFill>
          <a:blip r:embed="rId3"/>
          <a:stretch>
            <a:fillRect/>
          </a:stretch>
        </p:blipFill>
        <p:spPr>
          <a:xfrm>
            <a:off x="8397917" y="-673983"/>
            <a:ext cx="5598432" cy="2990088"/>
          </a:xfrm>
          <a:prstGeom prst="rect">
            <a:avLst/>
          </a:prstGeom>
          <a:ln w="12700">
            <a:miter lim="400000"/>
          </a:ln>
        </p:spPr>
      </p:pic>
      <p:sp>
        <p:nvSpPr>
          <p:cNvPr id="312" name="Line">
            <a:extLst>
              <a:ext uri="{FF2B5EF4-FFF2-40B4-BE49-F238E27FC236}">
                <a16:creationId xmlns:a16="http://schemas.microsoft.com/office/drawing/2014/main" id="{7096A759-B555-DCDF-21C7-52A91142828C}"/>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pic>
        <p:nvPicPr>
          <p:cNvPr id="2" name="Image" descr="Image">
            <a:extLst>
              <a:ext uri="{FF2B5EF4-FFF2-40B4-BE49-F238E27FC236}">
                <a16:creationId xmlns:a16="http://schemas.microsoft.com/office/drawing/2014/main" id="{DF2FBBC3-B5B9-DAC2-640B-8CC82352BF7D}"/>
              </a:ext>
            </a:extLst>
          </p:cNvPr>
          <p:cNvPicPr/>
          <p:nvPr/>
        </p:nvPicPr>
        <p:blipFill>
          <a:blip r:embed="rId3"/>
          <a:stretch>
            <a:fillRect/>
          </a:stretch>
        </p:blipFill>
        <p:spPr>
          <a:xfrm>
            <a:off x="8397917" y="-673983"/>
            <a:ext cx="5598432" cy="2990088"/>
          </a:xfrm>
          <a:prstGeom prst="rect">
            <a:avLst/>
          </a:prstGeom>
          <a:ln w="12700">
            <a:miter lim="400000"/>
          </a:ln>
        </p:spPr>
      </p:pic>
      <p:sp>
        <p:nvSpPr>
          <p:cNvPr id="3" name="Line">
            <a:extLst>
              <a:ext uri="{FF2B5EF4-FFF2-40B4-BE49-F238E27FC236}">
                <a16:creationId xmlns:a16="http://schemas.microsoft.com/office/drawing/2014/main" id="{89CD273E-AA4C-1105-B26E-6136419BBA4E}"/>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 name="YOUR LOGO…">
            <a:extLst>
              <a:ext uri="{FF2B5EF4-FFF2-40B4-BE49-F238E27FC236}">
                <a16:creationId xmlns:a16="http://schemas.microsoft.com/office/drawing/2014/main" id="{37DF0997-95DA-51D2-1C9E-D748A2FA74D6}"/>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err="1"/>
              <a:t>Kaiāulu</a:t>
            </a:r>
            <a:endParaRPr sz="2400" dirty="0"/>
          </a:p>
        </p:txBody>
      </p:sp>
      <p:sp>
        <p:nvSpPr>
          <p:cNvPr id="5" name="Three Column Layout: : CHEAT SHEET">
            <a:extLst>
              <a:ext uri="{FF2B5EF4-FFF2-40B4-BE49-F238E27FC236}">
                <a16:creationId xmlns:a16="http://schemas.microsoft.com/office/drawing/2014/main" id="{64FED556-0CD7-7AD9-0A9B-0ED9C8DD5E85}"/>
              </a:ext>
            </a:extLst>
          </p:cNvPr>
          <p:cNvSpPr txBox="1">
            <a:spLocks noGrp="1"/>
          </p:cNvSpPr>
          <p:nvPr>
            <p:ph type="title"/>
          </p:nvPr>
        </p:nvSpPr>
        <p:spPr>
          <a:xfrm>
            <a:off x="275721" y="361177"/>
            <a:ext cx="10898129" cy="803346"/>
          </a:xfrm>
          <a:prstGeom prst="rect">
            <a:avLst/>
          </a:prstGeom>
        </p:spPr>
        <p:txBody>
          <a:bodyPr lIns="0" tIns="0" rIns="0" bIns="0" anchor="t">
            <a:normAutofit fontScale="90000"/>
          </a:bodyPr>
          <a:lstStyle/>
          <a:p>
            <a:r>
              <a:rPr lang="en-US" dirty="0"/>
              <a:t>Sentiment and Emotion Datasets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6" name="Use headers, colors, and/or backgrounds to separate or group together sections.">
            <a:extLst>
              <a:ext uri="{FF2B5EF4-FFF2-40B4-BE49-F238E27FC236}">
                <a16:creationId xmlns:a16="http://schemas.microsoft.com/office/drawing/2014/main" id="{47E2EE50-22C8-96A5-83A3-6807C23A4D7D}"/>
              </a:ext>
            </a:extLst>
          </p:cNvPr>
          <p:cNvSpPr txBox="1"/>
          <p:nvPr/>
        </p:nvSpPr>
        <p:spPr>
          <a:xfrm>
            <a:off x="219190" y="1892216"/>
            <a:ext cx="4336216" cy="1439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lvl="0">
              <a:lnSpc>
                <a:spcPct val="90000"/>
              </a:lnSpc>
              <a:buSzPts val="3700"/>
            </a:pPr>
            <a:r>
              <a:rPr lang="en-US" b="0" dirty="0"/>
              <a:t>Manually annotated sentiment/emotion labels can be useful for training and evaluating novel machine learning classifiers. However, these labels lack sufficient metadata to be extended with new observations for the same projects that were created. This </a:t>
            </a:r>
            <a:r>
              <a:rPr lang="en-US" b="0" dirty="0" err="1"/>
              <a:t>cheatsheet</a:t>
            </a:r>
            <a:r>
              <a:rPr lang="en-US" b="0" dirty="0"/>
              <a:t> demonstrates the reconstruction process used to expand labels' metadata, define reproducible project configuration files, and make them usable in </a:t>
            </a:r>
            <a:r>
              <a:rPr lang="en-US" b="0" dirty="0" err="1"/>
              <a:t>Kaiaulu</a:t>
            </a:r>
            <a:r>
              <a:rPr lang="en-US" b="0" dirty="0"/>
              <a:t> for new analyses.</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7" name="Logistics">
            <a:extLst>
              <a:ext uri="{FF2B5EF4-FFF2-40B4-BE49-F238E27FC236}">
                <a16:creationId xmlns:a16="http://schemas.microsoft.com/office/drawing/2014/main" id="{DBF58048-735F-519A-C89C-D2E82050F2F1}"/>
              </a:ext>
            </a:extLst>
          </p:cNvPr>
          <p:cNvSpPr txBox="1"/>
          <p:nvPr/>
        </p:nvSpPr>
        <p:spPr>
          <a:xfrm>
            <a:off x="4684512" y="1544184"/>
            <a:ext cx="4520468" cy="3274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sz="2400" b="0" dirty="0"/>
              <a:t>Reproducing Datasets with </a:t>
            </a:r>
            <a:r>
              <a:rPr lang="en-US" sz="2400" b="0" dirty="0" err="1"/>
              <a:t>Kaiaulu</a:t>
            </a:r>
            <a:endParaRPr sz="2400"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8" name="Layout Suggestions">
            <a:extLst>
              <a:ext uri="{FF2B5EF4-FFF2-40B4-BE49-F238E27FC236}">
                <a16:creationId xmlns:a16="http://schemas.microsoft.com/office/drawing/2014/main" id="{9014E2D3-48A6-2683-E1C1-99D0D034DF3E}"/>
              </a:ext>
            </a:extLst>
          </p:cNvPr>
          <p:cNvSpPr txBox="1"/>
          <p:nvPr/>
        </p:nvSpPr>
        <p:spPr>
          <a:xfrm>
            <a:off x="275721" y="1519235"/>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About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pic>
        <p:nvPicPr>
          <p:cNvPr id="9" name="Picture 8" descr="A picture containing text&#10;&#10;Description automatically generated">
            <a:extLst>
              <a:ext uri="{FF2B5EF4-FFF2-40B4-BE49-F238E27FC236}">
                <a16:creationId xmlns:a16="http://schemas.microsoft.com/office/drawing/2014/main" id="{3C6AC925-2E78-7B82-186F-A3BF59B8D40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10" name="TextBox 9">
            <a:extLst>
              <a:ext uri="{FF2B5EF4-FFF2-40B4-BE49-F238E27FC236}">
                <a16:creationId xmlns:a16="http://schemas.microsoft.com/office/drawing/2014/main" id="{80A57F15-0A13-5456-D50A-81B600184726}"/>
              </a:ext>
            </a:extLst>
          </p:cNvPr>
          <p:cNvSpPr txBox="1"/>
          <p:nvPr/>
        </p:nvSpPr>
        <p:spPr>
          <a:xfrm>
            <a:off x="7369010" y="10301097"/>
            <a:ext cx="6288562"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Samantha </a:t>
            </a:r>
            <a:r>
              <a:rPr lang="en-US" sz="1000" b="0" dirty="0">
                <a:solidFill>
                  <a:schemeClr val="tx1"/>
                </a:solidFill>
              </a:rPr>
              <a:t>Limon,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Carlos Paradis</a:t>
            </a:r>
            <a:r>
              <a:rPr lang="en-US" sz="1000" b="0" dirty="0">
                <a:solidFill>
                  <a:schemeClr val="tx1"/>
                </a:solidFill>
              </a:rPr>
              <a: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a:t>
            </a:r>
            <a:r>
              <a:rPr kumimoji="0" lang="en-US" sz="1000" b="0" i="0" u="none" strike="noStrike" cap="none" spc="0" normalizeH="0" baseline="0" dirty="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11" name="Layout Suggestions">
            <a:extLst>
              <a:ext uri="{FF2B5EF4-FFF2-40B4-BE49-F238E27FC236}">
                <a16:creationId xmlns:a16="http://schemas.microsoft.com/office/drawing/2014/main" id="{BC7F9468-EF68-5130-995B-17FC5AB7E2F8}"/>
              </a:ext>
            </a:extLst>
          </p:cNvPr>
          <p:cNvSpPr txBox="1"/>
          <p:nvPr/>
        </p:nvSpPr>
        <p:spPr>
          <a:xfrm>
            <a:off x="258034" y="3385150"/>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Raw Dataset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2" name="Manipulate Variables">
            <a:extLst>
              <a:ext uri="{FF2B5EF4-FFF2-40B4-BE49-F238E27FC236}">
                <a16:creationId xmlns:a16="http://schemas.microsoft.com/office/drawing/2014/main" id="{66378D2B-D1EF-A570-0894-DC5411568823}"/>
              </a:ext>
            </a:extLst>
          </p:cNvPr>
          <p:cNvSpPr txBox="1"/>
          <p:nvPr/>
        </p:nvSpPr>
        <p:spPr>
          <a:xfrm>
            <a:off x="9585321" y="1530186"/>
            <a:ext cx="2585644"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Related Notebooks</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3" name="Create a visual hierarchy. Help users navigate the page with titles, subtitles, and subsubtitles">
            <a:extLst>
              <a:ext uri="{FF2B5EF4-FFF2-40B4-BE49-F238E27FC236}">
                <a16:creationId xmlns:a16="http://schemas.microsoft.com/office/drawing/2014/main" id="{68B8DF63-2C18-61BC-FC05-0EF567259C84}"/>
              </a:ext>
            </a:extLst>
          </p:cNvPr>
          <p:cNvSpPr txBox="1"/>
          <p:nvPr/>
        </p:nvSpPr>
        <p:spPr>
          <a:xfrm>
            <a:off x="9545296" y="1911334"/>
            <a:ext cx="4001355" cy="6088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See supplementary notebooks that go in-depth on the documentation on making the Gold Standard and Jira Emotion datasets compatible with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Kaiaulu</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a:t>
            </a:r>
          </a:p>
        </p:txBody>
      </p:sp>
      <p:sp>
        <p:nvSpPr>
          <p:cNvPr id="14" name="TextBox 13">
            <a:extLst>
              <a:ext uri="{FF2B5EF4-FFF2-40B4-BE49-F238E27FC236}">
                <a16:creationId xmlns:a16="http://schemas.microsoft.com/office/drawing/2014/main" id="{AD987554-8244-5CD6-47E6-067E7EC26513}"/>
              </a:ext>
            </a:extLst>
          </p:cNvPr>
          <p:cNvSpPr txBox="1"/>
          <p:nvPr/>
        </p:nvSpPr>
        <p:spPr>
          <a:xfrm>
            <a:off x="9585321" y="2775783"/>
            <a:ext cx="3656656" cy="951462"/>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1_load_sentiment_csv_to_mysql.ipynb</a:t>
            </a:r>
          </a:p>
          <a:p>
            <a:pPr marL="228600" indent="-228600">
              <a:buFont typeface="+mj-lt"/>
              <a:buAutoNum type="arabicPeriod"/>
            </a:pPr>
            <a:r>
              <a:rPr lang="en-US" dirty="0"/>
              <a:t>2_explore_relevant_projects.ipynb</a:t>
            </a:r>
          </a:p>
          <a:p>
            <a:pPr marL="228600" indent="-228600">
              <a:buFont typeface="+mj-lt"/>
              <a:buAutoNum type="arabicPeriod"/>
            </a:pPr>
            <a:r>
              <a:rPr lang="en-US" dirty="0"/>
              <a:t>3_scale_config_files.ipynb</a:t>
            </a:r>
          </a:p>
          <a:p>
            <a:pPr marL="228600" indent="-228600">
              <a:buFont typeface="+mj-lt"/>
              <a:buAutoNum type="arabicPeriod"/>
            </a:pPr>
            <a:r>
              <a:rPr lang="en-US" dirty="0"/>
              <a:t>4_add_sentiment_to_kaiaulu.ipynb</a:t>
            </a:r>
          </a:p>
        </p:txBody>
      </p:sp>
      <p:sp>
        <p:nvSpPr>
          <p:cNvPr id="15" name="Manipulate Variables">
            <a:extLst>
              <a:ext uri="{FF2B5EF4-FFF2-40B4-BE49-F238E27FC236}">
                <a16:creationId xmlns:a16="http://schemas.microsoft.com/office/drawing/2014/main" id="{1DB532D0-18E3-27BC-D8BB-C57A0CF915BC}"/>
              </a:ext>
            </a:extLst>
          </p:cNvPr>
          <p:cNvSpPr txBox="1"/>
          <p:nvPr/>
        </p:nvSpPr>
        <p:spPr>
          <a:xfrm>
            <a:off x="9542306" y="4660893"/>
            <a:ext cx="210634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Data Expansion</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6" name="Create a visual hierarchy. Help users navigate the page with titles, subtitles, and subsubtitles">
            <a:extLst>
              <a:ext uri="{FF2B5EF4-FFF2-40B4-BE49-F238E27FC236}">
                <a16:creationId xmlns:a16="http://schemas.microsoft.com/office/drawing/2014/main" id="{250AD67C-C672-ABCD-E8BF-86FF7B6E9329}"/>
              </a:ext>
            </a:extLst>
          </p:cNvPr>
          <p:cNvSpPr txBox="1"/>
          <p:nvPr/>
        </p:nvSpPr>
        <p:spPr>
          <a:xfrm>
            <a:off x="9517994" y="5036356"/>
            <a:ext cx="4001355" cy="20491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r>
              <a:rPr lang="en-US" sz="1100" b="0" dirty="0"/>
              <a:t>Through this pipeline, we recover sufficient metadata to re-obtain the data using </a:t>
            </a:r>
            <a:r>
              <a:rPr lang="en-US" sz="1100" b="0" dirty="0" err="1"/>
              <a:t>Kaiaulu</a:t>
            </a:r>
            <a:r>
              <a:rPr lang="en-US" sz="1100" b="0" dirty="0"/>
              <a:t>. This metadata enables two types of dataset expansion using </a:t>
            </a:r>
            <a:r>
              <a:rPr lang="en-US" sz="1100" b="0" dirty="0" err="1"/>
              <a:t>Kaiaulu</a:t>
            </a:r>
            <a:r>
              <a:rPr lang="en-US" sz="1100" b="0" dirty="0"/>
              <a:t>:</a:t>
            </a:r>
          </a:p>
          <a:p>
            <a:pPr marL="228600" indent="-228600">
              <a:buAutoNum type="arabicPeriod"/>
            </a:pPr>
            <a:r>
              <a:rPr lang="en-US" sz="1100" dirty="0"/>
              <a:t>Temporal expansion</a:t>
            </a:r>
            <a:r>
              <a:rPr lang="en-US" sz="1100" b="0" dirty="0"/>
              <a:t>: Re-download the same projects' comments from 2014 through today.</a:t>
            </a:r>
          </a:p>
          <a:p>
            <a:pPr marL="228600" indent="-228600">
              <a:buAutoNum type="arabicPeriod"/>
            </a:pPr>
            <a:r>
              <a:rPr lang="en-US" sz="1100" dirty="0"/>
              <a:t>Horizontal expansion</a:t>
            </a:r>
            <a:r>
              <a:rPr lang="en-US" sz="1100" b="0" dirty="0"/>
              <a:t>: Download additional data sources for those same projects (e.g., source code, version control history) that can be linked back to sentiment labels.</a:t>
            </a:r>
          </a:p>
          <a:p>
            <a:r>
              <a:rPr lang="en-US" sz="1100" b="0" dirty="0"/>
              <a:t>The labeled comments can be used to train the sentiment classifier and for engagement analysis (refer to </a:t>
            </a:r>
            <a:r>
              <a:rPr lang="en-US" sz="1100" b="0" dirty="0" err="1"/>
              <a:t>sailuh</a:t>
            </a:r>
            <a:r>
              <a:rPr lang="en-US" sz="1100" b="0" dirty="0"/>
              <a:t>/sentiment-classifier).</a:t>
            </a:r>
          </a:p>
        </p:txBody>
      </p:sp>
      <p:sp>
        <p:nvSpPr>
          <p:cNvPr id="17" name="Layout Suggestions">
            <a:extLst>
              <a:ext uri="{FF2B5EF4-FFF2-40B4-BE49-F238E27FC236}">
                <a16:creationId xmlns:a16="http://schemas.microsoft.com/office/drawing/2014/main" id="{BF023A5C-A117-46D0-8C88-37151C798A41}"/>
              </a:ext>
            </a:extLst>
          </p:cNvPr>
          <p:cNvSpPr txBox="1"/>
          <p:nvPr/>
        </p:nvSpPr>
        <p:spPr>
          <a:xfrm>
            <a:off x="221504" y="7101794"/>
            <a:ext cx="433390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B385DACA-C5BC-82B2-EFF1-CB45B00B4856}"/>
              </a:ext>
            </a:extLst>
          </p:cNvPr>
          <p:cNvSpPr txBox="1"/>
          <p:nvPr/>
        </p:nvSpPr>
        <p:spPr>
          <a:xfrm>
            <a:off x="244833" y="3653776"/>
            <a:ext cx="43468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following must be set up/downloaded:</a:t>
            </a:r>
          </a:p>
        </p:txBody>
      </p:sp>
      <p:sp>
        <p:nvSpPr>
          <p:cNvPr id="19" name="TextBox 18">
            <a:extLst>
              <a:ext uri="{FF2B5EF4-FFF2-40B4-BE49-F238E27FC236}">
                <a16:creationId xmlns:a16="http://schemas.microsoft.com/office/drawing/2014/main" id="{1BC0AD00-C98E-6710-67C0-4D61714D793C}"/>
              </a:ext>
            </a:extLst>
          </p:cNvPr>
          <p:cNvSpPr txBox="1"/>
          <p:nvPr/>
        </p:nvSpPr>
        <p:spPr>
          <a:xfrm>
            <a:off x="4810823" y="3304109"/>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GitHub 2020 CSV</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0" name="Straight Arrow Connector 19">
            <a:extLst>
              <a:ext uri="{FF2B5EF4-FFF2-40B4-BE49-F238E27FC236}">
                <a16:creationId xmlns:a16="http://schemas.microsoft.com/office/drawing/2014/main" id="{6F67CA97-8816-B8FB-36DE-52C638E39EE0}"/>
              </a:ext>
            </a:extLst>
          </p:cNvPr>
          <p:cNvCxnSpPr>
            <a:cxnSpLocks/>
          </p:cNvCxnSpPr>
          <p:nvPr/>
        </p:nvCxnSpPr>
        <p:spPr>
          <a:xfrm>
            <a:off x="6040578" y="2739306"/>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1" name="Table">
            <a:extLst>
              <a:ext uri="{FF2B5EF4-FFF2-40B4-BE49-F238E27FC236}">
                <a16:creationId xmlns:a16="http://schemas.microsoft.com/office/drawing/2014/main" id="{5873CBF3-3D48-93D0-F86A-32397EFD4AC6}"/>
              </a:ext>
            </a:extLst>
          </p:cNvPr>
          <p:cNvGraphicFramePr/>
          <p:nvPr>
            <p:extLst>
              <p:ext uri="{D42A27DB-BD31-4B8C-83A1-F6EECF244321}">
                <p14:modId xmlns:p14="http://schemas.microsoft.com/office/powerpoint/2010/main" val="1281239552"/>
              </p:ext>
            </p:extLst>
          </p:nvPr>
        </p:nvGraphicFramePr>
        <p:xfrm>
          <a:off x="5127433" y="2681254"/>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2" name="TextBox 21">
            <a:extLst>
              <a:ext uri="{FF2B5EF4-FFF2-40B4-BE49-F238E27FC236}">
                <a16:creationId xmlns:a16="http://schemas.microsoft.com/office/drawing/2014/main" id="{C0A38A5E-2482-F7F8-32CA-2383CBDF904F}"/>
              </a:ext>
            </a:extLst>
          </p:cNvPr>
          <p:cNvSpPr txBox="1"/>
          <p:nvPr/>
        </p:nvSpPr>
        <p:spPr>
          <a:xfrm>
            <a:off x="6073140" y="2512222"/>
            <a:ext cx="127533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3" name="TextBox 22">
            <a:extLst>
              <a:ext uri="{FF2B5EF4-FFF2-40B4-BE49-F238E27FC236}">
                <a16:creationId xmlns:a16="http://schemas.microsoft.com/office/drawing/2014/main" id="{50241DF7-FDD4-1483-2A10-BE90DBBEB389}"/>
              </a:ext>
            </a:extLst>
          </p:cNvPr>
          <p:cNvSpPr txBox="1"/>
          <p:nvPr/>
        </p:nvSpPr>
        <p:spPr>
          <a:xfrm>
            <a:off x="6078145" y="2758990"/>
            <a:ext cx="144108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Q-Join-Commit-Comments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4" name="TextBox 23">
            <a:extLst>
              <a:ext uri="{FF2B5EF4-FFF2-40B4-BE49-F238E27FC236}">
                <a16:creationId xmlns:a16="http://schemas.microsoft.com/office/drawing/2014/main" id="{28CDA85C-826B-926E-00FA-5141F92DD38D}"/>
              </a:ext>
            </a:extLst>
          </p:cNvPr>
          <p:cNvSpPr txBox="1"/>
          <p:nvPr/>
        </p:nvSpPr>
        <p:spPr>
          <a:xfrm>
            <a:off x="6004567" y="3030690"/>
            <a:ext cx="1514660" cy="2333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800" b="0" dirty="0"/>
              <a:t>Q-Join-Pull-Request-Comments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5" name="Straight Arrow Connector 24">
            <a:extLst>
              <a:ext uri="{FF2B5EF4-FFF2-40B4-BE49-F238E27FC236}">
                <a16:creationId xmlns:a16="http://schemas.microsoft.com/office/drawing/2014/main" id="{38002266-1DC0-54EB-A163-C3FFFB94CCA5}"/>
              </a:ext>
            </a:extLst>
          </p:cNvPr>
          <p:cNvCxnSpPr>
            <a:cxnSpLocks/>
          </p:cNvCxnSpPr>
          <p:nvPr/>
        </p:nvCxnSpPr>
        <p:spPr>
          <a:xfrm>
            <a:off x="6040578" y="2985359"/>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98688596-01C1-8597-C482-B4675EF16E15}"/>
              </a:ext>
            </a:extLst>
          </p:cNvPr>
          <p:cNvCxnSpPr>
            <a:cxnSpLocks/>
          </p:cNvCxnSpPr>
          <p:nvPr/>
        </p:nvCxnSpPr>
        <p:spPr>
          <a:xfrm>
            <a:off x="6040578" y="3231412"/>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E93CA028-44DF-6A5F-A05B-3E5CA5C376D1}"/>
              </a:ext>
            </a:extLst>
          </p:cNvPr>
          <p:cNvSpPr txBox="1"/>
          <p:nvPr/>
        </p:nvSpPr>
        <p:spPr>
          <a:xfrm>
            <a:off x="7506054" y="3309908"/>
            <a:ext cx="1418243"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err="1"/>
              <a:t>GHTorrent</a:t>
            </a:r>
            <a:r>
              <a:rPr lang="en-US" dirty="0"/>
              <a:t> 2014 DB</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8" name="TextBox 27">
            <a:extLst>
              <a:ext uri="{FF2B5EF4-FFF2-40B4-BE49-F238E27FC236}">
                <a16:creationId xmlns:a16="http://schemas.microsoft.com/office/drawing/2014/main" id="{4BB4BB0F-FE02-D80C-F663-8FA8F1CA5F1B}"/>
              </a:ext>
            </a:extLst>
          </p:cNvPr>
          <p:cNvSpPr txBox="1"/>
          <p:nvPr/>
        </p:nvSpPr>
        <p:spPr>
          <a:xfrm>
            <a:off x="4718557" y="4961870"/>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29" name="Group 28">
            <a:extLst>
              <a:ext uri="{FF2B5EF4-FFF2-40B4-BE49-F238E27FC236}">
                <a16:creationId xmlns:a16="http://schemas.microsoft.com/office/drawing/2014/main" id="{AFDA5193-9635-ECC7-5AA0-DBDE9F840921}"/>
              </a:ext>
            </a:extLst>
          </p:cNvPr>
          <p:cNvGrpSpPr/>
          <p:nvPr/>
        </p:nvGrpSpPr>
        <p:grpSpPr>
          <a:xfrm>
            <a:off x="5522624" y="4520518"/>
            <a:ext cx="953200" cy="458010"/>
            <a:chOff x="5528605" y="4530831"/>
            <a:chExt cx="953200" cy="458010"/>
          </a:xfrm>
        </p:grpSpPr>
        <p:graphicFrame>
          <p:nvGraphicFramePr>
            <p:cNvPr id="30" name="Table">
              <a:extLst>
                <a:ext uri="{FF2B5EF4-FFF2-40B4-BE49-F238E27FC236}">
                  <a16:creationId xmlns:a16="http://schemas.microsoft.com/office/drawing/2014/main" id="{B921F3B5-7ACF-DE70-2CBF-5CCA7B1A8686}"/>
                </a:ext>
              </a:extLst>
            </p:cNvPr>
            <p:cNvGraphicFramePr/>
            <p:nvPr>
              <p:extLst>
                <p:ext uri="{D42A27DB-BD31-4B8C-83A1-F6EECF244321}">
                  <p14:modId xmlns:p14="http://schemas.microsoft.com/office/powerpoint/2010/main" val="3768568949"/>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31" name="Table">
              <a:extLst>
                <a:ext uri="{FF2B5EF4-FFF2-40B4-BE49-F238E27FC236}">
                  <a16:creationId xmlns:a16="http://schemas.microsoft.com/office/drawing/2014/main" id="{2A3D557D-1DAA-5034-6811-4AF7F9D317E7}"/>
                </a:ext>
              </a:extLst>
            </p:cNvPr>
            <p:cNvGraphicFramePr/>
            <p:nvPr>
              <p:extLst>
                <p:ext uri="{D42A27DB-BD31-4B8C-83A1-F6EECF244321}">
                  <p14:modId xmlns:p14="http://schemas.microsoft.com/office/powerpoint/2010/main" val="3225919214"/>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sp>
        <p:nvSpPr>
          <p:cNvPr id="32" name="TextBox 31">
            <a:extLst>
              <a:ext uri="{FF2B5EF4-FFF2-40B4-BE49-F238E27FC236}">
                <a16:creationId xmlns:a16="http://schemas.microsoft.com/office/drawing/2014/main" id="{924C2815-EB09-00CB-167E-F36406755638}"/>
              </a:ext>
            </a:extLst>
          </p:cNvPr>
          <p:cNvSpPr txBox="1"/>
          <p:nvPr/>
        </p:nvSpPr>
        <p:spPr>
          <a:xfrm>
            <a:off x="5296796" y="4960252"/>
            <a:ext cx="139124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GitHub Gold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3" name="Line">
            <a:extLst>
              <a:ext uri="{FF2B5EF4-FFF2-40B4-BE49-F238E27FC236}">
                <a16:creationId xmlns:a16="http://schemas.microsoft.com/office/drawing/2014/main" id="{AE9C3138-EC36-9198-4482-A121F42392FA}"/>
              </a:ext>
            </a:extLst>
          </p:cNvPr>
          <p:cNvSpPr/>
          <p:nvPr/>
        </p:nvSpPr>
        <p:spPr>
          <a:xfrm flipV="1">
            <a:off x="4748804" y="5961806"/>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4" name="TextBox 33">
            <a:extLst>
              <a:ext uri="{FF2B5EF4-FFF2-40B4-BE49-F238E27FC236}">
                <a16:creationId xmlns:a16="http://schemas.microsoft.com/office/drawing/2014/main" id="{26F2BEEB-DC04-8959-4351-3B588B6B280B}"/>
              </a:ext>
            </a:extLst>
          </p:cNvPr>
          <p:cNvSpPr txBox="1"/>
          <p:nvPr/>
        </p:nvSpPr>
        <p:spPr>
          <a:xfrm>
            <a:off x="4672920" y="7339638"/>
            <a:ext cx="1650803"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Jira Emotion 2016 CSV</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5" name="Straight Arrow Connector 34">
            <a:extLst>
              <a:ext uri="{FF2B5EF4-FFF2-40B4-BE49-F238E27FC236}">
                <a16:creationId xmlns:a16="http://schemas.microsoft.com/office/drawing/2014/main" id="{AB1EDBDF-594C-E7C3-9EA2-638BC38C157F}"/>
              </a:ext>
            </a:extLst>
          </p:cNvPr>
          <p:cNvCxnSpPr>
            <a:cxnSpLocks/>
          </p:cNvCxnSpPr>
          <p:nvPr/>
        </p:nvCxnSpPr>
        <p:spPr>
          <a:xfrm>
            <a:off x="6048180" y="6933077"/>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36" name="Table">
            <a:extLst>
              <a:ext uri="{FF2B5EF4-FFF2-40B4-BE49-F238E27FC236}">
                <a16:creationId xmlns:a16="http://schemas.microsoft.com/office/drawing/2014/main" id="{291D1A27-DF31-6CB5-9310-1B55CBD43E48}"/>
              </a:ext>
            </a:extLst>
          </p:cNvPr>
          <p:cNvGraphicFramePr/>
          <p:nvPr>
            <p:extLst>
              <p:ext uri="{D42A27DB-BD31-4B8C-83A1-F6EECF244321}">
                <p14:modId xmlns:p14="http://schemas.microsoft.com/office/powerpoint/2010/main" val="1834526702"/>
              </p:ext>
            </p:extLst>
          </p:nvPr>
        </p:nvGraphicFramePr>
        <p:xfrm>
          <a:off x="5136867" y="6753727"/>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cxnSp>
        <p:nvCxnSpPr>
          <p:cNvPr id="37" name="Straight Arrow Connector 36">
            <a:extLst>
              <a:ext uri="{FF2B5EF4-FFF2-40B4-BE49-F238E27FC236}">
                <a16:creationId xmlns:a16="http://schemas.microsoft.com/office/drawing/2014/main" id="{3764958C-8054-8F04-A4FD-D8FB6EC85FBB}"/>
              </a:ext>
            </a:extLst>
          </p:cNvPr>
          <p:cNvCxnSpPr>
            <a:cxnSpLocks/>
          </p:cNvCxnSpPr>
          <p:nvPr/>
        </p:nvCxnSpPr>
        <p:spPr>
          <a:xfrm>
            <a:off x="6048180" y="7179130"/>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01B49E41-01E4-ECC6-C8FE-3F6EF4AB10C6}"/>
              </a:ext>
            </a:extLst>
          </p:cNvPr>
          <p:cNvSpPr txBox="1"/>
          <p:nvPr/>
        </p:nvSpPr>
        <p:spPr>
          <a:xfrm>
            <a:off x="7290720" y="7331899"/>
            <a:ext cx="176626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Jira PostgreSQL 2016 DB</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9" name="TextBox 38">
            <a:extLst>
              <a:ext uri="{FF2B5EF4-FFF2-40B4-BE49-F238E27FC236}">
                <a16:creationId xmlns:a16="http://schemas.microsoft.com/office/drawing/2014/main" id="{6A369D92-78B1-3DC3-1DC5-CAC355B3B111}"/>
              </a:ext>
            </a:extLst>
          </p:cNvPr>
          <p:cNvSpPr txBox="1"/>
          <p:nvPr/>
        </p:nvSpPr>
        <p:spPr>
          <a:xfrm>
            <a:off x="6041784" y="6689831"/>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0" name="TextBox 39">
            <a:extLst>
              <a:ext uri="{FF2B5EF4-FFF2-40B4-BE49-F238E27FC236}">
                <a16:creationId xmlns:a16="http://schemas.microsoft.com/office/drawing/2014/main" id="{F0693DD3-FDBA-BF16-CDAD-F7325ECB9D16}"/>
              </a:ext>
            </a:extLst>
          </p:cNvPr>
          <p:cNvSpPr txBox="1"/>
          <p:nvPr/>
        </p:nvSpPr>
        <p:spPr>
          <a:xfrm>
            <a:off x="6048180" y="6941250"/>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77AF9905-7C8B-3389-0846-F3CD6D9E9753}"/>
              </a:ext>
            </a:extLst>
          </p:cNvPr>
          <p:cNvSpPr txBox="1"/>
          <p:nvPr/>
        </p:nvSpPr>
        <p:spPr>
          <a:xfrm>
            <a:off x="4791847" y="1907656"/>
            <a:ext cx="272738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500" dirty="0"/>
              <a:t>GitHub Sentiment Dataset</a:t>
            </a:r>
            <a:endParaRPr kumimoji="0" lang="en-US" sz="1500" i="0" strike="noStrike" cap="none" spc="0" normalizeH="0" baseline="0" dirty="0">
              <a:ln>
                <a:noFill/>
              </a:ln>
              <a:effectLst/>
              <a:uFillTx/>
              <a:latin typeface="Source Sans Pro"/>
              <a:ea typeface="Source Sans Pro"/>
              <a:cs typeface="Source Sans Pro"/>
              <a:sym typeface="Source Sans Pro"/>
            </a:endParaRPr>
          </a:p>
        </p:txBody>
      </p:sp>
      <p:sp>
        <p:nvSpPr>
          <p:cNvPr id="42" name="TextBox 41">
            <a:extLst>
              <a:ext uri="{FF2B5EF4-FFF2-40B4-BE49-F238E27FC236}">
                <a16:creationId xmlns:a16="http://schemas.microsoft.com/office/drawing/2014/main" id="{A3DFF8E6-C7BC-0B35-72D7-75D5D43856DC}"/>
              </a:ext>
            </a:extLst>
          </p:cNvPr>
          <p:cNvSpPr txBox="1"/>
          <p:nvPr/>
        </p:nvSpPr>
        <p:spPr>
          <a:xfrm>
            <a:off x="4632534" y="6166156"/>
            <a:ext cx="217099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500" dirty="0"/>
              <a:t>Jira Emotion Dataset</a:t>
            </a:r>
            <a:endParaRPr kumimoji="0" lang="en-US" sz="1500" b="1" i="0" strike="noStrike" cap="none" spc="0" normalizeH="0" baseline="0" dirty="0">
              <a:ln>
                <a:noFill/>
              </a:ln>
              <a:effectLst/>
              <a:uFillTx/>
              <a:latin typeface="Source Sans Pro"/>
              <a:ea typeface="Source Sans Pro"/>
              <a:cs typeface="Source Sans Pro"/>
              <a:sym typeface="Source Sans Pro"/>
            </a:endParaRPr>
          </a:p>
        </p:txBody>
      </p:sp>
      <p:grpSp>
        <p:nvGrpSpPr>
          <p:cNvPr id="43" name="Group 42">
            <a:extLst>
              <a:ext uri="{FF2B5EF4-FFF2-40B4-BE49-F238E27FC236}">
                <a16:creationId xmlns:a16="http://schemas.microsoft.com/office/drawing/2014/main" id="{34D1EF42-3113-EB72-0F7C-5558AA1B6058}"/>
              </a:ext>
            </a:extLst>
          </p:cNvPr>
          <p:cNvGrpSpPr/>
          <p:nvPr/>
        </p:nvGrpSpPr>
        <p:grpSpPr>
          <a:xfrm>
            <a:off x="8486416" y="3978207"/>
            <a:ext cx="569700" cy="1688313"/>
            <a:chOff x="8715063" y="3858862"/>
            <a:chExt cx="569700" cy="1688313"/>
          </a:xfrm>
        </p:grpSpPr>
        <p:sp>
          <p:nvSpPr>
            <p:cNvPr id="44" name="Google Shape;375;p18">
              <a:extLst>
                <a:ext uri="{FF2B5EF4-FFF2-40B4-BE49-F238E27FC236}">
                  <a16:creationId xmlns:a16="http://schemas.microsoft.com/office/drawing/2014/main" id="{78837971-7F59-FDE7-6A35-549D7072911D}"/>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45" name="Google Shape;388;p18">
              <a:extLst>
                <a:ext uri="{FF2B5EF4-FFF2-40B4-BE49-F238E27FC236}">
                  <a16:creationId xmlns:a16="http://schemas.microsoft.com/office/drawing/2014/main" id="{8BC77084-D040-6A93-BBDD-E362C1302BE6}"/>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sp>
          <p:nvSpPr>
            <p:cNvPr id="46" name="Google Shape;324;p18">
              <a:extLst>
                <a:ext uri="{FF2B5EF4-FFF2-40B4-BE49-F238E27FC236}">
                  <a16:creationId xmlns:a16="http://schemas.microsoft.com/office/drawing/2014/main" id="{23B55BA8-F8B6-81DC-0E13-C0697F17C67D}"/>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47" name="Google Shape;359;p18">
              <a:extLst>
                <a:ext uri="{FF2B5EF4-FFF2-40B4-BE49-F238E27FC236}">
                  <a16:creationId xmlns:a16="http://schemas.microsoft.com/office/drawing/2014/main" id="{6FB27571-B617-20B8-0440-035DF541724B}"/>
                </a:ext>
              </a:extLst>
            </p:cNvPr>
            <p:cNvGrpSpPr/>
            <p:nvPr/>
          </p:nvGrpSpPr>
          <p:grpSpPr>
            <a:xfrm>
              <a:off x="8838265" y="4043887"/>
              <a:ext cx="307200" cy="189300"/>
              <a:chOff x="3007175" y="1757600"/>
              <a:chExt cx="307200" cy="189300"/>
            </a:xfrm>
          </p:grpSpPr>
          <p:sp>
            <p:nvSpPr>
              <p:cNvPr id="262" name="Google Shape;360;p18">
                <a:extLst>
                  <a:ext uri="{FF2B5EF4-FFF2-40B4-BE49-F238E27FC236}">
                    <a16:creationId xmlns:a16="http://schemas.microsoft.com/office/drawing/2014/main" id="{274E71AB-CFED-C8CC-5E43-5CA956B88EEB}"/>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361;p18">
                <a:extLst>
                  <a:ext uri="{FF2B5EF4-FFF2-40B4-BE49-F238E27FC236}">
                    <a16:creationId xmlns:a16="http://schemas.microsoft.com/office/drawing/2014/main" id="{5B0F0677-FD45-CE17-9D8E-C171BA1A6226}"/>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4" name="Google Shape;362;p18">
                <a:extLst>
                  <a:ext uri="{FF2B5EF4-FFF2-40B4-BE49-F238E27FC236}">
                    <a16:creationId xmlns:a16="http://schemas.microsoft.com/office/drawing/2014/main" id="{556109D6-32C7-E3DA-4EFD-1833CD196AE8}"/>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5" name="Google Shape;363;p18">
                <a:extLst>
                  <a:ext uri="{FF2B5EF4-FFF2-40B4-BE49-F238E27FC236}">
                    <a16:creationId xmlns:a16="http://schemas.microsoft.com/office/drawing/2014/main" id="{B93501DE-379D-3934-12AE-85DC870F2C0F}"/>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66" name="Google Shape;364;p18">
                <a:extLst>
                  <a:ext uri="{FF2B5EF4-FFF2-40B4-BE49-F238E27FC236}">
                    <a16:creationId xmlns:a16="http://schemas.microsoft.com/office/drawing/2014/main" id="{36F8D08E-BB2F-9C7A-1B22-8BD1E1BF9502}"/>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67" name="Google Shape;365;p18">
                <a:extLst>
                  <a:ext uri="{FF2B5EF4-FFF2-40B4-BE49-F238E27FC236}">
                    <a16:creationId xmlns:a16="http://schemas.microsoft.com/office/drawing/2014/main" id="{053DC4DF-857B-1D17-340D-912EB015E936}"/>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68" name="Google Shape;366;p18">
                <a:extLst>
                  <a:ext uri="{FF2B5EF4-FFF2-40B4-BE49-F238E27FC236}">
                    <a16:creationId xmlns:a16="http://schemas.microsoft.com/office/drawing/2014/main" id="{50FB8C79-DC3D-C10F-CA60-8F49E58EB9D4}"/>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48" name="Google Shape;367;p18">
              <a:extLst>
                <a:ext uri="{FF2B5EF4-FFF2-40B4-BE49-F238E27FC236}">
                  <a16:creationId xmlns:a16="http://schemas.microsoft.com/office/drawing/2014/main" id="{EF3C81FB-DFD5-D3F9-F7C1-4423E12263AD}"/>
                </a:ext>
              </a:extLst>
            </p:cNvPr>
            <p:cNvGrpSpPr/>
            <p:nvPr/>
          </p:nvGrpSpPr>
          <p:grpSpPr>
            <a:xfrm>
              <a:off x="8838252" y="4387350"/>
              <a:ext cx="307200" cy="189300"/>
              <a:chOff x="3007175" y="1757600"/>
              <a:chExt cx="307200" cy="189300"/>
            </a:xfrm>
          </p:grpSpPr>
          <p:sp>
            <p:nvSpPr>
              <p:cNvPr id="63" name="Google Shape;368;p18">
                <a:extLst>
                  <a:ext uri="{FF2B5EF4-FFF2-40B4-BE49-F238E27FC236}">
                    <a16:creationId xmlns:a16="http://schemas.microsoft.com/office/drawing/2014/main" id="{FA83E8B5-8981-35AB-9854-5AABC55B793E}"/>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369;p18">
                <a:extLst>
                  <a:ext uri="{FF2B5EF4-FFF2-40B4-BE49-F238E27FC236}">
                    <a16:creationId xmlns:a16="http://schemas.microsoft.com/office/drawing/2014/main" id="{72B8F9B7-9156-C692-243C-1048BE88EBC1}"/>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7" name="Google Shape;370;p18">
                <a:extLst>
                  <a:ext uri="{FF2B5EF4-FFF2-40B4-BE49-F238E27FC236}">
                    <a16:creationId xmlns:a16="http://schemas.microsoft.com/office/drawing/2014/main" id="{9E67529F-1336-649A-22F9-19119A62985A}"/>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8" name="Google Shape;371;p18">
                <a:extLst>
                  <a:ext uri="{FF2B5EF4-FFF2-40B4-BE49-F238E27FC236}">
                    <a16:creationId xmlns:a16="http://schemas.microsoft.com/office/drawing/2014/main" id="{70E20E3B-A8DF-670E-A80D-65CAF86AAFB2}"/>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59" name="Google Shape;372;p18">
                <a:extLst>
                  <a:ext uri="{FF2B5EF4-FFF2-40B4-BE49-F238E27FC236}">
                    <a16:creationId xmlns:a16="http://schemas.microsoft.com/office/drawing/2014/main" id="{FE0E20D0-0D54-8924-930F-46E7416C05EA}"/>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60" name="Google Shape;373;p18">
                <a:extLst>
                  <a:ext uri="{FF2B5EF4-FFF2-40B4-BE49-F238E27FC236}">
                    <a16:creationId xmlns:a16="http://schemas.microsoft.com/office/drawing/2014/main" id="{D32374ED-E43F-5F1E-1DFD-6F8D846762AA}"/>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61" name="Google Shape;374;p18">
                <a:extLst>
                  <a:ext uri="{FF2B5EF4-FFF2-40B4-BE49-F238E27FC236}">
                    <a16:creationId xmlns:a16="http://schemas.microsoft.com/office/drawing/2014/main" id="{9AA9BF8E-76B7-7013-7EAA-2FDB54790B7B}"/>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49" name="Google Shape;376;p18">
              <a:extLst>
                <a:ext uri="{FF2B5EF4-FFF2-40B4-BE49-F238E27FC236}">
                  <a16:creationId xmlns:a16="http://schemas.microsoft.com/office/drawing/2014/main" id="{50122E05-5C62-AA48-33A9-B3332942DE3D}"/>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50" name="Google Shape;377;p18">
              <a:extLst>
                <a:ext uri="{FF2B5EF4-FFF2-40B4-BE49-F238E27FC236}">
                  <a16:creationId xmlns:a16="http://schemas.microsoft.com/office/drawing/2014/main" id="{CFB618C8-5A80-B908-E453-44D93BF460A7}"/>
                </a:ext>
              </a:extLst>
            </p:cNvPr>
            <p:cNvGrpSpPr/>
            <p:nvPr/>
          </p:nvGrpSpPr>
          <p:grpSpPr>
            <a:xfrm>
              <a:off x="8846302" y="4841125"/>
              <a:ext cx="307200" cy="297900"/>
              <a:chOff x="3021975" y="2389850"/>
              <a:chExt cx="307200" cy="297900"/>
            </a:xfrm>
          </p:grpSpPr>
          <p:sp>
            <p:nvSpPr>
              <p:cNvPr id="53" name="Google Shape;378;p18">
                <a:extLst>
                  <a:ext uri="{FF2B5EF4-FFF2-40B4-BE49-F238E27FC236}">
                    <a16:creationId xmlns:a16="http://schemas.microsoft.com/office/drawing/2014/main" id="{1A738FF5-98B4-1BA2-4CE2-91DECA229CFA}"/>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54" name="Google Shape;379;p18">
                <a:extLst>
                  <a:ext uri="{FF2B5EF4-FFF2-40B4-BE49-F238E27FC236}">
                    <a16:creationId xmlns:a16="http://schemas.microsoft.com/office/drawing/2014/main" id="{F6605AC8-6995-48FA-DD89-305EF66FB4BC}"/>
                  </a:ext>
                </a:extLst>
              </p:cNvPr>
              <p:cNvGrpSpPr/>
              <p:nvPr/>
            </p:nvGrpSpPr>
            <p:grpSpPr>
              <a:xfrm>
                <a:off x="3021975" y="2389850"/>
                <a:ext cx="307200" cy="295800"/>
                <a:chOff x="3021975" y="2389850"/>
                <a:chExt cx="307200" cy="295800"/>
              </a:xfrm>
            </p:grpSpPr>
            <p:sp>
              <p:nvSpPr>
                <p:cNvPr id="55" name="Google Shape;380;p18">
                  <a:extLst>
                    <a:ext uri="{FF2B5EF4-FFF2-40B4-BE49-F238E27FC236}">
                      <a16:creationId xmlns:a16="http://schemas.microsoft.com/office/drawing/2014/main" id="{BA9D9DA2-A984-13A4-756E-6C2924CAD38B}"/>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 name="Google Shape;381;p18">
                  <a:extLst>
                    <a:ext uri="{FF2B5EF4-FFF2-40B4-BE49-F238E27FC236}">
                      <a16:creationId xmlns:a16="http://schemas.microsoft.com/office/drawing/2014/main" id="{19EFAB1B-82D9-841A-B600-7880ADEB5718}"/>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57" name="Google Shape;382;p18">
                  <a:extLst>
                    <a:ext uri="{FF2B5EF4-FFF2-40B4-BE49-F238E27FC236}">
                      <a16:creationId xmlns:a16="http://schemas.microsoft.com/office/drawing/2014/main" id="{1B4510F2-A3C0-E0F7-99D1-21A638433DCA}"/>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58" name="Google Shape;383;p18">
                  <a:extLst>
                    <a:ext uri="{FF2B5EF4-FFF2-40B4-BE49-F238E27FC236}">
                      <a16:creationId xmlns:a16="http://schemas.microsoft.com/office/drawing/2014/main" id="{574C9996-169E-0311-B533-72A688FA9FBB}"/>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59" name="Google Shape;384;p18">
                  <a:extLst>
                    <a:ext uri="{FF2B5EF4-FFF2-40B4-BE49-F238E27FC236}">
                      <a16:creationId xmlns:a16="http://schemas.microsoft.com/office/drawing/2014/main" id="{04D641CB-41CE-2BDF-C8A5-3EF7B160646C}"/>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60" name="Google Shape;385;p18">
                  <a:extLst>
                    <a:ext uri="{FF2B5EF4-FFF2-40B4-BE49-F238E27FC236}">
                      <a16:creationId xmlns:a16="http://schemas.microsoft.com/office/drawing/2014/main" id="{7AFE8B75-D0E1-FA57-F996-7D5F7BB8878F}"/>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61" name="Google Shape;386;p18">
                  <a:extLst>
                    <a:ext uri="{FF2B5EF4-FFF2-40B4-BE49-F238E27FC236}">
                      <a16:creationId xmlns:a16="http://schemas.microsoft.com/office/drawing/2014/main" id="{87D63CA3-5B63-5623-A692-E84FBE109F8D}"/>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62" name="Google Shape;387;p18">
                  <a:extLst>
                    <a:ext uri="{FF2B5EF4-FFF2-40B4-BE49-F238E27FC236}">
                      <a16:creationId xmlns:a16="http://schemas.microsoft.com/office/drawing/2014/main" id="{EF1630AE-C55C-0EF2-26BC-EB7DC2A0CA7B}"/>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cxnSp>
          <p:nvCxnSpPr>
            <p:cNvPr id="51" name="Google Shape;389;p18">
              <a:extLst>
                <a:ext uri="{FF2B5EF4-FFF2-40B4-BE49-F238E27FC236}">
                  <a16:creationId xmlns:a16="http://schemas.microsoft.com/office/drawing/2014/main" id="{8DF7397A-AEC5-08BD-1E2F-E7161713B270}"/>
                </a:ext>
              </a:extLst>
            </p:cNvPr>
            <p:cNvCxnSpPr>
              <a:cxnSpLocks/>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52" name="Google Shape;390;p18">
              <a:extLst>
                <a:ext uri="{FF2B5EF4-FFF2-40B4-BE49-F238E27FC236}">
                  <a16:creationId xmlns:a16="http://schemas.microsoft.com/office/drawing/2014/main" id="{0E60C8D7-F70E-35A5-6506-37B4AFCC43AB}"/>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cxnSp>
        <p:nvCxnSpPr>
          <p:cNvPr id="269" name="Straight Arrow Connector 1198">
            <a:extLst>
              <a:ext uri="{FF2B5EF4-FFF2-40B4-BE49-F238E27FC236}">
                <a16:creationId xmlns:a16="http://schemas.microsoft.com/office/drawing/2014/main" id="{9FCD14D4-28BD-2D37-CF3D-DC82333CD4B0}"/>
              </a:ext>
            </a:extLst>
          </p:cNvPr>
          <p:cNvCxnSpPr>
            <a:cxnSpLocks/>
          </p:cNvCxnSpPr>
          <p:nvPr/>
        </p:nvCxnSpPr>
        <p:spPr>
          <a:xfrm flipV="1">
            <a:off x="8036881" y="4262578"/>
            <a:ext cx="486066" cy="30466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70" name="TextBox 269">
            <a:extLst>
              <a:ext uri="{FF2B5EF4-FFF2-40B4-BE49-F238E27FC236}">
                <a16:creationId xmlns:a16="http://schemas.microsoft.com/office/drawing/2014/main" id="{64B28A55-5A6F-506E-A17B-A6141637D127}"/>
              </a:ext>
            </a:extLst>
          </p:cNvPr>
          <p:cNvSpPr txBox="1"/>
          <p:nvPr/>
        </p:nvSpPr>
        <p:spPr>
          <a:xfrm>
            <a:off x="9558554" y="4159871"/>
            <a:ext cx="3656656" cy="320520"/>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1_emotion_csv_inter_rater_agreement.ipynb</a:t>
            </a:r>
          </a:p>
        </p:txBody>
      </p:sp>
      <p:sp>
        <p:nvSpPr>
          <p:cNvPr id="271" name="TextBox 270">
            <a:extLst>
              <a:ext uri="{FF2B5EF4-FFF2-40B4-BE49-F238E27FC236}">
                <a16:creationId xmlns:a16="http://schemas.microsoft.com/office/drawing/2014/main" id="{E32BDA3E-DB9E-555C-9961-75A8B8CE51C7}"/>
              </a:ext>
            </a:extLst>
          </p:cNvPr>
          <p:cNvSpPr txBox="1"/>
          <p:nvPr/>
        </p:nvSpPr>
        <p:spPr>
          <a:xfrm>
            <a:off x="9517994" y="2470516"/>
            <a:ext cx="3400799" cy="3359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1300" dirty="0" err="1"/>
              <a:t>sailuh</a:t>
            </a:r>
            <a:r>
              <a:rPr lang="en-US" sz="1300" dirty="0"/>
              <a:t>/</a:t>
            </a:r>
            <a:r>
              <a:rPr lang="en-US" sz="1300" dirty="0" err="1"/>
              <a:t>sentiment_github_dataset</a:t>
            </a:r>
            <a:endParaRPr kumimoji="0" lang="en-US" sz="1300" b="1" i="0" strike="noStrike" cap="none" spc="0" normalizeH="0" baseline="0" dirty="0">
              <a:ln>
                <a:noFill/>
              </a:ln>
              <a:effectLst/>
              <a:uFillTx/>
              <a:latin typeface="Source Sans Pro"/>
              <a:ea typeface="Source Sans Pro"/>
              <a:cs typeface="Source Sans Pro"/>
              <a:sym typeface="Source Sans Pro"/>
            </a:endParaRPr>
          </a:p>
        </p:txBody>
      </p:sp>
      <p:sp>
        <p:nvSpPr>
          <p:cNvPr id="272" name="TextBox 271">
            <a:extLst>
              <a:ext uri="{FF2B5EF4-FFF2-40B4-BE49-F238E27FC236}">
                <a16:creationId xmlns:a16="http://schemas.microsoft.com/office/drawing/2014/main" id="{44FA961E-91E2-11A2-4786-DBC9122A747A}"/>
              </a:ext>
            </a:extLst>
          </p:cNvPr>
          <p:cNvSpPr txBox="1"/>
          <p:nvPr/>
        </p:nvSpPr>
        <p:spPr>
          <a:xfrm>
            <a:off x="9517994" y="3859880"/>
            <a:ext cx="3400799" cy="3359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1300" dirty="0" err="1"/>
              <a:t>sailuh</a:t>
            </a:r>
            <a:r>
              <a:rPr lang="en-US" sz="1300" dirty="0"/>
              <a:t>/</a:t>
            </a:r>
            <a:r>
              <a:rPr lang="en-US" sz="1300" dirty="0" err="1"/>
              <a:t>emotion_jira_dataset</a:t>
            </a:r>
            <a:endParaRPr kumimoji="0" lang="en-US" sz="1300" b="1" i="0" strike="noStrike" cap="none" spc="0" normalizeH="0" baseline="0" dirty="0">
              <a:ln>
                <a:noFill/>
              </a:ln>
              <a:effectLst/>
              <a:uFillTx/>
              <a:latin typeface="Source Sans Pro"/>
              <a:ea typeface="Source Sans Pro"/>
              <a:cs typeface="Source Sans Pro"/>
              <a:sym typeface="Source Sans Pro"/>
            </a:endParaRPr>
          </a:p>
        </p:txBody>
      </p:sp>
      <p:pic>
        <p:nvPicPr>
          <p:cNvPr id="273" name="Graphic 272" descr="Paper outline">
            <a:extLst>
              <a:ext uri="{FF2B5EF4-FFF2-40B4-BE49-F238E27FC236}">
                <a16:creationId xmlns:a16="http://schemas.microsoft.com/office/drawing/2014/main" id="{CE5F00B0-3F20-38B4-E961-D2E2E7575A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31382" y="4473903"/>
            <a:ext cx="536605" cy="536605"/>
          </a:xfrm>
          <a:prstGeom prst="rect">
            <a:avLst/>
          </a:prstGeom>
        </p:spPr>
      </p:pic>
      <p:graphicFrame>
        <p:nvGraphicFramePr>
          <p:cNvPr id="274" name="Table">
            <a:extLst>
              <a:ext uri="{FF2B5EF4-FFF2-40B4-BE49-F238E27FC236}">
                <a16:creationId xmlns:a16="http://schemas.microsoft.com/office/drawing/2014/main" id="{DB6C0213-7287-2E70-4EA6-884BD7B39B7C}"/>
              </a:ext>
            </a:extLst>
          </p:cNvPr>
          <p:cNvGraphicFramePr/>
          <p:nvPr>
            <p:extLst>
              <p:ext uri="{D42A27DB-BD31-4B8C-83A1-F6EECF244321}">
                <p14:modId xmlns:p14="http://schemas.microsoft.com/office/powerpoint/2010/main" val="2692078553"/>
              </p:ext>
            </p:extLst>
          </p:nvPr>
        </p:nvGraphicFramePr>
        <p:xfrm>
          <a:off x="648007" y="40891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75" name="TextBox 274">
            <a:extLst>
              <a:ext uri="{FF2B5EF4-FFF2-40B4-BE49-F238E27FC236}">
                <a16:creationId xmlns:a16="http://schemas.microsoft.com/office/drawing/2014/main" id="{E3472735-0571-F891-DD28-93686BB2D48D}"/>
              </a:ext>
            </a:extLst>
          </p:cNvPr>
          <p:cNvSpPr txBox="1"/>
          <p:nvPr/>
        </p:nvSpPr>
        <p:spPr>
          <a:xfrm>
            <a:off x="444504" y="4711561"/>
            <a:ext cx="103487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GitHub 2020 CSV</a:t>
            </a:r>
          </a:p>
          <a:p>
            <a:pPr algn="ctr"/>
            <a:r>
              <a:rPr lang="en-US" sz="800" b="0" dirty="0"/>
              <a:t>Novielli et al. [1]</a:t>
            </a:r>
          </a:p>
        </p:txBody>
      </p:sp>
      <p:sp>
        <p:nvSpPr>
          <p:cNvPr id="276" name="TextBox 275">
            <a:extLst>
              <a:ext uri="{FF2B5EF4-FFF2-40B4-BE49-F238E27FC236}">
                <a16:creationId xmlns:a16="http://schemas.microsoft.com/office/drawing/2014/main" id="{6081CEA0-C031-8F36-DCEF-144856C658C9}"/>
              </a:ext>
            </a:extLst>
          </p:cNvPr>
          <p:cNvSpPr txBox="1"/>
          <p:nvPr/>
        </p:nvSpPr>
        <p:spPr>
          <a:xfrm>
            <a:off x="7247717" y="5045761"/>
            <a:ext cx="72095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err="1"/>
              <a:t>sailuh</a:t>
            </a:r>
            <a:r>
              <a:rPr lang="en-US" sz="800" b="0" dirty="0"/>
              <a:t>/</a:t>
            </a:r>
            <a:r>
              <a:rPr lang="en-US" sz="800" b="0" dirty="0" err="1"/>
              <a:t>kaiaulu</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77" name="TextBox 276">
            <a:extLst>
              <a:ext uri="{FF2B5EF4-FFF2-40B4-BE49-F238E27FC236}">
                <a16:creationId xmlns:a16="http://schemas.microsoft.com/office/drawing/2014/main" id="{FC7EB0CA-4850-A0C5-DED4-716FF247D67C}"/>
              </a:ext>
            </a:extLst>
          </p:cNvPr>
          <p:cNvSpPr txBox="1"/>
          <p:nvPr/>
        </p:nvSpPr>
        <p:spPr>
          <a:xfrm>
            <a:off x="5280810" y="4613137"/>
            <a:ext cx="15549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78" name="Straight Arrow Connector 277">
            <a:extLst>
              <a:ext uri="{FF2B5EF4-FFF2-40B4-BE49-F238E27FC236}">
                <a16:creationId xmlns:a16="http://schemas.microsoft.com/office/drawing/2014/main" id="{7BB91456-5272-C0E8-9C7E-92FF814F4C43}"/>
              </a:ext>
            </a:extLst>
          </p:cNvPr>
          <p:cNvCxnSpPr>
            <a:cxnSpLocks/>
          </p:cNvCxnSpPr>
          <p:nvPr/>
        </p:nvCxnSpPr>
        <p:spPr>
          <a:xfrm>
            <a:off x="6618730" y="4739740"/>
            <a:ext cx="520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9" name="Elbow Connector 278">
            <a:extLst>
              <a:ext uri="{FF2B5EF4-FFF2-40B4-BE49-F238E27FC236}">
                <a16:creationId xmlns:a16="http://schemas.microsoft.com/office/drawing/2014/main" id="{F5B2EF84-2999-5F48-BE1F-CE875C0AC06E}"/>
              </a:ext>
            </a:extLst>
          </p:cNvPr>
          <p:cNvCxnSpPr>
            <a:cxnSpLocks/>
          </p:cNvCxnSpPr>
          <p:nvPr/>
        </p:nvCxnSpPr>
        <p:spPr>
          <a:xfrm rot="5400000">
            <a:off x="6893652" y="2693604"/>
            <a:ext cx="389103" cy="2253944"/>
          </a:xfrm>
          <a:prstGeom prst="bentConnector2">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0" name="Straight Arrow Connector 279">
            <a:extLst>
              <a:ext uri="{FF2B5EF4-FFF2-40B4-BE49-F238E27FC236}">
                <a16:creationId xmlns:a16="http://schemas.microsoft.com/office/drawing/2014/main" id="{48D4BFED-3A6B-8A48-8493-135D502B9E7D}"/>
              </a:ext>
            </a:extLst>
          </p:cNvPr>
          <p:cNvCxnSpPr>
            <a:cxnSpLocks/>
          </p:cNvCxnSpPr>
          <p:nvPr/>
        </p:nvCxnSpPr>
        <p:spPr>
          <a:xfrm flipH="1">
            <a:off x="5961231" y="4019531"/>
            <a:ext cx="1" cy="454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1" name="Elbow Connector 280">
            <a:extLst>
              <a:ext uri="{FF2B5EF4-FFF2-40B4-BE49-F238E27FC236}">
                <a16:creationId xmlns:a16="http://schemas.microsoft.com/office/drawing/2014/main" id="{CCFAFCC9-E577-9F07-4C54-17EE9298B01D}"/>
              </a:ext>
            </a:extLst>
          </p:cNvPr>
          <p:cNvCxnSpPr>
            <a:cxnSpLocks/>
            <a:stCxn id="27" idx="1"/>
          </p:cNvCxnSpPr>
          <p:nvPr/>
        </p:nvCxnSpPr>
        <p:spPr>
          <a:xfrm rot="10800000" flipV="1">
            <a:off x="4959812" y="3470167"/>
            <a:ext cx="2546242" cy="338701"/>
          </a:xfrm>
          <a:prstGeom prst="bentConnector3">
            <a:avLst>
              <a:gd name="adj1" fmla="val 13253"/>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2" name="Straight Arrow Connector 281">
            <a:extLst>
              <a:ext uri="{FF2B5EF4-FFF2-40B4-BE49-F238E27FC236}">
                <a16:creationId xmlns:a16="http://schemas.microsoft.com/office/drawing/2014/main" id="{2A06F820-59D5-1B46-5295-1F851F45D8EF}"/>
              </a:ext>
            </a:extLst>
          </p:cNvPr>
          <p:cNvCxnSpPr>
            <a:cxnSpLocks/>
          </p:cNvCxnSpPr>
          <p:nvPr/>
        </p:nvCxnSpPr>
        <p:spPr>
          <a:xfrm>
            <a:off x="4959813" y="3809205"/>
            <a:ext cx="0" cy="655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3" name="TextBox 282">
            <a:extLst>
              <a:ext uri="{FF2B5EF4-FFF2-40B4-BE49-F238E27FC236}">
                <a16:creationId xmlns:a16="http://schemas.microsoft.com/office/drawing/2014/main" id="{36520CAF-C46A-185F-1E81-1DE64BEAD2C0}"/>
              </a:ext>
            </a:extLst>
          </p:cNvPr>
          <p:cNvSpPr txBox="1"/>
          <p:nvPr/>
        </p:nvSpPr>
        <p:spPr>
          <a:xfrm>
            <a:off x="4632534" y="9025990"/>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284" name="Group 283">
            <a:extLst>
              <a:ext uri="{FF2B5EF4-FFF2-40B4-BE49-F238E27FC236}">
                <a16:creationId xmlns:a16="http://schemas.microsoft.com/office/drawing/2014/main" id="{E831554C-CFCF-531B-2E98-20A1D00A6C5E}"/>
              </a:ext>
            </a:extLst>
          </p:cNvPr>
          <p:cNvGrpSpPr/>
          <p:nvPr/>
        </p:nvGrpSpPr>
        <p:grpSpPr>
          <a:xfrm>
            <a:off x="5436601" y="8584638"/>
            <a:ext cx="953200" cy="458010"/>
            <a:chOff x="5528605" y="4530831"/>
            <a:chExt cx="953200" cy="458010"/>
          </a:xfrm>
        </p:grpSpPr>
        <p:graphicFrame>
          <p:nvGraphicFramePr>
            <p:cNvPr id="285" name="Table">
              <a:extLst>
                <a:ext uri="{FF2B5EF4-FFF2-40B4-BE49-F238E27FC236}">
                  <a16:creationId xmlns:a16="http://schemas.microsoft.com/office/drawing/2014/main" id="{741F4253-07E0-F0D3-126A-9137CB1F20FA}"/>
                </a:ext>
              </a:extLst>
            </p:cNvPr>
            <p:cNvGraphicFramePr/>
            <p:nvPr>
              <p:extLst>
                <p:ext uri="{D42A27DB-BD31-4B8C-83A1-F6EECF244321}">
                  <p14:modId xmlns:p14="http://schemas.microsoft.com/office/powerpoint/2010/main" val="1568046020"/>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286" name="Table">
              <a:extLst>
                <a:ext uri="{FF2B5EF4-FFF2-40B4-BE49-F238E27FC236}">
                  <a16:creationId xmlns:a16="http://schemas.microsoft.com/office/drawing/2014/main" id="{AD01A04F-7D9D-998F-32EB-BE88805941DD}"/>
                </a:ext>
              </a:extLst>
            </p:cNvPr>
            <p:cNvGraphicFramePr/>
            <p:nvPr>
              <p:extLst>
                <p:ext uri="{D42A27DB-BD31-4B8C-83A1-F6EECF244321}">
                  <p14:modId xmlns:p14="http://schemas.microsoft.com/office/powerpoint/2010/main" val="3447075961"/>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sp>
        <p:nvSpPr>
          <p:cNvPr id="287" name="TextBox 286">
            <a:extLst>
              <a:ext uri="{FF2B5EF4-FFF2-40B4-BE49-F238E27FC236}">
                <a16:creationId xmlns:a16="http://schemas.microsoft.com/office/drawing/2014/main" id="{98285B38-1979-401E-2853-E067F411D59D}"/>
              </a:ext>
            </a:extLst>
          </p:cNvPr>
          <p:cNvSpPr txBox="1"/>
          <p:nvPr/>
        </p:nvSpPr>
        <p:spPr>
          <a:xfrm>
            <a:off x="5210773" y="9024372"/>
            <a:ext cx="139124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Jira Emotion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288" name="Group 287">
            <a:extLst>
              <a:ext uri="{FF2B5EF4-FFF2-40B4-BE49-F238E27FC236}">
                <a16:creationId xmlns:a16="http://schemas.microsoft.com/office/drawing/2014/main" id="{D3C73326-AE47-98DB-3632-76369ED467F2}"/>
              </a:ext>
            </a:extLst>
          </p:cNvPr>
          <p:cNvGrpSpPr/>
          <p:nvPr/>
        </p:nvGrpSpPr>
        <p:grpSpPr>
          <a:xfrm>
            <a:off x="8439925" y="8193234"/>
            <a:ext cx="569700" cy="1688313"/>
            <a:chOff x="8715063" y="3858862"/>
            <a:chExt cx="569700" cy="1688313"/>
          </a:xfrm>
        </p:grpSpPr>
        <p:sp>
          <p:nvSpPr>
            <p:cNvPr id="289" name="Google Shape;324;p18">
              <a:extLst>
                <a:ext uri="{FF2B5EF4-FFF2-40B4-BE49-F238E27FC236}">
                  <a16:creationId xmlns:a16="http://schemas.microsoft.com/office/drawing/2014/main" id="{20A66C50-6D17-0140-296C-D0F565F3C162}"/>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290" name="Google Shape;359;p18">
              <a:extLst>
                <a:ext uri="{FF2B5EF4-FFF2-40B4-BE49-F238E27FC236}">
                  <a16:creationId xmlns:a16="http://schemas.microsoft.com/office/drawing/2014/main" id="{4AE92C8C-BCC8-FF62-715C-741CFDF4545F}"/>
                </a:ext>
              </a:extLst>
            </p:cNvPr>
            <p:cNvGrpSpPr/>
            <p:nvPr/>
          </p:nvGrpSpPr>
          <p:grpSpPr>
            <a:xfrm>
              <a:off x="8838265" y="4043887"/>
              <a:ext cx="307200" cy="189300"/>
              <a:chOff x="3007175" y="1757600"/>
              <a:chExt cx="307200" cy="189300"/>
            </a:xfrm>
          </p:grpSpPr>
          <p:sp>
            <p:nvSpPr>
              <p:cNvPr id="317" name="Google Shape;360;p18">
                <a:extLst>
                  <a:ext uri="{FF2B5EF4-FFF2-40B4-BE49-F238E27FC236}">
                    <a16:creationId xmlns:a16="http://schemas.microsoft.com/office/drawing/2014/main" id="{2BFC32BC-278E-6A25-3008-01BB9CA241B2}"/>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8" name="Google Shape;361;p18">
                <a:extLst>
                  <a:ext uri="{FF2B5EF4-FFF2-40B4-BE49-F238E27FC236}">
                    <a16:creationId xmlns:a16="http://schemas.microsoft.com/office/drawing/2014/main" id="{159BF017-658A-5374-4E71-15544F1137B1}"/>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9" name="Google Shape;362;p18">
                <a:extLst>
                  <a:ext uri="{FF2B5EF4-FFF2-40B4-BE49-F238E27FC236}">
                    <a16:creationId xmlns:a16="http://schemas.microsoft.com/office/drawing/2014/main" id="{3261838F-DD57-EF75-2872-FDB741FB75D2}"/>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0" name="Google Shape;363;p18">
                <a:extLst>
                  <a:ext uri="{FF2B5EF4-FFF2-40B4-BE49-F238E27FC236}">
                    <a16:creationId xmlns:a16="http://schemas.microsoft.com/office/drawing/2014/main" id="{6F4F92E1-5982-57C3-CE82-51B8F128E834}"/>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21" name="Google Shape;364;p18">
                <a:extLst>
                  <a:ext uri="{FF2B5EF4-FFF2-40B4-BE49-F238E27FC236}">
                    <a16:creationId xmlns:a16="http://schemas.microsoft.com/office/drawing/2014/main" id="{966FE3EA-3B2E-A77A-A8E9-C81945406E3D}"/>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22" name="Google Shape;365;p18">
                <a:extLst>
                  <a:ext uri="{FF2B5EF4-FFF2-40B4-BE49-F238E27FC236}">
                    <a16:creationId xmlns:a16="http://schemas.microsoft.com/office/drawing/2014/main" id="{77F7FF43-EB98-4B4B-1B4A-B6B223EAC605}"/>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23" name="Google Shape;366;p18">
                <a:extLst>
                  <a:ext uri="{FF2B5EF4-FFF2-40B4-BE49-F238E27FC236}">
                    <a16:creationId xmlns:a16="http://schemas.microsoft.com/office/drawing/2014/main" id="{456C61D8-FB3D-0249-F517-B07959CE6808}"/>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291" name="Google Shape;367;p18">
              <a:extLst>
                <a:ext uri="{FF2B5EF4-FFF2-40B4-BE49-F238E27FC236}">
                  <a16:creationId xmlns:a16="http://schemas.microsoft.com/office/drawing/2014/main" id="{CB1BD3F7-82F8-414C-5E61-ACEBE7F96D0D}"/>
                </a:ext>
              </a:extLst>
            </p:cNvPr>
            <p:cNvGrpSpPr/>
            <p:nvPr/>
          </p:nvGrpSpPr>
          <p:grpSpPr>
            <a:xfrm>
              <a:off x="8838252" y="4387350"/>
              <a:ext cx="307200" cy="189300"/>
              <a:chOff x="3007175" y="1757600"/>
              <a:chExt cx="307200" cy="189300"/>
            </a:xfrm>
          </p:grpSpPr>
          <p:sp>
            <p:nvSpPr>
              <p:cNvPr id="309" name="Google Shape;368;p18">
                <a:extLst>
                  <a:ext uri="{FF2B5EF4-FFF2-40B4-BE49-F238E27FC236}">
                    <a16:creationId xmlns:a16="http://schemas.microsoft.com/office/drawing/2014/main" id="{B8F9DEC7-EDA9-393B-C667-79A88F1673CB}"/>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0" name="Google Shape;369;p18">
                <a:extLst>
                  <a:ext uri="{FF2B5EF4-FFF2-40B4-BE49-F238E27FC236}">
                    <a16:creationId xmlns:a16="http://schemas.microsoft.com/office/drawing/2014/main" id="{B5C2825A-ED3F-01FA-87F3-109FB503113F}"/>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1" name="Google Shape;370;p18">
                <a:extLst>
                  <a:ext uri="{FF2B5EF4-FFF2-40B4-BE49-F238E27FC236}">
                    <a16:creationId xmlns:a16="http://schemas.microsoft.com/office/drawing/2014/main" id="{71D66E5A-A348-1945-3340-B7B6CA7D63D4}"/>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3" name="Google Shape;371;p18">
                <a:extLst>
                  <a:ext uri="{FF2B5EF4-FFF2-40B4-BE49-F238E27FC236}">
                    <a16:creationId xmlns:a16="http://schemas.microsoft.com/office/drawing/2014/main" id="{09E4A238-BDD8-4287-1F35-02FD51BAD547}"/>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14" name="Google Shape;372;p18">
                <a:extLst>
                  <a:ext uri="{FF2B5EF4-FFF2-40B4-BE49-F238E27FC236}">
                    <a16:creationId xmlns:a16="http://schemas.microsoft.com/office/drawing/2014/main" id="{7A320B86-463A-700E-5BA5-E7156FB8A701}"/>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15" name="Google Shape;373;p18">
                <a:extLst>
                  <a:ext uri="{FF2B5EF4-FFF2-40B4-BE49-F238E27FC236}">
                    <a16:creationId xmlns:a16="http://schemas.microsoft.com/office/drawing/2014/main" id="{F714DE18-4CB7-CE9B-4521-45E7B654EDBC}"/>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16" name="Google Shape;374;p18">
                <a:extLst>
                  <a:ext uri="{FF2B5EF4-FFF2-40B4-BE49-F238E27FC236}">
                    <a16:creationId xmlns:a16="http://schemas.microsoft.com/office/drawing/2014/main" id="{8141BD9C-BA01-72FF-C5A9-9724B9968A99}"/>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293" name="Google Shape;375;p18">
              <a:extLst>
                <a:ext uri="{FF2B5EF4-FFF2-40B4-BE49-F238E27FC236}">
                  <a16:creationId xmlns:a16="http://schemas.microsoft.com/office/drawing/2014/main" id="{A4453065-39A2-CE95-EF8D-53861DD838BA}"/>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294" name="Google Shape;376;p18">
              <a:extLst>
                <a:ext uri="{FF2B5EF4-FFF2-40B4-BE49-F238E27FC236}">
                  <a16:creationId xmlns:a16="http://schemas.microsoft.com/office/drawing/2014/main" id="{B73CDAF5-5371-507A-6B70-110C0C9D6D93}"/>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295" name="Google Shape;377;p18">
              <a:extLst>
                <a:ext uri="{FF2B5EF4-FFF2-40B4-BE49-F238E27FC236}">
                  <a16:creationId xmlns:a16="http://schemas.microsoft.com/office/drawing/2014/main" id="{D5B7E53B-9266-5F26-196A-F0E39689805F}"/>
                </a:ext>
              </a:extLst>
            </p:cNvPr>
            <p:cNvGrpSpPr/>
            <p:nvPr/>
          </p:nvGrpSpPr>
          <p:grpSpPr>
            <a:xfrm>
              <a:off x="8846302" y="4841125"/>
              <a:ext cx="307200" cy="297900"/>
              <a:chOff x="3021975" y="2389850"/>
              <a:chExt cx="307200" cy="297900"/>
            </a:xfrm>
          </p:grpSpPr>
          <p:sp>
            <p:nvSpPr>
              <p:cNvPr id="299" name="Google Shape;378;p18">
                <a:extLst>
                  <a:ext uri="{FF2B5EF4-FFF2-40B4-BE49-F238E27FC236}">
                    <a16:creationId xmlns:a16="http://schemas.microsoft.com/office/drawing/2014/main" id="{B52658CE-86BC-BF19-6CB8-7075FEF9A554}"/>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300" name="Google Shape;379;p18">
                <a:extLst>
                  <a:ext uri="{FF2B5EF4-FFF2-40B4-BE49-F238E27FC236}">
                    <a16:creationId xmlns:a16="http://schemas.microsoft.com/office/drawing/2014/main" id="{ECE39CA7-22AA-51BA-98A0-09FD46E59489}"/>
                  </a:ext>
                </a:extLst>
              </p:cNvPr>
              <p:cNvGrpSpPr/>
              <p:nvPr/>
            </p:nvGrpSpPr>
            <p:grpSpPr>
              <a:xfrm>
                <a:off x="3021975" y="2389850"/>
                <a:ext cx="307200" cy="295800"/>
                <a:chOff x="3021975" y="2389850"/>
                <a:chExt cx="307200" cy="295800"/>
              </a:xfrm>
            </p:grpSpPr>
            <p:sp>
              <p:nvSpPr>
                <p:cNvPr id="301" name="Google Shape;380;p18">
                  <a:extLst>
                    <a:ext uri="{FF2B5EF4-FFF2-40B4-BE49-F238E27FC236}">
                      <a16:creationId xmlns:a16="http://schemas.microsoft.com/office/drawing/2014/main" id="{BE742381-FE86-5CA7-25E3-F5A45DE4D830}"/>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2" name="Google Shape;381;p18">
                  <a:extLst>
                    <a:ext uri="{FF2B5EF4-FFF2-40B4-BE49-F238E27FC236}">
                      <a16:creationId xmlns:a16="http://schemas.microsoft.com/office/drawing/2014/main" id="{B3A75EC2-F5D9-EC8F-7FDE-365564F2B237}"/>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03" name="Google Shape;382;p18">
                  <a:extLst>
                    <a:ext uri="{FF2B5EF4-FFF2-40B4-BE49-F238E27FC236}">
                      <a16:creationId xmlns:a16="http://schemas.microsoft.com/office/drawing/2014/main" id="{2863E9FE-FDE5-D37D-F280-7133F08C6184}"/>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04" name="Google Shape;383;p18">
                  <a:extLst>
                    <a:ext uri="{FF2B5EF4-FFF2-40B4-BE49-F238E27FC236}">
                      <a16:creationId xmlns:a16="http://schemas.microsoft.com/office/drawing/2014/main" id="{046AF02C-4086-54EA-E1F5-68A47E1C4E16}"/>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05" name="Google Shape;384;p18">
                  <a:extLst>
                    <a:ext uri="{FF2B5EF4-FFF2-40B4-BE49-F238E27FC236}">
                      <a16:creationId xmlns:a16="http://schemas.microsoft.com/office/drawing/2014/main" id="{6314F8D5-7A0E-4AD8-53E9-C36B0901D816}"/>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06" name="Google Shape;385;p18">
                  <a:extLst>
                    <a:ext uri="{FF2B5EF4-FFF2-40B4-BE49-F238E27FC236}">
                      <a16:creationId xmlns:a16="http://schemas.microsoft.com/office/drawing/2014/main" id="{0F3E0138-0AD5-B9CE-1A5E-B42CE21D6E7D}"/>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07" name="Google Shape;386;p18">
                  <a:extLst>
                    <a:ext uri="{FF2B5EF4-FFF2-40B4-BE49-F238E27FC236}">
                      <a16:creationId xmlns:a16="http://schemas.microsoft.com/office/drawing/2014/main" id="{65E758E6-A5E0-DA15-FBB6-3385A9E6259F}"/>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08" name="Google Shape;387;p18">
                  <a:extLst>
                    <a:ext uri="{FF2B5EF4-FFF2-40B4-BE49-F238E27FC236}">
                      <a16:creationId xmlns:a16="http://schemas.microsoft.com/office/drawing/2014/main" id="{B3E91339-99AA-C839-D4C2-9A81015C694D}"/>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296" name="Google Shape;388;p18">
              <a:extLst>
                <a:ext uri="{FF2B5EF4-FFF2-40B4-BE49-F238E27FC236}">
                  <a16:creationId xmlns:a16="http://schemas.microsoft.com/office/drawing/2014/main" id="{2D10492E-C616-9D9A-1B08-CF5B737D5934}"/>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cxnSp>
          <p:nvCxnSpPr>
            <p:cNvPr id="297" name="Google Shape;389;p18">
              <a:extLst>
                <a:ext uri="{FF2B5EF4-FFF2-40B4-BE49-F238E27FC236}">
                  <a16:creationId xmlns:a16="http://schemas.microsoft.com/office/drawing/2014/main" id="{F078E47E-ED5A-DE1B-1FDB-EFA7BA143FC4}"/>
                </a:ext>
              </a:extLst>
            </p:cNvPr>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298" name="Google Shape;390;p18">
              <a:extLst>
                <a:ext uri="{FF2B5EF4-FFF2-40B4-BE49-F238E27FC236}">
                  <a16:creationId xmlns:a16="http://schemas.microsoft.com/office/drawing/2014/main" id="{7F75C90D-2372-6546-02A2-E91D914AFEA2}"/>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324" name="Graphic 323" descr="Paper outline">
            <a:extLst>
              <a:ext uri="{FF2B5EF4-FFF2-40B4-BE49-F238E27FC236}">
                <a16:creationId xmlns:a16="http://schemas.microsoft.com/office/drawing/2014/main" id="{375DB172-E979-E628-FEB5-CECD211B79C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5359" y="8538023"/>
            <a:ext cx="536605" cy="536605"/>
          </a:xfrm>
          <a:prstGeom prst="rect">
            <a:avLst/>
          </a:prstGeom>
        </p:spPr>
      </p:pic>
      <p:sp>
        <p:nvSpPr>
          <p:cNvPr id="325" name="TextBox 324">
            <a:extLst>
              <a:ext uri="{FF2B5EF4-FFF2-40B4-BE49-F238E27FC236}">
                <a16:creationId xmlns:a16="http://schemas.microsoft.com/office/drawing/2014/main" id="{233A05C1-EA53-0D6E-83A7-71B00F0EFD11}"/>
              </a:ext>
            </a:extLst>
          </p:cNvPr>
          <p:cNvSpPr txBox="1"/>
          <p:nvPr/>
        </p:nvSpPr>
        <p:spPr>
          <a:xfrm>
            <a:off x="5190237" y="8649598"/>
            <a:ext cx="15549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26" name="Straight Arrow Connector 325">
            <a:extLst>
              <a:ext uri="{FF2B5EF4-FFF2-40B4-BE49-F238E27FC236}">
                <a16:creationId xmlns:a16="http://schemas.microsoft.com/office/drawing/2014/main" id="{A594B221-B5F0-5A87-3AF3-05CCFDB51349}"/>
              </a:ext>
            </a:extLst>
          </p:cNvPr>
          <p:cNvCxnSpPr>
            <a:cxnSpLocks/>
          </p:cNvCxnSpPr>
          <p:nvPr/>
        </p:nvCxnSpPr>
        <p:spPr>
          <a:xfrm>
            <a:off x="6471063" y="8803860"/>
            <a:ext cx="520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7" name="Straight Arrow Connector 326">
            <a:extLst>
              <a:ext uri="{FF2B5EF4-FFF2-40B4-BE49-F238E27FC236}">
                <a16:creationId xmlns:a16="http://schemas.microsoft.com/office/drawing/2014/main" id="{90FE885D-98DE-6A41-539B-B049D03E0FA8}"/>
              </a:ext>
            </a:extLst>
          </p:cNvPr>
          <p:cNvCxnSpPr>
            <a:cxnSpLocks/>
          </p:cNvCxnSpPr>
          <p:nvPr/>
        </p:nvCxnSpPr>
        <p:spPr>
          <a:xfrm flipH="1">
            <a:off x="5875208" y="8083651"/>
            <a:ext cx="1" cy="454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8" name="Elbow Connector 327">
            <a:extLst>
              <a:ext uri="{FF2B5EF4-FFF2-40B4-BE49-F238E27FC236}">
                <a16:creationId xmlns:a16="http://schemas.microsoft.com/office/drawing/2014/main" id="{C526500F-B78C-497A-924B-961095F31E23}"/>
              </a:ext>
            </a:extLst>
          </p:cNvPr>
          <p:cNvCxnSpPr>
            <a:cxnSpLocks/>
            <a:stCxn id="38" idx="1"/>
          </p:cNvCxnSpPr>
          <p:nvPr/>
        </p:nvCxnSpPr>
        <p:spPr>
          <a:xfrm rot="10800000" flipV="1">
            <a:off x="4901156" y="7492159"/>
            <a:ext cx="2389565" cy="395430"/>
          </a:xfrm>
          <a:prstGeom prst="bentConnector3">
            <a:avLst>
              <a:gd name="adj1" fmla="val 8418"/>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9" name="Straight Arrow Connector 328">
            <a:extLst>
              <a:ext uri="{FF2B5EF4-FFF2-40B4-BE49-F238E27FC236}">
                <a16:creationId xmlns:a16="http://schemas.microsoft.com/office/drawing/2014/main" id="{8AE10A63-9ABE-C858-92B8-CBC98EF84DDE}"/>
              </a:ext>
            </a:extLst>
          </p:cNvPr>
          <p:cNvCxnSpPr>
            <a:cxnSpLocks/>
          </p:cNvCxnSpPr>
          <p:nvPr/>
        </p:nvCxnSpPr>
        <p:spPr>
          <a:xfrm>
            <a:off x="4901156" y="7887589"/>
            <a:ext cx="0" cy="655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0" name="Elbow Connector 329">
            <a:extLst>
              <a:ext uri="{FF2B5EF4-FFF2-40B4-BE49-F238E27FC236}">
                <a16:creationId xmlns:a16="http://schemas.microsoft.com/office/drawing/2014/main" id="{BFF0F59A-BCE0-6D1E-ED92-9CB3C83A2832}"/>
              </a:ext>
            </a:extLst>
          </p:cNvPr>
          <p:cNvCxnSpPr>
            <a:cxnSpLocks/>
          </p:cNvCxnSpPr>
          <p:nvPr/>
        </p:nvCxnSpPr>
        <p:spPr>
          <a:xfrm rot="10800000" flipV="1">
            <a:off x="5875209" y="7689643"/>
            <a:ext cx="2330535" cy="395891"/>
          </a:xfrm>
          <a:prstGeom prst="bentConnector3">
            <a:avLst>
              <a:gd name="adj1" fmla="val 138"/>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1" name="Straight Arrow Connector 330">
            <a:extLst>
              <a:ext uri="{FF2B5EF4-FFF2-40B4-BE49-F238E27FC236}">
                <a16:creationId xmlns:a16="http://schemas.microsoft.com/office/drawing/2014/main" id="{A7810AA4-3D07-A819-6948-A7BEBABA395F}"/>
              </a:ext>
            </a:extLst>
          </p:cNvPr>
          <p:cNvCxnSpPr>
            <a:cxnSpLocks/>
          </p:cNvCxnSpPr>
          <p:nvPr/>
        </p:nvCxnSpPr>
        <p:spPr>
          <a:xfrm>
            <a:off x="7954799" y="8798069"/>
            <a:ext cx="4914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2" name="Can 331">
            <a:extLst>
              <a:ext uri="{FF2B5EF4-FFF2-40B4-BE49-F238E27FC236}">
                <a16:creationId xmlns:a16="http://schemas.microsoft.com/office/drawing/2014/main" id="{580746E8-F0ED-AA2E-987F-3D759DC91454}"/>
              </a:ext>
            </a:extLst>
          </p:cNvPr>
          <p:cNvSpPr/>
          <p:nvPr/>
        </p:nvSpPr>
        <p:spPr>
          <a:xfrm>
            <a:off x="2161726" y="4087963"/>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33" name="TextBox 332">
            <a:extLst>
              <a:ext uri="{FF2B5EF4-FFF2-40B4-BE49-F238E27FC236}">
                <a16:creationId xmlns:a16="http://schemas.microsoft.com/office/drawing/2014/main" id="{40975D85-C697-D05A-57D5-D91230A2B6DB}"/>
              </a:ext>
            </a:extLst>
          </p:cNvPr>
          <p:cNvSpPr txBox="1"/>
          <p:nvPr/>
        </p:nvSpPr>
        <p:spPr>
          <a:xfrm>
            <a:off x="1691738" y="4702673"/>
            <a:ext cx="144929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err="1"/>
              <a:t>GHTorrent</a:t>
            </a:r>
            <a:r>
              <a:rPr lang="en-US" sz="1000" b="0" dirty="0"/>
              <a:t> 2014 DB</a:t>
            </a:r>
          </a:p>
          <a:p>
            <a:pPr algn="ctr"/>
            <a:r>
              <a:rPr lang="en-US" sz="800" b="0" dirty="0"/>
              <a:t>MSR Challenge [2]</a:t>
            </a:r>
          </a:p>
        </p:txBody>
      </p:sp>
      <p:sp>
        <p:nvSpPr>
          <p:cNvPr id="334" name="Line">
            <a:extLst>
              <a:ext uri="{FF2B5EF4-FFF2-40B4-BE49-F238E27FC236}">
                <a16:creationId xmlns:a16="http://schemas.microsoft.com/office/drawing/2014/main" id="{97AC69E5-6059-5BFE-87D7-D5AE40CDD0CD}"/>
              </a:ext>
            </a:extLst>
          </p:cNvPr>
          <p:cNvSpPr/>
          <p:nvPr/>
        </p:nvSpPr>
        <p:spPr>
          <a:xfrm flipV="1">
            <a:off x="252723" y="5254841"/>
            <a:ext cx="3367943" cy="0"/>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aphicFrame>
        <p:nvGraphicFramePr>
          <p:cNvPr id="335" name="Table">
            <a:extLst>
              <a:ext uri="{FF2B5EF4-FFF2-40B4-BE49-F238E27FC236}">
                <a16:creationId xmlns:a16="http://schemas.microsoft.com/office/drawing/2014/main" id="{4DB7F555-7CB2-C227-4ECD-5962E2867451}"/>
              </a:ext>
            </a:extLst>
          </p:cNvPr>
          <p:cNvGraphicFramePr/>
          <p:nvPr>
            <p:extLst>
              <p:ext uri="{D42A27DB-BD31-4B8C-83A1-F6EECF244321}">
                <p14:modId xmlns:p14="http://schemas.microsoft.com/office/powerpoint/2010/main" val="550004470"/>
              </p:ext>
            </p:extLst>
          </p:nvPr>
        </p:nvGraphicFramePr>
        <p:xfrm>
          <a:off x="637915" y="5447796"/>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336" name="TextBox 335">
            <a:extLst>
              <a:ext uri="{FF2B5EF4-FFF2-40B4-BE49-F238E27FC236}">
                <a16:creationId xmlns:a16="http://schemas.microsoft.com/office/drawing/2014/main" id="{6116DAF4-9427-94D5-B9C2-D2A6405475F2}"/>
              </a:ext>
            </a:extLst>
          </p:cNvPr>
          <p:cNvSpPr txBox="1"/>
          <p:nvPr/>
        </p:nvSpPr>
        <p:spPr>
          <a:xfrm>
            <a:off x="275721" y="6080333"/>
            <a:ext cx="1349115"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Emotion 2016 CSV</a:t>
            </a:r>
          </a:p>
          <a:p>
            <a:pPr algn="ctr"/>
            <a:r>
              <a:rPr lang="en-US" sz="800" b="0" dirty="0"/>
              <a:t>Ortu et al. [3]</a:t>
            </a:r>
          </a:p>
        </p:txBody>
      </p:sp>
      <p:sp>
        <p:nvSpPr>
          <p:cNvPr id="337" name="TextBox 336">
            <a:extLst>
              <a:ext uri="{FF2B5EF4-FFF2-40B4-BE49-F238E27FC236}">
                <a16:creationId xmlns:a16="http://schemas.microsoft.com/office/drawing/2014/main" id="{97A08FDC-C62A-EDB1-D461-CD0459604F98}"/>
              </a:ext>
            </a:extLst>
          </p:cNvPr>
          <p:cNvSpPr txBox="1"/>
          <p:nvPr/>
        </p:nvSpPr>
        <p:spPr>
          <a:xfrm>
            <a:off x="1667267" y="6096367"/>
            <a:ext cx="144929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a:t>Jira PostgreSQL 2016 DB</a:t>
            </a:r>
          </a:p>
          <a:p>
            <a:pPr algn="ctr"/>
            <a:r>
              <a:rPr lang="en-US" sz="800" b="0" dirty="0"/>
              <a:t>MSR Challenge [4]</a:t>
            </a:r>
          </a:p>
        </p:txBody>
      </p:sp>
      <p:sp>
        <p:nvSpPr>
          <p:cNvPr id="338" name="TextBox 337">
            <a:extLst>
              <a:ext uri="{FF2B5EF4-FFF2-40B4-BE49-F238E27FC236}">
                <a16:creationId xmlns:a16="http://schemas.microsoft.com/office/drawing/2014/main" id="{25267261-3AFC-7F0C-6A71-DBE2BA71038C}"/>
              </a:ext>
            </a:extLst>
          </p:cNvPr>
          <p:cNvSpPr txBox="1"/>
          <p:nvPr/>
        </p:nvSpPr>
        <p:spPr>
          <a:xfrm>
            <a:off x="9468971" y="9437117"/>
            <a:ext cx="4207266" cy="8591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600" b="0" dirty="0"/>
              <a:t>[1] N. Novielli, Fabio Calefato, Davide </a:t>
            </a:r>
            <a:r>
              <a:rPr lang="en-US" sz="600" b="0" dirty="0" err="1"/>
              <a:t>Dongiovanni</a:t>
            </a:r>
            <a:r>
              <a:rPr lang="en-US" sz="600" b="0" dirty="0"/>
              <a:t>, D. Girardi, and Filippo Lanubile, “Can We Use SE-specific Sentiment Analysis Tools in a Cross-Platform Setting?,” Jun. 2020, </a:t>
            </a:r>
            <a:r>
              <a:rPr lang="en-US" sz="600" b="0" dirty="0" err="1"/>
              <a:t>doi</a:t>
            </a:r>
            <a:r>
              <a:rPr lang="en-US" sz="600" b="0" dirty="0"/>
              <a:t>: https://doi.org/10.1145/3379597.3387446. </a:t>
            </a:r>
          </a:p>
          <a:p>
            <a:r>
              <a:rPr lang="en-US" sz="600" b="0" dirty="0"/>
              <a:t>[2]https://web.archive.org/web/20210224080543/http://ansymore.uantwerpen.be/system/files/uploads/artefacts/alessandro/MSR16/archive3.zip</a:t>
            </a:r>
          </a:p>
          <a:p>
            <a:r>
              <a:rPr lang="en-US" sz="600" b="0" dirty="0"/>
              <a:t>[3] M. Ortu </a:t>
            </a:r>
            <a:r>
              <a:rPr lang="en-US" sz="600" b="0" i="1" dirty="0"/>
              <a:t>et al.</a:t>
            </a:r>
            <a:r>
              <a:rPr lang="en-US" sz="600" b="0" dirty="0"/>
              <a:t>, “The emotional side of software developers in JIRA,” </a:t>
            </a:r>
            <a:r>
              <a:rPr lang="en-US" sz="600" b="0" i="1" dirty="0"/>
              <a:t>Proceedings of the 13th International Conference on Mining Software Repositories</a:t>
            </a:r>
            <a:r>
              <a:rPr lang="en-US" sz="600" b="0" dirty="0"/>
              <a:t>, May 2016, </a:t>
            </a:r>
            <a:r>
              <a:rPr lang="en-US" sz="600" b="0" dirty="0" err="1"/>
              <a:t>doi</a:t>
            </a:r>
            <a:r>
              <a:rPr lang="en-US" sz="600" b="0" dirty="0"/>
              <a:t>: https://doi.org/10.1145/2901739.2903505. </a:t>
            </a:r>
          </a:p>
          <a:p>
            <a:r>
              <a:rPr lang="en-US" sz="600" b="0" dirty="0"/>
              <a:t>[4]https://web.archive.org/web/20150206005357/http://ghtorrent.org/msr14.html </a:t>
            </a:r>
          </a:p>
        </p:txBody>
      </p:sp>
      <p:grpSp>
        <p:nvGrpSpPr>
          <p:cNvPr id="339" name="Group 338">
            <a:extLst>
              <a:ext uri="{FF2B5EF4-FFF2-40B4-BE49-F238E27FC236}">
                <a16:creationId xmlns:a16="http://schemas.microsoft.com/office/drawing/2014/main" id="{65645DDE-5E5D-072C-A4A8-04FA9C280AB4}"/>
              </a:ext>
            </a:extLst>
          </p:cNvPr>
          <p:cNvGrpSpPr/>
          <p:nvPr/>
        </p:nvGrpSpPr>
        <p:grpSpPr>
          <a:xfrm>
            <a:off x="9716135" y="7200213"/>
            <a:ext cx="3656845" cy="2142989"/>
            <a:chOff x="8476178" y="1075788"/>
            <a:chExt cx="3245700" cy="1935357"/>
          </a:xfrm>
        </p:grpSpPr>
        <p:sp>
          <p:nvSpPr>
            <p:cNvPr id="340" name="Google Shape;324;p18">
              <a:extLst>
                <a:ext uri="{FF2B5EF4-FFF2-40B4-BE49-F238E27FC236}">
                  <a16:creationId xmlns:a16="http://schemas.microsoft.com/office/drawing/2014/main" id="{C7603EC0-8C1C-B319-7900-0272FB74D1E6}"/>
                </a:ext>
              </a:extLst>
            </p:cNvPr>
            <p:cNvSpPr/>
            <p:nvPr/>
          </p:nvSpPr>
          <p:spPr>
            <a:xfrm>
              <a:off x="8547103" y="133324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sp>
          <p:nvSpPr>
            <p:cNvPr id="341" name="Google Shape;325;p18">
              <a:extLst>
                <a:ext uri="{FF2B5EF4-FFF2-40B4-BE49-F238E27FC236}">
                  <a16:creationId xmlns:a16="http://schemas.microsoft.com/office/drawing/2014/main" id="{726E041D-746E-A4C7-4900-E8A9EE7D434A}"/>
                </a:ext>
              </a:extLst>
            </p:cNvPr>
            <p:cNvSpPr txBox="1"/>
            <p:nvPr/>
          </p:nvSpPr>
          <p:spPr>
            <a:xfrm>
              <a:off x="8512875" y="1160558"/>
              <a:ext cx="5898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Comments</a:t>
              </a:r>
              <a:endParaRPr sz="686" dirty="0">
                <a:solidFill>
                  <a:schemeClr val="dk2"/>
                </a:solidFill>
                <a:latin typeface="Source Sans 3"/>
                <a:ea typeface="Source Sans 3"/>
                <a:cs typeface="Source Sans 3"/>
                <a:sym typeface="Source Sans 3"/>
              </a:endParaRPr>
            </a:p>
          </p:txBody>
        </p:sp>
        <p:sp>
          <p:nvSpPr>
            <p:cNvPr id="342" name="Google Shape;326;p18">
              <a:extLst>
                <a:ext uri="{FF2B5EF4-FFF2-40B4-BE49-F238E27FC236}">
                  <a16:creationId xmlns:a16="http://schemas.microsoft.com/office/drawing/2014/main" id="{2AE697ED-13A4-7683-B94A-04B9304DABC8}"/>
                </a:ext>
              </a:extLst>
            </p:cNvPr>
            <p:cNvSpPr/>
            <p:nvPr/>
          </p:nvSpPr>
          <p:spPr>
            <a:xfrm>
              <a:off x="8476178" y="1114845"/>
              <a:ext cx="3245700" cy="18963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3" name="Google Shape;327;p18">
              <a:extLst>
                <a:ext uri="{FF2B5EF4-FFF2-40B4-BE49-F238E27FC236}">
                  <a16:creationId xmlns:a16="http://schemas.microsoft.com/office/drawing/2014/main" id="{2C73547C-1C7C-0896-2F7E-9E3C8CBCFD3B}"/>
                </a:ext>
              </a:extLst>
            </p:cNvPr>
            <p:cNvSpPr/>
            <p:nvPr/>
          </p:nvSpPr>
          <p:spPr>
            <a:xfrm>
              <a:off x="9194189" y="1685753"/>
              <a:ext cx="660000" cy="5394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sp>
          <p:nvSpPr>
            <p:cNvPr id="344" name="Google Shape;328;p18">
              <a:extLst>
                <a:ext uri="{FF2B5EF4-FFF2-40B4-BE49-F238E27FC236}">
                  <a16:creationId xmlns:a16="http://schemas.microsoft.com/office/drawing/2014/main" id="{80C359C6-D4A4-277C-E713-7C84708F268E}"/>
                </a:ext>
              </a:extLst>
            </p:cNvPr>
            <p:cNvSpPr txBox="1"/>
            <p:nvPr/>
          </p:nvSpPr>
          <p:spPr>
            <a:xfrm>
              <a:off x="9243730" y="1675030"/>
              <a:ext cx="627577" cy="23835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err="1">
                  <a:solidFill>
                    <a:schemeClr val="dk2"/>
                  </a:solidFill>
                  <a:latin typeface="Source Sans 3"/>
                  <a:ea typeface="Source Sans 3"/>
                  <a:cs typeface="Source Sans 3"/>
                  <a:sym typeface="Source Sans 3"/>
                </a:rPr>
                <a:t>sailuh</a:t>
              </a:r>
              <a:r>
                <a:rPr lang="en" sz="686" dirty="0">
                  <a:solidFill>
                    <a:schemeClr val="dk2"/>
                  </a:solidFill>
                  <a:latin typeface="Source Sans 3"/>
                  <a:ea typeface="Source Sans 3"/>
                  <a:cs typeface="Source Sans 3"/>
                  <a:sym typeface="Source Sans 3"/>
                </a:rPr>
                <a:t>/</a:t>
              </a:r>
              <a:r>
                <a:rPr lang="en" sz="686" dirty="0" err="1">
                  <a:solidFill>
                    <a:schemeClr val="dk2"/>
                  </a:solidFill>
                  <a:latin typeface="Source Sans 3"/>
                  <a:ea typeface="Source Sans 3"/>
                  <a:cs typeface="Source Sans 3"/>
                  <a:sym typeface="Source Sans 3"/>
                </a:rPr>
                <a:t>kaiaulu</a:t>
              </a:r>
              <a:endParaRPr sz="686" dirty="0">
                <a:solidFill>
                  <a:schemeClr val="dk2"/>
                </a:solidFill>
                <a:latin typeface="Source Sans 3"/>
                <a:ea typeface="Source Sans 3"/>
                <a:cs typeface="Source Sans 3"/>
                <a:sym typeface="Source Sans 3"/>
              </a:endParaRPr>
            </a:p>
          </p:txBody>
        </p:sp>
        <p:cxnSp>
          <p:nvCxnSpPr>
            <p:cNvPr id="345" name="Google Shape;329;p18">
              <a:extLst>
                <a:ext uri="{FF2B5EF4-FFF2-40B4-BE49-F238E27FC236}">
                  <a16:creationId xmlns:a16="http://schemas.microsoft.com/office/drawing/2014/main" id="{371CE6B6-5ABC-BFCD-126C-F97C49893EC7}"/>
                </a:ext>
              </a:extLst>
            </p:cNvPr>
            <p:cNvCxnSpPr/>
            <p:nvPr/>
          </p:nvCxnSpPr>
          <p:spPr>
            <a:xfrm>
              <a:off x="9524199" y="2225090"/>
              <a:ext cx="0" cy="297300"/>
            </a:xfrm>
            <a:prstGeom prst="straightConnector1">
              <a:avLst/>
            </a:prstGeom>
            <a:noFill/>
            <a:ln w="8175" cap="flat" cmpd="sng">
              <a:solidFill>
                <a:schemeClr val="dk2"/>
              </a:solidFill>
              <a:prstDash val="solid"/>
              <a:round/>
              <a:headEnd type="none" w="med" len="med"/>
              <a:tailEnd type="triangle" w="med" len="med"/>
            </a:ln>
          </p:spPr>
        </p:cxnSp>
        <p:sp>
          <p:nvSpPr>
            <p:cNvPr id="346" name="Google Shape;330;p18">
              <a:extLst>
                <a:ext uri="{FF2B5EF4-FFF2-40B4-BE49-F238E27FC236}">
                  <a16:creationId xmlns:a16="http://schemas.microsoft.com/office/drawing/2014/main" id="{EA62B71E-CFDD-5BBA-E2B2-61A814D15D60}"/>
                </a:ext>
              </a:extLst>
            </p:cNvPr>
            <p:cNvSpPr txBox="1"/>
            <p:nvPr/>
          </p:nvSpPr>
          <p:spPr>
            <a:xfrm>
              <a:off x="9029988" y="2467514"/>
              <a:ext cx="1094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rgbClr val="628DB5"/>
                  </a:solidFill>
                  <a:latin typeface="Source Sans 3"/>
                  <a:ea typeface="Source Sans 3"/>
                  <a:cs typeface="Source Sans 3"/>
                  <a:sym typeface="Source Sans 3"/>
                </a:rPr>
                <a:t>engagement_sentiment()</a:t>
              </a:r>
              <a:endParaRPr sz="686">
                <a:solidFill>
                  <a:srgbClr val="628DB5"/>
                </a:solidFill>
                <a:latin typeface="Source Sans 3"/>
                <a:ea typeface="Source Sans 3"/>
                <a:cs typeface="Source Sans 3"/>
                <a:sym typeface="Source Sans 3"/>
              </a:endParaRPr>
            </a:p>
          </p:txBody>
        </p:sp>
        <p:sp>
          <p:nvSpPr>
            <p:cNvPr id="347" name="Google Shape;331;p18">
              <a:extLst>
                <a:ext uri="{FF2B5EF4-FFF2-40B4-BE49-F238E27FC236}">
                  <a16:creationId xmlns:a16="http://schemas.microsoft.com/office/drawing/2014/main" id="{D22A20A4-F403-0AC4-5FE7-ED5B640EC42C}"/>
                </a:ext>
              </a:extLst>
            </p:cNvPr>
            <p:cNvSpPr/>
            <p:nvPr/>
          </p:nvSpPr>
          <p:spPr>
            <a:xfrm>
              <a:off x="10562628" y="1685745"/>
              <a:ext cx="1099800" cy="554100"/>
            </a:xfrm>
            <a:prstGeom prst="rect">
              <a:avLst/>
            </a:prstGeom>
            <a:noFill/>
            <a:ln w="8200" cap="flat" cmpd="sng">
              <a:solidFill>
                <a:schemeClr val="dk2"/>
              </a:solidFill>
              <a:prstDash val="solid"/>
              <a:round/>
              <a:headEnd type="none" w="sm" len="sm"/>
              <a:tailEnd type="none" w="sm" len="sm"/>
            </a:ln>
          </p:spPr>
          <p:txBody>
            <a:bodyPr spcFirstLastPara="1" wrap="square" lIns="78800" tIns="78800" rIns="78800" bIns="78800" anchor="ctr" anchorCtr="0">
              <a:noAutofit/>
            </a:bodyPr>
            <a:lstStyle/>
            <a:p>
              <a:pPr marL="0" lvl="0" indent="0" algn="ctr" rtl="0">
                <a:spcBef>
                  <a:spcPts val="0"/>
                </a:spcBef>
                <a:spcAft>
                  <a:spcPts val="0"/>
                </a:spcAft>
                <a:buNone/>
              </a:pPr>
              <a:endParaRPr sz="1207"/>
            </a:p>
          </p:txBody>
        </p:sp>
        <p:sp>
          <p:nvSpPr>
            <p:cNvPr id="348" name="Google Shape;332;p18">
              <a:extLst>
                <a:ext uri="{FF2B5EF4-FFF2-40B4-BE49-F238E27FC236}">
                  <a16:creationId xmlns:a16="http://schemas.microsoft.com/office/drawing/2014/main" id="{56FAB401-A537-7CF2-39F5-95EC3BE489F1}"/>
                </a:ext>
              </a:extLst>
            </p:cNvPr>
            <p:cNvSpPr txBox="1"/>
            <p:nvPr/>
          </p:nvSpPr>
          <p:spPr>
            <a:xfrm>
              <a:off x="10544028" y="1682645"/>
              <a:ext cx="1150800" cy="265200"/>
            </a:xfrm>
            <a:prstGeom prst="rect">
              <a:avLst/>
            </a:prstGeom>
            <a:noFill/>
            <a:ln>
              <a:noFill/>
            </a:ln>
          </p:spPr>
          <p:txBody>
            <a:bodyPr spcFirstLastPara="1" wrap="square" lIns="78800" tIns="78800" rIns="78800" bIns="78800" anchor="t" anchorCtr="0">
              <a:spAutoFit/>
            </a:bodyPr>
            <a:lstStyle/>
            <a:p>
              <a:pPr marL="0" lvl="0" indent="0" algn="l" rtl="0">
                <a:spcBef>
                  <a:spcPts val="0"/>
                </a:spcBef>
                <a:spcAft>
                  <a:spcPts val="0"/>
                </a:spcAft>
                <a:buNone/>
              </a:pPr>
              <a:r>
                <a:rPr lang="en" sz="689" dirty="0" err="1">
                  <a:solidFill>
                    <a:schemeClr val="dk2"/>
                  </a:solidFill>
                  <a:latin typeface="Source Sans 3"/>
                  <a:ea typeface="Source Sans 3"/>
                  <a:cs typeface="Source Sans 3"/>
                  <a:sym typeface="Source Sans 3"/>
                </a:rPr>
                <a:t>sailuh</a:t>
              </a:r>
              <a:r>
                <a:rPr lang="en" sz="689" dirty="0">
                  <a:solidFill>
                    <a:schemeClr val="dk2"/>
                  </a:solidFill>
                  <a:latin typeface="Source Sans 3"/>
                  <a:ea typeface="Source Sans 3"/>
                  <a:cs typeface="Source Sans 3"/>
                  <a:sym typeface="Source Sans 3"/>
                </a:rPr>
                <a:t>/</a:t>
              </a:r>
              <a:r>
                <a:rPr lang="en" sz="689" dirty="0" err="1">
                  <a:solidFill>
                    <a:schemeClr val="dk2"/>
                  </a:solidFill>
                  <a:latin typeface="Source Sans 3"/>
                  <a:ea typeface="Source Sans 3"/>
                  <a:cs typeface="Source Sans 3"/>
                  <a:sym typeface="Source Sans 3"/>
                </a:rPr>
                <a:t>sentiment_classifier</a:t>
              </a:r>
              <a:endParaRPr sz="689" dirty="0">
                <a:solidFill>
                  <a:schemeClr val="dk2"/>
                </a:solidFill>
                <a:latin typeface="Source Sans 3"/>
                <a:ea typeface="Source Sans 3"/>
                <a:cs typeface="Source Sans 3"/>
                <a:sym typeface="Source Sans 3"/>
              </a:endParaRPr>
            </a:p>
          </p:txBody>
        </p:sp>
        <p:cxnSp>
          <p:nvCxnSpPr>
            <p:cNvPr id="349" name="Google Shape;333;p18">
              <a:extLst>
                <a:ext uri="{FF2B5EF4-FFF2-40B4-BE49-F238E27FC236}">
                  <a16:creationId xmlns:a16="http://schemas.microsoft.com/office/drawing/2014/main" id="{E7A9D498-DC17-8F37-6831-6D4A29CB8816}"/>
                </a:ext>
              </a:extLst>
            </p:cNvPr>
            <p:cNvCxnSpPr/>
            <p:nvPr/>
          </p:nvCxnSpPr>
          <p:spPr>
            <a:xfrm rot="10800000" flipH="1">
              <a:off x="9890815" y="1865994"/>
              <a:ext cx="632700" cy="900"/>
            </a:xfrm>
            <a:prstGeom prst="straightConnector1">
              <a:avLst/>
            </a:prstGeom>
            <a:noFill/>
            <a:ln w="9525" cap="flat" cmpd="sng">
              <a:solidFill>
                <a:schemeClr val="dk2"/>
              </a:solidFill>
              <a:prstDash val="solid"/>
              <a:round/>
              <a:headEnd type="none" w="med" len="med"/>
              <a:tailEnd type="triangle" w="med" len="med"/>
            </a:ln>
          </p:spPr>
        </p:cxnSp>
        <p:cxnSp>
          <p:nvCxnSpPr>
            <p:cNvPr id="350" name="Google Shape;334;p18">
              <a:extLst>
                <a:ext uri="{FF2B5EF4-FFF2-40B4-BE49-F238E27FC236}">
                  <a16:creationId xmlns:a16="http://schemas.microsoft.com/office/drawing/2014/main" id="{AD1D0C66-85AE-34E8-4B9C-812486B73BE5}"/>
                </a:ext>
              </a:extLst>
            </p:cNvPr>
            <p:cNvCxnSpPr/>
            <p:nvPr/>
          </p:nvCxnSpPr>
          <p:spPr>
            <a:xfrm rot="10800000">
              <a:off x="9866990" y="2086194"/>
              <a:ext cx="632700" cy="900"/>
            </a:xfrm>
            <a:prstGeom prst="straightConnector1">
              <a:avLst/>
            </a:prstGeom>
            <a:noFill/>
            <a:ln w="9525" cap="flat" cmpd="sng">
              <a:solidFill>
                <a:schemeClr val="dk2"/>
              </a:solidFill>
              <a:prstDash val="solid"/>
              <a:round/>
              <a:headEnd type="none" w="med" len="med"/>
              <a:tailEnd type="triangle" w="med" len="med"/>
            </a:ln>
          </p:spPr>
        </p:cxnSp>
        <p:sp>
          <p:nvSpPr>
            <p:cNvPr id="351" name="Google Shape;335;p18">
              <a:extLst>
                <a:ext uri="{FF2B5EF4-FFF2-40B4-BE49-F238E27FC236}">
                  <a16:creationId xmlns:a16="http://schemas.microsoft.com/office/drawing/2014/main" id="{CFEFB7AD-762F-A870-6A57-FE9F217E4EAB}"/>
                </a:ext>
              </a:extLst>
            </p:cNvPr>
            <p:cNvSpPr txBox="1"/>
            <p:nvPr/>
          </p:nvSpPr>
          <p:spPr>
            <a:xfrm>
              <a:off x="10046553" y="2123170"/>
              <a:ext cx="3483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label</a:t>
              </a:r>
              <a:endParaRPr sz="686">
                <a:solidFill>
                  <a:schemeClr val="dk2"/>
                </a:solidFill>
                <a:latin typeface="Source Sans 3"/>
                <a:ea typeface="Source Sans 3"/>
                <a:cs typeface="Source Sans 3"/>
                <a:sym typeface="Source Sans 3"/>
              </a:endParaRPr>
            </a:p>
          </p:txBody>
        </p:sp>
        <p:sp>
          <p:nvSpPr>
            <p:cNvPr id="352" name="Google Shape;336;p18">
              <a:extLst>
                <a:ext uri="{FF2B5EF4-FFF2-40B4-BE49-F238E27FC236}">
                  <a16:creationId xmlns:a16="http://schemas.microsoft.com/office/drawing/2014/main" id="{A75B0F73-C067-E39F-7E56-68FBC390AC6E}"/>
                </a:ext>
              </a:extLst>
            </p:cNvPr>
            <p:cNvSpPr/>
            <p:nvPr/>
          </p:nvSpPr>
          <p:spPr>
            <a:xfrm>
              <a:off x="10370240" y="2300395"/>
              <a:ext cx="133800" cy="114600"/>
            </a:xfrm>
            <a:prstGeom prst="wedgeRectCallout">
              <a:avLst>
                <a:gd name="adj1" fmla="val -20833"/>
                <a:gd name="adj2" fmla="val 62500"/>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3" name="Google Shape;337;p18">
              <a:extLst>
                <a:ext uri="{FF2B5EF4-FFF2-40B4-BE49-F238E27FC236}">
                  <a16:creationId xmlns:a16="http://schemas.microsoft.com/office/drawing/2014/main" id="{014E8C0E-A5E2-5BED-6597-0E5EBEB6BC8C}"/>
                </a:ext>
              </a:extLst>
            </p:cNvPr>
            <p:cNvSpPr txBox="1"/>
            <p:nvPr/>
          </p:nvSpPr>
          <p:spPr>
            <a:xfrm>
              <a:off x="9829328" y="1578732"/>
              <a:ext cx="8400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pysenti_predict()</a:t>
              </a:r>
              <a:endParaRPr sz="686">
                <a:solidFill>
                  <a:schemeClr val="dk2"/>
                </a:solidFill>
                <a:latin typeface="Source Sans 3"/>
                <a:ea typeface="Source Sans 3"/>
                <a:cs typeface="Source Sans 3"/>
                <a:sym typeface="Source Sans 3"/>
              </a:endParaRPr>
            </a:p>
          </p:txBody>
        </p:sp>
        <p:sp>
          <p:nvSpPr>
            <p:cNvPr id="354" name="Google Shape;338;p18">
              <a:extLst>
                <a:ext uri="{FF2B5EF4-FFF2-40B4-BE49-F238E27FC236}">
                  <a16:creationId xmlns:a16="http://schemas.microsoft.com/office/drawing/2014/main" id="{6C2F4598-ECCE-538A-6244-6A235672F61B}"/>
                </a:ext>
              </a:extLst>
            </p:cNvPr>
            <p:cNvSpPr/>
            <p:nvPr/>
          </p:nvSpPr>
          <p:spPr>
            <a:xfrm>
              <a:off x="10116428" y="1532095"/>
              <a:ext cx="133800" cy="114600"/>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 name="Google Shape;339;p18">
              <a:extLst>
                <a:ext uri="{FF2B5EF4-FFF2-40B4-BE49-F238E27FC236}">
                  <a16:creationId xmlns:a16="http://schemas.microsoft.com/office/drawing/2014/main" id="{2F3B3C09-71C8-1C78-01B5-34D1A02CECCF}"/>
                </a:ext>
              </a:extLst>
            </p:cNvPr>
            <p:cNvSpPr/>
            <p:nvPr/>
          </p:nvSpPr>
          <p:spPr>
            <a:xfrm>
              <a:off x="9482353" y="2661807"/>
              <a:ext cx="113100" cy="114600"/>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6" name="Google Shape;340;p18">
              <a:extLst>
                <a:ext uri="{FF2B5EF4-FFF2-40B4-BE49-F238E27FC236}">
                  <a16:creationId xmlns:a16="http://schemas.microsoft.com/office/drawing/2014/main" id="{8AECADB5-F74C-F0B9-BAC4-406C16EAA664}"/>
                </a:ext>
              </a:extLst>
            </p:cNvPr>
            <p:cNvSpPr txBox="1"/>
            <p:nvPr/>
          </p:nvSpPr>
          <p:spPr>
            <a:xfrm>
              <a:off x="9400286" y="2595959"/>
              <a:ext cx="289200" cy="23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00" dirty="0">
                  <a:solidFill>
                    <a:schemeClr val="lt1"/>
                  </a:solidFill>
                </a:rPr>
                <a:t> </a:t>
              </a:r>
              <a:r>
                <a:rPr lang="en" sz="500" dirty="0">
                  <a:solidFill>
                    <a:schemeClr val="lt1"/>
                  </a:solidFill>
                </a:rPr>
                <a:t>0.25</a:t>
              </a:r>
              <a:endParaRPr sz="500" dirty="0">
                <a:solidFill>
                  <a:schemeClr val="lt1"/>
                </a:solidFill>
              </a:endParaRPr>
            </a:p>
          </p:txBody>
        </p:sp>
        <p:sp>
          <p:nvSpPr>
            <p:cNvPr id="357" name="Google Shape;341;p18">
              <a:extLst>
                <a:ext uri="{FF2B5EF4-FFF2-40B4-BE49-F238E27FC236}">
                  <a16:creationId xmlns:a16="http://schemas.microsoft.com/office/drawing/2014/main" id="{2039CBF7-70B0-BDED-E42E-83F709D71825}"/>
                </a:ext>
              </a:extLst>
            </p:cNvPr>
            <p:cNvSpPr/>
            <p:nvPr/>
          </p:nvSpPr>
          <p:spPr>
            <a:xfrm>
              <a:off x="10141503" y="2300395"/>
              <a:ext cx="133800" cy="114600"/>
            </a:xfrm>
            <a:prstGeom prst="wedgeRectCallout">
              <a:avLst>
                <a:gd name="adj1" fmla="val -20833"/>
                <a:gd name="adj2" fmla="val 62500"/>
              </a:avLst>
            </a:prstGeom>
            <a:solidFill>
              <a:srgbClr val="E0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 name="Google Shape;342;p18">
              <a:extLst>
                <a:ext uri="{FF2B5EF4-FFF2-40B4-BE49-F238E27FC236}">
                  <a16:creationId xmlns:a16="http://schemas.microsoft.com/office/drawing/2014/main" id="{5563687D-9055-7BB1-2473-E7717789D300}"/>
                </a:ext>
              </a:extLst>
            </p:cNvPr>
            <p:cNvSpPr/>
            <p:nvPr/>
          </p:nvSpPr>
          <p:spPr>
            <a:xfrm>
              <a:off x="9912740" y="2300395"/>
              <a:ext cx="133800" cy="114600"/>
            </a:xfrm>
            <a:prstGeom prst="wedgeRectCallout">
              <a:avLst>
                <a:gd name="adj1" fmla="val -20833"/>
                <a:gd name="adj2" fmla="val 625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9" name="Google Shape;344;p18">
              <a:extLst>
                <a:ext uri="{FF2B5EF4-FFF2-40B4-BE49-F238E27FC236}">
                  <a16:creationId xmlns:a16="http://schemas.microsoft.com/office/drawing/2014/main" id="{FE507CCA-A8FD-2710-A804-D228A68FFE73}"/>
                </a:ext>
              </a:extLst>
            </p:cNvPr>
            <p:cNvSpPr txBox="1"/>
            <p:nvPr/>
          </p:nvSpPr>
          <p:spPr>
            <a:xfrm>
              <a:off x="10062053" y="1668745"/>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(2)</a:t>
              </a:r>
              <a:endParaRPr sz="686" dirty="0">
                <a:solidFill>
                  <a:schemeClr val="dk2"/>
                </a:solidFill>
                <a:latin typeface="Source Sans 3"/>
                <a:ea typeface="Source Sans 3"/>
                <a:cs typeface="Source Sans 3"/>
                <a:sym typeface="Source Sans 3"/>
              </a:endParaRPr>
            </a:p>
          </p:txBody>
        </p:sp>
        <p:sp>
          <p:nvSpPr>
            <p:cNvPr id="360" name="Google Shape;345;p18">
              <a:extLst>
                <a:ext uri="{FF2B5EF4-FFF2-40B4-BE49-F238E27FC236}">
                  <a16:creationId xmlns:a16="http://schemas.microsoft.com/office/drawing/2014/main" id="{A85DBBDD-5A51-CB01-A425-29B119A40362}"/>
                </a:ext>
              </a:extLst>
            </p:cNvPr>
            <p:cNvSpPr txBox="1"/>
            <p:nvPr/>
          </p:nvSpPr>
          <p:spPr>
            <a:xfrm>
              <a:off x="10079303" y="2023132"/>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(4)</a:t>
              </a:r>
              <a:endParaRPr sz="686">
                <a:solidFill>
                  <a:schemeClr val="dk2"/>
                </a:solidFill>
                <a:latin typeface="Source Sans 3"/>
                <a:ea typeface="Source Sans 3"/>
                <a:cs typeface="Source Sans 3"/>
                <a:sym typeface="Source Sans 3"/>
              </a:endParaRPr>
            </a:p>
          </p:txBody>
        </p:sp>
        <p:sp>
          <p:nvSpPr>
            <p:cNvPr id="361" name="Google Shape;346;p18">
              <a:extLst>
                <a:ext uri="{FF2B5EF4-FFF2-40B4-BE49-F238E27FC236}">
                  <a16:creationId xmlns:a16="http://schemas.microsoft.com/office/drawing/2014/main" id="{C0693E5E-FFE5-897E-55E1-EE2BF2273F13}"/>
                </a:ext>
              </a:extLst>
            </p:cNvPr>
            <p:cNvSpPr txBox="1"/>
            <p:nvPr/>
          </p:nvSpPr>
          <p:spPr>
            <a:xfrm>
              <a:off x="10964278" y="1800070"/>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(3)</a:t>
              </a:r>
              <a:endParaRPr sz="686">
                <a:solidFill>
                  <a:schemeClr val="dk2"/>
                </a:solidFill>
                <a:latin typeface="Source Sans 3"/>
                <a:ea typeface="Source Sans 3"/>
                <a:cs typeface="Source Sans 3"/>
                <a:sym typeface="Source Sans 3"/>
              </a:endParaRPr>
            </a:p>
          </p:txBody>
        </p:sp>
        <p:sp>
          <p:nvSpPr>
            <p:cNvPr id="362" name="Google Shape;347;p18">
              <a:extLst>
                <a:ext uri="{FF2B5EF4-FFF2-40B4-BE49-F238E27FC236}">
                  <a16:creationId xmlns:a16="http://schemas.microsoft.com/office/drawing/2014/main" id="{48F48851-8A37-F40C-EBBB-C26960AA3261}"/>
                </a:ext>
              </a:extLst>
            </p:cNvPr>
            <p:cNvSpPr/>
            <p:nvPr/>
          </p:nvSpPr>
          <p:spPr>
            <a:xfrm>
              <a:off x="107684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3" name="Google Shape;348;p18">
              <a:extLst>
                <a:ext uri="{FF2B5EF4-FFF2-40B4-BE49-F238E27FC236}">
                  <a16:creationId xmlns:a16="http://schemas.microsoft.com/office/drawing/2014/main" id="{CF79B935-9006-C5FE-3CD1-3BD4C0DD0087}"/>
                </a:ext>
              </a:extLst>
            </p:cNvPr>
            <p:cNvSpPr txBox="1"/>
            <p:nvPr/>
          </p:nvSpPr>
          <p:spPr>
            <a:xfrm>
              <a:off x="10702335" y="1945845"/>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364" name="Google Shape;349;p18">
              <a:extLst>
                <a:ext uri="{FF2B5EF4-FFF2-40B4-BE49-F238E27FC236}">
                  <a16:creationId xmlns:a16="http://schemas.microsoft.com/office/drawing/2014/main" id="{241B0F49-EB87-EEBF-EA13-43D815EF3F2D}"/>
                </a:ext>
              </a:extLst>
            </p:cNvPr>
            <p:cNvSpPr txBox="1"/>
            <p:nvPr/>
          </p:nvSpPr>
          <p:spPr>
            <a:xfrm>
              <a:off x="11020518" y="1948023"/>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365" name="Google Shape;350;p18">
              <a:extLst>
                <a:ext uri="{FF2B5EF4-FFF2-40B4-BE49-F238E27FC236}">
                  <a16:creationId xmlns:a16="http://schemas.microsoft.com/office/drawing/2014/main" id="{463BEA65-6626-0A2B-DBEB-426CE568EDFB}"/>
                </a:ext>
              </a:extLst>
            </p:cNvPr>
            <p:cNvSpPr/>
            <p:nvPr/>
          </p:nvSpPr>
          <p:spPr>
            <a:xfrm>
              <a:off x="109289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6" name="Google Shape;351;p18">
              <a:extLst>
                <a:ext uri="{FF2B5EF4-FFF2-40B4-BE49-F238E27FC236}">
                  <a16:creationId xmlns:a16="http://schemas.microsoft.com/office/drawing/2014/main" id="{A91D39AB-64DC-4438-7AC9-41CE2897284A}"/>
                </a:ext>
              </a:extLst>
            </p:cNvPr>
            <p:cNvSpPr/>
            <p:nvPr/>
          </p:nvSpPr>
          <p:spPr>
            <a:xfrm>
              <a:off x="110894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7" name="Google Shape;352;p18">
              <a:extLst>
                <a:ext uri="{FF2B5EF4-FFF2-40B4-BE49-F238E27FC236}">
                  <a16:creationId xmlns:a16="http://schemas.microsoft.com/office/drawing/2014/main" id="{37F2463D-F9F2-094C-A782-5B79E05C5EBC}"/>
                </a:ext>
              </a:extLst>
            </p:cNvPr>
            <p:cNvSpPr/>
            <p:nvPr/>
          </p:nvSpPr>
          <p:spPr>
            <a:xfrm>
              <a:off x="112499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8" name="Google Shape;353;p18">
              <a:extLst>
                <a:ext uri="{FF2B5EF4-FFF2-40B4-BE49-F238E27FC236}">
                  <a16:creationId xmlns:a16="http://schemas.microsoft.com/office/drawing/2014/main" id="{F3735308-5209-303C-6E16-45965418F067}"/>
                </a:ext>
              </a:extLst>
            </p:cNvPr>
            <p:cNvSpPr txBox="1"/>
            <p:nvPr/>
          </p:nvSpPr>
          <p:spPr>
            <a:xfrm>
              <a:off x="10863720" y="1948470"/>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369" name="Google Shape;354;p18">
              <a:extLst>
                <a:ext uri="{FF2B5EF4-FFF2-40B4-BE49-F238E27FC236}">
                  <a16:creationId xmlns:a16="http://schemas.microsoft.com/office/drawing/2014/main" id="{BF87E288-024F-F506-432B-50CD58946D4F}"/>
                </a:ext>
              </a:extLst>
            </p:cNvPr>
            <p:cNvSpPr txBox="1"/>
            <p:nvPr/>
          </p:nvSpPr>
          <p:spPr>
            <a:xfrm>
              <a:off x="11183172" y="1948019"/>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cxnSp>
          <p:nvCxnSpPr>
            <p:cNvPr id="370" name="Google Shape;357;p18">
              <a:extLst>
                <a:ext uri="{FF2B5EF4-FFF2-40B4-BE49-F238E27FC236}">
                  <a16:creationId xmlns:a16="http://schemas.microsoft.com/office/drawing/2014/main" id="{A256F3A2-A272-CF00-C418-B282F9636D0B}"/>
                </a:ext>
              </a:extLst>
            </p:cNvPr>
            <p:cNvCxnSpPr>
              <a:cxnSpLocks/>
              <a:stCxn id="343" idx="0"/>
              <a:endCxn id="348" idx="0"/>
            </p:cNvCxnSpPr>
            <p:nvPr/>
          </p:nvCxnSpPr>
          <p:spPr>
            <a:xfrm rot="16200000">
              <a:off x="10320239" y="886703"/>
              <a:ext cx="3000" cy="1595100"/>
            </a:xfrm>
            <a:prstGeom prst="bentConnector3">
              <a:avLst>
                <a:gd name="adj1" fmla="val 8041114"/>
              </a:avLst>
            </a:prstGeom>
            <a:noFill/>
            <a:ln w="9525" cap="flat" cmpd="sng">
              <a:solidFill>
                <a:schemeClr val="dk2"/>
              </a:solidFill>
              <a:prstDash val="solid"/>
              <a:round/>
              <a:headEnd type="none" w="med" len="med"/>
              <a:tailEnd type="triangle" w="med" len="med"/>
            </a:ln>
          </p:spPr>
        </p:cxnSp>
        <p:sp>
          <p:nvSpPr>
            <p:cNvPr id="371" name="Google Shape;358;p18">
              <a:extLst>
                <a:ext uri="{FF2B5EF4-FFF2-40B4-BE49-F238E27FC236}">
                  <a16:creationId xmlns:a16="http://schemas.microsoft.com/office/drawing/2014/main" id="{BDFF3A2C-6E09-6F13-6A45-C6C37A3F1E60}"/>
                </a:ext>
              </a:extLst>
            </p:cNvPr>
            <p:cNvSpPr txBox="1"/>
            <p:nvPr/>
          </p:nvSpPr>
          <p:spPr>
            <a:xfrm>
              <a:off x="9795878" y="1222007"/>
              <a:ext cx="972600" cy="18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dirty="0" err="1">
                  <a:solidFill>
                    <a:schemeClr val="dk2"/>
                  </a:solidFill>
                  <a:latin typeface="Source Sans 3"/>
                  <a:ea typeface="Source Sans 3"/>
                  <a:cs typeface="Source Sans 3"/>
                  <a:sym typeface="Source Sans 3"/>
                </a:rPr>
                <a:t>pysenti_train_model</a:t>
              </a:r>
              <a:r>
                <a:rPr lang="en" sz="650" dirty="0">
                  <a:solidFill>
                    <a:schemeClr val="dk2"/>
                  </a:solidFill>
                  <a:latin typeface="Source Sans 3"/>
                  <a:ea typeface="Source Sans 3"/>
                  <a:cs typeface="Source Sans 3"/>
                  <a:sym typeface="Source Sans 3"/>
                </a:rPr>
                <a:t>()</a:t>
              </a:r>
              <a:endParaRPr sz="650" dirty="0">
                <a:solidFill>
                  <a:schemeClr val="dk2"/>
                </a:solidFill>
                <a:latin typeface="Source Sans 3"/>
                <a:ea typeface="Source Sans 3"/>
                <a:cs typeface="Source Sans 3"/>
                <a:sym typeface="Source Sans 3"/>
              </a:endParaRPr>
            </a:p>
          </p:txBody>
        </p:sp>
        <p:grpSp>
          <p:nvGrpSpPr>
            <p:cNvPr id="372" name="Google Shape;359;p18">
              <a:extLst>
                <a:ext uri="{FF2B5EF4-FFF2-40B4-BE49-F238E27FC236}">
                  <a16:creationId xmlns:a16="http://schemas.microsoft.com/office/drawing/2014/main" id="{7364CBC3-E18A-B15D-6797-18BADFE5A67B}"/>
                </a:ext>
              </a:extLst>
            </p:cNvPr>
            <p:cNvGrpSpPr/>
            <p:nvPr/>
          </p:nvGrpSpPr>
          <p:grpSpPr>
            <a:xfrm>
              <a:off x="8600328" y="1454457"/>
              <a:ext cx="307200" cy="189300"/>
              <a:chOff x="3007175" y="1757600"/>
              <a:chExt cx="307200" cy="189300"/>
            </a:xfrm>
          </p:grpSpPr>
          <p:sp>
            <p:nvSpPr>
              <p:cNvPr id="398" name="Google Shape;360;p18">
                <a:extLst>
                  <a:ext uri="{FF2B5EF4-FFF2-40B4-BE49-F238E27FC236}">
                    <a16:creationId xmlns:a16="http://schemas.microsoft.com/office/drawing/2014/main" id="{0AEDD04B-EA9D-B598-1C35-829F52589EF5}"/>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9" name="Google Shape;361;p18">
                <a:extLst>
                  <a:ext uri="{FF2B5EF4-FFF2-40B4-BE49-F238E27FC236}">
                    <a16:creationId xmlns:a16="http://schemas.microsoft.com/office/drawing/2014/main" id="{E3F03678-8088-5EE2-4691-C67AF706233D}"/>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 name="Google Shape;362;p18">
                <a:extLst>
                  <a:ext uri="{FF2B5EF4-FFF2-40B4-BE49-F238E27FC236}">
                    <a16:creationId xmlns:a16="http://schemas.microsoft.com/office/drawing/2014/main" id="{43ECC186-4170-7434-4D8D-184C6E7F1BC9}"/>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 name="Google Shape;363;p18">
                <a:extLst>
                  <a:ext uri="{FF2B5EF4-FFF2-40B4-BE49-F238E27FC236}">
                    <a16:creationId xmlns:a16="http://schemas.microsoft.com/office/drawing/2014/main" id="{4A80688C-DA3E-1880-063C-F535CA0EAC89}"/>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02" name="Google Shape;364;p18">
                <a:extLst>
                  <a:ext uri="{FF2B5EF4-FFF2-40B4-BE49-F238E27FC236}">
                    <a16:creationId xmlns:a16="http://schemas.microsoft.com/office/drawing/2014/main" id="{CA88C667-FF3A-16E0-D8F0-7E6A1E5B7343}"/>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3" name="Google Shape;365;p18">
                <a:extLst>
                  <a:ext uri="{FF2B5EF4-FFF2-40B4-BE49-F238E27FC236}">
                    <a16:creationId xmlns:a16="http://schemas.microsoft.com/office/drawing/2014/main" id="{6A2D3D3A-37F7-8A74-6C1D-A010371C70FF}"/>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4" name="Google Shape;366;p18">
                <a:extLst>
                  <a:ext uri="{FF2B5EF4-FFF2-40B4-BE49-F238E27FC236}">
                    <a16:creationId xmlns:a16="http://schemas.microsoft.com/office/drawing/2014/main" id="{30D2EF64-2821-13B2-145B-DED8252D1452}"/>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373" name="Google Shape;367;p18">
              <a:extLst>
                <a:ext uri="{FF2B5EF4-FFF2-40B4-BE49-F238E27FC236}">
                  <a16:creationId xmlns:a16="http://schemas.microsoft.com/office/drawing/2014/main" id="{6DA9AA78-92D2-A009-0060-7AF69887D1CE}"/>
                </a:ext>
              </a:extLst>
            </p:cNvPr>
            <p:cNvGrpSpPr/>
            <p:nvPr/>
          </p:nvGrpSpPr>
          <p:grpSpPr>
            <a:xfrm>
              <a:off x="8600315" y="1797920"/>
              <a:ext cx="307200" cy="189300"/>
              <a:chOff x="3007175" y="1757600"/>
              <a:chExt cx="307200" cy="189300"/>
            </a:xfrm>
          </p:grpSpPr>
          <p:sp>
            <p:nvSpPr>
              <p:cNvPr id="391" name="Google Shape;368;p18">
                <a:extLst>
                  <a:ext uri="{FF2B5EF4-FFF2-40B4-BE49-F238E27FC236}">
                    <a16:creationId xmlns:a16="http://schemas.microsoft.com/office/drawing/2014/main" id="{B3EDA9DE-7D80-1341-1080-B58701C75D71}"/>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 name="Google Shape;369;p18">
                <a:extLst>
                  <a:ext uri="{FF2B5EF4-FFF2-40B4-BE49-F238E27FC236}">
                    <a16:creationId xmlns:a16="http://schemas.microsoft.com/office/drawing/2014/main" id="{BCC8BA47-56D2-3486-347A-C0CF5392A5F3}"/>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 name="Google Shape;370;p18">
                <a:extLst>
                  <a:ext uri="{FF2B5EF4-FFF2-40B4-BE49-F238E27FC236}">
                    <a16:creationId xmlns:a16="http://schemas.microsoft.com/office/drawing/2014/main" id="{FBB32DD2-B842-25C3-B15B-D0316266F085}"/>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4" name="Google Shape;371;p18">
                <a:extLst>
                  <a:ext uri="{FF2B5EF4-FFF2-40B4-BE49-F238E27FC236}">
                    <a16:creationId xmlns:a16="http://schemas.microsoft.com/office/drawing/2014/main" id="{5D957B23-309B-257E-EABD-C78A8E86E062}"/>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95" name="Google Shape;372;p18">
                <a:extLst>
                  <a:ext uri="{FF2B5EF4-FFF2-40B4-BE49-F238E27FC236}">
                    <a16:creationId xmlns:a16="http://schemas.microsoft.com/office/drawing/2014/main" id="{85546393-1582-7180-BBB3-8A389430C294}"/>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96" name="Google Shape;373;p18">
                <a:extLst>
                  <a:ext uri="{FF2B5EF4-FFF2-40B4-BE49-F238E27FC236}">
                    <a16:creationId xmlns:a16="http://schemas.microsoft.com/office/drawing/2014/main" id="{23CBC85D-B283-4A98-A623-AAC949806D6D}"/>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97" name="Google Shape;374;p18">
                <a:extLst>
                  <a:ext uri="{FF2B5EF4-FFF2-40B4-BE49-F238E27FC236}">
                    <a16:creationId xmlns:a16="http://schemas.microsoft.com/office/drawing/2014/main" id="{8A677637-AB51-7C0F-7DB1-064CB46B9452}"/>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374" name="Google Shape;375;p18">
              <a:extLst>
                <a:ext uri="{FF2B5EF4-FFF2-40B4-BE49-F238E27FC236}">
                  <a16:creationId xmlns:a16="http://schemas.microsoft.com/office/drawing/2014/main" id="{3AEECA24-F700-E3C0-E7A7-DDAEA3331F14}"/>
                </a:ext>
              </a:extLst>
            </p:cNvPr>
            <p:cNvSpPr txBox="1"/>
            <p:nvPr/>
          </p:nvSpPr>
          <p:spPr>
            <a:xfrm>
              <a:off x="8540115" y="126943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375" name="Google Shape;376;p18">
              <a:extLst>
                <a:ext uri="{FF2B5EF4-FFF2-40B4-BE49-F238E27FC236}">
                  <a16:creationId xmlns:a16="http://schemas.microsoft.com/office/drawing/2014/main" id="{F723BB34-AC83-E196-C600-4AD7771312E9}"/>
                </a:ext>
              </a:extLst>
            </p:cNvPr>
            <p:cNvSpPr txBox="1"/>
            <p:nvPr/>
          </p:nvSpPr>
          <p:spPr>
            <a:xfrm>
              <a:off x="8600328" y="161682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Jira</a:t>
              </a:r>
              <a:endParaRPr sz="686" dirty="0">
                <a:solidFill>
                  <a:schemeClr val="dk2"/>
                </a:solidFill>
                <a:latin typeface="Source Sans 3"/>
                <a:ea typeface="Source Sans 3"/>
                <a:cs typeface="Source Sans 3"/>
                <a:sym typeface="Source Sans 3"/>
              </a:endParaRPr>
            </a:p>
          </p:txBody>
        </p:sp>
        <p:grpSp>
          <p:nvGrpSpPr>
            <p:cNvPr id="376" name="Google Shape;377;p18">
              <a:extLst>
                <a:ext uri="{FF2B5EF4-FFF2-40B4-BE49-F238E27FC236}">
                  <a16:creationId xmlns:a16="http://schemas.microsoft.com/office/drawing/2014/main" id="{32804075-49CD-8A46-78AC-57511CC84ABC}"/>
                </a:ext>
              </a:extLst>
            </p:cNvPr>
            <p:cNvGrpSpPr/>
            <p:nvPr/>
          </p:nvGrpSpPr>
          <p:grpSpPr>
            <a:xfrm>
              <a:off x="8608365" y="2251695"/>
              <a:ext cx="307200" cy="297900"/>
              <a:chOff x="3021975" y="2389850"/>
              <a:chExt cx="307200" cy="297900"/>
            </a:xfrm>
          </p:grpSpPr>
          <p:sp>
            <p:nvSpPr>
              <p:cNvPr id="381" name="Google Shape;378;p18">
                <a:extLst>
                  <a:ext uri="{FF2B5EF4-FFF2-40B4-BE49-F238E27FC236}">
                    <a16:creationId xmlns:a16="http://schemas.microsoft.com/office/drawing/2014/main" id="{B08F858C-6E97-489E-2FC0-35C4EB9CCBE8}"/>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382" name="Google Shape;379;p18">
                <a:extLst>
                  <a:ext uri="{FF2B5EF4-FFF2-40B4-BE49-F238E27FC236}">
                    <a16:creationId xmlns:a16="http://schemas.microsoft.com/office/drawing/2014/main" id="{76E90570-DE53-2D34-E474-F86A15BBEDD4}"/>
                  </a:ext>
                </a:extLst>
              </p:cNvPr>
              <p:cNvGrpSpPr/>
              <p:nvPr/>
            </p:nvGrpSpPr>
            <p:grpSpPr>
              <a:xfrm>
                <a:off x="3021975" y="2389850"/>
                <a:ext cx="307200" cy="295800"/>
                <a:chOff x="3021975" y="2389850"/>
                <a:chExt cx="307200" cy="295800"/>
              </a:xfrm>
            </p:grpSpPr>
            <p:sp>
              <p:nvSpPr>
                <p:cNvPr id="383" name="Google Shape;380;p18">
                  <a:extLst>
                    <a:ext uri="{FF2B5EF4-FFF2-40B4-BE49-F238E27FC236}">
                      <a16:creationId xmlns:a16="http://schemas.microsoft.com/office/drawing/2014/main" id="{A7D06126-CFDB-A6B1-F5BC-9230FE154645}"/>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4" name="Google Shape;381;p18">
                  <a:extLst>
                    <a:ext uri="{FF2B5EF4-FFF2-40B4-BE49-F238E27FC236}">
                      <a16:creationId xmlns:a16="http://schemas.microsoft.com/office/drawing/2014/main" id="{664ABA00-291F-D27A-F20D-DD1757F7A67C}"/>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85" name="Google Shape;382;p18">
                  <a:extLst>
                    <a:ext uri="{FF2B5EF4-FFF2-40B4-BE49-F238E27FC236}">
                      <a16:creationId xmlns:a16="http://schemas.microsoft.com/office/drawing/2014/main" id="{FC9C05A8-4A4C-CAD7-384E-ACB81B5F695D}"/>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86" name="Google Shape;383;p18">
                  <a:extLst>
                    <a:ext uri="{FF2B5EF4-FFF2-40B4-BE49-F238E27FC236}">
                      <a16:creationId xmlns:a16="http://schemas.microsoft.com/office/drawing/2014/main" id="{84AEE325-1005-11CE-0BB9-6D968B27CD10}"/>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87" name="Google Shape;384;p18">
                  <a:extLst>
                    <a:ext uri="{FF2B5EF4-FFF2-40B4-BE49-F238E27FC236}">
                      <a16:creationId xmlns:a16="http://schemas.microsoft.com/office/drawing/2014/main" id="{43FD64D8-37C3-5D98-992F-1A96AC15114F}"/>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88" name="Google Shape;385;p18">
                  <a:extLst>
                    <a:ext uri="{FF2B5EF4-FFF2-40B4-BE49-F238E27FC236}">
                      <a16:creationId xmlns:a16="http://schemas.microsoft.com/office/drawing/2014/main" id="{0165D2C2-DE46-CCB1-766F-558124DFC635}"/>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9" name="Google Shape;386;p18">
                  <a:extLst>
                    <a:ext uri="{FF2B5EF4-FFF2-40B4-BE49-F238E27FC236}">
                      <a16:creationId xmlns:a16="http://schemas.microsoft.com/office/drawing/2014/main" id="{9EA72940-EB07-1C31-30AF-7FBCBBF14AB8}"/>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90" name="Google Shape;387;p18">
                  <a:extLst>
                    <a:ext uri="{FF2B5EF4-FFF2-40B4-BE49-F238E27FC236}">
                      <a16:creationId xmlns:a16="http://schemas.microsoft.com/office/drawing/2014/main" id="{9957D583-26FE-BB99-F724-C0C6CBF6E9A8}"/>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377" name="Google Shape;388;p18">
              <a:extLst>
                <a:ext uri="{FF2B5EF4-FFF2-40B4-BE49-F238E27FC236}">
                  <a16:creationId xmlns:a16="http://schemas.microsoft.com/office/drawing/2014/main" id="{624DD757-CF33-DD51-49C5-E48725A79CA2}"/>
                </a:ext>
              </a:extLst>
            </p:cNvPr>
            <p:cNvSpPr txBox="1"/>
            <p:nvPr/>
          </p:nvSpPr>
          <p:spPr>
            <a:xfrm>
              <a:off x="8477126" y="2049850"/>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cxnSp>
          <p:nvCxnSpPr>
            <p:cNvPr id="378" name="Google Shape;389;p18">
              <a:extLst>
                <a:ext uri="{FF2B5EF4-FFF2-40B4-BE49-F238E27FC236}">
                  <a16:creationId xmlns:a16="http://schemas.microsoft.com/office/drawing/2014/main" id="{17E2CD75-C49D-9C15-6AA7-0863DED51203}"/>
                </a:ext>
              </a:extLst>
            </p:cNvPr>
            <p:cNvCxnSpPr/>
            <p:nvPr/>
          </p:nvCxnSpPr>
          <p:spPr>
            <a:xfrm>
              <a:off x="8757253" y="2588620"/>
              <a:ext cx="0" cy="105900"/>
            </a:xfrm>
            <a:prstGeom prst="straightConnector1">
              <a:avLst/>
            </a:prstGeom>
            <a:noFill/>
            <a:ln w="9525" cap="flat" cmpd="sng">
              <a:solidFill>
                <a:schemeClr val="dk2"/>
              </a:solidFill>
              <a:prstDash val="dot"/>
              <a:round/>
              <a:headEnd type="none" w="med" len="med"/>
              <a:tailEnd type="none" w="med" len="med"/>
            </a:ln>
          </p:spPr>
        </p:cxnSp>
        <p:sp>
          <p:nvSpPr>
            <p:cNvPr id="379" name="Google Shape;390;p18">
              <a:extLst>
                <a:ext uri="{FF2B5EF4-FFF2-40B4-BE49-F238E27FC236}">
                  <a16:creationId xmlns:a16="http://schemas.microsoft.com/office/drawing/2014/main" id="{59F84365-F2CD-5C3B-4EEA-FC92766F6577}"/>
                </a:ext>
              </a:extLst>
            </p:cNvPr>
            <p:cNvSpPr/>
            <p:nvPr/>
          </p:nvSpPr>
          <p:spPr>
            <a:xfrm>
              <a:off x="8607990" y="271704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0" name="Google Shape;344;p18">
              <a:extLst>
                <a:ext uri="{FF2B5EF4-FFF2-40B4-BE49-F238E27FC236}">
                  <a16:creationId xmlns:a16="http://schemas.microsoft.com/office/drawing/2014/main" id="{3F7DC8B5-A217-BC91-F410-464EBE9D614D}"/>
                </a:ext>
              </a:extLst>
            </p:cNvPr>
            <p:cNvSpPr txBox="1"/>
            <p:nvPr/>
          </p:nvSpPr>
          <p:spPr>
            <a:xfrm>
              <a:off x="8629070" y="1075788"/>
              <a:ext cx="274200" cy="23835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(1)</a:t>
              </a:r>
              <a:endParaRPr sz="686" dirty="0">
                <a:solidFill>
                  <a:schemeClr val="dk2"/>
                </a:solidFill>
                <a:latin typeface="Source Sans 3"/>
                <a:ea typeface="Source Sans 3"/>
                <a:cs typeface="Source Sans 3"/>
                <a:sym typeface="Source Sans 3"/>
              </a:endParaRPr>
            </a:p>
          </p:txBody>
        </p:sp>
      </p:grpSp>
      <p:sp>
        <p:nvSpPr>
          <p:cNvPr id="405" name="Google Shape;394;p18">
            <a:extLst>
              <a:ext uri="{FF2B5EF4-FFF2-40B4-BE49-F238E27FC236}">
                <a16:creationId xmlns:a16="http://schemas.microsoft.com/office/drawing/2014/main" id="{E922295F-E083-4DDB-5CB1-E6A2AC737111}"/>
              </a:ext>
            </a:extLst>
          </p:cNvPr>
          <p:cNvSpPr txBox="1"/>
          <p:nvPr/>
        </p:nvSpPr>
        <p:spPr>
          <a:xfrm>
            <a:off x="10963395" y="7010441"/>
            <a:ext cx="1433762" cy="10229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dirty="0" err="1">
                <a:solidFill>
                  <a:schemeClr val="dk2"/>
                </a:solidFill>
                <a:latin typeface="Source Sans 3"/>
                <a:ea typeface="Source Sans 3"/>
                <a:cs typeface="Source Sans 3"/>
                <a:sym typeface="Source Sans 3"/>
              </a:rPr>
              <a:t>sentiment_analysis.Rmd</a:t>
            </a:r>
            <a:endParaRPr sz="800" dirty="0">
              <a:solidFill>
                <a:schemeClr val="dk2"/>
              </a:solidFill>
              <a:latin typeface="Source Sans 3"/>
              <a:ea typeface="Source Sans 3"/>
              <a:cs typeface="Source Sans 3"/>
              <a:sym typeface="Source Sans 3"/>
            </a:endParaRPr>
          </a:p>
        </p:txBody>
      </p:sp>
      <p:sp>
        <p:nvSpPr>
          <p:cNvPr id="406" name="Layout Suggestions">
            <a:extLst>
              <a:ext uri="{FF2B5EF4-FFF2-40B4-BE49-F238E27FC236}">
                <a16:creationId xmlns:a16="http://schemas.microsoft.com/office/drawing/2014/main" id="{81A69106-5F9B-32D1-8E34-7E6FAFCB2764}"/>
              </a:ext>
            </a:extLst>
          </p:cNvPr>
          <p:cNvSpPr txBox="1"/>
          <p:nvPr/>
        </p:nvSpPr>
        <p:spPr>
          <a:xfrm>
            <a:off x="159998" y="6661138"/>
            <a:ext cx="423108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b="0" dirty="0"/>
              <a:t>Label Selection Criteria</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407" name="TextBox 406">
            <a:extLst>
              <a:ext uri="{FF2B5EF4-FFF2-40B4-BE49-F238E27FC236}">
                <a16:creationId xmlns:a16="http://schemas.microsoft.com/office/drawing/2014/main" id="{B8742138-21EF-51B7-74B9-B49255778A8F}"/>
              </a:ext>
            </a:extLst>
          </p:cNvPr>
          <p:cNvSpPr txBox="1"/>
          <p:nvPr/>
        </p:nvSpPr>
        <p:spPr>
          <a:xfrm>
            <a:off x="132572" y="6906908"/>
            <a:ext cx="4258512"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Sentiment labels span both main project repos and their forks. However, since forked repos contain a small fraction (&lt; 10%)  of labeled comments, only comments from the project’s main repo are kept.</a:t>
            </a:r>
          </a:p>
        </p:txBody>
      </p:sp>
      <p:sp>
        <p:nvSpPr>
          <p:cNvPr id="408" name="TextBox 407">
            <a:extLst>
              <a:ext uri="{FF2B5EF4-FFF2-40B4-BE49-F238E27FC236}">
                <a16:creationId xmlns:a16="http://schemas.microsoft.com/office/drawing/2014/main" id="{5E5B9D76-F3A3-E602-B4B0-ED2BC5225C12}"/>
              </a:ext>
            </a:extLst>
          </p:cNvPr>
          <p:cNvSpPr txBox="1"/>
          <p:nvPr/>
        </p:nvSpPr>
        <p:spPr>
          <a:xfrm>
            <a:off x="1030041" y="8215136"/>
            <a:ext cx="10348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Main Repo</a:t>
            </a:r>
            <a:endParaRPr lang="en-US" sz="800" b="0" dirty="0"/>
          </a:p>
        </p:txBody>
      </p:sp>
      <p:sp>
        <p:nvSpPr>
          <p:cNvPr id="409" name="TextBox 408">
            <a:extLst>
              <a:ext uri="{FF2B5EF4-FFF2-40B4-BE49-F238E27FC236}">
                <a16:creationId xmlns:a16="http://schemas.microsoft.com/office/drawing/2014/main" id="{F13505E4-5F73-6C5C-8B18-41E3412CCCE2}"/>
              </a:ext>
            </a:extLst>
          </p:cNvPr>
          <p:cNvSpPr txBox="1"/>
          <p:nvPr/>
        </p:nvSpPr>
        <p:spPr>
          <a:xfrm>
            <a:off x="2416383" y="8215136"/>
            <a:ext cx="10348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Fork Repo</a:t>
            </a:r>
            <a:endParaRPr lang="en-US" sz="800" b="0" dirty="0"/>
          </a:p>
        </p:txBody>
      </p:sp>
      <p:sp>
        <p:nvSpPr>
          <p:cNvPr id="410" name="TextBox 409">
            <a:extLst>
              <a:ext uri="{FF2B5EF4-FFF2-40B4-BE49-F238E27FC236}">
                <a16:creationId xmlns:a16="http://schemas.microsoft.com/office/drawing/2014/main" id="{657CA0BC-49A6-A3EC-209C-EC1330F53D35}"/>
              </a:ext>
            </a:extLst>
          </p:cNvPr>
          <p:cNvSpPr txBox="1"/>
          <p:nvPr/>
        </p:nvSpPr>
        <p:spPr>
          <a:xfrm>
            <a:off x="123843" y="8472311"/>
            <a:ext cx="4346831"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Jira Emotion CSV contains emotion labels manually determined from multiple raters. Only comments with labels that show higher inter-rater agreement are kept.</a:t>
            </a:r>
          </a:p>
        </p:txBody>
      </p:sp>
      <p:sp>
        <p:nvSpPr>
          <p:cNvPr id="411" name="Google Shape;338;p18">
            <a:extLst>
              <a:ext uri="{FF2B5EF4-FFF2-40B4-BE49-F238E27FC236}">
                <a16:creationId xmlns:a16="http://schemas.microsoft.com/office/drawing/2014/main" id="{83CD36D3-5DEE-9555-5A12-2B20E1253D91}"/>
              </a:ext>
            </a:extLst>
          </p:cNvPr>
          <p:cNvSpPr/>
          <p:nvPr/>
        </p:nvSpPr>
        <p:spPr>
          <a:xfrm>
            <a:off x="678571" y="9348859"/>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2" name="Line">
            <a:extLst>
              <a:ext uri="{FF2B5EF4-FFF2-40B4-BE49-F238E27FC236}">
                <a16:creationId xmlns:a16="http://schemas.microsoft.com/office/drawing/2014/main" id="{1C3C8526-019C-E2C4-3FA9-A864C26689DD}"/>
              </a:ext>
            </a:extLst>
          </p:cNvPr>
          <p:cNvSpPr/>
          <p:nvPr/>
        </p:nvSpPr>
        <p:spPr>
          <a:xfrm flipH="1" flipV="1">
            <a:off x="3154971" y="4050753"/>
            <a:ext cx="1" cy="945321"/>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13" name="TextBox 412">
            <a:extLst>
              <a:ext uri="{FF2B5EF4-FFF2-40B4-BE49-F238E27FC236}">
                <a16:creationId xmlns:a16="http://schemas.microsoft.com/office/drawing/2014/main" id="{7F0AF207-5B2C-38F0-DE8A-5F8635EDEDF7}"/>
              </a:ext>
            </a:extLst>
          </p:cNvPr>
          <p:cNvSpPr txBox="1"/>
          <p:nvPr/>
        </p:nvSpPr>
        <p:spPr>
          <a:xfrm>
            <a:off x="3221935" y="4247371"/>
            <a:ext cx="97054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Sentiment</a:t>
            </a:r>
          </a:p>
        </p:txBody>
      </p:sp>
      <p:sp>
        <p:nvSpPr>
          <p:cNvPr id="414" name="Line">
            <a:extLst>
              <a:ext uri="{FF2B5EF4-FFF2-40B4-BE49-F238E27FC236}">
                <a16:creationId xmlns:a16="http://schemas.microsoft.com/office/drawing/2014/main" id="{2B2B50D1-0AE2-ADCF-6713-2A418EA9D523}"/>
              </a:ext>
            </a:extLst>
          </p:cNvPr>
          <p:cNvSpPr/>
          <p:nvPr/>
        </p:nvSpPr>
        <p:spPr>
          <a:xfrm flipH="1" flipV="1">
            <a:off x="3162257" y="5448883"/>
            <a:ext cx="1" cy="945321"/>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15" name="TextBox 414">
            <a:extLst>
              <a:ext uri="{FF2B5EF4-FFF2-40B4-BE49-F238E27FC236}">
                <a16:creationId xmlns:a16="http://schemas.microsoft.com/office/drawing/2014/main" id="{B29646CF-A9D2-6A9C-D386-7EED96C06439}"/>
              </a:ext>
            </a:extLst>
          </p:cNvPr>
          <p:cNvSpPr txBox="1"/>
          <p:nvPr/>
        </p:nvSpPr>
        <p:spPr>
          <a:xfrm>
            <a:off x="3229221" y="5645501"/>
            <a:ext cx="97054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Emotion</a:t>
            </a:r>
          </a:p>
        </p:txBody>
      </p:sp>
      <p:pic>
        <p:nvPicPr>
          <p:cNvPr id="416" name="Picture 415" descr="A picture containing text&#10;&#10;Description automatically generated">
            <a:extLst>
              <a:ext uri="{FF2B5EF4-FFF2-40B4-BE49-F238E27FC236}">
                <a16:creationId xmlns:a16="http://schemas.microsoft.com/office/drawing/2014/main" id="{6E0F0C74-C124-AAB1-CAF9-B34EAA63AE3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24189" y="4383757"/>
            <a:ext cx="585008" cy="679364"/>
          </a:xfrm>
          <a:prstGeom prst="rect">
            <a:avLst/>
          </a:prstGeom>
        </p:spPr>
      </p:pic>
      <p:sp>
        <p:nvSpPr>
          <p:cNvPr id="417" name="TextBox 416">
            <a:extLst>
              <a:ext uri="{FF2B5EF4-FFF2-40B4-BE49-F238E27FC236}">
                <a16:creationId xmlns:a16="http://schemas.microsoft.com/office/drawing/2014/main" id="{02985628-7422-36A6-8B2A-2D5AE75585FA}"/>
              </a:ext>
            </a:extLst>
          </p:cNvPr>
          <p:cNvSpPr txBox="1"/>
          <p:nvPr/>
        </p:nvSpPr>
        <p:spPr>
          <a:xfrm>
            <a:off x="7111672" y="9130878"/>
            <a:ext cx="72095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err="1"/>
              <a:t>sailuh</a:t>
            </a:r>
            <a:r>
              <a:rPr lang="en-US" sz="800" b="0" dirty="0"/>
              <a:t>/</a:t>
            </a:r>
            <a:r>
              <a:rPr lang="en-US" sz="800" b="0" dirty="0" err="1"/>
              <a:t>kaiaulu</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418" name="Picture 417" descr="A picture containing text&#10;&#10;Description automatically generated">
            <a:extLst>
              <a:ext uri="{FF2B5EF4-FFF2-40B4-BE49-F238E27FC236}">
                <a16:creationId xmlns:a16="http://schemas.microsoft.com/office/drawing/2014/main" id="{D574CF0E-122C-41DC-322F-176B2A9FA56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88144" y="8468874"/>
            <a:ext cx="585008" cy="679364"/>
          </a:xfrm>
          <a:prstGeom prst="rect">
            <a:avLst/>
          </a:prstGeom>
        </p:spPr>
      </p:pic>
      <p:sp>
        <p:nvSpPr>
          <p:cNvPr id="419" name="Can 418">
            <a:extLst>
              <a:ext uri="{FF2B5EF4-FFF2-40B4-BE49-F238E27FC236}">
                <a16:creationId xmlns:a16="http://schemas.microsoft.com/office/drawing/2014/main" id="{7B942F37-3DDF-23D7-0ABE-4847E6AEEB5D}"/>
              </a:ext>
            </a:extLst>
          </p:cNvPr>
          <p:cNvSpPr/>
          <p:nvPr/>
        </p:nvSpPr>
        <p:spPr>
          <a:xfrm>
            <a:off x="2164242" y="5501642"/>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20" name="Can 419">
            <a:extLst>
              <a:ext uri="{FF2B5EF4-FFF2-40B4-BE49-F238E27FC236}">
                <a16:creationId xmlns:a16="http://schemas.microsoft.com/office/drawing/2014/main" id="{51F7F92A-7B6B-CA39-B5D5-43D7101D453F}"/>
              </a:ext>
            </a:extLst>
          </p:cNvPr>
          <p:cNvSpPr/>
          <p:nvPr/>
        </p:nvSpPr>
        <p:spPr>
          <a:xfrm>
            <a:off x="8020123" y="2662290"/>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21" name="Can 420">
            <a:extLst>
              <a:ext uri="{FF2B5EF4-FFF2-40B4-BE49-F238E27FC236}">
                <a16:creationId xmlns:a16="http://schemas.microsoft.com/office/drawing/2014/main" id="{A76F7176-64B0-FDD3-8E72-82FE1F793A2B}"/>
              </a:ext>
            </a:extLst>
          </p:cNvPr>
          <p:cNvSpPr/>
          <p:nvPr/>
        </p:nvSpPr>
        <p:spPr>
          <a:xfrm>
            <a:off x="7973474" y="6674341"/>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422" name="Connector: Elbow 504">
            <a:extLst>
              <a:ext uri="{FF2B5EF4-FFF2-40B4-BE49-F238E27FC236}">
                <a16:creationId xmlns:a16="http://schemas.microsoft.com/office/drawing/2014/main" id="{6F20240B-7C09-66D7-6A45-B959D06B45F5}"/>
              </a:ext>
            </a:extLst>
          </p:cNvPr>
          <p:cNvCxnSpPr>
            <a:cxnSpLocks/>
            <a:endCxn id="343" idx="1"/>
          </p:cNvCxnSpPr>
          <p:nvPr/>
        </p:nvCxnSpPr>
        <p:spPr>
          <a:xfrm>
            <a:off x="10264774" y="8108060"/>
            <a:ext cx="260324" cy="6619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423" name="Group 422">
            <a:extLst>
              <a:ext uri="{FF2B5EF4-FFF2-40B4-BE49-F238E27FC236}">
                <a16:creationId xmlns:a16="http://schemas.microsoft.com/office/drawing/2014/main" id="{461C37C9-1D11-5520-CA1E-C6DE8E15EF12}"/>
              </a:ext>
            </a:extLst>
          </p:cNvPr>
          <p:cNvGrpSpPr/>
          <p:nvPr/>
        </p:nvGrpSpPr>
        <p:grpSpPr>
          <a:xfrm>
            <a:off x="10255192" y="8324484"/>
            <a:ext cx="258099" cy="400772"/>
            <a:chOff x="4995414" y="5124450"/>
            <a:chExt cx="279788" cy="627063"/>
          </a:xfrm>
        </p:grpSpPr>
        <p:cxnSp>
          <p:nvCxnSpPr>
            <p:cNvPr id="424" name="Straight Connector 423">
              <a:extLst>
                <a:ext uri="{FF2B5EF4-FFF2-40B4-BE49-F238E27FC236}">
                  <a16:creationId xmlns:a16="http://schemas.microsoft.com/office/drawing/2014/main" id="{0AC8B8D3-FD73-429F-11D4-980939E08820}"/>
                </a:ext>
              </a:extLst>
            </p:cNvPr>
            <p:cNvCxnSpPr>
              <a:cxnSpLocks/>
            </p:cNvCxnSpPr>
            <p:nvPr/>
          </p:nvCxnSpPr>
          <p:spPr>
            <a:xfrm>
              <a:off x="4995414" y="5748338"/>
              <a:ext cx="157186" cy="0"/>
            </a:xfrm>
            <a:prstGeom prst="line">
              <a:avLst/>
            </a:prstGeom>
          </p:spPr>
          <p:style>
            <a:lnRef idx="1">
              <a:schemeClr val="dk1"/>
            </a:lnRef>
            <a:fillRef idx="0">
              <a:schemeClr val="dk1"/>
            </a:fillRef>
            <a:effectRef idx="0">
              <a:schemeClr val="dk1"/>
            </a:effectRef>
            <a:fontRef idx="minor">
              <a:schemeClr val="tx1"/>
            </a:fontRef>
          </p:style>
        </p:cxnSp>
        <p:cxnSp>
          <p:nvCxnSpPr>
            <p:cNvPr id="425" name="Straight Connector 424">
              <a:extLst>
                <a:ext uri="{FF2B5EF4-FFF2-40B4-BE49-F238E27FC236}">
                  <a16:creationId xmlns:a16="http://schemas.microsoft.com/office/drawing/2014/main" id="{0349F945-1EE2-0D56-7044-8F611E4B8EDE}"/>
                </a:ext>
              </a:extLst>
            </p:cNvPr>
            <p:cNvCxnSpPr/>
            <p:nvPr/>
          </p:nvCxnSpPr>
          <p:spPr>
            <a:xfrm flipV="1">
              <a:off x="5152600" y="5124450"/>
              <a:ext cx="0" cy="627063"/>
            </a:xfrm>
            <a:prstGeom prst="line">
              <a:avLst/>
            </a:prstGeom>
          </p:spPr>
          <p:style>
            <a:lnRef idx="1">
              <a:schemeClr val="dk1"/>
            </a:lnRef>
            <a:fillRef idx="0">
              <a:schemeClr val="dk1"/>
            </a:fillRef>
            <a:effectRef idx="0">
              <a:schemeClr val="dk1"/>
            </a:effectRef>
            <a:fontRef idx="minor">
              <a:schemeClr val="tx1"/>
            </a:fontRef>
          </p:style>
        </p:cxnSp>
        <p:cxnSp>
          <p:nvCxnSpPr>
            <p:cNvPr id="426" name="Straight Arrow Connector 425">
              <a:extLst>
                <a:ext uri="{FF2B5EF4-FFF2-40B4-BE49-F238E27FC236}">
                  <a16:creationId xmlns:a16="http://schemas.microsoft.com/office/drawing/2014/main" id="{214EFBEE-B460-F04D-AE42-0F65D312BAB8}"/>
                </a:ext>
              </a:extLst>
            </p:cNvPr>
            <p:cNvCxnSpPr/>
            <p:nvPr/>
          </p:nvCxnSpPr>
          <p:spPr>
            <a:xfrm>
              <a:off x="5152600" y="5129213"/>
              <a:ext cx="1226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427" name="Group 426">
            <a:extLst>
              <a:ext uri="{FF2B5EF4-FFF2-40B4-BE49-F238E27FC236}">
                <a16:creationId xmlns:a16="http://schemas.microsoft.com/office/drawing/2014/main" id="{B60E5904-99A2-41C6-26B9-AF0B84B3DA4E}"/>
              </a:ext>
            </a:extLst>
          </p:cNvPr>
          <p:cNvGrpSpPr/>
          <p:nvPr/>
        </p:nvGrpSpPr>
        <p:grpSpPr>
          <a:xfrm>
            <a:off x="10273320" y="7711032"/>
            <a:ext cx="246605" cy="248161"/>
            <a:chOff x="4995414" y="4014788"/>
            <a:chExt cx="318346" cy="642937"/>
          </a:xfrm>
        </p:grpSpPr>
        <p:cxnSp>
          <p:nvCxnSpPr>
            <p:cNvPr id="428" name="Straight Connector 427">
              <a:extLst>
                <a:ext uri="{FF2B5EF4-FFF2-40B4-BE49-F238E27FC236}">
                  <a16:creationId xmlns:a16="http://schemas.microsoft.com/office/drawing/2014/main" id="{720950B3-93DE-836F-12CF-51EC474BDD52}"/>
                </a:ext>
              </a:extLst>
            </p:cNvPr>
            <p:cNvCxnSpPr>
              <a:cxnSpLocks/>
            </p:cNvCxnSpPr>
            <p:nvPr/>
          </p:nvCxnSpPr>
          <p:spPr>
            <a:xfrm>
              <a:off x="4995414" y="4014788"/>
              <a:ext cx="175470" cy="0"/>
            </a:xfrm>
            <a:prstGeom prst="line">
              <a:avLst/>
            </a:prstGeom>
          </p:spPr>
          <p:style>
            <a:lnRef idx="1">
              <a:schemeClr val="dk1"/>
            </a:lnRef>
            <a:fillRef idx="0">
              <a:schemeClr val="dk1"/>
            </a:fillRef>
            <a:effectRef idx="0">
              <a:schemeClr val="dk1"/>
            </a:effectRef>
            <a:fontRef idx="minor">
              <a:schemeClr val="tx1"/>
            </a:fontRef>
          </p:style>
        </p:cxnSp>
        <p:cxnSp>
          <p:nvCxnSpPr>
            <p:cNvPr id="429" name="Straight Connector 428">
              <a:extLst>
                <a:ext uri="{FF2B5EF4-FFF2-40B4-BE49-F238E27FC236}">
                  <a16:creationId xmlns:a16="http://schemas.microsoft.com/office/drawing/2014/main" id="{428DE5C4-BD21-E028-56D1-67E6DD657518}"/>
                </a:ext>
              </a:extLst>
            </p:cNvPr>
            <p:cNvCxnSpPr/>
            <p:nvPr/>
          </p:nvCxnSpPr>
          <p:spPr>
            <a:xfrm>
              <a:off x="5168503" y="4014788"/>
              <a:ext cx="0" cy="642937"/>
            </a:xfrm>
            <a:prstGeom prst="line">
              <a:avLst/>
            </a:prstGeom>
          </p:spPr>
          <p:style>
            <a:lnRef idx="1">
              <a:schemeClr val="dk1"/>
            </a:lnRef>
            <a:fillRef idx="0">
              <a:schemeClr val="dk1"/>
            </a:fillRef>
            <a:effectRef idx="0">
              <a:schemeClr val="dk1"/>
            </a:effectRef>
            <a:fontRef idx="minor">
              <a:schemeClr val="tx1"/>
            </a:fontRef>
          </p:style>
        </p:cxnSp>
        <p:cxnSp>
          <p:nvCxnSpPr>
            <p:cNvPr id="430" name="Straight Arrow Connector 429">
              <a:extLst>
                <a:ext uri="{FF2B5EF4-FFF2-40B4-BE49-F238E27FC236}">
                  <a16:creationId xmlns:a16="http://schemas.microsoft.com/office/drawing/2014/main" id="{74917D55-7033-E167-8D95-775DB68C9C6C}"/>
                </a:ext>
              </a:extLst>
            </p:cNvPr>
            <p:cNvCxnSpPr/>
            <p:nvPr/>
          </p:nvCxnSpPr>
          <p:spPr>
            <a:xfrm>
              <a:off x="5163741" y="4657725"/>
              <a:ext cx="1500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1" name="Group 430">
            <a:extLst>
              <a:ext uri="{FF2B5EF4-FFF2-40B4-BE49-F238E27FC236}">
                <a16:creationId xmlns:a16="http://schemas.microsoft.com/office/drawing/2014/main" id="{4F52FB03-0ED3-1F2A-EF22-27E1802C5DF9}"/>
              </a:ext>
            </a:extLst>
          </p:cNvPr>
          <p:cNvGrpSpPr/>
          <p:nvPr/>
        </p:nvGrpSpPr>
        <p:grpSpPr>
          <a:xfrm>
            <a:off x="1092074" y="7766592"/>
            <a:ext cx="953200" cy="458010"/>
            <a:chOff x="5528605" y="4530831"/>
            <a:chExt cx="953200" cy="458010"/>
          </a:xfrm>
        </p:grpSpPr>
        <p:graphicFrame>
          <p:nvGraphicFramePr>
            <p:cNvPr id="432" name="Table">
              <a:extLst>
                <a:ext uri="{FF2B5EF4-FFF2-40B4-BE49-F238E27FC236}">
                  <a16:creationId xmlns:a16="http://schemas.microsoft.com/office/drawing/2014/main" id="{4A617739-2AFB-C8E6-61D4-532BAB98FE35}"/>
                </a:ext>
              </a:extLst>
            </p:cNvPr>
            <p:cNvGraphicFramePr/>
            <p:nvPr>
              <p:extLst>
                <p:ext uri="{D42A27DB-BD31-4B8C-83A1-F6EECF244321}">
                  <p14:modId xmlns:p14="http://schemas.microsoft.com/office/powerpoint/2010/main" val="90429912"/>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433" name="Table">
              <a:extLst>
                <a:ext uri="{FF2B5EF4-FFF2-40B4-BE49-F238E27FC236}">
                  <a16:creationId xmlns:a16="http://schemas.microsoft.com/office/drawing/2014/main" id="{15EF3D65-1DCA-CBC6-A426-B4493581CD62}"/>
                </a:ext>
              </a:extLst>
            </p:cNvPr>
            <p:cNvGraphicFramePr/>
            <p:nvPr>
              <p:extLst>
                <p:ext uri="{D42A27DB-BD31-4B8C-83A1-F6EECF244321}">
                  <p14:modId xmlns:p14="http://schemas.microsoft.com/office/powerpoint/2010/main" val="1357643869"/>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grpSp>
        <p:nvGrpSpPr>
          <p:cNvPr id="434" name="Group 433">
            <a:extLst>
              <a:ext uri="{FF2B5EF4-FFF2-40B4-BE49-F238E27FC236}">
                <a16:creationId xmlns:a16="http://schemas.microsoft.com/office/drawing/2014/main" id="{F55726D9-62CD-E815-AD1C-5F6D63C12227}"/>
              </a:ext>
            </a:extLst>
          </p:cNvPr>
          <p:cNvGrpSpPr/>
          <p:nvPr/>
        </p:nvGrpSpPr>
        <p:grpSpPr>
          <a:xfrm>
            <a:off x="2597665" y="7778932"/>
            <a:ext cx="630320" cy="458010"/>
            <a:chOff x="5528605" y="4530831"/>
            <a:chExt cx="630320" cy="458010"/>
          </a:xfrm>
        </p:grpSpPr>
        <p:graphicFrame>
          <p:nvGraphicFramePr>
            <p:cNvPr id="435" name="Table">
              <a:extLst>
                <a:ext uri="{FF2B5EF4-FFF2-40B4-BE49-F238E27FC236}">
                  <a16:creationId xmlns:a16="http://schemas.microsoft.com/office/drawing/2014/main" id="{59247414-6627-1041-E97A-F88E2B1B1B86}"/>
                </a:ext>
              </a:extLst>
            </p:cNvPr>
            <p:cNvGraphicFramePr/>
            <p:nvPr>
              <p:extLst>
                <p:ext uri="{D42A27DB-BD31-4B8C-83A1-F6EECF244321}">
                  <p14:modId xmlns:p14="http://schemas.microsoft.com/office/powerpoint/2010/main" val="991797703"/>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436" name="Table">
              <a:extLst>
                <a:ext uri="{FF2B5EF4-FFF2-40B4-BE49-F238E27FC236}">
                  <a16:creationId xmlns:a16="http://schemas.microsoft.com/office/drawing/2014/main" id="{18F165E1-10A1-FA73-2227-64BDF3244784}"/>
                </a:ext>
              </a:extLst>
            </p:cNvPr>
            <p:cNvGraphicFramePr/>
            <p:nvPr>
              <p:extLst>
                <p:ext uri="{D42A27DB-BD31-4B8C-83A1-F6EECF244321}">
                  <p14:modId xmlns:p14="http://schemas.microsoft.com/office/powerpoint/2010/main" val="3421481984"/>
                </p:ext>
              </p:extLst>
            </p:nvPr>
          </p:nvGraphicFramePr>
          <p:xfrm>
            <a:off x="5997485" y="4530831"/>
            <a:ext cx="16144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grpSp>
        <p:nvGrpSpPr>
          <p:cNvPr id="437" name="Group 436">
            <a:extLst>
              <a:ext uri="{FF2B5EF4-FFF2-40B4-BE49-F238E27FC236}">
                <a16:creationId xmlns:a16="http://schemas.microsoft.com/office/drawing/2014/main" id="{7E9EA3EB-E339-095F-95B1-AC9BA2EB56F2}"/>
              </a:ext>
            </a:extLst>
          </p:cNvPr>
          <p:cNvGrpSpPr/>
          <p:nvPr/>
        </p:nvGrpSpPr>
        <p:grpSpPr>
          <a:xfrm>
            <a:off x="2562975" y="7722007"/>
            <a:ext cx="665010" cy="540204"/>
            <a:chOff x="3045575" y="7702261"/>
            <a:chExt cx="665010" cy="540204"/>
          </a:xfrm>
        </p:grpSpPr>
        <p:cxnSp>
          <p:nvCxnSpPr>
            <p:cNvPr id="438" name="Straight Connector 437">
              <a:extLst>
                <a:ext uri="{FF2B5EF4-FFF2-40B4-BE49-F238E27FC236}">
                  <a16:creationId xmlns:a16="http://schemas.microsoft.com/office/drawing/2014/main" id="{9F99C810-8277-1E72-01DE-9818C55390F9}"/>
                </a:ext>
              </a:extLst>
            </p:cNvPr>
            <p:cNvCxnSpPr>
              <a:cxnSpLocks/>
            </p:cNvCxnSpPr>
            <p:nvPr/>
          </p:nvCxnSpPr>
          <p:spPr>
            <a:xfrm>
              <a:off x="3045575" y="7702261"/>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cxnSp>
          <p:nvCxnSpPr>
            <p:cNvPr id="439" name="Straight Connector 438">
              <a:extLst>
                <a:ext uri="{FF2B5EF4-FFF2-40B4-BE49-F238E27FC236}">
                  <a16:creationId xmlns:a16="http://schemas.microsoft.com/office/drawing/2014/main" id="{77C1101E-5E8D-6B29-049A-FF2261B7F69F}"/>
                </a:ext>
              </a:extLst>
            </p:cNvPr>
            <p:cNvCxnSpPr>
              <a:cxnSpLocks/>
            </p:cNvCxnSpPr>
            <p:nvPr/>
          </p:nvCxnSpPr>
          <p:spPr>
            <a:xfrm flipV="1">
              <a:off x="3058828" y="7710159"/>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grpSp>
      <p:pic>
        <p:nvPicPr>
          <p:cNvPr id="440" name="Graphic 439" descr="User with solid fill">
            <a:extLst>
              <a:ext uri="{FF2B5EF4-FFF2-40B4-BE49-F238E27FC236}">
                <a16:creationId xmlns:a16="http://schemas.microsoft.com/office/drawing/2014/main" id="{AF0E2CEB-ADE1-872C-4FBE-B0C7050AB74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26048" y="9843576"/>
            <a:ext cx="381354" cy="381354"/>
          </a:xfrm>
          <a:prstGeom prst="rect">
            <a:avLst/>
          </a:prstGeom>
        </p:spPr>
      </p:pic>
      <p:pic>
        <p:nvPicPr>
          <p:cNvPr id="441" name="Graphic 440" descr="User with solid fill">
            <a:extLst>
              <a:ext uri="{FF2B5EF4-FFF2-40B4-BE49-F238E27FC236}">
                <a16:creationId xmlns:a16="http://schemas.microsoft.com/office/drawing/2014/main" id="{1F4E1B39-C3ED-24A5-0C22-DDC1D858B78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76126" y="9848058"/>
            <a:ext cx="381354" cy="381354"/>
          </a:xfrm>
          <a:prstGeom prst="rect">
            <a:avLst/>
          </a:prstGeom>
        </p:spPr>
      </p:pic>
      <p:pic>
        <p:nvPicPr>
          <p:cNvPr id="442" name="Graphic 441" descr="User with solid fill">
            <a:extLst>
              <a:ext uri="{FF2B5EF4-FFF2-40B4-BE49-F238E27FC236}">
                <a16:creationId xmlns:a16="http://schemas.microsoft.com/office/drawing/2014/main" id="{856CD3DC-4578-E166-1BD5-5931712C482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434159" y="9856625"/>
            <a:ext cx="381354" cy="381354"/>
          </a:xfrm>
          <a:prstGeom prst="rect">
            <a:avLst/>
          </a:prstGeom>
        </p:spPr>
      </p:pic>
      <p:pic>
        <p:nvPicPr>
          <p:cNvPr id="443" name="Graphic 442" descr="Heart outline">
            <a:extLst>
              <a:ext uri="{FF2B5EF4-FFF2-40B4-BE49-F238E27FC236}">
                <a16:creationId xmlns:a16="http://schemas.microsoft.com/office/drawing/2014/main" id="{B46ACB62-95B5-B9B5-6D8C-2752BE0FBF5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8908" y="9348033"/>
            <a:ext cx="238741" cy="238741"/>
          </a:xfrm>
          <a:prstGeom prst="rect">
            <a:avLst/>
          </a:prstGeom>
        </p:spPr>
      </p:pic>
      <p:sp>
        <p:nvSpPr>
          <p:cNvPr id="444" name="Google Shape;338;p18">
            <a:extLst>
              <a:ext uri="{FF2B5EF4-FFF2-40B4-BE49-F238E27FC236}">
                <a16:creationId xmlns:a16="http://schemas.microsoft.com/office/drawing/2014/main" id="{6873739C-23C5-79C0-FE9F-071AB10F4A8D}"/>
              </a:ext>
            </a:extLst>
          </p:cNvPr>
          <p:cNvSpPr/>
          <p:nvPr/>
        </p:nvSpPr>
        <p:spPr>
          <a:xfrm>
            <a:off x="1116634" y="9343884"/>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45" name="Graphic 444" descr="Heart outline">
            <a:extLst>
              <a:ext uri="{FF2B5EF4-FFF2-40B4-BE49-F238E27FC236}">
                <a16:creationId xmlns:a16="http://schemas.microsoft.com/office/drawing/2014/main" id="{6580908D-DE15-A3A1-3E85-4C660715C80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76971" y="9343058"/>
            <a:ext cx="238741" cy="238741"/>
          </a:xfrm>
          <a:prstGeom prst="rect">
            <a:avLst/>
          </a:prstGeom>
        </p:spPr>
      </p:pic>
      <p:sp>
        <p:nvSpPr>
          <p:cNvPr id="446" name="Google Shape;338;p18">
            <a:extLst>
              <a:ext uri="{FF2B5EF4-FFF2-40B4-BE49-F238E27FC236}">
                <a16:creationId xmlns:a16="http://schemas.microsoft.com/office/drawing/2014/main" id="{929EFE72-4459-5389-F2AD-E7947B513696}"/>
              </a:ext>
            </a:extLst>
          </p:cNvPr>
          <p:cNvSpPr/>
          <p:nvPr/>
        </p:nvSpPr>
        <p:spPr>
          <a:xfrm>
            <a:off x="1545096" y="9341912"/>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 name="Rectangle 446">
            <a:extLst>
              <a:ext uri="{FF2B5EF4-FFF2-40B4-BE49-F238E27FC236}">
                <a16:creationId xmlns:a16="http://schemas.microsoft.com/office/drawing/2014/main" id="{0538C32A-A33B-4362-1A47-FBF1BC38AC4B}"/>
              </a:ext>
            </a:extLst>
          </p:cNvPr>
          <p:cNvSpPr/>
          <p:nvPr/>
        </p:nvSpPr>
        <p:spPr>
          <a:xfrm>
            <a:off x="564675" y="9293640"/>
            <a:ext cx="1492070" cy="36576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48" name="Straight Connector 447">
            <a:extLst>
              <a:ext uri="{FF2B5EF4-FFF2-40B4-BE49-F238E27FC236}">
                <a16:creationId xmlns:a16="http://schemas.microsoft.com/office/drawing/2014/main" id="{5509B8B4-9998-930A-F5E4-04B94CDC29A4}"/>
              </a:ext>
            </a:extLst>
          </p:cNvPr>
          <p:cNvCxnSpPr>
            <a:cxnSpLocks/>
            <a:endCxn id="440" idx="0"/>
          </p:cNvCxnSpPr>
          <p:nvPr/>
        </p:nvCxnSpPr>
        <p:spPr>
          <a:xfrm>
            <a:off x="857253" y="9656636"/>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49" name="Straight Connector 448">
            <a:extLst>
              <a:ext uri="{FF2B5EF4-FFF2-40B4-BE49-F238E27FC236}">
                <a16:creationId xmlns:a16="http://schemas.microsoft.com/office/drawing/2014/main" id="{B3953F23-264D-2420-15C6-07D2C5AEE418}"/>
              </a:ext>
            </a:extLst>
          </p:cNvPr>
          <p:cNvCxnSpPr>
            <a:cxnSpLocks/>
          </p:cNvCxnSpPr>
          <p:nvPr/>
        </p:nvCxnSpPr>
        <p:spPr>
          <a:xfrm flipV="1">
            <a:off x="1639240" y="9656636"/>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50" name="Straight Connector 449">
            <a:extLst>
              <a:ext uri="{FF2B5EF4-FFF2-40B4-BE49-F238E27FC236}">
                <a16:creationId xmlns:a16="http://schemas.microsoft.com/office/drawing/2014/main" id="{815817D1-2AB8-98EB-BC12-34E293239710}"/>
              </a:ext>
            </a:extLst>
          </p:cNvPr>
          <p:cNvCxnSpPr>
            <a:cxnSpLocks/>
          </p:cNvCxnSpPr>
          <p:nvPr/>
        </p:nvCxnSpPr>
        <p:spPr>
          <a:xfrm flipV="1">
            <a:off x="1268752" y="9662737"/>
            <a:ext cx="0" cy="19030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51" name="Google Shape;338;p18">
            <a:extLst>
              <a:ext uri="{FF2B5EF4-FFF2-40B4-BE49-F238E27FC236}">
                <a16:creationId xmlns:a16="http://schemas.microsoft.com/office/drawing/2014/main" id="{4B39AF28-F210-F09E-5448-DC50DC4ECDE4}"/>
              </a:ext>
            </a:extLst>
          </p:cNvPr>
          <p:cNvSpPr/>
          <p:nvPr/>
        </p:nvSpPr>
        <p:spPr>
          <a:xfrm>
            <a:off x="2483724" y="9376740"/>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52" name="Graphic 451" descr="User with solid fill">
            <a:extLst>
              <a:ext uri="{FF2B5EF4-FFF2-40B4-BE49-F238E27FC236}">
                <a16:creationId xmlns:a16="http://schemas.microsoft.com/office/drawing/2014/main" id="{1331C9E1-8445-8830-3813-2ED1E4BDD29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31201" y="9871457"/>
            <a:ext cx="381354" cy="381354"/>
          </a:xfrm>
          <a:prstGeom prst="rect">
            <a:avLst/>
          </a:prstGeom>
        </p:spPr>
      </p:pic>
      <p:pic>
        <p:nvPicPr>
          <p:cNvPr id="453" name="Graphic 452" descr="User with solid fill">
            <a:extLst>
              <a:ext uri="{FF2B5EF4-FFF2-40B4-BE49-F238E27FC236}">
                <a16:creationId xmlns:a16="http://schemas.microsoft.com/office/drawing/2014/main" id="{80194CE9-A589-3BA5-B7AB-750F2684CC0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81279" y="9875939"/>
            <a:ext cx="381354" cy="381354"/>
          </a:xfrm>
          <a:prstGeom prst="rect">
            <a:avLst/>
          </a:prstGeom>
        </p:spPr>
      </p:pic>
      <p:pic>
        <p:nvPicPr>
          <p:cNvPr id="454" name="Graphic 453" descr="User with solid fill">
            <a:extLst>
              <a:ext uri="{FF2B5EF4-FFF2-40B4-BE49-F238E27FC236}">
                <a16:creationId xmlns:a16="http://schemas.microsoft.com/office/drawing/2014/main" id="{C32585CC-4AE5-B127-BBC3-1C28B635A28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39312" y="9884506"/>
            <a:ext cx="381354" cy="381354"/>
          </a:xfrm>
          <a:prstGeom prst="rect">
            <a:avLst/>
          </a:prstGeom>
        </p:spPr>
      </p:pic>
      <p:pic>
        <p:nvPicPr>
          <p:cNvPr id="455" name="Graphic 454" descr="Heart outline">
            <a:extLst>
              <a:ext uri="{FF2B5EF4-FFF2-40B4-BE49-F238E27FC236}">
                <a16:creationId xmlns:a16="http://schemas.microsoft.com/office/drawing/2014/main" id="{CC60C3F2-A5D9-090A-893A-D96E3BCF675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544061" y="9375914"/>
            <a:ext cx="238741" cy="238741"/>
          </a:xfrm>
          <a:prstGeom prst="rect">
            <a:avLst/>
          </a:prstGeom>
        </p:spPr>
      </p:pic>
      <p:sp>
        <p:nvSpPr>
          <p:cNvPr id="456" name="Google Shape;338;p18">
            <a:extLst>
              <a:ext uri="{FF2B5EF4-FFF2-40B4-BE49-F238E27FC236}">
                <a16:creationId xmlns:a16="http://schemas.microsoft.com/office/drawing/2014/main" id="{7B3CB097-1DE2-ECBD-8A4C-A8554C5EAD7C}"/>
              </a:ext>
            </a:extLst>
          </p:cNvPr>
          <p:cNvSpPr/>
          <p:nvPr/>
        </p:nvSpPr>
        <p:spPr>
          <a:xfrm>
            <a:off x="2921787" y="9371765"/>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57" name="Graphic 456" descr="Heart outline">
            <a:extLst>
              <a:ext uri="{FF2B5EF4-FFF2-40B4-BE49-F238E27FC236}">
                <a16:creationId xmlns:a16="http://schemas.microsoft.com/office/drawing/2014/main" id="{D12E5AB9-BC89-F811-4AAF-B4E9EC26C98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982124" y="9370939"/>
            <a:ext cx="238741" cy="238741"/>
          </a:xfrm>
          <a:prstGeom prst="rect">
            <a:avLst/>
          </a:prstGeom>
        </p:spPr>
      </p:pic>
      <p:sp>
        <p:nvSpPr>
          <p:cNvPr id="458" name="Google Shape;338;p18">
            <a:extLst>
              <a:ext uri="{FF2B5EF4-FFF2-40B4-BE49-F238E27FC236}">
                <a16:creationId xmlns:a16="http://schemas.microsoft.com/office/drawing/2014/main" id="{60F073BE-2DF0-1A2F-49EC-022A386490A6}"/>
              </a:ext>
            </a:extLst>
          </p:cNvPr>
          <p:cNvSpPr/>
          <p:nvPr/>
        </p:nvSpPr>
        <p:spPr>
          <a:xfrm>
            <a:off x="3350249" y="9369793"/>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59" name="Graphic 458" descr="Heart outline">
            <a:extLst>
              <a:ext uri="{FF2B5EF4-FFF2-40B4-BE49-F238E27FC236}">
                <a16:creationId xmlns:a16="http://schemas.microsoft.com/office/drawing/2014/main" id="{FC81CA35-1F74-9CD4-1DFE-85C48FD8533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01738" y="9348230"/>
            <a:ext cx="238741" cy="238741"/>
          </a:xfrm>
          <a:prstGeom prst="rect">
            <a:avLst/>
          </a:prstGeom>
        </p:spPr>
      </p:pic>
      <p:sp>
        <p:nvSpPr>
          <p:cNvPr id="460" name="Rectangle 459">
            <a:extLst>
              <a:ext uri="{FF2B5EF4-FFF2-40B4-BE49-F238E27FC236}">
                <a16:creationId xmlns:a16="http://schemas.microsoft.com/office/drawing/2014/main" id="{59F801B0-919A-EF14-B4AF-E7A090AF693F}"/>
              </a:ext>
            </a:extLst>
          </p:cNvPr>
          <p:cNvSpPr/>
          <p:nvPr/>
        </p:nvSpPr>
        <p:spPr>
          <a:xfrm>
            <a:off x="2369828" y="9321521"/>
            <a:ext cx="1492070" cy="36576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1" name="Straight Connector 460">
            <a:extLst>
              <a:ext uri="{FF2B5EF4-FFF2-40B4-BE49-F238E27FC236}">
                <a16:creationId xmlns:a16="http://schemas.microsoft.com/office/drawing/2014/main" id="{DA5B69B6-7DF3-1D30-A4B2-AA40ECE18091}"/>
              </a:ext>
            </a:extLst>
          </p:cNvPr>
          <p:cNvCxnSpPr>
            <a:cxnSpLocks/>
            <a:endCxn id="452" idx="0"/>
          </p:cNvCxnSpPr>
          <p:nvPr/>
        </p:nvCxnSpPr>
        <p:spPr>
          <a:xfrm>
            <a:off x="2662406" y="9684517"/>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2" name="Straight Connector 461">
            <a:extLst>
              <a:ext uri="{FF2B5EF4-FFF2-40B4-BE49-F238E27FC236}">
                <a16:creationId xmlns:a16="http://schemas.microsoft.com/office/drawing/2014/main" id="{38F2FAB3-1556-C791-C6B0-D0C475FADD12}"/>
              </a:ext>
            </a:extLst>
          </p:cNvPr>
          <p:cNvCxnSpPr>
            <a:cxnSpLocks/>
          </p:cNvCxnSpPr>
          <p:nvPr/>
        </p:nvCxnSpPr>
        <p:spPr>
          <a:xfrm flipV="1">
            <a:off x="3444393" y="9684517"/>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3" name="Straight Connector 462">
            <a:extLst>
              <a:ext uri="{FF2B5EF4-FFF2-40B4-BE49-F238E27FC236}">
                <a16:creationId xmlns:a16="http://schemas.microsoft.com/office/drawing/2014/main" id="{9D17BE28-E258-12C2-F009-0464A2219502}"/>
              </a:ext>
            </a:extLst>
          </p:cNvPr>
          <p:cNvCxnSpPr>
            <a:cxnSpLocks/>
          </p:cNvCxnSpPr>
          <p:nvPr/>
        </p:nvCxnSpPr>
        <p:spPr>
          <a:xfrm flipV="1">
            <a:off x="3073905" y="9690618"/>
            <a:ext cx="0" cy="19030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464" name="Graphic 463" descr="Angry face outline with solid fill">
            <a:extLst>
              <a:ext uri="{FF2B5EF4-FFF2-40B4-BE49-F238E27FC236}">
                <a16:creationId xmlns:a16="http://schemas.microsoft.com/office/drawing/2014/main" id="{85B8E5FD-D23F-5D85-BED7-CA3F002DDC9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419525" y="9368586"/>
            <a:ext cx="239887" cy="239887"/>
          </a:xfrm>
          <a:prstGeom prst="rect">
            <a:avLst/>
          </a:prstGeom>
        </p:spPr>
      </p:pic>
      <p:grpSp>
        <p:nvGrpSpPr>
          <p:cNvPr id="465" name="Group 464">
            <a:extLst>
              <a:ext uri="{FF2B5EF4-FFF2-40B4-BE49-F238E27FC236}">
                <a16:creationId xmlns:a16="http://schemas.microsoft.com/office/drawing/2014/main" id="{D5906CF3-B1BD-F764-B81B-512E869ECB2A}"/>
              </a:ext>
            </a:extLst>
          </p:cNvPr>
          <p:cNvGrpSpPr/>
          <p:nvPr/>
        </p:nvGrpSpPr>
        <p:grpSpPr>
          <a:xfrm>
            <a:off x="2410008" y="9223247"/>
            <a:ext cx="1413097" cy="540204"/>
            <a:chOff x="3045575" y="7702261"/>
            <a:chExt cx="665010" cy="540204"/>
          </a:xfrm>
        </p:grpSpPr>
        <p:cxnSp>
          <p:nvCxnSpPr>
            <p:cNvPr id="466" name="Straight Connector 465">
              <a:extLst>
                <a:ext uri="{FF2B5EF4-FFF2-40B4-BE49-F238E27FC236}">
                  <a16:creationId xmlns:a16="http://schemas.microsoft.com/office/drawing/2014/main" id="{0FD52C0A-249C-A5A6-9EDA-02F936C33A82}"/>
                </a:ext>
              </a:extLst>
            </p:cNvPr>
            <p:cNvCxnSpPr>
              <a:cxnSpLocks/>
            </p:cNvCxnSpPr>
            <p:nvPr/>
          </p:nvCxnSpPr>
          <p:spPr>
            <a:xfrm>
              <a:off x="3045575" y="7702261"/>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cxnSp>
          <p:nvCxnSpPr>
            <p:cNvPr id="467" name="Straight Connector 466">
              <a:extLst>
                <a:ext uri="{FF2B5EF4-FFF2-40B4-BE49-F238E27FC236}">
                  <a16:creationId xmlns:a16="http://schemas.microsoft.com/office/drawing/2014/main" id="{4A25C801-AD13-5520-AEB0-0B9DDB3649BB}"/>
                </a:ext>
              </a:extLst>
            </p:cNvPr>
            <p:cNvCxnSpPr>
              <a:cxnSpLocks/>
            </p:cNvCxnSpPr>
            <p:nvPr/>
          </p:nvCxnSpPr>
          <p:spPr>
            <a:xfrm flipV="1">
              <a:off x="3058828" y="7710159"/>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grpSp>
      <p:pic>
        <p:nvPicPr>
          <p:cNvPr id="468" name="Picture 467" descr="A picture containing text&#10;&#10;Description automatically generated">
            <a:extLst>
              <a:ext uri="{FF2B5EF4-FFF2-40B4-BE49-F238E27FC236}">
                <a16:creationId xmlns:a16="http://schemas.microsoft.com/office/drawing/2014/main" id="{D33BC10B-A4F7-C392-6E23-16ACD401310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731243" y="8088668"/>
            <a:ext cx="297372" cy="345335"/>
          </a:xfrm>
          <a:prstGeom prst="rect">
            <a:avLst/>
          </a:prstGeom>
        </p:spPr>
      </p:pic>
      <p:sp>
        <p:nvSpPr>
          <p:cNvPr id="469" name="TextBox 468">
            <a:extLst>
              <a:ext uri="{FF2B5EF4-FFF2-40B4-BE49-F238E27FC236}">
                <a16:creationId xmlns:a16="http://schemas.microsoft.com/office/drawing/2014/main" id="{C1CCE187-2FD2-47F8-080D-1A48FC2BA2B8}"/>
              </a:ext>
            </a:extLst>
          </p:cNvPr>
          <p:cNvSpPr txBox="1"/>
          <p:nvPr/>
        </p:nvSpPr>
        <p:spPr>
          <a:xfrm>
            <a:off x="-2599075" y="1256962"/>
            <a:ext cx="1894349" cy="5975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3000" b="1" i="0" u="none" strike="noStrike" cap="none" spc="0" normalizeH="0" baseline="0" dirty="0">
                <a:ln>
                  <a:noFill/>
                </a:ln>
                <a:solidFill>
                  <a:srgbClr val="4C4C4C"/>
                </a:solidFill>
                <a:effectLst/>
                <a:uFillTx/>
                <a:latin typeface="Source Sans Pro"/>
                <a:ea typeface="Source Sans Pro"/>
                <a:cs typeface="Source Sans Pro"/>
                <a:sym typeface="Source Sans Pro"/>
              </a:rPr>
              <a:t>Iteration 8</a:t>
            </a:r>
          </a:p>
        </p:txBody>
      </p:sp>
    </p:spTree>
    <p:extLst>
      <p:ext uri="{BB962C8B-B14F-4D97-AF65-F5344CB8AC3E}">
        <p14:creationId xmlns:p14="http://schemas.microsoft.com/office/powerpoint/2010/main" val="234182896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0115B-89C1-D67A-A2C6-F666EF108F3E}"/>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1A12814D-FCE1-7C22-7D65-9C2E92203AA6}"/>
              </a:ext>
            </a:extLst>
          </p:cNvPr>
          <p:cNvPicPr>
            <a:picLocks noGrp="1" noRot="1" noChangeAspect="1" noMove="1" noResize="1" noEditPoints="1" noAdjustHandles="1" noChangeArrowheads="1" noChangeShapeType="1" noCrop="1"/>
          </p:cNvPicPr>
          <p:nvPr/>
        </p:nvPicPr>
        <p:blipFill>
          <a:blip r:embed="rId3"/>
          <a:stretch>
            <a:fillRect/>
          </a:stretch>
        </p:blipFill>
        <p:spPr>
          <a:xfrm>
            <a:off x="8397917" y="-673983"/>
            <a:ext cx="5598432" cy="2990088"/>
          </a:xfrm>
          <a:prstGeom prst="rect">
            <a:avLst/>
          </a:prstGeom>
          <a:ln w="12700">
            <a:miter lim="400000"/>
          </a:ln>
        </p:spPr>
      </p:pic>
      <p:sp>
        <p:nvSpPr>
          <p:cNvPr id="312" name="Line">
            <a:extLst>
              <a:ext uri="{FF2B5EF4-FFF2-40B4-BE49-F238E27FC236}">
                <a16:creationId xmlns:a16="http://schemas.microsoft.com/office/drawing/2014/main" id="{76BE8344-4528-BED0-65B3-9F55627C9969}"/>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99AD0BBC-2C65-DF60-F17A-CFCE4F22C5C5}"/>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err="1"/>
              <a:t>Kaiāulu</a:t>
            </a:r>
            <a:endParaRPr sz="2400" dirty="0"/>
          </a:p>
        </p:txBody>
      </p:sp>
      <p:sp>
        <p:nvSpPr>
          <p:cNvPr id="334" name="Three Column Layout: : CHEAT SHEET">
            <a:extLst>
              <a:ext uri="{FF2B5EF4-FFF2-40B4-BE49-F238E27FC236}">
                <a16:creationId xmlns:a16="http://schemas.microsoft.com/office/drawing/2014/main" id="{A003613B-750C-066E-0FD4-C6B4EAA486F2}"/>
              </a:ext>
            </a:extLst>
          </p:cNvPr>
          <p:cNvSpPr txBox="1">
            <a:spLocks noGrp="1"/>
          </p:cNvSpPr>
          <p:nvPr>
            <p:ph type="title"/>
          </p:nvPr>
        </p:nvSpPr>
        <p:spPr>
          <a:xfrm>
            <a:off x="275721" y="361177"/>
            <a:ext cx="10898129" cy="803346"/>
          </a:xfrm>
          <a:prstGeom prst="rect">
            <a:avLst/>
          </a:prstGeom>
        </p:spPr>
        <p:txBody>
          <a:bodyPr lIns="0" tIns="0" rIns="0" bIns="0" anchor="t">
            <a:normAutofit fontScale="90000"/>
          </a:bodyPr>
          <a:lstStyle/>
          <a:p>
            <a:r>
              <a:rPr lang="en-US" dirty="0"/>
              <a:t>Sentiment and Emotion Datasets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a:extLst>
              <a:ext uri="{FF2B5EF4-FFF2-40B4-BE49-F238E27FC236}">
                <a16:creationId xmlns:a16="http://schemas.microsoft.com/office/drawing/2014/main" id="{5029F04E-1A4F-36C4-8779-A2CBBCFF00DD}"/>
              </a:ext>
            </a:extLst>
          </p:cNvPr>
          <p:cNvSpPr txBox="1"/>
          <p:nvPr/>
        </p:nvSpPr>
        <p:spPr>
          <a:xfrm>
            <a:off x="219190" y="1892216"/>
            <a:ext cx="4336216" cy="1439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lvl="0">
              <a:lnSpc>
                <a:spcPct val="90000"/>
              </a:lnSpc>
              <a:buSzPts val="3700"/>
            </a:pPr>
            <a:r>
              <a:rPr lang="en-US" b="0" dirty="0"/>
              <a:t>Manually annotated sentiment/emotion labels can be useful for training and evaluating novel machine learning classifiers. However, these labels lack sufficient metadata to be extended with new observations for the same projects that were created. This </a:t>
            </a:r>
            <a:r>
              <a:rPr lang="en-US" b="0" dirty="0" err="1"/>
              <a:t>cheatsheet</a:t>
            </a:r>
            <a:r>
              <a:rPr lang="en-US" b="0" dirty="0"/>
              <a:t> demonstrates the reconstruction process used to expand labels' metadata, define reproducible project configuration files, and make them usable in </a:t>
            </a:r>
            <a:r>
              <a:rPr lang="en-US" b="0" dirty="0" err="1"/>
              <a:t>Kaiaulu</a:t>
            </a:r>
            <a:r>
              <a:rPr lang="en-US" b="0" dirty="0"/>
              <a:t> for new analyses.</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382" name="Logistics">
            <a:extLst>
              <a:ext uri="{FF2B5EF4-FFF2-40B4-BE49-F238E27FC236}">
                <a16:creationId xmlns:a16="http://schemas.microsoft.com/office/drawing/2014/main" id="{0864B0D7-3BE2-C4F8-B83B-2C2EB6EBA27A}"/>
              </a:ext>
            </a:extLst>
          </p:cNvPr>
          <p:cNvSpPr txBox="1"/>
          <p:nvPr/>
        </p:nvSpPr>
        <p:spPr>
          <a:xfrm>
            <a:off x="4684512" y="1544184"/>
            <a:ext cx="4520468" cy="3274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sz="2400" b="0" dirty="0"/>
              <a:t>Reproducing Datasets with </a:t>
            </a:r>
            <a:r>
              <a:rPr lang="en-US" sz="2400" b="0" dirty="0" err="1"/>
              <a:t>Kaiaulu</a:t>
            </a:r>
            <a:endParaRPr sz="2400"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384" name="Layout Suggestions">
            <a:extLst>
              <a:ext uri="{FF2B5EF4-FFF2-40B4-BE49-F238E27FC236}">
                <a16:creationId xmlns:a16="http://schemas.microsoft.com/office/drawing/2014/main" id="{2212C832-1CA3-997B-D84B-496F9BACE549}"/>
              </a:ext>
            </a:extLst>
          </p:cNvPr>
          <p:cNvSpPr txBox="1"/>
          <p:nvPr/>
        </p:nvSpPr>
        <p:spPr>
          <a:xfrm>
            <a:off x="275721" y="1519235"/>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About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4C8F6382-85BB-18C4-F07F-82816471BB8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63EB47A0-5FA2-2A26-1664-1CA26B96A68D}"/>
              </a:ext>
            </a:extLst>
          </p:cNvPr>
          <p:cNvSpPr txBox="1"/>
          <p:nvPr/>
        </p:nvSpPr>
        <p:spPr>
          <a:xfrm>
            <a:off x="7369010" y="10301097"/>
            <a:ext cx="6288562"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Samantha </a:t>
            </a:r>
            <a:r>
              <a:rPr lang="en-US" sz="1000" b="0" dirty="0">
                <a:solidFill>
                  <a:schemeClr val="tx1"/>
                </a:solidFill>
              </a:rPr>
              <a:t>Limon,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Carlos Paradis</a:t>
            </a:r>
            <a:r>
              <a:rPr lang="en-US" sz="1000" b="0" dirty="0">
                <a:solidFill>
                  <a:schemeClr val="tx1"/>
                </a:solidFill>
              </a:rPr>
              <a: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a:t>
            </a:r>
            <a:r>
              <a:rPr kumimoji="0" lang="en-US" sz="1000" b="0" i="0" u="none" strike="noStrike" cap="none" spc="0" normalizeH="0" baseline="0" dirty="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1" name="Layout Suggestions">
            <a:extLst>
              <a:ext uri="{FF2B5EF4-FFF2-40B4-BE49-F238E27FC236}">
                <a16:creationId xmlns:a16="http://schemas.microsoft.com/office/drawing/2014/main" id="{B565B84C-5D81-6508-B19B-D83FE951CA3D}"/>
              </a:ext>
            </a:extLst>
          </p:cNvPr>
          <p:cNvSpPr txBox="1"/>
          <p:nvPr/>
        </p:nvSpPr>
        <p:spPr>
          <a:xfrm>
            <a:off x="258034" y="3385150"/>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Raw Dataset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2" name="Manipulate Variables">
            <a:extLst>
              <a:ext uri="{FF2B5EF4-FFF2-40B4-BE49-F238E27FC236}">
                <a16:creationId xmlns:a16="http://schemas.microsoft.com/office/drawing/2014/main" id="{E2EAC506-7D71-E3AE-FF81-F7C82568CC17}"/>
              </a:ext>
            </a:extLst>
          </p:cNvPr>
          <p:cNvSpPr txBox="1"/>
          <p:nvPr/>
        </p:nvSpPr>
        <p:spPr>
          <a:xfrm>
            <a:off x="9585321" y="1530186"/>
            <a:ext cx="2585644"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Related Notebooks</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4" name="Create a visual hierarchy. Help users navigate the page with titles, subtitles, and subsubtitles">
            <a:extLst>
              <a:ext uri="{FF2B5EF4-FFF2-40B4-BE49-F238E27FC236}">
                <a16:creationId xmlns:a16="http://schemas.microsoft.com/office/drawing/2014/main" id="{F9ACCAA4-7A6C-93EA-F203-C45E94B6F938}"/>
              </a:ext>
            </a:extLst>
          </p:cNvPr>
          <p:cNvSpPr txBox="1"/>
          <p:nvPr/>
        </p:nvSpPr>
        <p:spPr>
          <a:xfrm>
            <a:off x="9545296" y="1911334"/>
            <a:ext cx="4001355" cy="6088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See supplementary notebooks that go in-depth on the documentation on making the Gold Standard and Jira Emotion datasets compatible with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Kaiaulu</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a:t>
            </a:r>
          </a:p>
        </p:txBody>
      </p:sp>
      <p:sp>
        <p:nvSpPr>
          <p:cNvPr id="5" name="TextBox 4">
            <a:extLst>
              <a:ext uri="{FF2B5EF4-FFF2-40B4-BE49-F238E27FC236}">
                <a16:creationId xmlns:a16="http://schemas.microsoft.com/office/drawing/2014/main" id="{226E8D6B-1F75-B308-FE07-DD8847C4C999}"/>
              </a:ext>
            </a:extLst>
          </p:cNvPr>
          <p:cNvSpPr txBox="1"/>
          <p:nvPr/>
        </p:nvSpPr>
        <p:spPr>
          <a:xfrm>
            <a:off x="9585321" y="2775783"/>
            <a:ext cx="3656656" cy="951462"/>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1_load_sentiment_csv_to_mysql.ipynb</a:t>
            </a:r>
          </a:p>
          <a:p>
            <a:pPr marL="228600" indent="-228600">
              <a:buFont typeface="+mj-lt"/>
              <a:buAutoNum type="arabicPeriod"/>
            </a:pPr>
            <a:r>
              <a:rPr lang="en-US" dirty="0"/>
              <a:t>2_explore_relevant_projects.ipynb</a:t>
            </a:r>
          </a:p>
          <a:p>
            <a:pPr marL="228600" indent="-228600">
              <a:buFont typeface="+mj-lt"/>
              <a:buAutoNum type="arabicPeriod"/>
            </a:pPr>
            <a:r>
              <a:rPr lang="en-US" dirty="0"/>
              <a:t>3_scale_config_files.ipynb</a:t>
            </a:r>
          </a:p>
          <a:p>
            <a:pPr marL="228600" indent="-228600">
              <a:buFont typeface="+mj-lt"/>
              <a:buAutoNum type="arabicPeriod"/>
            </a:pPr>
            <a:r>
              <a:rPr lang="en-US" dirty="0"/>
              <a:t>4_add_sentiment_to_kaiaulu.ipynb</a:t>
            </a:r>
          </a:p>
        </p:txBody>
      </p:sp>
      <p:sp>
        <p:nvSpPr>
          <p:cNvPr id="6" name="Manipulate Variables">
            <a:extLst>
              <a:ext uri="{FF2B5EF4-FFF2-40B4-BE49-F238E27FC236}">
                <a16:creationId xmlns:a16="http://schemas.microsoft.com/office/drawing/2014/main" id="{9168660E-E9A5-9205-6F36-D814B790E0F4}"/>
              </a:ext>
            </a:extLst>
          </p:cNvPr>
          <p:cNvSpPr txBox="1"/>
          <p:nvPr/>
        </p:nvSpPr>
        <p:spPr>
          <a:xfrm>
            <a:off x="9542306" y="4660893"/>
            <a:ext cx="210634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Data Expansion</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7" name="Create a visual hierarchy. Help users navigate the page with titles, subtitles, and subsubtitles">
            <a:extLst>
              <a:ext uri="{FF2B5EF4-FFF2-40B4-BE49-F238E27FC236}">
                <a16:creationId xmlns:a16="http://schemas.microsoft.com/office/drawing/2014/main" id="{23AC1E1B-0665-2B48-78E3-3F632AC38C4F}"/>
              </a:ext>
            </a:extLst>
          </p:cNvPr>
          <p:cNvSpPr txBox="1"/>
          <p:nvPr/>
        </p:nvSpPr>
        <p:spPr>
          <a:xfrm>
            <a:off x="9517994" y="5036356"/>
            <a:ext cx="4001355" cy="20491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r>
              <a:rPr lang="en-US" sz="1100" b="0" dirty="0"/>
              <a:t>Through this pipeline, we recover sufficient metadata to re-obtain the data using </a:t>
            </a:r>
            <a:r>
              <a:rPr lang="en-US" sz="1100" b="0" dirty="0" err="1"/>
              <a:t>Kaiaulu</a:t>
            </a:r>
            <a:r>
              <a:rPr lang="en-US" sz="1100" b="0" dirty="0"/>
              <a:t>. This metadata enables two types of dataset expansion using </a:t>
            </a:r>
            <a:r>
              <a:rPr lang="en-US" sz="1100" b="0" dirty="0" err="1"/>
              <a:t>Kaiaulu</a:t>
            </a:r>
            <a:r>
              <a:rPr lang="en-US" sz="1100" b="0" dirty="0"/>
              <a:t>:</a:t>
            </a:r>
          </a:p>
          <a:p>
            <a:pPr marL="228600" indent="-228600">
              <a:buAutoNum type="arabicPeriod"/>
            </a:pPr>
            <a:r>
              <a:rPr lang="en-US" sz="1100" dirty="0"/>
              <a:t>Temporal expansion</a:t>
            </a:r>
            <a:r>
              <a:rPr lang="en-US" sz="1100" b="0" dirty="0"/>
              <a:t>: Re-download the same projects' comments from 2014 through today.</a:t>
            </a:r>
          </a:p>
          <a:p>
            <a:pPr marL="228600" indent="-228600">
              <a:buAutoNum type="arabicPeriod"/>
            </a:pPr>
            <a:r>
              <a:rPr lang="en-US" sz="1100" dirty="0"/>
              <a:t>Horizontal expansion</a:t>
            </a:r>
            <a:r>
              <a:rPr lang="en-US" sz="1100" b="0" dirty="0"/>
              <a:t>: Download additional data sources for those same projects (e.g., source code, version control history) that can be linked back to sentiment labels.</a:t>
            </a:r>
          </a:p>
          <a:p>
            <a:r>
              <a:rPr lang="en-US" sz="1100" b="0" dirty="0"/>
              <a:t>The labeled comments can be used to train the sentiment classifier and for engagement analysis (refer to </a:t>
            </a:r>
            <a:r>
              <a:rPr lang="en-US" sz="1100" b="0" dirty="0" err="1"/>
              <a:t>sailuh</a:t>
            </a:r>
            <a:r>
              <a:rPr lang="en-US" sz="1100" b="0" dirty="0"/>
              <a:t>/sentiment-classifier).</a:t>
            </a:r>
          </a:p>
        </p:txBody>
      </p:sp>
      <p:sp>
        <p:nvSpPr>
          <p:cNvPr id="17" name="Layout Suggestions">
            <a:extLst>
              <a:ext uri="{FF2B5EF4-FFF2-40B4-BE49-F238E27FC236}">
                <a16:creationId xmlns:a16="http://schemas.microsoft.com/office/drawing/2014/main" id="{6D5EFB41-07F2-2726-39D7-D52B36BCABB5}"/>
              </a:ext>
            </a:extLst>
          </p:cNvPr>
          <p:cNvSpPr txBox="1"/>
          <p:nvPr/>
        </p:nvSpPr>
        <p:spPr>
          <a:xfrm>
            <a:off x="221504" y="7101794"/>
            <a:ext cx="433390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C35C1C77-623C-6A67-CB18-C0DE665CF9BF}"/>
              </a:ext>
            </a:extLst>
          </p:cNvPr>
          <p:cNvSpPr txBox="1"/>
          <p:nvPr/>
        </p:nvSpPr>
        <p:spPr>
          <a:xfrm>
            <a:off x="244833" y="3653776"/>
            <a:ext cx="43468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following must be set up/downloaded:</a:t>
            </a:r>
          </a:p>
        </p:txBody>
      </p:sp>
      <p:sp>
        <p:nvSpPr>
          <p:cNvPr id="19" name="TextBox 18">
            <a:extLst>
              <a:ext uri="{FF2B5EF4-FFF2-40B4-BE49-F238E27FC236}">
                <a16:creationId xmlns:a16="http://schemas.microsoft.com/office/drawing/2014/main" id="{52892E48-93FC-0A59-1505-F94EE74A9006}"/>
              </a:ext>
            </a:extLst>
          </p:cNvPr>
          <p:cNvSpPr txBox="1"/>
          <p:nvPr/>
        </p:nvSpPr>
        <p:spPr>
          <a:xfrm>
            <a:off x="4810823" y="3304109"/>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GitHub 2020 CSV</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0" name="Straight Arrow Connector 19">
            <a:extLst>
              <a:ext uri="{FF2B5EF4-FFF2-40B4-BE49-F238E27FC236}">
                <a16:creationId xmlns:a16="http://schemas.microsoft.com/office/drawing/2014/main" id="{4E165911-186D-FFB3-6577-61561EF9BA08}"/>
              </a:ext>
            </a:extLst>
          </p:cNvPr>
          <p:cNvCxnSpPr>
            <a:cxnSpLocks/>
          </p:cNvCxnSpPr>
          <p:nvPr/>
        </p:nvCxnSpPr>
        <p:spPr>
          <a:xfrm>
            <a:off x="6040578" y="2739306"/>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3" name="Table">
            <a:extLst>
              <a:ext uri="{FF2B5EF4-FFF2-40B4-BE49-F238E27FC236}">
                <a16:creationId xmlns:a16="http://schemas.microsoft.com/office/drawing/2014/main" id="{2BC47F8A-2B20-8AD0-A76E-530483104B2F}"/>
              </a:ext>
            </a:extLst>
          </p:cNvPr>
          <p:cNvGraphicFramePr/>
          <p:nvPr/>
        </p:nvGraphicFramePr>
        <p:xfrm>
          <a:off x="5127433" y="2681254"/>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59" name="TextBox 58">
            <a:extLst>
              <a:ext uri="{FF2B5EF4-FFF2-40B4-BE49-F238E27FC236}">
                <a16:creationId xmlns:a16="http://schemas.microsoft.com/office/drawing/2014/main" id="{C12715F8-73B2-2B11-C963-DB82EB9A0E76}"/>
              </a:ext>
            </a:extLst>
          </p:cNvPr>
          <p:cNvSpPr txBox="1"/>
          <p:nvPr/>
        </p:nvSpPr>
        <p:spPr>
          <a:xfrm>
            <a:off x="6073140" y="2512222"/>
            <a:ext cx="127533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60" name="TextBox 59">
            <a:extLst>
              <a:ext uri="{FF2B5EF4-FFF2-40B4-BE49-F238E27FC236}">
                <a16:creationId xmlns:a16="http://schemas.microsoft.com/office/drawing/2014/main" id="{6335B0D3-096F-E539-F030-2DF8DF2BACCF}"/>
              </a:ext>
            </a:extLst>
          </p:cNvPr>
          <p:cNvSpPr txBox="1"/>
          <p:nvPr/>
        </p:nvSpPr>
        <p:spPr>
          <a:xfrm>
            <a:off x="6078145" y="2758990"/>
            <a:ext cx="144108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Q-Join-Commit-Comments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61" name="TextBox 60">
            <a:extLst>
              <a:ext uri="{FF2B5EF4-FFF2-40B4-BE49-F238E27FC236}">
                <a16:creationId xmlns:a16="http://schemas.microsoft.com/office/drawing/2014/main" id="{25046D4D-EBD0-164D-6497-0ED0C38A0068}"/>
              </a:ext>
            </a:extLst>
          </p:cNvPr>
          <p:cNvSpPr txBox="1"/>
          <p:nvPr/>
        </p:nvSpPr>
        <p:spPr>
          <a:xfrm>
            <a:off x="6004567" y="3030690"/>
            <a:ext cx="1514660" cy="2333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800" b="0" dirty="0"/>
              <a:t>Q-Join-Pull-Request-Comments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60" name="Straight Arrow Connector 259">
            <a:extLst>
              <a:ext uri="{FF2B5EF4-FFF2-40B4-BE49-F238E27FC236}">
                <a16:creationId xmlns:a16="http://schemas.microsoft.com/office/drawing/2014/main" id="{FC6C68FB-FF5E-DAFF-A556-A9043D0337A3}"/>
              </a:ext>
            </a:extLst>
          </p:cNvPr>
          <p:cNvCxnSpPr>
            <a:cxnSpLocks/>
          </p:cNvCxnSpPr>
          <p:nvPr/>
        </p:nvCxnSpPr>
        <p:spPr>
          <a:xfrm>
            <a:off x="6040578" y="2985359"/>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1" name="Straight Arrow Connector 260">
            <a:extLst>
              <a:ext uri="{FF2B5EF4-FFF2-40B4-BE49-F238E27FC236}">
                <a16:creationId xmlns:a16="http://schemas.microsoft.com/office/drawing/2014/main" id="{FE5C0E2B-41D3-37CC-3C3F-3B42845020A9}"/>
              </a:ext>
            </a:extLst>
          </p:cNvPr>
          <p:cNvCxnSpPr>
            <a:cxnSpLocks/>
          </p:cNvCxnSpPr>
          <p:nvPr/>
        </p:nvCxnSpPr>
        <p:spPr>
          <a:xfrm>
            <a:off x="6040578" y="3231412"/>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3" name="TextBox 262">
            <a:extLst>
              <a:ext uri="{FF2B5EF4-FFF2-40B4-BE49-F238E27FC236}">
                <a16:creationId xmlns:a16="http://schemas.microsoft.com/office/drawing/2014/main" id="{103AE131-61AC-FF9E-7A71-5D5D60514195}"/>
              </a:ext>
            </a:extLst>
          </p:cNvPr>
          <p:cNvSpPr txBox="1"/>
          <p:nvPr/>
        </p:nvSpPr>
        <p:spPr>
          <a:xfrm>
            <a:off x="7506054" y="3309908"/>
            <a:ext cx="1418243"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err="1"/>
              <a:t>GHTorrent</a:t>
            </a:r>
            <a:r>
              <a:rPr lang="en-US" dirty="0"/>
              <a:t> 2014 DB</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67" name="TextBox 266">
            <a:extLst>
              <a:ext uri="{FF2B5EF4-FFF2-40B4-BE49-F238E27FC236}">
                <a16:creationId xmlns:a16="http://schemas.microsoft.com/office/drawing/2014/main" id="{341C662A-FB95-CC2C-4A06-8E09D942E2F9}"/>
              </a:ext>
            </a:extLst>
          </p:cNvPr>
          <p:cNvSpPr txBox="1"/>
          <p:nvPr/>
        </p:nvSpPr>
        <p:spPr>
          <a:xfrm>
            <a:off x="4718557" y="4961870"/>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440" name="Group 439">
            <a:extLst>
              <a:ext uri="{FF2B5EF4-FFF2-40B4-BE49-F238E27FC236}">
                <a16:creationId xmlns:a16="http://schemas.microsoft.com/office/drawing/2014/main" id="{730A3234-CF44-53E0-CE79-3A0C6C14E82E}"/>
              </a:ext>
            </a:extLst>
          </p:cNvPr>
          <p:cNvGrpSpPr/>
          <p:nvPr/>
        </p:nvGrpSpPr>
        <p:grpSpPr>
          <a:xfrm>
            <a:off x="5522624" y="4520518"/>
            <a:ext cx="953200" cy="458010"/>
            <a:chOff x="5528605" y="4530831"/>
            <a:chExt cx="953200" cy="458010"/>
          </a:xfrm>
        </p:grpSpPr>
        <p:graphicFrame>
          <p:nvGraphicFramePr>
            <p:cNvPr id="268" name="Table">
              <a:extLst>
                <a:ext uri="{FF2B5EF4-FFF2-40B4-BE49-F238E27FC236}">
                  <a16:creationId xmlns:a16="http://schemas.microsoft.com/office/drawing/2014/main" id="{AE8E3662-E583-FD64-38D6-055CAEF01D45}"/>
                </a:ext>
              </a:extLst>
            </p:cNvPr>
            <p:cNvGraphicFramePr/>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269" name="Table">
              <a:extLst>
                <a:ext uri="{FF2B5EF4-FFF2-40B4-BE49-F238E27FC236}">
                  <a16:creationId xmlns:a16="http://schemas.microsoft.com/office/drawing/2014/main" id="{CFA823A9-3F6A-467C-95AC-D21DA40F9E7E}"/>
                </a:ext>
              </a:extLst>
            </p:cNvPr>
            <p:cNvGraphicFramePr/>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sp>
        <p:nvSpPr>
          <p:cNvPr id="270" name="TextBox 269">
            <a:extLst>
              <a:ext uri="{FF2B5EF4-FFF2-40B4-BE49-F238E27FC236}">
                <a16:creationId xmlns:a16="http://schemas.microsoft.com/office/drawing/2014/main" id="{5A302700-50C7-F6B4-2323-0ECF4AD07220}"/>
              </a:ext>
            </a:extLst>
          </p:cNvPr>
          <p:cNvSpPr txBox="1"/>
          <p:nvPr/>
        </p:nvSpPr>
        <p:spPr>
          <a:xfrm>
            <a:off x="5296796" y="4960251"/>
            <a:ext cx="139124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dirty="0"/>
              <a:t>GitHub 2020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78" name="Line">
            <a:extLst>
              <a:ext uri="{FF2B5EF4-FFF2-40B4-BE49-F238E27FC236}">
                <a16:creationId xmlns:a16="http://schemas.microsoft.com/office/drawing/2014/main" id="{8F322F17-4724-BC63-591D-A96560BC7FE1}"/>
              </a:ext>
            </a:extLst>
          </p:cNvPr>
          <p:cNvSpPr/>
          <p:nvPr/>
        </p:nvSpPr>
        <p:spPr>
          <a:xfrm flipV="1">
            <a:off x="4748804" y="5961806"/>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98" name="TextBox 297">
            <a:extLst>
              <a:ext uri="{FF2B5EF4-FFF2-40B4-BE49-F238E27FC236}">
                <a16:creationId xmlns:a16="http://schemas.microsoft.com/office/drawing/2014/main" id="{86A70944-A9A7-1B52-A2E1-353D84D94760}"/>
              </a:ext>
            </a:extLst>
          </p:cNvPr>
          <p:cNvSpPr txBox="1"/>
          <p:nvPr/>
        </p:nvSpPr>
        <p:spPr>
          <a:xfrm>
            <a:off x="4672920" y="7339638"/>
            <a:ext cx="1650803"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Jira Emotion 2016 CSV</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99" name="Straight Arrow Connector 298">
            <a:extLst>
              <a:ext uri="{FF2B5EF4-FFF2-40B4-BE49-F238E27FC236}">
                <a16:creationId xmlns:a16="http://schemas.microsoft.com/office/drawing/2014/main" id="{C9EAAC23-7042-41AA-74CA-5623BD881BF9}"/>
              </a:ext>
            </a:extLst>
          </p:cNvPr>
          <p:cNvCxnSpPr>
            <a:cxnSpLocks/>
          </p:cNvCxnSpPr>
          <p:nvPr/>
        </p:nvCxnSpPr>
        <p:spPr>
          <a:xfrm>
            <a:off x="6048180" y="6933077"/>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300" name="Table">
            <a:extLst>
              <a:ext uri="{FF2B5EF4-FFF2-40B4-BE49-F238E27FC236}">
                <a16:creationId xmlns:a16="http://schemas.microsoft.com/office/drawing/2014/main" id="{7C0C9490-8D94-17B7-5213-6A6AF877E181}"/>
              </a:ext>
            </a:extLst>
          </p:cNvPr>
          <p:cNvGraphicFramePr/>
          <p:nvPr/>
        </p:nvGraphicFramePr>
        <p:xfrm>
          <a:off x="5136867" y="6753727"/>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cxnSp>
        <p:nvCxnSpPr>
          <p:cNvPr id="303" name="Straight Arrow Connector 302">
            <a:extLst>
              <a:ext uri="{FF2B5EF4-FFF2-40B4-BE49-F238E27FC236}">
                <a16:creationId xmlns:a16="http://schemas.microsoft.com/office/drawing/2014/main" id="{CCB6A4D8-6AFD-B29C-2892-F8CF49DA986F}"/>
              </a:ext>
            </a:extLst>
          </p:cNvPr>
          <p:cNvCxnSpPr>
            <a:cxnSpLocks/>
          </p:cNvCxnSpPr>
          <p:nvPr/>
        </p:nvCxnSpPr>
        <p:spPr>
          <a:xfrm>
            <a:off x="6048180" y="7179130"/>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6" name="TextBox 305">
            <a:extLst>
              <a:ext uri="{FF2B5EF4-FFF2-40B4-BE49-F238E27FC236}">
                <a16:creationId xmlns:a16="http://schemas.microsoft.com/office/drawing/2014/main" id="{AE7C276F-4650-C317-4FA3-4BC2B78D2881}"/>
              </a:ext>
            </a:extLst>
          </p:cNvPr>
          <p:cNvSpPr txBox="1"/>
          <p:nvPr/>
        </p:nvSpPr>
        <p:spPr>
          <a:xfrm>
            <a:off x="7290720" y="7331899"/>
            <a:ext cx="176626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Jira PostgreSQL 2016 DB</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18" name="TextBox 317">
            <a:extLst>
              <a:ext uri="{FF2B5EF4-FFF2-40B4-BE49-F238E27FC236}">
                <a16:creationId xmlns:a16="http://schemas.microsoft.com/office/drawing/2014/main" id="{8A980072-02E8-27B3-05FC-3E03A79C91D5}"/>
              </a:ext>
            </a:extLst>
          </p:cNvPr>
          <p:cNvSpPr txBox="1"/>
          <p:nvPr/>
        </p:nvSpPr>
        <p:spPr>
          <a:xfrm>
            <a:off x="6041784" y="6689831"/>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19" name="TextBox 318">
            <a:extLst>
              <a:ext uri="{FF2B5EF4-FFF2-40B4-BE49-F238E27FC236}">
                <a16:creationId xmlns:a16="http://schemas.microsoft.com/office/drawing/2014/main" id="{5264A6A7-5B15-C738-01FE-EB425A815CEE}"/>
              </a:ext>
            </a:extLst>
          </p:cNvPr>
          <p:cNvSpPr txBox="1"/>
          <p:nvPr/>
        </p:nvSpPr>
        <p:spPr>
          <a:xfrm>
            <a:off x="6048180" y="6941250"/>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1155" name="TextBox 1154">
            <a:extLst>
              <a:ext uri="{FF2B5EF4-FFF2-40B4-BE49-F238E27FC236}">
                <a16:creationId xmlns:a16="http://schemas.microsoft.com/office/drawing/2014/main" id="{F93713C0-0073-FFBC-B088-B354785B3DE6}"/>
              </a:ext>
            </a:extLst>
          </p:cNvPr>
          <p:cNvSpPr txBox="1"/>
          <p:nvPr/>
        </p:nvSpPr>
        <p:spPr>
          <a:xfrm>
            <a:off x="4791847" y="1907656"/>
            <a:ext cx="272738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500" dirty="0"/>
              <a:t>GitHub Sentiment Dataset</a:t>
            </a:r>
            <a:endParaRPr kumimoji="0" lang="en-US" sz="1500" i="0" strike="noStrike" cap="none" spc="0" normalizeH="0" baseline="0" dirty="0">
              <a:ln>
                <a:noFill/>
              </a:ln>
              <a:effectLst/>
              <a:uFillTx/>
              <a:latin typeface="Source Sans Pro"/>
              <a:ea typeface="Source Sans Pro"/>
              <a:cs typeface="Source Sans Pro"/>
              <a:sym typeface="Source Sans Pro"/>
            </a:endParaRPr>
          </a:p>
        </p:txBody>
      </p:sp>
      <p:sp>
        <p:nvSpPr>
          <p:cNvPr id="1156" name="TextBox 1155">
            <a:extLst>
              <a:ext uri="{FF2B5EF4-FFF2-40B4-BE49-F238E27FC236}">
                <a16:creationId xmlns:a16="http://schemas.microsoft.com/office/drawing/2014/main" id="{312BD9F8-02FE-8207-3797-60BBC77A02FC}"/>
              </a:ext>
            </a:extLst>
          </p:cNvPr>
          <p:cNvSpPr txBox="1"/>
          <p:nvPr/>
        </p:nvSpPr>
        <p:spPr>
          <a:xfrm>
            <a:off x="4632534" y="6166156"/>
            <a:ext cx="217099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500" dirty="0"/>
              <a:t>Jira Emotion Dataset</a:t>
            </a:r>
            <a:endParaRPr kumimoji="0" lang="en-US" sz="1500" b="1" i="0" strike="noStrike" cap="none" spc="0" normalizeH="0" baseline="0" dirty="0">
              <a:ln>
                <a:noFill/>
              </a:ln>
              <a:effectLst/>
              <a:uFillTx/>
              <a:latin typeface="Source Sans Pro"/>
              <a:ea typeface="Source Sans Pro"/>
              <a:cs typeface="Source Sans Pro"/>
              <a:sym typeface="Source Sans Pro"/>
            </a:endParaRPr>
          </a:p>
        </p:txBody>
      </p:sp>
      <p:grpSp>
        <p:nvGrpSpPr>
          <p:cNvPr id="1190" name="Group 1189">
            <a:extLst>
              <a:ext uri="{FF2B5EF4-FFF2-40B4-BE49-F238E27FC236}">
                <a16:creationId xmlns:a16="http://schemas.microsoft.com/office/drawing/2014/main" id="{EFE57983-5CDE-1FE4-F411-28CAACCA9DC4}"/>
              </a:ext>
            </a:extLst>
          </p:cNvPr>
          <p:cNvGrpSpPr/>
          <p:nvPr/>
        </p:nvGrpSpPr>
        <p:grpSpPr>
          <a:xfrm>
            <a:off x="8486416" y="3978207"/>
            <a:ext cx="569700" cy="1688313"/>
            <a:chOff x="8715063" y="3858862"/>
            <a:chExt cx="569700" cy="1688313"/>
          </a:xfrm>
        </p:grpSpPr>
        <p:sp>
          <p:nvSpPr>
            <p:cNvPr id="1174" name="Google Shape;375;p18">
              <a:extLst>
                <a:ext uri="{FF2B5EF4-FFF2-40B4-BE49-F238E27FC236}">
                  <a16:creationId xmlns:a16="http://schemas.microsoft.com/office/drawing/2014/main" id="{5693D9A5-E6B7-2CFE-D6B9-E90410572283}"/>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1187" name="Google Shape;388;p18">
              <a:extLst>
                <a:ext uri="{FF2B5EF4-FFF2-40B4-BE49-F238E27FC236}">
                  <a16:creationId xmlns:a16="http://schemas.microsoft.com/office/drawing/2014/main" id="{7A2E956A-67DC-283B-59F4-61FE987ED303}"/>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sp>
          <p:nvSpPr>
            <p:cNvPr id="1157" name="Google Shape;324;p18">
              <a:extLst>
                <a:ext uri="{FF2B5EF4-FFF2-40B4-BE49-F238E27FC236}">
                  <a16:creationId xmlns:a16="http://schemas.microsoft.com/office/drawing/2014/main" id="{C8FAA94A-8C77-2A6D-9AFD-E5514F056709}"/>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1158" name="Google Shape;359;p18">
              <a:extLst>
                <a:ext uri="{FF2B5EF4-FFF2-40B4-BE49-F238E27FC236}">
                  <a16:creationId xmlns:a16="http://schemas.microsoft.com/office/drawing/2014/main" id="{32037279-A708-41B4-B95B-66A3CC455421}"/>
                </a:ext>
              </a:extLst>
            </p:cNvPr>
            <p:cNvGrpSpPr/>
            <p:nvPr/>
          </p:nvGrpSpPr>
          <p:grpSpPr>
            <a:xfrm>
              <a:off x="8838265" y="4043887"/>
              <a:ext cx="307200" cy="189300"/>
              <a:chOff x="3007175" y="1757600"/>
              <a:chExt cx="307200" cy="189300"/>
            </a:xfrm>
          </p:grpSpPr>
          <p:sp>
            <p:nvSpPr>
              <p:cNvPr id="1159" name="Google Shape;360;p18">
                <a:extLst>
                  <a:ext uri="{FF2B5EF4-FFF2-40B4-BE49-F238E27FC236}">
                    <a16:creationId xmlns:a16="http://schemas.microsoft.com/office/drawing/2014/main" id="{18F3B5E1-FBFA-E355-EBF2-8A3040F64BF6}"/>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0" name="Google Shape;361;p18">
                <a:extLst>
                  <a:ext uri="{FF2B5EF4-FFF2-40B4-BE49-F238E27FC236}">
                    <a16:creationId xmlns:a16="http://schemas.microsoft.com/office/drawing/2014/main" id="{15E3182B-CA36-9D8E-F408-5004841861BF}"/>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1" name="Google Shape;362;p18">
                <a:extLst>
                  <a:ext uri="{FF2B5EF4-FFF2-40B4-BE49-F238E27FC236}">
                    <a16:creationId xmlns:a16="http://schemas.microsoft.com/office/drawing/2014/main" id="{D3F3BA24-3F4D-D2B3-A9CB-C839EB0B4504}"/>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2" name="Google Shape;363;p18">
                <a:extLst>
                  <a:ext uri="{FF2B5EF4-FFF2-40B4-BE49-F238E27FC236}">
                    <a16:creationId xmlns:a16="http://schemas.microsoft.com/office/drawing/2014/main" id="{04177490-F26E-FA49-29AD-743BA6F04E96}"/>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163" name="Google Shape;364;p18">
                <a:extLst>
                  <a:ext uri="{FF2B5EF4-FFF2-40B4-BE49-F238E27FC236}">
                    <a16:creationId xmlns:a16="http://schemas.microsoft.com/office/drawing/2014/main" id="{E3CDCFAC-B22A-7438-01E5-54B43FA43030}"/>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164" name="Google Shape;365;p18">
                <a:extLst>
                  <a:ext uri="{FF2B5EF4-FFF2-40B4-BE49-F238E27FC236}">
                    <a16:creationId xmlns:a16="http://schemas.microsoft.com/office/drawing/2014/main" id="{18A03789-EC9E-3B67-E296-2A3A84AA3801}"/>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165" name="Google Shape;366;p18">
                <a:extLst>
                  <a:ext uri="{FF2B5EF4-FFF2-40B4-BE49-F238E27FC236}">
                    <a16:creationId xmlns:a16="http://schemas.microsoft.com/office/drawing/2014/main" id="{04BDF697-D4AA-8DAC-777A-154277909757}"/>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1166" name="Google Shape;367;p18">
              <a:extLst>
                <a:ext uri="{FF2B5EF4-FFF2-40B4-BE49-F238E27FC236}">
                  <a16:creationId xmlns:a16="http://schemas.microsoft.com/office/drawing/2014/main" id="{D6006782-56F6-3B75-C89B-20852183095D}"/>
                </a:ext>
              </a:extLst>
            </p:cNvPr>
            <p:cNvGrpSpPr/>
            <p:nvPr/>
          </p:nvGrpSpPr>
          <p:grpSpPr>
            <a:xfrm>
              <a:off x="8838252" y="4387350"/>
              <a:ext cx="307200" cy="189300"/>
              <a:chOff x="3007175" y="1757600"/>
              <a:chExt cx="307200" cy="189300"/>
            </a:xfrm>
          </p:grpSpPr>
          <p:sp>
            <p:nvSpPr>
              <p:cNvPr id="1167" name="Google Shape;368;p18">
                <a:extLst>
                  <a:ext uri="{FF2B5EF4-FFF2-40B4-BE49-F238E27FC236}">
                    <a16:creationId xmlns:a16="http://schemas.microsoft.com/office/drawing/2014/main" id="{620B127B-25A1-FD3E-3963-1D5A00953FEB}"/>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8" name="Google Shape;369;p18">
                <a:extLst>
                  <a:ext uri="{FF2B5EF4-FFF2-40B4-BE49-F238E27FC236}">
                    <a16:creationId xmlns:a16="http://schemas.microsoft.com/office/drawing/2014/main" id="{65E52238-6D74-F22F-BD71-1186FD819BC3}"/>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9" name="Google Shape;370;p18">
                <a:extLst>
                  <a:ext uri="{FF2B5EF4-FFF2-40B4-BE49-F238E27FC236}">
                    <a16:creationId xmlns:a16="http://schemas.microsoft.com/office/drawing/2014/main" id="{40D87EBE-57B3-BB0F-F48E-2FC48E62E99E}"/>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0" name="Google Shape;371;p18">
                <a:extLst>
                  <a:ext uri="{FF2B5EF4-FFF2-40B4-BE49-F238E27FC236}">
                    <a16:creationId xmlns:a16="http://schemas.microsoft.com/office/drawing/2014/main" id="{3B89455E-255A-622D-533F-764A2E92CF00}"/>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171" name="Google Shape;372;p18">
                <a:extLst>
                  <a:ext uri="{FF2B5EF4-FFF2-40B4-BE49-F238E27FC236}">
                    <a16:creationId xmlns:a16="http://schemas.microsoft.com/office/drawing/2014/main" id="{00FE6E8D-405B-4E89-F29C-A98AE103A6DA}"/>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172" name="Google Shape;373;p18">
                <a:extLst>
                  <a:ext uri="{FF2B5EF4-FFF2-40B4-BE49-F238E27FC236}">
                    <a16:creationId xmlns:a16="http://schemas.microsoft.com/office/drawing/2014/main" id="{8AB0ECCF-D80E-1402-6CE6-2D2E31FEA551}"/>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173" name="Google Shape;374;p18">
                <a:extLst>
                  <a:ext uri="{FF2B5EF4-FFF2-40B4-BE49-F238E27FC236}">
                    <a16:creationId xmlns:a16="http://schemas.microsoft.com/office/drawing/2014/main" id="{D4C0F354-DCF2-3FAB-4E0A-56327FA76658}"/>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1175" name="Google Shape;376;p18">
              <a:extLst>
                <a:ext uri="{FF2B5EF4-FFF2-40B4-BE49-F238E27FC236}">
                  <a16:creationId xmlns:a16="http://schemas.microsoft.com/office/drawing/2014/main" id="{B14F00C1-99AD-A0EC-5CA5-B5662746D061}"/>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1176" name="Google Shape;377;p18">
              <a:extLst>
                <a:ext uri="{FF2B5EF4-FFF2-40B4-BE49-F238E27FC236}">
                  <a16:creationId xmlns:a16="http://schemas.microsoft.com/office/drawing/2014/main" id="{11254849-A9CE-153A-9E29-2D12865390B9}"/>
                </a:ext>
              </a:extLst>
            </p:cNvPr>
            <p:cNvGrpSpPr/>
            <p:nvPr/>
          </p:nvGrpSpPr>
          <p:grpSpPr>
            <a:xfrm>
              <a:off x="8846302" y="4841125"/>
              <a:ext cx="307200" cy="297900"/>
              <a:chOff x="3021975" y="2389850"/>
              <a:chExt cx="307200" cy="297900"/>
            </a:xfrm>
          </p:grpSpPr>
          <p:sp>
            <p:nvSpPr>
              <p:cNvPr id="1177" name="Google Shape;378;p18">
                <a:extLst>
                  <a:ext uri="{FF2B5EF4-FFF2-40B4-BE49-F238E27FC236}">
                    <a16:creationId xmlns:a16="http://schemas.microsoft.com/office/drawing/2014/main" id="{C5B276FB-4030-F64A-90AB-D6FE2D4DF464}"/>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178" name="Google Shape;379;p18">
                <a:extLst>
                  <a:ext uri="{FF2B5EF4-FFF2-40B4-BE49-F238E27FC236}">
                    <a16:creationId xmlns:a16="http://schemas.microsoft.com/office/drawing/2014/main" id="{0C9D5264-DB33-6B4D-42D7-63ED89C11C84}"/>
                  </a:ext>
                </a:extLst>
              </p:cNvPr>
              <p:cNvGrpSpPr/>
              <p:nvPr/>
            </p:nvGrpSpPr>
            <p:grpSpPr>
              <a:xfrm>
                <a:off x="3021975" y="2389850"/>
                <a:ext cx="307200" cy="295800"/>
                <a:chOff x="3021975" y="2389850"/>
                <a:chExt cx="307200" cy="295800"/>
              </a:xfrm>
            </p:grpSpPr>
            <p:sp>
              <p:nvSpPr>
                <p:cNvPr id="1179" name="Google Shape;380;p18">
                  <a:extLst>
                    <a:ext uri="{FF2B5EF4-FFF2-40B4-BE49-F238E27FC236}">
                      <a16:creationId xmlns:a16="http://schemas.microsoft.com/office/drawing/2014/main" id="{EE021F80-AD87-1B8D-69B6-4208F7EB3505}"/>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0" name="Google Shape;381;p18">
                  <a:extLst>
                    <a:ext uri="{FF2B5EF4-FFF2-40B4-BE49-F238E27FC236}">
                      <a16:creationId xmlns:a16="http://schemas.microsoft.com/office/drawing/2014/main" id="{0B8F0AEF-1423-4F5C-20D3-3749AC71AF82}"/>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181" name="Google Shape;382;p18">
                  <a:extLst>
                    <a:ext uri="{FF2B5EF4-FFF2-40B4-BE49-F238E27FC236}">
                      <a16:creationId xmlns:a16="http://schemas.microsoft.com/office/drawing/2014/main" id="{08C3A747-0754-5D83-F807-608A337F42D8}"/>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1182" name="Google Shape;383;p18">
                  <a:extLst>
                    <a:ext uri="{FF2B5EF4-FFF2-40B4-BE49-F238E27FC236}">
                      <a16:creationId xmlns:a16="http://schemas.microsoft.com/office/drawing/2014/main" id="{2C35D865-A088-AB49-EC81-9127BECE5906}"/>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1183" name="Google Shape;384;p18">
                  <a:extLst>
                    <a:ext uri="{FF2B5EF4-FFF2-40B4-BE49-F238E27FC236}">
                      <a16:creationId xmlns:a16="http://schemas.microsoft.com/office/drawing/2014/main" id="{B1B61739-E84B-36BA-E8AB-A39F1CC6D80D}"/>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184" name="Google Shape;385;p18">
                  <a:extLst>
                    <a:ext uri="{FF2B5EF4-FFF2-40B4-BE49-F238E27FC236}">
                      <a16:creationId xmlns:a16="http://schemas.microsoft.com/office/drawing/2014/main" id="{A87A4BCA-4A22-85E3-A250-2EDAD7FFC065}"/>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185" name="Google Shape;386;p18">
                  <a:extLst>
                    <a:ext uri="{FF2B5EF4-FFF2-40B4-BE49-F238E27FC236}">
                      <a16:creationId xmlns:a16="http://schemas.microsoft.com/office/drawing/2014/main" id="{01E0FE7A-B913-A05D-858F-437E38B5E74F}"/>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186" name="Google Shape;387;p18">
                  <a:extLst>
                    <a:ext uri="{FF2B5EF4-FFF2-40B4-BE49-F238E27FC236}">
                      <a16:creationId xmlns:a16="http://schemas.microsoft.com/office/drawing/2014/main" id="{ED145B88-7525-6BEE-FC16-C0FBC5D3CA0B}"/>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cxnSp>
          <p:nvCxnSpPr>
            <p:cNvPr id="1188" name="Google Shape;389;p18">
              <a:extLst>
                <a:ext uri="{FF2B5EF4-FFF2-40B4-BE49-F238E27FC236}">
                  <a16:creationId xmlns:a16="http://schemas.microsoft.com/office/drawing/2014/main" id="{F5F818B4-3342-F987-AC31-6FC38FD481BA}"/>
                </a:ext>
              </a:extLst>
            </p:cNvPr>
            <p:cNvCxnSpPr>
              <a:cxnSpLocks/>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1189" name="Google Shape;390;p18">
              <a:extLst>
                <a:ext uri="{FF2B5EF4-FFF2-40B4-BE49-F238E27FC236}">
                  <a16:creationId xmlns:a16="http://schemas.microsoft.com/office/drawing/2014/main" id="{46D6BD57-6FB1-A219-07F4-648F5CC47D11}"/>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cxnSp>
        <p:nvCxnSpPr>
          <p:cNvPr id="1199" name="Straight Arrow Connector 1198">
            <a:extLst>
              <a:ext uri="{FF2B5EF4-FFF2-40B4-BE49-F238E27FC236}">
                <a16:creationId xmlns:a16="http://schemas.microsoft.com/office/drawing/2014/main" id="{ED50B02A-782A-1AB8-8CA3-D811CB237240}"/>
              </a:ext>
            </a:extLst>
          </p:cNvPr>
          <p:cNvCxnSpPr>
            <a:cxnSpLocks/>
          </p:cNvCxnSpPr>
          <p:nvPr/>
        </p:nvCxnSpPr>
        <p:spPr>
          <a:xfrm flipV="1">
            <a:off x="8036881" y="4262578"/>
            <a:ext cx="486066" cy="30466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374" name="TextBox 373">
            <a:extLst>
              <a:ext uri="{FF2B5EF4-FFF2-40B4-BE49-F238E27FC236}">
                <a16:creationId xmlns:a16="http://schemas.microsoft.com/office/drawing/2014/main" id="{2EB0D10D-258F-38BD-AB0D-C1D59E058145}"/>
              </a:ext>
            </a:extLst>
          </p:cNvPr>
          <p:cNvSpPr txBox="1"/>
          <p:nvPr/>
        </p:nvSpPr>
        <p:spPr>
          <a:xfrm>
            <a:off x="9558554" y="4159871"/>
            <a:ext cx="3656656" cy="320520"/>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1_emotion_csv_inter_rater_agreement.ipynb</a:t>
            </a:r>
          </a:p>
        </p:txBody>
      </p:sp>
      <p:sp>
        <p:nvSpPr>
          <p:cNvPr id="375" name="TextBox 374">
            <a:extLst>
              <a:ext uri="{FF2B5EF4-FFF2-40B4-BE49-F238E27FC236}">
                <a16:creationId xmlns:a16="http://schemas.microsoft.com/office/drawing/2014/main" id="{BB07A86C-E0F9-4721-679D-6DE17EE1029D}"/>
              </a:ext>
            </a:extLst>
          </p:cNvPr>
          <p:cNvSpPr txBox="1"/>
          <p:nvPr/>
        </p:nvSpPr>
        <p:spPr>
          <a:xfrm>
            <a:off x="9517994" y="2470516"/>
            <a:ext cx="3400799" cy="3359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1300" dirty="0" err="1"/>
              <a:t>sailuh</a:t>
            </a:r>
            <a:r>
              <a:rPr lang="en-US" sz="1300" dirty="0"/>
              <a:t>/</a:t>
            </a:r>
            <a:r>
              <a:rPr lang="en-US" sz="1300" dirty="0" err="1"/>
              <a:t>sentiment_github_dataset</a:t>
            </a:r>
            <a:endParaRPr kumimoji="0" lang="en-US" sz="1300" b="1" i="0" strike="noStrike" cap="none" spc="0" normalizeH="0" baseline="0" dirty="0">
              <a:ln>
                <a:noFill/>
              </a:ln>
              <a:effectLst/>
              <a:uFillTx/>
              <a:latin typeface="Source Sans Pro"/>
              <a:ea typeface="Source Sans Pro"/>
              <a:cs typeface="Source Sans Pro"/>
              <a:sym typeface="Source Sans Pro"/>
            </a:endParaRPr>
          </a:p>
        </p:txBody>
      </p:sp>
      <p:sp>
        <p:nvSpPr>
          <p:cNvPr id="376" name="TextBox 375">
            <a:extLst>
              <a:ext uri="{FF2B5EF4-FFF2-40B4-BE49-F238E27FC236}">
                <a16:creationId xmlns:a16="http://schemas.microsoft.com/office/drawing/2014/main" id="{E483411D-74AD-FF86-79AB-78949F2F9567}"/>
              </a:ext>
            </a:extLst>
          </p:cNvPr>
          <p:cNvSpPr txBox="1"/>
          <p:nvPr/>
        </p:nvSpPr>
        <p:spPr>
          <a:xfrm>
            <a:off x="9517994" y="3859880"/>
            <a:ext cx="3400799" cy="3359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1300" dirty="0" err="1"/>
              <a:t>sailuh</a:t>
            </a:r>
            <a:r>
              <a:rPr lang="en-US" sz="1300" dirty="0"/>
              <a:t>/</a:t>
            </a:r>
            <a:r>
              <a:rPr lang="en-US" sz="1300" dirty="0" err="1"/>
              <a:t>emotion_jira_dataset</a:t>
            </a:r>
            <a:endParaRPr kumimoji="0" lang="en-US" sz="1300" b="1" i="0" strike="noStrike" cap="none" spc="0" normalizeH="0" baseline="0" dirty="0">
              <a:ln>
                <a:noFill/>
              </a:ln>
              <a:effectLst/>
              <a:uFillTx/>
              <a:latin typeface="Source Sans Pro"/>
              <a:ea typeface="Source Sans Pro"/>
              <a:cs typeface="Source Sans Pro"/>
              <a:sym typeface="Source Sans Pro"/>
            </a:endParaRPr>
          </a:p>
        </p:txBody>
      </p:sp>
      <p:pic>
        <p:nvPicPr>
          <p:cNvPr id="379" name="Graphic 378" descr="Paper outline">
            <a:extLst>
              <a:ext uri="{FF2B5EF4-FFF2-40B4-BE49-F238E27FC236}">
                <a16:creationId xmlns:a16="http://schemas.microsoft.com/office/drawing/2014/main" id="{0BB3C980-9E87-1565-0074-011FB8291B3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31382" y="4473903"/>
            <a:ext cx="536605" cy="536605"/>
          </a:xfrm>
          <a:prstGeom prst="rect">
            <a:avLst/>
          </a:prstGeom>
        </p:spPr>
      </p:pic>
      <p:graphicFrame>
        <p:nvGraphicFramePr>
          <p:cNvPr id="380" name="Table">
            <a:extLst>
              <a:ext uri="{FF2B5EF4-FFF2-40B4-BE49-F238E27FC236}">
                <a16:creationId xmlns:a16="http://schemas.microsoft.com/office/drawing/2014/main" id="{480E98A3-DC01-A150-8027-F915BE506F6F}"/>
              </a:ext>
            </a:extLst>
          </p:cNvPr>
          <p:cNvGraphicFramePr/>
          <p:nvPr/>
        </p:nvGraphicFramePr>
        <p:xfrm>
          <a:off x="648007" y="40891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381" name="TextBox 380">
            <a:extLst>
              <a:ext uri="{FF2B5EF4-FFF2-40B4-BE49-F238E27FC236}">
                <a16:creationId xmlns:a16="http://schemas.microsoft.com/office/drawing/2014/main" id="{67A252F0-8040-DAF8-7271-C8CE789B87C1}"/>
              </a:ext>
            </a:extLst>
          </p:cNvPr>
          <p:cNvSpPr txBox="1"/>
          <p:nvPr/>
        </p:nvSpPr>
        <p:spPr>
          <a:xfrm>
            <a:off x="444504" y="4711561"/>
            <a:ext cx="103487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GitHub 2020 CSV</a:t>
            </a:r>
          </a:p>
          <a:p>
            <a:pPr algn="ctr"/>
            <a:r>
              <a:rPr lang="en-US" sz="800" b="0" dirty="0"/>
              <a:t>Novielli et al. [1]</a:t>
            </a:r>
          </a:p>
        </p:txBody>
      </p:sp>
      <p:sp>
        <p:nvSpPr>
          <p:cNvPr id="408" name="TextBox 407">
            <a:extLst>
              <a:ext uri="{FF2B5EF4-FFF2-40B4-BE49-F238E27FC236}">
                <a16:creationId xmlns:a16="http://schemas.microsoft.com/office/drawing/2014/main" id="{2A26F2BF-5979-58D2-D208-7031ED0C504C}"/>
              </a:ext>
            </a:extLst>
          </p:cNvPr>
          <p:cNvSpPr txBox="1"/>
          <p:nvPr/>
        </p:nvSpPr>
        <p:spPr>
          <a:xfrm>
            <a:off x="7247717" y="5045761"/>
            <a:ext cx="72095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err="1"/>
              <a:t>sailuh</a:t>
            </a:r>
            <a:r>
              <a:rPr lang="en-US" sz="800" b="0" dirty="0"/>
              <a:t>/</a:t>
            </a:r>
            <a:r>
              <a:rPr lang="en-US" sz="800" b="0" dirty="0" err="1"/>
              <a:t>kaiaulu</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10" name="TextBox 409">
            <a:extLst>
              <a:ext uri="{FF2B5EF4-FFF2-40B4-BE49-F238E27FC236}">
                <a16:creationId xmlns:a16="http://schemas.microsoft.com/office/drawing/2014/main" id="{AD18F8A0-B273-AD8C-E4C7-8A19A5783B82}"/>
              </a:ext>
            </a:extLst>
          </p:cNvPr>
          <p:cNvSpPr txBox="1"/>
          <p:nvPr/>
        </p:nvSpPr>
        <p:spPr>
          <a:xfrm>
            <a:off x="5280810" y="4613137"/>
            <a:ext cx="15549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411" name="Straight Arrow Connector 410">
            <a:extLst>
              <a:ext uri="{FF2B5EF4-FFF2-40B4-BE49-F238E27FC236}">
                <a16:creationId xmlns:a16="http://schemas.microsoft.com/office/drawing/2014/main" id="{3083CF13-31FF-A70E-2342-47A4215D1CFF}"/>
              </a:ext>
            </a:extLst>
          </p:cNvPr>
          <p:cNvCxnSpPr>
            <a:cxnSpLocks/>
          </p:cNvCxnSpPr>
          <p:nvPr/>
        </p:nvCxnSpPr>
        <p:spPr>
          <a:xfrm>
            <a:off x="6618730" y="4739740"/>
            <a:ext cx="520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20" name="Elbow Connector 1219">
            <a:extLst>
              <a:ext uri="{FF2B5EF4-FFF2-40B4-BE49-F238E27FC236}">
                <a16:creationId xmlns:a16="http://schemas.microsoft.com/office/drawing/2014/main" id="{8D10936C-6222-252F-8B1A-803127CC78F0}"/>
              </a:ext>
            </a:extLst>
          </p:cNvPr>
          <p:cNvCxnSpPr>
            <a:cxnSpLocks/>
          </p:cNvCxnSpPr>
          <p:nvPr/>
        </p:nvCxnSpPr>
        <p:spPr>
          <a:xfrm rot="5400000">
            <a:off x="6893652" y="2693604"/>
            <a:ext cx="389103" cy="2253944"/>
          </a:xfrm>
          <a:prstGeom prst="bentConnector2">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30" name="Straight Arrow Connector 1229">
            <a:extLst>
              <a:ext uri="{FF2B5EF4-FFF2-40B4-BE49-F238E27FC236}">
                <a16:creationId xmlns:a16="http://schemas.microsoft.com/office/drawing/2014/main" id="{CA788650-C4E6-2879-D13F-39A4C78E4933}"/>
              </a:ext>
            </a:extLst>
          </p:cNvPr>
          <p:cNvCxnSpPr>
            <a:cxnSpLocks/>
          </p:cNvCxnSpPr>
          <p:nvPr/>
        </p:nvCxnSpPr>
        <p:spPr>
          <a:xfrm flipH="1">
            <a:off x="5961231" y="4019531"/>
            <a:ext cx="1" cy="454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17" name="Elbow Connector 1216">
            <a:extLst>
              <a:ext uri="{FF2B5EF4-FFF2-40B4-BE49-F238E27FC236}">
                <a16:creationId xmlns:a16="http://schemas.microsoft.com/office/drawing/2014/main" id="{5BFA093B-CF3A-B3EE-7C8A-82FB57D584FC}"/>
              </a:ext>
            </a:extLst>
          </p:cNvPr>
          <p:cNvCxnSpPr>
            <a:cxnSpLocks/>
            <a:stCxn id="263" idx="1"/>
          </p:cNvCxnSpPr>
          <p:nvPr/>
        </p:nvCxnSpPr>
        <p:spPr>
          <a:xfrm rot="10800000" flipV="1">
            <a:off x="4959812" y="3470167"/>
            <a:ext cx="2546242" cy="338701"/>
          </a:xfrm>
          <a:prstGeom prst="bentConnector3">
            <a:avLst>
              <a:gd name="adj1" fmla="val 13253"/>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36" name="Straight Arrow Connector 1235">
            <a:extLst>
              <a:ext uri="{FF2B5EF4-FFF2-40B4-BE49-F238E27FC236}">
                <a16:creationId xmlns:a16="http://schemas.microsoft.com/office/drawing/2014/main" id="{CD5C3601-9ABE-0169-FBC8-B3037ED8262D}"/>
              </a:ext>
            </a:extLst>
          </p:cNvPr>
          <p:cNvCxnSpPr>
            <a:cxnSpLocks/>
          </p:cNvCxnSpPr>
          <p:nvPr/>
        </p:nvCxnSpPr>
        <p:spPr>
          <a:xfrm>
            <a:off x="4959813" y="3809205"/>
            <a:ext cx="0" cy="655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42" name="TextBox 1241">
            <a:extLst>
              <a:ext uri="{FF2B5EF4-FFF2-40B4-BE49-F238E27FC236}">
                <a16:creationId xmlns:a16="http://schemas.microsoft.com/office/drawing/2014/main" id="{E3D8186F-8FE0-E307-DBE4-9CDD7062ACD7}"/>
              </a:ext>
            </a:extLst>
          </p:cNvPr>
          <p:cNvSpPr txBox="1"/>
          <p:nvPr/>
        </p:nvSpPr>
        <p:spPr>
          <a:xfrm>
            <a:off x="4632534" y="9025990"/>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1243" name="Group 1242">
            <a:extLst>
              <a:ext uri="{FF2B5EF4-FFF2-40B4-BE49-F238E27FC236}">
                <a16:creationId xmlns:a16="http://schemas.microsoft.com/office/drawing/2014/main" id="{BF062988-56F1-7CDB-5861-95B4DB85F4E4}"/>
              </a:ext>
            </a:extLst>
          </p:cNvPr>
          <p:cNvGrpSpPr/>
          <p:nvPr/>
        </p:nvGrpSpPr>
        <p:grpSpPr>
          <a:xfrm>
            <a:off x="5436601" y="8584638"/>
            <a:ext cx="953200" cy="458010"/>
            <a:chOff x="5528605" y="4530831"/>
            <a:chExt cx="953200" cy="458010"/>
          </a:xfrm>
        </p:grpSpPr>
        <p:graphicFrame>
          <p:nvGraphicFramePr>
            <p:cNvPr id="1244" name="Table">
              <a:extLst>
                <a:ext uri="{FF2B5EF4-FFF2-40B4-BE49-F238E27FC236}">
                  <a16:creationId xmlns:a16="http://schemas.microsoft.com/office/drawing/2014/main" id="{2A7CEE77-46F6-6A3B-E0A8-C4668DAF42E9}"/>
                </a:ext>
              </a:extLst>
            </p:cNvPr>
            <p:cNvGraphicFramePr/>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245" name="Table">
              <a:extLst>
                <a:ext uri="{FF2B5EF4-FFF2-40B4-BE49-F238E27FC236}">
                  <a16:creationId xmlns:a16="http://schemas.microsoft.com/office/drawing/2014/main" id="{77BECF96-8F55-4ACA-B38C-72A79951FCA6}"/>
                </a:ext>
              </a:extLst>
            </p:cNvPr>
            <p:cNvGraphicFramePr/>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sp>
        <p:nvSpPr>
          <p:cNvPr id="1246" name="TextBox 1245">
            <a:extLst>
              <a:ext uri="{FF2B5EF4-FFF2-40B4-BE49-F238E27FC236}">
                <a16:creationId xmlns:a16="http://schemas.microsoft.com/office/drawing/2014/main" id="{999082C3-4B24-4D55-6D36-EF1B2DB24174}"/>
              </a:ext>
            </a:extLst>
          </p:cNvPr>
          <p:cNvSpPr txBox="1"/>
          <p:nvPr/>
        </p:nvSpPr>
        <p:spPr>
          <a:xfrm>
            <a:off x="5138691" y="9038621"/>
            <a:ext cx="159274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Jira Emotion 2016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1247" name="Group 1246">
            <a:extLst>
              <a:ext uri="{FF2B5EF4-FFF2-40B4-BE49-F238E27FC236}">
                <a16:creationId xmlns:a16="http://schemas.microsoft.com/office/drawing/2014/main" id="{A4E64B5E-AC82-F9C0-C9EE-F6FFF4CFCE6C}"/>
              </a:ext>
            </a:extLst>
          </p:cNvPr>
          <p:cNvGrpSpPr/>
          <p:nvPr/>
        </p:nvGrpSpPr>
        <p:grpSpPr>
          <a:xfrm>
            <a:off x="8439925" y="8193234"/>
            <a:ext cx="569700" cy="1688313"/>
            <a:chOff x="8715063" y="3858862"/>
            <a:chExt cx="569700" cy="1688313"/>
          </a:xfrm>
        </p:grpSpPr>
        <p:sp>
          <p:nvSpPr>
            <p:cNvPr id="1248" name="Google Shape;324;p18">
              <a:extLst>
                <a:ext uri="{FF2B5EF4-FFF2-40B4-BE49-F238E27FC236}">
                  <a16:creationId xmlns:a16="http://schemas.microsoft.com/office/drawing/2014/main" id="{163F1EFF-86BC-6527-EA1D-F136C309EE85}"/>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1249" name="Google Shape;359;p18">
              <a:extLst>
                <a:ext uri="{FF2B5EF4-FFF2-40B4-BE49-F238E27FC236}">
                  <a16:creationId xmlns:a16="http://schemas.microsoft.com/office/drawing/2014/main" id="{A726D944-9FC6-60C4-37B4-C17DF447D0D0}"/>
                </a:ext>
              </a:extLst>
            </p:cNvPr>
            <p:cNvGrpSpPr/>
            <p:nvPr/>
          </p:nvGrpSpPr>
          <p:grpSpPr>
            <a:xfrm>
              <a:off x="8838265" y="4043887"/>
              <a:ext cx="307200" cy="189300"/>
              <a:chOff x="3007175" y="1757600"/>
              <a:chExt cx="307200" cy="189300"/>
            </a:xfrm>
          </p:grpSpPr>
          <p:sp>
            <p:nvSpPr>
              <p:cNvPr id="1274" name="Google Shape;360;p18">
                <a:extLst>
                  <a:ext uri="{FF2B5EF4-FFF2-40B4-BE49-F238E27FC236}">
                    <a16:creationId xmlns:a16="http://schemas.microsoft.com/office/drawing/2014/main" id="{1E558910-5DEC-34DB-3C3B-BB246C45CF99}"/>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5" name="Google Shape;361;p18">
                <a:extLst>
                  <a:ext uri="{FF2B5EF4-FFF2-40B4-BE49-F238E27FC236}">
                    <a16:creationId xmlns:a16="http://schemas.microsoft.com/office/drawing/2014/main" id="{68F5536B-0FF5-B1A0-1055-F691C72AEE22}"/>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6" name="Google Shape;362;p18">
                <a:extLst>
                  <a:ext uri="{FF2B5EF4-FFF2-40B4-BE49-F238E27FC236}">
                    <a16:creationId xmlns:a16="http://schemas.microsoft.com/office/drawing/2014/main" id="{9AA98C73-8609-BC9A-DDA4-8B19CE7DFC41}"/>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7" name="Google Shape;363;p18">
                <a:extLst>
                  <a:ext uri="{FF2B5EF4-FFF2-40B4-BE49-F238E27FC236}">
                    <a16:creationId xmlns:a16="http://schemas.microsoft.com/office/drawing/2014/main" id="{FB58B59D-9177-C0AB-7A4E-0F633C9CC69E}"/>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278" name="Google Shape;364;p18">
                <a:extLst>
                  <a:ext uri="{FF2B5EF4-FFF2-40B4-BE49-F238E27FC236}">
                    <a16:creationId xmlns:a16="http://schemas.microsoft.com/office/drawing/2014/main" id="{A0C053B4-DAAA-E467-E929-5767E725DEB0}"/>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279" name="Google Shape;365;p18">
                <a:extLst>
                  <a:ext uri="{FF2B5EF4-FFF2-40B4-BE49-F238E27FC236}">
                    <a16:creationId xmlns:a16="http://schemas.microsoft.com/office/drawing/2014/main" id="{03E89027-BEAE-2FE4-EB18-243CE7064E4E}"/>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280" name="Google Shape;366;p18">
                <a:extLst>
                  <a:ext uri="{FF2B5EF4-FFF2-40B4-BE49-F238E27FC236}">
                    <a16:creationId xmlns:a16="http://schemas.microsoft.com/office/drawing/2014/main" id="{92F95D83-B59A-BF51-27EA-5E6898959311}"/>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1250" name="Google Shape;367;p18">
              <a:extLst>
                <a:ext uri="{FF2B5EF4-FFF2-40B4-BE49-F238E27FC236}">
                  <a16:creationId xmlns:a16="http://schemas.microsoft.com/office/drawing/2014/main" id="{8E921F76-EDD2-19D2-4BDB-B1A4A65AA779}"/>
                </a:ext>
              </a:extLst>
            </p:cNvPr>
            <p:cNvGrpSpPr/>
            <p:nvPr/>
          </p:nvGrpSpPr>
          <p:grpSpPr>
            <a:xfrm>
              <a:off x="8838252" y="4387350"/>
              <a:ext cx="307200" cy="189300"/>
              <a:chOff x="3007175" y="1757600"/>
              <a:chExt cx="307200" cy="189300"/>
            </a:xfrm>
          </p:grpSpPr>
          <p:sp>
            <p:nvSpPr>
              <p:cNvPr id="1267" name="Google Shape;368;p18">
                <a:extLst>
                  <a:ext uri="{FF2B5EF4-FFF2-40B4-BE49-F238E27FC236}">
                    <a16:creationId xmlns:a16="http://schemas.microsoft.com/office/drawing/2014/main" id="{83152A68-03F8-1114-5A7C-135E1C60E264}"/>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8" name="Google Shape;369;p18">
                <a:extLst>
                  <a:ext uri="{FF2B5EF4-FFF2-40B4-BE49-F238E27FC236}">
                    <a16:creationId xmlns:a16="http://schemas.microsoft.com/office/drawing/2014/main" id="{F6FA8958-742D-EDF7-3B66-43DE4BBD07EF}"/>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9" name="Google Shape;370;p18">
                <a:extLst>
                  <a:ext uri="{FF2B5EF4-FFF2-40B4-BE49-F238E27FC236}">
                    <a16:creationId xmlns:a16="http://schemas.microsoft.com/office/drawing/2014/main" id="{8C983177-AFA5-56B5-A557-2C40AB484375}"/>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0" name="Google Shape;371;p18">
                <a:extLst>
                  <a:ext uri="{FF2B5EF4-FFF2-40B4-BE49-F238E27FC236}">
                    <a16:creationId xmlns:a16="http://schemas.microsoft.com/office/drawing/2014/main" id="{83BA584A-3500-C25B-2D33-DE55E441BE26}"/>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271" name="Google Shape;372;p18">
                <a:extLst>
                  <a:ext uri="{FF2B5EF4-FFF2-40B4-BE49-F238E27FC236}">
                    <a16:creationId xmlns:a16="http://schemas.microsoft.com/office/drawing/2014/main" id="{05FD780D-D2CE-31E8-84CF-CAD2BB7FE0BD}"/>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272" name="Google Shape;373;p18">
                <a:extLst>
                  <a:ext uri="{FF2B5EF4-FFF2-40B4-BE49-F238E27FC236}">
                    <a16:creationId xmlns:a16="http://schemas.microsoft.com/office/drawing/2014/main" id="{645B21EB-9CB3-EB24-AF05-1D4B9B1A6905}"/>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273" name="Google Shape;374;p18">
                <a:extLst>
                  <a:ext uri="{FF2B5EF4-FFF2-40B4-BE49-F238E27FC236}">
                    <a16:creationId xmlns:a16="http://schemas.microsoft.com/office/drawing/2014/main" id="{15A557E6-E512-4638-76C9-8776B9FB9C7A}"/>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1251" name="Google Shape;375;p18">
              <a:extLst>
                <a:ext uri="{FF2B5EF4-FFF2-40B4-BE49-F238E27FC236}">
                  <a16:creationId xmlns:a16="http://schemas.microsoft.com/office/drawing/2014/main" id="{12220D91-4A8A-F3D7-7164-7272D41AEF14}"/>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1252" name="Google Shape;376;p18">
              <a:extLst>
                <a:ext uri="{FF2B5EF4-FFF2-40B4-BE49-F238E27FC236}">
                  <a16:creationId xmlns:a16="http://schemas.microsoft.com/office/drawing/2014/main" id="{547F6E82-0039-A945-9457-91F1C9CED2F0}"/>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1253" name="Google Shape;377;p18">
              <a:extLst>
                <a:ext uri="{FF2B5EF4-FFF2-40B4-BE49-F238E27FC236}">
                  <a16:creationId xmlns:a16="http://schemas.microsoft.com/office/drawing/2014/main" id="{B93347C2-C5FD-AC7F-9861-30208F106C8B}"/>
                </a:ext>
              </a:extLst>
            </p:cNvPr>
            <p:cNvGrpSpPr/>
            <p:nvPr/>
          </p:nvGrpSpPr>
          <p:grpSpPr>
            <a:xfrm>
              <a:off x="8846302" y="4841125"/>
              <a:ext cx="307200" cy="297900"/>
              <a:chOff x="3021975" y="2389850"/>
              <a:chExt cx="307200" cy="297900"/>
            </a:xfrm>
          </p:grpSpPr>
          <p:sp>
            <p:nvSpPr>
              <p:cNvPr id="1257" name="Google Shape;378;p18">
                <a:extLst>
                  <a:ext uri="{FF2B5EF4-FFF2-40B4-BE49-F238E27FC236}">
                    <a16:creationId xmlns:a16="http://schemas.microsoft.com/office/drawing/2014/main" id="{1403BC64-9CEA-365A-1059-241DC31A8330}"/>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258" name="Google Shape;379;p18">
                <a:extLst>
                  <a:ext uri="{FF2B5EF4-FFF2-40B4-BE49-F238E27FC236}">
                    <a16:creationId xmlns:a16="http://schemas.microsoft.com/office/drawing/2014/main" id="{357FFFA4-344C-530D-B071-A07B6FBC80A3}"/>
                  </a:ext>
                </a:extLst>
              </p:cNvPr>
              <p:cNvGrpSpPr/>
              <p:nvPr/>
            </p:nvGrpSpPr>
            <p:grpSpPr>
              <a:xfrm>
                <a:off x="3021975" y="2389850"/>
                <a:ext cx="307200" cy="295800"/>
                <a:chOff x="3021975" y="2389850"/>
                <a:chExt cx="307200" cy="295800"/>
              </a:xfrm>
            </p:grpSpPr>
            <p:sp>
              <p:nvSpPr>
                <p:cNvPr id="1259" name="Google Shape;380;p18">
                  <a:extLst>
                    <a:ext uri="{FF2B5EF4-FFF2-40B4-BE49-F238E27FC236}">
                      <a16:creationId xmlns:a16="http://schemas.microsoft.com/office/drawing/2014/main" id="{1724A68A-8F43-AC1A-5AA7-9D4DAD79A10D}"/>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0" name="Google Shape;381;p18">
                  <a:extLst>
                    <a:ext uri="{FF2B5EF4-FFF2-40B4-BE49-F238E27FC236}">
                      <a16:creationId xmlns:a16="http://schemas.microsoft.com/office/drawing/2014/main" id="{DA3C615B-4572-7669-D757-C5CA59BE57A1}"/>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261" name="Google Shape;382;p18">
                  <a:extLst>
                    <a:ext uri="{FF2B5EF4-FFF2-40B4-BE49-F238E27FC236}">
                      <a16:creationId xmlns:a16="http://schemas.microsoft.com/office/drawing/2014/main" id="{518D18C7-C43D-AC1C-27D7-EB6EF3D3C644}"/>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1262" name="Google Shape;383;p18">
                  <a:extLst>
                    <a:ext uri="{FF2B5EF4-FFF2-40B4-BE49-F238E27FC236}">
                      <a16:creationId xmlns:a16="http://schemas.microsoft.com/office/drawing/2014/main" id="{2F5A699A-F2C0-49B3-660D-4D4639C88281}"/>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1263" name="Google Shape;384;p18">
                  <a:extLst>
                    <a:ext uri="{FF2B5EF4-FFF2-40B4-BE49-F238E27FC236}">
                      <a16:creationId xmlns:a16="http://schemas.microsoft.com/office/drawing/2014/main" id="{C05D7EED-3F0A-BDCE-8EC4-6627F1DEF598}"/>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264" name="Google Shape;385;p18">
                  <a:extLst>
                    <a:ext uri="{FF2B5EF4-FFF2-40B4-BE49-F238E27FC236}">
                      <a16:creationId xmlns:a16="http://schemas.microsoft.com/office/drawing/2014/main" id="{3B96F0A5-A9D5-E59C-8860-BCD3AD1DFAA8}"/>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265" name="Google Shape;386;p18">
                  <a:extLst>
                    <a:ext uri="{FF2B5EF4-FFF2-40B4-BE49-F238E27FC236}">
                      <a16:creationId xmlns:a16="http://schemas.microsoft.com/office/drawing/2014/main" id="{9FD98EE5-132C-CFD7-C908-DA7C1AEBAAA8}"/>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266" name="Google Shape;387;p18">
                  <a:extLst>
                    <a:ext uri="{FF2B5EF4-FFF2-40B4-BE49-F238E27FC236}">
                      <a16:creationId xmlns:a16="http://schemas.microsoft.com/office/drawing/2014/main" id="{28090C78-1A5A-FC24-370D-DB60CC4FB8AD}"/>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1254" name="Google Shape;388;p18">
              <a:extLst>
                <a:ext uri="{FF2B5EF4-FFF2-40B4-BE49-F238E27FC236}">
                  <a16:creationId xmlns:a16="http://schemas.microsoft.com/office/drawing/2014/main" id="{BD864B3F-87A9-3C94-BC37-B07BB91F8352}"/>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cxnSp>
          <p:nvCxnSpPr>
            <p:cNvPr id="1255" name="Google Shape;389;p18">
              <a:extLst>
                <a:ext uri="{FF2B5EF4-FFF2-40B4-BE49-F238E27FC236}">
                  <a16:creationId xmlns:a16="http://schemas.microsoft.com/office/drawing/2014/main" id="{6C4BAC4B-299A-2BE0-32D2-0FD372C0ECC4}"/>
                </a:ext>
              </a:extLst>
            </p:cNvPr>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1256" name="Google Shape;390;p18">
              <a:extLst>
                <a:ext uri="{FF2B5EF4-FFF2-40B4-BE49-F238E27FC236}">
                  <a16:creationId xmlns:a16="http://schemas.microsoft.com/office/drawing/2014/main" id="{F90BDDC1-E166-3E54-983C-366EC0AA6514}"/>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1282" name="Graphic 1281" descr="Paper outline">
            <a:extLst>
              <a:ext uri="{FF2B5EF4-FFF2-40B4-BE49-F238E27FC236}">
                <a16:creationId xmlns:a16="http://schemas.microsoft.com/office/drawing/2014/main" id="{0C849DBC-7837-FD94-AF26-143F80D7E1E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5359" y="8538023"/>
            <a:ext cx="536605" cy="536605"/>
          </a:xfrm>
          <a:prstGeom prst="rect">
            <a:avLst/>
          </a:prstGeom>
        </p:spPr>
      </p:pic>
      <p:sp>
        <p:nvSpPr>
          <p:cNvPr id="1285" name="TextBox 1284">
            <a:extLst>
              <a:ext uri="{FF2B5EF4-FFF2-40B4-BE49-F238E27FC236}">
                <a16:creationId xmlns:a16="http://schemas.microsoft.com/office/drawing/2014/main" id="{0B63741C-3C66-E2DB-C9B2-E4078F9E1076}"/>
              </a:ext>
            </a:extLst>
          </p:cNvPr>
          <p:cNvSpPr txBox="1"/>
          <p:nvPr/>
        </p:nvSpPr>
        <p:spPr>
          <a:xfrm>
            <a:off x="5190237" y="8649598"/>
            <a:ext cx="15549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1286" name="Straight Arrow Connector 1285">
            <a:extLst>
              <a:ext uri="{FF2B5EF4-FFF2-40B4-BE49-F238E27FC236}">
                <a16:creationId xmlns:a16="http://schemas.microsoft.com/office/drawing/2014/main" id="{7DC095AF-AA00-6A02-1271-AA818181E784}"/>
              </a:ext>
            </a:extLst>
          </p:cNvPr>
          <p:cNvCxnSpPr>
            <a:cxnSpLocks/>
          </p:cNvCxnSpPr>
          <p:nvPr/>
        </p:nvCxnSpPr>
        <p:spPr>
          <a:xfrm>
            <a:off x="6471063" y="8803860"/>
            <a:ext cx="520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87" name="Straight Arrow Connector 1286">
            <a:extLst>
              <a:ext uri="{FF2B5EF4-FFF2-40B4-BE49-F238E27FC236}">
                <a16:creationId xmlns:a16="http://schemas.microsoft.com/office/drawing/2014/main" id="{4EC6F614-1EA1-2258-A475-F6D749483CE4}"/>
              </a:ext>
            </a:extLst>
          </p:cNvPr>
          <p:cNvCxnSpPr>
            <a:cxnSpLocks/>
          </p:cNvCxnSpPr>
          <p:nvPr/>
        </p:nvCxnSpPr>
        <p:spPr>
          <a:xfrm flipH="1">
            <a:off x="5875208" y="8083651"/>
            <a:ext cx="1" cy="454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88" name="Elbow Connector 1287">
            <a:extLst>
              <a:ext uri="{FF2B5EF4-FFF2-40B4-BE49-F238E27FC236}">
                <a16:creationId xmlns:a16="http://schemas.microsoft.com/office/drawing/2014/main" id="{8D172730-442D-7BD4-DDEA-131833E42347}"/>
              </a:ext>
            </a:extLst>
          </p:cNvPr>
          <p:cNvCxnSpPr>
            <a:cxnSpLocks/>
            <a:stCxn id="306" idx="1"/>
          </p:cNvCxnSpPr>
          <p:nvPr/>
        </p:nvCxnSpPr>
        <p:spPr>
          <a:xfrm rot="10800000" flipV="1">
            <a:off x="4901156" y="7492159"/>
            <a:ext cx="2389565" cy="395430"/>
          </a:xfrm>
          <a:prstGeom prst="bentConnector3">
            <a:avLst>
              <a:gd name="adj1" fmla="val 8418"/>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89" name="Straight Arrow Connector 1288">
            <a:extLst>
              <a:ext uri="{FF2B5EF4-FFF2-40B4-BE49-F238E27FC236}">
                <a16:creationId xmlns:a16="http://schemas.microsoft.com/office/drawing/2014/main" id="{75105810-7A00-FF67-5554-1A2E2D74A06A}"/>
              </a:ext>
            </a:extLst>
          </p:cNvPr>
          <p:cNvCxnSpPr>
            <a:cxnSpLocks/>
          </p:cNvCxnSpPr>
          <p:nvPr/>
        </p:nvCxnSpPr>
        <p:spPr>
          <a:xfrm>
            <a:off x="4901156" y="7887589"/>
            <a:ext cx="0" cy="655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91" name="Elbow Connector 1290">
            <a:extLst>
              <a:ext uri="{FF2B5EF4-FFF2-40B4-BE49-F238E27FC236}">
                <a16:creationId xmlns:a16="http://schemas.microsoft.com/office/drawing/2014/main" id="{167B01AB-B0E7-95CA-1999-FD91FDCE5BB9}"/>
              </a:ext>
            </a:extLst>
          </p:cNvPr>
          <p:cNvCxnSpPr>
            <a:cxnSpLocks/>
          </p:cNvCxnSpPr>
          <p:nvPr/>
        </p:nvCxnSpPr>
        <p:spPr>
          <a:xfrm rot="10800000" flipV="1">
            <a:off x="5875209" y="7689643"/>
            <a:ext cx="2330535" cy="395891"/>
          </a:xfrm>
          <a:prstGeom prst="bentConnector3">
            <a:avLst>
              <a:gd name="adj1" fmla="val 138"/>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97" name="Straight Arrow Connector 1296">
            <a:extLst>
              <a:ext uri="{FF2B5EF4-FFF2-40B4-BE49-F238E27FC236}">
                <a16:creationId xmlns:a16="http://schemas.microsoft.com/office/drawing/2014/main" id="{138A7C04-083A-5EFF-7D79-1C3EF2887202}"/>
              </a:ext>
            </a:extLst>
          </p:cNvPr>
          <p:cNvCxnSpPr>
            <a:cxnSpLocks/>
          </p:cNvCxnSpPr>
          <p:nvPr/>
        </p:nvCxnSpPr>
        <p:spPr>
          <a:xfrm>
            <a:off x="7954799" y="8798069"/>
            <a:ext cx="4914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03" name="Can 1302">
            <a:extLst>
              <a:ext uri="{FF2B5EF4-FFF2-40B4-BE49-F238E27FC236}">
                <a16:creationId xmlns:a16="http://schemas.microsoft.com/office/drawing/2014/main" id="{D57FD7ED-1D87-C096-78FD-28CF9167117E}"/>
              </a:ext>
            </a:extLst>
          </p:cNvPr>
          <p:cNvSpPr/>
          <p:nvPr/>
        </p:nvSpPr>
        <p:spPr>
          <a:xfrm>
            <a:off x="2161726" y="4087963"/>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304" name="TextBox 1303">
            <a:extLst>
              <a:ext uri="{FF2B5EF4-FFF2-40B4-BE49-F238E27FC236}">
                <a16:creationId xmlns:a16="http://schemas.microsoft.com/office/drawing/2014/main" id="{3562639B-C570-D545-8869-ACA602CEDE2F}"/>
              </a:ext>
            </a:extLst>
          </p:cNvPr>
          <p:cNvSpPr txBox="1"/>
          <p:nvPr/>
        </p:nvSpPr>
        <p:spPr>
          <a:xfrm>
            <a:off x="1691738" y="4702673"/>
            <a:ext cx="144929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err="1"/>
              <a:t>GHTorrent</a:t>
            </a:r>
            <a:r>
              <a:rPr lang="en-US" sz="1000" b="0" dirty="0"/>
              <a:t> 2014 DB</a:t>
            </a:r>
          </a:p>
          <a:p>
            <a:pPr algn="ctr"/>
            <a:r>
              <a:rPr lang="en-US" sz="800" b="0" dirty="0"/>
              <a:t>MSR Challenge [2]</a:t>
            </a:r>
          </a:p>
        </p:txBody>
      </p:sp>
      <p:sp>
        <p:nvSpPr>
          <p:cNvPr id="1306" name="Line">
            <a:extLst>
              <a:ext uri="{FF2B5EF4-FFF2-40B4-BE49-F238E27FC236}">
                <a16:creationId xmlns:a16="http://schemas.microsoft.com/office/drawing/2014/main" id="{0790F332-7CFE-17B7-E763-4DFAE6CE2939}"/>
              </a:ext>
            </a:extLst>
          </p:cNvPr>
          <p:cNvSpPr/>
          <p:nvPr/>
        </p:nvSpPr>
        <p:spPr>
          <a:xfrm flipV="1">
            <a:off x="252723" y="5254841"/>
            <a:ext cx="3367943" cy="0"/>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aphicFrame>
        <p:nvGraphicFramePr>
          <p:cNvPr id="1307" name="Table">
            <a:extLst>
              <a:ext uri="{FF2B5EF4-FFF2-40B4-BE49-F238E27FC236}">
                <a16:creationId xmlns:a16="http://schemas.microsoft.com/office/drawing/2014/main" id="{1201C85D-29ED-71A9-7349-72990D639318}"/>
              </a:ext>
            </a:extLst>
          </p:cNvPr>
          <p:cNvGraphicFramePr/>
          <p:nvPr/>
        </p:nvGraphicFramePr>
        <p:xfrm>
          <a:off x="637915" y="5447796"/>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1308" name="TextBox 1307">
            <a:extLst>
              <a:ext uri="{FF2B5EF4-FFF2-40B4-BE49-F238E27FC236}">
                <a16:creationId xmlns:a16="http://schemas.microsoft.com/office/drawing/2014/main" id="{264ECA41-E2AA-A758-1F79-34E2A47AA1B6}"/>
              </a:ext>
            </a:extLst>
          </p:cNvPr>
          <p:cNvSpPr txBox="1"/>
          <p:nvPr/>
        </p:nvSpPr>
        <p:spPr>
          <a:xfrm>
            <a:off x="275721" y="6080333"/>
            <a:ext cx="1349115"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Emotion 2016 CSV</a:t>
            </a:r>
          </a:p>
          <a:p>
            <a:pPr algn="ctr"/>
            <a:r>
              <a:rPr lang="en-US" sz="800" b="0" dirty="0"/>
              <a:t>Ortu et al. [3]</a:t>
            </a:r>
          </a:p>
        </p:txBody>
      </p:sp>
      <p:sp>
        <p:nvSpPr>
          <p:cNvPr id="1310" name="TextBox 1309">
            <a:extLst>
              <a:ext uri="{FF2B5EF4-FFF2-40B4-BE49-F238E27FC236}">
                <a16:creationId xmlns:a16="http://schemas.microsoft.com/office/drawing/2014/main" id="{0CA477DD-DED1-D666-2877-2202E78ACFA3}"/>
              </a:ext>
            </a:extLst>
          </p:cNvPr>
          <p:cNvSpPr txBox="1"/>
          <p:nvPr/>
        </p:nvSpPr>
        <p:spPr>
          <a:xfrm>
            <a:off x="1667267" y="6096367"/>
            <a:ext cx="144929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a:t>Jira PostgreSQL 2016 DB</a:t>
            </a:r>
          </a:p>
          <a:p>
            <a:pPr algn="ctr"/>
            <a:r>
              <a:rPr lang="en-US" sz="800" b="0" dirty="0"/>
              <a:t>MSR Challenge [4]</a:t>
            </a:r>
          </a:p>
        </p:txBody>
      </p:sp>
      <p:sp>
        <p:nvSpPr>
          <p:cNvPr id="1318" name="TextBox 1317">
            <a:extLst>
              <a:ext uri="{FF2B5EF4-FFF2-40B4-BE49-F238E27FC236}">
                <a16:creationId xmlns:a16="http://schemas.microsoft.com/office/drawing/2014/main" id="{BFB5947C-C96A-28B5-C4A8-FBE8EF228FA5}"/>
              </a:ext>
            </a:extLst>
          </p:cNvPr>
          <p:cNvSpPr txBox="1"/>
          <p:nvPr/>
        </p:nvSpPr>
        <p:spPr>
          <a:xfrm>
            <a:off x="9468971" y="9437117"/>
            <a:ext cx="4207266" cy="8591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600" b="0" dirty="0"/>
              <a:t>[1] N. Novielli, Fabio Calefato, Davide </a:t>
            </a:r>
            <a:r>
              <a:rPr lang="en-US" sz="600" b="0" dirty="0" err="1"/>
              <a:t>Dongiovanni</a:t>
            </a:r>
            <a:r>
              <a:rPr lang="en-US" sz="600" b="0" dirty="0"/>
              <a:t>, D. Girardi, and Filippo Lanubile, “Can We Use SE-specific Sentiment Analysis Tools in a Cross-Platform Setting?,” Jun. 2020, </a:t>
            </a:r>
            <a:r>
              <a:rPr lang="en-US" sz="600" b="0" dirty="0" err="1"/>
              <a:t>doi</a:t>
            </a:r>
            <a:r>
              <a:rPr lang="en-US" sz="600" b="0" dirty="0"/>
              <a:t>: https://doi.org/10.1145/3379597.3387446. </a:t>
            </a:r>
          </a:p>
          <a:p>
            <a:r>
              <a:rPr lang="en-US" sz="600" b="0" dirty="0"/>
              <a:t>[2]https://web.archive.org/web/20210224080543/http://ansymore.uantwerpen.be/system/files/uploads/artefacts/alessandro/MSR16/archive3.zip</a:t>
            </a:r>
          </a:p>
          <a:p>
            <a:r>
              <a:rPr lang="en-US" sz="600" b="0" dirty="0"/>
              <a:t>[3] M. Ortu </a:t>
            </a:r>
            <a:r>
              <a:rPr lang="en-US" sz="600" b="0" i="1" dirty="0"/>
              <a:t>et al.</a:t>
            </a:r>
            <a:r>
              <a:rPr lang="en-US" sz="600" b="0" dirty="0"/>
              <a:t>, “The emotional side of software developers in JIRA,” </a:t>
            </a:r>
            <a:r>
              <a:rPr lang="en-US" sz="600" b="0" i="1" dirty="0"/>
              <a:t>Proceedings of the 13th International Conference on Mining Software Repositories</a:t>
            </a:r>
            <a:r>
              <a:rPr lang="en-US" sz="600" b="0" dirty="0"/>
              <a:t>, May 2016, </a:t>
            </a:r>
            <a:r>
              <a:rPr lang="en-US" sz="600" b="0" dirty="0" err="1"/>
              <a:t>doi</a:t>
            </a:r>
            <a:r>
              <a:rPr lang="en-US" sz="600" b="0" dirty="0"/>
              <a:t>: https://doi.org/10.1145/2901739.2903505. </a:t>
            </a:r>
          </a:p>
          <a:p>
            <a:r>
              <a:rPr lang="en-US" sz="600" b="0" dirty="0"/>
              <a:t>[4]https://web.archive.org/web/20150206005357/http://ghtorrent.org/msr14.html </a:t>
            </a:r>
          </a:p>
        </p:txBody>
      </p:sp>
      <p:grpSp>
        <p:nvGrpSpPr>
          <p:cNvPr id="1469" name="Group 1468">
            <a:extLst>
              <a:ext uri="{FF2B5EF4-FFF2-40B4-BE49-F238E27FC236}">
                <a16:creationId xmlns:a16="http://schemas.microsoft.com/office/drawing/2014/main" id="{963C8B3E-72D3-9CB4-81EB-CEB794540C80}"/>
              </a:ext>
            </a:extLst>
          </p:cNvPr>
          <p:cNvGrpSpPr/>
          <p:nvPr/>
        </p:nvGrpSpPr>
        <p:grpSpPr>
          <a:xfrm>
            <a:off x="9716135" y="7200213"/>
            <a:ext cx="3656845" cy="2142989"/>
            <a:chOff x="8476178" y="1075788"/>
            <a:chExt cx="3245700" cy="1935357"/>
          </a:xfrm>
        </p:grpSpPr>
        <p:sp>
          <p:nvSpPr>
            <p:cNvPr id="1401" name="Google Shape;324;p18">
              <a:extLst>
                <a:ext uri="{FF2B5EF4-FFF2-40B4-BE49-F238E27FC236}">
                  <a16:creationId xmlns:a16="http://schemas.microsoft.com/office/drawing/2014/main" id="{81FCBDD4-8A43-5932-35F0-EE09B4B4ADA5}"/>
                </a:ext>
              </a:extLst>
            </p:cNvPr>
            <p:cNvSpPr/>
            <p:nvPr/>
          </p:nvSpPr>
          <p:spPr>
            <a:xfrm>
              <a:off x="8547103" y="133324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sp>
          <p:nvSpPr>
            <p:cNvPr id="1402" name="Google Shape;325;p18">
              <a:extLst>
                <a:ext uri="{FF2B5EF4-FFF2-40B4-BE49-F238E27FC236}">
                  <a16:creationId xmlns:a16="http://schemas.microsoft.com/office/drawing/2014/main" id="{0D5CB6A1-FB37-AFF8-EC9D-503595432C46}"/>
                </a:ext>
              </a:extLst>
            </p:cNvPr>
            <p:cNvSpPr txBox="1"/>
            <p:nvPr/>
          </p:nvSpPr>
          <p:spPr>
            <a:xfrm>
              <a:off x="8512875" y="1160558"/>
              <a:ext cx="5898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Comments</a:t>
              </a:r>
              <a:endParaRPr sz="686" dirty="0">
                <a:solidFill>
                  <a:schemeClr val="dk2"/>
                </a:solidFill>
                <a:latin typeface="Source Sans 3"/>
                <a:ea typeface="Source Sans 3"/>
                <a:cs typeface="Source Sans 3"/>
                <a:sym typeface="Source Sans 3"/>
              </a:endParaRPr>
            </a:p>
          </p:txBody>
        </p:sp>
        <p:sp>
          <p:nvSpPr>
            <p:cNvPr id="1403" name="Google Shape;326;p18">
              <a:extLst>
                <a:ext uri="{FF2B5EF4-FFF2-40B4-BE49-F238E27FC236}">
                  <a16:creationId xmlns:a16="http://schemas.microsoft.com/office/drawing/2014/main" id="{8ECCDB4B-25AA-89FE-F0FF-9400FA9B0118}"/>
                </a:ext>
              </a:extLst>
            </p:cNvPr>
            <p:cNvSpPr/>
            <p:nvPr/>
          </p:nvSpPr>
          <p:spPr>
            <a:xfrm>
              <a:off x="8476178" y="1114845"/>
              <a:ext cx="3245700" cy="18963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04" name="Google Shape;327;p18">
              <a:extLst>
                <a:ext uri="{FF2B5EF4-FFF2-40B4-BE49-F238E27FC236}">
                  <a16:creationId xmlns:a16="http://schemas.microsoft.com/office/drawing/2014/main" id="{CEAA4831-7215-7492-CD26-C830EE08141D}"/>
                </a:ext>
              </a:extLst>
            </p:cNvPr>
            <p:cNvSpPr/>
            <p:nvPr/>
          </p:nvSpPr>
          <p:spPr>
            <a:xfrm>
              <a:off x="9194189" y="1685753"/>
              <a:ext cx="660000" cy="5394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sp>
          <p:nvSpPr>
            <p:cNvPr id="1405" name="Google Shape;328;p18">
              <a:extLst>
                <a:ext uri="{FF2B5EF4-FFF2-40B4-BE49-F238E27FC236}">
                  <a16:creationId xmlns:a16="http://schemas.microsoft.com/office/drawing/2014/main" id="{F3459D22-8FD3-93C9-FB34-F83486B63EBF}"/>
                </a:ext>
              </a:extLst>
            </p:cNvPr>
            <p:cNvSpPr txBox="1"/>
            <p:nvPr/>
          </p:nvSpPr>
          <p:spPr>
            <a:xfrm>
              <a:off x="9243730" y="1675030"/>
              <a:ext cx="627577" cy="23835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err="1">
                  <a:solidFill>
                    <a:schemeClr val="dk2"/>
                  </a:solidFill>
                  <a:latin typeface="Source Sans 3"/>
                  <a:ea typeface="Source Sans 3"/>
                  <a:cs typeface="Source Sans 3"/>
                  <a:sym typeface="Source Sans 3"/>
                </a:rPr>
                <a:t>sailuh</a:t>
              </a:r>
              <a:r>
                <a:rPr lang="en" sz="686" dirty="0">
                  <a:solidFill>
                    <a:schemeClr val="dk2"/>
                  </a:solidFill>
                  <a:latin typeface="Source Sans 3"/>
                  <a:ea typeface="Source Sans 3"/>
                  <a:cs typeface="Source Sans 3"/>
                  <a:sym typeface="Source Sans 3"/>
                </a:rPr>
                <a:t>/</a:t>
              </a:r>
              <a:r>
                <a:rPr lang="en" sz="686" dirty="0" err="1">
                  <a:solidFill>
                    <a:schemeClr val="dk2"/>
                  </a:solidFill>
                  <a:latin typeface="Source Sans 3"/>
                  <a:ea typeface="Source Sans 3"/>
                  <a:cs typeface="Source Sans 3"/>
                  <a:sym typeface="Source Sans 3"/>
                </a:rPr>
                <a:t>kaiaulu</a:t>
              </a:r>
              <a:endParaRPr sz="686" dirty="0">
                <a:solidFill>
                  <a:schemeClr val="dk2"/>
                </a:solidFill>
                <a:latin typeface="Source Sans 3"/>
                <a:ea typeface="Source Sans 3"/>
                <a:cs typeface="Source Sans 3"/>
                <a:sym typeface="Source Sans 3"/>
              </a:endParaRPr>
            </a:p>
          </p:txBody>
        </p:sp>
        <p:cxnSp>
          <p:nvCxnSpPr>
            <p:cNvPr id="1406" name="Google Shape;329;p18">
              <a:extLst>
                <a:ext uri="{FF2B5EF4-FFF2-40B4-BE49-F238E27FC236}">
                  <a16:creationId xmlns:a16="http://schemas.microsoft.com/office/drawing/2014/main" id="{D3286730-B894-F5C4-2C27-ADAD09906BD0}"/>
                </a:ext>
              </a:extLst>
            </p:cNvPr>
            <p:cNvCxnSpPr/>
            <p:nvPr/>
          </p:nvCxnSpPr>
          <p:spPr>
            <a:xfrm>
              <a:off x="9524199" y="2225090"/>
              <a:ext cx="0" cy="297300"/>
            </a:xfrm>
            <a:prstGeom prst="straightConnector1">
              <a:avLst/>
            </a:prstGeom>
            <a:noFill/>
            <a:ln w="8175" cap="flat" cmpd="sng">
              <a:solidFill>
                <a:schemeClr val="dk2"/>
              </a:solidFill>
              <a:prstDash val="solid"/>
              <a:round/>
              <a:headEnd type="none" w="med" len="med"/>
              <a:tailEnd type="triangle" w="med" len="med"/>
            </a:ln>
          </p:spPr>
        </p:cxnSp>
        <p:sp>
          <p:nvSpPr>
            <p:cNvPr id="1407" name="Google Shape;330;p18">
              <a:extLst>
                <a:ext uri="{FF2B5EF4-FFF2-40B4-BE49-F238E27FC236}">
                  <a16:creationId xmlns:a16="http://schemas.microsoft.com/office/drawing/2014/main" id="{0B14F967-FFD8-DE31-71B7-A8071695E09A}"/>
                </a:ext>
              </a:extLst>
            </p:cNvPr>
            <p:cNvSpPr txBox="1"/>
            <p:nvPr/>
          </p:nvSpPr>
          <p:spPr>
            <a:xfrm>
              <a:off x="9029988" y="2467514"/>
              <a:ext cx="1094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rgbClr val="628DB5"/>
                  </a:solidFill>
                  <a:latin typeface="Source Sans 3"/>
                  <a:ea typeface="Source Sans 3"/>
                  <a:cs typeface="Source Sans 3"/>
                  <a:sym typeface="Source Sans 3"/>
                </a:rPr>
                <a:t>engagement_sentiment()</a:t>
              </a:r>
              <a:endParaRPr sz="686">
                <a:solidFill>
                  <a:srgbClr val="628DB5"/>
                </a:solidFill>
                <a:latin typeface="Source Sans 3"/>
                <a:ea typeface="Source Sans 3"/>
                <a:cs typeface="Source Sans 3"/>
                <a:sym typeface="Source Sans 3"/>
              </a:endParaRPr>
            </a:p>
          </p:txBody>
        </p:sp>
        <p:sp>
          <p:nvSpPr>
            <p:cNvPr id="1408" name="Google Shape;331;p18">
              <a:extLst>
                <a:ext uri="{FF2B5EF4-FFF2-40B4-BE49-F238E27FC236}">
                  <a16:creationId xmlns:a16="http://schemas.microsoft.com/office/drawing/2014/main" id="{174E1785-6AFF-771F-40E4-1C77E0E80BBE}"/>
                </a:ext>
              </a:extLst>
            </p:cNvPr>
            <p:cNvSpPr/>
            <p:nvPr/>
          </p:nvSpPr>
          <p:spPr>
            <a:xfrm>
              <a:off x="10562628" y="1685745"/>
              <a:ext cx="1099800" cy="554100"/>
            </a:xfrm>
            <a:prstGeom prst="rect">
              <a:avLst/>
            </a:prstGeom>
            <a:noFill/>
            <a:ln w="8200" cap="flat" cmpd="sng">
              <a:solidFill>
                <a:schemeClr val="dk2"/>
              </a:solidFill>
              <a:prstDash val="solid"/>
              <a:round/>
              <a:headEnd type="none" w="sm" len="sm"/>
              <a:tailEnd type="none" w="sm" len="sm"/>
            </a:ln>
          </p:spPr>
          <p:txBody>
            <a:bodyPr spcFirstLastPara="1" wrap="square" lIns="78800" tIns="78800" rIns="78800" bIns="78800" anchor="ctr" anchorCtr="0">
              <a:noAutofit/>
            </a:bodyPr>
            <a:lstStyle/>
            <a:p>
              <a:pPr marL="0" lvl="0" indent="0" algn="ctr" rtl="0">
                <a:spcBef>
                  <a:spcPts val="0"/>
                </a:spcBef>
                <a:spcAft>
                  <a:spcPts val="0"/>
                </a:spcAft>
                <a:buNone/>
              </a:pPr>
              <a:endParaRPr sz="1207"/>
            </a:p>
          </p:txBody>
        </p:sp>
        <p:sp>
          <p:nvSpPr>
            <p:cNvPr id="1409" name="Google Shape;332;p18">
              <a:extLst>
                <a:ext uri="{FF2B5EF4-FFF2-40B4-BE49-F238E27FC236}">
                  <a16:creationId xmlns:a16="http://schemas.microsoft.com/office/drawing/2014/main" id="{F3499F60-D64D-04DC-C09F-8E92BEA292B8}"/>
                </a:ext>
              </a:extLst>
            </p:cNvPr>
            <p:cNvSpPr txBox="1"/>
            <p:nvPr/>
          </p:nvSpPr>
          <p:spPr>
            <a:xfrm>
              <a:off x="10544028" y="1682645"/>
              <a:ext cx="1150800" cy="265200"/>
            </a:xfrm>
            <a:prstGeom prst="rect">
              <a:avLst/>
            </a:prstGeom>
            <a:noFill/>
            <a:ln>
              <a:noFill/>
            </a:ln>
          </p:spPr>
          <p:txBody>
            <a:bodyPr spcFirstLastPara="1" wrap="square" lIns="78800" tIns="78800" rIns="78800" bIns="78800" anchor="t" anchorCtr="0">
              <a:spAutoFit/>
            </a:bodyPr>
            <a:lstStyle/>
            <a:p>
              <a:pPr marL="0" lvl="0" indent="0" algn="l" rtl="0">
                <a:spcBef>
                  <a:spcPts val="0"/>
                </a:spcBef>
                <a:spcAft>
                  <a:spcPts val="0"/>
                </a:spcAft>
                <a:buNone/>
              </a:pPr>
              <a:r>
                <a:rPr lang="en" sz="689" dirty="0" err="1">
                  <a:solidFill>
                    <a:schemeClr val="dk2"/>
                  </a:solidFill>
                  <a:latin typeface="Source Sans 3"/>
                  <a:ea typeface="Source Sans 3"/>
                  <a:cs typeface="Source Sans 3"/>
                  <a:sym typeface="Source Sans 3"/>
                </a:rPr>
                <a:t>sailuh</a:t>
              </a:r>
              <a:r>
                <a:rPr lang="en" sz="689" dirty="0">
                  <a:solidFill>
                    <a:schemeClr val="dk2"/>
                  </a:solidFill>
                  <a:latin typeface="Source Sans 3"/>
                  <a:ea typeface="Source Sans 3"/>
                  <a:cs typeface="Source Sans 3"/>
                  <a:sym typeface="Source Sans 3"/>
                </a:rPr>
                <a:t>/</a:t>
              </a:r>
              <a:r>
                <a:rPr lang="en" sz="689" dirty="0" err="1">
                  <a:solidFill>
                    <a:schemeClr val="dk2"/>
                  </a:solidFill>
                  <a:latin typeface="Source Sans 3"/>
                  <a:ea typeface="Source Sans 3"/>
                  <a:cs typeface="Source Sans 3"/>
                  <a:sym typeface="Source Sans 3"/>
                </a:rPr>
                <a:t>sentiment_classifier</a:t>
              </a:r>
              <a:endParaRPr sz="689" dirty="0">
                <a:solidFill>
                  <a:schemeClr val="dk2"/>
                </a:solidFill>
                <a:latin typeface="Source Sans 3"/>
                <a:ea typeface="Source Sans 3"/>
                <a:cs typeface="Source Sans 3"/>
                <a:sym typeface="Source Sans 3"/>
              </a:endParaRPr>
            </a:p>
          </p:txBody>
        </p:sp>
        <p:cxnSp>
          <p:nvCxnSpPr>
            <p:cNvPr id="1410" name="Google Shape;333;p18">
              <a:extLst>
                <a:ext uri="{FF2B5EF4-FFF2-40B4-BE49-F238E27FC236}">
                  <a16:creationId xmlns:a16="http://schemas.microsoft.com/office/drawing/2014/main" id="{BF6932F4-2779-919B-E566-B63CD14EC151}"/>
                </a:ext>
              </a:extLst>
            </p:cNvPr>
            <p:cNvCxnSpPr/>
            <p:nvPr/>
          </p:nvCxnSpPr>
          <p:spPr>
            <a:xfrm rot="10800000" flipH="1">
              <a:off x="9890815" y="1865994"/>
              <a:ext cx="632700" cy="900"/>
            </a:xfrm>
            <a:prstGeom prst="straightConnector1">
              <a:avLst/>
            </a:prstGeom>
            <a:noFill/>
            <a:ln w="9525" cap="flat" cmpd="sng">
              <a:solidFill>
                <a:schemeClr val="dk2"/>
              </a:solidFill>
              <a:prstDash val="solid"/>
              <a:round/>
              <a:headEnd type="none" w="med" len="med"/>
              <a:tailEnd type="triangle" w="med" len="med"/>
            </a:ln>
          </p:spPr>
        </p:cxnSp>
        <p:cxnSp>
          <p:nvCxnSpPr>
            <p:cNvPr id="1411" name="Google Shape;334;p18">
              <a:extLst>
                <a:ext uri="{FF2B5EF4-FFF2-40B4-BE49-F238E27FC236}">
                  <a16:creationId xmlns:a16="http://schemas.microsoft.com/office/drawing/2014/main" id="{2F1CDD81-FD12-AD52-073A-F87FA62F58E3}"/>
                </a:ext>
              </a:extLst>
            </p:cNvPr>
            <p:cNvCxnSpPr/>
            <p:nvPr/>
          </p:nvCxnSpPr>
          <p:spPr>
            <a:xfrm rot="10800000">
              <a:off x="9866990" y="2086194"/>
              <a:ext cx="632700" cy="900"/>
            </a:xfrm>
            <a:prstGeom prst="straightConnector1">
              <a:avLst/>
            </a:prstGeom>
            <a:noFill/>
            <a:ln w="9525" cap="flat" cmpd="sng">
              <a:solidFill>
                <a:schemeClr val="dk2"/>
              </a:solidFill>
              <a:prstDash val="solid"/>
              <a:round/>
              <a:headEnd type="none" w="med" len="med"/>
              <a:tailEnd type="triangle" w="med" len="med"/>
            </a:ln>
          </p:spPr>
        </p:cxnSp>
        <p:sp>
          <p:nvSpPr>
            <p:cNvPr id="1412" name="Google Shape;335;p18">
              <a:extLst>
                <a:ext uri="{FF2B5EF4-FFF2-40B4-BE49-F238E27FC236}">
                  <a16:creationId xmlns:a16="http://schemas.microsoft.com/office/drawing/2014/main" id="{0BF96190-24EE-14D9-0584-1A95A1287062}"/>
                </a:ext>
              </a:extLst>
            </p:cNvPr>
            <p:cNvSpPr txBox="1"/>
            <p:nvPr/>
          </p:nvSpPr>
          <p:spPr>
            <a:xfrm>
              <a:off x="10046553" y="2123170"/>
              <a:ext cx="3483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label</a:t>
              </a:r>
              <a:endParaRPr sz="686">
                <a:solidFill>
                  <a:schemeClr val="dk2"/>
                </a:solidFill>
                <a:latin typeface="Source Sans 3"/>
                <a:ea typeface="Source Sans 3"/>
                <a:cs typeface="Source Sans 3"/>
                <a:sym typeface="Source Sans 3"/>
              </a:endParaRPr>
            </a:p>
          </p:txBody>
        </p:sp>
        <p:sp>
          <p:nvSpPr>
            <p:cNvPr id="1413" name="Google Shape;336;p18">
              <a:extLst>
                <a:ext uri="{FF2B5EF4-FFF2-40B4-BE49-F238E27FC236}">
                  <a16:creationId xmlns:a16="http://schemas.microsoft.com/office/drawing/2014/main" id="{03ABEA36-B64C-A2AE-74E6-04802E73842C}"/>
                </a:ext>
              </a:extLst>
            </p:cNvPr>
            <p:cNvSpPr/>
            <p:nvPr/>
          </p:nvSpPr>
          <p:spPr>
            <a:xfrm>
              <a:off x="10370240" y="2300395"/>
              <a:ext cx="133800" cy="114600"/>
            </a:xfrm>
            <a:prstGeom prst="wedgeRectCallout">
              <a:avLst>
                <a:gd name="adj1" fmla="val -20833"/>
                <a:gd name="adj2" fmla="val 62500"/>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4" name="Google Shape;337;p18">
              <a:extLst>
                <a:ext uri="{FF2B5EF4-FFF2-40B4-BE49-F238E27FC236}">
                  <a16:creationId xmlns:a16="http://schemas.microsoft.com/office/drawing/2014/main" id="{3D74F1BD-372B-294D-4B8F-289A662509BE}"/>
                </a:ext>
              </a:extLst>
            </p:cNvPr>
            <p:cNvSpPr txBox="1"/>
            <p:nvPr/>
          </p:nvSpPr>
          <p:spPr>
            <a:xfrm>
              <a:off x="9829328" y="1578732"/>
              <a:ext cx="8400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pysenti_predict()</a:t>
              </a:r>
              <a:endParaRPr sz="686">
                <a:solidFill>
                  <a:schemeClr val="dk2"/>
                </a:solidFill>
                <a:latin typeface="Source Sans 3"/>
                <a:ea typeface="Source Sans 3"/>
                <a:cs typeface="Source Sans 3"/>
                <a:sym typeface="Source Sans 3"/>
              </a:endParaRPr>
            </a:p>
          </p:txBody>
        </p:sp>
        <p:sp>
          <p:nvSpPr>
            <p:cNvPr id="1415" name="Google Shape;338;p18">
              <a:extLst>
                <a:ext uri="{FF2B5EF4-FFF2-40B4-BE49-F238E27FC236}">
                  <a16:creationId xmlns:a16="http://schemas.microsoft.com/office/drawing/2014/main" id="{97E48100-512F-DE4A-2C6E-24C9866B9383}"/>
                </a:ext>
              </a:extLst>
            </p:cNvPr>
            <p:cNvSpPr/>
            <p:nvPr/>
          </p:nvSpPr>
          <p:spPr>
            <a:xfrm>
              <a:off x="10116428" y="1532095"/>
              <a:ext cx="133800" cy="114600"/>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6" name="Google Shape;339;p18">
              <a:extLst>
                <a:ext uri="{FF2B5EF4-FFF2-40B4-BE49-F238E27FC236}">
                  <a16:creationId xmlns:a16="http://schemas.microsoft.com/office/drawing/2014/main" id="{59553BEE-BFB2-D361-32F4-22593FAEB63F}"/>
                </a:ext>
              </a:extLst>
            </p:cNvPr>
            <p:cNvSpPr/>
            <p:nvPr/>
          </p:nvSpPr>
          <p:spPr>
            <a:xfrm>
              <a:off x="9482353" y="2661807"/>
              <a:ext cx="113100" cy="114600"/>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7" name="Google Shape;340;p18">
              <a:extLst>
                <a:ext uri="{FF2B5EF4-FFF2-40B4-BE49-F238E27FC236}">
                  <a16:creationId xmlns:a16="http://schemas.microsoft.com/office/drawing/2014/main" id="{83B381C6-462C-3791-6B76-297F41A0B02A}"/>
                </a:ext>
              </a:extLst>
            </p:cNvPr>
            <p:cNvSpPr txBox="1"/>
            <p:nvPr/>
          </p:nvSpPr>
          <p:spPr>
            <a:xfrm>
              <a:off x="9400286" y="2595959"/>
              <a:ext cx="289200" cy="23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00" dirty="0">
                  <a:solidFill>
                    <a:schemeClr val="lt1"/>
                  </a:solidFill>
                </a:rPr>
                <a:t> </a:t>
              </a:r>
              <a:r>
                <a:rPr lang="en" sz="500" dirty="0">
                  <a:solidFill>
                    <a:schemeClr val="lt1"/>
                  </a:solidFill>
                </a:rPr>
                <a:t>0.25</a:t>
              </a:r>
              <a:endParaRPr sz="500" dirty="0">
                <a:solidFill>
                  <a:schemeClr val="lt1"/>
                </a:solidFill>
              </a:endParaRPr>
            </a:p>
          </p:txBody>
        </p:sp>
        <p:sp>
          <p:nvSpPr>
            <p:cNvPr id="1418" name="Google Shape;341;p18">
              <a:extLst>
                <a:ext uri="{FF2B5EF4-FFF2-40B4-BE49-F238E27FC236}">
                  <a16:creationId xmlns:a16="http://schemas.microsoft.com/office/drawing/2014/main" id="{EE254CD8-7273-EBB0-5BC6-5FA872254061}"/>
                </a:ext>
              </a:extLst>
            </p:cNvPr>
            <p:cNvSpPr/>
            <p:nvPr/>
          </p:nvSpPr>
          <p:spPr>
            <a:xfrm>
              <a:off x="10141503" y="2300395"/>
              <a:ext cx="133800" cy="114600"/>
            </a:xfrm>
            <a:prstGeom prst="wedgeRectCallout">
              <a:avLst>
                <a:gd name="adj1" fmla="val -20833"/>
                <a:gd name="adj2" fmla="val 62500"/>
              </a:avLst>
            </a:prstGeom>
            <a:solidFill>
              <a:srgbClr val="E0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9" name="Google Shape;342;p18">
              <a:extLst>
                <a:ext uri="{FF2B5EF4-FFF2-40B4-BE49-F238E27FC236}">
                  <a16:creationId xmlns:a16="http://schemas.microsoft.com/office/drawing/2014/main" id="{D512002F-0A4C-756E-9C57-A6A44E600FEB}"/>
                </a:ext>
              </a:extLst>
            </p:cNvPr>
            <p:cNvSpPr/>
            <p:nvPr/>
          </p:nvSpPr>
          <p:spPr>
            <a:xfrm>
              <a:off x="9912740" y="2300395"/>
              <a:ext cx="133800" cy="114600"/>
            </a:xfrm>
            <a:prstGeom prst="wedgeRectCallout">
              <a:avLst>
                <a:gd name="adj1" fmla="val -20833"/>
                <a:gd name="adj2" fmla="val 625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0" name="Google Shape;344;p18">
              <a:extLst>
                <a:ext uri="{FF2B5EF4-FFF2-40B4-BE49-F238E27FC236}">
                  <a16:creationId xmlns:a16="http://schemas.microsoft.com/office/drawing/2014/main" id="{9787BCE3-9FB7-BAB5-3D0E-DE510EE0B004}"/>
                </a:ext>
              </a:extLst>
            </p:cNvPr>
            <p:cNvSpPr txBox="1"/>
            <p:nvPr/>
          </p:nvSpPr>
          <p:spPr>
            <a:xfrm>
              <a:off x="10062053" y="1668745"/>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(2)</a:t>
              </a:r>
              <a:endParaRPr sz="686" dirty="0">
                <a:solidFill>
                  <a:schemeClr val="dk2"/>
                </a:solidFill>
                <a:latin typeface="Source Sans 3"/>
                <a:ea typeface="Source Sans 3"/>
                <a:cs typeface="Source Sans 3"/>
                <a:sym typeface="Source Sans 3"/>
              </a:endParaRPr>
            </a:p>
          </p:txBody>
        </p:sp>
        <p:sp>
          <p:nvSpPr>
            <p:cNvPr id="1421" name="Google Shape;345;p18">
              <a:extLst>
                <a:ext uri="{FF2B5EF4-FFF2-40B4-BE49-F238E27FC236}">
                  <a16:creationId xmlns:a16="http://schemas.microsoft.com/office/drawing/2014/main" id="{0039AED2-6231-7889-9CFD-DEDD68DAFD16}"/>
                </a:ext>
              </a:extLst>
            </p:cNvPr>
            <p:cNvSpPr txBox="1"/>
            <p:nvPr/>
          </p:nvSpPr>
          <p:spPr>
            <a:xfrm>
              <a:off x="10079303" y="2023132"/>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(4)</a:t>
              </a:r>
              <a:endParaRPr sz="686">
                <a:solidFill>
                  <a:schemeClr val="dk2"/>
                </a:solidFill>
                <a:latin typeface="Source Sans 3"/>
                <a:ea typeface="Source Sans 3"/>
                <a:cs typeface="Source Sans 3"/>
                <a:sym typeface="Source Sans 3"/>
              </a:endParaRPr>
            </a:p>
          </p:txBody>
        </p:sp>
        <p:sp>
          <p:nvSpPr>
            <p:cNvPr id="1422" name="Google Shape;346;p18">
              <a:extLst>
                <a:ext uri="{FF2B5EF4-FFF2-40B4-BE49-F238E27FC236}">
                  <a16:creationId xmlns:a16="http://schemas.microsoft.com/office/drawing/2014/main" id="{E479D79E-8535-CA08-571F-E1A746D29941}"/>
                </a:ext>
              </a:extLst>
            </p:cNvPr>
            <p:cNvSpPr txBox="1"/>
            <p:nvPr/>
          </p:nvSpPr>
          <p:spPr>
            <a:xfrm>
              <a:off x="10964278" y="1800070"/>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(3)</a:t>
              </a:r>
              <a:endParaRPr sz="686">
                <a:solidFill>
                  <a:schemeClr val="dk2"/>
                </a:solidFill>
                <a:latin typeface="Source Sans 3"/>
                <a:ea typeface="Source Sans 3"/>
                <a:cs typeface="Source Sans 3"/>
                <a:sym typeface="Source Sans 3"/>
              </a:endParaRPr>
            </a:p>
          </p:txBody>
        </p:sp>
        <p:sp>
          <p:nvSpPr>
            <p:cNvPr id="1423" name="Google Shape;347;p18">
              <a:extLst>
                <a:ext uri="{FF2B5EF4-FFF2-40B4-BE49-F238E27FC236}">
                  <a16:creationId xmlns:a16="http://schemas.microsoft.com/office/drawing/2014/main" id="{44B67EC5-E50D-C030-B163-4B370267BF0F}"/>
                </a:ext>
              </a:extLst>
            </p:cNvPr>
            <p:cNvSpPr/>
            <p:nvPr/>
          </p:nvSpPr>
          <p:spPr>
            <a:xfrm>
              <a:off x="107684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1424" name="Google Shape;348;p18">
              <a:extLst>
                <a:ext uri="{FF2B5EF4-FFF2-40B4-BE49-F238E27FC236}">
                  <a16:creationId xmlns:a16="http://schemas.microsoft.com/office/drawing/2014/main" id="{1201E2B9-218C-0D7B-DF19-EB7579E45E48}"/>
                </a:ext>
              </a:extLst>
            </p:cNvPr>
            <p:cNvSpPr txBox="1"/>
            <p:nvPr/>
          </p:nvSpPr>
          <p:spPr>
            <a:xfrm>
              <a:off x="10702335" y="1945845"/>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1425" name="Google Shape;349;p18">
              <a:extLst>
                <a:ext uri="{FF2B5EF4-FFF2-40B4-BE49-F238E27FC236}">
                  <a16:creationId xmlns:a16="http://schemas.microsoft.com/office/drawing/2014/main" id="{6C78386C-2936-ACAC-8C69-8DE452D2F488}"/>
                </a:ext>
              </a:extLst>
            </p:cNvPr>
            <p:cNvSpPr txBox="1"/>
            <p:nvPr/>
          </p:nvSpPr>
          <p:spPr>
            <a:xfrm>
              <a:off x="11020518" y="1948023"/>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1426" name="Google Shape;350;p18">
              <a:extLst>
                <a:ext uri="{FF2B5EF4-FFF2-40B4-BE49-F238E27FC236}">
                  <a16:creationId xmlns:a16="http://schemas.microsoft.com/office/drawing/2014/main" id="{556697FD-9D27-05A4-AA31-CC70552DF7D5}"/>
                </a:ext>
              </a:extLst>
            </p:cNvPr>
            <p:cNvSpPr/>
            <p:nvPr/>
          </p:nvSpPr>
          <p:spPr>
            <a:xfrm>
              <a:off x="109289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1427" name="Google Shape;351;p18">
              <a:extLst>
                <a:ext uri="{FF2B5EF4-FFF2-40B4-BE49-F238E27FC236}">
                  <a16:creationId xmlns:a16="http://schemas.microsoft.com/office/drawing/2014/main" id="{9FB20AB3-9BDA-CAB9-0F2C-D8519D84C533}"/>
                </a:ext>
              </a:extLst>
            </p:cNvPr>
            <p:cNvSpPr/>
            <p:nvPr/>
          </p:nvSpPr>
          <p:spPr>
            <a:xfrm>
              <a:off x="110894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1428" name="Google Shape;352;p18">
              <a:extLst>
                <a:ext uri="{FF2B5EF4-FFF2-40B4-BE49-F238E27FC236}">
                  <a16:creationId xmlns:a16="http://schemas.microsoft.com/office/drawing/2014/main" id="{EE1F1795-56FC-FDF8-9615-D3BDA689FCC6}"/>
                </a:ext>
              </a:extLst>
            </p:cNvPr>
            <p:cNvSpPr/>
            <p:nvPr/>
          </p:nvSpPr>
          <p:spPr>
            <a:xfrm>
              <a:off x="112499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1429" name="Google Shape;353;p18">
              <a:extLst>
                <a:ext uri="{FF2B5EF4-FFF2-40B4-BE49-F238E27FC236}">
                  <a16:creationId xmlns:a16="http://schemas.microsoft.com/office/drawing/2014/main" id="{4BCE62D5-6EFA-FFBF-9BAE-8DA48971EB5B}"/>
                </a:ext>
              </a:extLst>
            </p:cNvPr>
            <p:cNvSpPr txBox="1"/>
            <p:nvPr/>
          </p:nvSpPr>
          <p:spPr>
            <a:xfrm>
              <a:off x="10863720" y="1948470"/>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1430" name="Google Shape;354;p18">
              <a:extLst>
                <a:ext uri="{FF2B5EF4-FFF2-40B4-BE49-F238E27FC236}">
                  <a16:creationId xmlns:a16="http://schemas.microsoft.com/office/drawing/2014/main" id="{C0610AC3-F7C5-B5CC-5B31-924A73A1DDEE}"/>
                </a:ext>
              </a:extLst>
            </p:cNvPr>
            <p:cNvSpPr txBox="1"/>
            <p:nvPr/>
          </p:nvSpPr>
          <p:spPr>
            <a:xfrm>
              <a:off x="11183172" y="1948019"/>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cxnSp>
          <p:nvCxnSpPr>
            <p:cNvPr id="1431" name="Google Shape;357;p18">
              <a:extLst>
                <a:ext uri="{FF2B5EF4-FFF2-40B4-BE49-F238E27FC236}">
                  <a16:creationId xmlns:a16="http://schemas.microsoft.com/office/drawing/2014/main" id="{39E6337B-04A2-9F01-4BF1-C5122648B491}"/>
                </a:ext>
              </a:extLst>
            </p:cNvPr>
            <p:cNvCxnSpPr>
              <a:cxnSpLocks/>
              <a:stCxn id="1404" idx="0"/>
              <a:endCxn id="1409" idx="0"/>
            </p:cNvCxnSpPr>
            <p:nvPr/>
          </p:nvCxnSpPr>
          <p:spPr>
            <a:xfrm rot="16200000">
              <a:off x="10320239" y="886703"/>
              <a:ext cx="3000" cy="1595100"/>
            </a:xfrm>
            <a:prstGeom prst="bentConnector3">
              <a:avLst>
                <a:gd name="adj1" fmla="val 8041114"/>
              </a:avLst>
            </a:prstGeom>
            <a:noFill/>
            <a:ln w="9525" cap="flat" cmpd="sng">
              <a:solidFill>
                <a:schemeClr val="dk2"/>
              </a:solidFill>
              <a:prstDash val="solid"/>
              <a:round/>
              <a:headEnd type="none" w="med" len="med"/>
              <a:tailEnd type="triangle" w="med" len="med"/>
            </a:ln>
          </p:spPr>
        </p:cxnSp>
        <p:sp>
          <p:nvSpPr>
            <p:cNvPr id="1432" name="Google Shape;358;p18">
              <a:extLst>
                <a:ext uri="{FF2B5EF4-FFF2-40B4-BE49-F238E27FC236}">
                  <a16:creationId xmlns:a16="http://schemas.microsoft.com/office/drawing/2014/main" id="{5503DA4F-8DBF-5CAA-A824-DCCDF2156558}"/>
                </a:ext>
              </a:extLst>
            </p:cNvPr>
            <p:cNvSpPr txBox="1"/>
            <p:nvPr/>
          </p:nvSpPr>
          <p:spPr>
            <a:xfrm>
              <a:off x="9795878" y="1222007"/>
              <a:ext cx="972600" cy="18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dirty="0" err="1">
                  <a:solidFill>
                    <a:schemeClr val="dk2"/>
                  </a:solidFill>
                  <a:latin typeface="Source Sans 3"/>
                  <a:ea typeface="Source Sans 3"/>
                  <a:cs typeface="Source Sans 3"/>
                  <a:sym typeface="Source Sans 3"/>
                </a:rPr>
                <a:t>pysenti_train_model</a:t>
              </a:r>
              <a:r>
                <a:rPr lang="en" sz="650" dirty="0">
                  <a:solidFill>
                    <a:schemeClr val="dk2"/>
                  </a:solidFill>
                  <a:latin typeface="Source Sans 3"/>
                  <a:ea typeface="Source Sans 3"/>
                  <a:cs typeface="Source Sans 3"/>
                  <a:sym typeface="Source Sans 3"/>
                </a:rPr>
                <a:t>()</a:t>
              </a:r>
              <a:endParaRPr sz="650" dirty="0">
                <a:solidFill>
                  <a:schemeClr val="dk2"/>
                </a:solidFill>
                <a:latin typeface="Source Sans 3"/>
                <a:ea typeface="Source Sans 3"/>
                <a:cs typeface="Source Sans 3"/>
                <a:sym typeface="Source Sans 3"/>
              </a:endParaRPr>
            </a:p>
          </p:txBody>
        </p:sp>
        <p:grpSp>
          <p:nvGrpSpPr>
            <p:cNvPr id="1433" name="Google Shape;359;p18">
              <a:extLst>
                <a:ext uri="{FF2B5EF4-FFF2-40B4-BE49-F238E27FC236}">
                  <a16:creationId xmlns:a16="http://schemas.microsoft.com/office/drawing/2014/main" id="{ECB7345F-25B2-9742-0001-1FDAB55D0BD6}"/>
                </a:ext>
              </a:extLst>
            </p:cNvPr>
            <p:cNvGrpSpPr/>
            <p:nvPr/>
          </p:nvGrpSpPr>
          <p:grpSpPr>
            <a:xfrm>
              <a:off x="8600328" y="1454457"/>
              <a:ext cx="307200" cy="189300"/>
              <a:chOff x="3007175" y="1757600"/>
              <a:chExt cx="307200" cy="189300"/>
            </a:xfrm>
          </p:grpSpPr>
          <p:sp>
            <p:nvSpPr>
              <p:cNvPr id="1434" name="Google Shape;360;p18">
                <a:extLst>
                  <a:ext uri="{FF2B5EF4-FFF2-40B4-BE49-F238E27FC236}">
                    <a16:creationId xmlns:a16="http://schemas.microsoft.com/office/drawing/2014/main" id="{FD26FB03-9117-2E9C-E5EF-9185940EF70C}"/>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5" name="Google Shape;361;p18">
                <a:extLst>
                  <a:ext uri="{FF2B5EF4-FFF2-40B4-BE49-F238E27FC236}">
                    <a16:creationId xmlns:a16="http://schemas.microsoft.com/office/drawing/2014/main" id="{C8FE857D-C592-252E-F0B4-51DE7D6B66B3}"/>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6" name="Google Shape;362;p18">
                <a:extLst>
                  <a:ext uri="{FF2B5EF4-FFF2-40B4-BE49-F238E27FC236}">
                    <a16:creationId xmlns:a16="http://schemas.microsoft.com/office/drawing/2014/main" id="{516CDDD4-3ED7-6158-E9F9-2C237E8E269E}"/>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7" name="Google Shape;363;p18">
                <a:extLst>
                  <a:ext uri="{FF2B5EF4-FFF2-40B4-BE49-F238E27FC236}">
                    <a16:creationId xmlns:a16="http://schemas.microsoft.com/office/drawing/2014/main" id="{8331BC33-CD69-E618-625C-DC2CC2710707}"/>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438" name="Google Shape;364;p18">
                <a:extLst>
                  <a:ext uri="{FF2B5EF4-FFF2-40B4-BE49-F238E27FC236}">
                    <a16:creationId xmlns:a16="http://schemas.microsoft.com/office/drawing/2014/main" id="{F30EC145-5E0C-04D4-A872-5B2C9DBFCE11}"/>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439" name="Google Shape;365;p18">
                <a:extLst>
                  <a:ext uri="{FF2B5EF4-FFF2-40B4-BE49-F238E27FC236}">
                    <a16:creationId xmlns:a16="http://schemas.microsoft.com/office/drawing/2014/main" id="{5A6B488B-4ED3-1D27-E07A-6A01C7BCD95E}"/>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440" name="Google Shape;366;p18">
                <a:extLst>
                  <a:ext uri="{FF2B5EF4-FFF2-40B4-BE49-F238E27FC236}">
                    <a16:creationId xmlns:a16="http://schemas.microsoft.com/office/drawing/2014/main" id="{95D84D1C-9B25-BD75-F8A5-444F0DC13F0C}"/>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1441" name="Google Shape;367;p18">
              <a:extLst>
                <a:ext uri="{FF2B5EF4-FFF2-40B4-BE49-F238E27FC236}">
                  <a16:creationId xmlns:a16="http://schemas.microsoft.com/office/drawing/2014/main" id="{585C7F9B-BEA8-B4C6-459C-743054A6FFE9}"/>
                </a:ext>
              </a:extLst>
            </p:cNvPr>
            <p:cNvGrpSpPr/>
            <p:nvPr/>
          </p:nvGrpSpPr>
          <p:grpSpPr>
            <a:xfrm>
              <a:off x="8600315" y="1797920"/>
              <a:ext cx="307200" cy="189300"/>
              <a:chOff x="3007175" y="1757600"/>
              <a:chExt cx="307200" cy="189300"/>
            </a:xfrm>
          </p:grpSpPr>
          <p:sp>
            <p:nvSpPr>
              <p:cNvPr id="1442" name="Google Shape;368;p18">
                <a:extLst>
                  <a:ext uri="{FF2B5EF4-FFF2-40B4-BE49-F238E27FC236}">
                    <a16:creationId xmlns:a16="http://schemas.microsoft.com/office/drawing/2014/main" id="{802E3822-B72D-B1C7-EACD-D0DCA5031E9B}"/>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3" name="Google Shape;369;p18">
                <a:extLst>
                  <a:ext uri="{FF2B5EF4-FFF2-40B4-BE49-F238E27FC236}">
                    <a16:creationId xmlns:a16="http://schemas.microsoft.com/office/drawing/2014/main" id="{41E55FCC-8F88-0165-B6EC-2C4B24B6A317}"/>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4" name="Google Shape;370;p18">
                <a:extLst>
                  <a:ext uri="{FF2B5EF4-FFF2-40B4-BE49-F238E27FC236}">
                    <a16:creationId xmlns:a16="http://schemas.microsoft.com/office/drawing/2014/main" id="{67B52BB1-7D59-DFDA-E2B8-DF771363A3E4}"/>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5" name="Google Shape;371;p18">
                <a:extLst>
                  <a:ext uri="{FF2B5EF4-FFF2-40B4-BE49-F238E27FC236}">
                    <a16:creationId xmlns:a16="http://schemas.microsoft.com/office/drawing/2014/main" id="{381CEAE1-35C6-D55A-432B-923AD7575C8A}"/>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446" name="Google Shape;372;p18">
                <a:extLst>
                  <a:ext uri="{FF2B5EF4-FFF2-40B4-BE49-F238E27FC236}">
                    <a16:creationId xmlns:a16="http://schemas.microsoft.com/office/drawing/2014/main" id="{074D83FA-69A6-2194-0A91-AEFCE3C1E712}"/>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447" name="Google Shape;373;p18">
                <a:extLst>
                  <a:ext uri="{FF2B5EF4-FFF2-40B4-BE49-F238E27FC236}">
                    <a16:creationId xmlns:a16="http://schemas.microsoft.com/office/drawing/2014/main" id="{22C91742-3D9C-1394-B192-C8FA2A59F0DB}"/>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448" name="Google Shape;374;p18">
                <a:extLst>
                  <a:ext uri="{FF2B5EF4-FFF2-40B4-BE49-F238E27FC236}">
                    <a16:creationId xmlns:a16="http://schemas.microsoft.com/office/drawing/2014/main" id="{8A2666C2-9229-6283-7A4D-5D328E41D736}"/>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1449" name="Google Shape;375;p18">
              <a:extLst>
                <a:ext uri="{FF2B5EF4-FFF2-40B4-BE49-F238E27FC236}">
                  <a16:creationId xmlns:a16="http://schemas.microsoft.com/office/drawing/2014/main" id="{7DE36F53-2032-1E32-A13A-F249C45D2008}"/>
                </a:ext>
              </a:extLst>
            </p:cNvPr>
            <p:cNvSpPr txBox="1"/>
            <p:nvPr/>
          </p:nvSpPr>
          <p:spPr>
            <a:xfrm>
              <a:off x="8540115" y="126943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1450" name="Google Shape;376;p18">
              <a:extLst>
                <a:ext uri="{FF2B5EF4-FFF2-40B4-BE49-F238E27FC236}">
                  <a16:creationId xmlns:a16="http://schemas.microsoft.com/office/drawing/2014/main" id="{A27F65F4-B731-7418-9199-8B86DC29AEEF}"/>
                </a:ext>
              </a:extLst>
            </p:cNvPr>
            <p:cNvSpPr txBox="1"/>
            <p:nvPr/>
          </p:nvSpPr>
          <p:spPr>
            <a:xfrm>
              <a:off x="8600328" y="161682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Jira</a:t>
              </a:r>
              <a:endParaRPr sz="686" dirty="0">
                <a:solidFill>
                  <a:schemeClr val="dk2"/>
                </a:solidFill>
                <a:latin typeface="Source Sans 3"/>
                <a:ea typeface="Source Sans 3"/>
                <a:cs typeface="Source Sans 3"/>
                <a:sym typeface="Source Sans 3"/>
              </a:endParaRPr>
            </a:p>
          </p:txBody>
        </p:sp>
        <p:grpSp>
          <p:nvGrpSpPr>
            <p:cNvPr id="1451" name="Google Shape;377;p18">
              <a:extLst>
                <a:ext uri="{FF2B5EF4-FFF2-40B4-BE49-F238E27FC236}">
                  <a16:creationId xmlns:a16="http://schemas.microsoft.com/office/drawing/2014/main" id="{498146DD-ADEF-5627-2E78-8F2D5955874A}"/>
                </a:ext>
              </a:extLst>
            </p:cNvPr>
            <p:cNvGrpSpPr/>
            <p:nvPr/>
          </p:nvGrpSpPr>
          <p:grpSpPr>
            <a:xfrm>
              <a:off x="8608365" y="2251695"/>
              <a:ext cx="307200" cy="297900"/>
              <a:chOff x="3021975" y="2389850"/>
              <a:chExt cx="307200" cy="297900"/>
            </a:xfrm>
          </p:grpSpPr>
          <p:sp>
            <p:nvSpPr>
              <p:cNvPr id="1452" name="Google Shape;378;p18">
                <a:extLst>
                  <a:ext uri="{FF2B5EF4-FFF2-40B4-BE49-F238E27FC236}">
                    <a16:creationId xmlns:a16="http://schemas.microsoft.com/office/drawing/2014/main" id="{F69461A2-EB9C-578A-0D7E-BB81A9D30700}"/>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453" name="Google Shape;379;p18">
                <a:extLst>
                  <a:ext uri="{FF2B5EF4-FFF2-40B4-BE49-F238E27FC236}">
                    <a16:creationId xmlns:a16="http://schemas.microsoft.com/office/drawing/2014/main" id="{4ABA79B8-1C62-26FA-C4A7-8993FE99D18E}"/>
                  </a:ext>
                </a:extLst>
              </p:cNvPr>
              <p:cNvGrpSpPr/>
              <p:nvPr/>
            </p:nvGrpSpPr>
            <p:grpSpPr>
              <a:xfrm>
                <a:off x="3021975" y="2389850"/>
                <a:ext cx="307200" cy="295800"/>
                <a:chOff x="3021975" y="2389850"/>
                <a:chExt cx="307200" cy="295800"/>
              </a:xfrm>
            </p:grpSpPr>
            <p:sp>
              <p:nvSpPr>
                <p:cNvPr id="1454" name="Google Shape;380;p18">
                  <a:extLst>
                    <a:ext uri="{FF2B5EF4-FFF2-40B4-BE49-F238E27FC236}">
                      <a16:creationId xmlns:a16="http://schemas.microsoft.com/office/drawing/2014/main" id="{916A51E5-0AE4-D26D-EB8F-5C8428B7F8CE}"/>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5" name="Google Shape;381;p18">
                  <a:extLst>
                    <a:ext uri="{FF2B5EF4-FFF2-40B4-BE49-F238E27FC236}">
                      <a16:creationId xmlns:a16="http://schemas.microsoft.com/office/drawing/2014/main" id="{B96D3C2F-2453-AC7E-0270-0D74B6582799}"/>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456" name="Google Shape;382;p18">
                  <a:extLst>
                    <a:ext uri="{FF2B5EF4-FFF2-40B4-BE49-F238E27FC236}">
                      <a16:creationId xmlns:a16="http://schemas.microsoft.com/office/drawing/2014/main" id="{97275484-41A9-68FE-4EA6-EF3306D2BCB5}"/>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1457" name="Google Shape;383;p18">
                  <a:extLst>
                    <a:ext uri="{FF2B5EF4-FFF2-40B4-BE49-F238E27FC236}">
                      <a16:creationId xmlns:a16="http://schemas.microsoft.com/office/drawing/2014/main" id="{0AB4E97B-48FF-8DE4-EE64-510CA6013AF9}"/>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1458" name="Google Shape;384;p18">
                  <a:extLst>
                    <a:ext uri="{FF2B5EF4-FFF2-40B4-BE49-F238E27FC236}">
                      <a16:creationId xmlns:a16="http://schemas.microsoft.com/office/drawing/2014/main" id="{0ED227B6-0158-454C-934A-DBA7F74D161B}"/>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459" name="Google Shape;385;p18">
                  <a:extLst>
                    <a:ext uri="{FF2B5EF4-FFF2-40B4-BE49-F238E27FC236}">
                      <a16:creationId xmlns:a16="http://schemas.microsoft.com/office/drawing/2014/main" id="{F4AA8571-B695-E09B-8954-486081200516}"/>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460" name="Google Shape;386;p18">
                  <a:extLst>
                    <a:ext uri="{FF2B5EF4-FFF2-40B4-BE49-F238E27FC236}">
                      <a16:creationId xmlns:a16="http://schemas.microsoft.com/office/drawing/2014/main" id="{33952AE5-8FAB-3FDC-2B94-F6ABD633C5A0}"/>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461" name="Google Shape;387;p18">
                  <a:extLst>
                    <a:ext uri="{FF2B5EF4-FFF2-40B4-BE49-F238E27FC236}">
                      <a16:creationId xmlns:a16="http://schemas.microsoft.com/office/drawing/2014/main" id="{A76A0068-8F8B-C463-F7C9-2AC390F78574}"/>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1462" name="Google Shape;388;p18">
              <a:extLst>
                <a:ext uri="{FF2B5EF4-FFF2-40B4-BE49-F238E27FC236}">
                  <a16:creationId xmlns:a16="http://schemas.microsoft.com/office/drawing/2014/main" id="{4D38300F-67AE-DEFE-059E-860533109C6C}"/>
                </a:ext>
              </a:extLst>
            </p:cNvPr>
            <p:cNvSpPr txBox="1"/>
            <p:nvPr/>
          </p:nvSpPr>
          <p:spPr>
            <a:xfrm>
              <a:off x="8477126" y="2049850"/>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cxnSp>
          <p:nvCxnSpPr>
            <p:cNvPr id="1463" name="Google Shape;389;p18">
              <a:extLst>
                <a:ext uri="{FF2B5EF4-FFF2-40B4-BE49-F238E27FC236}">
                  <a16:creationId xmlns:a16="http://schemas.microsoft.com/office/drawing/2014/main" id="{23F4E6DB-9165-F18B-E3B6-92A9C74956F0}"/>
                </a:ext>
              </a:extLst>
            </p:cNvPr>
            <p:cNvCxnSpPr/>
            <p:nvPr/>
          </p:nvCxnSpPr>
          <p:spPr>
            <a:xfrm>
              <a:off x="8757253" y="2588620"/>
              <a:ext cx="0" cy="105900"/>
            </a:xfrm>
            <a:prstGeom prst="straightConnector1">
              <a:avLst/>
            </a:prstGeom>
            <a:noFill/>
            <a:ln w="9525" cap="flat" cmpd="sng">
              <a:solidFill>
                <a:schemeClr val="dk2"/>
              </a:solidFill>
              <a:prstDash val="dot"/>
              <a:round/>
              <a:headEnd type="none" w="med" len="med"/>
              <a:tailEnd type="none" w="med" len="med"/>
            </a:ln>
          </p:spPr>
        </p:cxnSp>
        <p:sp>
          <p:nvSpPr>
            <p:cNvPr id="1464" name="Google Shape;390;p18">
              <a:extLst>
                <a:ext uri="{FF2B5EF4-FFF2-40B4-BE49-F238E27FC236}">
                  <a16:creationId xmlns:a16="http://schemas.microsoft.com/office/drawing/2014/main" id="{3DDF1CFB-D2C8-F984-22E8-9E13FB1B8F33}"/>
                </a:ext>
              </a:extLst>
            </p:cNvPr>
            <p:cNvSpPr/>
            <p:nvPr/>
          </p:nvSpPr>
          <p:spPr>
            <a:xfrm>
              <a:off x="8607990" y="271704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 name="Google Shape;344;p18">
              <a:extLst>
                <a:ext uri="{FF2B5EF4-FFF2-40B4-BE49-F238E27FC236}">
                  <a16:creationId xmlns:a16="http://schemas.microsoft.com/office/drawing/2014/main" id="{5307181F-501D-B6EB-775F-2C4212A1A020}"/>
                </a:ext>
              </a:extLst>
            </p:cNvPr>
            <p:cNvSpPr txBox="1"/>
            <p:nvPr/>
          </p:nvSpPr>
          <p:spPr>
            <a:xfrm>
              <a:off x="8629070" y="1075788"/>
              <a:ext cx="274200" cy="23835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(1)</a:t>
              </a:r>
              <a:endParaRPr sz="686" dirty="0">
                <a:solidFill>
                  <a:schemeClr val="dk2"/>
                </a:solidFill>
                <a:latin typeface="Source Sans 3"/>
                <a:ea typeface="Source Sans 3"/>
                <a:cs typeface="Source Sans 3"/>
                <a:sym typeface="Source Sans 3"/>
              </a:endParaRPr>
            </a:p>
          </p:txBody>
        </p:sp>
      </p:grpSp>
      <p:sp>
        <p:nvSpPr>
          <p:cNvPr id="1470" name="Google Shape;394;p18">
            <a:extLst>
              <a:ext uri="{FF2B5EF4-FFF2-40B4-BE49-F238E27FC236}">
                <a16:creationId xmlns:a16="http://schemas.microsoft.com/office/drawing/2014/main" id="{AE73C840-53DA-90A2-BAC7-F0FFB6D8C5B0}"/>
              </a:ext>
            </a:extLst>
          </p:cNvPr>
          <p:cNvSpPr txBox="1"/>
          <p:nvPr/>
        </p:nvSpPr>
        <p:spPr>
          <a:xfrm>
            <a:off x="10963395" y="7010441"/>
            <a:ext cx="1433762" cy="10229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dirty="0" err="1">
                <a:solidFill>
                  <a:schemeClr val="dk2"/>
                </a:solidFill>
                <a:latin typeface="Source Sans 3"/>
                <a:ea typeface="Source Sans 3"/>
                <a:cs typeface="Source Sans 3"/>
                <a:sym typeface="Source Sans 3"/>
              </a:rPr>
              <a:t>sentiment_analysis.Rmd</a:t>
            </a:r>
            <a:endParaRPr sz="800" dirty="0">
              <a:solidFill>
                <a:schemeClr val="dk2"/>
              </a:solidFill>
              <a:latin typeface="Source Sans 3"/>
              <a:ea typeface="Source Sans 3"/>
              <a:cs typeface="Source Sans 3"/>
              <a:sym typeface="Source Sans 3"/>
            </a:endParaRPr>
          </a:p>
        </p:txBody>
      </p:sp>
      <p:sp>
        <p:nvSpPr>
          <p:cNvPr id="1474" name="Layout Suggestions">
            <a:extLst>
              <a:ext uri="{FF2B5EF4-FFF2-40B4-BE49-F238E27FC236}">
                <a16:creationId xmlns:a16="http://schemas.microsoft.com/office/drawing/2014/main" id="{4DE18DBD-3250-49F8-A613-9C0309A443DA}"/>
              </a:ext>
            </a:extLst>
          </p:cNvPr>
          <p:cNvSpPr txBox="1"/>
          <p:nvPr/>
        </p:nvSpPr>
        <p:spPr>
          <a:xfrm>
            <a:off x="159998" y="6661138"/>
            <a:ext cx="423108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b="0" dirty="0"/>
              <a:t>Label Selection Criteria</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475" name="TextBox 1474">
            <a:extLst>
              <a:ext uri="{FF2B5EF4-FFF2-40B4-BE49-F238E27FC236}">
                <a16:creationId xmlns:a16="http://schemas.microsoft.com/office/drawing/2014/main" id="{36DD7C8D-93A5-587A-8EF3-DCB778D24327}"/>
              </a:ext>
            </a:extLst>
          </p:cNvPr>
          <p:cNvSpPr txBox="1"/>
          <p:nvPr/>
        </p:nvSpPr>
        <p:spPr>
          <a:xfrm>
            <a:off x="132572" y="6906908"/>
            <a:ext cx="4258512"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Sentiment labels span both main project repos and their forks. However, since forked repos contain a small fraction (&lt; 10%)  of labeled comments, only comments from the project’s main repo are kept.</a:t>
            </a:r>
          </a:p>
        </p:txBody>
      </p:sp>
      <p:sp>
        <p:nvSpPr>
          <p:cNvPr id="1482" name="TextBox 1481">
            <a:extLst>
              <a:ext uri="{FF2B5EF4-FFF2-40B4-BE49-F238E27FC236}">
                <a16:creationId xmlns:a16="http://schemas.microsoft.com/office/drawing/2014/main" id="{F0895084-4ED5-DA9C-C61A-1DF698652A14}"/>
              </a:ext>
            </a:extLst>
          </p:cNvPr>
          <p:cNvSpPr txBox="1"/>
          <p:nvPr/>
        </p:nvSpPr>
        <p:spPr>
          <a:xfrm>
            <a:off x="1030041" y="8215136"/>
            <a:ext cx="10348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Main Repo</a:t>
            </a:r>
            <a:endParaRPr lang="en-US" sz="800" b="0" dirty="0"/>
          </a:p>
        </p:txBody>
      </p:sp>
      <p:sp>
        <p:nvSpPr>
          <p:cNvPr id="1483" name="TextBox 1482">
            <a:extLst>
              <a:ext uri="{FF2B5EF4-FFF2-40B4-BE49-F238E27FC236}">
                <a16:creationId xmlns:a16="http://schemas.microsoft.com/office/drawing/2014/main" id="{7FFF99F9-9791-3F7C-4127-A58B47285AC7}"/>
              </a:ext>
            </a:extLst>
          </p:cNvPr>
          <p:cNvSpPr txBox="1"/>
          <p:nvPr/>
        </p:nvSpPr>
        <p:spPr>
          <a:xfrm>
            <a:off x="2416383" y="8215136"/>
            <a:ext cx="10348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Fork Repo</a:t>
            </a:r>
            <a:endParaRPr lang="en-US" sz="800" b="0" dirty="0"/>
          </a:p>
        </p:txBody>
      </p:sp>
      <p:sp>
        <p:nvSpPr>
          <p:cNvPr id="1497" name="TextBox 1496">
            <a:extLst>
              <a:ext uri="{FF2B5EF4-FFF2-40B4-BE49-F238E27FC236}">
                <a16:creationId xmlns:a16="http://schemas.microsoft.com/office/drawing/2014/main" id="{8349977E-9111-C185-ABD2-361D2F38FF2A}"/>
              </a:ext>
            </a:extLst>
          </p:cNvPr>
          <p:cNvSpPr txBox="1"/>
          <p:nvPr/>
        </p:nvSpPr>
        <p:spPr>
          <a:xfrm>
            <a:off x="123843" y="8472311"/>
            <a:ext cx="4346831"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Jira Emotion CSV contains emotion labels manually determined from multiple raters. Only comments with labels that show higher inter-rater agreement are kept.</a:t>
            </a:r>
          </a:p>
        </p:txBody>
      </p:sp>
      <p:sp>
        <p:nvSpPr>
          <p:cNvPr id="1499" name="Google Shape;338;p18">
            <a:extLst>
              <a:ext uri="{FF2B5EF4-FFF2-40B4-BE49-F238E27FC236}">
                <a16:creationId xmlns:a16="http://schemas.microsoft.com/office/drawing/2014/main" id="{F87B51FD-4ED4-1423-CE97-F6C2A4439ACE}"/>
              </a:ext>
            </a:extLst>
          </p:cNvPr>
          <p:cNvSpPr/>
          <p:nvPr/>
        </p:nvSpPr>
        <p:spPr>
          <a:xfrm>
            <a:off x="678571" y="9348859"/>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Line">
            <a:extLst>
              <a:ext uri="{FF2B5EF4-FFF2-40B4-BE49-F238E27FC236}">
                <a16:creationId xmlns:a16="http://schemas.microsoft.com/office/drawing/2014/main" id="{173D5CE5-5C3A-6251-87E1-B81176E4EE82}"/>
              </a:ext>
            </a:extLst>
          </p:cNvPr>
          <p:cNvSpPr/>
          <p:nvPr/>
        </p:nvSpPr>
        <p:spPr>
          <a:xfrm flipH="1" flipV="1">
            <a:off x="3154971" y="4050753"/>
            <a:ext cx="1" cy="945321"/>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9" name="TextBox 8">
            <a:extLst>
              <a:ext uri="{FF2B5EF4-FFF2-40B4-BE49-F238E27FC236}">
                <a16:creationId xmlns:a16="http://schemas.microsoft.com/office/drawing/2014/main" id="{A847FAAA-A724-D47B-B436-B15C1B00DB1B}"/>
              </a:ext>
            </a:extLst>
          </p:cNvPr>
          <p:cNvSpPr txBox="1"/>
          <p:nvPr/>
        </p:nvSpPr>
        <p:spPr>
          <a:xfrm>
            <a:off x="3221935" y="4247371"/>
            <a:ext cx="97054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Sentiment</a:t>
            </a:r>
          </a:p>
        </p:txBody>
      </p:sp>
      <p:sp>
        <p:nvSpPr>
          <p:cNvPr id="10" name="Line">
            <a:extLst>
              <a:ext uri="{FF2B5EF4-FFF2-40B4-BE49-F238E27FC236}">
                <a16:creationId xmlns:a16="http://schemas.microsoft.com/office/drawing/2014/main" id="{FAB43868-32A3-0F43-044C-26CEEEE910D4}"/>
              </a:ext>
            </a:extLst>
          </p:cNvPr>
          <p:cNvSpPr/>
          <p:nvPr/>
        </p:nvSpPr>
        <p:spPr>
          <a:xfrm flipH="1" flipV="1">
            <a:off x="3162257" y="5448883"/>
            <a:ext cx="1" cy="945321"/>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1" name="TextBox 10">
            <a:extLst>
              <a:ext uri="{FF2B5EF4-FFF2-40B4-BE49-F238E27FC236}">
                <a16:creationId xmlns:a16="http://schemas.microsoft.com/office/drawing/2014/main" id="{EF4292AC-2459-7303-4105-0E05B1A84BE3}"/>
              </a:ext>
            </a:extLst>
          </p:cNvPr>
          <p:cNvSpPr txBox="1"/>
          <p:nvPr/>
        </p:nvSpPr>
        <p:spPr>
          <a:xfrm>
            <a:off x="3229221" y="5645501"/>
            <a:ext cx="97054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Emotion</a:t>
            </a:r>
          </a:p>
        </p:txBody>
      </p:sp>
      <p:pic>
        <p:nvPicPr>
          <p:cNvPr id="12" name="Picture 11" descr="A picture containing text&#10;&#10;Description automatically generated">
            <a:extLst>
              <a:ext uri="{FF2B5EF4-FFF2-40B4-BE49-F238E27FC236}">
                <a16:creationId xmlns:a16="http://schemas.microsoft.com/office/drawing/2014/main" id="{C0C7537D-8625-7332-E010-B299F4A19F8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24189" y="4383757"/>
            <a:ext cx="585008" cy="679364"/>
          </a:xfrm>
          <a:prstGeom prst="rect">
            <a:avLst/>
          </a:prstGeom>
        </p:spPr>
      </p:pic>
      <p:sp>
        <p:nvSpPr>
          <p:cNvPr id="13" name="TextBox 12">
            <a:extLst>
              <a:ext uri="{FF2B5EF4-FFF2-40B4-BE49-F238E27FC236}">
                <a16:creationId xmlns:a16="http://schemas.microsoft.com/office/drawing/2014/main" id="{677D3287-0C91-48FF-4848-E4FB25AC7150}"/>
              </a:ext>
            </a:extLst>
          </p:cNvPr>
          <p:cNvSpPr txBox="1"/>
          <p:nvPr/>
        </p:nvSpPr>
        <p:spPr>
          <a:xfrm>
            <a:off x="7111672" y="9130878"/>
            <a:ext cx="72095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err="1"/>
              <a:t>sailuh</a:t>
            </a:r>
            <a:r>
              <a:rPr lang="en-US" sz="800" b="0" dirty="0"/>
              <a:t>/</a:t>
            </a:r>
            <a:r>
              <a:rPr lang="en-US" sz="800" b="0" dirty="0" err="1"/>
              <a:t>kaiaulu</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14" name="Picture 13" descr="A picture containing text&#10;&#10;Description automatically generated">
            <a:extLst>
              <a:ext uri="{FF2B5EF4-FFF2-40B4-BE49-F238E27FC236}">
                <a16:creationId xmlns:a16="http://schemas.microsoft.com/office/drawing/2014/main" id="{1EF109A0-CFA6-77B9-9A79-0184D09478D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88144" y="8468874"/>
            <a:ext cx="585008" cy="679364"/>
          </a:xfrm>
          <a:prstGeom prst="rect">
            <a:avLst/>
          </a:prstGeom>
        </p:spPr>
      </p:pic>
      <p:sp>
        <p:nvSpPr>
          <p:cNvPr id="15" name="Can 14">
            <a:extLst>
              <a:ext uri="{FF2B5EF4-FFF2-40B4-BE49-F238E27FC236}">
                <a16:creationId xmlns:a16="http://schemas.microsoft.com/office/drawing/2014/main" id="{BF84DD2A-7B25-C5E5-6D47-0E29E5CF9D22}"/>
              </a:ext>
            </a:extLst>
          </p:cNvPr>
          <p:cNvSpPr/>
          <p:nvPr/>
        </p:nvSpPr>
        <p:spPr>
          <a:xfrm>
            <a:off x="2164242" y="5501642"/>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6" name="Can 15">
            <a:extLst>
              <a:ext uri="{FF2B5EF4-FFF2-40B4-BE49-F238E27FC236}">
                <a16:creationId xmlns:a16="http://schemas.microsoft.com/office/drawing/2014/main" id="{D890BF97-2047-747A-B731-E38504343276}"/>
              </a:ext>
            </a:extLst>
          </p:cNvPr>
          <p:cNvSpPr/>
          <p:nvPr/>
        </p:nvSpPr>
        <p:spPr>
          <a:xfrm>
            <a:off x="8020123" y="2662290"/>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1" name="Can 20">
            <a:extLst>
              <a:ext uri="{FF2B5EF4-FFF2-40B4-BE49-F238E27FC236}">
                <a16:creationId xmlns:a16="http://schemas.microsoft.com/office/drawing/2014/main" id="{6F9E0D18-2A40-E222-BC8A-05A7F07CEBF9}"/>
              </a:ext>
            </a:extLst>
          </p:cNvPr>
          <p:cNvSpPr/>
          <p:nvPr/>
        </p:nvSpPr>
        <p:spPr>
          <a:xfrm>
            <a:off x="7973474" y="6674341"/>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26" name="Connector: Elbow 504">
            <a:extLst>
              <a:ext uri="{FF2B5EF4-FFF2-40B4-BE49-F238E27FC236}">
                <a16:creationId xmlns:a16="http://schemas.microsoft.com/office/drawing/2014/main" id="{B4D7CF53-F73A-EDB7-410F-0AE2B729BED5}"/>
              </a:ext>
            </a:extLst>
          </p:cNvPr>
          <p:cNvCxnSpPr>
            <a:cxnSpLocks/>
            <a:endCxn id="1404" idx="1"/>
          </p:cNvCxnSpPr>
          <p:nvPr/>
        </p:nvCxnSpPr>
        <p:spPr>
          <a:xfrm>
            <a:off x="10264774" y="8108060"/>
            <a:ext cx="260324" cy="6619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7" name="Group 26">
            <a:extLst>
              <a:ext uri="{FF2B5EF4-FFF2-40B4-BE49-F238E27FC236}">
                <a16:creationId xmlns:a16="http://schemas.microsoft.com/office/drawing/2014/main" id="{68DE8F33-3A53-63B9-94DE-AF61782512EB}"/>
              </a:ext>
            </a:extLst>
          </p:cNvPr>
          <p:cNvGrpSpPr/>
          <p:nvPr/>
        </p:nvGrpSpPr>
        <p:grpSpPr>
          <a:xfrm>
            <a:off x="10255192" y="8324484"/>
            <a:ext cx="258099" cy="400772"/>
            <a:chOff x="4995414" y="5124450"/>
            <a:chExt cx="279788" cy="627063"/>
          </a:xfrm>
        </p:grpSpPr>
        <p:cxnSp>
          <p:nvCxnSpPr>
            <p:cNvPr id="29" name="Straight Connector 28">
              <a:extLst>
                <a:ext uri="{FF2B5EF4-FFF2-40B4-BE49-F238E27FC236}">
                  <a16:creationId xmlns:a16="http://schemas.microsoft.com/office/drawing/2014/main" id="{5F52F0E2-8CCF-FCED-E702-EDE1D36785E5}"/>
                </a:ext>
              </a:extLst>
            </p:cNvPr>
            <p:cNvCxnSpPr>
              <a:cxnSpLocks/>
            </p:cNvCxnSpPr>
            <p:nvPr/>
          </p:nvCxnSpPr>
          <p:spPr>
            <a:xfrm>
              <a:off x="4995414" y="5748338"/>
              <a:ext cx="157186" cy="0"/>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00CA0D57-D839-6D65-BF45-073D65D15127}"/>
                </a:ext>
              </a:extLst>
            </p:cNvPr>
            <p:cNvCxnSpPr/>
            <p:nvPr/>
          </p:nvCxnSpPr>
          <p:spPr>
            <a:xfrm flipV="1">
              <a:off x="5152600" y="5124450"/>
              <a:ext cx="0" cy="627063"/>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D36F40AF-7DE5-C87A-A657-EEB401507723}"/>
                </a:ext>
              </a:extLst>
            </p:cNvPr>
            <p:cNvCxnSpPr/>
            <p:nvPr/>
          </p:nvCxnSpPr>
          <p:spPr>
            <a:xfrm>
              <a:off x="5152600" y="5129213"/>
              <a:ext cx="1226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33" name="Group 32">
            <a:extLst>
              <a:ext uri="{FF2B5EF4-FFF2-40B4-BE49-F238E27FC236}">
                <a16:creationId xmlns:a16="http://schemas.microsoft.com/office/drawing/2014/main" id="{9C499DAE-920D-F207-62A5-7E851E98F58F}"/>
              </a:ext>
            </a:extLst>
          </p:cNvPr>
          <p:cNvGrpSpPr/>
          <p:nvPr/>
        </p:nvGrpSpPr>
        <p:grpSpPr>
          <a:xfrm>
            <a:off x="10273320" y="7711032"/>
            <a:ext cx="246605" cy="248161"/>
            <a:chOff x="4995414" y="4014788"/>
            <a:chExt cx="318346" cy="642937"/>
          </a:xfrm>
        </p:grpSpPr>
        <p:cxnSp>
          <p:nvCxnSpPr>
            <p:cNvPr id="34" name="Straight Connector 33">
              <a:extLst>
                <a:ext uri="{FF2B5EF4-FFF2-40B4-BE49-F238E27FC236}">
                  <a16:creationId xmlns:a16="http://schemas.microsoft.com/office/drawing/2014/main" id="{D629463A-8DA5-C710-BAC3-D7B63A439405}"/>
                </a:ext>
              </a:extLst>
            </p:cNvPr>
            <p:cNvCxnSpPr>
              <a:cxnSpLocks/>
            </p:cNvCxnSpPr>
            <p:nvPr/>
          </p:nvCxnSpPr>
          <p:spPr>
            <a:xfrm>
              <a:off x="4995414" y="4014788"/>
              <a:ext cx="175470" cy="0"/>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8B0746EB-A4CD-041F-9387-54AD0CC09817}"/>
                </a:ext>
              </a:extLst>
            </p:cNvPr>
            <p:cNvCxnSpPr/>
            <p:nvPr/>
          </p:nvCxnSpPr>
          <p:spPr>
            <a:xfrm>
              <a:off x="5168503" y="4014788"/>
              <a:ext cx="0" cy="642937"/>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CD79FDD5-EB28-4A1A-A70B-EF41C1FE48C4}"/>
                </a:ext>
              </a:extLst>
            </p:cNvPr>
            <p:cNvCxnSpPr/>
            <p:nvPr/>
          </p:nvCxnSpPr>
          <p:spPr>
            <a:xfrm>
              <a:off x="5163741" y="4657725"/>
              <a:ext cx="1500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9231E33C-F646-D4D9-F410-E48F413F36DF}"/>
              </a:ext>
            </a:extLst>
          </p:cNvPr>
          <p:cNvGrpSpPr/>
          <p:nvPr/>
        </p:nvGrpSpPr>
        <p:grpSpPr>
          <a:xfrm>
            <a:off x="1092074" y="7766592"/>
            <a:ext cx="953200" cy="458010"/>
            <a:chOff x="5528605" y="4530831"/>
            <a:chExt cx="953200" cy="458010"/>
          </a:xfrm>
        </p:grpSpPr>
        <p:graphicFrame>
          <p:nvGraphicFramePr>
            <p:cNvPr id="24" name="Table">
              <a:extLst>
                <a:ext uri="{FF2B5EF4-FFF2-40B4-BE49-F238E27FC236}">
                  <a16:creationId xmlns:a16="http://schemas.microsoft.com/office/drawing/2014/main" id="{54DB7679-308F-BCDD-44DD-D13027486F78}"/>
                </a:ext>
              </a:extLst>
            </p:cNvPr>
            <p:cNvGraphicFramePr/>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25" name="Table">
              <a:extLst>
                <a:ext uri="{FF2B5EF4-FFF2-40B4-BE49-F238E27FC236}">
                  <a16:creationId xmlns:a16="http://schemas.microsoft.com/office/drawing/2014/main" id="{79EB30F1-767C-AD21-D78F-5DDE25C99923}"/>
                </a:ext>
              </a:extLst>
            </p:cNvPr>
            <p:cNvGraphicFramePr/>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grpSp>
        <p:nvGrpSpPr>
          <p:cNvPr id="41" name="Group 40">
            <a:extLst>
              <a:ext uri="{FF2B5EF4-FFF2-40B4-BE49-F238E27FC236}">
                <a16:creationId xmlns:a16="http://schemas.microsoft.com/office/drawing/2014/main" id="{83CD7991-5574-07F6-713D-C7750047AF6C}"/>
              </a:ext>
            </a:extLst>
          </p:cNvPr>
          <p:cNvGrpSpPr/>
          <p:nvPr/>
        </p:nvGrpSpPr>
        <p:grpSpPr>
          <a:xfrm>
            <a:off x="2597665" y="7778932"/>
            <a:ext cx="630320" cy="458010"/>
            <a:chOff x="5528605" y="4530831"/>
            <a:chExt cx="630320" cy="458010"/>
          </a:xfrm>
        </p:grpSpPr>
        <p:graphicFrame>
          <p:nvGraphicFramePr>
            <p:cNvPr id="42" name="Table">
              <a:extLst>
                <a:ext uri="{FF2B5EF4-FFF2-40B4-BE49-F238E27FC236}">
                  <a16:creationId xmlns:a16="http://schemas.microsoft.com/office/drawing/2014/main" id="{5DC3F7F2-4A49-39B5-157A-E726BC87E37A}"/>
                </a:ext>
              </a:extLst>
            </p:cNvPr>
            <p:cNvGraphicFramePr/>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43" name="Table">
              <a:extLst>
                <a:ext uri="{FF2B5EF4-FFF2-40B4-BE49-F238E27FC236}">
                  <a16:creationId xmlns:a16="http://schemas.microsoft.com/office/drawing/2014/main" id="{B4839B0D-346C-157B-AC6F-BD4B0CEBFF30}"/>
                </a:ext>
              </a:extLst>
            </p:cNvPr>
            <p:cNvGraphicFramePr/>
            <p:nvPr/>
          </p:nvGraphicFramePr>
          <p:xfrm>
            <a:off x="5997485" y="4530831"/>
            <a:ext cx="16144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grpSp>
        <p:nvGrpSpPr>
          <p:cNvPr id="44" name="Group 43">
            <a:extLst>
              <a:ext uri="{FF2B5EF4-FFF2-40B4-BE49-F238E27FC236}">
                <a16:creationId xmlns:a16="http://schemas.microsoft.com/office/drawing/2014/main" id="{84B804FA-2907-88F1-33E8-6AC0CD6A3D8C}"/>
              </a:ext>
            </a:extLst>
          </p:cNvPr>
          <p:cNvGrpSpPr/>
          <p:nvPr/>
        </p:nvGrpSpPr>
        <p:grpSpPr>
          <a:xfrm>
            <a:off x="2562975" y="7722007"/>
            <a:ext cx="665010" cy="540204"/>
            <a:chOff x="3045575" y="7702261"/>
            <a:chExt cx="665010" cy="540204"/>
          </a:xfrm>
        </p:grpSpPr>
        <p:cxnSp>
          <p:nvCxnSpPr>
            <p:cNvPr id="1489" name="Straight Connector 1488">
              <a:extLst>
                <a:ext uri="{FF2B5EF4-FFF2-40B4-BE49-F238E27FC236}">
                  <a16:creationId xmlns:a16="http://schemas.microsoft.com/office/drawing/2014/main" id="{3639AD12-E6D9-B3F1-861E-A7218DF43CAB}"/>
                </a:ext>
              </a:extLst>
            </p:cNvPr>
            <p:cNvCxnSpPr>
              <a:cxnSpLocks/>
            </p:cNvCxnSpPr>
            <p:nvPr/>
          </p:nvCxnSpPr>
          <p:spPr>
            <a:xfrm>
              <a:off x="3045575" y="7702261"/>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cxnSp>
          <p:nvCxnSpPr>
            <p:cNvPr id="1496" name="Straight Connector 1495">
              <a:extLst>
                <a:ext uri="{FF2B5EF4-FFF2-40B4-BE49-F238E27FC236}">
                  <a16:creationId xmlns:a16="http://schemas.microsoft.com/office/drawing/2014/main" id="{3362D24C-B0B4-9B81-6734-F40D3D500D6D}"/>
                </a:ext>
              </a:extLst>
            </p:cNvPr>
            <p:cNvCxnSpPr>
              <a:cxnSpLocks/>
            </p:cNvCxnSpPr>
            <p:nvPr/>
          </p:nvCxnSpPr>
          <p:spPr>
            <a:xfrm flipV="1">
              <a:off x="3058828" y="7710159"/>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grpSp>
      <p:pic>
        <p:nvPicPr>
          <p:cNvPr id="45" name="Graphic 44" descr="User with solid fill">
            <a:extLst>
              <a:ext uri="{FF2B5EF4-FFF2-40B4-BE49-F238E27FC236}">
                <a16:creationId xmlns:a16="http://schemas.microsoft.com/office/drawing/2014/main" id="{52224A84-9577-2832-3F50-6CC7A48D755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26048" y="9843576"/>
            <a:ext cx="381354" cy="381354"/>
          </a:xfrm>
          <a:prstGeom prst="rect">
            <a:avLst/>
          </a:prstGeom>
        </p:spPr>
      </p:pic>
      <p:pic>
        <p:nvPicPr>
          <p:cNvPr id="46" name="Graphic 45" descr="User with solid fill">
            <a:extLst>
              <a:ext uri="{FF2B5EF4-FFF2-40B4-BE49-F238E27FC236}">
                <a16:creationId xmlns:a16="http://schemas.microsoft.com/office/drawing/2014/main" id="{D6299247-2692-D413-C89E-AB428E9DB02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76126" y="9848058"/>
            <a:ext cx="381354" cy="381354"/>
          </a:xfrm>
          <a:prstGeom prst="rect">
            <a:avLst/>
          </a:prstGeom>
        </p:spPr>
      </p:pic>
      <p:pic>
        <p:nvPicPr>
          <p:cNvPr id="47" name="Graphic 46" descr="User with solid fill">
            <a:extLst>
              <a:ext uri="{FF2B5EF4-FFF2-40B4-BE49-F238E27FC236}">
                <a16:creationId xmlns:a16="http://schemas.microsoft.com/office/drawing/2014/main" id="{7D72DD30-E255-5CBA-DF38-32812488475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434159" y="9856625"/>
            <a:ext cx="381354" cy="381354"/>
          </a:xfrm>
          <a:prstGeom prst="rect">
            <a:avLst/>
          </a:prstGeom>
        </p:spPr>
      </p:pic>
      <p:pic>
        <p:nvPicPr>
          <p:cNvPr id="49" name="Graphic 48" descr="Heart outline">
            <a:extLst>
              <a:ext uri="{FF2B5EF4-FFF2-40B4-BE49-F238E27FC236}">
                <a16:creationId xmlns:a16="http://schemas.microsoft.com/office/drawing/2014/main" id="{D8B08415-0C66-63D1-BE6E-478DC9CDF76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8908" y="9348033"/>
            <a:ext cx="238741" cy="238741"/>
          </a:xfrm>
          <a:prstGeom prst="rect">
            <a:avLst/>
          </a:prstGeom>
        </p:spPr>
      </p:pic>
      <p:sp>
        <p:nvSpPr>
          <p:cNvPr id="50" name="Google Shape;338;p18">
            <a:extLst>
              <a:ext uri="{FF2B5EF4-FFF2-40B4-BE49-F238E27FC236}">
                <a16:creationId xmlns:a16="http://schemas.microsoft.com/office/drawing/2014/main" id="{DD075CBE-9D78-0773-DC14-64F498EDA28B}"/>
              </a:ext>
            </a:extLst>
          </p:cNvPr>
          <p:cNvSpPr/>
          <p:nvPr/>
        </p:nvSpPr>
        <p:spPr>
          <a:xfrm>
            <a:off x="1116634" y="9343884"/>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1" name="Graphic 50" descr="Heart outline">
            <a:extLst>
              <a:ext uri="{FF2B5EF4-FFF2-40B4-BE49-F238E27FC236}">
                <a16:creationId xmlns:a16="http://schemas.microsoft.com/office/drawing/2014/main" id="{BA4ED3B6-2E8D-5747-421A-5DC426D9FCB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76971" y="9343058"/>
            <a:ext cx="238741" cy="238741"/>
          </a:xfrm>
          <a:prstGeom prst="rect">
            <a:avLst/>
          </a:prstGeom>
        </p:spPr>
      </p:pic>
      <p:sp>
        <p:nvSpPr>
          <p:cNvPr id="52" name="Google Shape;338;p18">
            <a:extLst>
              <a:ext uri="{FF2B5EF4-FFF2-40B4-BE49-F238E27FC236}">
                <a16:creationId xmlns:a16="http://schemas.microsoft.com/office/drawing/2014/main" id="{CA2826DF-1BD7-800E-31C8-C846215DC310}"/>
              </a:ext>
            </a:extLst>
          </p:cNvPr>
          <p:cNvSpPr/>
          <p:nvPr/>
        </p:nvSpPr>
        <p:spPr>
          <a:xfrm>
            <a:off x="1545096" y="9341912"/>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 name="Rectangle 53">
            <a:extLst>
              <a:ext uri="{FF2B5EF4-FFF2-40B4-BE49-F238E27FC236}">
                <a16:creationId xmlns:a16="http://schemas.microsoft.com/office/drawing/2014/main" id="{8DEBBE0E-F139-99D5-BF8C-EEC82056CC90}"/>
              </a:ext>
            </a:extLst>
          </p:cNvPr>
          <p:cNvSpPr/>
          <p:nvPr/>
        </p:nvSpPr>
        <p:spPr>
          <a:xfrm>
            <a:off x="564675" y="9293640"/>
            <a:ext cx="1492070" cy="36576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56" name="Straight Connector 55">
            <a:extLst>
              <a:ext uri="{FF2B5EF4-FFF2-40B4-BE49-F238E27FC236}">
                <a16:creationId xmlns:a16="http://schemas.microsoft.com/office/drawing/2014/main" id="{541B0908-78FC-B153-2FC7-F7E1CC77F121}"/>
              </a:ext>
            </a:extLst>
          </p:cNvPr>
          <p:cNvCxnSpPr>
            <a:cxnSpLocks/>
            <a:endCxn id="45" idx="0"/>
          </p:cNvCxnSpPr>
          <p:nvPr/>
        </p:nvCxnSpPr>
        <p:spPr>
          <a:xfrm>
            <a:off x="857253" y="9656636"/>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2" name="Straight Connector 61">
            <a:extLst>
              <a:ext uri="{FF2B5EF4-FFF2-40B4-BE49-F238E27FC236}">
                <a16:creationId xmlns:a16="http://schemas.microsoft.com/office/drawing/2014/main" id="{14CB5D6A-BD3D-C69E-AAE0-7C4AE2854AF7}"/>
              </a:ext>
            </a:extLst>
          </p:cNvPr>
          <p:cNvCxnSpPr>
            <a:cxnSpLocks/>
          </p:cNvCxnSpPr>
          <p:nvPr/>
        </p:nvCxnSpPr>
        <p:spPr>
          <a:xfrm flipV="1">
            <a:off x="1639240" y="9656636"/>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3" name="Straight Connector 62">
            <a:extLst>
              <a:ext uri="{FF2B5EF4-FFF2-40B4-BE49-F238E27FC236}">
                <a16:creationId xmlns:a16="http://schemas.microsoft.com/office/drawing/2014/main" id="{2CADE38D-E8AE-737C-6B22-2D6F7E368687}"/>
              </a:ext>
            </a:extLst>
          </p:cNvPr>
          <p:cNvCxnSpPr>
            <a:cxnSpLocks/>
          </p:cNvCxnSpPr>
          <p:nvPr/>
        </p:nvCxnSpPr>
        <p:spPr>
          <a:xfrm flipV="1">
            <a:off x="1268752" y="9662737"/>
            <a:ext cx="0" cy="19030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357" name="Google Shape;338;p18">
            <a:extLst>
              <a:ext uri="{FF2B5EF4-FFF2-40B4-BE49-F238E27FC236}">
                <a16:creationId xmlns:a16="http://schemas.microsoft.com/office/drawing/2014/main" id="{CE5D176C-5123-81B6-7C5D-490CD2723989}"/>
              </a:ext>
            </a:extLst>
          </p:cNvPr>
          <p:cNvSpPr/>
          <p:nvPr/>
        </p:nvSpPr>
        <p:spPr>
          <a:xfrm>
            <a:off x="2483724" y="9376740"/>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358" name="Graphic 1357" descr="User with solid fill">
            <a:extLst>
              <a:ext uri="{FF2B5EF4-FFF2-40B4-BE49-F238E27FC236}">
                <a16:creationId xmlns:a16="http://schemas.microsoft.com/office/drawing/2014/main" id="{B1DB0525-444C-831B-0626-45C2F6D886B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31201" y="9871457"/>
            <a:ext cx="381354" cy="381354"/>
          </a:xfrm>
          <a:prstGeom prst="rect">
            <a:avLst/>
          </a:prstGeom>
        </p:spPr>
      </p:pic>
      <p:pic>
        <p:nvPicPr>
          <p:cNvPr id="1359" name="Graphic 1358" descr="User with solid fill">
            <a:extLst>
              <a:ext uri="{FF2B5EF4-FFF2-40B4-BE49-F238E27FC236}">
                <a16:creationId xmlns:a16="http://schemas.microsoft.com/office/drawing/2014/main" id="{B1A3C1FF-38F4-E563-20AD-F68ECA6C36C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81279" y="9875939"/>
            <a:ext cx="381354" cy="381354"/>
          </a:xfrm>
          <a:prstGeom prst="rect">
            <a:avLst/>
          </a:prstGeom>
        </p:spPr>
      </p:pic>
      <p:pic>
        <p:nvPicPr>
          <p:cNvPr id="1360" name="Graphic 1359" descr="User with solid fill">
            <a:extLst>
              <a:ext uri="{FF2B5EF4-FFF2-40B4-BE49-F238E27FC236}">
                <a16:creationId xmlns:a16="http://schemas.microsoft.com/office/drawing/2014/main" id="{CF0B89EB-69EB-5C32-1CB3-65AE383E7B4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39312" y="9884506"/>
            <a:ext cx="381354" cy="381354"/>
          </a:xfrm>
          <a:prstGeom prst="rect">
            <a:avLst/>
          </a:prstGeom>
        </p:spPr>
      </p:pic>
      <p:pic>
        <p:nvPicPr>
          <p:cNvPr id="1361" name="Graphic 1360" descr="Heart outline">
            <a:extLst>
              <a:ext uri="{FF2B5EF4-FFF2-40B4-BE49-F238E27FC236}">
                <a16:creationId xmlns:a16="http://schemas.microsoft.com/office/drawing/2014/main" id="{9962E579-6BBF-ED04-D627-3CFBBE38411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544061" y="9375914"/>
            <a:ext cx="238741" cy="238741"/>
          </a:xfrm>
          <a:prstGeom prst="rect">
            <a:avLst/>
          </a:prstGeom>
        </p:spPr>
      </p:pic>
      <p:sp>
        <p:nvSpPr>
          <p:cNvPr id="1362" name="Google Shape;338;p18">
            <a:extLst>
              <a:ext uri="{FF2B5EF4-FFF2-40B4-BE49-F238E27FC236}">
                <a16:creationId xmlns:a16="http://schemas.microsoft.com/office/drawing/2014/main" id="{6B494903-BDC6-9723-E718-1B9A6C62C936}"/>
              </a:ext>
            </a:extLst>
          </p:cNvPr>
          <p:cNvSpPr/>
          <p:nvPr/>
        </p:nvSpPr>
        <p:spPr>
          <a:xfrm>
            <a:off x="2921787" y="9371765"/>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363" name="Graphic 1362" descr="Heart outline">
            <a:extLst>
              <a:ext uri="{FF2B5EF4-FFF2-40B4-BE49-F238E27FC236}">
                <a16:creationId xmlns:a16="http://schemas.microsoft.com/office/drawing/2014/main" id="{12118E57-180B-D1D9-5183-1BA5427297B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982124" y="9370939"/>
            <a:ext cx="238741" cy="238741"/>
          </a:xfrm>
          <a:prstGeom prst="rect">
            <a:avLst/>
          </a:prstGeom>
        </p:spPr>
      </p:pic>
      <p:sp>
        <p:nvSpPr>
          <p:cNvPr id="1364" name="Google Shape;338;p18">
            <a:extLst>
              <a:ext uri="{FF2B5EF4-FFF2-40B4-BE49-F238E27FC236}">
                <a16:creationId xmlns:a16="http://schemas.microsoft.com/office/drawing/2014/main" id="{5320A999-5770-A20C-05A4-DA4451A7C167}"/>
              </a:ext>
            </a:extLst>
          </p:cNvPr>
          <p:cNvSpPr/>
          <p:nvPr/>
        </p:nvSpPr>
        <p:spPr>
          <a:xfrm>
            <a:off x="3350249" y="9369793"/>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365" name="Graphic 1364" descr="Heart outline">
            <a:extLst>
              <a:ext uri="{FF2B5EF4-FFF2-40B4-BE49-F238E27FC236}">
                <a16:creationId xmlns:a16="http://schemas.microsoft.com/office/drawing/2014/main" id="{D2355AF8-E442-8445-4870-4CB403FD0F8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01738" y="9348230"/>
            <a:ext cx="238741" cy="238741"/>
          </a:xfrm>
          <a:prstGeom prst="rect">
            <a:avLst/>
          </a:prstGeom>
        </p:spPr>
      </p:pic>
      <p:sp>
        <p:nvSpPr>
          <p:cNvPr id="1366" name="Rectangle 1365">
            <a:extLst>
              <a:ext uri="{FF2B5EF4-FFF2-40B4-BE49-F238E27FC236}">
                <a16:creationId xmlns:a16="http://schemas.microsoft.com/office/drawing/2014/main" id="{A8C41FDE-92B1-EBE4-C903-25CC93708AE9}"/>
              </a:ext>
            </a:extLst>
          </p:cNvPr>
          <p:cNvSpPr/>
          <p:nvPr/>
        </p:nvSpPr>
        <p:spPr>
          <a:xfrm>
            <a:off x="2369828" y="9321521"/>
            <a:ext cx="1492070" cy="36576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67" name="Straight Connector 1366">
            <a:extLst>
              <a:ext uri="{FF2B5EF4-FFF2-40B4-BE49-F238E27FC236}">
                <a16:creationId xmlns:a16="http://schemas.microsoft.com/office/drawing/2014/main" id="{5006874D-AC7B-803A-32F4-2384D8CC02AF}"/>
              </a:ext>
            </a:extLst>
          </p:cNvPr>
          <p:cNvCxnSpPr>
            <a:cxnSpLocks/>
            <a:endCxn id="1358" idx="0"/>
          </p:cNvCxnSpPr>
          <p:nvPr/>
        </p:nvCxnSpPr>
        <p:spPr>
          <a:xfrm>
            <a:off x="2662406" y="9684517"/>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FB67D405-2AB8-48A8-4353-77132D63091F}"/>
              </a:ext>
            </a:extLst>
          </p:cNvPr>
          <p:cNvCxnSpPr>
            <a:cxnSpLocks/>
          </p:cNvCxnSpPr>
          <p:nvPr/>
        </p:nvCxnSpPr>
        <p:spPr>
          <a:xfrm flipV="1">
            <a:off x="3444393" y="9684517"/>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8DC67538-CD10-7DF3-A69F-970D79D25AD2}"/>
              </a:ext>
            </a:extLst>
          </p:cNvPr>
          <p:cNvCxnSpPr>
            <a:cxnSpLocks/>
          </p:cNvCxnSpPr>
          <p:nvPr/>
        </p:nvCxnSpPr>
        <p:spPr>
          <a:xfrm flipV="1">
            <a:off x="3073905" y="9690618"/>
            <a:ext cx="0" cy="19030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1371" name="Graphic 1370" descr="Angry face outline with solid fill">
            <a:extLst>
              <a:ext uri="{FF2B5EF4-FFF2-40B4-BE49-F238E27FC236}">
                <a16:creationId xmlns:a16="http://schemas.microsoft.com/office/drawing/2014/main" id="{EB5FD02A-0D9B-6AA7-4B75-9DC3B91D09F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419525" y="9368586"/>
            <a:ext cx="239887" cy="239887"/>
          </a:xfrm>
          <a:prstGeom prst="rect">
            <a:avLst/>
          </a:prstGeom>
        </p:spPr>
      </p:pic>
      <p:grpSp>
        <p:nvGrpSpPr>
          <p:cNvPr id="1375" name="Group 1374">
            <a:extLst>
              <a:ext uri="{FF2B5EF4-FFF2-40B4-BE49-F238E27FC236}">
                <a16:creationId xmlns:a16="http://schemas.microsoft.com/office/drawing/2014/main" id="{CB6BF714-3CAA-F826-1112-4FB35687E90A}"/>
              </a:ext>
            </a:extLst>
          </p:cNvPr>
          <p:cNvGrpSpPr/>
          <p:nvPr/>
        </p:nvGrpSpPr>
        <p:grpSpPr>
          <a:xfrm>
            <a:off x="2410008" y="9223247"/>
            <a:ext cx="1413097" cy="540204"/>
            <a:chOff x="3045575" y="7702261"/>
            <a:chExt cx="665010" cy="540204"/>
          </a:xfrm>
        </p:grpSpPr>
        <p:cxnSp>
          <p:nvCxnSpPr>
            <p:cNvPr id="1376" name="Straight Connector 1375">
              <a:extLst>
                <a:ext uri="{FF2B5EF4-FFF2-40B4-BE49-F238E27FC236}">
                  <a16:creationId xmlns:a16="http://schemas.microsoft.com/office/drawing/2014/main" id="{8CB97DC2-CA5E-AD72-90D5-2A31C2AD3674}"/>
                </a:ext>
              </a:extLst>
            </p:cNvPr>
            <p:cNvCxnSpPr>
              <a:cxnSpLocks/>
            </p:cNvCxnSpPr>
            <p:nvPr/>
          </p:nvCxnSpPr>
          <p:spPr>
            <a:xfrm>
              <a:off x="3045575" y="7702261"/>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E60A4C7C-C982-CA51-249F-ECA1D74805B5}"/>
                </a:ext>
              </a:extLst>
            </p:cNvPr>
            <p:cNvCxnSpPr>
              <a:cxnSpLocks/>
            </p:cNvCxnSpPr>
            <p:nvPr/>
          </p:nvCxnSpPr>
          <p:spPr>
            <a:xfrm flipV="1">
              <a:off x="3058828" y="7710159"/>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grpSp>
      <p:pic>
        <p:nvPicPr>
          <p:cNvPr id="37" name="Picture 36" descr="A picture containing text&#10;&#10;Description automatically generated">
            <a:extLst>
              <a:ext uri="{FF2B5EF4-FFF2-40B4-BE49-F238E27FC236}">
                <a16:creationId xmlns:a16="http://schemas.microsoft.com/office/drawing/2014/main" id="{58DEC67B-B1D5-F980-ED4F-F6D3DFABF1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731243" y="8088668"/>
            <a:ext cx="297372" cy="345335"/>
          </a:xfrm>
          <a:prstGeom prst="rect">
            <a:avLst/>
          </a:prstGeom>
        </p:spPr>
      </p:pic>
      <p:sp>
        <p:nvSpPr>
          <p:cNvPr id="38" name="TextBox 37">
            <a:extLst>
              <a:ext uri="{FF2B5EF4-FFF2-40B4-BE49-F238E27FC236}">
                <a16:creationId xmlns:a16="http://schemas.microsoft.com/office/drawing/2014/main" id="{E7923E2D-D12B-3CA7-D8ED-9A6E9DD63526}"/>
              </a:ext>
            </a:extLst>
          </p:cNvPr>
          <p:cNvSpPr txBox="1"/>
          <p:nvPr/>
        </p:nvSpPr>
        <p:spPr>
          <a:xfrm>
            <a:off x="-2599075" y="1256962"/>
            <a:ext cx="1894349" cy="5975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3000" b="1" i="0" u="none" strike="noStrike" cap="none" spc="0" normalizeH="0" baseline="0" dirty="0">
                <a:ln>
                  <a:noFill/>
                </a:ln>
                <a:solidFill>
                  <a:srgbClr val="4C4C4C"/>
                </a:solidFill>
                <a:effectLst/>
                <a:uFillTx/>
                <a:latin typeface="Source Sans Pro"/>
                <a:ea typeface="Source Sans Pro"/>
                <a:cs typeface="Source Sans Pro"/>
                <a:sym typeface="Source Sans Pro"/>
              </a:rPr>
              <a:t>Iteration 9</a:t>
            </a:r>
          </a:p>
        </p:txBody>
      </p:sp>
    </p:spTree>
    <p:extLst>
      <p:ext uri="{BB962C8B-B14F-4D97-AF65-F5344CB8AC3E}">
        <p14:creationId xmlns:p14="http://schemas.microsoft.com/office/powerpoint/2010/main" val="128181945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2355F-1C4D-57BD-CED2-CDE6403E3FB9}"/>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4C6450B9-5372-61B1-1BE1-49A4F96F34C6}"/>
              </a:ext>
            </a:extLst>
          </p:cNvPr>
          <p:cNvPicPr>
            <a:picLocks noGrp="1" noRot="1" noChangeAspect="1" noMove="1" noResize="1" noEditPoints="1" noAdjustHandles="1" noChangeArrowheads="1" noChangeShapeType="1" noCrop="1"/>
          </p:cNvPicPr>
          <p:nvPr/>
        </p:nvPicPr>
        <p:blipFill>
          <a:blip r:embed="rId3"/>
          <a:stretch>
            <a:fillRect/>
          </a:stretch>
        </p:blipFill>
        <p:spPr>
          <a:xfrm>
            <a:off x="8397917" y="-673983"/>
            <a:ext cx="5598432" cy="2990088"/>
          </a:xfrm>
          <a:prstGeom prst="rect">
            <a:avLst/>
          </a:prstGeom>
          <a:ln w="12700">
            <a:miter lim="400000"/>
          </a:ln>
        </p:spPr>
      </p:pic>
      <p:sp>
        <p:nvSpPr>
          <p:cNvPr id="312" name="Line">
            <a:extLst>
              <a:ext uri="{FF2B5EF4-FFF2-40B4-BE49-F238E27FC236}">
                <a16:creationId xmlns:a16="http://schemas.microsoft.com/office/drawing/2014/main" id="{74ED21BA-4B14-500C-2081-DCB186B2BFD0}"/>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8" name="TextBox 37">
            <a:extLst>
              <a:ext uri="{FF2B5EF4-FFF2-40B4-BE49-F238E27FC236}">
                <a16:creationId xmlns:a16="http://schemas.microsoft.com/office/drawing/2014/main" id="{447AE143-FE22-5757-4E00-268B3EF736A5}"/>
              </a:ext>
            </a:extLst>
          </p:cNvPr>
          <p:cNvSpPr txBox="1"/>
          <p:nvPr/>
        </p:nvSpPr>
        <p:spPr>
          <a:xfrm>
            <a:off x="-2599075" y="1256962"/>
            <a:ext cx="2097929" cy="5975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3000" b="1" i="0" u="none" strike="noStrike" cap="none" spc="0" normalizeH="0" baseline="0" dirty="0">
                <a:ln>
                  <a:noFill/>
                </a:ln>
                <a:solidFill>
                  <a:srgbClr val="4C4C4C"/>
                </a:solidFill>
                <a:effectLst/>
                <a:uFillTx/>
                <a:latin typeface="Source Sans Pro"/>
                <a:ea typeface="Source Sans Pro"/>
                <a:cs typeface="Source Sans Pro"/>
                <a:sym typeface="Source Sans Pro"/>
              </a:rPr>
              <a:t>Iteration 10</a:t>
            </a:r>
          </a:p>
        </p:txBody>
      </p:sp>
      <p:sp>
        <p:nvSpPr>
          <p:cNvPr id="1992" name="Line">
            <a:extLst>
              <a:ext uri="{FF2B5EF4-FFF2-40B4-BE49-F238E27FC236}">
                <a16:creationId xmlns:a16="http://schemas.microsoft.com/office/drawing/2014/main" id="{39C4E72A-1510-900B-352A-972D1334967D}"/>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993" name="YOUR LOGO…">
            <a:extLst>
              <a:ext uri="{FF2B5EF4-FFF2-40B4-BE49-F238E27FC236}">
                <a16:creationId xmlns:a16="http://schemas.microsoft.com/office/drawing/2014/main" id="{F9C06F1D-85E2-6840-9B20-C9C05EDB6999}"/>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err="1"/>
              <a:t>Kaiāulu</a:t>
            </a:r>
            <a:endParaRPr sz="2400" dirty="0"/>
          </a:p>
        </p:txBody>
      </p:sp>
      <p:sp>
        <p:nvSpPr>
          <p:cNvPr id="1994" name="Three Column Layout: : CHEAT SHEET">
            <a:extLst>
              <a:ext uri="{FF2B5EF4-FFF2-40B4-BE49-F238E27FC236}">
                <a16:creationId xmlns:a16="http://schemas.microsoft.com/office/drawing/2014/main" id="{562EC89C-0BAC-8144-46C5-CE3C8B271F7A}"/>
              </a:ext>
            </a:extLst>
          </p:cNvPr>
          <p:cNvSpPr txBox="1">
            <a:spLocks noGrp="1"/>
          </p:cNvSpPr>
          <p:nvPr>
            <p:ph type="title"/>
          </p:nvPr>
        </p:nvSpPr>
        <p:spPr>
          <a:xfrm>
            <a:off x="275721" y="361177"/>
            <a:ext cx="10898129" cy="803346"/>
          </a:xfrm>
          <a:prstGeom prst="rect">
            <a:avLst/>
          </a:prstGeom>
        </p:spPr>
        <p:txBody>
          <a:bodyPr lIns="0" tIns="0" rIns="0" bIns="0" anchor="t">
            <a:normAutofit fontScale="90000"/>
          </a:bodyPr>
          <a:lstStyle/>
          <a:p>
            <a:r>
              <a:rPr lang="en-US" dirty="0"/>
              <a:t>Sentiment and Emotion Datasets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1995" name="Use headers, colors, and/or backgrounds to separate or group together sections.">
            <a:extLst>
              <a:ext uri="{FF2B5EF4-FFF2-40B4-BE49-F238E27FC236}">
                <a16:creationId xmlns:a16="http://schemas.microsoft.com/office/drawing/2014/main" id="{70EE6A60-9D77-7388-9A9D-2FA950D3976C}"/>
              </a:ext>
            </a:extLst>
          </p:cNvPr>
          <p:cNvSpPr txBox="1"/>
          <p:nvPr/>
        </p:nvSpPr>
        <p:spPr>
          <a:xfrm>
            <a:off x="219190" y="1892216"/>
            <a:ext cx="4336216" cy="1439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lvl="0">
              <a:lnSpc>
                <a:spcPct val="90000"/>
              </a:lnSpc>
              <a:buSzPts val="3700"/>
            </a:pPr>
            <a:r>
              <a:rPr lang="en-US" b="0" dirty="0"/>
              <a:t>Manually annotated sentiment/emotion labels can be useful for training and evaluating novel machine learning classifiers. However, these labels lack sufficient metadata to be extended with new observations for the same projects that were created. This </a:t>
            </a:r>
            <a:r>
              <a:rPr lang="en-US" b="0" dirty="0" err="1"/>
              <a:t>cheatsheet</a:t>
            </a:r>
            <a:r>
              <a:rPr lang="en-US" b="0" dirty="0"/>
              <a:t> demonstrates the reconstruction process used to expand labels' metadata, define reproducible project configuration files, and make them usable in </a:t>
            </a:r>
            <a:r>
              <a:rPr lang="en-US" b="0" dirty="0" err="1"/>
              <a:t>Kaiaulu</a:t>
            </a:r>
            <a:r>
              <a:rPr lang="en-US" b="0" dirty="0"/>
              <a:t> for new analyses.</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1996" name="Logistics">
            <a:extLst>
              <a:ext uri="{FF2B5EF4-FFF2-40B4-BE49-F238E27FC236}">
                <a16:creationId xmlns:a16="http://schemas.microsoft.com/office/drawing/2014/main" id="{4B746BB7-82D3-459C-1B19-C554C360D7A0}"/>
              </a:ext>
            </a:extLst>
          </p:cNvPr>
          <p:cNvSpPr txBox="1"/>
          <p:nvPr/>
        </p:nvSpPr>
        <p:spPr>
          <a:xfrm>
            <a:off x="4684512" y="1544184"/>
            <a:ext cx="4520468" cy="3274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sz="2400" b="0" dirty="0"/>
              <a:t>Reproducing Datasets with </a:t>
            </a:r>
            <a:r>
              <a:rPr lang="en-US" sz="2400" b="0" dirty="0" err="1"/>
              <a:t>Kaiaulu</a:t>
            </a:r>
            <a:endParaRPr sz="2400"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997" name="Layout Suggestions">
            <a:extLst>
              <a:ext uri="{FF2B5EF4-FFF2-40B4-BE49-F238E27FC236}">
                <a16:creationId xmlns:a16="http://schemas.microsoft.com/office/drawing/2014/main" id="{962056B9-F2D5-8899-BBBB-541961B66237}"/>
              </a:ext>
            </a:extLst>
          </p:cNvPr>
          <p:cNvSpPr txBox="1"/>
          <p:nvPr/>
        </p:nvSpPr>
        <p:spPr>
          <a:xfrm>
            <a:off x="275721" y="1519235"/>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About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pic>
        <p:nvPicPr>
          <p:cNvPr id="1998" name="Picture 1997" descr="A picture containing text&#10;&#10;Description automatically generated">
            <a:extLst>
              <a:ext uri="{FF2B5EF4-FFF2-40B4-BE49-F238E27FC236}">
                <a16:creationId xmlns:a16="http://schemas.microsoft.com/office/drawing/2014/main" id="{4E99AA33-7214-902E-C15D-EDE30F88BEA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1999" name="TextBox 1998">
            <a:extLst>
              <a:ext uri="{FF2B5EF4-FFF2-40B4-BE49-F238E27FC236}">
                <a16:creationId xmlns:a16="http://schemas.microsoft.com/office/drawing/2014/main" id="{8440F590-5E69-C763-08DD-DD910CE0C8B7}"/>
              </a:ext>
            </a:extLst>
          </p:cNvPr>
          <p:cNvSpPr txBox="1"/>
          <p:nvPr/>
        </p:nvSpPr>
        <p:spPr>
          <a:xfrm>
            <a:off x="7369010" y="10301097"/>
            <a:ext cx="6288562"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Samantha </a:t>
            </a:r>
            <a:r>
              <a:rPr lang="en-US" sz="1000" b="0" dirty="0">
                <a:solidFill>
                  <a:schemeClr val="tx1"/>
                </a:solidFill>
              </a:rPr>
              <a:t>Limon,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Carlos Paradis</a:t>
            </a:r>
            <a:r>
              <a:rPr lang="en-US" sz="1000" b="0" dirty="0">
                <a:solidFill>
                  <a:schemeClr val="tx1"/>
                </a:solidFill>
              </a:rPr>
              <a: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a:t>
            </a:r>
            <a:r>
              <a:rPr kumimoji="0" lang="en-US" sz="1000" b="0" i="0" u="none" strike="noStrike" cap="none" spc="0" normalizeH="0" baseline="0" dirty="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000" name="Layout Suggestions">
            <a:extLst>
              <a:ext uri="{FF2B5EF4-FFF2-40B4-BE49-F238E27FC236}">
                <a16:creationId xmlns:a16="http://schemas.microsoft.com/office/drawing/2014/main" id="{706FD1FC-F28E-8DEA-750D-8BDE4E161608}"/>
              </a:ext>
            </a:extLst>
          </p:cNvPr>
          <p:cNvSpPr txBox="1"/>
          <p:nvPr/>
        </p:nvSpPr>
        <p:spPr>
          <a:xfrm>
            <a:off x="258034" y="3385150"/>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Raw Dataset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2001" name="Manipulate Variables">
            <a:extLst>
              <a:ext uri="{FF2B5EF4-FFF2-40B4-BE49-F238E27FC236}">
                <a16:creationId xmlns:a16="http://schemas.microsoft.com/office/drawing/2014/main" id="{1AC24BD5-993D-6F41-43F7-49D528A12A28}"/>
              </a:ext>
            </a:extLst>
          </p:cNvPr>
          <p:cNvSpPr txBox="1"/>
          <p:nvPr/>
        </p:nvSpPr>
        <p:spPr>
          <a:xfrm>
            <a:off x="9585321" y="1530186"/>
            <a:ext cx="258564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Related Notebooks</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2002" name="Create a visual hierarchy. Help users navigate the page with titles, subtitles, and subsubtitles">
            <a:extLst>
              <a:ext uri="{FF2B5EF4-FFF2-40B4-BE49-F238E27FC236}">
                <a16:creationId xmlns:a16="http://schemas.microsoft.com/office/drawing/2014/main" id="{A26BCA6B-4896-F24E-29B8-EC531AE5CB13}"/>
              </a:ext>
            </a:extLst>
          </p:cNvPr>
          <p:cNvSpPr txBox="1"/>
          <p:nvPr/>
        </p:nvSpPr>
        <p:spPr>
          <a:xfrm>
            <a:off x="9545296" y="1911334"/>
            <a:ext cx="4001355"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See supplementary notebooks that go in-depth on the documentation on making the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Github</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 dataset and Jira Emotion dataset compatible with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Kaiaulu</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a:t>
            </a:r>
          </a:p>
        </p:txBody>
      </p:sp>
      <p:sp>
        <p:nvSpPr>
          <p:cNvPr id="2003" name="TextBox 2002">
            <a:extLst>
              <a:ext uri="{FF2B5EF4-FFF2-40B4-BE49-F238E27FC236}">
                <a16:creationId xmlns:a16="http://schemas.microsoft.com/office/drawing/2014/main" id="{49EA1598-BD17-F173-0A77-A9ACD615AAFB}"/>
              </a:ext>
            </a:extLst>
          </p:cNvPr>
          <p:cNvSpPr txBox="1"/>
          <p:nvPr/>
        </p:nvSpPr>
        <p:spPr>
          <a:xfrm>
            <a:off x="9585321" y="2775783"/>
            <a:ext cx="3656656" cy="951462"/>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1_load_sentiment_csv_to_mysql.ipynb</a:t>
            </a:r>
          </a:p>
          <a:p>
            <a:pPr marL="228600" indent="-228600">
              <a:buFont typeface="+mj-lt"/>
              <a:buAutoNum type="arabicPeriod"/>
            </a:pPr>
            <a:r>
              <a:rPr lang="en-US" dirty="0"/>
              <a:t>2_explore_relevant_projects.ipynb</a:t>
            </a:r>
          </a:p>
          <a:p>
            <a:pPr marL="228600" indent="-228600">
              <a:buFont typeface="+mj-lt"/>
              <a:buAutoNum type="arabicPeriod"/>
            </a:pPr>
            <a:r>
              <a:rPr lang="en-US" dirty="0"/>
              <a:t>3_scale_config_files.ipynb</a:t>
            </a:r>
          </a:p>
          <a:p>
            <a:pPr marL="228600" indent="-228600">
              <a:buFont typeface="+mj-lt"/>
              <a:buAutoNum type="arabicPeriod"/>
            </a:pPr>
            <a:r>
              <a:rPr lang="en-US" dirty="0"/>
              <a:t>4_add_sentiment_to_kaiaulu.ipynb</a:t>
            </a:r>
          </a:p>
        </p:txBody>
      </p:sp>
      <p:sp>
        <p:nvSpPr>
          <p:cNvPr id="2004" name="Manipulate Variables">
            <a:extLst>
              <a:ext uri="{FF2B5EF4-FFF2-40B4-BE49-F238E27FC236}">
                <a16:creationId xmlns:a16="http://schemas.microsoft.com/office/drawing/2014/main" id="{FF222C4C-7935-11DF-B097-B76BE176AC1C}"/>
              </a:ext>
            </a:extLst>
          </p:cNvPr>
          <p:cNvSpPr txBox="1"/>
          <p:nvPr/>
        </p:nvSpPr>
        <p:spPr>
          <a:xfrm>
            <a:off x="9542306" y="4660893"/>
            <a:ext cx="210634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Data Expansion</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2005" name="Create a visual hierarchy. Help users navigate the page with titles, subtitles, and subsubtitles">
            <a:extLst>
              <a:ext uri="{FF2B5EF4-FFF2-40B4-BE49-F238E27FC236}">
                <a16:creationId xmlns:a16="http://schemas.microsoft.com/office/drawing/2014/main" id="{A5970A05-150B-4738-7A31-656C77043B7C}"/>
              </a:ext>
            </a:extLst>
          </p:cNvPr>
          <p:cNvSpPr txBox="1"/>
          <p:nvPr/>
        </p:nvSpPr>
        <p:spPr>
          <a:xfrm>
            <a:off x="9517994" y="5036356"/>
            <a:ext cx="4001355" cy="20491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r>
              <a:rPr lang="en-US" sz="1100" b="0" dirty="0"/>
              <a:t>Through this pipeline, we recover sufficient metadata to re-obtain the data using </a:t>
            </a:r>
            <a:r>
              <a:rPr lang="en-US" sz="1100" b="0" dirty="0" err="1"/>
              <a:t>Kaiaulu</a:t>
            </a:r>
            <a:r>
              <a:rPr lang="en-US" sz="1100" b="0" dirty="0"/>
              <a:t>. This metadata enables two types of dataset expansion using </a:t>
            </a:r>
            <a:r>
              <a:rPr lang="en-US" sz="1100" b="0" dirty="0" err="1"/>
              <a:t>Kaiaulu</a:t>
            </a:r>
            <a:r>
              <a:rPr lang="en-US" sz="1100" b="0" dirty="0"/>
              <a:t>:</a:t>
            </a:r>
          </a:p>
          <a:p>
            <a:pPr marL="228600" indent="-228600">
              <a:buAutoNum type="arabicPeriod"/>
            </a:pPr>
            <a:r>
              <a:rPr lang="en-US" sz="1100" dirty="0"/>
              <a:t>Temporal expansion</a:t>
            </a:r>
            <a:r>
              <a:rPr lang="en-US" sz="1100" b="0" dirty="0"/>
              <a:t>: Re-download the same projects' comments from 2014 through today.</a:t>
            </a:r>
          </a:p>
          <a:p>
            <a:pPr marL="228600" indent="-228600">
              <a:buAutoNum type="arabicPeriod"/>
            </a:pPr>
            <a:r>
              <a:rPr lang="en-US" sz="1100" dirty="0"/>
              <a:t>Horizontal expansion</a:t>
            </a:r>
            <a:r>
              <a:rPr lang="en-US" sz="1100" b="0" dirty="0"/>
              <a:t>: Download additional data sources for those same projects (e.g., source code, version control history) that can be linked back to sentiment labels.</a:t>
            </a:r>
          </a:p>
          <a:p>
            <a:r>
              <a:rPr lang="en-US" sz="1100" b="0" dirty="0"/>
              <a:t>The labeled comments can be used to train the sentiment classifier and for </a:t>
            </a:r>
            <a:r>
              <a:rPr lang="en-US" sz="1100" b="0"/>
              <a:t>developer engagement (</a:t>
            </a:r>
            <a:r>
              <a:rPr lang="en-US" sz="1100" b="0" dirty="0"/>
              <a:t>refer to </a:t>
            </a:r>
            <a:r>
              <a:rPr lang="en-US" sz="1100" b="0" dirty="0" err="1"/>
              <a:t>sailuh</a:t>
            </a:r>
            <a:r>
              <a:rPr lang="en-US" sz="1100" b="0" dirty="0"/>
              <a:t>/sentiment-classifier).</a:t>
            </a:r>
          </a:p>
        </p:txBody>
      </p:sp>
      <p:sp>
        <p:nvSpPr>
          <p:cNvPr id="2006" name="Layout Suggestions">
            <a:extLst>
              <a:ext uri="{FF2B5EF4-FFF2-40B4-BE49-F238E27FC236}">
                <a16:creationId xmlns:a16="http://schemas.microsoft.com/office/drawing/2014/main" id="{56EE18A3-EECA-0CBF-6FDF-829D9F0AE261}"/>
              </a:ext>
            </a:extLst>
          </p:cNvPr>
          <p:cNvSpPr txBox="1"/>
          <p:nvPr/>
        </p:nvSpPr>
        <p:spPr>
          <a:xfrm>
            <a:off x="221504" y="7101794"/>
            <a:ext cx="433390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2007" name="TextBox 2006">
            <a:extLst>
              <a:ext uri="{FF2B5EF4-FFF2-40B4-BE49-F238E27FC236}">
                <a16:creationId xmlns:a16="http://schemas.microsoft.com/office/drawing/2014/main" id="{255B6BAB-D328-E002-F177-D62BEE3C5649}"/>
              </a:ext>
            </a:extLst>
          </p:cNvPr>
          <p:cNvSpPr txBox="1"/>
          <p:nvPr/>
        </p:nvSpPr>
        <p:spPr>
          <a:xfrm>
            <a:off x="244833" y="3653776"/>
            <a:ext cx="43468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following must be set up/downloaded:</a:t>
            </a:r>
          </a:p>
        </p:txBody>
      </p:sp>
      <p:sp>
        <p:nvSpPr>
          <p:cNvPr id="2008" name="TextBox 2007">
            <a:extLst>
              <a:ext uri="{FF2B5EF4-FFF2-40B4-BE49-F238E27FC236}">
                <a16:creationId xmlns:a16="http://schemas.microsoft.com/office/drawing/2014/main" id="{CAE8B5F6-6EC4-C76C-8E41-0CB276FC6FF7}"/>
              </a:ext>
            </a:extLst>
          </p:cNvPr>
          <p:cNvSpPr txBox="1"/>
          <p:nvPr/>
        </p:nvSpPr>
        <p:spPr>
          <a:xfrm>
            <a:off x="4810823" y="3304109"/>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GitHub 2020 CSV</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009" name="Straight Arrow Connector 2008">
            <a:extLst>
              <a:ext uri="{FF2B5EF4-FFF2-40B4-BE49-F238E27FC236}">
                <a16:creationId xmlns:a16="http://schemas.microsoft.com/office/drawing/2014/main" id="{9048DAE0-28FE-626F-BEEC-4C17C0C01167}"/>
              </a:ext>
            </a:extLst>
          </p:cNvPr>
          <p:cNvCxnSpPr>
            <a:cxnSpLocks/>
          </p:cNvCxnSpPr>
          <p:nvPr/>
        </p:nvCxnSpPr>
        <p:spPr>
          <a:xfrm>
            <a:off x="6040578" y="2739306"/>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010" name="Table">
            <a:extLst>
              <a:ext uri="{FF2B5EF4-FFF2-40B4-BE49-F238E27FC236}">
                <a16:creationId xmlns:a16="http://schemas.microsoft.com/office/drawing/2014/main" id="{772FF7F2-137D-680C-29CD-D674C5B7AA1F}"/>
              </a:ext>
            </a:extLst>
          </p:cNvPr>
          <p:cNvGraphicFramePr/>
          <p:nvPr>
            <p:extLst>
              <p:ext uri="{D42A27DB-BD31-4B8C-83A1-F6EECF244321}">
                <p14:modId xmlns:p14="http://schemas.microsoft.com/office/powerpoint/2010/main" val="1559703293"/>
              </p:ext>
            </p:extLst>
          </p:nvPr>
        </p:nvGraphicFramePr>
        <p:xfrm>
          <a:off x="5127433" y="2681254"/>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11" name="TextBox 2010">
            <a:extLst>
              <a:ext uri="{FF2B5EF4-FFF2-40B4-BE49-F238E27FC236}">
                <a16:creationId xmlns:a16="http://schemas.microsoft.com/office/drawing/2014/main" id="{8458C3E4-DD8C-20BE-9C86-B8FC55DF4099}"/>
              </a:ext>
            </a:extLst>
          </p:cNvPr>
          <p:cNvSpPr txBox="1"/>
          <p:nvPr/>
        </p:nvSpPr>
        <p:spPr>
          <a:xfrm>
            <a:off x="6073140" y="2512222"/>
            <a:ext cx="127533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012" name="TextBox 2011">
            <a:extLst>
              <a:ext uri="{FF2B5EF4-FFF2-40B4-BE49-F238E27FC236}">
                <a16:creationId xmlns:a16="http://schemas.microsoft.com/office/drawing/2014/main" id="{F04FAE0B-4077-1D41-434E-8F522ED68E6F}"/>
              </a:ext>
            </a:extLst>
          </p:cNvPr>
          <p:cNvSpPr txBox="1"/>
          <p:nvPr/>
        </p:nvSpPr>
        <p:spPr>
          <a:xfrm>
            <a:off x="6078145" y="2758990"/>
            <a:ext cx="144108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Q-Join-Commit-Comments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013" name="TextBox 2012">
            <a:extLst>
              <a:ext uri="{FF2B5EF4-FFF2-40B4-BE49-F238E27FC236}">
                <a16:creationId xmlns:a16="http://schemas.microsoft.com/office/drawing/2014/main" id="{AE80A7ED-8B85-F663-B34A-80986CAD9B3E}"/>
              </a:ext>
            </a:extLst>
          </p:cNvPr>
          <p:cNvSpPr txBox="1"/>
          <p:nvPr/>
        </p:nvSpPr>
        <p:spPr>
          <a:xfrm>
            <a:off x="6004567" y="3030690"/>
            <a:ext cx="1514660" cy="2333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800" b="0" dirty="0"/>
              <a:t>Q-Join-Pull-Request-Comments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014" name="Straight Arrow Connector 2013">
            <a:extLst>
              <a:ext uri="{FF2B5EF4-FFF2-40B4-BE49-F238E27FC236}">
                <a16:creationId xmlns:a16="http://schemas.microsoft.com/office/drawing/2014/main" id="{D4603D20-F541-B8EB-B60C-6ACA33D83F58}"/>
              </a:ext>
            </a:extLst>
          </p:cNvPr>
          <p:cNvCxnSpPr>
            <a:cxnSpLocks/>
          </p:cNvCxnSpPr>
          <p:nvPr/>
        </p:nvCxnSpPr>
        <p:spPr>
          <a:xfrm>
            <a:off x="6040578" y="2985359"/>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15" name="Straight Arrow Connector 2014">
            <a:extLst>
              <a:ext uri="{FF2B5EF4-FFF2-40B4-BE49-F238E27FC236}">
                <a16:creationId xmlns:a16="http://schemas.microsoft.com/office/drawing/2014/main" id="{B33AB207-58AD-71BF-B612-1E03BA83BD93}"/>
              </a:ext>
            </a:extLst>
          </p:cNvPr>
          <p:cNvCxnSpPr>
            <a:cxnSpLocks/>
          </p:cNvCxnSpPr>
          <p:nvPr/>
        </p:nvCxnSpPr>
        <p:spPr>
          <a:xfrm>
            <a:off x="6040578" y="3231412"/>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16" name="TextBox 2015">
            <a:extLst>
              <a:ext uri="{FF2B5EF4-FFF2-40B4-BE49-F238E27FC236}">
                <a16:creationId xmlns:a16="http://schemas.microsoft.com/office/drawing/2014/main" id="{CC32370D-CDF0-1823-5FD3-11A229D17EC3}"/>
              </a:ext>
            </a:extLst>
          </p:cNvPr>
          <p:cNvSpPr txBox="1"/>
          <p:nvPr/>
        </p:nvSpPr>
        <p:spPr>
          <a:xfrm>
            <a:off x="7506054" y="3309908"/>
            <a:ext cx="1418243"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err="1"/>
              <a:t>GHTorrent</a:t>
            </a:r>
            <a:r>
              <a:rPr lang="en-US" dirty="0"/>
              <a:t> 2014 DB</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017" name="TextBox 2016">
            <a:extLst>
              <a:ext uri="{FF2B5EF4-FFF2-40B4-BE49-F238E27FC236}">
                <a16:creationId xmlns:a16="http://schemas.microsoft.com/office/drawing/2014/main" id="{22A41F9B-2D50-D20B-879B-93000B433901}"/>
              </a:ext>
            </a:extLst>
          </p:cNvPr>
          <p:cNvSpPr txBox="1"/>
          <p:nvPr/>
        </p:nvSpPr>
        <p:spPr>
          <a:xfrm>
            <a:off x="4718557" y="4961870"/>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2018" name="Group 2017">
            <a:extLst>
              <a:ext uri="{FF2B5EF4-FFF2-40B4-BE49-F238E27FC236}">
                <a16:creationId xmlns:a16="http://schemas.microsoft.com/office/drawing/2014/main" id="{BFB9F2DE-BB32-BF34-A3EC-8FD3A774D76A}"/>
              </a:ext>
            </a:extLst>
          </p:cNvPr>
          <p:cNvGrpSpPr/>
          <p:nvPr/>
        </p:nvGrpSpPr>
        <p:grpSpPr>
          <a:xfrm>
            <a:off x="5522624" y="4520518"/>
            <a:ext cx="953200" cy="458010"/>
            <a:chOff x="5528605" y="4530831"/>
            <a:chExt cx="953200" cy="458010"/>
          </a:xfrm>
        </p:grpSpPr>
        <p:graphicFrame>
          <p:nvGraphicFramePr>
            <p:cNvPr id="2019" name="Table">
              <a:extLst>
                <a:ext uri="{FF2B5EF4-FFF2-40B4-BE49-F238E27FC236}">
                  <a16:creationId xmlns:a16="http://schemas.microsoft.com/office/drawing/2014/main" id="{DBAA5045-7173-5E87-CC29-60643B8B550B}"/>
                </a:ext>
              </a:extLst>
            </p:cNvPr>
            <p:cNvGraphicFramePr/>
            <p:nvPr>
              <p:extLst>
                <p:ext uri="{D42A27DB-BD31-4B8C-83A1-F6EECF244321}">
                  <p14:modId xmlns:p14="http://schemas.microsoft.com/office/powerpoint/2010/main" val="3451495955"/>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2020" name="Table">
              <a:extLst>
                <a:ext uri="{FF2B5EF4-FFF2-40B4-BE49-F238E27FC236}">
                  <a16:creationId xmlns:a16="http://schemas.microsoft.com/office/drawing/2014/main" id="{6BC00701-860A-A36E-D1FF-47EEB58B72C3}"/>
                </a:ext>
              </a:extLst>
            </p:cNvPr>
            <p:cNvGraphicFramePr/>
            <p:nvPr>
              <p:extLst>
                <p:ext uri="{D42A27DB-BD31-4B8C-83A1-F6EECF244321}">
                  <p14:modId xmlns:p14="http://schemas.microsoft.com/office/powerpoint/2010/main" val="2188391966"/>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sp>
        <p:nvSpPr>
          <p:cNvPr id="2021" name="TextBox 2020">
            <a:extLst>
              <a:ext uri="{FF2B5EF4-FFF2-40B4-BE49-F238E27FC236}">
                <a16:creationId xmlns:a16="http://schemas.microsoft.com/office/drawing/2014/main" id="{E961BA2A-74CD-E642-D8F9-28E22FA37812}"/>
              </a:ext>
            </a:extLst>
          </p:cNvPr>
          <p:cNvSpPr txBox="1"/>
          <p:nvPr/>
        </p:nvSpPr>
        <p:spPr>
          <a:xfrm>
            <a:off x="5296796" y="4960251"/>
            <a:ext cx="139124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dirty="0"/>
              <a:t>GitHub 2020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022" name="Line">
            <a:extLst>
              <a:ext uri="{FF2B5EF4-FFF2-40B4-BE49-F238E27FC236}">
                <a16:creationId xmlns:a16="http://schemas.microsoft.com/office/drawing/2014/main" id="{3C742EB4-A327-3C5E-5978-EC2850B3ECD0}"/>
              </a:ext>
            </a:extLst>
          </p:cNvPr>
          <p:cNvSpPr/>
          <p:nvPr/>
        </p:nvSpPr>
        <p:spPr>
          <a:xfrm flipV="1">
            <a:off x="4748804" y="5961806"/>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023" name="TextBox 2022">
            <a:extLst>
              <a:ext uri="{FF2B5EF4-FFF2-40B4-BE49-F238E27FC236}">
                <a16:creationId xmlns:a16="http://schemas.microsoft.com/office/drawing/2014/main" id="{C67AB27B-77DC-EA79-8423-9261E531CFF4}"/>
              </a:ext>
            </a:extLst>
          </p:cNvPr>
          <p:cNvSpPr txBox="1"/>
          <p:nvPr/>
        </p:nvSpPr>
        <p:spPr>
          <a:xfrm>
            <a:off x="4672920" y="7339638"/>
            <a:ext cx="1650803"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Jira Emotion 2016 CSV</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024" name="Straight Arrow Connector 2023">
            <a:extLst>
              <a:ext uri="{FF2B5EF4-FFF2-40B4-BE49-F238E27FC236}">
                <a16:creationId xmlns:a16="http://schemas.microsoft.com/office/drawing/2014/main" id="{507BE16F-F7BA-73B8-C8A1-5E25E0C4681A}"/>
              </a:ext>
            </a:extLst>
          </p:cNvPr>
          <p:cNvCxnSpPr>
            <a:cxnSpLocks/>
          </p:cNvCxnSpPr>
          <p:nvPr/>
        </p:nvCxnSpPr>
        <p:spPr>
          <a:xfrm>
            <a:off x="6048180" y="6933077"/>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025" name="Table">
            <a:extLst>
              <a:ext uri="{FF2B5EF4-FFF2-40B4-BE49-F238E27FC236}">
                <a16:creationId xmlns:a16="http://schemas.microsoft.com/office/drawing/2014/main" id="{2E46EF96-BFC8-DD1B-893F-EDA68E5AF4D5}"/>
              </a:ext>
            </a:extLst>
          </p:cNvPr>
          <p:cNvGraphicFramePr/>
          <p:nvPr>
            <p:extLst>
              <p:ext uri="{D42A27DB-BD31-4B8C-83A1-F6EECF244321}">
                <p14:modId xmlns:p14="http://schemas.microsoft.com/office/powerpoint/2010/main" val="1047943488"/>
              </p:ext>
            </p:extLst>
          </p:nvPr>
        </p:nvGraphicFramePr>
        <p:xfrm>
          <a:off x="5136867" y="6753727"/>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cxnSp>
        <p:nvCxnSpPr>
          <p:cNvPr id="2026" name="Straight Arrow Connector 2025">
            <a:extLst>
              <a:ext uri="{FF2B5EF4-FFF2-40B4-BE49-F238E27FC236}">
                <a16:creationId xmlns:a16="http://schemas.microsoft.com/office/drawing/2014/main" id="{9397C5C3-1ADA-5283-B856-6355CCC0AF32}"/>
              </a:ext>
            </a:extLst>
          </p:cNvPr>
          <p:cNvCxnSpPr>
            <a:cxnSpLocks/>
          </p:cNvCxnSpPr>
          <p:nvPr/>
        </p:nvCxnSpPr>
        <p:spPr>
          <a:xfrm>
            <a:off x="6048180" y="7179130"/>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27" name="TextBox 2026">
            <a:extLst>
              <a:ext uri="{FF2B5EF4-FFF2-40B4-BE49-F238E27FC236}">
                <a16:creationId xmlns:a16="http://schemas.microsoft.com/office/drawing/2014/main" id="{8712A36B-388E-C660-57A0-3CFFD9349FEE}"/>
              </a:ext>
            </a:extLst>
          </p:cNvPr>
          <p:cNvSpPr txBox="1"/>
          <p:nvPr/>
        </p:nvSpPr>
        <p:spPr>
          <a:xfrm>
            <a:off x="7290720" y="7331899"/>
            <a:ext cx="176626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Jira PostgreSQL 2016 DB</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028" name="TextBox 2027">
            <a:extLst>
              <a:ext uri="{FF2B5EF4-FFF2-40B4-BE49-F238E27FC236}">
                <a16:creationId xmlns:a16="http://schemas.microsoft.com/office/drawing/2014/main" id="{61AB9488-8207-6E42-8969-43872FA3BE4F}"/>
              </a:ext>
            </a:extLst>
          </p:cNvPr>
          <p:cNvSpPr txBox="1"/>
          <p:nvPr/>
        </p:nvSpPr>
        <p:spPr>
          <a:xfrm>
            <a:off x="6041784" y="6689831"/>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029" name="TextBox 2028">
            <a:extLst>
              <a:ext uri="{FF2B5EF4-FFF2-40B4-BE49-F238E27FC236}">
                <a16:creationId xmlns:a16="http://schemas.microsoft.com/office/drawing/2014/main" id="{47942845-8D47-5B7B-E31C-62F77C24F592}"/>
              </a:ext>
            </a:extLst>
          </p:cNvPr>
          <p:cNvSpPr txBox="1"/>
          <p:nvPr/>
        </p:nvSpPr>
        <p:spPr>
          <a:xfrm>
            <a:off x="6048180" y="6941250"/>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030" name="TextBox 2029">
            <a:extLst>
              <a:ext uri="{FF2B5EF4-FFF2-40B4-BE49-F238E27FC236}">
                <a16:creationId xmlns:a16="http://schemas.microsoft.com/office/drawing/2014/main" id="{6F26FCAA-75A1-6A18-76A0-2D9B4603DEC8}"/>
              </a:ext>
            </a:extLst>
          </p:cNvPr>
          <p:cNvSpPr txBox="1"/>
          <p:nvPr/>
        </p:nvSpPr>
        <p:spPr>
          <a:xfrm>
            <a:off x="4791847" y="1907656"/>
            <a:ext cx="272738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500" dirty="0"/>
              <a:t>GitHub Sentiment Dataset</a:t>
            </a:r>
            <a:endParaRPr kumimoji="0" lang="en-US" sz="1500" i="0" strike="noStrike" cap="none" spc="0" normalizeH="0" baseline="0" dirty="0">
              <a:ln>
                <a:noFill/>
              </a:ln>
              <a:effectLst/>
              <a:uFillTx/>
              <a:latin typeface="Source Sans Pro"/>
              <a:ea typeface="Source Sans Pro"/>
              <a:cs typeface="Source Sans Pro"/>
              <a:sym typeface="Source Sans Pro"/>
            </a:endParaRPr>
          </a:p>
        </p:txBody>
      </p:sp>
      <p:sp>
        <p:nvSpPr>
          <p:cNvPr id="2031" name="TextBox 2030">
            <a:extLst>
              <a:ext uri="{FF2B5EF4-FFF2-40B4-BE49-F238E27FC236}">
                <a16:creationId xmlns:a16="http://schemas.microsoft.com/office/drawing/2014/main" id="{9643A1DA-233D-7916-E7B1-0D539F0D0440}"/>
              </a:ext>
            </a:extLst>
          </p:cNvPr>
          <p:cNvSpPr txBox="1"/>
          <p:nvPr/>
        </p:nvSpPr>
        <p:spPr>
          <a:xfrm>
            <a:off x="4632534" y="6166156"/>
            <a:ext cx="217099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500" dirty="0"/>
              <a:t>Jira Emotion Dataset</a:t>
            </a:r>
            <a:endParaRPr kumimoji="0" lang="en-US" sz="1500" b="1" i="0" strike="noStrike" cap="none" spc="0" normalizeH="0" baseline="0" dirty="0">
              <a:ln>
                <a:noFill/>
              </a:ln>
              <a:effectLst/>
              <a:uFillTx/>
              <a:latin typeface="Source Sans Pro"/>
              <a:ea typeface="Source Sans Pro"/>
              <a:cs typeface="Source Sans Pro"/>
              <a:sym typeface="Source Sans Pro"/>
            </a:endParaRPr>
          </a:p>
        </p:txBody>
      </p:sp>
      <p:grpSp>
        <p:nvGrpSpPr>
          <p:cNvPr id="2032" name="Group 2031">
            <a:extLst>
              <a:ext uri="{FF2B5EF4-FFF2-40B4-BE49-F238E27FC236}">
                <a16:creationId xmlns:a16="http://schemas.microsoft.com/office/drawing/2014/main" id="{5956A2E9-58C4-5D72-EB8E-3BBE8B2A58E1}"/>
              </a:ext>
            </a:extLst>
          </p:cNvPr>
          <p:cNvGrpSpPr/>
          <p:nvPr/>
        </p:nvGrpSpPr>
        <p:grpSpPr>
          <a:xfrm>
            <a:off x="8486416" y="3978207"/>
            <a:ext cx="569700" cy="1688313"/>
            <a:chOff x="8715063" y="3858862"/>
            <a:chExt cx="569700" cy="1688313"/>
          </a:xfrm>
        </p:grpSpPr>
        <p:sp>
          <p:nvSpPr>
            <p:cNvPr id="2033" name="Google Shape;375;p18">
              <a:extLst>
                <a:ext uri="{FF2B5EF4-FFF2-40B4-BE49-F238E27FC236}">
                  <a16:creationId xmlns:a16="http://schemas.microsoft.com/office/drawing/2014/main" id="{D30500CB-2452-BE54-634D-C445E9C96B8D}"/>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2034" name="Google Shape;388;p18">
              <a:extLst>
                <a:ext uri="{FF2B5EF4-FFF2-40B4-BE49-F238E27FC236}">
                  <a16:creationId xmlns:a16="http://schemas.microsoft.com/office/drawing/2014/main" id="{94D4F03F-167A-39C9-C912-FD7BA124BB7E}"/>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sp>
          <p:nvSpPr>
            <p:cNvPr id="2035" name="Google Shape;324;p18">
              <a:extLst>
                <a:ext uri="{FF2B5EF4-FFF2-40B4-BE49-F238E27FC236}">
                  <a16:creationId xmlns:a16="http://schemas.microsoft.com/office/drawing/2014/main" id="{7B2F854B-E922-3B84-E7A3-9CF2DF68247A}"/>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2036" name="Google Shape;359;p18">
              <a:extLst>
                <a:ext uri="{FF2B5EF4-FFF2-40B4-BE49-F238E27FC236}">
                  <a16:creationId xmlns:a16="http://schemas.microsoft.com/office/drawing/2014/main" id="{DF12A7E0-F6EF-D345-8F13-B19AA56D7D32}"/>
                </a:ext>
              </a:extLst>
            </p:cNvPr>
            <p:cNvGrpSpPr/>
            <p:nvPr/>
          </p:nvGrpSpPr>
          <p:grpSpPr>
            <a:xfrm>
              <a:off x="8838265" y="4043887"/>
              <a:ext cx="307200" cy="189300"/>
              <a:chOff x="3007175" y="1757600"/>
              <a:chExt cx="307200" cy="189300"/>
            </a:xfrm>
          </p:grpSpPr>
          <p:sp>
            <p:nvSpPr>
              <p:cNvPr id="2059" name="Google Shape;360;p18">
                <a:extLst>
                  <a:ext uri="{FF2B5EF4-FFF2-40B4-BE49-F238E27FC236}">
                    <a16:creationId xmlns:a16="http://schemas.microsoft.com/office/drawing/2014/main" id="{076BEE7E-7BC7-9621-6EEC-94DEAAF612C8}"/>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60" name="Google Shape;361;p18">
                <a:extLst>
                  <a:ext uri="{FF2B5EF4-FFF2-40B4-BE49-F238E27FC236}">
                    <a16:creationId xmlns:a16="http://schemas.microsoft.com/office/drawing/2014/main" id="{B1D6A3A2-EB0C-927A-4AD8-3EDD2F4F1A79}"/>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61" name="Google Shape;362;p18">
                <a:extLst>
                  <a:ext uri="{FF2B5EF4-FFF2-40B4-BE49-F238E27FC236}">
                    <a16:creationId xmlns:a16="http://schemas.microsoft.com/office/drawing/2014/main" id="{E4F1B8E9-14BE-9401-5B22-C680D5BBFD83}"/>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62" name="Google Shape;363;p18">
                <a:extLst>
                  <a:ext uri="{FF2B5EF4-FFF2-40B4-BE49-F238E27FC236}">
                    <a16:creationId xmlns:a16="http://schemas.microsoft.com/office/drawing/2014/main" id="{866772DB-E950-ED3B-34B4-02B0D68072A0}"/>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063" name="Google Shape;364;p18">
                <a:extLst>
                  <a:ext uri="{FF2B5EF4-FFF2-40B4-BE49-F238E27FC236}">
                    <a16:creationId xmlns:a16="http://schemas.microsoft.com/office/drawing/2014/main" id="{E0813620-D988-21E6-E19E-3FC71B9A3F6A}"/>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064" name="Google Shape;365;p18">
                <a:extLst>
                  <a:ext uri="{FF2B5EF4-FFF2-40B4-BE49-F238E27FC236}">
                    <a16:creationId xmlns:a16="http://schemas.microsoft.com/office/drawing/2014/main" id="{D2E03F7E-1529-D770-4011-F940DD7C1C21}"/>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065" name="Google Shape;366;p18">
                <a:extLst>
                  <a:ext uri="{FF2B5EF4-FFF2-40B4-BE49-F238E27FC236}">
                    <a16:creationId xmlns:a16="http://schemas.microsoft.com/office/drawing/2014/main" id="{9C0795B2-1359-ADBC-D03E-91928A15CECB}"/>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2037" name="Google Shape;367;p18">
              <a:extLst>
                <a:ext uri="{FF2B5EF4-FFF2-40B4-BE49-F238E27FC236}">
                  <a16:creationId xmlns:a16="http://schemas.microsoft.com/office/drawing/2014/main" id="{8B9B6E3F-8BFF-5BD0-82AC-1BF750A882EC}"/>
                </a:ext>
              </a:extLst>
            </p:cNvPr>
            <p:cNvGrpSpPr/>
            <p:nvPr/>
          </p:nvGrpSpPr>
          <p:grpSpPr>
            <a:xfrm>
              <a:off x="8838252" y="4387350"/>
              <a:ext cx="307200" cy="189300"/>
              <a:chOff x="3007175" y="1757600"/>
              <a:chExt cx="307200" cy="189300"/>
            </a:xfrm>
          </p:grpSpPr>
          <p:sp>
            <p:nvSpPr>
              <p:cNvPr id="2052" name="Google Shape;368;p18">
                <a:extLst>
                  <a:ext uri="{FF2B5EF4-FFF2-40B4-BE49-F238E27FC236}">
                    <a16:creationId xmlns:a16="http://schemas.microsoft.com/office/drawing/2014/main" id="{C4C29B29-1ED7-C93B-B7F5-4E6660E90914}"/>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53" name="Google Shape;369;p18">
                <a:extLst>
                  <a:ext uri="{FF2B5EF4-FFF2-40B4-BE49-F238E27FC236}">
                    <a16:creationId xmlns:a16="http://schemas.microsoft.com/office/drawing/2014/main" id="{08556756-BE2C-3557-816D-679A8A63129B}"/>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54" name="Google Shape;370;p18">
                <a:extLst>
                  <a:ext uri="{FF2B5EF4-FFF2-40B4-BE49-F238E27FC236}">
                    <a16:creationId xmlns:a16="http://schemas.microsoft.com/office/drawing/2014/main" id="{02359CFC-8D86-891E-5380-F637DD5068C7}"/>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55" name="Google Shape;371;p18">
                <a:extLst>
                  <a:ext uri="{FF2B5EF4-FFF2-40B4-BE49-F238E27FC236}">
                    <a16:creationId xmlns:a16="http://schemas.microsoft.com/office/drawing/2014/main" id="{280B0C64-82B1-FA06-B54E-2454A53C2AC1}"/>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056" name="Google Shape;372;p18">
                <a:extLst>
                  <a:ext uri="{FF2B5EF4-FFF2-40B4-BE49-F238E27FC236}">
                    <a16:creationId xmlns:a16="http://schemas.microsoft.com/office/drawing/2014/main" id="{5242AC35-CFDD-252A-0D27-0F9BF8744E3F}"/>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057" name="Google Shape;373;p18">
                <a:extLst>
                  <a:ext uri="{FF2B5EF4-FFF2-40B4-BE49-F238E27FC236}">
                    <a16:creationId xmlns:a16="http://schemas.microsoft.com/office/drawing/2014/main" id="{7C778265-6A8D-F244-AB5D-6057F1E3DDE3}"/>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058" name="Google Shape;374;p18">
                <a:extLst>
                  <a:ext uri="{FF2B5EF4-FFF2-40B4-BE49-F238E27FC236}">
                    <a16:creationId xmlns:a16="http://schemas.microsoft.com/office/drawing/2014/main" id="{03415AE8-B3BF-53BE-A2D2-A2593ABED774}"/>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2038" name="Google Shape;376;p18">
              <a:extLst>
                <a:ext uri="{FF2B5EF4-FFF2-40B4-BE49-F238E27FC236}">
                  <a16:creationId xmlns:a16="http://schemas.microsoft.com/office/drawing/2014/main" id="{3D577AE4-0602-A42A-E440-243CDD251A44}"/>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2039" name="Google Shape;377;p18">
              <a:extLst>
                <a:ext uri="{FF2B5EF4-FFF2-40B4-BE49-F238E27FC236}">
                  <a16:creationId xmlns:a16="http://schemas.microsoft.com/office/drawing/2014/main" id="{EC13BEFA-72FC-4A31-94CC-9A6EAA528891}"/>
                </a:ext>
              </a:extLst>
            </p:cNvPr>
            <p:cNvGrpSpPr/>
            <p:nvPr/>
          </p:nvGrpSpPr>
          <p:grpSpPr>
            <a:xfrm>
              <a:off x="8846302" y="4841125"/>
              <a:ext cx="307200" cy="297900"/>
              <a:chOff x="3021975" y="2389850"/>
              <a:chExt cx="307200" cy="297900"/>
            </a:xfrm>
          </p:grpSpPr>
          <p:sp>
            <p:nvSpPr>
              <p:cNvPr id="2042" name="Google Shape;378;p18">
                <a:extLst>
                  <a:ext uri="{FF2B5EF4-FFF2-40B4-BE49-F238E27FC236}">
                    <a16:creationId xmlns:a16="http://schemas.microsoft.com/office/drawing/2014/main" id="{E470D3C2-2ED5-F176-52E9-40F5B032CA72}"/>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043" name="Google Shape;379;p18">
                <a:extLst>
                  <a:ext uri="{FF2B5EF4-FFF2-40B4-BE49-F238E27FC236}">
                    <a16:creationId xmlns:a16="http://schemas.microsoft.com/office/drawing/2014/main" id="{880CCFF6-508A-C476-968B-CF4CDB0FBCEC}"/>
                  </a:ext>
                </a:extLst>
              </p:cNvPr>
              <p:cNvGrpSpPr/>
              <p:nvPr/>
            </p:nvGrpSpPr>
            <p:grpSpPr>
              <a:xfrm>
                <a:off x="3021975" y="2389850"/>
                <a:ext cx="307200" cy="295800"/>
                <a:chOff x="3021975" y="2389850"/>
                <a:chExt cx="307200" cy="295800"/>
              </a:xfrm>
            </p:grpSpPr>
            <p:sp>
              <p:nvSpPr>
                <p:cNvPr id="2044" name="Google Shape;380;p18">
                  <a:extLst>
                    <a:ext uri="{FF2B5EF4-FFF2-40B4-BE49-F238E27FC236}">
                      <a16:creationId xmlns:a16="http://schemas.microsoft.com/office/drawing/2014/main" id="{63C7C009-1B9E-8CE5-023F-11B3AF396965}"/>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5" name="Google Shape;381;p18">
                  <a:extLst>
                    <a:ext uri="{FF2B5EF4-FFF2-40B4-BE49-F238E27FC236}">
                      <a16:creationId xmlns:a16="http://schemas.microsoft.com/office/drawing/2014/main" id="{3E937AEE-A84C-ED86-F4C5-DC1FC94ECE4C}"/>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046" name="Google Shape;382;p18">
                  <a:extLst>
                    <a:ext uri="{FF2B5EF4-FFF2-40B4-BE49-F238E27FC236}">
                      <a16:creationId xmlns:a16="http://schemas.microsoft.com/office/drawing/2014/main" id="{9FA33FFD-6025-CD27-48CF-41E78063DCD5}"/>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2047" name="Google Shape;383;p18">
                  <a:extLst>
                    <a:ext uri="{FF2B5EF4-FFF2-40B4-BE49-F238E27FC236}">
                      <a16:creationId xmlns:a16="http://schemas.microsoft.com/office/drawing/2014/main" id="{43939AE2-016D-B6B0-FDBA-EBCA5AD02DE3}"/>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2048" name="Google Shape;384;p18">
                  <a:extLst>
                    <a:ext uri="{FF2B5EF4-FFF2-40B4-BE49-F238E27FC236}">
                      <a16:creationId xmlns:a16="http://schemas.microsoft.com/office/drawing/2014/main" id="{DD4265B5-FCF0-B015-7A63-812BE6F3A932}"/>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049" name="Google Shape;385;p18">
                  <a:extLst>
                    <a:ext uri="{FF2B5EF4-FFF2-40B4-BE49-F238E27FC236}">
                      <a16:creationId xmlns:a16="http://schemas.microsoft.com/office/drawing/2014/main" id="{1C322F1D-80F1-FEE8-20E4-15EF6A5589A9}"/>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2050" name="Google Shape;386;p18">
                  <a:extLst>
                    <a:ext uri="{FF2B5EF4-FFF2-40B4-BE49-F238E27FC236}">
                      <a16:creationId xmlns:a16="http://schemas.microsoft.com/office/drawing/2014/main" id="{30E8D901-08A2-1C86-948B-BB6EB0C2C763}"/>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2051" name="Google Shape;387;p18">
                  <a:extLst>
                    <a:ext uri="{FF2B5EF4-FFF2-40B4-BE49-F238E27FC236}">
                      <a16:creationId xmlns:a16="http://schemas.microsoft.com/office/drawing/2014/main" id="{24474E06-0317-C618-E3AF-A66E1BB36F5E}"/>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cxnSp>
          <p:nvCxnSpPr>
            <p:cNvPr id="2040" name="Google Shape;389;p18">
              <a:extLst>
                <a:ext uri="{FF2B5EF4-FFF2-40B4-BE49-F238E27FC236}">
                  <a16:creationId xmlns:a16="http://schemas.microsoft.com/office/drawing/2014/main" id="{773C5482-4D38-E3BD-36D5-10A1E7B084B8}"/>
                </a:ext>
              </a:extLst>
            </p:cNvPr>
            <p:cNvCxnSpPr>
              <a:cxnSpLocks/>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2041" name="Google Shape;390;p18">
              <a:extLst>
                <a:ext uri="{FF2B5EF4-FFF2-40B4-BE49-F238E27FC236}">
                  <a16:creationId xmlns:a16="http://schemas.microsoft.com/office/drawing/2014/main" id="{F1445D1A-2844-D50A-EB78-BE336C0623E2}"/>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cxnSp>
        <p:nvCxnSpPr>
          <p:cNvPr id="2066" name="Straight Arrow Connector 1198">
            <a:extLst>
              <a:ext uri="{FF2B5EF4-FFF2-40B4-BE49-F238E27FC236}">
                <a16:creationId xmlns:a16="http://schemas.microsoft.com/office/drawing/2014/main" id="{1F6BF94E-7B49-A3DA-4D97-4383F2653929}"/>
              </a:ext>
            </a:extLst>
          </p:cNvPr>
          <p:cNvCxnSpPr>
            <a:cxnSpLocks/>
          </p:cNvCxnSpPr>
          <p:nvPr/>
        </p:nvCxnSpPr>
        <p:spPr>
          <a:xfrm flipV="1">
            <a:off x="8036881" y="4262578"/>
            <a:ext cx="486066" cy="30466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067" name="TextBox 2066">
            <a:extLst>
              <a:ext uri="{FF2B5EF4-FFF2-40B4-BE49-F238E27FC236}">
                <a16:creationId xmlns:a16="http://schemas.microsoft.com/office/drawing/2014/main" id="{AAA33325-D17E-472B-10AC-A645DC2041E8}"/>
              </a:ext>
            </a:extLst>
          </p:cNvPr>
          <p:cNvSpPr txBox="1"/>
          <p:nvPr/>
        </p:nvSpPr>
        <p:spPr>
          <a:xfrm>
            <a:off x="9558554" y="4159871"/>
            <a:ext cx="3656656" cy="320520"/>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1_emotion_csv_inter_rater_agreement.ipynb</a:t>
            </a:r>
          </a:p>
        </p:txBody>
      </p:sp>
      <p:sp>
        <p:nvSpPr>
          <p:cNvPr id="2068" name="TextBox 2067">
            <a:extLst>
              <a:ext uri="{FF2B5EF4-FFF2-40B4-BE49-F238E27FC236}">
                <a16:creationId xmlns:a16="http://schemas.microsoft.com/office/drawing/2014/main" id="{1395624E-F7AF-5789-6E52-E20C842E4915}"/>
              </a:ext>
            </a:extLst>
          </p:cNvPr>
          <p:cNvSpPr txBox="1"/>
          <p:nvPr/>
        </p:nvSpPr>
        <p:spPr>
          <a:xfrm>
            <a:off x="9517994" y="2470516"/>
            <a:ext cx="3400799" cy="3359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1300" dirty="0" err="1"/>
              <a:t>sailuh</a:t>
            </a:r>
            <a:r>
              <a:rPr lang="en-US" sz="1300" dirty="0"/>
              <a:t>/</a:t>
            </a:r>
            <a:r>
              <a:rPr lang="en-US" sz="1300" dirty="0" err="1"/>
              <a:t>sentiment_github_dataset</a:t>
            </a:r>
            <a:endParaRPr kumimoji="0" lang="en-US" sz="1300" b="1" i="0" strike="noStrike" cap="none" spc="0" normalizeH="0" baseline="0" dirty="0">
              <a:ln>
                <a:noFill/>
              </a:ln>
              <a:effectLst/>
              <a:uFillTx/>
              <a:latin typeface="Source Sans Pro"/>
              <a:ea typeface="Source Sans Pro"/>
              <a:cs typeface="Source Sans Pro"/>
              <a:sym typeface="Source Sans Pro"/>
            </a:endParaRPr>
          </a:p>
        </p:txBody>
      </p:sp>
      <p:sp>
        <p:nvSpPr>
          <p:cNvPr id="2069" name="TextBox 2068">
            <a:extLst>
              <a:ext uri="{FF2B5EF4-FFF2-40B4-BE49-F238E27FC236}">
                <a16:creationId xmlns:a16="http://schemas.microsoft.com/office/drawing/2014/main" id="{48404A04-5E7E-4462-D68F-F3F8AE942407}"/>
              </a:ext>
            </a:extLst>
          </p:cNvPr>
          <p:cNvSpPr txBox="1"/>
          <p:nvPr/>
        </p:nvSpPr>
        <p:spPr>
          <a:xfrm>
            <a:off x="9517994" y="3859880"/>
            <a:ext cx="3400799" cy="3359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1300" dirty="0" err="1"/>
              <a:t>sailuh</a:t>
            </a:r>
            <a:r>
              <a:rPr lang="en-US" sz="1300" dirty="0"/>
              <a:t>/</a:t>
            </a:r>
            <a:r>
              <a:rPr lang="en-US" sz="1300" dirty="0" err="1"/>
              <a:t>emotion_jira_dataset</a:t>
            </a:r>
            <a:endParaRPr kumimoji="0" lang="en-US" sz="1300" b="1" i="0" strike="noStrike" cap="none" spc="0" normalizeH="0" baseline="0" dirty="0">
              <a:ln>
                <a:noFill/>
              </a:ln>
              <a:effectLst/>
              <a:uFillTx/>
              <a:latin typeface="Source Sans Pro"/>
              <a:ea typeface="Source Sans Pro"/>
              <a:cs typeface="Source Sans Pro"/>
              <a:sym typeface="Source Sans Pro"/>
            </a:endParaRPr>
          </a:p>
        </p:txBody>
      </p:sp>
      <p:pic>
        <p:nvPicPr>
          <p:cNvPr id="2070" name="Graphic 2069" descr="Paper outline">
            <a:extLst>
              <a:ext uri="{FF2B5EF4-FFF2-40B4-BE49-F238E27FC236}">
                <a16:creationId xmlns:a16="http://schemas.microsoft.com/office/drawing/2014/main" id="{E9515359-294C-8AD1-D71C-6EEC2A49E74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31382" y="4473903"/>
            <a:ext cx="536605" cy="536605"/>
          </a:xfrm>
          <a:prstGeom prst="rect">
            <a:avLst/>
          </a:prstGeom>
        </p:spPr>
      </p:pic>
      <p:graphicFrame>
        <p:nvGraphicFramePr>
          <p:cNvPr id="2071" name="Table">
            <a:extLst>
              <a:ext uri="{FF2B5EF4-FFF2-40B4-BE49-F238E27FC236}">
                <a16:creationId xmlns:a16="http://schemas.microsoft.com/office/drawing/2014/main" id="{3580E021-5AE2-62CE-7076-17973AB7F5AA}"/>
              </a:ext>
            </a:extLst>
          </p:cNvPr>
          <p:cNvGraphicFramePr/>
          <p:nvPr>
            <p:extLst>
              <p:ext uri="{D42A27DB-BD31-4B8C-83A1-F6EECF244321}">
                <p14:modId xmlns:p14="http://schemas.microsoft.com/office/powerpoint/2010/main" val="4139679030"/>
              </p:ext>
            </p:extLst>
          </p:nvPr>
        </p:nvGraphicFramePr>
        <p:xfrm>
          <a:off x="648007" y="40891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072" name="TextBox 2071">
            <a:extLst>
              <a:ext uri="{FF2B5EF4-FFF2-40B4-BE49-F238E27FC236}">
                <a16:creationId xmlns:a16="http://schemas.microsoft.com/office/drawing/2014/main" id="{121E3E4C-BF60-53FB-3025-47F0167A6B9D}"/>
              </a:ext>
            </a:extLst>
          </p:cNvPr>
          <p:cNvSpPr txBox="1"/>
          <p:nvPr/>
        </p:nvSpPr>
        <p:spPr>
          <a:xfrm>
            <a:off x="444504" y="4711561"/>
            <a:ext cx="103487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GitHub 2020 CSV</a:t>
            </a:r>
          </a:p>
          <a:p>
            <a:pPr algn="ctr"/>
            <a:r>
              <a:rPr lang="en-US" sz="800" b="0" dirty="0"/>
              <a:t>Novielli et al. [1]</a:t>
            </a:r>
          </a:p>
        </p:txBody>
      </p:sp>
      <p:sp>
        <p:nvSpPr>
          <p:cNvPr id="2073" name="TextBox 2072">
            <a:extLst>
              <a:ext uri="{FF2B5EF4-FFF2-40B4-BE49-F238E27FC236}">
                <a16:creationId xmlns:a16="http://schemas.microsoft.com/office/drawing/2014/main" id="{AA782003-866E-D488-179A-F941059DD406}"/>
              </a:ext>
            </a:extLst>
          </p:cNvPr>
          <p:cNvSpPr txBox="1"/>
          <p:nvPr/>
        </p:nvSpPr>
        <p:spPr>
          <a:xfrm>
            <a:off x="7247717" y="5045761"/>
            <a:ext cx="72095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err="1"/>
              <a:t>sailuh</a:t>
            </a:r>
            <a:r>
              <a:rPr lang="en-US" sz="800" b="0" dirty="0"/>
              <a:t>/</a:t>
            </a:r>
            <a:r>
              <a:rPr lang="en-US" sz="800" b="0" dirty="0" err="1"/>
              <a:t>kaiaulu</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074" name="TextBox 2073">
            <a:extLst>
              <a:ext uri="{FF2B5EF4-FFF2-40B4-BE49-F238E27FC236}">
                <a16:creationId xmlns:a16="http://schemas.microsoft.com/office/drawing/2014/main" id="{D635E371-2EEB-98B6-FDD3-F6F2E45EE780}"/>
              </a:ext>
            </a:extLst>
          </p:cNvPr>
          <p:cNvSpPr txBox="1"/>
          <p:nvPr/>
        </p:nvSpPr>
        <p:spPr>
          <a:xfrm>
            <a:off x="5280810" y="4613137"/>
            <a:ext cx="15549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075" name="Straight Arrow Connector 2074">
            <a:extLst>
              <a:ext uri="{FF2B5EF4-FFF2-40B4-BE49-F238E27FC236}">
                <a16:creationId xmlns:a16="http://schemas.microsoft.com/office/drawing/2014/main" id="{3B78F3CD-347B-ACCF-61B9-0E48A1A89220}"/>
              </a:ext>
            </a:extLst>
          </p:cNvPr>
          <p:cNvCxnSpPr>
            <a:cxnSpLocks/>
          </p:cNvCxnSpPr>
          <p:nvPr/>
        </p:nvCxnSpPr>
        <p:spPr>
          <a:xfrm>
            <a:off x="6618730" y="4739740"/>
            <a:ext cx="520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76" name="Elbow Connector 2075">
            <a:extLst>
              <a:ext uri="{FF2B5EF4-FFF2-40B4-BE49-F238E27FC236}">
                <a16:creationId xmlns:a16="http://schemas.microsoft.com/office/drawing/2014/main" id="{1FA8B740-1501-E0FB-2620-B98EC1D693AE}"/>
              </a:ext>
            </a:extLst>
          </p:cNvPr>
          <p:cNvCxnSpPr>
            <a:cxnSpLocks/>
          </p:cNvCxnSpPr>
          <p:nvPr/>
        </p:nvCxnSpPr>
        <p:spPr>
          <a:xfrm rot="5400000">
            <a:off x="6893652" y="2693604"/>
            <a:ext cx="389103" cy="2253944"/>
          </a:xfrm>
          <a:prstGeom prst="bentConnector2">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077" name="Straight Arrow Connector 2076">
            <a:extLst>
              <a:ext uri="{FF2B5EF4-FFF2-40B4-BE49-F238E27FC236}">
                <a16:creationId xmlns:a16="http://schemas.microsoft.com/office/drawing/2014/main" id="{55D472CB-4C54-4F6F-40D1-EAD43403C7EF}"/>
              </a:ext>
            </a:extLst>
          </p:cNvPr>
          <p:cNvCxnSpPr>
            <a:cxnSpLocks/>
          </p:cNvCxnSpPr>
          <p:nvPr/>
        </p:nvCxnSpPr>
        <p:spPr>
          <a:xfrm flipH="1">
            <a:off x="5961231" y="4019531"/>
            <a:ext cx="1" cy="454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78" name="Elbow Connector 2077">
            <a:extLst>
              <a:ext uri="{FF2B5EF4-FFF2-40B4-BE49-F238E27FC236}">
                <a16:creationId xmlns:a16="http://schemas.microsoft.com/office/drawing/2014/main" id="{A951DACB-3995-EADC-0B60-DF8EE28A4135}"/>
              </a:ext>
            </a:extLst>
          </p:cNvPr>
          <p:cNvCxnSpPr>
            <a:cxnSpLocks/>
            <a:stCxn id="2016" idx="1"/>
          </p:cNvCxnSpPr>
          <p:nvPr/>
        </p:nvCxnSpPr>
        <p:spPr>
          <a:xfrm rot="10800000" flipV="1">
            <a:off x="4959812" y="3470167"/>
            <a:ext cx="2546242" cy="338701"/>
          </a:xfrm>
          <a:prstGeom prst="bentConnector3">
            <a:avLst>
              <a:gd name="adj1" fmla="val 13253"/>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079" name="Straight Arrow Connector 2078">
            <a:extLst>
              <a:ext uri="{FF2B5EF4-FFF2-40B4-BE49-F238E27FC236}">
                <a16:creationId xmlns:a16="http://schemas.microsoft.com/office/drawing/2014/main" id="{36B8EEE5-9E06-4268-1BF0-428A881A9869}"/>
              </a:ext>
            </a:extLst>
          </p:cNvPr>
          <p:cNvCxnSpPr>
            <a:cxnSpLocks/>
          </p:cNvCxnSpPr>
          <p:nvPr/>
        </p:nvCxnSpPr>
        <p:spPr>
          <a:xfrm>
            <a:off x="4959813" y="3809205"/>
            <a:ext cx="0" cy="655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80" name="TextBox 2079">
            <a:extLst>
              <a:ext uri="{FF2B5EF4-FFF2-40B4-BE49-F238E27FC236}">
                <a16:creationId xmlns:a16="http://schemas.microsoft.com/office/drawing/2014/main" id="{61920D7B-D24F-BA27-8E14-3556B7102D4A}"/>
              </a:ext>
            </a:extLst>
          </p:cNvPr>
          <p:cNvSpPr txBox="1"/>
          <p:nvPr/>
        </p:nvSpPr>
        <p:spPr>
          <a:xfrm>
            <a:off x="4632534" y="9025990"/>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2081" name="Group 2080">
            <a:extLst>
              <a:ext uri="{FF2B5EF4-FFF2-40B4-BE49-F238E27FC236}">
                <a16:creationId xmlns:a16="http://schemas.microsoft.com/office/drawing/2014/main" id="{66D7F2BF-46F7-8229-8AE1-2D0C15D18D73}"/>
              </a:ext>
            </a:extLst>
          </p:cNvPr>
          <p:cNvGrpSpPr/>
          <p:nvPr/>
        </p:nvGrpSpPr>
        <p:grpSpPr>
          <a:xfrm>
            <a:off x="5436601" y="8584638"/>
            <a:ext cx="953200" cy="458010"/>
            <a:chOff x="5528605" y="4530831"/>
            <a:chExt cx="953200" cy="458010"/>
          </a:xfrm>
        </p:grpSpPr>
        <p:graphicFrame>
          <p:nvGraphicFramePr>
            <p:cNvPr id="2082" name="Table">
              <a:extLst>
                <a:ext uri="{FF2B5EF4-FFF2-40B4-BE49-F238E27FC236}">
                  <a16:creationId xmlns:a16="http://schemas.microsoft.com/office/drawing/2014/main" id="{30D0ED10-A0AE-64BF-500F-7BAC33668349}"/>
                </a:ext>
              </a:extLst>
            </p:cNvPr>
            <p:cNvGraphicFramePr/>
            <p:nvPr>
              <p:extLst>
                <p:ext uri="{D42A27DB-BD31-4B8C-83A1-F6EECF244321}">
                  <p14:modId xmlns:p14="http://schemas.microsoft.com/office/powerpoint/2010/main" val="1414572916"/>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2083" name="Table">
              <a:extLst>
                <a:ext uri="{FF2B5EF4-FFF2-40B4-BE49-F238E27FC236}">
                  <a16:creationId xmlns:a16="http://schemas.microsoft.com/office/drawing/2014/main" id="{F1281533-CC6D-5962-497D-073BEC0A20A0}"/>
                </a:ext>
              </a:extLst>
            </p:cNvPr>
            <p:cNvGraphicFramePr/>
            <p:nvPr>
              <p:extLst>
                <p:ext uri="{D42A27DB-BD31-4B8C-83A1-F6EECF244321}">
                  <p14:modId xmlns:p14="http://schemas.microsoft.com/office/powerpoint/2010/main" val="3450944582"/>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sp>
        <p:nvSpPr>
          <p:cNvPr id="2084" name="TextBox 2083">
            <a:extLst>
              <a:ext uri="{FF2B5EF4-FFF2-40B4-BE49-F238E27FC236}">
                <a16:creationId xmlns:a16="http://schemas.microsoft.com/office/drawing/2014/main" id="{AFC052FA-1E5C-5834-8894-903DC2296029}"/>
              </a:ext>
            </a:extLst>
          </p:cNvPr>
          <p:cNvSpPr txBox="1"/>
          <p:nvPr/>
        </p:nvSpPr>
        <p:spPr>
          <a:xfrm>
            <a:off x="5138691" y="9038621"/>
            <a:ext cx="159274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Jira Emotion 2016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2085" name="Group 2084">
            <a:extLst>
              <a:ext uri="{FF2B5EF4-FFF2-40B4-BE49-F238E27FC236}">
                <a16:creationId xmlns:a16="http://schemas.microsoft.com/office/drawing/2014/main" id="{68C235B5-F8DD-ADCE-4B0D-BD710327E35C}"/>
              </a:ext>
            </a:extLst>
          </p:cNvPr>
          <p:cNvGrpSpPr/>
          <p:nvPr/>
        </p:nvGrpSpPr>
        <p:grpSpPr>
          <a:xfrm>
            <a:off x="8439925" y="8193234"/>
            <a:ext cx="569700" cy="1688313"/>
            <a:chOff x="8715063" y="3858862"/>
            <a:chExt cx="569700" cy="1688313"/>
          </a:xfrm>
        </p:grpSpPr>
        <p:sp>
          <p:nvSpPr>
            <p:cNvPr id="2086" name="Google Shape;324;p18">
              <a:extLst>
                <a:ext uri="{FF2B5EF4-FFF2-40B4-BE49-F238E27FC236}">
                  <a16:creationId xmlns:a16="http://schemas.microsoft.com/office/drawing/2014/main" id="{F625280E-D126-D5C2-1A2E-55FB7E185AED}"/>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2087" name="Google Shape;359;p18">
              <a:extLst>
                <a:ext uri="{FF2B5EF4-FFF2-40B4-BE49-F238E27FC236}">
                  <a16:creationId xmlns:a16="http://schemas.microsoft.com/office/drawing/2014/main" id="{72381958-F21A-EE2F-DFA5-D3D1296CB0B2}"/>
                </a:ext>
              </a:extLst>
            </p:cNvPr>
            <p:cNvGrpSpPr/>
            <p:nvPr/>
          </p:nvGrpSpPr>
          <p:grpSpPr>
            <a:xfrm>
              <a:off x="8838265" y="4043887"/>
              <a:ext cx="307200" cy="189300"/>
              <a:chOff x="3007175" y="1757600"/>
              <a:chExt cx="307200" cy="189300"/>
            </a:xfrm>
          </p:grpSpPr>
          <p:sp>
            <p:nvSpPr>
              <p:cNvPr id="2112" name="Google Shape;360;p18">
                <a:extLst>
                  <a:ext uri="{FF2B5EF4-FFF2-40B4-BE49-F238E27FC236}">
                    <a16:creationId xmlns:a16="http://schemas.microsoft.com/office/drawing/2014/main" id="{C3DB6D4F-3229-4814-B1A7-E6E14030C995}"/>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3" name="Google Shape;361;p18">
                <a:extLst>
                  <a:ext uri="{FF2B5EF4-FFF2-40B4-BE49-F238E27FC236}">
                    <a16:creationId xmlns:a16="http://schemas.microsoft.com/office/drawing/2014/main" id="{B3B6C0C7-B889-F74E-434D-0CABEA9B94B3}"/>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4" name="Google Shape;362;p18">
                <a:extLst>
                  <a:ext uri="{FF2B5EF4-FFF2-40B4-BE49-F238E27FC236}">
                    <a16:creationId xmlns:a16="http://schemas.microsoft.com/office/drawing/2014/main" id="{1F7F283D-58EF-0FE1-F8F7-EC441B9CE4FC}"/>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5" name="Google Shape;363;p18">
                <a:extLst>
                  <a:ext uri="{FF2B5EF4-FFF2-40B4-BE49-F238E27FC236}">
                    <a16:creationId xmlns:a16="http://schemas.microsoft.com/office/drawing/2014/main" id="{0690B01F-8378-8807-A84A-9A4B0537C8D3}"/>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16" name="Google Shape;364;p18">
                <a:extLst>
                  <a:ext uri="{FF2B5EF4-FFF2-40B4-BE49-F238E27FC236}">
                    <a16:creationId xmlns:a16="http://schemas.microsoft.com/office/drawing/2014/main" id="{F44E22D7-F442-CE0B-EC42-E88D99CC66A9}"/>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117" name="Google Shape;365;p18">
                <a:extLst>
                  <a:ext uri="{FF2B5EF4-FFF2-40B4-BE49-F238E27FC236}">
                    <a16:creationId xmlns:a16="http://schemas.microsoft.com/office/drawing/2014/main" id="{242CA9E3-68B7-9324-5645-BA77A41FE031}"/>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118" name="Google Shape;366;p18">
                <a:extLst>
                  <a:ext uri="{FF2B5EF4-FFF2-40B4-BE49-F238E27FC236}">
                    <a16:creationId xmlns:a16="http://schemas.microsoft.com/office/drawing/2014/main" id="{CB288111-F5DD-65B0-AA12-98E469DB69B0}"/>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2088" name="Google Shape;367;p18">
              <a:extLst>
                <a:ext uri="{FF2B5EF4-FFF2-40B4-BE49-F238E27FC236}">
                  <a16:creationId xmlns:a16="http://schemas.microsoft.com/office/drawing/2014/main" id="{707D86E6-E6BD-D47F-C2D0-85E0B48833DA}"/>
                </a:ext>
              </a:extLst>
            </p:cNvPr>
            <p:cNvGrpSpPr/>
            <p:nvPr/>
          </p:nvGrpSpPr>
          <p:grpSpPr>
            <a:xfrm>
              <a:off x="8838252" y="4387350"/>
              <a:ext cx="307200" cy="189300"/>
              <a:chOff x="3007175" y="1757600"/>
              <a:chExt cx="307200" cy="189300"/>
            </a:xfrm>
          </p:grpSpPr>
          <p:sp>
            <p:nvSpPr>
              <p:cNvPr id="2105" name="Google Shape;368;p18">
                <a:extLst>
                  <a:ext uri="{FF2B5EF4-FFF2-40B4-BE49-F238E27FC236}">
                    <a16:creationId xmlns:a16="http://schemas.microsoft.com/office/drawing/2014/main" id="{324C743C-1156-1CCC-CF83-735E1D2D4395}"/>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06" name="Google Shape;369;p18">
                <a:extLst>
                  <a:ext uri="{FF2B5EF4-FFF2-40B4-BE49-F238E27FC236}">
                    <a16:creationId xmlns:a16="http://schemas.microsoft.com/office/drawing/2014/main" id="{6D029261-B7B1-5446-3CF3-A0F9C2EB7332}"/>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07" name="Google Shape;370;p18">
                <a:extLst>
                  <a:ext uri="{FF2B5EF4-FFF2-40B4-BE49-F238E27FC236}">
                    <a16:creationId xmlns:a16="http://schemas.microsoft.com/office/drawing/2014/main" id="{85964D83-66A5-DABA-94F1-12D5BE4095CB}"/>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08" name="Google Shape;371;p18">
                <a:extLst>
                  <a:ext uri="{FF2B5EF4-FFF2-40B4-BE49-F238E27FC236}">
                    <a16:creationId xmlns:a16="http://schemas.microsoft.com/office/drawing/2014/main" id="{EADAA758-50BA-18D9-DDCD-0267FF331191}"/>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09" name="Google Shape;372;p18">
                <a:extLst>
                  <a:ext uri="{FF2B5EF4-FFF2-40B4-BE49-F238E27FC236}">
                    <a16:creationId xmlns:a16="http://schemas.microsoft.com/office/drawing/2014/main" id="{BBEE7F31-15C3-48B1-D9B0-28615FDF570D}"/>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110" name="Google Shape;373;p18">
                <a:extLst>
                  <a:ext uri="{FF2B5EF4-FFF2-40B4-BE49-F238E27FC236}">
                    <a16:creationId xmlns:a16="http://schemas.microsoft.com/office/drawing/2014/main" id="{D1FA171F-BAAF-688E-49E8-7A008848BFB5}"/>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111" name="Google Shape;374;p18">
                <a:extLst>
                  <a:ext uri="{FF2B5EF4-FFF2-40B4-BE49-F238E27FC236}">
                    <a16:creationId xmlns:a16="http://schemas.microsoft.com/office/drawing/2014/main" id="{7B7FF00A-BE90-6B38-09A6-67DB9B0A92E4}"/>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2089" name="Google Shape;375;p18">
              <a:extLst>
                <a:ext uri="{FF2B5EF4-FFF2-40B4-BE49-F238E27FC236}">
                  <a16:creationId xmlns:a16="http://schemas.microsoft.com/office/drawing/2014/main" id="{CD091AAA-CF72-02A3-990B-AE54F35F613D}"/>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2090" name="Google Shape;376;p18">
              <a:extLst>
                <a:ext uri="{FF2B5EF4-FFF2-40B4-BE49-F238E27FC236}">
                  <a16:creationId xmlns:a16="http://schemas.microsoft.com/office/drawing/2014/main" id="{68207D19-C17D-9D66-3510-14EBE32C0209}"/>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2091" name="Google Shape;377;p18">
              <a:extLst>
                <a:ext uri="{FF2B5EF4-FFF2-40B4-BE49-F238E27FC236}">
                  <a16:creationId xmlns:a16="http://schemas.microsoft.com/office/drawing/2014/main" id="{647FABD4-009A-BF44-4059-F406DE98C226}"/>
                </a:ext>
              </a:extLst>
            </p:cNvPr>
            <p:cNvGrpSpPr/>
            <p:nvPr/>
          </p:nvGrpSpPr>
          <p:grpSpPr>
            <a:xfrm>
              <a:off x="8846302" y="4841125"/>
              <a:ext cx="307200" cy="297900"/>
              <a:chOff x="3021975" y="2389850"/>
              <a:chExt cx="307200" cy="297900"/>
            </a:xfrm>
          </p:grpSpPr>
          <p:sp>
            <p:nvSpPr>
              <p:cNvPr id="2095" name="Google Shape;378;p18">
                <a:extLst>
                  <a:ext uri="{FF2B5EF4-FFF2-40B4-BE49-F238E27FC236}">
                    <a16:creationId xmlns:a16="http://schemas.microsoft.com/office/drawing/2014/main" id="{9D9291B7-581B-6AAF-20E4-6760E5AD79A3}"/>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096" name="Google Shape;379;p18">
                <a:extLst>
                  <a:ext uri="{FF2B5EF4-FFF2-40B4-BE49-F238E27FC236}">
                    <a16:creationId xmlns:a16="http://schemas.microsoft.com/office/drawing/2014/main" id="{6F61908F-2C8F-7859-8E1E-445593DD3DD8}"/>
                  </a:ext>
                </a:extLst>
              </p:cNvPr>
              <p:cNvGrpSpPr/>
              <p:nvPr/>
            </p:nvGrpSpPr>
            <p:grpSpPr>
              <a:xfrm>
                <a:off x="3021975" y="2389850"/>
                <a:ext cx="307200" cy="295800"/>
                <a:chOff x="3021975" y="2389850"/>
                <a:chExt cx="307200" cy="295800"/>
              </a:xfrm>
            </p:grpSpPr>
            <p:sp>
              <p:nvSpPr>
                <p:cNvPr id="2097" name="Google Shape;380;p18">
                  <a:extLst>
                    <a:ext uri="{FF2B5EF4-FFF2-40B4-BE49-F238E27FC236}">
                      <a16:creationId xmlns:a16="http://schemas.microsoft.com/office/drawing/2014/main" id="{F7BB4244-9C4D-C77F-9BB3-70CB0805BBDA}"/>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8" name="Google Shape;381;p18">
                  <a:extLst>
                    <a:ext uri="{FF2B5EF4-FFF2-40B4-BE49-F238E27FC236}">
                      <a16:creationId xmlns:a16="http://schemas.microsoft.com/office/drawing/2014/main" id="{DC4F990C-23C4-EDFA-DE9B-B05775032153}"/>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099" name="Google Shape;382;p18">
                  <a:extLst>
                    <a:ext uri="{FF2B5EF4-FFF2-40B4-BE49-F238E27FC236}">
                      <a16:creationId xmlns:a16="http://schemas.microsoft.com/office/drawing/2014/main" id="{907CC354-40F9-1155-D368-0A6CAB814BE1}"/>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2100" name="Google Shape;383;p18">
                  <a:extLst>
                    <a:ext uri="{FF2B5EF4-FFF2-40B4-BE49-F238E27FC236}">
                      <a16:creationId xmlns:a16="http://schemas.microsoft.com/office/drawing/2014/main" id="{9D41667E-60DB-E653-4971-A1F24F2AB593}"/>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2101" name="Google Shape;384;p18">
                  <a:extLst>
                    <a:ext uri="{FF2B5EF4-FFF2-40B4-BE49-F238E27FC236}">
                      <a16:creationId xmlns:a16="http://schemas.microsoft.com/office/drawing/2014/main" id="{998CADA1-701D-A861-EE1B-F6F27D2F3296}"/>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02" name="Google Shape;385;p18">
                  <a:extLst>
                    <a:ext uri="{FF2B5EF4-FFF2-40B4-BE49-F238E27FC236}">
                      <a16:creationId xmlns:a16="http://schemas.microsoft.com/office/drawing/2014/main" id="{0605BBFA-B496-1F49-A8C3-DEC5539A1631}"/>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2103" name="Google Shape;386;p18">
                  <a:extLst>
                    <a:ext uri="{FF2B5EF4-FFF2-40B4-BE49-F238E27FC236}">
                      <a16:creationId xmlns:a16="http://schemas.microsoft.com/office/drawing/2014/main" id="{B44D8B2B-FEAB-2ACF-3568-F4E73AA17DCE}"/>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2104" name="Google Shape;387;p18">
                  <a:extLst>
                    <a:ext uri="{FF2B5EF4-FFF2-40B4-BE49-F238E27FC236}">
                      <a16:creationId xmlns:a16="http://schemas.microsoft.com/office/drawing/2014/main" id="{C81A682B-ADD5-EF68-E841-1E83680241FA}"/>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2092" name="Google Shape;388;p18">
              <a:extLst>
                <a:ext uri="{FF2B5EF4-FFF2-40B4-BE49-F238E27FC236}">
                  <a16:creationId xmlns:a16="http://schemas.microsoft.com/office/drawing/2014/main" id="{F1C81464-4F59-DA22-E1F3-29CAADEE5C1A}"/>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cxnSp>
          <p:nvCxnSpPr>
            <p:cNvPr id="2093" name="Google Shape;389;p18">
              <a:extLst>
                <a:ext uri="{FF2B5EF4-FFF2-40B4-BE49-F238E27FC236}">
                  <a16:creationId xmlns:a16="http://schemas.microsoft.com/office/drawing/2014/main" id="{424CF650-84FE-6C36-0E74-761BD5324EE1}"/>
                </a:ext>
              </a:extLst>
            </p:cNvPr>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2094" name="Google Shape;390;p18">
              <a:extLst>
                <a:ext uri="{FF2B5EF4-FFF2-40B4-BE49-F238E27FC236}">
                  <a16:creationId xmlns:a16="http://schemas.microsoft.com/office/drawing/2014/main" id="{6DA22B62-1278-FD4A-3B8D-6579A9F2D2E2}"/>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2119" name="Graphic 2118" descr="Paper outline">
            <a:extLst>
              <a:ext uri="{FF2B5EF4-FFF2-40B4-BE49-F238E27FC236}">
                <a16:creationId xmlns:a16="http://schemas.microsoft.com/office/drawing/2014/main" id="{CB05C458-9B48-DEBD-C64C-6440B67F631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5359" y="8538023"/>
            <a:ext cx="536605" cy="536605"/>
          </a:xfrm>
          <a:prstGeom prst="rect">
            <a:avLst/>
          </a:prstGeom>
        </p:spPr>
      </p:pic>
      <p:sp>
        <p:nvSpPr>
          <p:cNvPr id="2120" name="TextBox 2119">
            <a:extLst>
              <a:ext uri="{FF2B5EF4-FFF2-40B4-BE49-F238E27FC236}">
                <a16:creationId xmlns:a16="http://schemas.microsoft.com/office/drawing/2014/main" id="{2592C3E8-28D6-754D-CC26-50A3ADBD4D31}"/>
              </a:ext>
            </a:extLst>
          </p:cNvPr>
          <p:cNvSpPr txBox="1"/>
          <p:nvPr/>
        </p:nvSpPr>
        <p:spPr>
          <a:xfrm>
            <a:off x="5190237" y="8649598"/>
            <a:ext cx="15549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121" name="Straight Arrow Connector 2120">
            <a:extLst>
              <a:ext uri="{FF2B5EF4-FFF2-40B4-BE49-F238E27FC236}">
                <a16:creationId xmlns:a16="http://schemas.microsoft.com/office/drawing/2014/main" id="{1B39EAE6-9124-D98C-5E29-AE6D7D15205A}"/>
              </a:ext>
            </a:extLst>
          </p:cNvPr>
          <p:cNvCxnSpPr>
            <a:cxnSpLocks/>
          </p:cNvCxnSpPr>
          <p:nvPr/>
        </p:nvCxnSpPr>
        <p:spPr>
          <a:xfrm>
            <a:off x="6471063" y="8803860"/>
            <a:ext cx="520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22" name="Straight Arrow Connector 2121">
            <a:extLst>
              <a:ext uri="{FF2B5EF4-FFF2-40B4-BE49-F238E27FC236}">
                <a16:creationId xmlns:a16="http://schemas.microsoft.com/office/drawing/2014/main" id="{2ACC2ACB-02A6-0C98-DCC9-B19D9CA04C51}"/>
              </a:ext>
            </a:extLst>
          </p:cNvPr>
          <p:cNvCxnSpPr>
            <a:cxnSpLocks/>
          </p:cNvCxnSpPr>
          <p:nvPr/>
        </p:nvCxnSpPr>
        <p:spPr>
          <a:xfrm flipH="1">
            <a:off x="5875208" y="8083651"/>
            <a:ext cx="1" cy="454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23" name="Elbow Connector 2122">
            <a:extLst>
              <a:ext uri="{FF2B5EF4-FFF2-40B4-BE49-F238E27FC236}">
                <a16:creationId xmlns:a16="http://schemas.microsoft.com/office/drawing/2014/main" id="{DD86D04D-4E63-F2A3-7AE5-09B0D84A0DDE}"/>
              </a:ext>
            </a:extLst>
          </p:cNvPr>
          <p:cNvCxnSpPr>
            <a:cxnSpLocks/>
            <a:stCxn id="2027" idx="1"/>
          </p:cNvCxnSpPr>
          <p:nvPr/>
        </p:nvCxnSpPr>
        <p:spPr>
          <a:xfrm rot="10800000" flipV="1">
            <a:off x="4901156" y="7492159"/>
            <a:ext cx="2389565" cy="395430"/>
          </a:xfrm>
          <a:prstGeom prst="bentConnector3">
            <a:avLst>
              <a:gd name="adj1" fmla="val 8418"/>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124" name="Straight Arrow Connector 2123">
            <a:extLst>
              <a:ext uri="{FF2B5EF4-FFF2-40B4-BE49-F238E27FC236}">
                <a16:creationId xmlns:a16="http://schemas.microsoft.com/office/drawing/2014/main" id="{08A015AE-705B-73A8-7487-793E22FCFCCA}"/>
              </a:ext>
            </a:extLst>
          </p:cNvPr>
          <p:cNvCxnSpPr>
            <a:cxnSpLocks/>
          </p:cNvCxnSpPr>
          <p:nvPr/>
        </p:nvCxnSpPr>
        <p:spPr>
          <a:xfrm>
            <a:off x="4901156" y="7887589"/>
            <a:ext cx="0" cy="655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25" name="Elbow Connector 2124">
            <a:extLst>
              <a:ext uri="{FF2B5EF4-FFF2-40B4-BE49-F238E27FC236}">
                <a16:creationId xmlns:a16="http://schemas.microsoft.com/office/drawing/2014/main" id="{95E7F9D6-F855-6D71-ADA6-139CCB7363D6}"/>
              </a:ext>
            </a:extLst>
          </p:cNvPr>
          <p:cNvCxnSpPr>
            <a:cxnSpLocks/>
          </p:cNvCxnSpPr>
          <p:nvPr/>
        </p:nvCxnSpPr>
        <p:spPr>
          <a:xfrm rot="10800000" flipV="1">
            <a:off x="5875209" y="7689643"/>
            <a:ext cx="2330535" cy="395891"/>
          </a:xfrm>
          <a:prstGeom prst="bentConnector3">
            <a:avLst>
              <a:gd name="adj1" fmla="val 138"/>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126" name="Straight Arrow Connector 2125">
            <a:extLst>
              <a:ext uri="{FF2B5EF4-FFF2-40B4-BE49-F238E27FC236}">
                <a16:creationId xmlns:a16="http://schemas.microsoft.com/office/drawing/2014/main" id="{9909076F-9AE7-64F3-1C66-C9001547E133}"/>
              </a:ext>
            </a:extLst>
          </p:cNvPr>
          <p:cNvCxnSpPr>
            <a:cxnSpLocks/>
          </p:cNvCxnSpPr>
          <p:nvPr/>
        </p:nvCxnSpPr>
        <p:spPr>
          <a:xfrm>
            <a:off x="7954799" y="8798069"/>
            <a:ext cx="4914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27" name="Can 2126">
            <a:extLst>
              <a:ext uri="{FF2B5EF4-FFF2-40B4-BE49-F238E27FC236}">
                <a16:creationId xmlns:a16="http://schemas.microsoft.com/office/drawing/2014/main" id="{A5B41243-7CAA-18B3-55A0-AD1547876E1A}"/>
              </a:ext>
            </a:extLst>
          </p:cNvPr>
          <p:cNvSpPr/>
          <p:nvPr/>
        </p:nvSpPr>
        <p:spPr>
          <a:xfrm>
            <a:off x="2161726" y="4087963"/>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128" name="TextBox 2127">
            <a:extLst>
              <a:ext uri="{FF2B5EF4-FFF2-40B4-BE49-F238E27FC236}">
                <a16:creationId xmlns:a16="http://schemas.microsoft.com/office/drawing/2014/main" id="{3B29CE2C-6693-8CA9-C964-4CA6C5003128}"/>
              </a:ext>
            </a:extLst>
          </p:cNvPr>
          <p:cNvSpPr txBox="1"/>
          <p:nvPr/>
        </p:nvSpPr>
        <p:spPr>
          <a:xfrm>
            <a:off x="1691738" y="4702673"/>
            <a:ext cx="144929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err="1"/>
              <a:t>GHTorrent</a:t>
            </a:r>
            <a:r>
              <a:rPr lang="en-US" sz="1000" b="0" dirty="0"/>
              <a:t> 2014 DB</a:t>
            </a:r>
          </a:p>
          <a:p>
            <a:pPr algn="ctr"/>
            <a:r>
              <a:rPr lang="en-US" sz="800" b="0" dirty="0"/>
              <a:t>MSR Challenge [2]</a:t>
            </a:r>
          </a:p>
        </p:txBody>
      </p:sp>
      <p:sp>
        <p:nvSpPr>
          <p:cNvPr id="2129" name="Line">
            <a:extLst>
              <a:ext uri="{FF2B5EF4-FFF2-40B4-BE49-F238E27FC236}">
                <a16:creationId xmlns:a16="http://schemas.microsoft.com/office/drawing/2014/main" id="{DB6022C9-F691-079E-F81C-AFCA57BD5F11}"/>
              </a:ext>
            </a:extLst>
          </p:cNvPr>
          <p:cNvSpPr/>
          <p:nvPr/>
        </p:nvSpPr>
        <p:spPr>
          <a:xfrm flipV="1">
            <a:off x="252723" y="5254841"/>
            <a:ext cx="3367943" cy="0"/>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aphicFrame>
        <p:nvGraphicFramePr>
          <p:cNvPr id="2130" name="Table">
            <a:extLst>
              <a:ext uri="{FF2B5EF4-FFF2-40B4-BE49-F238E27FC236}">
                <a16:creationId xmlns:a16="http://schemas.microsoft.com/office/drawing/2014/main" id="{CC125F37-8912-7D1E-8B32-43112281AC6C}"/>
              </a:ext>
            </a:extLst>
          </p:cNvPr>
          <p:cNvGraphicFramePr/>
          <p:nvPr>
            <p:extLst>
              <p:ext uri="{D42A27DB-BD31-4B8C-83A1-F6EECF244321}">
                <p14:modId xmlns:p14="http://schemas.microsoft.com/office/powerpoint/2010/main" val="291102835"/>
              </p:ext>
            </p:extLst>
          </p:nvPr>
        </p:nvGraphicFramePr>
        <p:xfrm>
          <a:off x="637915" y="5447796"/>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131" name="TextBox 2130">
            <a:extLst>
              <a:ext uri="{FF2B5EF4-FFF2-40B4-BE49-F238E27FC236}">
                <a16:creationId xmlns:a16="http://schemas.microsoft.com/office/drawing/2014/main" id="{594BB5F1-2009-7CAA-C59B-8C4BDD416CD1}"/>
              </a:ext>
            </a:extLst>
          </p:cNvPr>
          <p:cNvSpPr txBox="1"/>
          <p:nvPr/>
        </p:nvSpPr>
        <p:spPr>
          <a:xfrm>
            <a:off x="275721" y="6080333"/>
            <a:ext cx="1349115"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Emotion 2016 CSV</a:t>
            </a:r>
          </a:p>
          <a:p>
            <a:pPr algn="ctr"/>
            <a:r>
              <a:rPr lang="en-US" sz="800" b="0" dirty="0"/>
              <a:t>Ortu et al. [3]</a:t>
            </a:r>
          </a:p>
        </p:txBody>
      </p:sp>
      <p:sp>
        <p:nvSpPr>
          <p:cNvPr id="2132" name="TextBox 2131">
            <a:extLst>
              <a:ext uri="{FF2B5EF4-FFF2-40B4-BE49-F238E27FC236}">
                <a16:creationId xmlns:a16="http://schemas.microsoft.com/office/drawing/2014/main" id="{B441555C-4BF0-FAD8-D2AE-4CF084FE2F94}"/>
              </a:ext>
            </a:extLst>
          </p:cNvPr>
          <p:cNvSpPr txBox="1"/>
          <p:nvPr/>
        </p:nvSpPr>
        <p:spPr>
          <a:xfrm>
            <a:off x="1667267" y="6096367"/>
            <a:ext cx="144929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a:t>Jira PostgreSQL 2016 DB</a:t>
            </a:r>
          </a:p>
          <a:p>
            <a:pPr algn="ctr"/>
            <a:r>
              <a:rPr lang="en-US" sz="800" b="0" dirty="0"/>
              <a:t>MSR Challenge [4]</a:t>
            </a:r>
          </a:p>
        </p:txBody>
      </p:sp>
      <p:sp>
        <p:nvSpPr>
          <p:cNvPr id="2133" name="TextBox 2132">
            <a:extLst>
              <a:ext uri="{FF2B5EF4-FFF2-40B4-BE49-F238E27FC236}">
                <a16:creationId xmlns:a16="http://schemas.microsoft.com/office/drawing/2014/main" id="{D16D3350-A42B-C63B-2C54-C5CFE3BC85D0}"/>
              </a:ext>
            </a:extLst>
          </p:cNvPr>
          <p:cNvSpPr txBox="1"/>
          <p:nvPr/>
        </p:nvSpPr>
        <p:spPr>
          <a:xfrm>
            <a:off x="9468971" y="9437117"/>
            <a:ext cx="4207266" cy="8591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600" b="0" dirty="0"/>
              <a:t>[1] N. Novielli, Fabio Calefato, Davide </a:t>
            </a:r>
            <a:r>
              <a:rPr lang="en-US" sz="600" b="0" dirty="0" err="1"/>
              <a:t>Dongiovanni</a:t>
            </a:r>
            <a:r>
              <a:rPr lang="en-US" sz="600" b="0" dirty="0"/>
              <a:t>, D. Girardi, and Filippo Lanubile, “Can We Use SE-specific Sentiment Analysis Tools in a Cross-Platform Setting?,” Jun. 2020, </a:t>
            </a:r>
            <a:r>
              <a:rPr lang="en-US" sz="600" b="0" dirty="0" err="1"/>
              <a:t>doi</a:t>
            </a:r>
            <a:r>
              <a:rPr lang="en-US" sz="600" b="0" dirty="0"/>
              <a:t>: https://doi.org/10.1145/3379597.3387446. </a:t>
            </a:r>
          </a:p>
          <a:p>
            <a:r>
              <a:rPr lang="en-US" sz="600" b="0" dirty="0"/>
              <a:t>[2]https://web.archive.org/web/20210224080543/http://ansymore.uantwerpen.be/system/files/uploads/artefacts/alessandro/MSR16/archive3.zip</a:t>
            </a:r>
          </a:p>
          <a:p>
            <a:r>
              <a:rPr lang="en-US" sz="600" b="0" dirty="0"/>
              <a:t>[3] M. Ortu </a:t>
            </a:r>
            <a:r>
              <a:rPr lang="en-US" sz="600" b="0" i="1" dirty="0"/>
              <a:t>et al.</a:t>
            </a:r>
            <a:r>
              <a:rPr lang="en-US" sz="600" b="0" dirty="0"/>
              <a:t>, “The emotional side of software developers in JIRA,” </a:t>
            </a:r>
            <a:r>
              <a:rPr lang="en-US" sz="600" b="0" i="1" dirty="0"/>
              <a:t>Proceedings of the 13th International Conference on Mining Software Repositories</a:t>
            </a:r>
            <a:r>
              <a:rPr lang="en-US" sz="600" b="0" dirty="0"/>
              <a:t>, May 2016, </a:t>
            </a:r>
            <a:r>
              <a:rPr lang="en-US" sz="600" b="0" dirty="0" err="1"/>
              <a:t>doi</a:t>
            </a:r>
            <a:r>
              <a:rPr lang="en-US" sz="600" b="0" dirty="0"/>
              <a:t>: https://doi.org/10.1145/2901739.2903505. </a:t>
            </a:r>
          </a:p>
          <a:p>
            <a:r>
              <a:rPr lang="en-US" sz="600" b="0" dirty="0"/>
              <a:t>[4]https://web.archive.org/web/20150206005357/http://ghtorrent.org/msr14.html </a:t>
            </a:r>
          </a:p>
        </p:txBody>
      </p:sp>
      <p:grpSp>
        <p:nvGrpSpPr>
          <p:cNvPr id="2134" name="Group 2133">
            <a:extLst>
              <a:ext uri="{FF2B5EF4-FFF2-40B4-BE49-F238E27FC236}">
                <a16:creationId xmlns:a16="http://schemas.microsoft.com/office/drawing/2014/main" id="{138DA8D9-6AD4-1B59-84C4-93BF8DAFE94C}"/>
              </a:ext>
            </a:extLst>
          </p:cNvPr>
          <p:cNvGrpSpPr/>
          <p:nvPr/>
        </p:nvGrpSpPr>
        <p:grpSpPr>
          <a:xfrm>
            <a:off x="9716135" y="7200213"/>
            <a:ext cx="3656845" cy="2142989"/>
            <a:chOff x="8476178" y="1075788"/>
            <a:chExt cx="3245700" cy="1935357"/>
          </a:xfrm>
        </p:grpSpPr>
        <p:sp>
          <p:nvSpPr>
            <p:cNvPr id="2135" name="Google Shape;324;p18">
              <a:extLst>
                <a:ext uri="{FF2B5EF4-FFF2-40B4-BE49-F238E27FC236}">
                  <a16:creationId xmlns:a16="http://schemas.microsoft.com/office/drawing/2014/main" id="{15CEA5D7-C0EC-EF7B-83A1-AA83A851BF46}"/>
                </a:ext>
              </a:extLst>
            </p:cNvPr>
            <p:cNvSpPr/>
            <p:nvPr/>
          </p:nvSpPr>
          <p:spPr>
            <a:xfrm>
              <a:off x="8547103" y="133324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sp>
          <p:nvSpPr>
            <p:cNvPr id="2136" name="Google Shape;325;p18">
              <a:extLst>
                <a:ext uri="{FF2B5EF4-FFF2-40B4-BE49-F238E27FC236}">
                  <a16:creationId xmlns:a16="http://schemas.microsoft.com/office/drawing/2014/main" id="{BB5AD4BE-9A5C-423A-E004-E95E1E168385}"/>
                </a:ext>
              </a:extLst>
            </p:cNvPr>
            <p:cNvSpPr txBox="1"/>
            <p:nvPr/>
          </p:nvSpPr>
          <p:spPr>
            <a:xfrm>
              <a:off x="8512875" y="1160558"/>
              <a:ext cx="5898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Comments</a:t>
              </a:r>
              <a:endParaRPr sz="686" dirty="0">
                <a:solidFill>
                  <a:schemeClr val="dk2"/>
                </a:solidFill>
                <a:latin typeface="Source Sans 3"/>
                <a:ea typeface="Source Sans 3"/>
                <a:cs typeface="Source Sans 3"/>
                <a:sym typeface="Source Sans 3"/>
              </a:endParaRPr>
            </a:p>
          </p:txBody>
        </p:sp>
        <p:sp>
          <p:nvSpPr>
            <p:cNvPr id="2137" name="Google Shape;326;p18">
              <a:extLst>
                <a:ext uri="{FF2B5EF4-FFF2-40B4-BE49-F238E27FC236}">
                  <a16:creationId xmlns:a16="http://schemas.microsoft.com/office/drawing/2014/main" id="{CBB74837-89B1-D620-7282-B617EB7D1C01}"/>
                </a:ext>
              </a:extLst>
            </p:cNvPr>
            <p:cNvSpPr/>
            <p:nvPr/>
          </p:nvSpPr>
          <p:spPr>
            <a:xfrm>
              <a:off x="8476178" y="1114845"/>
              <a:ext cx="3245700" cy="18963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38" name="Google Shape;327;p18">
              <a:extLst>
                <a:ext uri="{FF2B5EF4-FFF2-40B4-BE49-F238E27FC236}">
                  <a16:creationId xmlns:a16="http://schemas.microsoft.com/office/drawing/2014/main" id="{0227B358-5F64-9DD9-88CA-6F7BEBCA9FDE}"/>
                </a:ext>
              </a:extLst>
            </p:cNvPr>
            <p:cNvSpPr/>
            <p:nvPr/>
          </p:nvSpPr>
          <p:spPr>
            <a:xfrm>
              <a:off x="9194189" y="1685753"/>
              <a:ext cx="660000" cy="5394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sp>
          <p:nvSpPr>
            <p:cNvPr id="2139" name="Google Shape;328;p18">
              <a:extLst>
                <a:ext uri="{FF2B5EF4-FFF2-40B4-BE49-F238E27FC236}">
                  <a16:creationId xmlns:a16="http://schemas.microsoft.com/office/drawing/2014/main" id="{264A7504-F760-F903-B93F-D69CB7340C96}"/>
                </a:ext>
              </a:extLst>
            </p:cNvPr>
            <p:cNvSpPr txBox="1"/>
            <p:nvPr/>
          </p:nvSpPr>
          <p:spPr>
            <a:xfrm>
              <a:off x="9243730" y="1675030"/>
              <a:ext cx="627577" cy="23835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err="1">
                  <a:solidFill>
                    <a:schemeClr val="dk2"/>
                  </a:solidFill>
                  <a:latin typeface="Source Sans 3"/>
                  <a:ea typeface="Source Sans 3"/>
                  <a:cs typeface="Source Sans 3"/>
                  <a:sym typeface="Source Sans 3"/>
                </a:rPr>
                <a:t>sailuh</a:t>
              </a:r>
              <a:r>
                <a:rPr lang="en" sz="686" dirty="0">
                  <a:solidFill>
                    <a:schemeClr val="dk2"/>
                  </a:solidFill>
                  <a:latin typeface="Source Sans 3"/>
                  <a:ea typeface="Source Sans 3"/>
                  <a:cs typeface="Source Sans 3"/>
                  <a:sym typeface="Source Sans 3"/>
                </a:rPr>
                <a:t>/</a:t>
              </a:r>
              <a:r>
                <a:rPr lang="en" sz="686" dirty="0" err="1">
                  <a:solidFill>
                    <a:schemeClr val="dk2"/>
                  </a:solidFill>
                  <a:latin typeface="Source Sans 3"/>
                  <a:ea typeface="Source Sans 3"/>
                  <a:cs typeface="Source Sans 3"/>
                  <a:sym typeface="Source Sans 3"/>
                </a:rPr>
                <a:t>kaiaulu</a:t>
              </a:r>
              <a:endParaRPr sz="686" dirty="0">
                <a:solidFill>
                  <a:schemeClr val="dk2"/>
                </a:solidFill>
                <a:latin typeface="Source Sans 3"/>
                <a:ea typeface="Source Sans 3"/>
                <a:cs typeface="Source Sans 3"/>
                <a:sym typeface="Source Sans 3"/>
              </a:endParaRPr>
            </a:p>
          </p:txBody>
        </p:sp>
        <p:cxnSp>
          <p:nvCxnSpPr>
            <p:cNvPr id="2140" name="Google Shape;329;p18">
              <a:extLst>
                <a:ext uri="{FF2B5EF4-FFF2-40B4-BE49-F238E27FC236}">
                  <a16:creationId xmlns:a16="http://schemas.microsoft.com/office/drawing/2014/main" id="{76955ED0-03BC-FB54-1838-5DB9E33E645B}"/>
                </a:ext>
              </a:extLst>
            </p:cNvPr>
            <p:cNvCxnSpPr/>
            <p:nvPr/>
          </p:nvCxnSpPr>
          <p:spPr>
            <a:xfrm>
              <a:off x="9524199" y="2225090"/>
              <a:ext cx="0" cy="297300"/>
            </a:xfrm>
            <a:prstGeom prst="straightConnector1">
              <a:avLst/>
            </a:prstGeom>
            <a:noFill/>
            <a:ln w="8175" cap="flat" cmpd="sng">
              <a:solidFill>
                <a:schemeClr val="dk2"/>
              </a:solidFill>
              <a:prstDash val="solid"/>
              <a:round/>
              <a:headEnd type="none" w="med" len="med"/>
              <a:tailEnd type="triangle" w="med" len="med"/>
            </a:ln>
          </p:spPr>
        </p:cxnSp>
        <p:sp>
          <p:nvSpPr>
            <p:cNvPr id="2141" name="Google Shape;330;p18">
              <a:extLst>
                <a:ext uri="{FF2B5EF4-FFF2-40B4-BE49-F238E27FC236}">
                  <a16:creationId xmlns:a16="http://schemas.microsoft.com/office/drawing/2014/main" id="{52BDEC3D-3D65-B9C5-DBBB-DB44E3B64828}"/>
                </a:ext>
              </a:extLst>
            </p:cNvPr>
            <p:cNvSpPr txBox="1"/>
            <p:nvPr/>
          </p:nvSpPr>
          <p:spPr>
            <a:xfrm>
              <a:off x="9029988" y="2467514"/>
              <a:ext cx="1094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rgbClr val="628DB5"/>
                  </a:solidFill>
                  <a:latin typeface="Source Sans 3"/>
                  <a:ea typeface="Source Sans 3"/>
                  <a:cs typeface="Source Sans 3"/>
                  <a:sym typeface="Source Sans 3"/>
                </a:rPr>
                <a:t>engagement_sentiment()</a:t>
              </a:r>
              <a:endParaRPr sz="686">
                <a:solidFill>
                  <a:srgbClr val="628DB5"/>
                </a:solidFill>
                <a:latin typeface="Source Sans 3"/>
                <a:ea typeface="Source Sans 3"/>
                <a:cs typeface="Source Sans 3"/>
                <a:sym typeface="Source Sans 3"/>
              </a:endParaRPr>
            </a:p>
          </p:txBody>
        </p:sp>
        <p:sp>
          <p:nvSpPr>
            <p:cNvPr id="2142" name="Google Shape;331;p18">
              <a:extLst>
                <a:ext uri="{FF2B5EF4-FFF2-40B4-BE49-F238E27FC236}">
                  <a16:creationId xmlns:a16="http://schemas.microsoft.com/office/drawing/2014/main" id="{DFFA38EE-A47E-2987-F6F9-0903A619B0FB}"/>
                </a:ext>
              </a:extLst>
            </p:cNvPr>
            <p:cNvSpPr/>
            <p:nvPr/>
          </p:nvSpPr>
          <p:spPr>
            <a:xfrm>
              <a:off x="10562628" y="1685745"/>
              <a:ext cx="1099800" cy="554100"/>
            </a:xfrm>
            <a:prstGeom prst="rect">
              <a:avLst/>
            </a:prstGeom>
            <a:noFill/>
            <a:ln w="8200" cap="flat" cmpd="sng">
              <a:solidFill>
                <a:schemeClr val="dk2"/>
              </a:solidFill>
              <a:prstDash val="solid"/>
              <a:round/>
              <a:headEnd type="none" w="sm" len="sm"/>
              <a:tailEnd type="none" w="sm" len="sm"/>
            </a:ln>
          </p:spPr>
          <p:txBody>
            <a:bodyPr spcFirstLastPara="1" wrap="square" lIns="78800" tIns="78800" rIns="78800" bIns="78800" anchor="ctr" anchorCtr="0">
              <a:noAutofit/>
            </a:bodyPr>
            <a:lstStyle/>
            <a:p>
              <a:pPr marL="0" lvl="0" indent="0" algn="ctr" rtl="0">
                <a:spcBef>
                  <a:spcPts val="0"/>
                </a:spcBef>
                <a:spcAft>
                  <a:spcPts val="0"/>
                </a:spcAft>
                <a:buNone/>
              </a:pPr>
              <a:endParaRPr sz="1207"/>
            </a:p>
          </p:txBody>
        </p:sp>
        <p:sp>
          <p:nvSpPr>
            <p:cNvPr id="2143" name="Google Shape;332;p18">
              <a:extLst>
                <a:ext uri="{FF2B5EF4-FFF2-40B4-BE49-F238E27FC236}">
                  <a16:creationId xmlns:a16="http://schemas.microsoft.com/office/drawing/2014/main" id="{9B1BB561-C43C-C2B5-F919-16023C462499}"/>
                </a:ext>
              </a:extLst>
            </p:cNvPr>
            <p:cNvSpPr txBox="1"/>
            <p:nvPr/>
          </p:nvSpPr>
          <p:spPr>
            <a:xfrm>
              <a:off x="10544028" y="1682645"/>
              <a:ext cx="1150800" cy="265200"/>
            </a:xfrm>
            <a:prstGeom prst="rect">
              <a:avLst/>
            </a:prstGeom>
            <a:noFill/>
            <a:ln>
              <a:noFill/>
            </a:ln>
          </p:spPr>
          <p:txBody>
            <a:bodyPr spcFirstLastPara="1" wrap="square" lIns="78800" tIns="78800" rIns="78800" bIns="78800" anchor="t" anchorCtr="0">
              <a:spAutoFit/>
            </a:bodyPr>
            <a:lstStyle/>
            <a:p>
              <a:pPr marL="0" lvl="0" indent="0" algn="l" rtl="0">
                <a:spcBef>
                  <a:spcPts val="0"/>
                </a:spcBef>
                <a:spcAft>
                  <a:spcPts val="0"/>
                </a:spcAft>
                <a:buNone/>
              </a:pPr>
              <a:r>
                <a:rPr lang="en" sz="689" dirty="0" err="1">
                  <a:solidFill>
                    <a:schemeClr val="dk2"/>
                  </a:solidFill>
                  <a:latin typeface="Source Sans 3"/>
                  <a:ea typeface="Source Sans 3"/>
                  <a:cs typeface="Source Sans 3"/>
                  <a:sym typeface="Source Sans 3"/>
                </a:rPr>
                <a:t>sailuh</a:t>
              </a:r>
              <a:r>
                <a:rPr lang="en" sz="689" dirty="0">
                  <a:solidFill>
                    <a:schemeClr val="dk2"/>
                  </a:solidFill>
                  <a:latin typeface="Source Sans 3"/>
                  <a:ea typeface="Source Sans 3"/>
                  <a:cs typeface="Source Sans 3"/>
                  <a:sym typeface="Source Sans 3"/>
                </a:rPr>
                <a:t>/</a:t>
              </a:r>
              <a:r>
                <a:rPr lang="en" sz="689" dirty="0" err="1">
                  <a:solidFill>
                    <a:schemeClr val="dk2"/>
                  </a:solidFill>
                  <a:latin typeface="Source Sans 3"/>
                  <a:ea typeface="Source Sans 3"/>
                  <a:cs typeface="Source Sans 3"/>
                  <a:sym typeface="Source Sans 3"/>
                </a:rPr>
                <a:t>sentiment_classifier</a:t>
              </a:r>
              <a:endParaRPr sz="689" dirty="0">
                <a:solidFill>
                  <a:schemeClr val="dk2"/>
                </a:solidFill>
                <a:latin typeface="Source Sans 3"/>
                <a:ea typeface="Source Sans 3"/>
                <a:cs typeface="Source Sans 3"/>
                <a:sym typeface="Source Sans 3"/>
              </a:endParaRPr>
            </a:p>
          </p:txBody>
        </p:sp>
        <p:cxnSp>
          <p:nvCxnSpPr>
            <p:cNvPr id="2144" name="Google Shape;333;p18">
              <a:extLst>
                <a:ext uri="{FF2B5EF4-FFF2-40B4-BE49-F238E27FC236}">
                  <a16:creationId xmlns:a16="http://schemas.microsoft.com/office/drawing/2014/main" id="{99FD96A5-7046-650D-5C6B-82832EEED0C9}"/>
                </a:ext>
              </a:extLst>
            </p:cNvPr>
            <p:cNvCxnSpPr/>
            <p:nvPr/>
          </p:nvCxnSpPr>
          <p:spPr>
            <a:xfrm rot="10800000" flipH="1">
              <a:off x="9890815" y="1865994"/>
              <a:ext cx="632700" cy="900"/>
            </a:xfrm>
            <a:prstGeom prst="straightConnector1">
              <a:avLst/>
            </a:prstGeom>
            <a:noFill/>
            <a:ln w="9525" cap="flat" cmpd="sng">
              <a:solidFill>
                <a:schemeClr val="dk2"/>
              </a:solidFill>
              <a:prstDash val="solid"/>
              <a:round/>
              <a:headEnd type="none" w="med" len="med"/>
              <a:tailEnd type="triangle" w="med" len="med"/>
            </a:ln>
          </p:spPr>
        </p:cxnSp>
        <p:cxnSp>
          <p:nvCxnSpPr>
            <p:cNvPr id="2145" name="Google Shape;334;p18">
              <a:extLst>
                <a:ext uri="{FF2B5EF4-FFF2-40B4-BE49-F238E27FC236}">
                  <a16:creationId xmlns:a16="http://schemas.microsoft.com/office/drawing/2014/main" id="{E2D30BBA-2184-DF74-01BC-0D449F1361DF}"/>
                </a:ext>
              </a:extLst>
            </p:cNvPr>
            <p:cNvCxnSpPr/>
            <p:nvPr/>
          </p:nvCxnSpPr>
          <p:spPr>
            <a:xfrm rot="10800000">
              <a:off x="9866990" y="2086194"/>
              <a:ext cx="632700" cy="900"/>
            </a:xfrm>
            <a:prstGeom prst="straightConnector1">
              <a:avLst/>
            </a:prstGeom>
            <a:noFill/>
            <a:ln w="9525" cap="flat" cmpd="sng">
              <a:solidFill>
                <a:schemeClr val="dk2"/>
              </a:solidFill>
              <a:prstDash val="solid"/>
              <a:round/>
              <a:headEnd type="none" w="med" len="med"/>
              <a:tailEnd type="triangle" w="med" len="med"/>
            </a:ln>
          </p:spPr>
        </p:cxnSp>
        <p:sp>
          <p:nvSpPr>
            <p:cNvPr id="2146" name="Google Shape;335;p18">
              <a:extLst>
                <a:ext uri="{FF2B5EF4-FFF2-40B4-BE49-F238E27FC236}">
                  <a16:creationId xmlns:a16="http://schemas.microsoft.com/office/drawing/2014/main" id="{CE287E67-8E3C-284D-8E45-794C9174130A}"/>
                </a:ext>
              </a:extLst>
            </p:cNvPr>
            <p:cNvSpPr txBox="1"/>
            <p:nvPr/>
          </p:nvSpPr>
          <p:spPr>
            <a:xfrm>
              <a:off x="10046553" y="2123170"/>
              <a:ext cx="3483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label</a:t>
              </a:r>
              <a:endParaRPr sz="686">
                <a:solidFill>
                  <a:schemeClr val="dk2"/>
                </a:solidFill>
                <a:latin typeface="Source Sans 3"/>
                <a:ea typeface="Source Sans 3"/>
                <a:cs typeface="Source Sans 3"/>
                <a:sym typeface="Source Sans 3"/>
              </a:endParaRPr>
            </a:p>
          </p:txBody>
        </p:sp>
        <p:sp>
          <p:nvSpPr>
            <p:cNvPr id="2147" name="Google Shape;336;p18">
              <a:extLst>
                <a:ext uri="{FF2B5EF4-FFF2-40B4-BE49-F238E27FC236}">
                  <a16:creationId xmlns:a16="http://schemas.microsoft.com/office/drawing/2014/main" id="{85E588E0-E1F8-A506-02D5-0A71C4773035}"/>
                </a:ext>
              </a:extLst>
            </p:cNvPr>
            <p:cNvSpPr/>
            <p:nvPr/>
          </p:nvSpPr>
          <p:spPr>
            <a:xfrm>
              <a:off x="10370240" y="2300395"/>
              <a:ext cx="133800" cy="114600"/>
            </a:xfrm>
            <a:prstGeom prst="wedgeRectCallout">
              <a:avLst>
                <a:gd name="adj1" fmla="val -20833"/>
                <a:gd name="adj2" fmla="val 62500"/>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48" name="Google Shape;337;p18">
              <a:extLst>
                <a:ext uri="{FF2B5EF4-FFF2-40B4-BE49-F238E27FC236}">
                  <a16:creationId xmlns:a16="http://schemas.microsoft.com/office/drawing/2014/main" id="{9B045A3C-1933-8DA0-BF80-99016CDC52E7}"/>
                </a:ext>
              </a:extLst>
            </p:cNvPr>
            <p:cNvSpPr txBox="1"/>
            <p:nvPr/>
          </p:nvSpPr>
          <p:spPr>
            <a:xfrm>
              <a:off x="9829328" y="1578732"/>
              <a:ext cx="8400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pysenti_predict()</a:t>
              </a:r>
              <a:endParaRPr sz="686">
                <a:solidFill>
                  <a:schemeClr val="dk2"/>
                </a:solidFill>
                <a:latin typeface="Source Sans 3"/>
                <a:ea typeface="Source Sans 3"/>
                <a:cs typeface="Source Sans 3"/>
                <a:sym typeface="Source Sans 3"/>
              </a:endParaRPr>
            </a:p>
          </p:txBody>
        </p:sp>
        <p:sp>
          <p:nvSpPr>
            <p:cNvPr id="2149" name="Google Shape;338;p18">
              <a:extLst>
                <a:ext uri="{FF2B5EF4-FFF2-40B4-BE49-F238E27FC236}">
                  <a16:creationId xmlns:a16="http://schemas.microsoft.com/office/drawing/2014/main" id="{2D092371-A5B8-AD29-2690-D04F12EA645D}"/>
                </a:ext>
              </a:extLst>
            </p:cNvPr>
            <p:cNvSpPr/>
            <p:nvPr/>
          </p:nvSpPr>
          <p:spPr>
            <a:xfrm>
              <a:off x="10116428" y="1532095"/>
              <a:ext cx="133800" cy="114600"/>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0" name="Google Shape;339;p18">
              <a:extLst>
                <a:ext uri="{FF2B5EF4-FFF2-40B4-BE49-F238E27FC236}">
                  <a16:creationId xmlns:a16="http://schemas.microsoft.com/office/drawing/2014/main" id="{2A1D4593-D662-BA9A-0B72-5477859BEF9B}"/>
                </a:ext>
              </a:extLst>
            </p:cNvPr>
            <p:cNvSpPr/>
            <p:nvPr/>
          </p:nvSpPr>
          <p:spPr>
            <a:xfrm>
              <a:off x="9482353" y="2661807"/>
              <a:ext cx="113100" cy="114600"/>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1" name="Google Shape;340;p18">
              <a:extLst>
                <a:ext uri="{FF2B5EF4-FFF2-40B4-BE49-F238E27FC236}">
                  <a16:creationId xmlns:a16="http://schemas.microsoft.com/office/drawing/2014/main" id="{B69E4BF6-F7CE-9B62-36AB-0E282823EAA0}"/>
                </a:ext>
              </a:extLst>
            </p:cNvPr>
            <p:cNvSpPr txBox="1"/>
            <p:nvPr/>
          </p:nvSpPr>
          <p:spPr>
            <a:xfrm>
              <a:off x="9400286" y="2595959"/>
              <a:ext cx="289200" cy="23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00" dirty="0">
                  <a:solidFill>
                    <a:schemeClr val="lt1"/>
                  </a:solidFill>
                </a:rPr>
                <a:t> </a:t>
              </a:r>
              <a:r>
                <a:rPr lang="en" sz="500" dirty="0">
                  <a:solidFill>
                    <a:schemeClr val="lt1"/>
                  </a:solidFill>
                </a:rPr>
                <a:t>0.25</a:t>
              </a:r>
              <a:endParaRPr sz="500" dirty="0">
                <a:solidFill>
                  <a:schemeClr val="lt1"/>
                </a:solidFill>
              </a:endParaRPr>
            </a:p>
          </p:txBody>
        </p:sp>
        <p:sp>
          <p:nvSpPr>
            <p:cNvPr id="2152" name="Google Shape;341;p18">
              <a:extLst>
                <a:ext uri="{FF2B5EF4-FFF2-40B4-BE49-F238E27FC236}">
                  <a16:creationId xmlns:a16="http://schemas.microsoft.com/office/drawing/2014/main" id="{0A07C971-B1BF-6F01-F7A2-8D7FB6E97BD1}"/>
                </a:ext>
              </a:extLst>
            </p:cNvPr>
            <p:cNvSpPr/>
            <p:nvPr/>
          </p:nvSpPr>
          <p:spPr>
            <a:xfrm>
              <a:off x="10141503" y="2300395"/>
              <a:ext cx="133800" cy="114600"/>
            </a:xfrm>
            <a:prstGeom prst="wedgeRectCallout">
              <a:avLst>
                <a:gd name="adj1" fmla="val -20833"/>
                <a:gd name="adj2" fmla="val 62500"/>
              </a:avLst>
            </a:prstGeom>
            <a:solidFill>
              <a:srgbClr val="E0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3" name="Google Shape;342;p18">
              <a:extLst>
                <a:ext uri="{FF2B5EF4-FFF2-40B4-BE49-F238E27FC236}">
                  <a16:creationId xmlns:a16="http://schemas.microsoft.com/office/drawing/2014/main" id="{5CC92F16-A615-8861-5842-4982E151B886}"/>
                </a:ext>
              </a:extLst>
            </p:cNvPr>
            <p:cNvSpPr/>
            <p:nvPr/>
          </p:nvSpPr>
          <p:spPr>
            <a:xfrm>
              <a:off x="9912740" y="2300395"/>
              <a:ext cx="133800" cy="114600"/>
            </a:xfrm>
            <a:prstGeom prst="wedgeRectCallout">
              <a:avLst>
                <a:gd name="adj1" fmla="val -20833"/>
                <a:gd name="adj2" fmla="val 625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4" name="Google Shape;344;p18">
              <a:extLst>
                <a:ext uri="{FF2B5EF4-FFF2-40B4-BE49-F238E27FC236}">
                  <a16:creationId xmlns:a16="http://schemas.microsoft.com/office/drawing/2014/main" id="{CF1C27E8-25D4-2FCA-2129-8E6C0D104463}"/>
                </a:ext>
              </a:extLst>
            </p:cNvPr>
            <p:cNvSpPr txBox="1"/>
            <p:nvPr/>
          </p:nvSpPr>
          <p:spPr>
            <a:xfrm>
              <a:off x="10062053" y="1668745"/>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(2)</a:t>
              </a:r>
              <a:endParaRPr sz="686" dirty="0">
                <a:solidFill>
                  <a:schemeClr val="dk2"/>
                </a:solidFill>
                <a:latin typeface="Source Sans 3"/>
                <a:ea typeface="Source Sans 3"/>
                <a:cs typeface="Source Sans 3"/>
                <a:sym typeface="Source Sans 3"/>
              </a:endParaRPr>
            </a:p>
          </p:txBody>
        </p:sp>
        <p:sp>
          <p:nvSpPr>
            <p:cNvPr id="2155" name="Google Shape;345;p18">
              <a:extLst>
                <a:ext uri="{FF2B5EF4-FFF2-40B4-BE49-F238E27FC236}">
                  <a16:creationId xmlns:a16="http://schemas.microsoft.com/office/drawing/2014/main" id="{57497E8A-60A2-ABCF-2603-530216B39583}"/>
                </a:ext>
              </a:extLst>
            </p:cNvPr>
            <p:cNvSpPr txBox="1"/>
            <p:nvPr/>
          </p:nvSpPr>
          <p:spPr>
            <a:xfrm>
              <a:off x="10079303" y="2023132"/>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(4)</a:t>
              </a:r>
              <a:endParaRPr sz="686">
                <a:solidFill>
                  <a:schemeClr val="dk2"/>
                </a:solidFill>
                <a:latin typeface="Source Sans 3"/>
                <a:ea typeface="Source Sans 3"/>
                <a:cs typeface="Source Sans 3"/>
                <a:sym typeface="Source Sans 3"/>
              </a:endParaRPr>
            </a:p>
          </p:txBody>
        </p:sp>
        <p:sp>
          <p:nvSpPr>
            <p:cNvPr id="2156" name="Google Shape;346;p18">
              <a:extLst>
                <a:ext uri="{FF2B5EF4-FFF2-40B4-BE49-F238E27FC236}">
                  <a16:creationId xmlns:a16="http://schemas.microsoft.com/office/drawing/2014/main" id="{91C8AA72-EB97-E6BD-1F43-3471B35B0073}"/>
                </a:ext>
              </a:extLst>
            </p:cNvPr>
            <p:cNvSpPr txBox="1"/>
            <p:nvPr/>
          </p:nvSpPr>
          <p:spPr>
            <a:xfrm>
              <a:off x="10964278" y="1800070"/>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(3)</a:t>
              </a:r>
              <a:endParaRPr sz="686">
                <a:solidFill>
                  <a:schemeClr val="dk2"/>
                </a:solidFill>
                <a:latin typeface="Source Sans 3"/>
                <a:ea typeface="Source Sans 3"/>
                <a:cs typeface="Source Sans 3"/>
                <a:sym typeface="Source Sans 3"/>
              </a:endParaRPr>
            </a:p>
          </p:txBody>
        </p:sp>
        <p:sp>
          <p:nvSpPr>
            <p:cNvPr id="2157" name="Google Shape;347;p18">
              <a:extLst>
                <a:ext uri="{FF2B5EF4-FFF2-40B4-BE49-F238E27FC236}">
                  <a16:creationId xmlns:a16="http://schemas.microsoft.com/office/drawing/2014/main" id="{519F5285-7276-052D-66EF-8F069ED933B8}"/>
                </a:ext>
              </a:extLst>
            </p:cNvPr>
            <p:cNvSpPr/>
            <p:nvPr/>
          </p:nvSpPr>
          <p:spPr>
            <a:xfrm>
              <a:off x="107684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2158" name="Google Shape;348;p18">
              <a:extLst>
                <a:ext uri="{FF2B5EF4-FFF2-40B4-BE49-F238E27FC236}">
                  <a16:creationId xmlns:a16="http://schemas.microsoft.com/office/drawing/2014/main" id="{134DE0B3-7465-E769-49DF-59E050F4CB24}"/>
                </a:ext>
              </a:extLst>
            </p:cNvPr>
            <p:cNvSpPr txBox="1"/>
            <p:nvPr/>
          </p:nvSpPr>
          <p:spPr>
            <a:xfrm>
              <a:off x="10702335" y="1945845"/>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2159" name="Google Shape;349;p18">
              <a:extLst>
                <a:ext uri="{FF2B5EF4-FFF2-40B4-BE49-F238E27FC236}">
                  <a16:creationId xmlns:a16="http://schemas.microsoft.com/office/drawing/2014/main" id="{844FD4B1-088A-2E17-DE91-64B6C9524D82}"/>
                </a:ext>
              </a:extLst>
            </p:cNvPr>
            <p:cNvSpPr txBox="1"/>
            <p:nvPr/>
          </p:nvSpPr>
          <p:spPr>
            <a:xfrm>
              <a:off x="11020518" y="1948023"/>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2160" name="Google Shape;350;p18">
              <a:extLst>
                <a:ext uri="{FF2B5EF4-FFF2-40B4-BE49-F238E27FC236}">
                  <a16:creationId xmlns:a16="http://schemas.microsoft.com/office/drawing/2014/main" id="{C4E64FBA-A4E7-90E7-3AEF-000420A033A5}"/>
                </a:ext>
              </a:extLst>
            </p:cNvPr>
            <p:cNvSpPr/>
            <p:nvPr/>
          </p:nvSpPr>
          <p:spPr>
            <a:xfrm>
              <a:off x="109289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2161" name="Google Shape;351;p18">
              <a:extLst>
                <a:ext uri="{FF2B5EF4-FFF2-40B4-BE49-F238E27FC236}">
                  <a16:creationId xmlns:a16="http://schemas.microsoft.com/office/drawing/2014/main" id="{8E576FED-0A0A-3EC2-0591-C3F24CD6579F}"/>
                </a:ext>
              </a:extLst>
            </p:cNvPr>
            <p:cNvSpPr/>
            <p:nvPr/>
          </p:nvSpPr>
          <p:spPr>
            <a:xfrm>
              <a:off x="110894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2162" name="Google Shape;352;p18">
              <a:extLst>
                <a:ext uri="{FF2B5EF4-FFF2-40B4-BE49-F238E27FC236}">
                  <a16:creationId xmlns:a16="http://schemas.microsoft.com/office/drawing/2014/main" id="{68371204-4F90-41DE-8F87-8152742F6267}"/>
                </a:ext>
              </a:extLst>
            </p:cNvPr>
            <p:cNvSpPr/>
            <p:nvPr/>
          </p:nvSpPr>
          <p:spPr>
            <a:xfrm>
              <a:off x="112499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2163" name="Google Shape;353;p18">
              <a:extLst>
                <a:ext uri="{FF2B5EF4-FFF2-40B4-BE49-F238E27FC236}">
                  <a16:creationId xmlns:a16="http://schemas.microsoft.com/office/drawing/2014/main" id="{9DCF61C5-0416-F555-2094-CA4618B6DDAA}"/>
                </a:ext>
              </a:extLst>
            </p:cNvPr>
            <p:cNvSpPr txBox="1"/>
            <p:nvPr/>
          </p:nvSpPr>
          <p:spPr>
            <a:xfrm>
              <a:off x="10863720" y="1948470"/>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2164" name="Google Shape;354;p18">
              <a:extLst>
                <a:ext uri="{FF2B5EF4-FFF2-40B4-BE49-F238E27FC236}">
                  <a16:creationId xmlns:a16="http://schemas.microsoft.com/office/drawing/2014/main" id="{65A91834-042C-8531-F5B6-AC04CE179B38}"/>
                </a:ext>
              </a:extLst>
            </p:cNvPr>
            <p:cNvSpPr txBox="1"/>
            <p:nvPr/>
          </p:nvSpPr>
          <p:spPr>
            <a:xfrm>
              <a:off x="11183172" y="1948019"/>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cxnSp>
          <p:nvCxnSpPr>
            <p:cNvPr id="2165" name="Google Shape;357;p18">
              <a:extLst>
                <a:ext uri="{FF2B5EF4-FFF2-40B4-BE49-F238E27FC236}">
                  <a16:creationId xmlns:a16="http://schemas.microsoft.com/office/drawing/2014/main" id="{7E6435D9-744E-AAD8-A568-6CD6FEE854B7}"/>
                </a:ext>
              </a:extLst>
            </p:cNvPr>
            <p:cNvCxnSpPr>
              <a:cxnSpLocks/>
              <a:stCxn id="2138" idx="0"/>
              <a:endCxn id="2143" idx="0"/>
            </p:cNvCxnSpPr>
            <p:nvPr/>
          </p:nvCxnSpPr>
          <p:spPr>
            <a:xfrm rot="16200000">
              <a:off x="10320239" y="886703"/>
              <a:ext cx="3000" cy="1595100"/>
            </a:xfrm>
            <a:prstGeom prst="bentConnector3">
              <a:avLst>
                <a:gd name="adj1" fmla="val 8041114"/>
              </a:avLst>
            </a:prstGeom>
            <a:noFill/>
            <a:ln w="9525" cap="flat" cmpd="sng">
              <a:solidFill>
                <a:schemeClr val="dk2"/>
              </a:solidFill>
              <a:prstDash val="solid"/>
              <a:round/>
              <a:headEnd type="none" w="med" len="med"/>
              <a:tailEnd type="triangle" w="med" len="med"/>
            </a:ln>
          </p:spPr>
        </p:cxnSp>
        <p:sp>
          <p:nvSpPr>
            <p:cNvPr id="2166" name="Google Shape;358;p18">
              <a:extLst>
                <a:ext uri="{FF2B5EF4-FFF2-40B4-BE49-F238E27FC236}">
                  <a16:creationId xmlns:a16="http://schemas.microsoft.com/office/drawing/2014/main" id="{A0780C5C-8BF1-754A-83BA-6FF3CBA815FB}"/>
                </a:ext>
              </a:extLst>
            </p:cNvPr>
            <p:cNvSpPr txBox="1"/>
            <p:nvPr/>
          </p:nvSpPr>
          <p:spPr>
            <a:xfrm>
              <a:off x="9795878" y="1222007"/>
              <a:ext cx="972600" cy="18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dirty="0" err="1">
                  <a:solidFill>
                    <a:schemeClr val="dk2"/>
                  </a:solidFill>
                  <a:latin typeface="Source Sans 3"/>
                  <a:ea typeface="Source Sans 3"/>
                  <a:cs typeface="Source Sans 3"/>
                  <a:sym typeface="Source Sans 3"/>
                </a:rPr>
                <a:t>pysenti_train_model</a:t>
              </a:r>
              <a:r>
                <a:rPr lang="en" sz="650" dirty="0">
                  <a:solidFill>
                    <a:schemeClr val="dk2"/>
                  </a:solidFill>
                  <a:latin typeface="Source Sans 3"/>
                  <a:ea typeface="Source Sans 3"/>
                  <a:cs typeface="Source Sans 3"/>
                  <a:sym typeface="Source Sans 3"/>
                </a:rPr>
                <a:t>()</a:t>
              </a:r>
              <a:endParaRPr sz="650" dirty="0">
                <a:solidFill>
                  <a:schemeClr val="dk2"/>
                </a:solidFill>
                <a:latin typeface="Source Sans 3"/>
                <a:ea typeface="Source Sans 3"/>
                <a:cs typeface="Source Sans 3"/>
                <a:sym typeface="Source Sans 3"/>
              </a:endParaRPr>
            </a:p>
          </p:txBody>
        </p:sp>
        <p:grpSp>
          <p:nvGrpSpPr>
            <p:cNvPr id="2167" name="Google Shape;359;p18">
              <a:extLst>
                <a:ext uri="{FF2B5EF4-FFF2-40B4-BE49-F238E27FC236}">
                  <a16:creationId xmlns:a16="http://schemas.microsoft.com/office/drawing/2014/main" id="{E18DCFF8-7054-3A63-A389-CFE5647F420F}"/>
                </a:ext>
              </a:extLst>
            </p:cNvPr>
            <p:cNvGrpSpPr/>
            <p:nvPr/>
          </p:nvGrpSpPr>
          <p:grpSpPr>
            <a:xfrm>
              <a:off x="8600328" y="1454457"/>
              <a:ext cx="307200" cy="189300"/>
              <a:chOff x="3007175" y="1757600"/>
              <a:chExt cx="307200" cy="189300"/>
            </a:xfrm>
          </p:grpSpPr>
          <p:sp>
            <p:nvSpPr>
              <p:cNvPr id="2193" name="Google Shape;360;p18">
                <a:extLst>
                  <a:ext uri="{FF2B5EF4-FFF2-40B4-BE49-F238E27FC236}">
                    <a16:creationId xmlns:a16="http://schemas.microsoft.com/office/drawing/2014/main" id="{44DF9A76-E39B-B1AF-F3CB-EAD9FEE14EE9}"/>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4" name="Google Shape;361;p18">
                <a:extLst>
                  <a:ext uri="{FF2B5EF4-FFF2-40B4-BE49-F238E27FC236}">
                    <a16:creationId xmlns:a16="http://schemas.microsoft.com/office/drawing/2014/main" id="{CF7F17A0-F3A0-F4C4-4ACC-6238F0568B09}"/>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5" name="Google Shape;362;p18">
                <a:extLst>
                  <a:ext uri="{FF2B5EF4-FFF2-40B4-BE49-F238E27FC236}">
                    <a16:creationId xmlns:a16="http://schemas.microsoft.com/office/drawing/2014/main" id="{3946ABBE-59B6-E59F-3858-B9BEC08BE0C3}"/>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6" name="Google Shape;363;p18">
                <a:extLst>
                  <a:ext uri="{FF2B5EF4-FFF2-40B4-BE49-F238E27FC236}">
                    <a16:creationId xmlns:a16="http://schemas.microsoft.com/office/drawing/2014/main" id="{AA7D06CD-9190-F84A-28CD-D5E6202C7486}"/>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97" name="Google Shape;364;p18">
                <a:extLst>
                  <a:ext uri="{FF2B5EF4-FFF2-40B4-BE49-F238E27FC236}">
                    <a16:creationId xmlns:a16="http://schemas.microsoft.com/office/drawing/2014/main" id="{CCC3D716-DEE2-6D96-B5A1-07CEC48B6CE5}"/>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198" name="Google Shape;365;p18">
                <a:extLst>
                  <a:ext uri="{FF2B5EF4-FFF2-40B4-BE49-F238E27FC236}">
                    <a16:creationId xmlns:a16="http://schemas.microsoft.com/office/drawing/2014/main" id="{36769DA9-B084-1123-93C0-00A99D9BAEF1}"/>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199" name="Google Shape;366;p18">
                <a:extLst>
                  <a:ext uri="{FF2B5EF4-FFF2-40B4-BE49-F238E27FC236}">
                    <a16:creationId xmlns:a16="http://schemas.microsoft.com/office/drawing/2014/main" id="{937B51FB-780C-0B29-4BC4-6C5B22BE0889}"/>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2168" name="Google Shape;367;p18">
              <a:extLst>
                <a:ext uri="{FF2B5EF4-FFF2-40B4-BE49-F238E27FC236}">
                  <a16:creationId xmlns:a16="http://schemas.microsoft.com/office/drawing/2014/main" id="{E7DFF76D-8635-3237-99D6-E2CE5C865CCA}"/>
                </a:ext>
              </a:extLst>
            </p:cNvPr>
            <p:cNvGrpSpPr/>
            <p:nvPr/>
          </p:nvGrpSpPr>
          <p:grpSpPr>
            <a:xfrm>
              <a:off x="8600315" y="1797920"/>
              <a:ext cx="307200" cy="189300"/>
              <a:chOff x="3007175" y="1757600"/>
              <a:chExt cx="307200" cy="189300"/>
            </a:xfrm>
          </p:grpSpPr>
          <p:sp>
            <p:nvSpPr>
              <p:cNvPr id="2186" name="Google Shape;368;p18">
                <a:extLst>
                  <a:ext uri="{FF2B5EF4-FFF2-40B4-BE49-F238E27FC236}">
                    <a16:creationId xmlns:a16="http://schemas.microsoft.com/office/drawing/2014/main" id="{4C7667AB-4149-2000-4EB4-A9CFE75EB555}"/>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7" name="Google Shape;369;p18">
                <a:extLst>
                  <a:ext uri="{FF2B5EF4-FFF2-40B4-BE49-F238E27FC236}">
                    <a16:creationId xmlns:a16="http://schemas.microsoft.com/office/drawing/2014/main" id="{5134D781-1232-952A-F52E-FD1A7D775047}"/>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8" name="Google Shape;370;p18">
                <a:extLst>
                  <a:ext uri="{FF2B5EF4-FFF2-40B4-BE49-F238E27FC236}">
                    <a16:creationId xmlns:a16="http://schemas.microsoft.com/office/drawing/2014/main" id="{CC194870-33A6-9D1A-FBD5-D657A3EE84AB}"/>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9" name="Google Shape;371;p18">
                <a:extLst>
                  <a:ext uri="{FF2B5EF4-FFF2-40B4-BE49-F238E27FC236}">
                    <a16:creationId xmlns:a16="http://schemas.microsoft.com/office/drawing/2014/main" id="{F4E82633-6127-C046-5A34-930C7CBC9160}"/>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90" name="Google Shape;372;p18">
                <a:extLst>
                  <a:ext uri="{FF2B5EF4-FFF2-40B4-BE49-F238E27FC236}">
                    <a16:creationId xmlns:a16="http://schemas.microsoft.com/office/drawing/2014/main" id="{6A9E5A72-8F66-DDCF-E04F-4E4E7B62CD77}"/>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191" name="Google Shape;373;p18">
                <a:extLst>
                  <a:ext uri="{FF2B5EF4-FFF2-40B4-BE49-F238E27FC236}">
                    <a16:creationId xmlns:a16="http://schemas.microsoft.com/office/drawing/2014/main" id="{535886A3-65FB-935F-8E69-5D01E2A67F4B}"/>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192" name="Google Shape;374;p18">
                <a:extLst>
                  <a:ext uri="{FF2B5EF4-FFF2-40B4-BE49-F238E27FC236}">
                    <a16:creationId xmlns:a16="http://schemas.microsoft.com/office/drawing/2014/main" id="{017041A9-C58E-551F-B4C7-D3C85DD19825}"/>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2169" name="Google Shape;375;p18">
              <a:extLst>
                <a:ext uri="{FF2B5EF4-FFF2-40B4-BE49-F238E27FC236}">
                  <a16:creationId xmlns:a16="http://schemas.microsoft.com/office/drawing/2014/main" id="{E2CE5F81-BA44-B302-A127-A34ECF98C611}"/>
                </a:ext>
              </a:extLst>
            </p:cNvPr>
            <p:cNvSpPr txBox="1"/>
            <p:nvPr/>
          </p:nvSpPr>
          <p:spPr>
            <a:xfrm>
              <a:off x="8540115" y="126943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2170" name="Google Shape;376;p18">
              <a:extLst>
                <a:ext uri="{FF2B5EF4-FFF2-40B4-BE49-F238E27FC236}">
                  <a16:creationId xmlns:a16="http://schemas.microsoft.com/office/drawing/2014/main" id="{B1B3DBF2-186F-8DB0-DF91-44AA48B2B24C}"/>
                </a:ext>
              </a:extLst>
            </p:cNvPr>
            <p:cNvSpPr txBox="1"/>
            <p:nvPr/>
          </p:nvSpPr>
          <p:spPr>
            <a:xfrm>
              <a:off x="8600328" y="161682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Jira</a:t>
              </a:r>
              <a:endParaRPr sz="686" dirty="0">
                <a:solidFill>
                  <a:schemeClr val="dk2"/>
                </a:solidFill>
                <a:latin typeface="Source Sans 3"/>
                <a:ea typeface="Source Sans 3"/>
                <a:cs typeface="Source Sans 3"/>
                <a:sym typeface="Source Sans 3"/>
              </a:endParaRPr>
            </a:p>
          </p:txBody>
        </p:sp>
        <p:grpSp>
          <p:nvGrpSpPr>
            <p:cNvPr id="2171" name="Google Shape;377;p18">
              <a:extLst>
                <a:ext uri="{FF2B5EF4-FFF2-40B4-BE49-F238E27FC236}">
                  <a16:creationId xmlns:a16="http://schemas.microsoft.com/office/drawing/2014/main" id="{B4217AB6-605A-E303-C539-704DA237AA24}"/>
                </a:ext>
              </a:extLst>
            </p:cNvPr>
            <p:cNvGrpSpPr/>
            <p:nvPr/>
          </p:nvGrpSpPr>
          <p:grpSpPr>
            <a:xfrm>
              <a:off x="8608365" y="2251695"/>
              <a:ext cx="307200" cy="297900"/>
              <a:chOff x="3021975" y="2389850"/>
              <a:chExt cx="307200" cy="297900"/>
            </a:xfrm>
          </p:grpSpPr>
          <p:sp>
            <p:nvSpPr>
              <p:cNvPr id="2176" name="Google Shape;378;p18">
                <a:extLst>
                  <a:ext uri="{FF2B5EF4-FFF2-40B4-BE49-F238E27FC236}">
                    <a16:creationId xmlns:a16="http://schemas.microsoft.com/office/drawing/2014/main" id="{3200F6F6-667C-4779-DF8A-C1CE0567C88B}"/>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177" name="Google Shape;379;p18">
                <a:extLst>
                  <a:ext uri="{FF2B5EF4-FFF2-40B4-BE49-F238E27FC236}">
                    <a16:creationId xmlns:a16="http://schemas.microsoft.com/office/drawing/2014/main" id="{6A426E11-8655-DA68-4579-867868EF3C6B}"/>
                  </a:ext>
                </a:extLst>
              </p:cNvPr>
              <p:cNvGrpSpPr/>
              <p:nvPr/>
            </p:nvGrpSpPr>
            <p:grpSpPr>
              <a:xfrm>
                <a:off x="3021975" y="2389850"/>
                <a:ext cx="307200" cy="295800"/>
                <a:chOff x="3021975" y="2389850"/>
                <a:chExt cx="307200" cy="295800"/>
              </a:xfrm>
            </p:grpSpPr>
            <p:sp>
              <p:nvSpPr>
                <p:cNvPr id="2178" name="Google Shape;380;p18">
                  <a:extLst>
                    <a:ext uri="{FF2B5EF4-FFF2-40B4-BE49-F238E27FC236}">
                      <a16:creationId xmlns:a16="http://schemas.microsoft.com/office/drawing/2014/main" id="{0065BD17-6259-BDB2-8F03-75FEA3F30640}"/>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79" name="Google Shape;381;p18">
                  <a:extLst>
                    <a:ext uri="{FF2B5EF4-FFF2-40B4-BE49-F238E27FC236}">
                      <a16:creationId xmlns:a16="http://schemas.microsoft.com/office/drawing/2014/main" id="{B9B1E0FB-3F15-8A2A-13E3-F4775D528913}"/>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80" name="Google Shape;382;p18">
                  <a:extLst>
                    <a:ext uri="{FF2B5EF4-FFF2-40B4-BE49-F238E27FC236}">
                      <a16:creationId xmlns:a16="http://schemas.microsoft.com/office/drawing/2014/main" id="{1004A366-8FF7-CA70-039B-28FB4BED3395}"/>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2181" name="Google Shape;383;p18">
                  <a:extLst>
                    <a:ext uri="{FF2B5EF4-FFF2-40B4-BE49-F238E27FC236}">
                      <a16:creationId xmlns:a16="http://schemas.microsoft.com/office/drawing/2014/main" id="{2E368AEB-0A0A-EDC2-BB08-2CFC5968EEF2}"/>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2182" name="Google Shape;384;p18">
                  <a:extLst>
                    <a:ext uri="{FF2B5EF4-FFF2-40B4-BE49-F238E27FC236}">
                      <a16:creationId xmlns:a16="http://schemas.microsoft.com/office/drawing/2014/main" id="{DBB60368-6D2E-5B52-D057-E6FAAB4C7B15}"/>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83" name="Google Shape;385;p18">
                  <a:extLst>
                    <a:ext uri="{FF2B5EF4-FFF2-40B4-BE49-F238E27FC236}">
                      <a16:creationId xmlns:a16="http://schemas.microsoft.com/office/drawing/2014/main" id="{9F8082DF-5605-B70E-642F-B543A6D5B28F}"/>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2184" name="Google Shape;386;p18">
                  <a:extLst>
                    <a:ext uri="{FF2B5EF4-FFF2-40B4-BE49-F238E27FC236}">
                      <a16:creationId xmlns:a16="http://schemas.microsoft.com/office/drawing/2014/main" id="{2663503E-0697-74FD-60AB-8C7625992A81}"/>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2185" name="Google Shape;387;p18">
                  <a:extLst>
                    <a:ext uri="{FF2B5EF4-FFF2-40B4-BE49-F238E27FC236}">
                      <a16:creationId xmlns:a16="http://schemas.microsoft.com/office/drawing/2014/main" id="{922FD9B5-727E-860B-F94C-B527B213C903}"/>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2172" name="Google Shape;388;p18">
              <a:extLst>
                <a:ext uri="{FF2B5EF4-FFF2-40B4-BE49-F238E27FC236}">
                  <a16:creationId xmlns:a16="http://schemas.microsoft.com/office/drawing/2014/main" id="{46E9CC57-7756-0797-4644-EC6AD1519D99}"/>
                </a:ext>
              </a:extLst>
            </p:cNvPr>
            <p:cNvSpPr txBox="1"/>
            <p:nvPr/>
          </p:nvSpPr>
          <p:spPr>
            <a:xfrm>
              <a:off x="8477126" y="2049850"/>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cxnSp>
          <p:nvCxnSpPr>
            <p:cNvPr id="2173" name="Google Shape;389;p18">
              <a:extLst>
                <a:ext uri="{FF2B5EF4-FFF2-40B4-BE49-F238E27FC236}">
                  <a16:creationId xmlns:a16="http://schemas.microsoft.com/office/drawing/2014/main" id="{37502793-8002-4C17-FD75-393055F85538}"/>
                </a:ext>
              </a:extLst>
            </p:cNvPr>
            <p:cNvCxnSpPr/>
            <p:nvPr/>
          </p:nvCxnSpPr>
          <p:spPr>
            <a:xfrm>
              <a:off x="8757253" y="2588620"/>
              <a:ext cx="0" cy="105900"/>
            </a:xfrm>
            <a:prstGeom prst="straightConnector1">
              <a:avLst/>
            </a:prstGeom>
            <a:noFill/>
            <a:ln w="9525" cap="flat" cmpd="sng">
              <a:solidFill>
                <a:schemeClr val="dk2"/>
              </a:solidFill>
              <a:prstDash val="dot"/>
              <a:round/>
              <a:headEnd type="none" w="med" len="med"/>
              <a:tailEnd type="none" w="med" len="med"/>
            </a:ln>
          </p:spPr>
        </p:cxnSp>
        <p:sp>
          <p:nvSpPr>
            <p:cNvPr id="2174" name="Google Shape;390;p18">
              <a:extLst>
                <a:ext uri="{FF2B5EF4-FFF2-40B4-BE49-F238E27FC236}">
                  <a16:creationId xmlns:a16="http://schemas.microsoft.com/office/drawing/2014/main" id="{F1CD829B-FD8F-D9F7-4986-50CBB10323AA}"/>
                </a:ext>
              </a:extLst>
            </p:cNvPr>
            <p:cNvSpPr/>
            <p:nvPr/>
          </p:nvSpPr>
          <p:spPr>
            <a:xfrm>
              <a:off x="8607990" y="271704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75" name="Google Shape;344;p18">
              <a:extLst>
                <a:ext uri="{FF2B5EF4-FFF2-40B4-BE49-F238E27FC236}">
                  <a16:creationId xmlns:a16="http://schemas.microsoft.com/office/drawing/2014/main" id="{AA68FBF6-EE50-DC0B-99E1-B27578678BC7}"/>
                </a:ext>
              </a:extLst>
            </p:cNvPr>
            <p:cNvSpPr txBox="1"/>
            <p:nvPr/>
          </p:nvSpPr>
          <p:spPr>
            <a:xfrm>
              <a:off x="8629070" y="1075788"/>
              <a:ext cx="274200" cy="23835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(1)</a:t>
              </a:r>
              <a:endParaRPr sz="686" dirty="0">
                <a:solidFill>
                  <a:schemeClr val="dk2"/>
                </a:solidFill>
                <a:latin typeface="Source Sans 3"/>
                <a:ea typeface="Source Sans 3"/>
                <a:cs typeface="Source Sans 3"/>
                <a:sym typeface="Source Sans 3"/>
              </a:endParaRPr>
            </a:p>
          </p:txBody>
        </p:sp>
      </p:grpSp>
      <p:sp>
        <p:nvSpPr>
          <p:cNvPr id="2200" name="Google Shape;394;p18">
            <a:extLst>
              <a:ext uri="{FF2B5EF4-FFF2-40B4-BE49-F238E27FC236}">
                <a16:creationId xmlns:a16="http://schemas.microsoft.com/office/drawing/2014/main" id="{9274D0A6-D635-353C-E741-CA0C17A9A08A}"/>
              </a:ext>
            </a:extLst>
          </p:cNvPr>
          <p:cNvSpPr txBox="1"/>
          <p:nvPr/>
        </p:nvSpPr>
        <p:spPr>
          <a:xfrm>
            <a:off x="10963395" y="7010441"/>
            <a:ext cx="1433762" cy="10229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dirty="0" err="1">
                <a:solidFill>
                  <a:schemeClr val="dk2"/>
                </a:solidFill>
                <a:latin typeface="Source Sans 3"/>
                <a:ea typeface="Source Sans 3"/>
                <a:cs typeface="Source Sans 3"/>
                <a:sym typeface="Source Sans 3"/>
              </a:rPr>
              <a:t>sentiment_analysis.Rmd</a:t>
            </a:r>
            <a:endParaRPr sz="800" dirty="0">
              <a:solidFill>
                <a:schemeClr val="dk2"/>
              </a:solidFill>
              <a:latin typeface="Source Sans 3"/>
              <a:ea typeface="Source Sans 3"/>
              <a:cs typeface="Source Sans 3"/>
              <a:sym typeface="Source Sans 3"/>
            </a:endParaRPr>
          </a:p>
        </p:txBody>
      </p:sp>
      <p:sp>
        <p:nvSpPr>
          <p:cNvPr id="2201" name="Layout Suggestions">
            <a:extLst>
              <a:ext uri="{FF2B5EF4-FFF2-40B4-BE49-F238E27FC236}">
                <a16:creationId xmlns:a16="http://schemas.microsoft.com/office/drawing/2014/main" id="{B192241C-54F0-AF02-D51D-D4E85C389FF0}"/>
              </a:ext>
            </a:extLst>
          </p:cNvPr>
          <p:cNvSpPr txBox="1"/>
          <p:nvPr/>
        </p:nvSpPr>
        <p:spPr>
          <a:xfrm>
            <a:off x="159998" y="6661138"/>
            <a:ext cx="423108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b="0" dirty="0"/>
              <a:t>Label Selection Criteria</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2202" name="TextBox 2201">
            <a:extLst>
              <a:ext uri="{FF2B5EF4-FFF2-40B4-BE49-F238E27FC236}">
                <a16:creationId xmlns:a16="http://schemas.microsoft.com/office/drawing/2014/main" id="{B6ACCA1A-DC41-6390-399F-BE806CF4240F}"/>
              </a:ext>
            </a:extLst>
          </p:cNvPr>
          <p:cNvSpPr txBox="1"/>
          <p:nvPr/>
        </p:nvSpPr>
        <p:spPr>
          <a:xfrm>
            <a:off x="132572" y="6906908"/>
            <a:ext cx="4258512"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Sentiment labels span both main project repos and their forks. However, since forked repos contain a small fraction (&lt; 10%)  of labeled comments, only comments from the project’s main repo are kept.</a:t>
            </a:r>
          </a:p>
        </p:txBody>
      </p:sp>
      <p:sp>
        <p:nvSpPr>
          <p:cNvPr id="2203" name="TextBox 2202">
            <a:extLst>
              <a:ext uri="{FF2B5EF4-FFF2-40B4-BE49-F238E27FC236}">
                <a16:creationId xmlns:a16="http://schemas.microsoft.com/office/drawing/2014/main" id="{F1A1B80B-1A85-F36E-39B6-446B428953BF}"/>
              </a:ext>
            </a:extLst>
          </p:cNvPr>
          <p:cNvSpPr txBox="1"/>
          <p:nvPr/>
        </p:nvSpPr>
        <p:spPr>
          <a:xfrm>
            <a:off x="1030041" y="8215136"/>
            <a:ext cx="10348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Main Repo</a:t>
            </a:r>
            <a:endParaRPr lang="en-US" sz="800" b="0" dirty="0"/>
          </a:p>
        </p:txBody>
      </p:sp>
      <p:sp>
        <p:nvSpPr>
          <p:cNvPr id="2204" name="TextBox 2203">
            <a:extLst>
              <a:ext uri="{FF2B5EF4-FFF2-40B4-BE49-F238E27FC236}">
                <a16:creationId xmlns:a16="http://schemas.microsoft.com/office/drawing/2014/main" id="{93F13195-7DA8-57B3-2409-58E4DB42346B}"/>
              </a:ext>
            </a:extLst>
          </p:cNvPr>
          <p:cNvSpPr txBox="1"/>
          <p:nvPr/>
        </p:nvSpPr>
        <p:spPr>
          <a:xfrm>
            <a:off x="2416383" y="8215136"/>
            <a:ext cx="10348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Fork Repo</a:t>
            </a:r>
            <a:endParaRPr lang="en-US" sz="800" b="0" dirty="0"/>
          </a:p>
        </p:txBody>
      </p:sp>
      <p:sp>
        <p:nvSpPr>
          <p:cNvPr id="2205" name="TextBox 2204">
            <a:extLst>
              <a:ext uri="{FF2B5EF4-FFF2-40B4-BE49-F238E27FC236}">
                <a16:creationId xmlns:a16="http://schemas.microsoft.com/office/drawing/2014/main" id="{79B0E8CD-8372-4366-0AA9-F5545563DF0C}"/>
              </a:ext>
            </a:extLst>
          </p:cNvPr>
          <p:cNvSpPr txBox="1"/>
          <p:nvPr/>
        </p:nvSpPr>
        <p:spPr>
          <a:xfrm>
            <a:off x="123843" y="8472311"/>
            <a:ext cx="4346831"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Jira Emotion CSV contains emotion labels manually determined from multiple raters. Only comments with labels that show higher inter-rater agreement are kept.</a:t>
            </a:r>
          </a:p>
        </p:txBody>
      </p:sp>
      <p:sp>
        <p:nvSpPr>
          <p:cNvPr id="2206" name="Google Shape;338;p18">
            <a:extLst>
              <a:ext uri="{FF2B5EF4-FFF2-40B4-BE49-F238E27FC236}">
                <a16:creationId xmlns:a16="http://schemas.microsoft.com/office/drawing/2014/main" id="{88377719-4E66-0B13-36C1-C5F29EC04A8A}"/>
              </a:ext>
            </a:extLst>
          </p:cNvPr>
          <p:cNvSpPr/>
          <p:nvPr/>
        </p:nvSpPr>
        <p:spPr>
          <a:xfrm>
            <a:off x="678571" y="9348859"/>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7" name="Line">
            <a:extLst>
              <a:ext uri="{FF2B5EF4-FFF2-40B4-BE49-F238E27FC236}">
                <a16:creationId xmlns:a16="http://schemas.microsoft.com/office/drawing/2014/main" id="{B7613578-1461-50DD-DA6B-4540F3150D7C}"/>
              </a:ext>
            </a:extLst>
          </p:cNvPr>
          <p:cNvSpPr/>
          <p:nvPr/>
        </p:nvSpPr>
        <p:spPr>
          <a:xfrm flipH="1" flipV="1">
            <a:off x="3154971" y="4050753"/>
            <a:ext cx="1" cy="945321"/>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208" name="TextBox 2207">
            <a:extLst>
              <a:ext uri="{FF2B5EF4-FFF2-40B4-BE49-F238E27FC236}">
                <a16:creationId xmlns:a16="http://schemas.microsoft.com/office/drawing/2014/main" id="{307EDB4F-970E-F81E-B8EC-3B0AEE87B533}"/>
              </a:ext>
            </a:extLst>
          </p:cNvPr>
          <p:cNvSpPr txBox="1"/>
          <p:nvPr/>
        </p:nvSpPr>
        <p:spPr>
          <a:xfrm>
            <a:off x="3221935" y="4247371"/>
            <a:ext cx="97054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Sentiment</a:t>
            </a:r>
          </a:p>
        </p:txBody>
      </p:sp>
      <p:sp>
        <p:nvSpPr>
          <p:cNvPr id="2209" name="Line">
            <a:extLst>
              <a:ext uri="{FF2B5EF4-FFF2-40B4-BE49-F238E27FC236}">
                <a16:creationId xmlns:a16="http://schemas.microsoft.com/office/drawing/2014/main" id="{D51E9770-B8EF-128A-A752-16F81EF009DB}"/>
              </a:ext>
            </a:extLst>
          </p:cNvPr>
          <p:cNvSpPr/>
          <p:nvPr/>
        </p:nvSpPr>
        <p:spPr>
          <a:xfrm flipH="1" flipV="1">
            <a:off x="3162257" y="5448883"/>
            <a:ext cx="1" cy="945321"/>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210" name="TextBox 2209">
            <a:extLst>
              <a:ext uri="{FF2B5EF4-FFF2-40B4-BE49-F238E27FC236}">
                <a16:creationId xmlns:a16="http://schemas.microsoft.com/office/drawing/2014/main" id="{2BC8D16A-4E43-3669-2032-AC6C08E21005}"/>
              </a:ext>
            </a:extLst>
          </p:cNvPr>
          <p:cNvSpPr txBox="1"/>
          <p:nvPr/>
        </p:nvSpPr>
        <p:spPr>
          <a:xfrm>
            <a:off x="3229221" y="5645501"/>
            <a:ext cx="97054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Emotion</a:t>
            </a:r>
          </a:p>
        </p:txBody>
      </p:sp>
      <p:pic>
        <p:nvPicPr>
          <p:cNvPr id="2211" name="Picture 2210" descr="A picture containing text&#10;&#10;Description automatically generated">
            <a:extLst>
              <a:ext uri="{FF2B5EF4-FFF2-40B4-BE49-F238E27FC236}">
                <a16:creationId xmlns:a16="http://schemas.microsoft.com/office/drawing/2014/main" id="{00EFA33B-4A8E-D059-449D-259FED90135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24189" y="4383757"/>
            <a:ext cx="585008" cy="679364"/>
          </a:xfrm>
          <a:prstGeom prst="rect">
            <a:avLst/>
          </a:prstGeom>
        </p:spPr>
      </p:pic>
      <p:sp>
        <p:nvSpPr>
          <p:cNvPr id="2212" name="TextBox 2211">
            <a:extLst>
              <a:ext uri="{FF2B5EF4-FFF2-40B4-BE49-F238E27FC236}">
                <a16:creationId xmlns:a16="http://schemas.microsoft.com/office/drawing/2014/main" id="{CDAB1EE9-00EE-8141-4CE0-1B3BC2EA3694}"/>
              </a:ext>
            </a:extLst>
          </p:cNvPr>
          <p:cNvSpPr txBox="1"/>
          <p:nvPr/>
        </p:nvSpPr>
        <p:spPr>
          <a:xfrm>
            <a:off x="7111672" y="9130878"/>
            <a:ext cx="72095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err="1"/>
              <a:t>sailuh</a:t>
            </a:r>
            <a:r>
              <a:rPr lang="en-US" sz="800" b="0" dirty="0"/>
              <a:t>/</a:t>
            </a:r>
            <a:r>
              <a:rPr lang="en-US" sz="800" b="0" dirty="0" err="1"/>
              <a:t>kaiaulu</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2213" name="Picture 2212" descr="A picture containing text&#10;&#10;Description automatically generated">
            <a:extLst>
              <a:ext uri="{FF2B5EF4-FFF2-40B4-BE49-F238E27FC236}">
                <a16:creationId xmlns:a16="http://schemas.microsoft.com/office/drawing/2014/main" id="{3101060E-8659-477C-EC13-63ECFAD4739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88144" y="8468874"/>
            <a:ext cx="585008" cy="679364"/>
          </a:xfrm>
          <a:prstGeom prst="rect">
            <a:avLst/>
          </a:prstGeom>
        </p:spPr>
      </p:pic>
      <p:sp>
        <p:nvSpPr>
          <p:cNvPr id="2214" name="Can 2213">
            <a:extLst>
              <a:ext uri="{FF2B5EF4-FFF2-40B4-BE49-F238E27FC236}">
                <a16:creationId xmlns:a16="http://schemas.microsoft.com/office/drawing/2014/main" id="{37EF7651-353A-E53B-8330-2B5529A3DFF2}"/>
              </a:ext>
            </a:extLst>
          </p:cNvPr>
          <p:cNvSpPr/>
          <p:nvPr/>
        </p:nvSpPr>
        <p:spPr>
          <a:xfrm>
            <a:off x="2164242" y="5501642"/>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215" name="Can 2214">
            <a:extLst>
              <a:ext uri="{FF2B5EF4-FFF2-40B4-BE49-F238E27FC236}">
                <a16:creationId xmlns:a16="http://schemas.microsoft.com/office/drawing/2014/main" id="{6374A6B5-754C-2BBB-10CD-D15B2CB89BA3}"/>
              </a:ext>
            </a:extLst>
          </p:cNvPr>
          <p:cNvSpPr/>
          <p:nvPr/>
        </p:nvSpPr>
        <p:spPr>
          <a:xfrm>
            <a:off x="8020123" y="2662290"/>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216" name="Can 2215">
            <a:extLst>
              <a:ext uri="{FF2B5EF4-FFF2-40B4-BE49-F238E27FC236}">
                <a16:creationId xmlns:a16="http://schemas.microsoft.com/office/drawing/2014/main" id="{D6CABF8D-B2A0-BBE5-D808-D824735F04A5}"/>
              </a:ext>
            </a:extLst>
          </p:cNvPr>
          <p:cNvSpPr/>
          <p:nvPr/>
        </p:nvSpPr>
        <p:spPr>
          <a:xfrm>
            <a:off x="7973474" y="6674341"/>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2217" name="Connector: Elbow 504">
            <a:extLst>
              <a:ext uri="{FF2B5EF4-FFF2-40B4-BE49-F238E27FC236}">
                <a16:creationId xmlns:a16="http://schemas.microsoft.com/office/drawing/2014/main" id="{C4356987-CD36-9E03-2B86-FAEDFDBE4560}"/>
              </a:ext>
            </a:extLst>
          </p:cNvPr>
          <p:cNvCxnSpPr>
            <a:cxnSpLocks/>
            <a:endCxn id="2138" idx="1"/>
          </p:cNvCxnSpPr>
          <p:nvPr/>
        </p:nvCxnSpPr>
        <p:spPr>
          <a:xfrm>
            <a:off x="10264774" y="8108060"/>
            <a:ext cx="260324" cy="6619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218" name="Group 2217">
            <a:extLst>
              <a:ext uri="{FF2B5EF4-FFF2-40B4-BE49-F238E27FC236}">
                <a16:creationId xmlns:a16="http://schemas.microsoft.com/office/drawing/2014/main" id="{50A2B46E-B40F-114F-6DC3-E62405A12A7F}"/>
              </a:ext>
            </a:extLst>
          </p:cNvPr>
          <p:cNvGrpSpPr/>
          <p:nvPr/>
        </p:nvGrpSpPr>
        <p:grpSpPr>
          <a:xfrm>
            <a:off x="10255192" y="8324484"/>
            <a:ext cx="258099" cy="400772"/>
            <a:chOff x="4995414" y="5124450"/>
            <a:chExt cx="279788" cy="627063"/>
          </a:xfrm>
        </p:grpSpPr>
        <p:cxnSp>
          <p:nvCxnSpPr>
            <p:cNvPr id="2219" name="Straight Connector 2218">
              <a:extLst>
                <a:ext uri="{FF2B5EF4-FFF2-40B4-BE49-F238E27FC236}">
                  <a16:creationId xmlns:a16="http://schemas.microsoft.com/office/drawing/2014/main" id="{A556F769-4D85-8BF7-EC8E-D7C9B9F7A92E}"/>
                </a:ext>
              </a:extLst>
            </p:cNvPr>
            <p:cNvCxnSpPr>
              <a:cxnSpLocks/>
            </p:cNvCxnSpPr>
            <p:nvPr/>
          </p:nvCxnSpPr>
          <p:spPr>
            <a:xfrm>
              <a:off x="4995414" y="5748338"/>
              <a:ext cx="157186" cy="0"/>
            </a:xfrm>
            <a:prstGeom prst="line">
              <a:avLst/>
            </a:prstGeom>
          </p:spPr>
          <p:style>
            <a:lnRef idx="1">
              <a:schemeClr val="dk1"/>
            </a:lnRef>
            <a:fillRef idx="0">
              <a:schemeClr val="dk1"/>
            </a:fillRef>
            <a:effectRef idx="0">
              <a:schemeClr val="dk1"/>
            </a:effectRef>
            <a:fontRef idx="minor">
              <a:schemeClr val="tx1"/>
            </a:fontRef>
          </p:style>
        </p:cxnSp>
        <p:cxnSp>
          <p:nvCxnSpPr>
            <p:cNvPr id="2220" name="Straight Connector 2219">
              <a:extLst>
                <a:ext uri="{FF2B5EF4-FFF2-40B4-BE49-F238E27FC236}">
                  <a16:creationId xmlns:a16="http://schemas.microsoft.com/office/drawing/2014/main" id="{9421E539-9F5A-EB8F-8326-F3C7E47003A2}"/>
                </a:ext>
              </a:extLst>
            </p:cNvPr>
            <p:cNvCxnSpPr/>
            <p:nvPr/>
          </p:nvCxnSpPr>
          <p:spPr>
            <a:xfrm flipV="1">
              <a:off x="5152600" y="5124450"/>
              <a:ext cx="0" cy="627063"/>
            </a:xfrm>
            <a:prstGeom prst="line">
              <a:avLst/>
            </a:prstGeom>
          </p:spPr>
          <p:style>
            <a:lnRef idx="1">
              <a:schemeClr val="dk1"/>
            </a:lnRef>
            <a:fillRef idx="0">
              <a:schemeClr val="dk1"/>
            </a:fillRef>
            <a:effectRef idx="0">
              <a:schemeClr val="dk1"/>
            </a:effectRef>
            <a:fontRef idx="minor">
              <a:schemeClr val="tx1"/>
            </a:fontRef>
          </p:style>
        </p:cxnSp>
        <p:cxnSp>
          <p:nvCxnSpPr>
            <p:cNvPr id="2221" name="Straight Arrow Connector 2220">
              <a:extLst>
                <a:ext uri="{FF2B5EF4-FFF2-40B4-BE49-F238E27FC236}">
                  <a16:creationId xmlns:a16="http://schemas.microsoft.com/office/drawing/2014/main" id="{C49647C3-7C6B-CB31-7D82-83D27F027724}"/>
                </a:ext>
              </a:extLst>
            </p:cNvPr>
            <p:cNvCxnSpPr/>
            <p:nvPr/>
          </p:nvCxnSpPr>
          <p:spPr>
            <a:xfrm>
              <a:off x="5152600" y="5129213"/>
              <a:ext cx="1226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222" name="Group 2221">
            <a:extLst>
              <a:ext uri="{FF2B5EF4-FFF2-40B4-BE49-F238E27FC236}">
                <a16:creationId xmlns:a16="http://schemas.microsoft.com/office/drawing/2014/main" id="{0D55EC8F-2972-E7A6-53AE-C5F467E3C1F4}"/>
              </a:ext>
            </a:extLst>
          </p:cNvPr>
          <p:cNvGrpSpPr/>
          <p:nvPr/>
        </p:nvGrpSpPr>
        <p:grpSpPr>
          <a:xfrm>
            <a:off x="10273320" y="7711032"/>
            <a:ext cx="246605" cy="248161"/>
            <a:chOff x="4995414" y="4014788"/>
            <a:chExt cx="318346" cy="642937"/>
          </a:xfrm>
        </p:grpSpPr>
        <p:cxnSp>
          <p:nvCxnSpPr>
            <p:cNvPr id="2223" name="Straight Connector 2222">
              <a:extLst>
                <a:ext uri="{FF2B5EF4-FFF2-40B4-BE49-F238E27FC236}">
                  <a16:creationId xmlns:a16="http://schemas.microsoft.com/office/drawing/2014/main" id="{CAF0F748-0734-D853-B439-1B330379CBEA}"/>
                </a:ext>
              </a:extLst>
            </p:cNvPr>
            <p:cNvCxnSpPr>
              <a:cxnSpLocks/>
            </p:cNvCxnSpPr>
            <p:nvPr/>
          </p:nvCxnSpPr>
          <p:spPr>
            <a:xfrm>
              <a:off x="4995414" y="4014788"/>
              <a:ext cx="175470" cy="0"/>
            </a:xfrm>
            <a:prstGeom prst="line">
              <a:avLst/>
            </a:prstGeom>
          </p:spPr>
          <p:style>
            <a:lnRef idx="1">
              <a:schemeClr val="dk1"/>
            </a:lnRef>
            <a:fillRef idx="0">
              <a:schemeClr val="dk1"/>
            </a:fillRef>
            <a:effectRef idx="0">
              <a:schemeClr val="dk1"/>
            </a:effectRef>
            <a:fontRef idx="minor">
              <a:schemeClr val="tx1"/>
            </a:fontRef>
          </p:style>
        </p:cxnSp>
        <p:cxnSp>
          <p:nvCxnSpPr>
            <p:cNvPr id="2224" name="Straight Connector 2223">
              <a:extLst>
                <a:ext uri="{FF2B5EF4-FFF2-40B4-BE49-F238E27FC236}">
                  <a16:creationId xmlns:a16="http://schemas.microsoft.com/office/drawing/2014/main" id="{F9FFE9BD-09D5-D260-70C1-B89F9B8B1BCE}"/>
                </a:ext>
              </a:extLst>
            </p:cNvPr>
            <p:cNvCxnSpPr/>
            <p:nvPr/>
          </p:nvCxnSpPr>
          <p:spPr>
            <a:xfrm>
              <a:off x="5168503" y="4014788"/>
              <a:ext cx="0" cy="642937"/>
            </a:xfrm>
            <a:prstGeom prst="line">
              <a:avLst/>
            </a:prstGeom>
          </p:spPr>
          <p:style>
            <a:lnRef idx="1">
              <a:schemeClr val="dk1"/>
            </a:lnRef>
            <a:fillRef idx="0">
              <a:schemeClr val="dk1"/>
            </a:fillRef>
            <a:effectRef idx="0">
              <a:schemeClr val="dk1"/>
            </a:effectRef>
            <a:fontRef idx="minor">
              <a:schemeClr val="tx1"/>
            </a:fontRef>
          </p:style>
        </p:cxnSp>
        <p:cxnSp>
          <p:nvCxnSpPr>
            <p:cNvPr id="2225" name="Straight Arrow Connector 2224">
              <a:extLst>
                <a:ext uri="{FF2B5EF4-FFF2-40B4-BE49-F238E27FC236}">
                  <a16:creationId xmlns:a16="http://schemas.microsoft.com/office/drawing/2014/main" id="{3235B2FA-B32A-3CDE-7D3C-F9A7C2E39B74}"/>
                </a:ext>
              </a:extLst>
            </p:cNvPr>
            <p:cNvCxnSpPr/>
            <p:nvPr/>
          </p:nvCxnSpPr>
          <p:spPr>
            <a:xfrm>
              <a:off x="5163741" y="4657725"/>
              <a:ext cx="1500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226" name="Group 2225">
            <a:extLst>
              <a:ext uri="{FF2B5EF4-FFF2-40B4-BE49-F238E27FC236}">
                <a16:creationId xmlns:a16="http://schemas.microsoft.com/office/drawing/2014/main" id="{7AECB397-48DB-D29F-9212-A72D0E6AF3A8}"/>
              </a:ext>
            </a:extLst>
          </p:cNvPr>
          <p:cNvGrpSpPr/>
          <p:nvPr/>
        </p:nvGrpSpPr>
        <p:grpSpPr>
          <a:xfrm>
            <a:off x="1092074" y="7766592"/>
            <a:ext cx="953200" cy="458010"/>
            <a:chOff x="5528605" y="4530831"/>
            <a:chExt cx="953200" cy="458010"/>
          </a:xfrm>
        </p:grpSpPr>
        <p:graphicFrame>
          <p:nvGraphicFramePr>
            <p:cNvPr id="2227" name="Table">
              <a:extLst>
                <a:ext uri="{FF2B5EF4-FFF2-40B4-BE49-F238E27FC236}">
                  <a16:creationId xmlns:a16="http://schemas.microsoft.com/office/drawing/2014/main" id="{A1428F96-69C7-79BA-3B3C-85290867483A}"/>
                </a:ext>
              </a:extLst>
            </p:cNvPr>
            <p:cNvGraphicFramePr/>
            <p:nvPr>
              <p:extLst>
                <p:ext uri="{D42A27DB-BD31-4B8C-83A1-F6EECF244321}">
                  <p14:modId xmlns:p14="http://schemas.microsoft.com/office/powerpoint/2010/main" val="3266341784"/>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2228" name="Table">
              <a:extLst>
                <a:ext uri="{FF2B5EF4-FFF2-40B4-BE49-F238E27FC236}">
                  <a16:creationId xmlns:a16="http://schemas.microsoft.com/office/drawing/2014/main" id="{54F247E9-28FF-D424-8495-691A9FA52A0E}"/>
                </a:ext>
              </a:extLst>
            </p:cNvPr>
            <p:cNvGraphicFramePr/>
            <p:nvPr>
              <p:extLst>
                <p:ext uri="{D42A27DB-BD31-4B8C-83A1-F6EECF244321}">
                  <p14:modId xmlns:p14="http://schemas.microsoft.com/office/powerpoint/2010/main" val="2201061474"/>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grpSp>
        <p:nvGrpSpPr>
          <p:cNvPr id="2229" name="Group 2228">
            <a:extLst>
              <a:ext uri="{FF2B5EF4-FFF2-40B4-BE49-F238E27FC236}">
                <a16:creationId xmlns:a16="http://schemas.microsoft.com/office/drawing/2014/main" id="{893A416E-ABE6-4EA9-384A-C33C69DB4131}"/>
              </a:ext>
            </a:extLst>
          </p:cNvPr>
          <p:cNvGrpSpPr/>
          <p:nvPr/>
        </p:nvGrpSpPr>
        <p:grpSpPr>
          <a:xfrm>
            <a:off x="2597665" y="7778932"/>
            <a:ext cx="630320" cy="458010"/>
            <a:chOff x="5528605" y="4530831"/>
            <a:chExt cx="630320" cy="458010"/>
          </a:xfrm>
        </p:grpSpPr>
        <p:graphicFrame>
          <p:nvGraphicFramePr>
            <p:cNvPr id="2230" name="Table">
              <a:extLst>
                <a:ext uri="{FF2B5EF4-FFF2-40B4-BE49-F238E27FC236}">
                  <a16:creationId xmlns:a16="http://schemas.microsoft.com/office/drawing/2014/main" id="{CB726BAD-6E1E-8511-1209-08249F6BB51E}"/>
                </a:ext>
              </a:extLst>
            </p:cNvPr>
            <p:cNvGraphicFramePr/>
            <p:nvPr>
              <p:extLst>
                <p:ext uri="{D42A27DB-BD31-4B8C-83A1-F6EECF244321}">
                  <p14:modId xmlns:p14="http://schemas.microsoft.com/office/powerpoint/2010/main" val="2323582204"/>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2231" name="Table">
              <a:extLst>
                <a:ext uri="{FF2B5EF4-FFF2-40B4-BE49-F238E27FC236}">
                  <a16:creationId xmlns:a16="http://schemas.microsoft.com/office/drawing/2014/main" id="{A74CF2A3-BD06-BBBF-BD20-46F7EEFC7130}"/>
                </a:ext>
              </a:extLst>
            </p:cNvPr>
            <p:cNvGraphicFramePr/>
            <p:nvPr>
              <p:extLst>
                <p:ext uri="{D42A27DB-BD31-4B8C-83A1-F6EECF244321}">
                  <p14:modId xmlns:p14="http://schemas.microsoft.com/office/powerpoint/2010/main" val="4164503918"/>
                </p:ext>
              </p:extLst>
            </p:nvPr>
          </p:nvGraphicFramePr>
          <p:xfrm>
            <a:off x="5997485" y="4530831"/>
            <a:ext cx="16144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grpSp>
        <p:nvGrpSpPr>
          <p:cNvPr id="2232" name="Group 2231">
            <a:extLst>
              <a:ext uri="{FF2B5EF4-FFF2-40B4-BE49-F238E27FC236}">
                <a16:creationId xmlns:a16="http://schemas.microsoft.com/office/drawing/2014/main" id="{ECEE8EA7-277D-9884-10DA-083148C33936}"/>
              </a:ext>
            </a:extLst>
          </p:cNvPr>
          <p:cNvGrpSpPr/>
          <p:nvPr/>
        </p:nvGrpSpPr>
        <p:grpSpPr>
          <a:xfrm>
            <a:off x="2562975" y="7722007"/>
            <a:ext cx="665010" cy="540204"/>
            <a:chOff x="3045575" y="7702261"/>
            <a:chExt cx="665010" cy="540204"/>
          </a:xfrm>
        </p:grpSpPr>
        <p:cxnSp>
          <p:nvCxnSpPr>
            <p:cNvPr id="2233" name="Straight Connector 2232">
              <a:extLst>
                <a:ext uri="{FF2B5EF4-FFF2-40B4-BE49-F238E27FC236}">
                  <a16:creationId xmlns:a16="http://schemas.microsoft.com/office/drawing/2014/main" id="{172135CD-80BA-9121-9B48-933F84B3EB8B}"/>
                </a:ext>
              </a:extLst>
            </p:cNvPr>
            <p:cNvCxnSpPr>
              <a:cxnSpLocks/>
            </p:cNvCxnSpPr>
            <p:nvPr/>
          </p:nvCxnSpPr>
          <p:spPr>
            <a:xfrm>
              <a:off x="3045575" y="7702261"/>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cxnSp>
          <p:nvCxnSpPr>
            <p:cNvPr id="2234" name="Straight Connector 2233">
              <a:extLst>
                <a:ext uri="{FF2B5EF4-FFF2-40B4-BE49-F238E27FC236}">
                  <a16:creationId xmlns:a16="http://schemas.microsoft.com/office/drawing/2014/main" id="{74B6D023-F991-315B-F3CB-4F00E0F6AF12}"/>
                </a:ext>
              </a:extLst>
            </p:cNvPr>
            <p:cNvCxnSpPr>
              <a:cxnSpLocks/>
            </p:cNvCxnSpPr>
            <p:nvPr/>
          </p:nvCxnSpPr>
          <p:spPr>
            <a:xfrm flipV="1">
              <a:off x="3058828" y="7710159"/>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grpSp>
      <p:pic>
        <p:nvPicPr>
          <p:cNvPr id="2235" name="Graphic 2234" descr="User with solid fill">
            <a:extLst>
              <a:ext uri="{FF2B5EF4-FFF2-40B4-BE49-F238E27FC236}">
                <a16:creationId xmlns:a16="http://schemas.microsoft.com/office/drawing/2014/main" id="{4315A8A4-2F26-630B-3D54-FA5C34913E1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26048" y="9843576"/>
            <a:ext cx="381354" cy="381354"/>
          </a:xfrm>
          <a:prstGeom prst="rect">
            <a:avLst/>
          </a:prstGeom>
        </p:spPr>
      </p:pic>
      <p:pic>
        <p:nvPicPr>
          <p:cNvPr id="2236" name="Graphic 2235" descr="User with solid fill">
            <a:extLst>
              <a:ext uri="{FF2B5EF4-FFF2-40B4-BE49-F238E27FC236}">
                <a16:creationId xmlns:a16="http://schemas.microsoft.com/office/drawing/2014/main" id="{BFE75FB0-C6CF-7EEC-9DBC-99F7F79B871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76126" y="9848058"/>
            <a:ext cx="381354" cy="381354"/>
          </a:xfrm>
          <a:prstGeom prst="rect">
            <a:avLst/>
          </a:prstGeom>
        </p:spPr>
      </p:pic>
      <p:pic>
        <p:nvPicPr>
          <p:cNvPr id="2237" name="Graphic 2236" descr="User with solid fill">
            <a:extLst>
              <a:ext uri="{FF2B5EF4-FFF2-40B4-BE49-F238E27FC236}">
                <a16:creationId xmlns:a16="http://schemas.microsoft.com/office/drawing/2014/main" id="{261B39BA-DCCF-2403-EE10-BBED30B749C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434159" y="9856625"/>
            <a:ext cx="381354" cy="381354"/>
          </a:xfrm>
          <a:prstGeom prst="rect">
            <a:avLst/>
          </a:prstGeom>
        </p:spPr>
      </p:pic>
      <p:pic>
        <p:nvPicPr>
          <p:cNvPr id="2238" name="Graphic 2237" descr="Heart outline">
            <a:extLst>
              <a:ext uri="{FF2B5EF4-FFF2-40B4-BE49-F238E27FC236}">
                <a16:creationId xmlns:a16="http://schemas.microsoft.com/office/drawing/2014/main" id="{1D75290D-F496-85AF-F212-BEEBF700979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8908" y="9348033"/>
            <a:ext cx="238741" cy="238741"/>
          </a:xfrm>
          <a:prstGeom prst="rect">
            <a:avLst/>
          </a:prstGeom>
        </p:spPr>
      </p:pic>
      <p:sp>
        <p:nvSpPr>
          <p:cNvPr id="2239" name="Google Shape;338;p18">
            <a:extLst>
              <a:ext uri="{FF2B5EF4-FFF2-40B4-BE49-F238E27FC236}">
                <a16:creationId xmlns:a16="http://schemas.microsoft.com/office/drawing/2014/main" id="{C43E1439-72FB-1A10-D549-A7B9EBEEA869}"/>
              </a:ext>
            </a:extLst>
          </p:cNvPr>
          <p:cNvSpPr/>
          <p:nvPr/>
        </p:nvSpPr>
        <p:spPr>
          <a:xfrm>
            <a:off x="1116634" y="9343884"/>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240" name="Graphic 2239" descr="Heart outline">
            <a:extLst>
              <a:ext uri="{FF2B5EF4-FFF2-40B4-BE49-F238E27FC236}">
                <a16:creationId xmlns:a16="http://schemas.microsoft.com/office/drawing/2014/main" id="{BABF82AF-1BBB-9FBB-2C42-7B71B2EED4F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76971" y="9343058"/>
            <a:ext cx="238741" cy="238741"/>
          </a:xfrm>
          <a:prstGeom prst="rect">
            <a:avLst/>
          </a:prstGeom>
        </p:spPr>
      </p:pic>
      <p:sp>
        <p:nvSpPr>
          <p:cNvPr id="2241" name="Google Shape;338;p18">
            <a:extLst>
              <a:ext uri="{FF2B5EF4-FFF2-40B4-BE49-F238E27FC236}">
                <a16:creationId xmlns:a16="http://schemas.microsoft.com/office/drawing/2014/main" id="{5048CC38-506D-354D-3BCA-D7DF12A402F8}"/>
              </a:ext>
            </a:extLst>
          </p:cNvPr>
          <p:cNvSpPr/>
          <p:nvPr/>
        </p:nvSpPr>
        <p:spPr>
          <a:xfrm>
            <a:off x="1545096" y="9341912"/>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42" name="Rectangle 2241">
            <a:extLst>
              <a:ext uri="{FF2B5EF4-FFF2-40B4-BE49-F238E27FC236}">
                <a16:creationId xmlns:a16="http://schemas.microsoft.com/office/drawing/2014/main" id="{AF7D3AB7-A42C-F087-A8A1-026FA632A452}"/>
              </a:ext>
            </a:extLst>
          </p:cNvPr>
          <p:cNvSpPr/>
          <p:nvPr/>
        </p:nvSpPr>
        <p:spPr>
          <a:xfrm>
            <a:off x="564675" y="9293640"/>
            <a:ext cx="1492070" cy="36576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243" name="Straight Connector 2242">
            <a:extLst>
              <a:ext uri="{FF2B5EF4-FFF2-40B4-BE49-F238E27FC236}">
                <a16:creationId xmlns:a16="http://schemas.microsoft.com/office/drawing/2014/main" id="{64EDADB6-28C2-CE0A-8447-7056AA44DAF1}"/>
              </a:ext>
            </a:extLst>
          </p:cNvPr>
          <p:cNvCxnSpPr>
            <a:cxnSpLocks/>
            <a:endCxn id="2235" idx="0"/>
          </p:cNvCxnSpPr>
          <p:nvPr/>
        </p:nvCxnSpPr>
        <p:spPr>
          <a:xfrm>
            <a:off x="857253" y="9656636"/>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244" name="Straight Connector 2243">
            <a:extLst>
              <a:ext uri="{FF2B5EF4-FFF2-40B4-BE49-F238E27FC236}">
                <a16:creationId xmlns:a16="http://schemas.microsoft.com/office/drawing/2014/main" id="{C179A961-1C77-5D92-0ABC-1C7F34E55B9C}"/>
              </a:ext>
            </a:extLst>
          </p:cNvPr>
          <p:cNvCxnSpPr>
            <a:cxnSpLocks/>
          </p:cNvCxnSpPr>
          <p:nvPr/>
        </p:nvCxnSpPr>
        <p:spPr>
          <a:xfrm flipV="1">
            <a:off x="1639240" y="9656636"/>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245" name="Straight Connector 2244">
            <a:extLst>
              <a:ext uri="{FF2B5EF4-FFF2-40B4-BE49-F238E27FC236}">
                <a16:creationId xmlns:a16="http://schemas.microsoft.com/office/drawing/2014/main" id="{1B3C1A4E-AE67-3A63-04D7-CAD465354CAF}"/>
              </a:ext>
            </a:extLst>
          </p:cNvPr>
          <p:cNvCxnSpPr>
            <a:cxnSpLocks/>
          </p:cNvCxnSpPr>
          <p:nvPr/>
        </p:nvCxnSpPr>
        <p:spPr>
          <a:xfrm flipV="1">
            <a:off x="1268752" y="9662737"/>
            <a:ext cx="0" cy="19030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2246" name="Google Shape;338;p18">
            <a:extLst>
              <a:ext uri="{FF2B5EF4-FFF2-40B4-BE49-F238E27FC236}">
                <a16:creationId xmlns:a16="http://schemas.microsoft.com/office/drawing/2014/main" id="{4B387AE3-BD98-2BB2-848D-7ACAC02BDAA3}"/>
              </a:ext>
            </a:extLst>
          </p:cNvPr>
          <p:cNvSpPr/>
          <p:nvPr/>
        </p:nvSpPr>
        <p:spPr>
          <a:xfrm>
            <a:off x="2483724" y="9376740"/>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247" name="Graphic 2246" descr="User with solid fill">
            <a:extLst>
              <a:ext uri="{FF2B5EF4-FFF2-40B4-BE49-F238E27FC236}">
                <a16:creationId xmlns:a16="http://schemas.microsoft.com/office/drawing/2014/main" id="{4A615629-F77F-AB21-07D3-3CE739269B0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31201" y="9871457"/>
            <a:ext cx="381354" cy="381354"/>
          </a:xfrm>
          <a:prstGeom prst="rect">
            <a:avLst/>
          </a:prstGeom>
        </p:spPr>
      </p:pic>
      <p:pic>
        <p:nvPicPr>
          <p:cNvPr id="2248" name="Graphic 2247" descr="User with solid fill">
            <a:extLst>
              <a:ext uri="{FF2B5EF4-FFF2-40B4-BE49-F238E27FC236}">
                <a16:creationId xmlns:a16="http://schemas.microsoft.com/office/drawing/2014/main" id="{B78D7D6B-BB55-EA68-55A5-D0CF20FBDF3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81279" y="9875939"/>
            <a:ext cx="381354" cy="381354"/>
          </a:xfrm>
          <a:prstGeom prst="rect">
            <a:avLst/>
          </a:prstGeom>
        </p:spPr>
      </p:pic>
      <p:pic>
        <p:nvPicPr>
          <p:cNvPr id="2249" name="Graphic 2248" descr="User with solid fill">
            <a:extLst>
              <a:ext uri="{FF2B5EF4-FFF2-40B4-BE49-F238E27FC236}">
                <a16:creationId xmlns:a16="http://schemas.microsoft.com/office/drawing/2014/main" id="{9DEF07B5-E9D1-C6B9-5BA2-57398328C85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39312" y="9884506"/>
            <a:ext cx="381354" cy="381354"/>
          </a:xfrm>
          <a:prstGeom prst="rect">
            <a:avLst/>
          </a:prstGeom>
        </p:spPr>
      </p:pic>
      <p:pic>
        <p:nvPicPr>
          <p:cNvPr id="2250" name="Graphic 2249" descr="Heart outline">
            <a:extLst>
              <a:ext uri="{FF2B5EF4-FFF2-40B4-BE49-F238E27FC236}">
                <a16:creationId xmlns:a16="http://schemas.microsoft.com/office/drawing/2014/main" id="{3E423B16-70AE-D865-D4FA-740BCACDDE7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544061" y="9375914"/>
            <a:ext cx="238741" cy="238741"/>
          </a:xfrm>
          <a:prstGeom prst="rect">
            <a:avLst/>
          </a:prstGeom>
        </p:spPr>
      </p:pic>
      <p:sp>
        <p:nvSpPr>
          <p:cNvPr id="2251" name="Google Shape;338;p18">
            <a:extLst>
              <a:ext uri="{FF2B5EF4-FFF2-40B4-BE49-F238E27FC236}">
                <a16:creationId xmlns:a16="http://schemas.microsoft.com/office/drawing/2014/main" id="{957D1E04-DD4B-3591-74E0-742983916D1F}"/>
              </a:ext>
            </a:extLst>
          </p:cNvPr>
          <p:cNvSpPr/>
          <p:nvPr/>
        </p:nvSpPr>
        <p:spPr>
          <a:xfrm>
            <a:off x="2921787" y="9371765"/>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252" name="Graphic 2251" descr="Heart outline">
            <a:extLst>
              <a:ext uri="{FF2B5EF4-FFF2-40B4-BE49-F238E27FC236}">
                <a16:creationId xmlns:a16="http://schemas.microsoft.com/office/drawing/2014/main" id="{65AC8C68-F443-BE75-2F31-9C8F09D3BD3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982124" y="9370939"/>
            <a:ext cx="238741" cy="238741"/>
          </a:xfrm>
          <a:prstGeom prst="rect">
            <a:avLst/>
          </a:prstGeom>
        </p:spPr>
      </p:pic>
      <p:sp>
        <p:nvSpPr>
          <p:cNvPr id="2253" name="Google Shape;338;p18">
            <a:extLst>
              <a:ext uri="{FF2B5EF4-FFF2-40B4-BE49-F238E27FC236}">
                <a16:creationId xmlns:a16="http://schemas.microsoft.com/office/drawing/2014/main" id="{E2FDB74E-7BE5-F3ED-95A5-5FD1A81AE2D3}"/>
              </a:ext>
            </a:extLst>
          </p:cNvPr>
          <p:cNvSpPr/>
          <p:nvPr/>
        </p:nvSpPr>
        <p:spPr>
          <a:xfrm>
            <a:off x="3350249" y="9369793"/>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254" name="Graphic 2253" descr="Heart outline">
            <a:extLst>
              <a:ext uri="{FF2B5EF4-FFF2-40B4-BE49-F238E27FC236}">
                <a16:creationId xmlns:a16="http://schemas.microsoft.com/office/drawing/2014/main" id="{D03661CC-6A04-9EF1-157B-7CD39ABA4D2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01738" y="9348230"/>
            <a:ext cx="238741" cy="238741"/>
          </a:xfrm>
          <a:prstGeom prst="rect">
            <a:avLst/>
          </a:prstGeom>
        </p:spPr>
      </p:pic>
      <p:sp>
        <p:nvSpPr>
          <p:cNvPr id="2255" name="Rectangle 2254">
            <a:extLst>
              <a:ext uri="{FF2B5EF4-FFF2-40B4-BE49-F238E27FC236}">
                <a16:creationId xmlns:a16="http://schemas.microsoft.com/office/drawing/2014/main" id="{82ACE1FE-6228-AA3D-EAFB-0809CE698D97}"/>
              </a:ext>
            </a:extLst>
          </p:cNvPr>
          <p:cNvSpPr/>
          <p:nvPr/>
        </p:nvSpPr>
        <p:spPr>
          <a:xfrm>
            <a:off x="2369828" y="9321521"/>
            <a:ext cx="1492070" cy="36576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2256" name="Straight Connector 2255">
            <a:extLst>
              <a:ext uri="{FF2B5EF4-FFF2-40B4-BE49-F238E27FC236}">
                <a16:creationId xmlns:a16="http://schemas.microsoft.com/office/drawing/2014/main" id="{248055DC-F474-E12E-F47D-7FF445114EF5}"/>
              </a:ext>
            </a:extLst>
          </p:cNvPr>
          <p:cNvCxnSpPr>
            <a:cxnSpLocks/>
            <a:endCxn id="2247" idx="0"/>
          </p:cNvCxnSpPr>
          <p:nvPr/>
        </p:nvCxnSpPr>
        <p:spPr>
          <a:xfrm>
            <a:off x="2662406" y="9684517"/>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257" name="Straight Connector 2256">
            <a:extLst>
              <a:ext uri="{FF2B5EF4-FFF2-40B4-BE49-F238E27FC236}">
                <a16:creationId xmlns:a16="http://schemas.microsoft.com/office/drawing/2014/main" id="{80860656-C4F2-819F-55F9-4E5402D755AC}"/>
              </a:ext>
            </a:extLst>
          </p:cNvPr>
          <p:cNvCxnSpPr>
            <a:cxnSpLocks/>
          </p:cNvCxnSpPr>
          <p:nvPr/>
        </p:nvCxnSpPr>
        <p:spPr>
          <a:xfrm flipV="1">
            <a:off x="3444393" y="9684517"/>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258" name="Straight Connector 2257">
            <a:extLst>
              <a:ext uri="{FF2B5EF4-FFF2-40B4-BE49-F238E27FC236}">
                <a16:creationId xmlns:a16="http://schemas.microsoft.com/office/drawing/2014/main" id="{ECA419DC-0C22-A8E5-B570-2CBF0D9F1CAE}"/>
              </a:ext>
            </a:extLst>
          </p:cNvPr>
          <p:cNvCxnSpPr>
            <a:cxnSpLocks/>
          </p:cNvCxnSpPr>
          <p:nvPr/>
        </p:nvCxnSpPr>
        <p:spPr>
          <a:xfrm flipV="1">
            <a:off x="3073905" y="9690618"/>
            <a:ext cx="0" cy="19030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2259" name="Graphic 2258" descr="Angry face outline with solid fill">
            <a:extLst>
              <a:ext uri="{FF2B5EF4-FFF2-40B4-BE49-F238E27FC236}">
                <a16:creationId xmlns:a16="http://schemas.microsoft.com/office/drawing/2014/main" id="{EDEDEF55-CF65-58CE-745E-1CE7CA4ABD2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419525" y="9368586"/>
            <a:ext cx="239887" cy="239887"/>
          </a:xfrm>
          <a:prstGeom prst="rect">
            <a:avLst/>
          </a:prstGeom>
        </p:spPr>
      </p:pic>
      <p:grpSp>
        <p:nvGrpSpPr>
          <p:cNvPr id="2260" name="Group 2259">
            <a:extLst>
              <a:ext uri="{FF2B5EF4-FFF2-40B4-BE49-F238E27FC236}">
                <a16:creationId xmlns:a16="http://schemas.microsoft.com/office/drawing/2014/main" id="{D3FDE7EC-837E-6E45-8F7E-07AF1FFC71EE}"/>
              </a:ext>
            </a:extLst>
          </p:cNvPr>
          <p:cNvGrpSpPr/>
          <p:nvPr/>
        </p:nvGrpSpPr>
        <p:grpSpPr>
          <a:xfrm>
            <a:off x="2410008" y="9223247"/>
            <a:ext cx="1413097" cy="540204"/>
            <a:chOff x="3045575" y="7702261"/>
            <a:chExt cx="665010" cy="540204"/>
          </a:xfrm>
        </p:grpSpPr>
        <p:cxnSp>
          <p:nvCxnSpPr>
            <p:cNvPr id="2261" name="Straight Connector 2260">
              <a:extLst>
                <a:ext uri="{FF2B5EF4-FFF2-40B4-BE49-F238E27FC236}">
                  <a16:creationId xmlns:a16="http://schemas.microsoft.com/office/drawing/2014/main" id="{6201E0ED-93FC-64F7-DE92-065F8B1D6936}"/>
                </a:ext>
              </a:extLst>
            </p:cNvPr>
            <p:cNvCxnSpPr>
              <a:cxnSpLocks/>
            </p:cNvCxnSpPr>
            <p:nvPr/>
          </p:nvCxnSpPr>
          <p:spPr>
            <a:xfrm>
              <a:off x="3045575" y="7702261"/>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cxnSp>
          <p:nvCxnSpPr>
            <p:cNvPr id="2262" name="Straight Connector 2261">
              <a:extLst>
                <a:ext uri="{FF2B5EF4-FFF2-40B4-BE49-F238E27FC236}">
                  <a16:creationId xmlns:a16="http://schemas.microsoft.com/office/drawing/2014/main" id="{B0D9043F-1EFB-A882-8BC5-4C3D4D2C3479}"/>
                </a:ext>
              </a:extLst>
            </p:cNvPr>
            <p:cNvCxnSpPr>
              <a:cxnSpLocks/>
            </p:cNvCxnSpPr>
            <p:nvPr/>
          </p:nvCxnSpPr>
          <p:spPr>
            <a:xfrm flipV="1">
              <a:off x="3058828" y="7710159"/>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grpSp>
      <p:pic>
        <p:nvPicPr>
          <p:cNvPr id="2263" name="Picture 2262" descr="A picture containing text&#10;&#10;Description automatically generated">
            <a:extLst>
              <a:ext uri="{FF2B5EF4-FFF2-40B4-BE49-F238E27FC236}">
                <a16:creationId xmlns:a16="http://schemas.microsoft.com/office/drawing/2014/main" id="{D80C6745-A233-615F-C17E-E08B3F7FA84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731243" y="8088668"/>
            <a:ext cx="297372" cy="345335"/>
          </a:xfrm>
          <a:prstGeom prst="rect">
            <a:avLst/>
          </a:prstGeom>
        </p:spPr>
      </p:pic>
    </p:spTree>
    <p:extLst>
      <p:ext uri="{BB962C8B-B14F-4D97-AF65-F5344CB8AC3E}">
        <p14:creationId xmlns:p14="http://schemas.microsoft.com/office/powerpoint/2010/main" val="264671364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A62CF-BF21-4BA7-17C5-461D48B818EF}"/>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3E77040A-AC6A-93C9-2627-E51DFF7AADE6}"/>
              </a:ext>
            </a:extLst>
          </p:cNvPr>
          <p:cNvPicPr>
            <a:picLocks noGrp="1" noRot="1" noChangeAspect="1" noMove="1" noResize="1" noEditPoints="1" noAdjustHandles="1" noChangeArrowheads="1" noChangeShapeType="1" noCrop="1"/>
          </p:cNvPicPr>
          <p:nvPr/>
        </p:nvPicPr>
        <p:blipFill>
          <a:blip r:embed="rId3"/>
          <a:stretch>
            <a:fillRect/>
          </a:stretch>
        </p:blipFill>
        <p:spPr>
          <a:xfrm>
            <a:off x="8397917" y="-673983"/>
            <a:ext cx="5598432" cy="2990088"/>
          </a:xfrm>
          <a:prstGeom prst="rect">
            <a:avLst/>
          </a:prstGeom>
          <a:ln w="12700">
            <a:miter lim="400000"/>
          </a:ln>
        </p:spPr>
      </p:pic>
      <p:sp>
        <p:nvSpPr>
          <p:cNvPr id="312" name="Line">
            <a:extLst>
              <a:ext uri="{FF2B5EF4-FFF2-40B4-BE49-F238E27FC236}">
                <a16:creationId xmlns:a16="http://schemas.microsoft.com/office/drawing/2014/main" id="{F62DF7BB-5EB7-B160-3B9B-20208A530067}"/>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8" name="TextBox 37">
            <a:extLst>
              <a:ext uri="{FF2B5EF4-FFF2-40B4-BE49-F238E27FC236}">
                <a16:creationId xmlns:a16="http://schemas.microsoft.com/office/drawing/2014/main" id="{8321153B-1248-23C8-E95A-33D40C8E4170}"/>
              </a:ext>
            </a:extLst>
          </p:cNvPr>
          <p:cNvSpPr txBox="1"/>
          <p:nvPr/>
        </p:nvSpPr>
        <p:spPr>
          <a:xfrm>
            <a:off x="-2599075" y="1256962"/>
            <a:ext cx="2097929" cy="5975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3000" b="1" i="0" u="none" strike="noStrike" cap="none" spc="0" normalizeH="0" baseline="0" dirty="0">
                <a:ln>
                  <a:noFill/>
                </a:ln>
                <a:solidFill>
                  <a:srgbClr val="4C4C4C"/>
                </a:solidFill>
                <a:effectLst/>
                <a:uFillTx/>
                <a:latin typeface="Source Sans Pro"/>
                <a:ea typeface="Source Sans Pro"/>
                <a:cs typeface="Source Sans Pro"/>
                <a:sym typeface="Source Sans Pro"/>
              </a:rPr>
              <a:t>Iteration 11</a:t>
            </a:r>
          </a:p>
        </p:txBody>
      </p:sp>
      <p:sp>
        <p:nvSpPr>
          <p:cNvPr id="2" name="Line">
            <a:extLst>
              <a:ext uri="{FF2B5EF4-FFF2-40B4-BE49-F238E27FC236}">
                <a16:creationId xmlns:a16="http://schemas.microsoft.com/office/drawing/2014/main" id="{A68BDF5D-40C3-B467-9ED9-D72E3ECFC3A6}"/>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 name="YOUR LOGO…">
            <a:extLst>
              <a:ext uri="{FF2B5EF4-FFF2-40B4-BE49-F238E27FC236}">
                <a16:creationId xmlns:a16="http://schemas.microsoft.com/office/drawing/2014/main" id="{2E6B51CA-616A-5033-E4A1-2EE431B7AF15}"/>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err="1"/>
              <a:t>Kaiāulu</a:t>
            </a:r>
            <a:endParaRPr sz="2400" dirty="0"/>
          </a:p>
        </p:txBody>
      </p:sp>
      <p:sp>
        <p:nvSpPr>
          <p:cNvPr id="4" name="Three Column Layout: : CHEAT SHEET">
            <a:extLst>
              <a:ext uri="{FF2B5EF4-FFF2-40B4-BE49-F238E27FC236}">
                <a16:creationId xmlns:a16="http://schemas.microsoft.com/office/drawing/2014/main" id="{09BCEB37-17A5-40B0-3BE9-D2237E32E9EE}"/>
              </a:ext>
            </a:extLst>
          </p:cNvPr>
          <p:cNvSpPr txBox="1">
            <a:spLocks noGrp="1"/>
          </p:cNvSpPr>
          <p:nvPr>
            <p:ph type="title"/>
          </p:nvPr>
        </p:nvSpPr>
        <p:spPr>
          <a:xfrm>
            <a:off x="275721" y="361177"/>
            <a:ext cx="10898129" cy="803346"/>
          </a:xfrm>
          <a:prstGeom prst="rect">
            <a:avLst/>
          </a:prstGeom>
        </p:spPr>
        <p:txBody>
          <a:bodyPr lIns="0" tIns="0" rIns="0" bIns="0" anchor="t">
            <a:normAutofit fontScale="90000"/>
          </a:bodyPr>
          <a:lstStyle/>
          <a:p>
            <a:r>
              <a:rPr lang="en-US" dirty="0"/>
              <a:t>Sentiment and Emotion Datasets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5" name="Use headers, colors, and/or backgrounds to separate or group together sections.">
            <a:extLst>
              <a:ext uri="{FF2B5EF4-FFF2-40B4-BE49-F238E27FC236}">
                <a16:creationId xmlns:a16="http://schemas.microsoft.com/office/drawing/2014/main" id="{0E3126D4-DAFA-6802-D01E-CCD44ED0E3A0}"/>
              </a:ext>
            </a:extLst>
          </p:cNvPr>
          <p:cNvSpPr txBox="1"/>
          <p:nvPr/>
        </p:nvSpPr>
        <p:spPr>
          <a:xfrm>
            <a:off x="219190" y="1892216"/>
            <a:ext cx="4336216" cy="1439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lvl="0">
              <a:lnSpc>
                <a:spcPct val="90000"/>
              </a:lnSpc>
              <a:buSzPts val="3700"/>
            </a:pPr>
            <a:r>
              <a:rPr lang="en-US" b="0" dirty="0"/>
              <a:t>Manually annotated sentiment/emotion labels can be useful for training and evaluating novel machine learning classifiers. However, these labels lack sufficient metadata to be extended with new observations for the same projects that were created. This </a:t>
            </a:r>
            <a:r>
              <a:rPr lang="en-US" b="0" dirty="0" err="1"/>
              <a:t>cheatsheet</a:t>
            </a:r>
            <a:r>
              <a:rPr lang="en-US" b="0" dirty="0"/>
              <a:t> demonstrates the reconstruction process used to expand labels' metadata, define reproducible project configuration files, and make them usable in </a:t>
            </a:r>
            <a:r>
              <a:rPr lang="en-US" b="0" dirty="0" err="1"/>
              <a:t>Kaiaulu</a:t>
            </a:r>
            <a:r>
              <a:rPr lang="en-US" b="0" dirty="0"/>
              <a:t> for new analyses.</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6" name="Logistics">
            <a:extLst>
              <a:ext uri="{FF2B5EF4-FFF2-40B4-BE49-F238E27FC236}">
                <a16:creationId xmlns:a16="http://schemas.microsoft.com/office/drawing/2014/main" id="{823A4378-26ED-2312-208D-EDF045119D38}"/>
              </a:ext>
            </a:extLst>
          </p:cNvPr>
          <p:cNvSpPr txBox="1"/>
          <p:nvPr/>
        </p:nvSpPr>
        <p:spPr>
          <a:xfrm>
            <a:off x="4672920" y="1544184"/>
            <a:ext cx="4520468" cy="3274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sz="2400" b="0" dirty="0"/>
              <a:t>Reproducing Datasets with </a:t>
            </a:r>
            <a:r>
              <a:rPr lang="en-US" sz="2400" b="0" dirty="0" err="1"/>
              <a:t>Kaiaulu</a:t>
            </a:r>
            <a:endParaRPr sz="2400"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7" name="Layout Suggestions">
            <a:extLst>
              <a:ext uri="{FF2B5EF4-FFF2-40B4-BE49-F238E27FC236}">
                <a16:creationId xmlns:a16="http://schemas.microsoft.com/office/drawing/2014/main" id="{EB19F19E-3F10-42BD-0AB3-D49AA6F9E7A9}"/>
              </a:ext>
            </a:extLst>
          </p:cNvPr>
          <p:cNvSpPr txBox="1"/>
          <p:nvPr/>
        </p:nvSpPr>
        <p:spPr>
          <a:xfrm>
            <a:off x="275721" y="1519235"/>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About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6C296A4F-8242-6F39-501D-575CD0C140D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9" name="TextBox 8">
            <a:extLst>
              <a:ext uri="{FF2B5EF4-FFF2-40B4-BE49-F238E27FC236}">
                <a16:creationId xmlns:a16="http://schemas.microsoft.com/office/drawing/2014/main" id="{16735BC6-F3F5-9582-2206-0571F33217A5}"/>
              </a:ext>
            </a:extLst>
          </p:cNvPr>
          <p:cNvSpPr txBox="1"/>
          <p:nvPr/>
        </p:nvSpPr>
        <p:spPr>
          <a:xfrm>
            <a:off x="7369010" y="10301097"/>
            <a:ext cx="6288562"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Samantha </a:t>
            </a:r>
            <a:r>
              <a:rPr lang="en-US" sz="1000" b="0" dirty="0">
                <a:solidFill>
                  <a:schemeClr val="tx1"/>
                </a:solidFill>
              </a:rPr>
              <a:t>Limon,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Carlos Paradis</a:t>
            </a:r>
            <a:r>
              <a:rPr lang="en-US" sz="1000" b="0" dirty="0">
                <a:solidFill>
                  <a:schemeClr val="tx1"/>
                </a:solidFill>
              </a:rPr>
              <a: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a:t>
            </a:r>
            <a:r>
              <a:rPr kumimoji="0" lang="en-US" sz="1000" b="0" i="0" u="none" strike="noStrike" cap="none" spc="0" normalizeH="0" baseline="0" dirty="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10" name="Layout Suggestions">
            <a:extLst>
              <a:ext uri="{FF2B5EF4-FFF2-40B4-BE49-F238E27FC236}">
                <a16:creationId xmlns:a16="http://schemas.microsoft.com/office/drawing/2014/main" id="{46FE8EAB-7198-5B11-00DE-5ADCAA95E031}"/>
              </a:ext>
            </a:extLst>
          </p:cNvPr>
          <p:cNvSpPr txBox="1"/>
          <p:nvPr/>
        </p:nvSpPr>
        <p:spPr>
          <a:xfrm>
            <a:off x="258034" y="3385150"/>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Raw Dataset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1" name="Manipulate Variables">
            <a:extLst>
              <a:ext uri="{FF2B5EF4-FFF2-40B4-BE49-F238E27FC236}">
                <a16:creationId xmlns:a16="http://schemas.microsoft.com/office/drawing/2014/main" id="{3D8F7A85-5B26-E76B-5DCC-F5AB10DBFD62}"/>
              </a:ext>
            </a:extLst>
          </p:cNvPr>
          <p:cNvSpPr txBox="1"/>
          <p:nvPr/>
        </p:nvSpPr>
        <p:spPr>
          <a:xfrm>
            <a:off x="9585321" y="1530186"/>
            <a:ext cx="258564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Related Notebooks</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2" name="Create a visual hierarchy. Help users navigate the page with titles, subtitles, and subsubtitles">
            <a:extLst>
              <a:ext uri="{FF2B5EF4-FFF2-40B4-BE49-F238E27FC236}">
                <a16:creationId xmlns:a16="http://schemas.microsoft.com/office/drawing/2014/main" id="{D9C5D638-8BDB-FD1E-26F0-6A34B4E7FBDE}"/>
              </a:ext>
            </a:extLst>
          </p:cNvPr>
          <p:cNvSpPr txBox="1"/>
          <p:nvPr/>
        </p:nvSpPr>
        <p:spPr>
          <a:xfrm>
            <a:off x="9545296" y="1911334"/>
            <a:ext cx="4001355"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See supplementary notebooks that go in-depth on the documentation on making the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Github</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 dataset and Jira Emotion dataset compatible with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Kaiaulu</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a:t>
            </a:r>
          </a:p>
        </p:txBody>
      </p:sp>
      <p:sp>
        <p:nvSpPr>
          <p:cNvPr id="13" name="TextBox 12">
            <a:extLst>
              <a:ext uri="{FF2B5EF4-FFF2-40B4-BE49-F238E27FC236}">
                <a16:creationId xmlns:a16="http://schemas.microsoft.com/office/drawing/2014/main" id="{283ED955-4280-1CF1-E769-A1819ACE35DF}"/>
              </a:ext>
            </a:extLst>
          </p:cNvPr>
          <p:cNvSpPr txBox="1"/>
          <p:nvPr/>
        </p:nvSpPr>
        <p:spPr>
          <a:xfrm>
            <a:off x="9585321" y="2775783"/>
            <a:ext cx="3656656" cy="951462"/>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1_load_sentiment_csv_to_mysql.ipynb</a:t>
            </a:r>
          </a:p>
          <a:p>
            <a:pPr marL="228600" indent="-228600">
              <a:buFont typeface="+mj-lt"/>
              <a:buAutoNum type="arabicPeriod"/>
            </a:pPr>
            <a:r>
              <a:rPr lang="en-US" dirty="0"/>
              <a:t>2_explore_relevant_projects.ipynb</a:t>
            </a:r>
          </a:p>
          <a:p>
            <a:pPr marL="228600" indent="-228600">
              <a:buFont typeface="+mj-lt"/>
              <a:buAutoNum type="arabicPeriod"/>
            </a:pPr>
            <a:r>
              <a:rPr lang="en-US" dirty="0"/>
              <a:t>3_scale_config_files.ipynb</a:t>
            </a:r>
          </a:p>
          <a:p>
            <a:pPr marL="228600" indent="-228600">
              <a:buFont typeface="+mj-lt"/>
              <a:buAutoNum type="arabicPeriod"/>
            </a:pPr>
            <a:r>
              <a:rPr lang="en-US" dirty="0"/>
              <a:t>4_add_sentiment_to_kaiaulu.ipynb</a:t>
            </a:r>
          </a:p>
        </p:txBody>
      </p:sp>
      <p:sp>
        <p:nvSpPr>
          <p:cNvPr id="14" name="Manipulate Variables">
            <a:extLst>
              <a:ext uri="{FF2B5EF4-FFF2-40B4-BE49-F238E27FC236}">
                <a16:creationId xmlns:a16="http://schemas.microsoft.com/office/drawing/2014/main" id="{221EB021-DA2E-99B0-FD38-E2575F273DC0}"/>
              </a:ext>
            </a:extLst>
          </p:cNvPr>
          <p:cNvSpPr txBox="1"/>
          <p:nvPr/>
        </p:nvSpPr>
        <p:spPr>
          <a:xfrm>
            <a:off x="9542306" y="4660893"/>
            <a:ext cx="210634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Data Expansion</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5" name="Create a visual hierarchy. Help users navigate the page with titles, subtitles, and subsubtitles">
            <a:extLst>
              <a:ext uri="{FF2B5EF4-FFF2-40B4-BE49-F238E27FC236}">
                <a16:creationId xmlns:a16="http://schemas.microsoft.com/office/drawing/2014/main" id="{7DAC4F02-97C8-8CD1-F3DE-BF55F34BC795}"/>
              </a:ext>
            </a:extLst>
          </p:cNvPr>
          <p:cNvSpPr txBox="1"/>
          <p:nvPr/>
        </p:nvSpPr>
        <p:spPr>
          <a:xfrm>
            <a:off x="9517994" y="5036356"/>
            <a:ext cx="4001355" cy="20491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r>
              <a:rPr lang="en-US" sz="1100" b="0" dirty="0"/>
              <a:t>Through this pipeline, we recover sufficient metadata to re-obtain the data using </a:t>
            </a:r>
            <a:r>
              <a:rPr lang="en-US" sz="1100" b="0" dirty="0" err="1"/>
              <a:t>Kaiaulu</a:t>
            </a:r>
            <a:r>
              <a:rPr lang="en-US" sz="1100" b="0" dirty="0"/>
              <a:t>. This metadata enables two types of dataset expansion using </a:t>
            </a:r>
            <a:r>
              <a:rPr lang="en-US" sz="1100" b="0" dirty="0" err="1"/>
              <a:t>Kaiaulu</a:t>
            </a:r>
            <a:r>
              <a:rPr lang="en-US" sz="1100" b="0" dirty="0"/>
              <a:t>:</a:t>
            </a:r>
          </a:p>
          <a:p>
            <a:pPr marL="228600" indent="-228600">
              <a:buAutoNum type="arabicPeriod"/>
            </a:pPr>
            <a:r>
              <a:rPr lang="en-US" sz="1100" dirty="0"/>
              <a:t>Temporal expansion</a:t>
            </a:r>
            <a:r>
              <a:rPr lang="en-US" sz="1100" b="0" dirty="0"/>
              <a:t>: Re-download the same projects' comments from 2014 through today.</a:t>
            </a:r>
          </a:p>
          <a:p>
            <a:pPr marL="228600" indent="-228600">
              <a:buAutoNum type="arabicPeriod"/>
            </a:pPr>
            <a:r>
              <a:rPr lang="en-US" sz="1100" dirty="0"/>
              <a:t>Horizontal expansion</a:t>
            </a:r>
            <a:r>
              <a:rPr lang="en-US" sz="1100" b="0" dirty="0"/>
              <a:t>: Download additional data sources for those same projects (e.g., source code, version control history) that can be linked back to sentiment labels.</a:t>
            </a:r>
          </a:p>
          <a:p>
            <a:r>
              <a:rPr lang="en-US" sz="1100" b="0" dirty="0"/>
              <a:t>The labeled comments can be used to train the sentiment classifier and for </a:t>
            </a:r>
            <a:r>
              <a:rPr lang="en-US" sz="1100" b="0"/>
              <a:t>developer engagement (</a:t>
            </a:r>
            <a:r>
              <a:rPr lang="en-US" sz="1100" b="0" dirty="0"/>
              <a:t>refer to </a:t>
            </a:r>
            <a:r>
              <a:rPr lang="en-US" sz="1100" b="0" dirty="0" err="1"/>
              <a:t>sailuh</a:t>
            </a:r>
            <a:r>
              <a:rPr lang="en-US" sz="1100" b="0" dirty="0"/>
              <a:t>/sentiment-classifier).</a:t>
            </a:r>
          </a:p>
        </p:txBody>
      </p:sp>
      <p:sp>
        <p:nvSpPr>
          <p:cNvPr id="16" name="Layout Suggestions">
            <a:extLst>
              <a:ext uri="{FF2B5EF4-FFF2-40B4-BE49-F238E27FC236}">
                <a16:creationId xmlns:a16="http://schemas.microsoft.com/office/drawing/2014/main" id="{2C527F21-1127-1750-10EB-98735D8566DE}"/>
              </a:ext>
            </a:extLst>
          </p:cNvPr>
          <p:cNvSpPr txBox="1"/>
          <p:nvPr/>
        </p:nvSpPr>
        <p:spPr>
          <a:xfrm>
            <a:off x="221504" y="7101794"/>
            <a:ext cx="433390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1F909475-EC94-793B-D584-E8E9DE9B87A9}"/>
              </a:ext>
            </a:extLst>
          </p:cNvPr>
          <p:cNvSpPr txBox="1"/>
          <p:nvPr/>
        </p:nvSpPr>
        <p:spPr>
          <a:xfrm>
            <a:off x="244833" y="3653776"/>
            <a:ext cx="43468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following must be set up/downloaded:</a:t>
            </a:r>
          </a:p>
        </p:txBody>
      </p:sp>
      <p:sp>
        <p:nvSpPr>
          <p:cNvPr id="18" name="TextBox 17">
            <a:extLst>
              <a:ext uri="{FF2B5EF4-FFF2-40B4-BE49-F238E27FC236}">
                <a16:creationId xmlns:a16="http://schemas.microsoft.com/office/drawing/2014/main" id="{A9101C61-3A32-56BC-7B4C-639B55913A45}"/>
              </a:ext>
            </a:extLst>
          </p:cNvPr>
          <p:cNvSpPr txBox="1"/>
          <p:nvPr/>
        </p:nvSpPr>
        <p:spPr>
          <a:xfrm>
            <a:off x="4810823" y="3304109"/>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GitHub 2020 CSV</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19" name="Straight Arrow Connector 18">
            <a:extLst>
              <a:ext uri="{FF2B5EF4-FFF2-40B4-BE49-F238E27FC236}">
                <a16:creationId xmlns:a16="http://schemas.microsoft.com/office/drawing/2014/main" id="{56505D43-9015-773C-FE0F-0C2A3A8C0DC0}"/>
              </a:ext>
            </a:extLst>
          </p:cNvPr>
          <p:cNvCxnSpPr>
            <a:cxnSpLocks/>
          </p:cNvCxnSpPr>
          <p:nvPr/>
        </p:nvCxnSpPr>
        <p:spPr>
          <a:xfrm>
            <a:off x="6040578" y="2739306"/>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0" name="Table">
            <a:extLst>
              <a:ext uri="{FF2B5EF4-FFF2-40B4-BE49-F238E27FC236}">
                <a16:creationId xmlns:a16="http://schemas.microsoft.com/office/drawing/2014/main" id="{C280491D-70BD-3EEC-A9B6-2D980FEBB954}"/>
              </a:ext>
            </a:extLst>
          </p:cNvPr>
          <p:cNvGraphicFramePr/>
          <p:nvPr>
            <p:extLst>
              <p:ext uri="{D42A27DB-BD31-4B8C-83A1-F6EECF244321}">
                <p14:modId xmlns:p14="http://schemas.microsoft.com/office/powerpoint/2010/main" val="2218581600"/>
              </p:ext>
            </p:extLst>
          </p:nvPr>
        </p:nvGraphicFramePr>
        <p:xfrm>
          <a:off x="5127433" y="2681254"/>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1" name="TextBox 20">
            <a:extLst>
              <a:ext uri="{FF2B5EF4-FFF2-40B4-BE49-F238E27FC236}">
                <a16:creationId xmlns:a16="http://schemas.microsoft.com/office/drawing/2014/main" id="{32AA2C8E-490B-D0D2-807B-B7215F642194}"/>
              </a:ext>
            </a:extLst>
          </p:cNvPr>
          <p:cNvSpPr txBox="1"/>
          <p:nvPr/>
        </p:nvSpPr>
        <p:spPr>
          <a:xfrm>
            <a:off x="6073140" y="2512222"/>
            <a:ext cx="127533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2" name="TextBox 21">
            <a:extLst>
              <a:ext uri="{FF2B5EF4-FFF2-40B4-BE49-F238E27FC236}">
                <a16:creationId xmlns:a16="http://schemas.microsoft.com/office/drawing/2014/main" id="{204B55A2-2F7C-813E-7E49-A030488BA119}"/>
              </a:ext>
            </a:extLst>
          </p:cNvPr>
          <p:cNvSpPr txBox="1"/>
          <p:nvPr/>
        </p:nvSpPr>
        <p:spPr>
          <a:xfrm>
            <a:off x="6078145" y="2758990"/>
            <a:ext cx="144108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Q-Join-Commit-Comments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3" name="TextBox 22">
            <a:extLst>
              <a:ext uri="{FF2B5EF4-FFF2-40B4-BE49-F238E27FC236}">
                <a16:creationId xmlns:a16="http://schemas.microsoft.com/office/drawing/2014/main" id="{9EE87FB1-5DD8-4CFB-4880-48F33A5DDD2D}"/>
              </a:ext>
            </a:extLst>
          </p:cNvPr>
          <p:cNvSpPr txBox="1"/>
          <p:nvPr/>
        </p:nvSpPr>
        <p:spPr>
          <a:xfrm>
            <a:off x="6004567" y="3030690"/>
            <a:ext cx="1514660" cy="2333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800" b="0" dirty="0"/>
              <a:t>Q-Join-Pull-Request-Comments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4" name="Straight Arrow Connector 23">
            <a:extLst>
              <a:ext uri="{FF2B5EF4-FFF2-40B4-BE49-F238E27FC236}">
                <a16:creationId xmlns:a16="http://schemas.microsoft.com/office/drawing/2014/main" id="{E37FE0A6-A0B0-1BA6-D24A-F606265F0705}"/>
              </a:ext>
            </a:extLst>
          </p:cNvPr>
          <p:cNvCxnSpPr>
            <a:cxnSpLocks/>
          </p:cNvCxnSpPr>
          <p:nvPr/>
        </p:nvCxnSpPr>
        <p:spPr>
          <a:xfrm>
            <a:off x="6040578" y="2985359"/>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A9C7B591-93CB-B3EC-28A2-5045DDB5AE95}"/>
              </a:ext>
            </a:extLst>
          </p:cNvPr>
          <p:cNvCxnSpPr>
            <a:cxnSpLocks/>
          </p:cNvCxnSpPr>
          <p:nvPr/>
        </p:nvCxnSpPr>
        <p:spPr>
          <a:xfrm>
            <a:off x="6040578" y="3231412"/>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1AB988A8-A953-BE22-4B39-A1483575CF42}"/>
              </a:ext>
            </a:extLst>
          </p:cNvPr>
          <p:cNvSpPr txBox="1"/>
          <p:nvPr/>
        </p:nvSpPr>
        <p:spPr>
          <a:xfrm>
            <a:off x="7506054" y="3309908"/>
            <a:ext cx="1418243"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err="1"/>
              <a:t>GHTorrent</a:t>
            </a:r>
            <a:r>
              <a:rPr lang="en-US" dirty="0"/>
              <a:t> 2014 DB</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7" name="TextBox 26">
            <a:extLst>
              <a:ext uri="{FF2B5EF4-FFF2-40B4-BE49-F238E27FC236}">
                <a16:creationId xmlns:a16="http://schemas.microsoft.com/office/drawing/2014/main" id="{9A189D26-DE4E-2618-858C-40F93CA79B2F}"/>
              </a:ext>
            </a:extLst>
          </p:cNvPr>
          <p:cNvSpPr txBox="1"/>
          <p:nvPr/>
        </p:nvSpPr>
        <p:spPr>
          <a:xfrm>
            <a:off x="4718557" y="4961870"/>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28" name="Group 27">
            <a:extLst>
              <a:ext uri="{FF2B5EF4-FFF2-40B4-BE49-F238E27FC236}">
                <a16:creationId xmlns:a16="http://schemas.microsoft.com/office/drawing/2014/main" id="{A1FC3A89-BB70-8501-15CD-1A0817C470A7}"/>
              </a:ext>
            </a:extLst>
          </p:cNvPr>
          <p:cNvGrpSpPr/>
          <p:nvPr/>
        </p:nvGrpSpPr>
        <p:grpSpPr>
          <a:xfrm>
            <a:off x="5522624" y="4520518"/>
            <a:ext cx="953200" cy="458010"/>
            <a:chOff x="5528605" y="4530831"/>
            <a:chExt cx="953200" cy="458010"/>
          </a:xfrm>
        </p:grpSpPr>
        <p:graphicFrame>
          <p:nvGraphicFramePr>
            <p:cNvPr id="29" name="Table">
              <a:extLst>
                <a:ext uri="{FF2B5EF4-FFF2-40B4-BE49-F238E27FC236}">
                  <a16:creationId xmlns:a16="http://schemas.microsoft.com/office/drawing/2014/main" id="{1B6B7DE9-B27D-C1D6-C089-B3C97789FBE1}"/>
                </a:ext>
              </a:extLst>
            </p:cNvPr>
            <p:cNvGraphicFramePr/>
            <p:nvPr>
              <p:extLst>
                <p:ext uri="{D42A27DB-BD31-4B8C-83A1-F6EECF244321}">
                  <p14:modId xmlns:p14="http://schemas.microsoft.com/office/powerpoint/2010/main" val="2956737807"/>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30" name="Table">
              <a:extLst>
                <a:ext uri="{FF2B5EF4-FFF2-40B4-BE49-F238E27FC236}">
                  <a16:creationId xmlns:a16="http://schemas.microsoft.com/office/drawing/2014/main" id="{71181731-B027-2F1F-404E-77B9DE607963}"/>
                </a:ext>
              </a:extLst>
            </p:cNvPr>
            <p:cNvGraphicFramePr/>
            <p:nvPr>
              <p:extLst>
                <p:ext uri="{D42A27DB-BD31-4B8C-83A1-F6EECF244321}">
                  <p14:modId xmlns:p14="http://schemas.microsoft.com/office/powerpoint/2010/main" val="2654791798"/>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sp>
        <p:nvSpPr>
          <p:cNvPr id="31" name="TextBox 30">
            <a:extLst>
              <a:ext uri="{FF2B5EF4-FFF2-40B4-BE49-F238E27FC236}">
                <a16:creationId xmlns:a16="http://schemas.microsoft.com/office/drawing/2014/main" id="{CF420361-08A8-7A8E-7539-5F29BCC9B8CE}"/>
              </a:ext>
            </a:extLst>
          </p:cNvPr>
          <p:cNvSpPr txBox="1"/>
          <p:nvPr/>
        </p:nvSpPr>
        <p:spPr>
          <a:xfrm>
            <a:off x="5296796" y="4960251"/>
            <a:ext cx="139124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dirty="0"/>
              <a:t>GitHub 2020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2" name="Line">
            <a:extLst>
              <a:ext uri="{FF2B5EF4-FFF2-40B4-BE49-F238E27FC236}">
                <a16:creationId xmlns:a16="http://schemas.microsoft.com/office/drawing/2014/main" id="{4BEDC422-5B7E-6C89-C809-A9EA4E7C6D6B}"/>
              </a:ext>
            </a:extLst>
          </p:cNvPr>
          <p:cNvSpPr/>
          <p:nvPr/>
        </p:nvSpPr>
        <p:spPr>
          <a:xfrm flipV="1">
            <a:off x="4748804" y="5961806"/>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3" name="TextBox 32">
            <a:extLst>
              <a:ext uri="{FF2B5EF4-FFF2-40B4-BE49-F238E27FC236}">
                <a16:creationId xmlns:a16="http://schemas.microsoft.com/office/drawing/2014/main" id="{6E2BE04D-07AF-575E-86AF-B456B574B879}"/>
              </a:ext>
            </a:extLst>
          </p:cNvPr>
          <p:cNvSpPr txBox="1"/>
          <p:nvPr/>
        </p:nvSpPr>
        <p:spPr>
          <a:xfrm>
            <a:off x="4672920" y="7339638"/>
            <a:ext cx="1650803"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Jira Emotion 2016 CSV</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4" name="Straight Arrow Connector 33">
            <a:extLst>
              <a:ext uri="{FF2B5EF4-FFF2-40B4-BE49-F238E27FC236}">
                <a16:creationId xmlns:a16="http://schemas.microsoft.com/office/drawing/2014/main" id="{10D371CF-E95A-B5CB-83DC-96316C8337FB}"/>
              </a:ext>
            </a:extLst>
          </p:cNvPr>
          <p:cNvCxnSpPr>
            <a:cxnSpLocks/>
          </p:cNvCxnSpPr>
          <p:nvPr/>
        </p:nvCxnSpPr>
        <p:spPr>
          <a:xfrm>
            <a:off x="6048180" y="6933077"/>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35" name="Table">
            <a:extLst>
              <a:ext uri="{FF2B5EF4-FFF2-40B4-BE49-F238E27FC236}">
                <a16:creationId xmlns:a16="http://schemas.microsoft.com/office/drawing/2014/main" id="{4E2E03CA-D088-CBA1-693D-5C093BD12582}"/>
              </a:ext>
            </a:extLst>
          </p:cNvPr>
          <p:cNvGraphicFramePr/>
          <p:nvPr>
            <p:extLst>
              <p:ext uri="{D42A27DB-BD31-4B8C-83A1-F6EECF244321}">
                <p14:modId xmlns:p14="http://schemas.microsoft.com/office/powerpoint/2010/main" val="2236378598"/>
              </p:ext>
            </p:extLst>
          </p:nvPr>
        </p:nvGraphicFramePr>
        <p:xfrm>
          <a:off x="5136867" y="6753727"/>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cxnSp>
        <p:nvCxnSpPr>
          <p:cNvPr id="36" name="Straight Arrow Connector 35">
            <a:extLst>
              <a:ext uri="{FF2B5EF4-FFF2-40B4-BE49-F238E27FC236}">
                <a16:creationId xmlns:a16="http://schemas.microsoft.com/office/drawing/2014/main" id="{E668BEEB-C61D-9FB1-7094-351EF4F7CB30}"/>
              </a:ext>
            </a:extLst>
          </p:cNvPr>
          <p:cNvCxnSpPr>
            <a:cxnSpLocks/>
          </p:cNvCxnSpPr>
          <p:nvPr/>
        </p:nvCxnSpPr>
        <p:spPr>
          <a:xfrm>
            <a:off x="6048180" y="7179130"/>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0B3FA960-AF41-A94C-D7F9-A367F79FB18E}"/>
              </a:ext>
            </a:extLst>
          </p:cNvPr>
          <p:cNvSpPr txBox="1"/>
          <p:nvPr/>
        </p:nvSpPr>
        <p:spPr>
          <a:xfrm>
            <a:off x="7290720" y="7331899"/>
            <a:ext cx="176626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Jira PostgreSQL 2016 DB</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9" name="TextBox 38">
            <a:extLst>
              <a:ext uri="{FF2B5EF4-FFF2-40B4-BE49-F238E27FC236}">
                <a16:creationId xmlns:a16="http://schemas.microsoft.com/office/drawing/2014/main" id="{99B013E5-76C4-109E-9726-1C07FA2D338D}"/>
              </a:ext>
            </a:extLst>
          </p:cNvPr>
          <p:cNvSpPr txBox="1"/>
          <p:nvPr/>
        </p:nvSpPr>
        <p:spPr>
          <a:xfrm>
            <a:off x="6041784" y="6689831"/>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0" name="TextBox 39">
            <a:extLst>
              <a:ext uri="{FF2B5EF4-FFF2-40B4-BE49-F238E27FC236}">
                <a16:creationId xmlns:a16="http://schemas.microsoft.com/office/drawing/2014/main" id="{5C4060E5-57B0-ED22-2F36-C3EC410652C0}"/>
              </a:ext>
            </a:extLst>
          </p:cNvPr>
          <p:cNvSpPr txBox="1"/>
          <p:nvPr/>
        </p:nvSpPr>
        <p:spPr>
          <a:xfrm>
            <a:off x="6048180" y="6941250"/>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1" name="TextBox 40">
            <a:extLst>
              <a:ext uri="{FF2B5EF4-FFF2-40B4-BE49-F238E27FC236}">
                <a16:creationId xmlns:a16="http://schemas.microsoft.com/office/drawing/2014/main" id="{8F90F2D1-CC41-0999-7067-27699602D09A}"/>
              </a:ext>
            </a:extLst>
          </p:cNvPr>
          <p:cNvSpPr txBox="1"/>
          <p:nvPr/>
        </p:nvSpPr>
        <p:spPr>
          <a:xfrm>
            <a:off x="4791847" y="1907656"/>
            <a:ext cx="272738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500" dirty="0"/>
              <a:t>GitHub Sentiment Dataset</a:t>
            </a:r>
            <a:endParaRPr kumimoji="0" lang="en-US" sz="1500" i="0" strike="noStrike" cap="none" spc="0" normalizeH="0" baseline="0" dirty="0">
              <a:ln>
                <a:noFill/>
              </a:ln>
              <a:effectLst/>
              <a:uFillTx/>
              <a:latin typeface="Source Sans Pro"/>
              <a:ea typeface="Source Sans Pro"/>
              <a:cs typeface="Source Sans Pro"/>
              <a:sym typeface="Source Sans Pro"/>
            </a:endParaRPr>
          </a:p>
        </p:txBody>
      </p:sp>
      <p:sp>
        <p:nvSpPr>
          <p:cNvPr id="42" name="TextBox 41">
            <a:extLst>
              <a:ext uri="{FF2B5EF4-FFF2-40B4-BE49-F238E27FC236}">
                <a16:creationId xmlns:a16="http://schemas.microsoft.com/office/drawing/2014/main" id="{55B26F2B-8C5F-7B2C-3529-F56096BB6897}"/>
              </a:ext>
            </a:extLst>
          </p:cNvPr>
          <p:cNvSpPr txBox="1"/>
          <p:nvPr/>
        </p:nvSpPr>
        <p:spPr>
          <a:xfrm>
            <a:off x="4632534" y="6166156"/>
            <a:ext cx="217099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500" dirty="0"/>
              <a:t>Jira Emotion Dataset</a:t>
            </a:r>
            <a:endParaRPr kumimoji="0" lang="en-US" sz="1500" b="1" i="0" strike="noStrike" cap="none" spc="0" normalizeH="0" baseline="0" dirty="0">
              <a:ln>
                <a:noFill/>
              </a:ln>
              <a:effectLst/>
              <a:uFillTx/>
              <a:latin typeface="Source Sans Pro"/>
              <a:ea typeface="Source Sans Pro"/>
              <a:cs typeface="Source Sans Pro"/>
              <a:sym typeface="Source Sans Pro"/>
            </a:endParaRPr>
          </a:p>
        </p:txBody>
      </p:sp>
      <p:grpSp>
        <p:nvGrpSpPr>
          <p:cNvPr id="43" name="Group 42">
            <a:extLst>
              <a:ext uri="{FF2B5EF4-FFF2-40B4-BE49-F238E27FC236}">
                <a16:creationId xmlns:a16="http://schemas.microsoft.com/office/drawing/2014/main" id="{32898739-E996-87F2-5A30-240CA2276708}"/>
              </a:ext>
            </a:extLst>
          </p:cNvPr>
          <p:cNvGrpSpPr/>
          <p:nvPr/>
        </p:nvGrpSpPr>
        <p:grpSpPr>
          <a:xfrm>
            <a:off x="8486416" y="3978207"/>
            <a:ext cx="569700" cy="1688313"/>
            <a:chOff x="8715063" y="3858862"/>
            <a:chExt cx="569700" cy="1688313"/>
          </a:xfrm>
        </p:grpSpPr>
        <p:sp>
          <p:nvSpPr>
            <p:cNvPr id="44" name="Google Shape;375;p18">
              <a:extLst>
                <a:ext uri="{FF2B5EF4-FFF2-40B4-BE49-F238E27FC236}">
                  <a16:creationId xmlns:a16="http://schemas.microsoft.com/office/drawing/2014/main" id="{6FD24A0C-F667-D2FD-BA88-9D785BE0E86F}"/>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45" name="Google Shape;388;p18">
              <a:extLst>
                <a:ext uri="{FF2B5EF4-FFF2-40B4-BE49-F238E27FC236}">
                  <a16:creationId xmlns:a16="http://schemas.microsoft.com/office/drawing/2014/main" id="{CEE9DEB6-D3B8-9F64-1D81-261EA0680FE4}"/>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sp>
          <p:nvSpPr>
            <p:cNvPr id="46" name="Google Shape;324;p18">
              <a:extLst>
                <a:ext uri="{FF2B5EF4-FFF2-40B4-BE49-F238E27FC236}">
                  <a16:creationId xmlns:a16="http://schemas.microsoft.com/office/drawing/2014/main" id="{2FCA6106-FCCC-6057-01B7-BAAE58828897}"/>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47" name="Google Shape;359;p18">
              <a:extLst>
                <a:ext uri="{FF2B5EF4-FFF2-40B4-BE49-F238E27FC236}">
                  <a16:creationId xmlns:a16="http://schemas.microsoft.com/office/drawing/2014/main" id="{7404163E-170C-032D-7030-A5F25FAFD2D6}"/>
                </a:ext>
              </a:extLst>
            </p:cNvPr>
            <p:cNvGrpSpPr/>
            <p:nvPr/>
          </p:nvGrpSpPr>
          <p:grpSpPr>
            <a:xfrm>
              <a:off x="8838265" y="4043887"/>
              <a:ext cx="307200" cy="189300"/>
              <a:chOff x="3007175" y="1757600"/>
              <a:chExt cx="307200" cy="189300"/>
            </a:xfrm>
          </p:grpSpPr>
          <p:sp>
            <p:nvSpPr>
              <p:cNvPr id="262" name="Google Shape;360;p18">
                <a:extLst>
                  <a:ext uri="{FF2B5EF4-FFF2-40B4-BE49-F238E27FC236}">
                    <a16:creationId xmlns:a16="http://schemas.microsoft.com/office/drawing/2014/main" id="{81FC8A3B-3868-CD92-9673-D11FFCB984E8}"/>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361;p18">
                <a:extLst>
                  <a:ext uri="{FF2B5EF4-FFF2-40B4-BE49-F238E27FC236}">
                    <a16:creationId xmlns:a16="http://schemas.microsoft.com/office/drawing/2014/main" id="{6B5B3304-B117-5849-7D32-B15FFFA99B48}"/>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4" name="Google Shape;362;p18">
                <a:extLst>
                  <a:ext uri="{FF2B5EF4-FFF2-40B4-BE49-F238E27FC236}">
                    <a16:creationId xmlns:a16="http://schemas.microsoft.com/office/drawing/2014/main" id="{EF13A97A-5219-F84B-4CF1-5C6031BE3750}"/>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5" name="Google Shape;363;p18">
                <a:extLst>
                  <a:ext uri="{FF2B5EF4-FFF2-40B4-BE49-F238E27FC236}">
                    <a16:creationId xmlns:a16="http://schemas.microsoft.com/office/drawing/2014/main" id="{7FF1BC86-3572-8496-C90E-8FB00C41BFDB}"/>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66" name="Google Shape;364;p18">
                <a:extLst>
                  <a:ext uri="{FF2B5EF4-FFF2-40B4-BE49-F238E27FC236}">
                    <a16:creationId xmlns:a16="http://schemas.microsoft.com/office/drawing/2014/main" id="{9CAB739E-283B-A633-7177-21819A31D753}"/>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67" name="Google Shape;365;p18">
                <a:extLst>
                  <a:ext uri="{FF2B5EF4-FFF2-40B4-BE49-F238E27FC236}">
                    <a16:creationId xmlns:a16="http://schemas.microsoft.com/office/drawing/2014/main" id="{0A88C7B1-DFCF-CF86-EE70-C0C00938BAA7}"/>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68" name="Google Shape;366;p18">
                <a:extLst>
                  <a:ext uri="{FF2B5EF4-FFF2-40B4-BE49-F238E27FC236}">
                    <a16:creationId xmlns:a16="http://schemas.microsoft.com/office/drawing/2014/main" id="{F2B18341-DEEB-5A70-8C94-E99AC8E3AD38}"/>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48" name="Google Shape;367;p18">
              <a:extLst>
                <a:ext uri="{FF2B5EF4-FFF2-40B4-BE49-F238E27FC236}">
                  <a16:creationId xmlns:a16="http://schemas.microsoft.com/office/drawing/2014/main" id="{43125B76-CD26-EDD0-FE3F-EBC032C78C98}"/>
                </a:ext>
              </a:extLst>
            </p:cNvPr>
            <p:cNvGrpSpPr/>
            <p:nvPr/>
          </p:nvGrpSpPr>
          <p:grpSpPr>
            <a:xfrm>
              <a:off x="8838252" y="4387350"/>
              <a:ext cx="307200" cy="189300"/>
              <a:chOff x="3007175" y="1757600"/>
              <a:chExt cx="307200" cy="189300"/>
            </a:xfrm>
          </p:grpSpPr>
          <p:sp>
            <p:nvSpPr>
              <p:cNvPr id="63" name="Google Shape;368;p18">
                <a:extLst>
                  <a:ext uri="{FF2B5EF4-FFF2-40B4-BE49-F238E27FC236}">
                    <a16:creationId xmlns:a16="http://schemas.microsoft.com/office/drawing/2014/main" id="{30A9AF6C-56D7-8DD5-4E29-8E135E4CA8B2}"/>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369;p18">
                <a:extLst>
                  <a:ext uri="{FF2B5EF4-FFF2-40B4-BE49-F238E27FC236}">
                    <a16:creationId xmlns:a16="http://schemas.microsoft.com/office/drawing/2014/main" id="{355A12BF-94BA-FC8D-6064-13461BEC2686}"/>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7" name="Google Shape;370;p18">
                <a:extLst>
                  <a:ext uri="{FF2B5EF4-FFF2-40B4-BE49-F238E27FC236}">
                    <a16:creationId xmlns:a16="http://schemas.microsoft.com/office/drawing/2014/main" id="{5AC5E334-55B9-BF06-E828-C5A9051F2C60}"/>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8" name="Google Shape;371;p18">
                <a:extLst>
                  <a:ext uri="{FF2B5EF4-FFF2-40B4-BE49-F238E27FC236}">
                    <a16:creationId xmlns:a16="http://schemas.microsoft.com/office/drawing/2014/main" id="{1C352F28-B70C-00E9-6E5A-933FC043B0B9}"/>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59" name="Google Shape;372;p18">
                <a:extLst>
                  <a:ext uri="{FF2B5EF4-FFF2-40B4-BE49-F238E27FC236}">
                    <a16:creationId xmlns:a16="http://schemas.microsoft.com/office/drawing/2014/main" id="{E2FF8F4A-9B41-4D4D-6F09-387EE05BDEB5}"/>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60" name="Google Shape;373;p18">
                <a:extLst>
                  <a:ext uri="{FF2B5EF4-FFF2-40B4-BE49-F238E27FC236}">
                    <a16:creationId xmlns:a16="http://schemas.microsoft.com/office/drawing/2014/main" id="{AB5CA6B4-45BB-57BD-7E30-ED33FD4D92C2}"/>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261" name="Google Shape;374;p18">
                <a:extLst>
                  <a:ext uri="{FF2B5EF4-FFF2-40B4-BE49-F238E27FC236}">
                    <a16:creationId xmlns:a16="http://schemas.microsoft.com/office/drawing/2014/main" id="{2F5D2424-3817-C3B8-5A2A-14FF2D3B836B}"/>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49" name="Google Shape;376;p18">
              <a:extLst>
                <a:ext uri="{FF2B5EF4-FFF2-40B4-BE49-F238E27FC236}">
                  <a16:creationId xmlns:a16="http://schemas.microsoft.com/office/drawing/2014/main" id="{DE703BB5-B8D1-94EA-3DDC-70349F801C70}"/>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50" name="Google Shape;377;p18">
              <a:extLst>
                <a:ext uri="{FF2B5EF4-FFF2-40B4-BE49-F238E27FC236}">
                  <a16:creationId xmlns:a16="http://schemas.microsoft.com/office/drawing/2014/main" id="{2CBEDFEB-9B7A-A77B-9148-08BBAC63C8ED}"/>
                </a:ext>
              </a:extLst>
            </p:cNvPr>
            <p:cNvGrpSpPr/>
            <p:nvPr/>
          </p:nvGrpSpPr>
          <p:grpSpPr>
            <a:xfrm>
              <a:off x="8846302" y="4841125"/>
              <a:ext cx="307200" cy="297900"/>
              <a:chOff x="3021975" y="2389850"/>
              <a:chExt cx="307200" cy="297900"/>
            </a:xfrm>
          </p:grpSpPr>
          <p:sp>
            <p:nvSpPr>
              <p:cNvPr id="53" name="Google Shape;378;p18">
                <a:extLst>
                  <a:ext uri="{FF2B5EF4-FFF2-40B4-BE49-F238E27FC236}">
                    <a16:creationId xmlns:a16="http://schemas.microsoft.com/office/drawing/2014/main" id="{48CB8270-C7B2-BCF8-2014-6165E71E18D7}"/>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54" name="Google Shape;379;p18">
                <a:extLst>
                  <a:ext uri="{FF2B5EF4-FFF2-40B4-BE49-F238E27FC236}">
                    <a16:creationId xmlns:a16="http://schemas.microsoft.com/office/drawing/2014/main" id="{371D0F7A-72CA-284C-5E45-CDF9A5EF4EA1}"/>
                  </a:ext>
                </a:extLst>
              </p:cNvPr>
              <p:cNvGrpSpPr/>
              <p:nvPr/>
            </p:nvGrpSpPr>
            <p:grpSpPr>
              <a:xfrm>
                <a:off x="3021975" y="2389850"/>
                <a:ext cx="307200" cy="295800"/>
                <a:chOff x="3021975" y="2389850"/>
                <a:chExt cx="307200" cy="295800"/>
              </a:xfrm>
            </p:grpSpPr>
            <p:sp>
              <p:nvSpPr>
                <p:cNvPr id="55" name="Google Shape;380;p18">
                  <a:extLst>
                    <a:ext uri="{FF2B5EF4-FFF2-40B4-BE49-F238E27FC236}">
                      <a16:creationId xmlns:a16="http://schemas.microsoft.com/office/drawing/2014/main" id="{42DAA826-BC1D-8E92-C9AD-D0E183B1445E}"/>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 name="Google Shape;381;p18">
                  <a:extLst>
                    <a:ext uri="{FF2B5EF4-FFF2-40B4-BE49-F238E27FC236}">
                      <a16:creationId xmlns:a16="http://schemas.microsoft.com/office/drawing/2014/main" id="{637475D0-890A-2963-8620-BE88CF96CF20}"/>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57" name="Google Shape;382;p18">
                  <a:extLst>
                    <a:ext uri="{FF2B5EF4-FFF2-40B4-BE49-F238E27FC236}">
                      <a16:creationId xmlns:a16="http://schemas.microsoft.com/office/drawing/2014/main" id="{ED29B8E7-FC45-AFD8-1062-85711C4BA3B4}"/>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58" name="Google Shape;383;p18">
                  <a:extLst>
                    <a:ext uri="{FF2B5EF4-FFF2-40B4-BE49-F238E27FC236}">
                      <a16:creationId xmlns:a16="http://schemas.microsoft.com/office/drawing/2014/main" id="{376B98EE-D6AD-C2DF-6820-398C946A363A}"/>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59" name="Google Shape;384;p18">
                  <a:extLst>
                    <a:ext uri="{FF2B5EF4-FFF2-40B4-BE49-F238E27FC236}">
                      <a16:creationId xmlns:a16="http://schemas.microsoft.com/office/drawing/2014/main" id="{B495D810-AB48-F763-243B-E59EBD7394C5}"/>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60" name="Google Shape;385;p18">
                  <a:extLst>
                    <a:ext uri="{FF2B5EF4-FFF2-40B4-BE49-F238E27FC236}">
                      <a16:creationId xmlns:a16="http://schemas.microsoft.com/office/drawing/2014/main" id="{6EDB16D8-6AAE-9A46-7E26-F3B59B7C4218}"/>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61" name="Google Shape;386;p18">
                  <a:extLst>
                    <a:ext uri="{FF2B5EF4-FFF2-40B4-BE49-F238E27FC236}">
                      <a16:creationId xmlns:a16="http://schemas.microsoft.com/office/drawing/2014/main" id="{0515A7F6-3975-AD7C-948A-63CC3CD355F6}"/>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62" name="Google Shape;387;p18">
                  <a:extLst>
                    <a:ext uri="{FF2B5EF4-FFF2-40B4-BE49-F238E27FC236}">
                      <a16:creationId xmlns:a16="http://schemas.microsoft.com/office/drawing/2014/main" id="{869319EB-E6C4-3341-8350-EB67365FFA91}"/>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cxnSp>
          <p:nvCxnSpPr>
            <p:cNvPr id="51" name="Google Shape;389;p18">
              <a:extLst>
                <a:ext uri="{FF2B5EF4-FFF2-40B4-BE49-F238E27FC236}">
                  <a16:creationId xmlns:a16="http://schemas.microsoft.com/office/drawing/2014/main" id="{D3796662-0328-A862-3B6C-6D20040A2FE9}"/>
                </a:ext>
              </a:extLst>
            </p:cNvPr>
            <p:cNvCxnSpPr>
              <a:cxnSpLocks/>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52" name="Google Shape;390;p18">
              <a:extLst>
                <a:ext uri="{FF2B5EF4-FFF2-40B4-BE49-F238E27FC236}">
                  <a16:creationId xmlns:a16="http://schemas.microsoft.com/office/drawing/2014/main" id="{DC3570E0-1D7F-1F3E-1930-C05A994BC628}"/>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cxnSp>
        <p:nvCxnSpPr>
          <p:cNvPr id="269" name="Straight Arrow Connector 1198">
            <a:extLst>
              <a:ext uri="{FF2B5EF4-FFF2-40B4-BE49-F238E27FC236}">
                <a16:creationId xmlns:a16="http://schemas.microsoft.com/office/drawing/2014/main" id="{5BDA7A59-0846-201C-F015-E62002F9A699}"/>
              </a:ext>
            </a:extLst>
          </p:cNvPr>
          <p:cNvCxnSpPr>
            <a:cxnSpLocks/>
          </p:cNvCxnSpPr>
          <p:nvPr/>
        </p:nvCxnSpPr>
        <p:spPr>
          <a:xfrm flipV="1">
            <a:off x="8036881" y="4262578"/>
            <a:ext cx="486066" cy="30466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70" name="TextBox 269">
            <a:extLst>
              <a:ext uri="{FF2B5EF4-FFF2-40B4-BE49-F238E27FC236}">
                <a16:creationId xmlns:a16="http://schemas.microsoft.com/office/drawing/2014/main" id="{264811B6-C9D8-AAD4-954F-E876B1C6F26D}"/>
              </a:ext>
            </a:extLst>
          </p:cNvPr>
          <p:cNvSpPr txBox="1"/>
          <p:nvPr/>
        </p:nvSpPr>
        <p:spPr>
          <a:xfrm>
            <a:off x="9558554" y="4159871"/>
            <a:ext cx="3656656" cy="320520"/>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1_emotion_csv_inter_rater_agreement.ipynb</a:t>
            </a:r>
          </a:p>
        </p:txBody>
      </p:sp>
      <p:sp>
        <p:nvSpPr>
          <p:cNvPr id="271" name="TextBox 270">
            <a:extLst>
              <a:ext uri="{FF2B5EF4-FFF2-40B4-BE49-F238E27FC236}">
                <a16:creationId xmlns:a16="http://schemas.microsoft.com/office/drawing/2014/main" id="{2042B2D5-6A95-0C49-686F-50F3D00EE550}"/>
              </a:ext>
            </a:extLst>
          </p:cNvPr>
          <p:cNvSpPr txBox="1"/>
          <p:nvPr/>
        </p:nvSpPr>
        <p:spPr>
          <a:xfrm>
            <a:off x="9517994" y="2470516"/>
            <a:ext cx="3400799" cy="3359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1300" dirty="0" err="1"/>
              <a:t>sailuh</a:t>
            </a:r>
            <a:r>
              <a:rPr lang="en-US" sz="1300" dirty="0"/>
              <a:t>/</a:t>
            </a:r>
            <a:r>
              <a:rPr lang="en-US" sz="1300" dirty="0" err="1"/>
              <a:t>sentiment_github_dataset</a:t>
            </a:r>
            <a:endParaRPr kumimoji="0" lang="en-US" sz="1300" b="1" i="0" strike="noStrike" cap="none" spc="0" normalizeH="0" baseline="0" dirty="0">
              <a:ln>
                <a:noFill/>
              </a:ln>
              <a:effectLst/>
              <a:uFillTx/>
              <a:latin typeface="Source Sans Pro"/>
              <a:ea typeface="Source Sans Pro"/>
              <a:cs typeface="Source Sans Pro"/>
              <a:sym typeface="Source Sans Pro"/>
            </a:endParaRPr>
          </a:p>
        </p:txBody>
      </p:sp>
      <p:sp>
        <p:nvSpPr>
          <p:cNvPr id="272" name="TextBox 271">
            <a:extLst>
              <a:ext uri="{FF2B5EF4-FFF2-40B4-BE49-F238E27FC236}">
                <a16:creationId xmlns:a16="http://schemas.microsoft.com/office/drawing/2014/main" id="{65DFE2DF-B1F7-517D-E86D-BDFBCAAB06C6}"/>
              </a:ext>
            </a:extLst>
          </p:cNvPr>
          <p:cNvSpPr txBox="1"/>
          <p:nvPr/>
        </p:nvSpPr>
        <p:spPr>
          <a:xfrm>
            <a:off x="9517994" y="3859880"/>
            <a:ext cx="3400799" cy="3359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1300" dirty="0" err="1"/>
              <a:t>sailuh</a:t>
            </a:r>
            <a:r>
              <a:rPr lang="en-US" sz="1300" dirty="0"/>
              <a:t>/</a:t>
            </a:r>
            <a:r>
              <a:rPr lang="en-US" sz="1300" dirty="0" err="1"/>
              <a:t>emotion_jira_dataset</a:t>
            </a:r>
            <a:endParaRPr kumimoji="0" lang="en-US" sz="1300" b="1" i="0" strike="noStrike" cap="none" spc="0" normalizeH="0" baseline="0" dirty="0">
              <a:ln>
                <a:noFill/>
              </a:ln>
              <a:effectLst/>
              <a:uFillTx/>
              <a:latin typeface="Source Sans Pro"/>
              <a:ea typeface="Source Sans Pro"/>
              <a:cs typeface="Source Sans Pro"/>
              <a:sym typeface="Source Sans Pro"/>
            </a:endParaRPr>
          </a:p>
        </p:txBody>
      </p:sp>
      <p:pic>
        <p:nvPicPr>
          <p:cNvPr id="273" name="Graphic 272" descr="Paper outline">
            <a:extLst>
              <a:ext uri="{FF2B5EF4-FFF2-40B4-BE49-F238E27FC236}">
                <a16:creationId xmlns:a16="http://schemas.microsoft.com/office/drawing/2014/main" id="{7A72DB87-F95A-7665-0F5D-0DD723DDA53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31382" y="4473903"/>
            <a:ext cx="536605" cy="536605"/>
          </a:xfrm>
          <a:prstGeom prst="rect">
            <a:avLst/>
          </a:prstGeom>
        </p:spPr>
      </p:pic>
      <p:graphicFrame>
        <p:nvGraphicFramePr>
          <p:cNvPr id="274" name="Table">
            <a:extLst>
              <a:ext uri="{FF2B5EF4-FFF2-40B4-BE49-F238E27FC236}">
                <a16:creationId xmlns:a16="http://schemas.microsoft.com/office/drawing/2014/main" id="{59F7A7EC-AAA7-D74F-B1E3-E251B06D98D5}"/>
              </a:ext>
            </a:extLst>
          </p:cNvPr>
          <p:cNvGraphicFramePr/>
          <p:nvPr>
            <p:extLst>
              <p:ext uri="{D42A27DB-BD31-4B8C-83A1-F6EECF244321}">
                <p14:modId xmlns:p14="http://schemas.microsoft.com/office/powerpoint/2010/main" val="771057641"/>
              </p:ext>
            </p:extLst>
          </p:nvPr>
        </p:nvGraphicFramePr>
        <p:xfrm>
          <a:off x="648007" y="40891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275" name="TextBox 274">
            <a:extLst>
              <a:ext uri="{FF2B5EF4-FFF2-40B4-BE49-F238E27FC236}">
                <a16:creationId xmlns:a16="http://schemas.microsoft.com/office/drawing/2014/main" id="{139F2A57-DC06-9BB7-1394-E01144251C79}"/>
              </a:ext>
            </a:extLst>
          </p:cNvPr>
          <p:cNvSpPr txBox="1"/>
          <p:nvPr/>
        </p:nvSpPr>
        <p:spPr>
          <a:xfrm>
            <a:off x="444504" y="4711561"/>
            <a:ext cx="103487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GitHub 2020 CSV</a:t>
            </a:r>
          </a:p>
          <a:p>
            <a:pPr algn="ctr"/>
            <a:r>
              <a:rPr lang="en-US" sz="800" b="0" dirty="0"/>
              <a:t>Novielli et al. [1]</a:t>
            </a:r>
          </a:p>
        </p:txBody>
      </p:sp>
      <p:sp>
        <p:nvSpPr>
          <p:cNvPr id="276" name="TextBox 275">
            <a:extLst>
              <a:ext uri="{FF2B5EF4-FFF2-40B4-BE49-F238E27FC236}">
                <a16:creationId xmlns:a16="http://schemas.microsoft.com/office/drawing/2014/main" id="{BD163808-E897-C2BF-E32A-4FD835C6AC6E}"/>
              </a:ext>
            </a:extLst>
          </p:cNvPr>
          <p:cNvSpPr txBox="1"/>
          <p:nvPr/>
        </p:nvSpPr>
        <p:spPr>
          <a:xfrm>
            <a:off x="7247717" y="5045761"/>
            <a:ext cx="72095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err="1"/>
              <a:t>sailuh</a:t>
            </a:r>
            <a:r>
              <a:rPr lang="en-US" sz="800" b="0" dirty="0"/>
              <a:t>/</a:t>
            </a:r>
            <a:r>
              <a:rPr lang="en-US" sz="800" b="0" dirty="0" err="1"/>
              <a:t>kaiaulu</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77" name="TextBox 276">
            <a:extLst>
              <a:ext uri="{FF2B5EF4-FFF2-40B4-BE49-F238E27FC236}">
                <a16:creationId xmlns:a16="http://schemas.microsoft.com/office/drawing/2014/main" id="{78A6D517-5DFC-A323-14A3-C84063BE5289}"/>
              </a:ext>
            </a:extLst>
          </p:cNvPr>
          <p:cNvSpPr txBox="1"/>
          <p:nvPr/>
        </p:nvSpPr>
        <p:spPr>
          <a:xfrm>
            <a:off x="5280810" y="4613137"/>
            <a:ext cx="15549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78" name="Straight Arrow Connector 277">
            <a:extLst>
              <a:ext uri="{FF2B5EF4-FFF2-40B4-BE49-F238E27FC236}">
                <a16:creationId xmlns:a16="http://schemas.microsoft.com/office/drawing/2014/main" id="{E501D4B4-DA8B-51FC-B2CF-31698079D578}"/>
              </a:ext>
            </a:extLst>
          </p:cNvPr>
          <p:cNvCxnSpPr>
            <a:cxnSpLocks/>
          </p:cNvCxnSpPr>
          <p:nvPr/>
        </p:nvCxnSpPr>
        <p:spPr>
          <a:xfrm>
            <a:off x="6618730" y="4739740"/>
            <a:ext cx="520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9" name="Elbow Connector 278">
            <a:extLst>
              <a:ext uri="{FF2B5EF4-FFF2-40B4-BE49-F238E27FC236}">
                <a16:creationId xmlns:a16="http://schemas.microsoft.com/office/drawing/2014/main" id="{2AE7A03E-5C5C-C03C-C774-2B96F60D175E}"/>
              </a:ext>
            </a:extLst>
          </p:cNvPr>
          <p:cNvCxnSpPr>
            <a:cxnSpLocks/>
          </p:cNvCxnSpPr>
          <p:nvPr/>
        </p:nvCxnSpPr>
        <p:spPr>
          <a:xfrm rot="5400000">
            <a:off x="6893652" y="2693604"/>
            <a:ext cx="389103" cy="2253944"/>
          </a:xfrm>
          <a:prstGeom prst="bentConnector2">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0" name="Straight Arrow Connector 279">
            <a:extLst>
              <a:ext uri="{FF2B5EF4-FFF2-40B4-BE49-F238E27FC236}">
                <a16:creationId xmlns:a16="http://schemas.microsoft.com/office/drawing/2014/main" id="{B0D2F455-A9ED-809A-CB15-C117A4D2B05F}"/>
              </a:ext>
            </a:extLst>
          </p:cNvPr>
          <p:cNvCxnSpPr>
            <a:cxnSpLocks/>
          </p:cNvCxnSpPr>
          <p:nvPr/>
        </p:nvCxnSpPr>
        <p:spPr>
          <a:xfrm flipH="1">
            <a:off x="5961231" y="4019531"/>
            <a:ext cx="1" cy="454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1" name="Elbow Connector 280">
            <a:extLst>
              <a:ext uri="{FF2B5EF4-FFF2-40B4-BE49-F238E27FC236}">
                <a16:creationId xmlns:a16="http://schemas.microsoft.com/office/drawing/2014/main" id="{AF67B776-2E49-D1B2-7AB5-01E6EC397751}"/>
              </a:ext>
            </a:extLst>
          </p:cNvPr>
          <p:cNvCxnSpPr>
            <a:cxnSpLocks/>
            <a:stCxn id="26" idx="1"/>
          </p:cNvCxnSpPr>
          <p:nvPr/>
        </p:nvCxnSpPr>
        <p:spPr>
          <a:xfrm rot="10800000" flipV="1">
            <a:off x="4959812" y="3470167"/>
            <a:ext cx="2546242" cy="338701"/>
          </a:xfrm>
          <a:prstGeom prst="bentConnector3">
            <a:avLst>
              <a:gd name="adj1" fmla="val 13253"/>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282" name="Straight Arrow Connector 281">
            <a:extLst>
              <a:ext uri="{FF2B5EF4-FFF2-40B4-BE49-F238E27FC236}">
                <a16:creationId xmlns:a16="http://schemas.microsoft.com/office/drawing/2014/main" id="{4D9A2A5A-E2D9-37A6-9557-6994D6C84FBA}"/>
              </a:ext>
            </a:extLst>
          </p:cNvPr>
          <p:cNvCxnSpPr>
            <a:cxnSpLocks/>
          </p:cNvCxnSpPr>
          <p:nvPr/>
        </p:nvCxnSpPr>
        <p:spPr>
          <a:xfrm>
            <a:off x="4959813" y="3809205"/>
            <a:ext cx="0" cy="655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3" name="TextBox 282">
            <a:extLst>
              <a:ext uri="{FF2B5EF4-FFF2-40B4-BE49-F238E27FC236}">
                <a16:creationId xmlns:a16="http://schemas.microsoft.com/office/drawing/2014/main" id="{41845830-6BBF-39C3-0324-E924AEAEDAF7}"/>
              </a:ext>
            </a:extLst>
          </p:cNvPr>
          <p:cNvSpPr txBox="1"/>
          <p:nvPr/>
        </p:nvSpPr>
        <p:spPr>
          <a:xfrm>
            <a:off x="4632534" y="9025990"/>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284" name="Group 283">
            <a:extLst>
              <a:ext uri="{FF2B5EF4-FFF2-40B4-BE49-F238E27FC236}">
                <a16:creationId xmlns:a16="http://schemas.microsoft.com/office/drawing/2014/main" id="{83CD324F-3982-489D-6668-701B3BAC6A6E}"/>
              </a:ext>
            </a:extLst>
          </p:cNvPr>
          <p:cNvGrpSpPr/>
          <p:nvPr/>
        </p:nvGrpSpPr>
        <p:grpSpPr>
          <a:xfrm>
            <a:off x="5436601" y="8584638"/>
            <a:ext cx="953200" cy="458010"/>
            <a:chOff x="5528605" y="4530831"/>
            <a:chExt cx="953200" cy="458010"/>
          </a:xfrm>
        </p:grpSpPr>
        <p:graphicFrame>
          <p:nvGraphicFramePr>
            <p:cNvPr id="285" name="Table">
              <a:extLst>
                <a:ext uri="{FF2B5EF4-FFF2-40B4-BE49-F238E27FC236}">
                  <a16:creationId xmlns:a16="http://schemas.microsoft.com/office/drawing/2014/main" id="{33CBEE96-D09A-9C75-2158-01B5DF54B3C0}"/>
                </a:ext>
              </a:extLst>
            </p:cNvPr>
            <p:cNvGraphicFramePr/>
            <p:nvPr>
              <p:extLst>
                <p:ext uri="{D42A27DB-BD31-4B8C-83A1-F6EECF244321}">
                  <p14:modId xmlns:p14="http://schemas.microsoft.com/office/powerpoint/2010/main" val="4189071012"/>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286" name="Table">
              <a:extLst>
                <a:ext uri="{FF2B5EF4-FFF2-40B4-BE49-F238E27FC236}">
                  <a16:creationId xmlns:a16="http://schemas.microsoft.com/office/drawing/2014/main" id="{DF2CF3A6-D280-887D-A39C-A6F9A2DFFA46}"/>
                </a:ext>
              </a:extLst>
            </p:cNvPr>
            <p:cNvGraphicFramePr/>
            <p:nvPr>
              <p:extLst>
                <p:ext uri="{D42A27DB-BD31-4B8C-83A1-F6EECF244321}">
                  <p14:modId xmlns:p14="http://schemas.microsoft.com/office/powerpoint/2010/main" val="2842430816"/>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sp>
        <p:nvSpPr>
          <p:cNvPr id="287" name="TextBox 286">
            <a:extLst>
              <a:ext uri="{FF2B5EF4-FFF2-40B4-BE49-F238E27FC236}">
                <a16:creationId xmlns:a16="http://schemas.microsoft.com/office/drawing/2014/main" id="{80CF4E8F-29CE-9B0B-B269-72317B130D7E}"/>
              </a:ext>
            </a:extLst>
          </p:cNvPr>
          <p:cNvSpPr txBox="1"/>
          <p:nvPr/>
        </p:nvSpPr>
        <p:spPr>
          <a:xfrm>
            <a:off x="5138691" y="9038621"/>
            <a:ext cx="159274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Jira Emotion 2016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288" name="Group 287">
            <a:extLst>
              <a:ext uri="{FF2B5EF4-FFF2-40B4-BE49-F238E27FC236}">
                <a16:creationId xmlns:a16="http://schemas.microsoft.com/office/drawing/2014/main" id="{0F865A97-6A32-C1AB-6725-49BB587F21C6}"/>
              </a:ext>
            </a:extLst>
          </p:cNvPr>
          <p:cNvGrpSpPr/>
          <p:nvPr/>
        </p:nvGrpSpPr>
        <p:grpSpPr>
          <a:xfrm>
            <a:off x="8439925" y="8193234"/>
            <a:ext cx="569700" cy="1688313"/>
            <a:chOff x="8715063" y="3858862"/>
            <a:chExt cx="569700" cy="1688313"/>
          </a:xfrm>
        </p:grpSpPr>
        <p:sp>
          <p:nvSpPr>
            <p:cNvPr id="289" name="Google Shape;324;p18">
              <a:extLst>
                <a:ext uri="{FF2B5EF4-FFF2-40B4-BE49-F238E27FC236}">
                  <a16:creationId xmlns:a16="http://schemas.microsoft.com/office/drawing/2014/main" id="{8C691B44-8943-4C0F-FAAC-77B6D1EF42AC}"/>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290" name="Google Shape;359;p18">
              <a:extLst>
                <a:ext uri="{FF2B5EF4-FFF2-40B4-BE49-F238E27FC236}">
                  <a16:creationId xmlns:a16="http://schemas.microsoft.com/office/drawing/2014/main" id="{CA6DD7F0-8DF4-D889-53E4-C0D2CB3CA778}"/>
                </a:ext>
              </a:extLst>
            </p:cNvPr>
            <p:cNvGrpSpPr/>
            <p:nvPr/>
          </p:nvGrpSpPr>
          <p:grpSpPr>
            <a:xfrm>
              <a:off x="8838265" y="4043887"/>
              <a:ext cx="307200" cy="189300"/>
              <a:chOff x="3007175" y="1757600"/>
              <a:chExt cx="307200" cy="189300"/>
            </a:xfrm>
          </p:grpSpPr>
          <p:sp>
            <p:nvSpPr>
              <p:cNvPr id="317" name="Google Shape;360;p18">
                <a:extLst>
                  <a:ext uri="{FF2B5EF4-FFF2-40B4-BE49-F238E27FC236}">
                    <a16:creationId xmlns:a16="http://schemas.microsoft.com/office/drawing/2014/main" id="{9825D967-5A4D-540C-7500-EB2F30B8FD6A}"/>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8" name="Google Shape;361;p18">
                <a:extLst>
                  <a:ext uri="{FF2B5EF4-FFF2-40B4-BE49-F238E27FC236}">
                    <a16:creationId xmlns:a16="http://schemas.microsoft.com/office/drawing/2014/main" id="{33AB002F-8357-91CE-1E04-0068304087C4}"/>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9" name="Google Shape;362;p18">
                <a:extLst>
                  <a:ext uri="{FF2B5EF4-FFF2-40B4-BE49-F238E27FC236}">
                    <a16:creationId xmlns:a16="http://schemas.microsoft.com/office/drawing/2014/main" id="{15AD0130-9318-5284-272E-530EF6C69473}"/>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0" name="Google Shape;363;p18">
                <a:extLst>
                  <a:ext uri="{FF2B5EF4-FFF2-40B4-BE49-F238E27FC236}">
                    <a16:creationId xmlns:a16="http://schemas.microsoft.com/office/drawing/2014/main" id="{74434D7E-00B4-264B-09CB-4DCF2630F57B}"/>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21" name="Google Shape;364;p18">
                <a:extLst>
                  <a:ext uri="{FF2B5EF4-FFF2-40B4-BE49-F238E27FC236}">
                    <a16:creationId xmlns:a16="http://schemas.microsoft.com/office/drawing/2014/main" id="{FFAB5578-A382-67E5-F94A-43C8C6208FAE}"/>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22" name="Google Shape;365;p18">
                <a:extLst>
                  <a:ext uri="{FF2B5EF4-FFF2-40B4-BE49-F238E27FC236}">
                    <a16:creationId xmlns:a16="http://schemas.microsoft.com/office/drawing/2014/main" id="{1662D0AD-466D-E161-CF06-8F6BF4F519B8}"/>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23" name="Google Shape;366;p18">
                <a:extLst>
                  <a:ext uri="{FF2B5EF4-FFF2-40B4-BE49-F238E27FC236}">
                    <a16:creationId xmlns:a16="http://schemas.microsoft.com/office/drawing/2014/main" id="{D0DB4837-D2D0-73D6-AD30-8F82EF5CB4EE}"/>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291" name="Google Shape;367;p18">
              <a:extLst>
                <a:ext uri="{FF2B5EF4-FFF2-40B4-BE49-F238E27FC236}">
                  <a16:creationId xmlns:a16="http://schemas.microsoft.com/office/drawing/2014/main" id="{9E929ABE-F73C-AEDC-E59A-ECC25F73465B}"/>
                </a:ext>
              </a:extLst>
            </p:cNvPr>
            <p:cNvGrpSpPr/>
            <p:nvPr/>
          </p:nvGrpSpPr>
          <p:grpSpPr>
            <a:xfrm>
              <a:off x="8838252" y="4387350"/>
              <a:ext cx="307200" cy="189300"/>
              <a:chOff x="3007175" y="1757600"/>
              <a:chExt cx="307200" cy="189300"/>
            </a:xfrm>
          </p:grpSpPr>
          <p:sp>
            <p:nvSpPr>
              <p:cNvPr id="309" name="Google Shape;368;p18">
                <a:extLst>
                  <a:ext uri="{FF2B5EF4-FFF2-40B4-BE49-F238E27FC236}">
                    <a16:creationId xmlns:a16="http://schemas.microsoft.com/office/drawing/2014/main" id="{FB096F1F-0FBF-D4DF-33F0-87B279CBA272}"/>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0" name="Google Shape;369;p18">
                <a:extLst>
                  <a:ext uri="{FF2B5EF4-FFF2-40B4-BE49-F238E27FC236}">
                    <a16:creationId xmlns:a16="http://schemas.microsoft.com/office/drawing/2014/main" id="{FA33518E-E5C5-0E0D-DBA1-2A36692E3393}"/>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1" name="Google Shape;370;p18">
                <a:extLst>
                  <a:ext uri="{FF2B5EF4-FFF2-40B4-BE49-F238E27FC236}">
                    <a16:creationId xmlns:a16="http://schemas.microsoft.com/office/drawing/2014/main" id="{3D3BAF1A-193A-6E0A-3A0D-1FB3BB3C0680}"/>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3" name="Google Shape;371;p18">
                <a:extLst>
                  <a:ext uri="{FF2B5EF4-FFF2-40B4-BE49-F238E27FC236}">
                    <a16:creationId xmlns:a16="http://schemas.microsoft.com/office/drawing/2014/main" id="{C9BCFBF2-2647-62A7-488D-D1DF2E397D28}"/>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14" name="Google Shape;372;p18">
                <a:extLst>
                  <a:ext uri="{FF2B5EF4-FFF2-40B4-BE49-F238E27FC236}">
                    <a16:creationId xmlns:a16="http://schemas.microsoft.com/office/drawing/2014/main" id="{7DC4F296-DD17-D219-9310-5A8BDD5CD376}"/>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15" name="Google Shape;373;p18">
                <a:extLst>
                  <a:ext uri="{FF2B5EF4-FFF2-40B4-BE49-F238E27FC236}">
                    <a16:creationId xmlns:a16="http://schemas.microsoft.com/office/drawing/2014/main" id="{82876BCA-81D6-B028-F525-938F4839030A}"/>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16" name="Google Shape;374;p18">
                <a:extLst>
                  <a:ext uri="{FF2B5EF4-FFF2-40B4-BE49-F238E27FC236}">
                    <a16:creationId xmlns:a16="http://schemas.microsoft.com/office/drawing/2014/main" id="{F284CBD0-4FF3-5D73-DBF9-236E6ED2365B}"/>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293" name="Google Shape;375;p18">
              <a:extLst>
                <a:ext uri="{FF2B5EF4-FFF2-40B4-BE49-F238E27FC236}">
                  <a16:creationId xmlns:a16="http://schemas.microsoft.com/office/drawing/2014/main" id="{4FB699ED-E6B0-FDBC-1851-BEFCCEC6ECCC}"/>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294" name="Google Shape;376;p18">
              <a:extLst>
                <a:ext uri="{FF2B5EF4-FFF2-40B4-BE49-F238E27FC236}">
                  <a16:creationId xmlns:a16="http://schemas.microsoft.com/office/drawing/2014/main" id="{EE2007BD-0C51-8734-73E5-E27632B3D5FC}"/>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295" name="Google Shape;377;p18">
              <a:extLst>
                <a:ext uri="{FF2B5EF4-FFF2-40B4-BE49-F238E27FC236}">
                  <a16:creationId xmlns:a16="http://schemas.microsoft.com/office/drawing/2014/main" id="{E2660F90-135D-5DDC-1CAB-518B95A04136}"/>
                </a:ext>
              </a:extLst>
            </p:cNvPr>
            <p:cNvGrpSpPr/>
            <p:nvPr/>
          </p:nvGrpSpPr>
          <p:grpSpPr>
            <a:xfrm>
              <a:off x="8846302" y="4841125"/>
              <a:ext cx="307200" cy="297900"/>
              <a:chOff x="3021975" y="2389850"/>
              <a:chExt cx="307200" cy="297900"/>
            </a:xfrm>
          </p:grpSpPr>
          <p:sp>
            <p:nvSpPr>
              <p:cNvPr id="299" name="Google Shape;378;p18">
                <a:extLst>
                  <a:ext uri="{FF2B5EF4-FFF2-40B4-BE49-F238E27FC236}">
                    <a16:creationId xmlns:a16="http://schemas.microsoft.com/office/drawing/2014/main" id="{A4A8C764-9F4E-19CE-E459-E41FCE7EFA7B}"/>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300" name="Google Shape;379;p18">
                <a:extLst>
                  <a:ext uri="{FF2B5EF4-FFF2-40B4-BE49-F238E27FC236}">
                    <a16:creationId xmlns:a16="http://schemas.microsoft.com/office/drawing/2014/main" id="{DB6B2767-B93F-3957-3F8D-6121611F7D94}"/>
                  </a:ext>
                </a:extLst>
              </p:cNvPr>
              <p:cNvGrpSpPr/>
              <p:nvPr/>
            </p:nvGrpSpPr>
            <p:grpSpPr>
              <a:xfrm>
                <a:off x="3021975" y="2389850"/>
                <a:ext cx="307200" cy="295800"/>
                <a:chOff x="3021975" y="2389850"/>
                <a:chExt cx="307200" cy="295800"/>
              </a:xfrm>
            </p:grpSpPr>
            <p:sp>
              <p:nvSpPr>
                <p:cNvPr id="301" name="Google Shape;380;p18">
                  <a:extLst>
                    <a:ext uri="{FF2B5EF4-FFF2-40B4-BE49-F238E27FC236}">
                      <a16:creationId xmlns:a16="http://schemas.microsoft.com/office/drawing/2014/main" id="{350A11AE-6907-A889-395E-136CE39A8A46}"/>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2" name="Google Shape;381;p18">
                  <a:extLst>
                    <a:ext uri="{FF2B5EF4-FFF2-40B4-BE49-F238E27FC236}">
                      <a16:creationId xmlns:a16="http://schemas.microsoft.com/office/drawing/2014/main" id="{D0CC404D-6EC4-E370-2AB0-275171A3A3D3}"/>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03" name="Google Shape;382;p18">
                  <a:extLst>
                    <a:ext uri="{FF2B5EF4-FFF2-40B4-BE49-F238E27FC236}">
                      <a16:creationId xmlns:a16="http://schemas.microsoft.com/office/drawing/2014/main" id="{FE0E0D88-17DC-651D-2C52-5128FDEBC3D0}"/>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04" name="Google Shape;383;p18">
                  <a:extLst>
                    <a:ext uri="{FF2B5EF4-FFF2-40B4-BE49-F238E27FC236}">
                      <a16:creationId xmlns:a16="http://schemas.microsoft.com/office/drawing/2014/main" id="{BD8BD52D-2032-DBA8-6294-A6CEA9BCE081}"/>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05" name="Google Shape;384;p18">
                  <a:extLst>
                    <a:ext uri="{FF2B5EF4-FFF2-40B4-BE49-F238E27FC236}">
                      <a16:creationId xmlns:a16="http://schemas.microsoft.com/office/drawing/2014/main" id="{56B93EAF-11B7-8CE1-ADA6-E658D49781A2}"/>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06" name="Google Shape;385;p18">
                  <a:extLst>
                    <a:ext uri="{FF2B5EF4-FFF2-40B4-BE49-F238E27FC236}">
                      <a16:creationId xmlns:a16="http://schemas.microsoft.com/office/drawing/2014/main" id="{8E005A95-97E9-D885-B009-38E3C9A62578}"/>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07" name="Google Shape;386;p18">
                  <a:extLst>
                    <a:ext uri="{FF2B5EF4-FFF2-40B4-BE49-F238E27FC236}">
                      <a16:creationId xmlns:a16="http://schemas.microsoft.com/office/drawing/2014/main" id="{7E3F73D9-7275-A65D-E2C0-54BDF012D3BA}"/>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08" name="Google Shape;387;p18">
                  <a:extLst>
                    <a:ext uri="{FF2B5EF4-FFF2-40B4-BE49-F238E27FC236}">
                      <a16:creationId xmlns:a16="http://schemas.microsoft.com/office/drawing/2014/main" id="{AD087547-47C9-E4BB-9A23-03D822A1C4E8}"/>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296" name="Google Shape;388;p18">
              <a:extLst>
                <a:ext uri="{FF2B5EF4-FFF2-40B4-BE49-F238E27FC236}">
                  <a16:creationId xmlns:a16="http://schemas.microsoft.com/office/drawing/2014/main" id="{7D7C8448-0C7C-44AB-C76D-2F14C5550CDE}"/>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cxnSp>
          <p:nvCxnSpPr>
            <p:cNvPr id="297" name="Google Shape;389;p18">
              <a:extLst>
                <a:ext uri="{FF2B5EF4-FFF2-40B4-BE49-F238E27FC236}">
                  <a16:creationId xmlns:a16="http://schemas.microsoft.com/office/drawing/2014/main" id="{B034E0E6-1FDC-D903-5824-D3C5E7BDC9A5}"/>
                </a:ext>
              </a:extLst>
            </p:cNvPr>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298" name="Google Shape;390;p18">
              <a:extLst>
                <a:ext uri="{FF2B5EF4-FFF2-40B4-BE49-F238E27FC236}">
                  <a16:creationId xmlns:a16="http://schemas.microsoft.com/office/drawing/2014/main" id="{31B49988-2D85-5BEC-0A08-848A99EA49FE}"/>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324" name="Graphic 323" descr="Paper outline">
            <a:extLst>
              <a:ext uri="{FF2B5EF4-FFF2-40B4-BE49-F238E27FC236}">
                <a16:creationId xmlns:a16="http://schemas.microsoft.com/office/drawing/2014/main" id="{5B40C7C4-92AD-BEC3-0EA0-3D39471DD2F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5359" y="8538023"/>
            <a:ext cx="536605" cy="536605"/>
          </a:xfrm>
          <a:prstGeom prst="rect">
            <a:avLst/>
          </a:prstGeom>
        </p:spPr>
      </p:pic>
      <p:sp>
        <p:nvSpPr>
          <p:cNvPr id="325" name="TextBox 324">
            <a:extLst>
              <a:ext uri="{FF2B5EF4-FFF2-40B4-BE49-F238E27FC236}">
                <a16:creationId xmlns:a16="http://schemas.microsoft.com/office/drawing/2014/main" id="{3CEA2E0C-B1F4-6C03-5C35-ED7789F53F72}"/>
              </a:ext>
            </a:extLst>
          </p:cNvPr>
          <p:cNvSpPr txBox="1"/>
          <p:nvPr/>
        </p:nvSpPr>
        <p:spPr>
          <a:xfrm>
            <a:off x="5190237" y="8649598"/>
            <a:ext cx="15549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326" name="Straight Arrow Connector 325">
            <a:extLst>
              <a:ext uri="{FF2B5EF4-FFF2-40B4-BE49-F238E27FC236}">
                <a16:creationId xmlns:a16="http://schemas.microsoft.com/office/drawing/2014/main" id="{22E8CAA9-A56A-3C33-7A58-E67CA101459B}"/>
              </a:ext>
            </a:extLst>
          </p:cNvPr>
          <p:cNvCxnSpPr>
            <a:cxnSpLocks/>
          </p:cNvCxnSpPr>
          <p:nvPr/>
        </p:nvCxnSpPr>
        <p:spPr>
          <a:xfrm>
            <a:off x="6471063" y="8803860"/>
            <a:ext cx="520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7" name="Straight Arrow Connector 326">
            <a:extLst>
              <a:ext uri="{FF2B5EF4-FFF2-40B4-BE49-F238E27FC236}">
                <a16:creationId xmlns:a16="http://schemas.microsoft.com/office/drawing/2014/main" id="{9FAD4211-F6C2-FE8F-F75A-71433C2342C3}"/>
              </a:ext>
            </a:extLst>
          </p:cNvPr>
          <p:cNvCxnSpPr>
            <a:cxnSpLocks/>
          </p:cNvCxnSpPr>
          <p:nvPr/>
        </p:nvCxnSpPr>
        <p:spPr>
          <a:xfrm flipH="1">
            <a:off x="5875208" y="8083651"/>
            <a:ext cx="1" cy="454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8" name="Elbow Connector 327">
            <a:extLst>
              <a:ext uri="{FF2B5EF4-FFF2-40B4-BE49-F238E27FC236}">
                <a16:creationId xmlns:a16="http://schemas.microsoft.com/office/drawing/2014/main" id="{B7802DE5-4BD8-C479-6595-CE12DF03C59F}"/>
              </a:ext>
            </a:extLst>
          </p:cNvPr>
          <p:cNvCxnSpPr>
            <a:cxnSpLocks/>
            <a:stCxn id="37" idx="1"/>
          </p:cNvCxnSpPr>
          <p:nvPr/>
        </p:nvCxnSpPr>
        <p:spPr>
          <a:xfrm rot="10800000" flipV="1">
            <a:off x="4901156" y="7492159"/>
            <a:ext cx="2389565" cy="395430"/>
          </a:xfrm>
          <a:prstGeom prst="bentConnector3">
            <a:avLst>
              <a:gd name="adj1" fmla="val 8418"/>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29" name="Straight Arrow Connector 328">
            <a:extLst>
              <a:ext uri="{FF2B5EF4-FFF2-40B4-BE49-F238E27FC236}">
                <a16:creationId xmlns:a16="http://schemas.microsoft.com/office/drawing/2014/main" id="{AC169DD1-6DEB-61E4-6B07-9A93AF8BEA31}"/>
              </a:ext>
            </a:extLst>
          </p:cNvPr>
          <p:cNvCxnSpPr>
            <a:cxnSpLocks/>
          </p:cNvCxnSpPr>
          <p:nvPr/>
        </p:nvCxnSpPr>
        <p:spPr>
          <a:xfrm>
            <a:off x="4901156" y="7887589"/>
            <a:ext cx="0" cy="655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0" name="Elbow Connector 329">
            <a:extLst>
              <a:ext uri="{FF2B5EF4-FFF2-40B4-BE49-F238E27FC236}">
                <a16:creationId xmlns:a16="http://schemas.microsoft.com/office/drawing/2014/main" id="{1044CDB0-71B9-87FE-A79C-5EC3D67B210D}"/>
              </a:ext>
            </a:extLst>
          </p:cNvPr>
          <p:cNvCxnSpPr>
            <a:cxnSpLocks/>
          </p:cNvCxnSpPr>
          <p:nvPr/>
        </p:nvCxnSpPr>
        <p:spPr>
          <a:xfrm rot="10800000" flipV="1">
            <a:off x="5875209" y="7689643"/>
            <a:ext cx="2330535" cy="395891"/>
          </a:xfrm>
          <a:prstGeom prst="bentConnector3">
            <a:avLst>
              <a:gd name="adj1" fmla="val 138"/>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331" name="Straight Arrow Connector 330">
            <a:extLst>
              <a:ext uri="{FF2B5EF4-FFF2-40B4-BE49-F238E27FC236}">
                <a16:creationId xmlns:a16="http://schemas.microsoft.com/office/drawing/2014/main" id="{A83BBFC0-E0D0-3CDD-C561-BF347ACE8FB6}"/>
              </a:ext>
            </a:extLst>
          </p:cNvPr>
          <p:cNvCxnSpPr>
            <a:cxnSpLocks/>
          </p:cNvCxnSpPr>
          <p:nvPr/>
        </p:nvCxnSpPr>
        <p:spPr>
          <a:xfrm>
            <a:off x="7954799" y="8798069"/>
            <a:ext cx="4914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2" name="Can 331">
            <a:extLst>
              <a:ext uri="{FF2B5EF4-FFF2-40B4-BE49-F238E27FC236}">
                <a16:creationId xmlns:a16="http://schemas.microsoft.com/office/drawing/2014/main" id="{39D6ACC9-E774-19A6-7FE5-923B56A12591}"/>
              </a:ext>
            </a:extLst>
          </p:cNvPr>
          <p:cNvSpPr/>
          <p:nvPr/>
        </p:nvSpPr>
        <p:spPr>
          <a:xfrm>
            <a:off x="2161726" y="4087963"/>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333" name="TextBox 332">
            <a:extLst>
              <a:ext uri="{FF2B5EF4-FFF2-40B4-BE49-F238E27FC236}">
                <a16:creationId xmlns:a16="http://schemas.microsoft.com/office/drawing/2014/main" id="{0F8B2F6C-7BA6-38E2-B6C4-50402D807ACB}"/>
              </a:ext>
            </a:extLst>
          </p:cNvPr>
          <p:cNvSpPr txBox="1"/>
          <p:nvPr/>
        </p:nvSpPr>
        <p:spPr>
          <a:xfrm>
            <a:off x="1691738" y="4702673"/>
            <a:ext cx="144929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err="1"/>
              <a:t>GHTorrent</a:t>
            </a:r>
            <a:r>
              <a:rPr lang="en-US" sz="1000" b="0" dirty="0"/>
              <a:t> 2014 DB</a:t>
            </a:r>
          </a:p>
          <a:p>
            <a:pPr algn="ctr"/>
            <a:r>
              <a:rPr lang="en-US" sz="800" b="0" dirty="0"/>
              <a:t>MSR Challenge [2]</a:t>
            </a:r>
          </a:p>
        </p:txBody>
      </p:sp>
      <p:sp>
        <p:nvSpPr>
          <p:cNvPr id="334" name="Line">
            <a:extLst>
              <a:ext uri="{FF2B5EF4-FFF2-40B4-BE49-F238E27FC236}">
                <a16:creationId xmlns:a16="http://schemas.microsoft.com/office/drawing/2014/main" id="{BCF68F9B-0C37-96EE-4DEF-E6EB8E59157E}"/>
              </a:ext>
            </a:extLst>
          </p:cNvPr>
          <p:cNvSpPr/>
          <p:nvPr/>
        </p:nvSpPr>
        <p:spPr>
          <a:xfrm flipV="1">
            <a:off x="252723" y="5254841"/>
            <a:ext cx="3367943" cy="0"/>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aphicFrame>
        <p:nvGraphicFramePr>
          <p:cNvPr id="335" name="Table">
            <a:extLst>
              <a:ext uri="{FF2B5EF4-FFF2-40B4-BE49-F238E27FC236}">
                <a16:creationId xmlns:a16="http://schemas.microsoft.com/office/drawing/2014/main" id="{E369116D-AD47-20A1-DF1A-6AF49F6BF9C3}"/>
              </a:ext>
            </a:extLst>
          </p:cNvPr>
          <p:cNvGraphicFramePr/>
          <p:nvPr>
            <p:extLst>
              <p:ext uri="{D42A27DB-BD31-4B8C-83A1-F6EECF244321}">
                <p14:modId xmlns:p14="http://schemas.microsoft.com/office/powerpoint/2010/main" val="3434720397"/>
              </p:ext>
            </p:extLst>
          </p:nvPr>
        </p:nvGraphicFramePr>
        <p:xfrm>
          <a:off x="637915" y="5447796"/>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336" name="TextBox 335">
            <a:extLst>
              <a:ext uri="{FF2B5EF4-FFF2-40B4-BE49-F238E27FC236}">
                <a16:creationId xmlns:a16="http://schemas.microsoft.com/office/drawing/2014/main" id="{6C9A8358-DA43-C9F6-1818-6EDB56225CDA}"/>
              </a:ext>
            </a:extLst>
          </p:cNvPr>
          <p:cNvSpPr txBox="1"/>
          <p:nvPr/>
        </p:nvSpPr>
        <p:spPr>
          <a:xfrm>
            <a:off x="275721" y="6080333"/>
            <a:ext cx="1349115"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Emotion 2016 CSV</a:t>
            </a:r>
          </a:p>
          <a:p>
            <a:pPr algn="ctr"/>
            <a:r>
              <a:rPr lang="en-US" sz="800" b="0" dirty="0"/>
              <a:t>Ortu et al. [3]</a:t>
            </a:r>
          </a:p>
        </p:txBody>
      </p:sp>
      <p:sp>
        <p:nvSpPr>
          <p:cNvPr id="337" name="TextBox 336">
            <a:extLst>
              <a:ext uri="{FF2B5EF4-FFF2-40B4-BE49-F238E27FC236}">
                <a16:creationId xmlns:a16="http://schemas.microsoft.com/office/drawing/2014/main" id="{FA66E5B3-5BE8-6A28-438E-D34B17C8D63F}"/>
              </a:ext>
            </a:extLst>
          </p:cNvPr>
          <p:cNvSpPr txBox="1"/>
          <p:nvPr/>
        </p:nvSpPr>
        <p:spPr>
          <a:xfrm>
            <a:off x="1667267" y="6096367"/>
            <a:ext cx="144929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a:t>Jira PostgreSQL 2016 DB</a:t>
            </a:r>
          </a:p>
          <a:p>
            <a:pPr algn="ctr"/>
            <a:r>
              <a:rPr lang="en-US" sz="800" b="0" dirty="0"/>
              <a:t>MSR Challenge [4]</a:t>
            </a:r>
          </a:p>
        </p:txBody>
      </p:sp>
      <p:sp>
        <p:nvSpPr>
          <p:cNvPr id="338" name="TextBox 337">
            <a:extLst>
              <a:ext uri="{FF2B5EF4-FFF2-40B4-BE49-F238E27FC236}">
                <a16:creationId xmlns:a16="http://schemas.microsoft.com/office/drawing/2014/main" id="{03D580C3-34D0-B831-9979-236730D3FF4D}"/>
              </a:ext>
            </a:extLst>
          </p:cNvPr>
          <p:cNvSpPr txBox="1"/>
          <p:nvPr/>
        </p:nvSpPr>
        <p:spPr>
          <a:xfrm>
            <a:off x="9468971" y="9437117"/>
            <a:ext cx="4207266" cy="8591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600" b="0" dirty="0"/>
              <a:t>[1] N. Novielli, Fabio Calefato, Davide </a:t>
            </a:r>
            <a:r>
              <a:rPr lang="en-US" sz="600" b="0" dirty="0" err="1"/>
              <a:t>Dongiovanni</a:t>
            </a:r>
            <a:r>
              <a:rPr lang="en-US" sz="600" b="0" dirty="0"/>
              <a:t>, D. Girardi, and Filippo Lanubile, “Can We Use SE-specific Sentiment Analysis Tools in a Cross-Platform Setting?,” Jun. 2020, </a:t>
            </a:r>
            <a:r>
              <a:rPr lang="en-US" sz="600" b="0" dirty="0" err="1"/>
              <a:t>doi</a:t>
            </a:r>
            <a:r>
              <a:rPr lang="en-US" sz="600" b="0" dirty="0"/>
              <a:t>: https://doi.org/10.1145/3379597.3387446. </a:t>
            </a:r>
          </a:p>
          <a:p>
            <a:r>
              <a:rPr lang="en-US" sz="600" b="0" dirty="0"/>
              <a:t>[2]https://web.archive.org/web/20210224080543/http://ansymore.uantwerpen.be/system/files/uploads/artefacts/alessandro/MSR16/archive3.zip</a:t>
            </a:r>
          </a:p>
          <a:p>
            <a:r>
              <a:rPr lang="en-US" sz="600" b="0" dirty="0"/>
              <a:t>[3] M. Ortu </a:t>
            </a:r>
            <a:r>
              <a:rPr lang="en-US" sz="600" b="0" i="1" dirty="0"/>
              <a:t>et al.</a:t>
            </a:r>
            <a:r>
              <a:rPr lang="en-US" sz="600" b="0" dirty="0"/>
              <a:t>, “The emotional side of software developers in JIRA,” </a:t>
            </a:r>
            <a:r>
              <a:rPr lang="en-US" sz="600" b="0" i="1" dirty="0"/>
              <a:t>Proceedings of the 13th International Conference on Mining Software Repositories</a:t>
            </a:r>
            <a:r>
              <a:rPr lang="en-US" sz="600" b="0" dirty="0"/>
              <a:t>, May 2016, </a:t>
            </a:r>
            <a:r>
              <a:rPr lang="en-US" sz="600" b="0" dirty="0" err="1"/>
              <a:t>doi</a:t>
            </a:r>
            <a:r>
              <a:rPr lang="en-US" sz="600" b="0" dirty="0"/>
              <a:t>: https://doi.org/10.1145/2901739.2903505. </a:t>
            </a:r>
          </a:p>
          <a:p>
            <a:r>
              <a:rPr lang="en-US" sz="600" b="0" dirty="0"/>
              <a:t>[4]https://web.archive.org/web/20150206005357/http://ghtorrent.org/msr14.html </a:t>
            </a:r>
          </a:p>
        </p:txBody>
      </p:sp>
      <p:grpSp>
        <p:nvGrpSpPr>
          <p:cNvPr id="339" name="Group 338">
            <a:extLst>
              <a:ext uri="{FF2B5EF4-FFF2-40B4-BE49-F238E27FC236}">
                <a16:creationId xmlns:a16="http://schemas.microsoft.com/office/drawing/2014/main" id="{667114AF-BD73-F049-33E9-44B2EC75E646}"/>
              </a:ext>
            </a:extLst>
          </p:cNvPr>
          <p:cNvGrpSpPr/>
          <p:nvPr/>
        </p:nvGrpSpPr>
        <p:grpSpPr>
          <a:xfrm>
            <a:off x="9716135" y="7200213"/>
            <a:ext cx="3656845" cy="2142989"/>
            <a:chOff x="8476178" y="1075788"/>
            <a:chExt cx="3245700" cy="1935357"/>
          </a:xfrm>
        </p:grpSpPr>
        <p:sp>
          <p:nvSpPr>
            <p:cNvPr id="340" name="Google Shape;324;p18">
              <a:extLst>
                <a:ext uri="{FF2B5EF4-FFF2-40B4-BE49-F238E27FC236}">
                  <a16:creationId xmlns:a16="http://schemas.microsoft.com/office/drawing/2014/main" id="{7C985AFD-52DE-0197-7C3A-5825EF121318}"/>
                </a:ext>
              </a:extLst>
            </p:cNvPr>
            <p:cNvSpPr/>
            <p:nvPr/>
          </p:nvSpPr>
          <p:spPr>
            <a:xfrm>
              <a:off x="8547103" y="133324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sp>
          <p:nvSpPr>
            <p:cNvPr id="341" name="Google Shape;325;p18">
              <a:extLst>
                <a:ext uri="{FF2B5EF4-FFF2-40B4-BE49-F238E27FC236}">
                  <a16:creationId xmlns:a16="http://schemas.microsoft.com/office/drawing/2014/main" id="{1D87FA31-2D6B-CEE8-AAC4-AA3124749AC9}"/>
                </a:ext>
              </a:extLst>
            </p:cNvPr>
            <p:cNvSpPr txBox="1"/>
            <p:nvPr/>
          </p:nvSpPr>
          <p:spPr>
            <a:xfrm>
              <a:off x="8512875" y="1160558"/>
              <a:ext cx="5898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Comments</a:t>
              </a:r>
              <a:endParaRPr sz="686" dirty="0">
                <a:solidFill>
                  <a:schemeClr val="dk2"/>
                </a:solidFill>
                <a:latin typeface="Source Sans 3"/>
                <a:ea typeface="Source Sans 3"/>
                <a:cs typeface="Source Sans 3"/>
                <a:sym typeface="Source Sans 3"/>
              </a:endParaRPr>
            </a:p>
          </p:txBody>
        </p:sp>
        <p:sp>
          <p:nvSpPr>
            <p:cNvPr id="342" name="Google Shape;326;p18">
              <a:extLst>
                <a:ext uri="{FF2B5EF4-FFF2-40B4-BE49-F238E27FC236}">
                  <a16:creationId xmlns:a16="http://schemas.microsoft.com/office/drawing/2014/main" id="{7073EA19-0C90-73BF-D946-E85133E494A8}"/>
                </a:ext>
              </a:extLst>
            </p:cNvPr>
            <p:cNvSpPr/>
            <p:nvPr/>
          </p:nvSpPr>
          <p:spPr>
            <a:xfrm>
              <a:off x="8476178" y="1114845"/>
              <a:ext cx="3245700" cy="18963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3" name="Google Shape;327;p18">
              <a:extLst>
                <a:ext uri="{FF2B5EF4-FFF2-40B4-BE49-F238E27FC236}">
                  <a16:creationId xmlns:a16="http://schemas.microsoft.com/office/drawing/2014/main" id="{1D30DE7A-D7FC-EECA-EF81-0E495276F2D9}"/>
                </a:ext>
              </a:extLst>
            </p:cNvPr>
            <p:cNvSpPr/>
            <p:nvPr/>
          </p:nvSpPr>
          <p:spPr>
            <a:xfrm>
              <a:off x="9194189" y="1685753"/>
              <a:ext cx="660000" cy="5394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sp>
          <p:nvSpPr>
            <p:cNvPr id="344" name="Google Shape;328;p18">
              <a:extLst>
                <a:ext uri="{FF2B5EF4-FFF2-40B4-BE49-F238E27FC236}">
                  <a16:creationId xmlns:a16="http://schemas.microsoft.com/office/drawing/2014/main" id="{C0550F3A-2CA2-D6AC-09FB-1C2BC257454B}"/>
                </a:ext>
              </a:extLst>
            </p:cNvPr>
            <p:cNvSpPr txBox="1"/>
            <p:nvPr/>
          </p:nvSpPr>
          <p:spPr>
            <a:xfrm>
              <a:off x="9243730" y="1675030"/>
              <a:ext cx="627577" cy="23835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err="1">
                  <a:solidFill>
                    <a:schemeClr val="dk2"/>
                  </a:solidFill>
                  <a:latin typeface="Source Sans 3"/>
                  <a:ea typeface="Source Sans 3"/>
                  <a:cs typeface="Source Sans 3"/>
                  <a:sym typeface="Source Sans 3"/>
                </a:rPr>
                <a:t>sailuh</a:t>
              </a:r>
              <a:r>
                <a:rPr lang="en" sz="686" dirty="0">
                  <a:solidFill>
                    <a:schemeClr val="dk2"/>
                  </a:solidFill>
                  <a:latin typeface="Source Sans 3"/>
                  <a:ea typeface="Source Sans 3"/>
                  <a:cs typeface="Source Sans 3"/>
                  <a:sym typeface="Source Sans 3"/>
                </a:rPr>
                <a:t>/</a:t>
              </a:r>
              <a:r>
                <a:rPr lang="en" sz="686" dirty="0" err="1">
                  <a:solidFill>
                    <a:schemeClr val="dk2"/>
                  </a:solidFill>
                  <a:latin typeface="Source Sans 3"/>
                  <a:ea typeface="Source Sans 3"/>
                  <a:cs typeface="Source Sans 3"/>
                  <a:sym typeface="Source Sans 3"/>
                </a:rPr>
                <a:t>kaiaulu</a:t>
              </a:r>
              <a:endParaRPr sz="686" dirty="0">
                <a:solidFill>
                  <a:schemeClr val="dk2"/>
                </a:solidFill>
                <a:latin typeface="Source Sans 3"/>
                <a:ea typeface="Source Sans 3"/>
                <a:cs typeface="Source Sans 3"/>
                <a:sym typeface="Source Sans 3"/>
              </a:endParaRPr>
            </a:p>
          </p:txBody>
        </p:sp>
        <p:cxnSp>
          <p:nvCxnSpPr>
            <p:cNvPr id="345" name="Google Shape;329;p18">
              <a:extLst>
                <a:ext uri="{FF2B5EF4-FFF2-40B4-BE49-F238E27FC236}">
                  <a16:creationId xmlns:a16="http://schemas.microsoft.com/office/drawing/2014/main" id="{7F5CCF21-3967-E26A-4525-B6B3B2EE704E}"/>
                </a:ext>
              </a:extLst>
            </p:cNvPr>
            <p:cNvCxnSpPr/>
            <p:nvPr/>
          </p:nvCxnSpPr>
          <p:spPr>
            <a:xfrm>
              <a:off x="9524199" y="2225090"/>
              <a:ext cx="0" cy="297300"/>
            </a:xfrm>
            <a:prstGeom prst="straightConnector1">
              <a:avLst/>
            </a:prstGeom>
            <a:noFill/>
            <a:ln w="8175" cap="flat" cmpd="sng">
              <a:solidFill>
                <a:schemeClr val="dk2"/>
              </a:solidFill>
              <a:prstDash val="solid"/>
              <a:round/>
              <a:headEnd type="none" w="med" len="med"/>
              <a:tailEnd type="triangle" w="med" len="med"/>
            </a:ln>
          </p:spPr>
        </p:cxnSp>
        <p:sp>
          <p:nvSpPr>
            <p:cNvPr id="346" name="Google Shape;330;p18">
              <a:extLst>
                <a:ext uri="{FF2B5EF4-FFF2-40B4-BE49-F238E27FC236}">
                  <a16:creationId xmlns:a16="http://schemas.microsoft.com/office/drawing/2014/main" id="{D6175E4F-2F93-73A4-2454-3814FFD3B20D}"/>
                </a:ext>
              </a:extLst>
            </p:cNvPr>
            <p:cNvSpPr txBox="1"/>
            <p:nvPr/>
          </p:nvSpPr>
          <p:spPr>
            <a:xfrm>
              <a:off x="9029988" y="2467514"/>
              <a:ext cx="1094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rgbClr val="628DB5"/>
                  </a:solidFill>
                  <a:latin typeface="Source Sans 3"/>
                  <a:ea typeface="Source Sans 3"/>
                  <a:cs typeface="Source Sans 3"/>
                  <a:sym typeface="Source Sans 3"/>
                </a:rPr>
                <a:t>engagement_sentiment()</a:t>
              </a:r>
              <a:endParaRPr sz="686">
                <a:solidFill>
                  <a:srgbClr val="628DB5"/>
                </a:solidFill>
                <a:latin typeface="Source Sans 3"/>
                <a:ea typeface="Source Sans 3"/>
                <a:cs typeface="Source Sans 3"/>
                <a:sym typeface="Source Sans 3"/>
              </a:endParaRPr>
            </a:p>
          </p:txBody>
        </p:sp>
        <p:sp>
          <p:nvSpPr>
            <p:cNvPr id="347" name="Google Shape;331;p18">
              <a:extLst>
                <a:ext uri="{FF2B5EF4-FFF2-40B4-BE49-F238E27FC236}">
                  <a16:creationId xmlns:a16="http://schemas.microsoft.com/office/drawing/2014/main" id="{42D9A234-5D27-FD4B-980E-9A514E25F270}"/>
                </a:ext>
              </a:extLst>
            </p:cNvPr>
            <p:cNvSpPr/>
            <p:nvPr/>
          </p:nvSpPr>
          <p:spPr>
            <a:xfrm>
              <a:off x="10562628" y="1685745"/>
              <a:ext cx="1099800" cy="554100"/>
            </a:xfrm>
            <a:prstGeom prst="rect">
              <a:avLst/>
            </a:prstGeom>
            <a:noFill/>
            <a:ln w="8200" cap="flat" cmpd="sng">
              <a:solidFill>
                <a:schemeClr val="dk2"/>
              </a:solidFill>
              <a:prstDash val="solid"/>
              <a:round/>
              <a:headEnd type="none" w="sm" len="sm"/>
              <a:tailEnd type="none" w="sm" len="sm"/>
            </a:ln>
          </p:spPr>
          <p:txBody>
            <a:bodyPr spcFirstLastPara="1" wrap="square" lIns="78800" tIns="78800" rIns="78800" bIns="78800" anchor="ctr" anchorCtr="0">
              <a:noAutofit/>
            </a:bodyPr>
            <a:lstStyle/>
            <a:p>
              <a:pPr marL="0" lvl="0" indent="0" algn="ctr" rtl="0">
                <a:spcBef>
                  <a:spcPts val="0"/>
                </a:spcBef>
                <a:spcAft>
                  <a:spcPts val="0"/>
                </a:spcAft>
                <a:buNone/>
              </a:pPr>
              <a:endParaRPr sz="1207"/>
            </a:p>
          </p:txBody>
        </p:sp>
        <p:sp>
          <p:nvSpPr>
            <p:cNvPr id="348" name="Google Shape;332;p18">
              <a:extLst>
                <a:ext uri="{FF2B5EF4-FFF2-40B4-BE49-F238E27FC236}">
                  <a16:creationId xmlns:a16="http://schemas.microsoft.com/office/drawing/2014/main" id="{7899E37B-2241-F079-9099-A166E7559D0D}"/>
                </a:ext>
              </a:extLst>
            </p:cNvPr>
            <p:cNvSpPr txBox="1"/>
            <p:nvPr/>
          </p:nvSpPr>
          <p:spPr>
            <a:xfrm>
              <a:off x="10544028" y="1682645"/>
              <a:ext cx="1150800" cy="265200"/>
            </a:xfrm>
            <a:prstGeom prst="rect">
              <a:avLst/>
            </a:prstGeom>
            <a:noFill/>
            <a:ln>
              <a:noFill/>
            </a:ln>
          </p:spPr>
          <p:txBody>
            <a:bodyPr spcFirstLastPara="1" wrap="square" lIns="78800" tIns="78800" rIns="78800" bIns="78800" anchor="t" anchorCtr="0">
              <a:spAutoFit/>
            </a:bodyPr>
            <a:lstStyle/>
            <a:p>
              <a:pPr marL="0" lvl="0" indent="0" algn="l" rtl="0">
                <a:spcBef>
                  <a:spcPts val="0"/>
                </a:spcBef>
                <a:spcAft>
                  <a:spcPts val="0"/>
                </a:spcAft>
                <a:buNone/>
              </a:pPr>
              <a:r>
                <a:rPr lang="en" sz="689" dirty="0" err="1">
                  <a:solidFill>
                    <a:schemeClr val="dk2"/>
                  </a:solidFill>
                  <a:latin typeface="Source Sans 3"/>
                  <a:ea typeface="Source Sans 3"/>
                  <a:cs typeface="Source Sans 3"/>
                  <a:sym typeface="Source Sans 3"/>
                </a:rPr>
                <a:t>sailuh</a:t>
              </a:r>
              <a:r>
                <a:rPr lang="en" sz="689" dirty="0">
                  <a:solidFill>
                    <a:schemeClr val="dk2"/>
                  </a:solidFill>
                  <a:latin typeface="Source Sans 3"/>
                  <a:ea typeface="Source Sans 3"/>
                  <a:cs typeface="Source Sans 3"/>
                  <a:sym typeface="Source Sans 3"/>
                </a:rPr>
                <a:t>/</a:t>
              </a:r>
              <a:r>
                <a:rPr lang="en" sz="689" dirty="0" err="1">
                  <a:solidFill>
                    <a:schemeClr val="dk2"/>
                  </a:solidFill>
                  <a:latin typeface="Source Sans 3"/>
                  <a:ea typeface="Source Sans 3"/>
                  <a:cs typeface="Source Sans 3"/>
                  <a:sym typeface="Source Sans 3"/>
                </a:rPr>
                <a:t>sentiment_classifier</a:t>
              </a:r>
              <a:endParaRPr sz="689" dirty="0">
                <a:solidFill>
                  <a:schemeClr val="dk2"/>
                </a:solidFill>
                <a:latin typeface="Source Sans 3"/>
                <a:ea typeface="Source Sans 3"/>
                <a:cs typeface="Source Sans 3"/>
                <a:sym typeface="Source Sans 3"/>
              </a:endParaRPr>
            </a:p>
          </p:txBody>
        </p:sp>
        <p:cxnSp>
          <p:nvCxnSpPr>
            <p:cNvPr id="349" name="Google Shape;333;p18">
              <a:extLst>
                <a:ext uri="{FF2B5EF4-FFF2-40B4-BE49-F238E27FC236}">
                  <a16:creationId xmlns:a16="http://schemas.microsoft.com/office/drawing/2014/main" id="{27BB6AE8-6260-6C8D-39CE-33C59B46BCF1}"/>
                </a:ext>
              </a:extLst>
            </p:cNvPr>
            <p:cNvCxnSpPr/>
            <p:nvPr/>
          </p:nvCxnSpPr>
          <p:spPr>
            <a:xfrm rot="10800000" flipH="1">
              <a:off x="9890815" y="1865994"/>
              <a:ext cx="632700" cy="900"/>
            </a:xfrm>
            <a:prstGeom prst="straightConnector1">
              <a:avLst/>
            </a:prstGeom>
            <a:noFill/>
            <a:ln w="9525" cap="flat" cmpd="sng">
              <a:solidFill>
                <a:schemeClr val="dk2"/>
              </a:solidFill>
              <a:prstDash val="solid"/>
              <a:round/>
              <a:headEnd type="none" w="med" len="med"/>
              <a:tailEnd type="triangle" w="med" len="med"/>
            </a:ln>
          </p:spPr>
        </p:cxnSp>
        <p:cxnSp>
          <p:nvCxnSpPr>
            <p:cNvPr id="350" name="Google Shape;334;p18">
              <a:extLst>
                <a:ext uri="{FF2B5EF4-FFF2-40B4-BE49-F238E27FC236}">
                  <a16:creationId xmlns:a16="http://schemas.microsoft.com/office/drawing/2014/main" id="{A5BF4A59-5344-108B-EFDE-46B5B25DF76F}"/>
                </a:ext>
              </a:extLst>
            </p:cNvPr>
            <p:cNvCxnSpPr/>
            <p:nvPr/>
          </p:nvCxnSpPr>
          <p:spPr>
            <a:xfrm rot="10800000">
              <a:off x="9866990" y="2086194"/>
              <a:ext cx="632700" cy="900"/>
            </a:xfrm>
            <a:prstGeom prst="straightConnector1">
              <a:avLst/>
            </a:prstGeom>
            <a:noFill/>
            <a:ln w="9525" cap="flat" cmpd="sng">
              <a:solidFill>
                <a:schemeClr val="dk2"/>
              </a:solidFill>
              <a:prstDash val="solid"/>
              <a:round/>
              <a:headEnd type="none" w="med" len="med"/>
              <a:tailEnd type="triangle" w="med" len="med"/>
            </a:ln>
          </p:spPr>
        </p:cxnSp>
        <p:sp>
          <p:nvSpPr>
            <p:cNvPr id="351" name="Google Shape;335;p18">
              <a:extLst>
                <a:ext uri="{FF2B5EF4-FFF2-40B4-BE49-F238E27FC236}">
                  <a16:creationId xmlns:a16="http://schemas.microsoft.com/office/drawing/2014/main" id="{DD077021-F676-E2CA-8457-C26151AAA5E8}"/>
                </a:ext>
              </a:extLst>
            </p:cNvPr>
            <p:cNvSpPr txBox="1"/>
            <p:nvPr/>
          </p:nvSpPr>
          <p:spPr>
            <a:xfrm>
              <a:off x="10046553" y="2123170"/>
              <a:ext cx="3483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label</a:t>
              </a:r>
              <a:endParaRPr sz="686">
                <a:solidFill>
                  <a:schemeClr val="dk2"/>
                </a:solidFill>
                <a:latin typeface="Source Sans 3"/>
                <a:ea typeface="Source Sans 3"/>
                <a:cs typeface="Source Sans 3"/>
                <a:sym typeface="Source Sans 3"/>
              </a:endParaRPr>
            </a:p>
          </p:txBody>
        </p:sp>
        <p:sp>
          <p:nvSpPr>
            <p:cNvPr id="352" name="Google Shape;336;p18">
              <a:extLst>
                <a:ext uri="{FF2B5EF4-FFF2-40B4-BE49-F238E27FC236}">
                  <a16:creationId xmlns:a16="http://schemas.microsoft.com/office/drawing/2014/main" id="{5A9FEE1D-3698-C5DE-6BE3-B9462381FF7F}"/>
                </a:ext>
              </a:extLst>
            </p:cNvPr>
            <p:cNvSpPr/>
            <p:nvPr/>
          </p:nvSpPr>
          <p:spPr>
            <a:xfrm>
              <a:off x="10370240" y="2300395"/>
              <a:ext cx="133800" cy="114600"/>
            </a:xfrm>
            <a:prstGeom prst="wedgeRectCallout">
              <a:avLst>
                <a:gd name="adj1" fmla="val -20833"/>
                <a:gd name="adj2" fmla="val 62500"/>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3" name="Google Shape;337;p18">
              <a:extLst>
                <a:ext uri="{FF2B5EF4-FFF2-40B4-BE49-F238E27FC236}">
                  <a16:creationId xmlns:a16="http://schemas.microsoft.com/office/drawing/2014/main" id="{B559E29C-CB61-8523-C9DA-F2E3A5613375}"/>
                </a:ext>
              </a:extLst>
            </p:cNvPr>
            <p:cNvSpPr txBox="1"/>
            <p:nvPr/>
          </p:nvSpPr>
          <p:spPr>
            <a:xfrm>
              <a:off x="9829328" y="1578732"/>
              <a:ext cx="8400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pysenti_predict()</a:t>
              </a:r>
              <a:endParaRPr sz="686">
                <a:solidFill>
                  <a:schemeClr val="dk2"/>
                </a:solidFill>
                <a:latin typeface="Source Sans 3"/>
                <a:ea typeface="Source Sans 3"/>
                <a:cs typeface="Source Sans 3"/>
                <a:sym typeface="Source Sans 3"/>
              </a:endParaRPr>
            </a:p>
          </p:txBody>
        </p:sp>
        <p:sp>
          <p:nvSpPr>
            <p:cNvPr id="354" name="Google Shape;338;p18">
              <a:extLst>
                <a:ext uri="{FF2B5EF4-FFF2-40B4-BE49-F238E27FC236}">
                  <a16:creationId xmlns:a16="http://schemas.microsoft.com/office/drawing/2014/main" id="{3CA3E35D-0300-39F1-F557-57875E188FF1}"/>
                </a:ext>
              </a:extLst>
            </p:cNvPr>
            <p:cNvSpPr/>
            <p:nvPr/>
          </p:nvSpPr>
          <p:spPr>
            <a:xfrm>
              <a:off x="10116428" y="1532095"/>
              <a:ext cx="133800" cy="114600"/>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 name="Google Shape;339;p18">
              <a:extLst>
                <a:ext uri="{FF2B5EF4-FFF2-40B4-BE49-F238E27FC236}">
                  <a16:creationId xmlns:a16="http://schemas.microsoft.com/office/drawing/2014/main" id="{BE5423DD-3F0B-87B0-A0F1-2CFC2FF04ED7}"/>
                </a:ext>
              </a:extLst>
            </p:cNvPr>
            <p:cNvSpPr/>
            <p:nvPr/>
          </p:nvSpPr>
          <p:spPr>
            <a:xfrm>
              <a:off x="9482353" y="2661807"/>
              <a:ext cx="113100" cy="114600"/>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6" name="Google Shape;340;p18">
              <a:extLst>
                <a:ext uri="{FF2B5EF4-FFF2-40B4-BE49-F238E27FC236}">
                  <a16:creationId xmlns:a16="http://schemas.microsoft.com/office/drawing/2014/main" id="{92630E13-2F80-B9EC-A6CD-B54C2F034C30}"/>
                </a:ext>
              </a:extLst>
            </p:cNvPr>
            <p:cNvSpPr txBox="1"/>
            <p:nvPr/>
          </p:nvSpPr>
          <p:spPr>
            <a:xfrm>
              <a:off x="9400286" y="2595959"/>
              <a:ext cx="289200" cy="23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00" dirty="0">
                  <a:solidFill>
                    <a:schemeClr val="lt1"/>
                  </a:solidFill>
                </a:rPr>
                <a:t> </a:t>
              </a:r>
              <a:r>
                <a:rPr lang="en" sz="500" dirty="0">
                  <a:solidFill>
                    <a:schemeClr val="lt1"/>
                  </a:solidFill>
                </a:rPr>
                <a:t>0.25</a:t>
              </a:r>
              <a:endParaRPr sz="500" dirty="0">
                <a:solidFill>
                  <a:schemeClr val="lt1"/>
                </a:solidFill>
              </a:endParaRPr>
            </a:p>
          </p:txBody>
        </p:sp>
        <p:sp>
          <p:nvSpPr>
            <p:cNvPr id="357" name="Google Shape;341;p18">
              <a:extLst>
                <a:ext uri="{FF2B5EF4-FFF2-40B4-BE49-F238E27FC236}">
                  <a16:creationId xmlns:a16="http://schemas.microsoft.com/office/drawing/2014/main" id="{69003855-B7AA-34ED-49CC-399C5BAC645F}"/>
                </a:ext>
              </a:extLst>
            </p:cNvPr>
            <p:cNvSpPr/>
            <p:nvPr/>
          </p:nvSpPr>
          <p:spPr>
            <a:xfrm>
              <a:off x="10141503" y="2300395"/>
              <a:ext cx="133800" cy="114600"/>
            </a:xfrm>
            <a:prstGeom prst="wedgeRectCallout">
              <a:avLst>
                <a:gd name="adj1" fmla="val -20833"/>
                <a:gd name="adj2" fmla="val 62500"/>
              </a:avLst>
            </a:prstGeom>
            <a:solidFill>
              <a:srgbClr val="E0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 name="Google Shape;342;p18">
              <a:extLst>
                <a:ext uri="{FF2B5EF4-FFF2-40B4-BE49-F238E27FC236}">
                  <a16:creationId xmlns:a16="http://schemas.microsoft.com/office/drawing/2014/main" id="{35552181-8784-C01C-A89B-0C44C2A50B7D}"/>
                </a:ext>
              </a:extLst>
            </p:cNvPr>
            <p:cNvSpPr/>
            <p:nvPr/>
          </p:nvSpPr>
          <p:spPr>
            <a:xfrm>
              <a:off x="9912740" y="2300395"/>
              <a:ext cx="133800" cy="114600"/>
            </a:xfrm>
            <a:prstGeom prst="wedgeRectCallout">
              <a:avLst>
                <a:gd name="adj1" fmla="val -20833"/>
                <a:gd name="adj2" fmla="val 625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9" name="Google Shape;344;p18">
              <a:extLst>
                <a:ext uri="{FF2B5EF4-FFF2-40B4-BE49-F238E27FC236}">
                  <a16:creationId xmlns:a16="http://schemas.microsoft.com/office/drawing/2014/main" id="{CFF39EE5-5BB4-1BF1-C78E-15B21BE2C576}"/>
                </a:ext>
              </a:extLst>
            </p:cNvPr>
            <p:cNvSpPr txBox="1"/>
            <p:nvPr/>
          </p:nvSpPr>
          <p:spPr>
            <a:xfrm>
              <a:off x="10062053" y="1668745"/>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(2)</a:t>
              </a:r>
              <a:endParaRPr sz="686" dirty="0">
                <a:solidFill>
                  <a:schemeClr val="dk2"/>
                </a:solidFill>
                <a:latin typeface="Source Sans 3"/>
                <a:ea typeface="Source Sans 3"/>
                <a:cs typeface="Source Sans 3"/>
                <a:sym typeface="Source Sans 3"/>
              </a:endParaRPr>
            </a:p>
          </p:txBody>
        </p:sp>
        <p:sp>
          <p:nvSpPr>
            <p:cNvPr id="360" name="Google Shape;345;p18">
              <a:extLst>
                <a:ext uri="{FF2B5EF4-FFF2-40B4-BE49-F238E27FC236}">
                  <a16:creationId xmlns:a16="http://schemas.microsoft.com/office/drawing/2014/main" id="{F20C1EA5-B9F9-DF84-181D-79F78D79348E}"/>
                </a:ext>
              </a:extLst>
            </p:cNvPr>
            <p:cNvSpPr txBox="1"/>
            <p:nvPr/>
          </p:nvSpPr>
          <p:spPr>
            <a:xfrm>
              <a:off x="10079303" y="2023132"/>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(4)</a:t>
              </a:r>
              <a:endParaRPr sz="686">
                <a:solidFill>
                  <a:schemeClr val="dk2"/>
                </a:solidFill>
                <a:latin typeface="Source Sans 3"/>
                <a:ea typeface="Source Sans 3"/>
                <a:cs typeface="Source Sans 3"/>
                <a:sym typeface="Source Sans 3"/>
              </a:endParaRPr>
            </a:p>
          </p:txBody>
        </p:sp>
        <p:sp>
          <p:nvSpPr>
            <p:cNvPr id="361" name="Google Shape;346;p18">
              <a:extLst>
                <a:ext uri="{FF2B5EF4-FFF2-40B4-BE49-F238E27FC236}">
                  <a16:creationId xmlns:a16="http://schemas.microsoft.com/office/drawing/2014/main" id="{EF412365-91FC-7A37-3436-C4BD1C644E76}"/>
                </a:ext>
              </a:extLst>
            </p:cNvPr>
            <p:cNvSpPr txBox="1"/>
            <p:nvPr/>
          </p:nvSpPr>
          <p:spPr>
            <a:xfrm>
              <a:off x="10964278" y="1800070"/>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(3)</a:t>
              </a:r>
              <a:endParaRPr sz="686">
                <a:solidFill>
                  <a:schemeClr val="dk2"/>
                </a:solidFill>
                <a:latin typeface="Source Sans 3"/>
                <a:ea typeface="Source Sans 3"/>
                <a:cs typeface="Source Sans 3"/>
                <a:sym typeface="Source Sans 3"/>
              </a:endParaRPr>
            </a:p>
          </p:txBody>
        </p:sp>
        <p:sp>
          <p:nvSpPr>
            <p:cNvPr id="362" name="Google Shape;347;p18">
              <a:extLst>
                <a:ext uri="{FF2B5EF4-FFF2-40B4-BE49-F238E27FC236}">
                  <a16:creationId xmlns:a16="http://schemas.microsoft.com/office/drawing/2014/main" id="{276EEF59-F13E-65BF-A918-91C74DC9773A}"/>
                </a:ext>
              </a:extLst>
            </p:cNvPr>
            <p:cNvSpPr/>
            <p:nvPr/>
          </p:nvSpPr>
          <p:spPr>
            <a:xfrm>
              <a:off x="107684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3" name="Google Shape;348;p18">
              <a:extLst>
                <a:ext uri="{FF2B5EF4-FFF2-40B4-BE49-F238E27FC236}">
                  <a16:creationId xmlns:a16="http://schemas.microsoft.com/office/drawing/2014/main" id="{0CF59A1E-5AA8-96E8-B01C-5ADC6042A531}"/>
                </a:ext>
              </a:extLst>
            </p:cNvPr>
            <p:cNvSpPr txBox="1"/>
            <p:nvPr/>
          </p:nvSpPr>
          <p:spPr>
            <a:xfrm>
              <a:off x="10702335" y="1945845"/>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364" name="Google Shape;349;p18">
              <a:extLst>
                <a:ext uri="{FF2B5EF4-FFF2-40B4-BE49-F238E27FC236}">
                  <a16:creationId xmlns:a16="http://schemas.microsoft.com/office/drawing/2014/main" id="{60BE3884-AE13-50A6-1B92-22E37FD6437A}"/>
                </a:ext>
              </a:extLst>
            </p:cNvPr>
            <p:cNvSpPr txBox="1"/>
            <p:nvPr/>
          </p:nvSpPr>
          <p:spPr>
            <a:xfrm>
              <a:off x="11020518" y="1948023"/>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365" name="Google Shape;350;p18">
              <a:extLst>
                <a:ext uri="{FF2B5EF4-FFF2-40B4-BE49-F238E27FC236}">
                  <a16:creationId xmlns:a16="http://schemas.microsoft.com/office/drawing/2014/main" id="{92645505-ABBE-FEDC-BA50-0156918C3B47}"/>
                </a:ext>
              </a:extLst>
            </p:cNvPr>
            <p:cNvSpPr/>
            <p:nvPr/>
          </p:nvSpPr>
          <p:spPr>
            <a:xfrm>
              <a:off x="109289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6" name="Google Shape;351;p18">
              <a:extLst>
                <a:ext uri="{FF2B5EF4-FFF2-40B4-BE49-F238E27FC236}">
                  <a16:creationId xmlns:a16="http://schemas.microsoft.com/office/drawing/2014/main" id="{FBFDA49A-83A2-015F-6AF4-BF1DAC6EBAE4}"/>
                </a:ext>
              </a:extLst>
            </p:cNvPr>
            <p:cNvSpPr/>
            <p:nvPr/>
          </p:nvSpPr>
          <p:spPr>
            <a:xfrm>
              <a:off x="110894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7" name="Google Shape;352;p18">
              <a:extLst>
                <a:ext uri="{FF2B5EF4-FFF2-40B4-BE49-F238E27FC236}">
                  <a16:creationId xmlns:a16="http://schemas.microsoft.com/office/drawing/2014/main" id="{71A8AAC9-FFF9-14E8-15B9-5CE5352EA8E8}"/>
                </a:ext>
              </a:extLst>
            </p:cNvPr>
            <p:cNvSpPr/>
            <p:nvPr/>
          </p:nvSpPr>
          <p:spPr>
            <a:xfrm>
              <a:off x="112499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368" name="Google Shape;353;p18">
              <a:extLst>
                <a:ext uri="{FF2B5EF4-FFF2-40B4-BE49-F238E27FC236}">
                  <a16:creationId xmlns:a16="http://schemas.microsoft.com/office/drawing/2014/main" id="{A8E60968-56EA-BB73-DCA2-FFB13A809EED}"/>
                </a:ext>
              </a:extLst>
            </p:cNvPr>
            <p:cNvSpPr txBox="1"/>
            <p:nvPr/>
          </p:nvSpPr>
          <p:spPr>
            <a:xfrm>
              <a:off x="10863720" y="1948470"/>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369" name="Google Shape;354;p18">
              <a:extLst>
                <a:ext uri="{FF2B5EF4-FFF2-40B4-BE49-F238E27FC236}">
                  <a16:creationId xmlns:a16="http://schemas.microsoft.com/office/drawing/2014/main" id="{4CB93384-E74B-7F65-160B-C2AFA07F5DDF}"/>
                </a:ext>
              </a:extLst>
            </p:cNvPr>
            <p:cNvSpPr txBox="1"/>
            <p:nvPr/>
          </p:nvSpPr>
          <p:spPr>
            <a:xfrm>
              <a:off x="11183172" y="1948019"/>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cxnSp>
          <p:nvCxnSpPr>
            <p:cNvPr id="370" name="Google Shape;357;p18">
              <a:extLst>
                <a:ext uri="{FF2B5EF4-FFF2-40B4-BE49-F238E27FC236}">
                  <a16:creationId xmlns:a16="http://schemas.microsoft.com/office/drawing/2014/main" id="{98787E1A-470B-3825-0889-6A8A33EC7516}"/>
                </a:ext>
              </a:extLst>
            </p:cNvPr>
            <p:cNvCxnSpPr>
              <a:cxnSpLocks/>
              <a:stCxn id="343" idx="0"/>
              <a:endCxn id="348" idx="0"/>
            </p:cNvCxnSpPr>
            <p:nvPr/>
          </p:nvCxnSpPr>
          <p:spPr>
            <a:xfrm rot="16200000">
              <a:off x="10320239" y="886703"/>
              <a:ext cx="3000" cy="1595100"/>
            </a:xfrm>
            <a:prstGeom prst="bentConnector3">
              <a:avLst>
                <a:gd name="adj1" fmla="val 8041114"/>
              </a:avLst>
            </a:prstGeom>
            <a:noFill/>
            <a:ln w="9525" cap="flat" cmpd="sng">
              <a:solidFill>
                <a:schemeClr val="dk2"/>
              </a:solidFill>
              <a:prstDash val="solid"/>
              <a:round/>
              <a:headEnd type="none" w="med" len="med"/>
              <a:tailEnd type="triangle" w="med" len="med"/>
            </a:ln>
          </p:spPr>
        </p:cxnSp>
        <p:sp>
          <p:nvSpPr>
            <p:cNvPr id="371" name="Google Shape;358;p18">
              <a:extLst>
                <a:ext uri="{FF2B5EF4-FFF2-40B4-BE49-F238E27FC236}">
                  <a16:creationId xmlns:a16="http://schemas.microsoft.com/office/drawing/2014/main" id="{6618FB20-D858-0E5A-0220-F9A07467842B}"/>
                </a:ext>
              </a:extLst>
            </p:cNvPr>
            <p:cNvSpPr txBox="1"/>
            <p:nvPr/>
          </p:nvSpPr>
          <p:spPr>
            <a:xfrm>
              <a:off x="9795878" y="1222007"/>
              <a:ext cx="972600" cy="18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dirty="0" err="1">
                  <a:solidFill>
                    <a:schemeClr val="dk2"/>
                  </a:solidFill>
                  <a:latin typeface="Source Sans 3"/>
                  <a:ea typeface="Source Sans 3"/>
                  <a:cs typeface="Source Sans 3"/>
                  <a:sym typeface="Source Sans 3"/>
                </a:rPr>
                <a:t>pysenti_train_model</a:t>
              </a:r>
              <a:r>
                <a:rPr lang="en" sz="650" dirty="0">
                  <a:solidFill>
                    <a:schemeClr val="dk2"/>
                  </a:solidFill>
                  <a:latin typeface="Source Sans 3"/>
                  <a:ea typeface="Source Sans 3"/>
                  <a:cs typeface="Source Sans 3"/>
                  <a:sym typeface="Source Sans 3"/>
                </a:rPr>
                <a:t>()</a:t>
              </a:r>
              <a:endParaRPr sz="650" dirty="0">
                <a:solidFill>
                  <a:schemeClr val="dk2"/>
                </a:solidFill>
                <a:latin typeface="Source Sans 3"/>
                <a:ea typeface="Source Sans 3"/>
                <a:cs typeface="Source Sans 3"/>
                <a:sym typeface="Source Sans 3"/>
              </a:endParaRPr>
            </a:p>
          </p:txBody>
        </p:sp>
        <p:grpSp>
          <p:nvGrpSpPr>
            <p:cNvPr id="372" name="Google Shape;359;p18">
              <a:extLst>
                <a:ext uri="{FF2B5EF4-FFF2-40B4-BE49-F238E27FC236}">
                  <a16:creationId xmlns:a16="http://schemas.microsoft.com/office/drawing/2014/main" id="{E877ED7A-402B-267B-9D7C-2149EE474F0E}"/>
                </a:ext>
              </a:extLst>
            </p:cNvPr>
            <p:cNvGrpSpPr/>
            <p:nvPr/>
          </p:nvGrpSpPr>
          <p:grpSpPr>
            <a:xfrm>
              <a:off x="8600328" y="1454457"/>
              <a:ext cx="307200" cy="189300"/>
              <a:chOff x="3007175" y="1757600"/>
              <a:chExt cx="307200" cy="189300"/>
            </a:xfrm>
          </p:grpSpPr>
          <p:sp>
            <p:nvSpPr>
              <p:cNvPr id="398" name="Google Shape;360;p18">
                <a:extLst>
                  <a:ext uri="{FF2B5EF4-FFF2-40B4-BE49-F238E27FC236}">
                    <a16:creationId xmlns:a16="http://schemas.microsoft.com/office/drawing/2014/main" id="{E8BE21D2-8642-60BF-D69C-869302B1265B}"/>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9" name="Google Shape;361;p18">
                <a:extLst>
                  <a:ext uri="{FF2B5EF4-FFF2-40B4-BE49-F238E27FC236}">
                    <a16:creationId xmlns:a16="http://schemas.microsoft.com/office/drawing/2014/main" id="{B4D64DBD-FCB9-2434-ADB6-F5BA704D12E6}"/>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 name="Google Shape;362;p18">
                <a:extLst>
                  <a:ext uri="{FF2B5EF4-FFF2-40B4-BE49-F238E27FC236}">
                    <a16:creationId xmlns:a16="http://schemas.microsoft.com/office/drawing/2014/main" id="{9A79C3D7-DB72-0872-BD21-893E4782C704}"/>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 name="Google Shape;363;p18">
                <a:extLst>
                  <a:ext uri="{FF2B5EF4-FFF2-40B4-BE49-F238E27FC236}">
                    <a16:creationId xmlns:a16="http://schemas.microsoft.com/office/drawing/2014/main" id="{99FBC279-F881-143D-6552-7099D2976FFE}"/>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02" name="Google Shape;364;p18">
                <a:extLst>
                  <a:ext uri="{FF2B5EF4-FFF2-40B4-BE49-F238E27FC236}">
                    <a16:creationId xmlns:a16="http://schemas.microsoft.com/office/drawing/2014/main" id="{8AFDCAA0-95B4-1BD0-A00C-05C5C33319F8}"/>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3" name="Google Shape;365;p18">
                <a:extLst>
                  <a:ext uri="{FF2B5EF4-FFF2-40B4-BE49-F238E27FC236}">
                    <a16:creationId xmlns:a16="http://schemas.microsoft.com/office/drawing/2014/main" id="{BA83500F-052C-F3AD-919C-8038E38A65BB}"/>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404" name="Google Shape;366;p18">
                <a:extLst>
                  <a:ext uri="{FF2B5EF4-FFF2-40B4-BE49-F238E27FC236}">
                    <a16:creationId xmlns:a16="http://schemas.microsoft.com/office/drawing/2014/main" id="{B8D19149-3D42-BDD0-F69E-D9066CFD6195}"/>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373" name="Google Shape;367;p18">
              <a:extLst>
                <a:ext uri="{FF2B5EF4-FFF2-40B4-BE49-F238E27FC236}">
                  <a16:creationId xmlns:a16="http://schemas.microsoft.com/office/drawing/2014/main" id="{C6FA29D6-4AC3-FF7E-A754-11A73D01A56F}"/>
                </a:ext>
              </a:extLst>
            </p:cNvPr>
            <p:cNvGrpSpPr/>
            <p:nvPr/>
          </p:nvGrpSpPr>
          <p:grpSpPr>
            <a:xfrm>
              <a:off x="8600315" y="1797920"/>
              <a:ext cx="307200" cy="189300"/>
              <a:chOff x="3007175" y="1757600"/>
              <a:chExt cx="307200" cy="189300"/>
            </a:xfrm>
          </p:grpSpPr>
          <p:sp>
            <p:nvSpPr>
              <p:cNvPr id="391" name="Google Shape;368;p18">
                <a:extLst>
                  <a:ext uri="{FF2B5EF4-FFF2-40B4-BE49-F238E27FC236}">
                    <a16:creationId xmlns:a16="http://schemas.microsoft.com/office/drawing/2014/main" id="{677ED7D7-5D27-72BE-ACB5-EBC27D9ECF7A}"/>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 name="Google Shape;369;p18">
                <a:extLst>
                  <a:ext uri="{FF2B5EF4-FFF2-40B4-BE49-F238E27FC236}">
                    <a16:creationId xmlns:a16="http://schemas.microsoft.com/office/drawing/2014/main" id="{2B5894D4-5209-9BC6-1498-18198EA7F162}"/>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 name="Google Shape;370;p18">
                <a:extLst>
                  <a:ext uri="{FF2B5EF4-FFF2-40B4-BE49-F238E27FC236}">
                    <a16:creationId xmlns:a16="http://schemas.microsoft.com/office/drawing/2014/main" id="{6A25C38F-1E2B-663B-C431-BC966427D04F}"/>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4" name="Google Shape;371;p18">
                <a:extLst>
                  <a:ext uri="{FF2B5EF4-FFF2-40B4-BE49-F238E27FC236}">
                    <a16:creationId xmlns:a16="http://schemas.microsoft.com/office/drawing/2014/main" id="{70A1751D-5277-9EB6-FB77-E3CFC7D31868}"/>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95" name="Google Shape;372;p18">
                <a:extLst>
                  <a:ext uri="{FF2B5EF4-FFF2-40B4-BE49-F238E27FC236}">
                    <a16:creationId xmlns:a16="http://schemas.microsoft.com/office/drawing/2014/main" id="{A496AC78-C01A-C344-50D2-DA9B81EDAC13}"/>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96" name="Google Shape;373;p18">
                <a:extLst>
                  <a:ext uri="{FF2B5EF4-FFF2-40B4-BE49-F238E27FC236}">
                    <a16:creationId xmlns:a16="http://schemas.microsoft.com/office/drawing/2014/main" id="{B7B77C43-DF9E-F9E1-5605-E20941756C7D}"/>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397" name="Google Shape;374;p18">
                <a:extLst>
                  <a:ext uri="{FF2B5EF4-FFF2-40B4-BE49-F238E27FC236}">
                    <a16:creationId xmlns:a16="http://schemas.microsoft.com/office/drawing/2014/main" id="{40B6A6F0-E37B-BD70-2DBA-849BC387DBAE}"/>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374" name="Google Shape;375;p18">
              <a:extLst>
                <a:ext uri="{FF2B5EF4-FFF2-40B4-BE49-F238E27FC236}">
                  <a16:creationId xmlns:a16="http://schemas.microsoft.com/office/drawing/2014/main" id="{FB6F30BE-5A71-2228-CA4E-197CEDBE4C24}"/>
                </a:ext>
              </a:extLst>
            </p:cNvPr>
            <p:cNvSpPr txBox="1"/>
            <p:nvPr/>
          </p:nvSpPr>
          <p:spPr>
            <a:xfrm>
              <a:off x="8540115" y="126943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375" name="Google Shape;376;p18">
              <a:extLst>
                <a:ext uri="{FF2B5EF4-FFF2-40B4-BE49-F238E27FC236}">
                  <a16:creationId xmlns:a16="http://schemas.microsoft.com/office/drawing/2014/main" id="{1C5D2C92-BD7D-2962-F610-EFD2CDD197D7}"/>
                </a:ext>
              </a:extLst>
            </p:cNvPr>
            <p:cNvSpPr txBox="1"/>
            <p:nvPr/>
          </p:nvSpPr>
          <p:spPr>
            <a:xfrm>
              <a:off x="8600328" y="161682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Jira</a:t>
              </a:r>
              <a:endParaRPr sz="686" dirty="0">
                <a:solidFill>
                  <a:schemeClr val="dk2"/>
                </a:solidFill>
                <a:latin typeface="Source Sans 3"/>
                <a:ea typeface="Source Sans 3"/>
                <a:cs typeface="Source Sans 3"/>
                <a:sym typeface="Source Sans 3"/>
              </a:endParaRPr>
            </a:p>
          </p:txBody>
        </p:sp>
        <p:grpSp>
          <p:nvGrpSpPr>
            <p:cNvPr id="376" name="Google Shape;377;p18">
              <a:extLst>
                <a:ext uri="{FF2B5EF4-FFF2-40B4-BE49-F238E27FC236}">
                  <a16:creationId xmlns:a16="http://schemas.microsoft.com/office/drawing/2014/main" id="{DF5D923C-D9B9-6FE0-C05B-BC3F6AEB12AA}"/>
                </a:ext>
              </a:extLst>
            </p:cNvPr>
            <p:cNvGrpSpPr/>
            <p:nvPr/>
          </p:nvGrpSpPr>
          <p:grpSpPr>
            <a:xfrm>
              <a:off x="8608365" y="2251695"/>
              <a:ext cx="307200" cy="297900"/>
              <a:chOff x="3021975" y="2389850"/>
              <a:chExt cx="307200" cy="297900"/>
            </a:xfrm>
          </p:grpSpPr>
          <p:sp>
            <p:nvSpPr>
              <p:cNvPr id="381" name="Google Shape;378;p18">
                <a:extLst>
                  <a:ext uri="{FF2B5EF4-FFF2-40B4-BE49-F238E27FC236}">
                    <a16:creationId xmlns:a16="http://schemas.microsoft.com/office/drawing/2014/main" id="{61B60BEE-F770-0421-5B48-25B7254C5966}"/>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382" name="Google Shape;379;p18">
                <a:extLst>
                  <a:ext uri="{FF2B5EF4-FFF2-40B4-BE49-F238E27FC236}">
                    <a16:creationId xmlns:a16="http://schemas.microsoft.com/office/drawing/2014/main" id="{499B968D-E086-0434-2D46-3F649E845E87}"/>
                  </a:ext>
                </a:extLst>
              </p:cNvPr>
              <p:cNvGrpSpPr/>
              <p:nvPr/>
            </p:nvGrpSpPr>
            <p:grpSpPr>
              <a:xfrm>
                <a:off x="3021975" y="2389850"/>
                <a:ext cx="307200" cy="295800"/>
                <a:chOff x="3021975" y="2389850"/>
                <a:chExt cx="307200" cy="295800"/>
              </a:xfrm>
            </p:grpSpPr>
            <p:sp>
              <p:nvSpPr>
                <p:cNvPr id="383" name="Google Shape;380;p18">
                  <a:extLst>
                    <a:ext uri="{FF2B5EF4-FFF2-40B4-BE49-F238E27FC236}">
                      <a16:creationId xmlns:a16="http://schemas.microsoft.com/office/drawing/2014/main" id="{6B9BDF1B-C063-8A26-2909-C29EFE5836D3}"/>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4" name="Google Shape;381;p18">
                  <a:extLst>
                    <a:ext uri="{FF2B5EF4-FFF2-40B4-BE49-F238E27FC236}">
                      <a16:creationId xmlns:a16="http://schemas.microsoft.com/office/drawing/2014/main" id="{20F3F5E7-9A48-359F-A3EB-164A058A1B19}"/>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85" name="Google Shape;382;p18">
                  <a:extLst>
                    <a:ext uri="{FF2B5EF4-FFF2-40B4-BE49-F238E27FC236}">
                      <a16:creationId xmlns:a16="http://schemas.microsoft.com/office/drawing/2014/main" id="{3FF5C828-C3A5-1539-B0D7-E5D3FADF98A2}"/>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386" name="Google Shape;383;p18">
                  <a:extLst>
                    <a:ext uri="{FF2B5EF4-FFF2-40B4-BE49-F238E27FC236}">
                      <a16:creationId xmlns:a16="http://schemas.microsoft.com/office/drawing/2014/main" id="{F8D43DF6-E451-0B99-08DA-DE80604C5F66}"/>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387" name="Google Shape;384;p18">
                  <a:extLst>
                    <a:ext uri="{FF2B5EF4-FFF2-40B4-BE49-F238E27FC236}">
                      <a16:creationId xmlns:a16="http://schemas.microsoft.com/office/drawing/2014/main" id="{8B3ED8B0-364B-B91D-75BB-44784CB3802C}"/>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388" name="Google Shape;385;p18">
                  <a:extLst>
                    <a:ext uri="{FF2B5EF4-FFF2-40B4-BE49-F238E27FC236}">
                      <a16:creationId xmlns:a16="http://schemas.microsoft.com/office/drawing/2014/main" id="{57229D32-B3C5-FC0E-82C7-F5EB11652ED9}"/>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89" name="Google Shape;386;p18">
                  <a:extLst>
                    <a:ext uri="{FF2B5EF4-FFF2-40B4-BE49-F238E27FC236}">
                      <a16:creationId xmlns:a16="http://schemas.microsoft.com/office/drawing/2014/main" id="{45B13119-7D42-769A-49BC-307B2A25398D}"/>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390" name="Google Shape;387;p18">
                  <a:extLst>
                    <a:ext uri="{FF2B5EF4-FFF2-40B4-BE49-F238E27FC236}">
                      <a16:creationId xmlns:a16="http://schemas.microsoft.com/office/drawing/2014/main" id="{C745E494-8D56-AA20-C3C1-D1DC02122C13}"/>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377" name="Google Shape;388;p18">
              <a:extLst>
                <a:ext uri="{FF2B5EF4-FFF2-40B4-BE49-F238E27FC236}">
                  <a16:creationId xmlns:a16="http://schemas.microsoft.com/office/drawing/2014/main" id="{13962180-7F65-C17B-745F-3ED6EA020514}"/>
                </a:ext>
              </a:extLst>
            </p:cNvPr>
            <p:cNvSpPr txBox="1"/>
            <p:nvPr/>
          </p:nvSpPr>
          <p:spPr>
            <a:xfrm>
              <a:off x="8477126" y="2049850"/>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cxnSp>
          <p:nvCxnSpPr>
            <p:cNvPr id="378" name="Google Shape;389;p18">
              <a:extLst>
                <a:ext uri="{FF2B5EF4-FFF2-40B4-BE49-F238E27FC236}">
                  <a16:creationId xmlns:a16="http://schemas.microsoft.com/office/drawing/2014/main" id="{FDF96E95-F78A-0A4D-D82B-A32D49C8C637}"/>
                </a:ext>
              </a:extLst>
            </p:cNvPr>
            <p:cNvCxnSpPr/>
            <p:nvPr/>
          </p:nvCxnSpPr>
          <p:spPr>
            <a:xfrm>
              <a:off x="8757253" y="2588620"/>
              <a:ext cx="0" cy="105900"/>
            </a:xfrm>
            <a:prstGeom prst="straightConnector1">
              <a:avLst/>
            </a:prstGeom>
            <a:noFill/>
            <a:ln w="9525" cap="flat" cmpd="sng">
              <a:solidFill>
                <a:schemeClr val="dk2"/>
              </a:solidFill>
              <a:prstDash val="dot"/>
              <a:round/>
              <a:headEnd type="none" w="med" len="med"/>
              <a:tailEnd type="none" w="med" len="med"/>
            </a:ln>
          </p:spPr>
        </p:cxnSp>
        <p:sp>
          <p:nvSpPr>
            <p:cNvPr id="379" name="Google Shape;390;p18">
              <a:extLst>
                <a:ext uri="{FF2B5EF4-FFF2-40B4-BE49-F238E27FC236}">
                  <a16:creationId xmlns:a16="http://schemas.microsoft.com/office/drawing/2014/main" id="{31B0BEB4-DBC0-B6AC-4CBA-8D33C8E230E4}"/>
                </a:ext>
              </a:extLst>
            </p:cNvPr>
            <p:cNvSpPr/>
            <p:nvPr/>
          </p:nvSpPr>
          <p:spPr>
            <a:xfrm>
              <a:off x="8607990" y="271704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0" name="Google Shape;344;p18">
              <a:extLst>
                <a:ext uri="{FF2B5EF4-FFF2-40B4-BE49-F238E27FC236}">
                  <a16:creationId xmlns:a16="http://schemas.microsoft.com/office/drawing/2014/main" id="{75FFFA4A-8DEB-32FB-873D-FD5D1D0E6501}"/>
                </a:ext>
              </a:extLst>
            </p:cNvPr>
            <p:cNvSpPr txBox="1"/>
            <p:nvPr/>
          </p:nvSpPr>
          <p:spPr>
            <a:xfrm>
              <a:off x="8629070" y="1075788"/>
              <a:ext cx="274200" cy="23835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(1)</a:t>
              </a:r>
              <a:endParaRPr sz="686" dirty="0">
                <a:solidFill>
                  <a:schemeClr val="dk2"/>
                </a:solidFill>
                <a:latin typeface="Source Sans 3"/>
                <a:ea typeface="Source Sans 3"/>
                <a:cs typeface="Source Sans 3"/>
                <a:sym typeface="Source Sans 3"/>
              </a:endParaRPr>
            </a:p>
          </p:txBody>
        </p:sp>
      </p:grpSp>
      <p:sp>
        <p:nvSpPr>
          <p:cNvPr id="405" name="Google Shape;394;p18">
            <a:extLst>
              <a:ext uri="{FF2B5EF4-FFF2-40B4-BE49-F238E27FC236}">
                <a16:creationId xmlns:a16="http://schemas.microsoft.com/office/drawing/2014/main" id="{5344B1F9-54E2-21DE-2DE6-E6F8AC05C07D}"/>
              </a:ext>
            </a:extLst>
          </p:cNvPr>
          <p:cNvSpPr txBox="1"/>
          <p:nvPr/>
        </p:nvSpPr>
        <p:spPr>
          <a:xfrm>
            <a:off x="10963395" y="7010441"/>
            <a:ext cx="1433762" cy="10229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dirty="0" err="1">
                <a:solidFill>
                  <a:schemeClr val="dk2"/>
                </a:solidFill>
                <a:latin typeface="Source Sans 3"/>
                <a:ea typeface="Source Sans 3"/>
                <a:cs typeface="Source Sans 3"/>
                <a:sym typeface="Source Sans 3"/>
              </a:rPr>
              <a:t>sentiment_analysis.Rmd</a:t>
            </a:r>
            <a:endParaRPr sz="800" dirty="0">
              <a:solidFill>
                <a:schemeClr val="dk2"/>
              </a:solidFill>
              <a:latin typeface="Source Sans 3"/>
              <a:ea typeface="Source Sans 3"/>
              <a:cs typeface="Source Sans 3"/>
              <a:sym typeface="Source Sans 3"/>
            </a:endParaRPr>
          </a:p>
        </p:txBody>
      </p:sp>
      <p:sp>
        <p:nvSpPr>
          <p:cNvPr id="406" name="Layout Suggestions">
            <a:extLst>
              <a:ext uri="{FF2B5EF4-FFF2-40B4-BE49-F238E27FC236}">
                <a16:creationId xmlns:a16="http://schemas.microsoft.com/office/drawing/2014/main" id="{6F7E65FE-BB22-EFC8-43BC-A53191628EEB}"/>
              </a:ext>
            </a:extLst>
          </p:cNvPr>
          <p:cNvSpPr txBox="1"/>
          <p:nvPr/>
        </p:nvSpPr>
        <p:spPr>
          <a:xfrm>
            <a:off x="159998" y="6661138"/>
            <a:ext cx="423108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b="0" dirty="0"/>
              <a:t>Label Selection Criteria</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407" name="TextBox 406">
            <a:extLst>
              <a:ext uri="{FF2B5EF4-FFF2-40B4-BE49-F238E27FC236}">
                <a16:creationId xmlns:a16="http://schemas.microsoft.com/office/drawing/2014/main" id="{90974E2C-E31F-26E5-62DF-7299B2EC0BAE}"/>
              </a:ext>
            </a:extLst>
          </p:cNvPr>
          <p:cNvSpPr txBox="1"/>
          <p:nvPr/>
        </p:nvSpPr>
        <p:spPr>
          <a:xfrm>
            <a:off x="132572" y="6906908"/>
            <a:ext cx="4258512"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Sentiment labels span both main project repos and their forks. However, since forked repos contain a small fraction (&lt; 10%)  of labeled comments, only comments from the project’s main repo are kept.</a:t>
            </a:r>
          </a:p>
        </p:txBody>
      </p:sp>
      <p:sp>
        <p:nvSpPr>
          <p:cNvPr id="408" name="TextBox 407">
            <a:extLst>
              <a:ext uri="{FF2B5EF4-FFF2-40B4-BE49-F238E27FC236}">
                <a16:creationId xmlns:a16="http://schemas.microsoft.com/office/drawing/2014/main" id="{F0D2889E-7AEE-39E8-A173-79DDC7917336}"/>
              </a:ext>
            </a:extLst>
          </p:cNvPr>
          <p:cNvSpPr txBox="1"/>
          <p:nvPr/>
        </p:nvSpPr>
        <p:spPr>
          <a:xfrm>
            <a:off x="1030041" y="8215136"/>
            <a:ext cx="10348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Main Repo</a:t>
            </a:r>
            <a:endParaRPr lang="en-US" sz="800" b="0" dirty="0"/>
          </a:p>
        </p:txBody>
      </p:sp>
      <p:sp>
        <p:nvSpPr>
          <p:cNvPr id="409" name="TextBox 408">
            <a:extLst>
              <a:ext uri="{FF2B5EF4-FFF2-40B4-BE49-F238E27FC236}">
                <a16:creationId xmlns:a16="http://schemas.microsoft.com/office/drawing/2014/main" id="{110B4C53-ABAD-E2C1-6E95-177289C91417}"/>
              </a:ext>
            </a:extLst>
          </p:cNvPr>
          <p:cNvSpPr txBox="1"/>
          <p:nvPr/>
        </p:nvSpPr>
        <p:spPr>
          <a:xfrm>
            <a:off x="2416383" y="8215136"/>
            <a:ext cx="10348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Fork Repo</a:t>
            </a:r>
            <a:endParaRPr lang="en-US" sz="800" b="0" dirty="0"/>
          </a:p>
        </p:txBody>
      </p:sp>
      <p:sp>
        <p:nvSpPr>
          <p:cNvPr id="410" name="TextBox 409">
            <a:extLst>
              <a:ext uri="{FF2B5EF4-FFF2-40B4-BE49-F238E27FC236}">
                <a16:creationId xmlns:a16="http://schemas.microsoft.com/office/drawing/2014/main" id="{B877A6E9-234A-7291-6EDD-233FAC2112B7}"/>
              </a:ext>
            </a:extLst>
          </p:cNvPr>
          <p:cNvSpPr txBox="1"/>
          <p:nvPr/>
        </p:nvSpPr>
        <p:spPr>
          <a:xfrm>
            <a:off x="123843" y="8472311"/>
            <a:ext cx="4346831"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Jira Emotion CSV contains emotion labels manually determined from multiple raters. Only comments with labels that show higher inter-rater agreement are kept.</a:t>
            </a:r>
          </a:p>
        </p:txBody>
      </p:sp>
      <p:sp>
        <p:nvSpPr>
          <p:cNvPr id="411" name="Google Shape;338;p18">
            <a:extLst>
              <a:ext uri="{FF2B5EF4-FFF2-40B4-BE49-F238E27FC236}">
                <a16:creationId xmlns:a16="http://schemas.microsoft.com/office/drawing/2014/main" id="{32321613-8AA1-915F-37C7-942661ACB914}"/>
              </a:ext>
            </a:extLst>
          </p:cNvPr>
          <p:cNvSpPr/>
          <p:nvPr/>
        </p:nvSpPr>
        <p:spPr>
          <a:xfrm>
            <a:off x="678571" y="9348859"/>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2" name="Line">
            <a:extLst>
              <a:ext uri="{FF2B5EF4-FFF2-40B4-BE49-F238E27FC236}">
                <a16:creationId xmlns:a16="http://schemas.microsoft.com/office/drawing/2014/main" id="{36CF71C0-976F-49CD-5239-1957F751748E}"/>
              </a:ext>
            </a:extLst>
          </p:cNvPr>
          <p:cNvSpPr/>
          <p:nvPr/>
        </p:nvSpPr>
        <p:spPr>
          <a:xfrm flipH="1" flipV="1">
            <a:off x="3154971" y="4050753"/>
            <a:ext cx="1" cy="945321"/>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13" name="TextBox 412">
            <a:extLst>
              <a:ext uri="{FF2B5EF4-FFF2-40B4-BE49-F238E27FC236}">
                <a16:creationId xmlns:a16="http://schemas.microsoft.com/office/drawing/2014/main" id="{47BC7FA4-110B-25F2-D29B-CCF452519A97}"/>
              </a:ext>
            </a:extLst>
          </p:cNvPr>
          <p:cNvSpPr txBox="1"/>
          <p:nvPr/>
        </p:nvSpPr>
        <p:spPr>
          <a:xfrm>
            <a:off x="3221935" y="4247371"/>
            <a:ext cx="97054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Sentiment</a:t>
            </a:r>
          </a:p>
        </p:txBody>
      </p:sp>
      <p:sp>
        <p:nvSpPr>
          <p:cNvPr id="414" name="Line">
            <a:extLst>
              <a:ext uri="{FF2B5EF4-FFF2-40B4-BE49-F238E27FC236}">
                <a16:creationId xmlns:a16="http://schemas.microsoft.com/office/drawing/2014/main" id="{405A275C-1619-AC60-0675-B89591DA8EBB}"/>
              </a:ext>
            </a:extLst>
          </p:cNvPr>
          <p:cNvSpPr/>
          <p:nvPr/>
        </p:nvSpPr>
        <p:spPr>
          <a:xfrm flipH="1" flipV="1">
            <a:off x="3162257" y="5448883"/>
            <a:ext cx="1" cy="945321"/>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15" name="TextBox 414">
            <a:extLst>
              <a:ext uri="{FF2B5EF4-FFF2-40B4-BE49-F238E27FC236}">
                <a16:creationId xmlns:a16="http://schemas.microsoft.com/office/drawing/2014/main" id="{23A447FC-AC56-8635-A566-64E9A3171FED}"/>
              </a:ext>
            </a:extLst>
          </p:cNvPr>
          <p:cNvSpPr txBox="1"/>
          <p:nvPr/>
        </p:nvSpPr>
        <p:spPr>
          <a:xfrm>
            <a:off x="3229221" y="5645501"/>
            <a:ext cx="97054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Emotion</a:t>
            </a:r>
          </a:p>
        </p:txBody>
      </p:sp>
      <p:pic>
        <p:nvPicPr>
          <p:cNvPr id="416" name="Picture 415" descr="A picture containing text&#10;&#10;Description automatically generated">
            <a:extLst>
              <a:ext uri="{FF2B5EF4-FFF2-40B4-BE49-F238E27FC236}">
                <a16:creationId xmlns:a16="http://schemas.microsoft.com/office/drawing/2014/main" id="{57CBD272-C778-63D2-2AEF-08A9C990E89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24189" y="4383757"/>
            <a:ext cx="585008" cy="679364"/>
          </a:xfrm>
          <a:prstGeom prst="rect">
            <a:avLst/>
          </a:prstGeom>
        </p:spPr>
      </p:pic>
      <p:sp>
        <p:nvSpPr>
          <p:cNvPr id="417" name="TextBox 416">
            <a:extLst>
              <a:ext uri="{FF2B5EF4-FFF2-40B4-BE49-F238E27FC236}">
                <a16:creationId xmlns:a16="http://schemas.microsoft.com/office/drawing/2014/main" id="{D2BF2378-C0A0-287A-CBF0-65260B06C4DB}"/>
              </a:ext>
            </a:extLst>
          </p:cNvPr>
          <p:cNvSpPr txBox="1"/>
          <p:nvPr/>
        </p:nvSpPr>
        <p:spPr>
          <a:xfrm>
            <a:off x="7111672" y="9130878"/>
            <a:ext cx="72095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err="1"/>
              <a:t>sailuh</a:t>
            </a:r>
            <a:r>
              <a:rPr lang="en-US" sz="800" b="0" dirty="0"/>
              <a:t>/</a:t>
            </a:r>
            <a:r>
              <a:rPr lang="en-US" sz="800" b="0" dirty="0" err="1"/>
              <a:t>kaiaulu</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418" name="Picture 417" descr="A picture containing text&#10;&#10;Description automatically generated">
            <a:extLst>
              <a:ext uri="{FF2B5EF4-FFF2-40B4-BE49-F238E27FC236}">
                <a16:creationId xmlns:a16="http://schemas.microsoft.com/office/drawing/2014/main" id="{CDD22F18-5A9D-F52E-2490-EE727B39C35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88144" y="8468874"/>
            <a:ext cx="585008" cy="679364"/>
          </a:xfrm>
          <a:prstGeom prst="rect">
            <a:avLst/>
          </a:prstGeom>
        </p:spPr>
      </p:pic>
      <p:sp>
        <p:nvSpPr>
          <p:cNvPr id="419" name="Can 418">
            <a:extLst>
              <a:ext uri="{FF2B5EF4-FFF2-40B4-BE49-F238E27FC236}">
                <a16:creationId xmlns:a16="http://schemas.microsoft.com/office/drawing/2014/main" id="{6D38E5AB-0A1F-391F-9F20-61217607BD40}"/>
              </a:ext>
            </a:extLst>
          </p:cNvPr>
          <p:cNvSpPr/>
          <p:nvPr/>
        </p:nvSpPr>
        <p:spPr>
          <a:xfrm>
            <a:off x="2164242" y="5501642"/>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20" name="Can 419">
            <a:extLst>
              <a:ext uri="{FF2B5EF4-FFF2-40B4-BE49-F238E27FC236}">
                <a16:creationId xmlns:a16="http://schemas.microsoft.com/office/drawing/2014/main" id="{E2973A80-CF7C-D066-452A-EB42C9E63693}"/>
              </a:ext>
            </a:extLst>
          </p:cNvPr>
          <p:cNvSpPr/>
          <p:nvPr/>
        </p:nvSpPr>
        <p:spPr>
          <a:xfrm>
            <a:off x="8020123" y="2662290"/>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421" name="Can 420">
            <a:extLst>
              <a:ext uri="{FF2B5EF4-FFF2-40B4-BE49-F238E27FC236}">
                <a16:creationId xmlns:a16="http://schemas.microsoft.com/office/drawing/2014/main" id="{4D1C8EA0-DB1A-AF13-F1D8-B6E4F3E7260A}"/>
              </a:ext>
            </a:extLst>
          </p:cNvPr>
          <p:cNvSpPr/>
          <p:nvPr/>
        </p:nvSpPr>
        <p:spPr>
          <a:xfrm>
            <a:off x="7973474" y="6674341"/>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422" name="Connector: Elbow 504">
            <a:extLst>
              <a:ext uri="{FF2B5EF4-FFF2-40B4-BE49-F238E27FC236}">
                <a16:creationId xmlns:a16="http://schemas.microsoft.com/office/drawing/2014/main" id="{B6070F1D-273D-9AD8-839E-7A879D9B224C}"/>
              </a:ext>
            </a:extLst>
          </p:cNvPr>
          <p:cNvCxnSpPr>
            <a:cxnSpLocks/>
            <a:endCxn id="343" idx="1"/>
          </p:cNvCxnSpPr>
          <p:nvPr/>
        </p:nvCxnSpPr>
        <p:spPr>
          <a:xfrm>
            <a:off x="10264774" y="8108060"/>
            <a:ext cx="260324" cy="6619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423" name="Group 422">
            <a:extLst>
              <a:ext uri="{FF2B5EF4-FFF2-40B4-BE49-F238E27FC236}">
                <a16:creationId xmlns:a16="http://schemas.microsoft.com/office/drawing/2014/main" id="{06267E7A-DD34-6AEC-C70F-080CB66C8BD0}"/>
              </a:ext>
            </a:extLst>
          </p:cNvPr>
          <p:cNvGrpSpPr/>
          <p:nvPr/>
        </p:nvGrpSpPr>
        <p:grpSpPr>
          <a:xfrm>
            <a:off x="10255192" y="8324484"/>
            <a:ext cx="258099" cy="400772"/>
            <a:chOff x="4995414" y="5124450"/>
            <a:chExt cx="279788" cy="627063"/>
          </a:xfrm>
        </p:grpSpPr>
        <p:cxnSp>
          <p:nvCxnSpPr>
            <p:cNvPr id="424" name="Straight Connector 423">
              <a:extLst>
                <a:ext uri="{FF2B5EF4-FFF2-40B4-BE49-F238E27FC236}">
                  <a16:creationId xmlns:a16="http://schemas.microsoft.com/office/drawing/2014/main" id="{E1D14E82-6684-FF73-5D8E-054230DA9978}"/>
                </a:ext>
              </a:extLst>
            </p:cNvPr>
            <p:cNvCxnSpPr>
              <a:cxnSpLocks/>
            </p:cNvCxnSpPr>
            <p:nvPr/>
          </p:nvCxnSpPr>
          <p:spPr>
            <a:xfrm>
              <a:off x="4995414" y="5748338"/>
              <a:ext cx="157186" cy="0"/>
            </a:xfrm>
            <a:prstGeom prst="line">
              <a:avLst/>
            </a:prstGeom>
          </p:spPr>
          <p:style>
            <a:lnRef idx="1">
              <a:schemeClr val="dk1"/>
            </a:lnRef>
            <a:fillRef idx="0">
              <a:schemeClr val="dk1"/>
            </a:fillRef>
            <a:effectRef idx="0">
              <a:schemeClr val="dk1"/>
            </a:effectRef>
            <a:fontRef idx="minor">
              <a:schemeClr val="tx1"/>
            </a:fontRef>
          </p:style>
        </p:cxnSp>
        <p:cxnSp>
          <p:nvCxnSpPr>
            <p:cNvPr id="425" name="Straight Connector 424">
              <a:extLst>
                <a:ext uri="{FF2B5EF4-FFF2-40B4-BE49-F238E27FC236}">
                  <a16:creationId xmlns:a16="http://schemas.microsoft.com/office/drawing/2014/main" id="{B7033C29-EB8E-457E-D763-D4102AC80CFF}"/>
                </a:ext>
              </a:extLst>
            </p:cNvPr>
            <p:cNvCxnSpPr/>
            <p:nvPr/>
          </p:nvCxnSpPr>
          <p:spPr>
            <a:xfrm flipV="1">
              <a:off x="5152600" y="5124450"/>
              <a:ext cx="0" cy="627063"/>
            </a:xfrm>
            <a:prstGeom prst="line">
              <a:avLst/>
            </a:prstGeom>
          </p:spPr>
          <p:style>
            <a:lnRef idx="1">
              <a:schemeClr val="dk1"/>
            </a:lnRef>
            <a:fillRef idx="0">
              <a:schemeClr val="dk1"/>
            </a:fillRef>
            <a:effectRef idx="0">
              <a:schemeClr val="dk1"/>
            </a:effectRef>
            <a:fontRef idx="minor">
              <a:schemeClr val="tx1"/>
            </a:fontRef>
          </p:style>
        </p:cxnSp>
        <p:cxnSp>
          <p:nvCxnSpPr>
            <p:cNvPr id="426" name="Straight Arrow Connector 425">
              <a:extLst>
                <a:ext uri="{FF2B5EF4-FFF2-40B4-BE49-F238E27FC236}">
                  <a16:creationId xmlns:a16="http://schemas.microsoft.com/office/drawing/2014/main" id="{3714449C-FA5D-1784-EC4C-F12893668BEE}"/>
                </a:ext>
              </a:extLst>
            </p:cNvPr>
            <p:cNvCxnSpPr/>
            <p:nvPr/>
          </p:nvCxnSpPr>
          <p:spPr>
            <a:xfrm>
              <a:off x="5152600" y="5129213"/>
              <a:ext cx="1226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427" name="Group 426">
            <a:extLst>
              <a:ext uri="{FF2B5EF4-FFF2-40B4-BE49-F238E27FC236}">
                <a16:creationId xmlns:a16="http://schemas.microsoft.com/office/drawing/2014/main" id="{907B77B4-6126-BF5F-1826-5A57927AB0AD}"/>
              </a:ext>
            </a:extLst>
          </p:cNvPr>
          <p:cNvGrpSpPr/>
          <p:nvPr/>
        </p:nvGrpSpPr>
        <p:grpSpPr>
          <a:xfrm>
            <a:off x="10273320" y="7711032"/>
            <a:ext cx="246605" cy="248161"/>
            <a:chOff x="4995414" y="4014788"/>
            <a:chExt cx="318346" cy="642937"/>
          </a:xfrm>
        </p:grpSpPr>
        <p:cxnSp>
          <p:nvCxnSpPr>
            <p:cNvPr id="428" name="Straight Connector 427">
              <a:extLst>
                <a:ext uri="{FF2B5EF4-FFF2-40B4-BE49-F238E27FC236}">
                  <a16:creationId xmlns:a16="http://schemas.microsoft.com/office/drawing/2014/main" id="{773769EE-0C57-462B-9A2E-9C54F28FE548}"/>
                </a:ext>
              </a:extLst>
            </p:cNvPr>
            <p:cNvCxnSpPr>
              <a:cxnSpLocks/>
            </p:cNvCxnSpPr>
            <p:nvPr/>
          </p:nvCxnSpPr>
          <p:spPr>
            <a:xfrm>
              <a:off x="4995414" y="4014788"/>
              <a:ext cx="175470" cy="0"/>
            </a:xfrm>
            <a:prstGeom prst="line">
              <a:avLst/>
            </a:prstGeom>
          </p:spPr>
          <p:style>
            <a:lnRef idx="1">
              <a:schemeClr val="dk1"/>
            </a:lnRef>
            <a:fillRef idx="0">
              <a:schemeClr val="dk1"/>
            </a:fillRef>
            <a:effectRef idx="0">
              <a:schemeClr val="dk1"/>
            </a:effectRef>
            <a:fontRef idx="minor">
              <a:schemeClr val="tx1"/>
            </a:fontRef>
          </p:style>
        </p:cxnSp>
        <p:cxnSp>
          <p:nvCxnSpPr>
            <p:cNvPr id="429" name="Straight Connector 428">
              <a:extLst>
                <a:ext uri="{FF2B5EF4-FFF2-40B4-BE49-F238E27FC236}">
                  <a16:creationId xmlns:a16="http://schemas.microsoft.com/office/drawing/2014/main" id="{556DAEA6-7120-E507-3A8F-4BB2CD66ECD1}"/>
                </a:ext>
              </a:extLst>
            </p:cNvPr>
            <p:cNvCxnSpPr/>
            <p:nvPr/>
          </p:nvCxnSpPr>
          <p:spPr>
            <a:xfrm>
              <a:off x="5168503" y="4014788"/>
              <a:ext cx="0" cy="642937"/>
            </a:xfrm>
            <a:prstGeom prst="line">
              <a:avLst/>
            </a:prstGeom>
          </p:spPr>
          <p:style>
            <a:lnRef idx="1">
              <a:schemeClr val="dk1"/>
            </a:lnRef>
            <a:fillRef idx="0">
              <a:schemeClr val="dk1"/>
            </a:fillRef>
            <a:effectRef idx="0">
              <a:schemeClr val="dk1"/>
            </a:effectRef>
            <a:fontRef idx="minor">
              <a:schemeClr val="tx1"/>
            </a:fontRef>
          </p:style>
        </p:cxnSp>
        <p:cxnSp>
          <p:nvCxnSpPr>
            <p:cNvPr id="430" name="Straight Arrow Connector 429">
              <a:extLst>
                <a:ext uri="{FF2B5EF4-FFF2-40B4-BE49-F238E27FC236}">
                  <a16:creationId xmlns:a16="http://schemas.microsoft.com/office/drawing/2014/main" id="{4AC4D799-6E35-C1E2-B4FD-376054FC9AE8}"/>
                </a:ext>
              </a:extLst>
            </p:cNvPr>
            <p:cNvCxnSpPr/>
            <p:nvPr/>
          </p:nvCxnSpPr>
          <p:spPr>
            <a:xfrm>
              <a:off x="5163741" y="4657725"/>
              <a:ext cx="1500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1" name="Group 430">
            <a:extLst>
              <a:ext uri="{FF2B5EF4-FFF2-40B4-BE49-F238E27FC236}">
                <a16:creationId xmlns:a16="http://schemas.microsoft.com/office/drawing/2014/main" id="{7F429605-41E8-1A50-4ABC-69A67681DE3C}"/>
              </a:ext>
            </a:extLst>
          </p:cNvPr>
          <p:cNvGrpSpPr/>
          <p:nvPr/>
        </p:nvGrpSpPr>
        <p:grpSpPr>
          <a:xfrm>
            <a:off x="1092074" y="7766592"/>
            <a:ext cx="953200" cy="458010"/>
            <a:chOff x="5528605" y="4530831"/>
            <a:chExt cx="953200" cy="458010"/>
          </a:xfrm>
        </p:grpSpPr>
        <p:graphicFrame>
          <p:nvGraphicFramePr>
            <p:cNvPr id="432" name="Table">
              <a:extLst>
                <a:ext uri="{FF2B5EF4-FFF2-40B4-BE49-F238E27FC236}">
                  <a16:creationId xmlns:a16="http://schemas.microsoft.com/office/drawing/2014/main" id="{302AC6E5-4B78-443F-911E-C9A81E98B99D}"/>
                </a:ext>
              </a:extLst>
            </p:cNvPr>
            <p:cNvGraphicFramePr/>
            <p:nvPr>
              <p:extLst>
                <p:ext uri="{D42A27DB-BD31-4B8C-83A1-F6EECF244321}">
                  <p14:modId xmlns:p14="http://schemas.microsoft.com/office/powerpoint/2010/main" val="3079728928"/>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433" name="Table">
              <a:extLst>
                <a:ext uri="{FF2B5EF4-FFF2-40B4-BE49-F238E27FC236}">
                  <a16:creationId xmlns:a16="http://schemas.microsoft.com/office/drawing/2014/main" id="{E1615DC7-2E5C-508B-41CB-633B37319298}"/>
                </a:ext>
              </a:extLst>
            </p:cNvPr>
            <p:cNvGraphicFramePr/>
            <p:nvPr>
              <p:extLst>
                <p:ext uri="{D42A27DB-BD31-4B8C-83A1-F6EECF244321}">
                  <p14:modId xmlns:p14="http://schemas.microsoft.com/office/powerpoint/2010/main" val="3534037613"/>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grpSp>
        <p:nvGrpSpPr>
          <p:cNvPr id="434" name="Group 433">
            <a:extLst>
              <a:ext uri="{FF2B5EF4-FFF2-40B4-BE49-F238E27FC236}">
                <a16:creationId xmlns:a16="http://schemas.microsoft.com/office/drawing/2014/main" id="{33EB47C3-CF43-B752-8589-BF2EAB53997B}"/>
              </a:ext>
            </a:extLst>
          </p:cNvPr>
          <p:cNvGrpSpPr/>
          <p:nvPr/>
        </p:nvGrpSpPr>
        <p:grpSpPr>
          <a:xfrm>
            <a:off x="2597665" y="7778932"/>
            <a:ext cx="630320" cy="458010"/>
            <a:chOff x="5528605" y="4530831"/>
            <a:chExt cx="630320" cy="458010"/>
          </a:xfrm>
        </p:grpSpPr>
        <p:graphicFrame>
          <p:nvGraphicFramePr>
            <p:cNvPr id="435" name="Table">
              <a:extLst>
                <a:ext uri="{FF2B5EF4-FFF2-40B4-BE49-F238E27FC236}">
                  <a16:creationId xmlns:a16="http://schemas.microsoft.com/office/drawing/2014/main" id="{7168D8FF-8B00-6490-33C2-997277456B73}"/>
                </a:ext>
              </a:extLst>
            </p:cNvPr>
            <p:cNvGraphicFramePr/>
            <p:nvPr>
              <p:extLst>
                <p:ext uri="{D42A27DB-BD31-4B8C-83A1-F6EECF244321}">
                  <p14:modId xmlns:p14="http://schemas.microsoft.com/office/powerpoint/2010/main" val="918418728"/>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436" name="Table">
              <a:extLst>
                <a:ext uri="{FF2B5EF4-FFF2-40B4-BE49-F238E27FC236}">
                  <a16:creationId xmlns:a16="http://schemas.microsoft.com/office/drawing/2014/main" id="{A8D50FAA-A159-B1E8-D2D6-C3C0258BC307}"/>
                </a:ext>
              </a:extLst>
            </p:cNvPr>
            <p:cNvGraphicFramePr/>
            <p:nvPr>
              <p:extLst>
                <p:ext uri="{D42A27DB-BD31-4B8C-83A1-F6EECF244321}">
                  <p14:modId xmlns:p14="http://schemas.microsoft.com/office/powerpoint/2010/main" val="2355868151"/>
                </p:ext>
              </p:extLst>
            </p:nvPr>
          </p:nvGraphicFramePr>
          <p:xfrm>
            <a:off x="5997485" y="4530831"/>
            <a:ext cx="16144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grpSp>
        <p:nvGrpSpPr>
          <p:cNvPr id="437" name="Group 436">
            <a:extLst>
              <a:ext uri="{FF2B5EF4-FFF2-40B4-BE49-F238E27FC236}">
                <a16:creationId xmlns:a16="http://schemas.microsoft.com/office/drawing/2014/main" id="{C234B143-0039-EDA4-230E-571B11CD6A0A}"/>
              </a:ext>
            </a:extLst>
          </p:cNvPr>
          <p:cNvGrpSpPr/>
          <p:nvPr/>
        </p:nvGrpSpPr>
        <p:grpSpPr>
          <a:xfrm>
            <a:off x="2562975" y="7722007"/>
            <a:ext cx="665010" cy="540204"/>
            <a:chOff x="3045575" y="7702261"/>
            <a:chExt cx="665010" cy="540204"/>
          </a:xfrm>
        </p:grpSpPr>
        <p:cxnSp>
          <p:nvCxnSpPr>
            <p:cNvPr id="438" name="Straight Connector 437">
              <a:extLst>
                <a:ext uri="{FF2B5EF4-FFF2-40B4-BE49-F238E27FC236}">
                  <a16:creationId xmlns:a16="http://schemas.microsoft.com/office/drawing/2014/main" id="{1FEB7774-CA3A-091F-C24B-C4377CD0024D}"/>
                </a:ext>
              </a:extLst>
            </p:cNvPr>
            <p:cNvCxnSpPr>
              <a:cxnSpLocks/>
            </p:cNvCxnSpPr>
            <p:nvPr/>
          </p:nvCxnSpPr>
          <p:spPr>
            <a:xfrm>
              <a:off x="3045575" y="7702261"/>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cxnSp>
          <p:nvCxnSpPr>
            <p:cNvPr id="439" name="Straight Connector 438">
              <a:extLst>
                <a:ext uri="{FF2B5EF4-FFF2-40B4-BE49-F238E27FC236}">
                  <a16:creationId xmlns:a16="http://schemas.microsoft.com/office/drawing/2014/main" id="{C62C0095-C66E-4B88-C216-25C46CAE8AEC}"/>
                </a:ext>
              </a:extLst>
            </p:cNvPr>
            <p:cNvCxnSpPr>
              <a:cxnSpLocks/>
            </p:cNvCxnSpPr>
            <p:nvPr/>
          </p:nvCxnSpPr>
          <p:spPr>
            <a:xfrm flipV="1">
              <a:off x="3058828" y="7710159"/>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grpSp>
      <p:pic>
        <p:nvPicPr>
          <p:cNvPr id="440" name="Graphic 439" descr="User with solid fill">
            <a:extLst>
              <a:ext uri="{FF2B5EF4-FFF2-40B4-BE49-F238E27FC236}">
                <a16:creationId xmlns:a16="http://schemas.microsoft.com/office/drawing/2014/main" id="{DD0A9C6D-C07D-1989-461E-E6BC4D2E826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26048" y="9843576"/>
            <a:ext cx="381354" cy="381354"/>
          </a:xfrm>
          <a:prstGeom prst="rect">
            <a:avLst/>
          </a:prstGeom>
        </p:spPr>
      </p:pic>
      <p:pic>
        <p:nvPicPr>
          <p:cNvPr id="441" name="Graphic 440" descr="User with solid fill">
            <a:extLst>
              <a:ext uri="{FF2B5EF4-FFF2-40B4-BE49-F238E27FC236}">
                <a16:creationId xmlns:a16="http://schemas.microsoft.com/office/drawing/2014/main" id="{3E074B74-DAD8-194F-91EF-2E44AE87647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76126" y="9848058"/>
            <a:ext cx="381354" cy="381354"/>
          </a:xfrm>
          <a:prstGeom prst="rect">
            <a:avLst/>
          </a:prstGeom>
        </p:spPr>
      </p:pic>
      <p:pic>
        <p:nvPicPr>
          <p:cNvPr id="442" name="Graphic 441" descr="User with solid fill">
            <a:extLst>
              <a:ext uri="{FF2B5EF4-FFF2-40B4-BE49-F238E27FC236}">
                <a16:creationId xmlns:a16="http://schemas.microsoft.com/office/drawing/2014/main" id="{8B009C50-1CD6-1CF6-1697-E06025AA62E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434159" y="9856625"/>
            <a:ext cx="381354" cy="381354"/>
          </a:xfrm>
          <a:prstGeom prst="rect">
            <a:avLst/>
          </a:prstGeom>
        </p:spPr>
      </p:pic>
      <p:pic>
        <p:nvPicPr>
          <p:cNvPr id="443" name="Graphic 442" descr="Heart outline">
            <a:extLst>
              <a:ext uri="{FF2B5EF4-FFF2-40B4-BE49-F238E27FC236}">
                <a16:creationId xmlns:a16="http://schemas.microsoft.com/office/drawing/2014/main" id="{AAF42028-6866-841A-464E-7626E751659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8908" y="9348033"/>
            <a:ext cx="238741" cy="238741"/>
          </a:xfrm>
          <a:prstGeom prst="rect">
            <a:avLst/>
          </a:prstGeom>
        </p:spPr>
      </p:pic>
      <p:sp>
        <p:nvSpPr>
          <p:cNvPr id="444" name="Google Shape;338;p18">
            <a:extLst>
              <a:ext uri="{FF2B5EF4-FFF2-40B4-BE49-F238E27FC236}">
                <a16:creationId xmlns:a16="http://schemas.microsoft.com/office/drawing/2014/main" id="{566D0A01-4AF6-94BF-BE86-5199E809525F}"/>
              </a:ext>
            </a:extLst>
          </p:cNvPr>
          <p:cNvSpPr/>
          <p:nvPr/>
        </p:nvSpPr>
        <p:spPr>
          <a:xfrm>
            <a:off x="1116634" y="9343884"/>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45" name="Graphic 444" descr="Heart outline">
            <a:extLst>
              <a:ext uri="{FF2B5EF4-FFF2-40B4-BE49-F238E27FC236}">
                <a16:creationId xmlns:a16="http://schemas.microsoft.com/office/drawing/2014/main" id="{E34F97FC-85EA-3E5B-3D9A-C81F744B0DC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76971" y="9343058"/>
            <a:ext cx="238741" cy="238741"/>
          </a:xfrm>
          <a:prstGeom prst="rect">
            <a:avLst/>
          </a:prstGeom>
        </p:spPr>
      </p:pic>
      <p:sp>
        <p:nvSpPr>
          <p:cNvPr id="446" name="Google Shape;338;p18">
            <a:extLst>
              <a:ext uri="{FF2B5EF4-FFF2-40B4-BE49-F238E27FC236}">
                <a16:creationId xmlns:a16="http://schemas.microsoft.com/office/drawing/2014/main" id="{5EFCC9FA-216C-C2F3-658F-1BC16FA0A423}"/>
              </a:ext>
            </a:extLst>
          </p:cNvPr>
          <p:cNvSpPr/>
          <p:nvPr/>
        </p:nvSpPr>
        <p:spPr>
          <a:xfrm>
            <a:off x="1545096" y="9341912"/>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 name="Rectangle 446">
            <a:extLst>
              <a:ext uri="{FF2B5EF4-FFF2-40B4-BE49-F238E27FC236}">
                <a16:creationId xmlns:a16="http://schemas.microsoft.com/office/drawing/2014/main" id="{CB1E3574-86ED-817B-CE42-66A82E99DE20}"/>
              </a:ext>
            </a:extLst>
          </p:cNvPr>
          <p:cNvSpPr/>
          <p:nvPr/>
        </p:nvSpPr>
        <p:spPr>
          <a:xfrm>
            <a:off x="564675" y="9293640"/>
            <a:ext cx="1492070" cy="36576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48" name="Straight Connector 447">
            <a:extLst>
              <a:ext uri="{FF2B5EF4-FFF2-40B4-BE49-F238E27FC236}">
                <a16:creationId xmlns:a16="http://schemas.microsoft.com/office/drawing/2014/main" id="{25309592-007A-09EE-8ADE-4D526065856A}"/>
              </a:ext>
            </a:extLst>
          </p:cNvPr>
          <p:cNvCxnSpPr>
            <a:cxnSpLocks/>
            <a:endCxn id="440" idx="0"/>
          </p:cNvCxnSpPr>
          <p:nvPr/>
        </p:nvCxnSpPr>
        <p:spPr>
          <a:xfrm>
            <a:off x="857253" y="9656636"/>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49" name="Straight Connector 448">
            <a:extLst>
              <a:ext uri="{FF2B5EF4-FFF2-40B4-BE49-F238E27FC236}">
                <a16:creationId xmlns:a16="http://schemas.microsoft.com/office/drawing/2014/main" id="{FA7C4B78-C716-5385-DAB0-3712F174952F}"/>
              </a:ext>
            </a:extLst>
          </p:cNvPr>
          <p:cNvCxnSpPr>
            <a:cxnSpLocks/>
          </p:cNvCxnSpPr>
          <p:nvPr/>
        </p:nvCxnSpPr>
        <p:spPr>
          <a:xfrm flipV="1">
            <a:off x="1639240" y="9656636"/>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50" name="Straight Connector 449">
            <a:extLst>
              <a:ext uri="{FF2B5EF4-FFF2-40B4-BE49-F238E27FC236}">
                <a16:creationId xmlns:a16="http://schemas.microsoft.com/office/drawing/2014/main" id="{EB8892F9-DA81-D5DF-FD73-65683890EE52}"/>
              </a:ext>
            </a:extLst>
          </p:cNvPr>
          <p:cNvCxnSpPr>
            <a:cxnSpLocks/>
          </p:cNvCxnSpPr>
          <p:nvPr/>
        </p:nvCxnSpPr>
        <p:spPr>
          <a:xfrm flipV="1">
            <a:off x="1268752" y="9662737"/>
            <a:ext cx="0" cy="19030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51" name="Google Shape;338;p18">
            <a:extLst>
              <a:ext uri="{FF2B5EF4-FFF2-40B4-BE49-F238E27FC236}">
                <a16:creationId xmlns:a16="http://schemas.microsoft.com/office/drawing/2014/main" id="{306565B0-D4A0-65AE-7A29-9BC8C730173E}"/>
              </a:ext>
            </a:extLst>
          </p:cNvPr>
          <p:cNvSpPr/>
          <p:nvPr/>
        </p:nvSpPr>
        <p:spPr>
          <a:xfrm>
            <a:off x="2483724" y="9376740"/>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52" name="Graphic 451" descr="User with solid fill">
            <a:extLst>
              <a:ext uri="{FF2B5EF4-FFF2-40B4-BE49-F238E27FC236}">
                <a16:creationId xmlns:a16="http://schemas.microsoft.com/office/drawing/2014/main" id="{F6CD7C21-5E55-B5B9-AC32-2772985203A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31201" y="9871457"/>
            <a:ext cx="381354" cy="381354"/>
          </a:xfrm>
          <a:prstGeom prst="rect">
            <a:avLst/>
          </a:prstGeom>
        </p:spPr>
      </p:pic>
      <p:pic>
        <p:nvPicPr>
          <p:cNvPr id="453" name="Graphic 452" descr="User with solid fill">
            <a:extLst>
              <a:ext uri="{FF2B5EF4-FFF2-40B4-BE49-F238E27FC236}">
                <a16:creationId xmlns:a16="http://schemas.microsoft.com/office/drawing/2014/main" id="{A9B0E1D8-BA2B-B763-9B64-666B0C042A6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81279" y="9875939"/>
            <a:ext cx="381354" cy="381354"/>
          </a:xfrm>
          <a:prstGeom prst="rect">
            <a:avLst/>
          </a:prstGeom>
        </p:spPr>
      </p:pic>
      <p:pic>
        <p:nvPicPr>
          <p:cNvPr id="454" name="Graphic 453" descr="User with solid fill">
            <a:extLst>
              <a:ext uri="{FF2B5EF4-FFF2-40B4-BE49-F238E27FC236}">
                <a16:creationId xmlns:a16="http://schemas.microsoft.com/office/drawing/2014/main" id="{E08D1695-F696-1430-1B73-1B05EC0657D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39312" y="9884506"/>
            <a:ext cx="381354" cy="381354"/>
          </a:xfrm>
          <a:prstGeom prst="rect">
            <a:avLst/>
          </a:prstGeom>
        </p:spPr>
      </p:pic>
      <p:pic>
        <p:nvPicPr>
          <p:cNvPr id="455" name="Graphic 454" descr="Heart outline">
            <a:extLst>
              <a:ext uri="{FF2B5EF4-FFF2-40B4-BE49-F238E27FC236}">
                <a16:creationId xmlns:a16="http://schemas.microsoft.com/office/drawing/2014/main" id="{60A2B434-E02B-EEC8-D69F-E318DB8E36A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544061" y="9375914"/>
            <a:ext cx="238741" cy="238741"/>
          </a:xfrm>
          <a:prstGeom prst="rect">
            <a:avLst/>
          </a:prstGeom>
        </p:spPr>
      </p:pic>
      <p:sp>
        <p:nvSpPr>
          <p:cNvPr id="456" name="Google Shape;338;p18">
            <a:extLst>
              <a:ext uri="{FF2B5EF4-FFF2-40B4-BE49-F238E27FC236}">
                <a16:creationId xmlns:a16="http://schemas.microsoft.com/office/drawing/2014/main" id="{08987616-631E-4638-1C2C-9DDABDCB8825}"/>
              </a:ext>
            </a:extLst>
          </p:cNvPr>
          <p:cNvSpPr/>
          <p:nvPr/>
        </p:nvSpPr>
        <p:spPr>
          <a:xfrm>
            <a:off x="2921787" y="9371765"/>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57" name="Graphic 456" descr="Heart outline">
            <a:extLst>
              <a:ext uri="{FF2B5EF4-FFF2-40B4-BE49-F238E27FC236}">
                <a16:creationId xmlns:a16="http://schemas.microsoft.com/office/drawing/2014/main" id="{EFE7B50F-B1D2-2B2C-FFDB-199F0B2363B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982124" y="9370939"/>
            <a:ext cx="238741" cy="238741"/>
          </a:xfrm>
          <a:prstGeom prst="rect">
            <a:avLst/>
          </a:prstGeom>
        </p:spPr>
      </p:pic>
      <p:sp>
        <p:nvSpPr>
          <p:cNvPr id="458" name="Google Shape;338;p18">
            <a:extLst>
              <a:ext uri="{FF2B5EF4-FFF2-40B4-BE49-F238E27FC236}">
                <a16:creationId xmlns:a16="http://schemas.microsoft.com/office/drawing/2014/main" id="{C6E70BD2-27CA-99CB-F44C-9A66081F69DF}"/>
              </a:ext>
            </a:extLst>
          </p:cNvPr>
          <p:cNvSpPr/>
          <p:nvPr/>
        </p:nvSpPr>
        <p:spPr>
          <a:xfrm>
            <a:off x="3350249" y="9369793"/>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59" name="Graphic 458" descr="Heart outline">
            <a:extLst>
              <a:ext uri="{FF2B5EF4-FFF2-40B4-BE49-F238E27FC236}">
                <a16:creationId xmlns:a16="http://schemas.microsoft.com/office/drawing/2014/main" id="{61AE7754-AEE7-2792-C25B-8FE9B3CB3A3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01738" y="9348230"/>
            <a:ext cx="238741" cy="238741"/>
          </a:xfrm>
          <a:prstGeom prst="rect">
            <a:avLst/>
          </a:prstGeom>
        </p:spPr>
      </p:pic>
      <p:sp>
        <p:nvSpPr>
          <p:cNvPr id="460" name="Rectangle 459">
            <a:extLst>
              <a:ext uri="{FF2B5EF4-FFF2-40B4-BE49-F238E27FC236}">
                <a16:creationId xmlns:a16="http://schemas.microsoft.com/office/drawing/2014/main" id="{ABEB5B79-47ED-8449-96CC-A3F445BA1AAB}"/>
              </a:ext>
            </a:extLst>
          </p:cNvPr>
          <p:cNvSpPr/>
          <p:nvPr/>
        </p:nvSpPr>
        <p:spPr>
          <a:xfrm>
            <a:off x="2369828" y="9321521"/>
            <a:ext cx="1492070" cy="36576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461" name="Straight Connector 460">
            <a:extLst>
              <a:ext uri="{FF2B5EF4-FFF2-40B4-BE49-F238E27FC236}">
                <a16:creationId xmlns:a16="http://schemas.microsoft.com/office/drawing/2014/main" id="{696DD516-569C-1892-A7F6-67DE60A1994E}"/>
              </a:ext>
            </a:extLst>
          </p:cNvPr>
          <p:cNvCxnSpPr>
            <a:cxnSpLocks/>
            <a:endCxn id="452" idx="0"/>
          </p:cNvCxnSpPr>
          <p:nvPr/>
        </p:nvCxnSpPr>
        <p:spPr>
          <a:xfrm>
            <a:off x="2662406" y="9684517"/>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2" name="Straight Connector 461">
            <a:extLst>
              <a:ext uri="{FF2B5EF4-FFF2-40B4-BE49-F238E27FC236}">
                <a16:creationId xmlns:a16="http://schemas.microsoft.com/office/drawing/2014/main" id="{5FF5D569-0A74-D375-2B1C-8E514FE8F99F}"/>
              </a:ext>
            </a:extLst>
          </p:cNvPr>
          <p:cNvCxnSpPr>
            <a:cxnSpLocks/>
          </p:cNvCxnSpPr>
          <p:nvPr/>
        </p:nvCxnSpPr>
        <p:spPr>
          <a:xfrm flipV="1">
            <a:off x="3444393" y="9684517"/>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463" name="Straight Connector 462">
            <a:extLst>
              <a:ext uri="{FF2B5EF4-FFF2-40B4-BE49-F238E27FC236}">
                <a16:creationId xmlns:a16="http://schemas.microsoft.com/office/drawing/2014/main" id="{B9A79F97-C7C6-3451-FB72-731A04CC5557}"/>
              </a:ext>
            </a:extLst>
          </p:cNvPr>
          <p:cNvCxnSpPr>
            <a:cxnSpLocks/>
          </p:cNvCxnSpPr>
          <p:nvPr/>
        </p:nvCxnSpPr>
        <p:spPr>
          <a:xfrm flipV="1">
            <a:off x="3073905" y="9690618"/>
            <a:ext cx="0" cy="19030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464" name="Graphic 463" descr="Angry face outline with solid fill">
            <a:extLst>
              <a:ext uri="{FF2B5EF4-FFF2-40B4-BE49-F238E27FC236}">
                <a16:creationId xmlns:a16="http://schemas.microsoft.com/office/drawing/2014/main" id="{3186AD57-A303-0589-78A6-84D066FFE5D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419525" y="9368586"/>
            <a:ext cx="239887" cy="239887"/>
          </a:xfrm>
          <a:prstGeom prst="rect">
            <a:avLst/>
          </a:prstGeom>
        </p:spPr>
      </p:pic>
      <p:grpSp>
        <p:nvGrpSpPr>
          <p:cNvPr id="465" name="Group 464">
            <a:extLst>
              <a:ext uri="{FF2B5EF4-FFF2-40B4-BE49-F238E27FC236}">
                <a16:creationId xmlns:a16="http://schemas.microsoft.com/office/drawing/2014/main" id="{C7156AC5-37FB-85CF-3938-B8B2EA97CC63}"/>
              </a:ext>
            </a:extLst>
          </p:cNvPr>
          <p:cNvGrpSpPr/>
          <p:nvPr/>
        </p:nvGrpSpPr>
        <p:grpSpPr>
          <a:xfrm>
            <a:off x="2410008" y="9223247"/>
            <a:ext cx="1413097" cy="540204"/>
            <a:chOff x="3045575" y="7702261"/>
            <a:chExt cx="665010" cy="540204"/>
          </a:xfrm>
        </p:grpSpPr>
        <p:cxnSp>
          <p:nvCxnSpPr>
            <p:cNvPr id="466" name="Straight Connector 465">
              <a:extLst>
                <a:ext uri="{FF2B5EF4-FFF2-40B4-BE49-F238E27FC236}">
                  <a16:creationId xmlns:a16="http://schemas.microsoft.com/office/drawing/2014/main" id="{09184A83-F299-17CF-C620-6ACF6C4E3D55}"/>
                </a:ext>
              </a:extLst>
            </p:cNvPr>
            <p:cNvCxnSpPr>
              <a:cxnSpLocks/>
            </p:cNvCxnSpPr>
            <p:nvPr/>
          </p:nvCxnSpPr>
          <p:spPr>
            <a:xfrm>
              <a:off x="3045575" y="7702261"/>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cxnSp>
          <p:nvCxnSpPr>
            <p:cNvPr id="467" name="Straight Connector 466">
              <a:extLst>
                <a:ext uri="{FF2B5EF4-FFF2-40B4-BE49-F238E27FC236}">
                  <a16:creationId xmlns:a16="http://schemas.microsoft.com/office/drawing/2014/main" id="{161A5466-2846-5203-E424-3EB7860AB777}"/>
                </a:ext>
              </a:extLst>
            </p:cNvPr>
            <p:cNvCxnSpPr>
              <a:cxnSpLocks/>
            </p:cNvCxnSpPr>
            <p:nvPr/>
          </p:nvCxnSpPr>
          <p:spPr>
            <a:xfrm flipV="1">
              <a:off x="3058828" y="7710159"/>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grpSp>
      <p:pic>
        <p:nvPicPr>
          <p:cNvPr id="468" name="Picture 467" descr="A picture containing text&#10;&#10;Description automatically generated">
            <a:extLst>
              <a:ext uri="{FF2B5EF4-FFF2-40B4-BE49-F238E27FC236}">
                <a16:creationId xmlns:a16="http://schemas.microsoft.com/office/drawing/2014/main" id="{6F4A4F7B-56B5-7BB4-E397-6B219B132BD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731243" y="8088668"/>
            <a:ext cx="297372" cy="345335"/>
          </a:xfrm>
          <a:prstGeom prst="rect">
            <a:avLst/>
          </a:prstGeom>
        </p:spPr>
      </p:pic>
      <p:sp>
        <p:nvSpPr>
          <p:cNvPr id="469" name="Line">
            <a:extLst>
              <a:ext uri="{FF2B5EF4-FFF2-40B4-BE49-F238E27FC236}">
                <a16:creationId xmlns:a16="http://schemas.microsoft.com/office/drawing/2014/main" id="{5A45C7E2-F20F-106E-3895-622C43B48787}"/>
              </a:ext>
            </a:extLst>
          </p:cNvPr>
          <p:cNvSpPr/>
          <p:nvPr/>
        </p:nvSpPr>
        <p:spPr>
          <a:xfrm flipV="1">
            <a:off x="9585321" y="1870215"/>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70" name="Line">
            <a:extLst>
              <a:ext uri="{FF2B5EF4-FFF2-40B4-BE49-F238E27FC236}">
                <a16:creationId xmlns:a16="http://schemas.microsoft.com/office/drawing/2014/main" id="{DE816798-DC16-0B87-63F9-A2BD53D74654}"/>
              </a:ext>
            </a:extLst>
          </p:cNvPr>
          <p:cNvSpPr/>
          <p:nvPr/>
        </p:nvSpPr>
        <p:spPr>
          <a:xfrm flipV="1">
            <a:off x="159998" y="1859264"/>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71" name="Line">
            <a:extLst>
              <a:ext uri="{FF2B5EF4-FFF2-40B4-BE49-F238E27FC236}">
                <a16:creationId xmlns:a16="http://schemas.microsoft.com/office/drawing/2014/main" id="{D7791338-9C8C-EC99-D931-B82964DBAD04}"/>
              </a:ext>
            </a:extLst>
          </p:cNvPr>
          <p:cNvSpPr/>
          <p:nvPr/>
        </p:nvSpPr>
        <p:spPr>
          <a:xfrm>
            <a:off x="4691904" y="1851784"/>
            <a:ext cx="4490686" cy="1017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72" name="Line">
            <a:extLst>
              <a:ext uri="{FF2B5EF4-FFF2-40B4-BE49-F238E27FC236}">
                <a16:creationId xmlns:a16="http://schemas.microsoft.com/office/drawing/2014/main" id="{95198DA4-8347-156A-6C9B-4D5D6F75475F}"/>
              </a:ext>
            </a:extLst>
          </p:cNvPr>
          <p:cNvSpPr/>
          <p:nvPr/>
        </p:nvSpPr>
        <p:spPr>
          <a:xfrm flipV="1">
            <a:off x="190921" y="3689156"/>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73" name="Line">
            <a:extLst>
              <a:ext uri="{FF2B5EF4-FFF2-40B4-BE49-F238E27FC236}">
                <a16:creationId xmlns:a16="http://schemas.microsoft.com/office/drawing/2014/main" id="{B4EA7C5E-EE98-1016-3ECC-41386C405A86}"/>
              </a:ext>
            </a:extLst>
          </p:cNvPr>
          <p:cNvSpPr/>
          <p:nvPr/>
        </p:nvSpPr>
        <p:spPr>
          <a:xfrm flipV="1">
            <a:off x="132572" y="6981443"/>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74" name="Line">
            <a:extLst>
              <a:ext uri="{FF2B5EF4-FFF2-40B4-BE49-F238E27FC236}">
                <a16:creationId xmlns:a16="http://schemas.microsoft.com/office/drawing/2014/main" id="{95D6E739-7BAF-4B5C-0912-08A15939E4AF}"/>
              </a:ext>
            </a:extLst>
          </p:cNvPr>
          <p:cNvSpPr/>
          <p:nvPr/>
        </p:nvSpPr>
        <p:spPr>
          <a:xfrm flipV="1">
            <a:off x="9542306" y="5027342"/>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Tree>
    <p:extLst>
      <p:ext uri="{BB962C8B-B14F-4D97-AF65-F5344CB8AC3E}">
        <p14:creationId xmlns:p14="http://schemas.microsoft.com/office/powerpoint/2010/main" val="1743219997"/>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4C4C4C"/>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10412</TotalTime>
  <Words>5833</Words>
  <Application>Microsoft Macintosh PowerPoint</Application>
  <PresentationFormat>Custom</PresentationFormat>
  <Paragraphs>765</Paragraphs>
  <Slides>11</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Source Sans 3</vt:lpstr>
      <vt:lpstr>Avenir</vt:lpstr>
      <vt:lpstr>Helvetica Light</vt:lpstr>
      <vt:lpstr>Source Sans Pro</vt:lpstr>
      <vt:lpstr>Source Sans Pro Light</vt:lpstr>
      <vt:lpstr>Source Sans Pro Semibold</vt:lpstr>
      <vt:lpstr>White</vt:lpstr>
      <vt:lpstr>PowerPoint Presentation</vt:lpstr>
      <vt:lpstr>PowerPoint Presentation</vt:lpstr>
      <vt:lpstr>Sentiment Dataset : : CHEAT SHEET </vt:lpstr>
      <vt:lpstr>Sentiment Dataset : : CHEAT SHEET </vt:lpstr>
      <vt:lpstr>Sentiment Dataset : : CHEAT SHEET </vt:lpstr>
      <vt:lpstr>Sentiment Dataset : : CHEAT SHEET </vt:lpstr>
      <vt:lpstr>Sentiment and Emotion Datasets : : CHEAT SHEET </vt:lpstr>
      <vt:lpstr>Sentiment and Emotion Datasets : : CHEAT SHEET </vt:lpstr>
      <vt:lpstr>Sentiment and Emotion Datasets : : CHEAT SHEET </vt:lpstr>
      <vt:lpstr>Sentiment and Emotion Datasets : : CHEAT SHEET </vt:lpstr>
      <vt:lpstr>Sentiment and Emotion Datasets : : CHEAT SHEET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 Column Layout : : CHEAT SHEET </dc:title>
  <cp:lastModifiedBy>Samantha Limon</cp:lastModifiedBy>
  <cp:revision>256</cp:revision>
  <cp:lastPrinted>2026-04-17T15:14:53Z</cp:lastPrinted>
  <dcterms:modified xsi:type="dcterms:W3CDTF">2026-05-10T03:29:35Z</dcterms:modified>
</cp:coreProperties>
</file>