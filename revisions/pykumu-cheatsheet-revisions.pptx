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1" r:id="rId2"/>
    <p:sldId id="256" r:id="rId3"/>
    <p:sldId id="273" r:id="rId4"/>
    <p:sldId id="257" r:id="rId5"/>
    <p:sldId id="266" r:id="rId6"/>
    <p:sldId id="267" r:id="rId7"/>
    <p:sldId id="268" r:id="rId8"/>
    <p:sldId id="269" r:id="rId9"/>
    <p:sldId id="270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72" r:id="rId18"/>
    <p:sldId id="274" r:id="rId19"/>
    <p:sldId id="275" r:id="rId20"/>
  </p:sldIdLst>
  <p:sldSz cx="13970000" cy="10795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0365C0"/>
    <a:srgbClr val="F07D61"/>
    <a:srgbClr val="000000"/>
    <a:srgbClr val="C945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02DABC-3B2C-4A85-945C-EB104FA5F375}" v="144" dt="2026-05-01T02:28:26.8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16" autoAdjust="0"/>
    <p:restoredTop sz="96247" autoAdjust="0"/>
  </p:normalViewPr>
  <p:slideViewPr>
    <p:cSldViewPr snapToGrid="0" snapToObjects="1">
      <p:cViewPr>
        <p:scale>
          <a:sx n="60" d="100"/>
          <a:sy n="60" d="100"/>
        </p:scale>
        <p:origin x="1608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DFAA56B-215B-982C-EE06-4E79A984A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FC103C4F-6604-EDF9-99BD-55CE1E443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9675" y="685800"/>
            <a:ext cx="4438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9490BAD-7419-8C16-35FE-FF62E57398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0408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EDF7C0D-45A5-8E0F-F1EF-05E6FF21D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7A9C6BCF-4EAE-3E19-A565-F2E66BC8C1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9675" y="685800"/>
            <a:ext cx="4438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22728FBE-959D-94FA-062B-0B8485B562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880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e7806abfe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e7806abfe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b38537f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9675" y="685800"/>
            <a:ext cx="4438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b38537f4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e451a948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e451a948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ec073fcc3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ec073fcc3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ec073fcc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dec073fcc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53dded403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53dded403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45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8A2B1-2C96-A9F1-39AD-202A2C5CB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E0D72-4462-00CB-E687-601A2F06E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D2EE5-9842-AA60-DE2D-6A3460DA5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44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07C14-1DA2-0174-AA2C-F10049271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CE-17F5-675D-B4BB-BC0CB7D38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6DAC4-90E5-1AD6-E3A2-18FDE3830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001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F4310-CC3F-60F9-A621-8F9E32389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BD3B7-1632-2547-7C97-7007AFEF5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8CB02B-1DF8-DF2B-5E56-969242E3C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516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CD109-07B9-78B8-ED53-392226B8C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5AD65-7983-D809-C701-4FCADD8D6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A3BED-53F5-7DFC-7B61-5BDDAB35C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094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7EC8-FE25-6883-F5E8-A24CB2382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90B13-707A-5426-1E10-0DE3AE335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C9D7F-7CBC-3278-80E0-4D1286961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9982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0360C-80DE-37CD-5EA4-7F386EF4D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3083F-83E5-5B0A-1B20-31C201CBC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45A88-0F2B-C562-0133-1160A32EC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3782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BE63A-2B09-0221-16D1-45264FA79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43D0E-3CEA-A5D6-C808-ED8D78B33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22230-6377-8164-FA63-303415B20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333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BE63A-2B09-0221-16D1-45264FA79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43D0E-3CEA-A5D6-C808-ED8D78B33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22230-6377-8164-FA63-303415B20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33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EB9A0-235D-611B-4918-4849E23E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729E2-800D-5459-B62E-2FD7ACFF6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F10DA3-EEB3-74C6-FC32-D36EA2AAA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34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364257" y="1918642"/>
            <a:ext cx="11241486" cy="354707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5561210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725786" y="840878"/>
            <a:ext cx="10504786" cy="635744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creativecommons.org/licenses/by-sa/4.0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creativecommons.org/licenses/by-sa/4.0/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creativecommons.org/licenses/by-sa/4.0/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creativecommons.org/licenses/by-sa/4.0/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creativecommons.org/licenses/by-sa/4.0/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creativecommons.org/licenses/by-sa/4.0/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creativecommons.org/licenses/by-sa/4.0/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creativecommons.org/licenses/by-sa/4.0/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creativecommons.org/licenses/by-sa/4.0/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creativecommons.org/licenses/by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299383C-7D17-9AE7-CC5F-083B3E41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4134FBEB-EE26-08D1-C30E-712A46644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0" y="520700"/>
            <a:ext cx="12192000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93920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42698" y="1706236"/>
            <a:ext cx="4524667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750">
                <a:solidFill>
                  <a:srgbClr val="595959"/>
                </a:solidFill>
              </a:rPr>
              <a:t>Diagram</a:t>
            </a:r>
            <a:endParaRPr sz="2750">
              <a:solidFill>
                <a:srgbClr val="595959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70243" y="1823302"/>
            <a:ext cx="2852667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750">
                <a:solidFill>
                  <a:srgbClr val="595959"/>
                </a:solidFill>
              </a:rPr>
              <a:t>About</a:t>
            </a:r>
            <a:endParaRPr sz="2750">
              <a:solidFill>
                <a:srgbClr val="595959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0046819" y="6426382"/>
            <a:ext cx="532125" cy="532125"/>
          </a:xfrm>
          <a:prstGeom prst="ellipse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833"/>
          </a:p>
        </p:txBody>
      </p:sp>
      <p:sp>
        <p:nvSpPr>
          <p:cNvPr id="57" name="Google Shape;57;p13"/>
          <p:cNvSpPr/>
          <p:nvPr/>
        </p:nvSpPr>
        <p:spPr>
          <a:xfrm>
            <a:off x="11308191" y="7274222"/>
            <a:ext cx="532125" cy="532125"/>
          </a:xfrm>
          <a:prstGeom prst="ellipse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833"/>
          </a:p>
        </p:txBody>
      </p:sp>
      <p:sp>
        <p:nvSpPr>
          <p:cNvPr id="58" name="Google Shape;58;p13"/>
          <p:cNvSpPr/>
          <p:nvPr/>
        </p:nvSpPr>
        <p:spPr>
          <a:xfrm>
            <a:off x="9950569" y="7839653"/>
            <a:ext cx="532125" cy="532125"/>
          </a:xfrm>
          <a:prstGeom prst="ellipse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833"/>
          </a:p>
        </p:txBody>
      </p:sp>
      <p:cxnSp>
        <p:nvCxnSpPr>
          <p:cNvPr id="59" name="Google Shape;59;p13"/>
          <p:cNvCxnSpPr>
            <a:stCxn id="56" idx="5"/>
            <a:endCxn id="57" idx="1"/>
          </p:cNvCxnSpPr>
          <p:nvPr/>
        </p:nvCxnSpPr>
        <p:spPr>
          <a:xfrm>
            <a:off x="10501017" y="6880580"/>
            <a:ext cx="885042" cy="47162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60;p13"/>
          <p:cNvCxnSpPr>
            <a:stCxn id="56" idx="4"/>
            <a:endCxn id="58" idx="0"/>
          </p:cNvCxnSpPr>
          <p:nvPr/>
        </p:nvCxnSpPr>
        <p:spPr>
          <a:xfrm flipH="1">
            <a:off x="10216632" y="6958507"/>
            <a:ext cx="96250" cy="88137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61;p13"/>
          <p:cNvCxnSpPr>
            <a:stCxn id="58" idx="6"/>
            <a:endCxn id="57" idx="3"/>
          </p:cNvCxnSpPr>
          <p:nvPr/>
        </p:nvCxnSpPr>
        <p:spPr>
          <a:xfrm rot="10800000" flipH="1">
            <a:off x="10482694" y="7728507"/>
            <a:ext cx="903375" cy="37720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3"/>
          <p:cNvSpPr txBox="1"/>
          <p:nvPr/>
        </p:nvSpPr>
        <p:spPr>
          <a:xfrm>
            <a:off x="9571228" y="4977552"/>
            <a:ext cx="3762000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750">
                <a:solidFill>
                  <a:srgbClr val="595959"/>
                </a:solidFill>
              </a:rPr>
              <a:t>Causal Graph Visualization </a:t>
            </a:r>
            <a:endParaRPr sz="2750">
              <a:solidFill>
                <a:srgbClr val="595959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21781" y="4223117"/>
            <a:ext cx="3762000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750">
                <a:solidFill>
                  <a:srgbClr val="595959"/>
                </a:solidFill>
              </a:rPr>
              <a:t>Project Config</a:t>
            </a:r>
            <a:endParaRPr sz="2750">
              <a:solidFill>
                <a:srgbClr val="595959"/>
              </a:solidFill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583861" y="4927745"/>
            <a:ext cx="2879976" cy="333208"/>
          </a:xfrm>
          <a:custGeom>
            <a:avLst/>
            <a:gdLst/>
            <a:ahLst/>
            <a:cxnLst/>
            <a:rect l="l" t="t" r="r" b="b"/>
            <a:pathLst>
              <a:path w="75403" h="8724" extrusionOk="0">
                <a:moveTo>
                  <a:pt x="0" y="5974"/>
                </a:moveTo>
                <a:cubicBezTo>
                  <a:pt x="1858" y="4116"/>
                  <a:pt x="4258" y="1454"/>
                  <a:pt x="6823" y="2024"/>
                </a:cubicBezTo>
                <a:cubicBezTo>
                  <a:pt x="9160" y="2543"/>
                  <a:pt x="8990" y="8839"/>
                  <a:pt x="11131" y="7769"/>
                </a:cubicBezTo>
                <a:cubicBezTo>
                  <a:pt x="14092" y="6289"/>
                  <a:pt x="14633" y="-1251"/>
                  <a:pt x="17594" y="229"/>
                </a:cubicBezTo>
                <a:cubicBezTo>
                  <a:pt x="20422" y="1643"/>
                  <a:pt x="19326" y="7313"/>
                  <a:pt x="22262" y="8487"/>
                </a:cubicBezTo>
                <a:cubicBezTo>
                  <a:pt x="24640" y="9438"/>
                  <a:pt x="25805" y="3819"/>
                  <a:pt x="28366" y="3819"/>
                </a:cubicBezTo>
                <a:cubicBezTo>
                  <a:pt x="30404" y="3819"/>
                  <a:pt x="31016" y="8057"/>
                  <a:pt x="33034" y="7769"/>
                </a:cubicBezTo>
                <a:cubicBezTo>
                  <a:pt x="41264" y="6594"/>
                  <a:pt x="49608" y="3530"/>
                  <a:pt x="57809" y="4897"/>
                </a:cubicBezTo>
                <a:cubicBezTo>
                  <a:pt x="59702" y="5212"/>
                  <a:pt x="61772" y="4544"/>
                  <a:pt x="63554" y="5256"/>
                </a:cubicBezTo>
                <a:cubicBezTo>
                  <a:pt x="64735" y="5728"/>
                  <a:pt x="64860" y="8530"/>
                  <a:pt x="66067" y="8128"/>
                </a:cubicBezTo>
                <a:cubicBezTo>
                  <a:pt x="68053" y="7466"/>
                  <a:pt x="69400" y="5308"/>
                  <a:pt x="71453" y="4897"/>
                </a:cubicBezTo>
                <a:cubicBezTo>
                  <a:pt x="72749" y="4638"/>
                  <a:pt x="74467" y="6190"/>
                  <a:pt x="75403" y="5256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" name="Google Shape;65;p13"/>
          <p:cNvSpPr/>
          <p:nvPr/>
        </p:nvSpPr>
        <p:spPr>
          <a:xfrm>
            <a:off x="583861" y="5475454"/>
            <a:ext cx="2879976" cy="333208"/>
          </a:xfrm>
          <a:custGeom>
            <a:avLst/>
            <a:gdLst/>
            <a:ahLst/>
            <a:cxnLst/>
            <a:rect l="l" t="t" r="r" b="b"/>
            <a:pathLst>
              <a:path w="75403" h="8724" extrusionOk="0">
                <a:moveTo>
                  <a:pt x="0" y="5974"/>
                </a:moveTo>
                <a:cubicBezTo>
                  <a:pt x="1858" y="4116"/>
                  <a:pt x="4258" y="1454"/>
                  <a:pt x="6823" y="2024"/>
                </a:cubicBezTo>
                <a:cubicBezTo>
                  <a:pt x="9160" y="2543"/>
                  <a:pt x="8990" y="8839"/>
                  <a:pt x="11131" y="7769"/>
                </a:cubicBezTo>
                <a:cubicBezTo>
                  <a:pt x="14092" y="6289"/>
                  <a:pt x="14633" y="-1251"/>
                  <a:pt x="17594" y="229"/>
                </a:cubicBezTo>
                <a:cubicBezTo>
                  <a:pt x="20422" y="1643"/>
                  <a:pt x="19326" y="7313"/>
                  <a:pt x="22262" y="8487"/>
                </a:cubicBezTo>
                <a:cubicBezTo>
                  <a:pt x="24640" y="9438"/>
                  <a:pt x="25805" y="3819"/>
                  <a:pt x="28366" y="3819"/>
                </a:cubicBezTo>
                <a:cubicBezTo>
                  <a:pt x="30404" y="3819"/>
                  <a:pt x="31016" y="8057"/>
                  <a:pt x="33034" y="7769"/>
                </a:cubicBezTo>
                <a:cubicBezTo>
                  <a:pt x="41264" y="6594"/>
                  <a:pt x="49608" y="3530"/>
                  <a:pt x="57809" y="4897"/>
                </a:cubicBezTo>
                <a:cubicBezTo>
                  <a:pt x="59702" y="5212"/>
                  <a:pt x="61772" y="4544"/>
                  <a:pt x="63554" y="5256"/>
                </a:cubicBezTo>
                <a:cubicBezTo>
                  <a:pt x="64735" y="5728"/>
                  <a:pt x="64860" y="8530"/>
                  <a:pt x="66067" y="8128"/>
                </a:cubicBezTo>
                <a:cubicBezTo>
                  <a:pt x="68053" y="7466"/>
                  <a:pt x="69400" y="5308"/>
                  <a:pt x="71453" y="4897"/>
                </a:cubicBezTo>
                <a:cubicBezTo>
                  <a:pt x="72749" y="4638"/>
                  <a:pt x="74467" y="6190"/>
                  <a:pt x="75403" y="5256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6" name="Google Shape;66;p13"/>
          <p:cNvSpPr/>
          <p:nvPr/>
        </p:nvSpPr>
        <p:spPr>
          <a:xfrm>
            <a:off x="556570" y="6023162"/>
            <a:ext cx="2879976" cy="333208"/>
          </a:xfrm>
          <a:custGeom>
            <a:avLst/>
            <a:gdLst/>
            <a:ahLst/>
            <a:cxnLst/>
            <a:rect l="l" t="t" r="r" b="b"/>
            <a:pathLst>
              <a:path w="75403" h="8724" extrusionOk="0">
                <a:moveTo>
                  <a:pt x="0" y="5974"/>
                </a:moveTo>
                <a:cubicBezTo>
                  <a:pt x="1858" y="4116"/>
                  <a:pt x="4258" y="1454"/>
                  <a:pt x="6823" y="2024"/>
                </a:cubicBezTo>
                <a:cubicBezTo>
                  <a:pt x="9160" y="2543"/>
                  <a:pt x="8990" y="8839"/>
                  <a:pt x="11131" y="7769"/>
                </a:cubicBezTo>
                <a:cubicBezTo>
                  <a:pt x="14092" y="6289"/>
                  <a:pt x="14633" y="-1251"/>
                  <a:pt x="17594" y="229"/>
                </a:cubicBezTo>
                <a:cubicBezTo>
                  <a:pt x="20422" y="1643"/>
                  <a:pt x="19326" y="7313"/>
                  <a:pt x="22262" y="8487"/>
                </a:cubicBezTo>
                <a:cubicBezTo>
                  <a:pt x="24640" y="9438"/>
                  <a:pt x="25805" y="3819"/>
                  <a:pt x="28366" y="3819"/>
                </a:cubicBezTo>
                <a:cubicBezTo>
                  <a:pt x="30404" y="3819"/>
                  <a:pt x="31016" y="8057"/>
                  <a:pt x="33034" y="7769"/>
                </a:cubicBezTo>
                <a:cubicBezTo>
                  <a:pt x="41264" y="6594"/>
                  <a:pt x="49608" y="3530"/>
                  <a:pt x="57809" y="4897"/>
                </a:cubicBezTo>
                <a:cubicBezTo>
                  <a:pt x="59702" y="5212"/>
                  <a:pt x="61772" y="4544"/>
                  <a:pt x="63554" y="5256"/>
                </a:cubicBezTo>
                <a:cubicBezTo>
                  <a:pt x="64735" y="5728"/>
                  <a:pt x="64860" y="8530"/>
                  <a:pt x="66067" y="8128"/>
                </a:cubicBezTo>
                <a:cubicBezTo>
                  <a:pt x="68053" y="7466"/>
                  <a:pt x="69400" y="5308"/>
                  <a:pt x="71453" y="4897"/>
                </a:cubicBezTo>
                <a:cubicBezTo>
                  <a:pt x="72749" y="4638"/>
                  <a:pt x="74467" y="6190"/>
                  <a:pt x="75403" y="5256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7" name="Google Shape;67;p13"/>
          <p:cNvSpPr txBox="1"/>
          <p:nvPr/>
        </p:nvSpPr>
        <p:spPr>
          <a:xfrm>
            <a:off x="510736" y="6622950"/>
            <a:ext cx="3762000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750">
                <a:solidFill>
                  <a:srgbClr val="595959"/>
                </a:solidFill>
              </a:rPr>
              <a:t>Folder Organization</a:t>
            </a:r>
            <a:endParaRPr sz="2750">
              <a:solidFill>
                <a:srgbClr val="595959"/>
              </a:solidFill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672816" y="7327579"/>
            <a:ext cx="2879976" cy="333208"/>
          </a:xfrm>
          <a:custGeom>
            <a:avLst/>
            <a:gdLst/>
            <a:ahLst/>
            <a:cxnLst/>
            <a:rect l="l" t="t" r="r" b="b"/>
            <a:pathLst>
              <a:path w="75403" h="8724" extrusionOk="0">
                <a:moveTo>
                  <a:pt x="0" y="5974"/>
                </a:moveTo>
                <a:cubicBezTo>
                  <a:pt x="1858" y="4116"/>
                  <a:pt x="4258" y="1454"/>
                  <a:pt x="6823" y="2024"/>
                </a:cubicBezTo>
                <a:cubicBezTo>
                  <a:pt x="9160" y="2543"/>
                  <a:pt x="8990" y="8839"/>
                  <a:pt x="11131" y="7769"/>
                </a:cubicBezTo>
                <a:cubicBezTo>
                  <a:pt x="14092" y="6289"/>
                  <a:pt x="14633" y="-1251"/>
                  <a:pt x="17594" y="229"/>
                </a:cubicBezTo>
                <a:cubicBezTo>
                  <a:pt x="20422" y="1643"/>
                  <a:pt x="19326" y="7313"/>
                  <a:pt x="22262" y="8487"/>
                </a:cubicBezTo>
                <a:cubicBezTo>
                  <a:pt x="24640" y="9438"/>
                  <a:pt x="25805" y="3819"/>
                  <a:pt x="28366" y="3819"/>
                </a:cubicBezTo>
                <a:cubicBezTo>
                  <a:pt x="30404" y="3819"/>
                  <a:pt x="31016" y="8057"/>
                  <a:pt x="33034" y="7769"/>
                </a:cubicBezTo>
                <a:cubicBezTo>
                  <a:pt x="41264" y="6594"/>
                  <a:pt x="49608" y="3530"/>
                  <a:pt x="57809" y="4897"/>
                </a:cubicBezTo>
                <a:cubicBezTo>
                  <a:pt x="59702" y="5212"/>
                  <a:pt x="61772" y="4544"/>
                  <a:pt x="63554" y="5256"/>
                </a:cubicBezTo>
                <a:cubicBezTo>
                  <a:pt x="64735" y="5728"/>
                  <a:pt x="64860" y="8530"/>
                  <a:pt x="66067" y="8128"/>
                </a:cubicBezTo>
                <a:cubicBezTo>
                  <a:pt x="68053" y="7466"/>
                  <a:pt x="69400" y="5308"/>
                  <a:pt x="71453" y="4897"/>
                </a:cubicBezTo>
                <a:cubicBezTo>
                  <a:pt x="72749" y="4638"/>
                  <a:pt x="74467" y="6190"/>
                  <a:pt x="75403" y="5256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9" name="Google Shape;69;p13"/>
          <p:cNvSpPr/>
          <p:nvPr/>
        </p:nvSpPr>
        <p:spPr>
          <a:xfrm>
            <a:off x="672816" y="7875287"/>
            <a:ext cx="2879976" cy="333208"/>
          </a:xfrm>
          <a:custGeom>
            <a:avLst/>
            <a:gdLst/>
            <a:ahLst/>
            <a:cxnLst/>
            <a:rect l="l" t="t" r="r" b="b"/>
            <a:pathLst>
              <a:path w="75403" h="8724" extrusionOk="0">
                <a:moveTo>
                  <a:pt x="0" y="5974"/>
                </a:moveTo>
                <a:cubicBezTo>
                  <a:pt x="1858" y="4116"/>
                  <a:pt x="4258" y="1454"/>
                  <a:pt x="6823" y="2024"/>
                </a:cubicBezTo>
                <a:cubicBezTo>
                  <a:pt x="9160" y="2543"/>
                  <a:pt x="8990" y="8839"/>
                  <a:pt x="11131" y="7769"/>
                </a:cubicBezTo>
                <a:cubicBezTo>
                  <a:pt x="14092" y="6289"/>
                  <a:pt x="14633" y="-1251"/>
                  <a:pt x="17594" y="229"/>
                </a:cubicBezTo>
                <a:cubicBezTo>
                  <a:pt x="20422" y="1643"/>
                  <a:pt x="19326" y="7313"/>
                  <a:pt x="22262" y="8487"/>
                </a:cubicBezTo>
                <a:cubicBezTo>
                  <a:pt x="24640" y="9438"/>
                  <a:pt x="25805" y="3819"/>
                  <a:pt x="28366" y="3819"/>
                </a:cubicBezTo>
                <a:cubicBezTo>
                  <a:pt x="30404" y="3819"/>
                  <a:pt x="31016" y="8057"/>
                  <a:pt x="33034" y="7769"/>
                </a:cubicBezTo>
                <a:cubicBezTo>
                  <a:pt x="41264" y="6594"/>
                  <a:pt x="49608" y="3530"/>
                  <a:pt x="57809" y="4897"/>
                </a:cubicBezTo>
                <a:cubicBezTo>
                  <a:pt x="59702" y="5212"/>
                  <a:pt x="61772" y="4544"/>
                  <a:pt x="63554" y="5256"/>
                </a:cubicBezTo>
                <a:cubicBezTo>
                  <a:pt x="64735" y="5728"/>
                  <a:pt x="64860" y="8530"/>
                  <a:pt x="66067" y="8128"/>
                </a:cubicBezTo>
                <a:cubicBezTo>
                  <a:pt x="68053" y="7466"/>
                  <a:pt x="69400" y="5308"/>
                  <a:pt x="71453" y="4897"/>
                </a:cubicBezTo>
                <a:cubicBezTo>
                  <a:pt x="72749" y="4638"/>
                  <a:pt x="74467" y="6190"/>
                  <a:pt x="75403" y="5256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0" name="Google Shape;70;p13"/>
          <p:cNvSpPr/>
          <p:nvPr/>
        </p:nvSpPr>
        <p:spPr>
          <a:xfrm>
            <a:off x="645525" y="8422995"/>
            <a:ext cx="2879976" cy="333208"/>
          </a:xfrm>
          <a:custGeom>
            <a:avLst/>
            <a:gdLst/>
            <a:ahLst/>
            <a:cxnLst/>
            <a:rect l="l" t="t" r="r" b="b"/>
            <a:pathLst>
              <a:path w="75403" h="8724" extrusionOk="0">
                <a:moveTo>
                  <a:pt x="0" y="5974"/>
                </a:moveTo>
                <a:cubicBezTo>
                  <a:pt x="1858" y="4116"/>
                  <a:pt x="4258" y="1454"/>
                  <a:pt x="6823" y="2024"/>
                </a:cubicBezTo>
                <a:cubicBezTo>
                  <a:pt x="9160" y="2543"/>
                  <a:pt x="8990" y="8839"/>
                  <a:pt x="11131" y="7769"/>
                </a:cubicBezTo>
                <a:cubicBezTo>
                  <a:pt x="14092" y="6289"/>
                  <a:pt x="14633" y="-1251"/>
                  <a:pt x="17594" y="229"/>
                </a:cubicBezTo>
                <a:cubicBezTo>
                  <a:pt x="20422" y="1643"/>
                  <a:pt x="19326" y="7313"/>
                  <a:pt x="22262" y="8487"/>
                </a:cubicBezTo>
                <a:cubicBezTo>
                  <a:pt x="24640" y="9438"/>
                  <a:pt x="25805" y="3819"/>
                  <a:pt x="28366" y="3819"/>
                </a:cubicBezTo>
                <a:cubicBezTo>
                  <a:pt x="30404" y="3819"/>
                  <a:pt x="31016" y="8057"/>
                  <a:pt x="33034" y="7769"/>
                </a:cubicBezTo>
                <a:cubicBezTo>
                  <a:pt x="41264" y="6594"/>
                  <a:pt x="49608" y="3530"/>
                  <a:pt x="57809" y="4897"/>
                </a:cubicBezTo>
                <a:cubicBezTo>
                  <a:pt x="59702" y="5212"/>
                  <a:pt x="61772" y="4544"/>
                  <a:pt x="63554" y="5256"/>
                </a:cubicBezTo>
                <a:cubicBezTo>
                  <a:pt x="64735" y="5728"/>
                  <a:pt x="64860" y="8530"/>
                  <a:pt x="66067" y="8128"/>
                </a:cubicBezTo>
                <a:cubicBezTo>
                  <a:pt x="68053" y="7466"/>
                  <a:pt x="69400" y="5308"/>
                  <a:pt x="71453" y="4897"/>
                </a:cubicBezTo>
                <a:cubicBezTo>
                  <a:pt x="72749" y="4638"/>
                  <a:pt x="74467" y="6190"/>
                  <a:pt x="75403" y="5256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13"/>
          <p:cNvSpPr txBox="1"/>
          <p:nvPr/>
        </p:nvSpPr>
        <p:spPr>
          <a:xfrm>
            <a:off x="4786146" y="5672805"/>
            <a:ext cx="4169000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750">
                <a:solidFill>
                  <a:srgbClr val="595959"/>
                </a:solidFill>
              </a:rPr>
              <a:t>End-to-End Workflow </a:t>
            </a:r>
            <a:endParaRPr sz="2750">
              <a:solidFill>
                <a:srgbClr val="595959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9543913" y="1823302"/>
            <a:ext cx="4169000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750">
                <a:solidFill>
                  <a:srgbClr val="595959"/>
                </a:solidFill>
              </a:rPr>
              <a:t>Command Line Interface</a:t>
            </a:r>
            <a:endParaRPr sz="2750">
              <a:solidFill>
                <a:srgbClr val="595959"/>
              </a:solidFill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9571223" y="2453280"/>
            <a:ext cx="2879976" cy="333208"/>
          </a:xfrm>
          <a:custGeom>
            <a:avLst/>
            <a:gdLst/>
            <a:ahLst/>
            <a:cxnLst/>
            <a:rect l="l" t="t" r="r" b="b"/>
            <a:pathLst>
              <a:path w="75403" h="8724" extrusionOk="0">
                <a:moveTo>
                  <a:pt x="0" y="5974"/>
                </a:moveTo>
                <a:cubicBezTo>
                  <a:pt x="1858" y="4116"/>
                  <a:pt x="4258" y="1454"/>
                  <a:pt x="6823" y="2024"/>
                </a:cubicBezTo>
                <a:cubicBezTo>
                  <a:pt x="9160" y="2543"/>
                  <a:pt x="8990" y="8839"/>
                  <a:pt x="11131" y="7769"/>
                </a:cubicBezTo>
                <a:cubicBezTo>
                  <a:pt x="14092" y="6289"/>
                  <a:pt x="14633" y="-1251"/>
                  <a:pt x="17594" y="229"/>
                </a:cubicBezTo>
                <a:cubicBezTo>
                  <a:pt x="20422" y="1643"/>
                  <a:pt x="19326" y="7313"/>
                  <a:pt x="22262" y="8487"/>
                </a:cubicBezTo>
                <a:cubicBezTo>
                  <a:pt x="24640" y="9438"/>
                  <a:pt x="25805" y="3819"/>
                  <a:pt x="28366" y="3819"/>
                </a:cubicBezTo>
                <a:cubicBezTo>
                  <a:pt x="30404" y="3819"/>
                  <a:pt x="31016" y="8057"/>
                  <a:pt x="33034" y="7769"/>
                </a:cubicBezTo>
                <a:cubicBezTo>
                  <a:pt x="41264" y="6594"/>
                  <a:pt x="49608" y="3530"/>
                  <a:pt x="57809" y="4897"/>
                </a:cubicBezTo>
                <a:cubicBezTo>
                  <a:pt x="59702" y="5212"/>
                  <a:pt x="61772" y="4544"/>
                  <a:pt x="63554" y="5256"/>
                </a:cubicBezTo>
                <a:cubicBezTo>
                  <a:pt x="64735" y="5728"/>
                  <a:pt x="64860" y="8530"/>
                  <a:pt x="66067" y="8128"/>
                </a:cubicBezTo>
                <a:cubicBezTo>
                  <a:pt x="68053" y="7466"/>
                  <a:pt x="69400" y="5308"/>
                  <a:pt x="71453" y="4897"/>
                </a:cubicBezTo>
                <a:cubicBezTo>
                  <a:pt x="72749" y="4638"/>
                  <a:pt x="74467" y="6190"/>
                  <a:pt x="75403" y="5256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" name="Google Shape;74;p13"/>
          <p:cNvSpPr/>
          <p:nvPr/>
        </p:nvSpPr>
        <p:spPr>
          <a:xfrm>
            <a:off x="9571223" y="2919252"/>
            <a:ext cx="2879976" cy="333208"/>
          </a:xfrm>
          <a:custGeom>
            <a:avLst/>
            <a:gdLst/>
            <a:ahLst/>
            <a:cxnLst/>
            <a:rect l="l" t="t" r="r" b="b"/>
            <a:pathLst>
              <a:path w="75403" h="8724" extrusionOk="0">
                <a:moveTo>
                  <a:pt x="0" y="5974"/>
                </a:moveTo>
                <a:cubicBezTo>
                  <a:pt x="1858" y="4116"/>
                  <a:pt x="4258" y="1454"/>
                  <a:pt x="6823" y="2024"/>
                </a:cubicBezTo>
                <a:cubicBezTo>
                  <a:pt x="9160" y="2543"/>
                  <a:pt x="8990" y="8839"/>
                  <a:pt x="11131" y="7769"/>
                </a:cubicBezTo>
                <a:cubicBezTo>
                  <a:pt x="14092" y="6289"/>
                  <a:pt x="14633" y="-1251"/>
                  <a:pt x="17594" y="229"/>
                </a:cubicBezTo>
                <a:cubicBezTo>
                  <a:pt x="20422" y="1643"/>
                  <a:pt x="19326" y="7313"/>
                  <a:pt x="22262" y="8487"/>
                </a:cubicBezTo>
                <a:cubicBezTo>
                  <a:pt x="24640" y="9438"/>
                  <a:pt x="25805" y="3819"/>
                  <a:pt x="28366" y="3819"/>
                </a:cubicBezTo>
                <a:cubicBezTo>
                  <a:pt x="30404" y="3819"/>
                  <a:pt x="31016" y="8057"/>
                  <a:pt x="33034" y="7769"/>
                </a:cubicBezTo>
                <a:cubicBezTo>
                  <a:pt x="41264" y="6594"/>
                  <a:pt x="49608" y="3530"/>
                  <a:pt x="57809" y="4897"/>
                </a:cubicBezTo>
                <a:cubicBezTo>
                  <a:pt x="59702" y="5212"/>
                  <a:pt x="61772" y="4544"/>
                  <a:pt x="63554" y="5256"/>
                </a:cubicBezTo>
                <a:cubicBezTo>
                  <a:pt x="64735" y="5728"/>
                  <a:pt x="64860" y="8530"/>
                  <a:pt x="66067" y="8128"/>
                </a:cubicBezTo>
                <a:cubicBezTo>
                  <a:pt x="68053" y="7466"/>
                  <a:pt x="69400" y="5308"/>
                  <a:pt x="71453" y="4897"/>
                </a:cubicBezTo>
                <a:cubicBezTo>
                  <a:pt x="72749" y="4638"/>
                  <a:pt x="74467" y="6190"/>
                  <a:pt x="75403" y="5256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5" name="Google Shape;75;p13"/>
          <p:cNvSpPr/>
          <p:nvPr/>
        </p:nvSpPr>
        <p:spPr>
          <a:xfrm>
            <a:off x="9571223" y="3385224"/>
            <a:ext cx="2879976" cy="333208"/>
          </a:xfrm>
          <a:custGeom>
            <a:avLst/>
            <a:gdLst/>
            <a:ahLst/>
            <a:cxnLst/>
            <a:rect l="l" t="t" r="r" b="b"/>
            <a:pathLst>
              <a:path w="75403" h="8724" extrusionOk="0">
                <a:moveTo>
                  <a:pt x="0" y="5974"/>
                </a:moveTo>
                <a:cubicBezTo>
                  <a:pt x="1858" y="4116"/>
                  <a:pt x="4258" y="1454"/>
                  <a:pt x="6823" y="2024"/>
                </a:cubicBezTo>
                <a:cubicBezTo>
                  <a:pt x="9160" y="2543"/>
                  <a:pt x="8990" y="8839"/>
                  <a:pt x="11131" y="7769"/>
                </a:cubicBezTo>
                <a:cubicBezTo>
                  <a:pt x="14092" y="6289"/>
                  <a:pt x="14633" y="-1251"/>
                  <a:pt x="17594" y="229"/>
                </a:cubicBezTo>
                <a:cubicBezTo>
                  <a:pt x="20422" y="1643"/>
                  <a:pt x="19326" y="7313"/>
                  <a:pt x="22262" y="8487"/>
                </a:cubicBezTo>
                <a:cubicBezTo>
                  <a:pt x="24640" y="9438"/>
                  <a:pt x="25805" y="3819"/>
                  <a:pt x="28366" y="3819"/>
                </a:cubicBezTo>
                <a:cubicBezTo>
                  <a:pt x="30404" y="3819"/>
                  <a:pt x="31016" y="8057"/>
                  <a:pt x="33034" y="7769"/>
                </a:cubicBezTo>
                <a:cubicBezTo>
                  <a:pt x="41264" y="6594"/>
                  <a:pt x="49608" y="3530"/>
                  <a:pt x="57809" y="4897"/>
                </a:cubicBezTo>
                <a:cubicBezTo>
                  <a:pt x="59702" y="5212"/>
                  <a:pt x="61772" y="4544"/>
                  <a:pt x="63554" y="5256"/>
                </a:cubicBezTo>
                <a:cubicBezTo>
                  <a:pt x="64735" y="5728"/>
                  <a:pt x="64860" y="8530"/>
                  <a:pt x="66067" y="8128"/>
                </a:cubicBezTo>
                <a:cubicBezTo>
                  <a:pt x="68053" y="7466"/>
                  <a:pt x="69400" y="5308"/>
                  <a:pt x="71453" y="4897"/>
                </a:cubicBezTo>
                <a:cubicBezTo>
                  <a:pt x="72749" y="4638"/>
                  <a:pt x="74467" y="6190"/>
                  <a:pt x="75403" y="5256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6" name="Google Shape;76;p13"/>
          <p:cNvSpPr/>
          <p:nvPr/>
        </p:nvSpPr>
        <p:spPr>
          <a:xfrm>
            <a:off x="9543914" y="3851197"/>
            <a:ext cx="2879976" cy="333208"/>
          </a:xfrm>
          <a:custGeom>
            <a:avLst/>
            <a:gdLst/>
            <a:ahLst/>
            <a:cxnLst/>
            <a:rect l="l" t="t" r="r" b="b"/>
            <a:pathLst>
              <a:path w="75403" h="8724" extrusionOk="0">
                <a:moveTo>
                  <a:pt x="0" y="5974"/>
                </a:moveTo>
                <a:cubicBezTo>
                  <a:pt x="1858" y="4116"/>
                  <a:pt x="4258" y="1454"/>
                  <a:pt x="6823" y="2024"/>
                </a:cubicBezTo>
                <a:cubicBezTo>
                  <a:pt x="9160" y="2543"/>
                  <a:pt x="8990" y="8839"/>
                  <a:pt x="11131" y="7769"/>
                </a:cubicBezTo>
                <a:cubicBezTo>
                  <a:pt x="14092" y="6289"/>
                  <a:pt x="14633" y="-1251"/>
                  <a:pt x="17594" y="229"/>
                </a:cubicBezTo>
                <a:cubicBezTo>
                  <a:pt x="20422" y="1643"/>
                  <a:pt x="19326" y="7313"/>
                  <a:pt x="22262" y="8487"/>
                </a:cubicBezTo>
                <a:cubicBezTo>
                  <a:pt x="24640" y="9438"/>
                  <a:pt x="25805" y="3819"/>
                  <a:pt x="28366" y="3819"/>
                </a:cubicBezTo>
                <a:cubicBezTo>
                  <a:pt x="30404" y="3819"/>
                  <a:pt x="31016" y="8057"/>
                  <a:pt x="33034" y="7769"/>
                </a:cubicBezTo>
                <a:cubicBezTo>
                  <a:pt x="41264" y="6594"/>
                  <a:pt x="49608" y="3530"/>
                  <a:pt x="57809" y="4897"/>
                </a:cubicBezTo>
                <a:cubicBezTo>
                  <a:pt x="59702" y="5212"/>
                  <a:pt x="61772" y="4544"/>
                  <a:pt x="63554" y="5256"/>
                </a:cubicBezTo>
                <a:cubicBezTo>
                  <a:pt x="64735" y="5728"/>
                  <a:pt x="64860" y="8530"/>
                  <a:pt x="66067" y="8128"/>
                </a:cubicBezTo>
                <a:cubicBezTo>
                  <a:pt x="68053" y="7466"/>
                  <a:pt x="69400" y="5308"/>
                  <a:pt x="71453" y="4897"/>
                </a:cubicBezTo>
                <a:cubicBezTo>
                  <a:pt x="72749" y="4638"/>
                  <a:pt x="74467" y="6190"/>
                  <a:pt x="75403" y="5256"/>
                </a:cubicBezTo>
              </a:path>
            </a:pathLst>
          </a:cu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7" name="Google Shape;77;p13"/>
          <p:cNvSpPr txBox="1"/>
          <p:nvPr/>
        </p:nvSpPr>
        <p:spPr>
          <a:xfrm>
            <a:off x="421781" y="2460653"/>
            <a:ext cx="4205208" cy="122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" sz="1528">
                <a:solidFill>
                  <a:srgbClr val="595959"/>
                </a:solidFill>
              </a:rPr>
              <a:t>Pykumu is a Python module that serves as a wrapper over the Tetrad Java API (via JPype), providing an interface for causal discovery algorithms.</a:t>
            </a:r>
            <a:endParaRPr sz="1528">
              <a:solidFill>
                <a:srgbClr val="595959"/>
              </a:solidFill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-3425049" y="2409014"/>
            <a:ext cx="2519917" cy="113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750">
                <a:solidFill>
                  <a:schemeClr val="dk2"/>
                </a:solidFill>
              </a:rPr>
              <a:t>Iteration 1</a:t>
            </a:r>
            <a:endParaRPr sz="275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1692630-2E25-26E0-CAFB-765243D0C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2BBF8D2-CBF4-300D-E247-8F0B27F93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963" y="0"/>
            <a:ext cx="8474075" cy="1079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8355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/>
          <p:nvPr/>
        </p:nvSpPr>
        <p:spPr>
          <a:xfrm>
            <a:off x="4510326" y="6880438"/>
            <a:ext cx="1133458" cy="1267750"/>
          </a:xfrm>
          <a:prstGeom prst="cube">
            <a:avLst>
              <a:gd name="adj" fmla="val 25000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149"/>
              <a:t> </a:t>
            </a:r>
            <a:endParaRPr sz="1149"/>
          </a:p>
        </p:txBody>
      </p:sp>
      <p:sp>
        <p:nvSpPr>
          <p:cNvPr id="84" name="Google Shape;84;p14"/>
          <p:cNvSpPr txBox="1"/>
          <p:nvPr/>
        </p:nvSpPr>
        <p:spPr>
          <a:xfrm>
            <a:off x="3860771" y="5006103"/>
            <a:ext cx="6084375" cy="55504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t" anchorCtr="0">
            <a:noAutofit/>
          </a:bodyPr>
          <a:lstStyle/>
          <a:p>
            <a:pPr algn="ctr">
              <a:spcBef>
                <a:spcPts val="0"/>
              </a:spcBef>
            </a:pPr>
            <a:endParaRPr sz="1477">
              <a:solidFill>
                <a:schemeClr val="dk1"/>
              </a:solidFill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453559" y="1921997"/>
            <a:ext cx="13288917" cy="16857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546">
                <a:solidFill>
                  <a:schemeClr val="dk1"/>
                </a:solidFill>
              </a:rPr>
              <a:t>Causal Analysis Workflow</a:t>
            </a:r>
            <a:endParaRPr sz="1546">
              <a:solidFill>
                <a:schemeClr val="dk1"/>
              </a:solidFill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726298" y="2471595"/>
            <a:ext cx="923083" cy="671917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5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771" tIns="87771" rIns="87771" bIns="87771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152"/>
              <a:t>Data Prep</a:t>
            </a:r>
            <a:endParaRPr sz="1152"/>
          </a:p>
        </p:txBody>
      </p:sp>
      <p:sp>
        <p:nvSpPr>
          <p:cNvPr id="87" name="Google Shape;87;p14"/>
          <p:cNvSpPr/>
          <p:nvPr/>
        </p:nvSpPr>
        <p:spPr>
          <a:xfrm>
            <a:off x="2003846" y="2557019"/>
            <a:ext cx="1223099" cy="501029"/>
          </a:xfrm>
          <a:prstGeom prst="flowChartOnlineStorage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859"/>
              <a:t>Feature Engineering</a:t>
            </a:r>
            <a:endParaRPr sz="859"/>
          </a:p>
        </p:txBody>
      </p:sp>
      <p:sp>
        <p:nvSpPr>
          <p:cNvPr id="88" name="Google Shape;88;p14"/>
          <p:cNvSpPr/>
          <p:nvPr/>
        </p:nvSpPr>
        <p:spPr>
          <a:xfrm>
            <a:off x="3683680" y="2436408"/>
            <a:ext cx="1745618" cy="742170"/>
          </a:xfrm>
          <a:prstGeom prst="flowChartMultidocument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44"/>
              <a:t>Null Variable Calibration</a:t>
            </a:r>
            <a:endParaRPr sz="944"/>
          </a:p>
        </p:txBody>
      </p:sp>
      <p:sp>
        <p:nvSpPr>
          <p:cNvPr id="89" name="Google Shape;89;p14"/>
          <p:cNvSpPr/>
          <p:nvPr/>
        </p:nvSpPr>
        <p:spPr>
          <a:xfrm>
            <a:off x="5777619" y="2530060"/>
            <a:ext cx="1431256" cy="554973"/>
          </a:xfrm>
          <a:prstGeom prst="flowChartOnlineStorage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44"/>
              <a:t>Threshold Derivation</a:t>
            </a:r>
            <a:endParaRPr sz="944"/>
          </a:p>
        </p:txBody>
      </p:sp>
      <p:sp>
        <p:nvSpPr>
          <p:cNvPr id="90" name="Google Shape;90;p14"/>
          <p:cNvSpPr/>
          <p:nvPr/>
        </p:nvSpPr>
        <p:spPr>
          <a:xfrm>
            <a:off x="7625996" y="2393816"/>
            <a:ext cx="1745618" cy="742170"/>
          </a:xfrm>
          <a:prstGeom prst="flowChartMultidocument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44"/>
              <a:t>Causal Discovery</a:t>
            </a:r>
            <a:endParaRPr sz="944"/>
          </a:p>
        </p:txBody>
      </p:sp>
      <p:sp>
        <p:nvSpPr>
          <p:cNvPr id="91" name="Google Shape;91;p14"/>
          <p:cNvSpPr/>
          <p:nvPr/>
        </p:nvSpPr>
        <p:spPr>
          <a:xfrm>
            <a:off x="9665115" y="2487428"/>
            <a:ext cx="1431256" cy="554973"/>
          </a:xfrm>
          <a:prstGeom prst="flowChartOnlineStorage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44"/>
              <a:t>Edge Filtering</a:t>
            </a:r>
            <a:endParaRPr sz="944"/>
          </a:p>
        </p:txBody>
      </p:sp>
      <p:sp>
        <p:nvSpPr>
          <p:cNvPr id="92" name="Google Shape;92;p14"/>
          <p:cNvSpPr/>
          <p:nvPr/>
        </p:nvSpPr>
        <p:spPr>
          <a:xfrm>
            <a:off x="11688608" y="2477687"/>
            <a:ext cx="1666500" cy="591443"/>
          </a:xfrm>
          <a:prstGeom prst="flowChartDocumen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69"/>
              <a:t>Graph Interpretation</a:t>
            </a:r>
            <a:endParaRPr sz="1069"/>
          </a:p>
        </p:txBody>
      </p:sp>
      <p:sp>
        <p:nvSpPr>
          <p:cNvPr id="93" name="Google Shape;93;p14"/>
          <p:cNvSpPr txBox="1"/>
          <p:nvPr/>
        </p:nvSpPr>
        <p:spPr>
          <a:xfrm>
            <a:off x="6565454" y="7300920"/>
            <a:ext cx="729667" cy="1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JPype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8529107" y="6533441"/>
            <a:ext cx="1105958" cy="24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Pykumu API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554344" y="6483750"/>
            <a:ext cx="1223292" cy="24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Tetrad Java API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488020" y="7078896"/>
            <a:ext cx="1019792" cy="106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688">
                <a:solidFill>
                  <a:srgbClr val="0000FF"/>
                </a:solidFill>
              </a:rPr>
              <a:t>cpdag.Fges</a:t>
            </a:r>
            <a:endParaRPr sz="688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</a:pPr>
            <a:r>
              <a:rPr lang="en" sz="688">
                <a:solidFill>
                  <a:srgbClr val="0000FF"/>
                </a:solidFill>
              </a:rPr>
              <a:t>cpdag.Boss</a:t>
            </a:r>
            <a:endParaRPr sz="688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</a:pPr>
            <a:r>
              <a:rPr lang="en" sz="688">
                <a:solidFill>
                  <a:srgbClr val="0000FF"/>
                </a:solidFill>
              </a:rPr>
              <a:t>SemBicScore</a:t>
            </a:r>
            <a:endParaRPr sz="688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</a:pPr>
            <a:r>
              <a:rPr lang="en" sz="688">
                <a:solidFill>
                  <a:srgbClr val="0000FF"/>
                </a:solidFill>
              </a:rPr>
              <a:t>Parameters</a:t>
            </a:r>
            <a:endParaRPr sz="688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</a:pPr>
            <a:r>
              <a:rPr lang="en" sz="688">
                <a:solidFill>
                  <a:srgbClr val="0000FF"/>
                </a:solidFill>
              </a:rPr>
              <a:t>Knowledge</a:t>
            </a:r>
            <a:endParaRPr sz="688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</a:pPr>
            <a:r>
              <a:rPr lang="en" sz="688">
                <a:solidFill>
                  <a:srgbClr val="0000FF"/>
                </a:solidFill>
              </a:rPr>
              <a:t>BoxDataSet</a:t>
            </a:r>
            <a:endParaRPr sz="688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</a:pPr>
            <a:r>
              <a:rPr lang="en" sz="688">
                <a:solidFill>
                  <a:srgbClr val="0000FF"/>
                </a:solidFill>
              </a:rPr>
              <a:t>GraphSaveLoad</a:t>
            </a:r>
            <a:endParaRPr sz="688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</a:pPr>
            <a:r>
              <a:rPr lang="en" sz="688">
                <a:solidFill>
                  <a:srgbClr val="0000FF"/>
                </a:solidFill>
              </a:rPr>
              <a:t>Utils</a:t>
            </a:r>
            <a:endParaRPr sz="688">
              <a:solidFill>
                <a:srgbClr val="0000FF"/>
              </a:solidFill>
            </a:endParaRPr>
          </a:p>
        </p:txBody>
      </p:sp>
      <p:cxnSp>
        <p:nvCxnSpPr>
          <p:cNvPr id="97" name="Google Shape;97;p14"/>
          <p:cNvCxnSpPr/>
          <p:nvPr/>
        </p:nvCxnSpPr>
        <p:spPr>
          <a:xfrm>
            <a:off x="4922042" y="3064278"/>
            <a:ext cx="5958" cy="10152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" name="Google Shape;98;p14"/>
          <p:cNvCxnSpPr/>
          <p:nvPr/>
        </p:nvCxnSpPr>
        <p:spPr>
          <a:xfrm rot="10800000" flipH="1">
            <a:off x="4920323" y="4078035"/>
            <a:ext cx="3465458" cy="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99;p14"/>
          <p:cNvCxnSpPr>
            <a:stCxn id="90" idx="2"/>
          </p:cNvCxnSpPr>
          <p:nvPr/>
        </p:nvCxnSpPr>
        <p:spPr>
          <a:xfrm>
            <a:off x="8377420" y="3107879"/>
            <a:ext cx="1375" cy="96341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4"/>
          <p:cNvCxnSpPr/>
          <p:nvPr/>
        </p:nvCxnSpPr>
        <p:spPr>
          <a:xfrm>
            <a:off x="6692163" y="4079066"/>
            <a:ext cx="5042" cy="94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" name="Google Shape;101;p14"/>
          <p:cNvCxnSpPr>
            <a:stCxn id="83" idx="4"/>
            <a:endCxn id="102" idx="1"/>
          </p:cNvCxnSpPr>
          <p:nvPr/>
        </p:nvCxnSpPr>
        <p:spPr>
          <a:xfrm>
            <a:off x="5360419" y="7655996"/>
            <a:ext cx="2992458" cy="32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4"/>
          <p:cNvCxnSpPr>
            <a:stCxn id="86" idx="3"/>
            <a:endCxn id="87" idx="1"/>
          </p:cNvCxnSpPr>
          <p:nvPr/>
        </p:nvCxnSpPr>
        <p:spPr>
          <a:xfrm>
            <a:off x="1649381" y="2807553"/>
            <a:ext cx="35429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4;p14"/>
          <p:cNvCxnSpPr>
            <a:stCxn id="87" idx="3"/>
            <a:endCxn id="88" idx="1"/>
          </p:cNvCxnSpPr>
          <p:nvPr/>
        </p:nvCxnSpPr>
        <p:spPr>
          <a:xfrm>
            <a:off x="3023095" y="2807533"/>
            <a:ext cx="66045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05;p14"/>
          <p:cNvCxnSpPr>
            <a:stCxn id="88" idx="3"/>
            <a:endCxn id="89" idx="1"/>
          </p:cNvCxnSpPr>
          <p:nvPr/>
        </p:nvCxnSpPr>
        <p:spPr>
          <a:xfrm>
            <a:off x="5429298" y="2807493"/>
            <a:ext cx="3483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06;p14"/>
          <p:cNvCxnSpPr>
            <a:stCxn id="89" idx="3"/>
          </p:cNvCxnSpPr>
          <p:nvPr/>
        </p:nvCxnSpPr>
        <p:spPr>
          <a:xfrm>
            <a:off x="6970334" y="2807547"/>
            <a:ext cx="654958" cy="32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07;p14"/>
          <p:cNvCxnSpPr>
            <a:stCxn id="90" idx="3"/>
            <a:endCxn id="91" idx="1"/>
          </p:cNvCxnSpPr>
          <p:nvPr/>
        </p:nvCxnSpPr>
        <p:spPr>
          <a:xfrm>
            <a:off x="9371614" y="2764901"/>
            <a:ext cx="2933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Google Shape;108;p14"/>
          <p:cNvCxnSpPr>
            <a:stCxn id="91" idx="3"/>
            <a:endCxn id="92" idx="1"/>
          </p:cNvCxnSpPr>
          <p:nvPr/>
        </p:nvCxnSpPr>
        <p:spPr>
          <a:xfrm>
            <a:off x="10857828" y="2764914"/>
            <a:ext cx="830958" cy="87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" name="Google Shape;109;p14"/>
          <p:cNvSpPr txBox="1"/>
          <p:nvPr/>
        </p:nvSpPr>
        <p:spPr>
          <a:xfrm>
            <a:off x="-3439257" y="2196997"/>
            <a:ext cx="2519917" cy="113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750">
                <a:solidFill>
                  <a:schemeClr val="dk2"/>
                </a:solidFill>
              </a:rPr>
              <a:t>Iteration 3</a:t>
            </a:r>
            <a:endParaRPr sz="2750">
              <a:solidFill>
                <a:schemeClr val="dk2"/>
              </a:solidFill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8375069" y="6925965"/>
            <a:ext cx="1133458" cy="1267750"/>
          </a:xfrm>
          <a:prstGeom prst="cube">
            <a:avLst>
              <a:gd name="adj" fmla="val 25000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149"/>
              <a:t> </a:t>
            </a:r>
            <a:endParaRPr sz="1149"/>
          </a:p>
        </p:txBody>
      </p:sp>
      <p:sp>
        <p:nvSpPr>
          <p:cNvPr id="102" name="Google Shape;102;p14"/>
          <p:cNvSpPr txBox="1"/>
          <p:nvPr/>
        </p:nvSpPr>
        <p:spPr>
          <a:xfrm>
            <a:off x="8352763" y="7124423"/>
            <a:ext cx="1027583" cy="106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688">
                <a:solidFill>
                  <a:srgbClr val="FF0000"/>
                </a:solidFill>
              </a:rPr>
              <a:t>run_fges()</a:t>
            </a:r>
            <a:endParaRPr sz="688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en" sz="688">
                <a:solidFill>
                  <a:srgbClr val="FF0000"/>
                </a:solidFill>
              </a:rPr>
              <a:t>run_boss()</a:t>
            </a:r>
            <a:endParaRPr sz="688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en" sz="688">
                <a:solidFill>
                  <a:srgbClr val="FF0000"/>
                </a:solidFill>
              </a:rPr>
              <a:t>use_sem_bic()</a:t>
            </a:r>
            <a:endParaRPr sz="688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en" sz="688">
                <a:solidFill>
                  <a:srgbClr val="FF0000"/>
                </a:solidFill>
              </a:rPr>
              <a:t>load_continuous</a:t>
            </a:r>
            <a:endParaRPr sz="688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en" sz="688">
                <a:solidFill>
                  <a:srgbClr val="FF0000"/>
                </a:solidFill>
              </a:rPr>
              <a:t>load_knowledge()</a:t>
            </a:r>
            <a:endParaRPr sz="688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en" sz="688">
                <a:solidFill>
                  <a:srgbClr val="FF0000"/>
                </a:solidFill>
              </a:rPr>
              <a:t>pandas_data_to</a:t>
            </a:r>
            <a:endParaRPr sz="688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en" sz="688">
                <a:solidFill>
                  <a:srgbClr val="FF0000"/>
                </a:solidFill>
              </a:rPr>
              <a:t>_tetrad()</a:t>
            </a:r>
            <a:endParaRPr sz="688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en" sz="688">
                <a:solidFill>
                  <a:srgbClr val="FF0000"/>
                </a:solidFill>
              </a:rPr>
              <a:t>get_json()</a:t>
            </a:r>
            <a:endParaRPr sz="688">
              <a:solidFill>
                <a:srgbClr val="FF0000"/>
              </a:solidFill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5878965" y="7656014"/>
            <a:ext cx="2260958" cy="500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Imports Java classes into Python</a:t>
            </a:r>
            <a:endParaRPr sz="917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8441813" y="6343343"/>
            <a:ext cx="1133458" cy="871750"/>
          </a:xfrm>
          <a:prstGeom prst="cube">
            <a:avLst>
              <a:gd name="adj" fmla="val 25000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149"/>
          </a:p>
        </p:txBody>
      </p:sp>
      <p:sp>
        <p:nvSpPr>
          <p:cNvPr id="117" name="Google Shape;117;p15"/>
          <p:cNvSpPr/>
          <p:nvPr/>
        </p:nvSpPr>
        <p:spPr>
          <a:xfrm>
            <a:off x="4347890" y="6232825"/>
            <a:ext cx="959292" cy="994583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374"/>
              <a:t>import </a:t>
            </a:r>
            <a:r>
              <a:rPr lang="en" sz="374">
                <a:solidFill>
                  <a:srgbClr val="0000FF"/>
                </a:solidFill>
              </a:rPr>
              <a:t>edu.cmu.tetrad.algcomparison.algorithm.oracle.cpdag</a:t>
            </a:r>
            <a:r>
              <a:rPr lang="en" sz="374"/>
              <a:t> as cpdag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class </a:t>
            </a:r>
            <a:r>
              <a:rPr lang="en" sz="374">
                <a:solidFill>
                  <a:srgbClr val="FF0000"/>
                </a:solidFill>
              </a:rPr>
              <a:t>TetradSearch</a:t>
            </a:r>
            <a:r>
              <a:rPr lang="en" sz="374"/>
              <a:t>: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def </a:t>
            </a:r>
            <a:r>
              <a:rPr lang="en" sz="374">
                <a:solidFill>
                  <a:srgbClr val="FF0000"/>
                </a:solidFill>
              </a:rPr>
              <a:t>run_fges</a:t>
            </a:r>
            <a:r>
              <a:rPr lang="en" sz="374"/>
              <a:t>(self, …)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     alg = </a:t>
            </a:r>
            <a:r>
              <a:rPr lang="en" sz="374">
                <a:solidFill>
                  <a:srgbClr val="0000FF"/>
                </a:solidFill>
              </a:rPr>
              <a:t>cpdag.Fges</a:t>
            </a:r>
            <a:r>
              <a:rPr lang="en" sz="374"/>
              <a:t>(self.SCORE)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      self.java = alg.</a:t>
            </a:r>
            <a:r>
              <a:rPr lang="en" sz="374">
                <a:solidFill>
                  <a:srgbClr val="0000FF"/>
                </a:solidFill>
              </a:rPr>
              <a:t>search</a:t>
            </a:r>
            <a:r>
              <a:rPr lang="en" sz="374"/>
              <a:t>(...)</a:t>
            </a:r>
            <a:endParaRPr sz="374"/>
          </a:p>
        </p:txBody>
      </p:sp>
      <p:sp>
        <p:nvSpPr>
          <p:cNvPr id="118" name="Google Shape;118;p15"/>
          <p:cNvSpPr/>
          <p:nvPr/>
        </p:nvSpPr>
        <p:spPr>
          <a:xfrm>
            <a:off x="6347969" y="6195457"/>
            <a:ext cx="875875" cy="1069292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535">
                <a:solidFill>
                  <a:schemeClr val="dk1"/>
                </a:solidFill>
              </a:rPr>
              <a:t>import </a:t>
            </a:r>
            <a:r>
              <a:rPr lang="en" sz="535">
                <a:solidFill>
                  <a:srgbClr val="FF0000"/>
                </a:solidFill>
              </a:rPr>
              <a:t>api.TetradSearch</a:t>
            </a:r>
            <a:r>
              <a:rPr lang="en" sz="535">
                <a:solidFill>
                  <a:schemeClr val="dk1"/>
                </a:solidFill>
              </a:rPr>
              <a:t> as </a:t>
            </a:r>
            <a:r>
              <a:rPr lang="en" sz="535">
                <a:solidFill>
                  <a:srgbClr val="FF0000"/>
                </a:solidFill>
              </a:rPr>
              <a:t>ts</a:t>
            </a:r>
            <a:endParaRPr sz="535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endParaRPr sz="535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</a:pPr>
            <a:r>
              <a:rPr lang="en" sz="535">
                <a:solidFill>
                  <a:schemeClr val="dk1"/>
                </a:solidFill>
              </a:rPr>
              <a:t>search = </a:t>
            </a:r>
            <a:r>
              <a:rPr lang="en" sz="535">
                <a:solidFill>
                  <a:srgbClr val="FF0000"/>
                </a:solidFill>
              </a:rPr>
              <a:t>ts.TetradSearch</a:t>
            </a:r>
            <a:r>
              <a:rPr lang="en" sz="535">
                <a:solidFill>
                  <a:schemeClr val="dk1"/>
                </a:solidFill>
              </a:rPr>
              <a:t>(data)</a:t>
            </a:r>
            <a:endParaRPr sz="535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</a:pPr>
            <a:endParaRPr sz="535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</a:pPr>
            <a:r>
              <a:rPr lang="en" sz="535">
                <a:solidFill>
                  <a:schemeClr val="dk1"/>
                </a:solidFill>
              </a:rPr>
              <a:t>search.</a:t>
            </a:r>
            <a:r>
              <a:rPr lang="en" sz="535">
                <a:solidFill>
                  <a:srgbClr val="FF0000"/>
                </a:solidFill>
              </a:rPr>
              <a:t>run_fges</a:t>
            </a:r>
            <a:r>
              <a:rPr lang="en" sz="535">
                <a:solidFill>
                  <a:schemeClr val="dk1"/>
                </a:solidFill>
              </a:rPr>
              <a:t>()</a:t>
            </a:r>
            <a:endParaRPr sz="535">
              <a:solidFill>
                <a:schemeClr val="dk1"/>
              </a:solidFill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3860771" y="5040305"/>
            <a:ext cx="6084375" cy="55504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t" anchorCtr="0">
            <a:noAutofit/>
          </a:bodyPr>
          <a:lstStyle/>
          <a:p>
            <a:pPr algn="ctr">
              <a:spcBef>
                <a:spcPts val="0"/>
              </a:spcBef>
            </a:pPr>
            <a:endParaRPr sz="1477">
              <a:solidFill>
                <a:schemeClr val="dk1"/>
              </a:solidFill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53354" y="1716613"/>
            <a:ext cx="13288917" cy="38683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546">
                <a:solidFill>
                  <a:schemeClr val="dk1"/>
                </a:solidFill>
              </a:rPr>
              <a:t>Causal Analysis Workflow</a:t>
            </a:r>
            <a:endParaRPr sz="1546">
              <a:solidFill>
                <a:schemeClr val="dk1"/>
              </a:solidFill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726298" y="2471595"/>
            <a:ext cx="923083" cy="671917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5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771" tIns="87771" rIns="87771" bIns="87771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152"/>
              <a:t>Data Prep</a:t>
            </a:r>
            <a:endParaRPr sz="1152"/>
          </a:p>
        </p:txBody>
      </p:sp>
      <p:sp>
        <p:nvSpPr>
          <p:cNvPr id="122" name="Google Shape;122;p15"/>
          <p:cNvSpPr/>
          <p:nvPr/>
        </p:nvSpPr>
        <p:spPr>
          <a:xfrm>
            <a:off x="2003846" y="2557019"/>
            <a:ext cx="1223099" cy="501029"/>
          </a:xfrm>
          <a:prstGeom prst="flowChartOnlineStorage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859"/>
              <a:t>Feature Engineering</a:t>
            </a:r>
            <a:endParaRPr sz="859"/>
          </a:p>
        </p:txBody>
      </p:sp>
      <p:sp>
        <p:nvSpPr>
          <p:cNvPr id="123" name="Google Shape;123;p15"/>
          <p:cNvSpPr/>
          <p:nvPr/>
        </p:nvSpPr>
        <p:spPr>
          <a:xfrm>
            <a:off x="3683680" y="2436408"/>
            <a:ext cx="1745618" cy="742170"/>
          </a:xfrm>
          <a:prstGeom prst="flowChartMultidocument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44"/>
              <a:t>Null Variable Calibration</a:t>
            </a:r>
            <a:endParaRPr sz="944"/>
          </a:p>
        </p:txBody>
      </p:sp>
      <p:sp>
        <p:nvSpPr>
          <p:cNvPr id="124" name="Google Shape;124;p15"/>
          <p:cNvSpPr/>
          <p:nvPr/>
        </p:nvSpPr>
        <p:spPr>
          <a:xfrm>
            <a:off x="5777619" y="2530060"/>
            <a:ext cx="1431256" cy="554973"/>
          </a:xfrm>
          <a:prstGeom prst="flowChartOnlineStorage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44"/>
              <a:t>Threshold Derivation</a:t>
            </a:r>
            <a:endParaRPr sz="944"/>
          </a:p>
        </p:txBody>
      </p:sp>
      <p:sp>
        <p:nvSpPr>
          <p:cNvPr id="125" name="Google Shape;125;p15"/>
          <p:cNvSpPr/>
          <p:nvPr/>
        </p:nvSpPr>
        <p:spPr>
          <a:xfrm>
            <a:off x="7625996" y="2393816"/>
            <a:ext cx="1745618" cy="742170"/>
          </a:xfrm>
          <a:prstGeom prst="flowChartMultidocument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44"/>
              <a:t>Causal Discovery</a:t>
            </a:r>
            <a:endParaRPr sz="944"/>
          </a:p>
        </p:txBody>
      </p:sp>
      <p:sp>
        <p:nvSpPr>
          <p:cNvPr id="126" name="Google Shape;126;p15"/>
          <p:cNvSpPr/>
          <p:nvPr/>
        </p:nvSpPr>
        <p:spPr>
          <a:xfrm>
            <a:off x="9665115" y="2487428"/>
            <a:ext cx="1431256" cy="554973"/>
          </a:xfrm>
          <a:prstGeom prst="flowChartOnlineStorage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44"/>
              <a:t>Edge Filtering</a:t>
            </a:r>
            <a:endParaRPr sz="944"/>
          </a:p>
        </p:txBody>
      </p:sp>
      <p:sp>
        <p:nvSpPr>
          <p:cNvPr id="127" name="Google Shape;127;p15"/>
          <p:cNvSpPr/>
          <p:nvPr/>
        </p:nvSpPr>
        <p:spPr>
          <a:xfrm>
            <a:off x="11688608" y="2477687"/>
            <a:ext cx="1666500" cy="591443"/>
          </a:xfrm>
          <a:prstGeom prst="flowChartDocumen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69"/>
              <a:t>Graph Interpretation</a:t>
            </a:r>
            <a:endParaRPr sz="1069"/>
          </a:p>
        </p:txBody>
      </p:sp>
      <p:sp>
        <p:nvSpPr>
          <p:cNvPr id="128" name="Google Shape;128;p15"/>
          <p:cNvSpPr txBox="1"/>
          <p:nvPr/>
        </p:nvSpPr>
        <p:spPr>
          <a:xfrm>
            <a:off x="7514375" y="6357556"/>
            <a:ext cx="729667" cy="1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JPype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384469" y="5764434"/>
            <a:ext cx="809417" cy="24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Pykumu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8441812" y="5902507"/>
            <a:ext cx="1223292" cy="24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Tetrad Java API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4236222" y="5852434"/>
            <a:ext cx="1333292" cy="24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TetradSearch Class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8419469" y="6541806"/>
            <a:ext cx="1037667" cy="99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764">
                <a:solidFill>
                  <a:schemeClr val="dk1"/>
                </a:solidFill>
              </a:rPr>
              <a:t>tetrad-current.jar contains </a:t>
            </a:r>
            <a:r>
              <a:rPr lang="en" sz="764">
                <a:solidFill>
                  <a:srgbClr val="0000FF"/>
                </a:solidFill>
              </a:rPr>
              <a:t>Tetrad Java packages</a:t>
            </a:r>
            <a:r>
              <a:rPr lang="en" sz="764">
                <a:solidFill>
                  <a:schemeClr val="dk1"/>
                </a:solidFill>
              </a:rPr>
              <a:t>  </a:t>
            </a:r>
            <a:endParaRPr sz="764">
              <a:solidFill>
                <a:schemeClr val="dk1"/>
              </a:solidFill>
            </a:endParaRPr>
          </a:p>
        </p:txBody>
      </p:sp>
      <p:cxnSp>
        <p:nvCxnSpPr>
          <p:cNvPr id="133" name="Google Shape;133;p15"/>
          <p:cNvCxnSpPr/>
          <p:nvPr/>
        </p:nvCxnSpPr>
        <p:spPr>
          <a:xfrm>
            <a:off x="4922042" y="3064278"/>
            <a:ext cx="5958" cy="10152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5"/>
          <p:cNvCxnSpPr/>
          <p:nvPr/>
        </p:nvCxnSpPr>
        <p:spPr>
          <a:xfrm rot="10800000" flipH="1">
            <a:off x="4920323" y="4078035"/>
            <a:ext cx="3465458" cy="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" name="Google Shape;135;p15"/>
          <p:cNvCxnSpPr>
            <a:stCxn id="125" idx="2"/>
          </p:cNvCxnSpPr>
          <p:nvPr/>
        </p:nvCxnSpPr>
        <p:spPr>
          <a:xfrm>
            <a:off x="8377420" y="3107879"/>
            <a:ext cx="1375" cy="96341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5"/>
          <p:cNvCxnSpPr/>
          <p:nvPr/>
        </p:nvCxnSpPr>
        <p:spPr>
          <a:xfrm>
            <a:off x="6692163" y="4079066"/>
            <a:ext cx="5042" cy="94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7" name="Google Shape;137;p15"/>
          <p:cNvCxnSpPr>
            <a:stCxn id="117" idx="4"/>
            <a:endCxn id="118" idx="1"/>
          </p:cNvCxnSpPr>
          <p:nvPr/>
        </p:nvCxnSpPr>
        <p:spPr>
          <a:xfrm>
            <a:off x="5307182" y="6730116"/>
            <a:ext cx="104087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" name="Google Shape;138;p15"/>
          <p:cNvCxnSpPr>
            <a:endCxn id="118" idx="3"/>
          </p:cNvCxnSpPr>
          <p:nvPr/>
        </p:nvCxnSpPr>
        <p:spPr>
          <a:xfrm rot="10800000">
            <a:off x="7223844" y="6730102"/>
            <a:ext cx="1221458" cy="641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" name="Google Shape;139;p15"/>
          <p:cNvCxnSpPr>
            <a:stCxn id="121" idx="3"/>
            <a:endCxn id="122" idx="1"/>
          </p:cNvCxnSpPr>
          <p:nvPr/>
        </p:nvCxnSpPr>
        <p:spPr>
          <a:xfrm>
            <a:off x="1649381" y="2807553"/>
            <a:ext cx="35429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" name="Google Shape;140;p15"/>
          <p:cNvCxnSpPr>
            <a:stCxn id="122" idx="3"/>
            <a:endCxn id="123" idx="1"/>
          </p:cNvCxnSpPr>
          <p:nvPr/>
        </p:nvCxnSpPr>
        <p:spPr>
          <a:xfrm>
            <a:off x="3023095" y="2807533"/>
            <a:ext cx="66045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1" name="Google Shape;141;p15"/>
          <p:cNvCxnSpPr>
            <a:stCxn id="123" idx="3"/>
            <a:endCxn id="124" idx="1"/>
          </p:cNvCxnSpPr>
          <p:nvPr/>
        </p:nvCxnSpPr>
        <p:spPr>
          <a:xfrm>
            <a:off x="5429298" y="2807493"/>
            <a:ext cx="3483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" name="Google Shape;142;p15"/>
          <p:cNvCxnSpPr>
            <a:stCxn id="124" idx="3"/>
          </p:cNvCxnSpPr>
          <p:nvPr/>
        </p:nvCxnSpPr>
        <p:spPr>
          <a:xfrm>
            <a:off x="6970334" y="2807547"/>
            <a:ext cx="654958" cy="32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" name="Google Shape;143;p15"/>
          <p:cNvCxnSpPr>
            <a:stCxn id="125" idx="3"/>
            <a:endCxn id="126" idx="1"/>
          </p:cNvCxnSpPr>
          <p:nvPr/>
        </p:nvCxnSpPr>
        <p:spPr>
          <a:xfrm>
            <a:off x="9371614" y="2764901"/>
            <a:ext cx="2933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" name="Google Shape;144;p15"/>
          <p:cNvCxnSpPr>
            <a:stCxn id="126" idx="3"/>
            <a:endCxn id="127" idx="1"/>
          </p:cNvCxnSpPr>
          <p:nvPr/>
        </p:nvCxnSpPr>
        <p:spPr>
          <a:xfrm>
            <a:off x="10857828" y="2764914"/>
            <a:ext cx="830958" cy="87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5" name="Google Shape;145;p15"/>
          <p:cNvSpPr txBox="1"/>
          <p:nvPr/>
        </p:nvSpPr>
        <p:spPr>
          <a:xfrm>
            <a:off x="-3425049" y="2409014"/>
            <a:ext cx="2519917" cy="113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750">
                <a:solidFill>
                  <a:schemeClr val="dk2"/>
                </a:solidFill>
              </a:rPr>
              <a:t>Iteration 1</a:t>
            </a:r>
            <a:endParaRPr sz="275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9454462" y="6343343"/>
            <a:ext cx="1133458" cy="871750"/>
          </a:xfrm>
          <a:prstGeom prst="cube">
            <a:avLst>
              <a:gd name="adj" fmla="val 25000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149"/>
          </a:p>
        </p:txBody>
      </p:sp>
      <p:sp>
        <p:nvSpPr>
          <p:cNvPr id="151" name="Google Shape;151;p16"/>
          <p:cNvSpPr/>
          <p:nvPr/>
        </p:nvSpPr>
        <p:spPr>
          <a:xfrm>
            <a:off x="7399550" y="7146894"/>
            <a:ext cx="959292" cy="994583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374"/>
              <a:t>import </a:t>
            </a:r>
            <a:r>
              <a:rPr lang="en" sz="374">
                <a:solidFill>
                  <a:srgbClr val="0000FF"/>
                </a:solidFill>
              </a:rPr>
              <a:t>edu.cmu.tetrad.algcomparison.algorithm.oracle.cpdag</a:t>
            </a:r>
            <a:r>
              <a:rPr lang="en" sz="374"/>
              <a:t> as cpdag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class </a:t>
            </a:r>
            <a:r>
              <a:rPr lang="en" sz="374">
                <a:solidFill>
                  <a:srgbClr val="FF0000"/>
                </a:solidFill>
              </a:rPr>
              <a:t>TetradSearch</a:t>
            </a:r>
            <a:r>
              <a:rPr lang="en" sz="374"/>
              <a:t>: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def </a:t>
            </a:r>
            <a:r>
              <a:rPr lang="en" sz="374">
                <a:solidFill>
                  <a:srgbClr val="FF0000"/>
                </a:solidFill>
              </a:rPr>
              <a:t>run_fges</a:t>
            </a:r>
            <a:r>
              <a:rPr lang="en" sz="374"/>
              <a:t>(self, …)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     alg = </a:t>
            </a:r>
            <a:r>
              <a:rPr lang="en" sz="374">
                <a:solidFill>
                  <a:srgbClr val="0000FF"/>
                </a:solidFill>
              </a:rPr>
              <a:t>cpdag.Fges</a:t>
            </a:r>
            <a:r>
              <a:rPr lang="en" sz="374"/>
              <a:t>(self.SCORE)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      self.java = alg.</a:t>
            </a:r>
            <a:r>
              <a:rPr lang="en" sz="374">
                <a:solidFill>
                  <a:srgbClr val="0000FF"/>
                </a:solidFill>
              </a:rPr>
              <a:t>search</a:t>
            </a:r>
            <a:r>
              <a:rPr lang="en" sz="374"/>
              <a:t>(...)</a:t>
            </a:r>
            <a:endParaRPr sz="374"/>
          </a:p>
        </p:txBody>
      </p:sp>
      <p:sp>
        <p:nvSpPr>
          <p:cNvPr id="152" name="Google Shape;152;p16"/>
          <p:cNvSpPr/>
          <p:nvPr/>
        </p:nvSpPr>
        <p:spPr>
          <a:xfrm>
            <a:off x="4680017" y="6343346"/>
            <a:ext cx="875875" cy="1069292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535">
                <a:solidFill>
                  <a:schemeClr val="dk1"/>
                </a:solidFill>
              </a:rPr>
              <a:t>import </a:t>
            </a:r>
            <a:r>
              <a:rPr lang="en" sz="535">
                <a:solidFill>
                  <a:srgbClr val="FF0000"/>
                </a:solidFill>
              </a:rPr>
              <a:t>api.TetradSearch</a:t>
            </a:r>
            <a:r>
              <a:rPr lang="en" sz="535">
                <a:solidFill>
                  <a:schemeClr val="dk1"/>
                </a:solidFill>
              </a:rPr>
              <a:t> as </a:t>
            </a:r>
            <a:r>
              <a:rPr lang="en" sz="535">
                <a:solidFill>
                  <a:srgbClr val="FF0000"/>
                </a:solidFill>
              </a:rPr>
              <a:t>ts</a:t>
            </a:r>
            <a:endParaRPr sz="535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endParaRPr sz="535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</a:pPr>
            <a:r>
              <a:rPr lang="en" sz="535">
                <a:solidFill>
                  <a:schemeClr val="dk1"/>
                </a:solidFill>
              </a:rPr>
              <a:t>search = </a:t>
            </a:r>
            <a:r>
              <a:rPr lang="en" sz="535">
                <a:solidFill>
                  <a:srgbClr val="FF0000"/>
                </a:solidFill>
              </a:rPr>
              <a:t>ts.TetradSearch</a:t>
            </a:r>
            <a:r>
              <a:rPr lang="en" sz="535">
                <a:solidFill>
                  <a:schemeClr val="dk1"/>
                </a:solidFill>
              </a:rPr>
              <a:t>(data)</a:t>
            </a:r>
            <a:endParaRPr sz="535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</a:pPr>
            <a:endParaRPr sz="535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</a:pPr>
            <a:r>
              <a:rPr lang="en" sz="535">
                <a:solidFill>
                  <a:schemeClr val="dk1"/>
                </a:solidFill>
              </a:rPr>
              <a:t>search.</a:t>
            </a:r>
            <a:r>
              <a:rPr lang="en" sz="535">
                <a:solidFill>
                  <a:srgbClr val="FF0000"/>
                </a:solidFill>
              </a:rPr>
              <a:t>run_fges</a:t>
            </a:r>
            <a:r>
              <a:rPr lang="en" sz="535">
                <a:solidFill>
                  <a:schemeClr val="dk1"/>
                </a:solidFill>
              </a:rPr>
              <a:t>()</a:t>
            </a:r>
            <a:endParaRPr sz="535">
              <a:solidFill>
                <a:schemeClr val="dk1"/>
              </a:solidFill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3860771" y="5040305"/>
            <a:ext cx="6084375" cy="55504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t" anchorCtr="0">
            <a:noAutofit/>
          </a:bodyPr>
          <a:lstStyle/>
          <a:p>
            <a:pPr algn="ctr">
              <a:spcBef>
                <a:spcPts val="0"/>
              </a:spcBef>
            </a:pPr>
            <a:endParaRPr sz="1477">
              <a:solidFill>
                <a:schemeClr val="dk1"/>
              </a:solidFill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453559" y="1921997"/>
            <a:ext cx="13288917" cy="16857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546">
                <a:solidFill>
                  <a:schemeClr val="dk1"/>
                </a:solidFill>
              </a:rPr>
              <a:t>Causal Analysis Workflow</a:t>
            </a:r>
            <a:endParaRPr sz="1546">
              <a:solidFill>
                <a:schemeClr val="dk1"/>
              </a:solidFill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726298" y="2471595"/>
            <a:ext cx="923083" cy="671917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5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771" tIns="87771" rIns="87771" bIns="87771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152"/>
              <a:t>Data Prep</a:t>
            </a:r>
            <a:endParaRPr sz="1152"/>
          </a:p>
        </p:txBody>
      </p:sp>
      <p:sp>
        <p:nvSpPr>
          <p:cNvPr id="156" name="Google Shape;156;p16"/>
          <p:cNvSpPr/>
          <p:nvPr/>
        </p:nvSpPr>
        <p:spPr>
          <a:xfrm>
            <a:off x="2003846" y="2557019"/>
            <a:ext cx="1223099" cy="501029"/>
          </a:xfrm>
          <a:prstGeom prst="flowChartOnlineStorage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859"/>
              <a:t>Feature Engineering</a:t>
            </a:r>
            <a:endParaRPr sz="859"/>
          </a:p>
        </p:txBody>
      </p:sp>
      <p:sp>
        <p:nvSpPr>
          <p:cNvPr id="157" name="Google Shape;157;p16"/>
          <p:cNvSpPr/>
          <p:nvPr/>
        </p:nvSpPr>
        <p:spPr>
          <a:xfrm>
            <a:off x="3683680" y="2436408"/>
            <a:ext cx="1745618" cy="742170"/>
          </a:xfrm>
          <a:prstGeom prst="flowChartMultidocument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44"/>
              <a:t>Null Variable Calibration</a:t>
            </a:r>
            <a:endParaRPr sz="944"/>
          </a:p>
        </p:txBody>
      </p:sp>
      <p:sp>
        <p:nvSpPr>
          <p:cNvPr id="158" name="Google Shape;158;p16"/>
          <p:cNvSpPr/>
          <p:nvPr/>
        </p:nvSpPr>
        <p:spPr>
          <a:xfrm>
            <a:off x="5777619" y="2530060"/>
            <a:ext cx="1431256" cy="554973"/>
          </a:xfrm>
          <a:prstGeom prst="flowChartOnlineStorage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44"/>
              <a:t>Threshold Derivation</a:t>
            </a:r>
            <a:endParaRPr sz="944"/>
          </a:p>
        </p:txBody>
      </p:sp>
      <p:sp>
        <p:nvSpPr>
          <p:cNvPr id="159" name="Google Shape;159;p16"/>
          <p:cNvSpPr/>
          <p:nvPr/>
        </p:nvSpPr>
        <p:spPr>
          <a:xfrm>
            <a:off x="7625996" y="2393816"/>
            <a:ext cx="1745618" cy="742170"/>
          </a:xfrm>
          <a:prstGeom prst="flowChartMultidocument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44"/>
              <a:t>Causal Discovery</a:t>
            </a:r>
            <a:endParaRPr sz="944"/>
          </a:p>
        </p:txBody>
      </p:sp>
      <p:sp>
        <p:nvSpPr>
          <p:cNvPr id="160" name="Google Shape;160;p16"/>
          <p:cNvSpPr/>
          <p:nvPr/>
        </p:nvSpPr>
        <p:spPr>
          <a:xfrm>
            <a:off x="9665115" y="2487428"/>
            <a:ext cx="1431256" cy="554973"/>
          </a:xfrm>
          <a:prstGeom prst="flowChartOnlineStorage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44"/>
              <a:t>Edge Filtering</a:t>
            </a:r>
            <a:endParaRPr sz="944"/>
          </a:p>
        </p:txBody>
      </p:sp>
      <p:sp>
        <p:nvSpPr>
          <p:cNvPr id="161" name="Google Shape;161;p16"/>
          <p:cNvSpPr/>
          <p:nvPr/>
        </p:nvSpPr>
        <p:spPr>
          <a:xfrm>
            <a:off x="11688608" y="2477687"/>
            <a:ext cx="1666500" cy="591443"/>
          </a:xfrm>
          <a:prstGeom prst="flowChartDocumen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69"/>
              <a:t>Graph Interpretation</a:t>
            </a:r>
            <a:endParaRPr sz="1069"/>
          </a:p>
        </p:txBody>
      </p:sp>
      <p:sp>
        <p:nvSpPr>
          <p:cNvPr id="162" name="Google Shape;162;p16"/>
          <p:cNvSpPr txBox="1"/>
          <p:nvPr/>
        </p:nvSpPr>
        <p:spPr>
          <a:xfrm>
            <a:off x="7514375" y="6357556"/>
            <a:ext cx="729667" cy="1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JPype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4746462" y="5976528"/>
            <a:ext cx="809417" cy="24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Pykumu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9498462" y="5946660"/>
            <a:ext cx="1223292" cy="24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Tetrad Java API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7277226" y="8140931"/>
            <a:ext cx="1333292" cy="24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TetradSearch Class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9432118" y="6541806"/>
            <a:ext cx="1037667" cy="99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764">
                <a:solidFill>
                  <a:schemeClr val="dk1"/>
                </a:solidFill>
              </a:rPr>
              <a:t>tetrad-current.jar contains </a:t>
            </a:r>
            <a:r>
              <a:rPr lang="en" sz="764">
                <a:solidFill>
                  <a:srgbClr val="0000FF"/>
                </a:solidFill>
              </a:rPr>
              <a:t>Tetrad Java packages</a:t>
            </a:r>
            <a:r>
              <a:rPr lang="en" sz="764">
                <a:solidFill>
                  <a:schemeClr val="dk1"/>
                </a:solidFill>
              </a:rPr>
              <a:t>  </a:t>
            </a:r>
            <a:endParaRPr sz="764">
              <a:solidFill>
                <a:schemeClr val="dk1"/>
              </a:solidFill>
            </a:endParaRPr>
          </a:p>
        </p:txBody>
      </p:sp>
      <p:cxnSp>
        <p:nvCxnSpPr>
          <p:cNvPr id="167" name="Google Shape;167;p16"/>
          <p:cNvCxnSpPr/>
          <p:nvPr/>
        </p:nvCxnSpPr>
        <p:spPr>
          <a:xfrm>
            <a:off x="4922042" y="3064278"/>
            <a:ext cx="5958" cy="10152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16"/>
          <p:cNvCxnSpPr/>
          <p:nvPr/>
        </p:nvCxnSpPr>
        <p:spPr>
          <a:xfrm rot="10800000" flipH="1">
            <a:off x="4920323" y="4078035"/>
            <a:ext cx="3465458" cy="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6"/>
          <p:cNvCxnSpPr>
            <a:stCxn id="159" idx="2"/>
          </p:cNvCxnSpPr>
          <p:nvPr/>
        </p:nvCxnSpPr>
        <p:spPr>
          <a:xfrm>
            <a:off x="8377420" y="3107879"/>
            <a:ext cx="1375" cy="96341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16"/>
          <p:cNvCxnSpPr/>
          <p:nvPr/>
        </p:nvCxnSpPr>
        <p:spPr>
          <a:xfrm>
            <a:off x="6692163" y="4079066"/>
            <a:ext cx="5042" cy="94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" name="Google Shape;171;p16"/>
          <p:cNvCxnSpPr>
            <a:stCxn id="151" idx="2"/>
            <a:endCxn id="152" idx="3"/>
          </p:cNvCxnSpPr>
          <p:nvPr/>
        </p:nvCxnSpPr>
        <p:spPr>
          <a:xfrm rot="10800000">
            <a:off x="5555675" y="6877853"/>
            <a:ext cx="1843875" cy="76633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" name="Google Shape;172;p16"/>
          <p:cNvCxnSpPr>
            <a:endCxn id="152" idx="3"/>
          </p:cNvCxnSpPr>
          <p:nvPr/>
        </p:nvCxnSpPr>
        <p:spPr>
          <a:xfrm flipH="1">
            <a:off x="5555892" y="6857825"/>
            <a:ext cx="3897208" cy="2016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3" name="Google Shape;173;p16"/>
          <p:cNvCxnSpPr>
            <a:stCxn id="155" idx="3"/>
            <a:endCxn id="156" idx="1"/>
          </p:cNvCxnSpPr>
          <p:nvPr/>
        </p:nvCxnSpPr>
        <p:spPr>
          <a:xfrm>
            <a:off x="1649381" y="2807553"/>
            <a:ext cx="35429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" name="Google Shape;174;p16"/>
          <p:cNvCxnSpPr>
            <a:stCxn id="156" idx="3"/>
            <a:endCxn id="157" idx="1"/>
          </p:cNvCxnSpPr>
          <p:nvPr/>
        </p:nvCxnSpPr>
        <p:spPr>
          <a:xfrm>
            <a:off x="3023095" y="2807533"/>
            <a:ext cx="66045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" name="Google Shape;175;p16"/>
          <p:cNvCxnSpPr>
            <a:stCxn id="157" idx="3"/>
            <a:endCxn id="158" idx="1"/>
          </p:cNvCxnSpPr>
          <p:nvPr/>
        </p:nvCxnSpPr>
        <p:spPr>
          <a:xfrm>
            <a:off x="5429298" y="2807493"/>
            <a:ext cx="3483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" name="Google Shape;176;p16"/>
          <p:cNvCxnSpPr>
            <a:stCxn id="158" idx="3"/>
          </p:cNvCxnSpPr>
          <p:nvPr/>
        </p:nvCxnSpPr>
        <p:spPr>
          <a:xfrm>
            <a:off x="6970334" y="2807547"/>
            <a:ext cx="654958" cy="32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7" name="Google Shape;177;p16"/>
          <p:cNvCxnSpPr>
            <a:stCxn id="159" idx="3"/>
            <a:endCxn id="160" idx="1"/>
          </p:cNvCxnSpPr>
          <p:nvPr/>
        </p:nvCxnSpPr>
        <p:spPr>
          <a:xfrm>
            <a:off x="9371614" y="2764901"/>
            <a:ext cx="2933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" name="Google Shape;178;p16"/>
          <p:cNvCxnSpPr>
            <a:stCxn id="160" idx="3"/>
            <a:endCxn id="161" idx="1"/>
          </p:cNvCxnSpPr>
          <p:nvPr/>
        </p:nvCxnSpPr>
        <p:spPr>
          <a:xfrm>
            <a:off x="10857828" y="2764914"/>
            <a:ext cx="830958" cy="87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9" name="Google Shape;179;p16"/>
          <p:cNvCxnSpPr>
            <a:endCxn id="151" idx="4"/>
          </p:cNvCxnSpPr>
          <p:nvPr/>
        </p:nvCxnSpPr>
        <p:spPr>
          <a:xfrm flipH="1">
            <a:off x="8358842" y="7072644"/>
            <a:ext cx="2077167" cy="57154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0" name="Google Shape;180;p16"/>
          <p:cNvSpPr txBox="1"/>
          <p:nvPr/>
        </p:nvSpPr>
        <p:spPr>
          <a:xfrm>
            <a:off x="-3439257" y="2196997"/>
            <a:ext cx="2519917" cy="113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750">
                <a:solidFill>
                  <a:schemeClr val="dk2"/>
                </a:solidFill>
              </a:rPr>
              <a:t>Iteration 2</a:t>
            </a:r>
            <a:endParaRPr sz="275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/>
          <p:nvPr/>
        </p:nvSpPr>
        <p:spPr>
          <a:xfrm>
            <a:off x="9454462" y="6343343"/>
            <a:ext cx="1133458" cy="871750"/>
          </a:xfrm>
          <a:prstGeom prst="cube">
            <a:avLst>
              <a:gd name="adj" fmla="val 25000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149"/>
          </a:p>
        </p:txBody>
      </p:sp>
      <p:sp>
        <p:nvSpPr>
          <p:cNvPr id="186" name="Google Shape;186;p17"/>
          <p:cNvSpPr/>
          <p:nvPr/>
        </p:nvSpPr>
        <p:spPr>
          <a:xfrm>
            <a:off x="7399550" y="7146894"/>
            <a:ext cx="959292" cy="994583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374"/>
              <a:t>import </a:t>
            </a:r>
            <a:r>
              <a:rPr lang="en" sz="374">
                <a:solidFill>
                  <a:srgbClr val="0000FF"/>
                </a:solidFill>
              </a:rPr>
              <a:t>edu.cmu.tetrad.algcomparison.algorithm.oracle.cpdag</a:t>
            </a:r>
            <a:r>
              <a:rPr lang="en" sz="374"/>
              <a:t> as cpdag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class </a:t>
            </a:r>
            <a:r>
              <a:rPr lang="en" sz="374">
                <a:solidFill>
                  <a:srgbClr val="FF0000"/>
                </a:solidFill>
              </a:rPr>
              <a:t>TetradSearch</a:t>
            </a:r>
            <a:r>
              <a:rPr lang="en" sz="374"/>
              <a:t>: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def </a:t>
            </a:r>
            <a:r>
              <a:rPr lang="en" sz="374">
                <a:solidFill>
                  <a:srgbClr val="FF0000"/>
                </a:solidFill>
              </a:rPr>
              <a:t>run_fges</a:t>
            </a:r>
            <a:r>
              <a:rPr lang="en" sz="374"/>
              <a:t>(self, …)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     alg = </a:t>
            </a:r>
            <a:r>
              <a:rPr lang="en" sz="374">
                <a:solidFill>
                  <a:srgbClr val="0000FF"/>
                </a:solidFill>
              </a:rPr>
              <a:t>cpdag.Fges</a:t>
            </a:r>
            <a:r>
              <a:rPr lang="en" sz="374"/>
              <a:t>(self.SCORE)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      self.java = alg.</a:t>
            </a:r>
            <a:r>
              <a:rPr lang="en" sz="374">
                <a:solidFill>
                  <a:srgbClr val="0000FF"/>
                </a:solidFill>
              </a:rPr>
              <a:t>search</a:t>
            </a:r>
            <a:r>
              <a:rPr lang="en" sz="374"/>
              <a:t>(...)</a:t>
            </a:r>
            <a:endParaRPr sz="374"/>
          </a:p>
        </p:txBody>
      </p:sp>
      <p:sp>
        <p:nvSpPr>
          <p:cNvPr id="187" name="Google Shape;187;p17"/>
          <p:cNvSpPr/>
          <p:nvPr/>
        </p:nvSpPr>
        <p:spPr>
          <a:xfrm>
            <a:off x="4680017" y="6343346"/>
            <a:ext cx="875875" cy="1069292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535">
                <a:solidFill>
                  <a:schemeClr val="dk1"/>
                </a:solidFill>
              </a:rPr>
              <a:t>import </a:t>
            </a:r>
            <a:r>
              <a:rPr lang="en" sz="535">
                <a:solidFill>
                  <a:srgbClr val="FF0000"/>
                </a:solidFill>
              </a:rPr>
              <a:t>api.TetradSearch</a:t>
            </a:r>
            <a:r>
              <a:rPr lang="en" sz="535">
                <a:solidFill>
                  <a:schemeClr val="dk1"/>
                </a:solidFill>
              </a:rPr>
              <a:t> as </a:t>
            </a:r>
            <a:r>
              <a:rPr lang="en" sz="535">
                <a:solidFill>
                  <a:srgbClr val="FF0000"/>
                </a:solidFill>
              </a:rPr>
              <a:t>ts</a:t>
            </a:r>
            <a:endParaRPr sz="535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endParaRPr sz="535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</a:pPr>
            <a:r>
              <a:rPr lang="en" sz="535">
                <a:solidFill>
                  <a:schemeClr val="dk1"/>
                </a:solidFill>
              </a:rPr>
              <a:t>search = </a:t>
            </a:r>
            <a:r>
              <a:rPr lang="en" sz="535">
                <a:solidFill>
                  <a:srgbClr val="FF0000"/>
                </a:solidFill>
              </a:rPr>
              <a:t>ts.TetradSearch</a:t>
            </a:r>
            <a:r>
              <a:rPr lang="en" sz="535">
                <a:solidFill>
                  <a:schemeClr val="dk1"/>
                </a:solidFill>
              </a:rPr>
              <a:t>(data)</a:t>
            </a:r>
            <a:endParaRPr sz="535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</a:pPr>
            <a:endParaRPr sz="535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</a:pPr>
            <a:r>
              <a:rPr lang="en" sz="535">
                <a:solidFill>
                  <a:schemeClr val="dk1"/>
                </a:solidFill>
              </a:rPr>
              <a:t>search.</a:t>
            </a:r>
            <a:r>
              <a:rPr lang="en" sz="535">
                <a:solidFill>
                  <a:srgbClr val="FF0000"/>
                </a:solidFill>
              </a:rPr>
              <a:t>run_fges</a:t>
            </a:r>
            <a:r>
              <a:rPr lang="en" sz="535">
                <a:solidFill>
                  <a:schemeClr val="dk1"/>
                </a:solidFill>
              </a:rPr>
              <a:t>()</a:t>
            </a:r>
            <a:endParaRPr sz="535">
              <a:solidFill>
                <a:schemeClr val="dk1"/>
              </a:solidFill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3860771" y="5040305"/>
            <a:ext cx="6084375" cy="55504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t" anchorCtr="0">
            <a:noAutofit/>
          </a:bodyPr>
          <a:lstStyle/>
          <a:p>
            <a:pPr algn="ctr">
              <a:spcBef>
                <a:spcPts val="0"/>
              </a:spcBef>
            </a:pPr>
            <a:endParaRPr sz="1477">
              <a:solidFill>
                <a:schemeClr val="dk1"/>
              </a:solidFill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453559" y="1921997"/>
            <a:ext cx="13288917" cy="16857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546">
                <a:solidFill>
                  <a:schemeClr val="dk1"/>
                </a:solidFill>
              </a:rPr>
              <a:t>Causal Analysis Workflow</a:t>
            </a:r>
            <a:endParaRPr sz="1546">
              <a:solidFill>
                <a:schemeClr val="dk1"/>
              </a:solidFill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726298" y="2471595"/>
            <a:ext cx="923083" cy="671917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5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771" tIns="87771" rIns="87771" bIns="87771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152"/>
              <a:t>Data Prep</a:t>
            </a:r>
            <a:endParaRPr sz="1152"/>
          </a:p>
        </p:txBody>
      </p:sp>
      <p:sp>
        <p:nvSpPr>
          <p:cNvPr id="191" name="Google Shape;191;p17"/>
          <p:cNvSpPr/>
          <p:nvPr/>
        </p:nvSpPr>
        <p:spPr>
          <a:xfrm>
            <a:off x="2003846" y="2557019"/>
            <a:ext cx="1223099" cy="501029"/>
          </a:xfrm>
          <a:prstGeom prst="flowChartOnlineStorage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859"/>
              <a:t>Feature Engineering</a:t>
            </a:r>
            <a:endParaRPr sz="859"/>
          </a:p>
        </p:txBody>
      </p:sp>
      <p:sp>
        <p:nvSpPr>
          <p:cNvPr id="192" name="Google Shape;192;p17"/>
          <p:cNvSpPr/>
          <p:nvPr/>
        </p:nvSpPr>
        <p:spPr>
          <a:xfrm>
            <a:off x="3683680" y="2436408"/>
            <a:ext cx="1745618" cy="742170"/>
          </a:xfrm>
          <a:prstGeom prst="flowChartMultidocument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44"/>
              <a:t>Null Variable Calibration</a:t>
            </a:r>
            <a:endParaRPr sz="944"/>
          </a:p>
        </p:txBody>
      </p:sp>
      <p:sp>
        <p:nvSpPr>
          <p:cNvPr id="193" name="Google Shape;193;p17"/>
          <p:cNvSpPr/>
          <p:nvPr/>
        </p:nvSpPr>
        <p:spPr>
          <a:xfrm>
            <a:off x="5777619" y="2530060"/>
            <a:ext cx="1431256" cy="554973"/>
          </a:xfrm>
          <a:prstGeom prst="flowChartOnlineStorage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44"/>
              <a:t>Threshold Derivation</a:t>
            </a:r>
            <a:endParaRPr sz="944"/>
          </a:p>
        </p:txBody>
      </p:sp>
      <p:sp>
        <p:nvSpPr>
          <p:cNvPr id="194" name="Google Shape;194;p17"/>
          <p:cNvSpPr/>
          <p:nvPr/>
        </p:nvSpPr>
        <p:spPr>
          <a:xfrm>
            <a:off x="7625996" y="2393816"/>
            <a:ext cx="1745618" cy="742170"/>
          </a:xfrm>
          <a:prstGeom prst="flowChartMultidocument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44"/>
              <a:t>Causal Discovery</a:t>
            </a:r>
            <a:endParaRPr sz="944"/>
          </a:p>
        </p:txBody>
      </p:sp>
      <p:sp>
        <p:nvSpPr>
          <p:cNvPr id="195" name="Google Shape;195;p17"/>
          <p:cNvSpPr/>
          <p:nvPr/>
        </p:nvSpPr>
        <p:spPr>
          <a:xfrm>
            <a:off x="9665115" y="2487428"/>
            <a:ext cx="1431256" cy="554973"/>
          </a:xfrm>
          <a:prstGeom prst="flowChartOnlineStorage">
            <a:avLst/>
          </a:prstGeom>
          <a:solidFill>
            <a:schemeClr val="lt2"/>
          </a:solidFill>
          <a:ln w="5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90" tIns="78490" rIns="78490" bIns="7849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44"/>
              <a:t>Edge Filtering</a:t>
            </a:r>
            <a:endParaRPr sz="944"/>
          </a:p>
        </p:txBody>
      </p:sp>
      <p:sp>
        <p:nvSpPr>
          <p:cNvPr id="196" name="Google Shape;196;p17"/>
          <p:cNvSpPr/>
          <p:nvPr/>
        </p:nvSpPr>
        <p:spPr>
          <a:xfrm>
            <a:off x="11688608" y="2477687"/>
            <a:ext cx="1666500" cy="591443"/>
          </a:xfrm>
          <a:prstGeom prst="flowChartDocumen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69"/>
              <a:t>Graph Interpretation</a:t>
            </a:r>
            <a:endParaRPr sz="1069"/>
          </a:p>
        </p:txBody>
      </p:sp>
      <p:sp>
        <p:nvSpPr>
          <p:cNvPr id="197" name="Google Shape;197;p17"/>
          <p:cNvSpPr txBox="1"/>
          <p:nvPr/>
        </p:nvSpPr>
        <p:spPr>
          <a:xfrm>
            <a:off x="7514375" y="6357556"/>
            <a:ext cx="729667" cy="1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JPype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4746462" y="5976528"/>
            <a:ext cx="809417" cy="24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Pykumu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9498462" y="5946660"/>
            <a:ext cx="1223292" cy="24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Tetrad Java API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7277226" y="8140931"/>
            <a:ext cx="1333292" cy="24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TetradSearch Class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9432118" y="6541806"/>
            <a:ext cx="1037667" cy="99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764">
                <a:solidFill>
                  <a:schemeClr val="dk1"/>
                </a:solidFill>
              </a:rPr>
              <a:t>tetrad-current.jar contains </a:t>
            </a:r>
            <a:r>
              <a:rPr lang="en" sz="764">
                <a:solidFill>
                  <a:srgbClr val="0000FF"/>
                </a:solidFill>
              </a:rPr>
              <a:t>Tetrad Java packages</a:t>
            </a:r>
            <a:r>
              <a:rPr lang="en" sz="764">
                <a:solidFill>
                  <a:schemeClr val="dk1"/>
                </a:solidFill>
              </a:rPr>
              <a:t>  </a:t>
            </a:r>
            <a:endParaRPr sz="764">
              <a:solidFill>
                <a:schemeClr val="dk1"/>
              </a:solidFill>
            </a:endParaRPr>
          </a:p>
        </p:txBody>
      </p:sp>
      <p:cxnSp>
        <p:nvCxnSpPr>
          <p:cNvPr id="202" name="Google Shape;202;p17"/>
          <p:cNvCxnSpPr/>
          <p:nvPr/>
        </p:nvCxnSpPr>
        <p:spPr>
          <a:xfrm>
            <a:off x="4922042" y="3064278"/>
            <a:ext cx="5958" cy="10152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17"/>
          <p:cNvCxnSpPr/>
          <p:nvPr/>
        </p:nvCxnSpPr>
        <p:spPr>
          <a:xfrm rot="10800000" flipH="1">
            <a:off x="4920323" y="4078035"/>
            <a:ext cx="3465458" cy="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17"/>
          <p:cNvCxnSpPr>
            <a:stCxn id="194" idx="2"/>
          </p:cNvCxnSpPr>
          <p:nvPr/>
        </p:nvCxnSpPr>
        <p:spPr>
          <a:xfrm>
            <a:off x="8377420" y="3107879"/>
            <a:ext cx="1375" cy="96341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7"/>
          <p:cNvCxnSpPr/>
          <p:nvPr/>
        </p:nvCxnSpPr>
        <p:spPr>
          <a:xfrm>
            <a:off x="6692163" y="4079066"/>
            <a:ext cx="5042" cy="94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" name="Google Shape;206;p17"/>
          <p:cNvCxnSpPr>
            <a:stCxn id="186" idx="2"/>
            <a:endCxn id="187" idx="3"/>
          </p:cNvCxnSpPr>
          <p:nvPr/>
        </p:nvCxnSpPr>
        <p:spPr>
          <a:xfrm rot="10800000">
            <a:off x="5555675" y="6877853"/>
            <a:ext cx="1843875" cy="76633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7" name="Google Shape;207;p17"/>
          <p:cNvCxnSpPr>
            <a:endCxn id="187" idx="3"/>
          </p:cNvCxnSpPr>
          <p:nvPr/>
        </p:nvCxnSpPr>
        <p:spPr>
          <a:xfrm flipH="1">
            <a:off x="5555892" y="6857825"/>
            <a:ext cx="3897208" cy="2016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" name="Google Shape;208;p17"/>
          <p:cNvCxnSpPr>
            <a:stCxn id="190" idx="3"/>
            <a:endCxn id="191" idx="1"/>
          </p:cNvCxnSpPr>
          <p:nvPr/>
        </p:nvCxnSpPr>
        <p:spPr>
          <a:xfrm>
            <a:off x="1649381" y="2807553"/>
            <a:ext cx="35429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9" name="Google Shape;209;p17"/>
          <p:cNvCxnSpPr>
            <a:stCxn id="191" idx="3"/>
            <a:endCxn id="192" idx="1"/>
          </p:cNvCxnSpPr>
          <p:nvPr/>
        </p:nvCxnSpPr>
        <p:spPr>
          <a:xfrm>
            <a:off x="3023095" y="2807533"/>
            <a:ext cx="66045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0" name="Google Shape;210;p17"/>
          <p:cNvCxnSpPr>
            <a:stCxn id="192" idx="3"/>
            <a:endCxn id="193" idx="1"/>
          </p:cNvCxnSpPr>
          <p:nvPr/>
        </p:nvCxnSpPr>
        <p:spPr>
          <a:xfrm>
            <a:off x="5429298" y="2807493"/>
            <a:ext cx="3483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1" name="Google Shape;211;p17"/>
          <p:cNvCxnSpPr>
            <a:stCxn id="193" idx="3"/>
          </p:cNvCxnSpPr>
          <p:nvPr/>
        </p:nvCxnSpPr>
        <p:spPr>
          <a:xfrm>
            <a:off x="6970334" y="2807547"/>
            <a:ext cx="654958" cy="32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2" name="Google Shape;212;p17"/>
          <p:cNvCxnSpPr>
            <a:stCxn id="194" idx="3"/>
            <a:endCxn id="195" idx="1"/>
          </p:cNvCxnSpPr>
          <p:nvPr/>
        </p:nvCxnSpPr>
        <p:spPr>
          <a:xfrm>
            <a:off x="9371614" y="2764901"/>
            <a:ext cx="2933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Google Shape;213;p17"/>
          <p:cNvCxnSpPr>
            <a:stCxn id="195" idx="3"/>
            <a:endCxn id="196" idx="1"/>
          </p:cNvCxnSpPr>
          <p:nvPr/>
        </p:nvCxnSpPr>
        <p:spPr>
          <a:xfrm>
            <a:off x="10857828" y="2764914"/>
            <a:ext cx="830958" cy="87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" name="Google Shape;214;p17"/>
          <p:cNvCxnSpPr>
            <a:endCxn id="186" idx="4"/>
          </p:cNvCxnSpPr>
          <p:nvPr/>
        </p:nvCxnSpPr>
        <p:spPr>
          <a:xfrm flipH="1">
            <a:off x="8358842" y="7072644"/>
            <a:ext cx="2077167" cy="57154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5" name="Google Shape;215;p17"/>
          <p:cNvSpPr txBox="1"/>
          <p:nvPr/>
        </p:nvSpPr>
        <p:spPr>
          <a:xfrm>
            <a:off x="-3439257" y="2196997"/>
            <a:ext cx="2519917" cy="113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750">
                <a:solidFill>
                  <a:schemeClr val="dk2"/>
                </a:solidFill>
              </a:rPr>
              <a:t>Iteration 3</a:t>
            </a:r>
            <a:endParaRPr sz="275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/>
          <p:nvPr/>
        </p:nvSpPr>
        <p:spPr>
          <a:xfrm>
            <a:off x="4830386" y="1656163"/>
            <a:ext cx="4524667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833">
                <a:solidFill>
                  <a:srgbClr val="595959"/>
                </a:solidFill>
              </a:rPr>
              <a:t>Causal Analysis Workflow</a:t>
            </a:r>
            <a:endParaRPr sz="1833">
              <a:solidFill>
                <a:srgbClr val="595959"/>
              </a:solidFill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570243" y="1823302"/>
            <a:ext cx="2852667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833">
                <a:solidFill>
                  <a:srgbClr val="595959"/>
                </a:solidFill>
              </a:rPr>
              <a:t>About</a:t>
            </a:r>
            <a:endParaRPr sz="1833">
              <a:solidFill>
                <a:srgbClr val="595959"/>
              </a:solidFill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234590" y="6622950"/>
            <a:ext cx="3762000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833">
                <a:solidFill>
                  <a:srgbClr val="595959"/>
                </a:solidFill>
              </a:rPr>
              <a:t>Command line interface</a:t>
            </a:r>
            <a:endParaRPr sz="1833">
              <a:solidFill>
                <a:srgbClr val="595959"/>
              </a:solidFill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9489753" y="1706236"/>
            <a:ext cx="4169000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833">
                <a:solidFill>
                  <a:srgbClr val="595959"/>
                </a:solidFill>
              </a:rPr>
              <a:t>Related Notebook</a:t>
            </a:r>
            <a:endParaRPr sz="1833">
              <a:solidFill>
                <a:srgbClr val="595959"/>
              </a:solidFill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421781" y="2460080"/>
            <a:ext cx="4205208" cy="122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" sz="1528">
                <a:solidFill>
                  <a:srgbClr val="595959"/>
                </a:solidFill>
              </a:rPr>
              <a:t>Pykumu is a Python module that serves as a wrapper over the Tetrad Java API (via JPype), providing an interface for causal analysis algorithms.</a:t>
            </a:r>
            <a:endParaRPr sz="1528">
              <a:solidFill>
                <a:srgbClr val="595959"/>
              </a:solidFill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-3425049" y="2409014"/>
            <a:ext cx="2519917" cy="113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750">
                <a:solidFill>
                  <a:schemeClr val="dk2"/>
                </a:solidFill>
              </a:rPr>
              <a:t>Iteration 2</a:t>
            </a:r>
            <a:endParaRPr sz="2750">
              <a:solidFill>
                <a:schemeClr val="dk2"/>
              </a:solidFill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9528559" y="2131378"/>
            <a:ext cx="4318417" cy="1410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To identify causal relationships between software development activities, developer communication patterns, community smells, and security vulnerabilities using bootstrapped causal search with null variable thresholding.</a:t>
            </a:r>
            <a:endParaRPr sz="1222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issue_causal_analysis.ipynb</a:t>
            </a:r>
            <a:endParaRPr sz="1222">
              <a:solidFill>
                <a:srgbClr val="595959"/>
              </a:solidFill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6384736" y="2410427"/>
            <a:ext cx="915750" cy="397833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5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771" tIns="87771" rIns="87771" bIns="87771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99"/>
              <a:t>Raw Data</a:t>
            </a:r>
            <a:endParaRPr sz="999"/>
          </a:p>
        </p:txBody>
      </p:sp>
      <p:cxnSp>
        <p:nvCxnSpPr>
          <p:cNvPr id="228" name="Google Shape;228;p18"/>
          <p:cNvCxnSpPr>
            <a:stCxn id="227" idx="2"/>
            <a:endCxn id="229" idx="0"/>
          </p:cNvCxnSpPr>
          <p:nvPr/>
        </p:nvCxnSpPr>
        <p:spPr>
          <a:xfrm>
            <a:off x="6842611" y="2808260"/>
            <a:ext cx="0" cy="299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9" name="Google Shape;229;p18"/>
          <p:cNvSpPr/>
          <p:nvPr/>
        </p:nvSpPr>
        <p:spPr>
          <a:xfrm>
            <a:off x="6384927" y="3107858"/>
            <a:ext cx="915750" cy="397833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5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771" tIns="87771" rIns="87771" bIns="87771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99"/>
              <a:t>Feature Engineering</a:t>
            </a:r>
            <a:endParaRPr sz="999"/>
          </a:p>
        </p:txBody>
      </p:sp>
      <p:sp>
        <p:nvSpPr>
          <p:cNvPr id="230" name="Google Shape;230;p18"/>
          <p:cNvSpPr/>
          <p:nvPr/>
        </p:nvSpPr>
        <p:spPr>
          <a:xfrm>
            <a:off x="5034677" y="4069403"/>
            <a:ext cx="1037208" cy="667792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93"/>
              <a:t>Null Variable Search</a:t>
            </a:r>
            <a:endParaRPr sz="993"/>
          </a:p>
        </p:txBody>
      </p:sp>
      <p:sp>
        <p:nvSpPr>
          <p:cNvPr id="231" name="Google Shape;231;p18"/>
          <p:cNvSpPr/>
          <p:nvPr/>
        </p:nvSpPr>
        <p:spPr>
          <a:xfrm>
            <a:off x="7578313" y="4068028"/>
            <a:ext cx="1037208" cy="670542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93"/>
              <a:t>Domain Knowledge Search</a:t>
            </a:r>
            <a:endParaRPr sz="993"/>
          </a:p>
        </p:txBody>
      </p:sp>
      <p:sp>
        <p:nvSpPr>
          <p:cNvPr id="232" name="Google Shape;232;p18"/>
          <p:cNvSpPr/>
          <p:nvPr/>
        </p:nvSpPr>
        <p:spPr>
          <a:xfrm>
            <a:off x="5034448" y="5317482"/>
            <a:ext cx="1037208" cy="754417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93"/>
              <a:t>Threshold Derivation</a:t>
            </a:r>
            <a:endParaRPr sz="993"/>
          </a:p>
        </p:txBody>
      </p:sp>
      <p:sp>
        <p:nvSpPr>
          <p:cNvPr id="233" name="Google Shape;233;p18"/>
          <p:cNvSpPr/>
          <p:nvPr/>
        </p:nvSpPr>
        <p:spPr>
          <a:xfrm>
            <a:off x="7578313" y="5300906"/>
            <a:ext cx="1037208" cy="754417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993"/>
              <a:t>Apply Threshold</a:t>
            </a:r>
            <a:endParaRPr sz="993"/>
          </a:p>
        </p:txBody>
      </p:sp>
      <p:cxnSp>
        <p:nvCxnSpPr>
          <p:cNvPr id="234" name="Google Shape;234;p18"/>
          <p:cNvCxnSpPr>
            <a:stCxn id="229" idx="2"/>
            <a:endCxn id="231" idx="0"/>
          </p:cNvCxnSpPr>
          <p:nvPr/>
        </p:nvCxnSpPr>
        <p:spPr>
          <a:xfrm rot="-5400000" flipH="1">
            <a:off x="7188615" y="3159878"/>
            <a:ext cx="562375" cy="12540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18"/>
          <p:cNvCxnSpPr>
            <a:stCxn id="229" idx="2"/>
            <a:endCxn id="230" idx="0"/>
          </p:cNvCxnSpPr>
          <p:nvPr/>
        </p:nvCxnSpPr>
        <p:spPr>
          <a:xfrm rot="5400000">
            <a:off x="5916281" y="3142920"/>
            <a:ext cx="563750" cy="1289292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18"/>
          <p:cNvCxnSpPr>
            <a:stCxn id="230" idx="2"/>
            <a:endCxn id="232" idx="0"/>
          </p:cNvCxnSpPr>
          <p:nvPr/>
        </p:nvCxnSpPr>
        <p:spPr>
          <a:xfrm>
            <a:off x="5553281" y="4737194"/>
            <a:ext cx="0" cy="5802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7" name="Google Shape;237;p18"/>
          <p:cNvCxnSpPr>
            <a:stCxn id="232" idx="3"/>
            <a:endCxn id="233" idx="1"/>
          </p:cNvCxnSpPr>
          <p:nvPr/>
        </p:nvCxnSpPr>
        <p:spPr>
          <a:xfrm rot="10800000" flipH="1">
            <a:off x="6071656" y="5678191"/>
            <a:ext cx="1506542" cy="16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8" name="Google Shape;238;p18"/>
          <p:cNvCxnSpPr>
            <a:stCxn id="231" idx="2"/>
            <a:endCxn id="233" idx="0"/>
          </p:cNvCxnSpPr>
          <p:nvPr/>
        </p:nvCxnSpPr>
        <p:spPr>
          <a:xfrm>
            <a:off x="8096917" y="4738569"/>
            <a:ext cx="0" cy="5623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9" name="Google Shape;239;p18"/>
          <p:cNvSpPr/>
          <p:nvPr/>
        </p:nvSpPr>
        <p:spPr>
          <a:xfrm>
            <a:off x="5024021" y="6961104"/>
            <a:ext cx="3762000" cy="236545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833"/>
          </a:p>
        </p:txBody>
      </p:sp>
      <p:sp>
        <p:nvSpPr>
          <p:cNvPr id="240" name="Google Shape;240;p18"/>
          <p:cNvSpPr/>
          <p:nvPr/>
        </p:nvSpPr>
        <p:spPr>
          <a:xfrm>
            <a:off x="6205128" y="7124500"/>
            <a:ext cx="532125" cy="532125"/>
          </a:xfrm>
          <a:prstGeom prst="ellipse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833"/>
          </a:p>
        </p:txBody>
      </p:sp>
      <p:sp>
        <p:nvSpPr>
          <p:cNvPr id="241" name="Google Shape;241;p18"/>
          <p:cNvSpPr/>
          <p:nvPr/>
        </p:nvSpPr>
        <p:spPr>
          <a:xfrm>
            <a:off x="7466499" y="7972340"/>
            <a:ext cx="532125" cy="532125"/>
          </a:xfrm>
          <a:prstGeom prst="ellipse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833"/>
          </a:p>
        </p:txBody>
      </p:sp>
      <p:sp>
        <p:nvSpPr>
          <p:cNvPr id="242" name="Google Shape;242;p18"/>
          <p:cNvSpPr/>
          <p:nvPr/>
        </p:nvSpPr>
        <p:spPr>
          <a:xfrm>
            <a:off x="6108878" y="8537771"/>
            <a:ext cx="532125" cy="532125"/>
          </a:xfrm>
          <a:prstGeom prst="ellipse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833"/>
          </a:p>
        </p:txBody>
      </p:sp>
      <p:cxnSp>
        <p:nvCxnSpPr>
          <p:cNvPr id="243" name="Google Shape;243;p18"/>
          <p:cNvCxnSpPr>
            <a:stCxn id="240" idx="5"/>
            <a:endCxn id="241" idx="1"/>
          </p:cNvCxnSpPr>
          <p:nvPr/>
        </p:nvCxnSpPr>
        <p:spPr>
          <a:xfrm>
            <a:off x="6659323" y="7578698"/>
            <a:ext cx="885042" cy="47162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" name="Google Shape;244;p18"/>
          <p:cNvCxnSpPr>
            <a:stCxn id="240" idx="4"/>
            <a:endCxn id="242" idx="0"/>
          </p:cNvCxnSpPr>
          <p:nvPr/>
        </p:nvCxnSpPr>
        <p:spPr>
          <a:xfrm flipH="1">
            <a:off x="6374940" y="7656625"/>
            <a:ext cx="96250" cy="88137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" name="Google Shape;245;p18"/>
          <p:cNvCxnSpPr>
            <a:stCxn id="242" idx="6"/>
            <a:endCxn id="241" idx="3"/>
          </p:cNvCxnSpPr>
          <p:nvPr/>
        </p:nvCxnSpPr>
        <p:spPr>
          <a:xfrm rot="10800000" flipH="1">
            <a:off x="6641003" y="8426625"/>
            <a:ext cx="903375" cy="37720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" name="Google Shape;246;p18"/>
          <p:cNvCxnSpPr>
            <a:stCxn id="233" idx="2"/>
            <a:endCxn id="239" idx="0"/>
          </p:cNvCxnSpPr>
          <p:nvPr/>
        </p:nvCxnSpPr>
        <p:spPr>
          <a:xfrm rot="5400000">
            <a:off x="7048250" y="5912323"/>
            <a:ext cx="905667" cy="1191667"/>
          </a:xfrm>
          <a:prstGeom prst="bentConnector3">
            <a:avLst>
              <a:gd name="adj1" fmla="val 4984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7" name="Google Shape;247;p18"/>
          <p:cNvSpPr txBox="1"/>
          <p:nvPr/>
        </p:nvSpPr>
        <p:spPr>
          <a:xfrm>
            <a:off x="9495101" y="3196718"/>
            <a:ext cx="3762000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833">
                <a:solidFill>
                  <a:srgbClr val="595959"/>
                </a:solidFill>
              </a:rPr>
              <a:t>Feature Engineering</a:t>
            </a:r>
            <a:endParaRPr sz="1833">
              <a:solidFill>
                <a:srgbClr val="595959"/>
              </a:solidFill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9495101" y="3618861"/>
            <a:ext cx="4385333" cy="291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Clean up raw data by converting fields to numeric types, removing rows with missing data, filling in gaps with zero, and shortening column names for graph labels.</a:t>
            </a:r>
            <a:endParaRPr sz="1222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Create time-lagged copies of each variable so the causal search can pick up relationships across time periods.</a:t>
            </a:r>
            <a:endParaRPr sz="1222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Remove redundant and highly correlated variables, and drop CVEs that don't have enough time periods for reliable analysis.</a:t>
            </a:r>
            <a:endParaRPr sz="1222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Normalize the data to satisfy scoring assumptions, and convert each CVE into its own binary indicator for individual vulnerability tracking.</a:t>
            </a:r>
            <a:endParaRPr sz="1222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Generate shuffled null variables that have no real relationships, which serve as a baseline for filtering out edges formed by chance.</a:t>
            </a:r>
            <a:endParaRPr sz="1222">
              <a:solidFill>
                <a:srgbClr val="595959"/>
              </a:solidFill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9495101" y="6370065"/>
            <a:ext cx="3762000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833">
                <a:solidFill>
                  <a:srgbClr val="595959"/>
                </a:solidFill>
              </a:rPr>
              <a:t>1-PNEF Threshold</a:t>
            </a:r>
            <a:endParaRPr sz="1833">
              <a:solidFill>
                <a:srgbClr val="595959"/>
              </a:solidFill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9471649" y="6799428"/>
            <a:ext cx="4205208" cy="2538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Look at how often edges formed between null variables across all bootstrap runs to see how frequently random edges appear by chance.</a:t>
            </a:r>
            <a:endParaRPr sz="1222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From that, derive the 1PNEF threshold, the cutoff point where edges below it are likely formed by random chance.</a:t>
            </a:r>
            <a:endParaRPr sz="1222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Run a domain constrained causal search on only the real variables, with temporal rules that prevent future features from causing past features.</a:t>
            </a:r>
            <a:endParaRPr sz="1222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Apply the 1PNEF threshold to filter out edges from the domain search that formed less often than the random baseline.</a:t>
            </a:r>
            <a:endParaRPr sz="1222">
              <a:solidFill>
                <a:srgbClr val="595959"/>
              </a:solidFill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3463854" y="4330590"/>
            <a:ext cx="1133458" cy="871750"/>
          </a:xfrm>
          <a:prstGeom prst="cube">
            <a:avLst>
              <a:gd name="adj" fmla="val 25000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149"/>
          </a:p>
        </p:txBody>
      </p:sp>
      <p:sp>
        <p:nvSpPr>
          <p:cNvPr id="252" name="Google Shape;252;p18"/>
          <p:cNvSpPr/>
          <p:nvPr/>
        </p:nvSpPr>
        <p:spPr>
          <a:xfrm>
            <a:off x="2044727" y="5397512"/>
            <a:ext cx="959292" cy="994583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374"/>
              <a:t>import </a:t>
            </a:r>
            <a:r>
              <a:rPr lang="en" sz="374">
                <a:solidFill>
                  <a:srgbClr val="0000FF"/>
                </a:solidFill>
              </a:rPr>
              <a:t>edu.cmu.tetrad.algcomparison.algorithm.oracle.cpdag</a:t>
            </a:r>
            <a:r>
              <a:rPr lang="en" sz="374"/>
              <a:t> as cpdag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class </a:t>
            </a:r>
            <a:r>
              <a:rPr lang="en" sz="374">
                <a:solidFill>
                  <a:srgbClr val="FF0000"/>
                </a:solidFill>
              </a:rPr>
              <a:t>TetradSearch</a:t>
            </a:r>
            <a:r>
              <a:rPr lang="en" sz="374"/>
              <a:t>: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def </a:t>
            </a:r>
            <a:r>
              <a:rPr lang="en" sz="374">
                <a:solidFill>
                  <a:srgbClr val="FF0000"/>
                </a:solidFill>
              </a:rPr>
              <a:t>run_fges</a:t>
            </a:r>
            <a:r>
              <a:rPr lang="en" sz="374"/>
              <a:t>(self, …)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     alg = </a:t>
            </a:r>
            <a:r>
              <a:rPr lang="en" sz="374">
                <a:solidFill>
                  <a:srgbClr val="0000FF"/>
                </a:solidFill>
              </a:rPr>
              <a:t>cpdag.Fges</a:t>
            </a:r>
            <a:r>
              <a:rPr lang="en" sz="374"/>
              <a:t>(self.SCORE)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      self.java = alg.</a:t>
            </a:r>
            <a:r>
              <a:rPr lang="en" sz="374">
                <a:solidFill>
                  <a:srgbClr val="0000FF"/>
                </a:solidFill>
              </a:rPr>
              <a:t>search</a:t>
            </a:r>
            <a:r>
              <a:rPr lang="en" sz="374"/>
              <a:t>(...)</a:t>
            </a:r>
            <a:endParaRPr sz="374"/>
          </a:p>
        </p:txBody>
      </p:sp>
      <p:sp>
        <p:nvSpPr>
          <p:cNvPr id="253" name="Google Shape;253;p18"/>
          <p:cNvSpPr/>
          <p:nvPr/>
        </p:nvSpPr>
        <p:spPr>
          <a:xfrm>
            <a:off x="163410" y="4330575"/>
            <a:ext cx="875875" cy="1069292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535">
                <a:solidFill>
                  <a:schemeClr val="dk1"/>
                </a:solidFill>
              </a:rPr>
              <a:t>import </a:t>
            </a:r>
            <a:r>
              <a:rPr lang="en" sz="535">
                <a:solidFill>
                  <a:srgbClr val="FF0000"/>
                </a:solidFill>
              </a:rPr>
              <a:t>api.TetradSearch</a:t>
            </a:r>
            <a:r>
              <a:rPr lang="en" sz="535">
                <a:solidFill>
                  <a:schemeClr val="dk1"/>
                </a:solidFill>
              </a:rPr>
              <a:t> as </a:t>
            </a:r>
            <a:r>
              <a:rPr lang="en" sz="535">
                <a:solidFill>
                  <a:srgbClr val="FF0000"/>
                </a:solidFill>
              </a:rPr>
              <a:t>ts</a:t>
            </a:r>
            <a:endParaRPr sz="535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endParaRPr sz="535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</a:pPr>
            <a:r>
              <a:rPr lang="en" sz="535">
                <a:solidFill>
                  <a:schemeClr val="dk1"/>
                </a:solidFill>
              </a:rPr>
              <a:t>search = </a:t>
            </a:r>
            <a:r>
              <a:rPr lang="en" sz="535">
                <a:solidFill>
                  <a:srgbClr val="FF0000"/>
                </a:solidFill>
              </a:rPr>
              <a:t>ts.TetradSearch</a:t>
            </a:r>
            <a:r>
              <a:rPr lang="en" sz="535">
                <a:solidFill>
                  <a:schemeClr val="dk1"/>
                </a:solidFill>
              </a:rPr>
              <a:t>(data)</a:t>
            </a:r>
            <a:endParaRPr sz="535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</a:pPr>
            <a:endParaRPr sz="535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</a:pPr>
            <a:r>
              <a:rPr lang="en" sz="535">
                <a:solidFill>
                  <a:schemeClr val="dk1"/>
                </a:solidFill>
              </a:rPr>
              <a:t>search.</a:t>
            </a:r>
            <a:r>
              <a:rPr lang="en" sz="535">
                <a:solidFill>
                  <a:srgbClr val="FF0000"/>
                </a:solidFill>
              </a:rPr>
              <a:t>run_fges</a:t>
            </a:r>
            <a:r>
              <a:rPr lang="en" sz="535">
                <a:solidFill>
                  <a:schemeClr val="dk1"/>
                </a:solidFill>
              </a:rPr>
              <a:t>()</a:t>
            </a:r>
            <a:endParaRPr sz="535">
              <a:solidFill>
                <a:schemeClr val="dk1"/>
              </a:solidFill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2208823" y="4508219"/>
            <a:ext cx="729667" cy="1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JPype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229854" y="3963757"/>
            <a:ext cx="809417" cy="24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Pykumu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3463854" y="4047670"/>
            <a:ext cx="1223292" cy="24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Tetrad Java API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257" name="Google Shape;257;p18"/>
          <p:cNvSpPr txBox="1"/>
          <p:nvPr/>
        </p:nvSpPr>
        <p:spPr>
          <a:xfrm>
            <a:off x="1857739" y="6319552"/>
            <a:ext cx="1333292" cy="377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TetradSearch Class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3422910" y="4522447"/>
            <a:ext cx="1037667" cy="99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764">
                <a:solidFill>
                  <a:schemeClr val="dk1"/>
                </a:solidFill>
              </a:rPr>
              <a:t>tetrad-current.jar contains </a:t>
            </a:r>
            <a:r>
              <a:rPr lang="en" sz="764">
                <a:solidFill>
                  <a:srgbClr val="0000FF"/>
                </a:solidFill>
              </a:rPr>
              <a:t>Tetrad Java packages</a:t>
            </a:r>
            <a:r>
              <a:rPr lang="en" sz="764">
                <a:solidFill>
                  <a:schemeClr val="dk1"/>
                </a:solidFill>
              </a:rPr>
              <a:t>  </a:t>
            </a:r>
            <a:endParaRPr sz="764">
              <a:solidFill>
                <a:schemeClr val="dk1"/>
              </a:solidFill>
            </a:endParaRPr>
          </a:p>
        </p:txBody>
      </p:sp>
      <p:cxnSp>
        <p:nvCxnSpPr>
          <p:cNvPr id="259" name="Google Shape;259;p18"/>
          <p:cNvCxnSpPr>
            <a:stCxn id="252" idx="2"/>
            <a:endCxn id="253" idx="3"/>
          </p:cNvCxnSpPr>
          <p:nvPr/>
        </p:nvCxnSpPr>
        <p:spPr>
          <a:xfrm rot="10800000">
            <a:off x="1039144" y="4865387"/>
            <a:ext cx="1005583" cy="102941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0" name="Google Shape;260;p18"/>
          <p:cNvCxnSpPr>
            <a:endCxn id="253" idx="3"/>
          </p:cNvCxnSpPr>
          <p:nvPr/>
        </p:nvCxnSpPr>
        <p:spPr>
          <a:xfrm flipH="1">
            <a:off x="1039285" y="4853763"/>
            <a:ext cx="2424583" cy="1145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1" name="Google Shape;261;p18"/>
          <p:cNvCxnSpPr>
            <a:stCxn id="258" idx="3"/>
            <a:endCxn id="252" idx="4"/>
          </p:cNvCxnSpPr>
          <p:nvPr/>
        </p:nvCxnSpPr>
        <p:spPr>
          <a:xfrm flipH="1">
            <a:off x="3003993" y="5019739"/>
            <a:ext cx="1456583" cy="87495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"/>
          <p:cNvSpPr txBox="1"/>
          <p:nvPr/>
        </p:nvSpPr>
        <p:spPr>
          <a:xfrm>
            <a:off x="4830386" y="1656163"/>
            <a:ext cx="4524667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833">
                <a:solidFill>
                  <a:srgbClr val="595959"/>
                </a:solidFill>
              </a:rPr>
              <a:t>Causal Analysis Workflow</a:t>
            </a:r>
            <a:endParaRPr sz="1833">
              <a:solidFill>
                <a:srgbClr val="595959"/>
              </a:solidFill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570243" y="1823302"/>
            <a:ext cx="2852667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833">
                <a:solidFill>
                  <a:srgbClr val="595959"/>
                </a:solidFill>
              </a:rPr>
              <a:t>About</a:t>
            </a:r>
            <a:endParaRPr sz="1833">
              <a:solidFill>
                <a:srgbClr val="595959"/>
              </a:solidFill>
            </a:endParaRPr>
          </a:p>
        </p:txBody>
      </p:sp>
      <p:sp>
        <p:nvSpPr>
          <p:cNvPr id="268" name="Google Shape;268;p19"/>
          <p:cNvSpPr txBox="1"/>
          <p:nvPr/>
        </p:nvSpPr>
        <p:spPr>
          <a:xfrm>
            <a:off x="9489753" y="1706236"/>
            <a:ext cx="4169000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833">
                <a:solidFill>
                  <a:srgbClr val="595959"/>
                </a:solidFill>
              </a:rPr>
              <a:t>Related Notebook</a:t>
            </a:r>
            <a:endParaRPr sz="1833">
              <a:solidFill>
                <a:srgbClr val="595959"/>
              </a:solidFill>
            </a:endParaRPr>
          </a:p>
        </p:txBody>
      </p:sp>
      <p:sp>
        <p:nvSpPr>
          <p:cNvPr id="269" name="Google Shape;269;p19"/>
          <p:cNvSpPr txBox="1"/>
          <p:nvPr/>
        </p:nvSpPr>
        <p:spPr>
          <a:xfrm>
            <a:off x="421781" y="2460080"/>
            <a:ext cx="3979708" cy="122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" sz="1528">
                <a:solidFill>
                  <a:srgbClr val="595959"/>
                </a:solidFill>
              </a:rPr>
              <a:t>Pykumu is a Python module that serves as a wrapper over the Tetrad Java API (via JPype), providing an interface for causal analysis algorithms.</a:t>
            </a:r>
            <a:endParaRPr sz="1528">
              <a:solidFill>
                <a:srgbClr val="595959"/>
              </a:solidFill>
            </a:endParaRPr>
          </a:p>
        </p:txBody>
      </p:sp>
      <p:sp>
        <p:nvSpPr>
          <p:cNvPr id="270" name="Google Shape;270;p19"/>
          <p:cNvSpPr txBox="1"/>
          <p:nvPr/>
        </p:nvSpPr>
        <p:spPr>
          <a:xfrm>
            <a:off x="-3425049" y="2409014"/>
            <a:ext cx="2519917" cy="113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750">
                <a:solidFill>
                  <a:schemeClr val="dk2"/>
                </a:solidFill>
              </a:rPr>
              <a:t>Iteration 3</a:t>
            </a:r>
            <a:endParaRPr sz="2750">
              <a:solidFill>
                <a:schemeClr val="dk2"/>
              </a:solidFill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9528559" y="2131378"/>
            <a:ext cx="4318417" cy="1410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To identify causal relationships between software development activities, developer communication patterns, community smells, and security vulnerabilities using bootstrapped causal search with null variable thresholding.</a:t>
            </a:r>
            <a:endParaRPr sz="1222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issue_causal_analysis.ipynb</a:t>
            </a:r>
            <a:endParaRPr sz="1222">
              <a:solidFill>
                <a:srgbClr val="595959"/>
              </a:solidFill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9495101" y="3196718"/>
            <a:ext cx="3762000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833">
                <a:solidFill>
                  <a:srgbClr val="595959"/>
                </a:solidFill>
              </a:rPr>
              <a:t>Feature Engineering</a:t>
            </a:r>
            <a:endParaRPr sz="1833">
              <a:solidFill>
                <a:srgbClr val="595959"/>
              </a:solidFill>
            </a:endParaRPr>
          </a:p>
        </p:txBody>
      </p:sp>
      <p:sp>
        <p:nvSpPr>
          <p:cNvPr id="273" name="Google Shape;273;p19"/>
          <p:cNvSpPr txBox="1"/>
          <p:nvPr/>
        </p:nvSpPr>
        <p:spPr>
          <a:xfrm>
            <a:off x="9495101" y="3618861"/>
            <a:ext cx="4385333" cy="291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Clean up raw data by converting fields to numeric types, removing rows with missing data, filling in gaps with zero, and shortening column names for graph labels.</a:t>
            </a:r>
            <a:endParaRPr sz="1222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Create time-lagged copies of each variable so the causal search can pick up relationships across time periods.</a:t>
            </a:r>
            <a:endParaRPr sz="1222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Remove redundant and highly correlated variables, and drop CVEs that don't have enough time periods for reliable analysis.</a:t>
            </a:r>
            <a:endParaRPr sz="1222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Normalize the data to satisfy scoring assumptions, and convert each CVE into its own binary indicator for individual vulnerability tracking.</a:t>
            </a:r>
            <a:endParaRPr sz="1222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Generate shuffled null variables that have no real relationships, which serve as a baseline for filtering out edges formed by chance.</a:t>
            </a:r>
            <a:endParaRPr sz="1222">
              <a:solidFill>
                <a:srgbClr val="595959"/>
              </a:solidFill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9495101" y="6370065"/>
            <a:ext cx="3762000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833">
                <a:solidFill>
                  <a:srgbClr val="595959"/>
                </a:solidFill>
              </a:rPr>
              <a:t>1-PNEF Threshold</a:t>
            </a:r>
            <a:endParaRPr sz="1833">
              <a:solidFill>
                <a:srgbClr val="595959"/>
              </a:solidFill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9471649" y="6799428"/>
            <a:ext cx="4205208" cy="2538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Look at how often edges formed between null variables across all bootstrap runs to see how frequently random edges appear by chance.</a:t>
            </a:r>
            <a:endParaRPr sz="1222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From that, derive the 1PNEF threshold, the cutoff point where edges below it are likely formed by random chance.</a:t>
            </a:r>
            <a:endParaRPr sz="1222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Run a domain constrained causal search on only the real variables, with temporal rules that prevent future features from causing past features.</a:t>
            </a:r>
            <a:endParaRPr sz="1222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</a:pPr>
            <a:r>
              <a:rPr lang="en" sz="1222">
                <a:solidFill>
                  <a:srgbClr val="595959"/>
                </a:solidFill>
              </a:rPr>
              <a:t>- Apply the 1PNEF threshold to filter out edges from the domain search that formed less often than the random baseline.</a:t>
            </a:r>
            <a:endParaRPr sz="1222">
              <a:solidFill>
                <a:srgbClr val="595959"/>
              </a:solidFill>
            </a:endParaRPr>
          </a:p>
        </p:txBody>
      </p:sp>
      <p:pic>
        <p:nvPicPr>
          <p:cNvPr id="276" name="Google Shape;27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7841" y="2409015"/>
            <a:ext cx="4754370" cy="567034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9"/>
          <p:cNvSpPr txBox="1"/>
          <p:nvPr/>
        </p:nvSpPr>
        <p:spPr>
          <a:xfrm>
            <a:off x="163396" y="6924343"/>
            <a:ext cx="3762000" cy="75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833">
                <a:solidFill>
                  <a:srgbClr val="595959"/>
                </a:solidFill>
              </a:rPr>
              <a:t>Command line interface</a:t>
            </a:r>
            <a:endParaRPr sz="1833">
              <a:solidFill>
                <a:srgbClr val="595959"/>
              </a:solidFill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3391398" y="4681406"/>
            <a:ext cx="1108708" cy="871750"/>
          </a:xfrm>
          <a:prstGeom prst="cube">
            <a:avLst>
              <a:gd name="adj" fmla="val 25000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149"/>
          </a:p>
        </p:txBody>
      </p:sp>
      <p:sp>
        <p:nvSpPr>
          <p:cNvPr id="279" name="Google Shape;279;p19"/>
          <p:cNvSpPr/>
          <p:nvPr/>
        </p:nvSpPr>
        <p:spPr>
          <a:xfrm>
            <a:off x="2003421" y="5748328"/>
            <a:ext cx="938208" cy="994583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" sz="374">
                <a:solidFill>
                  <a:schemeClr val="dk1"/>
                </a:solidFill>
              </a:rPr>
              <a:t>import </a:t>
            </a:r>
            <a:r>
              <a:rPr lang="en" sz="374">
                <a:solidFill>
                  <a:srgbClr val="0000FF"/>
                </a:solidFill>
              </a:rPr>
              <a:t>edu.cmu.tetrad.algcomparison.algorithm.oracle.cpdag</a:t>
            </a:r>
            <a:r>
              <a:rPr lang="en" sz="374">
                <a:solidFill>
                  <a:schemeClr val="dk1"/>
                </a:solidFill>
              </a:rPr>
              <a:t> as cpdag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class </a:t>
            </a:r>
            <a:r>
              <a:rPr lang="en" sz="374">
                <a:solidFill>
                  <a:srgbClr val="FF0000"/>
                </a:solidFill>
              </a:rPr>
              <a:t>TetradSearch</a:t>
            </a:r>
            <a:r>
              <a:rPr lang="en" sz="374"/>
              <a:t>: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def </a:t>
            </a:r>
            <a:r>
              <a:rPr lang="en" sz="374">
                <a:solidFill>
                  <a:srgbClr val="FF0000"/>
                </a:solidFill>
              </a:rPr>
              <a:t>run_fges</a:t>
            </a:r>
            <a:r>
              <a:rPr lang="en" sz="374"/>
              <a:t>(self, …)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     alg = </a:t>
            </a:r>
            <a:r>
              <a:rPr lang="en" sz="374">
                <a:solidFill>
                  <a:srgbClr val="0000FF"/>
                </a:solidFill>
              </a:rPr>
              <a:t>cpdag.Fges</a:t>
            </a:r>
            <a:r>
              <a:rPr lang="en" sz="374"/>
              <a:t>(self.SCORE)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      self.java = alg.</a:t>
            </a:r>
            <a:r>
              <a:rPr lang="en" sz="374">
                <a:solidFill>
                  <a:srgbClr val="0000FF"/>
                </a:solidFill>
              </a:rPr>
              <a:t>search</a:t>
            </a:r>
            <a:r>
              <a:rPr lang="en" sz="374"/>
              <a:t>(...)</a:t>
            </a:r>
            <a:endParaRPr sz="374"/>
          </a:p>
        </p:txBody>
      </p:sp>
      <p:sp>
        <p:nvSpPr>
          <p:cNvPr id="280" name="Google Shape;280;p19"/>
          <p:cNvSpPr/>
          <p:nvPr/>
        </p:nvSpPr>
        <p:spPr>
          <a:xfrm>
            <a:off x="163396" y="4681391"/>
            <a:ext cx="856625" cy="1069292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535">
                <a:solidFill>
                  <a:schemeClr val="dk1"/>
                </a:solidFill>
              </a:rPr>
              <a:t>import </a:t>
            </a:r>
            <a:r>
              <a:rPr lang="en" sz="535">
                <a:solidFill>
                  <a:srgbClr val="FF0000"/>
                </a:solidFill>
              </a:rPr>
              <a:t>api.TetradSearch</a:t>
            </a:r>
            <a:r>
              <a:rPr lang="en" sz="535">
                <a:solidFill>
                  <a:schemeClr val="dk1"/>
                </a:solidFill>
              </a:rPr>
              <a:t> as </a:t>
            </a:r>
            <a:r>
              <a:rPr lang="en" sz="535">
                <a:solidFill>
                  <a:srgbClr val="FF0000"/>
                </a:solidFill>
              </a:rPr>
              <a:t>ts</a:t>
            </a:r>
            <a:endParaRPr sz="535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endParaRPr sz="535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</a:pPr>
            <a:r>
              <a:rPr lang="en" sz="535">
                <a:solidFill>
                  <a:schemeClr val="dk1"/>
                </a:solidFill>
              </a:rPr>
              <a:t>search = </a:t>
            </a:r>
            <a:r>
              <a:rPr lang="en" sz="535">
                <a:solidFill>
                  <a:srgbClr val="FF0000"/>
                </a:solidFill>
              </a:rPr>
              <a:t>ts.TetradSearch</a:t>
            </a:r>
            <a:r>
              <a:rPr lang="en" sz="535">
                <a:solidFill>
                  <a:schemeClr val="dk1"/>
                </a:solidFill>
              </a:rPr>
              <a:t>(data)</a:t>
            </a:r>
            <a:endParaRPr sz="535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</a:pPr>
            <a:endParaRPr sz="535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</a:pPr>
            <a:r>
              <a:rPr lang="en" sz="535">
                <a:solidFill>
                  <a:schemeClr val="dk1"/>
                </a:solidFill>
              </a:rPr>
              <a:t>search.</a:t>
            </a:r>
            <a:r>
              <a:rPr lang="en" sz="535">
                <a:solidFill>
                  <a:srgbClr val="FF0000"/>
                </a:solidFill>
              </a:rPr>
              <a:t>run_fges</a:t>
            </a:r>
            <a:r>
              <a:rPr lang="en" sz="535">
                <a:solidFill>
                  <a:schemeClr val="dk1"/>
                </a:solidFill>
              </a:rPr>
              <a:t>()</a:t>
            </a:r>
            <a:endParaRPr sz="535">
              <a:solidFill>
                <a:schemeClr val="dk1"/>
              </a:solidFill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2163914" y="4859035"/>
            <a:ext cx="713625" cy="1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JPype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228381" y="4314573"/>
            <a:ext cx="791542" cy="24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Pykumu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3422910" y="4318584"/>
            <a:ext cx="1196250" cy="24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Tetrad Java API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1820537" y="6670368"/>
            <a:ext cx="1303958" cy="377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TetradSearch Class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3351353" y="4873263"/>
            <a:ext cx="1014750" cy="99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764">
                <a:solidFill>
                  <a:schemeClr val="dk1"/>
                </a:solidFill>
              </a:rPr>
              <a:t>tetrad-current.jar contains </a:t>
            </a:r>
            <a:r>
              <a:rPr lang="en" sz="764">
                <a:solidFill>
                  <a:srgbClr val="0000FF"/>
                </a:solidFill>
              </a:rPr>
              <a:t>Tetrad Java packages</a:t>
            </a:r>
            <a:r>
              <a:rPr lang="en" sz="764">
                <a:solidFill>
                  <a:schemeClr val="dk1"/>
                </a:solidFill>
              </a:rPr>
              <a:t>  </a:t>
            </a:r>
            <a:endParaRPr sz="764">
              <a:solidFill>
                <a:schemeClr val="dk1"/>
              </a:solidFill>
            </a:endParaRPr>
          </a:p>
        </p:txBody>
      </p:sp>
      <p:cxnSp>
        <p:nvCxnSpPr>
          <p:cNvPr id="286" name="Google Shape;286;p19"/>
          <p:cNvCxnSpPr>
            <a:stCxn id="279" idx="2"/>
            <a:endCxn id="280" idx="3"/>
          </p:cNvCxnSpPr>
          <p:nvPr/>
        </p:nvCxnSpPr>
        <p:spPr>
          <a:xfrm rot="10800000">
            <a:off x="1019838" y="5216203"/>
            <a:ext cx="983583" cy="102941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7" name="Google Shape;287;p19"/>
          <p:cNvCxnSpPr>
            <a:endCxn id="280" idx="3"/>
          </p:cNvCxnSpPr>
          <p:nvPr/>
        </p:nvCxnSpPr>
        <p:spPr>
          <a:xfrm flipH="1">
            <a:off x="1020021" y="5204579"/>
            <a:ext cx="2371417" cy="1145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" name="Google Shape;288;p19"/>
          <p:cNvCxnSpPr>
            <a:stCxn id="285" idx="3"/>
            <a:endCxn id="279" idx="4"/>
          </p:cNvCxnSpPr>
          <p:nvPr/>
        </p:nvCxnSpPr>
        <p:spPr>
          <a:xfrm flipH="1">
            <a:off x="2941603" y="5370555"/>
            <a:ext cx="1424500" cy="87495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9" name="Google Shape;289;p19"/>
          <p:cNvCxnSpPr>
            <a:stCxn id="285" idx="0"/>
            <a:endCxn id="290" idx="4"/>
          </p:cNvCxnSpPr>
          <p:nvPr/>
        </p:nvCxnSpPr>
        <p:spPr>
          <a:xfrm rot="10800000">
            <a:off x="2941603" y="4116096"/>
            <a:ext cx="917125" cy="75716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1" name="Google Shape;291;p19"/>
          <p:cNvCxnSpPr>
            <a:stCxn id="290" idx="2"/>
            <a:endCxn id="280" idx="3"/>
          </p:cNvCxnSpPr>
          <p:nvPr/>
        </p:nvCxnSpPr>
        <p:spPr>
          <a:xfrm flipH="1">
            <a:off x="1019838" y="4116165"/>
            <a:ext cx="983583" cy="11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2" name="Google Shape;292;p19"/>
          <p:cNvSpPr txBox="1"/>
          <p:nvPr/>
        </p:nvSpPr>
        <p:spPr>
          <a:xfrm>
            <a:off x="2191787" y="4562417"/>
            <a:ext cx="561458" cy="377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917">
                <a:solidFill>
                  <a:schemeClr val="dk1"/>
                </a:solidFill>
              </a:rPr>
              <a:t>/api</a:t>
            </a:r>
            <a:endParaRPr sz="917">
              <a:solidFill>
                <a:schemeClr val="dk1"/>
              </a:solidFill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2003421" y="3618874"/>
            <a:ext cx="938208" cy="994583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5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52" tIns="75052" rIns="75052" bIns="75052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374">
                <a:solidFill>
                  <a:schemeClr val="dk1"/>
                </a:solidFill>
              </a:rPr>
              <a:t>import </a:t>
            </a:r>
            <a:r>
              <a:rPr lang="en" sz="374">
                <a:solidFill>
                  <a:srgbClr val="0000FF"/>
                </a:solidFill>
              </a:rPr>
              <a:t>edu.cmu.tetrad.algcomparison.algorithm.oracle.cpdag</a:t>
            </a:r>
            <a:r>
              <a:rPr lang="en" sz="374">
                <a:solidFill>
                  <a:schemeClr val="dk1"/>
                </a:solidFill>
              </a:rPr>
              <a:t> as cpdag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def </a:t>
            </a:r>
            <a:r>
              <a:rPr lang="en" sz="374">
                <a:solidFill>
                  <a:srgbClr val="FF0000"/>
                </a:solidFill>
              </a:rPr>
              <a:t>run_fges</a:t>
            </a:r>
            <a:r>
              <a:rPr lang="en" sz="374"/>
              <a:t>(self, …)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alg = </a:t>
            </a:r>
            <a:r>
              <a:rPr lang="en" sz="374">
                <a:solidFill>
                  <a:srgbClr val="0000FF"/>
                </a:solidFill>
              </a:rPr>
              <a:t>cpdag.Fges</a:t>
            </a:r>
            <a:r>
              <a:rPr lang="en" sz="374"/>
              <a:t>(self.SCORE)</a:t>
            </a:r>
            <a:endParaRPr sz="374"/>
          </a:p>
          <a:p>
            <a:pPr>
              <a:spcBef>
                <a:spcPts val="0"/>
              </a:spcBef>
            </a:pPr>
            <a:endParaRPr sz="374"/>
          </a:p>
          <a:p>
            <a:pPr>
              <a:spcBef>
                <a:spcPts val="0"/>
              </a:spcBef>
            </a:pPr>
            <a:r>
              <a:rPr lang="en" sz="374"/>
              <a:t>    self.java = alg.</a:t>
            </a:r>
            <a:r>
              <a:rPr lang="en" sz="374">
                <a:solidFill>
                  <a:srgbClr val="0000FF"/>
                </a:solidFill>
              </a:rPr>
              <a:t>search</a:t>
            </a:r>
            <a:r>
              <a:rPr lang="en" sz="374"/>
              <a:t>(...)</a:t>
            </a:r>
            <a:endParaRPr sz="374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Rectangle 934">
            <a:extLst>
              <a:ext uri="{FF2B5EF4-FFF2-40B4-BE49-F238E27FC236}">
                <a16:creationId xmlns:a16="http://schemas.microsoft.com/office/drawing/2014/main" id="{616EA589-3CDF-BC46-B779-7C7D5D953C38}"/>
              </a:ext>
            </a:extLst>
          </p:cNvPr>
          <p:cNvSpPr/>
          <p:nvPr/>
        </p:nvSpPr>
        <p:spPr>
          <a:xfrm>
            <a:off x="7718005" y="6528063"/>
            <a:ext cx="416903" cy="565648"/>
          </a:xfrm>
          <a:prstGeom prst="rect">
            <a:avLst/>
          </a:prstGeom>
          <a:solidFill>
            <a:srgbClr val="FFFFFF"/>
          </a:solidFill>
          <a:ln w="254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36" name="Image" descr="Image">
            <a:extLst>
              <a:ext uri="{FF2B5EF4-FFF2-40B4-BE49-F238E27FC236}">
                <a16:creationId xmlns:a16="http://schemas.microsoft.com/office/drawing/2014/main" id="{896EAA12-3FD1-1230-05B9-E2FD9D06B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68" y="-661924"/>
            <a:ext cx="5598432" cy="2990088"/>
          </a:xfrm>
          <a:prstGeom prst="rect">
            <a:avLst/>
          </a:prstGeom>
          <a:ln w="12700">
            <a:miter lim="400000"/>
          </a:ln>
        </p:spPr>
      </p:pic>
      <p:sp>
        <p:nvSpPr>
          <p:cNvPr id="937" name="Line">
            <a:extLst>
              <a:ext uri="{FF2B5EF4-FFF2-40B4-BE49-F238E27FC236}">
                <a16:creationId xmlns:a16="http://schemas.microsoft.com/office/drawing/2014/main" id="{57B1FF53-CE74-0CA9-913C-712E5B23725A}"/>
              </a:ext>
            </a:extLst>
          </p:cNvPr>
          <p:cNvSpPr/>
          <p:nvPr/>
        </p:nvSpPr>
        <p:spPr>
          <a:xfrm flipV="1">
            <a:off x="213255" y="10296246"/>
            <a:ext cx="13462982" cy="39499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38" name="YOUR LOGO…">
            <a:extLst>
              <a:ext uri="{FF2B5EF4-FFF2-40B4-BE49-F238E27FC236}">
                <a16:creationId xmlns:a16="http://schemas.microsoft.com/office/drawing/2014/main" id="{7820C3AE-31CC-A900-EB6C-8D69E488D407}"/>
              </a:ext>
            </a:extLst>
          </p:cNvPr>
          <p:cNvSpPr/>
          <p:nvPr/>
        </p:nvSpPr>
        <p:spPr>
          <a:xfrm>
            <a:off x="170343" y="10207710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sz="2400" dirty="0"/>
              <a:t>Kumu</a:t>
            </a:r>
            <a:endParaRPr sz="2400" dirty="0"/>
          </a:p>
        </p:txBody>
      </p:sp>
      <p:sp>
        <p:nvSpPr>
          <p:cNvPr id="939" name="Three Column Layout: : CHEAT SHEET">
            <a:extLst>
              <a:ext uri="{FF2B5EF4-FFF2-40B4-BE49-F238E27FC236}">
                <a16:creationId xmlns:a16="http://schemas.microsoft.com/office/drawing/2014/main" id="{8AC7E3BE-C0B2-BD9F-5EAA-431D7E8CD3D6}"/>
              </a:ext>
            </a:extLst>
          </p:cNvPr>
          <p:cNvSpPr txBox="1">
            <a:spLocks/>
          </p:cNvSpPr>
          <p:nvPr/>
        </p:nvSpPr>
        <p:spPr>
          <a:xfrm>
            <a:off x="275721" y="361177"/>
            <a:ext cx="10898129" cy="803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1pPr>
            <a:lvl2pPr marL="0" marR="0" indent="228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2pPr>
            <a:lvl3pPr marL="0" marR="0" indent="457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3pPr>
            <a:lvl4pPr marL="0" marR="0" indent="685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4pPr>
            <a:lvl5pPr marL="0" marR="0" indent="9144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5pPr>
            <a:lvl6pPr marL="0" marR="0" indent="11430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6pPr>
            <a:lvl7pPr marL="0" marR="0" indent="1371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7pPr>
            <a:lvl8pPr marL="0" marR="0" indent="1600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8pPr>
            <a:lvl9pPr marL="0" marR="0" indent="1828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9pPr>
          </a:lstStyle>
          <a:p>
            <a:pPr hangingPunct="1"/>
            <a:r>
              <a:rPr lang="en-US"/>
              <a:t>Pykumu : : </a:t>
            </a:r>
            <a:r>
              <a:rPr lang="en-US"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940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B201E197-78A9-FCB1-9B27-3313793FD428}"/>
              </a:ext>
            </a:extLst>
          </p:cNvPr>
          <p:cNvSpPr txBox="1"/>
          <p:nvPr/>
        </p:nvSpPr>
        <p:spPr>
          <a:xfrm>
            <a:off x="107667" y="1800587"/>
            <a:ext cx="3508502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Python package that serves as a wrapper over the Tetrad Java API (via </a:t>
            </a:r>
            <a:r>
              <a:rPr lang="en-US" b="0" dirty="0" err="1"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), providing an interface for causal analysis algorithms. </a:t>
            </a:r>
            <a:r>
              <a:rPr lang="en-US" b="0" dirty="0" err="1"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fork of </a:t>
            </a:r>
            <a:r>
              <a:rPr lang="en-US" b="0" dirty="0" err="1"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</a:t>
            </a: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-tetrad/</a:t>
            </a:r>
            <a:r>
              <a:rPr lang="en-US" b="0" dirty="0" err="1"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pytetrad</a:t>
            </a: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.</a:t>
            </a:r>
            <a:endParaRPr lang="en-US" b="0" i="0" u="none" strike="noStrike" dirty="0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41" name="Layout Suggestions">
            <a:extLst>
              <a:ext uri="{FF2B5EF4-FFF2-40B4-BE49-F238E27FC236}">
                <a16:creationId xmlns:a16="http://schemas.microsoft.com/office/drawing/2014/main" id="{D9865A76-CF38-BA13-DBB8-E522D9CEFE3F}"/>
              </a:ext>
            </a:extLst>
          </p:cNvPr>
          <p:cNvSpPr txBox="1"/>
          <p:nvPr/>
        </p:nvSpPr>
        <p:spPr>
          <a:xfrm>
            <a:off x="146304" y="1453227"/>
            <a:ext cx="262128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About</a:t>
            </a:r>
            <a:endParaRPr dirty="0"/>
          </a:p>
        </p:txBody>
      </p:sp>
      <p:sp>
        <p:nvSpPr>
          <p:cNvPr id="943" name="TextBox 942">
            <a:extLst>
              <a:ext uri="{FF2B5EF4-FFF2-40B4-BE49-F238E27FC236}">
                <a16:creationId xmlns:a16="http://schemas.microsoft.com/office/drawing/2014/main" id="{921F90DE-B85D-6688-E47F-E0910412282B}"/>
              </a:ext>
            </a:extLst>
          </p:cNvPr>
          <p:cNvSpPr txBox="1"/>
          <p:nvPr/>
        </p:nvSpPr>
        <p:spPr>
          <a:xfrm>
            <a:off x="6080760" y="10327008"/>
            <a:ext cx="7747698" cy="500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1000" b="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1000" b="0" dirty="0">
                <a:solidFill>
                  <a:schemeClr val="tx1"/>
                </a:solidFill>
              </a:rPr>
              <a:t> Phuong Pham,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Carlos Paradis</a:t>
            </a:r>
            <a:r>
              <a:rPr lang="en-US" sz="1000" b="0" dirty="0">
                <a:solidFill>
                  <a:schemeClr val="tx1"/>
                </a:solidFill>
              </a:rPr>
              <a:t>, Adam Graham, Jared Seto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• Kai</a:t>
            </a:r>
            <a:r>
              <a:rPr kumimoji="0" lang="haw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ā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ulu package version 0.0.0.9700 (in development) •  Updated: 2026-04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4" name="Logistics">
            <a:extLst>
              <a:ext uri="{FF2B5EF4-FFF2-40B4-BE49-F238E27FC236}">
                <a16:creationId xmlns:a16="http://schemas.microsoft.com/office/drawing/2014/main" id="{CB9747ED-D64A-9FBD-524D-874DAD12FB75}"/>
              </a:ext>
            </a:extLst>
          </p:cNvPr>
          <p:cNvSpPr txBox="1"/>
          <p:nvPr/>
        </p:nvSpPr>
        <p:spPr>
          <a:xfrm>
            <a:off x="9580868" y="140137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Data Input</a:t>
            </a:r>
          </a:p>
        </p:txBody>
      </p:sp>
      <p:sp>
        <p:nvSpPr>
          <p:cNvPr id="945" name="Logistics">
            <a:extLst>
              <a:ext uri="{FF2B5EF4-FFF2-40B4-BE49-F238E27FC236}">
                <a16:creationId xmlns:a16="http://schemas.microsoft.com/office/drawing/2014/main" id="{573EA05F-3E00-2638-BCAE-05E22D8AE0D3}"/>
              </a:ext>
            </a:extLst>
          </p:cNvPr>
          <p:cNvSpPr txBox="1"/>
          <p:nvPr/>
        </p:nvSpPr>
        <p:spPr>
          <a:xfrm>
            <a:off x="146304" y="6994270"/>
            <a:ext cx="332142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Command Line Interface</a:t>
            </a:r>
          </a:p>
        </p:txBody>
      </p:sp>
      <p:sp>
        <p:nvSpPr>
          <p:cNvPr id="947" name="Basics">
            <a:extLst>
              <a:ext uri="{FF2B5EF4-FFF2-40B4-BE49-F238E27FC236}">
                <a16:creationId xmlns:a16="http://schemas.microsoft.com/office/drawing/2014/main" id="{FFA36B14-3243-BEE5-069D-AE136A20D619}"/>
              </a:ext>
            </a:extLst>
          </p:cNvPr>
          <p:cNvSpPr txBox="1"/>
          <p:nvPr/>
        </p:nvSpPr>
        <p:spPr>
          <a:xfrm>
            <a:off x="155448" y="2906599"/>
            <a:ext cx="16991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lc="http://schemas.openxmlformats.org/drawingml/2006/lockedCanvas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 err="1"/>
              <a:t>Pykumu</a:t>
            </a:r>
            <a:r>
              <a:rPr lang="en-US" dirty="0"/>
              <a:t> API </a:t>
            </a:r>
            <a:endParaRPr dirty="0"/>
          </a:p>
        </p:txBody>
      </p:sp>
      <p:sp>
        <p:nvSpPr>
          <p:cNvPr id="948" name="Manipulate Variables">
            <a:extLst>
              <a:ext uri="{FF2B5EF4-FFF2-40B4-BE49-F238E27FC236}">
                <a16:creationId xmlns:a16="http://schemas.microsoft.com/office/drawing/2014/main" id="{E53D377E-1E8A-B806-EF3C-E3961A1EFEE5}"/>
              </a:ext>
            </a:extLst>
          </p:cNvPr>
          <p:cNvSpPr txBox="1"/>
          <p:nvPr/>
        </p:nvSpPr>
        <p:spPr>
          <a:xfrm>
            <a:off x="4749253" y="1425881"/>
            <a:ext cx="3414396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Analysis Workflow</a:t>
            </a:r>
          </a:p>
        </p:txBody>
      </p:sp>
      <p:sp>
        <p:nvSpPr>
          <p:cNvPr id="951" name="Rectangle 950">
            <a:extLst>
              <a:ext uri="{FF2B5EF4-FFF2-40B4-BE49-F238E27FC236}">
                <a16:creationId xmlns:a16="http://schemas.microsoft.com/office/drawing/2014/main" id="{F04179AC-1838-FB42-E5E6-05968E4071E0}"/>
              </a:ext>
            </a:extLst>
          </p:cNvPr>
          <p:cNvSpPr/>
          <p:nvPr/>
        </p:nvSpPr>
        <p:spPr>
          <a:xfrm>
            <a:off x="4749253" y="7395723"/>
            <a:ext cx="4063557" cy="2433201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952" name="Table">
            <a:extLst>
              <a:ext uri="{FF2B5EF4-FFF2-40B4-BE49-F238E27FC236}">
                <a16:creationId xmlns:a16="http://schemas.microsoft.com/office/drawing/2014/main" id="{279B1091-4978-05CF-9B89-C54AE97F3C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5795464"/>
              </p:ext>
            </p:extLst>
          </p:nvPr>
        </p:nvGraphicFramePr>
        <p:xfrm>
          <a:off x="7572970" y="1860776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3" name="Table">
            <a:extLst>
              <a:ext uri="{FF2B5EF4-FFF2-40B4-BE49-F238E27FC236}">
                <a16:creationId xmlns:a16="http://schemas.microsoft.com/office/drawing/2014/main" id="{40D0B8B7-46B0-EB4F-3C57-AB19D6AFB0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7872098"/>
              </p:ext>
            </p:extLst>
          </p:nvPr>
        </p:nvGraphicFramePr>
        <p:xfrm>
          <a:off x="8061338" y="3158012"/>
          <a:ext cx="646626" cy="63799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07771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2262694748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819122332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296678260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322319369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17903980"/>
                    </a:ext>
                  </a:extLst>
                </a:gridCol>
              </a:tblGrid>
              <a:tr h="127598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4" name="Table">
            <a:extLst>
              <a:ext uri="{FF2B5EF4-FFF2-40B4-BE49-F238E27FC236}">
                <a16:creationId xmlns:a16="http://schemas.microsoft.com/office/drawing/2014/main" id="{14310F54-AEAC-F84A-974E-B3863DCF12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2476757"/>
              </p:ext>
            </p:extLst>
          </p:nvPr>
        </p:nvGraphicFramePr>
        <p:xfrm>
          <a:off x="57722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5" name="Table">
            <a:extLst>
              <a:ext uri="{FF2B5EF4-FFF2-40B4-BE49-F238E27FC236}">
                <a16:creationId xmlns:a16="http://schemas.microsoft.com/office/drawing/2014/main" id="{0D03B2EC-8541-95BA-A4C1-5F3767E1B8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093189"/>
              </p:ext>
            </p:extLst>
          </p:nvPr>
        </p:nvGraphicFramePr>
        <p:xfrm>
          <a:off x="7118882" y="3162435"/>
          <a:ext cx="627864" cy="6400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933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102988"/>
                  </a:ext>
                </a:extLst>
              </a:tr>
            </a:tbl>
          </a:graphicData>
        </a:graphic>
      </p:graphicFrame>
      <p:graphicFrame>
        <p:nvGraphicFramePr>
          <p:cNvPr id="956" name="Table">
            <a:extLst>
              <a:ext uri="{FF2B5EF4-FFF2-40B4-BE49-F238E27FC236}">
                <a16:creationId xmlns:a16="http://schemas.microsoft.com/office/drawing/2014/main" id="{4B2C3545-B380-1257-E499-16F3CD4F09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4607779"/>
              </p:ext>
            </p:extLst>
          </p:nvPr>
        </p:nvGraphicFramePr>
        <p:xfrm>
          <a:off x="53483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7" name="Plus Sign 956">
            <a:extLst>
              <a:ext uri="{FF2B5EF4-FFF2-40B4-BE49-F238E27FC236}">
                <a16:creationId xmlns:a16="http://schemas.microsoft.com/office/drawing/2014/main" id="{1CE53CF4-2ED0-31B3-F7E5-D2C1EB460BDB}"/>
              </a:ext>
            </a:extLst>
          </p:cNvPr>
          <p:cNvSpPr/>
          <p:nvPr/>
        </p:nvSpPr>
        <p:spPr>
          <a:xfrm>
            <a:off x="5608866" y="3336992"/>
            <a:ext cx="118473" cy="124938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8" name="Plus Sign 957">
            <a:extLst>
              <a:ext uri="{FF2B5EF4-FFF2-40B4-BE49-F238E27FC236}">
                <a16:creationId xmlns:a16="http://schemas.microsoft.com/office/drawing/2014/main" id="{202755CD-7B87-4D04-76D3-A73CF9718A61}"/>
              </a:ext>
            </a:extLst>
          </p:cNvPr>
          <p:cNvSpPr/>
          <p:nvPr/>
        </p:nvSpPr>
        <p:spPr>
          <a:xfrm>
            <a:off x="7845219" y="3413769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9" name="Left Brace 958">
            <a:extLst>
              <a:ext uri="{FF2B5EF4-FFF2-40B4-BE49-F238E27FC236}">
                <a16:creationId xmlns:a16="http://schemas.microsoft.com/office/drawing/2014/main" id="{80C7EBBB-8181-D7AF-E3C8-5724E38AF53F}"/>
              </a:ext>
            </a:extLst>
          </p:cNvPr>
          <p:cNvSpPr/>
          <p:nvPr/>
        </p:nvSpPr>
        <p:spPr>
          <a:xfrm>
            <a:off x="7013808" y="3168613"/>
            <a:ext cx="45719" cy="623765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0" name="TextBox 959">
            <a:extLst>
              <a:ext uri="{FF2B5EF4-FFF2-40B4-BE49-F238E27FC236}">
                <a16:creationId xmlns:a16="http://schemas.microsoft.com/office/drawing/2014/main" id="{90A52ED8-0F43-F4D0-D600-0942F431AF26}"/>
              </a:ext>
            </a:extLst>
          </p:cNvPr>
          <p:cNvSpPr txBox="1"/>
          <p:nvPr/>
        </p:nvSpPr>
        <p:spPr>
          <a:xfrm>
            <a:off x="6843820" y="3302155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1" name="Left Brace 960">
            <a:extLst>
              <a:ext uri="{FF2B5EF4-FFF2-40B4-BE49-F238E27FC236}">
                <a16:creationId xmlns:a16="http://schemas.microsoft.com/office/drawing/2014/main" id="{2E1B5DA4-795D-CC08-544C-E249F473A7AC}"/>
              </a:ext>
            </a:extLst>
          </p:cNvPr>
          <p:cNvSpPr/>
          <p:nvPr/>
        </p:nvSpPr>
        <p:spPr>
          <a:xfrm rot="5400000">
            <a:off x="8355720" y="2751534"/>
            <a:ext cx="51104" cy="639868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3FC6CB52-61F0-701C-72F6-B5EBB33BA97E}"/>
              </a:ext>
            </a:extLst>
          </p:cNvPr>
          <p:cNvSpPr txBox="1"/>
          <p:nvPr/>
        </p:nvSpPr>
        <p:spPr>
          <a:xfrm>
            <a:off x="8298111" y="2791232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3" name="TextBox 962">
            <a:extLst>
              <a:ext uri="{FF2B5EF4-FFF2-40B4-BE49-F238E27FC236}">
                <a16:creationId xmlns:a16="http://schemas.microsoft.com/office/drawing/2014/main" id="{5B4B0286-8EB7-30E3-A85B-D07DD9111861}"/>
              </a:ext>
            </a:extLst>
          </p:cNvPr>
          <p:cNvSpPr txBox="1"/>
          <p:nvPr/>
        </p:nvSpPr>
        <p:spPr>
          <a:xfrm>
            <a:off x="7059527" y="2904070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CVE_ID</a:t>
            </a:r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66E75265-B015-9128-E53B-C414D668687A}"/>
              </a:ext>
            </a:extLst>
          </p:cNvPr>
          <p:cNvSpPr txBox="1"/>
          <p:nvPr/>
        </p:nvSpPr>
        <p:spPr>
          <a:xfrm>
            <a:off x="5375035" y="3638435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5" name="TextBox 964">
            <a:extLst>
              <a:ext uri="{FF2B5EF4-FFF2-40B4-BE49-F238E27FC236}">
                <a16:creationId xmlns:a16="http://schemas.microsoft.com/office/drawing/2014/main" id="{E82CEE26-2F3A-1378-6B2F-ED44CA392718}"/>
              </a:ext>
            </a:extLst>
          </p:cNvPr>
          <p:cNvSpPr txBox="1"/>
          <p:nvPr/>
        </p:nvSpPr>
        <p:spPr>
          <a:xfrm>
            <a:off x="8265907" y="4958917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77FECC1C-3F77-B6A3-FD31-C7D730371E52}"/>
              </a:ext>
            </a:extLst>
          </p:cNvPr>
          <p:cNvSpPr txBox="1"/>
          <p:nvPr/>
        </p:nvSpPr>
        <p:spPr>
          <a:xfrm>
            <a:off x="7143372" y="3761779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dirty="0"/>
              <a:t>4. Indicator Features 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7" name="TextBox 966">
            <a:extLst>
              <a:ext uri="{FF2B5EF4-FFF2-40B4-BE49-F238E27FC236}">
                <a16:creationId xmlns:a16="http://schemas.microsoft.com/office/drawing/2014/main" id="{D3A06253-F66F-EA46-11B9-FB7C49749B29}"/>
              </a:ext>
            </a:extLst>
          </p:cNvPr>
          <p:cNvSpPr txBox="1"/>
          <p:nvPr/>
        </p:nvSpPr>
        <p:spPr>
          <a:xfrm>
            <a:off x="5218291" y="3762554"/>
            <a:ext cx="872964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/>
              <a:t>3. Time Lag</a:t>
            </a:r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A0B53EE2-BE1C-2288-DB02-2B6E72FD0FBE}"/>
              </a:ext>
            </a:extLst>
          </p:cNvPr>
          <p:cNvSpPr txBox="1"/>
          <p:nvPr/>
        </p:nvSpPr>
        <p:spPr>
          <a:xfrm>
            <a:off x="7464986" y="2450238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2. Dataset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69" name="Connector: Elbow 968">
            <a:extLst>
              <a:ext uri="{FF2B5EF4-FFF2-40B4-BE49-F238E27FC236}">
                <a16:creationId xmlns:a16="http://schemas.microsoft.com/office/drawing/2014/main" id="{28A53538-472F-4364-311F-A8958C1631EF}"/>
              </a:ext>
            </a:extLst>
          </p:cNvPr>
          <p:cNvCxnSpPr>
            <a:cxnSpLocks/>
            <a:stCxn id="991" idx="3"/>
            <a:endCxn id="995" idx="1"/>
          </p:cNvCxnSpPr>
          <p:nvPr/>
        </p:nvCxnSpPr>
        <p:spPr>
          <a:xfrm flipH="1">
            <a:off x="5209590" y="2278538"/>
            <a:ext cx="3607726" cy="1167684"/>
          </a:xfrm>
          <a:prstGeom prst="bentConnector5">
            <a:avLst>
              <a:gd name="adj1" fmla="val -6336"/>
              <a:gd name="adj2" fmla="val 50000"/>
              <a:gd name="adj3" fmla="val 112261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70" name="Rectangle 969">
            <a:extLst>
              <a:ext uri="{FF2B5EF4-FFF2-40B4-BE49-F238E27FC236}">
                <a16:creationId xmlns:a16="http://schemas.microsoft.com/office/drawing/2014/main" id="{127C9D6B-0925-CA93-7AFA-6BCB184FA0EC}"/>
              </a:ext>
            </a:extLst>
          </p:cNvPr>
          <p:cNvSpPr/>
          <p:nvPr/>
        </p:nvSpPr>
        <p:spPr>
          <a:xfrm>
            <a:off x="7370620" y="1800587"/>
            <a:ext cx="1443262" cy="996921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971" name="Table">
            <a:extLst>
              <a:ext uri="{FF2B5EF4-FFF2-40B4-BE49-F238E27FC236}">
                <a16:creationId xmlns:a16="http://schemas.microsoft.com/office/drawing/2014/main" id="{B1BF61D7-934E-CF51-EEFD-6FACD62C81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1072190"/>
              </p:ext>
            </p:extLst>
          </p:nvPr>
        </p:nvGraphicFramePr>
        <p:xfrm>
          <a:off x="5798497" y="4490104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72" name="Table">
            <a:extLst>
              <a:ext uri="{FF2B5EF4-FFF2-40B4-BE49-F238E27FC236}">
                <a16:creationId xmlns:a16="http://schemas.microsoft.com/office/drawing/2014/main" id="{31FF52B3-0724-2E76-8829-C1CEC157DF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3159290"/>
              </p:ext>
            </p:extLst>
          </p:nvPr>
        </p:nvGraphicFramePr>
        <p:xfrm>
          <a:off x="5305505" y="4499036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3" name="Plus Sign 972">
            <a:extLst>
              <a:ext uri="{FF2B5EF4-FFF2-40B4-BE49-F238E27FC236}">
                <a16:creationId xmlns:a16="http://schemas.microsoft.com/office/drawing/2014/main" id="{48A426D8-5A77-E1AB-9BFD-298DF525227B}"/>
              </a:ext>
            </a:extLst>
          </p:cNvPr>
          <p:cNvSpPr/>
          <p:nvPr/>
        </p:nvSpPr>
        <p:spPr>
          <a:xfrm>
            <a:off x="5599687" y="4490104"/>
            <a:ext cx="12099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74" name="TextBox 973">
            <a:extLst>
              <a:ext uri="{FF2B5EF4-FFF2-40B4-BE49-F238E27FC236}">
                <a16:creationId xmlns:a16="http://schemas.microsoft.com/office/drawing/2014/main" id="{E581C252-8A81-D4AC-DC4B-E3FB7149FABF}"/>
              </a:ext>
            </a:extLst>
          </p:cNvPr>
          <p:cNvSpPr txBox="1"/>
          <p:nvPr/>
        </p:nvSpPr>
        <p:spPr>
          <a:xfrm>
            <a:off x="5103638" y="5067603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5. Null Features</a:t>
            </a:r>
          </a:p>
        </p:txBody>
      </p:sp>
      <p:cxnSp>
        <p:nvCxnSpPr>
          <p:cNvPr id="975" name="Straight Arrow Connector 974">
            <a:extLst>
              <a:ext uri="{FF2B5EF4-FFF2-40B4-BE49-F238E27FC236}">
                <a16:creationId xmlns:a16="http://schemas.microsoft.com/office/drawing/2014/main" id="{FE3FBD42-3CFE-0EC8-E6AB-7E6B305502D2}"/>
              </a:ext>
            </a:extLst>
          </p:cNvPr>
          <p:cNvCxnSpPr>
            <a:cxnSpLocks/>
          </p:cNvCxnSpPr>
          <p:nvPr/>
        </p:nvCxnSpPr>
        <p:spPr>
          <a:xfrm>
            <a:off x="5512825" y="4664976"/>
            <a:ext cx="285672" cy="357737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6" name="Straight Arrow Connector 975">
            <a:extLst>
              <a:ext uri="{FF2B5EF4-FFF2-40B4-BE49-F238E27FC236}">
                <a16:creationId xmlns:a16="http://schemas.microsoft.com/office/drawing/2014/main" id="{ACA37BAB-F0D7-0F31-0836-E6FC0E8C08CB}"/>
              </a:ext>
            </a:extLst>
          </p:cNvPr>
          <p:cNvCxnSpPr>
            <a:cxnSpLocks/>
          </p:cNvCxnSpPr>
          <p:nvPr/>
        </p:nvCxnSpPr>
        <p:spPr>
          <a:xfrm>
            <a:off x="5512825" y="4798565"/>
            <a:ext cx="285672" cy="11364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7" name="Straight Arrow Connector 976">
            <a:extLst>
              <a:ext uri="{FF2B5EF4-FFF2-40B4-BE49-F238E27FC236}">
                <a16:creationId xmlns:a16="http://schemas.microsoft.com/office/drawing/2014/main" id="{34BBE63C-CDFA-E77C-D98D-0560FE67445B}"/>
              </a:ext>
            </a:extLst>
          </p:cNvPr>
          <p:cNvCxnSpPr>
            <a:cxnSpLocks/>
            <a:endCxn id="971" idx="1"/>
          </p:cNvCxnSpPr>
          <p:nvPr/>
        </p:nvCxnSpPr>
        <p:spPr>
          <a:xfrm flipV="1">
            <a:off x="5506921" y="4786981"/>
            <a:ext cx="291576" cy="12208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8" name="Straight Arrow Connector 977">
            <a:extLst>
              <a:ext uri="{FF2B5EF4-FFF2-40B4-BE49-F238E27FC236}">
                <a16:creationId xmlns:a16="http://schemas.microsoft.com/office/drawing/2014/main" id="{74B12003-6380-1CC5-0251-C6AB0812E100}"/>
              </a:ext>
            </a:extLst>
          </p:cNvPr>
          <p:cNvCxnSpPr>
            <a:cxnSpLocks/>
          </p:cNvCxnSpPr>
          <p:nvPr/>
        </p:nvCxnSpPr>
        <p:spPr>
          <a:xfrm flipV="1">
            <a:off x="5509148" y="4664976"/>
            <a:ext cx="289349" cy="36609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9" name="Connector: Elbow 978">
            <a:extLst>
              <a:ext uri="{FF2B5EF4-FFF2-40B4-BE49-F238E27FC236}">
                <a16:creationId xmlns:a16="http://schemas.microsoft.com/office/drawing/2014/main" id="{1E82EED9-2739-6049-8FB5-4CD1DB3CF0F5}"/>
              </a:ext>
            </a:extLst>
          </p:cNvPr>
          <p:cNvCxnSpPr>
            <a:cxnSpLocks/>
            <a:stCxn id="992" idx="3"/>
            <a:endCxn id="993" idx="1"/>
          </p:cNvCxnSpPr>
          <p:nvPr/>
        </p:nvCxnSpPr>
        <p:spPr>
          <a:xfrm flipH="1">
            <a:off x="5202130" y="3497252"/>
            <a:ext cx="3609346" cy="1247213"/>
          </a:xfrm>
          <a:prstGeom prst="bentConnector5">
            <a:avLst>
              <a:gd name="adj1" fmla="val -6334"/>
              <a:gd name="adj2" fmla="val 54130"/>
              <a:gd name="adj3" fmla="val 111841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0" name="TextBox 979">
            <a:extLst>
              <a:ext uri="{FF2B5EF4-FFF2-40B4-BE49-F238E27FC236}">
                <a16:creationId xmlns:a16="http://schemas.microsoft.com/office/drawing/2014/main" id="{A7D85A89-C471-85FB-2A6A-7A11E16BEE97}"/>
              </a:ext>
            </a:extLst>
          </p:cNvPr>
          <p:cNvSpPr txBox="1"/>
          <p:nvPr/>
        </p:nvSpPr>
        <p:spPr>
          <a:xfrm>
            <a:off x="5700184" y="4315800"/>
            <a:ext cx="481869" cy="2000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NV-ID</a:t>
            </a:r>
          </a:p>
        </p:txBody>
      </p:sp>
      <p:pic>
        <p:nvPicPr>
          <p:cNvPr id="981" name="Picture 980" descr="A picture containing text&#10;&#10;Description automatically generated">
            <a:extLst>
              <a:ext uri="{FF2B5EF4-FFF2-40B4-BE49-F238E27FC236}">
                <a16:creationId xmlns:a16="http://schemas.microsoft.com/office/drawing/2014/main" id="{D8A258D0-8A52-893D-7A40-A8CE4E0E139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501" y="1793256"/>
            <a:ext cx="575884" cy="668768"/>
          </a:xfrm>
          <a:prstGeom prst="rect">
            <a:avLst/>
          </a:prstGeom>
        </p:spPr>
      </p:pic>
      <p:sp>
        <p:nvSpPr>
          <p:cNvPr id="982" name="TextBox 981">
            <a:extLst>
              <a:ext uri="{FF2B5EF4-FFF2-40B4-BE49-F238E27FC236}">
                <a16:creationId xmlns:a16="http://schemas.microsoft.com/office/drawing/2014/main" id="{E8C9AEE1-02BB-BBBC-A979-DC29E965C1CA}"/>
              </a:ext>
            </a:extLst>
          </p:cNvPr>
          <p:cNvSpPr txBox="1"/>
          <p:nvPr/>
        </p:nvSpPr>
        <p:spPr>
          <a:xfrm>
            <a:off x="5004947" y="2423307"/>
            <a:ext cx="131138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1. </a:t>
            </a:r>
            <a:r>
              <a:rPr lang="en-US" dirty="0" err="1"/>
              <a:t>sailuh</a:t>
            </a:r>
            <a:r>
              <a:rPr lang="en-US" dirty="0"/>
              <a:t>/</a:t>
            </a:r>
            <a:r>
              <a:rPr lang="en-US" dirty="0" err="1"/>
              <a:t>kaiaulu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83" name="TextBox 982">
            <a:extLst>
              <a:ext uri="{FF2B5EF4-FFF2-40B4-BE49-F238E27FC236}">
                <a16:creationId xmlns:a16="http://schemas.microsoft.com/office/drawing/2014/main" id="{CB09193F-D0B1-9007-0ADA-0438F70A807A}"/>
              </a:ext>
            </a:extLst>
          </p:cNvPr>
          <p:cNvSpPr txBox="1"/>
          <p:nvPr/>
        </p:nvSpPr>
        <p:spPr>
          <a:xfrm>
            <a:off x="7046974" y="7065060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7.2 Domain Knowledge</a:t>
            </a:r>
          </a:p>
        </p:txBody>
      </p:sp>
      <p:cxnSp>
        <p:nvCxnSpPr>
          <p:cNvPr id="984" name="Connector: Elbow 983">
            <a:extLst>
              <a:ext uri="{FF2B5EF4-FFF2-40B4-BE49-F238E27FC236}">
                <a16:creationId xmlns:a16="http://schemas.microsoft.com/office/drawing/2014/main" id="{1A4E266D-AF4D-85AF-75DF-642F56C87DF5}"/>
              </a:ext>
            </a:extLst>
          </p:cNvPr>
          <p:cNvCxnSpPr>
            <a:cxnSpLocks/>
            <a:endCxn id="1102" idx="3"/>
          </p:cNvCxnSpPr>
          <p:nvPr/>
        </p:nvCxnSpPr>
        <p:spPr>
          <a:xfrm flipH="1">
            <a:off x="8451473" y="4746171"/>
            <a:ext cx="266193" cy="1053852"/>
          </a:xfrm>
          <a:prstGeom prst="bentConnector3">
            <a:avLst>
              <a:gd name="adj1" fmla="val -11991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5" name="Connector: Elbow 984">
            <a:extLst>
              <a:ext uri="{FF2B5EF4-FFF2-40B4-BE49-F238E27FC236}">
                <a16:creationId xmlns:a16="http://schemas.microsoft.com/office/drawing/2014/main" id="{151F5435-FEE2-C355-5BD4-3E3A4AF61A19}"/>
              </a:ext>
            </a:extLst>
          </p:cNvPr>
          <p:cNvCxnSpPr>
            <a:cxnSpLocks/>
          </p:cNvCxnSpPr>
          <p:nvPr/>
        </p:nvCxnSpPr>
        <p:spPr>
          <a:xfrm rot="10800000">
            <a:off x="6191032" y="6088412"/>
            <a:ext cx="1339738" cy="753131"/>
          </a:xfrm>
          <a:prstGeom prst="bentConnector3">
            <a:avLst>
              <a:gd name="adj1" fmla="val 6433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6" name="Connector: Elbow 985">
            <a:extLst>
              <a:ext uri="{FF2B5EF4-FFF2-40B4-BE49-F238E27FC236}">
                <a16:creationId xmlns:a16="http://schemas.microsoft.com/office/drawing/2014/main" id="{35DC5F22-CF82-53DA-937C-BD917AF913EE}"/>
              </a:ext>
            </a:extLst>
          </p:cNvPr>
          <p:cNvCxnSpPr>
            <a:cxnSpLocks/>
            <a:stCxn id="1103" idx="1"/>
          </p:cNvCxnSpPr>
          <p:nvPr/>
        </p:nvCxnSpPr>
        <p:spPr>
          <a:xfrm rot="10800000" flipV="1">
            <a:off x="6191031" y="5778057"/>
            <a:ext cx="1218821" cy="310351"/>
          </a:xfrm>
          <a:prstGeom prst="bentConnector3">
            <a:avLst>
              <a:gd name="adj1" fmla="val 61094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7" name="Connector: Elbow 986">
            <a:extLst>
              <a:ext uri="{FF2B5EF4-FFF2-40B4-BE49-F238E27FC236}">
                <a16:creationId xmlns:a16="http://schemas.microsoft.com/office/drawing/2014/main" id="{0E3F7E1B-6223-E58C-2E62-B90E4241841B}"/>
              </a:ext>
            </a:extLst>
          </p:cNvPr>
          <p:cNvCxnSpPr>
            <a:cxnSpLocks/>
            <a:stCxn id="997" idx="1"/>
          </p:cNvCxnSpPr>
          <p:nvPr/>
        </p:nvCxnSpPr>
        <p:spPr>
          <a:xfrm rot="10800000" flipV="1">
            <a:off x="6191031" y="3958395"/>
            <a:ext cx="868497" cy="2130014"/>
          </a:xfrm>
          <a:prstGeom prst="bentConnector3">
            <a:avLst>
              <a:gd name="adj1" fmla="val 44736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8" name="Connector: Elbow 987">
            <a:extLst>
              <a:ext uri="{FF2B5EF4-FFF2-40B4-BE49-F238E27FC236}">
                <a16:creationId xmlns:a16="http://schemas.microsoft.com/office/drawing/2014/main" id="{435F855D-9424-B5A6-8F6E-36FFF3E854E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146994" y="6098332"/>
            <a:ext cx="1516881" cy="1905124"/>
          </a:xfrm>
          <a:prstGeom prst="bentConnector4">
            <a:avLst>
              <a:gd name="adj1" fmla="val -25117"/>
              <a:gd name="adj2" fmla="val 73163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9" name="Straight Arrow Connector 988">
            <a:extLst>
              <a:ext uri="{FF2B5EF4-FFF2-40B4-BE49-F238E27FC236}">
                <a16:creationId xmlns:a16="http://schemas.microsoft.com/office/drawing/2014/main" id="{A77393BD-DDD4-210C-EC94-27F1A74C4D6E}"/>
              </a:ext>
            </a:extLst>
          </p:cNvPr>
          <p:cNvCxnSpPr>
            <a:cxnSpLocks/>
          </p:cNvCxnSpPr>
          <p:nvPr/>
        </p:nvCxnSpPr>
        <p:spPr>
          <a:xfrm>
            <a:off x="6463103" y="4734321"/>
            <a:ext cx="540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0" name="Straight Arrow Connector 989">
            <a:extLst>
              <a:ext uri="{FF2B5EF4-FFF2-40B4-BE49-F238E27FC236}">
                <a16:creationId xmlns:a16="http://schemas.microsoft.com/office/drawing/2014/main" id="{2D1AECEA-6E44-CC4D-771F-B507F68C018B}"/>
              </a:ext>
            </a:extLst>
          </p:cNvPr>
          <p:cNvCxnSpPr>
            <a:cxnSpLocks/>
          </p:cNvCxnSpPr>
          <p:nvPr/>
        </p:nvCxnSpPr>
        <p:spPr>
          <a:xfrm>
            <a:off x="6578363" y="2180213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1" name="TextBox 990">
            <a:extLst>
              <a:ext uri="{FF2B5EF4-FFF2-40B4-BE49-F238E27FC236}">
                <a16:creationId xmlns:a16="http://schemas.microsoft.com/office/drawing/2014/main" id="{44ACFDB0-B762-E368-D1EC-33A21ECA897E}"/>
              </a:ext>
            </a:extLst>
          </p:cNvPr>
          <p:cNvSpPr txBox="1"/>
          <p:nvPr/>
        </p:nvSpPr>
        <p:spPr>
          <a:xfrm>
            <a:off x="8707046" y="2118278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2" name="TextBox 991">
            <a:extLst>
              <a:ext uri="{FF2B5EF4-FFF2-40B4-BE49-F238E27FC236}">
                <a16:creationId xmlns:a16="http://schemas.microsoft.com/office/drawing/2014/main" id="{C9E6AA97-759B-435C-9C1D-D91CC8A0F07E}"/>
              </a:ext>
            </a:extLst>
          </p:cNvPr>
          <p:cNvSpPr txBox="1"/>
          <p:nvPr/>
        </p:nvSpPr>
        <p:spPr>
          <a:xfrm>
            <a:off x="8701206" y="333699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3" name="TextBox 992">
            <a:extLst>
              <a:ext uri="{FF2B5EF4-FFF2-40B4-BE49-F238E27FC236}">
                <a16:creationId xmlns:a16="http://schemas.microsoft.com/office/drawing/2014/main" id="{CF263E88-8E35-B233-4417-3A3CE29DEEDB}"/>
              </a:ext>
            </a:extLst>
          </p:cNvPr>
          <p:cNvSpPr txBox="1"/>
          <p:nvPr/>
        </p:nvSpPr>
        <p:spPr>
          <a:xfrm>
            <a:off x="5202130" y="458420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116C085C-0B16-C790-6230-CC910BAFB39D}"/>
              </a:ext>
            </a:extLst>
          </p:cNvPr>
          <p:cNvCxnSpPr>
            <a:cxnSpLocks/>
          </p:cNvCxnSpPr>
          <p:nvPr/>
        </p:nvCxnSpPr>
        <p:spPr>
          <a:xfrm>
            <a:off x="6304400" y="3467696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5" name="TextBox 994">
            <a:extLst>
              <a:ext uri="{FF2B5EF4-FFF2-40B4-BE49-F238E27FC236}">
                <a16:creationId xmlns:a16="http://schemas.microsoft.com/office/drawing/2014/main" id="{EF64CC77-45DB-BAD3-CB3E-E2B9B578819D}"/>
              </a:ext>
            </a:extLst>
          </p:cNvPr>
          <p:cNvSpPr txBox="1"/>
          <p:nvPr/>
        </p:nvSpPr>
        <p:spPr>
          <a:xfrm>
            <a:off x="5209590" y="328596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6" name="TextBox 995">
            <a:extLst>
              <a:ext uri="{FF2B5EF4-FFF2-40B4-BE49-F238E27FC236}">
                <a16:creationId xmlns:a16="http://schemas.microsoft.com/office/drawing/2014/main" id="{63548E5D-3448-0F6B-69F4-DFDE328F0193}"/>
              </a:ext>
            </a:extLst>
          </p:cNvPr>
          <p:cNvSpPr txBox="1"/>
          <p:nvPr/>
        </p:nvSpPr>
        <p:spPr>
          <a:xfrm rot="5400000">
            <a:off x="7893098" y="3828354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7" name="TextBox 996">
            <a:extLst>
              <a:ext uri="{FF2B5EF4-FFF2-40B4-BE49-F238E27FC236}">
                <a16:creationId xmlns:a16="http://schemas.microsoft.com/office/drawing/2014/main" id="{1774ECD6-B5D0-3662-F837-F033B102414B}"/>
              </a:ext>
            </a:extLst>
          </p:cNvPr>
          <p:cNvSpPr txBox="1"/>
          <p:nvPr/>
        </p:nvSpPr>
        <p:spPr>
          <a:xfrm>
            <a:off x="7059527" y="379813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8" name="TextBox 997">
            <a:extLst>
              <a:ext uri="{FF2B5EF4-FFF2-40B4-BE49-F238E27FC236}">
                <a16:creationId xmlns:a16="http://schemas.microsoft.com/office/drawing/2014/main" id="{9BEB15BA-7CC5-A005-E862-8135181D3BCC}"/>
              </a:ext>
            </a:extLst>
          </p:cNvPr>
          <p:cNvSpPr txBox="1"/>
          <p:nvPr/>
        </p:nvSpPr>
        <p:spPr>
          <a:xfrm rot="5400000">
            <a:off x="6616888" y="7825672"/>
            <a:ext cx="97008" cy="231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99" name="Graphic 998" descr="Cmd Terminal with solid fill">
            <a:extLst>
              <a:ext uri="{FF2B5EF4-FFF2-40B4-BE49-F238E27FC236}">
                <a16:creationId xmlns:a16="http://schemas.microsoft.com/office/drawing/2014/main" id="{2E81F600-16D3-290B-B288-DF66CAC69C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9308" y="7971555"/>
            <a:ext cx="451448" cy="455550"/>
          </a:xfrm>
          <a:prstGeom prst="rect">
            <a:avLst/>
          </a:prstGeom>
        </p:spPr>
      </p:pic>
      <p:pic>
        <p:nvPicPr>
          <p:cNvPr id="1000" name="Graphic 999" descr="Paper outline">
            <a:extLst>
              <a:ext uri="{FF2B5EF4-FFF2-40B4-BE49-F238E27FC236}">
                <a16:creationId xmlns:a16="http://schemas.microsoft.com/office/drawing/2014/main" id="{72BA22C8-3D58-80A0-F6C1-D8CAD3E74B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6589" y="7687911"/>
            <a:ext cx="261597" cy="261597"/>
          </a:xfrm>
          <a:prstGeom prst="rect">
            <a:avLst/>
          </a:prstGeom>
        </p:spPr>
      </p:pic>
      <p:sp>
        <p:nvSpPr>
          <p:cNvPr id="1001" name="TextBox 1000">
            <a:extLst>
              <a:ext uri="{FF2B5EF4-FFF2-40B4-BE49-F238E27FC236}">
                <a16:creationId xmlns:a16="http://schemas.microsoft.com/office/drawing/2014/main" id="{AB634171-60E0-3A00-4F34-B24ADC94D042}"/>
              </a:ext>
            </a:extLst>
          </p:cNvPr>
          <p:cNvSpPr txBox="1"/>
          <p:nvPr/>
        </p:nvSpPr>
        <p:spPr>
          <a:xfrm>
            <a:off x="942047" y="7492638"/>
            <a:ext cx="687081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API</a:t>
            </a:r>
          </a:p>
        </p:txBody>
      </p:sp>
      <p:pic>
        <p:nvPicPr>
          <p:cNvPr id="1002" name="Graphic 1001" descr="Paper outline">
            <a:extLst>
              <a:ext uri="{FF2B5EF4-FFF2-40B4-BE49-F238E27FC236}">
                <a16:creationId xmlns:a16="http://schemas.microsoft.com/office/drawing/2014/main" id="{623B9860-446B-AF6A-798B-10ACFB48BF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2615" y="8187583"/>
            <a:ext cx="527267" cy="527267"/>
          </a:xfrm>
          <a:prstGeom prst="rect">
            <a:avLst/>
          </a:prstGeom>
        </p:spPr>
      </p:pic>
      <p:sp>
        <p:nvSpPr>
          <p:cNvPr id="1003" name="TextBox 1002">
            <a:extLst>
              <a:ext uri="{FF2B5EF4-FFF2-40B4-BE49-F238E27FC236}">
                <a16:creationId xmlns:a16="http://schemas.microsoft.com/office/drawing/2014/main" id="{EB6B2B72-628D-C57F-CF64-263CE5879DA9}"/>
              </a:ext>
            </a:extLst>
          </p:cNvPr>
          <p:cNvSpPr txBox="1"/>
          <p:nvPr/>
        </p:nvSpPr>
        <p:spPr>
          <a:xfrm>
            <a:off x="1094543" y="8619268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exec/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1004" name="Table">
            <a:extLst>
              <a:ext uri="{FF2B5EF4-FFF2-40B4-BE49-F238E27FC236}">
                <a16:creationId xmlns:a16="http://schemas.microsoft.com/office/drawing/2014/main" id="{51CD0808-C66E-B2EB-8EFE-5581B9A0B7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9030912"/>
              </p:ext>
            </p:extLst>
          </p:nvPr>
        </p:nvGraphicFramePr>
        <p:xfrm>
          <a:off x="1951113" y="8289328"/>
          <a:ext cx="554556" cy="373251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84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417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417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417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05" name="Straight Arrow Connector 1004">
            <a:extLst>
              <a:ext uri="{FF2B5EF4-FFF2-40B4-BE49-F238E27FC236}">
                <a16:creationId xmlns:a16="http://schemas.microsoft.com/office/drawing/2014/main" id="{E65BC0E4-3768-2CD9-ACC0-A134CDCA8902}"/>
              </a:ext>
            </a:extLst>
          </p:cNvPr>
          <p:cNvCxnSpPr>
            <a:cxnSpLocks/>
          </p:cNvCxnSpPr>
          <p:nvPr/>
        </p:nvCxnSpPr>
        <p:spPr>
          <a:xfrm flipV="1">
            <a:off x="1588543" y="8475953"/>
            <a:ext cx="273375" cy="1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06" name="TextBox 1005">
            <a:extLst>
              <a:ext uri="{FF2B5EF4-FFF2-40B4-BE49-F238E27FC236}">
                <a16:creationId xmlns:a16="http://schemas.microsoft.com/office/drawing/2014/main" id="{3DA44C78-FE4C-3E4D-1CC7-4A4FC5EB3AC0}"/>
              </a:ext>
            </a:extLst>
          </p:cNvPr>
          <p:cNvSpPr txBox="1"/>
          <p:nvPr/>
        </p:nvSpPr>
        <p:spPr>
          <a:xfrm>
            <a:off x="2019913" y="8625819"/>
            <a:ext cx="527267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Output</a:t>
            </a: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F00C7C2D-3368-B1E8-BA5B-BBC5D9C23AAA}"/>
              </a:ext>
            </a:extLst>
          </p:cNvPr>
          <p:cNvSpPr/>
          <p:nvPr/>
        </p:nvSpPr>
        <p:spPr>
          <a:xfrm>
            <a:off x="1884182" y="7674918"/>
            <a:ext cx="710936" cy="20869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&lt;</a:t>
            </a:r>
            <a:r>
              <a:rPr lang="en-US" sz="800" b="0" err="1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File_paths</a:t>
            </a:r>
            <a:r>
              <a:rPr lang="en-US" sz="800" b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&gt;</a:t>
            </a:r>
            <a:endParaRPr kumimoji="0" lang="en-US" sz="800" b="0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09" name="Straight Arrow Connector 1008">
            <a:extLst>
              <a:ext uri="{FF2B5EF4-FFF2-40B4-BE49-F238E27FC236}">
                <a16:creationId xmlns:a16="http://schemas.microsoft.com/office/drawing/2014/main" id="{1F4503D8-8679-603D-92AA-2B5C6B916D0F}"/>
              </a:ext>
            </a:extLst>
          </p:cNvPr>
          <p:cNvCxnSpPr>
            <a:cxnSpLocks/>
          </p:cNvCxnSpPr>
          <p:nvPr/>
        </p:nvCxnSpPr>
        <p:spPr>
          <a:xfrm>
            <a:off x="1226799" y="7960461"/>
            <a:ext cx="0" cy="226217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10" name="Straight Arrow Connector 1009">
            <a:extLst>
              <a:ext uri="{FF2B5EF4-FFF2-40B4-BE49-F238E27FC236}">
                <a16:creationId xmlns:a16="http://schemas.microsoft.com/office/drawing/2014/main" id="{68EDFB9F-F45E-7B1E-3211-77281647230C}"/>
              </a:ext>
            </a:extLst>
          </p:cNvPr>
          <p:cNvCxnSpPr>
            <a:cxnSpLocks/>
          </p:cNvCxnSpPr>
          <p:nvPr/>
        </p:nvCxnSpPr>
        <p:spPr>
          <a:xfrm flipH="1">
            <a:off x="1440984" y="7898354"/>
            <a:ext cx="366031" cy="335322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F2E99DF1-CD0B-97C9-BD48-08416E7FABEB}"/>
              </a:ext>
            </a:extLst>
          </p:cNvPr>
          <p:cNvSpPr/>
          <p:nvPr/>
        </p:nvSpPr>
        <p:spPr>
          <a:xfrm>
            <a:off x="828675" y="7501852"/>
            <a:ext cx="2013059" cy="1403284"/>
          </a:xfrm>
          <a:prstGeom prst="rect">
            <a:avLst/>
          </a:prstGeom>
          <a:noFill/>
          <a:ln w="12700" cap="flat">
            <a:solidFill>
              <a:schemeClr val="tx1">
                <a:lumMod val="50000"/>
              </a:schemeClr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13" name="Straight Arrow Connector 1012">
            <a:extLst>
              <a:ext uri="{FF2B5EF4-FFF2-40B4-BE49-F238E27FC236}">
                <a16:creationId xmlns:a16="http://schemas.microsoft.com/office/drawing/2014/main" id="{85EC39B5-C994-41B7-AD94-FB5F5407E650}"/>
              </a:ext>
            </a:extLst>
          </p:cNvPr>
          <p:cNvCxnSpPr>
            <a:cxnSpLocks/>
          </p:cNvCxnSpPr>
          <p:nvPr/>
        </p:nvCxnSpPr>
        <p:spPr>
          <a:xfrm>
            <a:off x="2914969" y="8198175"/>
            <a:ext cx="268919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60D6AE52-ECEE-1AEA-5F1C-DDF348E02AA8}"/>
              </a:ext>
            </a:extLst>
          </p:cNvPr>
          <p:cNvSpPr txBox="1"/>
          <p:nvPr/>
        </p:nvSpPr>
        <p:spPr>
          <a:xfrm>
            <a:off x="213255" y="9026991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Exec scripts provides command line access to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Pykumu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API package, allowing its causal analysis capabilities to be accessed via the terminal or server side without writing Python code. 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1019" name="TextBox 1018">
            <a:extLst>
              <a:ext uri="{FF2B5EF4-FFF2-40B4-BE49-F238E27FC236}">
                <a16:creationId xmlns:a16="http://schemas.microsoft.com/office/drawing/2014/main" id="{979EEBE3-D7DC-C86F-D0D4-BA08D0C6E240}"/>
              </a:ext>
            </a:extLst>
          </p:cNvPr>
          <p:cNvSpPr txBox="1"/>
          <p:nvPr/>
        </p:nvSpPr>
        <p:spPr>
          <a:xfrm>
            <a:off x="337483" y="4203379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>
                <a:solidFill>
                  <a:schemeClr val="bg2">
                    <a:lumMod val="10000"/>
                  </a:schemeClr>
                </a:solidFill>
              </a:rPr>
              <a:t>Tetrad Java API</a:t>
            </a:r>
          </a:p>
        </p:txBody>
      </p:sp>
      <p:pic>
        <p:nvPicPr>
          <p:cNvPr id="1020" name="Graphic 1019" descr="Paper outline">
            <a:extLst>
              <a:ext uri="{FF2B5EF4-FFF2-40B4-BE49-F238E27FC236}">
                <a16:creationId xmlns:a16="http://schemas.microsoft.com/office/drawing/2014/main" id="{35CE1B61-9286-E316-3783-9C1543A5AD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16134" y="4531005"/>
            <a:ext cx="527267" cy="527267"/>
          </a:xfrm>
          <a:prstGeom prst="rect">
            <a:avLst/>
          </a:prstGeom>
        </p:spPr>
      </p:pic>
      <p:cxnSp>
        <p:nvCxnSpPr>
          <p:cNvPr id="1023" name="Straight Arrow Connector 1022">
            <a:extLst>
              <a:ext uri="{FF2B5EF4-FFF2-40B4-BE49-F238E27FC236}">
                <a16:creationId xmlns:a16="http://schemas.microsoft.com/office/drawing/2014/main" id="{7656F67A-E40D-8D9D-047A-A1AB3AB3AD79}"/>
              </a:ext>
            </a:extLst>
          </p:cNvPr>
          <p:cNvCxnSpPr>
            <a:cxnSpLocks/>
          </p:cNvCxnSpPr>
          <p:nvPr/>
        </p:nvCxnSpPr>
        <p:spPr>
          <a:xfrm>
            <a:off x="1134173" y="4103443"/>
            <a:ext cx="9092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6562B87B-B8CA-29FE-47B1-88C132B28271}"/>
              </a:ext>
            </a:extLst>
          </p:cNvPr>
          <p:cNvCxnSpPr>
            <a:cxnSpLocks/>
          </p:cNvCxnSpPr>
          <p:nvPr/>
        </p:nvCxnSpPr>
        <p:spPr>
          <a:xfrm>
            <a:off x="1128235" y="4238064"/>
            <a:ext cx="340872" cy="391832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4DF96347-25B7-1767-2B61-3076C0B351B3}"/>
              </a:ext>
            </a:extLst>
          </p:cNvPr>
          <p:cNvSpPr txBox="1"/>
          <p:nvPr/>
        </p:nvSpPr>
        <p:spPr>
          <a:xfrm>
            <a:off x="920307" y="4392615"/>
            <a:ext cx="536637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9737D2E1-D919-6CA4-EE55-3E640D360B6E}"/>
              </a:ext>
            </a:extLst>
          </p:cNvPr>
          <p:cNvSpPr txBox="1"/>
          <p:nvPr/>
        </p:nvSpPr>
        <p:spPr>
          <a:xfrm>
            <a:off x="1615828" y="4688904"/>
            <a:ext cx="371960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" b="0" dirty="0" err="1">
                <a:solidFill>
                  <a:schemeClr val="tx1">
                    <a:lumMod val="50000"/>
                  </a:schemeClr>
                </a:solidFill>
              </a:rPr>
              <a:t>TetradSearch</a:t>
            </a:r>
            <a:r>
              <a:rPr lang="en-US" sz="300" b="0" dirty="0">
                <a:solidFill>
                  <a:schemeClr val="tx1">
                    <a:lumMod val="50000"/>
                  </a:schemeClr>
                </a:solidFill>
              </a:rPr>
              <a:t> Class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AA55E419-4BD4-1CA3-5AA9-F9715537DDE9}"/>
              </a:ext>
            </a:extLst>
          </p:cNvPr>
          <p:cNvSpPr txBox="1"/>
          <p:nvPr/>
        </p:nvSpPr>
        <p:spPr>
          <a:xfrm>
            <a:off x="2490514" y="4133651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 API</a:t>
            </a:r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2211F5F2-956F-B619-156E-EC13C039ADE7}"/>
              </a:ext>
            </a:extLst>
          </p:cNvPr>
          <p:cNvCxnSpPr>
            <a:cxnSpLocks/>
          </p:cNvCxnSpPr>
          <p:nvPr/>
        </p:nvCxnSpPr>
        <p:spPr>
          <a:xfrm flipV="1">
            <a:off x="2084485" y="4392615"/>
            <a:ext cx="450843" cy="239726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31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2F44C789-A298-3DE5-5AEA-AF547602D9B9}"/>
              </a:ext>
            </a:extLst>
          </p:cNvPr>
          <p:cNvSpPr txBox="1"/>
          <p:nvPr/>
        </p:nvSpPr>
        <p:spPr>
          <a:xfrm>
            <a:off x="161597" y="5379468"/>
            <a:ext cx="4001355" cy="12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wraps the Tetrad Java API through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, exposing individual modules in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api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(data, score, algorithm, graph, knowledge, bootstrapping) that provide direct function level control over each step of the causal search pipeline.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expands on the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TetradSearch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API by breaking its single object, shared state pipeline into individual modules.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1041" name="Folded Corner 3">
            <a:extLst>
              <a:ext uri="{FF2B5EF4-FFF2-40B4-BE49-F238E27FC236}">
                <a16:creationId xmlns:a16="http://schemas.microsoft.com/office/drawing/2014/main" id="{EAFE295B-C902-6222-046C-F0178BC6EBD6}"/>
              </a:ext>
            </a:extLst>
          </p:cNvPr>
          <p:cNvSpPr/>
          <p:nvPr/>
        </p:nvSpPr>
        <p:spPr>
          <a:xfrm rot="10800000" flipH="1">
            <a:off x="2234184" y="364318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2" name="Folded Corner 4">
            <a:extLst>
              <a:ext uri="{FF2B5EF4-FFF2-40B4-BE49-F238E27FC236}">
                <a16:creationId xmlns:a16="http://schemas.microsoft.com/office/drawing/2014/main" id="{9867C30D-3E3F-9B12-37C3-11928202B0F0}"/>
              </a:ext>
            </a:extLst>
          </p:cNvPr>
          <p:cNvSpPr/>
          <p:nvPr/>
        </p:nvSpPr>
        <p:spPr>
          <a:xfrm rot="10800000" flipH="1">
            <a:off x="2201102" y="367165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3" name="Folded Corner 5">
            <a:extLst>
              <a:ext uri="{FF2B5EF4-FFF2-40B4-BE49-F238E27FC236}">
                <a16:creationId xmlns:a16="http://schemas.microsoft.com/office/drawing/2014/main" id="{8920F962-A394-0106-2B68-884F7ED71F7B}"/>
              </a:ext>
            </a:extLst>
          </p:cNvPr>
          <p:cNvSpPr/>
          <p:nvPr/>
        </p:nvSpPr>
        <p:spPr>
          <a:xfrm rot="10800000" flipH="1">
            <a:off x="2160665" y="3705430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6B171B61-E8CF-9E81-6E92-32D7A93155D0}"/>
              </a:ext>
            </a:extLst>
          </p:cNvPr>
          <p:cNvSpPr txBox="1"/>
          <p:nvPr/>
        </p:nvSpPr>
        <p:spPr>
          <a:xfrm>
            <a:off x="2131900" y="3852209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tetrad.py</a:t>
            </a:r>
          </a:p>
        </p:txBody>
      </p: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C957616A-0D3C-37B5-34A3-B00176613A59}"/>
              </a:ext>
            </a:extLst>
          </p:cNvPr>
          <p:cNvCxnSpPr>
            <a:cxnSpLocks/>
            <a:endCxn id="1011" idx="1"/>
          </p:cNvCxnSpPr>
          <p:nvPr/>
        </p:nvCxnSpPr>
        <p:spPr>
          <a:xfrm>
            <a:off x="669420" y="8199330"/>
            <a:ext cx="159255" cy="4164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46" name="TextBox 1045">
            <a:extLst>
              <a:ext uri="{FF2B5EF4-FFF2-40B4-BE49-F238E27FC236}">
                <a16:creationId xmlns:a16="http://schemas.microsoft.com/office/drawing/2014/main" id="{92DA3C90-E45F-D8E9-AAE9-A3C0742CB9F5}"/>
              </a:ext>
            </a:extLst>
          </p:cNvPr>
          <p:cNvSpPr txBox="1"/>
          <p:nvPr/>
        </p:nvSpPr>
        <p:spPr>
          <a:xfrm>
            <a:off x="1390771" y="4968149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TetradSearch.py</a:t>
            </a:r>
          </a:p>
        </p:txBody>
      </p: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84CA18E5-7206-B1DA-F07E-9C6889966BE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6384" y="118872"/>
            <a:ext cx="1444661" cy="1673352"/>
          </a:xfrm>
          <a:prstGeom prst="rect">
            <a:avLst/>
          </a:prstGeom>
        </p:spPr>
      </p:pic>
      <p:sp>
        <p:nvSpPr>
          <p:cNvPr id="1048" name="Google Shape;162;p1">
            <a:extLst>
              <a:ext uri="{FF2B5EF4-FFF2-40B4-BE49-F238E27FC236}">
                <a16:creationId xmlns:a16="http://schemas.microsoft.com/office/drawing/2014/main" id="{2408A6FD-86A8-CF94-4A01-179E9C100B8E}"/>
              </a:ext>
            </a:extLst>
          </p:cNvPr>
          <p:cNvSpPr/>
          <p:nvPr/>
        </p:nvSpPr>
        <p:spPr>
          <a:xfrm>
            <a:off x="7205622" y="8078270"/>
            <a:ext cx="192300" cy="198000"/>
          </a:xfrm>
          <a:prstGeom prst="ellipse">
            <a:avLst/>
          </a:prstGeom>
          <a:solidFill>
            <a:srgbClr val="9FC5E8"/>
          </a:solidFill>
          <a:ln w="9525" cap="flat" cmpd="sng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400" tIns="65400" rIns="65400" bIns="6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1"/>
              <a:buFont typeface="Arial"/>
              <a:buNone/>
            </a:pPr>
            <a:endParaRPr sz="1001" b="0" i="0" u="none" strike="noStrike" cap="none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sp>
        <p:nvSpPr>
          <p:cNvPr id="1049" name="Google Shape;163;p1">
            <a:extLst>
              <a:ext uri="{FF2B5EF4-FFF2-40B4-BE49-F238E27FC236}">
                <a16:creationId xmlns:a16="http://schemas.microsoft.com/office/drawing/2014/main" id="{7EC90623-1DD4-D35A-6750-5DB47B4DEAED}"/>
              </a:ext>
            </a:extLst>
          </p:cNvPr>
          <p:cNvSpPr/>
          <p:nvPr/>
        </p:nvSpPr>
        <p:spPr>
          <a:xfrm>
            <a:off x="7476130" y="8998437"/>
            <a:ext cx="328200" cy="336900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400" tIns="65400" rIns="65400" bIns="6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1"/>
              <a:buFont typeface="Arial"/>
              <a:buNone/>
            </a:pPr>
            <a:endParaRPr sz="1001" b="0" i="0" u="none" strike="noStrike" cap="none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sp>
        <p:nvSpPr>
          <p:cNvPr id="1050" name="Google Shape;164;p1">
            <a:extLst>
              <a:ext uri="{FF2B5EF4-FFF2-40B4-BE49-F238E27FC236}">
                <a16:creationId xmlns:a16="http://schemas.microsoft.com/office/drawing/2014/main" id="{02F855DD-F402-0517-F5AE-E0B386E9466D}"/>
              </a:ext>
            </a:extLst>
          </p:cNvPr>
          <p:cNvSpPr/>
          <p:nvPr/>
        </p:nvSpPr>
        <p:spPr>
          <a:xfrm>
            <a:off x="7104507" y="9207139"/>
            <a:ext cx="192300" cy="198000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400" tIns="65400" rIns="65400" bIns="6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1"/>
              <a:buFont typeface="Arial"/>
              <a:buNone/>
            </a:pPr>
            <a:endParaRPr sz="1001" b="0" i="0" u="none" strike="noStrike" cap="none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sp>
        <p:nvSpPr>
          <p:cNvPr id="1051" name="Google Shape;165;p1">
            <a:extLst>
              <a:ext uri="{FF2B5EF4-FFF2-40B4-BE49-F238E27FC236}">
                <a16:creationId xmlns:a16="http://schemas.microsoft.com/office/drawing/2014/main" id="{01F79E88-31E4-B1B4-FDBF-7DCF6D1D67FA}"/>
              </a:ext>
            </a:extLst>
          </p:cNvPr>
          <p:cNvSpPr/>
          <p:nvPr/>
        </p:nvSpPr>
        <p:spPr>
          <a:xfrm>
            <a:off x="7539190" y="8533155"/>
            <a:ext cx="192300" cy="198000"/>
          </a:xfrm>
          <a:prstGeom prst="ellipse">
            <a:avLst/>
          </a:prstGeom>
          <a:solidFill>
            <a:srgbClr val="9FC5E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400" tIns="65400" rIns="65400" bIns="6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1"/>
              <a:buFont typeface="Arial"/>
              <a:buNone/>
            </a:pPr>
            <a:endParaRPr sz="1001" b="0" i="0" u="none" strike="noStrike" cap="none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sp>
        <p:nvSpPr>
          <p:cNvPr id="1052" name="Google Shape;171;p1">
            <a:extLst>
              <a:ext uri="{FF2B5EF4-FFF2-40B4-BE49-F238E27FC236}">
                <a16:creationId xmlns:a16="http://schemas.microsoft.com/office/drawing/2014/main" id="{4B9F0AEE-743D-372A-15D9-62A1D1DF1A53}"/>
              </a:ext>
            </a:extLst>
          </p:cNvPr>
          <p:cNvSpPr/>
          <p:nvPr/>
        </p:nvSpPr>
        <p:spPr>
          <a:xfrm>
            <a:off x="5664130" y="8734043"/>
            <a:ext cx="553500" cy="567900"/>
          </a:xfrm>
          <a:prstGeom prst="ellipse">
            <a:avLst/>
          </a:prstGeom>
          <a:solidFill>
            <a:srgbClr val="FFE599"/>
          </a:solidFill>
          <a:ln w="269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400" tIns="65400" rIns="65400" bIns="6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1"/>
              <a:buFont typeface="Arial"/>
              <a:buNone/>
            </a:pPr>
            <a:endParaRPr sz="1001" b="0" i="0" u="none" strike="noStrike" cap="none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cxnSp>
        <p:nvCxnSpPr>
          <p:cNvPr id="1053" name="Google Shape;187;p1">
            <a:extLst>
              <a:ext uri="{FF2B5EF4-FFF2-40B4-BE49-F238E27FC236}">
                <a16:creationId xmlns:a16="http://schemas.microsoft.com/office/drawing/2014/main" id="{69076384-49E0-4B35-A79D-758515E970F2}"/>
              </a:ext>
            </a:extLst>
          </p:cNvPr>
          <p:cNvCxnSpPr>
            <a:stCxn id="1054" idx="6"/>
            <a:endCxn id="1048" idx="2"/>
          </p:cNvCxnSpPr>
          <p:nvPr/>
        </p:nvCxnSpPr>
        <p:spPr>
          <a:xfrm rot="10800000" flipH="1">
            <a:off x="6768657" y="8177154"/>
            <a:ext cx="437100" cy="19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54" name="Google Shape;188;p1">
            <a:extLst>
              <a:ext uri="{FF2B5EF4-FFF2-40B4-BE49-F238E27FC236}">
                <a16:creationId xmlns:a16="http://schemas.microsoft.com/office/drawing/2014/main" id="{A4D9416E-94D7-D49B-D60E-1732569FB553}"/>
              </a:ext>
            </a:extLst>
          </p:cNvPr>
          <p:cNvSpPr/>
          <p:nvPr/>
        </p:nvSpPr>
        <p:spPr>
          <a:xfrm>
            <a:off x="6576357" y="8277954"/>
            <a:ext cx="192300" cy="198000"/>
          </a:xfrm>
          <a:prstGeom prst="ellipse">
            <a:avLst/>
          </a:prstGeom>
          <a:solidFill>
            <a:srgbClr val="26262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400" tIns="65400" rIns="65400" bIns="6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1"/>
              <a:buFont typeface="Arial"/>
              <a:buNone/>
            </a:pPr>
            <a:endParaRPr sz="1001" b="0" i="0" u="none" strike="noStrike" cap="none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cxnSp>
        <p:nvCxnSpPr>
          <p:cNvPr id="1055" name="Google Shape;196;p1">
            <a:extLst>
              <a:ext uri="{FF2B5EF4-FFF2-40B4-BE49-F238E27FC236}">
                <a16:creationId xmlns:a16="http://schemas.microsoft.com/office/drawing/2014/main" id="{4ADC4BB5-03B3-BA0E-12B2-F1FC54AA14C7}"/>
              </a:ext>
            </a:extLst>
          </p:cNvPr>
          <p:cNvCxnSpPr>
            <a:stCxn id="1054" idx="5"/>
            <a:endCxn id="1050" idx="1"/>
          </p:cNvCxnSpPr>
          <p:nvPr/>
        </p:nvCxnSpPr>
        <p:spPr>
          <a:xfrm>
            <a:off x="6740495" y="8446958"/>
            <a:ext cx="392100" cy="78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56" name="Google Shape;198;p1">
            <a:extLst>
              <a:ext uri="{FF2B5EF4-FFF2-40B4-BE49-F238E27FC236}">
                <a16:creationId xmlns:a16="http://schemas.microsoft.com/office/drawing/2014/main" id="{CDE1C76D-1C5D-6BAA-A6B6-4A031E6A48F5}"/>
              </a:ext>
            </a:extLst>
          </p:cNvPr>
          <p:cNvCxnSpPr>
            <a:stCxn id="1054" idx="6"/>
            <a:endCxn id="1051" idx="2"/>
          </p:cNvCxnSpPr>
          <p:nvPr/>
        </p:nvCxnSpPr>
        <p:spPr>
          <a:xfrm>
            <a:off x="6768657" y="8376954"/>
            <a:ext cx="770400" cy="25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57" name="Google Shape;199;p1">
            <a:extLst>
              <a:ext uri="{FF2B5EF4-FFF2-40B4-BE49-F238E27FC236}">
                <a16:creationId xmlns:a16="http://schemas.microsoft.com/office/drawing/2014/main" id="{D6A4AB91-CF1E-736E-A7B4-46F583164B56}"/>
              </a:ext>
            </a:extLst>
          </p:cNvPr>
          <p:cNvCxnSpPr>
            <a:stCxn id="1054" idx="3"/>
            <a:endCxn id="1052" idx="7"/>
          </p:cNvCxnSpPr>
          <p:nvPr/>
        </p:nvCxnSpPr>
        <p:spPr>
          <a:xfrm flipH="1">
            <a:off x="6136519" y="8446958"/>
            <a:ext cx="468000" cy="37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58" name="Google Shape;200;p1">
            <a:extLst>
              <a:ext uri="{FF2B5EF4-FFF2-40B4-BE49-F238E27FC236}">
                <a16:creationId xmlns:a16="http://schemas.microsoft.com/office/drawing/2014/main" id="{A7AE57CB-8D40-3930-4619-03565740522F}"/>
              </a:ext>
            </a:extLst>
          </p:cNvPr>
          <p:cNvCxnSpPr>
            <a:stCxn id="1054" idx="6"/>
            <a:endCxn id="1049" idx="1"/>
          </p:cNvCxnSpPr>
          <p:nvPr/>
        </p:nvCxnSpPr>
        <p:spPr>
          <a:xfrm>
            <a:off x="6768657" y="8376954"/>
            <a:ext cx="755400" cy="670800"/>
          </a:xfrm>
          <a:prstGeom prst="straightConnector1">
            <a:avLst/>
          </a:prstGeom>
          <a:noFill/>
          <a:ln w="1792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59" name="Google Shape;143;p1">
            <a:extLst>
              <a:ext uri="{FF2B5EF4-FFF2-40B4-BE49-F238E27FC236}">
                <a16:creationId xmlns:a16="http://schemas.microsoft.com/office/drawing/2014/main" id="{20C7BAC5-7A46-75E1-199C-130458B5F647}"/>
              </a:ext>
            </a:extLst>
          </p:cNvPr>
          <p:cNvSpPr txBox="1"/>
          <p:nvPr/>
        </p:nvSpPr>
        <p:spPr>
          <a:xfrm>
            <a:off x="7455864" y="9304844"/>
            <a:ext cx="504698" cy="28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00" tIns="86400" rIns="86400" bIns="86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4"/>
              <a:buFont typeface="Arial"/>
              <a:buNone/>
            </a:pPr>
            <a:r>
              <a:rPr lang="en-US" sz="600" b="0" u="none" strike="noStrike" cap="none" dirty="0">
                <a:solidFill>
                  <a:srgbClr val="262626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Helvetica Neue"/>
              </a:rPr>
              <a:t>commit2</a:t>
            </a:r>
            <a:endParaRPr sz="600" b="0" u="none" strike="noStrike" cap="none" dirty="0">
              <a:solidFill>
                <a:srgbClr val="262626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Helvetica Neue"/>
            </a:endParaRPr>
          </a:p>
        </p:txBody>
      </p:sp>
      <p:sp>
        <p:nvSpPr>
          <p:cNvPr id="1060" name="Google Shape;143;p1">
            <a:extLst>
              <a:ext uri="{FF2B5EF4-FFF2-40B4-BE49-F238E27FC236}">
                <a16:creationId xmlns:a16="http://schemas.microsoft.com/office/drawing/2014/main" id="{C400C4D9-02A7-81EF-3498-15473450A935}"/>
              </a:ext>
            </a:extLst>
          </p:cNvPr>
          <p:cNvSpPr txBox="1"/>
          <p:nvPr/>
        </p:nvSpPr>
        <p:spPr>
          <a:xfrm>
            <a:off x="6419320" y="8422633"/>
            <a:ext cx="514669" cy="267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00" tIns="86400" rIns="86400" bIns="86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4"/>
              <a:buFont typeface="Arial"/>
              <a:buNone/>
            </a:pPr>
            <a:r>
              <a:rPr lang="en-US" sz="600" b="0" dirty="0" err="1">
                <a:solidFill>
                  <a:srgbClr val="262626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Helvetica Neue"/>
              </a:rPr>
              <a:t>c</a:t>
            </a:r>
            <a:r>
              <a:rPr lang="en-US" sz="600" b="0" u="none" strike="noStrike" cap="none" dirty="0" err="1">
                <a:solidFill>
                  <a:srgbClr val="262626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Helvetica Neue"/>
              </a:rPr>
              <a:t>ode_dev</a:t>
            </a:r>
            <a:endParaRPr sz="600" b="0" u="none" strike="noStrike" cap="none" dirty="0">
              <a:solidFill>
                <a:srgbClr val="262626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Helvetica Neue"/>
            </a:endParaRPr>
          </a:p>
        </p:txBody>
      </p:sp>
      <p:sp>
        <p:nvSpPr>
          <p:cNvPr id="1061" name="Google Shape;143;p1">
            <a:extLst>
              <a:ext uri="{FF2B5EF4-FFF2-40B4-BE49-F238E27FC236}">
                <a16:creationId xmlns:a16="http://schemas.microsoft.com/office/drawing/2014/main" id="{D0961817-9F79-A8BE-4B81-8F54A48E606A}"/>
              </a:ext>
            </a:extLst>
          </p:cNvPr>
          <p:cNvSpPr txBox="1"/>
          <p:nvPr/>
        </p:nvSpPr>
        <p:spPr>
          <a:xfrm>
            <a:off x="6974815" y="9390028"/>
            <a:ext cx="446075" cy="28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00" tIns="86400" rIns="86400" bIns="86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4"/>
              <a:buFont typeface="Arial"/>
              <a:buNone/>
            </a:pPr>
            <a:r>
              <a:rPr lang="en-US" sz="600" b="0" u="none" strike="noStrike" cap="none" dirty="0">
                <a:solidFill>
                  <a:srgbClr val="262626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Helvetica Neue"/>
              </a:rPr>
              <a:t>commit</a:t>
            </a:r>
            <a:endParaRPr sz="600" b="0" u="none" strike="noStrike" cap="none" dirty="0">
              <a:solidFill>
                <a:srgbClr val="262626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Helvetica Neue"/>
            </a:endParaRPr>
          </a:p>
        </p:txBody>
      </p:sp>
      <p:sp>
        <p:nvSpPr>
          <p:cNvPr id="1062" name="Google Shape;143;p1">
            <a:extLst>
              <a:ext uri="{FF2B5EF4-FFF2-40B4-BE49-F238E27FC236}">
                <a16:creationId xmlns:a16="http://schemas.microsoft.com/office/drawing/2014/main" id="{39FEDB11-DF2D-AE62-D048-1B63AF04839E}"/>
              </a:ext>
            </a:extLst>
          </p:cNvPr>
          <p:cNvSpPr txBox="1"/>
          <p:nvPr/>
        </p:nvSpPr>
        <p:spPr>
          <a:xfrm>
            <a:off x="5742878" y="9291398"/>
            <a:ext cx="446075" cy="28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00" tIns="86400" rIns="86400" bIns="86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4"/>
              <a:buFont typeface="Arial"/>
              <a:buNone/>
            </a:pPr>
            <a:r>
              <a:rPr lang="en-US" sz="600" b="0" u="none" strike="noStrike" cap="none" dirty="0">
                <a:solidFill>
                  <a:srgbClr val="262626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Helvetica Neue"/>
              </a:rPr>
              <a:t>churn</a:t>
            </a:r>
            <a:endParaRPr sz="600" b="0" u="none" strike="noStrike" cap="none" dirty="0">
              <a:solidFill>
                <a:srgbClr val="262626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Helvetica Neue"/>
            </a:endParaRPr>
          </a:p>
        </p:txBody>
      </p:sp>
      <p:sp>
        <p:nvSpPr>
          <p:cNvPr id="1063" name="Google Shape;143;p1">
            <a:extLst>
              <a:ext uri="{FF2B5EF4-FFF2-40B4-BE49-F238E27FC236}">
                <a16:creationId xmlns:a16="http://schemas.microsoft.com/office/drawing/2014/main" id="{8261B332-3B69-C0E3-E159-2756C77770EC}"/>
              </a:ext>
            </a:extLst>
          </p:cNvPr>
          <p:cNvSpPr txBox="1"/>
          <p:nvPr/>
        </p:nvSpPr>
        <p:spPr>
          <a:xfrm>
            <a:off x="7408237" y="8684038"/>
            <a:ext cx="552325" cy="28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00" tIns="86400" rIns="86400" bIns="86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4"/>
              <a:buFont typeface="Arial"/>
              <a:buNone/>
            </a:pPr>
            <a:r>
              <a:rPr lang="en-US" sz="600" b="0" dirty="0">
                <a:solidFill>
                  <a:srgbClr val="262626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Helvetica Neue"/>
              </a:rPr>
              <a:t>m</a:t>
            </a:r>
            <a:r>
              <a:rPr lang="en-US" sz="600" b="0" u="none" strike="noStrike" cap="none" dirty="0">
                <a:solidFill>
                  <a:srgbClr val="262626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Helvetica Neue"/>
              </a:rPr>
              <a:t>is_link2</a:t>
            </a:r>
            <a:endParaRPr sz="600" b="0" u="none" strike="noStrike" cap="none" dirty="0">
              <a:solidFill>
                <a:srgbClr val="262626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Helvetica Neue"/>
            </a:endParaRPr>
          </a:p>
        </p:txBody>
      </p:sp>
      <p:sp>
        <p:nvSpPr>
          <p:cNvPr id="1064" name="Google Shape;143;p1">
            <a:extLst>
              <a:ext uri="{FF2B5EF4-FFF2-40B4-BE49-F238E27FC236}">
                <a16:creationId xmlns:a16="http://schemas.microsoft.com/office/drawing/2014/main" id="{BF98F88D-29D3-F1ED-51DE-377EC81AFFB1}"/>
              </a:ext>
            </a:extLst>
          </p:cNvPr>
          <p:cNvSpPr txBox="1"/>
          <p:nvPr/>
        </p:nvSpPr>
        <p:spPr>
          <a:xfrm>
            <a:off x="7077194" y="8215805"/>
            <a:ext cx="446075" cy="28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00" tIns="86400" rIns="86400" bIns="86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4"/>
              <a:buFont typeface="Arial"/>
              <a:buNone/>
            </a:pPr>
            <a:r>
              <a:rPr lang="en-US" sz="600" b="0" dirty="0" err="1">
                <a:solidFill>
                  <a:srgbClr val="262626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Helvetica Neue"/>
              </a:rPr>
              <a:t>m</a:t>
            </a:r>
            <a:r>
              <a:rPr lang="en-US" sz="600" b="0" u="none" strike="noStrike" cap="none" dirty="0" err="1">
                <a:solidFill>
                  <a:srgbClr val="262626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Helvetica Neue"/>
              </a:rPr>
              <a:t>is_link</a:t>
            </a:r>
            <a:endParaRPr sz="600" b="0" u="none" strike="noStrike" cap="none" dirty="0">
              <a:solidFill>
                <a:srgbClr val="262626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Helvetica Neue"/>
            </a:endParaRP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98A6AC82-01B2-E867-CF1C-E137E86B6900}"/>
              </a:ext>
            </a:extLst>
          </p:cNvPr>
          <p:cNvSpPr txBox="1"/>
          <p:nvPr/>
        </p:nvSpPr>
        <p:spPr>
          <a:xfrm>
            <a:off x="7318302" y="5055976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6. Causal Search</a:t>
            </a:r>
          </a:p>
        </p:txBody>
      </p:sp>
      <p:graphicFrame>
        <p:nvGraphicFramePr>
          <p:cNvPr id="1066" name="Table">
            <a:extLst>
              <a:ext uri="{FF2B5EF4-FFF2-40B4-BE49-F238E27FC236}">
                <a16:creationId xmlns:a16="http://schemas.microsoft.com/office/drawing/2014/main" id="{B93B266B-E7F9-283F-F0D2-7665BB50E5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0589593"/>
              </p:ext>
            </p:extLst>
          </p:nvPr>
        </p:nvGraphicFramePr>
        <p:xfrm>
          <a:off x="8297833" y="443547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67" name="Table">
            <a:extLst>
              <a:ext uri="{FF2B5EF4-FFF2-40B4-BE49-F238E27FC236}">
                <a16:creationId xmlns:a16="http://schemas.microsoft.com/office/drawing/2014/main" id="{5F63490A-B71B-6E26-69A5-D51A6CFA6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6063123"/>
              </p:ext>
            </p:extLst>
          </p:nvPr>
        </p:nvGraphicFramePr>
        <p:xfrm>
          <a:off x="7722129" y="443293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68" name="Arrow: Right 1067">
            <a:extLst>
              <a:ext uri="{FF2B5EF4-FFF2-40B4-BE49-F238E27FC236}">
                <a16:creationId xmlns:a16="http://schemas.microsoft.com/office/drawing/2014/main" id="{F73583DD-80DF-C895-9885-DDD0EA455B38}"/>
              </a:ext>
            </a:extLst>
          </p:cNvPr>
          <p:cNvSpPr/>
          <p:nvPr/>
        </p:nvSpPr>
        <p:spPr>
          <a:xfrm>
            <a:off x="8027045" y="4694321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069" name="Table">
            <a:extLst>
              <a:ext uri="{FF2B5EF4-FFF2-40B4-BE49-F238E27FC236}">
                <a16:creationId xmlns:a16="http://schemas.microsoft.com/office/drawing/2014/main" id="{3A598B2E-A55A-B634-D8DF-8BACF56A54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0343636"/>
              </p:ext>
            </p:extLst>
          </p:nvPr>
        </p:nvGraphicFramePr>
        <p:xfrm>
          <a:off x="7343385" y="4435227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0" name="Plus Sign 1069">
            <a:extLst>
              <a:ext uri="{FF2B5EF4-FFF2-40B4-BE49-F238E27FC236}">
                <a16:creationId xmlns:a16="http://schemas.microsoft.com/office/drawing/2014/main" id="{8FAE6823-6FC0-0DBA-3AEC-CD76E721AB3B}"/>
              </a:ext>
            </a:extLst>
          </p:cNvPr>
          <p:cNvSpPr/>
          <p:nvPr/>
        </p:nvSpPr>
        <p:spPr>
          <a:xfrm>
            <a:off x="7572970" y="4672577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28DFE6C0-A73C-C991-897A-0A1D20569613}"/>
              </a:ext>
            </a:extLst>
          </p:cNvPr>
          <p:cNvSpPr txBox="1"/>
          <p:nvPr/>
        </p:nvSpPr>
        <p:spPr>
          <a:xfrm>
            <a:off x="7370545" y="4957546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6C0F2BBB-3B18-4E5A-0F66-665A2F64B339}"/>
              </a:ext>
            </a:extLst>
          </p:cNvPr>
          <p:cNvSpPr txBox="1"/>
          <p:nvPr/>
        </p:nvSpPr>
        <p:spPr>
          <a:xfrm>
            <a:off x="7632893" y="4956657"/>
            <a:ext cx="424651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Ind. </a:t>
            </a: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Ftr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E3AE1C44-FC75-C14A-A4AD-93CB137DBFAE}"/>
              </a:ext>
            </a:extLst>
          </p:cNvPr>
          <p:cNvSpPr txBox="1"/>
          <p:nvPr/>
        </p:nvSpPr>
        <p:spPr>
          <a:xfrm>
            <a:off x="7948233" y="4515228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7E5852B3-90A2-7D13-6B38-9B878A8ED65A}"/>
              </a:ext>
            </a:extLst>
          </p:cNvPr>
          <p:cNvSpPr txBox="1"/>
          <p:nvPr/>
        </p:nvSpPr>
        <p:spPr>
          <a:xfrm>
            <a:off x="7194148" y="5974847"/>
            <a:ext cx="1619559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7.1 1-PNEF Threshold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58CA5FDA-CBC0-2655-30AA-BE36271DDC01}"/>
              </a:ext>
            </a:extLst>
          </p:cNvPr>
          <p:cNvSpPr txBox="1"/>
          <p:nvPr/>
        </p:nvSpPr>
        <p:spPr>
          <a:xfrm>
            <a:off x="5731442" y="3637622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AB123A80-C934-D5DB-E63D-A798F14842E1}"/>
              </a:ext>
            </a:extLst>
          </p:cNvPr>
          <p:cNvSpPr txBox="1"/>
          <p:nvPr/>
        </p:nvSpPr>
        <p:spPr>
          <a:xfrm>
            <a:off x="4766552" y="6486513"/>
            <a:ext cx="1831781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8. Domain Knowledge Causal Search</a:t>
            </a:r>
          </a:p>
        </p:txBody>
      </p:sp>
      <p:graphicFrame>
        <p:nvGraphicFramePr>
          <p:cNvPr id="1077" name="Table">
            <a:extLst>
              <a:ext uri="{FF2B5EF4-FFF2-40B4-BE49-F238E27FC236}">
                <a16:creationId xmlns:a16="http://schemas.microsoft.com/office/drawing/2014/main" id="{6F63E184-C4E1-DA71-B1B8-EDBFEB0E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4554581"/>
              </p:ext>
            </p:extLst>
          </p:nvPr>
        </p:nvGraphicFramePr>
        <p:xfrm>
          <a:off x="5269967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78" name="Table">
            <a:extLst>
              <a:ext uri="{FF2B5EF4-FFF2-40B4-BE49-F238E27FC236}">
                <a16:creationId xmlns:a16="http://schemas.microsoft.com/office/drawing/2014/main" id="{9B984D01-76D7-209F-76B2-89881E370E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8066347"/>
              </p:ext>
            </p:extLst>
          </p:nvPr>
        </p:nvGraphicFramePr>
        <p:xfrm>
          <a:off x="5828244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9" name="TextBox 1078">
            <a:extLst>
              <a:ext uri="{FF2B5EF4-FFF2-40B4-BE49-F238E27FC236}">
                <a16:creationId xmlns:a16="http://schemas.microsoft.com/office/drawing/2014/main" id="{5208C934-12C9-6E43-0D47-B7663129827D}"/>
              </a:ext>
            </a:extLst>
          </p:cNvPr>
          <p:cNvSpPr txBox="1"/>
          <p:nvPr/>
        </p:nvSpPr>
        <p:spPr>
          <a:xfrm>
            <a:off x="5856148" y="6329618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3E16FE78-3DE9-B22D-88CC-58FFE6209C7D}"/>
              </a:ext>
            </a:extLst>
          </p:cNvPr>
          <p:cNvSpPr txBox="1"/>
          <p:nvPr/>
        </p:nvSpPr>
        <p:spPr>
          <a:xfrm>
            <a:off x="5242857" y="6333739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81" name="Arrow: Right 1080">
            <a:extLst>
              <a:ext uri="{FF2B5EF4-FFF2-40B4-BE49-F238E27FC236}">
                <a16:creationId xmlns:a16="http://schemas.microsoft.com/office/drawing/2014/main" id="{61A53228-246F-DB5B-023F-60BE63111456}"/>
              </a:ext>
            </a:extLst>
          </p:cNvPr>
          <p:cNvSpPr/>
          <p:nvPr/>
        </p:nvSpPr>
        <p:spPr>
          <a:xfrm rot="10800000">
            <a:off x="5552507" y="6049867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52E82987-1F38-FAD9-FA33-19C41273DDF2}"/>
              </a:ext>
            </a:extLst>
          </p:cNvPr>
          <p:cNvSpPr txBox="1"/>
          <p:nvPr/>
        </p:nvSpPr>
        <p:spPr>
          <a:xfrm>
            <a:off x="5490560" y="5860025"/>
            <a:ext cx="339664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7ADD798F-A387-A510-2B73-64F863318945}"/>
              </a:ext>
            </a:extLst>
          </p:cNvPr>
          <p:cNvSpPr/>
          <p:nvPr/>
        </p:nvSpPr>
        <p:spPr>
          <a:xfrm>
            <a:off x="8040579" y="5752125"/>
            <a:ext cx="206996" cy="6210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080EED2D-9DE5-1A47-87B0-E48D94A868A4}"/>
              </a:ext>
            </a:extLst>
          </p:cNvPr>
          <p:cNvCxnSpPr>
            <a:cxnSpLocks/>
          </p:cNvCxnSpPr>
          <p:nvPr/>
        </p:nvCxnSpPr>
        <p:spPr>
          <a:xfrm>
            <a:off x="8010337" y="5687156"/>
            <a:ext cx="0" cy="188119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72FB7DDA-ACD6-FCEB-6A6C-A13881C7AC60}"/>
              </a:ext>
            </a:extLst>
          </p:cNvPr>
          <p:cNvCxnSpPr>
            <a:cxnSpLocks/>
          </p:cNvCxnSpPr>
          <p:nvPr/>
        </p:nvCxnSpPr>
        <p:spPr>
          <a:xfrm flipH="1">
            <a:off x="7599385" y="5778796"/>
            <a:ext cx="375263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86" name="TextBox 1085">
            <a:extLst>
              <a:ext uri="{FF2B5EF4-FFF2-40B4-BE49-F238E27FC236}">
                <a16:creationId xmlns:a16="http://schemas.microsoft.com/office/drawing/2014/main" id="{74590EC4-4A00-4019-93D8-45BC669BF878}"/>
              </a:ext>
            </a:extLst>
          </p:cNvPr>
          <p:cNvSpPr txBox="1"/>
          <p:nvPr/>
        </p:nvSpPr>
        <p:spPr>
          <a:xfrm>
            <a:off x="7544037" y="5812123"/>
            <a:ext cx="941475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n.edges</a:t>
            </a: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&lt; x</a:t>
            </a:r>
            <a:r>
              <a:rPr lang="en-US" sz="700" dirty="0"/>
              <a:t>%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3048864-7E7B-7538-7B28-66CDA07B76BA}"/>
              </a:ext>
            </a:extLst>
          </p:cNvPr>
          <p:cNvSpPr/>
          <p:nvPr/>
        </p:nvSpPr>
        <p:spPr>
          <a:xfrm>
            <a:off x="7747498" y="6647124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D54DE15A-05AC-F426-936A-2E2302157247}"/>
              </a:ext>
            </a:extLst>
          </p:cNvPr>
          <p:cNvSpPr/>
          <p:nvPr/>
        </p:nvSpPr>
        <p:spPr>
          <a:xfrm>
            <a:off x="7766196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6ADCB5CB-633A-2A42-49E8-1A89E4268C5F}"/>
              </a:ext>
            </a:extLst>
          </p:cNvPr>
          <p:cNvSpPr/>
          <p:nvPr/>
        </p:nvSpPr>
        <p:spPr>
          <a:xfrm>
            <a:off x="7882271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B0526CF1-89E8-CE55-DEDB-5EAA0DB64513}"/>
              </a:ext>
            </a:extLst>
          </p:cNvPr>
          <p:cNvSpPr/>
          <p:nvPr/>
        </p:nvSpPr>
        <p:spPr>
          <a:xfrm>
            <a:off x="8006330" y="6675665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135D90BB-0DF0-22B3-6212-24603F279B53}"/>
              </a:ext>
            </a:extLst>
          </p:cNvPr>
          <p:cNvSpPr txBox="1"/>
          <p:nvPr/>
        </p:nvSpPr>
        <p:spPr>
          <a:xfrm>
            <a:off x="7709321" y="6508461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1</a:t>
            </a: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043CB711-5753-9047-536D-375F706220CE}"/>
              </a:ext>
            </a:extLst>
          </p:cNvPr>
          <p:cNvSpPr/>
          <p:nvPr/>
        </p:nvSpPr>
        <p:spPr>
          <a:xfrm>
            <a:off x="7745715" y="680360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97906D83-33EB-E851-E42F-54A3C5599A63}"/>
              </a:ext>
            </a:extLst>
          </p:cNvPr>
          <p:cNvSpPr/>
          <p:nvPr/>
        </p:nvSpPr>
        <p:spPr>
          <a:xfrm>
            <a:off x="7764413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F310397B-B90D-DCE8-FC95-C20D591ED015}"/>
              </a:ext>
            </a:extLst>
          </p:cNvPr>
          <p:cNvSpPr/>
          <p:nvPr/>
        </p:nvSpPr>
        <p:spPr>
          <a:xfrm>
            <a:off x="7880488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A7756E38-AAF3-7759-0C25-3A45F765984D}"/>
              </a:ext>
            </a:extLst>
          </p:cNvPr>
          <p:cNvSpPr/>
          <p:nvPr/>
        </p:nvSpPr>
        <p:spPr>
          <a:xfrm>
            <a:off x="8004547" y="683215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39CD7E9B-E5C7-AB2C-4F01-BF5A57A038E2}"/>
              </a:ext>
            </a:extLst>
          </p:cNvPr>
          <p:cNvSpPr txBox="1"/>
          <p:nvPr/>
        </p:nvSpPr>
        <p:spPr>
          <a:xfrm>
            <a:off x="7707538" y="666494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2</a:t>
            </a: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E3465B7C-F4D2-5A21-DBFD-CB9265187F4D}"/>
              </a:ext>
            </a:extLst>
          </p:cNvPr>
          <p:cNvSpPr/>
          <p:nvPr/>
        </p:nvSpPr>
        <p:spPr>
          <a:xfrm>
            <a:off x="7746658" y="695499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DC93970C-7F2C-B6A7-8DB2-4256BCA1531C}"/>
              </a:ext>
            </a:extLst>
          </p:cNvPr>
          <p:cNvSpPr/>
          <p:nvPr/>
        </p:nvSpPr>
        <p:spPr>
          <a:xfrm>
            <a:off x="7765356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560E1BDB-00DE-DA90-610C-FD46343BBE76}"/>
              </a:ext>
            </a:extLst>
          </p:cNvPr>
          <p:cNvSpPr/>
          <p:nvPr/>
        </p:nvSpPr>
        <p:spPr>
          <a:xfrm>
            <a:off x="7881431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9F21AE0F-B87F-8D87-C5A3-9B496DE7E066}"/>
              </a:ext>
            </a:extLst>
          </p:cNvPr>
          <p:cNvSpPr/>
          <p:nvPr/>
        </p:nvSpPr>
        <p:spPr>
          <a:xfrm>
            <a:off x="8005490" y="698354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940576FF-706D-5202-9B5A-1ECF9E763A7B}"/>
              </a:ext>
            </a:extLst>
          </p:cNvPr>
          <p:cNvSpPr txBox="1"/>
          <p:nvPr/>
        </p:nvSpPr>
        <p:spPr>
          <a:xfrm>
            <a:off x="7708481" y="681633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3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6BB45439-2157-4D05-58C2-58FEAC5134EA}"/>
              </a:ext>
            </a:extLst>
          </p:cNvPr>
          <p:cNvSpPr txBox="1"/>
          <p:nvPr/>
        </p:nvSpPr>
        <p:spPr>
          <a:xfrm>
            <a:off x="8341203" y="5639763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84FDE3A3-AE65-5AEE-9651-E9A374AC29A9}"/>
              </a:ext>
            </a:extLst>
          </p:cNvPr>
          <p:cNvSpPr txBox="1"/>
          <p:nvPr/>
        </p:nvSpPr>
        <p:spPr>
          <a:xfrm>
            <a:off x="7409851" y="5617798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3277E318-1F22-0235-0F7C-E87B376EA983}"/>
              </a:ext>
            </a:extLst>
          </p:cNvPr>
          <p:cNvSpPr txBox="1"/>
          <p:nvPr/>
        </p:nvSpPr>
        <p:spPr>
          <a:xfrm>
            <a:off x="7672781" y="6340098"/>
            <a:ext cx="580165" cy="212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Knowledge Box</a:t>
            </a:r>
          </a:p>
        </p:txBody>
      </p:sp>
      <p:sp>
        <p:nvSpPr>
          <p:cNvPr id="1105" name="Logistics">
            <a:extLst>
              <a:ext uri="{FF2B5EF4-FFF2-40B4-BE49-F238E27FC236}">
                <a16:creationId xmlns:a16="http://schemas.microsoft.com/office/drawing/2014/main" id="{28C2EE10-367C-0060-9928-5E758C945061}"/>
              </a:ext>
            </a:extLst>
          </p:cNvPr>
          <p:cNvSpPr txBox="1"/>
          <p:nvPr/>
        </p:nvSpPr>
        <p:spPr>
          <a:xfrm>
            <a:off x="9580867" y="2569955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API Initialization</a:t>
            </a:r>
          </a:p>
        </p:txBody>
      </p:sp>
      <p:sp>
        <p:nvSpPr>
          <p:cNvPr id="1106" name="Logistics">
            <a:extLst>
              <a:ext uri="{FF2B5EF4-FFF2-40B4-BE49-F238E27FC236}">
                <a16:creationId xmlns:a16="http://schemas.microsoft.com/office/drawing/2014/main" id="{45C36A38-5EBE-3E5C-DE71-45772FA8F8D1}"/>
              </a:ext>
            </a:extLst>
          </p:cNvPr>
          <p:cNvSpPr txBox="1"/>
          <p:nvPr/>
        </p:nvSpPr>
        <p:spPr>
          <a:xfrm>
            <a:off x="9580867" y="4740676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Analysis Function</a:t>
            </a:r>
          </a:p>
        </p:txBody>
      </p:sp>
      <p:sp>
        <p:nvSpPr>
          <p:cNvPr id="1107" name="Logistics">
            <a:extLst>
              <a:ext uri="{FF2B5EF4-FFF2-40B4-BE49-F238E27FC236}">
                <a16:creationId xmlns:a16="http://schemas.microsoft.com/office/drawing/2014/main" id="{CDB849F9-D024-E98D-BA21-35352C9CFC1B}"/>
              </a:ext>
            </a:extLst>
          </p:cNvPr>
          <p:cNvSpPr txBox="1"/>
          <p:nvPr/>
        </p:nvSpPr>
        <p:spPr>
          <a:xfrm>
            <a:off x="9580867" y="7913736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Domain Knowledge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D989F89B-0A8B-12E3-42D6-BBEE41D1BA9E}"/>
              </a:ext>
            </a:extLst>
          </p:cNvPr>
          <p:cNvSpPr txBox="1"/>
          <p:nvPr/>
        </p:nvSpPr>
        <p:spPr>
          <a:xfrm>
            <a:off x="9580868" y="4999960"/>
            <a:ext cx="4237460" cy="28186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run on dataset including null features, used to derive 1-PNEF.</a:t>
            </a:r>
          </a:p>
          <a:p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use_sem_bic</a:t>
            </a:r>
            <a:r>
              <a:rPr lang="en-US" dirty="0"/>
              <a:t>()</a:t>
            </a:r>
          </a:p>
          <a:p>
            <a:r>
              <a:rPr lang="en-US" b="0" dirty="0"/>
              <a:t>Configure SEM BIC score.</a:t>
            </a:r>
          </a:p>
          <a:p>
            <a:r>
              <a:rPr lang="en-US" dirty="0"/>
              <a:t>2. </a:t>
            </a:r>
            <a:r>
              <a:rPr lang="en-US" dirty="0" err="1"/>
              <a:t>set_bootstrapping</a:t>
            </a:r>
            <a:r>
              <a:rPr lang="en-US" dirty="0"/>
              <a:t>()</a:t>
            </a:r>
          </a:p>
          <a:p>
            <a:r>
              <a:rPr lang="en-US" b="0" dirty="0"/>
              <a:t>Configure bootstrapping parameters.</a:t>
            </a:r>
          </a:p>
          <a:p>
            <a:r>
              <a:rPr lang="en-US" dirty="0"/>
              <a:t>3. </a:t>
            </a:r>
            <a:r>
              <a:rPr lang="en-US" dirty="0" err="1"/>
              <a:t>run_fges</a:t>
            </a:r>
            <a:r>
              <a:rPr lang="en-US" dirty="0"/>
              <a:t>()</a:t>
            </a:r>
          </a:p>
          <a:p>
            <a:r>
              <a:rPr lang="en-US" b="0" dirty="0"/>
              <a:t>Performs Fast Greedy Equivalence Search (FGES) algorithm.</a:t>
            </a:r>
          </a:p>
          <a:p>
            <a:r>
              <a:rPr lang="en-US" dirty="0"/>
              <a:t>4. </a:t>
            </a:r>
            <a:r>
              <a:rPr lang="en-US" dirty="0" err="1"/>
              <a:t>run_boss</a:t>
            </a:r>
            <a:r>
              <a:rPr lang="en-US" dirty="0"/>
              <a:t>()</a:t>
            </a:r>
          </a:p>
          <a:p>
            <a:r>
              <a:rPr lang="en-US" b="0" dirty="0"/>
              <a:t>Performs Best Order Score Search (BOSS) algorithm.</a:t>
            </a:r>
          </a:p>
          <a:p>
            <a:r>
              <a:rPr lang="en-US" dirty="0"/>
              <a:t>5. </a:t>
            </a:r>
            <a:r>
              <a:rPr lang="en-US" dirty="0" err="1"/>
              <a:t>get_json</a:t>
            </a:r>
            <a:endParaRPr lang="en-US" dirty="0"/>
          </a:p>
          <a:p>
            <a:r>
              <a:rPr lang="en-US" b="0" dirty="0"/>
              <a:t>Convert Tetrad graph object to JSON format.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DABF4FEA-9498-0380-C8C3-C8B18BCAEB92}"/>
              </a:ext>
            </a:extLst>
          </p:cNvPr>
          <p:cNvSpPr txBox="1"/>
          <p:nvPr/>
        </p:nvSpPr>
        <p:spPr>
          <a:xfrm>
            <a:off x="9580868" y="2806898"/>
            <a:ext cx="4237460" cy="17414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After applying time lag and features, we initiate the API and turn the dataset into a Tetrad compatible format. </a:t>
            </a:r>
          </a:p>
          <a:p>
            <a:r>
              <a:rPr lang="en-US" b="0" dirty="0"/>
              <a:t>  </a:t>
            </a:r>
            <a:endParaRPr lang="en-US" dirty="0"/>
          </a:p>
          <a:p>
            <a:r>
              <a:rPr lang="en-US" dirty="0"/>
              <a:t>1. start()</a:t>
            </a:r>
          </a:p>
          <a:p>
            <a:r>
              <a:rPr lang="en-US" b="0" dirty="0"/>
              <a:t>Import </a:t>
            </a:r>
            <a:r>
              <a:rPr lang="en-US" b="0" dirty="0" err="1"/>
              <a:t>jpype</a:t>
            </a:r>
            <a:r>
              <a:rPr lang="en-US" b="0" dirty="0"/>
              <a:t> to start JVM and load Tetrad jar file.</a:t>
            </a:r>
          </a:p>
          <a:p>
            <a:r>
              <a:rPr lang="en-US" dirty="0"/>
              <a:t>2. </a:t>
            </a:r>
            <a:r>
              <a:rPr lang="en-US" dirty="0" err="1"/>
              <a:t>load_continuous</a:t>
            </a:r>
            <a:r>
              <a:rPr lang="en-US" dirty="0"/>
              <a:t>()</a:t>
            </a:r>
          </a:p>
          <a:p>
            <a:r>
              <a:rPr lang="en-US" b="0" dirty="0"/>
              <a:t>Convert pandas </a:t>
            </a:r>
            <a:r>
              <a:rPr lang="en-US" b="0" dirty="0" err="1"/>
              <a:t>DataFrames</a:t>
            </a:r>
            <a:r>
              <a:rPr lang="en-US" b="0" dirty="0"/>
              <a:t> into Tetrad data format and initialize search state.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53EB80B4-B511-EA54-E65C-F19EAED838D8}"/>
              </a:ext>
            </a:extLst>
          </p:cNvPr>
          <p:cNvSpPr txBox="1"/>
          <p:nvPr/>
        </p:nvSpPr>
        <p:spPr>
          <a:xfrm>
            <a:off x="9580868" y="8148847"/>
            <a:ext cx="4237460" cy="17414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ran again with domain knowledge applied, then resulting graph is filtered using 1-PNEF threshold.</a:t>
            </a:r>
          </a:p>
          <a:p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load_knowledge</a:t>
            </a:r>
            <a:r>
              <a:rPr lang="en-US" dirty="0"/>
              <a:t>()</a:t>
            </a:r>
          </a:p>
          <a:p>
            <a:r>
              <a:rPr lang="en-US" b="0" dirty="0"/>
              <a:t>Load domain knowledge constraints.</a:t>
            </a:r>
          </a:p>
          <a:p>
            <a:r>
              <a:rPr lang="en-US" dirty="0"/>
              <a:t>2. </a:t>
            </a:r>
            <a:r>
              <a:rPr lang="en-US" dirty="0" err="1"/>
              <a:t>parse_graph</a:t>
            </a:r>
            <a:r>
              <a:rPr lang="en-US" dirty="0"/>
              <a:t>()</a:t>
            </a:r>
          </a:p>
          <a:p>
            <a:r>
              <a:rPr lang="en-US" b="0" dirty="0"/>
              <a:t>Parse Tetrad JSON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datasets.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E55822DA-3956-8BA0-1254-CB9F2F3688BB}"/>
              </a:ext>
            </a:extLst>
          </p:cNvPr>
          <p:cNvSpPr txBox="1"/>
          <p:nvPr/>
        </p:nvSpPr>
        <p:spPr>
          <a:xfrm>
            <a:off x="9563884" y="1718409"/>
            <a:ext cx="4264574" cy="6898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From an example of a dataset, see </a:t>
            </a:r>
            <a:r>
              <a:rPr lang="en-US" dirty="0" err="1"/>
              <a:t>issue_social_smell_showcase.Rmd</a:t>
            </a:r>
            <a:r>
              <a:rPr lang="en-US" b="0" dirty="0"/>
              <a:t>. Refer to </a:t>
            </a:r>
            <a:r>
              <a:rPr lang="en-US" b="0" dirty="0" err="1"/>
              <a:t>cheatsheets</a:t>
            </a:r>
            <a:r>
              <a:rPr lang="en-US" b="0" dirty="0"/>
              <a:t>/social-smells-cheatsheet.pdf</a:t>
            </a:r>
          </a:p>
        </p:txBody>
      </p:sp>
      <p:cxnSp>
        <p:nvCxnSpPr>
          <p:cNvPr id="1112" name="Connector: Elbow 1111">
            <a:extLst>
              <a:ext uri="{FF2B5EF4-FFF2-40B4-BE49-F238E27FC236}">
                <a16:creationId xmlns:a16="http://schemas.microsoft.com/office/drawing/2014/main" id="{B034450E-B38B-C211-C0A6-152FEDE77BAA}"/>
              </a:ext>
            </a:extLst>
          </p:cNvPr>
          <p:cNvCxnSpPr>
            <a:cxnSpLocks/>
            <a:stCxn id="991" idx="3"/>
          </p:cNvCxnSpPr>
          <p:nvPr/>
        </p:nvCxnSpPr>
        <p:spPr>
          <a:xfrm flipV="1">
            <a:off x="8817316" y="1578697"/>
            <a:ext cx="743391" cy="699841"/>
          </a:xfrm>
          <a:prstGeom prst="bentConnector3">
            <a:avLst>
              <a:gd name="adj1" fmla="val 30041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3" name="Connector: Elbow 1112">
            <a:extLst>
              <a:ext uri="{FF2B5EF4-FFF2-40B4-BE49-F238E27FC236}">
                <a16:creationId xmlns:a16="http://schemas.microsoft.com/office/drawing/2014/main" id="{65511814-DF2B-19C6-E66B-C4452A506801}"/>
              </a:ext>
            </a:extLst>
          </p:cNvPr>
          <p:cNvCxnSpPr>
            <a:cxnSpLocks/>
            <a:endCxn id="1106" idx="1"/>
          </p:cNvCxnSpPr>
          <p:nvPr/>
        </p:nvCxnSpPr>
        <p:spPr>
          <a:xfrm>
            <a:off x="8717666" y="4744465"/>
            <a:ext cx="863201" cy="166226"/>
          </a:xfrm>
          <a:prstGeom prst="bentConnector3">
            <a:avLst>
              <a:gd name="adj1" fmla="val 36639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433F8329-F0F1-FF49-60F5-D83E81A7AE17}"/>
              </a:ext>
            </a:extLst>
          </p:cNvPr>
          <p:cNvCxnSpPr>
            <a:cxnSpLocks/>
            <a:stCxn id="935" idx="3"/>
            <a:endCxn id="1107" idx="1"/>
          </p:cNvCxnSpPr>
          <p:nvPr/>
        </p:nvCxnSpPr>
        <p:spPr>
          <a:xfrm>
            <a:off x="8134908" y="6810887"/>
            <a:ext cx="1445959" cy="1272864"/>
          </a:xfrm>
          <a:prstGeom prst="bentConnector3">
            <a:avLst>
              <a:gd name="adj1" fmla="val 62924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AF3C8C-555C-A037-706A-4500D749A890}"/>
              </a:ext>
            </a:extLst>
          </p:cNvPr>
          <p:cNvSpPr txBox="1"/>
          <p:nvPr/>
        </p:nvSpPr>
        <p:spPr>
          <a:xfrm>
            <a:off x="1380217" y="3852209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Folded Corner 3">
            <a:extLst>
              <a:ext uri="{FF2B5EF4-FFF2-40B4-BE49-F238E27FC236}">
                <a16:creationId xmlns:a16="http://schemas.microsoft.com/office/drawing/2014/main" id="{0F89452B-212D-4F72-F5D3-BFEF530444FD}"/>
              </a:ext>
            </a:extLst>
          </p:cNvPr>
          <p:cNvSpPr/>
          <p:nvPr/>
        </p:nvSpPr>
        <p:spPr>
          <a:xfrm rot="10800000" flipH="1">
            <a:off x="2735054" y="364697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" name="Folded Corner 4">
            <a:extLst>
              <a:ext uri="{FF2B5EF4-FFF2-40B4-BE49-F238E27FC236}">
                <a16:creationId xmlns:a16="http://schemas.microsoft.com/office/drawing/2014/main" id="{01D9E941-B2F3-BB8C-3B57-72D196A048C1}"/>
              </a:ext>
            </a:extLst>
          </p:cNvPr>
          <p:cNvSpPr/>
          <p:nvPr/>
        </p:nvSpPr>
        <p:spPr>
          <a:xfrm rot="10800000" flipH="1">
            <a:off x="2701972" y="367544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" name="Folded Corner 5">
            <a:extLst>
              <a:ext uri="{FF2B5EF4-FFF2-40B4-BE49-F238E27FC236}">
                <a16:creationId xmlns:a16="http://schemas.microsoft.com/office/drawing/2014/main" id="{B7AF47E8-C629-6CE3-6C2B-9A00817F55F3}"/>
              </a:ext>
            </a:extLst>
          </p:cNvPr>
          <p:cNvSpPr/>
          <p:nvPr/>
        </p:nvSpPr>
        <p:spPr>
          <a:xfrm rot="10800000" flipH="1">
            <a:off x="2661535" y="370921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BD4CBEC9-0D6F-F6A4-77F0-105F1D2BB616}"/>
              </a:ext>
            </a:extLst>
          </p:cNvPr>
          <p:cNvSpPr txBox="1"/>
          <p:nvPr/>
        </p:nvSpPr>
        <p:spPr>
          <a:xfrm>
            <a:off x="2592175" y="3855334"/>
            <a:ext cx="4823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algorithm.py</a:t>
            </a:r>
          </a:p>
        </p:txBody>
      </p:sp>
      <p:sp>
        <p:nvSpPr>
          <p:cNvPr id="27" name="Folded Corner 3">
            <a:extLst>
              <a:ext uri="{FF2B5EF4-FFF2-40B4-BE49-F238E27FC236}">
                <a16:creationId xmlns:a16="http://schemas.microsoft.com/office/drawing/2014/main" id="{9327EB11-B316-1E1B-6307-FD67E02A2236}"/>
              </a:ext>
            </a:extLst>
          </p:cNvPr>
          <p:cNvSpPr/>
          <p:nvPr/>
        </p:nvSpPr>
        <p:spPr>
          <a:xfrm rot="10800000" flipH="1">
            <a:off x="3229225" y="3627100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" name="Folded Corner 4">
            <a:extLst>
              <a:ext uri="{FF2B5EF4-FFF2-40B4-BE49-F238E27FC236}">
                <a16:creationId xmlns:a16="http://schemas.microsoft.com/office/drawing/2014/main" id="{AB585E43-3AE1-E746-CDAD-755C7914A4E4}"/>
              </a:ext>
            </a:extLst>
          </p:cNvPr>
          <p:cNvSpPr/>
          <p:nvPr/>
        </p:nvSpPr>
        <p:spPr>
          <a:xfrm rot="10800000" flipH="1">
            <a:off x="3196143" y="365556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" name="Folded Corner 5">
            <a:extLst>
              <a:ext uri="{FF2B5EF4-FFF2-40B4-BE49-F238E27FC236}">
                <a16:creationId xmlns:a16="http://schemas.microsoft.com/office/drawing/2014/main" id="{CD2AE69A-86E1-E36C-80D9-9EFAE47906E5}"/>
              </a:ext>
            </a:extLst>
          </p:cNvPr>
          <p:cNvSpPr/>
          <p:nvPr/>
        </p:nvSpPr>
        <p:spPr>
          <a:xfrm rot="10800000" flipH="1">
            <a:off x="3155706" y="368934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EA8B106A-2C1F-0BA4-1E07-5DB779FEA9B5}"/>
              </a:ext>
            </a:extLst>
          </p:cNvPr>
          <p:cNvSpPr txBox="1"/>
          <p:nvPr/>
        </p:nvSpPr>
        <p:spPr>
          <a:xfrm>
            <a:off x="3146915" y="3847179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score.py</a:t>
            </a:r>
          </a:p>
        </p:txBody>
      </p:sp>
      <p:sp>
        <p:nvSpPr>
          <p:cNvPr id="30" name="Folded Corner 3">
            <a:extLst>
              <a:ext uri="{FF2B5EF4-FFF2-40B4-BE49-F238E27FC236}">
                <a16:creationId xmlns:a16="http://schemas.microsoft.com/office/drawing/2014/main" id="{A56868AE-980B-9087-A80A-EF7F27AEF17E}"/>
              </a:ext>
            </a:extLst>
          </p:cNvPr>
          <p:cNvSpPr/>
          <p:nvPr/>
        </p:nvSpPr>
        <p:spPr>
          <a:xfrm rot="10800000" flipH="1">
            <a:off x="594279" y="3743275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" name="Folded Corner 4">
            <a:extLst>
              <a:ext uri="{FF2B5EF4-FFF2-40B4-BE49-F238E27FC236}">
                <a16:creationId xmlns:a16="http://schemas.microsoft.com/office/drawing/2014/main" id="{13627A07-FE1A-96FB-468F-E1660149B109}"/>
              </a:ext>
            </a:extLst>
          </p:cNvPr>
          <p:cNvSpPr/>
          <p:nvPr/>
        </p:nvSpPr>
        <p:spPr>
          <a:xfrm rot="10800000" flipH="1">
            <a:off x="561197" y="3771741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" name="Folded Corner 5">
            <a:extLst>
              <a:ext uri="{FF2B5EF4-FFF2-40B4-BE49-F238E27FC236}">
                <a16:creationId xmlns:a16="http://schemas.microsoft.com/office/drawing/2014/main" id="{7247AC5E-28AC-4AC8-764C-5948E81509E3}"/>
              </a:ext>
            </a:extLst>
          </p:cNvPr>
          <p:cNvSpPr/>
          <p:nvPr/>
        </p:nvSpPr>
        <p:spPr>
          <a:xfrm rot="10800000" flipH="1">
            <a:off x="520760" y="3805517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AEAB516B-9380-6C3D-6340-314F759F0FE8}"/>
              </a:ext>
            </a:extLst>
          </p:cNvPr>
          <p:cNvSpPr txBox="1"/>
          <p:nvPr/>
        </p:nvSpPr>
        <p:spPr>
          <a:xfrm>
            <a:off x="496683" y="3966302"/>
            <a:ext cx="4603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 err="1">
                <a:solidFill>
                  <a:schemeClr val="tx1">
                    <a:lumMod val="50000"/>
                  </a:schemeClr>
                </a:solidFill>
              </a:rPr>
              <a:t>edu.cmu</a:t>
            </a:r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8F7CA6-DC5B-A276-59B5-D85ADC4DB6DC}"/>
              </a:ext>
            </a:extLst>
          </p:cNvPr>
          <p:cNvSpPr txBox="1"/>
          <p:nvPr/>
        </p:nvSpPr>
        <p:spPr>
          <a:xfrm>
            <a:off x="2163339" y="4495094"/>
            <a:ext cx="621043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run_fges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()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A7863AF-2944-FB36-729E-2127675C8B75}"/>
              </a:ext>
            </a:extLst>
          </p:cNvPr>
          <p:cNvGrpSpPr/>
          <p:nvPr/>
        </p:nvGrpSpPr>
        <p:grpSpPr>
          <a:xfrm>
            <a:off x="3376953" y="7939756"/>
            <a:ext cx="715910" cy="518607"/>
            <a:chOff x="3300333" y="6875181"/>
            <a:chExt cx="2140200" cy="1512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D42C57-4548-1EBE-B118-F9D42380E163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2" name="Google Shape;162;p1">
              <a:extLst>
                <a:ext uri="{FF2B5EF4-FFF2-40B4-BE49-F238E27FC236}">
                  <a16:creationId xmlns:a16="http://schemas.microsoft.com/office/drawing/2014/main" id="{225AAE55-9158-F52D-69C8-DB6AE7435F69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23" name="Google Shape;163;p1">
              <a:extLst>
                <a:ext uri="{FF2B5EF4-FFF2-40B4-BE49-F238E27FC236}">
                  <a16:creationId xmlns:a16="http://schemas.microsoft.com/office/drawing/2014/main" id="{3C9FFE22-895B-0742-EE66-A19C02778AF2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3" name="Google Shape;164;p1">
              <a:extLst>
                <a:ext uri="{FF2B5EF4-FFF2-40B4-BE49-F238E27FC236}">
                  <a16:creationId xmlns:a16="http://schemas.microsoft.com/office/drawing/2014/main" id="{360E5DDE-0512-D9AF-A217-034D6591CA47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4" name="Google Shape;165;p1">
              <a:extLst>
                <a:ext uri="{FF2B5EF4-FFF2-40B4-BE49-F238E27FC236}">
                  <a16:creationId xmlns:a16="http://schemas.microsoft.com/office/drawing/2014/main" id="{F4C93FCC-9B6B-1E04-4D7D-1C53710FF320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35" name="Google Shape;171;p1">
              <a:extLst>
                <a:ext uri="{FF2B5EF4-FFF2-40B4-BE49-F238E27FC236}">
                  <a16:creationId xmlns:a16="http://schemas.microsoft.com/office/drawing/2014/main" id="{2911A402-9491-5838-89FD-E5F1C493E41A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36" name="Google Shape;187;p1">
              <a:extLst>
                <a:ext uri="{FF2B5EF4-FFF2-40B4-BE49-F238E27FC236}">
                  <a16:creationId xmlns:a16="http://schemas.microsoft.com/office/drawing/2014/main" id="{C0E9A998-789C-20C2-D959-61F344453569}"/>
                </a:ext>
              </a:extLst>
            </p:cNvPr>
            <p:cNvCxnSpPr>
              <a:stCxn id="37" idx="6"/>
              <a:endCxn id="22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7" name="Google Shape;188;p1">
              <a:extLst>
                <a:ext uri="{FF2B5EF4-FFF2-40B4-BE49-F238E27FC236}">
                  <a16:creationId xmlns:a16="http://schemas.microsoft.com/office/drawing/2014/main" id="{C86C25EF-E67C-AB9A-997A-B36040A718D7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39" name="Google Shape;196;p1">
              <a:extLst>
                <a:ext uri="{FF2B5EF4-FFF2-40B4-BE49-F238E27FC236}">
                  <a16:creationId xmlns:a16="http://schemas.microsoft.com/office/drawing/2014/main" id="{9C10D3D1-DF76-4AE6-C1BC-78B821C84C83}"/>
                </a:ext>
              </a:extLst>
            </p:cNvPr>
            <p:cNvCxnSpPr>
              <a:stCxn id="37" idx="5"/>
              <a:endCxn id="33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0" name="Google Shape;198;p1">
              <a:extLst>
                <a:ext uri="{FF2B5EF4-FFF2-40B4-BE49-F238E27FC236}">
                  <a16:creationId xmlns:a16="http://schemas.microsoft.com/office/drawing/2014/main" id="{CA967AC5-7549-7BE3-E6CA-8D032F7EC6FA}"/>
                </a:ext>
              </a:extLst>
            </p:cNvPr>
            <p:cNvCxnSpPr>
              <a:stCxn id="37" idx="6"/>
              <a:endCxn id="34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1" name="Google Shape;199;p1">
              <a:extLst>
                <a:ext uri="{FF2B5EF4-FFF2-40B4-BE49-F238E27FC236}">
                  <a16:creationId xmlns:a16="http://schemas.microsoft.com/office/drawing/2014/main" id="{0FF4CD29-DFCF-F358-696B-C079CC7DBF43}"/>
                </a:ext>
              </a:extLst>
            </p:cNvPr>
            <p:cNvCxnSpPr>
              <a:stCxn id="37" idx="3"/>
              <a:endCxn id="35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2" name="Google Shape;200;p1">
              <a:extLst>
                <a:ext uri="{FF2B5EF4-FFF2-40B4-BE49-F238E27FC236}">
                  <a16:creationId xmlns:a16="http://schemas.microsoft.com/office/drawing/2014/main" id="{96B2A200-EB0D-9036-85E4-E3BCB9388E10}"/>
                </a:ext>
              </a:extLst>
            </p:cNvPr>
            <p:cNvCxnSpPr>
              <a:stCxn id="37" idx="6"/>
              <a:endCxn id="23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0701D17-9269-3DCB-4BD0-4A7D109678DF}"/>
              </a:ext>
            </a:extLst>
          </p:cNvPr>
          <p:cNvSpPr txBox="1"/>
          <p:nvPr/>
        </p:nvSpPr>
        <p:spPr>
          <a:xfrm>
            <a:off x="3250868" y="8520901"/>
            <a:ext cx="1156231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Causal Search Output</a:t>
            </a:r>
          </a:p>
        </p:txBody>
      </p:sp>
    </p:spTree>
    <p:extLst>
      <p:ext uri="{BB962C8B-B14F-4D97-AF65-F5344CB8AC3E}">
        <p14:creationId xmlns:p14="http://schemas.microsoft.com/office/powerpoint/2010/main" val="130875114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078A8-79F5-A416-21E6-B86918A6B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DDD32F10-6E51-8957-7222-3354400F3AB4}"/>
              </a:ext>
            </a:extLst>
          </p:cNvPr>
          <p:cNvSpPr txBox="1"/>
          <p:nvPr/>
        </p:nvSpPr>
        <p:spPr>
          <a:xfrm>
            <a:off x="182880" y="5120640"/>
            <a:ext cx="4001355" cy="12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wraps the Tetrad Java API through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, exposing individual modules in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api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(data, score, algorithm, graph, knowledge, bootstrapping) that provide direct function level control over each step of the causal search pipeline.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expands on the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TetradSearch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API by breaking its single object, shared state pipeline into individual modules.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924" name="Folded Corner 5">
            <a:extLst>
              <a:ext uri="{FF2B5EF4-FFF2-40B4-BE49-F238E27FC236}">
                <a16:creationId xmlns:a16="http://schemas.microsoft.com/office/drawing/2014/main" id="{7CF141DF-8FC6-72C5-917F-85D50237A29A}"/>
              </a:ext>
            </a:extLst>
          </p:cNvPr>
          <p:cNvSpPr/>
          <p:nvPr/>
        </p:nvSpPr>
        <p:spPr>
          <a:xfrm rot="10800000" flipH="1">
            <a:off x="5199804" y="8322461"/>
            <a:ext cx="944261" cy="1140881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FF898B85-12F8-E1A1-52B9-F777AFA15338}"/>
              </a:ext>
            </a:extLst>
          </p:cNvPr>
          <p:cNvSpPr/>
          <p:nvPr/>
        </p:nvSpPr>
        <p:spPr>
          <a:xfrm>
            <a:off x="7718005" y="6528063"/>
            <a:ext cx="416903" cy="565648"/>
          </a:xfrm>
          <a:prstGeom prst="rect">
            <a:avLst/>
          </a:prstGeom>
          <a:solidFill>
            <a:srgbClr val="FFFFFF"/>
          </a:solidFill>
          <a:ln w="254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36" name="Image" descr="Image">
            <a:extLst>
              <a:ext uri="{FF2B5EF4-FFF2-40B4-BE49-F238E27FC236}">
                <a16:creationId xmlns:a16="http://schemas.microsoft.com/office/drawing/2014/main" id="{81BC9DF5-2762-CB99-DC8B-BD5E2F6CA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68" y="-661924"/>
            <a:ext cx="5598432" cy="2990088"/>
          </a:xfrm>
          <a:prstGeom prst="rect">
            <a:avLst/>
          </a:prstGeom>
          <a:ln w="12700">
            <a:miter lim="400000"/>
          </a:ln>
        </p:spPr>
      </p:pic>
      <p:sp>
        <p:nvSpPr>
          <p:cNvPr id="937" name="Line">
            <a:extLst>
              <a:ext uri="{FF2B5EF4-FFF2-40B4-BE49-F238E27FC236}">
                <a16:creationId xmlns:a16="http://schemas.microsoft.com/office/drawing/2014/main" id="{62860C8E-8005-F909-9590-0B0B48EF5ED8}"/>
              </a:ext>
            </a:extLst>
          </p:cNvPr>
          <p:cNvSpPr/>
          <p:nvPr/>
        </p:nvSpPr>
        <p:spPr>
          <a:xfrm flipV="1">
            <a:off x="213255" y="10296246"/>
            <a:ext cx="13462982" cy="39499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38" name="YOUR LOGO…">
            <a:extLst>
              <a:ext uri="{FF2B5EF4-FFF2-40B4-BE49-F238E27FC236}">
                <a16:creationId xmlns:a16="http://schemas.microsoft.com/office/drawing/2014/main" id="{E87623DD-1C33-1C4E-CE30-85ED3A676E60}"/>
              </a:ext>
            </a:extLst>
          </p:cNvPr>
          <p:cNvSpPr/>
          <p:nvPr/>
        </p:nvSpPr>
        <p:spPr>
          <a:xfrm>
            <a:off x="170343" y="10207710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sz="2400" dirty="0"/>
              <a:t>Kumu</a:t>
            </a:r>
            <a:endParaRPr sz="2400" dirty="0"/>
          </a:p>
        </p:txBody>
      </p:sp>
      <p:sp>
        <p:nvSpPr>
          <p:cNvPr id="939" name="Three Column Layout: : CHEAT SHEET">
            <a:extLst>
              <a:ext uri="{FF2B5EF4-FFF2-40B4-BE49-F238E27FC236}">
                <a16:creationId xmlns:a16="http://schemas.microsoft.com/office/drawing/2014/main" id="{2A2C4DEF-0F9E-9B51-C257-B410457D920E}"/>
              </a:ext>
            </a:extLst>
          </p:cNvPr>
          <p:cNvSpPr txBox="1">
            <a:spLocks/>
          </p:cNvSpPr>
          <p:nvPr/>
        </p:nvSpPr>
        <p:spPr>
          <a:xfrm>
            <a:off x="275721" y="361177"/>
            <a:ext cx="10898129" cy="803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1pPr>
            <a:lvl2pPr marL="0" marR="0" indent="228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2pPr>
            <a:lvl3pPr marL="0" marR="0" indent="457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3pPr>
            <a:lvl4pPr marL="0" marR="0" indent="685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4pPr>
            <a:lvl5pPr marL="0" marR="0" indent="9144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5pPr>
            <a:lvl6pPr marL="0" marR="0" indent="11430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6pPr>
            <a:lvl7pPr marL="0" marR="0" indent="1371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7pPr>
            <a:lvl8pPr marL="0" marR="0" indent="1600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8pPr>
            <a:lvl9pPr marL="0" marR="0" indent="1828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9pPr>
          </a:lstStyle>
          <a:p>
            <a:pPr hangingPunct="1"/>
            <a:r>
              <a:rPr lang="en-US"/>
              <a:t>Pykumu : : </a:t>
            </a:r>
            <a:r>
              <a:rPr lang="en-US"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941" name="Layout Suggestions">
            <a:extLst>
              <a:ext uri="{FF2B5EF4-FFF2-40B4-BE49-F238E27FC236}">
                <a16:creationId xmlns:a16="http://schemas.microsoft.com/office/drawing/2014/main" id="{C7686815-BCA4-AAC1-D1E6-CCDEA8D2BD8B}"/>
              </a:ext>
            </a:extLst>
          </p:cNvPr>
          <p:cNvSpPr txBox="1"/>
          <p:nvPr/>
        </p:nvSpPr>
        <p:spPr>
          <a:xfrm>
            <a:off x="182880" y="1463040"/>
            <a:ext cx="262128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About</a:t>
            </a:r>
            <a:endParaRPr dirty="0"/>
          </a:p>
        </p:txBody>
      </p:sp>
      <p:sp>
        <p:nvSpPr>
          <p:cNvPr id="943" name="TextBox 942">
            <a:extLst>
              <a:ext uri="{FF2B5EF4-FFF2-40B4-BE49-F238E27FC236}">
                <a16:creationId xmlns:a16="http://schemas.microsoft.com/office/drawing/2014/main" id="{A1266271-F538-06BE-1AA8-2969F59B0A8E}"/>
              </a:ext>
            </a:extLst>
          </p:cNvPr>
          <p:cNvSpPr txBox="1"/>
          <p:nvPr/>
        </p:nvSpPr>
        <p:spPr>
          <a:xfrm>
            <a:off x="6080760" y="10327008"/>
            <a:ext cx="7747698" cy="500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1000" b="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1000" b="0" dirty="0">
                <a:solidFill>
                  <a:schemeClr val="tx1"/>
                </a:solidFill>
              </a:rPr>
              <a:t> Phuong Pham,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Carlos Paradis</a:t>
            </a:r>
            <a:r>
              <a:rPr lang="en-US" sz="1000" b="0" dirty="0">
                <a:solidFill>
                  <a:schemeClr val="tx1"/>
                </a:solidFill>
              </a:rPr>
              <a:t>, Adam Graham, Jared Seto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• Kai</a:t>
            </a:r>
            <a:r>
              <a:rPr kumimoji="0" lang="haw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ā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ulu package version 0.0.0.9700 (in development) •  Updated: 2026-04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4" name="Logistics">
            <a:extLst>
              <a:ext uri="{FF2B5EF4-FFF2-40B4-BE49-F238E27FC236}">
                <a16:creationId xmlns:a16="http://schemas.microsoft.com/office/drawing/2014/main" id="{6AB5F4E3-F48D-1309-B573-33819744BBFB}"/>
              </a:ext>
            </a:extLst>
          </p:cNvPr>
          <p:cNvSpPr txBox="1"/>
          <p:nvPr/>
        </p:nvSpPr>
        <p:spPr>
          <a:xfrm>
            <a:off x="9601200" y="146304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Data Input</a:t>
            </a:r>
          </a:p>
        </p:txBody>
      </p:sp>
      <p:sp>
        <p:nvSpPr>
          <p:cNvPr id="945" name="Logistics">
            <a:extLst>
              <a:ext uri="{FF2B5EF4-FFF2-40B4-BE49-F238E27FC236}">
                <a16:creationId xmlns:a16="http://schemas.microsoft.com/office/drawing/2014/main" id="{1D2E8C5E-654D-960B-9C8B-C1C83D40397B}"/>
              </a:ext>
            </a:extLst>
          </p:cNvPr>
          <p:cNvSpPr txBox="1"/>
          <p:nvPr/>
        </p:nvSpPr>
        <p:spPr>
          <a:xfrm>
            <a:off x="182880" y="6675120"/>
            <a:ext cx="332142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Command Line Interface</a:t>
            </a:r>
          </a:p>
        </p:txBody>
      </p:sp>
      <p:sp>
        <p:nvSpPr>
          <p:cNvPr id="947" name="Basics">
            <a:extLst>
              <a:ext uri="{FF2B5EF4-FFF2-40B4-BE49-F238E27FC236}">
                <a16:creationId xmlns:a16="http://schemas.microsoft.com/office/drawing/2014/main" id="{862E8219-B197-D57B-3450-D8468A1A5AAC}"/>
              </a:ext>
            </a:extLst>
          </p:cNvPr>
          <p:cNvSpPr txBox="1"/>
          <p:nvPr/>
        </p:nvSpPr>
        <p:spPr>
          <a:xfrm>
            <a:off x="182880" y="2834640"/>
            <a:ext cx="16991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lc="http://schemas.openxmlformats.org/drawingml/2006/lockedCanvas" val="1"/>
            </a:ext>
          </a:extLst>
        </p:spPr>
        <p:txBody>
          <a:bodyPr wrap="none" lIns="12700" tIns="12700" rIns="12700" bIns="127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 err="1"/>
              <a:t>Pykumu</a:t>
            </a:r>
            <a:r>
              <a:rPr lang="en-US" dirty="0"/>
              <a:t> API </a:t>
            </a:r>
            <a:endParaRPr dirty="0"/>
          </a:p>
        </p:txBody>
      </p:sp>
      <p:sp>
        <p:nvSpPr>
          <p:cNvPr id="948" name="Manipulate Variables">
            <a:extLst>
              <a:ext uri="{FF2B5EF4-FFF2-40B4-BE49-F238E27FC236}">
                <a16:creationId xmlns:a16="http://schemas.microsoft.com/office/drawing/2014/main" id="{297B67C9-0DDF-2E49-FD41-01CF153E2460}"/>
              </a:ext>
            </a:extLst>
          </p:cNvPr>
          <p:cNvSpPr txBox="1"/>
          <p:nvPr/>
        </p:nvSpPr>
        <p:spPr>
          <a:xfrm>
            <a:off x="4754880" y="1463040"/>
            <a:ext cx="3414396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Analysis Workflow</a:t>
            </a:r>
          </a:p>
        </p:txBody>
      </p:sp>
      <p:graphicFrame>
        <p:nvGraphicFramePr>
          <p:cNvPr id="952" name="Table">
            <a:extLst>
              <a:ext uri="{FF2B5EF4-FFF2-40B4-BE49-F238E27FC236}">
                <a16:creationId xmlns:a16="http://schemas.microsoft.com/office/drawing/2014/main" id="{8BE19FF7-C8A4-C89B-83BB-C651680C8302}"/>
              </a:ext>
            </a:extLst>
          </p:cNvPr>
          <p:cNvGraphicFramePr/>
          <p:nvPr/>
        </p:nvGraphicFramePr>
        <p:xfrm>
          <a:off x="7572970" y="1860776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3" name="Table">
            <a:extLst>
              <a:ext uri="{FF2B5EF4-FFF2-40B4-BE49-F238E27FC236}">
                <a16:creationId xmlns:a16="http://schemas.microsoft.com/office/drawing/2014/main" id="{3C50EDBD-F608-EB3A-98F8-BB7E1B51D029}"/>
              </a:ext>
            </a:extLst>
          </p:cNvPr>
          <p:cNvGraphicFramePr/>
          <p:nvPr/>
        </p:nvGraphicFramePr>
        <p:xfrm>
          <a:off x="8061338" y="3158012"/>
          <a:ext cx="646626" cy="63799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07771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2262694748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819122332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296678260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322319369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17903980"/>
                    </a:ext>
                  </a:extLst>
                </a:gridCol>
              </a:tblGrid>
              <a:tr h="127598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4" name="Table">
            <a:extLst>
              <a:ext uri="{FF2B5EF4-FFF2-40B4-BE49-F238E27FC236}">
                <a16:creationId xmlns:a16="http://schemas.microsoft.com/office/drawing/2014/main" id="{EDE34FA4-983A-22A9-569A-87315FDC05A1}"/>
              </a:ext>
            </a:extLst>
          </p:cNvPr>
          <p:cNvGraphicFramePr/>
          <p:nvPr/>
        </p:nvGraphicFramePr>
        <p:xfrm>
          <a:off x="57722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5" name="Table">
            <a:extLst>
              <a:ext uri="{FF2B5EF4-FFF2-40B4-BE49-F238E27FC236}">
                <a16:creationId xmlns:a16="http://schemas.microsoft.com/office/drawing/2014/main" id="{52491B66-A559-C9D7-5E56-DFEC4266C212}"/>
              </a:ext>
            </a:extLst>
          </p:cNvPr>
          <p:cNvGraphicFramePr/>
          <p:nvPr/>
        </p:nvGraphicFramePr>
        <p:xfrm>
          <a:off x="7118882" y="3162435"/>
          <a:ext cx="627864" cy="6400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933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102988"/>
                  </a:ext>
                </a:extLst>
              </a:tr>
            </a:tbl>
          </a:graphicData>
        </a:graphic>
      </p:graphicFrame>
      <p:graphicFrame>
        <p:nvGraphicFramePr>
          <p:cNvPr id="956" name="Table">
            <a:extLst>
              <a:ext uri="{FF2B5EF4-FFF2-40B4-BE49-F238E27FC236}">
                <a16:creationId xmlns:a16="http://schemas.microsoft.com/office/drawing/2014/main" id="{D7961866-EFE2-F8AB-1B06-DE755270439C}"/>
              </a:ext>
            </a:extLst>
          </p:cNvPr>
          <p:cNvGraphicFramePr/>
          <p:nvPr/>
        </p:nvGraphicFramePr>
        <p:xfrm>
          <a:off x="53483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7" name="Plus Sign 956">
            <a:extLst>
              <a:ext uri="{FF2B5EF4-FFF2-40B4-BE49-F238E27FC236}">
                <a16:creationId xmlns:a16="http://schemas.microsoft.com/office/drawing/2014/main" id="{3F2D3267-9C8F-FD49-E942-E3F8BCCD58B9}"/>
              </a:ext>
            </a:extLst>
          </p:cNvPr>
          <p:cNvSpPr/>
          <p:nvPr/>
        </p:nvSpPr>
        <p:spPr>
          <a:xfrm>
            <a:off x="5608866" y="3336992"/>
            <a:ext cx="118473" cy="124938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8" name="Plus Sign 957">
            <a:extLst>
              <a:ext uri="{FF2B5EF4-FFF2-40B4-BE49-F238E27FC236}">
                <a16:creationId xmlns:a16="http://schemas.microsoft.com/office/drawing/2014/main" id="{8032C0E7-CC44-C16E-3134-FA03F54B3344}"/>
              </a:ext>
            </a:extLst>
          </p:cNvPr>
          <p:cNvSpPr/>
          <p:nvPr/>
        </p:nvSpPr>
        <p:spPr>
          <a:xfrm>
            <a:off x="7845219" y="3413769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9" name="Left Brace 958">
            <a:extLst>
              <a:ext uri="{FF2B5EF4-FFF2-40B4-BE49-F238E27FC236}">
                <a16:creationId xmlns:a16="http://schemas.microsoft.com/office/drawing/2014/main" id="{4931B170-724F-626A-0874-9B95E9ED4F5C}"/>
              </a:ext>
            </a:extLst>
          </p:cNvPr>
          <p:cNvSpPr/>
          <p:nvPr/>
        </p:nvSpPr>
        <p:spPr>
          <a:xfrm>
            <a:off x="7013808" y="3168613"/>
            <a:ext cx="45719" cy="623765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0" name="TextBox 959">
            <a:extLst>
              <a:ext uri="{FF2B5EF4-FFF2-40B4-BE49-F238E27FC236}">
                <a16:creationId xmlns:a16="http://schemas.microsoft.com/office/drawing/2014/main" id="{5F9B0649-94A7-B5CD-263A-13059F8C38EE}"/>
              </a:ext>
            </a:extLst>
          </p:cNvPr>
          <p:cNvSpPr txBox="1"/>
          <p:nvPr/>
        </p:nvSpPr>
        <p:spPr>
          <a:xfrm>
            <a:off x="6843820" y="3302155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1" name="Left Brace 960">
            <a:extLst>
              <a:ext uri="{FF2B5EF4-FFF2-40B4-BE49-F238E27FC236}">
                <a16:creationId xmlns:a16="http://schemas.microsoft.com/office/drawing/2014/main" id="{3316244E-D10A-B1F6-7132-D7610B5FC9B6}"/>
              </a:ext>
            </a:extLst>
          </p:cNvPr>
          <p:cNvSpPr/>
          <p:nvPr/>
        </p:nvSpPr>
        <p:spPr>
          <a:xfrm rot="5400000">
            <a:off x="8355720" y="2751534"/>
            <a:ext cx="51104" cy="639868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81EEA7F1-7D4B-FB46-F162-1DB62340F397}"/>
              </a:ext>
            </a:extLst>
          </p:cNvPr>
          <p:cNvSpPr txBox="1"/>
          <p:nvPr/>
        </p:nvSpPr>
        <p:spPr>
          <a:xfrm>
            <a:off x="8298111" y="2791232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3" name="TextBox 962">
            <a:extLst>
              <a:ext uri="{FF2B5EF4-FFF2-40B4-BE49-F238E27FC236}">
                <a16:creationId xmlns:a16="http://schemas.microsoft.com/office/drawing/2014/main" id="{28E204E8-3452-A236-B7C9-AEAAB48A7593}"/>
              </a:ext>
            </a:extLst>
          </p:cNvPr>
          <p:cNvSpPr txBox="1"/>
          <p:nvPr/>
        </p:nvSpPr>
        <p:spPr>
          <a:xfrm>
            <a:off x="7059527" y="2904070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CVE_ID</a:t>
            </a:r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6B362B73-891E-3ABC-C548-0E6938996A5F}"/>
              </a:ext>
            </a:extLst>
          </p:cNvPr>
          <p:cNvSpPr txBox="1"/>
          <p:nvPr/>
        </p:nvSpPr>
        <p:spPr>
          <a:xfrm>
            <a:off x="5375035" y="3638435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5" name="TextBox 964">
            <a:extLst>
              <a:ext uri="{FF2B5EF4-FFF2-40B4-BE49-F238E27FC236}">
                <a16:creationId xmlns:a16="http://schemas.microsoft.com/office/drawing/2014/main" id="{ABB84C32-9686-6BF0-8AA8-F1CE9BED3EB8}"/>
              </a:ext>
            </a:extLst>
          </p:cNvPr>
          <p:cNvSpPr txBox="1"/>
          <p:nvPr/>
        </p:nvSpPr>
        <p:spPr>
          <a:xfrm>
            <a:off x="8265907" y="4958917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4FC2AEB6-054A-49F7-025B-D895C51B6A2E}"/>
              </a:ext>
            </a:extLst>
          </p:cNvPr>
          <p:cNvSpPr txBox="1"/>
          <p:nvPr/>
        </p:nvSpPr>
        <p:spPr>
          <a:xfrm>
            <a:off x="7143372" y="3761779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dirty="0"/>
              <a:t>4. Indicator Features 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7" name="TextBox 966">
            <a:extLst>
              <a:ext uri="{FF2B5EF4-FFF2-40B4-BE49-F238E27FC236}">
                <a16:creationId xmlns:a16="http://schemas.microsoft.com/office/drawing/2014/main" id="{11BBBA75-405D-81F2-585E-BE5E4656659B}"/>
              </a:ext>
            </a:extLst>
          </p:cNvPr>
          <p:cNvSpPr txBox="1"/>
          <p:nvPr/>
        </p:nvSpPr>
        <p:spPr>
          <a:xfrm>
            <a:off x="5218291" y="3762554"/>
            <a:ext cx="872964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/>
              <a:t>3. Time Lag</a:t>
            </a:r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F22ACBF6-9865-42DA-2A3C-8515F1E08CE1}"/>
              </a:ext>
            </a:extLst>
          </p:cNvPr>
          <p:cNvSpPr txBox="1"/>
          <p:nvPr/>
        </p:nvSpPr>
        <p:spPr>
          <a:xfrm>
            <a:off x="7464986" y="2450238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2. Dataset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69" name="Connector: Elbow 968">
            <a:extLst>
              <a:ext uri="{FF2B5EF4-FFF2-40B4-BE49-F238E27FC236}">
                <a16:creationId xmlns:a16="http://schemas.microsoft.com/office/drawing/2014/main" id="{99A45A89-5C3E-CDE4-F619-B8CA6B399B04}"/>
              </a:ext>
            </a:extLst>
          </p:cNvPr>
          <p:cNvCxnSpPr>
            <a:cxnSpLocks/>
            <a:endCxn id="995" idx="1"/>
          </p:cNvCxnSpPr>
          <p:nvPr/>
        </p:nvCxnSpPr>
        <p:spPr>
          <a:xfrm flipH="1">
            <a:off x="5209590" y="2279027"/>
            <a:ext cx="3498712" cy="1167195"/>
          </a:xfrm>
          <a:prstGeom prst="bentConnector5">
            <a:avLst>
              <a:gd name="adj1" fmla="val -9550"/>
              <a:gd name="adj2" fmla="val 50000"/>
              <a:gd name="adj3" fmla="val 112547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70" name="Rectangle 969">
            <a:extLst>
              <a:ext uri="{FF2B5EF4-FFF2-40B4-BE49-F238E27FC236}">
                <a16:creationId xmlns:a16="http://schemas.microsoft.com/office/drawing/2014/main" id="{72FC474C-A2A6-F3CA-8F46-05FAF7BB13BA}"/>
              </a:ext>
            </a:extLst>
          </p:cNvPr>
          <p:cNvSpPr/>
          <p:nvPr/>
        </p:nvSpPr>
        <p:spPr>
          <a:xfrm>
            <a:off x="7370620" y="1800587"/>
            <a:ext cx="1443262" cy="996921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971" name="Table">
            <a:extLst>
              <a:ext uri="{FF2B5EF4-FFF2-40B4-BE49-F238E27FC236}">
                <a16:creationId xmlns:a16="http://schemas.microsoft.com/office/drawing/2014/main" id="{DF5BE1D5-5352-B757-7B6F-A3441128B946}"/>
              </a:ext>
            </a:extLst>
          </p:cNvPr>
          <p:cNvGraphicFramePr/>
          <p:nvPr/>
        </p:nvGraphicFramePr>
        <p:xfrm>
          <a:off x="5798497" y="4490104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72" name="Table">
            <a:extLst>
              <a:ext uri="{FF2B5EF4-FFF2-40B4-BE49-F238E27FC236}">
                <a16:creationId xmlns:a16="http://schemas.microsoft.com/office/drawing/2014/main" id="{D7C07C96-6EFD-4851-1CB9-6A615FD67980}"/>
              </a:ext>
            </a:extLst>
          </p:cNvPr>
          <p:cNvGraphicFramePr/>
          <p:nvPr/>
        </p:nvGraphicFramePr>
        <p:xfrm>
          <a:off x="5305505" y="4499036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3" name="Plus Sign 972">
            <a:extLst>
              <a:ext uri="{FF2B5EF4-FFF2-40B4-BE49-F238E27FC236}">
                <a16:creationId xmlns:a16="http://schemas.microsoft.com/office/drawing/2014/main" id="{9482E1D1-9E08-12A8-8CA5-6CF5A3379196}"/>
              </a:ext>
            </a:extLst>
          </p:cNvPr>
          <p:cNvSpPr/>
          <p:nvPr/>
        </p:nvSpPr>
        <p:spPr>
          <a:xfrm>
            <a:off x="5599687" y="4490104"/>
            <a:ext cx="12099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74" name="TextBox 973">
            <a:extLst>
              <a:ext uri="{FF2B5EF4-FFF2-40B4-BE49-F238E27FC236}">
                <a16:creationId xmlns:a16="http://schemas.microsoft.com/office/drawing/2014/main" id="{598A230B-CD2D-1122-A4D7-BFBF77F1084F}"/>
              </a:ext>
            </a:extLst>
          </p:cNvPr>
          <p:cNvSpPr txBox="1"/>
          <p:nvPr/>
        </p:nvSpPr>
        <p:spPr>
          <a:xfrm>
            <a:off x="5103638" y="5067603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5. Null Features</a:t>
            </a:r>
          </a:p>
        </p:txBody>
      </p:sp>
      <p:cxnSp>
        <p:nvCxnSpPr>
          <p:cNvPr id="975" name="Straight Arrow Connector 974">
            <a:extLst>
              <a:ext uri="{FF2B5EF4-FFF2-40B4-BE49-F238E27FC236}">
                <a16:creationId xmlns:a16="http://schemas.microsoft.com/office/drawing/2014/main" id="{F0C4B60C-F8C4-091E-993F-A1633B34066A}"/>
              </a:ext>
            </a:extLst>
          </p:cNvPr>
          <p:cNvCxnSpPr>
            <a:cxnSpLocks/>
          </p:cNvCxnSpPr>
          <p:nvPr/>
        </p:nvCxnSpPr>
        <p:spPr>
          <a:xfrm>
            <a:off x="5512825" y="4664976"/>
            <a:ext cx="285672" cy="357737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6" name="Straight Arrow Connector 975">
            <a:extLst>
              <a:ext uri="{FF2B5EF4-FFF2-40B4-BE49-F238E27FC236}">
                <a16:creationId xmlns:a16="http://schemas.microsoft.com/office/drawing/2014/main" id="{20BC50BC-462B-6EC1-7798-17988E39A05B}"/>
              </a:ext>
            </a:extLst>
          </p:cNvPr>
          <p:cNvCxnSpPr>
            <a:cxnSpLocks/>
          </p:cNvCxnSpPr>
          <p:nvPr/>
        </p:nvCxnSpPr>
        <p:spPr>
          <a:xfrm>
            <a:off x="5512825" y="4798565"/>
            <a:ext cx="285672" cy="11364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7" name="Straight Arrow Connector 976">
            <a:extLst>
              <a:ext uri="{FF2B5EF4-FFF2-40B4-BE49-F238E27FC236}">
                <a16:creationId xmlns:a16="http://schemas.microsoft.com/office/drawing/2014/main" id="{550618AC-3F6D-F72B-BCBE-B6304EA521DF}"/>
              </a:ext>
            </a:extLst>
          </p:cNvPr>
          <p:cNvCxnSpPr>
            <a:cxnSpLocks/>
            <a:endCxn id="971" idx="1"/>
          </p:cNvCxnSpPr>
          <p:nvPr/>
        </p:nvCxnSpPr>
        <p:spPr>
          <a:xfrm flipV="1">
            <a:off x="5506921" y="4786981"/>
            <a:ext cx="291576" cy="12208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8" name="Straight Arrow Connector 977">
            <a:extLst>
              <a:ext uri="{FF2B5EF4-FFF2-40B4-BE49-F238E27FC236}">
                <a16:creationId xmlns:a16="http://schemas.microsoft.com/office/drawing/2014/main" id="{10A9CB66-55F3-0436-886F-9E3D23EB4E50}"/>
              </a:ext>
            </a:extLst>
          </p:cNvPr>
          <p:cNvCxnSpPr>
            <a:cxnSpLocks/>
          </p:cNvCxnSpPr>
          <p:nvPr/>
        </p:nvCxnSpPr>
        <p:spPr>
          <a:xfrm flipV="1">
            <a:off x="5509148" y="4664976"/>
            <a:ext cx="289349" cy="36609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9" name="Connector: Elbow 978">
            <a:extLst>
              <a:ext uri="{FF2B5EF4-FFF2-40B4-BE49-F238E27FC236}">
                <a16:creationId xmlns:a16="http://schemas.microsoft.com/office/drawing/2014/main" id="{9D0BDB4C-5D02-8652-C5FD-C620AC925E7C}"/>
              </a:ext>
            </a:extLst>
          </p:cNvPr>
          <p:cNvCxnSpPr>
            <a:cxnSpLocks/>
            <a:stCxn id="992" idx="3"/>
            <a:endCxn id="993" idx="1"/>
          </p:cNvCxnSpPr>
          <p:nvPr/>
        </p:nvCxnSpPr>
        <p:spPr>
          <a:xfrm flipH="1">
            <a:off x="5202130" y="3497252"/>
            <a:ext cx="3609346" cy="1247213"/>
          </a:xfrm>
          <a:prstGeom prst="bentConnector5">
            <a:avLst>
              <a:gd name="adj1" fmla="val -6334"/>
              <a:gd name="adj2" fmla="val 54130"/>
              <a:gd name="adj3" fmla="val 111841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0" name="TextBox 979">
            <a:extLst>
              <a:ext uri="{FF2B5EF4-FFF2-40B4-BE49-F238E27FC236}">
                <a16:creationId xmlns:a16="http://schemas.microsoft.com/office/drawing/2014/main" id="{A4F4DA64-4E3F-52B6-2480-FCF8FB1AABB7}"/>
              </a:ext>
            </a:extLst>
          </p:cNvPr>
          <p:cNvSpPr txBox="1"/>
          <p:nvPr/>
        </p:nvSpPr>
        <p:spPr>
          <a:xfrm>
            <a:off x="5700184" y="4315800"/>
            <a:ext cx="481869" cy="2000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NV-ID</a:t>
            </a:r>
          </a:p>
        </p:txBody>
      </p:sp>
      <p:pic>
        <p:nvPicPr>
          <p:cNvPr id="981" name="Picture 980" descr="A picture containing text&#10;&#10;Description automatically generated">
            <a:extLst>
              <a:ext uri="{FF2B5EF4-FFF2-40B4-BE49-F238E27FC236}">
                <a16:creationId xmlns:a16="http://schemas.microsoft.com/office/drawing/2014/main" id="{FCD0280B-14E8-4D65-E2B3-56D9C5B45E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501" y="1793256"/>
            <a:ext cx="575884" cy="668768"/>
          </a:xfrm>
          <a:prstGeom prst="rect">
            <a:avLst/>
          </a:prstGeom>
        </p:spPr>
      </p:pic>
      <p:sp>
        <p:nvSpPr>
          <p:cNvPr id="982" name="TextBox 981">
            <a:extLst>
              <a:ext uri="{FF2B5EF4-FFF2-40B4-BE49-F238E27FC236}">
                <a16:creationId xmlns:a16="http://schemas.microsoft.com/office/drawing/2014/main" id="{0AFD7817-08BD-FFBA-EE23-5E81EA1DBC70}"/>
              </a:ext>
            </a:extLst>
          </p:cNvPr>
          <p:cNvSpPr txBox="1"/>
          <p:nvPr/>
        </p:nvSpPr>
        <p:spPr>
          <a:xfrm>
            <a:off x="5004947" y="2423307"/>
            <a:ext cx="131138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1. </a:t>
            </a:r>
            <a:r>
              <a:rPr lang="en-US" dirty="0" err="1"/>
              <a:t>sailuh</a:t>
            </a:r>
            <a:r>
              <a:rPr lang="en-US" dirty="0"/>
              <a:t>/</a:t>
            </a:r>
            <a:r>
              <a:rPr lang="en-US" dirty="0" err="1"/>
              <a:t>kaiaulu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83" name="TextBox 982">
            <a:extLst>
              <a:ext uri="{FF2B5EF4-FFF2-40B4-BE49-F238E27FC236}">
                <a16:creationId xmlns:a16="http://schemas.microsoft.com/office/drawing/2014/main" id="{2779F64E-9047-BDE4-9DF5-2FD7FE9F2A58}"/>
              </a:ext>
            </a:extLst>
          </p:cNvPr>
          <p:cNvSpPr txBox="1"/>
          <p:nvPr/>
        </p:nvSpPr>
        <p:spPr>
          <a:xfrm>
            <a:off x="7046974" y="7065060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7.2 Domain Knowledge</a:t>
            </a:r>
          </a:p>
        </p:txBody>
      </p:sp>
      <p:cxnSp>
        <p:nvCxnSpPr>
          <p:cNvPr id="984" name="Connector: Elbow 983">
            <a:extLst>
              <a:ext uri="{FF2B5EF4-FFF2-40B4-BE49-F238E27FC236}">
                <a16:creationId xmlns:a16="http://schemas.microsoft.com/office/drawing/2014/main" id="{C7C81471-68CB-2493-8830-97E7F961DA0D}"/>
              </a:ext>
            </a:extLst>
          </p:cNvPr>
          <p:cNvCxnSpPr>
            <a:cxnSpLocks/>
            <a:endCxn id="1102" idx="3"/>
          </p:cNvCxnSpPr>
          <p:nvPr/>
        </p:nvCxnSpPr>
        <p:spPr>
          <a:xfrm flipH="1">
            <a:off x="8451473" y="5231923"/>
            <a:ext cx="266193" cy="568100"/>
          </a:xfrm>
          <a:prstGeom prst="bentConnector3">
            <a:avLst>
              <a:gd name="adj1" fmla="val -12022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5" name="Connector: Elbow 984">
            <a:extLst>
              <a:ext uri="{FF2B5EF4-FFF2-40B4-BE49-F238E27FC236}">
                <a16:creationId xmlns:a16="http://schemas.microsoft.com/office/drawing/2014/main" id="{754F80E6-6F1C-CFAD-0F0A-C6722B30571B}"/>
              </a:ext>
            </a:extLst>
          </p:cNvPr>
          <p:cNvCxnSpPr>
            <a:cxnSpLocks/>
          </p:cNvCxnSpPr>
          <p:nvPr/>
        </p:nvCxnSpPr>
        <p:spPr>
          <a:xfrm rot="10800000">
            <a:off x="6191032" y="6088412"/>
            <a:ext cx="1339738" cy="753131"/>
          </a:xfrm>
          <a:prstGeom prst="bentConnector3">
            <a:avLst>
              <a:gd name="adj1" fmla="val 6433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6" name="Connector: Elbow 985">
            <a:extLst>
              <a:ext uri="{FF2B5EF4-FFF2-40B4-BE49-F238E27FC236}">
                <a16:creationId xmlns:a16="http://schemas.microsoft.com/office/drawing/2014/main" id="{4F413C9E-B51D-F29F-80A0-409B602B39C9}"/>
              </a:ext>
            </a:extLst>
          </p:cNvPr>
          <p:cNvCxnSpPr>
            <a:cxnSpLocks/>
            <a:stCxn id="1103" idx="1"/>
          </p:cNvCxnSpPr>
          <p:nvPr/>
        </p:nvCxnSpPr>
        <p:spPr>
          <a:xfrm rot="10800000" flipV="1">
            <a:off x="6191031" y="5778057"/>
            <a:ext cx="1218821" cy="310351"/>
          </a:xfrm>
          <a:prstGeom prst="bentConnector3">
            <a:avLst>
              <a:gd name="adj1" fmla="val 61094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7" name="Connector: Elbow 986">
            <a:extLst>
              <a:ext uri="{FF2B5EF4-FFF2-40B4-BE49-F238E27FC236}">
                <a16:creationId xmlns:a16="http://schemas.microsoft.com/office/drawing/2014/main" id="{2CC785EC-B6B4-2D7A-80DC-C349CF877C5D}"/>
              </a:ext>
            </a:extLst>
          </p:cNvPr>
          <p:cNvCxnSpPr>
            <a:cxnSpLocks/>
            <a:stCxn id="997" idx="1"/>
          </p:cNvCxnSpPr>
          <p:nvPr/>
        </p:nvCxnSpPr>
        <p:spPr>
          <a:xfrm rot="10800000" flipV="1">
            <a:off x="6191031" y="3958395"/>
            <a:ext cx="868497" cy="2130014"/>
          </a:xfrm>
          <a:prstGeom prst="bentConnector3">
            <a:avLst>
              <a:gd name="adj1" fmla="val 44736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8" name="Connector: Elbow 987">
            <a:extLst>
              <a:ext uri="{FF2B5EF4-FFF2-40B4-BE49-F238E27FC236}">
                <a16:creationId xmlns:a16="http://schemas.microsoft.com/office/drawing/2014/main" id="{FD1C5448-0C77-194F-B402-31867F33583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146994" y="6098332"/>
            <a:ext cx="1516881" cy="1905124"/>
          </a:xfrm>
          <a:prstGeom prst="bentConnector4">
            <a:avLst>
              <a:gd name="adj1" fmla="val -25117"/>
              <a:gd name="adj2" fmla="val 73163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9" name="Straight Arrow Connector 988">
            <a:extLst>
              <a:ext uri="{FF2B5EF4-FFF2-40B4-BE49-F238E27FC236}">
                <a16:creationId xmlns:a16="http://schemas.microsoft.com/office/drawing/2014/main" id="{05FE5C4D-7C13-9D66-9D03-D1EC5B9EE0D6}"/>
              </a:ext>
            </a:extLst>
          </p:cNvPr>
          <p:cNvCxnSpPr>
            <a:cxnSpLocks/>
          </p:cNvCxnSpPr>
          <p:nvPr/>
        </p:nvCxnSpPr>
        <p:spPr>
          <a:xfrm>
            <a:off x="6463103" y="4734321"/>
            <a:ext cx="540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0" name="Straight Arrow Connector 989">
            <a:extLst>
              <a:ext uri="{FF2B5EF4-FFF2-40B4-BE49-F238E27FC236}">
                <a16:creationId xmlns:a16="http://schemas.microsoft.com/office/drawing/2014/main" id="{7CEA1B26-5009-680A-B8A9-6781354A6EE1}"/>
              </a:ext>
            </a:extLst>
          </p:cNvPr>
          <p:cNvCxnSpPr>
            <a:cxnSpLocks/>
          </p:cNvCxnSpPr>
          <p:nvPr/>
        </p:nvCxnSpPr>
        <p:spPr>
          <a:xfrm>
            <a:off x="6578363" y="2180213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1" name="TextBox 990">
            <a:extLst>
              <a:ext uri="{FF2B5EF4-FFF2-40B4-BE49-F238E27FC236}">
                <a16:creationId xmlns:a16="http://schemas.microsoft.com/office/drawing/2014/main" id="{82335387-185B-85E1-236F-8BE032732A80}"/>
              </a:ext>
            </a:extLst>
          </p:cNvPr>
          <p:cNvSpPr txBox="1"/>
          <p:nvPr/>
        </p:nvSpPr>
        <p:spPr>
          <a:xfrm>
            <a:off x="8573910" y="1854240"/>
            <a:ext cx="130496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2" name="TextBox 991">
            <a:extLst>
              <a:ext uri="{FF2B5EF4-FFF2-40B4-BE49-F238E27FC236}">
                <a16:creationId xmlns:a16="http://schemas.microsoft.com/office/drawing/2014/main" id="{1DBE290D-25D3-FD11-3AF2-8D4C80230ACB}"/>
              </a:ext>
            </a:extLst>
          </p:cNvPr>
          <p:cNvSpPr txBox="1"/>
          <p:nvPr/>
        </p:nvSpPr>
        <p:spPr>
          <a:xfrm>
            <a:off x="8701206" y="333699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3" name="TextBox 992">
            <a:extLst>
              <a:ext uri="{FF2B5EF4-FFF2-40B4-BE49-F238E27FC236}">
                <a16:creationId xmlns:a16="http://schemas.microsoft.com/office/drawing/2014/main" id="{88524A36-5B19-5623-281C-465D2BCD28C1}"/>
              </a:ext>
            </a:extLst>
          </p:cNvPr>
          <p:cNvSpPr txBox="1"/>
          <p:nvPr/>
        </p:nvSpPr>
        <p:spPr>
          <a:xfrm>
            <a:off x="5202130" y="458420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8CA223DD-8C76-CCCC-A8E4-88BA50B1A1D2}"/>
              </a:ext>
            </a:extLst>
          </p:cNvPr>
          <p:cNvCxnSpPr>
            <a:cxnSpLocks/>
          </p:cNvCxnSpPr>
          <p:nvPr/>
        </p:nvCxnSpPr>
        <p:spPr>
          <a:xfrm>
            <a:off x="6304400" y="3467696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5" name="TextBox 994">
            <a:extLst>
              <a:ext uri="{FF2B5EF4-FFF2-40B4-BE49-F238E27FC236}">
                <a16:creationId xmlns:a16="http://schemas.microsoft.com/office/drawing/2014/main" id="{3ACCEFBA-5F35-4E4F-B605-D361AB675F53}"/>
              </a:ext>
            </a:extLst>
          </p:cNvPr>
          <p:cNvSpPr txBox="1"/>
          <p:nvPr/>
        </p:nvSpPr>
        <p:spPr>
          <a:xfrm>
            <a:off x="5209590" y="328596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6" name="TextBox 995">
            <a:extLst>
              <a:ext uri="{FF2B5EF4-FFF2-40B4-BE49-F238E27FC236}">
                <a16:creationId xmlns:a16="http://schemas.microsoft.com/office/drawing/2014/main" id="{768A7429-5B54-BF8B-CBD5-A97A3F7B6DEA}"/>
              </a:ext>
            </a:extLst>
          </p:cNvPr>
          <p:cNvSpPr txBox="1"/>
          <p:nvPr/>
        </p:nvSpPr>
        <p:spPr>
          <a:xfrm rot="5400000">
            <a:off x="7893098" y="3828354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7" name="TextBox 996">
            <a:extLst>
              <a:ext uri="{FF2B5EF4-FFF2-40B4-BE49-F238E27FC236}">
                <a16:creationId xmlns:a16="http://schemas.microsoft.com/office/drawing/2014/main" id="{BCDC9F8B-0D88-100C-91AD-3FEB0550427B}"/>
              </a:ext>
            </a:extLst>
          </p:cNvPr>
          <p:cNvSpPr txBox="1"/>
          <p:nvPr/>
        </p:nvSpPr>
        <p:spPr>
          <a:xfrm>
            <a:off x="7059527" y="379813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8" name="TextBox 997">
            <a:extLst>
              <a:ext uri="{FF2B5EF4-FFF2-40B4-BE49-F238E27FC236}">
                <a16:creationId xmlns:a16="http://schemas.microsoft.com/office/drawing/2014/main" id="{DCFFF7BC-2F1A-6934-0386-1ECBA4F8EBAE}"/>
              </a:ext>
            </a:extLst>
          </p:cNvPr>
          <p:cNvSpPr txBox="1"/>
          <p:nvPr/>
        </p:nvSpPr>
        <p:spPr>
          <a:xfrm rot="5400000">
            <a:off x="6616888" y="7825672"/>
            <a:ext cx="97008" cy="231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99" name="Graphic 998" descr="Cmd Terminal with solid fill">
            <a:extLst>
              <a:ext uri="{FF2B5EF4-FFF2-40B4-BE49-F238E27FC236}">
                <a16:creationId xmlns:a16="http://schemas.microsoft.com/office/drawing/2014/main" id="{EEC59C90-F8BA-367A-7BA5-2103204C3D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761" y="8507313"/>
            <a:ext cx="451448" cy="455550"/>
          </a:xfrm>
          <a:prstGeom prst="rect">
            <a:avLst/>
          </a:prstGeom>
        </p:spPr>
      </p:pic>
      <p:pic>
        <p:nvPicPr>
          <p:cNvPr id="1000" name="Graphic 999" descr="Paper outline">
            <a:extLst>
              <a:ext uri="{FF2B5EF4-FFF2-40B4-BE49-F238E27FC236}">
                <a16:creationId xmlns:a16="http://schemas.microsoft.com/office/drawing/2014/main" id="{DFC68421-54DB-FF27-C8A7-FFCDA3A98C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7882" y="7907026"/>
            <a:ext cx="261597" cy="261597"/>
          </a:xfrm>
          <a:prstGeom prst="rect">
            <a:avLst/>
          </a:prstGeom>
        </p:spPr>
      </p:pic>
      <p:sp>
        <p:nvSpPr>
          <p:cNvPr id="1001" name="TextBox 1000">
            <a:extLst>
              <a:ext uri="{FF2B5EF4-FFF2-40B4-BE49-F238E27FC236}">
                <a16:creationId xmlns:a16="http://schemas.microsoft.com/office/drawing/2014/main" id="{6541AB09-90B8-AB7C-5390-D98B7D31769B}"/>
              </a:ext>
            </a:extLst>
          </p:cNvPr>
          <p:cNvSpPr txBox="1"/>
          <p:nvPr/>
        </p:nvSpPr>
        <p:spPr>
          <a:xfrm>
            <a:off x="1933340" y="7711753"/>
            <a:ext cx="687081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API</a:t>
            </a:r>
          </a:p>
        </p:txBody>
      </p:sp>
      <p:pic>
        <p:nvPicPr>
          <p:cNvPr id="1002" name="Graphic 1001" descr="Paper outline">
            <a:extLst>
              <a:ext uri="{FF2B5EF4-FFF2-40B4-BE49-F238E27FC236}">
                <a16:creationId xmlns:a16="http://schemas.microsoft.com/office/drawing/2014/main" id="{F24403CE-F349-E382-C706-AAF53BB0F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2978" y="8472819"/>
            <a:ext cx="527267" cy="527267"/>
          </a:xfrm>
          <a:prstGeom prst="rect">
            <a:avLst/>
          </a:prstGeom>
        </p:spPr>
      </p:pic>
      <p:sp>
        <p:nvSpPr>
          <p:cNvPr id="1003" name="TextBox 1002">
            <a:extLst>
              <a:ext uri="{FF2B5EF4-FFF2-40B4-BE49-F238E27FC236}">
                <a16:creationId xmlns:a16="http://schemas.microsoft.com/office/drawing/2014/main" id="{C360D0AE-18E9-7E0E-7336-41628206121C}"/>
              </a:ext>
            </a:extLst>
          </p:cNvPr>
          <p:cNvSpPr txBox="1"/>
          <p:nvPr/>
        </p:nvSpPr>
        <p:spPr>
          <a:xfrm>
            <a:off x="1509263" y="8904797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exec/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F16C862F-4AEB-6136-0936-D08FDFDC8D57}"/>
              </a:ext>
            </a:extLst>
          </p:cNvPr>
          <p:cNvSpPr/>
          <p:nvPr/>
        </p:nvSpPr>
        <p:spPr>
          <a:xfrm>
            <a:off x="185141" y="7885351"/>
            <a:ext cx="710936" cy="20869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&lt;</a:t>
            </a: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File_paths</a:t>
            </a: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&gt;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09" name="Straight Arrow Connector 1008">
            <a:extLst>
              <a:ext uri="{FF2B5EF4-FFF2-40B4-BE49-F238E27FC236}">
                <a16:creationId xmlns:a16="http://schemas.microsoft.com/office/drawing/2014/main" id="{00E8248C-1ED1-C7F1-C776-7106E1F91AB6}"/>
              </a:ext>
            </a:extLst>
          </p:cNvPr>
          <p:cNvCxnSpPr>
            <a:cxnSpLocks/>
          </p:cNvCxnSpPr>
          <p:nvPr/>
        </p:nvCxnSpPr>
        <p:spPr>
          <a:xfrm>
            <a:off x="1292611" y="8729259"/>
            <a:ext cx="164486" cy="719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10" name="Straight Arrow Connector 1009">
            <a:extLst>
              <a:ext uri="{FF2B5EF4-FFF2-40B4-BE49-F238E27FC236}">
                <a16:creationId xmlns:a16="http://schemas.microsoft.com/office/drawing/2014/main" id="{19178FD2-16E8-3339-D9B0-34A34409EA43}"/>
              </a:ext>
            </a:extLst>
          </p:cNvPr>
          <p:cNvCxnSpPr>
            <a:cxnSpLocks/>
          </p:cNvCxnSpPr>
          <p:nvPr/>
        </p:nvCxnSpPr>
        <p:spPr>
          <a:xfrm>
            <a:off x="540609" y="8202553"/>
            <a:ext cx="251152" cy="274997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80B2C360-549B-ED8A-68F7-EE32D0787A78}"/>
              </a:ext>
            </a:extLst>
          </p:cNvPr>
          <p:cNvSpPr txBox="1"/>
          <p:nvPr/>
        </p:nvSpPr>
        <p:spPr>
          <a:xfrm>
            <a:off x="182880" y="932688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Exec scripts provides command line access to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Pykumu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API package, allowing its causal analysis capabilities to be accessed via the terminal or server side without writing Python code. 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1019" name="TextBox 1018">
            <a:extLst>
              <a:ext uri="{FF2B5EF4-FFF2-40B4-BE49-F238E27FC236}">
                <a16:creationId xmlns:a16="http://schemas.microsoft.com/office/drawing/2014/main" id="{6E3A6097-4C3D-3CD2-0BCF-B5B8DE09576D}"/>
              </a:ext>
            </a:extLst>
          </p:cNvPr>
          <p:cNvSpPr txBox="1"/>
          <p:nvPr/>
        </p:nvSpPr>
        <p:spPr>
          <a:xfrm>
            <a:off x="232303" y="393741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>
                <a:solidFill>
                  <a:schemeClr val="bg2">
                    <a:lumMod val="10000"/>
                  </a:schemeClr>
                </a:solidFill>
              </a:rPr>
              <a:t>Tetrad Java API</a:t>
            </a:r>
          </a:p>
        </p:txBody>
      </p:sp>
      <p:pic>
        <p:nvPicPr>
          <p:cNvPr id="1020" name="Graphic 1019" descr="Paper outline">
            <a:extLst>
              <a:ext uri="{FF2B5EF4-FFF2-40B4-BE49-F238E27FC236}">
                <a16:creationId xmlns:a16="http://schemas.microsoft.com/office/drawing/2014/main" id="{1C4480D4-5F31-7705-8E53-09C7186636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0954" y="4265041"/>
            <a:ext cx="527267" cy="527267"/>
          </a:xfrm>
          <a:prstGeom prst="rect">
            <a:avLst/>
          </a:prstGeom>
        </p:spPr>
      </p:pic>
      <p:cxnSp>
        <p:nvCxnSpPr>
          <p:cNvPr id="1023" name="Straight Arrow Connector 1022">
            <a:extLst>
              <a:ext uri="{FF2B5EF4-FFF2-40B4-BE49-F238E27FC236}">
                <a16:creationId xmlns:a16="http://schemas.microsoft.com/office/drawing/2014/main" id="{12BA0B6D-0D33-ED29-9207-7BF5CCCAD4D6}"/>
              </a:ext>
            </a:extLst>
          </p:cNvPr>
          <p:cNvCxnSpPr>
            <a:cxnSpLocks/>
          </p:cNvCxnSpPr>
          <p:nvPr/>
        </p:nvCxnSpPr>
        <p:spPr>
          <a:xfrm>
            <a:off x="1028993" y="3837479"/>
            <a:ext cx="9092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DBEF8BCF-F36F-7E07-1D54-DDB3553CD4BE}"/>
              </a:ext>
            </a:extLst>
          </p:cNvPr>
          <p:cNvCxnSpPr>
            <a:cxnSpLocks/>
          </p:cNvCxnSpPr>
          <p:nvPr/>
        </p:nvCxnSpPr>
        <p:spPr>
          <a:xfrm>
            <a:off x="1023055" y="3972100"/>
            <a:ext cx="340872" cy="391832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A96E4A9D-4CC4-F4DC-600B-36177A2B9E26}"/>
              </a:ext>
            </a:extLst>
          </p:cNvPr>
          <p:cNvSpPr txBox="1"/>
          <p:nvPr/>
        </p:nvSpPr>
        <p:spPr>
          <a:xfrm>
            <a:off x="815127" y="4126651"/>
            <a:ext cx="536637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94214C94-D23D-9BF7-0C48-BBF8CEB3A1FF}"/>
              </a:ext>
            </a:extLst>
          </p:cNvPr>
          <p:cNvSpPr txBox="1"/>
          <p:nvPr/>
        </p:nvSpPr>
        <p:spPr>
          <a:xfrm>
            <a:off x="1510648" y="4422940"/>
            <a:ext cx="371960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" b="0" dirty="0" err="1">
                <a:solidFill>
                  <a:schemeClr val="tx1">
                    <a:lumMod val="50000"/>
                  </a:schemeClr>
                </a:solidFill>
              </a:rPr>
              <a:t>TetradSearch</a:t>
            </a:r>
            <a:r>
              <a:rPr lang="en-US" sz="300" b="0" dirty="0">
                <a:solidFill>
                  <a:schemeClr val="tx1">
                    <a:lumMod val="50000"/>
                  </a:schemeClr>
                </a:solidFill>
              </a:rPr>
              <a:t> Class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2581DE51-D19E-4BAD-F309-8AB27AEACE4C}"/>
              </a:ext>
            </a:extLst>
          </p:cNvPr>
          <p:cNvSpPr txBox="1"/>
          <p:nvPr/>
        </p:nvSpPr>
        <p:spPr>
          <a:xfrm>
            <a:off x="2385334" y="3867687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 API</a:t>
            </a:r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20CC3A7B-F106-6DE0-B376-5AC0E6A25EFC}"/>
              </a:ext>
            </a:extLst>
          </p:cNvPr>
          <p:cNvCxnSpPr>
            <a:cxnSpLocks/>
          </p:cNvCxnSpPr>
          <p:nvPr/>
        </p:nvCxnSpPr>
        <p:spPr>
          <a:xfrm flipV="1">
            <a:off x="1979305" y="4126651"/>
            <a:ext cx="450843" cy="239726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41" name="Folded Corner 3">
            <a:extLst>
              <a:ext uri="{FF2B5EF4-FFF2-40B4-BE49-F238E27FC236}">
                <a16:creationId xmlns:a16="http://schemas.microsoft.com/office/drawing/2014/main" id="{45FEE54B-371E-872A-2719-3D2B004A823D}"/>
              </a:ext>
            </a:extLst>
          </p:cNvPr>
          <p:cNvSpPr/>
          <p:nvPr/>
        </p:nvSpPr>
        <p:spPr>
          <a:xfrm rot="10800000" flipH="1">
            <a:off x="2129004" y="337722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2" name="Folded Corner 4">
            <a:extLst>
              <a:ext uri="{FF2B5EF4-FFF2-40B4-BE49-F238E27FC236}">
                <a16:creationId xmlns:a16="http://schemas.microsoft.com/office/drawing/2014/main" id="{E8630E67-E552-ACF8-BAE9-592E65CCB099}"/>
              </a:ext>
            </a:extLst>
          </p:cNvPr>
          <p:cNvSpPr/>
          <p:nvPr/>
        </p:nvSpPr>
        <p:spPr>
          <a:xfrm rot="10800000" flipH="1">
            <a:off x="2095922" y="3405690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3" name="Folded Corner 5">
            <a:extLst>
              <a:ext uri="{FF2B5EF4-FFF2-40B4-BE49-F238E27FC236}">
                <a16:creationId xmlns:a16="http://schemas.microsoft.com/office/drawing/2014/main" id="{0BEF73C0-6BE8-2EC6-A1DA-C2F15174FE76}"/>
              </a:ext>
            </a:extLst>
          </p:cNvPr>
          <p:cNvSpPr/>
          <p:nvPr/>
        </p:nvSpPr>
        <p:spPr>
          <a:xfrm rot="10800000" flipH="1">
            <a:off x="2055485" y="343946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788C4693-468B-FF9F-FB9C-ABE34D6AD33D}"/>
              </a:ext>
            </a:extLst>
          </p:cNvPr>
          <p:cNvSpPr txBox="1"/>
          <p:nvPr/>
        </p:nvSpPr>
        <p:spPr>
          <a:xfrm>
            <a:off x="2026720" y="358624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tetrad.py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4B176624-7028-B2C0-4334-CC04574D0470}"/>
              </a:ext>
            </a:extLst>
          </p:cNvPr>
          <p:cNvSpPr txBox="1"/>
          <p:nvPr/>
        </p:nvSpPr>
        <p:spPr>
          <a:xfrm>
            <a:off x="1285591" y="470218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TetradSearch.py</a:t>
            </a:r>
          </a:p>
        </p:txBody>
      </p: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C027A9FA-2CB8-A174-0999-D52AB2E1915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6384" y="118872"/>
            <a:ext cx="1444661" cy="1673352"/>
          </a:xfrm>
          <a:prstGeom prst="rect">
            <a:avLst/>
          </a:prstGeom>
        </p:spPr>
      </p:pic>
      <p:sp>
        <p:nvSpPr>
          <p:cNvPr id="1065" name="TextBox 1064">
            <a:extLst>
              <a:ext uri="{FF2B5EF4-FFF2-40B4-BE49-F238E27FC236}">
                <a16:creationId xmlns:a16="http://schemas.microsoft.com/office/drawing/2014/main" id="{DA1FB780-F5DC-52CA-9A3C-BE0B80E855DD}"/>
              </a:ext>
            </a:extLst>
          </p:cNvPr>
          <p:cNvSpPr txBox="1"/>
          <p:nvPr/>
        </p:nvSpPr>
        <p:spPr>
          <a:xfrm>
            <a:off x="7318302" y="5055976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6. Causal Search</a:t>
            </a:r>
          </a:p>
        </p:txBody>
      </p:sp>
      <p:graphicFrame>
        <p:nvGraphicFramePr>
          <p:cNvPr id="1066" name="Table">
            <a:extLst>
              <a:ext uri="{FF2B5EF4-FFF2-40B4-BE49-F238E27FC236}">
                <a16:creationId xmlns:a16="http://schemas.microsoft.com/office/drawing/2014/main" id="{CEAAE45A-A259-3F26-D788-E4F4A2496EF5}"/>
              </a:ext>
            </a:extLst>
          </p:cNvPr>
          <p:cNvGraphicFramePr/>
          <p:nvPr/>
        </p:nvGraphicFramePr>
        <p:xfrm>
          <a:off x="8297833" y="443547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67" name="Table">
            <a:extLst>
              <a:ext uri="{FF2B5EF4-FFF2-40B4-BE49-F238E27FC236}">
                <a16:creationId xmlns:a16="http://schemas.microsoft.com/office/drawing/2014/main" id="{F84F6C2C-CA6E-E7D7-D309-2F484955F9B5}"/>
              </a:ext>
            </a:extLst>
          </p:cNvPr>
          <p:cNvGraphicFramePr/>
          <p:nvPr/>
        </p:nvGraphicFramePr>
        <p:xfrm>
          <a:off x="7722129" y="443293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68" name="Arrow: Right 1067">
            <a:extLst>
              <a:ext uri="{FF2B5EF4-FFF2-40B4-BE49-F238E27FC236}">
                <a16:creationId xmlns:a16="http://schemas.microsoft.com/office/drawing/2014/main" id="{B20E9A29-C6DE-5886-D051-E53726018A13}"/>
              </a:ext>
            </a:extLst>
          </p:cNvPr>
          <p:cNvSpPr/>
          <p:nvPr/>
        </p:nvSpPr>
        <p:spPr>
          <a:xfrm>
            <a:off x="8027045" y="4694321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069" name="Table">
            <a:extLst>
              <a:ext uri="{FF2B5EF4-FFF2-40B4-BE49-F238E27FC236}">
                <a16:creationId xmlns:a16="http://schemas.microsoft.com/office/drawing/2014/main" id="{C1C5A793-98BE-A022-A844-5ED3362BD68B}"/>
              </a:ext>
            </a:extLst>
          </p:cNvPr>
          <p:cNvGraphicFramePr/>
          <p:nvPr/>
        </p:nvGraphicFramePr>
        <p:xfrm>
          <a:off x="7343385" y="4435227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0" name="Plus Sign 1069">
            <a:extLst>
              <a:ext uri="{FF2B5EF4-FFF2-40B4-BE49-F238E27FC236}">
                <a16:creationId xmlns:a16="http://schemas.microsoft.com/office/drawing/2014/main" id="{88DE08CA-C836-319B-C075-AFEE7A2EB65D}"/>
              </a:ext>
            </a:extLst>
          </p:cNvPr>
          <p:cNvSpPr/>
          <p:nvPr/>
        </p:nvSpPr>
        <p:spPr>
          <a:xfrm>
            <a:off x="7572970" y="4672577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C62D2006-D495-5D5C-7259-0A42EA5DF036}"/>
              </a:ext>
            </a:extLst>
          </p:cNvPr>
          <p:cNvSpPr txBox="1"/>
          <p:nvPr/>
        </p:nvSpPr>
        <p:spPr>
          <a:xfrm>
            <a:off x="7370545" y="4957546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654E5B9D-9BC9-E841-6D49-6049BE7D74C1}"/>
              </a:ext>
            </a:extLst>
          </p:cNvPr>
          <p:cNvSpPr txBox="1"/>
          <p:nvPr/>
        </p:nvSpPr>
        <p:spPr>
          <a:xfrm>
            <a:off x="7632893" y="4956657"/>
            <a:ext cx="424651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Ind. </a:t>
            </a: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Ftr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7B76C745-BD3F-E885-4E83-F584E214841B}"/>
              </a:ext>
            </a:extLst>
          </p:cNvPr>
          <p:cNvSpPr txBox="1"/>
          <p:nvPr/>
        </p:nvSpPr>
        <p:spPr>
          <a:xfrm>
            <a:off x="7948233" y="4515228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86B21115-7BE6-EFA4-914A-A48172E1EC4A}"/>
              </a:ext>
            </a:extLst>
          </p:cNvPr>
          <p:cNvSpPr txBox="1"/>
          <p:nvPr/>
        </p:nvSpPr>
        <p:spPr>
          <a:xfrm>
            <a:off x="7194148" y="5974847"/>
            <a:ext cx="1619559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7.1 1-PNEF Threshold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18B91ED2-491C-28AE-D020-2372558704E9}"/>
              </a:ext>
            </a:extLst>
          </p:cNvPr>
          <p:cNvSpPr txBox="1"/>
          <p:nvPr/>
        </p:nvSpPr>
        <p:spPr>
          <a:xfrm>
            <a:off x="5731442" y="3637622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75A35779-41FC-035B-F501-E5838D403D24}"/>
              </a:ext>
            </a:extLst>
          </p:cNvPr>
          <p:cNvSpPr txBox="1"/>
          <p:nvPr/>
        </p:nvSpPr>
        <p:spPr>
          <a:xfrm>
            <a:off x="4766552" y="6486513"/>
            <a:ext cx="1831781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8. Domain Knowledge Causal Search</a:t>
            </a:r>
          </a:p>
        </p:txBody>
      </p:sp>
      <p:graphicFrame>
        <p:nvGraphicFramePr>
          <p:cNvPr id="1077" name="Table">
            <a:extLst>
              <a:ext uri="{FF2B5EF4-FFF2-40B4-BE49-F238E27FC236}">
                <a16:creationId xmlns:a16="http://schemas.microsoft.com/office/drawing/2014/main" id="{F9618097-94DD-B3CE-5C3A-F968AA9F8073}"/>
              </a:ext>
            </a:extLst>
          </p:cNvPr>
          <p:cNvGraphicFramePr/>
          <p:nvPr/>
        </p:nvGraphicFramePr>
        <p:xfrm>
          <a:off x="5269967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78" name="Table">
            <a:extLst>
              <a:ext uri="{FF2B5EF4-FFF2-40B4-BE49-F238E27FC236}">
                <a16:creationId xmlns:a16="http://schemas.microsoft.com/office/drawing/2014/main" id="{7D2A5329-9750-0207-0E92-662DE301A26E}"/>
              </a:ext>
            </a:extLst>
          </p:cNvPr>
          <p:cNvGraphicFramePr/>
          <p:nvPr/>
        </p:nvGraphicFramePr>
        <p:xfrm>
          <a:off x="5828244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9" name="TextBox 1078">
            <a:extLst>
              <a:ext uri="{FF2B5EF4-FFF2-40B4-BE49-F238E27FC236}">
                <a16:creationId xmlns:a16="http://schemas.microsoft.com/office/drawing/2014/main" id="{CB3E1CE9-B0C5-B0C9-4882-F7C700BD75B0}"/>
              </a:ext>
            </a:extLst>
          </p:cNvPr>
          <p:cNvSpPr txBox="1"/>
          <p:nvPr/>
        </p:nvSpPr>
        <p:spPr>
          <a:xfrm>
            <a:off x="5856148" y="6329618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BBCA8863-8BB0-4A1C-373D-08BB7D81A808}"/>
              </a:ext>
            </a:extLst>
          </p:cNvPr>
          <p:cNvSpPr txBox="1"/>
          <p:nvPr/>
        </p:nvSpPr>
        <p:spPr>
          <a:xfrm>
            <a:off x="5242857" y="6333739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81" name="Arrow: Right 1080">
            <a:extLst>
              <a:ext uri="{FF2B5EF4-FFF2-40B4-BE49-F238E27FC236}">
                <a16:creationId xmlns:a16="http://schemas.microsoft.com/office/drawing/2014/main" id="{8A6BADBE-D2B9-2BED-1DD5-EBDF30D26C22}"/>
              </a:ext>
            </a:extLst>
          </p:cNvPr>
          <p:cNvSpPr/>
          <p:nvPr/>
        </p:nvSpPr>
        <p:spPr>
          <a:xfrm rot="10800000">
            <a:off x="5552507" y="6049867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52D74810-F9AD-A3CE-A088-258D27CCEB38}"/>
              </a:ext>
            </a:extLst>
          </p:cNvPr>
          <p:cNvSpPr txBox="1"/>
          <p:nvPr/>
        </p:nvSpPr>
        <p:spPr>
          <a:xfrm>
            <a:off x="5490560" y="5860025"/>
            <a:ext cx="339664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66A0F192-47B9-0FB6-3826-1BF2BBCD7F99}"/>
              </a:ext>
            </a:extLst>
          </p:cNvPr>
          <p:cNvSpPr/>
          <p:nvPr/>
        </p:nvSpPr>
        <p:spPr>
          <a:xfrm>
            <a:off x="8040579" y="5752125"/>
            <a:ext cx="206996" cy="6210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7FC37440-D307-A5AC-7725-89CC0E67FE37}"/>
              </a:ext>
            </a:extLst>
          </p:cNvPr>
          <p:cNvCxnSpPr>
            <a:cxnSpLocks/>
          </p:cNvCxnSpPr>
          <p:nvPr/>
        </p:nvCxnSpPr>
        <p:spPr>
          <a:xfrm>
            <a:off x="8010337" y="5687156"/>
            <a:ext cx="0" cy="188119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80344D43-A62F-5D40-F9B0-453D5E026752}"/>
              </a:ext>
            </a:extLst>
          </p:cNvPr>
          <p:cNvCxnSpPr>
            <a:cxnSpLocks/>
          </p:cNvCxnSpPr>
          <p:nvPr/>
        </p:nvCxnSpPr>
        <p:spPr>
          <a:xfrm flipH="1">
            <a:off x="7599385" y="5778796"/>
            <a:ext cx="375263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86" name="TextBox 1085">
            <a:extLst>
              <a:ext uri="{FF2B5EF4-FFF2-40B4-BE49-F238E27FC236}">
                <a16:creationId xmlns:a16="http://schemas.microsoft.com/office/drawing/2014/main" id="{1AAA9D50-4422-04E3-0361-B9DEC91C1C03}"/>
              </a:ext>
            </a:extLst>
          </p:cNvPr>
          <p:cNvSpPr txBox="1"/>
          <p:nvPr/>
        </p:nvSpPr>
        <p:spPr>
          <a:xfrm>
            <a:off x="7544037" y="5812123"/>
            <a:ext cx="941475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n.edges</a:t>
            </a: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&lt; x</a:t>
            </a:r>
            <a:r>
              <a:rPr lang="en-US" sz="700" dirty="0"/>
              <a:t>%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8A904FBD-58BB-76B5-4663-F4A64828B903}"/>
              </a:ext>
            </a:extLst>
          </p:cNvPr>
          <p:cNvSpPr/>
          <p:nvPr/>
        </p:nvSpPr>
        <p:spPr>
          <a:xfrm>
            <a:off x="7747498" y="6647124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26896920-E8A6-2EAB-4C65-6025A2F561D1}"/>
              </a:ext>
            </a:extLst>
          </p:cNvPr>
          <p:cNvSpPr/>
          <p:nvPr/>
        </p:nvSpPr>
        <p:spPr>
          <a:xfrm>
            <a:off x="7766196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43414DAC-9830-D57B-B18B-7BD7B8DCD7D2}"/>
              </a:ext>
            </a:extLst>
          </p:cNvPr>
          <p:cNvSpPr/>
          <p:nvPr/>
        </p:nvSpPr>
        <p:spPr>
          <a:xfrm>
            <a:off x="7882271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15546DB5-335F-30A9-FFA9-EA401AD16892}"/>
              </a:ext>
            </a:extLst>
          </p:cNvPr>
          <p:cNvSpPr/>
          <p:nvPr/>
        </p:nvSpPr>
        <p:spPr>
          <a:xfrm>
            <a:off x="8006330" y="6675665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35ED788E-A08D-360B-CDF5-A51C8E10852E}"/>
              </a:ext>
            </a:extLst>
          </p:cNvPr>
          <p:cNvSpPr txBox="1"/>
          <p:nvPr/>
        </p:nvSpPr>
        <p:spPr>
          <a:xfrm>
            <a:off x="7709321" y="6508461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1</a:t>
            </a: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1E90F074-AFE3-7B59-22FE-5CE77353C5FD}"/>
              </a:ext>
            </a:extLst>
          </p:cNvPr>
          <p:cNvSpPr/>
          <p:nvPr/>
        </p:nvSpPr>
        <p:spPr>
          <a:xfrm>
            <a:off x="7745715" y="680360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CCD44C46-B916-237B-CA4C-10C61BA31936}"/>
              </a:ext>
            </a:extLst>
          </p:cNvPr>
          <p:cNvSpPr/>
          <p:nvPr/>
        </p:nvSpPr>
        <p:spPr>
          <a:xfrm>
            <a:off x="7764413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F0490EC7-20EF-E8A8-E43B-603E2A0C0573}"/>
              </a:ext>
            </a:extLst>
          </p:cNvPr>
          <p:cNvSpPr/>
          <p:nvPr/>
        </p:nvSpPr>
        <p:spPr>
          <a:xfrm>
            <a:off x="7880488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6E5B06F9-B105-AD87-5646-3AE79086B67F}"/>
              </a:ext>
            </a:extLst>
          </p:cNvPr>
          <p:cNvSpPr/>
          <p:nvPr/>
        </p:nvSpPr>
        <p:spPr>
          <a:xfrm>
            <a:off x="8004547" y="683215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DF7230FA-2CBB-0E69-A1E8-D40768F1F10E}"/>
              </a:ext>
            </a:extLst>
          </p:cNvPr>
          <p:cNvSpPr txBox="1"/>
          <p:nvPr/>
        </p:nvSpPr>
        <p:spPr>
          <a:xfrm>
            <a:off x="7707538" y="666494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2</a:t>
            </a: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C7614292-994B-3ECF-0BB9-22505C42E3BA}"/>
              </a:ext>
            </a:extLst>
          </p:cNvPr>
          <p:cNvSpPr/>
          <p:nvPr/>
        </p:nvSpPr>
        <p:spPr>
          <a:xfrm>
            <a:off x="7746658" y="695499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616275D1-F86A-3050-6C04-16A637594C2F}"/>
              </a:ext>
            </a:extLst>
          </p:cNvPr>
          <p:cNvSpPr/>
          <p:nvPr/>
        </p:nvSpPr>
        <p:spPr>
          <a:xfrm>
            <a:off x="7765356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CA743677-6F51-9B9A-184E-5083C65A2530}"/>
              </a:ext>
            </a:extLst>
          </p:cNvPr>
          <p:cNvSpPr/>
          <p:nvPr/>
        </p:nvSpPr>
        <p:spPr>
          <a:xfrm>
            <a:off x="7881431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E0F189E-BDF8-09C9-7350-BFC032B947DE}"/>
              </a:ext>
            </a:extLst>
          </p:cNvPr>
          <p:cNvSpPr/>
          <p:nvPr/>
        </p:nvSpPr>
        <p:spPr>
          <a:xfrm>
            <a:off x="8005490" y="698354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BB177607-1E4C-52E2-70D9-38341C35763C}"/>
              </a:ext>
            </a:extLst>
          </p:cNvPr>
          <p:cNvSpPr txBox="1"/>
          <p:nvPr/>
        </p:nvSpPr>
        <p:spPr>
          <a:xfrm>
            <a:off x="7708481" y="681633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3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2F5AF97D-1956-FAFD-3BB1-F75C11AC899C}"/>
              </a:ext>
            </a:extLst>
          </p:cNvPr>
          <p:cNvSpPr txBox="1"/>
          <p:nvPr/>
        </p:nvSpPr>
        <p:spPr>
          <a:xfrm>
            <a:off x="8341203" y="5639763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1D77130E-66B5-80A0-61FE-D683009E519D}"/>
              </a:ext>
            </a:extLst>
          </p:cNvPr>
          <p:cNvSpPr txBox="1"/>
          <p:nvPr/>
        </p:nvSpPr>
        <p:spPr>
          <a:xfrm>
            <a:off x="7409851" y="5617798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384E4DB1-593E-631A-E091-3F7FE4ED9315}"/>
              </a:ext>
            </a:extLst>
          </p:cNvPr>
          <p:cNvSpPr txBox="1"/>
          <p:nvPr/>
        </p:nvSpPr>
        <p:spPr>
          <a:xfrm>
            <a:off x="7672781" y="6340098"/>
            <a:ext cx="580165" cy="212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Knowledge Box</a:t>
            </a:r>
          </a:p>
        </p:txBody>
      </p:sp>
      <p:sp>
        <p:nvSpPr>
          <p:cNvPr id="1105" name="Logistics">
            <a:extLst>
              <a:ext uri="{FF2B5EF4-FFF2-40B4-BE49-F238E27FC236}">
                <a16:creationId xmlns:a16="http://schemas.microsoft.com/office/drawing/2014/main" id="{E79E2438-27C7-7114-0556-6C73A6D15FA3}"/>
              </a:ext>
            </a:extLst>
          </p:cNvPr>
          <p:cNvSpPr txBox="1"/>
          <p:nvPr/>
        </p:nvSpPr>
        <p:spPr>
          <a:xfrm>
            <a:off x="9601200" y="256032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Import Tetrad</a:t>
            </a:r>
          </a:p>
        </p:txBody>
      </p:sp>
      <p:sp>
        <p:nvSpPr>
          <p:cNvPr id="1106" name="Logistics">
            <a:extLst>
              <a:ext uri="{FF2B5EF4-FFF2-40B4-BE49-F238E27FC236}">
                <a16:creationId xmlns:a16="http://schemas.microsoft.com/office/drawing/2014/main" id="{F52252AB-9D0E-4466-414D-A418F31AB3B8}"/>
              </a:ext>
            </a:extLst>
          </p:cNvPr>
          <p:cNvSpPr txBox="1"/>
          <p:nvPr/>
        </p:nvSpPr>
        <p:spPr>
          <a:xfrm>
            <a:off x="9601200" y="438912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Analysis Function</a:t>
            </a:r>
          </a:p>
        </p:txBody>
      </p:sp>
      <p:sp>
        <p:nvSpPr>
          <p:cNvPr id="1107" name="Logistics">
            <a:extLst>
              <a:ext uri="{FF2B5EF4-FFF2-40B4-BE49-F238E27FC236}">
                <a16:creationId xmlns:a16="http://schemas.microsoft.com/office/drawing/2014/main" id="{965B0A80-1E00-DBC8-343A-817AE2BB1F27}"/>
              </a:ext>
            </a:extLst>
          </p:cNvPr>
          <p:cNvSpPr txBox="1"/>
          <p:nvPr/>
        </p:nvSpPr>
        <p:spPr>
          <a:xfrm>
            <a:off x="9601200" y="694944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Domain Knowledge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C1ECBA82-113D-A007-B7A6-CB27E69BAD94}"/>
              </a:ext>
            </a:extLst>
          </p:cNvPr>
          <p:cNvSpPr txBox="1"/>
          <p:nvPr/>
        </p:nvSpPr>
        <p:spPr>
          <a:xfrm>
            <a:off x="9601200" y="4663440"/>
            <a:ext cx="4237460" cy="2187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run on dataset including null features, used to derive 1-PNEF.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score_sem_bic</a:t>
            </a:r>
            <a:r>
              <a:rPr lang="en-US" dirty="0"/>
              <a:t>()</a:t>
            </a:r>
          </a:p>
          <a:p>
            <a:r>
              <a:rPr lang="en-US" b="0" dirty="0"/>
              <a:t>Configure SEM BIC score.</a:t>
            </a:r>
          </a:p>
          <a:p>
            <a:r>
              <a:rPr lang="en-US" dirty="0"/>
              <a:t>2. bootstrapping()</a:t>
            </a:r>
          </a:p>
          <a:p>
            <a:r>
              <a:rPr lang="en-US" b="0" dirty="0"/>
              <a:t>Configure bootstrapping parameters.</a:t>
            </a:r>
          </a:p>
          <a:p>
            <a:r>
              <a:rPr lang="en-US" dirty="0"/>
              <a:t>3. </a:t>
            </a:r>
            <a:r>
              <a:rPr lang="en-US" dirty="0" err="1"/>
              <a:t>algorithm_fges</a:t>
            </a:r>
            <a:r>
              <a:rPr lang="en-US" dirty="0"/>
              <a:t>()</a:t>
            </a:r>
          </a:p>
          <a:p>
            <a:r>
              <a:rPr lang="en-US" b="0" dirty="0"/>
              <a:t>Performs Fast Greedy Equivalence Search (FGES) algorithm.</a:t>
            </a:r>
          </a:p>
          <a:p>
            <a:r>
              <a:rPr lang="en-US" dirty="0"/>
              <a:t>4. </a:t>
            </a:r>
            <a:r>
              <a:rPr lang="en-US" dirty="0" err="1"/>
              <a:t>algorithm_boss</a:t>
            </a:r>
            <a:r>
              <a:rPr lang="en-US" dirty="0"/>
              <a:t>()</a:t>
            </a:r>
          </a:p>
          <a:p>
            <a:r>
              <a:rPr lang="en-US" b="0" dirty="0"/>
              <a:t>Performs Best Order Score Search (BOSS) algorithm.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4EFD2A21-D268-5F4B-CECB-592A292EC5ED}"/>
              </a:ext>
            </a:extLst>
          </p:cNvPr>
          <p:cNvSpPr txBox="1"/>
          <p:nvPr/>
        </p:nvSpPr>
        <p:spPr>
          <a:xfrm>
            <a:off x="9601200" y="2834640"/>
            <a:ext cx="4237460" cy="1531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After applying time lag and features, </a:t>
            </a:r>
            <a:r>
              <a:rPr lang="en-US" b="0" dirty="0" err="1"/>
              <a:t>jpype</a:t>
            </a:r>
            <a:r>
              <a:rPr lang="en-US" b="0" dirty="0"/>
              <a:t> is imported to </a:t>
            </a:r>
            <a:r>
              <a:rPr lang="en-US" b="0"/>
              <a:t>utilize API </a:t>
            </a:r>
            <a:r>
              <a:rPr lang="en-US" b="0" dirty="0"/>
              <a:t>and turn the dataset into a Tetrad compatible format. </a:t>
            </a:r>
            <a:endParaRPr lang="en-US" dirty="0"/>
          </a:p>
          <a:p>
            <a:r>
              <a:rPr lang="en-US" dirty="0"/>
              <a:t>1. tetrad()</a:t>
            </a:r>
          </a:p>
          <a:p>
            <a:r>
              <a:rPr lang="en-US" b="0" dirty="0"/>
              <a:t>Import </a:t>
            </a:r>
            <a:r>
              <a:rPr lang="en-US" b="0" dirty="0" err="1"/>
              <a:t>jpype</a:t>
            </a:r>
            <a:r>
              <a:rPr lang="en-US" b="0" dirty="0"/>
              <a:t> to start JVM and load Tetrad jar file.</a:t>
            </a:r>
          </a:p>
          <a:p>
            <a:r>
              <a:rPr lang="en-US" dirty="0"/>
              <a:t>2. </a:t>
            </a:r>
            <a:r>
              <a:rPr lang="en-US" dirty="0" err="1"/>
              <a:t>load_data</a:t>
            </a:r>
            <a:r>
              <a:rPr lang="en-US" dirty="0"/>
              <a:t>()</a:t>
            </a:r>
          </a:p>
          <a:p>
            <a:r>
              <a:rPr lang="en-US" b="0" dirty="0"/>
              <a:t>Convert pandas </a:t>
            </a:r>
            <a:r>
              <a:rPr lang="en-US" b="0" dirty="0" err="1"/>
              <a:t>DataFrames</a:t>
            </a:r>
            <a:r>
              <a:rPr lang="en-US" b="0" dirty="0"/>
              <a:t> into Tetrad data format and initialize search state.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FD5B9D7E-15B8-E290-E044-F71CC05CDF8D}"/>
              </a:ext>
            </a:extLst>
          </p:cNvPr>
          <p:cNvSpPr txBox="1"/>
          <p:nvPr/>
        </p:nvSpPr>
        <p:spPr>
          <a:xfrm>
            <a:off x="9601200" y="7223760"/>
            <a:ext cx="4237460" cy="7411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ran again with domain knowledge applied.</a:t>
            </a:r>
          </a:p>
          <a:p>
            <a:r>
              <a:rPr lang="en-US" dirty="0"/>
              <a:t>1. </a:t>
            </a:r>
            <a:r>
              <a:rPr lang="en-US" dirty="0" err="1"/>
              <a:t>load_knowledge</a:t>
            </a:r>
            <a:r>
              <a:rPr lang="en-US" dirty="0"/>
              <a:t>()</a:t>
            </a:r>
          </a:p>
          <a:p>
            <a:r>
              <a:rPr lang="en-US" b="0" dirty="0"/>
              <a:t>Load domain knowledge constraints.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DA483B9B-3DCD-5526-4654-D1DA65CE598E}"/>
              </a:ext>
            </a:extLst>
          </p:cNvPr>
          <p:cNvSpPr txBox="1"/>
          <p:nvPr/>
        </p:nvSpPr>
        <p:spPr>
          <a:xfrm>
            <a:off x="9601200" y="1737360"/>
            <a:ext cx="4264574" cy="6898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From an example of a dataset, see </a:t>
            </a:r>
            <a:r>
              <a:rPr lang="en-US" dirty="0" err="1"/>
              <a:t>issue_social_smell_showcase.Rmd</a:t>
            </a:r>
            <a:r>
              <a:rPr lang="en-US" b="0" dirty="0"/>
              <a:t>. Refer to </a:t>
            </a:r>
            <a:r>
              <a:rPr lang="en-US" b="0" dirty="0" err="1"/>
              <a:t>cheatsheets</a:t>
            </a:r>
            <a:r>
              <a:rPr lang="en-US" b="0" dirty="0"/>
              <a:t>/social-smells-cheatsheet.pdf</a:t>
            </a:r>
          </a:p>
        </p:txBody>
      </p:sp>
      <p:cxnSp>
        <p:nvCxnSpPr>
          <p:cNvPr id="1112" name="Connector: Elbow 1111">
            <a:extLst>
              <a:ext uri="{FF2B5EF4-FFF2-40B4-BE49-F238E27FC236}">
                <a16:creationId xmlns:a16="http://schemas.microsoft.com/office/drawing/2014/main" id="{2A3A5B4B-9B8D-557F-CBC8-BC9781459509}"/>
              </a:ext>
            </a:extLst>
          </p:cNvPr>
          <p:cNvCxnSpPr>
            <a:cxnSpLocks/>
            <a:stCxn id="991" idx="3"/>
          </p:cNvCxnSpPr>
          <p:nvPr/>
        </p:nvCxnSpPr>
        <p:spPr>
          <a:xfrm flipV="1">
            <a:off x="8704406" y="1562408"/>
            <a:ext cx="859478" cy="452092"/>
          </a:xfrm>
          <a:prstGeom prst="bentConnector3">
            <a:avLst>
              <a:gd name="adj1" fmla="val 38543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6D453DD4-3ABB-14D6-350C-8E594B41DE86}"/>
              </a:ext>
            </a:extLst>
          </p:cNvPr>
          <p:cNvCxnSpPr>
            <a:cxnSpLocks/>
            <a:endCxn id="1107" idx="1"/>
          </p:cNvCxnSpPr>
          <p:nvPr/>
        </p:nvCxnSpPr>
        <p:spPr>
          <a:xfrm>
            <a:off x="8325869" y="6858316"/>
            <a:ext cx="1275331" cy="261139"/>
          </a:xfrm>
          <a:prstGeom prst="bentConnector3">
            <a:avLst>
              <a:gd name="adj1" fmla="val 55076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8B78AD4-BF7B-232C-B790-154F58050AD7}"/>
              </a:ext>
            </a:extLst>
          </p:cNvPr>
          <p:cNvSpPr txBox="1"/>
          <p:nvPr/>
        </p:nvSpPr>
        <p:spPr>
          <a:xfrm>
            <a:off x="1275037" y="358624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Folded Corner 3">
            <a:extLst>
              <a:ext uri="{FF2B5EF4-FFF2-40B4-BE49-F238E27FC236}">
                <a16:creationId xmlns:a16="http://schemas.microsoft.com/office/drawing/2014/main" id="{A3807D08-345A-56F9-ED15-D4477135E378}"/>
              </a:ext>
            </a:extLst>
          </p:cNvPr>
          <p:cNvSpPr/>
          <p:nvPr/>
        </p:nvSpPr>
        <p:spPr>
          <a:xfrm rot="10800000" flipH="1">
            <a:off x="2629874" y="338101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" name="Folded Corner 4">
            <a:extLst>
              <a:ext uri="{FF2B5EF4-FFF2-40B4-BE49-F238E27FC236}">
                <a16:creationId xmlns:a16="http://schemas.microsoft.com/office/drawing/2014/main" id="{90D8AE69-D691-21DF-C211-ACEB0F234D32}"/>
              </a:ext>
            </a:extLst>
          </p:cNvPr>
          <p:cNvSpPr/>
          <p:nvPr/>
        </p:nvSpPr>
        <p:spPr>
          <a:xfrm rot="10800000" flipH="1">
            <a:off x="2596792" y="34094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" name="Folded Corner 5">
            <a:extLst>
              <a:ext uri="{FF2B5EF4-FFF2-40B4-BE49-F238E27FC236}">
                <a16:creationId xmlns:a16="http://schemas.microsoft.com/office/drawing/2014/main" id="{F920805B-FB8E-A943-4C3C-56B139834EDF}"/>
              </a:ext>
            </a:extLst>
          </p:cNvPr>
          <p:cNvSpPr/>
          <p:nvPr/>
        </p:nvSpPr>
        <p:spPr>
          <a:xfrm rot="10800000" flipH="1">
            <a:off x="2556355" y="344325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1226F512-A72A-FA89-5608-6E0A5CA9D92B}"/>
              </a:ext>
            </a:extLst>
          </p:cNvPr>
          <p:cNvSpPr txBox="1"/>
          <p:nvPr/>
        </p:nvSpPr>
        <p:spPr>
          <a:xfrm>
            <a:off x="2486995" y="3589370"/>
            <a:ext cx="4823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algorithm.py</a:t>
            </a:r>
          </a:p>
        </p:txBody>
      </p:sp>
      <p:sp>
        <p:nvSpPr>
          <p:cNvPr id="27" name="Folded Corner 3">
            <a:extLst>
              <a:ext uri="{FF2B5EF4-FFF2-40B4-BE49-F238E27FC236}">
                <a16:creationId xmlns:a16="http://schemas.microsoft.com/office/drawing/2014/main" id="{99E3E528-769C-B41B-1C63-1CFFCACB77CA}"/>
              </a:ext>
            </a:extLst>
          </p:cNvPr>
          <p:cNvSpPr/>
          <p:nvPr/>
        </p:nvSpPr>
        <p:spPr>
          <a:xfrm rot="10800000" flipH="1">
            <a:off x="3124045" y="336113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" name="Folded Corner 4">
            <a:extLst>
              <a:ext uri="{FF2B5EF4-FFF2-40B4-BE49-F238E27FC236}">
                <a16:creationId xmlns:a16="http://schemas.microsoft.com/office/drawing/2014/main" id="{3ADAFD46-3E74-4ABF-8229-D4239422558D}"/>
              </a:ext>
            </a:extLst>
          </p:cNvPr>
          <p:cNvSpPr/>
          <p:nvPr/>
        </p:nvSpPr>
        <p:spPr>
          <a:xfrm rot="10800000" flipH="1">
            <a:off x="3090963" y="338960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" name="Folded Corner 5">
            <a:extLst>
              <a:ext uri="{FF2B5EF4-FFF2-40B4-BE49-F238E27FC236}">
                <a16:creationId xmlns:a16="http://schemas.microsoft.com/office/drawing/2014/main" id="{3D009EAB-1C06-6A9C-05AB-8F0E654609AC}"/>
              </a:ext>
            </a:extLst>
          </p:cNvPr>
          <p:cNvSpPr/>
          <p:nvPr/>
        </p:nvSpPr>
        <p:spPr>
          <a:xfrm rot="10800000" flipH="1">
            <a:off x="3050526" y="34233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7968DC11-34F7-4FE5-22C0-99D4C161803E}"/>
              </a:ext>
            </a:extLst>
          </p:cNvPr>
          <p:cNvSpPr txBox="1"/>
          <p:nvPr/>
        </p:nvSpPr>
        <p:spPr>
          <a:xfrm>
            <a:off x="3041735" y="358121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score.py</a:t>
            </a:r>
          </a:p>
        </p:txBody>
      </p:sp>
      <p:sp>
        <p:nvSpPr>
          <p:cNvPr id="30" name="Folded Corner 3">
            <a:extLst>
              <a:ext uri="{FF2B5EF4-FFF2-40B4-BE49-F238E27FC236}">
                <a16:creationId xmlns:a16="http://schemas.microsoft.com/office/drawing/2014/main" id="{71090F5C-39CA-9C6B-FDA6-5618BEF68C41}"/>
              </a:ext>
            </a:extLst>
          </p:cNvPr>
          <p:cNvSpPr/>
          <p:nvPr/>
        </p:nvSpPr>
        <p:spPr>
          <a:xfrm rot="10800000" flipH="1">
            <a:off x="489099" y="3477311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" name="Folded Corner 4">
            <a:extLst>
              <a:ext uri="{FF2B5EF4-FFF2-40B4-BE49-F238E27FC236}">
                <a16:creationId xmlns:a16="http://schemas.microsoft.com/office/drawing/2014/main" id="{2C8B5419-88EE-66EE-7F7D-F28DB4884071}"/>
              </a:ext>
            </a:extLst>
          </p:cNvPr>
          <p:cNvSpPr/>
          <p:nvPr/>
        </p:nvSpPr>
        <p:spPr>
          <a:xfrm rot="10800000" flipH="1">
            <a:off x="456017" y="3505777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" name="Folded Corner 5">
            <a:extLst>
              <a:ext uri="{FF2B5EF4-FFF2-40B4-BE49-F238E27FC236}">
                <a16:creationId xmlns:a16="http://schemas.microsoft.com/office/drawing/2014/main" id="{C7AAACDA-CAA5-FE5A-2D87-AA23747B0C76}"/>
              </a:ext>
            </a:extLst>
          </p:cNvPr>
          <p:cNvSpPr/>
          <p:nvPr/>
        </p:nvSpPr>
        <p:spPr>
          <a:xfrm rot="10800000" flipH="1">
            <a:off x="415580" y="3539553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B510509C-4809-4181-8DB4-3224882C3257}"/>
              </a:ext>
            </a:extLst>
          </p:cNvPr>
          <p:cNvSpPr txBox="1"/>
          <p:nvPr/>
        </p:nvSpPr>
        <p:spPr>
          <a:xfrm>
            <a:off x="391503" y="3700338"/>
            <a:ext cx="4603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 err="1">
                <a:solidFill>
                  <a:schemeClr val="tx1">
                    <a:lumMod val="50000"/>
                  </a:schemeClr>
                </a:solidFill>
              </a:rPr>
              <a:t>edu.cmu</a:t>
            </a:r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B48A13-D9CA-D7D3-9012-C7B1662EDE68}"/>
              </a:ext>
            </a:extLst>
          </p:cNvPr>
          <p:cNvSpPr txBox="1"/>
          <p:nvPr/>
        </p:nvSpPr>
        <p:spPr>
          <a:xfrm>
            <a:off x="2058159" y="4229130"/>
            <a:ext cx="621043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run_fges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()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0A53C6-607C-0589-B8CC-0C36E07A0798}"/>
              </a:ext>
            </a:extLst>
          </p:cNvPr>
          <p:cNvSpPr txBox="1"/>
          <p:nvPr/>
        </p:nvSpPr>
        <p:spPr>
          <a:xfrm>
            <a:off x="8607799" y="473724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B849A981-0FF6-7CAA-231A-FEC3916E1A6C}"/>
              </a:ext>
            </a:extLst>
          </p:cNvPr>
          <p:cNvCxnSpPr>
            <a:cxnSpLocks/>
            <a:stCxn id="51" idx="3"/>
            <a:endCxn id="1106" idx="1"/>
          </p:cNvCxnSpPr>
          <p:nvPr/>
        </p:nvCxnSpPr>
        <p:spPr>
          <a:xfrm flipV="1">
            <a:off x="8718069" y="4559135"/>
            <a:ext cx="883131" cy="338367"/>
          </a:xfrm>
          <a:prstGeom prst="bentConnector3">
            <a:avLst>
              <a:gd name="adj1" fmla="val 37257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9" name="TextBox 898">
            <a:extLst>
              <a:ext uri="{FF2B5EF4-FFF2-40B4-BE49-F238E27FC236}">
                <a16:creationId xmlns:a16="http://schemas.microsoft.com/office/drawing/2014/main" id="{5B0BC5A1-DB8F-F6D9-6E40-F2AF21EC5662}"/>
              </a:ext>
            </a:extLst>
          </p:cNvPr>
          <p:cNvSpPr txBox="1"/>
          <p:nvPr/>
        </p:nvSpPr>
        <p:spPr>
          <a:xfrm>
            <a:off x="9601200" y="8412480"/>
            <a:ext cx="4244990" cy="1900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graph output is converted and saved in JSON format that can be loaded and viewed in Tetrad GUI. Parsing graph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allows 1-PNEF to be applied. </a:t>
            </a:r>
          </a:p>
          <a:p>
            <a:r>
              <a:rPr lang="en-US" dirty="0"/>
              <a:t>1. </a:t>
            </a:r>
            <a:r>
              <a:rPr lang="en-US" dirty="0" err="1"/>
              <a:t>get_json</a:t>
            </a:r>
            <a:endParaRPr lang="en-US" dirty="0"/>
          </a:p>
          <a:p>
            <a:r>
              <a:rPr lang="en-US" b="0" dirty="0"/>
              <a:t>Convert Tetrad graph object to JSON format.</a:t>
            </a:r>
          </a:p>
          <a:p>
            <a:r>
              <a:rPr lang="en-US" dirty="0"/>
              <a:t>2. </a:t>
            </a:r>
            <a:r>
              <a:rPr lang="en-US" dirty="0" err="1"/>
              <a:t>parse_graph</a:t>
            </a:r>
            <a:r>
              <a:rPr lang="en-US" dirty="0"/>
              <a:t>()</a:t>
            </a:r>
          </a:p>
          <a:p>
            <a:r>
              <a:rPr lang="en-US" b="0" dirty="0"/>
              <a:t>Parse Tetrad JSON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datasets.</a:t>
            </a:r>
          </a:p>
        </p:txBody>
      </p:sp>
      <p:sp>
        <p:nvSpPr>
          <p:cNvPr id="900" name="Logistics">
            <a:extLst>
              <a:ext uri="{FF2B5EF4-FFF2-40B4-BE49-F238E27FC236}">
                <a16:creationId xmlns:a16="http://schemas.microsoft.com/office/drawing/2014/main" id="{DFF8AB5D-C31C-CD56-4EAC-DA6004F72DA4}"/>
              </a:ext>
            </a:extLst>
          </p:cNvPr>
          <p:cNvSpPr txBox="1"/>
          <p:nvPr/>
        </p:nvSpPr>
        <p:spPr>
          <a:xfrm>
            <a:off x="9601200" y="813816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Parse Graph</a:t>
            </a:r>
          </a:p>
        </p:txBody>
      </p:sp>
      <p:sp>
        <p:nvSpPr>
          <p:cNvPr id="90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46E7339D-E426-7D8A-A6FD-A89A34C7C25D}"/>
              </a:ext>
            </a:extLst>
          </p:cNvPr>
          <p:cNvSpPr txBox="1"/>
          <p:nvPr/>
        </p:nvSpPr>
        <p:spPr>
          <a:xfrm>
            <a:off x="182880" y="173736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Python package that serves as a wrapper over the Tetrad Java API (via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), providing an interface for causal analysis algorithms.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fork of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-tetrad/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pytetrad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grpSp>
        <p:nvGrpSpPr>
          <p:cNvPr id="909" name="Group 908">
            <a:extLst>
              <a:ext uri="{FF2B5EF4-FFF2-40B4-BE49-F238E27FC236}">
                <a16:creationId xmlns:a16="http://schemas.microsoft.com/office/drawing/2014/main" id="{45995A46-08B2-E6E2-C277-7A311340F7C3}"/>
              </a:ext>
            </a:extLst>
          </p:cNvPr>
          <p:cNvGrpSpPr/>
          <p:nvPr/>
        </p:nvGrpSpPr>
        <p:grpSpPr>
          <a:xfrm>
            <a:off x="5279608" y="8581425"/>
            <a:ext cx="818142" cy="583040"/>
            <a:chOff x="3300333" y="6875181"/>
            <a:chExt cx="2140200" cy="1512332"/>
          </a:xfrm>
        </p:grpSpPr>
        <p:sp>
          <p:nvSpPr>
            <p:cNvPr id="910" name="TextBox 909">
              <a:extLst>
                <a:ext uri="{FF2B5EF4-FFF2-40B4-BE49-F238E27FC236}">
                  <a16:creationId xmlns:a16="http://schemas.microsoft.com/office/drawing/2014/main" id="{A462AA16-9FAE-691F-30E5-CA068C59166D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11" name="Google Shape;162;p1">
              <a:extLst>
                <a:ext uri="{FF2B5EF4-FFF2-40B4-BE49-F238E27FC236}">
                  <a16:creationId xmlns:a16="http://schemas.microsoft.com/office/drawing/2014/main" id="{382B4584-E71B-3D2F-EBCA-29EB58F5FD67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2" name="Google Shape;163;p1">
              <a:extLst>
                <a:ext uri="{FF2B5EF4-FFF2-40B4-BE49-F238E27FC236}">
                  <a16:creationId xmlns:a16="http://schemas.microsoft.com/office/drawing/2014/main" id="{54C04AF0-0222-1DF2-0856-684606365AFA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3" name="Google Shape;164;p1">
              <a:extLst>
                <a:ext uri="{FF2B5EF4-FFF2-40B4-BE49-F238E27FC236}">
                  <a16:creationId xmlns:a16="http://schemas.microsoft.com/office/drawing/2014/main" id="{F4FCAAA9-C04D-3E1B-7EC2-C78A3E296A1C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4" name="Google Shape;165;p1">
              <a:extLst>
                <a:ext uri="{FF2B5EF4-FFF2-40B4-BE49-F238E27FC236}">
                  <a16:creationId xmlns:a16="http://schemas.microsoft.com/office/drawing/2014/main" id="{7805866A-CA99-BAE2-DA4A-D70B043FCDE0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5" name="Google Shape;171;p1">
              <a:extLst>
                <a:ext uri="{FF2B5EF4-FFF2-40B4-BE49-F238E27FC236}">
                  <a16:creationId xmlns:a16="http://schemas.microsoft.com/office/drawing/2014/main" id="{46796AF8-244B-245B-9EB1-518914CDD6F3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6" name="Google Shape;187;p1">
              <a:extLst>
                <a:ext uri="{FF2B5EF4-FFF2-40B4-BE49-F238E27FC236}">
                  <a16:creationId xmlns:a16="http://schemas.microsoft.com/office/drawing/2014/main" id="{9C200C49-5FC3-BB5E-653C-2B9363748CFF}"/>
                </a:ext>
              </a:extLst>
            </p:cNvPr>
            <p:cNvCxnSpPr>
              <a:stCxn id="917" idx="6"/>
              <a:endCxn id="911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17" name="Google Shape;188;p1">
              <a:extLst>
                <a:ext uri="{FF2B5EF4-FFF2-40B4-BE49-F238E27FC236}">
                  <a16:creationId xmlns:a16="http://schemas.microsoft.com/office/drawing/2014/main" id="{9E9EC11C-1ED1-24A8-8128-FA7103594A9C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8" name="Google Shape;196;p1">
              <a:extLst>
                <a:ext uri="{FF2B5EF4-FFF2-40B4-BE49-F238E27FC236}">
                  <a16:creationId xmlns:a16="http://schemas.microsoft.com/office/drawing/2014/main" id="{48BE8C8B-5A68-79F5-8747-6760EFB15144}"/>
                </a:ext>
              </a:extLst>
            </p:cNvPr>
            <p:cNvCxnSpPr>
              <a:stCxn id="917" idx="5"/>
              <a:endCxn id="913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19" name="Google Shape;198;p1">
              <a:extLst>
                <a:ext uri="{FF2B5EF4-FFF2-40B4-BE49-F238E27FC236}">
                  <a16:creationId xmlns:a16="http://schemas.microsoft.com/office/drawing/2014/main" id="{D3A900B2-E7F2-296D-C376-11DAAE8A2F31}"/>
                </a:ext>
              </a:extLst>
            </p:cNvPr>
            <p:cNvCxnSpPr>
              <a:stCxn id="917" idx="6"/>
              <a:endCxn id="914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0" name="Google Shape;199;p1">
              <a:extLst>
                <a:ext uri="{FF2B5EF4-FFF2-40B4-BE49-F238E27FC236}">
                  <a16:creationId xmlns:a16="http://schemas.microsoft.com/office/drawing/2014/main" id="{3ECF043A-F7E3-98DD-CEF1-9AB44040CBBC}"/>
                </a:ext>
              </a:extLst>
            </p:cNvPr>
            <p:cNvCxnSpPr>
              <a:stCxn id="917" idx="3"/>
              <a:endCxn id="915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1" name="Google Shape;200;p1">
              <a:extLst>
                <a:ext uri="{FF2B5EF4-FFF2-40B4-BE49-F238E27FC236}">
                  <a16:creationId xmlns:a16="http://schemas.microsoft.com/office/drawing/2014/main" id="{48A2B6AD-49B3-CBAF-771F-6BB7BE8C710E}"/>
                </a:ext>
              </a:extLst>
            </p:cNvPr>
            <p:cNvCxnSpPr>
              <a:stCxn id="917" idx="6"/>
              <a:endCxn id="912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926" name="TextBox 925">
            <a:extLst>
              <a:ext uri="{FF2B5EF4-FFF2-40B4-BE49-F238E27FC236}">
                <a16:creationId xmlns:a16="http://schemas.microsoft.com/office/drawing/2014/main" id="{D5F63EC9-7470-4246-1D25-EA39677EB986}"/>
              </a:ext>
            </a:extLst>
          </p:cNvPr>
          <p:cNvSpPr txBox="1"/>
          <p:nvPr/>
        </p:nvSpPr>
        <p:spPr>
          <a:xfrm>
            <a:off x="4745786" y="9504777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.</a:t>
            </a:r>
            <a:r>
              <a:rPr lang="en-US" dirty="0" err="1"/>
              <a:t>json</a:t>
            </a:r>
            <a:endParaRPr lang="en-US" dirty="0"/>
          </a:p>
        </p:txBody>
      </p:sp>
      <p:cxnSp>
        <p:nvCxnSpPr>
          <p:cNvPr id="927" name="Straight Arrow Connector 926">
            <a:extLst>
              <a:ext uri="{FF2B5EF4-FFF2-40B4-BE49-F238E27FC236}">
                <a16:creationId xmlns:a16="http://schemas.microsoft.com/office/drawing/2014/main" id="{80679C97-382A-ACF4-1A70-B29FFAA71B2E}"/>
              </a:ext>
            </a:extLst>
          </p:cNvPr>
          <p:cNvCxnSpPr>
            <a:cxnSpLocks/>
          </p:cNvCxnSpPr>
          <p:nvPr/>
        </p:nvCxnSpPr>
        <p:spPr>
          <a:xfrm>
            <a:off x="6437738" y="8942534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8" name="Flowchart: Internal Storage 927">
            <a:extLst>
              <a:ext uri="{FF2B5EF4-FFF2-40B4-BE49-F238E27FC236}">
                <a16:creationId xmlns:a16="http://schemas.microsoft.com/office/drawing/2014/main" id="{B9DBE78D-AB05-A57A-949E-FDB29351573B}"/>
              </a:ext>
            </a:extLst>
          </p:cNvPr>
          <p:cNvSpPr/>
          <p:nvPr/>
        </p:nvSpPr>
        <p:spPr>
          <a:xfrm>
            <a:off x="7070339" y="8311163"/>
            <a:ext cx="1472339" cy="1138122"/>
          </a:xfrm>
          <a:prstGeom prst="flowChartInternalStorage">
            <a:avLst/>
          </a:prstGeom>
          <a:noFill/>
          <a:ln w="12700" cap="flat">
            <a:solidFill>
              <a:schemeClr val="tx1">
                <a:lumMod val="50000"/>
              </a:schemeClr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D6FB07F4-FE14-56C5-495E-945351421B57}"/>
              </a:ext>
            </a:extLst>
          </p:cNvPr>
          <p:cNvGrpSpPr/>
          <p:nvPr/>
        </p:nvGrpSpPr>
        <p:grpSpPr>
          <a:xfrm>
            <a:off x="7473200" y="8601381"/>
            <a:ext cx="818142" cy="583040"/>
            <a:chOff x="3300333" y="6875181"/>
            <a:chExt cx="2140200" cy="1512332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2A80FE44-A9CC-8228-9EA6-880FA4CF04DE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33" name="Google Shape;162;p1">
              <a:extLst>
                <a:ext uri="{FF2B5EF4-FFF2-40B4-BE49-F238E27FC236}">
                  <a16:creationId xmlns:a16="http://schemas.microsoft.com/office/drawing/2014/main" id="{6C0E96C4-56A2-53B9-ED00-C6564A3AB25E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4" name="Google Shape;163;p1">
              <a:extLst>
                <a:ext uri="{FF2B5EF4-FFF2-40B4-BE49-F238E27FC236}">
                  <a16:creationId xmlns:a16="http://schemas.microsoft.com/office/drawing/2014/main" id="{17D2F757-A84F-F1FF-CF76-BABD056794E0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6" name="Google Shape;164;p1">
              <a:extLst>
                <a:ext uri="{FF2B5EF4-FFF2-40B4-BE49-F238E27FC236}">
                  <a16:creationId xmlns:a16="http://schemas.microsoft.com/office/drawing/2014/main" id="{A2031F0A-6D6C-9C8B-01E9-572232A7064E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7" name="Google Shape;165;p1">
              <a:extLst>
                <a:ext uri="{FF2B5EF4-FFF2-40B4-BE49-F238E27FC236}">
                  <a16:creationId xmlns:a16="http://schemas.microsoft.com/office/drawing/2014/main" id="{5A31D8EA-70FE-4ACE-2C1D-B90E3D1983DA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8" name="Google Shape;171;p1">
              <a:extLst>
                <a:ext uri="{FF2B5EF4-FFF2-40B4-BE49-F238E27FC236}">
                  <a16:creationId xmlns:a16="http://schemas.microsoft.com/office/drawing/2014/main" id="{BA31DE2E-6081-E9E4-6C87-B0AB47CDEA40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5" name="Google Shape;187;p1">
              <a:extLst>
                <a:ext uri="{FF2B5EF4-FFF2-40B4-BE49-F238E27FC236}">
                  <a16:creationId xmlns:a16="http://schemas.microsoft.com/office/drawing/2014/main" id="{72EAC8D3-C011-70E2-3C37-305A4D20735A}"/>
                </a:ext>
              </a:extLst>
            </p:cNvPr>
            <p:cNvCxnSpPr>
              <a:stCxn id="1116" idx="6"/>
              <a:endCxn id="1033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16" name="Google Shape;188;p1">
              <a:extLst>
                <a:ext uri="{FF2B5EF4-FFF2-40B4-BE49-F238E27FC236}">
                  <a16:creationId xmlns:a16="http://schemas.microsoft.com/office/drawing/2014/main" id="{D799925A-AF30-F4E7-321E-810E51077191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7" name="Google Shape;196;p1">
              <a:extLst>
                <a:ext uri="{FF2B5EF4-FFF2-40B4-BE49-F238E27FC236}">
                  <a16:creationId xmlns:a16="http://schemas.microsoft.com/office/drawing/2014/main" id="{854E7C0B-D9B3-C895-26F3-A5D92E593E9E}"/>
                </a:ext>
              </a:extLst>
            </p:cNvPr>
            <p:cNvCxnSpPr>
              <a:stCxn id="1116" idx="5"/>
              <a:endCxn id="1036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8" name="Google Shape;198;p1">
              <a:extLst>
                <a:ext uri="{FF2B5EF4-FFF2-40B4-BE49-F238E27FC236}">
                  <a16:creationId xmlns:a16="http://schemas.microsoft.com/office/drawing/2014/main" id="{F8DAF9A9-C804-0F81-8C9C-2E7C0B8F539C}"/>
                </a:ext>
              </a:extLst>
            </p:cNvPr>
            <p:cNvCxnSpPr>
              <a:stCxn id="1116" idx="6"/>
              <a:endCxn id="1037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9" name="Google Shape;199;p1">
              <a:extLst>
                <a:ext uri="{FF2B5EF4-FFF2-40B4-BE49-F238E27FC236}">
                  <a16:creationId xmlns:a16="http://schemas.microsoft.com/office/drawing/2014/main" id="{852125BE-C41F-FA8C-638D-6FDC1C2E3705}"/>
                </a:ext>
              </a:extLst>
            </p:cNvPr>
            <p:cNvCxnSpPr>
              <a:stCxn id="1116" idx="3"/>
              <a:endCxn id="1038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20" name="Google Shape;200;p1">
              <a:extLst>
                <a:ext uri="{FF2B5EF4-FFF2-40B4-BE49-F238E27FC236}">
                  <a16:creationId xmlns:a16="http://schemas.microsoft.com/office/drawing/2014/main" id="{976A57B9-0A7D-B8D8-5032-58AAAB89D049}"/>
                </a:ext>
              </a:extLst>
            </p:cNvPr>
            <p:cNvCxnSpPr>
              <a:stCxn id="1116" idx="6"/>
              <a:endCxn id="1034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1121" name="TextBox 1120">
            <a:extLst>
              <a:ext uri="{FF2B5EF4-FFF2-40B4-BE49-F238E27FC236}">
                <a16:creationId xmlns:a16="http://schemas.microsoft.com/office/drawing/2014/main" id="{273D094D-D585-A235-B528-2E41F4120AA1}"/>
              </a:ext>
            </a:extLst>
          </p:cNvPr>
          <p:cNvSpPr txBox="1"/>
          <p:nvPr/>
        </p:nvSpPr>
        <p:spPr>
          <a:xfrm>
            <a:off x="6892923" y="9463342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Tetrad GUI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E1F01BC6-EFC1-D446-AE8C-EFDEA51C0234}"/>
              </a:ext>
            </a:extLst>
          </p:cNvPr>
          <p:cNvSpPr txBox="1"/>
          <p:nvPr/>
        </p:nvSpPr>
        <p:spPr>
          <a:xfrm>
            <a:off x="7071481" y="845805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Graph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D100A627-AEBB-694B-2CDB-5C47F8FCE0FD}"/>
              </a:ext>
            </a:extLst>
          </p:cNvPr>
          <p:cNvSpPr txBox="1"/>
          <p:nvPr/>
        </p:nvSpPr>
        <p:spPr>
          <a:xfrm>
            <a:off x="7061235" y="8531089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Compare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FB792532-0031-1F69-0010-16E01EC18C36}"/>
              </a:ext>
            </a:extLst>
          </p:cNvPr>
          <p:cNvSpPr txBox="1"/>
          <p:nvPr/>
        </p:nvSpPr>
        <p:spPr>
          <a:xfrm>
            <a:off x="7048685" y="8610068"/>
            <a:ext cx="251336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Grid Search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1114B0BA-A17C-CC33-9EA6-5C3A51A1B0D1}"/>
              </a:ext>
            </a:extLst>
          </p:cNvPr>
          <p:cNvSpPr txBox="1"/>
          <p:nvPr/>
        </p:nvSpPr>
        <p:spPr>
          <a:xfrm>
            <a:off x="7046974" y="8677995"/>
            <a:ext cx="303972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Parametric Model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856D8BE9-7C4D-00C3-C383-6AEB4067C67E}"/>
              </a:ext>
            </a:extLst>
          </p:cNvPr>
          <p:cNvSpPr txBox="1"/>
          <p:nvPr/>
        </p:nvSpPr>
        <p:spPr>
          <a:xfrm>
            <a:off x="7052833" y="8791685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Simulation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6B0BF643-36AF-9F93-CEDF-51934889450B}"/>
              </a:ext>
            </a:extLst>
          </p:cNvPr>
          <p:cNvSpPr txBox="1"/>
          <p:nvPr/>
        </p:nvSpPr>
        <p:spPr>
          <a:xfrm>
            <a:off x="7070339" y="8866499"/>
            <a:ext cx="235741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Cluster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D2D58D99-2BE9-A8D7-D2E0-E91C8E144C31}"/>
              </a:ext>
            </a:extLst>
          </p:cNvPr>
          <p:cNvSpPr txBox="1"/>
          <p:nvPr/>
        </p:nvSpPr>
        <p:spPr>
          <a:xfrm>
            <a:off x="7063846" y="8962863"/>
            <a:ext cx="260604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Structure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8A9580B4-4D05-AE98-B86C-E8E0BDDFFDBF}"/>
              </a:ext>
            </a:extLst>
          </p:cNvPr>
          <p:cNvSpPr txBox="1"/>
          <p:nvPr/>
        </p:nvSpPr>
        <p:spPr>
          <a:xfrm>
            <a:off x="7055007" y="9063908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Knowledge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E9E7103B-4310-AC02-B456-ABA691C966FB}"/>
              </a:ext>
            </a:extLst>
          </p:cNvPr>
          <p:cNvSpPr txBox="1"/>
          <p:nvPr/>
        </p:nvSpPr>
        <p:spPr>
          <a:xfrm>
            <a:off x="7061235" y="9140557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Updater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444ADC25-8CB3-3F46-3A24-9029313EDD3B}"/>
              </a:ext>
            </a:extLst>
          </p:cNvPr>
          <p:cNvSpPr txBox="1"/>
          <p:nvPr/>
        </p:nvSpPr>
        <p:spPr>
          <a:xfrm>
            <a:off x="7048685" y="9227323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Regression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90DFC713-51F3-B156-B2DE-C7039F4615F1}"/>
              </a:ext>
            </a:extLst>
          </p:cNvPr>
          <p:cNvSpPr txBox="1"/>
          <p:nvPr/>
        </p:nvSpPr>
        <p:spPr>
          <a:xfrm>
            <a:off x="7233495" y="8289476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File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5E4690D2-70AA-FA5A-6F27-CB81ED583277}"/>
              </a:ext>
            </a:extLst>
          </p:cNvPr>
          <p:cNvSpPr txBox="1"/>
          <p:nvPr/>
        </p:nvSpPr>
        <p:spPr>
          <a:xfrm>
            <a:off x="7303218" y="829201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Edit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FE2A0BEC-98C6-93D3-93B2-2844A74ABB30}"/>
              </a:ext>
            </a:extLst>
          </p:cNvPr>
          <p:cNvSpPr txBox="1"/>
          <p:nvPr/>
        </p:nvSpPr>
        <p:spPr>
          <a:xfrm>
            <a:off x="7383126" y="8291864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Logging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90370202-61FE-88CE-9909-0562AAAD19CA}"/>
              </a:ext>
            </a:extLst>
          </p:cNvPr>
          <p:cNvSpPr txBox="1"/>
          <p:nvPr/>
        </p:nvSpPr>
        <p:spPr>
          <a:xfrm>
            <a:off x="7505552" y="8292313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Pipelines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29C76382-38F6-7592-2DAF-D3DF8808FD07}"/>
              </a:ext>
            </a:extLst>
          </p:cNvPr>
          <p:cNvSpPr txBox="1"/>
          <p:nvPr/>
        </p:nvSpPr>
        <p:spPr>
          <a:xfrm>
            <a:off x="7637493" y="829506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Window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18B4B119-ED8E-0A2E-49D2-441E8B5C9C7B}"/>
              </a:ext>
            </a:extLst>
          </p:cNvPr>
          <p:cNvSpPr txBox="1"/>
          <p:nvPr/>
        </p:nvSpPr>
        <p:spPr>
          <a:xfrm>
            <a:off x="7754912" y="829506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Help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7C5A3F56-40C3-042C-0BA4-AD97B9FB4817}"/>
              </a:ext>
            </a:extLst>
          </p:cNvPr>
          <p:cNvGrpSpPr/>
          <p:nvPr/>
        </p:nvGrpSpPr>
        <p:grpSpPr>
          <a:xfrm>
            <a:off x="1195787" y="7121456"/>
            <a:ext cx="358133" cy="449780"/>
            <a:chOff x="3801693" y="7065060"/>
            <a:chExt cx="465922" cy="575948"/>
          </a:xfrm>
        </p:grpSpPr>
        <p:sp>
          <p:nvSpPr>
            <p:cNvPr id="1151" name="Flowchart: Internal Storage 1150">
              <a:extLst>
                <a:ext uri="{FF2B5EF4-FFF2-40B4-BE49-F238E27FC236}">
                  <a16:creationId xmlns:a16="http://schemas.microsoft.com/office/drawing/2014/main" id="{55F27A65-A2E2-CD54-291B-80E0AEA42FB4}"/>
                </a:ext>
              </a:extLst>
            </p:cNvPr>
            <p:cNvSpPr/>
            <p:nvPr/>
          </p:nvSpPr>
          <p:spPr>
            <a:xfrm>
              <a:off x="3824554" y="7065060"/>
              <a:ext cx="443061" cy="575948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47624565-26B9-7FC7-BEFD-FBA6B95B8193}"/>
                </a:ext>
              </a:extLst>
            </p:cNvPr>
            <p:cNvSpPr txBox="1"/>
            <p:nvPr/>
          </p:nvSpPr>
          <p:spPr>
            <a:xfrm>
              <a:off x="3801693" y="7065060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3" name="TextBox 1152">
              <a:extLst>
                <a:ext uri="{FF2B5EF4-FFF2-40B4-BE49-F238E27FC236}">
                  <a16:creationId xmlns:a16="http://schemas.microsoft.com/office/drawing/2014/main" id="{E40A37E6-9ACB-1E24-795E-054F356A1783}"/>
                </a:ext>
              </a:extLst>
            </p:cNvPr>
            <p:cNvSpPr txBox="1"/>
            <p:nvPr/>
          </p:nvSpPr>
          <p:spPr>
            <a:xfrm>
              <a:off x="3801693" y="7191227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4" name="TextBox 1153">
              <a:extLst>
                <a:ext uri="{FF2B5EF4-FFF2-40B4-BE49-F238E27FC236}">
                  <a16:creationId xmlns:a16="http://schemas.microsoft.com/office/drawing/2014/main" id="{FA904C5B-4B92-0978-A450-5E959F35817D}"/>
                </a:ext>
              </a:extLst>
            </p:cNvPr>
            <p:cNvSpPr txBox="1"/>
            <p:nvPr/>
          </p:nvSpPr>
          <p:spPr>
            <a:xfrm>
              <a:off x="3801693" y="7336099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1155" name="Straight Connector 1154">
              <a:extLst>
                <a:ext uri="{FF2B5EF4-FFF2-40B4-BE49-F238E27FC236}">
                  <a16:creationId xmlns:a16="http://schemas.microsoft.com/office/drawing/2014/main" id="{8B412E9F-F94E-EE34-579F-857CE06C64C0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1976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6" name="Straight Connector 1155">
              <a:extLst>
                <a:ext uri="{FF2B5EF4-FFF2-40B4-BE49-F238E27FC236}">
                  <a16:creationId xmlns:a16="http://schemas.microsoft.com/office/drawing/2014/main" id="{AD916EBD-0823-7108-B29E-9E8B0E83F33E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269790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7" name="Straight Connector 1156">
              <a:extLst>
                <a:ext uri="{FF2B5EF4-FFF2-40B4-BE49-F238E27FC236}">
                  <a16:creationId xmlns:a16="http://schemas.microsoft.com/office/drawing/2014/main" id="{5791F919-1CC8-220A-6267-34024C4B16CD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344697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8" name="Straight Connector 1157">
              <a:extLst>
                <a:ext uri="{FF2B5EF4-FFF2-40B4-BE49-F238E27FC236}">
                  <a16:creationId xmlns:a16="http://schemas.microsoft.com/office/drawing/2014/main" id="{BDC30117-DB15-44BF-C3BF-416CAE5F7E98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4262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9" name="Straight Connector 1158">
              <a:extLst>
                <a:ext uri="{FF2B5EF4-FFF2-40B4-BE49-F238E27FC236}">
                  <a16:creationId xmlns:a16="http://schemas.microsoft.com/office/drawing/2014/main" id="{449C2915-E02E-2974-8426-D50871AF3D02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01852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60" name="Straight Connector 1159">
              <a:extLst>
                <a:ext uri="{FF2B5EF4-FFF2-40B4-BE49-F238E27FC236}">
                  <a16:creationId xmlns:a16="http://schemas.microsoft.com/office/drawing/2014/main" id="{2C087790-FCF7-8224-0806-867E2A55BBA2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81085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213" name="Group 1212">
            <a:extLst>
              <a:ext uri="{FF2B5EF4-FFF2-40B4-BE49-F238E27FC236}">
                <a16:creationId xmlns:a16="http://schemas.microsoft.com/office/drawing/2014/main" id="{72CA64F4-7872-F8EB-76B3-B5D7108D38AD}"/>
              </a:ext>
            </a:extLst>
          </p:cNvPr>
          <p:cNvGrpSpPr/>
          <p:nvPr/>
        </p:nvGrpSpPr>
        <p:grpSpPr>
          <a:xfrm>
            <a:off x="2661632" y="7753204"/>
            <a:ext cx="1625672" cy="724346"/>
            <a:chOff x="4898186" y="8463563"/>
            <a:chExt cx="3978918" cy="1588036"/>
          </a:xfrm>
        </p:grpSpPr>
        <p:sp>
          <p:nvSpPr>
            <p:cNvPr id="1165" name="Folded Corner 5">
              <a:extLst>
                <a:ext uri="{FF2B5EF4-FFF2-40B4-BE49-F238E27FC236}">
                  <a16:creationId xmlns:a16="http://schemas.microsoft.com/office/drawing/2014/main" id="{37D16E0E-0D9F-FAE2-16C4-BE19C0E0A892}"/>
                </a:ext>
              </a:extLst>
            </p:cNvPr>
            <p:cNvSpPr/>
            <p:nvPr/>
          </p:nvSpPr>
          <p:spPr>
            <a:xfrm rot="10800000" flipH="1">
              <a:off x="5352204" y="8474861"/>
              <a:ext cx="944261" cy="1140881"/>
            </a:xfrm>
            <a:prstGeom prst="foldedCorner">
              <a:avLst>
                <a:gd name="adj" fmla="val 29505"/>
              </a:avLst>
            </a:prstGeom>
            <a:solidFill>
              <a:schemeClr val="bg1"/>
            </a:solidFill>
            <a:ln w="63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="horz" wrap="square" lIns="54570" tIns="54570" rIns="54570" bIns="5457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1pPr>
              <a:lvl2pPr marL="0" marR="0" indent="228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2pPr>
              <a:lvl3pPr marL="0" marR="0" indent="457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3pPr>
              <a:lvl4pPr marL="0" marR="0" indent="685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4pPr>
              <a:lvl5pPr marL="0" marR="0" indent="9144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5pPr>
              <a:lvl6pPr marL="0" marR="0" indent="11430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6pPr>
              <a:lvl7pPr marL="0" marR="0" indent="1371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7pPr>
              <a:lvl8pPr marL="0" marR="0" indent="1600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8pPr>
              <a:lvl9pPr marL="0" marR="0" indent="1828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9pPr>
            </a:lstStyle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66" name="Group 1165">
              <a:extLst>
                <a:ext uri="{FF2B5EF4-FFF2-40B4-BE49-F238E27FC236}">
                  <a16:creationId xmlns:a16="http://schemas.microsoft.com/office/drawing/2014/main" id="{DF12BB74-5593-04C8-F732-D4CEBEFE50E4}"/>
                </a:ext>
              </a:extLst>
            </p:cNvPr>
            <p:cNvGrpSpPr/>
            <p:nvPr/>
          </p:nvGrpSpPr>
          <p:grpSpPr>
            <a:xfrm>
              <a:off x="5432008" y="8733825"/>
              <a:ext cx="818142" cy="583040"/>
              <a:chOff x="3300333" y="6875181"/>
              <a:chExt cx="2140200" cy="1512332"/>
            </a:xfrm>
          </p:grpSpPr>
          <p:sp>
            <p:nvSpPr>
              <p:cNvPr id="1167" name="TextBox 1166">
                <a:extLst>
                  <a:ext uri="{FF2B5EF4-FFF2-40B4-BE49-F238E27FC236}">
                    <a16:creationId xmlns:a16="http://schemas.microsoft.com/office/drawing/2014/main" id="{A4BE5A2B-ED82-784B-8754-083E221A3C80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68" name="Google Shape;162;p1">
                <a:extLst>
                  <a:ext uri="{FF2B5EF4-FFF2-40B4-BE49-F238E27FC236}">
                    <a16:creationId xmlns:a16="http://schemas.microsoft.com/office/drawing/2014/main" id="{9BD35D25-F08A-606D-1E66-2DACEAEE50DE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69" name="Google Shape;163;p1">
                <a:extLst>
                  <a:ext uri="{FF2B5EF4-FFF2-40B4-BE49-F238E27FC236}">
                    <a16:creationId xmlns:a16="http://schemas.microsoft.com/office/drawing/2014/main" id="{80768565-BB12-7510-A317-FB47DA337B65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0" name="Google Shape;164;p1">
                <a:extLst>
                  <a:ext uri="{FF2B5EF4-FFF2-40B4-BE49-F238E27FC236}">
                    <a16:creationId xmlns:a16="http://schemas.microsoft.com/office/drawing/2014/main" id="{0535A999-A0DA-D46E-BCF8-437D6B723254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1" name="Google Shape;165;p1">
                <a:extLst>
                  <a:ext uri="{FF2B5EF4-FFF2-40B4-BE49-F238E27FC236}">
                    <a16:creationId xmlns:a16="http://schemas.microsoft.com/office/drawing/2014/main" id="{A378971B-C99A-4368-BA2D-35DB09F60248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2" name="Google Shape;171;p1">
                <a:extLst>
                  <a:ext uri="{FF2B5EF4-FFF2-40B4-BE49-F238E27FC236}">
                    <a16:creationId xmlns:a16="http://schemas.microsoft.com/office/drawing/2014/main" id="{A6D96C26-C2AF-DBF1-ECC4-D81A68E6D2FF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3" name="Google Shape;187;p1">
                <a:extLst>
                  <a:ext uri="{FF2B5EF4-FFF2-40B4-BE49-F238E27FC236}">
                    <a16:creationId xmlns:a16="http://schemas.microsoft.com/office/drawing/2014/main" id="{06DA9DA7-5B6B-5264-2527-7626A7D3DF01}"/>
                  </a:ext>
                </a:extLst>
              </p:cNvPr>
              <p:cNvCxnSpPr>
                <a:cxnSpLocks/>
                <a:stCxn id="1174" idx="6"/>
                <a:endCxn id="1168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74" name="Google Shape;188;p1">
                <a:extLst>
                  <a:ext uri="{FF2B5EF4-FFF2-40B4-BE49-F238E27FC236}">
                    <a16:creationId xmlns:a16="http://schemas.microsoft.com/office/drawing/2014/main" id="{9F46D86D-3DC1-4D76-8C15-91A892C6B27F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5" name="Google Shape;196;p1">
                <a:extLst>
                  <a:ext uri="{FF2B5EF4-FFF2-40B4-BE49-F238E27FC236}">
                    <a16:creationId xmlns:a16="http://schemas.microsoft.com/office/drawing/2014/main" id="{AE79F949-EA20-E2BF-63CB-355BEAF73ECC}"/>
                  </a:ext>
                </a:extLst>
              </p:cNvPr>
              <p:cNvCxnSpPr>
                <a:cxnSpLocks/>
                <a:stCxn id="1174" idx="5"/>
                <a:endCxn id="1170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6" name="Google Shape;198;p1">
                <a:extLst>
                  <a:ext uri="{FF2B5EF4-FFF2-40B4-BE49-F238E27FC236}">
                    <a16:creationId xmlns:a16="http://schemas.microsoft.com/office/drawing/2014/main" id="{108A3579-A239-89D3-60F1-87DB20F930B5}"/>
                  </a:ext>
                </a:extLst>
              </p:cNvPr>
              <p:cNvCxnSpPr>
                <a:cxnSpLocks/>
                <a:stCxn id="1174" idx="6"/>
                <a:endCxn id="1171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7" name="Google Shape;199;p1">
                <a:extLst>
                  <a:ext uri="{FF2B5EF4-FFF2-40B4-BE49-F238E27FC236}">
                    <a16:creationId xmlns:a16="http://schemas.microsoft.com/office/drawing/2014/main" id="{C8A44230-EA2B-97A7-BE82-C78B54206E54}"/>
                  </a:ext>
                </a:extLst>
              </p:cNvPr>
              <p:cNvCxnSpPr>
                <a:cxnSpLocks/>
                <a:stCxn id="1174" idx="3"/>
                <a:endCxn id="1172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8" name="Google Shape;200;p1">
                <a:extLst>
                  <a:ext uri="{FF2B5EF4-FFF2-40B4-BE49-F238E27FC236}">
                    <a16:creationId xmlns:a16="http://schemas.microsoft.com/office/drawing/2014/main" id="{9E7F1670-398C-47C0-9961-FC4B9F6B71EC}"/>
                  </a:ext>
                </a:extLst>
              </p:cNvPr>
              <p:cNvCxnSpPr>
                <a:cxnSpLocks/>
                <a:stCxn id="1174" idx="6"/>
                <a:endCxn id="1169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79" name="TextBox 1178">
              <a:extLst>
                <a:ext uri="{FF2B5EF4-FFF2-40B4-BE49-F238E27FC236}">
                  <a16:creationId xmlns:a16="http://schemas.microsoft.com/office/drawing/2014/main" id="{C446CC26-76BF-29E2-E1AC-C3981A22B667}"/>
                </a:ext>
              </a:extLst>
            </p:cNvPr>
            <p:cNvSpPr txBox="1"/>
            <p:nvPr/>
          </p:nvSpPr>
          <p:spPr>
            <a:xfrm>
              <a:off x="4898186" y="9385556"/>
              <a:ext cx="1831780" cy="6556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000" dirty="0"/>
                <a:t>.</a:t>
              </a:r>
              <a:r>
                <a:rPr lang="en-US" sz="700" dirty="0" err="1"/>
                <a:t>json</a:t>
              </a:r>
              <a:endParaRPr lang="en-US" sz="1000" dirty="0"/>
            </a:p>
          </p:txBody>
        </p:sp>
        <p:sp>
          <p:nvSpPr>
            <p:cNvPr id="1181" name="Flowchart: Internal Storage 1180">
              <a:extLst>
                <a:ext uri="{FF2B5EF4-FFF2-40B4-BE49-F238E27FC236}">
                  <a16:creationId xmlns:a16="http://schemas.microsoft.com/office/drawing/2014/main" id="{51C6FEC5-FC56-6284-90F2-A770881897BD}"/>
                </a:ext>
              </a:extLst>
            </p:cNvPr>
            <p:cNvSpPr/>
            <p:nvPr/>
          </p:nvSpPr>
          <p:spPr>
            <a:xfrm>
              <a:off x="7222739" y="8463563"/>
              <a:ext cx="1472339" cy="1138122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>
              <a:outerShdw blurRad="38100" dist="25400" dir="5400000" rotWithShape="0">
                <a:schemeClr val="bg1">
                  <a:alpha val="50000"/>
                </a:scheme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82" name="Group 1181">
              <a:extLst>
                <a:ext uri="{FF2B5EF4-FFF2-40B4-BE49-F238E27FC236}">
                  <a16:creationId xmlns:a16="http://schemas.microsoft.com/office/drawing/2014/main" id="{3BC371D2-B932-47D7-CC4B-CC181B5681A8}"/>
                </a:ext>
              </a:extLst>
            </p:cNvPr>
            <p:cNvGrpSpPr/>
            <p:nvPr/>
          </p:nvGrpSpPr>
          <p:grpSpPr>
            <a:xfrm>
              <a:off x="7625600" y="8753781"/>
              <a:ext cx="818142" cy="583040"/>
              <a:chOff x="3300333" y="6875181"/>
              <a:chExt cx="2140200" cy="1512332"/>
            </a:xfrm>
          </p:grpSpPr>
          <p:sp>
            <p:nvSpPr>
              <p:cNvPr id="1183" name="TextBox 1182">
                <a:extLst>
                  <a:ext uri="{FF2B5EF4-FFF2-40B4-BE49-F238E27FC236}">
                    <a16:creationId xmlns:a16="http://schemas.microsoft.com/office/drawing/2014/main" id="{EFB5D094-4913-01B6-40B4-69233FC487DE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84" name="Google Shape;162;p1">
                <a:extLst>
                  <a:ext uri="{FF2B5EF4-FFF2-40B4-BE49-F238E27FC236}">
                    <a16:creationId xmlns:a16="http://schemas.microsoft.com/office/drawing/2014/main" id="{1BDD8B20-0395-49A6-573F-40CFF99D99C4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5" name="Google Shape;163;p1">
                <a:extLst>
                  <a:ext uri="{FF2B5EF4-FFF2-40B4-BE49-F238E27FC236}">
                    <a16:creationId xmlns:a16="http://schemas.microsoft.com/office/drawing/2014/main" id="{3D7C7DFC-BE4C-A8FF-DFA4-70BBE5CE4628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6" name="Google Shape;164;p1">
                <a:extLst>
                  <a:ext uri="{FF2B5EF4-FFF2-40B4-BE49-F238E27FC236}">
                    <a16:creationId xmlns:a16="http://schemas.microsoft.com/office/drawing/2014/main" id="{E537B2A4-0532-19A7-C15F-5FA496763104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7" name="Google Shape;165;p1">
                <a:extLst>
                  <a:ext uri="{FF2B5EF4-FFF2-40B4-BE49-F238E27FC236}">
                    <a16:creationId xmlns:a16="http://schemas.microsoft.com/office/drawing/2014/main" id="{61E5131A-3946-AF85-0A13-AD5DEF00F55F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8" name="Google Shape;171;p1">
                <a:extLst>
                  <a:ext uri="{FF2B5EF4-FFF2-40B4-BE49-F238E27FC236}">
                    <a16:creationId xmlns:a16="http://schemas.microsoft.com/office/drawing/2014/main" id="{B61D73F8-CE02-4166-72EC-F70F2523FA74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89" name="Google Shape;187;p1">
                <a:extLst>
                  <a:ext uri="{FF2B5EF4-FFF2-40B4-BE49-F238E27FC236}">
                    <a16:creationId xmlns:a16="http://schemas.microsoft.com/office/drawing/2014/main" id="{66D19C9D-ECD3-6ADA-26FF-430F72A82B64}"/>
                  </a:ext>
                </a:extLst>
              </p:cNvPr>
              <p:cNvCxnSpPr>
                <a:cxnSpLocks/>
                <a:stCxn id="1190" idx="6"/>
                <a:endCxn id="1184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90" name="Google Shape;188;p1">
                <a:extLst>
                  <a:ext uri="{FF2B5EF4-FFF2-40B4-BE49-F238E27FC236}">
                    <a16:creationId xmlns:a16="http://schemas.microsoft.com/office/drawing/2014/main" id="{79B7A20E-DB4C-D5A1-C6DE-E00E9DBF215A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91" name="Google Shape;196;p1">
                <a:extLst>
                  <a:ext uri="{FF2B5EF4-FFF2-40B4-BE49-F238E27FC236}">
                    <a16:creationId xmlns:a16="http://schemas.microsoft.com/office/drawing/2014/main" id="{BD1318B2-C0A0-44EF-089C-FEB79B342F38}"/>
                  </a:ext>
                </a:extLst>
              </p:cNvPr>
              <p:cNvCxnSpPr>
                <a:cxnSpLocks/>
                <a:stCxn id="1190" idx="5"/>
                <a:endCxn id="1186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2" name="Google Shape;198;p1">
                <a:extLst>
                  <a:ext uri="{FF2B5EF4-FFF2-40B4-BE49-F238E27FC236}">
                    <a16:creationId xmlns:a16="http://schemas.microsoft.com/office/drawing/2014/main" id="{15B76EF1-7232-8E80-EC12-059AEB575314}"/>
                  </a:ext>
                </a:extLst>
              </p:cNvPr>
              <p:cNvCxnSpPr>
                <a:cxnSpLocks/>
                <a:stCxn id="1190" idx="6"/>
                <a:endCxn id="1187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3" name="Google Shape;199;p1">
                <a:extLst>
                  <a:ext uri="{FF2B5EF4-FFF2-40B4-BE49-F238E27FC236}">
                    <a16:creationId xmlns:a16="http://schemas.microsoft.com/office/drawing/2014/main" id="{3E50C585-96F7-3F41-F673-89A1E077AE87}"/>
                  </a:ext>
                </a:extLst>
              </p:cNvPr>
              <p:cNvCxnSpPr>
                <a:cxnSpLocks/>
                <a:stCxn id="1190" idx="3"/>
                <a:endCxn id="1188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4" name="Google Shape;200;p1">
                <a:extLst>
                  <a:ext uri="{FF2B5EF4-FFF2-40B4-BE49-F238E27FC236}">
                    <a16:creationId xmlns:a16="http://schemas.microsoft.com/office/drawing/2014/main" id="{C4141095-8F80-6397-0486-8732D0D0130F}"/>
                  </a:ext>
                </a:extLst>
              </p:cNvPr>
              <p:cNvCxnSpPr>
                <a:cxnSpLocks/>
                <a:stCxn id="1190" idx="6"/>
                <a:endCxn id="1185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95" name="TextBox 1194">
              <a:extLst>
                <a:ext uri="{FF2B5EF4-FFF2-40B4-BE49-F238E27FC236}">
                  <a16:creationId xmlns:a16="http://schemas.microsoft.com/office/drawing/2014/main" id="{12228BCF-E28E-AD02-F982-A13F6052EB0D}"/>
                </a:ext>
              </a:extLst>
            </p:cNvPr>
            <p:cNvSpPr txBox="1"/>
            <p:nvPr/>
          </p:nvSpPr>
          <p:spPr>
            <a:xfrm>
              <a:off x="7045323" y="9500399"/>
              <a:ext cx="1831781" cy="551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700" dirty="0"/>
                <a:t>Tetrad GUI</a:t>
              </a:r>
            </a:p>
          </p:txBody>
        </p:sp>
      </p:grpSp>
      <p:cxnSp>
        <p:nvCxnSpPr>
          <p:cNvPr id="1220" name="Straight Arrow Connector 1219">
            <a:extLst>
              <a:ext uri="{FF2B5EF4-FFF2-40B4-BE49-F238E27FC236}">
                <a16:creationId xmlns:a16="http://schemas.microsoft.com/office/drawing/2014/main" id="{3D151C5F-DF14-74B8-F36C-962FC5AF0B6C}"/>
              </a:ext>
            </a:extLst>
          </p:cNvPr>
          <p:cNvCxnSpPr>
            <a:cxnSpLocks/>
          </p:cNvCxnSpPr>
          <p:nvPr/>
        </p:nvCxnSpPr>
        <p:spPr>
          <a:xfrm flipV="1">
            <a:off x="540609" y="7400770"/>
            <a:ext cx="542836" cy="383885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1" name="Straight Arrow Connector 1220">
            <a:extLst>
              <a:ext uri="{FF2B5EF4-FFF2-40B4-BE49-F238E27FC236}">
                <a16:creationId xmlns:a16="http://schemas.microsoft.com/office/drawing/2014/main" id="{75C33027-B608-1C21-6857-F1EF1CB9D59B}"/>
              </a:ext>
            </a:extLst>
          </p:cNvPr>
          <p:cNvCxnSpPr>
            <a:cxnSpLocks/>
          </p:cNvCxnSpPr>
          <p:nvPr/>
        </p:nvCxnSpPr>
        <p:spPr>
          <a:xfrm>
            <a:off x="1686611" y="7382435"/>
            <a:ext cx="371548" cy="283991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4" name="Straight Arrow Connector 1223">
            <a:extLst>
              <a:ext uri="{FF2B5EF4-FFF2-40B4-BE49-F238E27FC236}">
                <a16:creationId xmlns:a16="http://schemas.microsoft.com/office/drawing/2014/main" id="{D96D93E0-FACA-725C-9807-3F2F5DBDA414}"/>
              </a:ext>
            </a:extLst>
          </p:cNvPr>
          <p:cNvCxnSpPr>
            <a:cxnSpLocks/>
          </p:cNvCxnSpPr>
          <p:nvPr/>
        </p:nvCxnSpPr>
        <p:spPr>
          <a:xfrm flipV="1">
            <a:off x="1950245" y="8298297"/>
            <a:ext cx="178758" cy="30308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6" name="Straight Arrow Connector 1225">
            <a:extLst>
              <a:ext uri="{FF2B5EF4-FFF2-40B4-BE49-F238E27FC236}">
                <a16:creationId xmlns:a16="http://schemas.microsoft.com/office/drawing/2014/main" id="{3761E2D2-9A21-B559-F201-EDB4795E2BF7}"/>
              </a:ext>
            </a:extLst>
          </p:cNvPr>
          <p:cNvCxnSpPr>
            <a:cxnSpLocks/>
          </p:cNvCxnSpPr>
          <p:nvPr/>
        </p:nvCxnSpPr>
        <p:spPr>
          <a:xfrm>
            <a:off x="2446049" y="8029635"/>
            <a:ext cx="321536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9" name="Straight Arrow Connector 1228">
            <a:extLst>
              <a:ext uri="{FF2B5EF4-FFF2-40B4-BE49-F238E27FC236}">
                <a16:creationId xmlns:a16="http://schemas.microsoft.com/office/drawing/2014/main" id="{B4C62D8A-D14E-D5EA-6250-F657FCB18EE9}"/>
              </a:ext>
            </a:extLst>
          </p:cNvPr>
          <p:cNvCxnSpPr>
            <a:cxnSpLocks/>
          </p:cNvCxnSpPr>
          <p:nvPr/>
        </p:nvCxnSpPr>
        <p:spPr>
          <a:xfrm>
            <a:off x="3325817" y="8048125"/>
            <a:ext cx="2118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33" name="TextBox 1232">
            <a:extLst>
              <a:ext uri="{FF2B5EF4-FFF2-40B4-BE49-F238E27FC236}">
                <a16:creationId xmlns:a16="http://schemas.microsoft.com/office/drawing/2014/main" id="{AF7FBCDA-FD48-EA58-6AA5-36A261F6579E}"/>
              </a:ext>
            </a:extLst>
          </p:cNvPr>
          <p:cNvSpPr txBox="1"/>
          <p:nvPr/>
        </p:nvSpPr>
        <p:spPr>
          <a:xfrm>
            <a:off x="1137303" y="7536186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notebook/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2730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7633-00FB-FF60-F5AD-F5D5628A1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96D00008-0EEF-E989-618C-349861C0E323}"/>
              </a:ext>
            </a:extLst>
          </p:cNvPr>
          <p:cNvSpPr txBox="1"/>
          <p:nvPr/>
        </p:nvSpPr>
        <p:spPr>
          <a:xfrm>
            <a:off x="182880" y="5120640"/>
            <a:ext cx="4001355" cy="12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wraps the Tetrad Java API through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, exposing individual modules in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api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(data, score, algorithm, graph, knowledge, bootstrapping) that provide direct function level control over each step of the causal search pipeline.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expands on the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TetradSearch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API by breaking its single object, shared state pipeline into individual modules.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924" name="Folded Corner 5">
            <a:extLst>
              <a:ext uri="{FF2B5EF4-FFF2-40B4-BE49-F238E27FC236}">
                <a16:creationId xmlns:a16="http://schemas.microsoft.com/office/drawing/2014/main" id="{68184CD1-39E7-3E2B-F009-48E5E9ED22CD}"/>
              </a:ext>
            </a:extLst>
          </p:cNvPr>
          <p:cNvSpPr/>
          <p:nvPr/>
        </p:nvSpPr>
        <p:spPr>
          <a:xfrm rot="10800000" flipH="1">
            <a:off x="5199804" y="8322461"/>
            <a:ext cx="944261" cy="1140881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8F1FD27C-08E2-A025-0266-44F26627D255}"/>
              </a:ext>
            </a:extLst>
          </p:cNvPr>
          <p:cNvSpPr/>
          <p:nvPr/>
        </p:nvSpPr>
        <p:spPr>
          <a:xfrm>
            <a:off x="7718005" y="6528063"/>
            <a:ext cx="416903" cy="565648"/>
          </a:xfrm>
          <a:prstGeom prst="rect">
            <a:avLst/>
          </a:prstGeom>
          <a:solidFill>
            <a:srgbClr val="FFFFFF"/>
          </a:solidFill>
          <a:ln w="254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36" name="Image" descr="Image">
            <a:extLst>
              <a:ext uri="{FF2B5EF4-FFF2-40B4-BE49-F238E27FC236}">
                <a16:creationId xmlns:a16="http://schemas.microsoft.com/office/drawing/2014/main" id="{B1BCE18D-F23F-5613-34D3-7C1093C64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68" y="-661924"/>
            <a:ext cx="5598432" cy="2990088"/>
          </a:xfrm>
          <a:prstGeom prst="rect">
            <a:avLst/>
          </a:prstGeom>
          <a:ln w="12700">
            <a:miter lim="400000"/>
          </a:ln>
        </p:spPr>
      </p:pic>
      <p:sp>
        <p:nvSpPr>
          <p:cNvPr id="937" name="Line">
            <a:extLst>
              <a:ext uri="{FF2B5EF4-FFF2-40B4-BE49-F238E27FC236}">
                <a16:creationId xmlns:a16="http://schemas.microsoft.com/office/drawing/2014/main" id="{A5FAD42B-49B5-7A88-F90B-BFECD977114B}"/>
              </a:ext>
            </a:extLst>
          </p:cNvPr>
          <p:cNvSpPr/>
          <p:nvPr/>
        </p:nvSpPr>
        <p:spPr>
          <a:xfrm flipV="1">
            <a:off x="213255" y="10296246"/>
            <a:ext cx="13462982" cy="39499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38" name="YOUR LOGO…">
            <a:extLst>
              <a:ext uri="{FF2B5EF4-FFF2-40B4-BE49-F238E27FC236}">
                <a16:creationId xmlns:a16="http://schemas.microsoft.com/office/drawing/2014/main" id="{F837659E-5D9C-8318-3C66-699900B9F1EB}"/>
              </a:ext>
            </a:extLst>
          </p:cNvPr>
          <p:cNvSpPr/>
          <p:nvPr/>
        </p:nvSpPr>
        <p:spPr>
          <a:xfrm>
            <a:off x="170343" y="10207710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sz="2400" dirty="0"/>
              <a:t>Kumu</a:t>
            </a:r>
            <a:endParaRPr sz="2400" dirty="0"/>
          </a:p>
        </p:txBody>
      </p:sp>
      <p:sp>
        <p:nvSpPr>
          <p:cNvPr id="939" name="Three Column Layout: : CHEAT SHEET">
            <a:extLst>
              <a:ext uri="{FF2B5EF4-FFF2-40B4-BE49-F238E27FC236}">
                <a16:creationId xmlns:a16="http://schemas.microsoft.com/office/drawing/2014/main" id="{00782479-C2A2-72D9-A122-CF97C38C9093}"/>
              </a:ext>
            </a:extLst>
          </p:cNvPr>
          <p:cNvSpPr txBox="1">
            <a:spLocks/>
          </p:cNvSpPr>
          <p:nvPr/>
        </p:nvSpPr>
        <p:spPr>
          <a:xfrm>
            <a:off x="275721" y="361177"/>
            <a:ext cx="10898129" cy="803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1pPr>
            <a:lvl2pPr marL="0" marR="0" indent="228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2pPr>
            <a:lvl3pPr marL="0" marR="0" indent="457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3pPr>
            <a:lvl4pPr marL="0" marR="0" indent="685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4pPr>
            <a:lvl5pPr marL="0" marR="0" indent="9144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5pPr>
            <a:lvl6pPr marL="0" marR="0" indent="11430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6pPr>
            <a:lvl7pPr marL="0" marR="0" indent="1371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7pPr>
            <a:lvl8pPr marL="0" marR="0" indent="1600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8pPr>
            <a:lvl9pPr marL="0" marR="0" indent="1828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9pPr>
          </a:lstStyle>
          <a:p>
            <a:pPr hangingPunct="1"/>
            <a:r>
              <a:rPr lang="en-US"/>
              <a:t>Pykumu : : </a:t>
            </a:r>
            <a:r>
              <a:rPr lang="en-US"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941" name="Layout Suggestions">
            <a:extLst>
              <a:ext uri="{FF2B5EF4-FFF2-40B4-BE49-F238E27FC236}">
                <a16:creationId xmlns:a16="http://schemas.microsoft.com/office/drawing/2014/main" id="{2C26C42A-93DB-B26D-85F1-EB33D8602E56}"/>
              </a:ext>
            </a:extLst>
          </p:cNvPr>
          <p:cNvSpPr txBox="1"/>
          <p:nvPr/>
        </p:nvSpPr>
        <p:spPr>
          <a:xfrm>
            <a:off x="182880" y="1463040"/>
            <a:ext cx="262128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About</a:t>
            </a:r>
            <a:endParaRPr dirty="0"/>
          </a:p>
        </p:txBody>
      </p:sp>
      <p:sp>
        <p:nvSpPr>
          <p:cNvPr id="943" name="TextBox 942">
            <a:extLst>
              <a:ext uri="{FF2B5EF4-FFF2-40B4-BE49-F238E27FC236}">
                <a16:creationId xmlns:a16="http://schemas.microsoft.com/office/drawing/2014/main" id="{9AD1A44A-10CD-C7E4-8A3D-E1FE5420BCC3}"/>
              </a:ext>
            </a:extLst>
          </p:cNvPr>
          <p:cNvSpPr txBox="1"/>
          <p:nvPr/>
        </p:nvSpPr>
        <p:spPr>
          <a:xfrm>
            <a:off x="6080760" y="10327008"/>
            <a:ext cx="7747698" cy="500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1000" b="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1000" b="0" dirty="0">
                <a:solidFill>
                  <a:schemeClr val="tx1"/>
                </a:solidFill>
              </a:rPr>
              <a:t> Phuong Pham,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Carlos Paradis</a:t>
            </a:r>
            <a:r>
              <a:rPr lang="en-US" sz="1000" b="0" dirty="0">
                <a:solidFill>
                  <a:schemeClr val="tx1"/>
                </a:solidFill>
              </a:rPr>
              <a:t>, Adam Graham, Jared Seto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• Kai</a:t>
            </a:r>
            <a:r>
              <a:rPr kumimoji="0" lang="haw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ā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ulu package version 0.0.0.9700 (in development) •  Updated: 2026-04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4" name="Logistics">
            <a:extLst>
              <a:ext uri="{FF2B5EF4-FFF2-40B4-BE49-F238E27FC236}">
                <a16:creationId xmlns:a16="http://schemas.microsoft.com/office/drawing/2014/main" id="{43EAEA0F-4069-7771-7A24-FA95450F83BC}"/>
              </a:ext>
            </a:extLst>
          </p:cNvPr>
          <p:cNvSpPr txBox="1"/>
          <p:nvPr/>
        </p:nvSpPr>
        <p:spPr>
          <a:xfrm>
            <a:off x="9601200" y="146304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Data Input</a:t>
            </a:r>
          </a:p>
        </p:txBody>
      </p:sp>
      <p:sp>
        <p:nvSpPr>
          <p:cNvPr id="945" name="Logistics">
            <a:extLst>
              <a:ext uri="{FF2B5EF4-FFF2-40B4-BE49-F238E27FC236}">
                <a16:creationId xmlns:a16="http://schemas.microsoft.com/office/drawing/2014/main" id="{27773F2B-C1C9-C3F7-D245-376E733EEB0C}"/>
              </a:ext>
            </a:extLst>
          </p:cNvPr>
          <p:cNvSpPr txBox="1"/>
          <p:nvPr/>
        </p:nvSpPr>
        <p:spPr>
          <a:xfrm>
            <a:off x="182880" y="6675120"/>
            <a:ext cx="332142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Command Line Interface</a:t>
            </a:r>
          </a:p>
        </p:txBody>
      </p:sp>
      <p:sp>
        <p:nvSpPr>
          <p:cNvPr id="947" name="Basics">
            <a:extLst>
              <a:ext uri="{FF2B5EF4-FFF2-40B4-BE49-F238E27FC236}">
                <a16:creationId xmlns:a16="http://schemas.microsoft.com/office/drawing/2014/main" id="{E0657B03-2BC4-2D28-6044-216710005600}"/>
              </a:ext>
            </a:extLst>
          </p:cNvPr>
          <p:cNvSpPr txBox="1"/>
          <p:nvPr/>
        </p:nvSpPr>
        <p:spPr>
          <a:xfrm>
            <a:off x="182880" y="2834640"/>
            <a:ext cx="16991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lc="http://schemas.openxmlformats.org/drawingml/2006/lockedCanvas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 err="1"/>
              <a:t>Pykumu</a:t>
            </a:r>
            <a:r>
              <a:rPr lang="en-US" dirty="0"/>
              <a:t> API </a:t>
            </a:r>
            <a:endParaRPr dirty="0"/>
          </a:p>
        </p:txBody>
      </p:sp>
      <p:sp>
        <p:nvSpPr>
          <p:cNvPr id="948" name="Manipulate Variables">
            <a:extLst>
              <a:ext uri="{FF2B5EF4-FFF2-40B4-BE49-F238E27FC236}">
                <a16:creationId xmlns:a16="http://schemas.microsoft.com/office/drawing/2014/main" id="{B437EB7D-8D87-CC0A-83B2-551A29EE0874}"/>
              </a:ext>
            </a:extLst>
          </p:cNvPr>
          <p:cNvSpPr txBox="1"/>
          <p:nvPr/>
        </p:nvSpPr>
        <p:spPr>
          <a:xfrm>
            <a:off x="4754880" y="1463040"/>
            <a:ext cx="3414396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Analysis Workflow</a:t>
            </a:r>
          </a:p>
        </p:txBody>
      </p:sp>
      <p:graphicFrame>
        <p:nvGraphicFramePr>
          <p:cNvPr id="952" name="Table">
            <a:extLst>
              <a:ext uri="{FF2B5EF4-FFF2-40B4-BE49-F238E27FC236}">
                <a16:creationId xmlns:a16="http://schemas.microsoft.com/office/drawing/2014/main" id="{5188F494-CC90-AE1C-9B8A-6B11572C1FCE}"/>
              </a:ext>
            </a:extLst>
          </p:cNvPr>
          <p:cNvGraphicFramePr/>
          <p:nvPr/>
        </p:nvGraphicFramePr>
        <p:xfrm>
          <a:off x="7572970" y="1860776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3" name="Table">
            <a:extLst>
              <a:ext uri="{FF2B5EF4-FFF2-40B4-BE49-F238E27FC236}">
                <a16:creationId xmlns:a16="http://schemas.microsoft.com/office/drawing/2014/main" id="{EE983871-5CF0-A373-17A5-123BEC39D429}"/>
              </a:ext>
            </a:extLst>
          </p:cNvPr>
          <p:cNvGraphicFramePr/>
          <p:nvPr/>
        </p:nvGraphicFramePr>
        <p:xfrm>
          <a:off x="8061338" y="3158012"/>
          <a:ext cx="646626" cy="63799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07771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2262694748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819122332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296678260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322319369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17903980"/>
                    </a:ext>
                  </a:extLst>
                </a:gridCol>
              </a:tblGrid>
              <a:tr h="127598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4" name="Table">
            <a:extLst>
              <a:ext uri="{FF2B5EF4-FFF2-40B4-BE49-F238E27FC236}">
                <a16:creationId xmlns:a16="http://schemas.microsoft.com/office/drawing/2014/main" id="{A5083717-2FF9-D51B-8CC6-7F2DE8EAE604}"/>
              </a:ext>
            </a:extLst>
          </p:cNvPr>
          <p:cNvGraphicFramePr/>
          <p:nvPr/>
        </p:nvGraphicFramePr>
        <p:xfrm>
          <a:off x="57722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5" name="Table">
            <a:extLst>
              <a:ext uri="{FF2B5EF4-FFF2-40B4-BE49-F238E27FC236}">
                <a16:creationId xmlns:a16="http://schemas.microsoft.com/office/drawing/2014/main" id="{70261B65-9345-2C72-BB30-D0FF34D1651D}"/>
              </a:ext>
            </a:extLst>
          </p:cNvPr>
          <p:cNvGraphicFramePr/>
          <p:nvPr/>
        </p:nvGraphicFramePr>
        <p:xfrm>
          <a:off x="7118882" y="3162435"/>
          <a:ext cx="627864" cy="6400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933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102988"/>
                  </a:ext>
                </a:extLst>
              </a:tr>
            </a:tbl>
          </a:graphicData>
        </a:graphic>
      </p:graphicFrame>
      <p:graphicFrame>
        <p:nvGraphicFramePr>
          <p:cNvPr id="956" name="Table">
            <a:extLst>
              <a:ext uri="{FF2B5EF4-FFF2-40B4-BE49-F238E27FC236}">
                <a16:creationId xmlns:a16="http://schemas.microsoft.com/office/drawing/2014/main" id="{1EB8D741-1932-2060-FB60-E6FA3F6BCA16}"/>
              </a:ext>
            </a:extLst>
          </p:cNvPr>
          <p:cNvGraphicFramePr/>
          <p:nvPr/>
        </p:nvGraphicFramePr>
        <p:xfrm>
          <a:off x="53483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7" name="Plus Sign 956">
            <a:extLst>
              <a:ext uri="{FF2B5EF4-FFF2-40B4-BE49-F238E27FC236}">
                <a16:creationId xmlns:a16="http://schemas.microsoft.com/office/drawing/2014/main" id="{9AED2815-B595-8023-7BAA-37CA33146CA5}"/>
              </a:ext>
            </a:extLst>
          </p:cNvPr>
          <p:cNvSpPr/>
          <p:nvPr/>
        </p:nvSpPr>
        <p:spPr>
          <a:xfrm>
            <a:off x="5608866" y="3336992"/>
            <a:ext cx="118473" cy="124938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8" name="Plus Sign 957">
            <a:extLst>
              <a:ext uri="{FF2B5EF4-FFF2-40B4-BE49-F238E27FC236}">
                <a16:creationId xmlns:a16="http://schemas.microsoft.com/office/drawing/2014/main" id="{B956539A-C28E-9E30-1D75-0E38E63EFD8C}"/>
              </a:ext>
            </a:extLst>
          </p:cNvPr>
          <p:cNvSpPr/>
          <p:nvPr/>
        </p:nvSpPr>
        <p:spPr>
          <a:xfrm>
            <a:off x="7845219" y="3413769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9" name="Left Brace 958">
            <a:extLst>
              <a:ext uri="{FF2B5EF4-FFF2-40B4-BE49-F238E27FC236}">
                <a16:creationId xmlns:a16="http://schemas.microsoft.com/office/drawing/2014/main" id="{CA9C96B2-B945-B4CD-9972-171488A1F861}"/>
              </a:ext>
            </a:extLst>
          </p:cNvPr>
          <p:cNvSpPr/>
          <p:nvPr/>
        </p:nvSpPr>
        <p:spPr>
          <a:xfrm>
            <a:off x="7013808" y="3168613"/>
            <a:ext cx="45719" cy="623765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0" name="TextBox 959">
            <a:extLst>
              <a:ext uri="{FF2B5EF4-FFF2-40B4-BE49-F238E27FC236}">
                <a16:creationId xmlns:a16="http://schemas.microsoft.com/office/drawing/2014/main" id="{F5F83435-03BC-D353-427E-9A91D8143DA9}"/>
              </a:ext>
            </a:extLst>
          </p:cNvPr>
          <p:cNvSpPr txBox="1"/>
          <p:nvPr/>
        </p:nvSpPr>
        <p:spPr>
          <a:xfrm>
            <a:off x="6843820" y="3302155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1" name="Left Brace 960">
            <a:extLst>
              <a:ext uri="{FF2B5EF4-FFF2-40B4-BE49-F238E27FC236}">
                <a16:creationId xmlns:a16="http://schemas.microsoft.com/office/drawing/2014/main" id="{8C8FA81A-01D1-8FC8-C8A6-53E4DDD10479}"/>
              </a:ext>
            </a:extLst>
          </p:cNvPr>
          <p:cNvSpPr/>
          <p:nvPr/>
        </p:nvSpPr>
        <p:spPr>
          <a:xfrm rot="5400000">
            <a:off x="8355720" y="2751534"/>
            <a:ext cx="51104" cy="639868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6A010774-F0B7-1B61-C7AE-6CECBD2261F4}"/>
              </a:ext>
            </a:extLst>
          </p:cNvPr>
          <p:cNvSpPr txBox="1"/>
          <p:nvPr/>
        </p:nvSpPr>
        <p:spPr>
          <a:xfrm>
            <a:off x="8298111" y="2791232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3" name="TextBox 962">
            <a:extLst>
              <a:ext uri="{FF2B5EF4-FFF2-40B4-BE49-F238E27FC236}">
                <a16:creationId xmlns:a16="http://schemas.microsoft.com/office/drawing/2014/main" id="{16F808D4-59D7-383E-9C10-07A0DCA86EC5}"/>
              </a:ext>
            </a:extLst>
          </p:cNvPr>
          <p:cNvSpPr txBox="1"/>
          <p:nvPr/>
        </p:nvSpPr>
        <p:spPr>
          <a:xfrm>
            <a:off x="7059527" y="2904070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CVE_ID</a:t>
            </a:r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300F7B51-7376-F1F4-4F1F-BC913C2D29DE}"/>
              </a:ext>
            </a:extLst>
          </p:cNvPr>
          <p:cNvSpPr txBox="1"/>
          <p:nvPr/>
        </p:nvSpPr>
        <p:spPr>
          <a:xfrm>
            <a:off x="5375035" y="3638435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5" name="TextBox 964">
            <a:extLst>
              <a:ext uri="{FF2B5EF4-FFF2-40B4-BE49-F238E27FC236}">
                <a16:creationId xmlns:a16="http://schemas.microsoft.com/office/drawing/2014/main" id="{F27864B2-78F6-E6AD-4EF0-6D0C1CAFFF8A}"/>
              </a:ext>
            </a:extLst>
          </p:cNvPr>
          <p:cNvSpPr txBox="1"/>
          <p:nvPr/>
        </p:nvSpPr>
        <p:spPr>
          <a:xfrm>
            <a:off x="8265907" y="4958917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301E6824-C9A5-1738-50CC-3B245EACDD82}"/>
              </a:ext>
            </a:extLst>
          </p:cNvPr>
          <p:cNvSpPr txBox="1"/>
          <p:nvPr/>
        </p:nvSpPr>
        <p:spPr>
          <a:xfrm>
            <a:off x="7143372" y="3761779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dirty="0"/>
              <a:t>4. Indicator Features 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7" name="TextBox 966">
            <a:extLst>
              <a:ext uri="{FF2B5EF4-FFF2-40B4-BE49-F238E27FC236}">
                <a16:creationId xmlns:a16="http://schemas.microsoft.com/office/drawing/2014/main" id="{E4F3951D-8C22-3FA6-A151-1B8B12EA8894}"/>
              </a:ext>
            </a:extLst>
          </p:cNvPr>
          <p:cNvSpPr txBox="1"/>
          <p:nvPr/>
        </p:nvSpPr>
        <p:spPr>
          <a:xfrm>
            <a:off x="5218291" y="3762554"/>
            <a:ext cx="872964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/>
              <a:t>3. Time Lag</a:t>
            </a:r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1C824CAA-2EC4-7DB7-E3EB-80D8B2853FA1}"/>
              </a:ext>
            </a:extLst>
          </p:cNvPr>
          <p:cNvSpPr txBox="1"/>
          <p:nvPr/>
        </p:nvSpPr>
        <p:spPr>
          <a:xfrm>
            <a:off x="7464986" y="2450238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2. Dataset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69" name="Connector: Elbow 968">
            <a:extLst>
              <a:ext uri="{FF2B5EF4-FFF2-40B4-BE49-F238E27FC236}">
                <a16:creationId xmlns:a16="http://schemas.microsoft.com/office/drawing/2014/main" id="{D0A0E0ED-97D6-4CCD-BC9B-B44C44CBAD92}"/>
              </a:ext>
            </a:extLst>
          </p:cNvPr>
          <p:cNvCxnSpPr>
            <a:cxnSpLocks/>
            <a:endCxn id="995" idx="1"/>
          </p:cNvCxnSpPr>
          <p:nvPr/>
        </p:nvCxnSpPr>
        <p:spPr>
          <a:xfrm flipH="1">
            <a:off x="5209590" y="2279027"/>
            <a:ext cx="3498712" cy="1167195"/>
          </a:xfrm>
          <a:prstGeom prst="bentConnector5">
            <a:avLst>
              <a:gd name="adj1" fmla="val -9550"/>
              <a:gd name="adj2" fmla="val 50000"/>
              <a:gd name="adj3" fmla="val 112547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70" name="Rectangle 969">
            <a:extLst>
              <a:ext uri="{FF2B5EF4-FFF2-40B4-BE49-F238E27FC236}">
                <a16:creationId xmlns:a16="http://schemas.microsoft.com/office/drawing/2014/main" id="{04FC77A4-AAC4-ECE1-9F0D-F5B042EBF98E}"/>
              </a:ext>
            </a:extLst>
          </p:cNvPr>
          <p:cNvSpPr/>
          <p:nvPr/>
        </p:nvSpPr>
        <p:spPr>
          <a:xfrm>
            <a:off x="7370620" y="1800587"/>
            <a:ext cx="1443262" cy="996921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971" name="Table">
            <a:extLst>
              <a:ext uri="{FF2B5EF4-FFF2-40B4-BE49-F238E27FC236}">
                <a16:creationId xmlns:a16="http://schemas.microsoft.com/office/drawing/2014/main" id="{BBEC56F2-ACDD-90F1-5547-E08AE37F2FBA}"/>
              </a:ext>
            </a:extLst>
          </p:cNvPr>
          <p:cNvGraphicFramePr/>
          <p:nvPr/>
        </p:nvGraphicFramePr>
        <p:xfrm>
          <a:off x="5798497" y="4490104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72" name="Table">
            <a:extLst>
              <a:ext uri="{FF2B5EF4-FFF2-40B4-BE49-F238E27FC236}">
                <a16:creationId xmlns:a16="http://schemas.microsoft.com/office/drawing/2014/main" id="{9A39B57D-8E91-B001-0440-0498280E7E62}"/>
              </a:ext>
            </a:extLst>
          </p:cNvPr>
          <p:cNvGraphicFramePr/>
          <p:nvPr/>
        </p:nvGraphicFramePr>
        <p:xfrm>
          <a:off x="5305505" y="4499036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3" name="Plus Sign 972">
            <a:extLst>
              <a:ext uri="{FF2B5EF4-FFF2-40B4-BE49-F238E27FC236}">
                <a16:creationId xmlns:a16="http://schemas.microsoft.com/office/drawing/2014/main" id="{7BEA0C36-74B6-EA3F-B7F5-F4AADA6896B4}"/>
              </a:ext>
            </a:extLst>
          </p:cNvPr>
          <p:cNvSpPr/>
          <p:nvPr/>
        </p:nvSpPr>
        <p:spPr>
          <a:xfrm>
            <a:off x="5599687" y="4490104"/>
            <a:ext cx="12099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74" name="TextBox 973">
            <a:extLst>
              <a:ext uri="{FF2B5EF4-FFF2-40B4-BE49-F238E27FC236}">
                <a16:creationId xmlns:a16="http://schemas.microsoft.com/office/drawing/2014/main" id="{CD3A0808-3DED-7AC6-D376-ED59325CF4FB}"/>
              </a:ext>
            </a:extLst>
          </p:cNvPr>
          <p:cNvSpPr txBox="1"/>
          <p:nvPr/>
        </p:nvSpPr>
        <p:spPr>
          <a:xfrm>
            <a:off x="5103638" y="5067603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5. Null Features</a:t>
            </a:r>
          </a:p>
        </p:txBody>
      </p:sp>
      <p:cxnSp>
        <p:nvCxnSpPr>
          <p:cNvPr id="975" name="Straight Arrow Connector 974">
            <a:extLst>
              <a:ext uri="{FF2B5EF4-FFF2-40B4-BE49-F238E27FC236}">
                <a16:creationId xmlns:a16="http://schemas.microsoft.com/office/drawing/2014/main" id="{B8ACF384-08DB-393A-739D-43F0726E8321}"/>
              </a:ext>
            </a:extLst>
          </p:cNvPr>
          <p:cNvCxnSpPr>
            <a:cxnSpLocks/>
          </p:cNvCxnSpPr>
          <p:nvPr/>
        </p:nvCxnSpPr>
        <p:spPr>
          <a:xfrm>
            <a:off x="5512825" y="4664976"/>
            <a:ext cx="285672" cy="357737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6" name="Straight Arrow Connector 975">
            <a:extLst>
              <a:ext uri="{FF2B5EF4-FFF2-40B4-BE49-F238E27FC236}">
                <a16:creationId xmlns:a16="http://schemas.microsoft.com/office/drawing/2014/main" id="{25107531-414E-4474-C8FA-F514F35E5897}"/>
              </a:ext>
            </a:extLst>
          </p:cNvPr>
          <p:cNvCxnSpPr>
            <a:cxnSpLocks/>
          </p:cNvCxnSpPr>
          <p:nvPr/>
        </p:nvCxnSpPr>
        <p:spPr>
          <a:xfrm>
            <a:off x="5512825" y="4798565"/>
            <a:ext cx="285672" cy="11364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7" name="Straight Arrow Connector 976">
            <a:extLst>
              <a:ext uri="{FF2B5EF4-FFF2-40B4-BE49-F238E27FC236}">
                <a16:creationId xmlns:a16="http://schemas.microsoft.com/office/drawing/2014/main" id="{E559621A-4F1A-DF3C-3C30-12A2358BCEC5}"/>
              </a:ext>
            </a:extLst>
          </p:cNvPr>
          <p:cNvCxnSpPr>
            <a:cxnSpLocks/>
            <a:endCxn id="971" idx="1"/>
          </p:cNvCxnSpPr>
          <p:nvPr/>
        </p:nvCxnSpPr>
        <p:spPr>
          <a:xfrm flipV="1">
            <a:off x="5506921" y="4786981"/>
            <a:ext cx="291576" cy="12208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8" name="Straight Arrow Connector 977">
            <a:extLst>
              <a:ext uri="{FF2B5EF4-FFF2-40B4-BE49-F238E27FC236}">
                <a16:creationId xmlns:a16="http://schemas.microsoft.com/office/drawing/2014/main" id="{DB67DD00-D761-A5FB-D358-252AEC7689B8}"/>
              </a:ext>
            </a:extLst>
          </p:cNvPr>
          <p:cNvCxnSpPr>
            <a:cxnSpLocks/>
          </p:cNvCxnSpPr>
          <p:nvPr/>
        </p:nvCxnSpPr>
        <p:spPr>
          <a:xfrm flipV="1">
            <a:off x="5509148" y="4664976"/>
            <a:ext cx="289349" cy="36609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9" name="Connector: Elbow 978">
            <a:extLst>
              <a:ext uri="{FF2B5EF4-FFF2-40B4-BE49-F238E27FC236}">
                <a16:creationId xmlns:a16="http://schemas.microsoft.com/office/drawing/2014/main" id="{3124453D-51D7-F72A-810E-8EFC8727E030}"/>
              </a:ext>
            </a:extLst>
          </p:cNvPr>
          <p:cNvCxnSpPr>
            <a:cxnSpLocks/>
            <a:stCxn id="992" idx="3"/>
            <a:endCxn id="993" idx="1"/>
          </p:cNvCxnSpPr>
          <p:nvPr/>
        </p:nvCxnSpPr>
        <p:spPr>
          <a:xfrm flipH="1">
            <a:off x="5202130" y="3497252"/>
            <a:ext cx="3609346" cy="1247213"/>
          </a:xfrm>
          <a:prstGeom prst="bentConnector5">
            <a:avLst>
              <a:gd name="adj1" fmla="val -6334"/>
              <a:gd name="adj2" fmla="val 54130"/>
              <a:gd name="adj3" fmla="val 111841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0" name="TextBox 979">
            <a:extLst>
              <a:ext uri="{FF2B5EF4-FFF2-40B4-BE49-F238E27FC236}">
                <a16:creationId xmlns:a16="http://schemas.microsoft.com/office/drawing/2014/main" id="{BD098D4B-56DE-0F4D-BF74-6ADF9C5128F4}"/>
              </a:ext>
            </a:extLst>
          </p:cNvPr>
          <p:cNvSpPr txBox="1"/>
          <p:nvPr/>
        </p:nvSpPr>
        <p:spPr>
          <a:xfrm>
            <a:off x="5700184" y="4315800"/>
            <a:ext cx="481869" cy="2000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NV-ID</a:t>
            </a:r>
          </a:p>
        </p:txBody>
      </p:sp>
      <p:pic>
        <p:nvPicPr>
          <p:cNvPr id="981" name="Picture 980" descr="A picture containing text&#10;&#10;Description automatically generated">
            <a:extLst>
              <a:ext uri="{FF2B5EF4-FFF2-40B4-BE49-F238E27FC236}">
                <a16:creationId xmlns:a16="http://schemas.microsoft.com/office/drawing/2014/main" id="{76E94868-12F1-581C-0678-7AFE654078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501" y="1793256"/>
            <a:ext cx="575884" cy="668768"/>
          </a:xfrm>
          <a:prstGeom prst="rect">
            <a:avLst/>
          </a:prstGeom>
        </p:spPr>
      </p:pic>
      <p:sp>
        <p:nvSpPr>
          <p:cNvPr id="982" name="TextBox 981">
            <a:extLst>
              <a:ext uri="{FF2B5EF4-FFF2-40B4-BE49-F238E27FC236}">
                <a16:creationId xmlns:a16="http://schemas.microsoft.com/office/drawing/2014/main" id="{2EFB5CE0-B5A3-0F56-655A-1B6FED7713E7}"/>
              </a:ext>
            </a:extLst>
          </p:cNvPr>
          <p:cNvSpPr txBox="1"/>
          <p:nvPr/>
        </p:nvSpPr>
        <p:spPr>
          <a:xfrm>
            <a:off x="5004947" y="2423307"/>
            <a:ext cx="131138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1. </a:t>
            </a:r>
            <a:r>
              <a:rPr lang="en-US" dirty="0" err="1"/>
              <a:t>sailuh</a:t>
            </a:r>
            <a:r>
              <a:rPr lang="en-US" dirty="0"/>
              <a:t>/</a:t>
            </a:r>
            <a:r>
              <a:rPr lang="en-US" dirty="0" err="1"/>
              <a:t>kaiaulu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83" name="TextBox 982">
            <a:extLst>
              <a:ext uri="{FF2B5EF4-FFF2-40B4-BE49-F238E27FC236}">
                <a16:creationId xmlns:a16="http://schemas.microsoft.com/office/drawing/2014/main" id="{93CF2C26-112F-19DE-4DDC-41B98B3FE846}"/>
              </a:ext>
            </a:extLst>
          </p:cNvPr>
          <p:cNvSpPr txBox="1"/>
          <p:nvPr/>
        </p:nvSpPr>
        <p:spPr>
          <a:xfrm>
            <a:off x="7046974" y="7065060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7.2 Domain Knowledge</a:t>
            </a:r>
          </a:p>
        </p:txBody>
      </p:sp>
      <p:cxnSp>
        <p:nvCxnSpPr>
          <p:cNvPr id="984" name="Connector: Elbow 983">
            <a:extLst>
              <a:ext uri="{FF2B5EF4-FFF2-40B4-BE49-F238E27FC236}">
                <a16:creationId xmlns:a16="http://schemas.microsoft.com/office/drawing/2014/main" id="{EC080EDE-FB25-A1E8-FB82-D93F1A5458FA}"/>
              </a:ext>
            </a:extLst>
          </p:cNvPr>
          <p:cNvCxnSpPr>
            <a:cxnSpLocks/>
            <a:endCxn id="1102" idx="3"/>
          </p:cNvCxnSpPr>
          <p:nvPr/>
        </p:nvCxnSpPr>
        <p:spPr>
          <a:xfrm flipH="1">
            <a:off x="8451473" y="5231923"/>
            <a:ext cx="266193" cy="568100"/>
          </a:xfrm>
          <a:prstGeom prst="bentConnector3">
            <a:avLst>
              <a:gd name="adj1" fmla="val -12022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5" name="Connector: Elbow 984">
            <a:extLst>
              <a:ext uri="{FF2B5EF4-FFF2-40B4-BE49-F238E27FC236}">
                <a16:creationId xmlns:a16="http://schemas.microsoft.com/office/drawing/2014/main" id="{8DEB6B4D-9A5E-0F5B-D0F4-0077B6D8FDA0}"/>
              </a:ext>
            </a:extLst>
          </p:cNvPr>
          <p:cNvCxnSpPr>
            <a:cxnSpLocks/>
          </p:cNvCxnSpPr>
          <p:nvPr/>
        </p:nvCxnSpPr>
        <p:spPr>
          <a:xfrm rot="10800000">
            <a:off x="6191032" y="6088412"/>
            <a:ext cx="1339738" cy="753131"/>
          </a:xfrm>
          <a:prstGeom prst="bentConnector3">
            <a:avLst>
              <a:gd name="adj1" fmla="val 6433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6" name="Connector: Elbow 985">
            <a:extLst>
              <a:ext uri="{FF2B5EF4-FFF2-40B4-BE49-F238E27FC236}">
                <a16:creationId xmlns:a16="http://schemas.microsoft.com/office/drawing/2014/main" id="{0CA456A0-B1B8-5E2C-D570-3863D7D59AE2}"/>
              </a:ext>
            </a:extLst>
          </p:cNvPr>
          <p:cNvCxnSpPr>
            <a:cxnSpLocks/>
            <a:stCxn id="1103" idx="1"/>
          </p:cNvCxnSpPr>
          <p:nvPr/>
        </p:nvCxnSpPr>
        <p:spPr>
          <a:xfrm rot="10800000" flipV="1">
            <a:off x="6191031" y="5778057"/>
            <a:ext cx="1218821" cy="310351"/>
          </a:xfrm>
          <a:prstGeom prst="bentConnector3">
            <a:avLst>
              <a:gd name="adj1" fmla="val 61094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7" name="Connector: Elbow 986">
            <a:extLst>
              <a:ext uri="{FF2B5EF4-FFF2-40B4-BE49-F238E27FC236}">
                <a16:creationId xmlns:a16="http://schemas.microsoft.com/office/drawing/2014/main" id="{53C977B0-6DDA-B2E7-0E9F-D289167AA7CC}"/>
              </a:ext>
            </a:extLst>
          </p:cNvPr>
          <p:cNvCxnSpPr>
            <a:cxnSpLocks/>
            <a:stCxn id="997" idx="1"/>
          </p:cNvCxnSpPr>
          <p:nvPr/>
        </p:nvCxnSpPr>
        <p:spPr>
          <a:xfrm rot="10800000" flipV="1">
            <a:off x="6191031" y="3958395"/>
            <a:ext cx="868497" cy="2130014"/>
          </a:xfrm>
          <a:prstGeom prst="bentConnector3">
            <a:avLst>
              <a:gd name="adj1" fmla="val 44736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8" name="Connector: Elbow 987">
            <a:extLst>
              <a:ext uri="{FF2B5EF4-FFF2-40B4-BE49-F238E27FC236}">
                <a16:creationId xmlns:a16="http://schemas.microsoft.com/office/drawing/2014/main" id="{7E4CB73E-6B8B-4A7D-CDDB-3BC55AE82D0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146994" y="6098332"/>
            <a:ext cx="1516881" cy="1905124"/>
          </a:xfrm>
          <a:prstGeom prst="bentConnector4">
            <a:avLst>
              <a:gd name="adj1" fmla="val -25117"/>
              <a:gd name="adj2" fmla="val 73163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9" name="Straight Arrow Connector 988">
            <a:extLst>
              <a:ext uri="{FF2B5EF4-FFF2-40B4-BE49-F238E27FC236}">
                <a16:creationId xmlns:a16="http://schemas.microsoft.com/office/drawing/2014/main" id="{7F14737E-12B7-45E6-52CD-BBB997A6E493}"/>
              </a:ext>
            </a:extLst>
          </p:cNvPr>
          <p:cNvCxnSpPr>
            <a:cxnSpLocks/>
          </p:cNvCxnSpPr>
          <p:nvPr/>
        </p:nvCxnSpPr>
        <p:spPr>
          <a:xfrm>
            <a:off x="6463103" y="4734321"/>
            <a:ext cx="540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0" name="Straight Arrow Connector 989">
            <a:extLst>
              <a:ext uri="{FF2B5EF4-FFF2-40B4-BE49-F238E27FC236}">
                <a16:creationId xmlns:a16="http://schemas.microsoft.com/office/drawing/2014/main" id="{9311F4BA-59D4-73A1-32B0-1469CB45C6A3}"/>
              </a:ext>
            </a:extLst>
          </p:cNvPr>
          <p:cNvCxnSpPr>
            <a:cxnSpLocks/>
          </p:cNvCxnSpPr>
          <p:nvPr/>
        </p:nvCxnSpPr>
        <p:spPr>
          <a:xfrm>
            <a:off x="6578363" y="2180213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1" name="TextBox 990">
            <a:extLst>
              <a:ext uri="{FF2B5EF4-FFF2-40B4-BE49-F238E27FC236}">
                <a16:creationId xmlns:a16="http://schemas.microsoft.com/office/drawing/2014/main" id="{DD3C0D70-34CC-6A1E-717F-D3D6618FD3D3}"/>
              </a:ext>
            </a:extLst>
          </p:cNvPr>
          <p:cNvSpPr txBox="1"/>
          <p:nvPr/>
        </p:nvSpPr>
        <p:spPr>
          <a:xfrm>
            <a:off x="8573910" y="1854240"/>
            <a:ext cx="130496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2" name="TextBox 991">
            <a:extLst>
              <a:ext uri="{FF2B5EF4-FFF2-40B4-BE49-F238E27FC236}">
                <a16:creationId xmlns:a16="http://schemas.microsoft.com/office/drawing/2014/main" id="{B7DF2586-115D-9185-45AA-2C3D404BE116}"/>
              </a:ext>
            </a:extLst>
          </p:cNvPr>
          <p:cNvSpPr txBox="1"/>
          <p:nvPr/>
        </p:nvSpPr>
        <p:spPr>
          <a:xfrm>
            <a:off x="8701206" y="333699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3" name="TextBox 992">
            <a:extLst>
              <a:ext uri="{FF2B5EF4-FFF2-40B4-BE49-F238E27FC236}">
                <a16:creationId xmlns:a16="http://schemas.microsoft.com/office/drawing/2014/main" id="{7D2E09A1-39D0-1C29-8B00-11ED6C445D3C}"/>
              </a:ext>
            </a:extLst>
          </p:cNvPr>
          <p:cNvSpPr txBox="1"/>
          <p:nvPr/>
        </p:nvSpPr>
        <p:spPr>
          <a:xfrm>
            <a:off x="5202130" y="458420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197E0F0C-7DC5-4BB8-D4CB-01BAAD65736E}"/>
              </a:ext>
            </a:extLst>
          </p:cNvPr>
          <p:cNvCxnSpPr>
            <a:cxnSpLocks/>
          </p:cNvCxnSpPr>
          <p:nvPr/>
        </p:nvCxnSpPr>
        <p:spPr>
          <a:xfrm>
            <a:off x="6304400" y="3467696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5" name="TextBox 994">
            <a:extLst>
              <a:ext uri="{FF2B5EF4-FFF2-40B4-BE49-F238E27FC236}">
                <a16:creationId xmlns:a16="http://schemas.microsoft.com/office/drawing/2014/main" id="{78720A4A-DE98-5717-5045-4EF4AE54F4FE}"/>
              </a:ext>
            </a:extLst>
          </p:cNvPr>
          <p:cNvSpPr txBox="1"/>
          <p:nvPr/>
        </p:nvSpPr>
        <p:spPr>
          <a:xfrm>
            <a:off x="5209590" y="328596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6" name="TextBox 995">
            <a:extLst>
              <a:ext uri="{FF2B5EF4-FFF2-40B4-BE49-F238E27FC236}">
                <a16:creationId xmlns:a16="http://schemas.microsoft.com/office/drawing/2014/main" id="{F417A93B-6A2E-6BE7-AE0C-65EEACD78EB1}"/>
              </a:ext>
            </a:extLst>
          </p:cNvPr>
          <p:cNvSpPr txBox="1"/>
          <p:nvPr/>
        </p:nvSpPr>
        <p:spPr>
          <a:xfrm rot="5400000">
            <a:off x="7893098" y="3828354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7" name="TextBox 996">
            <a:extLst>
              <a:ext uri="{FF2B5EF4-FFF2-40B4-BE49-F238E27FC236}">
                <a16:creationId xmlns:a16="http://schemas.microsoft.com/office/drawing/2014/main" id="{7F59B1D7-C079-EE1A-E9D9-2F868447CDE2}"/>
              </a:ext>
            </a:extLst>
          </p:cNvPr>
          <p:cNvSpPr txBox="1"/>
          <p:nvPr/>
        </p:nvSpPr>
        <p:spPr>
          <a:xfrm>
            <a:off x="7059527" y="379813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8" name="TextBox 997">
            <a:extLst>
              <a:ext uri="{FF2B5EF4-FFF2-40B4-BE49-F238E27FC236}">
                <a16:creationId xmlns:a16="http://schemas.microsoft.com/office/drawing/2014/main" id="{5DE3CA7E-5095-227D-780B-9F2F25913842}"/>
              </a:ext>
            </a:extLst>
          </p:cNvPr>
          <p:cNvSpPr txBox="1"/>
          <p:nvPr/>
        </p:nvSpPr>
        <p:spPr>
          <a:xfrm rot="5400000">
            <a:off x="6616888" y="7825672"/>
            <a:ext cx="97008" cy="231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99" name="Graphic 998" descr="Cmd Terminal with solid fill">
            <a:extLst>
              <a:ext uri="{FF2B5EF4-FFF2-40B4-BE49-F238E27FC236}">
                <a16:creationId xmlns:a16="http://schemas.microsoft.com/office/drawing/2014/main" id="{656175C6-12B1-3965-3DB5-FF22729161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761" y="8507313"/>
            <a:ext cx="451448" cy="455550"/>
          </a:xfrm>
          <a:prstGeom prst="rect">
            <a:avLst/>
          </a:prstGeom>
        </p:spPr>
      </p:pic>
      <p:pic>
        <p:nvPicPr>
          <p:cNvPr id="1000" name="Graphic 999" descr="Paper outline">
            <a:extLst>
              <a:ext uri="{FF2B5EF4-FFF2-40B4-BE49-F238E27FC236}">
                <a16:creationId xmlns:a16="http://schemas.microsoft.com/office/drawing/2014/main" id="{E8519A8C-DBA7-3A3F-BAD7-1B6791BD73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7882" y="7907026"/>
            <a:ext cx="261597" cy="261597"/>
          </a:xfrm>
          <a:prstGeom prst="rect">
            <a:avLst/>
          </a:prstGeom>
        </p:spPr>
      </p:pic>
      <p:sp>
        <p:nvSpPr>
          <p:cNvPr id="1001" name="TextBox 1000">
            <a:extLst>
              <a:ext uri="{FF2B5EF4-FFF2-40B4-BE49-F238E27FC236}">
                <a16:creationId xmlns:a16="http://schemas.microsoft.com/office/drawing/2014/main" id="{269FA1C6-3ABB-7EDB-63FF-ECABD791D46F}"/>
              </a:ext>
            </a:extLst>
          </p:cNvPr>
          <p:cNvSpPr txBox="1"/>
          <p:nvPr/>
        </p:nvSpPr>
        <p:spPr>
          <a:xfrm>
            <a:off x="1933340" y="7711753"/>
            <a:ext cx="687081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API</a:t>
            </a:r>
          </a:p>
        </p:txBody>
      </p:sp>
      <p:pic>
        <p:nvPicPr>
          <p:cNvPr id="1002" name="Graphic 1001" descr="Paper outline">
            <a:extLst>
              <a:ext uri="{FF2B5EF4-FFF2-40B4-BE49-F238E27FC236}">
                <a16:creationId xmlns:a16="http://schemas.microsoft.com/office/drawing/2014/main" id="{1D6B6207-DB2E-7A9D-0EC5-19AFDA0361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2978" y="8472819"/>
            <a:ext cx="527267" cy="527267"/>
          </a:xfrm>
          <a:prstGeom prst="rect">
            <a:avLst/>
          </a:prstGeom>
        </p:spPr>
      </p:pic>
      <p:sp>
        <p:nvSpPr>
          <p:cNvPr id="1003" name="TextBox 1002">
            <a:extLst>
              <a:ext uri="{FF2B5EF4-FFF2-40B4-BE49-F238E27FC236}">
                <a16:creationId xmlns:a16="http://schemas.microsoft.com/office/drawing/2014/main" id="{6C4FBF4B-EABD-5C9E-1537-1C88AF516BB5}"/>
              </a:ext>
            </a:extLst>
          </p:cNvPr>
          <p:cNvSpPr txBox="1"/>
          <p:nvPr/>
        </p:nvSpPr>
        <p:spPr>
          <a:xfrm>
            <a:off x="1509263" y="8904797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exec/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4441FA7B-F47F-D365-3442-7678BB9C981B}"/>
              </a:ext>
            </a:extLst>
          </p:cNvPr>
          <p:cNvSpPr/>
          <p:nvPr/>
        </p:nvSpPr>
        <p:spPr>
          <a:xfrm>
            <a:off x="185141" y="7885351"/>
            <a:ext cx="710936" cy="20869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&lt;</a:t>
            </a: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File_paths</a:t>
            </a: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&gt;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09" name="Straight Arrow Connector 1008">
            <a:extLst>
              <a:ext uri="{FF2B5EF4-FFF2-40B4-BE49-F238E27FC236}">
                <a16:creationId xmlns:a16="http://schemas.microsoft.com/office/drawing/2014/main" id="{0E9E0F5B-BD81-03AC-AA05-D65CBD26354A}"/>
              </a:ext>
            </a:extLst>
          </p:cNvPr>
          <p:cNvCxnSpPr>
            <a:cxnSpLocks/>
          </p:cNvCxnSpPr>
          <p:nvPr/>
        </p:nvCxnSpPr>
        <p:spPr>
          <a:xfrm>
            <a:off x="1292611" y="8729259"/>
            <a:ext cx="164486" cy="719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10" name="Straight Arrow Connector 1009">
            <a:extLst>
              <a:ext uri="{FF2B5EF4-FFF2-40B4-BE49-F238E27FC236}">
                <a16:creationId xmlns:a16="http://schemas.microsoft.com/office/drawing/2014/main" id="{22D84394-9951-4EDD-C3E9-7C24806CEDC4}"/>
              </a:ext>
            </a:extLst>
          </p:cNvPr>
          <p:cNvCxnSpPr>
            <a:cxnSpLocks/>
          </p:cNvCxnSpPr>
          <p:nvPr/>
        </p:nvCxnSpPr>
        <p:spPr>
          <a:xfrm>
            <a:off x="540609" y="8202553"/>
            <a:ext cx="251152" cy="274997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99EAAF48-0768-CAB5-415E-ED449E68AFF6}"/>
              </a:ext>
            </a:extLst>
          </p:cNvPr>
          <p:cNvSpPr txBox="1"/>
          <p:nvPr/>
        </p:nvSpPr>
        <p:spPr>
          <a:xfrm>
            <a:off x="182880" y="932688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Exec scripts provides command line access to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Pykumu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API package, allowing its causal analysis capabilities to be accessed via the terminal or server side without writing Python code. 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1019" name="TextBox 1018">
            <a:extLst>
              <a:ext uri="{FF2B5EF4-FFF2-40B4-BE49-F238E27FC236}">
                <a16:creationId xmlns:a16="http://schemas.microsoft.com/office/drawing/2014/main" id="{46A3E398-6343-93DE-D848-E30C7B8C910A}"/>
              </a:ext>
            </a:extLst>
          </p:cNvPr>
          <p:cNvSpPr txBox="1"/>
          <p:nvPr/>
        </p:nvSpPr>
        <p:spPr>
          <a:xfrm>
            <a:off x="232303" y="393741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>
                <a:solidFill>
                  <a:schemeClr val="bg2">
                    <a:lumMod val="10000"/>
                  </a:schemeClr>
                </a:solidFill>
              </a:rPr>
              <a:t>Tetrad Java API</a:t>
            </a:r>
          </a:p>
        </p:txBody>
      </p:sp>
      <p:pic>
        <p:nvPicPr>
          <p:cNvPr id="1020" name="Graphic 1019" descr="Paper outline">
            <a:extLst>
              <a:ext uri="{FF2B5EF4-FFF2-40B4-BE49-F238E27FC236}">
                <a16:creationId xmlns:a16="http://schemas.microsoft.com/office/drawing/2014/main" id="{5897B3F0-EC81-D8B8-B768-B3E266339E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0954" y="4265041"/>
            <a:ext cx="527267" cy="527267"/>
          </a:xfrm>
          <a:prstGeom prst="rect">
            <a:avLst/>
          </a:prstGeom>
        </p:spPr>
      </p:pic>
      <p:cxnSp>
        <p:nvCxnSpPr>
          <p:cNvPr id="1023" name="Straight Arrow Connector 1022">
            <a:extLst>
              <a:ext uri="{FF2B5EF4-FFF2-40B4-BE49-F238E27FC236}">
                <a16:creationId xmlns:a16="http://schemas.microsoft.com/office/drawing/2014/main" id="{DC1DEEB7-B3DB-168D-3F7A-301CA05AD956}"/>
              </a:ext>
            </a:extLst>
          </p:cNvPr>
          <p:cNvCxnSpPr>
            <a:cxnSpLocks/>
          </p:cNvCxnSpPr>
          <p:nvPr/>
        </p:nvCxnSpPr>
        <p:spPr>
          <a:xfrm>
            <a:off x="1028993" y="3837479"/>
            <a:ext cx="9092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BEF16C03-7FEC-3918-DB20-A1E62930586D}"/>
              </a:ext>
            </a:extLst>
          </p:cNvPr>
          <p:cNvCxnSpPr>
            <a:cxnSpLocks/>
          </p:cNvCxnSpPr>
          <p:nvPr/>
        </p:nvCxnSpPr>
        <p:spPr>
          <a:xfrm>
            <a:off x="1023055" y="3972100"/>
            <a:ext cx="340872" cy="391832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738227A4-A21B-8234-AE93-D973CB590947}"/>
              </a:ext>
            </a:extLst>
          </p:cNvPr>
          <p:cNvSpPr txBox="1"/>
          <p:nvPr/>
        </p:nvSpPr>
        <p:spPr>
          <a:xfrm>
            <a:off x="815127" y="4126651"/>
            <a:ext cx="536637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17CA5455-956A-8863-A1E0-90DC8736EC37}"/>
              </a:ext>
            </a:extLst>
          </p:cNvPr>
          <p:cNvSpPr txBox="1"/>
          <p:nvPr/>
        </p:nvSpPr>
        <p:spPr>
          <a:xfrm>
            <a:off x="1510648" y="4422940"/>
            <a:ext cx="371960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" b="0" dirty="0" err="1">
                <a:solidFill>
                  <a:schemeClr val="tx1">
                    <a:lumMod val="50000"/>
                  </a:schemeClr>
                </a:solidFill>
              </a:rPr>
              <a:t>TetradSearch</a:t>
            </a:r>
            <a:r>
              <a:rPr lang="en-US" sz="300" b="0" dirty="0">
                <a:solidFill>
                  <a:schemeClr val="tx1">
                    <a:lumMod val="50000"/>
                  </a:schemeClr>
                </a:solidFill>
              </a:rPr>
              <a:t> Class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39586EAB-39F9-84D5-6A00-F286388976BE}"/>
              </a:ext>
            </a:extLst>
          </p:cNvPr>
          <p:cNvSpPr txBox="1"/>
          <p:nvPr/>
        </p:nvSpPr>
        <p:spPr>
          <a:xfrm>
            <a:off x="2385334" y="3867687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 API</a:t>
            </a:r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90C1F878-7635-C3E4-54FD-051F283B6F86}"/>
              </a:ext>
            </a:extLst>
          </p:cNvPr>
          <p:cNvCxnSpPr>
            <a:cxnSpLocks/>
          </p:cNvCxnSpPr>
          <p:nvPr/>
        </p:nvCxnSpPr>
        <p:spPr>
          <a:xfrm flipV="1">
            <a:off x="1979305" y="4126651"/>
            <a:ext cx="450843" cy="239726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41" name="Folded Corner 3">
            <a:extLst>
              <a:ext uri="{FF2B5EF4-FFF2-40B4-BE49-F238E27FC236}">
                <a16:creationId xmlns:a16="http://schemas.microsoft.com/office/drawing/2014/main" id="{A197D1CB-1E7E-A187-8248-374D62BE2349}"/>
              </a:ext>
            </a:extLst>
          </p:cNvPr>
          <p:cNvSpPr/>
          <p:nvPr/>
        </p:nvSpPr>
        <p:spPr>
          <a:xfrm rot="10800000" flipH="1">
            <a:off x="2129004" y="337722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2" name="Folded Corner 4">
            <a:extLst>
              <a:ext uri="{FF2B5EF4-FFF2-40B4-BE49-F238E27FC236}">
                <a16:creationId xmlns:a16="http://schemas.microsoft.com/office/drawing/2014/main" id="{D76D2B57-50CE-6CD3-E271-F79B7D31E2C6}"/>
              </a:ext>
            </a:extLst>
          </p:cNvPr>
          <p:cNvSpPr/>
          <p:nvPr/>
        </p:nvSpPr>
        <p:spPr>
          <a:xfrm rot="10800000" flipH="1">
            <a:off x="2095922" y="3405690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3" name="Folded Corner 5">
            <a:extLst>
              <a:ext uri="{FF2B5EF4-FFF2-40B4-BE49-F238E27FC236}">
                <a16:creationId xmlns:a16="http://schemas.microsoft.com/office/drawing/2014/main" id="{7F2D3B1E-E480-5D85-B719-84BE910C6E8D}"/>
              </a:ext>
            </a:extLst>
          </p:cNvPr>
          <p:cNvSpPr/>
          <p:nvPr/>
        </p:nvSpPr>
        <p:spPr>
          <a:xfrm rot="10800000" flipH="1">
            <a:off x="2055485" y="343946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F0372E63-EC55-1D89-5D5A-4D9380FFB8BB}"/>
              </a:ext>
            </a:extLst>
          </p:cNvPr>
          <p:cNvSpPr txBox="1"/>
          <p:nvPr/>
        </p:nvSpPr>
        <p:spPr>
          <a:xfrm>
            <a:off x="2026720" y="358624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tetrad.py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DF08D777-FF89-D968-6BE5-1230BA961C51}"/>
              </a:ext>
            </a:extLst>
          </p:cNvPr>
          <p:cNvSpPr txBox="1"/>
          <p:nvPr/>
        </p:nvSpPr>
        <p:spPr>
          <a:xfrm>
            <a:off x="1285591" y="470218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TetradSearch.py</a:t>
            </a:r>
          </a:p>
        </p:txBody>
      </p: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36618311-759A-0E1A-1BE7-A8488B65620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6384" y="118872"/>
            <a:ext cx="1444661" cy="1673352"/>
          </a:xfrm>
          <a:prstGeom prst="rect">
            <a:avLst/>
          </a:prstGeom>
        </p:spPr>
      </p:pic>
      <p:sp>
        <p:nvSpPr>
          <p:cNvPr id="1065" name="TextBox 1064">
            <a:extLst>
              <a:ext uri="{FF2B5EF4-FFF2-40B4-BE49-F238E27FC236}">
                <a16:creationId xmlns:a16="http://schemas.microsoft.com/office/drawing/2014/main" id="{2BC3E341-EAD2-9726-3D7A-EDE50C13F7F2}"/>
              </a:ext>
            </a:extLst>
          </p:cNvPr>
          <p:cNvSpPr txBox="1"/>
          <p:nvPr/>
        </p:nvSpPr>
        <p:spPr>
          <a:xfrm>
            <a:off x="7318302" y="5055976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6. Causal Search</a:t>
            </a:r>
          </a:p>
        </p:txBody>
      </p:sp>
      <p:graphicFrame>
        <p:nvGraphicFramePr>
          <p:cNvPr id="1066" name="Table">
            <a:extLst>
              <a:ext uri="{FF2B5EF4-FFF2-40B4-BE49-F238E27FC236}">
                <a16:creationId xmlns:a16="http://schemas.microsoft.com/office/drawing/2014/main" id="{5017CC94-AD74-32FF-17E9-1CD3948CD7F0}"/>
              </a:ext>
            </a:extLst>
          </p:cNvPr>
          <p:cNvGraphicFramePr/>
          <p:nvPr/>
        </p:nvGraphicFramePr>
        <p:xfrm>
          <a:off x="8297833" y="443547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67" name="Table">
            <a:extLst>
              <a:ext uri="{FF2B5EF4-FFF2-40B4-BE49-F238E27FC236}">
                <a16:creationId xmlns:a16="http://schemas.microsoft.com/office/drawing/2014/main" id="{66A86391-B7F6-0868-57E5-4EB236659356}"/>
              </a:ext>
            </a:extLst>
          </p:cNvPr>
          <p:cNvGraphicFramePr/>
          <p:nvPr/>
        </p:nvGraphicFramePr>
        <p:xfrm>
          <a:off x="7722129" y="443293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68" name="Arrow: Right 1067">
            <a:extLst>
              <a:ext uri="{FF2B5EF4-FFF2-40B4-BE49-F238E27FC236}">
                <a16:creationId xmlns:a16="http://schemas.microsoft.com/office/drawing/2014/main" id="{A7981F60-10C0-D23A-0EFC-1BCFFE6C0BFC}"/>
              </a:ext>
            </a:extLst>
          </p:cNvPr>
          <p:cNvSpPr/>
          <p:nvPr/>
        </p:nvSpPr>
        <p:spPr>
          <a:xfrm>
            <a:off x="8027045" y="4694321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069" name="Table">
            <a:extLst>
              <a:ext uri="{FF2B5EF4-FFF2-40B4-BE49-F238E27FC236}">
                <a16:creationId xmlns:a16="http://schemas.microsoft.com/office/drawing/2014/main" id="{0846EAB6-DF65-ADD7-98CA-4957DFEB756C}"/>
              </a:ext>
            </a:extLst>
          </p:cNvPr>
          <p:cNvGraphicFramePr/>
          <p:nvPr/>
        </p:nvGraphicFramePr>
        <p:xfrm>
          <a:off x="7343385" y="4435227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0" name="Plus Sign 1069">
            <a:extLst>
              <a:ext uri="{FF2B5EF4-FFF2-40B4-BE49-F238E27FC236}">
                <a16:creationId xmlns:a16="http://schemas.microsoft.com/office/drawing/2014/main" id="{0DA4D59C-38AB-3B83-5015-64027C054CB7}"/>
              </a:ext>
            </a:extLst>
          </p:cNvPr>
          <p:cNvSpPr/>
          <p:nvPr/>
        </p:nvSpPr>
        <p:spPr>
          <a:xfrm>
            <a:off x="7572970" y="4672577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7D626621-4204-81C6-F4AC-E08F09FDE781}"/>
              </a:ext>
            </a:extLst>
          </p:cNvPr>
          <p:cNvSpPr txBox="1"/>
          <p:nvPr/>
        </p:nvSpPr>
        <p:spPr>
          <a:xfrm>
            <a:off x="7370545" y="4957546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C40288F6-7924-E17E-1C63-1C4BB51BA0AF}"/>
              </a:ext>
            </a:extLst>
          </p:cNvPr>
          <p:cNvSpPr txBox="1"/>
          <p:nvPr/>
        </p:nvSpPr>
        <p:spPr>
          <a:xfrm>
            <a:off x="7632893" y="4956657"/>
            <a:ext cx="424651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Ind. </a:t>
            </a: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Ftr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FFD0BB2F-DF5C-91EE-F007-E1FC76E1A184}"/>
              </a:ext>
            </a:extLst>
          </p:cNvPr>
          <p:cNvSpPr txBox="1"/>
          <p:nvPr/>
        </p:nvSpPr>
        <p:spPr>
          <a:xfrm>
            <a:off x="7948233" y="4515228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E15DC97C-B8E4-E928-CC92-69F158DFD246}"/>
              </a:ext>
            </a:extLst>
          </p:cNvPr>
          <p:cNvSpPr txBox="1"/>
          <p:nvPr/>
        </p:nvSpPr>
        <p:spPr>
          <a:xfrm>
            <a:off x="7194148" y="5974847"/>
            <a:ext cx="1619559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7.1 1-PNEF Threshold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93CBD9FE-4B6D-3750-1427-1B829E205662}"/>
              </a:ext>
            </a:extLst>
          </p:cNvPr>
          <p:cNvSpPr txBox="1"/>
          <p:nvPr/>
        </p:nvSpPr>
        <p:spPr>
          <a:xfrm>
            <a:off x="5731442" y="3637622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AD083676-DDD5-07FC-AD46-178FCD34C309}"/>
              </a:ext>
            </a:extLst>
          </p:cNvPr>
          <p:cNvSpPr txBox="1"/>
          <p:nvPr/>
        </p:nvSpPr>
        <p:spPr>
          <a:xfrm>
            <a:off x="4766552" y="6486513"/>
            <a:ext cx="1831781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8. Domain Knowledge Causal Search</a:t>
            </a:r>
          </a:p>
        </p:txBody>
      </p:sp>
      <p:graphicFrame>
        <p:nvGraphicFramePr>
          <p:cNvPr id="1077" name="Table">
            <a:extLst>
              <a:ext uri="{FF2B5EF4-FFF2-40B4-BE49-F238E27FC236}">
                <a16:creationId xmlns:a16="http://schemas.microsoft.com/office/drawing/2014/main" id="{DB9CECB5-B3DD-61CB-4424-8DF9FA2BEE16}"/>
              </a:ext>
            </a:extLst>
          </p:cNvPr>
          <p:cNvGraphicFramePr/>
          <p:nvPr/>
        </p:nvGraphicFramePr>
        <p:xfrm>
          <a:off x="5269967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78" name="Table">
            <a:extLst>
              <a:ext uri="{FF2B5EF4-FFF2-40B4-BE49-F238E27FC236}">
                <a16:creationId xmlns:a16="http://schemas.microsoft.com/office/drawing/2014/main" id="{153AFD5C-3D09-364C-F404-4CF31A2DF89D}"/>
              </a:ext>
            </a:extLst>
          </p:cNvPr>
          <p:cNvGraphicFramePr/>
          <p:nvPr/>
        </p:nvGraphicFramePr>
        <p:xfrm>
          <a:off x="5828244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9" name="TextBox 1078">
            <a:extLst>
              <a:ext uri="{FF2B5EF4-FFF2-40B4-BE49-F238E27FC236}">
                <a16:creationId xmlns:a16="http://schemas.microsoft.com/office/drawing/2014/main" id="{9043D524-62A0-EF23-755A-AC0C1EFDE03B}"/>
              </a:ext>
            </a:extLst>
          </p:cNvPr>
          <p:cNvSpPr txBox="1"/>
          <p:nvPr/>
        </p:nvSpPr>
        <p:spPr>
          <a:xfrm>
            <a:off x="5856148" y="6329618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3E076F53-1C61-EB91-53A9-B0CC488DA687}"/>
              </a:ext>
            </a:extLst>
          </p:cNvPr>
          <p:cNvSpPr txBox="1"/>
          <p:nvPr/>
        </p:nvSpPr>
        <p:spPr>
          <a:xfrm>
            <a:off x="5242857" y="6333739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81" name="Arrow: Right 1080">
            <a:extLst>
              <a:ext uri="{FF2B5EF4-FFF2-40B4-BE49-F238E27FC236}">
                <a16:creationId xmlns:a16="http://schemas.microsoft.com/office/drawing/2014/main" id="{7A79280A-3B7B-23A3-E8FE-F08B2C86BF27}"/>
              </a:ext>
            </a:extLst>
          </p:cNvPr>
          <p:cNvSpPr/>
          <p:nvPr/>
        </p:nvSpPr>
        <p:spPr>
          <a:xfrm rot="10800000">
            <a:off x="5552507" y="6049867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95A066E3-4B8F-FE0D-905D-29A25280C310}"/>
              </a:ext>
            </a:extLst>
          </p:cNvPr>
          <p:cNvSpPr txBox="1"/>
          <p:nvPr/>
        </p:nvSpPr>
        <p:spPr>
          <a:xfrm>
            <a:off x="5490560" y="5860025"/>
            <a:ext cx="339664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23A8B9BF-D61F-3387-D9A4-7EC0A94E8E88}"/>
              </a:ext>
            </a:extLst>
          </p:cNvPr>
          <p:cNvSpPr/>
          <p:nvPr/>
        </p:nvSpPr>
        <p:spPr>
          <a:xfrm>
            <a:off x="8040579" y="5752125"/>
            <a:ext cx="206996" cy="6210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48DC6E83-2B8A-3039-940C-AE1B78926AB2}"/>
              </a:ext>
            </a:extLst>
          </p:cNvPr>
          <p:cNvCxnSpPr>
            <a:cxnSpLocks/>
          </p:cNvCxnSpPr>
          <p:nvPr/>
        </p:nvCxnSpPr>
        <p:spPr>
          <a:xfrm>
            <a:off x="8010337" y="5687156"/>
            <a:ext cx="0" cy="188119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48E0B4EE-D41E-8CC6-C166-D637919A2F42}"/>
              </a:ext>
            </a:extLst>
          </p:cNvPr>
          <p:cNvCxnSpPr>
            <a:cxnSpLocks/>
          </p:cNvCxnSpPr>
          <p:nvPr/>
        </p:nvCxnSpPr>
        <p:spPr>
          <a:xfrm flipH="1">
            <a:off x="7599385" y="5778796"/>
            <a:ext cx="375263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86" name="TextBox 1085">
            <a:extLst>
              <a:ext uri="{FF2B5EF4-FFF2-40B4-BE49-F238E27FC236}">
                <a16:creationId xmlns:a16="http://schemas.microsoft.com/office/drawing/2014/main" id="{3110F87A-A923-5BA0-65BD-8CF58C79141F}"/>
              </a:ext>
            </a:extLst>
          </p:cNvPr>
          <p:cNvSpPr txBox="1"/>
          <p:nvPr/>
        </p:nvSpPr>
        <p:spPr>
          <a:xfrm>
            <a:off x="7544037" y="5812123"/>
            <a:ext cx="941475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n.edges</a:t>
            </a: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&lt; x</a:t>
            </a:r>
            <a:r>
              <a:rPr lang="en-US" sz="700" dirty="0"/>
              <a:t>%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5F4B0DF8-1AF2-330B-6C3D-A225FB632D1B}"/>
              </a:ext>
            </a:extLst>
          </p:cNvPr>
          <p:cNvSpPr/>
          <p:nvPr/>
        </p:nvSpPr>
        <p:spPr>
          <a:xfrm>
            <a:off x="7747498" y="6647124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58B9EAB1-AD84-E91D-27B3-6BD67F31FD7D}"/>
              </a:ext>
            </a:extLst>
          </p:cNvPr>
          <p:cNvSpPr/>
          <p:nvPr/>
        </p:nvSpPr>
        <p:spPr>
          <a:xfrm>
            <a:off x="7766196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DFD5C617-DCB3-DC4C-D2AF-F9D5CE142D4E}"/>
              </a:ext>
            </a:extLst>
          </p:cNvPr>
          <p:cNvSpPr/>
          <p:nvPr/>
        </p:nvSpPr>
        <p:spPr>
          <a:xfrm>
            <a:off x="7882271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A7F9AA49-F7EF-C637-D782-B822AE9FF96F}"/>
              </a:ext>
            </a:extLst>
          </p:cNvPr>
          <p:cNvSpPr/>
          <p:nvPr/>
        </p:nvSpPr>
        <p:spPr>
          <a:xfrm>
            <a:off x="8006330" y="6675665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90CF7E3D-BD74-CFA2-01D8-AA60CF7CA47E}"/>
              </a:ext>
            </a:extLst>
          </p:cNvPr>
          <p:cNvSpPr txBox="1"/>
          <p:nvPr/>
        </p:nvSpPr>
        <p:spPr>
          <a:xfrm>
            <a:off x="7709321" y="6508461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1</a:t>
            </a: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490EE634-0524-8C24-34E1-01BC1477DEC7}"/>
              </a:ext>
            </a:extLst>
          </p:cNvPr>
          <p:cNvSpPr/>
          <p:nvPr/>
        </p:nvSpPr>
        <p:spPr>
          <a:xfrm>
            <a:off x="7745715" y="680360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E66424FF-249E-BC54-17C3-FFE4474D5358}"/>
              </a:ext>
            </a:extLst>
          </p:cNvPr>
          <p:cNvSpPr/>
          <p:nvPr/>
        </p:nvSpPr>
        <p:spPr>
          <a:xfrm>
            <a:off x="7764413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1DC5168B-372C-021D-FF50-A09F12D87C67}"/>
              </a:ext>
            </a:extLst>
          </p:cNvPr>
          <p:cNvSpPr/>
          <p:nvPr/>
        </p:nvSpPr>
        <p:spPr>
          <a:xfrm>
            <a:off x="7880488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B362CF93-F346-CFBE-D39F-3F83560BFB20}"/>
              </a:ext>
            </a:extLst>
          </p:cNvPr>
          <p:cNvSpPr/>
          <p:nvPr/>
        </p:nvSpPr>
        <p:spPr>
          <a:xfrm>
            <a:off x="8004547" y="683215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2D206046-BF54-1FA8-51A8-17A707E0C8E1}"/>
              </a:ext>
            </a:extLst>
          </p:cNvPr>
          <p:cNvSpPr txBox="1"/>
          <p:nvPr/>
        </p:nvSpPr>
        <p:spPr>
          <a:xfrm>
            <a:off x="7707538" y="666494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2</a:t>
            </a: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50D3682-4C38-E73E-6DF4-37C68C0699ED}"/>
              </a:ext>
            </a:extLst>
          </p:cNvPr>
          <p:cNvSpPr/>
          <p:nvPr/>
        </p:nvSpPr>
        <p:spPr>
          <a:xfrm>
            <a:off x="7746658" y="695499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04CCB829-355F-F3C9-3C4A-90D5C6BB8329}"/>
              </a:ext>
            </a:extLst>
          </p:cNvPr>
          <p:cNvSpPr/>
          <p:nvPr/>
        </p:nvSpPr>
        <p:spPr>
          <a:xfrm>
            <a:off x="7765356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5A432E1B-DB28-A38C-9998-ED7B550D3DE7}"/>
              </a:ext>
            </a:extLst>
          </p:cNvPr>
          <p:cNvSpPr/>
          <p:nvPr/>
        </p:nvSpPr>
        <p:spPr>
          <a:xfrm>
            <a:off x="7881431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542FC59F-C78D-0963-0CA4-6C36E38AA8F3}"/>
              </a:ext>
            </a:extLst>
          </p:cNvPr>
          <p:cNvSpPr/>
          <p:nvPr/>
        </p:nvSpPr>
        <p:spPr>
          <a:xfrm>
            <a:off x="8005490" y="698354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885FAEB3-BFDC-804D-7B7A-C9FAC36C8E50}"/>
              </a:ext>
            </a:extLst>
          </p:cNvPr>
          <p:cNvSpPr txBox="1"/>
          <p:nvPr/>
        </p:nvSpPr>
        <p:spPr>
          <a:xfrm>
            <a:off x="7708481" y="681633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3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9DF94BF4-7A06-A17C-BE96-AAE4E3C8F87F}"/>
              </a:ext>
            </a:extLst>
          </p:cNvPr>
          <p:cNvSpPr txBox="1"/>
          <p:nvPr/>
        </p:nvSpPr>
        <p:spPr>
          <a:xfrm>
            <a:off x="8341203" y="5639763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3F370B18-C1FB-0760-C252-7DAE75884661}"/>
              </a:ext>
            </a:extLst>
          </p:cNvPr>
          <p:cNvSpPr txBox="1"/>
          <p:nvPr/>
        </p:nvSpPr>
        <p:spPr>
          <a:xfrm>
            <a:off x="7409851" y="5617798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C72C61DA-1FA6-A55A-62EB-66E3BDC38996}"/>
              </a:ext>
            </a:extLst>
          </p:cNvPr>
          <p:cNvSpPr txBox="1"/>
          <p:nvPr/>
        </p:nvSpPr>
        <p:spPr>
          <a:xfrm>
            <a:off x="7672781" y="6340098"/>
            <a:ext cx="580165" cy="212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Knowledge Box</a:t>
            </a:r>
          </a:p>
        </p:txBody>
      </p:sp>
      <p:sp>
        <p:nvSpPr>
          <p:cNvPr id="1105" name="Logistics">
            <a:extLst>
              <a:ext uri="{FF2B5EF4-FFF2-40B4-BE49-F238E27FC236}">
                <a16:creationId xmlns:a16="http://schemas.microsoft.com/office/drawing/2014/main" id="{6FFEA90D-3A31-E71B-A31B-05158FF997D3}"/>
              </a:ext>
            </a:extLst>
          </p:cNvPr>
          <p:cNvSpPr txBox="1"/>
          <p:nvPr/>
        </p:nvSpPr>
        <p:spPr>
          <a:xfrm>
            <a:off x="9601200" y="256032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Import Tetrad</a:t>
            </a:r>
          </a:p>
        </p:txBody>
      </p:sp>
      <p:sp>
        <p:nvSpPr>
          <p:cNvPr id="1106" name="Logistics">
            <a:extLst>
              <a:ext uri="{FF2B5EF4-FFF2-40B4-BE49-F238E27FC236}">
                <a16:creationId xmlns:a16="http://schemas.microsoft.com/office/drawing/2014/main" id="{D044C496-88F2-D741-A225-C2B95DA7F081}"/>
              </a:ext>
            </a:extLst>
          </p:cNvPr>
          <p:cNvSpPr txBox="1"/>
          <p:nvPr/>
        </p:nvSpPr>
        <p:spPr>
          <a:xfrm>
            <a:off x="9601200" y="438912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Analysis Function</a:t>
            </a:r>
          </a:p>
        </p:txBody>
      </p:sp>
      <p:sp>
        <p:nvSpPr>
          <p:cNvPr id="1107" name="Logistics">
            <a:extLst>
              <a:ext uri="{FF2B5EF4-FFF2-40B4-BE49-F238E27FC236}">
                <a16:creationId xmlns:a16="http://schemas.microsoft.com/office/drawing/2014/main" id="{D31C1739-DC3B-5EB5-C1DC-E2D8400069ED}"/>
              </a:ext>
            </a:extLst>
          </p:cNvPr>
          <p:cNvSpPr txBox="1"/>
          <p:nvPr/>
        </p:nvSpPr>
        <p:spPr>
          <a:xfrm>
            <a:off x="9601200" y="694944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Domain Knowledge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4B9B5276-2572-13FF-0CD9-A599708F093A}"/>
              </a:ext>
            </a:extLst>
          </p:cNvPr>
          <p:cNvSpPr txBox="1"/>
          <p:nvPr/>
        </p:nvSpPr>
        <p:spPr>
          <a:xfrm>
            <a:off x="9601200" y="4663440"/>
            <a:ext cx="4237460" cy="2187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run on dataset including null features, used to derive 1-PNEF.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score_sem_bic</a:t>
            </a:r>
            <a:r>
              <a:rPr lang="en-US" dirty="0"/>
              <a:t>()</a:t>
            </a:r>
          </a:p>
          <a:p>
            <a:r>
              <a:rPr lang="en-US" b="0" dirty="0"/>
              <a:t>Configure SEM BIC score.</a:t>
            </a:r>
          </a:p>
          <a:p>
            <a:r>
              <a:rPr lang="en-US" dirty="0"/>
              <a:t>2. bootstrapping()</a:t>
            </a:r>
          </a:p>
          <a:p>
            <a:r>
              <a:rPr lang="en-US" b="0" dirty="0"/>
              <a:t>Configure bootstrapping parameters.</a:t>
            </a:r>
          </a:p>
          <a:p>
            <a:r>
              <a:rPr lang="en-US" dirty="0"/>
              <a:t>3. </a:t>
            </a:r>
            <a:r>
              <a:rPr lang="en-US" dirty="0" err="1"/>
              <a:t>algorithm_fges</a:t>
            </a:r>
            <a:r>
              <a:rPr lang="en-US" dirty="0"/>
              <a:t>()</a:t>
            </a:r>
          </a:p>
          <a:p>
            <a:r>
              <a:rPr lang="en-US" b="0" dirty="0"/>
              <a:t>Performs Fast Greedy Equivalence Search (FGES) algorithm.</a:t>
            </a:r>
          </a:p>
          <a:p>
            <a:r>
              <a:rPr lang="en-US" dirty="0"/>
              <a:t>4. </a:t>
            </a:r>
            <a:r>
              <a:rPr lang="en-US" dirty="0" err="1"/>
              <a:t>algorithm_boss</a:t>
            </a:r>
            <a:r>
              <a:rPr lang="en-US" dirty="0"/>
              <a:t>()</a:t>
            </a:r>
          </a:p>
          <a:p>
            <a:r>
              <a:rPr lang="en-US" b="0" dirty="0"/>
              <a:t>Performs Best Order Score Search (BOSS) algorithm.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D8E5FDEF-AD66-9446-0067-A0592547B0E5}"/>
              </a:ext>
            </a:extLst>
          </p:cNvPr>
          <p:cNvSpPr txBox="1"/>
          <p:nvPr/>
        </p:nvSpPr>
        <p:spPr>
          <a:xfrm>
            <a:off x="9601200" y="2834640"/>
            <a:ext cx="4237460" cy="1531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After applying time lag and features, </a:t>
            </a:r>
            <a:r>
              <a:rPr lang="en-US" b="0" dirty="0" err="1"/>
              <a:t>jpype</a:t>
            </a:r>
            <a:r>
              <a:rPr lang="en-US" b="0" dirty="0"/>
              <a:t> is imported to utilize API and turn the dataset into a Tetrad compatible format. </a:t>
            </a:r>
            <a:endParaRPr lang="en-US" dirty="0"/>
          </a:p>
          <a:p>
            <a:r>
              <a:rPr lang="en-US" dirty="0"/>
              <a:t>1. tetrad()</a:t>
            </a:r>
          </a:p>
          <a:p>
            <a:r>
              <a:rPr lang="en-US" b="0" dirty="0"/>
              <a:t>Import </a:t>
            </a:r>
            <a:r>
              <a:rPr lang="en-US" b="0" dirty="0" err="1"/>
              <a:t>jpype</a:t>
            </a:r>
            <a:r>
              <a:rPr lang="en-US" b="0" dirty="0"/>
              <a:t> to start JVM and load Tetrad jar file.</a:t>
            </a:r>
          </a:p>
          <a:p>
            <a:r>
              <a:rPr lang="en-US" dirty="0"/>
              <a:t>2. </a:t>
            </a:r>
            <a:r>
              <a:rPr lang="en-US" dirty="0" err="1"/>
              <a:t>transform_pandas_to_tetrad</a:t>
            </a:r>
            <a:r>
              <a:rPr lang="en-US" dirty="0"/>
              <a:t>()</a:t>
            </a:r>
          </a:p>
          <a:p>
            <a:r>
              <a:rPr lang="en-US" b="0" dirty="0"/>
              <a:t>Convert pandas </a:t>
            </a:r>
            <a:r>
              <a:rPr lang="en-US" b="0" dirty="0" err="1"/>
              <a:t>DataFrames</a:t>
            </a:r>
            <a:r>
              <a:rPr lang="en-US" b="0" dirty="0"/>
              <a:t> into Tetrad data format and initialize search state.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45BE2016-8AF7-AAB5-9E78-9454E11CE885}"/>
              </a:ext>
            </a:extLst>
          </p:cNvPr>
          <p:cNvSpPr txBox="1"/>
          <p:nvPr/>
        </p:nvSpPr>
        <p:spPr>
          <a:xfrm>
            <a:off x="9563884" y="7232335"/>
            <a:ext cx="4237460" cy="925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ran again with domain knowledge applied.</a:t>
            </a:r>
          </a:p>
          <a:p>
            <a:r>
              <a:rPr lang="en-US" dirty="0"/>
              <a:t>1. </a:t>
            </a:r>
            <a:r>
              <a:rPr lang="en-US" dirty="0" err="1"/>
              <a:t>load_domain_knowledge_constraints</a:t>
            </a:r>
            <a:r>
              <a:rPr lang="en-US" dirty="0"/>
              <a:t>()</a:t>
            </a:r>
          </a:p>
          <a:p>
            <a:r>
              <a:rPr lang="en-US" b="0" dirty="0"/>
              <a:t>Load forbidden/required edges and temporal tiers from a file into Tetrad knowledge object.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1D0927CA-EDC5-9A19-1C0C-BCBBACAFC12B}"/>
              </a:ext>
            </a:extLst>
          </p:cNvPr>
          <p:cNvSpPr txBox="1"/>
          <p:nvPr/>
        </p:nvSpPr>
        <p:spPr>
          <a:xfrm>
            <a:off x="9601200" y="1737360"/>
            <a:ext cx="4264574" cy="6898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From an example of a dataset, see </a:t>
            </a:r>
            <a:r>
              <a:rPr lang="en-US" dirty="0" err="1"/>
              <a:t>issue_social_smell_showcase.Rmd</a:t>
            </a:r>
            <a:r>
              <a:rPr lang="en-US" b="0" dirty="0"/>
              <a:t>. Refer to </a:t>
            </a:r>
            <a:r>
              <a:rPr lang="en-US" b="0" dirty="0" err="1"/>
              <a:t>cheatsheets</a:t>
            </a:r>
            <a:r>
              <a:rPr lang="en-US" b="0" dirty="0"/>
              <a:t>/social-smells-cheatsheet.pdf</a:t>
            </a:r>
          </a:p>
        </p:txBody>
      </p:sp>
      <p:cxnSp>
        <p:nvCxnSpPr>
          <p:cNvPr id="1112" name="Connector: Elbow 1111">
            <a:extLst>
              <a:ext uri="{FF2B5EF4-FFF2-40B4-BE49-F238E27FC236}">
                <a16:creationId xmlns:a16="http://schemas.microsoft.com/office/drawing/2014/main" id="{0AEDF7A7-D543-32E2-4D4C-FEDC15CA0E69}"/>
              </a:ext>
            </a:extLst>
          </p:cNvPr>
          <p:cNvCxnSpPr>
            <a:cxnSpLocks/>
            <a:stCxn id="991" idx="3"/>
          </p:cNvCxnSpPr>
          <p:nvPr/>
        </p:nvCxnSpPr>
        <p:spPr>
          <a:xfrm flipV="1">
            <a:off x="8704406" y="1562408"/>
            <a:ext cx="859478" cy="452092"/>
          </a:xfrm>
          <a:prstGeom prst="bentConnector3">
            <a:avLst>
              <a:gd name="adj1" fmla="val 38543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CF283484-11CD-84C0-4EF0-AE8DC72A9852}"/>
              </a:ext>
            </a:extLst>
          </p:cNvPr>
          <p:cNvCxnSpPr>
            <a:cxnSpLocks/>
            <a:endCxn id="1107" idx="1"/>
          </p:cNvCxnSpPr>
          <p:nvPr/>
        </p:nvCxnSpPr>
        <p:spPr>
          <a:xfrm>
            <a:off x="8325869" y="6858316"/>
            <a:ext cx="1275331" cy="261139"/>
          </a:xfrm>
          <a:prstGeom prst="bentConnector3">
            <a:avLst>
              <a:gd name="adj1" fmla="val 55076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33CA228-4B39-7113-0916-475CBBD25115}"/>
              </a:ext>
            </a:extLst>
          </p:cNvPr>
          <p:cNvSpPr txBox="1"/>
          <p:nvPr/>
        </p:nvSpPr>
        <p:spPr>
          <a:xfrm>
            <a:off x="1275037" y="358624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Folded Corner 3">
            <a:extLst>
              <a:ext uri="{FF2B5EF4-FFF2-40B4-BE49-F238E27FC236}">
                <a16:creationId xmlns:a16="http://schemas.microsoft.com/office/drawing/2014/main" id="{1954B437-E0C3-8FBB-277E-1DD76E3338DA}"/>
              </a:ext>
            </a:extLst>
          </p:cNvPr>
          <p:cNvSpPr/>
          <p:nvPr/>
        </p:nvSpPr>
        <p:spPr>
          <a:xfrm rot="10800000" flipH="1">
            <a:off x="2629874" y="338101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" name="Folded Corner 4">
            <a:extLst>
              <a:ext uri="{FF2B5EF4-FFF2-40B4-BE49-F238E27FC236}">
                <a16:creationId xmlns:a16="http://schemas.microsoft.com/office/drawing/2014/main" id="{36BA1B2B-17F0-175E-9323-4D81EFC6E2BC}"/>
              </a:ext>
            </a:extLst>
          </p:cNvPr>
          <p:cNvSpPr/>
          <p:nvPr/>
        </p:nvSpPr>
        <p:spPr>
          <a:xfrm rot="10800000" flipH="1">
            <a:off x="2596792" y="34094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" name="Folded Corner 5">
            <a:extLst>
              <a:ext uri="{FF2B5EF4-FFF2-40B4-BE49-F238E27FC236}">
                <a16:creationId xmlns:a16="http://schemas.microsoft.com/office/drawing/2014/main" id="{A4A10439-E3F5-74F3-6763-6A6B381ACBFB}"/>
              </a:ext>
            </a:extLst>
          </p:cNvPr>
          <p:cNvSpPr/>
          <p:nvPr/>
        </p:nvSpPr>
        <p:spPr>
          <a:xfrm rot="10800000" flipH="1">
            <a:off x="2556355" y="344325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06CD4A67-AEE1-6C52-89AA-8AE571F2F01E}"/>
              </a:ext>
            </a:extLst>
          </p:cNvPr>
          <p:cNvSpPr txBox="1"/>
          <p:nvPr/>
        </p:nvSpPr>
        <p:spPr>
          <a:xfrm>
            <a:off x="2486995" y="3589370"/>
            <a:ext cx="4823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algorithm.py</a:t>
            </a:r>
          </a:p>
        </p:txBody>
      </p:sp>
      <p:sp>
        <p:nvSpPr>
          <p:cNvPr id="27" name="Folded Corner 3">
            <a:extLst>
              <a:ext uri="{FF2B5EF4-FFF2-40B4-BE49-F238E27FC236}">
                <a16:creationId xmlns:a16="http://schemas.microsoft.com/office/drawing/2014/main" id="{FC277FE4-459B-7E52-80FA-531280372718}"/>
              </a:ext>
            </a:extLst>
          </p:cNvPr>
          <p:cNvSpPr/>
          <p:nvPr/>
        </p:nvSpPr>
        <p:spPr>
          <a:xfrm rot="10800000" flipH="1">
            <a:off x="3124045" y="336113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" name="Folded Corner 4">
            <a:extLst>
              <a:ext uri="{FF2B5EF4-FFF2-40B4-BE49-F238E27FC236}">
                <a16:creationId xmlns:a16="http://schemas.microsoft.com/office/drawing/2014/main" id="{7B8342F2-E1F2-C673-AC95-9C5E71C5B48F}"/>
              </a:ext>
            </a:extLst>
          </p:cNvPr>
          <p:cNvSpPr/>
          <p:nvPr/>
        </p:nvSpPr>
        <p:spPr>
          <a:xfrm rot="10800000" flipH="1">
            <a:off x="3090963" y="338960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" name="Folded Corner 5">
            <a:extLst>
              <a:ext uri="{FF2B5EF4-FFF2-40B4-BE49-F238E27FC236}">
                <a16:creationId xmlns:a16="http://schemas.microsoft.com/office/drawing/2014/main" id="{BE8BBF6A-2865-8587-B942-AF2303DDF61F}"/>
              </a:ext>
            </a:extLst>
          </p:cNvPr>
          <p:cNvSpPr/>
          <p:nvPr/>
        </p:nvSpPr>
        <p:spPr>
          <a:xfrm rot="10800000" flipH="1">
            <a:off x="3050526" y="34233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56C0F2E9-43B8-A546-13DD-0456EE007E78}"/>
              </a:ext>
            </a:extLst>
          </p:cNvPr>
          <p:cNvSpPr txBox="1"/>
          <p:nvPr/>
        </p:nvSpPr>
        <p:spPr>
          <a:xfrm>
            <a:off x="3041735" y="358121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score.py</a:t>
            </a:r>
          </a:p>
        </p:txBody>
      </p:sp>
      <p:sp>
        <p:nvSpPr>
          <p:cNvPr id="30" name="Folded Corner 3">
            <a:extLst>
              <a:ext uri="{FF2B5EF4-FFF2-40B4-BE49-F238E27FC236}">
                <a16:creationId xmlns:a16="http://schemas.microsoft.com/office/drawing/2014/main" id="{3D84C63F-AB2D-E4C8-B1B3-449D0DEDBBE7}"/>
              </a:ext>
            </a:extLst>
          </p:cNvPr>
          <p:cNvSpPr/>
          <p:nvPr/>
        </p:nvSpPr>
        <p:spPr>
          <a:xfrm rot="10800000" flipH="1">
            <a:off x="489099" y="3477311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" name="Folded Corner 4">
            <a:extLst>
              <a:ext uri="{FF2B5EF4-FFF2-40B4-BE49-F238E27FC236}">
                <a16:creationId xmlns:a16="http://schemas.microsoft.com/office/drawing/2014/main" id="{A0E8973C-B55E-7AA9-C3FC-F574A128E3A6}"/>
              </a:ext>
            </a:extLst>
          </p:cNvPr>
          <p:cNvSpPr/>
          <p:nvPr/>
        </p:nvSpPr>
        <p:spPr>
          <a:xfrm rot="10800000" flipH="1">
            <a:off x="456017" y="3505777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" name="Folded Corner 5">
            <a:extLst>
              <a:ext uri="{FF2B5EF4-FFF2-40B4-BE49-F238E27FC236}">
                <a16:creationId xmlns:a16="http://schemas.microsoft.com/office/drawing/2014/main" id="{780AE4C6-2A7F-C784-6A4B-78F9DD5331B8}"/>
              </a:ext>
            </a:extLst>
          </p:cNvPr>
          <p:cNvSpPr/>
          <p:nvPr/>
        </p:nvSpPr>
        <p:spPr>
          <a:xfrm rot="10800000" flipH="1">
            <a:off x="415580" y="3539553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3C630352-0FFD-DD6A-D57C-9870DCE1D7CC}"/>
              </a:ext>
            </a:extLst>
          </p:cNvPr>
          <p:cNvSpPr txBox="1"/>
          <p:nvPr/>
        </p:nvSpPr>
        <p:spPr>
          <a:xfrm>
            <a:off x="391503" y="3700338"/>
            <a:ext cx="4603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 err="1">
                <a:solidFill>
                  <a:schemeClr val="tx1">
                    <a:lumMod val="50000"/>
                  </a:schemeClr>
                </a:solidFill>
              </a:rPr>
              <a:t>edu.cmu</a:t>
            </a:r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2D882B-58D8-B9CE-E731-05B6D5E2EC00}"/>
              </a:ext>
            </a:extLst>
          </p:cNvPr>
          <p:cNvSpPr txBox="1"/>
          <p:nvPr/>
        </p:nvSpPr>
        <p:spPr>
          <a:xfrm>
            <a:off x="2058159" y="4229130"/>
            <a:ext cx="621043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run_fges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()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308AAD-78FE-6BFC-6F07-C9DD172083DB}"/>
              </a:ext>
            </a:extLst>
          </p:cNvPr>
          <p:cNvSpPr txBox="1"/>
          <p:nvPr/>
        </p:nvSpPr>
        <p:spPr>
          <a:xfrm>
            <a:off x="8607799" y="473724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5E3D8D25-ACAC-E9AC-6019-AE962C560EEE}"/>
              </a:ext>
            </a:extLst>
          </p:cNvPr>
          <p:cNvCxnSpPr>
            <a:cxnSpLocks/>
            <a:stCxn id="51" idx="3"/>
            <a:endCxn id="1106" idx="1"/>
          </p:cNvCxnSpPr>
          <p:nvPr/>
        </p:nvCxnSpPr>
        <p:spPr>
          <a:xfrm flipV="1">
            <a:off x="8718069" y="4559135"/>
            <a:ext cx="883131" cy="338367"/>
          </a:xfrm>
          <a:prstGeom prst="bentConnector3">
            <a:avLst>
              <a:gd name="adj1" fmla="val 37257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9" name="TextBox 898">
            <a:extLst>
              <a:ext uri="{FF2B5EF4-FFF2-40B4-BE49-F238E27FC236}">
                <a16:creationId xmlns:a16="http://schemas.microsoft.com/office/drawing/2014/main" id="{BFE43323-D87C-D765-1BBF-1EC0C8FC1B5B}"/>
              </a:ext>
            </a:extLst>
          </p:cNvPr>
          <p:cNvSpPr txBox="1"/>
          <p:nvPr/>
        </p:nvSpPr>
        <p:spPr>
          <a:xfrm>
            <a:off x="9601200" y="8412480"/>
            <a:ext cx="4244990" cy="1900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graph output is converted and saved in JSON format that can be loaded and viewed in Tetrad GUI. Parsing graph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allows 1-PNEF to be applied. </a:t>
            </a:r>
          </a:p>
          <a:p>
            <a:r>
              <a:rPr lang="en-US" dirty="0"/>
              <a:t>1. </a:t>
            </a:r>
            <a:r>
              <a:rPr lang="en-US" dirty="0" err="1"/>
              <a:t>transform_tetrad_to_json</a:t>
            </a:r>
            <a:r>
              <a:rPr lang="en-US" dirty="0"/>
              <a:t>()</a:t>
            </a:r>
          </a:p>
          <a:p>
            <a:r>
              <a:rPr lang="en-US" b="0" dirty="0"/>
              <a:t>Convert Tetrad graph object to JSON format.</a:t>
            </a:r>
          </a:p>
          <a:p>
            <a:r>
              <a:rPr lang="en-US" dirty="0"/>
              <a:t>2. </a:t>
            </a:r>
            <a:r>
              <a:rPr lang="en-US" dirty="0" err="1"/>
              <a:t>transform_tetrad_to_network</a:t>
            </a:r>
            <a:r>
              <a:rPr lang="en-US" dirty="0"/>
              <a:t>()</a:t>
            </a:r>
          </a:p>
          <a:p>
            <a:r>
              <a:rPr lang="en-US" b="0" dirty="0"/>
              <a:t>Parse Tetrad JSON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datasets.</a:t>
            </a:r>
          </a:p>
        </p:txBody>
      </p:sp>
      <p:sp>
        <p:nvSpPr>
          <p:cNvPr id="900" name="Logistics">
            <a:extLst>
              <a:ext uri="{FF2B5EF4-FFF2-40B4-BE49-F238E27FC236}">
                <a16:creationId xmlns:a16="http://schemas.microsoft.com/office/drawing/2014/main" id="{0F00E89B-5636-1A4D-228E-5B931ABA7769}"/>
              </a:ext>
            </a:extLst>
          </p:cNvPr>
          <p:cNvSpPr txBox="1"/>
          <p:nvPr/>
        </p:nvSpPr>
        <p:spPr>
          <a:xfrm>
            <a:off x="9601200" y="813816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Transform</a:t>
            </a:r>
          </a:p>
        </p:txBody>
      </p:sp>
      <p:sp>
        <p:nvSpPr>
          <p:cNvPr id="90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9EFE3516-61BF-DB67-E85E-984071CB2BD1}"/>
              </a:ext>
            </a:extLst>
          </p:cNvPr>
          <p:cNvSpPr txBox="1"/>
          <p:nvPr/>
        </p:nvSpPr>
        <p:spPr>
          <a:xfrm>
            <a:off x="182880" y="173736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Python package that serves as a wrapper over the Tetrad Java API (via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), providing an interface for causal analysis algorithms.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fork of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-tetrad/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pytetrad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grpSp>
        <p:nvGrpSpPr>
          <p:cNvPr id="909" name="Group 908">
            <a:extLst>
              <a:ext uri="{FF2B5EF4-FFF2-40B4-BE49-F238E27FC236}">
                <a16:creationId xmlns:a16="http://schemas.microsoft.com/office/drawing/2014/main" id="{349A4E7C-4650-2D01-75D1-E105F031B270}"/>
              </a:ext>
            </a:extLst>
          </p:cNvPr>
          <p:cNvGrpSpPr/>
          <p:nvPr/>
        </p:nvGrpSpPr>
        <p:grpSpPr>
          <a:xfrm>
            <a:off x="5279608" y="8581425"/>
            <a:ext cx="818142" cy="583040"/>
            <a:chOff x="3300333" y="6875181"/>
            <a:chExt cx="2140200" cy="1512332"/>
          </a:xfrm>
        </p:grpSpPr>
        <p:sp>
          <p:nvSpPr>
            <p:cNvPr id="910" name="TextBox 909">
              <a:extLst>
                <a:ext uri="{FF2B5EF4-FFF2-40B4-BE49-F238E27FC236}">
                  <a16:creationId xmlns:a16="http://schemas.microsoft.com/office/drawing/2014/main" id="{42B2BDBE-BE75-58E9-6DA6-6FF41091771A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11" name="Google Shape;162;p1">
              <a:extLst>
                <a:ext uri="{FF2B5EF4-FFF2-40B4-BE49-F238E27FC236}">
                  <a16:creationId xmlns:a16="http://schemas.microsoft.com/office/drawing/2014/main" id="{ED0A11D4-15B4-65F3-FD33-A7EAB3E46585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2" name="Google Shape;163;p1">
              <a:extLst>
                <a:ext uri="{FF2B5EF4-FFF2-40B4-BE49-F238E27FC236}">
                  <a16:creationId xmlns:a16="http://schemas.microsoft.com/office/drawing/2014/main" id="{59ECA917-E73E-51B9-B49E-1A2CD3ACBD56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3" name="Google Shape;164;p1">
              <a:extLst>
                <a:ext uri="{FF2B5EF4-FFF2-40B4-BE49-F238E27FC236}">
                  <a16:creationId xmlns:a16="http://schemas.microsoft.com/office/drawing/2014/main" id="{347B0934-C4DB-5FF6-80F4-4B1C18020CAE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4" name="Google Shape;165;p1">
              <a:extLst>
                <a:ext uri="{FF2B5EF4-FFF2-40B4-BE49-F238E27FC236}">
                  <a16:creationId xmlns:a16="http://schemas.microsoft.com/office/drawing/2014/main" id="{33424FF0-D1F0-76D0-ED8D-02D0153C2F9E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5" name="Google Shape;171;p1">
              <a:extLst>
                <a:ext uri="{FF2B5EF4-FFF2-40B4-BE49-F238E27FC236}">
                  <a16:creationId xmlns:a16="http://schemas.microsoft.com/office/drawing/2014/main" id="{FF4DD8C1-8325-59D6-7355-026696F204E5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6" name="Google Shape;187;p1">
              <a:extLst>
                <a:ext uri="{FF2B5EF4-FFF2-40B4-BE49-F238E27FC236}">
                  <a16:creationId xmlns:a16="http://schemas.microsoft.com/office/drawing/2014/main" id="{A5C43512-0A9D-FD98-B665-2441A41800A4}"/>
                </a:ext>
              </a:extLst>
            </p:cNvPr>
            <p:cNvCxnSpPr>
              <a:stCxn id="917" idx="6"/>
              <a:endCxn id="911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17" name="Google Shape;188;p1">
              <a:extLst>
                <a:ext uri="{FF2B5EF4-FFF2-40B4-BE49-F238E27FC236}">
                  <a16:creationId xmlns:a16="http://schemas.microsoft.com/office/drawing/2014/main" id="{9B8D9DA0-3F15-07CC-890D-2875E0D4DD02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8" name="Google Shape;196;p1">
              <a:extLst>
                <a:ext uri="{FF2B5EF4-FFF2-40B4-BE49-F238E27FC236}">
                  <a16:creationId xmlns:a16="http://schemas.microsoft.com/office/drawing/2014/main" id="{F5B05A60-2A3A-2305-683E-7862CB43E3AF}"/>
                </a:ext>
              </a:extLst>
            </p:cNvPr>
            <p:cNvCxnSpPr>
              <a:stCxn id="917" idx="5"/>
              <a:endCxn id="913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19" name="Google Shape;198;p1">
              <a:extLst>
                <a:ext uri="{FF2B5EF4-FFF2-40B4-BE49-F238E27FC236}">
                  <a16:creationId xmlns:a16="http://schemas.microsoft.com/office/drawing/2014/main" id="{915FE559-4404-ACC7-AA88-3114F6C73E2C}"/>
                </a:ext>
              </a:extLst>
            </p:cNvPr>
            <p:cNvCxnSpPr>
              <a:stCxn id="917" idx="6"/>
              <a:endCxn id="914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0" name="Google Shape;199;p1">
              <a:extLst>
                <a:ext uri="{FF2B5EF4-FFF2-40B4-BE49-F238E27FC236}">
                  <a16:creationId xmlns:a16="http://schemas.microsoft.com/office/drawing/2014/main" id="{F5D3B120-FA02-65BD-50FC-2CEC2FF014A6}"/>
                </a:ext>
              </a:extLst>
            </p:cNvPr>
            <p:cNvCxnSpPr>
              <a:stCxn id="917" idx="3"/>
              <a:endCxn id="915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1" name="Google Shape;200;p1">
              <a:extLst>
                <a:ext uri="{FF2B5EF4-FFF2-40B4-BE49-F238E27FC236}">
                  <a16:creationId xmlns:a16="http://schemas.microsoft.com/office/drawing/2014/main" id="{1E0D15B4-A7D8-1723-757D-835658DEFA80}"/>
                </a:ext>
              </a:extLst>
            </p:cNvPr>
            <p:cNvCxnSpPr>
              <a:stCxn id="917" idx="6"/>
              <a:endCxn id="912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926" name="TextBox 925">
            <a:extLst>
              <a:ext uri="{FF2B5EF4-FFF2-40B4-BE49-F238E27FC236}">
                <a16:creationId xmlns:a16="http://schemas.microsoft.com/office/drawing/2014/main" id="{54ECED81-4CFE-59CF-BAF7-C321B4BAC8D9}"/>
              </a:ext>
            </a:extLst>
          </p:cNvPr>
          <p:cNvSpPr txBox="1"/>
          <p:nvPr/>
        </p:nvSpPr>
        <p:spPr>
          <a:xfrm>
            <a:off x="4745786" y="9504777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.</a:t>
            </a:r>
            <a:r>
              <a:rPr lang="en-US" dirty="0" err="1"/>
              <a:t>json</a:t>
            </a:r>
            <a:endParaRPr lang="en-US" dirty="0"/>
          </a:p>
        </p:txBody>
      </p:sp>
      <p:cxnSp>
        <p:nvCxnSpPr>
          <p:cNvPr id="927" name="Straight Arrow Connector 926">
            <a:extLst>
              <a:ext uri="{FF2B5EF4-FFF2-40B4-BE49-F238E27FC236}">
                <a16:creationId xmlns:a16="http://schemas.microsoft.com/office/drawing/2014/main" id="{F18AC5A0-2314-939A-666B-6EC40539590E}"/>
              </a:ext>
            </a:extLst>
          </p:cNvPr>
          <p:cNvCxnSpPr>
            <a:cxnSpLocks/>
          </p:cNvCxnSpPr>
          <p:nvPr/>
        </p:nvCxnSpPr>
        <p:spPr>
          <a:xfrm>
            <a:off x="6437738" y="8942534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8" name="Flowchart: Internal Storage 927">
            <a:extLst>
              <a:ext uri="{FF2B5EF4-FFF2-40B4-BE49-F238E27FC236}">
                <a16:creationId xmlns:a16="http://schemas.microsoft.com/office/drawing/2014/main" id="{77111C48-981C-434C-AD30-78A57F07D19E}"/>
              </a:ext>
            </a:extLst>
          </p:cNvPr>
          <p:cNvSpPr/>
          <p:nvPr/>
        </p:nvSpPr>
        <p:spPr>
          <a:xfrm>
            <a:off x="7070339" y="8311163"/>
            <a:ext cx="1472339" cy="1138122"/>
          </a:xfrm>
          <a:prstGeom prst="flowChartInternalStorage">
            <a:avLst/>
          </a:prstGeom>
          <a:noFill/>
          <a:ln w="12700" cap="flat">
            <a:solidFill>
              <a:schemeClr val="tx1">
                <a:lumMod val="50000"/>
              </a:schemeClr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5A499BFD-AD21-8779-C606-D799FAC12D5D}"/>
              </a:ext>
            </a:extLst>
          </p:cNvPr>
          <p:cNvGrpSpPr/>
          <p:nvPr/>
        </p:nvGrpSpPr>
        <p:grpSpPr>
          <a:xfrm>
            <a:off x="7473200" y="8601381"/>
            <a:ext cx="818142" cy="583040"/>
            <a:chOff x="3300333" y="6875181"/>
            <a:chExt cx="2140200" cy="1512332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D7472C15-3B7E-10DD-813E-1A8376796F4C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33" name="Google Shape;162;p1">
              <a:extLst>
                <a:ext uri="{FF2B5EF4-FFF2-40B4-BE49-F238E27FC236}">
                  <a16:creationId xmlns:a16="http://schemas.microsoft.com/office/drawing/2014/main" id="{0222A838-2CC3-FF01-1874-2ED1A79ECC8A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4" name="Google Shape;163;p1">
              <a:extLst>
                <a:ext uri="{FF2B5EF4-FFF2-40B4-BE49-F238E27FC236}">
                  <a16:creationId xmlns:a16="http://schemas.microsoft.com/office/drawing/2014/main" id="{23147CBE-DFB6-CA77-1809-D8C15FDC3916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6" name="Google Shape;164;p1">
              <a:extLst>
                <a:ext uri="{FF2B5EF4-FFF2-40B4-BE49-F238E27FC236}">
                  <a16:creationId xmlns:a16="http://schemas.microsoft.com/office/drawing/2014/main" id="{93EAA5CE-C170-5E54-E674-E4DE10663A4C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7" name="Google Shape;165;p1">
              <a:extLst>
                <a:ext uri="{FF2B5EF4-FFF2-40B4-BE49-F238E27FC236}">
                  <a16:creationId xmlns:a16="http://schemas.microsoft.com/office/drawing/2014/main" id="{CBD44992-5DC9-2FF7-B5C8-8C4A8C822C4B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8" name="Google Shape;171;p1">
              <a:extLst>
                <a:ext uri="{FF2B5EF4-FFF2-40B4-BE49-F238E27FC236}">
                  <a16:creationId xmlns:a16="http://schemas.microsoft.com/office/drawing/2014/main" id="{BB1E6F79-E31F-74C6-11D1-5387DBB15FBE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5" name="Google Shape;187;p1">
              <a:extLst>
                <a:ext uri="{FF2B5EF4-FFF2-40B4-BE49-F238E27FC236}">
                  <a16:creationId xmlns:a16="http://schemas.microsoft.com/office/drawing/2014/main" id="{E8CFF44B-AED3-0911-D891-5900D03CE20A}"/>
                </a:ext>
              </a:extLst>
            </p:cNvPr>
            <p:cNvCxnSpPr>
              <a:stCxn id="1116" idx="6"/>
              <a:endCxn id="1033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16" name="Google Shape;188;p1">
              <a:extLst>
                <a:ext uri="{FF2B5EF4-FFF2-40B4-BE49-F238E27FC236}">
                  <a16:creationId xmlns:a16="http://schemas.microsoft.com/office/drawing/2014/main" id="{355B47D2-A6E0-1230-9D46-7DAE64767DBC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7" name="Google Shape;196;p1">
              <a:extLst>
                <a:ext uri="{FF2B5EF4-FFF2-40B4-BE49-F238E27FC236}">
                  <a16:creationId xmlns:a16="http://schemas.microsoft.com/office/drawing/2014/main" id="{792629A6-9B6D-E952-3027-0B1B523B8170}"/>
                </a:ext>
              </a:extLst>
            </p:cNvPr>
            <p:cNvCxnSpPr>
              <a:stCxn id="1116" idx="5"/>
              <a:endCxn id="1036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8" name="Google Shape;198;p1">
              <a:extLst>
                <a:ext uri="{FF2B5EF4-FFF2-40B4-BE49-F238E27FC236}">
                  <a16:creationId xmlns:a16="http://schemas.microsoft.com/office/drawing/2014/main" id="{C5F67B10-9F7A-E97F-F1D1-E982CECF8EF1}"/>
                </a:ext>
              </a:extLst>
            </p:cNvPr>
            <p:cNvCxnSpPr>
              <a:stCxn id="1116" idx="6"/>
              <a:endCxn id="1037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9" name="Google Shape;199;p1">
              <a:extLst>
                <a:ext uri="{FF2B5EF4-FFF2-40B4-BE49-F238E27FC236}">
                  <a16:creationId xmlns:a16="http://schemas.microsoft.com/office/drawing/2014/main" id="{93A17A8B-C17F-3B57-5AFA-E6DAA54952C3}"/>
                </a:ext>
              </a:extLst>
            </p:cNvPr>
            <p:cNvCxnSpPr>
              <a:stCxn id="1116" idx="3"/>
              <a:endCxn id="1038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20" name="Google Shape;200;p1">
              <a:extLst>
                <a:ext uri="{FF2B5EF4-FFF2-40B4-BE49-F238E27FC236}">
                  <a16:creationId xmlns:a16="http://schemas.microsoft.com/office/drawing/2014/main" id="{CBFF45B4-09AD-C237-6D8D-6470BD893674}"/>
                </a:ext>
              </a:extLst>
            </p:cNvPr>
            <p:cNvCxnSpPr>
              <a:stCxn id="1116" idx="6"/>
              <a:endCxn id="1034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1121" name="TextBox 1120">
            <a:extLst>
              <a:ext uri="{FF2B5EF4-FFF2-40B4-BE49-F238E27FC236}">
                <a16:creationId xmlns:a16="http://schemas.microsoft.com/office/drawing/2014/main" id="{51D692B8-D9C7-104F-4E7F-8F21CE0D3505}"/>
              </a:ext>
            </a:extLst>
          </p:cNvPr>
          <p:cNvSpPr txBox="1"/>
          <p:nvPr/>
        </p:nvSpPr>
        <p:spPr>
          <a:xfrm>
            <a:off x="6892923" y="9463342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Tetrad GUI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7E9D91C3-32B5-AC15-7F4D-A79FAF73F698}"/>
              </a:ext>
            </a:extLst>
          </p:cNvPr>
          <p:cNvSpPr txBox="1"/>
          <p:nvPr/>
        </p:nvSpPr>
        <p:spPr>
          <a:xfrm>
            <a:off x="7071481" y="845805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Graph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BDE87407-9E27-16FD-A833-29C10DF06158}"/>
              </a:ext>
            </a:extLst>
          </p:cNvPr>
          <p:cNvSpPr txBox="1"/>
          <p:nvPr/>
        </p:nvSpPr>
        <p:spPr>
          <a:xfrm>
            <a:off x="7061235" y="8531089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Compare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9792044C-DB59-144B-6F7D-E6CDB0DFCBC8}"/>
              </a:ext>
            </a:extLst>
          </p:cNvPr>
          <p:cNvSpPr txBox="1"/>
          <p:nvPr/>
        </p:nvSpPr>
        <p:spPr>
          <a:xfrm>
            <a:off x="7048685" y="8610068"/>
            <a:ext cx="251336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Grid Search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46285889-18F3-9718-9576-BF469D3EEC8A}"/>
              </a:ext>
            </a:extLst>
          </p:cNvPr>
          <p:cNvSpPr txBox="1"/>
          <p:nvPr/>
        </p:nvSpPr>
        <p:spPr>
          <a:xfrm>
            <a:off x="7046974" y="8677995"/>
            <a:ext cx="303972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Parametric Model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91076631-6BEB-6BD5-101E-9554E9880A64}"/>
              </a:ext>
            </a:extLst>
          </p:cNvPr>
          <p:cNvSpPr txBox="1"/>
          <p:nvPr/>
        </p:nvSpPr>
        <p:spPr>
          <a:xfrm>
            <a:off x="7052833" y="8791685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Simulation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1E235025-3C87-F832-9D34-095E8A4948E1}"/>
              </a:ext>
            </a:extLst>
          </p:cNvPr>
          <p:cNvSpPr txBox="1"/>
          <p:nvPr/>
        </p:nvSpPr>
        <p:spPr>
          <a:xfrm>
            <a:off x="7070339" y="8866499"/>
            <a:ext cx="235741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Cluster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6960E757-6306-3121-A07D-B8565453995B}"/>
              </a:ext>
            </a:extLst>
          </p:cNvPr>
          <p:cNvSpPr txBox="1"/>
          <p:nvPr/>
        </p:nvSpPr>
        <p:spPr>
          <a:xfrm>
            <a:off x="7063846" y="8962863"/>
            <a:ext cx="260604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Structure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3E671F69-E198-DC6F-18BA-84A368966561}"/>
              </a:ext>
            </a:extLst>
          </p:cNvPr>
          <p:cNvSpPr txBox="1"/>
          <p:nvPr/>
        </p:nvSpPr>
        <p:spPr>
          <a:xfrm>
            <a:off x="7055007" y="9063908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Knowledge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F4AECDB9-A99E-8934-C0CF-B8911694CFBE}"/>
              </a:ext>
            </a:extLst>
          </p:cNvPr>
          <p:cNvSpPr txBox="1"/>
          <p:nvPr/>
        </p:nvSpPr>
        <p:spPr>
          <a:xfrm>
            <a:off x="7061235" y="9140557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Updater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81497BD9-A5D1-ED2C-C1FC-7E4A493746D8}"/>
              </a:ext>
            </a:extLst>
          </p:cNvPr>
          <p:cNvSpPr txBox="1"/>
          <p:nvPr/>
        </p:nvSpPr>
        <p:spPr>
          <a:xfrm>
            <a:off x="7048685" y="9227323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Regression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ED9786DE-2171-A493-7185-53EB50001CDB}"/>
              </a:ext>
            </a:extLst>
          </p:cNvPr>
          <p:cNvSpPr txBox="1"/>
          <p:nvPr/>
        </p:nvSpPr>
        <p:spPr>
          <a:xfrm>
            <a:off x="7233495" y="8289476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File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C52A6DB4-9F82-FF2B-3576-C3019920F750}"/>
              </a:ext>
            </a:extLst>
          </p:cNvPr>
          <p:cNvSpPr txBox="1"/>
          <p:nvPr/>
        </p:nvSpPr>
        <p:spPr>
          <a:xfrm>
            <a:off x="7303218" y="829201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Edit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88BA9E68-C886-3A71-0405-452CAFCA2C03}"/>
              </a:ext>
            </a:extLst>
          </p:cNvPr>
          <p:cNvSpPr txBox="1"/>
          <p:nvPr/>
        </p:nvSpPr>
        <p:spPr>
          <a:xfrm>
            <a:off x="7383126" y="8291864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Logging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33D9D787-CE97-06A0-E9F6-A723F7EEE23E}"/>
              </a:ext>
            </a:extLst>
          </p:cNvPr>
          <p:cNvSpPr txBox="1"/>
          <p:nvPr/>
        </p:nvSpPr>
        <p:spPr>
          <a:xfrm>
            <a:off x="7505552" y="8292313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Pipelines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C4B0DB5F-E2B5-9AE2-CC53-3BFC28852A49}"/>
              </a:ext>
            </a:extLst>
          </p:cNvPr>
          <p:cNvSpPr txBox="1"/>
          <p:nvPr/>
        </p:nvSpPr>
        <p:spPr>
          <a:xfrm>
            <a:off x="7637493" y="829506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Window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CD672C2C-5D5E-8AA9-F40D-71ADCF373309}"/>
              </a:ext>
            </a:extLst>
          </p:cNvPr>
          <p:cNvSpPr txBox="1"/>
          <p:nvPr/>
        </p:nvSpPr>
        <p:spPr>
          <a:xfrm>
            <a:off x="7754912" y="829506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Help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0A2797F0-03C7-4F4D-AD93-5CC3A7EA2E2E}"/>
              </a:ext>
            </a:extLst>
          </p:cNvPr>
          <p:cNvGrpSpPr/>
          <p:nvPr/>
        </p:nvGrpSpPr>
        <p:grpSpPr>
          <a:xfrm>
            <a:off x="1195787" y="7121456"/>
            <a:ext cx="358133" cy="449780"/>
            <a:chOff x="3801693" y="7065060"/>
            <a:chExt cx="465922" cy="575948"/>
          </a:xfrm>
        </p:grpSpPr>
        <p:sp>
          <p:nvSpPr>
            <p:cNvPr id="1151" name="Flowchart: Internal Storage 1150">
              <a:extLst>
                <a:ext uri="{FF2B5EF4-FFF2-40B4-BE49-F238E27FC236}">
                  <a16:creationId xmlns:a16="http://schemas.microsoft.com/office/drawing/2014/main" id="{0E30CFA5-9D17-0FC8-1ECA-BFBAF253705C}"/>
                </a:ext>
              </a:extLst>
            </p:cNvPr>
            <p:cNvSpPr/>
            <p:nvPr/>
          </p:nvSpPr>
          <p:spPr>
            <a:xfrm>
              <a:off x="3824554" y="7065060"/>
              <a:ext cx="443061" cy="575948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361AF057-2C1A-9AEF-E404-6386CEAB4523}"/>
                </a:ext>
              </a:extLst>
            </p:cNvPr>
            <p:cNvSpPr txBox="1"/>
            <p:nvPr/>
          </p:nvSpPr>
          <p:spPr>
            <a:xfrm>
              <a:off x="3801693" y="7065060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3" name="TextBox 1152">
              <a:extLst>
                <a:ext uri="{FF2B5EF4-FFF2-40B4-BE49-F238E27FC236}">
                  <a16:creationId xmlns:a16="http://schemas.microsoft.com/office/drawing/2014/main" id="{F3862B1A-C6F6-07B4-3CE7-EDE0FD47EAC4}"/>
                </a:ext>
              </a:extLst>
            </p:cNvPr>
            <p:cNvSpPr txBox="1"/>
            <p:nvPr/>
          </p:nvSpPr>
          <p:spPr>
            <a:xfrm>
              <a:off x="3801693" y="7191227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4" name="TextBox 1153">
              <a:extLst>
                <a:ext uri="{FF2B5EF4-FFF2-40B4-BE49-F238E27FC236}">
                  <a16:creationId xmlns:a16="http://schemas.microsoft.com/office/drawing/2014/main" id="{E158880B-B5A3-9F28-CF85-964481F5E16E}"/>
                </a:ext>
              </a:extLst>
            </p:cNvPr>
            <p:cNvSpPr txBox="1"/>
            <p:nvPr/>
          </p:nvSpPr>
          <p:spPr>
            <a:xfrm>
              <a:off x="3801693" y="7336099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1155" name="Straight Connector 1154">
              <a:extLst>
                <a:ext uri="{FF2B5EF4-FFF2-40B4-BE49-F238E27FC236}">
                  <a16:creationId xmlns:a16="http://schemas.microsoft.com/office/drawing/2014/main" id="{9A4839FB-CA96-858E-9FEC-819A7DC79EC6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1976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6" name="Straight Connector 1155">
              <a:extLst>
                <a:ext uri="{FF2B5EF4-FFF2-40B4-BE49-F238E27FC236}">
                  <a16:creationId xmlns:a16="http://schemas.microsoft.com/office/drawing/2014/main" id="{204EEF34-CB34-4CEF-376A-741B218136EA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269790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7" name="Straight Connector 1156">
              <a:extLst>
                <a:ext uri="{FF2B5EF4-FFF2-40B4-BE49-F238E27FC236}">
                  <a16:creationId xmlns:a16="http://schemas.microsoft.com/office/drawing/2014/main" id="{7BC224BF-647E-B6E8-C392-097F3D116762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344697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8" name="Straight Connector 1157">
              <a:extLst>
                <a:ext uri="{FF2B5EF4-FFF2-40B4-BE49-F238E27FC236}">
                  <a16:creationId xmlns:a16="http://schemas.microsoft.com/office/drawing/2014/main" id="{964601E2-7172-5525-32ED-AF998002702A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4262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9" name="Straight Connector 1158">
              <a:extLst>
                <a:ext uri="{FF2B5EF4-FFF2-40B4-BE49-F238E27FC236}">
                  <a16:creationId xmlns:a16="http://schemas.microsoft.com/office/drawing/2014/main" id="{790846BF-42BC-34E2-C4A3-21F0CEC797F0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01852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60" name="Straight Connector 1159">
              <a:extLst>
                <a:ext uri="{FF2B5EF4-FFF2-40B4-BE49-F238E27FC236}">
                  <a16:creationId xmlns:a16="http://schemas.microsoft.com/office/drawing/2014/main" id="{0A236D66-E818-896C-DD0C-09E4417B7E7F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81085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213" name="Group 1212">
            <a:extLst>
              <a:ext uri="{FF2B5EF4-FFF2-40B4-BE49-F238E27FC236}">
                <a16:creationId xmlns:a16="http://schemas.microsoft.com/office/drawing/2014/main" id="{50D4F3FD-D222-C2D1-74C5-209BD92D7126}"/>
              </a:ext>
            </a:extLst>
          </p:cNvPr>
          <p:cNvGrpSpPr/>
          <p:nvPr/>
        </p:nvGrpSpPr>
        <p:grpSpPr>
          <a:xfrm>
            <a:off x="2661632" y="7753204"/>
            <a:ext cx="1625672" cy="724346"/>
            <a:chOff x="4898186" y="8463563"/>
            <a:chExt cx="3978918" cy="1588036"/>
          </a:xfrm>
        </p:grpSpPr>
        <p:sp>
          <p:nvSpPr>
            <p:cNvPr id="1165" name="Folded Corner 5">
              <a:extLst>
                <a:ext uri="{FF2B5EF4-FFF2-40B4-BE49-F238E27FC236}">
                  <a16:creationId xmlns:a16="http://schemas.microsoft.com/office/drawing/2014/main" id="{FF27AC84-E899-B347-B907-A0DA918F4B8C}"/>
                </a:ext>
              </a:extLst>
            </p:cNvPr>
            <p:cNvSpPr/>
            <p:nvPr/>
          </p:nvSpPr>
          <p:spPr>
            <a:xfrm rot="10800000" flipH="1">
              <a:off x="5352204" y="8474861"/>
              <a:ext cx="944261" cy="1140881"/>
            </a:xfrm>
            <a:prstGeom prst="foldedCorner">
              <a:avLst>
                <a:gd name="adj" fmla="val 29505"/>
              </a:avLst>
            </a:prstGeom>
            <a:solidFill>
              <a:schemeClr val="bg1"/>
            </a:solidFill>
            <a:ln w="63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="horz" wrap="square" lIns="54570" tIns="54570" rIns="54570" bIns="5457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1pPr>
              <a:lvl2pPr marL="0" marR="0" indent="228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2pPr>
              <a:lvl3pPr marL="0" marR="0" indent="457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3pPr>
              <a:lvl4pPr marL="0" marR="0" indent="685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4pPr>
              <a:lvl5pPr marL="0" marR="0" indent="9144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5pPr>
              <a:lvl6pPr marL="0" marR="0" indent="11430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6pPr>
              <a:lvl7pPr marL="0" marR="0" indent="1371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7pPr>
              <a:lvl8pPr marL="0" marR="0" indent="1600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8pPr>
              <a:lvl9pPr marL="0" marR="0" indent="1828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9pPr>
            </a:lstStyle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66" name="Group 1165">
              <a:extLst>
                <a:ext uri="{FF2B5EF4-FFF2-40B4-BE49-F238E27FC236}">
                  <a16:creationId xmlns:a16="http://schemas.microsoft.com/office/drawing/2014/main" id="{7B37C231-4BDD-55BE-74E2-25AF5D99A98B}"/>
                </a:ext>
              </a:extLst>
            </p:cNvPr>
            <p:cNvGrpSpPr/>
            <p:nvPr/>
          </p:nvGrpSpPr>
          <p:grpSpPr>
            <a:xfrm>
              <a:off x="5432008" y="8733825"/>
              <a:ext cx="818142" cy="583040"/>
              <a:chOff x="3300333" y="6875181"/>
              <a:chExt cx="2140200" cy="1512332"/>
            </a:xfrm>
          </p:grpSpPr>
          <p:sp>
            <p:nvSpPr>
              <p:cNvPr id="1167" name="TextBox 1166">
                <a:extLst>
                  <a:ext uri="{FF2B5EF4-FFF2-40B4-BE49-F238E27FC236}">
                    <a16:creationId xmlns:a16="http://schemas.microsoft.com/office/drawing/2014/main" id="{759E233F-584B-75F2-4011-C6220095690B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68" name="Google Shape;162;p1">
                <a:extLst>
                  <a:ext uri="{FF2B5EF4-FFF2-40B4-BE49-F238E27FC236}">
                    <a16:creationId xmlns:a16="http://schemas.microsoft.com/office/drawing/2014/main" id="{7482689F-777B-B1E7-57D2-C57EE007518F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69" name="Google Shape;163;p1">
                <a:extLst>
                  <a:ext uri="{FF2B5EF4-FFF2-40B4-BE49-F238E27FC236}">
                    <a16:creationId xmlns:a16="http://schemas.microsoft.com/office/drawing/2014/main" id="{21A98921-A305-7CC3-31A6-63E23C1C8E7F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0" name="Google Shape;164;p1">
                <a:extLst>
                  <a:ext uri="{FF2B5EF4-FFF2-40B4-BE49-F238E27FC236}">
                    <a16:creationId xmlns:a16="http://schemas.microsoft.com/office/drawing/2014/main" id="{6EFC222B-724B-37CF-3153-2C573ADA8ABE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1" name="Google Shape;165;p1">
                <a:extLst>
                  <a:ext uri="{FF2B5EF4-FFF2-40B4-BE49-F238E27FC236}">
                    <a16:creationId xmlns:a16="http://schemas.microsoft.com/office/drawing/2014/main" id="{E74D7CE6-C95F-C335-2720-D8482A19EF0A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2" name="Google Shape;171;p1">
                <a:extLst>
                  <a:ext uri="{FF2B5EF4-FFF2-40B4-BE49-F238E27FC236}">
                    <a16:creationId xmlns:a16="http://schemas.microsoft.com/office/drawing/2014/main" id="{25877DCD-B23A-C79A-9BD9-D3B118E011BB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3" name="Google Shape;187;p1">
                <a:extLst>
                  <a:ext uri="{FF2B5EF4-FFF2-40B4-BE49-F238E27FC236}">
                    <a16:creationId xmlns:a16="http://schemas.microsoft.com/office/drawing/2014/main" id="{91708866-68E1-51CB-15EC-A6320647F528}"/>
                  </a:ext>
                </a:extLst>
              </p:cNvPr>
              <p:cNvCxnSpPr>
                <a:cxnSpLocks/>
                <a:stCxn id="1174" idx="6"/>
                <a:endCxn id="1168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74" name="Google Shape;188;p1">
                <a:extLst>
                  <a:ext uri="{FF2B5EF4-FFF2-40B4-BE49-F238E27FC236}">
                    <a16:creationId xmlns:a16="http://schemas.microsoft.com/office/drawing/2014/main" id="{A2D6357E-C6A9-EE3D-6912-F28B29D868AB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5" name="Google Shape;196;p1">
                <a:extLst>
                  <a:ext uri="{FF2B5EF4-FFF2-40B4-BE49-F238E27FC236}">
                    <a16:creationId xmlns:a16="http://schemas.microsoft.com/office/drawing/2014/main" id="{D95B887B-6DC7-D929-5654-7B3E86CBC01B}"/>
                  </a:ext>
                </a:extLst>
              </p:cNvPr>
              <p:cNvCxnSpPr>
                <a:cxnSpLocks/>
                <a:stCxn id="1174" idx="5"/>
                <a:endCxn id="1170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6" name="Google Shape;198;p1">
                <a:extLst>
                  <a:ext uri="{FF2B5EF4-FFF2-40B4-BE49-F238E27FC236}">
                    <a16:creationId xmlns:a16="http://schemas.microsoft.com/office/drawing/2014/main" id="{43447BD5-B01A-4F55-7686-3C1AAD5BB389}"/>
                  </a:ext>
                </a:extLst>
              </p:cNvPr>
              <p:cNvCxnSpPr>
                <a:cxnSpLocks/>
                <a:stCxn id="1174" idx="6"/>
                <a:endCxn id="1171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7" name="Google Shape;199;p1">
                <a:extLst>
                  <a:ext uri="{FF2B5EF4-FFF2-40B4-BE49-F238E27FC236}">
                    <a16:creationId xmlns:a16="http://schemas.microsoft.com/office/drawing/2014/main" id="{1D1E21AD-A0E3-D51E-1B28-1AE2DB9B0893}"/>
                  </a:ext>
                </a:extLst>
              </p:cNvPr>
              <p:cNvCxnSpPr>
                <a:cxnSpLocks/>
                <a:stCxn id="1174" idx="3"/>
                <a:endCxn id="1172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8" name="Google Shape;200;p1">
                <a:extLst>
                  <a:ext uri="{FF2B5EF4-FFF2-40B4-BE49-F238E27FC236}">
                    <a16:creationId xmlns:a16="http://schemas.microsoft.com/office/drawing/2014/main" id="{F4642247-840C-8707-2E3C-6EA53310A07A}"/>
                  </a:ext>
                </a:extLst>
              </p:cNvPr>
              <p:cNvCxnSpPr>
                <a:cxnSpLocks/>
                <a:stCxn id="1174" idx="6"/>
                <a:endCxn id="1169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79" name="TextBox 1178">
              <a:extLst>
                <a:ext uri="{FF2B5EF4-FFF2-40B4-BE49-F238E27FC236}">
                  <a16:creationId xmlns:a16="http://schemas.microsoft.com/office/drawing/2014/main" id="{03B3F5F6-86FD-1286-5DB8-E1753D20D50A}"/>
                </a:ext>
              </a:extLst>
            </p:cNvPr>
            <p:cNvSpPr txBox="1"/>
            <p:nvPr/>
          </p:nvSpPr>
          <p:spPr>
            <a:xfrm>
              <a:off x="4898186" y="9385556"/>
              <a:ext cx="1831780" cy="6556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000" dirty="0"/>
                <a:t>.</a:t>
              </a:r>
              <a:r>
                <a:rPr lang="en-US" sz="700" dirty="0" err="1"/>
                <a:t>json</a:t>
              </a:r>
              <a:endParaRPr lang="en-US" sz="1000" dirty="0"/>
            </a:p>
          </p:txBody>
        </p:sp>
        <p:sp>
          <p:nvSpPr>
            <p:cNvPr id="1181" name="Flowchart: Internal Storage 1180">
              <a:extLst>
                <a:ext uri="{FF2B5EF4-FFF2-40B4-BE49-F238E27FC236}">
                  <a16:creationId xmlns:a16="http://schemas.microsoft.com/office/drawing/2014/main" id="{1F00EFF6-9A02-89C8-96AB-A700159591A5}"/>
                </a:ext>
              </a:extLst>
            </p:cNvPr>
            <p:cNvSpPr/>
            <p:nvPr/>
          </p:nvSpPr>
          <p:spPr>
            <a:xfrm>
              <a:off x="7222739" y="8463563"/>
              <a:ext cx="1472339" cy="1138122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>
              <a:outerShdw blurRad="38100" dist="25400" dir="5400000" rotWithShape="0">
                <a:schemeClr val="bg1">
                  <a:alpha val="50000"/>
                </a:scheme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82" name="Group 1181">
              <a:extLst>
                <a:ext uri="{FF2B5EF4-FFF2-40B4-BE49-F238E27FC236}">
                  <a16:creationId xmlns:a16="http://schemas.microsoft.com/office/drawing/2014/main" id="{441AE116-05E8-A0EA-261A-896F339AA6A5}"/>
                </a:ext>
              </a:extLst>
            </p:cNvPr>
            <p:cNvGrpSpPr/>
            <p:nvPr/>
          </p:nvGrpSpPr>
          <p:grpSpPr>
            <a:xfrm>
              <a:off x="7625600" y="8753781"/>
              <a:ext cx="818142" cy="583040"/>
              <a:chOff x="3300333" y="6875181"/>
              <a:chExt cx="2140200" cy="1512332"/>
            </a:xfrm>
          </p:grpSpPr>
          <p:sp>
            <p:nvSpPr>
              <p:cNvPr id="1183" name="TextBox 1182">
                <a:extLst>
                  <a:ext uri="{FF2B5EF4-FFF2-40B4-BE49-F238E27FC236}">
                    <a16:creationId xmlns:a16="http://schemas.microsoft.com/office/drawing/2014/main" id="{EBAA19F2-6C92-AAF8-601C-17984061C4CA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84" name="Google Shape;162;p1">
                <a:extLst>
                  <a:ext uri="{FF2B5EF4-FFF2-40B4-BE49-F238E27FC236}">
                    <a16:creationId xmlns:a16="http://schemas.microsoft.com/office/drawing/2014/main" id="{3470B59E-BFD9-9F51-2D43-97B842B38322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5" name="Google Shape;163;p1">
                <a:extLst>
                  <a:ext uri="{FF2B5EF4-FFF2-40B4-BE49-F238E27FC236}">
                    <a16:creationId xmlns:a16="http://schemas.microsoft.com/office/drawing/2014/main" id="{E2BF796B-471B-6EE4-B96A-A6D32DE22793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6" name="Google Shape;164;p1">
                <a:extLst>
                  <a:ext uri="{FF2B5EF4-FFF2-40B4-BE49-F238E27FC236}">
                    <a16:creationId xmlns:a16="http://schemas.microsoft.com/office/drawing/2014/main" id="{F5D652CD-710D-5866-3B86-410244BE2DB0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7" name="Google Shape;165;p1">
                <a:extLst>
                  <a:ext uri="{FF2B5EF4-FFF2-40B4-BE49-F238E27FC236}">
                    <a16:creationId xmlns:a16="http://schemas.microsoft.com/office/drawing/2014/main" id="{2FD8D32D-02AF-28C3-8339-3228F4412822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8" name="Google Shape;171;p1">
                <a:extLst>
                  <a:ext uri="{FF2B5EF4-FFF2-40B4-BE49-F238E27FC236}">
                    <a16:creationId xmlns:a16="http://schemas.microsoft.com/office/drawing/2014/main" id="{BDEDC941-F453-8520-8A3D-483119080710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89" name="Google Shape;187;p1">
                <a:extLst>
                  <a:ext uri="{FF2B5EF4-FFF2-40B4-BE49-F238E27FC236}">
                    <a16:creationId xmlns:a16="http://schemas.microsoft.com/office/drawing/2014/main" id="{62DCCECE-9E16-DE62-B14B-C9AA06468897}"/>
                  </a:ext>
                </a:extLst>
              </p:cNvPr>
              <p:cNvCxnSpPr>
                <a:cxnSpLocks/>
                <a:stCxn id="1190" idx="6"/>
                <a:endCxn id="1184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90" name="Google Shape;188;p1">
                <a:extLst>
                  <a:ext uri="{FF2B5EF4-FFF2-40B4-BE49-F238E27FC236}">
                    <a16:creationId xmlns:a16="http://schemas.microsoft.com/office/drawing/2014/main" id="{9524231A-B832-DF10-E4D2-99398A3B2A3B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91" name="Google Shape;196;p1">
                <a:extLst>
                  <a:ext uri="{FF2B5EF4-FFF2-40B4-BE49-F238E27FC236}">
                    <a16:creationId xmlns:a16="http://schemas.microsoft.com/office/drawing/2014/main" id="{BA19AA3F-9A91-7B53-85FF-54E5DC0646BB}"/>
                  </a:ext>
                </a:extLst>
              </p:cNvPr>
              <p:cNvCxnSpPr>
                <a:cxnSpLocks/>
                <a:stCxn id="1190" idx="5"/>
                <a:endCxn id="1186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2" name="Google Shape;198;p1">
                <a:extLst>
                  <a:ext uri="{FF2B5EF4-FFF2-40B4-BE49-F238E27FC236}">
                    <a16:creationId xmlns:a16="http://schemas.microsoft.com/office/drawing/2014/main" id="{A20D2D3E-33D8-DEC9-64FC-2B1BD969532D}"/>
                  </a:ext>
                </a:extLst>
              </p:cNvPr>
              <p:cNvCxnSpPr>
                <a:cxnSpLocks/>
                <a:stCxn id="1190" idx="6"/>
                <a:endCxn id="1187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3" name="Google Shape;199;p1">
                <a:extLst>
                  <a:ext uri="{FF2B5EF4-FFF2-40B4-BE49-F238E27FC236}">
                    <a16:creationId xmlns:a16="http://schemas.microsoft.com/office/drawing/2014/main" id="{6A77A42F-58A6-6048-AA7E-F09A364A6D0B}"/>
                  </a:ext>
                </a:extLst>
              </p:cNvPr>
              <p:cNvCxnSpPr>
                <a:cxnSpLocks/>
                <a:stCxn id="1190" idx="3"/>
                <a:endCxn id="1188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4" name="Google Shape;200;p1">
                <a:extLst>
                  <a:ext uri="{FF2B5EF4-FFF2-40B4-BE49-F238E27FC236}">
                    <a16:creationId xmlns:a16="http://schemas.microsoft.com/office/drawing/2014/main" id="{E4C212D5-191B-EED3-C0C4-C2DBDAA661F7}"/>
                  </a:ext>
                </a:extLst>
              </p:cNvPr>
              <p:cNvCxnSpPr>
                <a:cxnSpLocks/>
                <a:stCxn id="1190" idx="6"/>
                <a:endCxn id="1185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95" name="TextBox 1194">
              <a:extLst>
                <a:ext uri="{FF2B5EF4-FFF2-40B4-BE49-F238E27FC236}">
                  <a16:creationId xmlns:a16="http://schemas.microsoft.com/office/drawing/2014/main" id="{34AB2FEA-F35C-B312-676B-6416B22BC256}"/>
                </a:ext>
              </a:extLst>
            </p:cNvPr>
            <p:cNvSpPr txBox="1"/>
            <p:nvPr/>
          </p:nvSpPr>
          <p:spPr>
            <a:xfrm>
              <a:off x="7045323" y="9500399"/>
              <a:ext cx="1831781" cy="551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700" dirty="0"/>
                <a:t>Tetrad GUI</a:t>
              </a:r>
            </a:p>
          </p:txBody>
        </p:sp>
      </p:grpSp>
      <p:cxnSp>
        <p:nvCxnSpPr>
          <p:cNvPr id="1220" name="Straight Arrow Connector 1219">
            <a:extLst>
              <a:ext uri="{FF2B5EF4-FFF2-40B4-BE49-F238E27FC236}">
                <a16:creationId xmlns:a16="http://schemas.microsoft.com/office/drawing/2014/main" id="{6456AFAF-A53C-857E-1B99-7499AE22A8D8}"/>
              </a:ext>
            </a:extLst>
          </p:cNvPr>
          <p:cNvCxnSpPr>
            <a:cxnSpLocks/>
          </p:cNvCxnSpPr>
          <p:nvPr/>
        </p:nvCxnSpPr>
        <p:spPr>
          <a:xfrm flipV="1">
            <a:off x="540609" y="7400770"/>
            <a:ext cx="542836" cy="383885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1" name="Straight Arrow Connector 1220">
            <a:extLst>
              <a:ext uri="{FF2B5EF4-FFF2-40B4-BE49-F238E27FC236}">
                <a16:creationId xmlns:a16="http://schemas.microsoft.com/office/drawing/2014/main" id="{D1ECA6B4-CD3E-55CB-433E-137965D0E203}"/>
              </a:ext>
            </a:extLst>
          </p:cNvPr>
          <p:cNvCxnSpPr>
            <a:cxnSpLocks/>
          </p:cNvCxnSpPr>
          <p:nvPr/>
        </p:nvCxnSpPr>
        <p:spPr>
          <a:xfrm>
            <a:off x="1686611" y="7382435"/>
            <a:ext cx="371548" cy="283991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4" name="Straight Arrow Connector 1223">
            <a:extLst>
              <a:ext uri="{FF2B5EF4-FFF2-40B4-BE49-F238E27FC236}">
                <a16:creationId xmlns:a16="http://schemas.microsoft.com/office/drawing/2014/main" id="{87E5492F-036D-C706-6E8F-F159F82206CE}"/>
              </a:ext>
            </a:extLst>
          </p:cNvPr>
          <p:cNvCxnSpPr>
            <a:cxnSpLocks/>
          </p:cNvCxnSpPr>
          <p:nvPr/>
        </p:nvCxnSpPr>
        <p:spPr>
          <a:xfrm flipV="1">
            <a:off x="1950245" y="8298297"/>
            <a:ext cx="178758" cy="30308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6" name="Straight Arrow Connector 1225">
            <a:extLst>
              <a:ext uri="{FF2B5EF4-FFF2-40B4-BE49-F238E27FC236}">
                <a16:creationId xmlns:a16="http://schemas.microsoft.com/office/drawing/2014/main" id="{FCF9D4AE-B408-4198-47ED-0A60570CAF9B}"/>
              </a:ext>
            </a:extLst>
          </p:cNvPr>
          <p:cNvCxnSpPr>
            <a:cxnSpLocks/>
          </p:cNvCxnSpPr>
          <p:nvPr/>
        </p:nvCxnSpPr>
        <p:spPr>
          <a:xfrm>
            <a:off x="2446049" y="8029635"/>
            <a:ext cx="321536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9" name="Straight Arrow Connector 1228">
            <a:extLst>
              <a:ext uri="{FF2B5EF4-FFF2-40B4-BE49-F238E27FC236}">
                <a16:creationId xmlns:a16="http://schemas.microsoft.com/office/drawing/2014/main" id="{E3A60987-B50F-9A50-9A5D-04A9E72F9C97}"/>
              </a:ext>
            </a:extLst>
          </p:cNvPr>
          <p:cNvCxnSpPr>
            <a:cxnSpLocks/>
          </p:cNvCxnSpPr>
          <p:nvPr/>
        </p:nvCxnSpPr>
        <p:spPr>
          <a:xfrm>
            <a:off x="3325817" y="8048125"/>
            <a:ext cx="2118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33" name="TextBox 1232">
            <a:extLst>
              <a:ext uri="{FF2B5EF4-FFF2-40B4-BE49-F238E27FC236}">
                <a16:creationId xmlns:a16="http://schemas.microsoft.com/office/drawing/2014/main" id="{4E4F7BF9-482C-6F9E-F77D-00837F6D2B9C}"/>
              </a:ext>
            </a:extLst>
          </p:cNvPr>
          <p:cNvSpPr txBox="1"/>
          <p:nvPr/>
        </p:nvSpPr>
        <p:spPr>
          <a:xfrm>
            <a:off x="1137303" y="7536186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notebook/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05039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D7431-B777-779B-7CC6-E97A9480D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B5452B53-2142-D0B9-89C1-0094A0087030}"/>
              </a:ext>
            </a:extLst>
          </p:cNvPr>
          <p:cNvSpPr txBox="1"/>
          <p:nvPr/>
        </p:nvSpPr>
        <p:spPr>
          <a:xfrm>
            <a:off x="182880" y="5120640"/>
            <a:ext cx="4001355" cy="12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wraps the Tetrad Java API through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, exposing individual modules in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api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(data, score, algorithm, graph, knowledge, bootstrapping) that provide direct function level control over each step of the causal search pipeline.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expands on the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TetradSearch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API by breaking its single object, shared state pipeline into individual modules.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924" name="Folded Corner 5">
            <a:extLst>
              <a:ext uri="{FF2B5EF4-FFF2-40B4-BE49-F238E27FC236}">
                <a16:creationId xmlns:a16="http://schemas.microsoft.com/office/drawing/2014/main" id="{8533A66D-5EF9-602A-4118-E0F0487419CF}"/>
              </a:ext>
            </a:extLst>
          </p:cNvPr>
          <p:cNvSpPr/>
          <p:nvPr/>
        </p:nvSpPr>
        <p:spPr>
          <a:xfrm rot="10800000" flipH="1">
            <a:off x="5199804" y="8322461"/>
            <a:ext cx="944261" cy="1140881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F87DB200-6162-F601-18A5-A7F736D3B3D5}"/>
              </a:ext>
            </a:extLst>
          </p:cNvPr>
          <p:cNvSpPr/>
          <p:nvPr/>
        </p:nvSpPr>
        <p:spPr>
          <a:xfrm>
            <a:off x="7718005" y="6528063"/>
            <a:ext cx="416903" cy="565648"/>
          </a:xfrm>
          <a:prstGeom prst="rect">
            <a:avLst/>
          </a:prstGeom>
          <a:solidFill>
            <a:srgbClr val="FFFFFF"/>
          </a:solidFill>
          <a:ln w="254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36" name="Image" descr="Image">
            <a:extLst>
              <a:ext uri="{FF2B5EF4-FFF2-40B4-BE49-F238E27FC236}">
                <a16:creationId xmlns:a16="http://schemas.microsoft.com/office/drawing/2014/main" id="{FEAAA1C3-B6D6-0B95-F0CF-0C05F6ED2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68" y="-661924"/>
            <a:ext cx="5598432" cy="2990088"/>
          </a:xfrm>
          <a:prstGeom prst="rect">
            <a:avLst/>
          </a:prstGeom>
          <a:ln w="12700">
            <a:miter lim="400000"/>
          </a:ln>
        </p:spPr>
      </p:pic>
      <p:sp>
        <p:nvSpPr>
          <p:cNvPr id="937" name="Line">
            <a:extLst>
              <a:ext uri="{FF2B5EF4-FFF2-40B4-BE49-F238E27FC236}">
                <a16:creationId xmlns:a16="http://schemas.microsoft.com/office/drawing/2014/main" id="{094EB28A-DF4C-1A0C-A439-EC140D3D1902}"/>
              </a:ext>
            </a:extLst>
          </p:cNvPr>
          <p:cNvSpPr/>
          <p:nvPr/>
        </p:nvSpPr>
        <p:spPr>
          <a:xfrm flipV="1">
            <a:off x="213255" y="10296246"/>
            <a:ext cx="13462982" cy="39499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38" name="YOUR LOGO…">
            <a:extLst>
              <a:ext uri="{FF2B5EF4-FFF2-40B4-BE49-F238E27FC236}">
                <a16:creationId xmlns:a16="http://schemas.microsoft.com/office/drawing/2014/main" id="{925220D4-2D3D-4706-5285-D82EEEDBED57}"/>
              </a:ext>
            </a:extLst>
          </p:cNvPr>
          <p:cNvSpPr/>
          <p:nvPr/>
        </p:nvSpPr>
        <p:spPr>
          <a:xfrm>
            <a:off x="170343" y="10207710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sz="2400" dirty="0"/>
              <a:t>Kumu</a:t>
            </a:r>
            <a:endParaRPr sz="2400" dirty="0"/>
          </a:p>
        </p:txBody>
      </p:sp>
      <p:sp>
        <p:nvSpPr>
          <p:cNvPr id="939" name="Three Column Layout: : CHEAT SHEET">
            <a:extLst>
              <a:ext uri="{FF2B5EF4-FFF2-40B4-BE49-F238E27FC236}">
                <a16:creationId xmlns:a16="http://schemas.microsoft.com/office/drawing/2014/main" id="{C17034B5-A21B-FB1C-316D-4950717112C0}"/>
              </a:ext>
            </a:extLst>
          </p:cNvPr>
          <p:cNvSpPr txBox="1">
            <a:spLocks/>
          </p:cNvSpPr>
          <p:nvPr/>
        </p:nvSpPr>
        <p:spPr>
          <a:xfrm>
            <a:off x="275721" y="361177"/>
            <a:ext cx="10898129" cy="803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1pPr>
            <a:lvl2pPr marL="0" marR="0" indent="228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2pPr>
            <a:lvl3pPr marL="0" marR="0" indent="457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3pPr>
            <a:lvl4pPr marL="0" marR="0" indent="685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4pPr>
            <a:lvl5pPr marL="0" marR="0" indent="9144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5pPr>
            <a:lvl6pPr marL="0" marR="0" indent="11430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6pPr>
            <a:lvl7pPr marL="0" marR="0" indent="1371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7pPr>
            <a:lvl8pPr marL="0" marR="0" indent="1600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8pPr>
            <a:lvl9pPr marL="0" marR="0" indent="1828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9pPr>
          </a:lstStyle>
          <a:p>
            <a:pPr hangingPunct="1"/>
            <a:r>
              <a:rPr lang="en-US"/>
              <a:t>Pykumu : : </a:t>
            </a:r>
            <a:r>
              <a:rPr lang="en-US"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941" name="Layout Suggestions">
            <a:extLst>
              <a:ext uri="{FF2B5EF4-FFF2-40B4-BE49-F238E27FC236}">
                <a16:creationId xmlns:a16="http://schemas.microsoft.com/office/drawing/2014/main" id="{611366F4-F398-D950-8F73-F7DA178F853E}"/>
              </a:ext>
            </a:extLst>
          </p:cNvPr>
          <p:cNvSpPr txBox="1"/>
          <p:nvPr/>
        </p:nvSpPr>
        <p:spPr>
          <a:xfrm>
            <a:off x="182880" y="1463040"/>
            <a:ext cx="262128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About</a:t>
            </a:r>
            <a:endParaRPr dirty="0"/>
          </a:p>
        </p:txBody>
      </p:sp>
      <p:sp>
        <p:nvSpPr>
          <p:cNvPr id="943" name="TextBox 942">
            <a:extLst>
              <a:ext uri="{FF2B5EF4-FFF2-40B4-BE49-F238E27FC236}">
                <a16:creationId xmlns:a16="http://schemas.microsoft.com/office/drawing/2014/main" id="{EA7DB965-32FD-76C9-D563-C59F4A7BD9B5}"/>
              </a:ext>
            </a:extLst>
          </p:cNvPr>
          <p:cNvSpPr txBox="1"/>
          <p:nvPr/>
        </p:nvSpPr>
        <p:spPr>
          <a:xfrm>
            <a:off x="6080760" y="10327008"/>
            <a:ext cx="7747698" cy="500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1000" b="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1000" b="0" dirty="0">
                <a:solidFill>
                  <a:schemeClr val="tx1"/>
                </a:solidFill>
              </a:rPr>
              <a:t> Phuong Pham,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Carlos Paradis</a:t>
            </a:r>
            <a:r>
              <a:rPr lang="en-US" sz="1000" b="0" dirty="0">
                <a:solidFill>
                  <a:schemeClr val="tx1"/>
                </a:solidFill>
              </a:rPr>
              <a:t>, Adam Graham, Jared Seto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• Kai</a:t>
            </a:r>
            <a:r>
              <a:rPr kumimoji="0" lang="haw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ā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ulu package version 0.0.0.9700 (in development) •  Updated: 2026-04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4" name="Logistics">
            <a:extLst>
              <a:ext uri="{FF2B5EF4-FFF2-40B4-BE49-F238E27FC236}">
                <a16:creationId xmlns:a16="http://schemas.microsoft.com/office/drawing/2014/main" id="{B9164E1B-F55C-E95A-8339-10F38CD43170}"/>
              </a:ext>
            </a:extLst>
          </p:cNvPr>
          <p:cNvSpPr txBox="1"/>
          <p:nvPr/>
        </p:nvSpPr>
        <p:spPr>
          <a:xfrm>
            <a:off x="9601200" y="146304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Data Input</a:t>
            </a:r>
          </a:p>
        </p:txBody>
      </p:sp>
      <p:sp>
        <p:nvSpPr>
          <p:cNvPr id="945" name="Logistics">
            <a:extLst>
              <a:ext uri="{FF2B5EF4-FFF2-40B4-BE49-F238E27FC236}">
                <a16:creationId xmlns:a16="http://schemas.microsoft.com/office/drawing/2014/main" id="{B48B9313-9C26-0312-32E0-26292D719A0A}"/>
              </a:ext>
            </a:extLst>
          </p:cNvPr>
          <p:cNvSpPr txBox="1"/>
          <p:nvPr/>
        </p:nvSpPr>
        <p:spPr>
          <a:xfrm>
            <a:off x="182880" y="6675120"/>
            <a:ext cx="332142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Command Line Interface</a:t>
            </a:r>
          </a:p>
        </p:txBody>
      </p:sp>
      <p:sp>
        <p:nvSpPr>
          <p:cNvPr id="947" name="Basics">
            <a:extLst>
              <a:ext uri="{FF2B5EF4-FFF2-40B4-BE49-F238E27FC236}">
                <a16:creationId xmlns:a16="http://schemas.microsoft.com/office/drawing/2014/main" id="{F738D1C5-7EF9-49DD-BEF5-CEC05A5DBA8E}"/>
              </a:ext>
            </a:extLst>
          </p:cNvPr>
          <p:cNvSpPr txBox="1"/>
          <p:nvPr/>
        </p:nvSpPr>
        <p:spPr>
          <a:xfrm>
            <a:off x="182880" y="2834640"/>
            <a:ext cx="16991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lc="http://schemas.openxmlformats.org/drawingml/2006/lockedCanvas" val="1"/>
            </a:ext>
          </a:extLst>
        </p:spPr>
        <p:txBody>
          <a:bodyPr wrap="none" lIns="12700" tIns="12700" rIns="12700" bIns="127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 err="1"/>
              <a:t>Pykumu</a:t>
            </a:r>
            <a:r>
              <a:rPr lang="en-US" dirty="0"/>
              <a:t> API </a:t>
            </a:r>
            <a:endParaRPr dirty="0"/>
          </a:p>
        </p:txBody>
      </p:sp>
      <p:sp>
        <p:nvSpPr>
          <p:cNvPr id="948" name="Manipulate Variables">
            <a:extLst>
              <a:ext uri="{FF2B5EF4-FFF2-40B4-BE49-F238E27FC236}">
                <a16:creationId xmlns:a16="http://schemas.microsoft.com/office/drawing/2014/main" id="{A80A498A-215B-BDFB-B9A0-186437D4C53A}"/>
              </a:ext>
            </a:extLst>
          </p:cNvPr>
          <p:cNvSpPr txBox="1"/>
          <p:nvPr/>
        </p:nvSpPr>
        <p:spPr>
          <a:xfrm>
            <a:off x="4754880" y="1463040"/>
            <a:ext cx="3414396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Analysis Workflow</a:t>
            </a:r>
          </a:p>
        </p:txBody>
      </p:sp>
      <p:graphicFrame>
        <p:nvGraphicFramePr>
          <p:cNvPr id="952" name="Table">
            <a:extLst>
              <a:ext uri="{FF2B5EF4-FFF2-40B4-BE49-F238E27FC236}">
                <a16:creationId xmlns:a16="http://schemas.microsoft.com/office/drawing/2014/main" id="{AA9D32F2-5027-EE9F-433A-647E024D3ABA}"/>
              </a:ext>
            </a:extLst>
          </p:cNvPr>
          <p:cNvGraphicFramePr/>
          <p:nvPr/>
        </p:nvGraphicFramePr>
        <p:xfrm>
          <a:off x="7572970" y="1860776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3" name="Table">
            <a:extLst>
              <a:ext uri="{FF2B5EF4-FFF2-40B4-BE49-F238E27FC236}">
                <a16:creationId xmlns:a16="http://schemas.microsoft.com/office/drawing/2014/main" id="{0CE7C69D-52A9-7990-8AC6-3426260BFF1D}"/>
              </a:ext>
            </a:extLst>
          </p:cNvPr>
          <p:cNvGraphicFramePr/>
          <p:nvPr/>
        </p:nvGraphicFramePr>
        <p:xfrm>
          <a:off x="8061338" y="3158012"/>
          <a:ext cx="646626" cy="63799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07771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2262694748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819122332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296678260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322319369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17903980"/>
                    </a:ext>
                  </a:extLst>
                </a:gridCol>
              </a:tblGrid>
              <a:tr h="127598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4" name="Table">
            <a:extLst>
              <a:ext uri="{FF2B5EF4-FFF2-40B4-BE49-F238E27FC236}">
                <a16:creationId xmlns:a16="http://schemas.microsoft.com/office/drawing/2014/main" id="{00E08C6B-7017-060E-A791-F6A59D74F2B9}"/>
              </a:ext>
            </a:extLst>
          </p:cNvPr>
          <p:cNvGraphicFramePr/>
          <p:nvPr/>
        </p:nvGraphicFramePr>
        <p:xfrm>
          <a:off x="57722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5" name="Table">
            <a:extLst>
              <a:ext uri="{FF2B5EF4-FFF2-40B4-BE49-F238E27FC236}">
                <a16:creationId xmlns:a16="http://schemas.microsoft.com/office/drawing/2014/main" id="{F6417472-486E-C4EF-7723-8D8A7F1470E3}"/>
              </a:ext>
            </a:extLst>
          </p:cNvPr>
          <p:cNvGraphicFramePr/>
          <p:nvPr/>
        </p:nvGraphicFramePr>
        <p:xfrm>
          <a:off x="7118882" y="3162435"/>
          <a:ext cx="627864" cy="6400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933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102988"/>
                  </a:ext>
                </a:extLst>
              </a:tr>
            </a:tbl>
          </a:graphicData>
        </a:graphic>
      </p:graphicFrame>
      <p:graphicFrame>
        <p:nvGraphicFramePr>
          <p:cNvPr id="956" name="Table">
            <a:extLst>
              <a:ext uri="{FF2B5EF4-FFF2-40B4-BE49-F238E27FC236}">
                <a16:creationId xmlns:a16="http://schemas.microsoft.com/office/drawing/2014/main" id="{5A01F28F-B247-972B-CDB6-7160BB0ED854}"/>
              </a:ext>
            </a:extLst>
          </p:cNvPr>
          <p:cNvGraphicFramePr/>
          <p:nvPr/>
        </p:nvGraphicFramePr>
        <p:xfrm>
          <a:off x="53483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7" name="Plus Sign 956">
            <a:extLst>
              <a:ext uri="{FF2B5EF4-FFF2-40B4-BE49-F238E27FC236}">
                <a16:creationId xmlns:a16="http://schemas.microsoft.com/office/drawing/2014/main" id="{0FC425F4-8C3F-3EF0-3EA6-DF9ADDCBE87E}"/>
              </a:ext>
            </a:extLst>
          </p:cNvPr>
          <p:cNvSpPr/>
          <p:nvPr/>
        </p:nvSpPr>
        <p:spPr>
          <a:xfrm>
            <a:off x="5608866" y="3336992"/>
            <a:ext cx="118473" cy="124938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8" name="Plus Sign 957">
            <a:extLst>
              <a:ext uri="{FF2B5EF4-FFF2-40B4-BE49-F238E27FC236}">
                <a16:creationId xmlns:a16="http://schemas.microsoft.com/office/drawing/2014/main" id="{C3530965-58C4-FA27-6DCD-4DA11EEC2233}"/>
              </a:ext>
            </a:extLst>
          </p:cNvPr>
          <p:cNvSpPr/>
          <p:nvPr/>
        </p:nvSpPr>
        <p:spPr>
          <a:xfrm>
            <a:off x="7845219" y="3413769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9" name="Left Brace 958">
            <a:extLst>
              <a:ext uri="{FF2B5EF4-FFF2-40B4-BE49-F238E27FC236}">
                <a16:creationId xmlns:a16="http://schemas.microsoft.com/office/drawing/2014/main" id="{055C5EC2-01A9-B2BF-C5A5-C1E8D5F8D460}"/>
              </a:ext>
            </a:extLst>
          </p:cNvPr>
          <p:cNvSpPr/>
          <p:nvPr/>
        </p:nvSpPr>
        <p:spPr>
          <a:xfrm>
            <a:off x="7013808" y="3168613"/>
            <a:ext cx="45719" cy="623765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0" name="TextBox 959">
            <a:extLst>
              <a:ext uri="{FF2B5EF4-FFF2-40B4-BE49-F238E27FC236}">
                <a16:creationId xmlns:a16="http://schemas.microsoft.com/office/drawing/2014/main" id="{204786FC-D7AB-B31A-A9CC-38C23CE467C7}"/>
              </a:ext>
            </a:extLst>
          </p:cNvPr>
          <p:cNvSpPr txBox="1"/>
          <p:nvPr/>
        </p:nvSpPr>
        <p:spPr>
          <a:xfrm>
            <a:off x="6843820" y="3302155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1" name="Left Brace 960">
            <a:extLst>
              <a:ext uri="{FF2B5EF4-FFF2-40B4-BE49-F238E27FC236}">
                <a16:creationId xmlns:a16="http://schemas.microsoft.com/office/drawing/2014/main" id="{18DDCEEE-2572-302E-261E-58FBAC52D309}"/>
              </a:ext>
            </a:extLst>
          </p:cNvPr>
          <p:cNvSpPr/>
          <p:nvPr/>
        </p:nvSpPr>
        <p:spPr>
          <a:xfrm rot="5400000">
            <a:off x="8355720" y="2751534"/>
            <a:ext cx="51104" cy="639868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202EC75D-3DB6-7BE9-1F03-CE88DE22B72A}"/>
              </a:ext>
            </a:extLst>
          </p:cNvPr>
          <p:cNvSpPr txBox="1"/>
          <p:nvPr/>
        </p:nvSpPr>
        <p:spPr>
          <a:xfrm>
            <a:off x="8298111" y="2791232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3" name="TextBox 962">
            <a:extLst>
              <a:ext uri="{FF2B5EF4-FFF2-40B4-BE49-F238E27FC236}">
                <a16:creationId xmlns:a16="http://schemas.microsoft.com/office/drawing/2014/main" id="{054B3F20-E01F-39AB-6FDD-1719C7FDC01D}"/>
              </a:ext>
            </a:extLst>
          </p:cNvPr>
          <p:cNvSpPr txBox="1"/>
          <p:nvPr/>
        </p:nvSpPr>
        <p:spPr>
          <a:xfrm>
            <a:off x="7059527" y="2904070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CVE_ID</a:t>
            </a:r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D271B7CE-D72E-8835-F91F-EADB025CDD6E}"/>
              </a:ext>
            </a:extLst>
          </p:cNvPr>
          <p:cNvSpPr txBox="1"/>
          <p:nvPr/>
        </p:nvSpPr>
        <p:spPr>
          <a:xfrm>
            <a:off x="5375035" y="3638435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5" name="TextBox 964">
            <a:extLst>
              <a:ext uri="{FF2B5EF4-FFF2-40B4-BE49-F238E27FC236}">
                <a16:creationId xmlns:a16="http://schemas.microsoft.com/office/drawing/2014/main" id="{6768A0BC-6F15-D557-DD5D-873B2F7ACE78}"/>
              </a:ext>
            </a:extLst>
          </p:cNvPr>
          <p:cNvSpPr txBox="1"/>
          <p:nvPr/>
        </p:nvSpPr>
        <p:spPr>
          <a:xfrm>
            <a:off x="8265907" y="4958917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BA8CA116-F910-8529-00F8-A364AFCFA1F3}"/>
              </a:ext>
            </a:extLst>
          </p:cNvPr>
          <p:cNvSpPr txBox="1"/>
          <p:nvPr/>
        </p:nvSpPr>
        <p:spPr>
          <a:xfrm>
            <a:off x="7143372" y="3761779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dirty="0"/>
              <a:t>4. Indicator Features 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7" name="TextBox 966">
            <a:extLst>
              <a:ext uri="{FF2B5EF4-FFF2-40B4-BE49-F238E27FC236}">
                <a16:creationId xmlns:a16="http://schemas.microsoft.com/office/drawing/2014/main" id="{32FCA17D-65E7-183F-92B5-0C504389962C}"/>
              </a:ext>
            </a:extLst>
          </p:cNvPr>
          <p:cNvSpPr txBox="1"/>
          <p:nvPr/>
        </p:nvSpPr>
        <p:spPr>
          <a:xfrm>
            <a:off x="5218291" y="3762554"/>
            <a:ext cx="872964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/>
              <a:t>3. Time Lag</a:t>
            </a:r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96660784-F5A5-50DE-BFB5-D2EBEA753F70}"/>
              </a:ext>
            </a:extLst>
          </p:cNvPr>
          <p:cNvSpPr txBox="1"/>
          <p:nvPr/>
        </p:nvSpPr>
        <p:spPr>
          <a:xfrm>
            <a:off x="7464986" y="2450238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2. Dataset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69" name="Connector: Elbow 968">
            <a:extLst>
              <a:ext uri="{FF2B5EF4-FFF2-40B4-BE49-F238E27FC236}">
                <a16:creationId xmlns:a16="http://schemas.microsoft.com/office/drawing/2014/main" id="{5BF10278-C453-A61D-CAE1-7F0EB42E4093}"/>
              </a:ext>
            </a:extLst>
          </p:cNvPr>
          <p:cNvCxnSpPr>
            <a:cxnSpLocks/>
            <a:endCxn id="995" idx="1"/>
          </p:cNvCxnSpPr>
          <p:nvPr/>
        </p:nvCxnSpPr>
        <p:spPr>
          <a:xfrm flipH="1">
            <a:off x="5209590" y="2279027"/>
            <a:ext cx="3498712" cy="1167195"/>
          </a:xfrm>
          <a:prstGeom prst="bentConnector5">
            <a:avLst>
              <a:gd name="adj1" fmla="val -9550"/>
              <a:gd name="adj2" fmla="val 50000"/>
              <a:gd name="adj3" fmla="val 112547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70" name="Rectangle 969">
            <a:extLst>
              <a:ext uri="{FF2B5EF4-FFF2-40B4-BE49-F238E27FC236}">
                <a16:creationId xmlns:a16="http://schemas.microsoft.com/office/drawing/2014/main" id="{62DA6E1E-B012-3694-07EB-B5FF4211BC66}"/>
              </a:ext>
            </a:extLst>
          </p:cNvPr>
          <p:cNvSpPr/>
          <p:nvPr/>
        </p:nvSpPr>
        <p:spPr>
          <a:xfrm>
            <a:off x="7370620" y="1800587"/>
            <a:ext cx="1443262" cy="996921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971" name="Table">
            <a:extLst>
              <a:ext uri="{FF2B5EF4-FFF2-40B4-BE49-F238E27FC236}">
                <a16:creationId xmlns:a16="http://schemas.microsoft.com/office/drawing/2014/main" id="{04953FD0-11BA-CC04-AD9B-FED5CC5FF99E}"/>
              </a:ext>
            </a:extLst>
          </p:cNvPr>
          <p:cNvGraphicFramePr/>
          <p:nvPr/>
        </p:nvGraphicFramePr>
        <p:xfrm>
          <a:off x="5798497" y="4490104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72" name="Table">
            <a:extLst>
              <a:ext uri="{FF2B5EF4-FFF2-40B4-BE49-F238E27FC236}">
                <a16:creationId xmlns:a16="http://schemas.microsoft.com/office/drawing/2014/main" id="{4F184D67-6730-2B2E-7881-0F295CEE4ADF}"/>
              </a:ext>
            </a:extLst>
          </p:cNvPr>
          <p:cNvGraphicFramePr/>
          <p:nvPr/>
        </p:nvGraphicFramePr>
        <p:xfrm>
          <a:off x="5305505" y="4499036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3" name="Plus Sign 972">
            <a:extLst>
              <a:ext uri="{FF2B5EF4-FFF2-40B4-BE49-F238E27FC236}">
                <a16:creationId xmlns:a16="http://schemas.microsoft.com/office/drawing/2014/main" id="{0EFFBFC4-7D52-0B51-3AA2-C0366B8DBE89}"/>
              </a:ext>
            </a:extLst>
          </p:cNvPr>
          <p:cNvSpPr/>
          <p:nvPr/>
        </p:nvSpPr>
        <p:spPr>
          <a:xfrm>
            <a:off x="5599687" y="4490104"/>
            <a:ext cx="12099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74" name="TextBox 973">
            <a:extLst>
              <a:ext uri="{FF2B5EF4-FFF2-40B4-BE49-F238E27FC236}">
                <a16:creationId xmlns:a16="http://schemas.microsoft.com/office/drawing/2014/main" id="{F6B4365A-71F4-948C-8D5B-201E9963692C}"/>
              </a:ext>
            </a:extLst>
          </p:cNvPr>
          <p:cNvSpPr txBox="1"/>
          <p:nvPr/>
        </p:nvSpPr>
        <p:spPr>
          <a:xfrm>
            <a:off x="5103638" y="5067603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5. Null Features</a:t>
            </a:r>
          </a:p>
        </p:txBody>
      </p:sp>
      <p:cxnSp>
        <p:nvCxnSpPr>
          <p:cNvPr id="975" name="Straight Arrow Connector 974">
            <a:extLst>
              <a:ext uri="{FF2B5EF4-FFF2-40B4-BE49-F238E27FC236}">
                <a16:creationId xmlns:a16="http://schemas.microsoft.com/office/drawing/2014/main" id="{C45B115F-16C6-8F8D-8BB5-9AC3C612CF12}"/>
              </a:ext>
            </a:extLst>
          </p:cNvPr>
          <p:cNvCxnSpPr>
            <a:cxnSpLocks/>
          </p:cNvCxnSpPr>
          <p:nvPr/>
        </p:nvCxnSpPr>
        <p:spPr>
          <a:xfrm>
            <a:off x="5512825" y="4664976"/>
            <a:ext cx="285672" cy="357737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6" name="Straight Arrow Connector 975">
            <a:extLst>
              <a:ext uri="{FF2B5EF4-FFF2-40B4-BE49-F238E27FC236}">
                <a16:creationId xmlns:a16="http://schemas.microsoft.com/office/drawing/2014/main" id="{9AC57832-24C8-2070-E46A-E934335F3FA6}"/>
              </a:ext>
            </a:extLst>
          </p:cNvPr>
          <p:cNvCxnSpPr>
            <a:cxnSpLocks/>
          </p:cNvCxnSpPr>
          <p:nvPr/>
        </p:nvCxnSpPr>
        <p:spPr>
          <a:xfrm>
            <a:off x="5512825" y="4798565"/>
            <a:ext cx="285672" cy="11364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7" name="Straight Arrow Connector 976">
            <a:extLst>
              <a:ext uri="{FF2B5EF4-FFF2-40B4-BE49-F238E27FC236}">
                <a16:creationId xmlns:a16="http://schemas.microsoft.com/office/drawing/2014/main" id="{37CFE364-CBE7-115B-762D-0EC0EDB3BF1D}"/>
              </a:ext>
            </a:extLst>
          </p:cNvPr>
          <p:cNvCxnSpPr>
            <a:cxnSpLocks/>
            <a:endCxn id="971" idx="1"/>
          </p:cNvCxnSpPr>
          <p:nvPr/>
        </p:nvCxnSpPr>
        <p:spPr>
          <a:xfrm flipV="1">
            <a:off x="5506921" y="4786981"/>
            <a:ext cx="291576" cy="12208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8" name="Straight Arrow Connector 977">
            <a:extLst>
              <a:ext uri="{FF2B5EF4-FFF2-40B4-BE49-F238E27FC236}">
                <a16:creationId xmlns:a16="http://schemas.microsoft.com/office/drawing/2014/main" id="{642D6E4A-6E9A-80AF-A898-131F99E6EB72}"/>
              </a:ext>
            </a:extLst>
          </p:cNvPr>
          <p:cNvCxnSpPr>
            <a:cxnSpLocks/>
          </p:cNvCxnSpPr>
          <p:nvPr/>
        </p:nvCxnSpPr>
        <p:spPr>
          <a:xfrm flipV="1">
            <a:off x="5509148" y="4664976"/>
            <a:ext cx="289349" cy="36609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9" name="Connector: Elbow 978">
            <a:extLst>
              <a:ext uri="{FF2B5EF4-FFF2-40B4-BE49-F238E27FC236}">
                <a16:creationId xmlns:a16="http://schemas.microsoft.com/office/drawing/2014/main" id="{03F58A30-2254-DB0F-0E97-791AA8399847}"/>
              </a:ext>
            </a:extLst>
          </p:cNvPr>
          <p:cNvCxnSpPr>
            <a:cxnSpLocks/>
            <a:stCxn id="992" idx="3"/>
            <a:endCxn id="993" idx="1"/>
          </p:cNvCxnSpPr>
          <p:nvPr/>
        </p:nvCxnSpPr>
        <p:spPr>
          <a:xfrm flipH="1">
            <a:off x="5202130" y="3497252"/>
            <a:ext cx="3609346" cy="1247213"/>
          </a:xfrm>
          <a:prstGeom prst="bentConnector5">
            <a:avLst>
              <a:gd name="adj1" fmla="val -6334"/>
              <a:gd name="adj2" fmla="val 54130"/>
              <a:gd name="adj3" fmla="val 111841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0" name="TextBox 979">
            <a:extLst>
              <a:ext uri="{FF2B5EF4-FFF2-40B4-BE49-F238E27FC236}">
                <a16:creationId xmlns:a16="http://schemas.microsoft.com/office/drawing/2014/main" id="{853A959F-B2F0-DBB9-8FF3-D7D4EFBA4228}"/>
              </a:ext>
            </a:extLst>
          </p:cNvPr>
          <p:cNvSpPr txBox="1"/>
          <p:nvPr/>
        </p:nvSpPr>
        <p:spPr>
          <a:xfrm>
            <a:off x="5700184" y="4315800"/>
            <a:ext cx="481869" cy="2000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NV-ID</a:t>
            </a:r>
          </a:p>
        </p:txBody>
      </p:sp>
      <p:pic>
        <p:nvPicPr>
          <p:cNvPr id="981" name="Picture 980" descr="A picture containing text&#10;&#10;Description automatically generated">
            <a:extLst>
              <a:ext uri="{FF2B5EF4-FFF2-40B4-BE49-F238E27FC236}">
                <a16:creationId xmlns:a16="http://schemas.microsoft.com/office/drawing/2014/main" id="{F380F6B8-AB35-1454-840E-3490FFAA09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501" y="1793256"/>
            <a:ext cx="575884" cy="668768"/>
          </a:xfrm>
          <a:prstGeom prst="rect">
            <a:avLst/>
          </a:prstGeom>
        </p:spPr>
      </p:pic>
      <p:sp>
        <p:nvSpPr>
          <p:cNvPr id="982" name="TextBox 981">
            <a:extLst>
              <a:ext uri="{FF2B5EF4-FFF2-40B4-BE49-F238E27FC236}">
                <a16:creationId xmlns:a16="http://schemas.microsoft.com/office/drawing/2014/main" id="{D8362666-4AB8-FCCE-5065-30E8C068DE0D}"/>
              </a:ext>
            </a:extLst>
          </p:cNvPr>
          <p:cNvSpPr txBox="1"/>
          <p:nvPr/>
        </p:nvSpPr>
        <p:spPr>
          <a:xfrm>
            <a:off x="5004947" y="2423307"/>
            <a:ext cx="131138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1. </a:t>
            </a:r>
            <a:r>
              <a:rPr lang="en-US" dirty="0" err="1"/>
              <a:t>sailuh</a:t>
            </a:r>
            <a:r>
              <a:rPr lang="en-US" dirty="0"/>
              <a:t>/</a:t>
            </a:r>
            <a:r>
              <a:rPr lang="en-US" dirty="0" err="1"/>
              <a:t>kaiaulu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83" name="TextBox 982">
            <a:extLst>
              <a:ext uri="{FF2B5EF4-FFF2-40B4-BE49-F238E27FC236}">
                <a16:creationId xmlns:a16="http://schemas.microsoft.com/office/drawing/2014/main" id="{8B227813-3E8D-3D69-2275-5B77C4C89009}"/>
              </a:ext>
            </a:extLst>
          </p:cNvPr>
          <p:cNvSpPr txBox="1"/>
          <p:nvPr/>
        </p:nvSpPr>
        <p:spPr>
          <a:xfrm>
            <a:off x="7046974" y="7065060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7.2 Domain Knowledge</a:t>
            </a:r>
          </a:p>
        </p:txBody>
      </p:sp>
      <p:cxnSp>
        <p:nvCxnSpPr>
          <p:cNvPr id="984" name="Connector: Elbow 983">
            <a:extLst>
              <a:ext uri="{FF2B5EF4-FFF2-40B4-BE49-F238E27FC236}">
                <a16:creationId xmlns:a16="http://schemas.microsoft.com/office/drawing/2014/main" id="{65208E08-24D3-00D3-83D0-CD4AD9D99290}"/>
              </a:ext>
            </a:extLst>
          </p:cNvPr>
          <p:cNvCxnSpPr>
            <a:cxnSpLocks/>
            <a:endCxn id="1102" idx="3"/>
          </p:cNvCxnSpPr>
          <p:nvPr/>
        </p:nvCxnSpPr>
        <p:spPr>
          <a:xfrm flipH="1">
            <a:off x="8451473" y="5231923"/>
            <a:ext cx="266193" cy="568100"/>
          </a:xfrm>
          <a:prstGeom prst="bentConnector3">
            <a:avLst>
              <a:gd name="adj1" fmla="val -12022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5" name="Connector: Elbow 984">
            <a:extLst>
              <a:ext uri="{FF2B5EF4-FFF2-40B4-BE49-F238E27FC236}">
                <a16:creationId xmlns:a16="http://schemas.microsoft.com/office/drawing/2014/main" id="{EA1F3F37-8A87-676B-C856-07C090FDC63C}"/>
              </a:ext>
            </a:extLst>
          </p:cNvPr>
          <p:cNvCxnSpPr>
            <a:cxnSpLocks/>
          </p:cNvCxnSpPr>
          <p:nvPr/>
        </p:nvCxnSpPr>
        <p:spPr>
          <a:xfrm rot="10800000">
            <a:off x="6191032" y="6088412"/>
            <a:ext cx="1339738" cy="753131"/>
          </a:xfrm>
          <a:prstGeom prst="bentConnector3">
            <a:avLst>
              <a:gd name="adj1" fmla="val 6433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6" name="Connector: Elbow 985">
            <a:extLst>
              <a:ext uri="{FF2B5EF4-FFF2-40B4-BE49-F238E27FC236}">
                <a16:creationId xmlns:a16="http://schemas.microsoft.com/office/drawing/2014/main" id="{C798F6C0-9AB8-C8C8-2C89-8679BC237B01}"/>
              </a:ext>
            </a:extLst>
          </p:cNvPr>
          <p:cNvCxnSpPr>
            <a:cxnSpLocks/>
            <a:stCxn id="1103" idx="1"/>
          </p:cNvCxnSpPr>
          <p:nvPr/>
        </p:nvCxnSpPr>
        <p:spPr>
          <a:xfrm rot="10800000" flipV="1">
            <a:off x="6191031" y="5778057"/>
            <a:ext cx="1218821" cy="310351"/>
          </a:xfrm>
          <a:prstGeom prst="bentConnector3">
            <a:avLst>
              <a:gd name="adj1" fmla="val 61094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7" name="Connector: Elbow 986">
            <a:extLst>
              <a:ext uri="{FF2B5EF4-FFF2-40B4-BE49-F238E27FC236}">
                <a16:creationId xmlns:a16="http://schemas.microsoft.com/office/drawing/2014/main" id="{ACF64C73-AFE8-7CAB-607A-259976FF8465}"/>
              </a:ext>
            </a:extLst>
          </p:cNvPr>
          <p:cNvCxnSpPr>
            <a:cxnSpLocks/>
            <a:stCxn id="997" idx="1"/>
          </p:cNvCxnSpPr>
          <p:nvPr/>
        </p:nvCxnSpPr>
        <p:spPr>
          <a:xfrm rot="10800000" flipV="1">
            <a:off x="6191031" y="3958395"/>
            <a:ext cx="868497" cy="2130014"/>
          </a:xfrm>
          <a:prstGeom prst="bentConnector3">
            <a:avLst>
              <a:gd name="adj1" fmla="val 44736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8" name="Connector: Elbow 987">
            <a:extLst>
              <a:ext uri="{FF2B5EF4-FFF2-40B4-BE49-F238E27FC236}">
                <a16:creationId xmlns:a16="http://schemas.microsoft.com/office/drawing/2014/main" id="{566E9A0C-2EF0-BBAA-A1AD-9A560E6D0C98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146994" y="6098332"/>
            <a:ext cx="1516881" cy="1905124"/>
          </a:xfrm>
          <a:prstGeom prst="bentConnector4">
            <a:avLst>
              <a:gd name="adj1" fmla="val -25117"/>
              <a:gd name="adj2" fmla="val 73163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9" name="Straight Arrow Connector 988">
            <a:extLst>
              <a:ext uri="{FF2B5EF4-FFF2-40B4-BE49-F238E27FC236}">
                <a16:creationId xmlns:a16="http://schemas.microsoft.com/office/drawing/2014/main" id="{C2E87DDF-7DCB-C184-1E89-7738A30095B2}"/>
              </a:ext>
            </a:extLst>
          </p:cNvPr>
          <p:cNvCxnSpPr>
            <a:cxnSpLocks/>
          </p:cNvCxnSpPr>
          <p:nvPr/>
        </p:nvCxnSpPr>
        <p:spPr>
          <a:xfrm>
            <a:off x="6463103" y="4734321"/>
            <a:ext cx="540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0" name="Straight Arrow Connector 989">
            <a:extLst>
              <a:ext uri="{FF2B5EF4-FFF2-40B4-BE49-F238E27FC236}">
                <a16:creationId xmlns:a16="http://schemas.microsoft.com/office/drawing/2014/main" id="{1E3E2379-A308-B156-02BD-AB304894381B}"/>
              </a:ext>
            </a:extLst>
          </p:cNvPr>
          <p:cNvCxnSpPr>
            <a:cxnSpLocks/>
          </p:cNvCxnSpPr>
          <p:nvPr/>
        </p:nvCxnSpPr>
        <p:spPr>
          <a:xfrm>
            <a:off x="6578363" y="2180213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1" name="TextBox 990">
            <a:extLst>
              <a:ext uri="{FF2B5EF4-FFF2-40B4-BE49-F238E27FC236}">
                <a16:creationId xmlns:a16="http://schemas.microsoft.com/office/drawing/2014/main" id="{5F52A7CE-D26C-F3B5-79FF-0B1E6A4114F1}"/>
              </a:ext>
            </a:extLst>
          </p:cNvPr>
          <p:cNvSpPr txBox="1"/>
          <p:nvPr/>
        </p:nvSpPr>
        <p:spPr>
          <a:xfrm>
            <a:off x="8573910" y="1854240"/>
            <a:ext cx="130496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2" name="TextBox 991">
            <a:extLst>
              <a:ext uri="{FF2B5EF4-FFF2-40B4-BE49-F238E27FC236}">
                <a16:creationId xmlns:a16="http://schemas.microsoft.com/office/drawing/2014/main" id="{933A6FE5-70B9-964D-E949-DA7A871B3D3D}"/>
              </a:ext>
            </a:extLst>
          </p:cNvPr>
          <p:cNvSpPr txBox="1"/>
          <p:nvPr/>
        </p:nvSpPr>
        <p:spPr>
          <a:xfrm>
            <a:off x="8701206" y="333699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3" name="TextBox 992">
            <a:extLst>
              <a:ext uri="{FF2B5EF4-FFF2-40B4-BE49-F238E27FC236}">
                <a16:creationId xmlns:a16="http://schemas.microsoft.com/office/drawing/2014/main" id="{4A1A348B-1643-F32B-3015-FD94C5A3E07B}"/>
              </a:ext>
            </a:extLst>
          </p:cNvPr>
          <p:cNvSpPr txBox="1"/>
          <p:nvPr/>
        </p:nvSpPr>
        <p:spPr>
          <a:xfrm>
            <a:off x="5202130" y="458420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D44929B7-8018-DC73-AC30-5838D4175EBA}"/>
              </a:ext>
            </a:extLst>
          </p:cNvPr>
          <p:cNvCxnSpPr>
            <a:cxnSpLocks/>
          </p:cNvCxnSpPr>
          <p:nvPr/>
        </p:nvCxnSpPr>
        <p:spPr>
          <a:xfrm>
            <a:off x="6304400" y="3467696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5" name="TextBox 994">
            <a:extLst>
              <a:ext uri="{FF2B5EF4-FFF2-40B4-BE49-F238E27FC236}">
                <a16:creationId xmlns:a16="http://schemas.microsoft.com/office/drawing/2014/main" id="{5E2FC4CF-3591-DF19-6D64-3004B1FE89DF}"/>
              </a:ext>
            </a:extLst>
          </p:cNvPr>
          <p:cNvSpPr txBox="1"/>
          <p:nvPr/>
        </p:nvSpPr>
        <p:spPr>
          <a:xfrm>
            <a:off x="5209590" y="328596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6" name="TextBox 995">
            <a:extLst>
              <a:ext uri="{FF2B5EF4-FFF2-40B4-BE49-F238E27FC236}">
                <a16:creationId xmlns:a16="http://schemas.microsoft.com/office/drawing/2014/main" id="{A87E6733-AB90-1F70-7333-CBFE0D0EACA2}"/>
              </a:ext>
            </a:extLst>
          </p:cNvPr>
          <p:cNvSpPr txBox="1"/>
          <p:nvPr/>
        </p:nvSpPr>
        <p:spPr>
          <a:xfrm rot="5400000">
            <a:off x="7893098" y="3828354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7" name="TextBox 996">
            <a:extLst>
              <a:ext uri="{FF2B5EF4-FFF2-40B4-BE49-F238E27FC236}">
                <a16:creationId xmlns:a16="http://schemas.microsoft.com/office/drawing/2014/main" id="{16C76F12-14A3-44B4-7375-60500C3FA987}"/>
              </a:ext>
            </a:extLst>
          </p:cNvPr>
          <p:cNvSpPr txBox="1"/>
          <p:nvPr/>
        </p:nvSpPr>
        <p:spPr>
          <a:xfrm>
            <a:off x="7059527" y="379813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8" name="TextBox 997">
            <a:extLst>
              <a:ext uri="{FF2B5EF4-FFF2-40B4-BE49-F238E27FC236}">
                <a16:creationId xmlns:a16="http://schemas.microsoft.com/office/drawing/2014/main" id="{E4F1B9C9-F760-59F9-AA79-CBCD4B87C8B1}"/>
              </a:ext>
            </a:extLst>
          </p:cNvPr>
          <p:cNvSpPr txBox="1"/>
          <p:nvPr/>
        </p:nvSpPr>
        <p:spPr>
          <a:xfrm rot="5400000">
            <a:off x="6616888" y="7825672"/>
            <a:ext cx="97008" cy="231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99" name="Graphic 998" descr="Cmd Terminal with solid fill">
            <a:extLst>
              <a:ext uri="{FF2B5EF4-FFF2-40B4-BE49-F238E27FC236}">
                <a16:creationId xmlns:a16="http://schemas.microsoft.com/office/drawing/2014/main" id="{74C2B926-728B-51FB-AE2F-81FFE3D95A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761" y="8507313"/>
            <a:ext cx="451448" cy="455550"/>
          </a:xfrm>
          <a:prstGeom prst="rect">
            <a:avLst/>
          </a:prstGeom>
        </p:spPr>
      </p:pic>
      <p:pic>
        <p:nvPicPr>
          <p:cNvPr id="1000" name="Graphic 999" descr="Paper outline">
            <a:extLst>
              <a:ext uri="{FF2B5EF4-FFF2-40B4-BE49-F238E27FC236}">
                <a16:creationId xmlns:a16="http://schemas.microsoft.com/office/drawing/2014/main" id="{C62330E3-B824-361B-558C-F738D49B7B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7882" y="7907026"/>
            <a:ext cx="261597" cy="261597"/>
          </a:xfrm>
          <a:prstGeom prst="rect">
            <a:avLst/>
          </a:prstGeom>
        </p:spPr>
      </p:pic>
      <p:sp>
        <p:nvSpPr>
          <p:cNvPr id="1001" name="TextBox 1000">
            <a:extLst>
              <a:ext uri="{FF2B5EF4-FFF2-40B4-BE49-F238E27FC236}">
                <a16:creationId xmlns:a16="http://schemas.microsoft.com/office/drawing/2014/main" id="{895F70BE-39ED-FEC9-70FD-863899A46CF6}"/>
              </a:ext>
            </a:extLst>
          </p:cNvPr>
          <p:cNvSpPr txBox="1"/>
          <p:nvPr/>
        </p:nvSpPr>
        <p:spPr>
          <a:xfrm>
            <a:off x="1933340" y="7711753"/>
            <a:ext cx="687081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API</a:t>
            </a:r>
          </a:p>
        </p:txBody>
      </p:sp>
      <p:pic>
        <p:nvPicPr>
          <p:cNvPr id="1002" name="Graphic 1001" descr="Paper outline">
            <a:extLst>
              <a:ext uri="{FF2B5EF4-FFF2-40B4-BE49-F238E27FC236}">
                <a16:creationId xmlns:a16="http://schemas.microsoft.com/office/drawing/2014/main" id="{8E6C0763-C88E-D1B1-1E7D-ECFE29DAED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2978" y="8472819"/>
            <a:ext cx="527267" cy="527267"/>
          </a:xfrm>
          <a:prstGeom prst="rect">
            <a:avLst/>
          </a:prstGeom>
        </p:spPr>
      </p:pic>
      <p:sp>
        <p:nvSpPr>
          <p:cNvPr id="1003" name="TextBox 1002">
            <a:extLst>
              <a:ext uri="{FF2B5EF4-FFF2-40B4-BE49-F238E27FC236}">
                <a16:creationId xmlns:a16="http://schemas.microsoft.com/office/drawing/2014/main" id="{28EEEB62-2ACD-3AAB-D32F-DA7DA8FA86CD}"/>
              </a:ext>
            </a:extLst>
          </p:cNvPr>
          <p:cNvSpPr txBox="1"/>
          <p:nvPr/>
        </p:nvSpPr>
        <p:spPr>
          <a:xfrm>
            <a:off x="1509263" y="8904797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exec/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E5DE914B-44FE-CAEA-E712-17C10A6A1FE2}"/>
              </a:ext>
            </a:extLst>
          </p:cNvPr>
          <p:cNvSpPr/>
          <p:nvPr/>
        </p:nvSpPr>
        <p:spPr>
          <a:xfrm>
            <a:off x="185141" y="7885351"/>
            <a:ext cx="710936" cy="20869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&lt;</a:t>
            </a: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File_paths</a:t>
            </a: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&gt;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09" name="Straight Arrow Connector 1008">
            <a:extLst>
              <a:ext uri="{FF2B5EF4-FFF2-40B4-BE49-F238E27FC236}">
                <a16:creationId xmlns:a16="http://schemas.microsoft.com/office/drawing/2014/main" id="{4A02904F-91DE-7E22-6D67-32E2BDBD2FE7}"/>
              </a:ext>
            </a:extLst>
          </p:cNvPr>
          <p:cNvCxnSpPr>
            <a:cxnSpLocks/>
          </p:cNvCxnSpPr>
          <p:nvPr/>
        </p:nvCxnSpPr>
        <p:spPr>
          <a:xfrm>
            <a:off x="1292611" y="8729259"/>
            <a:ext cx="164486" cy="719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10" name="Straight Arrow Connector 1009">
            <a:extLst>
              <a:ext uri="{FF2B5EF4-FFF2-40B4-BE49-F238E27FC236}">
                <a16:creationId xmlns:a16="http://schemas.microsoft.com/office/drawing/2014/main" id="{AA99342A-3E48-78E3-3C0F-E42002876091}"/>
              </a:ext>
            </a:extLst>
          </p:cNvPr>
          <p:cNvCxnSpPr>
            <a:cxnSpLocks/>
          </p:cNvCxnSpPr>
          <p:nvPr/>
        </p:nvCxnSpPr>
        <p:spPr>
          <a:xfrm>
            <a:off x="540609" y="8202553"/>
            <a:ext cx="251152" cy="274997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2E11148F-8C09-1617-452C-249298E8D028}"/>
              </a:ext>
            </a:extLst>
          </p:cNvPr>
          <p:cNvSpPr txBox="1"/>
          <p:nvPr/>
        </p:nvSpPr>
        <p:spPr>
          <a:xfrm>
            <a:off x="182880" y="932688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Exec scripts provides command line access to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Pykumu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API package, allowing its causal analysis capabilities to be accessed via the terminal or server side without writing Python code. 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1019" name="TextBox 1018">
            <a:extLst>
              <a:ext uri="{FF2B5EF4-FFF2-40B4-BE49-F238E27FC236}">
                <a16:creationId xmlns:a16="http://schemas.microsoft.com/office/drawing/2014/main" id="{F666AD54-6827-2366-C3CA-B9489C0A4313}"/>
              </a:ext>
            </a:extLst>
          </p:cNvPr>
          <p:cNvSpPr txBox="1"/>
          <p:nvPr/>
        </p:nvSpPr>
        <p:spPr>
          <a:xfrm>
            <a:off x="232303" y="393741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>
                <a:solidFill>
                  <a:schemeClr val="bg2">
                    <a:lumMod val="10000"/>
                  </a:schemeClr>
                </a:solidFill>
              </a:rPr>
              <a:t>Tetrad Java API</a:t>
            </a:r>
          </a:p>
        </p:txBody>
      </p:sp>
      <p:pic>
        <p:nvPicPr>
          <p:cNvPr id="1020" name="Graphic 1019" descr="Paper outline">
            <a:extLst>
              <a:ext uri="{FF2B5EF4-FFF2-40B4-BE49-F238E27FC236}">
                <a16:creationId xmlns:a16="http://schemas.microsoft.com/office/drawing/2014/main" id="{2138ED67-6D42-E455-7B98-13AB3127B2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0954" y="4265041"/>
            <a:ext cx="527267" cy="527267"/>
          </a:xfrm>
          <a:prstGeom prst="rect">
            <a:avLst/>
          </a:prstGeom>
        </p:spPr>
      </p:pic>
      <p:cxnSp>
        <p:nvCxnSpPr>
          <p:cNvPr id="1023" name="Straight Arrow Connector 1022">
            <a:extLst>
              <a:ext uri="{FF2B5EF4-FFF2-40B4-BE49-F238E27FC236}">
                <a16:creationId xmlns:a16="http://schemas.microsoft.com/office/drawing/2014/main" id="{1D4EEB48-3589-9A0B-744D-8AF275822AD5}"/>
              </a:ext>
            </a:extLst>
          </p:cNvPr>
          <p:cNvCxnSpPr>
            <a:cxnSpLocks/>
          </p:cNvCxnSpPr>
          <p:nvPr/>
        </p:nvCxnSpPr>
        <p:spPr>
          <a:xfrm>
            <a:off x="1028993" y="3837479"/>
            <a:ext cx="9092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0AF44DDA-84F8-352B-3630-E934C714F309}"/>
              </a:ext>
            </a:extLst>
          </p:cNvPr>
          <p:cNvCxnSpPr>
            <a:cxnSpLocks/>
          </p:cNvCxnSpPr>
          <p:nvPr/>
        </p:nvCxnSpPr>
        <p:spPr>
          <a:xfrm>
            <a:off x="1023055" y="3972100"/>
            <a:ext cx="340872" cy="391832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DD65E5CA-9690-5D55-BA50-387E1A4E1F6D}"/>
              </a:ext>
            </a:extLst>
          </p:cNvPr>
          <p:cNvSpPr txBox="1"/>
          <p:nvPr/>
        </p:nvSpPr>
        <p:spPr>
          <a:xfrm>
            <a:off x="815127" y="4126651"/>
            <a:ext cx="536637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4B74F83E-A52E-F0AD-F8B8-7EF2E306E7B2}"/>
              </a:ext>
            </a:extLst>
          </p:cNvPr>
          <p:cNvSpPr txBox="1"/>
          <p:nvPr/>
        </p:nvSpPr>
        <p:spPr>
          <a:xfrm>
            <a:off x="1510648" y="4422940"/>
            <a:ext cx="371960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" b="0" dirty="0" err="1">
                <a:solidFill>
                  <a:schemeClr val="tx1">
                    <a:lumMod val="50000"/>
                  </a:schemeClr>
                </a:solidFill>
              </a:rPr>
              <a:t>TetradSearch</a:t>
            </a:r>
            <a:r>
              <a:rPr lang="en-US" sz="300" b="0" dirty="0">
                <a:solidFill>
                  <a:schemeClr val="tx1">
                    <a:lumMod val="50000"/>
                  </a:schemeClr>
                </a:solidFill>
              </a:rPr>
              <a:t> Class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19631912-D42B-E749-5F94-9CB751434FB1}"/>
              </a:ext>
            </a:extLst>
          </p:cNvPr>
          <p:cNvSpPr txBox="1"/>
          <p:nvPr/>
        </p:nvSpPr>
        <p:spPr>
          <a:xfrm>
            <a:off x="2385334" y="3867687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 API</a:t>
            </a:r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5719D684-1D40-5E49-4587-BC150408EEB1}"/>
              </a:ext>
            </a:extLst>
          </p:cNvPr>
          <p:cNvCxnSpPr>
            <a:cxnSpLocks/>
          </p:cNvCxnSpPr>
          <p:nvPr/>
        </p:nvCxnSpPr>
        <p:spPr>
          <a:xfrm flipV="1">
            <a:off x="1979305" y="4126651"/>
            <a:ext cx="450843" cy="239726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41" name="Folded Corner 3">
            <a:extLst>
              <a:ext uri="{FF2B5EF4-FFF2-40B4-BE49-F238E27FC236}">
                <a16:creationId xmlns:a16="http://schemas.microsoft.com/office/drawing/2014/main" id="{57BCD3D7-89FB-943F-D717-3514FC3C86D8}"/>
              </a:ext>
            </a:extLst>
          </p:cNvPr>
          <p:cNvSpPr/>
          <p:nvPr/>
        </p:nvSpPr>
        <p:spPr>
          <a:xfrm rot="10800000" flipH="1">
            <a:off x="2129004" y="337722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2" name="Folded Corner 4">
            <a:extLst>
              <a:ext uri="{FF2B5EF4-FFF2-40B4-BE49-F238E27FC236}">
                <a16:creationId xmlns:a16="http://schemas.microsoft.com/office/drawing/2014/main" id="{F03CF4A4-699C-9530-D5A5-8498A5B77AA9}"/>
              </a:ext>
            </a:extLst>
          </p:cNvPr>
          <p:cNvSpPr/>
          <p:nvPr/>
        </p:nvSpPr>
        <p:spPr>
          <a:xfrm rot="10800000" flipH="1">
            <a:off x="2095922" y="3405690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3" name="Folded Corner 5">
            <a:extLst>
              <a:ext uri="{FF2B5EF4-FFF2-40B4-BE49-F238E27FC236}">
                <a16:creationId xmlns:a16="http://schemas.microsoft.com/office/drawing/2014/main" id="{0B5DC425-849B-903A-8A56-DD90D6657BB0}"/>
              </a:ext>
            </a:extLst>
          </p:cNvPr>
          <p:cNvSpPr/>
          <p:nvPr/>
        </p:nvSpPr>
        <p:spPr>
          <a:xfrm rot="10800000" flipH="1">
            <a:off x="2055485" y="343946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1DD5952C-D2C9-7157-3F51-59247A67B13B}"/>
              </a:ext>
            </a:extLst>
          </p:cNvPr>
          <p:cNvSpPr txBox="1"/>
          <p:nvPr/>
        </p:nvSpPr>
        <p:spPr>
          <a:xfrm>
            <a:off x="2026720" y="358624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tetrad.py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76A56859-3B23-70D3-BECA-834CE336B276}"/>
              </a:ext>
            </a:extLst>
          </p:cNvPr>
          <p:cNvSpPr txBox="1"/>
          <p:nvPr/>
        </p:nvSpPr>
        <p:spPr>
          <a:xfrm>
            <a:off x="1285591" y="470218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TetradSearch.py</a:t>
            </a:r>
          </a:p>
        </p:txBody>
      </p: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53ADD373-37C8-22F2-0DAB-58990D3672B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6384" y="118872"/>
            <a:ext cx="1444661" cy="1673352"/>
          </a:xfrm>
          <a:prstGeom prst="rect">
            <a:avLst/>
          </a:prstGeom>
        </p:spPr>
      </p:pic>
      <p:sp>
        <p:nvSpPr>
          <p:cNvPr id="1065" name="TextBox 1064">
            <a:extLst>
              <a:ext uri="{FF2B5EF4-FFF2-40B4-BE49-F238E27FC236}">
                <a16:creationId xmlns:a16="http://schemas.microsoft.com/office/drawing/2014/main" id="{1E6BBFF4-733E-5CAB-D853-8AC875A59F53}"/>
              </a:ext>
            </a:extLst>
          </p:cNvPr>
          <p:cNvSpPr txBox="1"/>
          <p:nvPr/>
        </p:nvSpPr>
        <p:spPr>
          <a:xfrm>
            <a:off x="7318302" y="5055976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6. Causal Search</a:t>
            </a:r>
          </a:p>
        </p:txBody>
      </p:sp>
      <p:graphicFrame>
        <p:nvGraphicFramePr>
          <p:cNvPr id="1066" name="Table">
            <a:extLst>
              <a:ext uri="{FF2B5EF4-FFF2-40B4-BE49-F238E27FC236}">
                <a16:creationId xmlns:a16="http://schemas.microsoft.com/office/drawing/2014/main" id="{2109B070-C154-D0AE-AC3D-EFBE935F315D}"/>
              </a:ext>
            </a:extLst>
          </p:cNvPr>
          <p:cNvGraphicFramePr/>
          <p:nvPr/>
        </p:nvGraphicFramePr>
        <p:xfrm>
          <a:off x="8297833" y="443547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67" name="Table">
            <a:extLst>
              <a:ext uri="{FF2B5EF4-FFF2-40B4-BE49-F238E27FC236}">
                <a16:creationId xmlns:a16="http://schemas.microsoft.com/office/drawing/2014/main" id="{C50FA863-79E0-E04F-D8F2-95D405C54EB8}"/>
              </a:ext>
            </a:extLst>
          </p:cNvPr>
          <p:cNvGraphicFramePr/>
          <p:nvPr/>
        </p:nvGraphicFramePr>
        <p:xfrm>
          <a:off x="7722129" y="443293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68" name="Arrow: Right 1067">
            <a:extLst>
              <a:ext uri="{FF2B5EF4-FFF2-40B4-BE49-F238E27FC236}">
                <a16:creationId xmlns:a16="http://schemas.microsoft.com/office/drawing/2014/main" id="{E9D0060E-9F4C-B5BF-7E89-6B3F485A3B22}"/>
              </a:ext>
            </a:extLst>
          </p:cNvPr>
          <p:cNvSpPr/>
          <p:nvPr/>
        </p:nvSpPr>
        <p:spPr>
          <a:xfrm>
            <a:off x="8027045" y="4694321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069" name="Table">
            <a:extLst>
              <a:ext uri="{FF2B5EF4-FFF2-40B4-BE49-F238E27FC236}">
                <a16:creationId xmlns:a16="http://schemas.microsoft.com/office/drawing/2014/main" id="{898CB02D-8D1F-E447-74E6-F85C0DF90DC7}"/>
              </a:ext>
            </a:extLst>
          </p:cNvPr>
          <p:cNvGraphicFramePr/>
          <p:nvPr/>
        </p:nvGraphicFramePr>
        <p:xfrm>
          <a:off x="7343385" y="4435227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0" name="Plus Sign 1069">
            <a:extLst>
              <a:ext uri="{FF2B5EF4-FFF2-40B4-BE49-F238E27FC236}">
                <a16:creationId xmlns:a16="http://schemas.microsoft.com/office/drawing/2014/main" id="{00F09E4D-CF22-8311-90DC-AAD11BD993F2}"/>
              </a:ext>
            </a:extLst>
          </p:cNvPr>
          <p:cNvSpPr/>
          <p:nvPr/>
        </p:nvSpPr>
        <p:spPr>
          <a:xfrm>
            <a:off x="7572970" y="4672577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D850373A-EA5E-1D8B-D13D-035F7860B8D1}"/>
              </a:ext>
            </a:extLst>
          </p:cNvPr>
          <p:cNvSpPr txBox="1"/>
          <p:nvPr/>
        </p:nvSpPr>
        <p:spPr>
          <a:xfrm>
            <a:off x="7370545" y="4957546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F2CB3C3-C12C-B920-AA2A-FFF15410C11A}"/>
              </a:ext>
            </a:extLst>
          </p:cNvPr>
          <p:cNvSpPr txBox="1"/>
          <p:nvPr/>
        </p:nvSpPr>
        <p:spPr>
          <a:xfrm>
            <a:off x="7632893" y="4956657"/>
            <a:ext cx="424651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Ind. </a:t>
            </a: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Ftr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81120630-D497-EF8A-233D-3001F4423FAD}"/>
              </a:ext>
            </a:extLst>
          </p:cNvPr>
          <p:cNvSpPr txBox="1"/>
          <p:nvPr/>
        </p:nvSpPr>
        <p:spPr>
          <a:xfrm>
            <a:off x="7948233" y="4515228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CCCBFB4E-3FF7-8758-5A8E-86D24B494A5C}"/>
              </a:ext>
            </a:extLst>
          </p:cNvPr>
          <p:cNvSpPr txBox="1"/>
          <p:nvPr/>
        </p:nvSpPr>
        <p:spPr>
          <a:xfrm>
            <a:off x="7194148" y="5974847"/>
            <a:ext cx="1619559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7.1 1-PNEF Threshold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673A38AD-EA3A-C92E-F292-A81F2FA07960}"/>
              </a:ext>
            </a:extLst>
          </p:cNvPr>
          <p:cNvSpPr txBox="1"/>
          <p:nvPr/>
        </p:nvSpPr>
        <p:spPr>
          <a:xfrm>
            <a:off x="5731442" y="3637622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8ED21BF9-7F95-88F9-CF53-CF441407E497}"/>
              </a:ext>
            </a:extLst>
          </p:cNvPr>
          <p:cNvSpPr txBox="1"/>
          <p:nvPr/>
        </p:nvSpPr>
        <p:spPr>
          <a:xfrm>
            <a:off x="4766552" y="6486513"/>
            <a:ext cx="1831781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8. Domain Knowledge Causal Search</a:t>
            </a:r>
          </a:p>
        </p:txBody>
      </p:sp>
      <p:graphicFrame>
        <p:nvGraphicFramePr>
          <p:cNvPr id="1077" name="Table">
            <a:extLst>
              <a:ext uri="{FF2B5EF4-FFF2-40B4-BE49-F238E27FC236}">
                <a16:creationId xmlns:a16="http://schemas.microsoft.com/office/drawing/2014/main" id="{AC21B635-E314-BD04-A4E9-829D6D0F8EA4}"/>
              </a:ext>
            </a:extLst>
          </p:cNvPr>
          <p:cNvGraphicFramePr/>
          <p:nvPr/>
        </p:nvGraphicFramePr>
        <p:xfrm>
          <a:off x="5269967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78" name="Table">
            <a:extLst>
              <a:ext uri="{FF2B5EF4-FFF2-40B4-BE49-F238E27FC236}">
                <a16:creationId xmlns:a16="http://schemas.microsoft.com/office/drawing/2014/main" id="{B53146E3-A58B-AB05-350E-76B9063B4B43}"/>
              </a:ext>
            </a:extLst>
          </p:cNvPr>
          <p:cNvGraphicFramePr/>
          <p:nvPr/>
        </p:nvGraphicFramePr>
        <p:xfrm>
          <a:off x="5828244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9" name="TextBox 1078">
            <a:extLst>
              <a:ext uri="{FF2B5EF4-FFF2-40B4-BE49-F238E27FC236}">
                <a16:creationId xmlns:a16="http://schemas.microsoft.com/office/drawing/2014/main" id="{4B6CD14F-28B9-6CAA-D855-26CBD8ECB867}"/>
              </a:ext>
            </a:extLst>
          </p:cNvPr>
          <p:cNvSpPr txBox="1"/>
          <p:nvPr/>
        </p:nvSpPr>
        <p:spPr>
          <a:xfrm>
            <a:off x="5856148" y="6329618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88A58D53-88D6-CF3C-14BD-926F969A5B41}"/>
              </a:ext>
            </a:extLst>
          </p:cNvPr>
          <p:cNvSpPr txBox="1"/>
          <p:nvPr/>
        </p:nvSpPr>
        <p:spPr>
          <a:xfrm>
            <a:off x="5242857" y="6333739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81" name="Arrow: Right 1080">
            <a:extLst>
              <a:ext uri="{FF2B5EF4-FFF2-40B4-BE49-F238E27FC236}">
                <a16:creationId xmlns:a16="http://schemas.microsoft.com/office/drawing/2014/main" id="{C5746D09-4A23-C453-0951-9FF9A622E16F}"/>
              </a:ext>
            </a:extLst>
          </p:cNvPr>
          <p:cNvSpPr/>
          <p:nvPr/>
        </p:nvSpPr>
        <p:spPr>
          <a:xfrm rot="10800000">
            <a:off x="5552507" y="6049867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5A8ACFD1-1A83-3DDC-D513-5D3686AB46A4}"/>
              </a:ext>
            </a:extLst>
          </p:cNvPr>
          <p:cNvSpPr txBox="1"/>
          <p:nvPr/>
        </p:nvSpPr>
        <p:spPr>
          <a:xfrm>
            <a:off x="5490560" y="5860025"/>
            <a:ext cx="339664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E5631ADC-E0EE-DA4D-C181-8A298253DE6D}"/>
              </a:ext>
            </a:extLst>
          </p:cNvPr>
          <p:cNvSpPr/>
          <p:nvPr/>
        </p:nvSpPr>
        <p:spPr>
          <a:xfrm>
            <a:off x="8040579" y="5752125"/>
            <a:ext cx="206996" cy="6210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679F7BEA-1051-FFFE-E1CC-0D632CB0A404}"/>
              </a:ext>
            </a:extLst>
          </p:cNvPr>
          <p:cNvCxnSpPr>
            <a:cxnSpLocks/>
          </p:cNvCxnSpPr>
          <p:nvPr/>
        </p:nvCxnSpPr>
        <p:spPr>
          <a:xfrm>
            <a:off x="8010337" y="5687156"/>
            <a:ext cx="0" cy="188119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7F28ABFE-124A-24CD-5C75-061D1760EF76}"/>
              </a:ext>
            </a:extLst>
          </p:cNvPr>
          <p:cNvCxnSpPr>
            <a:cxnSpLocks/>
          </p:cNvCxnSpPr>
          <p:nvPr/>
        </p:nvCxnSpPr>
        <p:spPr>
          <a:xfrm flipH="1">
            <a:off x="7599385" y="5778796"/>
            <a:ext cx="375263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86" name="TextBox 1085">
            <a:extLst>
              <a:ext uri="{FF2B5EF4-FFF2-40B4-BE49-F238E27FC236}">
                <a16:creationId xmlns:a16="http://schemas.microsoft.com/office/drawing/2014/main" id="{548D15FB-601A-62D6-06BD-5F0D140CE4B6}"/>
              </a:ext>
            </a:extLst>
          </p:cNvPr>
          <p:cNvSpPr txBox="1"/>
          <p:nvPr/>
        </p:nvSpPr>
        <p:spPr>
          <a:xfrm>
            <a:off x="7544037" y="5812123"/>
            <a:ext cx="941475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n.edges</a:t>
            </a: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&lt; x</a:t>
            </a:r>
            <a:r>
              <a:rPr lang="en-US" sz="700" dirty="0"/>
              <a:t>%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E07CAF5D-7281-819D-AC2A-312568DFC65D}"/>
              </a:ext>
            </a:extLst>
          </p:cNvPr>
          <p:cNvSpPr/>
          <p:nvPr/>
        </p:nvSpPr>
        <p:spPr>
          <a:xfrm>
            <a:off x="7747498" y="6647124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3E83BFA3-040E-EBA0-934F-8215AF35F73E}"/>
              </a:ext>
            </a:extLst>
          </p:cNvPr>
          <p:cNvSpPr/>
          <p:nvPr/>
        </p:nvSpPr>
        <p:spPr>
          <a:xfrm>
            <a:off x="7766196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4106CE83-9AE1-109B-3D55-E3E00370323F}"/>
              </a:ext>
            </a:extLst>
          </p:cNvPr>
          <p:cNvSpPr/>
          <p:nvPr/>
        </p:nvSpPr>
        <p:spPr>
          <a:xfrm>
            <a:off x="7882271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2354B77D-4B7D-18E3-6DA6-650C96D9AFE1}"/>
              </a:ext>
            </a:extLst>
          </p:cNvPr>
          <p:cNvSpPr/>
          <p:nvPr/>
        </p:nvSpPr>
        <p:spPr>
          <a:xfrm>
            <a:off x="8006330" y="6675665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2071DAF0-F3E1-6DA9-BE7F-B568F0361FE3}"/>
              </a:ext>
            </a:extLst>
          </p:cNvPr>
          <p:cNvSpPr txBox="1"/>
          <p:nvPr/>
        </p:nvSpPr>
        <p:spPr>
          <a:xfrm>
            <a:off x="7709321" y="6508461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1</a:t>
            </a: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8B2DBA5F-30C9-E939-3DC3-BBC44B180D1C}"/>
              </a:ext>
            </a:extLst>
          </p:cNvPr>
          <p:cNvSpPr/>
          <p:nvPr/>
        </p:nvSpPr>
        <p:spPr>
          <a:xfrm>
            <a:off x="7745715" y="680360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3EBA2782-685B-AA9C-72AF-4D5AEB5E8605}"/>
              </a:ext>
            </a:extLst>
          </p:cNvPr>
          <p:cNvSpPr/>
          <p:nvPr/>
        </p:nvSpPr>
        <p:spPr>
          <a:xfrm>
            <a:off x="7764413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E69C3214-5252-D8E1-C862-943FB6BB6E3B}"/>
              </a:ext>
            </a:extLst>
          </p:cNvPr>
          <p:cNvSpPr/>
          <p:nvPr/>
        </p:nvSpPr>
        <p:spPr>
          <a:xfrm>
            <a:off x="7880488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60C6549F-7A11-8E59-C26C-F25729DFBED2}"/>
              </a:ext>
            </a:extLst>
          </p:cNvPr>
          <p:cNvSpPr/>
          <p:nvPr/>
        </p:nvSpPr>
        <p:spPr>
          <a:xfrm>
            <a:off x="8004547" y="683215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FD2A46C3-8267-CF92-DE1F-340BE81D2B7C}"/>
              </a:ext>
            </a:extLst>
          </p:cNvPr>
          <p:cNvSpPr txBox="1"/>
          <p:nvPr/>
        </p:nvSpPr>
        <p:spPr>
          <a:xfrm>
            <a:off x="7707538" y="666494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2</a:t>
            </a: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B03ACACB-BFCD-D560-C6FA-C9C2086F3198}"/>
              </a:ext>
            </a:extLst>
          </p:cNvPr>
          <p:cNvSpPr/>
          <p:nvPr/>
        </p:nvSpPr>
        <p:spPr>
          <a:xfrm>
            <a:off x="7746658" y="695499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DDF40F04-8CFF-7F41-11FD-1190E7E1C8F8}"/>
              </a:ext>
            </a:extLst>
          </p:cNvPr>
          <p:cNvSpPr/>
          <p:nvPr/>
        </p:nvSpPr>
        <p:spPr>
          <a:xfrm>
            <a:off x="7765356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5771D34C-A7C2-5FFD-0319-0791FA69CD34}"/>
              </a:ext>
            </a:extLst>
          </p:cNvPr>
          <p:cNvSpPr/>
          <p:nvPr/>
        </p:nvSpPr>
        <p:spPr>
          <a:xfrm>
            <a:off x="7881431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B6D19AA2-9F7B-40F7-1DB8-67258A47ED6D}"/>
              </a:ext>
            </a:extLst>
          </p:cNvPr>
          <p:cNvSpPr/>
          <p:nvPr/>
        </p:nvSpPr>
        <p:spPr>
          <a:xfrm>
            <a:off x="8005490" y="698354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2C724614-BB79-2A57-E6F4-6BEA8B91E27D}"/>
              </a:ext>
            </a:extLst>
          </p:cNvPr>
          <p:cNvSpPr txBox="1"/>
          <p:nvPr/>
        </p:nvSpPr>
        <p:spPr>
          <a:xfrm>
            <a:off x="7708481" y="681633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3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A58AFEA7-4262-3553-6967-F8A7092B0838}"/>
              </a:ext>
            </a:extLst>
          </p:cNvPr>
          <p:cNvSpPr txBox="1"/>
          <p:nvPr/>
        </p:nvSpPr>
        <p:spPr>
          <a:xfrm>
            <a:off x="8341203" y="5639763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E3887634-B5C5-A5A3-9A22-A1E92FB2D177}"/>
              </a:ext>
            </a:extLst>
          </p:cNvPr>
          <p:cNvSpPr txBox="1"/>
          <p:nvPr/>
        </p:nvSpPr>
        <p:spPr>
          <a:xfrm>
            <a:off x="7409851" y="5617798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87D20BA6-5978-392A-6F1F-0E3BD5B02A2B}"/>
              </a:ext>
            </a:extLst>
          </p:cNvPr>
          <p:cNvSpPr txBox="1"/>
          <p:nvPr/>
        </p:nvSpPr>
        <p:spPr>
          <a:xfrm>
            <a:off x="7672781" y="6340098"/>
            <a:ext cx="580165" cy="212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Knowledge Box</a:t>
            </a:r>
          </a:p>
        </p:txBody>
      </p:sp>
      <p:sp>
        <p:nvSpPr>
          <p:cNvPr id="1105" name="Logistics">
            <a:extLst>
              <a:ext uri="{FF2B5EF4-FFF2-40B4-BE49-F238E27FC236}">
                <a16:creationId xmlns:a16="http://schemas.microsoft.com/office/drawing/2014/main" id="{5D122967-57D5-260D-77BC-4B35312F0A58}"/>
              </a:ext>
            </a:extLst>
          </p:cNvPr>
          <p:cNvSpPr txBox="1"/>
          <p:nvPr/>
        </p:nvSpPr>
        <p:spPr>
          <a:xfrm>
            <a:off x="9601200" y="256032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Import Tetrad</a:t>
            </a:r>
          </a:p>
        </p:txBody>
      </p:sp>
      <p:sp>
        <p:nvSpPr>
          <p:cNvPr id="1106" name="Logistics">
            <a:extLst>
              <a:ext uri="{FF2B5EF4-FFF2-40B4-BE49-F238E27FC236}">
                <a16:creationId xmlns:a16="http://schemas.microsoft.com/office/drawing/2014/main" id="{43D97471-9C65-5CB3-C382-307C406B4D29}"/>
              </a:ext>
            </a:extLst>
          </p:cNvPr>
          <p:cNvSpPr txBox="1"/>
          <p:nvPr/>
        </p:nvSpPr>
        <p:spPr>
          <a:xfrm>
            <a:off x="9601200" y="438912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Analysis Function</a:t>
            </a:r>
          </a:p>
        </p:txBody>
      </p:sp>
      <p:sp>
        <p:nvSpPr>
          <p:cNvPr id="1107" name="Logistics">
            <a:extLst>
              <a:ext uri="{FF2B5EF4-FFF2-40B4-BE49-F238E27FC236}">
                <a16:creationId xmlns:a16="http://schemas.microsoft.com/office/drawing/2014/main" id="{8F53499A-F26A-D0D9-9EE2-6FBE73D1878E}"/>
              </a:ext>
            </a:extLst>
          </p:cNvPr>
          <p:cNvSpPr txBox="1"/>
          <p:nvPr/>
        </p:nvSpPr>
        <p:spPr>
          <a:xfrm>
            <a:off x="9601200" y="694944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Domain Knowledge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4B614154-0886-538A-30F0-71C66A584F54}"/>
              </a:ext>
            </a:extLst>
          </p:cNvPr>
          <p:cNvSpPr txBox="1"/>
          <p:nvPr/>
        </p:nvSpPr>
        <p:spPr>
          <a:xfrm>
            <a:off x="9601200" y="4663440"/>
            <a:ext cx="4237460" cy="2187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run on dataset including null features, used to derive 1-PNEF.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score_sem_bic</a:t>
            </a:r>
            <a:r>
              <a:rPr lang="en-US" dirty="0"/>
              <a:t>()</a:t>
            </a:r>
          </a:p>
          <a:p>
            <a:r>
              <a:rPr lang="en-US" b="0" dirty="0"/>
              <a:t>Configure SEM BIC score.</a:t>
            </a:r>
          </a:p>
          <a:p>
            <a:r>
              <a:rPr lang="en-US" dirty="0"/>
              <a:t>2. bootstrapping()</a:t>
            </a:r>
          </a:p>
          <a:p>
            <a:r>
              <a:rPr lang="en-US" b="0" dirty="0"/>
              <a:t>Configure bootstrapping parameters.</a:t>
            </a:r>
          </a:p>
          <a:p>
            <a:r>
              <a:rPr lang="en-US" dirty="0"/>
              <a:t>3. </a:t>
            </a:r>
            <a:r>
              <a:rPr lang="en-US" dirty="0" err="1"/>
              <a:t>algorithm_fges</a:t>
            </a:r>
            <a:r>
              <a:rPr lang="en-US" dirty="0"/>
              <a:t>()</a:t>
            </a:r>
          </a:p>
          <a:p>
            <a:r>
              <a:rPr lang="en-US" b="0" dirty="0"/>
              <a:t>Performs Fast Greedy Equivalence Search (FGES) algorithm.</a:t>
            </a:r>
          </a:p>
          <a:p>
            <a:r>
              <a:rPr lang="en-US" dirty="0"/>
              <a:t>4. </a:t>
            </a:r>
            <a:r>
              <a:rPr lang="en-US" dirty="0" err="1"/>
              <a:t>algorithm_boss</a:t>
            </a:r>
            <a:r>
              <a:rPr lang="en-US" dirty="0"/>
              <a:t>()</a:t>
            </a:r>
          </a:p>
          <a:p>
            <a:r>
              <a:rPr lang="en-US" b="0" dirty="0"/>
              <a:t>Performs Best Order Score Search (BOSS) algorithm.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F0947A05-8BFF-B72D-3A43-A252D106DC26}"/>
              </a:ext>
            </a:extLst>
          </p:cNvPr>
          <p:cNvSpPr txBox="1"/>
          <p:nvPr/>
        </p:nvSpPr>
        <p:spPr>
          <a:xfrm>
            <a:off x="9601200" y="2834640"/>
            <a:ext cx="4237460" cy="1531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After applying time lag and features, </a:t>
            </a:r>
            <a:r>
              <a:rPr lang="en-US" b="0" dirty="0" err="1"/>
              <a:t>jpype</a:t>
            </a:r>
            <a:r>
              <a:rPr lang="en-US" b="0" dirty="0"/>
              <a:t> is imported to utilize API and turn the dataset into a Tetrad compatible format. </a:t>
            </a:r>
            <a:endParaRPr lang="en-US" dirty="0"/>
          </a:p>
          <a:p>
            <a:r>
              <a:rPr lang="en-US" dirty="0"/>
              <a:t>1. tetrad()</a:t>
            </a:r>
          </a:p>
          <a:p>
            <a:r>
              <a:rPr lang="en-US" b="0" dirty="0"/>
              <a:t>Import </a:t>
            </a:r>
            <a:r>
              <a:rPr lang="en-US" b="0" dirty="0" err="1"/>
              <a:t>jpype</a:t>
            </a:r>
            <a:r>
              <a:rPr lang="en-US" b="0" dirty="0"/>
              <a:t> to start JVM and load Tetrad jar file.</a:t>
            </a:r>
          </a:p>
          <a:p>
            <a:r>
              <a:rPr lang="en-US" dirty="0"/>
              <a:t>2. </a:t>
            </a:r>
            <a:r>
              <a:rPr lang="en-US" dirty="0" err="1"/>
              <a:t>transform_pandas_to_tetrad</a:t>
            </a:r>
            <a:r>
              <a:rPr lang="en-US" dirty="0"/>
              <a:t>()</a:t>
            </a:r>
          </a:p>
          <a:p>
            <a:r>
              <a:rPr lang="en-US" b="0" dirty="0"/>
              <a:t>Convert pandas </a:t>
            </a:r>
            <a:r>
              <a:rPr lang="en-US" b="0" dirty="0" err="1"/>
              <a:t>DataFrames</a:t>
            </a:r>
            <a:r>
              <a:rPr lang="en-US" b="0" dirty="0"/>
              <a:t> into Tetrad data format and initialize search state.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9ED275E5-1B97-DD4B-A28D-6F4FFC503E09}"/>
              </a:ext>
            </a:extLst>
          </p:cNvPr>
          <p:cNvSpPr txBox="1"/>
          <p:nvPr/>
        </p:nvSpPr>
        <p:spPr>
          <a:xfrm>
            <a:off x="9563884" y="7232335"/>
            <a:ext cx="4237460" cy="925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ran again with domain knowledge applied.</a:t>
            </a:r>
          </a:p>
          <a:p>
            <a:r>
              <a:rPr lang="en-US" dirty="0"/>
              <a:t>1. </a:t>
            </a:r>
            <a:r>
              <a:rPr lang="en-US" dirty="0" err="1"/>
              <a:t>load_domain_knowledge_constraints</a:t>
            </a:r>
            <a:r>
              <a:rPr lang="en-US" dirty="0"/>
              <a:t>()</a:t>
            </a:r>
          </a:p>
          <a:p>
            <a:r>
              <a:rPr lang="en-US" b="0" dirty="0"/>
              <a:t>Load forbidden/required edges and temporal tiers from af.txt file into Tetrad knowledge object.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2E2E7E90-7381-5CED-349F-B800FFD5705B}"/>
              </a:ext>
            </a:extLst>
          </p:cNvPr>
          <p:cNvSpPr txBox="1"/>
          <p:nvPr/>
        </p:nvSpPr>
        <p:spPr>
          <a:xfrm>
            <a:off x="9601200" y="1737360"/>
            <a:ext cx="4264574" cy="6898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From an example of a dataset, see </a:t>
            </a:r>
            <a:r>
              <a:rPr lang="en-US" dirty="0" err="1"/>
              <a:t>issue_social_smell_showcase.Rmd</a:t>
            </a:r>
            <a:r>
              <a:rPr lang="en-US" b="0" dirty="0"/>
              <a:t>. Refer to </a:t>
            </a:r>
            <a:r>
              <a:rPr lang="en-US" b="0" dirty="0" err="1"/>
              <a:t>cheatsheets</a:t>
            </a:r>
            <a:r>
              <a:rPr lang="en-US" b="0" dirty="0"/>
              <a:t>/social-smells-cheatsheet.pdf</a:t>
            </a:r>
          </a:p>
        </p:txBody>
      </p:sp>
      <p:cxnSp>
        <p:nvCxnSpPr>
          <p:cNvPr id="1112" name="Connector: Elbow 1111">
            <a:extLst>
              <a:ext uri="{FF2B5EF4-FFF2-40B4-BE49-F238E27FC236}">
                <a16:creationId xmlns:a16="http://schemas.microsoft.com/office/drawing/2014/main" id="{6A3A62B7-BE29-6796-73DD-817DE71A7839}"/>
              </a:ext>
            </a:extLst>
          </p:cNvPr>
          <p:cNvCxnSpPr>
            <a:cxnSpLocks/>
            <a:stCxn id="991" idx="3"/>
          </p:cNvCxnSpPr>
          <p:nvPr/>
        </p:nvCxnSpPr>
        <p:spPr>
          <a:xfrm flipV="1">
            <a:off x="8704406" y="1562408"/>
            <a:ext cx="859478" cy="452092"/>
          </a:xfrm>
          <a:prstGeom prst="bentConnector3">
            <a:avLst>
              <a:gd name="adj1" fmla="val 38543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C3603EC6-14C2-436B-FBBD-FAC1562A4445}"/>
              </a:ext>
            </a:extLst>
          </p:cNvPr>
          <p:cNvCxnSpPr>
            <a:cxnSpLocks/>
            <a:endCxn id="1107" idx="1"/>
          </p:cNvCxnSpPr>
          <p:nvPr/>
        </p:nvCxnSpPr>
        <p:spPr>
          <a:xfrm>
            <a:off x="8325869" y="6858316"/>
            <a:ext cx="1275331" cy="261139"/>
          </a:xfrm>
          <a:prstGeom prst="bentConnector3">
            <a:avLst>
              <a:gd name="adj1" fmla="val 55076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3259E1D-0725-68E0-5710-8717043AB3AA}"/>
              </a:ext>
            </a:extLst>
          </p:cNvPr>
          <p:cNvSpPr txBox="1"/>
          <p:nvPr/>
        </p:nvSpPr>
        <p:spPr>
          <a:xfrm>
            <a:off x="1275037" y="358624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Folded Corner 3">
            <a:extLst>
              <a:ext uri="{FF2B5EF4-FFF2-40B4-BE49-F238E27FC236}">
                <a16:creationId xmlns:a16="http://schemas.microsoft.com/office/drawing/2014/main" id="{C2772260-FDA1-74B0-5F59-48D106ECA911}"/>
              </a:ext>
            </a:extLst>
          </p:cNvPr>
          <p:cNvSpPr/>
          <p:nvPr/>
        </p:nvSpPr>
        <p:spPr>
          <a:xfrm rot="10800000" flipH="1">
            <a:off x="2629874" y="338101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" name="Folded Corner 4">
            <a:extLst>
              <a:ext uri="{FF2B5EF4-FFF2-40B4-BE49-F238E27FC236}">
                <a16:creationId xmlns:a16="http://schemas.microsoft.com/office/drawing/2014/main" id="{9FF08A2C-E569-17B2-FF2A-FEF2290B61ED}"/>
              </a:ext>
            </a:extLst>
          </p:cNvPr>
          <p:cNvSpPr/>
          <p:nvPr/>
        </p:nvSpPr>
        <p:spPr>
          <a:xfrm rot="10800000" flipH="1">
            <a:off x="2596792" y="34094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" name="Folded Corner 5">
            <a:extLst>
              <a:ext uri="{FF2B5EF4-FFF2-40B4-BE49-F238E27FC236}">
                <a16:creationId xmlns:a16="http://schemas.microsoft.com/office/drawing/2014/main" id="{F6DE43DE-0834-643B-DD84-18CD7AD2028C}"/>
              </a:ext>
            </a:extLst>
          </p:cNvPr>
          <p:cNvSpPr/>
          <p:nvPr/>
        </p:nvSpPr>
        <p:spPr>
          <a:xfrm rot="10800000" flipH="1">
            <a:off x="2556355" y="344325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13F30927-9638-6679-3657-C7E875E7686D}"/>
              </a:ext>
            </a:extLst>
          </p:cNvPr>
          <p:cNvSpPr txBox="1"/>
          <p:nvPr/>
        </p:nvSpPr>
        <p:spPr>
          <a:xfrm>
            <a:off x="2486995" y="3589370"/>
            <a:ext cx="4823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algorithm.py</a:t>
            </a:r>
          </a:p>
        </p:txBody>
      </p:sp>
      <p:sp>
        <p:nvSpPr>
          <p:cNvPr id="27" name="Folded Corner 3">
            <a:extLst>
              <a:ext uri="{FF2B5EF4-FFF2-40B4-BE49-F238E27FC236}">
                <a16:creationId xmlns:a16="http://schemas.microsoft.com/office/drawing/2014/main" id="{754AB715-43B3-76B4-0CE9-5A579148746D}"/>
              </a:ext>
            </a:extLst>
          </p:cNvPr>
          <p:cNvSpPr/>
          <p:nvPr/>
        </p:nvSpPr>
        <p:spPr>
          <a:xfrm rot="10800000" flipH="1">
            <a:off x="3124045" y="336113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" name="Folded Corner 4">
            <a:extLst>
              <a:ext uri="{FF2B5EF4-FFF2-40B4-BE49-F238E27FC236}">
                <a16:creationId xmlns:a16="http://schemas.microsoft.com/office/drawing/2014/main" id="{A83CACD1-A7AE-CA23-0387-CC10B25438E3}"/>
              </a:ext>
            </a:extLst>
          </p:cNvPr>
          <p:cNvSpPr/>
          <p:nvPr/>
        </p:nvSpPr>
        <p:spPr>
          <a:xfrm rot="10800000" flipH="1">
            <a:off x="3090963" y="338960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" name="Folded Corner 5">
            <a:extLst>
              <a:ext uri="{FF2B5EF4-FFF2-40B4-BE49-F238E27FC236}">
                <a16:creationId xmlns:a16="http://schemas.microsoft.com/office/drawing/2014/main" id="{6848F536-7113-2E9C-0434-5F3576A8111E}"/>
              </a:ext>
            </a:extLst>
          </p:cNvPr>
          <p:cNvSpPr/>
          <p:nvPr/>
        </p:nvSpPr>
        <p:spPr>
          <a:xfrm rot="10800000" flipH="1">
            <a:off x="3050526" y="34233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069BC5FE-AD36-5E4E-0F77-6894DA7E4BA5}"/>
              </a:ext>
            </a:extLst>
          </p:cNvPr>
          <p:cNvSpPr txBox="1"/>
          <p:nvPr/>
        </p:nvSpPr>
        <p:spPr>
          <a:xfrm>
            <a:off x="3041735" y="358121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score.py</a:t>
            </a:r>
          </a:p>
        </p:txBody>
      </p:sp>
      <p:sp>
        <p:nvSpPr>
          <p:cNvPr id="30" name="Folded Corner 3">
            <a:extLst>
              <a:ext uri="{FF2B5EF4-FFF2-40B4-BE49-F238E27FC236}">
                <a16:creationId xmlns:a16="http://schemas.microsoft.com/office/drawing/2014/main" id="{BFCB36AD-A31E-80D0-A473-50559BE69704}"/>
              </a:ext>
            </a:extLst>
          </p:cNvPr>
          <p:cNvSpPr/>
          <p:nvPr/>
        </p:nvSpPr>
        <p:spPr>
          <a:xfrm rot="10800000" flipH="1">
            <a:off x="489099" y="3477311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" name="Folded Corner 4">
            <a:extLst>
              <a:ext uri="{FF2B5EF4-FFF2-40B4-BE49-F238E27FC236}">
                <a16:creationId xmlns:a16="http://schemas.microsoft.com/office/drawing/2014/main" id="{0C9E2C06-1AF5-95C0-19CA-D0C0340A3449}"/>
              </a:ext>
            </a:extLst>
          </p:cNvPr>
          <p:cNvSpPr/>
          <p:nvPr/>
        </p:nvSpPr>
        <p:spPr>
          <a:xfrm rot="10800000" flipH="1">
            <a:off x="456017" y="3505777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" name="Folded Corner 5">
            <a:extLst>
              <a:ext uri="{FF2B5EF4-FFF2-40B4-BE49-F238E27FC236}">
                <a16:creationId xmlns:a16="http://schemas.microsoft.com/office/drawing/2014/main" id="{1907C1C7-45CB-A266-DA95-64318C1C72B7}"/>
              </a:ext>
            </a:extLst>
          </p:cNvPr>
          <p:cNvSpPr/>
          <p:nvPr/>
        </p:nvSpPr>
        <p:spPr>
          <a:xfrm rot="10800000" flipH="1">
            <a:off x="415580" y="3539553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9ED7A32F-806F-B4EF-2CEA-D604D6EDF356}"/>
              </a:ext>
            </a:extLst>
          </p:cNvPr>
          <p:cNvSpPr txBox="1"/>
          <p:nvPr/>
        </p:nvSpPr>
        <p:spPr>
          <a:xfrm>
            <a:off x="391503" y="3700338"/>
            <a:ext cx="4603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 err="1">
                <a:solidFill>
                  <a:schemeClr val="tx1">
                    <a:lumMod val="50000"/>
                  </a:schemeClr>
                </a:solidFill>
              </a:rPr>
              <a:t>edu.cmu</a:t>
            </a:r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789484-3DE1-03FE-4E3A-382E25BE80E5}"/>
              </a:ext>
            </a:extLst>
          </p:cNvPr>
          <p:cNvSpPr txBox="1"/>
          <p:nvPr/>
        </p:nvSpPr>
        <p:spPr>
          <a:xfrm>
            <a:off x="2058159" y="4229130"/>
            <a:ext cx="621043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run_fges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()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55FF2F-EC39-CF32-A278-A3439C7D8139}"/>
              </a:ext>
            </a:extLst>
          </p:cNvPr>
          <p:cNvSpPr txBox="1"/>
          <p:nvPr/>
        </p:nvSpPr>
        <p:spPr>
          <a:xfrm>
            <a:off x="8607799" y="473724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25866992-6460-D46C-9698-BEA6F8948F1D}"/>
              </a:ext>
            </a:extLst>
          </p:cNvPr>
          <p:cNvCxnSpPr>
            <a:cxnSpLocks/>
            <a:stCxn id="51" idx="3"/>
            <a:endCxn id="1106" idx="1"/>
          </p:cNvCxnSpPr>
          <p:nvPr/>
        </p:nvCxnSpPr>
        <p:spPr>
          <a:xfrm flipV="1">
            <a:off x="8718069" y="4559135"/>
            <a:ext cx="883131" cy="338367"/>
          </a:xfrm>
          <a:prstGeom prst="bentConnector3">
            <a:avLst>
              <a:gd name="adj1" fmla="val 37257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9" name="TextBox 898">
            <a:extLst>
              <a:ext uri="{FF2B5EF4-FFF2-40B4-BE49-F238E27FC236}">
                <a16:creationId xmlns:a16="http://schemas.microsoft.com/office/drawing/2014/main" id="{C126F8C4-A890-B212-8163-5B2536E676D3}"/>
              </a:ext>
            </a:extLst>
          </p:cNvPr>
          <p:cNvSpPr txBox="1"/>
          <p:nvPr/>
        </p:nvSpPr>
        <p:spPr>
          <a:xfrm>
            <a:off x="9601200" y="8412480"/>
            <a:ext cx="4244990" cy="1900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graph output is converted and saved in JSON format that can be loaded and viewed in Tetrad GUI. Parsing graph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allows 1-PNEF to be applied. </a:t>
            </a:r>
          </a:p>
          <a:p>
            <a:r>
              <a:rPr lang="en-US" dirty="0"/>
              <a:t>1. </a:t>
            </a:r>
            <a:r>
              <a:rPr lang="en-US" dirty="0" err="1"/>
              <a:t>transform_tetrad_graph_to_json</a:t>
            </a:r>
            <a:r>
              <a:rPr lang="en-US" dirty="0"/>
              <a:t>()</a:t>
            </a:r>
          </a:p>
          <a:p>
            <a:r>
              <a:rPr lang="en-US" b="0" dirty="0"/>
              <a:t>Convert Tetrad graph object to JSON format.</a:t>
            </a:r>
          </a:p>
          <a:p>
            <a:r>
              <a:rPr lang="en-US" dirty="0"/>
              <a:t>2. </a:t>
            </a:r>
            <a:r>
              <a:rPr lang="en-US" dirty="0" err="1"/>
              <a:t>parse_tetrad_json</a:t>
            </a:r>
            <a:r>
              <a:rPr lang="en-US" dirty="0"/>
              <a:t>()</a:t>
            </a:r>
          </a:p>
          <a:p>
            <a:r>
              <a:rPr lang="en-US" b="0" dirty="0"/>
              <a:t>Parse Tetrad JSON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datasets.</a:t>
            </a:r>
          </a:p>
        </p:txBody>
      </p:sp>
      <p:sp>
        <p:nvSpPr>
          <p:cNvPr id="900" name="Logistics">
            <a:extLst>
              <a:ext uri="{FF2B5EF4-FFF2-40B4-BE49-F238E27FC236}">
                <a16:creationId xmlns:a16="http://schemas.microsoft.com/office/drawing/2014/main" id="{F079181A-CE32-521B-FEF5-B5D9FC955547}"/>
              </a:ext>
            </a:extLst>
          </p:cNvPr>
          <p:cNvSpPr txBox="1"/>
          <p:nvPr/>
        </p:nvSpPr>
        <p:spPr>
          <a:xfrm>
            <a:off x="9601200" y="813816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Transform</a:t>
            </a:r>
          </a:p>
        </p:txBody>
      </p:sp>
      <p:sp>
        <p:nvSpPr>
          <p:cNvPr id="90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B2CE9424-7C96-06F3-785B-73A0EEF89EFB}"/>
              </a:ext>
            </a:extLst>
          </p:cNvPr>
          <p:cNvSpPr txBox="1"/>
          <p:nvPr/>
        </p:nvSpPr>
        <p:spPr>
          <a:xfrm>
            <a:off x="182880" y="173736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Python package that serves as a wrapper over the Tetrad Java API (via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), providing an interface for causal analysis algorithms.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fork of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-tetrad/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pytetrad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grpSp>
        <p:nvGrpSpPr>
          <p:cNvPr id="909" name="Group 908">
            <a:extLst>
              <a:ext uri="{FF2B5EF4-FFF2-40B4-BE49-F238E27FC236}">
                <a16:creationId xmlns:a16="http://schemas.microsoft.com/office/drawing/2014/main" id="{A72DBC64-B1EF-FE6A-0504-8F63F48D29AD}"/>
              </a:ext>
            </a:extLst>
          </p:cNvPr>
          <p:cNvGrpSpPr/>
          <p:nvPr/>
        </p:nvGrpSpPr>
        <p:grpSpPr>
          <a:xfrm>
            <a:off x="5279608" y="8581425"/>
            <a:ext cx="818142" cy="583040"/>
            <a:chOff x="3300333" y="6875181"/>
            <a:chExt cx="2140200" cy="1512332"/>
          </a:xfrm>
        </p:grpSpPr>
        <p:sp>
          <p:nvSpPr>
            <p:cNvPr id="910" name="TextBox 909">
              <a:extLst>
                <a:ext uri="{FF2B5EF4-FFF2-40B4-BE49-F238E27FC236}">
                  <a16:creationId xmlns:a16="http://schemas.microsoft.com/office/drawing/2014/main" id="{301E0E9C-B793-4BB8-400D-C22258959951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11" name="Google Shape;162;p1">
              <a:extLst>
                <a:ext uri="{FF2B5EF4-FFF2-40B4-BE49-F238E27FC236}">
                  <a16:creationId xmlns:a16="http://schemas.microsoft.com/office/drawing/2014/main" id="{FF4DBDE0-C163-9CCB-B41D-6EEC677C8741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2" name="Google Shape;163;p1">
              <a:extLst>
                <a:ext uri="{FF2B5EF4-FFF2-40B4-BE49-F238E27FC236}">
                  <a16:creationId xmlns:a16="http://schemas.microsoft.com/office/drawing/2014/main" id="{E9C63640-E761-D635-E97C-6749EEC0EF62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3" name="Google Shape;164;p1">
              <a:extLst>
                <a:ext uri="{FF2B5EF4-FFF2-40B4-BE49-F238E27FC236}">
                  <a16:creationId xmlns:a16="http://schemas.microsoft.com/office/drawing/2014/main" id="{313A6A46-C9A5-E694-52D1-6ABE0A501B5D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4" name="Google Shape;165;p1">
              <a:extLst>
                <a:ext uri="{FF2B5EF4-FFF2-40B4-BE49-F238E27FC236}">
                  <a16:creationId xmlns:a16="http://schemas.microsoft.com/office/drawing/2014/main" id="{C54727B1-988A-67C1-0369-DFA5DCA1ADAF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5" name="Google Shape;171;p1">
              <a:extLst>
                <a:ext uri="{FF2B5EF4-FFF2-40B4-BE49-F238E27FC236}">
                  <a16:creationId xmlns:a16="http://schemas.microsoft.com/office/drawing/2014/main" id="{E35F0C10-C818-DA10-31AE-60D52478DC22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6" name="Google Shape;187;p1">
              <a:extLst>
                <a:ext uri="{FF2B5EF4-FFF2-40B4-BE49-F238E27FC236}">
                  <a16:creationId xmlns:a16="http://schemas.microsoft.com/office/drawing/2014/main" id="{11E2C3A4-5D91-C216-4AF0-90AC8A662366}"/>
                </a:ext>
              </a:extLst>
            </p:cNvPr>
            <p:cNvCxnSpPr>
              <a:stCxn id="917" idx="6"/>
              <a:endCxn id="911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17" name="Google Shape;188;p1">
              <a:extLst>
                <a:ext uri="{FF2B5EF4-FFF2-40B4-BE49-F238E27FC236}">
                  <a16:creationId xmlns:a16="http://schemas.microsoft.com/office/drawing/2014/main" id="{C5C3ECCC-9ABA-278B-97C6-6D8A1D51468A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8" name="Google Shape;196;p1">
              <a:extLst>
                <a:ext uri="{FF2B5EF4-FFF2-40B4-BE49-F238E27FC236}">
                  <a16:creationId xmlns:a16="http://schemas.microsoft.com/office/drawing/2014/main" id="{0EA45EA8-7F57-1197-99C3-A7683C6C78DD}"/>
                </a:ext>
              </a:extLst>
            </p:cNvPr>
            <p:cNvCxnSpPr>
              <a:stCxn id="917" idx="5"/>
              <a:endCxn id="913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19" name="Google Shape;198;p1">
              <a:extLst>
                <a:ext uri="{FF2B5EF4-FFF2-40B4-BE49-F238E27FC236}">
                  <a16:creationId xmlns:a16="http://schemas.microsoft.com/office/drawing/2014/main" id="{06E9EF10-5B06-8996-02CB-64A6B487C992}"/>
                </a:ext>
              </a:extLst>
            </p:cNvPr>
            <p:cNvCxnSpPr>
              <a:stCxn id="917" idx="6"/>
              <a:endCxn id="914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0" name="Google Shape;199;p1">
              <a:extLst>
                <a:ext uri="{FF2B5EF4-FFF2-40B4-BE49-F238E27FC236}">
                  <a16:creationId xmlns:a16="http://schemas.microsoft.com/office/drawing/2014/main" id="{F17F0C2F-90ED-F664-4211-5EF88C0D7DF8}"/>
                </a:ext>
              </a:extLst>
            </p:cNvPr>
            <p:cNvCxnSpPr>
              <a:stCxn id="917" idx="3"/>
              <a:endCxn id="915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1" name="Google Shape;200;p1">
              <a:extLst>
                <a:ext uri="{FF2B5EF4-FFF2-40B4-BE49-F238E27FC236}">
                  <a16:creationId xmlns:a16="http://schemas.microsoft.com/office/drawing/2014/main" id="{39A1E39F-CBDC-150C-4553-A05943C8D5D9}"/>
                </a:ext>
              </a:extLst>
            </p:cNvPr>
            <p:cNvCxnSpPr>
              <a:stCxn id="917" idx="6"/>
              <a:endCxn id="912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926" name="TextBox 925">
            <a:extLst>
              <a:ext uri="{FF2B5EF4-FFF2-40B4-BE49-F238E27FC236}">
                <a16:creationId xmlns:a16="http://schemas.microsoft.com/office/drawing/2014/main" id="{52341AC4-244F-0F12-101C-E92623D6665B}"/>
              </a:ext>
            </a:extLst>
          </p:cNvPr>
          <p:cNvSpPr txBox="1"/>
          <p:nvPr/>
        </p:nvSpPr>
        <p:spPr>
          <a:xfrm>
            <a:off x="4745786" y="9504777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.</a:t>
            </a:r>
            <a:r>
              <a:rPr lang="en-US" dirty="0" err="1"/>
              <a:t>json</a:t>
            </a:r>
            <a:endParaRPr lang="en-US" dirty="0"/>
          </a:p>
        </p:txBody>
      </p:sp>
      <p:cxnSp>
        <p:nvCxnSpPr>
          <p:cNvPr id="927" name="Straight Arrow Connector 926">
            <a:extLst>
              <a:ext uri="{FF2B5EF4-FFF2-40B4-BE49-F238E27FC236}">
                <a16:creationId xmlns:a16="http://schemas.microsoft.com/office/drawing/2014/main" id="{45FF6EA6-9F70-F8E3-74E5-AF59A9829D9E}"/>
              </a:ext>
            </a:extLst>
          </p:cNvPr>
          <p:cNvCxnSpPr>
            <a:cxnSpLocks/>
          </p:cNvCxnSpPr>
          <p:nvPr/>
        </p:nvCxnSpPr>
        <p:spPr>
          <a:xfrm>
            <a:off x="6437738" y="8942534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8" name="Flowchart: Internal Storage 927">
            <a:extLst>
              <a:ext uri="{FF2B5EF4-FFF2-40B4-BE49-F238E27FC236}">
                <a16:creationId xmlns:a16="http://schemas.microsoft.com/office/drawing/2014/main" id="{08CBD43E-53E8-B6F6-F8CC-74A190E4A683}"/>
              </a:ext>
            </a:extLst>
          </p:cNvPr>
          <p:cNvSpPr/>
          <p:nvPr/>
        </p:nvSpPr>
        <p:spPr>
          <a:xfrm>
            <a:off x="7070339" y="8311163"/>
            <a:ext cx="1472339" cy="1138122"/>
          </a:xfrm>
          <a:prstGeom prst="flowChartInternalStorage">
            <a:avLst/>
          </a:prstGeom>
          <a:noFill/>
          <a:ln w="12700" cap="flat">
            <a:solidFill>
              <a:schemeClr val="tx1">
                <a:lumMod val="50000"/>
              </a:schemeClr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B3AC403F-3BBD-60A1-9093-8BD991EB7698}"/>
              </a:ext>
            </a:extLst>
          </p:cNvPr>
          <p:cNvGrpSpPr/>
          <p:nvPr/>
        </p:nvGrpSpPr>
        <p:grpSpPr>
          <a:xfrm>
            <a:off x="7473200" y="8601381"/>
            <a:ext cx="818142" cy="583040"/>
            <a:chOff x="3300333" y="6875181"/>
            <a:chExt cx="2140200" cy="1512332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4CB89396-7BDA-6111-401E-184F9B8DCC95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33" name="Google Shape;162;p1">
              <a:extLst>
                <a:ext uri="{FF2B5EF4-FFF2-40B4-BE49-F238E27FC236}">
                  <a16:creationId xmlns:a16="http://schemas.microsoft.com/office/drawing/2014/main" id="{A5EC4202-18AB-F4A7-0CB7-F1A940B6C9C0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4" name="Google Shape;163;p1">
              <a:extLst>
                <a:ext uri="{FF2B5EF4-FFF2-40B4-BE49-F238E27FC236}">
                  <a16:creationId xmlns:a16="http://schemas.microsoft.com/office/drawing/2014/main" id="{6C706C94-C611-BFB7-105C-181A285DD5E2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6" name="Google Shape;164;p1">
              <a:extLst>
                <a:ext uri="{FF2B5EF4-FFF2-40B4-BE49-F238E27FC236}">
                  <a16:creationId xmlns:a16="http://schemas.microsoft.com/office/drawing/2014/main" id="{C8C66D02-2224-ADAB-8F00-6CBA5C934EFA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7" name="Google Shape;165;p1">
              <a:extLst>
                <a:ext uri="{FF2B5EF4-FFF2-40B4-BE49-F238E27FC236}">
                  <a16:creationId xmlns:a16="http://schemas.microsoft.com/office/drawing/2014/main" id="{242083B9-1007-964A-65A6-C9AC342F852A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8" name="Google Shape;171;p1">
              <a:extLst>
                <a:ext uri="{FF2B5EF4-FFF2-40B4-BE49-F238E27FC236}">
                  <a16:creationId xmlns:a16="http://schemas.microsoft.com/office/drawing/2014/main" id="{70D37691-6A69-66F9-A537-DF1D9AFA6741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5" name="Google Shape;187;p1">
              <a:extLst>
                <a:ext uri="{FF2B5EF4-FFF2-40B4-BE49-F238E27FC236}">
                  <a16:creationId xmlns:a16="http://schemas.microsoft.com/office/drawing/2014/main" id="{E26C21DA-29A6-118D-06A2-E5BEECCBF0A7}"/>
                </a:ext>
              </a:extLst>
            </p:cNvPr>
            <p:cNvCxnSpPr>
              <a:stCxn id="1116" idx="6"/>
              <a:endCxn id="1033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16" name="Google Shape;188;p1">
              <a:extLst>
                <a:ext uri="{FF2B5EF4-FFF2-40B4-BE49-F238E27FC236}">
                  <a16:creationId xmlns:a16="http://schemas.microsoft.com/office/drawing/2014/main" id="{C43F7865-B485-B8E2-1DC4-4F7777611C19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7" name="Google Shape;196;p1">
              <a:extLst>
                <a:ext uri="{FF2B5EF4-FFF2-40B4-BE49-F238E27FC236}">
                  <a16:creationId xmlns:a16="http://schemas.microsoft.com/office/drawing/2014/main" id="{88357D36-78FE-35B5-04E9-AAA6A783CE9F}"/>
                </a:ext>
              </a:extLst>
            </p:cNvPr>
            <p:cNvCxnSpPr>
              <a:stCxn id="1116" idx="5"/>
              <a:endCxn id="1036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8" name="Google Shape;198;p1">
              <a:extLst>
                <a:ext uri="{FF2B5EF4-FFF2-40B4-BE49-F238E27FC236}">
                  <a16:creationId xmlns:a16="http://schemas.microsoft.com/office/drawing/2014/main" id="{C93334FD-EABF-B66B-C65D-1B114D18B379}"/>
                </a:ext>
              </a:extLst>
            </p:cNvPr>
            <p:cNvCxnSpPr>
              <a:stCxn id="1116" idx="6"/>
              <a:endCxn id="1037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9" name="Google Shape;199;p1">
              <a:extLst>
                <a:ext uri="{FF2B5EF4-FFF2-40B4-BE49-F238E27FC236}">
                  <a16:creationId xmlns:a16="http://schemas.microsoft.com/office/drawing/2014/main" id="{0A7C21D5-81A8-2DDA-4498-D4C603C9F375}"/>
                </a:ext>
              </a:extLst>
            </p:cNvPr>
            <p:cNvCxnSpPr>
              <a:stCxn id="1116" idx="3"/>
              <a:endCxn id="1038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20" name="Google Shape;200;p1">
              <a:extLst>
                <a:ext uri="{FF2B5EF4-FFF2-40B4-BE49-F238E27FC236}">
                  <a16:creationId xmlns:a16="http://schemas.microsoft.com/office/drawing/2014/main" id="{40C8D3EC-427E-F15D-6C76-B78338832EED}"/>
                </a:ext>
              </a:extLst>
            </p:cNvPr>
            <p:cNvCxnSpPr>
              <a:stCxn id="1116" idx="6"/>
              <a:endCxn id="1034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1121" name="TextBox 1120">
            <a:extLst>
              <a:ext uri="{FF2B5EF4-FFF2-40B4-BE49-F238E27FC236}">
                <a16:creationId xmlns:a16="http://schemas.microsoft.com/office/drawing/2014/main" id="{296094F5-618C-E29F-12C3-9AFDC8DD1043}"/>
              </a:ext>
            </a:extLst>
          </p:cNvPr>
          <p:cNvSpPr txBox="1"/>
          <p:nvPr/>
        </p:nvSpPr>
        <p:spPr>
          <a:xfrm>
            <a:off x="6892923" y="9463342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Tetrad GUI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AEC6F13D-FAAE-9B6E-6225-3617C36D980B}"/>
              </a:ext>
            </a:extLst>
          </p:cNvPr>
          <p:cNvSpPr txBox="1"/>
          <p:nvPr/>
        </p:nvSpPr>
        <p:spPr>
          <a:xfrm>
            <a:off x="7071481" y="845805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Graph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8876773D-93E4-BE7A-B504-2C7B8A1A8C98}"/>
              </a:ext>
            </a:extLst>
          </p:cNvPr>
          <p:cNvSpPr txBox="1"/>
          <p:nvPr/>
        </p:nvSpPr>
        <p:spPr>
          <a:xfrm>
            <a:off x="7061235" y="8531089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Compare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A30DF8A2-AE84-A0D1-1095-1F0BDCB0B422}"/>
              </a:ext>
            </a:extLst>
          </p:cNvPr>
          <p:cNvSpPr txBox="1"/>
          <p:nvPr/>
        </p:nvSpPr>
        <p:spPr>
          <a:xfrm>
            <a:off x="7048685" y="8610068"/>
            <a:ext cx="251336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Grid Search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C0AD6C3D-D285-A4D9-61BE-192B2F41BACE}"/>
              </a:ext>
            </a:extLst>
          </p:cNvPr>
          <p:cNvSpPr txBox="1"/>
          <p:nvPr/>
        </p:nvSpPr>
        <p:spPr>
          <a:xfrm>
            <a:off x="7046974" y="8677995"/>
            <a:ext cx="303972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Parametric Model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49461093-8356-F05B-32F8-7CC81BA32E93}"/>
              </a:ext>
            </a:extLst>
          </p:cNvPr>
          <p:cNvSpPr txBox="1"/>
          <p:nvPr/>
        </p:nvSpPr>
        <p:spPr>
          <a:xfrm>
            <a:off x="7052833" y="8791685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Simulation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3FFD1F1F-3B6A-AA58-F0EF-763F165DDBEB}"/>
              </a:ext>
            </a:extLst>
          </p:cNvPr>
          <p:cNvSpPr txBox="1"/>
          <p:nvPr/>
        </p:nvSpPr>
        <p:spPr>
          <a:xfrm>
            <a:off x="7070339" y="8866499"/>
            <a:ext cx="235741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Cluster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8F86FBD9-40EE-AFBE-127E-75258FBACF2B}"/>
              </a:ext>
            </a:extLst>
          </p:cNvPr>
          <p:cNvSpPr txBox="1"/>
          <p:nvPr/>
        </p:nvSpPr>
        <p:spPr>
          <a:xfrm>
            <a:off x="7063846" y="8962863"/>
            <a:ext cx="260604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Structure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2C55FC65-FF42-8BF3-442E-5F151B45CC65}"/>
              </a:ext>
            </a:extLst>
          </p:cNvPr>
          <p:cNvSpPr txBox="1"/>
          <p:nvPr/>
        </p:nvSpPr>
        <p:spPr>
          <a:xfrm>
            <a:off x="7055007" y="9063908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Knowledge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881BEAAC-ABE1-0044-5D3D-50C0BC565F3A}"/>
              </a:ext>
            </a:extLst>
          </p:cNvPr>
          <p:cNvSpPr txBox="1"/>
          <p:nvPr/>
        </p:nvSpPr>
        <p:spPr>
          <a:xfrm>
            <a:off x="7061235" y="9140557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Updater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A81C8706-A371-E825-32E8-4FA88D7C134D}"/>
              </a:ext>
            </a:extLst>
          </p:cNvPr>
          <p:cNvSpPr txBox="1"/>
          <p:nvPr/>
        </p:nvSpPr>
        <p:spPr>
          <a:xfrm>
            <a:off x="7048685" y="9227323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Regression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E19E92DC-50EB-0101-0764-20D4FC7F1EA1}"/>
              </a:ext>
            </a:extLst>
          </p:cNvPr>
          <p:cNvSpPr txBox="1"/>
          <p:nvPr/>
        </p:nvSpPr>
        <p:spPr>
          <a:xfrm>
            <a:off x="7233495" y="8289476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File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2D7BDADD-3D81-B618-9A0A-486F0888461D}"/>
              </a:ext>
            </a:extLst>
          </p:cNvPr>
          <p:cNvSpPr txBox="1"/>
          <p:nvPr/>
        </p:nvSpPr>
        <p:spPr>
          <a:xfrm>
            <a:off x="7303218" y="829201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Edit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4214C975-37C7-AC2B-4E26-91E0C794F4CB}"/>
              </a:ext>
            </a:extLst>
          </p:cNvPr>
          <p:cNvSpPr txBox="1"/>
          <p:nvPr/>
        </p:nvSpPr>
        <p:spPr>
          <a:xfrm>
            <a:off x="7383126" y="8291864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Logging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F614E73A-01CC-A962-393B-CD5263CE26EB}"/>
              </a:ext>
            </a:extLst>
          </p:cNvPr>
          <p:cNvSpPr txBox="1"/>
          <p:nvPr/>
        </p:nvSpPr>
        <p:spPr>
          <a:xfrm>
            <a:off x="7505552" y="8292313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Pipelines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EE1E34CC-79F2-9ECC-4DFF-9ADF7BC3E49D}"/>
              </a:ext>
            </a:extLst>
          </p:cNvPr>
          <p:cNvSpPr txBox="1"/>
          <p:nvPr/>
        </p:nvSpPr>
        <p:spPr>
          <a:xfrm>
            <a:off x="7637493" y="829506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Window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AA07F060-01BE-3B4E-343D-E1C93D49B837}"/>
              </a:ext>
            </a:extLst>
          </p:cNvPr>
          <p:cNvSpPr txBox="1"/>
          <p:nvPr/>
        </p:nvSpPr>
        <p:spPr>
          <a:xfrm>
            <a:off x="7754912" y="829506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Help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FF93AC72-4FD1-E4C5-15C9-AFF7CCF4B1BA}"/>
              </a:ext>
            </a:extLst>
          </p:cNvPr>
          <p:cNvGrpSpPr/>
          <p:nvPr/>
        </p:nvGrpSpPr>
        <p:grpSpPr>
          <a:xfrm>
            <a:off x="1195787" y="7121456"/>
            <a:ext cx="358133" cy="449780"/>
            <a:chOff x="3801693" y="7065060"/>
            <a:chExt cx="465922" cy="575948"/>
          </a:xfrm>
        </p:grpSpPr>
        <p:sp>
          <p:nvSpPr>
            <p:cNvPr id="1151" name="Flowchart: Internal Storage 1150">
              <a:extLst>
                <a:ext uri="{FF2B5EF4-FFF2-40B4-BE49-F238E27FC236}">
                  <a16:creationId xmlns:a16="http://schemas.microsoft.com/office/drawing/2014/main" id="{07CC5CFE-9359-64E7-FA2C-406A78C66284}"/>
                </a:ext>
              </a:extLst>
            </p:cNvPr>
            <p:cNvSpPr/>
            <p:nvPr/>
          </p:nvSpPr>
          <p:spPr>
            <a:xfrm>
              <a:off x="3824554" y="7065060"/>
              <a:ext cx="443061" cy="575948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8606A998-C9BA-C450-BFF2-B02FB11DD5BD}"/>
                </a:ext>
              </a:extLst>
            </p:cNvPr>
            <p:cNvSpPr txBox="1"/>
            <p:nvPr/>
          </p:nvSpPr>
          <p:spPr>
            <a:xfrm>
              <a:off x="3801693" y="7065060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3" name="TextBox 1152">
              <a:extLst>
                <a:ext uri="{FF2B5EF4-FFF2-40B4-BE49-F238E27FC236}">
                  <a16:creationId xmlns:a16="http://schemas.microsoft.com/office/drawing/2014/main" id="{BD48C95B-0CB1-897E-4F65-1721C3E10D80}"/>
                </a:ext>
              </a:extLst>
            </p:cNvPr>
            <p:cNvSpPr txBox="1"/>
            <p:nvPr/>
          </p:nvSpPr>
          <p:spPr>
            <a:xfrm>
              <a:off x="3801693" y="7191227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4" name="TextBox 1153">
              <a:extLst>
                <a:ext uri="{FF2B5EF4-FFF2-40B4-BE49-F238E27FC236}">
                  <a16:creationId xmlns:a16="http://schemas.microsoft.com/office/drawing/2014/main" id="{6A7B9647-E267-F635-4462-FF9103C96C8C}"/>
                </a:ext>
              </a:extLst>
            </p:cNvPr>
            <p:cNvSpPr txBox="1"/>
            <p:nvPr/>
          </p:nvSpPr>
          <p:spPr>
            <a:xfrm>
              <a:off x="3801693" y="7336099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1155" name="Straight Connector 1154">
              <a:extLst>
                <a:ext uri="{FF2B5EF4-FFF2-40B4-BE49-F238E27FC236}">
                  <a16:creationId xmlns:a16="http://schemas.microsoft.com/office/drawing/2014/main" id="{1D157201-8C00-6C64-C53C-396592D55BEF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1976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6" name="Straight Connector 1155">
              <a:extLst>
                <a:ext uri="{FF2B5EF4-FFF2-40B4-BE49-F238E27FC236}">
                  <a16:creationId xmlns:a16="http://schemas.microsoft.com/office/drawing/2014/main" id="{D8ECA614-DB07-A871-8B96-8E43346D95B3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269790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7" name="Straight Connector 1156">
              <a:extLst>
                <a:ext uri="{FF2B5EF4-FFF2-40B4-BE49-F238E27FC236}">
                  <a16:creationId xmlns:a16="http://schemas.microsoft.com/office/drawing/2014/main" id="{6B06011F-6672-5BC5-E982-3D8D6EA2E51B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344697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8" name="Straight Connector 1157">
              <a:extLst>
                <a:ext uri="{FF2B5EF4-FFF2-40B4-BE49-F238E27FC236}">
                  <a16:creationId xmlns:a16="http://schemas.microsoft.com/office/drawing/2014/main" id="{7C8B2356-1F28-7B82-C63B-75968391C212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4262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9" name="Straight Connector 1158">
              <a:extLst>
                <a:ext uri="{FF2B5EF4-FFF2-40B4-BE49-F238E27FC236}">
                  <a16:creationId xmlns:a16="http://schemas.microsoft.com/office/drawing/2014/main" id="{8253FE07-59B0-EB88-05F7-CB9A079BFDAB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01852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60" name="Straight Connector 1159">
              <a:extLst>
                <a:ext uri="{FF2B5EF4-FFF2-40B4-BE49-F238E27FC236}">
                  <a16:creationId xmlns:a16="http://schemas.microsoft.com/office/drawing/2014/main" id="{CF2E42AC-A63E-BC9B-A1BD-8B3CE81BD0A3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81085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213" name="Group 1212">
            <a:extLst>
              <a:ext uri="{FF2B5EF4-FFF2-40B4-BE49-F238E27FC236}">
                <a16:creationId xmlns:a16="http://schemas.microsoft.com/office/drawing/2014/main" id="{B376A4C1-D0BF-E5DF-3EC9-59F0BE9D1922}"/>
              </a:ext>
            </a:extLst>
          </p:cNvPr>
          <p:cNvGrpSpPr/>
          <p:nvPr/>
        </p:nvGrpSpPr>
        <p:grpSpPr>
          <a:xfrm>
            <a:off x="2661632" y="7753204"/>
            <a:ext cx="1625672" cy="724346"/>
            <a:chOff x="4898186" y="8463563"/>
            <a:chExt cx="3978918" cy="1588036"/>
          </a:xfrm>
        </p:grpSpPr>
        <p:sp>
          <p:nvSpPr>
            <p:cNvPr id="1165" name="Folded Corner 5">
              <a:extLst>
                <a:ext uri="{FF2B5EF4-FFF2-40B4-BE49-F238E27FC236}">
                  <a16:creationId xmlns:a16="http://schemas.microsoft.com/office/drawing/2014/main" id="{B278FA6E-546A-B76F-8577-BA114E8587DE}"/>
                </a:ext>
              </a:extLst>
            </p:cNvPr>
            <p:cNvSpPr/>
            <p:nvPr/>
          </p:nvSpPr>
          <p:spPr>
            <a:xfrm rot="10800000" flipH="1">
              <a:off x="5352204" y="8474861"/>
              <a:ext cx="944261" cy="1140881"/>
            </a:xfrm>
            <a:prstGeom prst="foldedCorner">
              <a:avLst>
                <a:gd name="adj" fmla="val 29505"/>
              </a:avLst>
            </a:prstGeom>
            <a:solidFill>
              <a:schemeClr val="bg1"/>
            </a:solidFill>
            <a:ln w="63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="horz" wrap="square" lIns="54570" tIns="54570" rIns="54570" bIns="5457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1pPr>
              <a:lvl2pPr marL="0" marR="0" indent="228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2pPr>
              <a:lvl3pPr marL="0" marR="0" indent="457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3pPr>
              <a:lvl4pPr marL="0" marR="0" indent="685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4pPr>
              <a:lvl5pPr marL="0" marR="0" indent="9144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5pPr>
              <a:lvl6pPr marL="0" marR="0" indent="11430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6pPr>
              <a:lvl7pPr marL="0" marR="0" indent="1371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7pPr>
              <a:lvl8pPr marL="0" marR="0" indent="1600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8pPr>
              <a:lvl9pPr marL="0" marR="0" indent="1828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9pPr>
            </a:lstStyle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66" name="Group 1165">
              <a:extLst>
                <a:ext uri="{FF2B5EF4-FFF2-40B4-BE49-F238E27FC236}">
                  <a16:creationId xmlns:a16="http://schemas.microsoft.com/office/drawing/2014/main" id="{1B21EA40-5D6E-61CF-C154-BD488A53B70F}"/>
                </a:ext>
              </a:extLst>
            </p:cNvPr>
            <p:cNvGrpSpPr/>
            <p:nvPr/>
          </p:nvGrpSpPr>
          <p:grpSpPr>
            <a:xfrm>
              <a:off x="5432008" y="8733825"/>
              <a:ext cx="818142" cy="583040"/>
              <a:chOff x="3300333" y="6875181"/>
              <a:chExt cx="2140200" cy="1512332"/>
            </a:xfrm>
          </p:grpSpPr>
          <p:sp>
            <p:nvSpPr>
              <p:cNvPr id="1167" name="TextBox 1166">
                <a:extLst>
                  <a:ext uri="{FF2B5EF4-FFF2-40B4-BE49-F238E27FC236}">
                    <a16:creationId xmlns:a16="http://schemas.microsoft.com/office/drawing/2014/main" id="{E32D95D1-D728-C2CE-541E-9E6AF8834853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68" name="Google Shape;162;p1">
                <a:extLst>
                  <a:ext uri="{FF2B5EF4-FFF2-40B4-BE49-F238E27FC236}">
                    <a16:creationId xmlns:a16="http://schemas.microsoft.com/office/drawing/2014/main" id="{E259EE57-FC7E-CCE1-8DC7-03EFE328196D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69" name="Google Shape;163;p1">
                <a:extLst>
                  <a:ext uri="{FF2B5EF4-FFF2-40B4-BE49-F238E27FC236}">
                    <a16:creationId xmlns:a16="http://schemas.microsoft.com/office/drawing/2014/main" id="{F90ECF29-319E-5315-B758-E26E00B54150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0" name="Google Shape;164;p1">
                <a:extLst>
                  <a:ext uri="{FF2B5EF4-FFF2-40B4-BE49-F238E27FC236}">
                    <a16:creationId xmlns:a16="http://schemas.microsoft.com/office/drawing/2014/main" id="{DC525A89-B186-8825-4543-B8FDD2272988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1" name="Google Shape;165;p1">
                <a:extLst>
                  <a:ext uri="{FF2B5EF4-FFF2-40B4-BE49-F238E27FC236}">
                    <a16:creationId xmlns:a16="http://schemas.microsoft.com/office/drawing/2014/main" id="{316A09BF-188B-C812-0AD0-64186585A3D2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2" name="Google Shape;171;p1">
                <a:extLst>
                  <a:ext uri="{FF2B5EF4-FFF2-40B4-BE49-F238E27FC236}">
                    <a16:creationId xmlns:a16="http://schemas.microsoft.com/office/drawing/2014/main" id="{35ECCBFD-5FDE-3BDC-7A2E-7C8F99D2FDC3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3" name="Google Shape;187;p1">
                <a:extLst>
                  <a:ext uri="{FF2B5EF4-FFF2-40B4-BE49-F238E27FC236}">
                    <a16:creationId xmlns:a16="http://schemas.microsoft.com/office/drawing/2014/main" id="{EA131607-24AD-6F5E-1053-50E925A140FE}"/>
                  </a:ext>
                </a:extLst>
              </p:cNvPr>
              <p:cNvCxnSpPr>
                <a:cxnSpLocks/>
                <a:stCxn id="1174" idx="6"/>
                <a:endCxn id="1168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74" name="Google Shape;188;p1">
                <a:extLst>
                  <a:ext uri="{FF2B5EF4-FFF2-40B4-BE49-F238E27FC236}">
                    <a16:creationId xmlns:a16="http://schemas.microsoft.com/office/drawing/2014/main" id="{0D8C280D-3429-85F4-886B-A9F34E25D15B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5" name="Google Shape;196;p1">
                <a:extLst>
                  <a:ext uri="{FF2B5EF4-FFF2-40B4-BE49-F238E27FC236}">
                    <a16:creationId xmlns:a16="http://schemas.microsoft.com/office/drawing/2014/main" id="{041B705A-72DB-0CDC-2D6E-DA13550E9A40}"/>
                  </a:ext>
                </a:extLst>
              </p:cNvPr>
              <p:cNvCxnSpPr>
                <a:cxnSpLocks/>
                <a:stCxn id="1174" idx="5"/>
                <a:endCxn id="1170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6" name="Google Shape;198;p1">
                <a:extLst>
                  <a:ext uri="{FF2B5EF4-FFF2-40B4-BE49-F238E27FC236}">
                    <a16:creationId xmlns:a16="http://schemas.microsoft.com/office/drawing/2014/main" id="{3B6CF87E-547F-D138-18AA-B7058C56175E}"/>
                  </a:ext>
                </a:extLst>
              </p:cNvPr>
              <p:cNvCxnSpPr>
                <a:cxnSpLocks/>
                <a:stCxn id="1174" idx="6"/>
                <a:endCxn id="1171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7" name="Google Shape;199;p1">
                <a:extLst>
                  <a:ext uri="{FF2B5EF4-FFF2-40B4-BE49-F238E27FC236}">
                    <a16:creationId xmlns:a16="http://schemas.microsoft.com/office/drawing/2014/main" id="{7BCF9B14-FA10-3097-5383-33ED25707B0B}"/>
                  </a:ext>
                </a:extLst>
              </p:cNvPr>
              <p:cNvCxnSpPr>
                <a:cxnSpLocks/>
                <a:stCxn id="1174" idx="3"/>
                <a:endCxn id="1172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8" name="Google Shape;200;p1">
                <a:extLst>
                  <a:ext uri="{FF2B5EF4-FFF2-40B4-BE49-F238E27FC236}">
                    <a16:creationId xmlns:a16="http://schemas.microsoft.com/office/drawing/2014/main" id="{3C4496DF-8F78-5872-376C-8BA10F7AD288}"/>
                  </a:ext>
                </a:extLst>
              </p:cNvPr>
              <p:cNvCxnSpPr>
                <a:cxnSpLocks/>
                <a:stCxn id="1174" idx="6"/>
                <a:endCxn id="1169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79" name="TextBox 1178">
              <a:extLst>
                <a:ext uri="{FF2B5EF4-FFF2-40B4-BE49-F238E27FC236}">
                  <a16:creationId xmlns:a16="http://schemas.microsoft.com/office/drawing/2014/main" id="{5DB2352D-6094-FF4D-438F-7CDB2FAB20E3}"/>
                </a:ext>
              </a:extLst>
            </p:cNvPr>
            <p:cNvSpPr txBox="1"/>
            <p:nvPr/>
          </p:nvSpPr>
          <p:spPr>
            <a:xfrm>
              <a:off x="4898186" y="9385556"/>
              <a:ext cx="1831780" cy="6556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000" dirty="0"/>
                <a:t>.</a:t>
              </a:r>
              <a:r>
                <a:rPr lang="en-US" sz="700" dirty="0" err="1"/>
                <a:t>json</a:t>
              </a:r>
              <a:endParaRPr lang="en-US" sz="1000" dirty="0"/>
            </a:p>
          </p:txBody>
        </p:sp>
        <p:sp>
          <p:nvSpPr>
            <p:cNvPr id="1181" name="Flowchart: Internal Storage 1180">
              <a:extLst>
                <a:ext uri="{FF2B5EF4-FFF2-40B4-BE49-F238E27FC236}">
                  <a16:creationId xmlns:a16="http://schemas.microsoft.com/office/drawing/2014/main" id="{78F9D338-42C9-45D5-36D8-F07A32F8FD18}"/>
                </a:ext>
              </a:extLst>
            </p:cNvPr>
            <p:cNvSpPr/>
            <p:nvPr/>
          </p:nvSpPr>
          <p:spPr>
            <a:xfrm>
              <a:off x="7222739" y="8463563"/>
              <a:ext cx="1472339" cy="1138122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>
              <a:outerShdw blurRad="38100" dist="25400" dir="5400000" rotWithShape="0">
                <a:schemeClr val="bg1">
                  <a:alpha val="50000"/>
                </a:scheme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82" name="Group 1181">
              <a:extLst>
                <a:ext uri="{FF2B5EF4-FFF2-40B4-BE49-F238E27FC236}">
                  <a16:creationId xmlns:a16="http://schemas.microsoft.com/office/drawing/2014/main" id="{49CB6046-C366-1055-E14A-EEB79DD1A88D}"/>
                </a:ext>
              </a:extLst>
            </p:cNvPr>
            <p:cNvGrpSpPr/>
            <p:nvPr/>
          </p:nvGrpSpPr>
          <p:grpSpPr>
            <a:xfrm>
              <a:off x="7625600" y="8753781"/>
              <a:ext cx="818142" cy="583040"/>
              <a:chOff x="3300333" y="6875181"/>
              <a:chExt cx="2140200" cy="1512332"/>
            </a:xfrm>
          </p:grpSpPr>
          <p:sp>
            <p:nvSpPr>
              <p:cNvPr id="1183" name="TextBox 1182">
                <a:extLst>
                  <a:ext uri="{FF2B5EF4-FFF2-40B4-BE49-F238E27FC236}">
                    <a16:creationId xmlns:a16="http://schemas.microsoft.com/office/drawing/2014/main" id="{EB2DB4E3-B621-F2F1-88CE-005E3F745B5B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84" name="Google Shape;162;p1">
                <a:extLst>
                  <a:ext uri="{FF2B5EF4-FFF2-40B4-BE49-F238E27FC236}">
                    <a16:creationId xmlns:a16="http://schemas.microsoft.com/office/drawing/2014/main" id="{C51CDB0F-8BEC-B62C-D528-B83839B56F41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5" name="Google Shape;163;p1">
                <a:extLst>
                  <a:ext uri="{FF2B5EF4-FFF2-40B4-BE49-F238E27FC236}">
                    <a16:creationId xmlns:a16="http://schemas.microsoft.com/office/drawing/2014/main" id="{EEBDF916-63F2-011F-0553-E69AE9985C51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6" name="Google Shape;164;p1">
                <a:extLst>
                  <a:ext uri="{FF2B5EF4-FFF2-40B4-BE49-F238E27FC236}">
                    <a16:creationId xmlns:a16="http://schemas.microsoft.com/office/drawing/2014/main" id="{3306EF84-A47F-4659-006B-F5A411BEAEBA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7" name="Google Shape;165;p1">
                <a:extLst>
                  <a:ext uri="{FF2B5EF4-FFF2-40B4-BE49-F238E27FC236}">
                    <a16:creationId xmlns:a16="http://schemas.microsoft.com/office/drawing/2014/main" id="{42F3CCC9-CA80-D85D-1FC5-2D785C12ACDC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8" name="Google Shape;171;p1">
                <a:extLst>
                  <a:ext uri="{FF2B5EF4-FFF2-40B4-BE49-F238E27FC236}">
                    <a16:creationId xmlns:a16="http://schemas.microsoft.com/office/drawing/2014/main" id="{0F11543D-E307-7097-4658-0B4F607469BD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89" name="Google Shape;187;p1">
                <a:extLst>
                  <a:ext uri="{FF2B5EF4-FFF2-40B4-BE49-F238E27FC236}">
                    <a16:creationId xmlns:a16="http://schemas.microsoft.com/office/drawing/2014/main" id="{9939F383-EFC3-7327-A3F4-7917FF9CF1E1}"/>
                  </a:ext>
                </a:extLst>
              </p:cNvPr>
              <p:cNvCxnSpPr>
                <a:cxnSpLocks/>
                <a:stCxn id="1190" idx="6"/>
                <a:endCxn id="1184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90" name="Google Shape;188;p1">
                <a:extLst>
                  <a:ext uri="{FF2B5EF4-FFF2-40B4-BE49-F238E27FC236}">
                    <a16:creationId xmlns:a16="http://schemas.microsoft.com/office/drawing/2014/main" id="{8B7D2A28-3442-BBA9-21CF-DDE6C353FB48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91" name="Google Shape;196;p1">
                <a:extLst>
                  <a:ext uri="{FF2B5EF4-FFF2-40B4-BE49-F238E27FC236}">
                    <a16:creationId xmlns:a16="http://schemas.microsoft.com/office/drawing/2014/main" id="{181408CE-EABE-8286-D847-61456878D2B6}"/>
                  </a:ext>
                </a:extLst>
              </p:cNvPr>
              <p:cNvCxnSpPr>
                <a:cxnSpLocks/>
                <a:stCxn id="1190" idx="5"/>
                <a:endCxn id="1186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2" name="Google Shape;198;p1">
                <a:extLst>
                  <a:ext uri="{FF2B5EF4-FFF2-40B4-BE49-F238E27FC236}">
                    <a16:creationId xmlns:a16="http://schemas.microsoft.com/office/drawing/2014/main" id="{77309F55-7D1F-BC48-9535-3F4E6857E7A3}"/>
                  </a:ext>
                </a:extLst>
              </p:cNvPr>
              <p:cNvCxnSpPr>
                <a:cxnSpLocks/>
                <a:stCxn id="1190" idx="6"/>
                <a:endCxn id="1187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3" name="Google Shape;199;p1">
                <a:extLst>
                  <a:ext uri="{FF2B5EF4-FFF2-40B4-BE49-F238E27FC236}">
                    <a16:creationId xmlns:a16="http://schemas.microsoft.com/office/drawing/2014/main" id="{95F814FC-5A62-2508-5348-DFF4C2EAF56D}"/>
                  </a:ext>
                </a:extLst>
              </p:cNvPr>
              <p:cNvCxnSpPr>
                <a:cxnSpLocks/>
                <a:stCxn id="1190" idx="3"/>
                <a:endCxn id="1188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4" name="Google Shape;200;p1">
                <a:extLst>
                  <a:ext uri="{FF2B5EF4-FFF2-40B4-BE49-F238E27FC236}">
                    <a16:creationId xmlns:a16="http://schemas.microsoft.com/office/drawing/2014/main" id="{835675F8-8826-2657-0954-22B0B72E611D}"/>
                  </a:ext>
                </a:extLst>
              </p:cNvPr>
              <p:cNvCxnSpPr>
                <a:cxnSpLocks/>
                <a:stCxn id="1190" idx="6"/>
                <a:endCxn id="1185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95" name="TextBox 1194">
              <a:extLst>
                <a:ext uri="{FF2B5EF4-FFF2-40B4-BE49-F238E27FC236}">
                  <a16:creationId xmlns:a16="http://schemas.microsoft.com/office/drawing/2014/main" id="{E242309E-0ED0-772D-75A4-FFE32134FDCA}"/>
                </a:ext>
              </a:extLst>
            </p:cNvPr>
            <p:cNvSpPr txBox="1"/>
            <p:nvPr/>
          </p:nvSpPr>
          <p:spPr>
            <a:xfrm>
              <a:off x="7045323" y="9500399"/>
              <a:ext cx="1831781" cy="551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700" dirty="0"/>
                <a:t>Tetrad GUI</a:t>
              </a:r>
            </a:p>
          </p:txBody>
        </p:sp>
      </p:grpSp>
      <p:cxnSp>
        <p:nvCxnSpPr>
          <p:cNvPr id="1220" name="Straight Arrow Connector 1219">
            <a:extLst>
              <a:ext uri="{FF2B5EF4-FFF2-40B4-BE49-F238E27FC236}">
                <a16:creationId xmlns:a16="http://schemas.microsoft.com/office/drawing/2014/main" id="{E887E1C6-A417-0A73-C7E5-33EAEDD20BD6}"/>
              </a:ext>
            </a:extLst>
          </p:cNvPr>
          <p:cNvCxnSpPr>
            <a:cxnSpLocks/>
          </p:cNvCxnSpPr>
          <p:nvPr/>
        </p:nvCxnSpPr>
        <p:spPr>
          <a:xfrm flipV="1">
            <a:off x="540609" y="7400770"/>
            <a:ext cx="542836" cy="383885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1" name="Straight Arrow Connector 1220">
            <a:extLst>
              <a:ext uri="{FF2B5EF4-FFF2-40B4-BE49-F238E27FC236}">
                <a16:creationId xmlns:a16="http://schemas.microsoft.com/office/drawing/2014/main" id="{6DDA82CC-6DFC-EC91-905E-8385B8CF86DD}"/>
              </a:ext>
            </a:extLst>
          </p:cNvPr>
          <p:cNvCxnSpPr>
            <a:cxnSpLocks/>
          </p:cNvCxnSpPr>
          <p:nvPr/>
        </p:nvCxnSpPr>
        <p:spPr>
          <a:xfrm>
            <a:off x="1686611" y="7382435"/>
            <a:ext cx="371548" cy="283991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4" name="Straight Arrow Connector 1223">
            <a:extLst>
              <a:ext uri="{FF2B5EF4-FFF2-40B4-BE49-F238E27FC236}">
                <a16:creationId xmlns:a16="http://schemas.microsoft.com/office/drawing/2014/main" id="{1C530C09-2265-F2A1-2797-64D92DE37364}"/>
              </a:ext>
            </a:extLst>
          </p:cNvPr>
          <p:cNvCxnSpPr>
            <a:cxnSpLocks/>
          </p:cNvCxnSpPr>
          <p:nvPr/>
        </p:nvCxnSpPr>
        <p:spPr>
          <a:xfrm flipV="1">
            <a:off x="1950245" y="8298297"/>
            <a:ext cx="178758" cy="30308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6" name="Straight Arrow Connector 1225">
            <a:extLst>
              <a:ext uri="{FF2B5EF4-FFF2-40B4-BE49-F238E27FC236}">
                <a16:creationId xmlns:a16="http://schemas.microsoft.com/office/drawing/2014/main" id="{72DB6390-C5EA-ED0C-99D1-A6CCA836EABD}"/>
              </a:ext>
            </a:extLst>
          </p:cNvPr>
          <p:cNvCxnSpPr>
            <a:cxnSpLocks/>
          </p:cNvCxnSpPr>
          <p:nvPr/>
        </p:nvCxnSpPr>
        <p:spPr>
          <a:xfrm>
            <a:off x="2446049" y="8029635"/>
            <a:ext cx="321536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9" name="Straight Arrow Connector 1228">
            <a:extLst>
              <a:ext uri="{FF2B5EF4-FFF2-40B4-BE49-F238E27FC236}">
                <a16:creationId xmlns:a16="http://schemas.microsoft.com/office/drawing/2014/main" id="{A7E8EEF2-95A1-C0E8-804E-F969440FAFBA}"/>
              </a:ext>
            </a:extLst>
          </p:cNvPr>
          <p:cNvCxnSpPr>
            <a:cxnSpLocks/>
          </p:cNvCxnSpPr>
          <p:nvPr/>
        </p:nvCxnSpPr>
        <p:spPr>
          <a:xfrm>
            <a:off x="3325817" y="8048125"/>
            <a:ext cx="2118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33" name="TextBox 1232">
            <a:extLst>
              <a:ext uri="{FF2B5EF4-FFF2-40B4-BE49-F238E27FC236}">
                <a16:creationId xmlns:a16="http://schemas.microsoft.com/office/drawing/2014/main" id="{654EB26E-B28F-08F8-CC17-5A0E70FC9FA1}"/>
              </a:ext>
            </a:extLst>
          </p:cNvPr>
          <p:cNvSpPr txBox="1"/>
          <p:nvPr/>
        </p:nvSpPr>
        <p:spPr>
          <a:xfrm>
            <a:off x="1137303" y="7536186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notebook/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22529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CAAC1-0115-29AC-E2D0-C0435F57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41FBF667-3FAF-6263-2A25-8B9124460F7E}"/>
              </a:ext>
            </a:extLst>
          </p:cNvPr>
          <p:cNvSpPr txBox="1"/>
          <p:nvPr/>
        </p:nvSpPr>
        <p:spPr>
          <a:xfrm>
            <a:off x="182880" y="5120640"/>
            <a:ext cx="4001355" cy="12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wraps the Tetrad Java API through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, exposing individual modules in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api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(data, score, algorithm, graph, knowledge, bootstrapping) that provide direct function level control over each step of the causal search pipeline.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expands on the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TetradSearch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API by breaking its single object, shared state pipeline into individual modules.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924" name="Folded Corner 5">
            <a:extLst>
              <a:ext uri="{FF2B5EF4-FFF2-40B4-BE49-F238E27FC236}">
                <a16:creationId xmlns:a16="http://schemas.microsoft.com/office/drawing/2014/main" id="{56E6F0C0-7BAE-AC97-3224-46380FF0046A}"/>
              </a:ext>
            </a:extLst>
          </p:cNvPr>
          <p:cNvSpPr/>
          <p:nvPr/>
        </p:nvSpPr>
        <p:spPr>
          <a:xfrm rot="10800000" flipH="1">
            <a:off x="5199804" y="8322461"/>
            <a:ext cx="944261" cy="1140881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974E7E20-E07E-FC3C-9848-257DF94ADBBF}"/>
              </a:ext>
            </a:extLst>
          </p:cNvPr>
          <p:cNvSpPr/>
          <p:nvPr/>
        </p:nvSpPr>
        <p:spPr>
          <a:xfrm>
            <a:off x="7718005" y="6528063"/>
            <a:ext cx="416903" cy="565648"/>
          </a:xfrm>
          <a:prstGeom prst="rect">
            <a:avLst/>
          </a:prstGeom>
          <a:solidFill>
            <a:srgbClr val="FFFFFF"/>
          </a:solidFill>
          <a:ln w="254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36" name="Image" descr="Image">
            <a:extLst>
              <a:ext uri="{FF2B5EF4-FFF2-40B4-BE49-F238E27FC236}">
                <a16:creationId xmlns:a16="http://schemas.microsoft.com/office/drawing/2014/main" id="{4321CFCC-0BB3-C357-5931-D6B0EAF93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68" y="-661924"/>
            <a:ext cx="5598432" cy="2990088"/>
          </a:xfrm>
          <a:prstGeom prst="rect">
            <a:avLst/>
          </a:prstGeom>
          <a:ln w="12700">
            <a:miter lim="400000"/>
          </a:ln>
        </p:spPr>
      </p:pic>
      <p:sp>
        <p:nvSpPr>
          <p:cNvPr id="937" name="Line">
            <a:extLst>
              <a:ext uri="{FF2B5EF4-FFF2-40B4-BE49-F238E27FC236}">
                <a16:creationId xmlns:a16="http://schemas.microsoft.com/office/drawing/2014/main" id="{853CFE13-B2B9-5FB6-C343-95AB0CFA0B0D}"/>
              </a:ext>
            </a:extLst>
          </p:cNvPr>
          <p:cNvSpPr/>
          <p:nvPr/>
        </p:nvSpPr>
        <p:spPr>
          <a:xfrm flipV="1">
            <a:off x="213255" y="10296246"/>
            <a:ext cx="13462982" cy="39499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38" name="YOUR LOGO…">
            <a:extLst>
              <a:ext uri="{FF2B5EF4-FFF2-40B4-BE49-F238E27FC236}">
                <a16:creationId xmlns:a16="http://schemas.microsoft.com/office/drawing/2014/main" id="{D07DDDE3-DF92-DD67-0241-4DCAF263A24B}"/>
              </a:ext>
            </a:extLst>
          </p:cNvPr>
          <p:cNvSpPr/>
          <p:nvPr/>
        </p:nvSpPr>
        <p:spPr>
          <a:xfrm>
            <a:off x="170343" y="10207710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sz="2400" dirty="0"/>
              <a:t>Kumu</a:t>
            </a:r>
            <a:endParaRPr sz="2400" dirty="0"/>
          </a:p>
        </p:txBody>
      </p:sp>
      <p:sp>
        <p:nvSpPr>
          <p:cNvPr id="939" name="Three Column Layout: : CHEAT SHEET">
            <a:extLst>
              <a:ext uri="{FF2B5EF4-FFF2-40B4-BE49-F238E27FC236}">
                <a16:creationId xmlns:a16="http://schemas.microsoft.com/office/drawing/2014/main" id="{671FFCCB-0855-C37F-3D00-70326D7858D9}"/>
              </a:ext>
            </a:extLst>
          </p:cNvPr>
          <p:cNvSpPr txBox="1">
            <a:spLocks/>
          </p:cNvSpPr>
          <p:nvPr/>
        </p:nvSpPr>
        <p:spPr>
          <a:xfrm>
            <a:off x="275721" y="361177"/>
            <a:ext cx="10898129" cy="803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1pPr>
            <a:lvl2pPr marL="0" marR="0" indent="228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2pPr>
            <a:lvl3pPr marL="0" marR="0" indent="457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3pPr>
            <a:lvl4pPr marL="0" marR="0" indent="685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4pPr>
            <a:lvl5pPr marL="0" marR="0" indent="9144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5pPr>
            <a:lvl6pPr marL="0" marR="0" indent="11430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6pPr>
            <a:lvl7pPr marL="0" marR="0" indent="1371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7pPr>
            <a:lvl8pPr marL="0" marR="0" indent="1600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8pPr>
            <a:lvl9pPr marL="0" marR="0" indent="1828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9pPr>
          </a:lstStyle>
          <a:p>
            <a:pPr hangingPunct="1"/>
            <a:r>
              <a:rPr lang="en-US"/>
              <a:t>Pykumu : : </a:t>
            </a:r>
            <a:r>
              <a:rPr lang="en-US"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941" name="Layout Suggestions">
            <a:extLst>
              <a:ext uri="{FF2B5EF4-FFF2-40B4-BE49-F238E27FC236}">
                <a16:creationId xmlns:a16="http://schemas.microsoft.com/office/drawing/2014/main" id="{63A891C1-EF5C-0AB9-93D8-783649E42251}"/>
              </a:ext>
            </a:extLst>
          </p:cNvPr>
          <p:cNvSpPr txBox="1"/>
          <p:nvPr/>
        </p:nvSpPr>
        <p:spPr>
          <a:xfrm>
            <a:off x="182880" y="1463040"/>
            <a:ext cx="262128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About</a:t>
            </a:r>
            <a:endParaRPr dirty="0"/>
          </a:p>
        </p:txBody>
      </p:sp>
      <p:sp>
        <p:nvSpPr>
          <p:cNvPr id="943" name="TextBox 942">
            <a:extLst>
              <a:ext uri="{FF2B5EF4-FFF2-40B4-BE49-F238E27FC236}">
                <a16:creationId xmlns:a16="http://schemas.microsoft.com/office/drawing/2014/main" id="{4F58DEE9-3B06-2304-3238-3F81FC63B117}"/>
              </a:ext>
            </a:extLst>
          </p:cNvPr>
          <p:cNvSpPr txBox="1"/>
          <p:nvPr/>
        </p:nvSpPr>
        <p:spPr>
          <a:xfrm>
            <a:off x="6080760" y="10327008"/>
            <a:ext cx="7747698" cy="500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1000" b="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1000" b="0" dirty="0">
                <a:solidFill>
                  <a:schemeClr val="tx1"/>
                </a:solidFill>
              </a:rPr>
              <a:t> Phuong Pham,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Carlos Paradis</a:t>
            </a:r>
            <a:r>
              <a:rPr lang="en-US" sz="1000" b="0" dirty="0">
                <a:solidFill>
                  <a:schemeClr val="tx1"/>
                </a:solidFill>
              </a:rPr>
              <a:t>, Adam Graham, Jared Seto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• Kai</a:t>
            </a:r>
            <a:r>
              <a:rPr kumimoji="0" lang="haw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ā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ulu package version 0.0.0.9700 (in development) •  Updated: 2026-04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4" name="Logistics">
            <a:extLst>
              <a:ext uri="{FF2B5EF4-FFF2-40B4-BE49-F238E27FC236}">
                <a16:creationId xmlns:a16="http://schemas.microsoft.com/office/drawing/2014/main" id="{AB2A0C96-448D-960A-30CB-B106C6B1CDC5}"/>
              </a:ext>
            </a:extLst>
          </p:cNvPr>
          <p:cNvSpPr txBox="1"/>
          <p:nvPr/>
        </p:nvSpPr>
        <p:spPr>
          <a:xfrm>
            <a:off x="9601200" y="146304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API</a:t>
            </a:r>
          </a:p>
        </p:txBody>
      </p:sp>
      <p:sp>
        <p:nvSpPr>
          <p:cNvPr id="945" name="Logistics">
            <a:extLst>
              <a:ext uri="{FF2B5EF4-FFF2-40B4-BE49-F238E27FC236}">
                <a16:creationId xmlns:a16="http://schemas.microsoft.com/office/drawing/2014/main" id="{379C8E0B-1EF8-51EF-7074-52512D5038E6}"/>
              </a:ext>
            </a:extLst>
          </p:cNvPr>
          <p:cNvSpPr txBox="1"/>
          <p:nvPr/>
        </p:nvSpPr>
        <p:spPr>
          <a:xfrm>
            <a:off x="182880" y="6675120"/>
            <a:ext cx="332142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Command Line Interface</a:t>
            </a:r>
          </a:p>
        </p:txBody>
      </p:sp>
      <p:sp>
        <p:nvSpPr>
          <p:cNvPr id="947" name="Basics">
            <a:extLst>
              <a:ext uri="{FF2B5EF4-FFF2-40B4-BE49-F238E27FC236}">
                <a16:creationId xmlns:a16="http://schemas.microsoft.com/office/drawing/2014/main" id="{BED7C501-AD62-D4D3-7994-3D38E40E23A8}"/>
              </a:ext>
            </a:extLst>
          </p:cNvPr>
          <p:cNvSpPr txBox="1"/>
          <p:nvPr/>
        </p:nvSpPr>
        <p:spPr>
          <a:xfrm>
            <a:off x="182880" y="2834640"/>
            <a:ext cx="16991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lc="http://schemas.openxmlformats.org/drawingml/2006/lockedCanvas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 err="1"/>
              <a:t>Pykumu</a:t>
            </a:r>
            <a:r>
              <a:rPr lang="en-US" dirty="0"/>
              <a:t> API </a:t>
            </a:r>
            <a:endParaRPr dirty="0"/>
          </a:p>
        </p:txBody>
      </p:sp>
      <p:sp>
        <p:nvSpPr>
          <p:cNvPr id="948" name="Manipulate Variables">
            <a:extLst>
              <a:ext uri="{FF2B5EF4-FFF2-40B4-BE49-F238E27FC236}">
                <a16:creationId xmlns:a16="http://schemas.microsoft.com/office/drawing/2014/main" id="{15AD05AF-BE22-22DA-F22A-A7E56D118DA5}"/>
              </a:ext>
            </a:extLst>
          </p:cNvPr>
          <p:cNvSpPr txBox="1"/>
          <p:nvPr/>
        </p:nvSpPr>
        <p:spPr>
          <a:xfrm>
            <a:off x="4754880" y="1463040"/>
            <a:ext cx="3414396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Analysis Workflow</a:t>
            </a:r>
          </a:p>
        </p:txBody>
      </p:sp>
      <p:graphicFrame>
        <p:nvGraphicFramePr>
          <p:cNvPr id="952" name="Table">
            <a:extLst>
              <a:ext uri="{FF2B5EF4-FFF2-40B4-BE49-F238E27FC236}">
                <a16:creationId xmlns:a16="http://schemas.microsoft.com/office/drawing/2014/main" id="{D9FACEC3-EDDF-CC75-A96D-01E4A3EE3F64}"/>
              </a:ext>
            </a:extLst>
          </p:cNvPr>
          <p:cNvGraphicFramePr/>
          <p:nvPr/>
        </p:nvGraphicFramePr>
        <p:xfrm>
          <a:off x="7572970" y="1860776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3" name="Table">
            <a:extLst>
              <a:ext uri="{FF2B5EF4-FFF2-40B4-BE49-F238E27FC236}">
                <a16:creationId xmlns:a16="http://schemas.microsoft.com/office/drawing/2014/main" id="{F03B90B4-A178-B081-10A8-7BA83955E058}"/>
              </a:ext>
            </a:extLst>
          </p:cNvPr>
          <p:cNvGraphicFramePr/>
          <p:nvPr/>
        </p:nvGraphicFramePr>
        <p:xfrm>
          <a:off x="8061338" y="3158012"/>
          <a:ext cx="646626" cy="63799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07771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2262694748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819122332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296678260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322319369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17903980"/>
                    </a:ext>
                  </a:extLst>
                </a:gridCol>
              </a:tblGrid>
              <a:tr h="127598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4" name="Table">
            <a:extLst>
              <a:ext uri="{FF2B5EF4-FFF2-40B4-BE49-F238E27FC236}">
                <a16:creationId xmlns:a16="http://schemas.microsoft.com/office/drawing/2014/main" id="{45882A0C-5AFD-228A-5702-0A3899FA7ABE}"/>
              </a:ext>
            </a:extLst>
          </p:cNvPr>
          <p:cNvGraphicFramePr/>
          <p:nvPr/>
        </p:nvGraphicFramePr>
        <p:xfrm>
          <a:off x="57722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5" name="Table">
            <a:extLst>
              <a:ext uri="{FF2B5EF4-FFF2-40B4-BE49-F238E27FC236}">
                <a16:creationId xmlns:a16="http://schemas.microsoft.com/office/drawing/2014/main" id="{745ECA04-35E0-66A1-291C-733BFE431123}"/>
              </a:ext>
            </a:extLst>
          </p:cNvPr>
          <p:cNvGraphicFramePr/>
          <p:nvPr/>
        </p:nvGraphicFramePr>
        <p:xfrm>
          <a:off x="7118882" y="3162435"/>
          <a:ext cx="627864" cy="6400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933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102988"/>
                  </a:ext>
                </a:extLst>
              </a:tr>
            </a:tbl>
          </a:graphicData>
        </a:graphic>
      </p:graphicFrame>
      <p:graphicFrame>
        <p:nvGraphicFramePr>
          <p:cNvPr id="956" name="Table">
            <a:extLst>
              <a:ext uri="{FF2B5EF4-FFF2-40B4-BE49-F238E27FC236}">
                <a16:creationId xmlns:a16="http://schemas.microsoft.com/office/drawing/2014/main" id="{DF86B6BE-3296-C565-179B-B7C4CB065B90}"/>
              </a:ext>
            </a:extLst>
          </p:cNvPr>
          <p:cNvGraphicFramePr/>
          <p:nvPr/>
        </p:nvGraphicFramePr>
        <p:xfrm>
          <a:off x="53483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7" name="Plus Sign 956">
            <a:extLst>
              <a:ext uri="{FF2B5EF4-FFF2-40B4-BE49-F238E27FC236}">
                <a16:creationId xmlns:a16="http://schemas.microsoft.com/office/drawing/2014/main" id="{9CB9F5B7-C40B-1FF0-DC8B-13B744D05B35}"/>
              </a:ext>
            </a:extLst>
          </p:cNvPr>
          <p:cNvSpPr/>
          <p:nvPr/>
        </p:nvSpPr>
        <p:spPr>
          <a:xfrm>
            <a:off x="5608866" y="3336992"/>
            <a:ext cx="118473" cy="124938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8" name="Plus Sign 957">
            <a:extLst>
              <a:ext uri="{FF2B5EF4-FFF2-40B4-BE49-F238E27FC236}">
                <a16:creationId xmlns:a16="http://schemas.microsoft.com/office/drawing/2014/main" id="{438564A4-5B81-2029-64AF-741EE8F0CF7A}"/>
              </a:ext>
            </a:extLst>
          </p:cNvPr>
          <p:cNvSpPr/>
          <p:nvPr/>
        </p:nvSpPr>
        <p:spPr>
          <a:xfrm>
            <a:off x="7845219" y="3413769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9" name="Left Brace 958">
            <a:extLst>
              <a:ext uri="{FF2B5EF4-FFF2-40B4-BE49-F238E27FC236}">
                <a16:creationId xmlns:a16="http://schemas.microsoft.com/office/drawing/2014/main" id="{E35593CC-05CD-CC2D-92F1-BFFE76DCB19F}"/>
              </a:ext>
            </a:extLst>
          </p:cNvPr>
          <p:cNvSpPr/>
          <p:nvPr/>
        </p:nvSpPr>
        <p:spPr>
          <a:xfrm>
            <a:off x="7013808" y="3168613"/>
            <a:ext cx="45719" cy="623765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0" name="TextBox 959">
            <a:extLst>
              <a:ext uri="{FF2B5EF4-FFF2-40B4-BE49-F238E27FC236}">
                <a16:creationId xmlns:a16="http://schemas.microsoft.com/office/drawing/2014/main" id="{18FCE274-5430-138A-EC4C-C8513D6FA90B}"/>
              </a:ext>
            </a:extLst>
          </p:cNvPr>
          <p:cNvSpPr txBox="1"/>
          <p:nvPr/>
        </p:nvSpPr>
        <p:spPr>
          <a:xfrm>
            <a:off x="6843820" y="3302155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1" name="Left Brace 960">
            <a:extLst>
              <a:ext uri="{FF2B5EF4-FFF2-40B4-BE49-F238E27FC236}">
                <a16:creationId xmlns:a16="http://schemas.microsoft.com/office/drawing/2014/main" id="{28FEB5EF-F19F-A215-D2C2-E55AB0273074}"/>
              </a:ext>
            </a:extLst>
          </p:cNvPr>
          <p:cNvSpPr/>
          <p:nvPr/>
        </p:nvSpPr>
        <p:spPr>
          <a:xfrm rot="5400000">
            <a:off x="8355720" y="2751534"/>
            <a:ext cx="51104" cy="639868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1EB7006D-1853-47E1-1045-77C33EC99609}"/>
              </a:ext>
            </a:extLst>
          </p:cNvPr>
          <p:cNvSpPr txBox="1"/>
          <p:nvPr/>
        </p:nvSpPr>
        <p:spPr>
          <a:xfrm>
            <a:off x="8298111" y="2791232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3" name="TextBox 962">
            <a:extLst>
              <a:ext uri="{FF2B5EF4-FFF2-40B4-BE49-F238E27FC236}">
                <a16:creationId xmlns:a16="http://schemas.microsoft.com/office/drawing/2014/main" id="{2A21B0E5-0F10-AC20-D9B4-DF4B89A70E25}"/>
              </a:ext>
            </a:extLst>
          </p:cNvPr>
          <p:cNvSpPr txBox="1"/>
          <p:nvPr/>
        </p:nvSpPr>
        <p:spPr>
          <a:xfrm>
            <a:off x="7059527" y="2904070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CVE_ID</a:t>
            </a:r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6E186403-A3BE-FE35-7775-199ED51827C2}"/>
              </a:ext>
            </a:extLst>
          </p:cNvPr>
          <p:cNvSpPr txBox="1"/>
          <p:nvPr/>
        </p:nvSpPr>
        <p:spPr>
          <a:xfrm>
            <a:off x="5375035" y="3638435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5" name="TextBox 964">
            <a:extLst>
              <a:ext uri="{FF2B5EF4-FFF2-40B4-BE49-F238E27FC236}">
                <a16:creationId xmlns:a16="http://schemas.microsoft.com/office/drawing/2014/main" id="{183442EE-12A1-F060-B871-D54075C852C4}"/>
              </a:ext>
            </a:extLst>
          </p:cNvPr>
          <p:cNvSpPr txBox="1"/>
          <p:nvPr/>
        </p:nvSpPr>
        <p:spPr>
          <a:xfrm>
            <a:off x="8265907" y="4958917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A1EFB54B-6D15-D767-AF57-7BD31E9CDBF9}"/>
              </a:ext>
            </a:extLst>
          </p:cNvPr>
          <p:cNvSpPr txBox="1"/>
          <p:nvPr/>
        </p:nvSpPr>
        <p:spPr>
          <a:xfrm>
            <a:off x="7143372" y="3761779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dirty="0"/>
              <a:t>4. Indicator Features 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7" name="TextBox 966">
            <a:extLst>
              <a:ext uri="{FF2B5EF4-FFF2-40B4-BE49-F238E27FC236}">
                <a16:creationId xmlns:a16="http://schemas.microsoft.com/office/drawing/2014/main" id="{B792D7BE-E7C8-2B18-686B-FF26F7AE933B}"/>
              </a:ext>
            </a:extLst>
          </p:cNvPr>
          <p:cNvSpPr txBox="1"/>
          <p:nvPr/>
        </p:nvSpPr>
        <p:spPr>
          <a:xfrm>
            <a:off x="5218291" y="3762554"/>
            <a:ext cx="872964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/>
              <a:t>3. Time Lag</a:t>
            </a:r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D462AFE3-9865-AD01-49CE-64E2388C57D1}"/>
              </a:ext>
            </a:extLst>
          </p:cNvPr>
          <p:cNvSpPr txBox="1"/>
          <p:nvPr/>
        </p:nvSpPr>
        <p:spPr>
          <a:xfrm>
            <a:off x="7464986" y="2450238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2. Dataset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69" name="Connector: Elbow 968">
            <a:extLst>
              <a:ext uri="{FF2B5EF4-FFF2-40B4-BE49-F238E27FC236}">
                <a16:creationId xmlns:a16="http://schemas.microsoft.com/office/drawing/2014/main" id="{F1F2B1E5-608A-98D2-A041-E5764B47A53A}"/>
              </a:ext>
            </a:extLst>
          </p:cNvPr>
          <p:cNvCxnSpPr>
            <a:cxnSpLocks/>
            <a:endCxn id="995" idx="1"/>
          </p:cNvCxnSpPr>
          <p:nvPr/>
        </p:nvCxnSpPr>
        <p:spPr>
          <a:xfrm flipH="1">
            <a:off x="5209590" y="2279027"/>
            <a:ext cx="3498712" cy="1167195"/>
          </a:xfrm>
          <a:prstGeom prst="bentConnector5">
            <a:avLst>
              <a:gd name="adj1" fmla="val -9550"/>
              <a:gd name="adj2" fmla="val 50000"/>
              <a:gd name="adj3" fmla="val 112547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70" name="Rectangle 969">
            <a:extLst>
              <a:ext uri="{FF2B5EF4-FFF2-40B4-BE49-F238E27FC236}">
                <a16:creationId xmlns:a16="http://schemas.microsoft.com/office/drawing/2014/main" id="{074C17E8-3C5F-9A3E-3CCF-78ED96EABBA3}"/>
              </a:ext>
            </a:extLst>
          </p:cNvPr>
          <p:cNvSpPr/>
          <p:nvPr/>
        </p:nvSpPr>
        <p:spPr>
          <a:xfrm>
            <a:off x="7370620" y="1800587"/>
            <a:ext cx="1443262" cy="996921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971" name="Table">
            <a:extLst>
              <a:ext uri="{FF2B5EF4-FFF2-40B4-BE49-F238E27FC236}">
                <a16:creationId xmlns:a16="http://schemas.microsoft.com/office/drawing/2014/main" id="{13939507-C143-867D-3EF5-D82D47046ADC}"/>
              </a:ext>
            </a:extLst>
          </p:cNvPr>
          <p:cNvGraphicFramePr/>
          <p:nvPr/>
        </p:nvGraphicFramePr>
        <p:xfrm>
          <a:off x="5798497" y="4490104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72" name="Table">
            <a:extLst>
              <a:ext uri="{FF2B5EF4-FFF2-40B4-BE49-F238E27FC236}">
                <a16:creationId xmlns:a16="http://schemas.microsoft.com/office/drawing/2014/main" id="{C6EED19E-78E1-49C8-E10D-A186A3E2E1FA}"/>
              </a:ext>
            </a:extLst>
          </p:cNvPr>
          <p:cNvGraphicFramePr/>
          <p:nvPr/>
        </p:nvGraphicFramePr>
        <p:xfrm>
          <a:off x="5305505" y="4499036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3" name="Plus Sign 972">
            <a:extLst>
              <a:ext uri="{FF2B5EF4-FFF2-40B4-BE49-F238E27FC236}">
                <a16:creationId xmlns:a16="http://schemas.microsoft.com/office/drawing/2014/main" id="{BDC58937-4530-00C4-79CF-5513A4814A44}"/>
              </a:ext>
            </a:extLst>
          </p:cNvPr>
          <p:cNvSpPr/>
          <p:nvPr/>
        </p:nvSpPr>
        <p:spPr>
          <a:xfrm>
            <a:off x="5599687" y="4490104"/>
            <a:ext cx="12099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74" name="TextBox 973">
            <a:extLst>
              <a:ext uri="{FF2B5EF4-FFF2-40B4-BE49-F238E27FC236}">
                <a16:creationId xmlns:a16="http://schemas.microsoft.com/office/drawing/2014/main" id="{FC9506B3-2DBD-29DB-3BDE-3A87C187BA7E}"/>
              </a:ext>
            </a:extLst>
          </p:cNvPr>
          <p:cNvSpPr txBox="1"/>
          <p:nvPr/>
        </p:nvSpPr>
        <p:spPr>
          <a:xfrm>
            <a:off x="5103638" y="5067603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5. Null Features</a:t>
            </a:r>
          </a:p>
        </p:txBody>
      </p:sp>
      <p:cxnSp>
        <p:nvCxnSpPr>
          <p:cNvPr id="975" name="Straight Arrow Connector 974">
            <a:extLst>
              <a:ext uri="{FF2B5EF4-FFF2-40B4-BE49-F238E27FC236}">
                <a16:creationId xmlns:a16="http://schemas.microsoft.com/office/drawing/2014/main" id="{EE9EA9FF-24C5-6DF0-BCFE-0F4FB0C401B2}"/>
              </a:ext>
            </a:extLst>
          </p:cNvPr>
          <p:cNvCxnSpPr>
            <a:cxnSpLocks/>
          </p:cNvCxnSpPr>
          <p:nvPr/>
        </p:nvCxnSpPr>
        <p:spPr>
          <a:xfrm>
            <a:off x="5512825" y="4664976"/>
            <a:ext cx="285672" cy="357737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6" name="Straight Arrow Connector 975">
            <a:extLst>
              <a:ext uri="{FF2B5EF4-FFF2-40B4-BE49-F238E27FC236}">
                <a16:creationId xmlns:a16="http://schemas.microsoft.com/office/drawing/2014/main" id="{D49FFB33-5E5F-DE68-D936-5594CA7E56D1}"/>
              </a:ext>
            </a:extLst>
          </p:cNvPr>
          <p:cNvCxnSpPr>
            <a:cxnSpLocks/>
          </p:cNvCxnSpPr>
          <p:nvPr/>
        </p:nvCxnSpPr>
        <p:spPr>
          <a:xfrm>
            <a:off x="5512825" y="4798565"/>
            <a:ext cx="285672" cy="11364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7" name="Straight Arrow Connector 976">
            <a:extLst>
              <a:ext uri="{FF2B5EF4-FFF2-40B4-BE49-F238E27FC236}">
                <a16:creationId xmlns:a16="http://schemas.microsoft.com/office/drawing/2014/main" id="{E0E3F2BE-0434-3C52-EAE9-7D6B2587CAF2}"/>
              </a:ext>
            </a:extLst>
          </p:cNvPr>
          <p:cNvCxnSpPr>
            <a:cxnSpLocks/>
            <a:endCxn id="971" idx="1"/>
          </p:cNvCxnSpPr>
          <p:nvPr/>
        </p:nvCxnSpPr>
        <p:spPr>
          <a:xfrm flipV="1">
            <a:off x="5506921" y="4786981"/>
            <a:ext cx="291576" cy="12208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8" name="Straight Arrow Connector 977">
            <a:extLst>
              <a:ext uri="{FF2B5EF4-FFF2-40B4-BE49-F238E27FC236}">
                <a16:creationId xmlns:a16="http://schemas.microsoft.com/office/drawing/2014/main" id="{47737F93-82B8-EEAC-589C-8EFA594B20A7}"/>
              </a:ext>
            </a:extLst>
          </p:cNvPr>
          <p:cNvCxnSpPr>
            <a:cxnSpLocks/>
          </p:cNvCxnSpPr>
          <p:nvPr/>
        </p:nvCxnSpPr>
        <p:spPr>
          <a:xfrm flipV="1">
            <a:off x="5509148" y="4664976"/>
            <a:ext cx="289349" cy="36609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9" name="Connector: Elbow 978">
            <a:extLst>
              <a:ext uri="{FF2B5EF4-FFF2-40B4-BE49-F238E27FC236}">
                <a16:creationId xmlns:a16="http://schemas.microsoft.com/office/drawing/2014/main" id="{90135205-98A4-7EEE-F70A-79DBFF59719B}"/>
              </a:ext>
            </a:extLst>
          </p:cNvPr>
          <p:cNvCxnSpPr>
            <a:cxnSpLocks/>
            <a:stCxn id="992" idx="3"/>
            <a:endCxn id="993" idx="1"/>
          </p:cNvCxnSpPr>
          <p:nvPr/>
        </p:nvCxnSpPr>
        <p:spPr>
          <a:xfrm flipH="1">
            <a:off x="5202130" y="3497252"/>
            <a:ext cx="3609346" cy="1247213"/>
          </a:xfrm>
          <a:prstGeom prst="bentConnector5">
            <a:avLst>
              <a:gd name="adj1" fmla="val -6334"/>
              <a:gd name="adj2" fmla="val 54130"/>
              <a:gd name="adj3" fmla="val 111841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0" name="TextBox 979">
            <a:extLst>
              <a:ext uri="{FF2B5EF4-FFF2-40B4-BE49-F238E27FC236}">
                <a16:creationId xmlns:a16="http://schemas.microsoft.com/office/drawing/2014/main" id="{52CEDAEA-5139-E23E-3661-81B8EDE64056}"/>
              </a:ext>
            </a:extLst>
          </p:cNvPr>
          <p:cNvSpPr txBox="1"/>
          <p:nvPr/>
        </p:nvSpPr>
        <p:spPr>
          <a:xfrm>
            <a:off x="5700184" y="4315800"/>
            <a:ext cx="481869" cy="2000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NV-ID</a:t>
            </a:r>
          </a:p>
        </p:txBody>
      </p:sp>
      <p:pic>
        <p:nvPicPr>
          <p:cNvPr id="981" name="Picture 980" descr="A picture containing text&#10;&#10;Description automatically generated">
            <a:extLst>
              <a:ext uri="{FF2B5EF4-FFF2-40B4-BE49-F238E27FC236}">
                <a16:creationId xmlns:a16="http://schemas.microsoft.com/office/drawing/2014/main" id="{C2F904E0-DDA0-97BD-E87A-AFF72B07F5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501" y="1793256"/>
            <a:ext cx="575884" cy="668768"/>
          </a:xfrm>
          <a:prstGeom prst="rect">
            <a:avLst/>
          </a:prstGeom>
        </p:spPr>
      </p:pic>
      <p:sp>
        <p:nvSpPr>
          <p:cNvPr id="982" name="TextBox 981">
            <a:extLst>
              <a:ext uri="{FF2B5EF4-FFF2-40B4-BE49-F238E27FC236}">
                <a16:creationId xmlns:a16="http://schemas.microsoft.com/office/drawing/2014/main" id="{5CC106C1-0751-697D-A269-3659631F83CE}"/>
              </a:ext>
            </a:extLst>
          </p:cNvPr>
          <p:cNvSpPr txBox="1"/>
          <p:nvPr/>
        </p:nvSpPr>
        <p:spPr>
          <a:xfrm>
            <a:off x="5004947" y="2423307"/>
            <a:ext cx="131138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1. </a:t>
            </a:r>
            <a:r>
              <a:rPr lang="en-US" dirty="0" err="1"/>
              <a:t>sailuh</a:t>
            </a:r>
            <a:r>
              <a:rPr lang="en-US" dirty="0"/>
              <a:t>/</a:t>
            </a:r>
            <a:r>
              <a:rPr lang="en-US" dirty="0" err="1"/>
              <a:t>kaiaulu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83" name="TextBox 982">
            <a:extLst>
              <a:ext uri="{FF2B5EF4-FFF2-40B4-BE49-F238E27FC236}">
                <a16:creationId xmlns:a16="http://schemas.microsoft.com/office/drawing/2014/main" id="{DA58E427-044E-1B66-3DFB-291C609EF151}"/>
              </a:ext>
            </a:extLst>
          </p:cNvPr>
          <p:cNvSpPr txBox="1"/>
          <p:nvPr/>
        </p:nvSpPr>
        <p:spPr>
          <a:xfrm>
            <a:off x="7046974" y="7065060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7.2 Domain Knowledge</a:t>
            </a:r>
          </a:p>
        </p:txBody>
      </p:sp>
      <p:cxnSp>
        <p:nvCxnSpPr>
          <p:cNvPr id="984" name="Connector: Elbow 983">
            <a:extLst>
              <a:ext uri="{FF2B5EF4-FFF2-40B4-BE49-F238E27FC236}">
                <a16:creationId xmlns:a16="http://schemas.microsoft.com/office/drawing/2014/main" id="{1B070BB2-79DA-5CFF-C0CF-D7E1AB789F28}"/>
              </a:ext>
            </a:extLst>
          </p:cNvPr>
          <p:cNvCxnSpPr>
            <a:cxnSpLocks/>
            <a:endCxn id="1102" idx="3"/>
          </p:cNvCxnSpPr>
          <p:nvPr/>
        </p:nvCxnSpPr>
        <p:spPr>
          <a:xfrm flipH="1">
            <a:off x="8451473" y="5231923"/>
            <a:ext cx="266193" cy="568100"/>
          </a:xfrm>
          <a:prstGeom prst="bentConnector3">
            <a:avLst>
              <a:gd name="adj1" fmla="val -12022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5" name="Connector: Elbow 984">
            <a:extLst>
              <a:ext uri="{FF2B5EF4-FFF2-40B4-BE49-F238E27FC236}">
                <a16:creationId xmlns:a16="http://schemas.microsoft.com/office/drawing/2014/main" id="{AC6EC968-F2F8-6626-25D3-EBC91A526558}"/>
              </a:ext>
            </a:extLst>
          </p:cNvPr>
          <p:cNvCxnSpPr>
            <a:cxnSpLocks/>
          </p:cNvCxnSpPr>
          <p:nvPr/>
        </p:nvCxnSpPr>
        <p:spPr>
          <a:xfrm rot="10800000">
            <a:off x="6191032" y="6088412"/>
            <a:ext cx="1339738" cy="753131"/>
          </a:xfrm>
          <a:prstGeom prst="bentConnector3">
            <a:avLst>
              <a:gd name="adj1" fmla="val 6433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6" name="Connector: Elbow 985">
            <a:extLst>
              <a:ext uri="{FF2B5EF4-FFF2-40B4-BE49-F238E27FC236}">
                <a16:creationId xmlns:a16="http://schemas.microsoft.com/office/drawing/2014/main" id="{D03A8905-A0B7-1BE4-2702-ACC69EDB7544}"/>
              </a:ext>
            </a:extLst>
          </p:cNvPr>
          <p:cNvCxnSpPr>
            <a:cxnSpLocks/>
            <a:stCxn id="1103" idx="1"/>
          </p:cNvCxnSpPr>
          <p:nvPr/>
        </p:nvCxnSpPr>
        <p:spPr>
          <a:xfrm rot="10800000" flipV="1">
            <a:off x="6191031" y="5778057"/>
            <a:ext cx="1218821" cy="310351"/>
          </a:xfrm>
          <a:prstGeom prst="bentConnector3">
            <a:avLst>
              <a:gd name="adj1" fmla="val 61094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7" name="Connector: Elbow 986">
            <a:extLst>
              <a:ext uri="{FF2B5EF4-FFF2-40B4-BE49-F238E27FC236}">
                <a16:creationId xmlns:a16="http://schemas.microsoft.com/office/drawing/2014/main" id="{6FA7F3D5-0FBF-BDAB-5BB4-5495CDF4BC81}"/>
              </a:ext>
            </a:extLst>
          </p:cNvPr>
          <p:cNvCxnSpPr>
            <a:cxnSpLocks/>
            <a:stCxn id="997" idx="1"/>
          </p:cNvCxnSpPr>
          <p:nvPr/>
        </p:nvCxnSpPr>
        <p:spPr>
          <a:xfrm rot="10800000" flipV="1">
            <a:off x="6191031" y="3958395"/>
            <a:ext cx="868497" cy="2130014"/>
          </a:xfrm>
          <a:prstGeom prst="bentConnector3">
            <a:avLst>
              <a:gd name="adj1" fmla="val 44736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8" name="Connector: Elbow 987">
            <a:extLst>
              <a:ext uri="{FF2B5EF4-FFF2-40B4-BE49-F238E27FC236}">
                <a16:creationId xmlns:a16="http://schemas.microsoft.com/office/drawing/2014/main" id="{6F1BBC5B-2ADA-7259-BB7D-27E135AB25C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146994" y="6098332"/>
            <a:ext cx="1516881" cy="1905124"/>
          </a:xfrm>
          <a:prstGeom prst="bentConnector4">
            <a:avLst>
              <a:gd name="adj1" fmla="val -25117"/>
              <a:gd name="adj2" fmla="val 73163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9" name="Straight Arrow Connector 988">
            <a:extLst>
              <a:ext uri="{FF2B5EF4-FFF2-40B4-BE49-F238E27FC236}">
                <a16:creationId xmlns:a16="http://schemas.microsoft.com/office/drawing/2014/main" id="{674A72FD-89AB-DAC5-8BE6-2B7BF6D949DE}"/>
              </a:ext>
            </a:extLst>
          </p:cNvPr>
          <p:cNvCxnSpPr>
            <a:cxnSpLocks/>
          </p:cNvCxnSpPr>
          <p:nvPr/>
        </p:nvCxnSpPr>
        <p:spPr>
          <a:xfrm>
            <a:off x="6463103" y="4734321"/>
            <a:ext cx="540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0" name="Straight Arrow Connector 989">
            <a:extLst>
              <a:ext uri="{FF2B5EF4-FFF2-40B4-BE49-F238E27FC236}">
                <a16:creationId xmlns:a16="http://schemas.microsoft.com/office/drawing/2014/main" id="{044952AA-5803-5DC7-73D1-D0E41ECB1B32}"/>
              </a:ext>
            </a:extLst>
          </p:cNvPr>
          <p:cNvCxnSpPr>
            <a:cxnSpLocks/>
          </p:cNvCxnSpPr>
          <p:nvPr/>
        </p:nvCxnSpPr>
        <p:spPr>
          <a:xfrm>
            <a:off x="6578363" y="2180213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1" name="TextBox 990">
            <a:extLst>
              <a:ext uri="{FF2B5EF4-FFF2-40B4-BE49-F238E27FC236}">
                <a16:creationId xmlns:a16="http://schemas.microsoft.com/office/drawing/2014/main" id="{055207A2-2196-DDAC-6BA5-50A66F778A06}"/>
              </a:ext>
            </a:extLst>
          </p:cNvPr>
          <p:cNvSpPr txBox="1"/>
          <p:nvPr/>
        </p:nvSpPr>
        <p:spPr>
          <a:xfrm>
            <a:off x="8573910" y="1854240"/>
            <a:ext cx="130496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2" name="TextBox 991">
            <a:extLst>
              <a:ext uri="{FF2B5EF4-FFF2-40B4-BE49-F238E27FC236}">
                <a16:creationId xmlns:a16="http://schemas.microsoft.com/office/drawing/2014/main" id="{68848136-AD08-F215-0917-00A3FC07EF50}"/>
              </a:ext>
            </a:extLst>
          </p:cNvPr>
          <p:cNvSpPr txBox="1"/>
          <p:nvPr/>
        </p:nvSpPr>
        <p:spPr>
          <a:xfrm>
            <a:off x="8701206" y="333699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3" name="TextBox 992">
            <a:extLst>
              <a:ext uri="{FF2B5EF4-FFF2-40B4-BE49-F238E27FC236}">
                <a16:creationId xmlns:a16="http://schemas.microsoft.com/office/drawing/2014/main" id="{7354BBD2-A7FD-8B76-FC16-9FD44D406B40}"/>
              </a:ext>
            </a:extLst>
          </p:cNvPr>
          <p:cNvSpPr txBox="1"/>
          <p:nvPr/>
        </p:nvSpPr>
        <p:spPr>
          <a:xfrm>
            <a:off x="5202130" y="458420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8F4D409D-7931-5CA4-AEF7-BDE57318D237}"/>
              </a:ext>
            </a:extLst>
          </p:cNvPr>
          <p:cNvCxnSpPr>
            <a:cxnSpLocks/>
          </p:cNvCxnSpPr>
          <p:nvPr/>
        </p:nvCxnSpPr>
        <p:spPr>
          <a:xfrm>
            <a:off x="6304400" y="3467696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5" name="TextBox 994">
            <a:extLst>
              <a:ext uri="{FF2B5EF4-FFF2-40B4-BE49-F238E27FC236}">
                <a16:creationId xmlns:a16="http://schemas.microsoft.com/office/drawing/2014/main" id="{A09522C5-FC48-8B9E-9C89-481C7A518D39}"/>
              </a:ext>
            </a:extLst>
          </p:cNvPr>
          <p:cNvSpPr txBox="1"/>
          <p:nvPr/>
        </p:nvSpPr>
        <p:spPr>
          <a:xfrm>
            <a:off x="5209590" y="328596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6" name="TextBox 995">
            <a:extLst>
              <a:ext uri="{FF2B5EF4-FFF2-40B4-BE49-F238E27FC236}">
                <a16:creationId xmlns:a16="http://schemas.microsoft.com/office/drawing/2014/main" id="{4A5BD579-57BA-3BF5-D6DF-76F02B24D7C9}"/>
              </a:ext>
            </a:extLst>
          </p:cNvPr>
          <p:cNvSpPr txBox="1"/>
          <p:nvPr/>
        </p:nvSpPr>
        <p:spPr>
          <a:xfrm rot="5400000">
            <a:off x="7893098" y="3828354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7" name="TextBox 996">
            <a:extLst>
              <a:ext uri="{FF2B5EF4-FFF2-40B4-BE49-F238E27FC236}">
                <a16:creationId xmlns:a16="http://schemas.microsoft.com/office/drawing/2014/main" id="{C3140FC3-02AD-E888-DBEA-4C12D57D5AA6}"/>
              </a:ext>
            </a:extLst>
          </p:cNvPr>
          <p:cNvSpPr txBox="1"/>
          <p:nvPr/>
        </p:nvSpPr>
        <p:spPr>
          <a:xfrm>
            <a:off x="7059527" y="379813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8" name="TextBox 997">
            <a:extLst>
              <a:ext uri="{FF2B5EF4-FFF2-40B4-BE49-F238E27FC236}">
                <a16:creationId xmlns:a16="http://schemas.microsoft.com/office/drawing/2014/main" id="{1284AA6E-9113-FB5B-BA68-B66A613ED02D}"/>
              </a:ext>
            </a:extLst>
          </p:cNvPr>
          <p:cNvSpPr txBox="1"/>
          <p:nvPr/>
        </p:nvSpPr>
        <p:spPr>
          <a:xfrm rot="5400000">
            <a:off x="6616888" y="7825672"/>
            <a:ext cx="97008" cy="231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99" name="Graphic 998" descr="Cmd Terminal with solid fill">
            <a:extLst>
              <a:ext uri="{FF2B5EF4-FFF2-40B4-BE49-F238E27FC236}">
                <a16:creationId xmlns:a16="http://schemas.microsoft.com/office/drawing/2014/main" id="{EE6C7A1E-4CB5-B112-0226-A1C0B0A62D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761" y="8507313"/>
            <a:ext cx="451448" cy="455550"/>
          </a:xfrm>
          <a:prstGeom prst="rect">
            <a:avLst/>
          </a:prstGeom>
        </p:spPr>
      </p:pic>
      <p:pic>
        <p:nvPicPr>
          <p:cNvPr id="1000" name="Graphic 999" descr="Paper outline">
            <a:extLst>
              <a:ext uri="{FF2B5EF4-FFF2-40B4-BE49-F238E27FC236}">
                <a16:creationId xmlns:a16="http://schemas.microsoft.com/office/drawing/2014/main" id="{570CBDDB-F344-A40A-FC95-D151E49B0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7882" y="7907026"/>
            <a:ext cx="261597" cy="261597"/>
          </a:xfrm>
          <a:prstGeom prst="rect">
            <a:avLst/>
          </a:prstGeom>
        </p:spPr>
      </p:pic>
      <p:sp>
        <p:nvSpPr>
          <p:cNvPr id="1001" name="TextBox 1000">
            <a:extLst>
              <a:ext uri="{FF2B5EF4-FFF2-40B4-BE49-F238E27FC236}">
                <a16:creationId xmlns:a16="http://schemas.microsoft.com/office/drawing/2014/main" id="{8EEAA2BE-DA43-CCE5-C6E2-B38975CD4942}"/>
              </a:ext>
            </a:extLst>
          </p:cNvPr>
          <p:cNvSpPr txBox="1"/>
          <p:nvPr/>
        </p:nvSpPr>
        <p:spPr>
          <a:xfrm>
            <a:off x="1933340" y="7711753"/>
            <a:ext cx="687081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API</a:t>
            </a:r>
          </a:p>
        </p:txBody>
      </p:sp>
      <p:pic>
        <p:nvPicPr>
          <p:cNvPr id="1002" name="Graphic 1001" descr="Paper outline">
            <a:extLst>
              <a:ext uri="{FF2B5EF4-FFF2-40B4-BE49-F238E27FC236}">
                <a16:creationId xmlns:a16="http://schemas.microsoft.com/office/drawing/2014/main" id="{FDFA3E55-E32D-0E1D-7738-92496699AC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2978" y="8472819"/>
            <a:ext cx="527267" cy="527267"/>
          </a:xfrm>
          <a:prstGeom prst="rect">
            <a:avLst/>
          </a:prstGeom>
        </p:spPr>
      </p:pic>
      <p:sp>
        <p:nvSpPr>
          <p:cNvPr id="1003" name="TextBox 1002">
            <a:extLst>
              <a:ext uri="{FF2B5EF4-FFF2-40B4-BE49-F238E27FC236}">
                <a16:creationId xmlns:a16="http://schemas.microsoft.com/office/drawing/2014/main" id="{AF25F119-F55D-96C1-0084-E2FD4875D4D4}"/>
              </a:ext>
            </a:extLst>
          </p:cNvPr>
          <p:cNvSpPr txBox="1"/>
          <p:nvPr/>
        </p:nvSpPr>
        <p:spPr>
          <a:xfrm>
            <a:off x="1509263" y="8904797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exec/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3FB7375D-333C-3F74-99AB-1C65EF411ECF}"/>
              </a:ext>
            </a:extLst>
          </p:cNvPr>
          <p:cNvSpPr/>
          <p:nvPr/>
        </p:nvSpPr>
        <p:spPr>
          <a:xfrm>
            <a:off x="185141" y="7885351"/>
            <a:ext cx="710936" cy="20869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&lt;</a:t>
            </a: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File_paths</a:t>
            </a: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&gt;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09" name="Straight Arrow Connector 1008">
            <a:extLst>
              <a:ext uri="{FF2B5EF4-FFF2-40B4-BE49-F238E27FC236}">
                <a16:creationId xmlns:a16="http://schemas.microsoft.com/office/drawing/2014/main" id="{C8E9F259-836F-B235-678C-84363F5B6068}"/>
              </a:ext>
            </a:extLst>
          </p:cNvPr>
          <p:cNvCxnSpPr>
            <a:cxnSpLocks/>
          </p:cNvCxnSpPr>
          <p:nvPr/>
        </p:nvCxnSpPr>
        <p:spPr>
          <a:xfrm>
            <a:off x="1292611" y="8729259"/>
            <a:ext cx="164486" cy="719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10" name="Straight Arrow Connector 1009">
            <a:extLst>
              <a:ext uri="{FF2B5EF4-FFF2-40B4-BE49-F238E27FC236}">
                <a16:creationId xmlns:a16="http://schemas.microsoft.com/office/drawing/2014/main" id="{214056C5-992B-8755-DD25-EAA2D28B4E42}"/>
              </a:ext>
            </a:extLst>
          </p:cNvPr>
          <p:cNvCxnSpPr>
            <a:cxnSpLocks/>
          </p:cNvCxnSpPr>
          <p:nvPr/>
        </p:nvCxnSpPr>
        <p:spPr>
          <a:xfrm>
            <a:off x="540609" y="8202553"/>
            <a:ext cx="251152" cy="274997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7A098EDC-0FDA-DB26-0338-EC10BD9D9D53}"/>
              </a:ext>
            </a:extLst>
          </p:cNvPr>
          <p:cNvSpPr txBox="1"/>
          <p:nvPr/>
        </p:nvSpPr>
        <p:spPr>
          <a:xfrm>
            <a:off x="182880" y="932688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Exec scripts provides command line access to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Pykumu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API package, allowing its causal analysis capabilities to be accessed via the terminal or server side without writing Python code. 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1019" name="TextBox 1018">
            <a:extLst>
              <a:ext uri="{FF2B5EF4-FFF2-40B4-BE49-F238E27FC236}">
                <a16:creationId xmlns:a16="http://schemas.microsoft.com/office/drawing/2014/main" id="{4E0375C2-6F56-BBBA-FBBD-607FDEF622A5}"/>
              </a:ext>
            </a:extLst>
          </p:cNvPr>
          <p:cNvSpPr txBox="1"/>
          <p:nvPr/>
        </p:nvSpPr>
        <p:spPr>
          <a:xfrm>
            <a:off x="232303" y="393741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>
                <a:solidFill>
                  <a:schemeClr val="bg2">
                    <a:lumMod val="10000"/>
                  </a:schemeClr>
                </a:solidFill>
              </a:rPr>
              <a:t>Tetrad Java API</a:t>
            </a:r>
          </a:p>
        </p:txBody>
      </p:sp>
      <p:pic>
        <p:nvPicPr>
          <p:cNvPr id="1020" name="Graphic 1019" descr="Paper outline">
            <a:extLst>
              <a:ext uri="{FF2B5EF4-FFF2-40B4-BE49-F238E27FC236}">
                <a16:creationId xmlns:a16="http://schemas.microsoft.com/office/drawing/2014/main" id="{60EFA550-5B24-2E6D-5201-B6986E8100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0954" y="4265041"/>
            <a:ext cx="527267" cy="527267"/>
          </a:xfrm>
          <a:prstGeom prst="rect">
            <a:avLst/>
          </a:prstGeom>
        </p:spPr>
      </p:pic>
      <p:cxnSp>
        <p:nvCxnSpPr>
          <p:cNvPr id="1023" name="Straight Arrow Connector 1022">
            <a:extLst>
              <a:ext uri="{FF2B5EF4-FFF2-40B4-BE49-F238E27FC236}">
                <a16:creationId xmlns:a16="http://schemas.microsoft.com/office/drawing/2014/main" id="{03BE7FAE-9946-D21A-87CF-C37EF106B99B}"/>
              </a:ext>
            </a:extLst>
          </p:cNvPr>
          <p:cNvCxnSpPr>
            <a:cxnSpLocks/>
          </p:cNvCxnSpPr>
          <p:nvPr/>
        </p:nvCxnSpPr>
        <p:spPr>
          <a:xfrm>
            <a:off x="1028993" y="3837479"/>
            <a:ext cx="9092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B7C56FA8-B90F-555C-C8A9-334C1BCB6AC9}"/>
              </a:ext>
            </a:extLst>
          </p:cNvPr>
          <p:cNvCxnSpPr>
            <a:cxnSpLocks/>
          </p:cNvCxnSpPr>
          <p:nvPr/>
        </p:nvCxnSpPr>
        <p:spPr>
          <a:xfrm>
            <a:off x="1023055" y="3972100"/>
            <a:ext cx="340872" cy="391832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CEA35C44-E31A-A344-DCFB-1C7F326BFD49}"/>
              </a:ext>
            </a:extLst>
          </p:cNvPr>
          <p:cNvSpPr txBox="1"/>
          <p:nvPr/>
        </p:nvSpPr>
        <p:spPr>
          <a:xfrm>
            <a:off x="815127" y="4126651"/>
            <a:ext cx="536637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8AD13AE3-8ED6-9E1A-6008-37DC7A97E5B6}"/>
              </a:ext>
            </a:extLst>
          </p:cNvPr>
          <p:cNvSpPr txBox="1"/>
          <p:nvPr/>
        </p:nvSpPr>
        <p:spPr>
          <a:xfrm>
            <a:off x="1510648" y="4422940"/>
            <a:ext cx="371960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" b="0" dirty="0" err="1">
                <a:solidFill>
                  <a:schemeClr val="tx1">
                    <a:lumMod val="50000"/>
                  </a:schemeClr>
                </a:solidFill>
              </a:rPr>
              <a:t>TetradSearch</a:t>
            </a:r>
            <a:r>
              <a:rPr lang="en-US" sz="300" b="0" dirty="0">
                <a:solidFill>
                  <a:schemeClr val="tx1">
                    <a:lumMod val="50000"/>
                  </a:schemeClr>
                </a:solidFill>
              </a:rPr>
              <a:t> Class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F6013624-E1EB-75A1-C3B6-B70C38B65878}"/>
              </a:ext>
            </a:extLst>
          </p:cNvPr>
          <p:cNvSpPr txBox="1"/>
          <p:nvPr/>
        </p:nvSpPr>
        <p:spPr>
          <a:xfrm>
            <a:off x="2385334" y="3867687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 API</a:t>
            </a:r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E97E6DC6-B9B7-2B9F-CD7B-FC3E10743482}"/>
              </a:ext>
            </a:extLst>
          </p:cNvPr>
          <p:cNvCxnSpPr>
            <a:cxnSpLocks/>
          </p:cNvCxnSpPr>
          <p:nvPr/>
        </p:nvCxnSpPr>
        <p:spPr>
          <a:xfrm flipV="1">
            <a:off x="1979305" y="4126651"/>
            <a:ext cx="450843" cy="239726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41" name="Folded Corner 3">
            <a:extLst>
              <a:ext uri="{FF2B5EF4-FFF2-40B4-BE49-F238E27FC236}">
                <a16:creationId xmlns:a16="http://schemas.microsoft.com/office/drawing/2014/main" id="{0189AD6F-9C53-FE81-5744-52C1699648AC}"/>
              </a:ext>
            </a:extLst>
          </p:cNvPr>
          <p:cNvSpPr/>
          <p:nvPr/>
        </p:nvSpPr>
        <p:spPr>
          <a:xfrm rot="10800000" flipH="1">
            <a:off x="2129004" y="337722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2" name="Folded Corner 4">
            <a:extLst>
              <a:ext uri="{FF2B5EF4-FFF2-40B4-BE49-F238E27FC236}">
                <a16:creationId xmlns:a16="http://schemas.microsoft.com/office/drawing/2014/main" id="{4B9BBCD9-06F9-1835-3FE3-00CA7CB1C48C}"/>
              </a:ext>
            </a:extLst>
          </p:cNvPr>
          <p:cNvSpPr/>
          <p:nvPr/>
        </p:nvSpPr>
        <p:spPr>
          <a:xfrm rot="10800000" flipH="1">
            <a:off x="2095922" y="3405690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3" name="Folded Corner 5">
            <a:extLst>
              <a:ext uri="{FF2B5EF4-FFF2-40B4-BE49-F238E27FC236}">
                <a16:creationId xmlns:a16="http://schemas.microsoft.com/office/drawing/2014/main" id="{3784AB12-1624-75B0-F063-640EB75A6A4D}"/>
              </a:ext>
            </a:extLst>
          </p:cNvPr>
          <p:cNvSpPr/>
          <p:nvPr/>
        </p:nvSpPr>
        <p:spPr>
          <a:xfrm rot="10800000" flipH="1">
            <a:off x="2055485" y="343946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1F6FAD62-E83D-DBD3-39E6-A0B62E07B5CF}"/>
              </a:ext>
            </a:extLst>
          </p:cNvPr>
          <p:cNvSpPr txBox="1"/>
          <p:nvPr/>
        </p:nvSpPr>
        <p:spPr>
          <a:xfrm>
            <a:off x="2026720" y="358624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tetrad.py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88291890-115D-A368-B9DB-444F333C5065}"/>
              </a:ext>
            </a:extLst>
          </p:cNvPr>
          <p:cNvSpPr txBox="1"/>
          <p:nvPr/>
        </p:nvSpPr>
        <p:spPr>
          <a:xfrm>
            <a:off x="1285591" y="470218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TetradSearch.py</a:t>
            </a:r>
          </a:p>
        </p:txBody>
      </p: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0DACE387-3E2E-46D5-E8CA-F36A0EC9AFC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6384" y="118872"/>
            <a:ext cx="1444661" cy="1673352"/>
          </a:xfrm>
          <a:prstGeom prst="rect">
            <a:avLst/>
          </a:prstGeom>
        </p:spPr>
      </p:pic>
      <p:sp>
        <p:nvSpPr>
          <p:cNvPr id="1065" name="TextBox 1064">
            <a:extLst>
              <a:ext uri="{FF2B5EF4-FFF2-40B4-BE49-F238E27FC236}">
                <a16:creationId xmlns:a16="http://schemas.microsoft.com/office/drawing/2014/main" id="{ACE3E823-2FB5-03BE-D5F8-8177632EC707}"/>
              </a:ext>
            </a:extLst>
          </p:cNvPr>
          <p:cNvSpPr txBox="1"/>
          <p:nvPr/>
        </p:nvSpPr>
        <p:spPr>
          <a:xfrm>
            <a:off x="7318302" y="5055976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6. Causal Search</a:t>
            </a:r>
          </a:p>
        </p:txBody>
      </p:sp>
      <p:graphicFrame>
        <p:nvGraphicFramePr>
          <p:cNvPr id="1066" name="Table">
            <a:extLst>
              <a:ext uri="{FF2B5EF4-FFF2-40B4-BE49-F238E27FC236}">
                <a16:creationId xmlns:a16="http://schemas.microsoft.com/office/drawing/2014/main" id="{AE6FEDA6-F418-DCE3-7672-C0DDDD4BC439}"/>
              </a:ext>
            </a:extLst>
          </p:cNvPr>
          <p:cNvGraphicFramePr/>
          <p:nvPr/>
        </p:nvGraphicFramePr>
        <p:xfrm>
          <a:off x="8297833" y="443547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67" name="Table">
            <a:extLst>
              <a:ext uri="{FF2B5EF4-FFF2-40B4-BE49-F238E27FC236}">
                <a16:creationId xmlns:a16="http://schemas.microsoft.com/office/drawing/2014/main" id="{53CD297D-21D0-6B8F-B316-85C3ABFB33C7}"/>
              </a:ext>
            </a:extLst>
          </p:cNvPr>
          <p:cNvGraphicFramePr/>
          <p:nvPr/>
        </p:nvGraphicFramePr>
        <p:xfrm>
          <a:off x="7722129" y="443293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68" name="Arrow: Right 1067">
            <a:extLst>
              <a:ext uri="{FF2B5EF4-FFF2-40B4-BE49-F238E27FC236}">
                <a16:creationId xmlns:a16="http://schemas.microsoft.com/office/drawing/2014/main" id="{74F0D50C-F6A8-56E4-E97C-490F06B9670A}"/>
              </a:ext>
            </a:extLst>
          </p:cNvPr>
          <p:cNvSpPr/>
          <p:nvPr/>
        </p:nvSpPr>
        <p:spPr>
          <a:xfrm>
            <a:off x="8027045" y="4694321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069" name="Table">
            <a:extLst>
              <a:ext uri="{FF2B5EF4-FFF2-40B4-BE49-F238E27FC236}">
                <a16:creationId xmlns:a16="http://schemas.microsoft.com/office/drawing/2014/main" id="{C726F7AB-0849-7AF1-07BF-96F2BC3CE7F0}"/>
              </a:ext>
            </a:extLst>
          </p:cNvPr>
          <p:cNvGraphicFramePr/>
          <p:nvPr/>
        </p:nvGraphicFramePr>
        <p:xfrm>
          <a:off x="7343385" y="4435227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0" name="Plus Sign 1069">
            <a:extLst>
              <a:ext uri="{FF2B5EF4-FFF2-40B4-BE49-F238E27FC236}">
                <a16:creationId xmlns:a16="http://schemas.microsoft.com/office/drawing/2014/main" id="{815B2B38-8A84-4287-1943-8D61416FDDFC}"/>
              </a:ext>
            </a:extLst>
          </p:cNvPr>
          <p:cNvSpPr/>
          <p:nvPr/>
        </p:nvSpPr>
        <p:spPr>
          <a:xfrm>
            <a:off x="7572970" y="4672577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A40C6052-91EB-6F97-4611-F2104AD69B6C}"/>
              </a:ext>
            </a:extLst>
          </p:cNvPr>
          <p:cNvSpPr txBox="1"/>
          <p:nvPr/>
        </p:nvSpPr>
        <p:spPr>
          <a:xfrm>
            <a:off x="7370545" y="4957546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E35DF7A-4D04-C636-E1A0-0C303367E095}"/>
              </a:ext>
            </a:extLst>
          </p:cNvPr>
          <p:cNvSpPr txBox="1"/>
          <p:nvPr/>
        </p:nvSpPr>
        <p:spPr>
          <a:xfrm>
            <a:off x="7632893" y="4956657"/>
            <a:ext cx="424651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Ind. </a:t>
            </a: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Ftr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4D3A6E22-EB51-8769-3E63-2A3BA048C7DE}"/>
              </a:ext>
            </a:extLst>
          </p:cNvPr>
          <p:cNvSpPr txBox="1"/>
          <p:nvPr/>
        </p:nvSpPr>
        <p:spPr>
          <a:xfrm>
            <a:off x="7948233" y="4515228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A407018B-37EE-D32B-E63D-E8A2E543472A}"/>
              </a:ext>
            </a:extLst>
          </p:cNvPr>
          <p:cNvSpPr txBox="1"/>
          <p:nvPr/>
        </p:nvSpPr>
        <p:spPr>
          <a:xfrm>
            <a:off x="7194148" y="5974847"/>
            <a:ext cx="1619559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7.1 1-PNEF Threshold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6FCCDC3A-1981-5EC3-9C3F-BAD560536B87}"/>
              </a:ext>
            </a:extLst>
          </p:cNvPr>
          <p:cNvSpPr txBox="1"/>
          <p:nvPr/>
        </p:nvSpPr>
        <p:spPr>
          <a:xfrm>
            <a:off x="5731442" y="3637622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61067FE0-C8AD-E446-8DDB-2A12B3A05B51}"/>
              </a:ext>
            </a:extLst>
          </p:cNvPr>
          <p:cNvSpPr txBox="1"/>
          <p:nvPr/>
        </p:nvSpPr>
        <p:spPr>
          <a:xfrm>
            <a:off x="4766552" y="6486513"/>
            <a:ext cx="1831781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8. Domain Knowledge Causal Search</a:t>
            </a:r>
          </a:p>
        </p:txBody>
      </p:sp>
      <p:graphicFrame>
        <p:nvGraphicFramePr>
          <p:cNvPr id="1077" name="Table">
            <a:extLst>
              <a:ext uri="{FF2B5EF4-FFF2-40B4-BE49-F238E27FC236}">
                <a16:creationId xmlns:a16="http://schemas.microsoft.com/office/drawing/2014/main" id="{5D865D94-5EBC-7F53-C3CB-1746CE94AA30}"/>
              </a:ext>
            </a:extLst>
          </p:cNvPr>
          <p:cNvGraphicFramePr/>
          <p:nvPr/>
        </p:nvGraphicFramePr>
        <p:xfrm>
          <a:off x="5269967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78" name="Table">
            <a:extLst>
              <a:ext uri="{FF2B5EF4-FFF2-40B4-BE49-F238E27FC236}">
                <a16:creationId xmlns:a16="http://schemas.microsoft.com/office/drawing/2014/main" id="{B17918D5-DF3B-D077-FDBB-4E1ECDB4AD9C}"/>
              </a:ext>
            </a:extLst>
          </p:cNvPr>
          <p:cNvGraphicFramePr/>
          <p:nvPr/>
        </p:nvGraphicFramePr>
        <p:xfrm>
          <a:off x="5828244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9" name="TextBox 1078">
            <a:extLst>
              <a:ext uri="{FF2B5EF4-FFF2-40B4-BE49-F238E27FC236}">
                <a16:creationId xmlns:a16="http://schemas.microsoft.com/office/drawing/2014/main" id="{63980578-9671-3294-35CD-0CA474118D7C}"/>
              </a:ext>
            </a:extLst>
          </p:cNvPr>
          <p:cNvSpPr txBox="1"/>
          <p:nvPr/>
        </p:nvSpPr>
        <p:spPr>
          <a:xfrm>
            <a:off x="5856148" y="6329618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FB744E6A-493F-57F2-264D-94CDB4966C86}"/>
              </a:ext>
            </a:extLst>
          </p:cNvPr>
          <p:cNvSpPr txBox="1"/>
          <p:nvPr/>
        </p:nvSpPr>
        <p:spPr>
          <a:xfrm>
            <a:off x="5242857" y="6333739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81" name="Arrow: Right 1080">
            <a:extLst>
              <a:ext uri="{FF2B5EF4-FFF2-40B4-BE49-F238E27FC236}">
                <a16:creationId xmlns:a16="http://schemas.microsoft.com/office/drawing/2014/main" id="{1A465DE0-F110-1ABD-089A-6A5AB01E4422}"/>
              </a:ext>
            </a:extLst>
          </p:cNvPr>
          <p:cNvSpPr/>
          <p:nvPr/>
        </p:nvSpPr>
        <p:spPr>
          <a:xfrm rot="10800000">
            <a:off x="5552507" y="6049867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A7B5157E-F392-A74D-5EE2-DBB081F1D3D9}"/>
              </a:ext>
            </a:extLst>
          </p:cNvPr>
          <p:cNvSpPr txBox="1"/>
          <p:nvPr/>
        </p:nvSpPr>
        <p:spPr>
          <a:xfrm>
            <a:off x="5490560" y="5860025"/>
            <a:ext cx="339664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D57E7ECA-5814-B5D4-13F1-B304487CBF91}"/>
              </a:ext>
            </a:extLst>
          </p:cNvPr>
          <p:cNvSpPr/>
          <p:nvPr/>
        </p:nvSpPr>
        <p:spPr>
          <a:xfrm>
            <a:off x="8040579" y="5752125"/>
            <a:ext cx="206996" cy="6210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796DE81E-6476-15DD-44DA-4847633E72B5}"/>
              </a:ext>
            </a:extLst>
          </p:cNvPr>
          <p:cNvCxnSpPr>
            <a:cxnSpLocks/>
          </p:cNvCxnSpPr>
          <p:nvPr/>
        </p:nvCxnSpPr>
        <p:spPr>
          <a:xfrm>
            <a:off x="8010337" y="5687156"/>
            <a:ext cx="0" cy="188119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4172FD5E-AAC8-BFBC-E062-3E0A1FD901B1}"/>
              </a:ext>
            </a:extLst>
          </p:cNvPr>
          <p:cNvCxnSpPr>
            <a:cxnSpLocks/>
          </p:cNvCxnSpPr>
          <p:nvPr/>
        </p:nvCxnSpPr>
        <p:spPr>
          <a:xfrm flipH="1">
            <a:off x="7599385" y="5778796"/>
            <a:ext cx="375263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86" name="TextBox 1085">
            <a:extLst>
              <a:ext uri="{FF2B5EF4-FFF2-40B4-BE49-F238E27FC236}">
                <a16:creationId xmlns:a16="http://schemas.microsoft.com/office/drawing/2014/main" id="{D3E6EC51-E057-8AD6-3754-48BD3D74EC18}"/>
              </a:ext>
            </a:extLst>
          </p:cNvPr>
          <p:cNvSpPr txBox="1"/>
          <p:nvPr/>
        </p:nvSpPr>
        <p:spPr>
          <a:xfrm>
            <a:off x="7544037" y="5812123"/>
            <a:ext cx="941475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n.edges</a:t>
            </a: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&lt; x</a:t>
            </a:r>
            <a:r>
              <a:rPr lang="en-US" sz="700" dirty="0"/>
              <a:t>%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8775A891-B5D4-B064-70F7-D7733ACD2E8D}"/>
              </a:ext>
            </a:extLst>
          </p:cNvPr>
          <p:cNvSpPr/>
          <p:nvPr/>
        </p:nvSpPr>
        <p:spPr>
          <a:xfrm>
            <a:off x="7747498" y="6647124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2389BD61-6015-B323-B1BE-2A88AA0C791A}"/>
              </a:ext>
            </a:extLst>
          </p:cNvPr>
          <p:cNvSpPr/>
          <p:nvPr/>
        </p:nvSpPr>
        <p:spPr>
          <a:xfrm>
            <a:off x="7766196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46A45D48-39F6-E4B8-94B5-8C8E5F4D873E}"/>
              </a:ext>
            </a:extLst>
          </p:cNvPr>
          <p:cNvSpPr/>
          <p:nvPr/>
        </p:nvSpPr>
        <p:spPr>
          <a:xfrm>
            <a:off x="7882271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AD9B96A2-251D-7D69-8F46-8282D22E3C87}"/>
              </a:ext>
            </a:extLst>
          </p:cNvPr>
          <p:cNvSpPr/>
          <p:nvPr/>
        </p:nvSpPr>
        <p:spPr>
          <a:xfrm>
            <a:off x="8006330" y="6675665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70FE5D18-4A71-79BF-2752-B50BAA7D5A94}"/>
              </a:ext>
            </a:extLst>
          </p:cNvPr>
          <p:cNvSpPr txBox="1"/>
          <p:nvPr/>
        </p:nvSpPr>
        <p:spPr>
          <a:xfrm>
            <a:off x="7709321" y="6508461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1</a:t>
            </a: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29B99993-6B19-2894-ACA7-73B28471BD74}"/>
              </a:ext>
            </a:extLst>
          </p:cNvPr>
          <p:cNvSpPr/>
          <p:nvPr/>
        </p:nvSpPr>
        <p:spPr>
          <a:xfrm>
            <a:off x="7745715" y="680360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EDE4757E-5F99-6248-CCC7-75ED90D0F844}"/>
              </a:ext>
            </a:extLst>
          </p:cNvPr>
          <p:cNvSpPr/>
          <p:nvPr/>
        </p:nvSpPr>
        <p:spPr>
          <a:xfrm>
            <a:off x="7764413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DE0A907C-5605-174B-679A-034A1A54FFB1}"/>
              </a:ext>
            </a:extLst>
          </p:cNvPr>
          <p:cNvSpPr/>
          <p:nvPr/>
        </p:nvSpPr>
        <p:spPr>
          <a:xfrm>
            <a:off x="7880488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61711597-3C1B-81FD-5014-5621334A7CE8}"/>
              </a:ext>
            </a:extLst>
          </p:cNvPr>
          <p:cNvSpPr/>
          <p:nvPr/>
        </p:nvSpPr>
        <p:spPr>
          <a:xfrm>
            <a:off x="8004547" y="683215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CF00D732-1CDD-6EC8-AF0C-8512AD83C648}"/>
              </a:ext>
            </a:extLst>
          </p:cNvPr>
          <p:cNvSpPr txBox="1"/>
          <p:nvPr/>
        </p:nvSpPr>
        <p:spPr>
          <a:xfrm>
            <a:off x="7707538" y="666494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2</a:t>
            </a: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C1A56958-077A-9332-A183-E180DA41AA6C}"/>
              </a:ext>
            </a:extLst>
          </p:cNvPr>
          <p:cNvSpPr/>
          <p:nvPr/>
        </p:nvSpPr>
        <p:spPr>
          <a:xfrm>
            <a:off x="7746658" y="695499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941092FA-973B-39A4-44D0-8EA5C0C71AF3}"/>
              </a:ext>
            </a:extLst>
          </p:cNvPr>
          <p:cNvSpPr/>
          <p:nvPr/>
        </p:nvSpPr>
        <p:spPr>
          <a:xfrm>
            <a:off x="7765356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AC81123D-DB49-7782-DFFF-BB0D3A4D1581}"/>
              </a:ext>
            </a:extLst>
          </p:cNvPr>
          <p:cNvSpPr/>
          <p:nvPr/>
        </p:nvSpPr>
        <p:spPr>
          <a:xfrm>
            <a:off x="7881431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4DD7EEBC-1497-A44A-B4D2-4B23AE1E20AD}"/>
              </a:ext>
            </a:extLst>
          </p:cNvPr>
          <p:cNvSpPr/>
          <p:nvPr/>
        </p:nvSpPr>
        <p:spPr>
          <a:xfrm>
            <a:off x="8005490" y="698354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94E30211-D4CE-9C95-E5ED-37ABA01D25A0}"/>
              </a:ext>
            </a:extLst>
          </p:cNvPr>
          <p:cNvSpPr txBox="1"/>
          <p:nvPr/>
        </p:nvSpPr>
        <p:spPr>
          <a:xfrm>
            <a:off x="7708481" y="681633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3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B82C65FE-7C4A-69E3-B3D1-7B4101CCDB6B}"/>
              </a:ext>
            </a:extLst>
          </p:cNvPr>
          <p:cNvSpPr txBox="1"/>
          <p:nvPr/>
        </p:nvSpPr>
        <p:spPr>
          <a:xfrm>
            <a:off x="8341203" y="5639763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7E730816-9ADA-FE6B-58C9-97EC2F861189}"/>
              </a:ext>
            </a:extLst>
          </p:cNvPr>
          <p:cNvSpPr txBox="1"/>
          <p:nvPr/>
        </p:nvSpPr>
        <p:spPr>
          <a:xfrm>
            <a:off x="7409851" y="5617798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EA2F6B9E-D19A-E283-D15D-BEA2FF528355}"/>
              </a:ext>
            </a:extLst>
          </p:cNvPr>
          <p:cNvSpPr txBox="1"/>
          <p:nvPr/>
        </p:nvSpPr>
        <p:spPr>
          <a:xfrm>
            <a:off x="7672781" y="6340098"/>
            <a:ext cx="580165" cy="212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Knowledge Box</a:t>
            </a:r>
          </a:p>
        </p:txBody>
      </p:sp>
      <p:sp>
        <p:nvSpPr>
          <p:cNvPr id="1105" name="Logistics">
            <a:extLst>
              <a:ext uri="{FF2B5EF4-FFF2-40B4-BE49-F238E27FC236}">
                <a16:creationId xmlns:a16="http://schemas.microsoft.com/office/drawing/2014/main" id="{4E9F03A8-8849-9C10-66E1-09CB19CC7497}"/>
              </a:ext>
            </a:extLst>
          </p:cNvPr>
          <p:cNvSpPr txBox="1"/>
          <p:nvPr/>
        </p:nvSpPr>
        <p:spPr>
          <a:xfrm>
            <a:off x="9601200" y="260433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/>
              <a:t>Import Tetrad</a:t>
            </a:r>
          </a:p>
        </p:txBody>
      </p:sp>
      <p:sp>
        <p:nvSpPr>
          <p:cNvPr id="1106" name="Logistics">
            <a:extLst>
              <a:ext uri="{FF2B5EF4-FFF2-40B4-BE49-F238E27FC236}">
                <a16:creationId xmlns:a16="http://schemas.microsoft.com/office/drawing/2014/main" id="{375097F6-444B-1190-A8F7-85012856946E}"/>
              </a:ext>
            </a:extLst>
          </p:cNvPr>
          <p:cNvSpPr txBox="1"/>
          <p:nvPr/>
        </p:nvSpPr>
        <p:spPr>
          <a:xfrm>
            <a:off x="9601200" y="443313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/>
              <a:t>Causal Search</a:t>
            </a:r>
          </a:p>
        </p:txBody>
      </p:sp>
      <p:sp>
        <p:nvSpPr>
          <p:cNvPr id="1107" name="Logistics">
            <a:extLst>
              <a:ext uri="{FF2B5EF4-FFF2-40B4-BE49-F238E27FC236}">
                <a16:creationId xmlns:a16="http://schemas.microsoft.com/office/drawing/2014/main" id="{F0E8B9E5-398E-7A62-6D81-8DEC32643277}"/>
              </a:ext>
            </a:extLst>
          </p:cNvPr>
          <p:cNvSpPr txBox="1"/>
          <p:nvPr/>
        </p:nvSpPr>
        <p:spPr>
          <a:xfrm>
            <a:off x="9601200" y="699345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/>
              <a:t>Domain Knowledge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D7EFCB8C-3178-B893-B2B7-FD6C7D99AA86}"/>
              </a:ext>
            </a:extLst>
          </p:cNvPr>
          <p:cNvSpPr txBox="1"/>
          <p:nvPr/>
        </p:nvSpPr>
        <p:spPr>
          <a:xfrm>
            <a:off x="9601200" y="4663440"/>
            <a:ext cx="4237460" cy="2187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run on dataset including null features, used to derive 1-PNEF.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score_sem_bic</a:t>
            </a:r>
            <a:r>
              <a:rPr lang="en-US" dirty="0"/>
              <a:t>()</a:t>
            </a:r>
          </a:p>
          <a:p>
            <a:r>
              <a:rPr lang="en-US" b="0" dirty="0"/>
              <a:t>Configure SEM BIC score.</a:t>
            </a:r>
          </a:p>
          <a:p>
            <a:r>
              <a:rPr lang="en-US" dirty="0"/>
              <a:t>2. bootstrapping()</a:t>
            </a:r>
          </a:p>
          <a:p>
            <a:r>
              <a:rPr lang="en-US" b="0" dirty="0"/>
              <a:t>Configure bootstrapping parameters.</a:t>
            </a:r>
          </a:p>
          <a:p>
            <a:r>
              <a:rPr lang="en-US" dirty="0"/>
              <a:t>3. </a:t>
            </a:r>
            <a:r>
              <a:rPr lang="en-US" dirty="0" err="1"/>
              <a:t>algorithm_fges</a:t>
            </a:r>
            <a:r>
              <a:rPr lang="en-US" dirty="0"/>
              <a:t>()</a:t>
            </a:r>
          </a:p>
          <a:p>
            <a:r>
              <a:rPr lang="en-US" b="0" dirty="0"/>
              <a:t>Performs Fast Greedy Equivalence Search (FGES) algorithm.</a:t>
            </a:r>
          </a:p>
          <a:p>
            <a:r>
              <a:rPr lang="en-US" dirty="0"/>
              <a:t>4. </a:t>
            </a:r>
            <a:r>
              <a:rPr lang="en-US" dirty="0" err="1"/>
              <a:t>algorithm_boss</a:t>
            </a:r>
            <a:r>
              <a:rPr lang="en-US" dirty="0"/>
              <a:t>()</a:t>
            </a:r>
          </a:p>
          <a:p>
            <a:r>
              <a:rPr lang="en-US" b="0" dirty="0"/>
              <a:t>Performs Best Order Score Search (BOSS) algorithm.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430BD0E1-E296-5C1C-70F0-875A8A43DE05}"/>
              </a:ext>
            </a:extLst>
          </p:cNvPr>
          <p:cNvSpPr txBox="1"/>
          <p:nvPr/>
        </p:nvSpPr>
        <p:spPr>
          <a:xfrm>
            <a:off x="9601200" y="2834640"/>
            <a:ext cx="4237460" cy="1531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After applying time lag and features, </a:t>
            </a:r>
            <a:r>
              <a:rPr lang="en-US" b="0" dirty="0" err="1"/>
              <a:t>jpype</a:t>
            </a:r>
            <a:r>
              <a:rPr lang="en-US" b="0" dirty="0"/>
              <a:t> is imported to utilize API and turn the dataset into a Tetrad compatible format. 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tetrad_jvm_start</a:t>
            </a:r>
            <a:r>
              <a:rPr lang="en-US" dirty="0"/>
              <a:t>()</a:t>
            </a:r>
          </a:p>
          <a:p>
            <a:r>
              <a:rPr lang="en-US" b="0" dirty="0"/>
              <a:t>Import </a:t>
            </a:r>
            <a:r>
              <a:rPr lang="en-US" b="0" dirty="0" err="1"/>
              <a:t>jpype</a:t>
            </a:r>
            <a:r>
              <a:rPr lang="en-US" b="0" dirty="0"/>
              <a:t> to start JVM and load Tetrad jar file.</a:t>
            </a:r>
          </a:p>
          <a:p>
            <a:r>
              <a:rPr lang="en-US" dirty="0"/>
              <a:t>2. </a:t>
            </a:r>
            <a:r>
              <a:rPr lang="en-US" dirty="0" err="1"/>
              <a:t>transform_pandasdf_to_tetrad_boxdataset</a:t>
            </a:r>
            <a:r>
              <a:rPr lang="en-US" dirty="0"/>
              <a:t>()</a:t>
            </a:r>
          </a:p>
          <a:p>
            <a:r>
              <a:rPr lang="en-US" b="0" dirty="0"/>
              <a:t>Convert pandas </a:t>
            </a:r>
            <a:r>
              <a:rPr lang="en-US" b="0" dirty="0" err="1"/>
              <a:t>DataFrames</a:t>
            </a:r>
            <a:r>
              <a:rPr lang="en-US" b="0" dirty="0"/>
              <a:t> into Tetrad </a:t>
            </a:r>
            <a:r>
              <a:rPr lang="en-US" b="0" dirty="0" err="1"/>
              <a:t>BoxDataset</a:t>
            </a:r>
            <a:r>
              <a:rPr lang="en-US" b="0" dirty="0"/>
              <a:t> and initialize search state.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06CF6D07-E0E2-436B-3328-D5EA63C936ED}"/>
              </a:ext>
            </a:extLst>
          </p:cNvPr>
          <p:cNvSpPr txBox="1"/>
          <p:nvPr/>
        </p:nvSpPr>
        <p:spPr>
          <a:xfrm>
            <a:off x="9601200" y="7232335"/>
            <a:ext cx="4237460" cy="925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ran again with domain knowledge applied.</a:t>
            </a:r>
          </a:p>
          <a:p>
            <a:r>
              <a:rPr lang="en-US" dirty="0"/>
              <a:t>1. </a:t>
            </a:r>
            <a:r>
              <a:rPr lang="en-US" dirty="0" err="1"/>
              <a:t>parse_knowledge_txt</a:t>
            </a:r>
            <a:r>
              <a:rPr lang="en-US" dirty="0"/>
              <a:t>()</a:t>
            </a:r>
          </a:p>
          <a:p>
            <a:r>
              <a:rPr lang="en-US" b="0" dirty="0"/>
              <a:t>Load forbidden/required edges and temporal tiers from a .txt file into Tetrad knowledge object.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671D01DC-728E-A312-2493-4A210D1E47AD}"/>
              </a:ext>
            </a:extLst>
          </p:cNvPr>
          <p:cNvSpPr txBox="1"/>
          <p:nvPr/>
        </p:nvSpPr>
        <p:spPr>
          <a:xfrm>
            <a:off x="9601200" y="1737360"/>
            <a:ext cx="4264574" cy="6898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From an example of a dataset, see </a:t>
            </a:r>
            <a:r>
              <a:rPr lang="en-US" dirty="0" err="1"/>
              <a:t>issue_social_smell_showcase.Rmd</a:t>
            </a:r>
            <a:r>
              <a:rPr lang="en-US" b="0" dirty="0"/>
              <a:t>. Refer to </a:t>
            </a:r>
            <a:r>
              <a:rPr lang="en-US" b="0" dirty="0" err="1"/>
              <a:t>cheatsheets</a:t>
            </a:r>
            <a:r>
              <a:rPr lang="en-US" b="0" dirty="0"/>
              <a:t>/social-smells-cheatsheet.pdf</a:t>
            </a:r>
          </a:p>
        </p:txBody>
      </p:sp>
      <p:cxnSp>
        <p:nvCxnSpPr>
          <p:cNvPr id="1112" name="Connector: Elbow 1111">
            <a:extLst>
              <a:ext uri="{FF2B5EF4-FFF2-40B4-BE49-F238E27FC236}">
                <a16:creationId xmlns:a16="http://schemas.microsoft.com/office/drawing/2014/main" id="{90B68CC9-F24A-5C3D-7CC4-5DA6B6BFBF63}"/>
              </a:ext>
            </a:extLst>
          </p:cNvPr>
          <p:cNvCxnSpPr>
            <a:cxnSpLocks/>
            <a:stCxn id="991" idx="3"/>
          </p:cNvCxnSpPr>
          <p:nvPr/>
        </p:nvCxnSpPr>
        <p:spPr>
          <a:xfrm flipV="1">
            <a:off x="8704406" y="1562408"/>
            <a:ext cx="859478" cy="452092"/>
          </a:xfrm>
          <a:prstGeom prst="bentConnector3">
            <a:avLst>
              <a:gd name="adj1" fmla="val 38543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9617BB45-5A02-9DD4-708E-39724866D7D9}"/>
              </a:ext>
            </a:extLst>
          </p:cNvPr>
          <p:cNvCxnSpPr>
            <a:cxnSpLocks/>
            <a:endCxn id="1107" idx="1"/>
          </p:cNvCxnSpPr>
          <p:nvPr/>
        </p:nvCxnSpPr>
        <p:spPr>
          <a:xfrm>
            <a:off x="8325869" y="6858316"/>
            <a:ext cx="1275331" cy="261138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4C675D7-591A-C43B-A8EE-9411B311B11C}"/>
              </a:ext>
            </a:extLst>
          </p:cNvPr>
          <p:cNvSpPr txBox="1"/>
          <p:nvPr/>
        </p:nvSpPr>
        <p:spPr>
          <a:xfrm>
            <a:off x="1275037" y="358624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Folded Corner 3">
            <a:extLst>
              <a:ext uri="{FF2B5EF4-FFF2-40B4-BE49-F238E27FC236}">
                <a16:creationId xmlns:a16="http://schemas.microsoft.com/office/drawing/2014/main" id="{69ABD1B2-E9EF-122B-6ADF-E9255B63E47B}"/>
              </a:ext>
            </a:extLst>
          </p:cNvPr>
          <p:cNvSpPr/>
          <p:nvPr/>
        </p:nvSpPr>
        <p:spPr>
          <a:xfrm rot="10800000" flipH="1">
            <a:off x="2629874" y="338101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" name="Folded Corner 4">
            <a:extLst>
              <a:ext uri="{FF2B5EF4-FFF2-40B4-BE49-F238E27FC236}">
                <a16:creationId xmlns:a16="http://schemas.microsoft.com/office/drawing/2014/main" id="{63A87035-D261-0D82-C4A1-56BD4499338C}"/>
              </a:ext>
            </a:extLst>
          </p:cNvPr>
          <p:cNvSpPr/>
          <p:nvPr/>
        </p:nvSpPr>
        <p:spPr>
          <a:xfrm rot="10800000" flipH="1">
            <a:off x="2596792" y="34094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" name="Folded Corner 5">
            <a:extLst>
              <a:ext uri="{FF2B5EF4-FFF2-40B4-BE49-F238E27FC236}">
                <a16:creationId xmlns:a16="http://schemas.microsoft.com/office/drawing/2014/main" id="{6B4CADD7-4E30-AEF7-0AE9-6BA7FE7B406D}"/>
              </a:ext>
            </a:extLst>
          </p:cNvPr>
          <p:cNvSpPr/>
          <p:nvPr/>
        </p:nvSpPr>
        <p:spPr>
          <a:xfrm rot="10800000" flipH="1">
            <a:off x="2556355" y="344325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2FA92734-99D5-AF3A-CC29-DDAC86CE90CF}"/>
              </a:ext>
            </a:extLst>
          </p:cNvPr>
          <p:cNvSpPr txBox="1"/>
          <p:nvPr/>
        </p:nvSpPr>
        <p:spPr>
          <a:xfrm>
            <a:off x="2486995" y="3589370"/>
            <a:ext cx="4823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algorithm.py</a:t>
            </a:r>
          </a:p>
        </p:txBody>
      </p:sp>
      <p:sp>
        <p:nvSpPr>
          <p:cNvPr id="27" name="Folded Corner 3">
            <a:extLst>
              <a:ext uri="{FF2B5EF4-FFF2-40B4-BE49-F238E27FC236}">
                <a16:creationId xmlns:a16="http://schemas.microsoft.com/office/drawing/2014/main" id="{1C8758D0-0F0B-046E-7C8F-F310B5ED6C5D}"/>
              </a:ext>
            </a:extLst>
          </p:cNvPr>
          <p:cNvSpPr/>
          <p:nvPr/>
        </p:nvSpPr>
        <p:spPr>
          <a:xfrm rot="10800000" flipH="1">
            <a:off x="3124045" y="336113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" name="Folded Corner 4">
            <a:extLst>
              <a:ext uri="{FF2B5EF4-FFF2-40B4-BE49-F238E27FC236}">
                <a16:creationId xmlns:a16="http://schemas.microsoft.com/office/drawing/2014/main" id="{EC0D2E3F-1814-EA24-4EB8-732A71F07DA7}"/>
              </a:ext>
            </a:extLst>
          </p:cNvPr>
          <p:cNvSpPr/>
          <p:nvPr/>
        </p:nvSpPr>
        <p:spPr>
          <a:xfrm rot="10800000" flipH="1">
            <a:off x="3090963" y="338960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" name="Folded Corner 5">
            <a:extLst>
              <a:ext uri="{FF2B5EF4-FFF2-40B4-BE49-F238E27FC236}">
                <a16:creationId xmlns:a16="http://schemas.microsoft.com/office/drawing/2014/main" id="{127A1F58-A912-1392-FC54-98DB8317111F}"/>
              </a:ext>
            </a:extLst>
          </p:cNvPr>
          <p:cNvSpPr/>
          <p:nvPr/>
        </p:nvSpPr>
        <p:spPr>
          <a:xfrm rot="10800000" flipH="1">
            <a:off x="3050526" y="34233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5B01E52D-68DE-4BAC-BFCD-F685D64A14DD}"/>
              </a:ext>
            </a:extLst>
          </p:cNvPr>
          <p:cNvSpPr txBox="1"/>
          <p:nvPr/>
        </p:nvSpPr>
        <p:spPr>
          <a:xfrm>
            <a:off x="3041735" y="358121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score.py</a:t>
            </a:r>
          </a:p>
        </p:txBody>
      </p:sp>
      <p:sp>
        <p:nvSpPr>
          <p:cNvPr id="30" name="Folded Corner 3">
            <a:extLst>
              <a:ext uri="{FF2B5EF4-FFF2-40B4-BE49-F238E27FC236}">
                <a16:creationId xmlns:a16="http://schemas.microsoft.com/office/drawing/2014/main" id="{BA270669-3448-EDC5-EE7B-69EB183FB011}"/>
              </a:ext>
            </a:extLst>
          </p:cNvPr>
          <p:cNvSpPr/>
          <p:nvPr/>
        </p:nvSpPr>
        <p:spPr>
          <a:xfrm rot="10800000" flipH="1">
            <a:off x="489099" y="3477311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" name="Folded Corner 4">
            <a:extLst>
              <a:ext uri="{FF2B5EF4-FFF2-40B4-BE49-F238E27FC236}">
                <a16:creationId xmlns:a16="http://schemas.microsoft.com/office/drawing/2014/main" id="{D2E72280-3FE5-3A45-52BF-955E05507EEF}"/>
              </a:ext>
            </a:extLst>
          </p:cNvPr>
          <p:cNvSpPr/>
          <p:nvPr/>
        </p:nvSpPr>
        <p:spPr>
          <a:xfrm rot="10800000" flipH="1">
            <a:off x="456017" y="3505777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" name="Folded Corner 5">
            <a:extLst>
              <a:ext uri="{FF2B5EF4-FFF2-40B4-BE49-F238E27FC236}">
                <a16:creationId xmlns:a16="http://schemas.microsoft.com/office/drawing/2014/main" id="{08DBFFE9-3662-368D-CE2B-A0481078DD3A}"/>
              </a:ext>
            </a:extLst>
          </p:cNvPr>
          <p:cNvSpPr/>
          <p:nvPr/>
        </p:nvSpPr>
        <p:spPr>
          <a:xfrm rot="10800000" flipH="1">
            <a:off x="415580" y="3539553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D5F2A48F-76C1-1C07-DB05-336AB6700902}"/>
              </a:ext>
            </a:extLst>
          </p:cNvPr>
          <p:cNvSpPr txBox="1"/>
          <p:nvPr/>
        </p:nvSpPr>
        <p:spPr>
          <a:xfrm>
            <a:off x="391503" y="3700338"/>
            <a:ext cx="4603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 err="1">
                <a:solidFill>
                  <a:schemeClr val="tx1">
                    <a:lumMod val="50000"/>
                  </a:schemeClr>
                </a:solidFill>
              </a:rPr>
              <a:t>edu.cmu</a:t>
            </a:r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2E2345-37F4-4AD8-6007-600C69D97CEA}"/>
              </a:ext>
            </a:extLst>
          </p:cNvPr>
          <p:cNvSpPr txBox="1"/>
          <p:nvPr/>
        </p:nvSpPr>
        <p:spPr>
          <a:xfrm>
            <a:off x="2058159" y="4229130"/>
            <a:ext cx="621043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run_fges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()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F08EAD-B9B9-6683-2851-7ADB54D927D5}"/>
              </a:ext>
            </a:extLst>
          </p:cNvPr>
          <p:cNvSpPr txBox="1"/>
          <p:nvPr/>
        </p:nvSpPr>
        <p:spPr>
          <a:xfrm>
            <a:off x="8607799" y="473724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A2F2DF8B-B6FC-5A18-FADF-716300D8F3A4}"/>
              </a:ext>
            </a:extLst>
          </p:cNvPr>
          <p:cNvCxnSpPr>
            <a:cxnSpLocks/>
            <a:stCxn id="51" idx="3"/>
            <a:endCxn id="1106" idx="1"/>
          </p:cNvCxnSpPr>
          <p:nvPr/>
        </p:nvCxnSpPr>
        <p:spPr>
          <a:xfrm flipV="1">
            <a:off x="8718069" y="4559134"/>
            <a:ext cx="883131" cy="338368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9" name="TextBox 898">
            <a:extLst>
              <a:ext uri="{FF2B5EF4-FFF2-40B4-BE49-F238E27FC236}">
                <a16:creationId xmlns:a16="http://schemas.microsoft.com/office/drawing/2014/main" id="{2491BA62-EA34-8F3D-B3B4-DADBD9E60C30}"/>
              </a:ext>
            </a:extLst>
          </p:cNvPr>
          <p:cNvSpPr txBox="1"/>
          <p:nvPr/>
        </p:nvSpPr>
        <p:spPr>
          <a:xfrm>
            <a:off x="9601200" y="8412480"/>
            <a:ext cx="4244990" cy="1900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graph output is converted and saved in JSON format that can be loaded and viewed in Tetrad GUI. Parsing graph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allows 1-PNEF to be applied. </a:t>
            </a:r>
          </a:p>
          <a:p>
            <a:r>
              <a:rPr lang="en-US" dirty="0"/>
              <a:t>1. </a:t>
            </a:r>
            <a:r>
              <a:rPr lang="en-US" dirty="0" err="1"/>
              <a:t>transform_graph_java_to_graph_json</a:t>
            </a:r>
            <a:r>
              <a:rPr lang="en-US" dirty="0"/>
              <a:t>()</a:t>
            </a:r>
          </a:p>
          <a:p>
            <a:r>
              <a:rPr lang="en-US" b="0" dirty="0"/>
              <a:t>Convert Tetrad graph object to JSON format.</a:t>
            </a:r>
          </a:p>
          <a:p>
            <a:r>
              <a:rPr lang="en-US" dirty="0"/>
              <a:t>2. </a:t>
            </a:r>
            <a:r>
              <a:rPr lang="en-US" dirty="0" err="1"/>
              <a:t>parse_graph_json</a:t>
            </a:r>
            <a:r>
              <a:rPr lang="en-US" dirty="0"/>
              <a:t>()</a:t>
            </a:r>
          </a:p>
          <a:p>
            <a:r>
              <a:rPr lang="en-US" b="0" dirty="0"/>
              <a:t>Parse Tetrad JSON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datasets.</a:t>
            </a:r>
          </a:p>
        </p:txBody>
      </p:sp>
      <p:sp>
        <p:nvSpPr>
          <p:cNvPr id="900" name="Logistics">
            <a:extLst>
              <a:ext uri="{FF2B5EF4-FFF2-40B4-BE49-F238E27FC236}">
                <a16:creationId xmlns:a16="http://schemas.microsoft.com/office/drawing/2014/main" id="{2D3FC84A-5E6F-0447-D259-07072470A6CD}"/>
              </a:ext>
            </a:extLst>
          </p:cNvPr>
          <p:cNvSpPr txBox="1"/>
          <p:nvPr/>
        </p:nvSpPr>
        <p:spPr>
          <a:xfrm>
            <a:off x="9601200" y="818217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/>
              <a:t>Causal Graph Transform</a:t>
            </a:r>
          </a:p>
        </p:txBody>
      </p:sp>
      <p:sp>
        <p:nvSpPr>
          <p:cNvPr id="90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5B87A3EE-8240-CD92-03C8-8917BCE764A6}"/>
              </a:ext>
            </a:extLst>
          </p:cNvPr>
          <p:cNvSpPr txBox="1"/>
          <p:nvPr/>
        </p:nvSpPr>
        <p:spPr>
          <a:xfrm>
            <a:off x="182880" y="173736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Python package that serves as a wrapper over the Tetrad Java API (via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), providing an interface for causal analysis algorithms.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fork of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-tetrad/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pytetrad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grpSp>
        <p:nvGrpSpPr>
          <p:cNvPr id="909" name="Group 908">
            <a:extLst>
              <a:ext uri="{FF2B5EF4-FFF2-40B4-BE49-F238E27FC236}">
                <a16:creationId xmlns:a16="http://schemas.microsoft.com/office/drawing/2014/main" id="{E71490E7-34CD-506C-90A0-F0E96F32B964}"/>
              </a:ext>
            </a:extLst>
          </p:cNvPr>
          <p:cNvGrpSpPr/>
          <p:nvPr/>
        </p:nvGrpSpPr>
        <p:grpSpPr>
          <a:xfrm>
            <a:off x="5279608" y="8581425"/>
            <a:ext cx="818142" cy="583040"/>
            <a:chOff x="3300333" y="6875181"/>
            <a:chExt cx="2140200" cy="1512332"/>
          </a:xfrm>
        </p:grpSpPr>
        <p:sp>
          <p:nvSpPr>
            <p:cNvPr id="910" name="TextBox 909">
              <a:extLst>
                <a:ext uri="{FF2B5EF4-FFF2-40B4-BE49-F238E27FC236}">
                  <a16:creationId xmlns:a16="http://schemas.microsoft.com/office/drawing/2014/main" id="{B358A43C-7E8A-BC11-E3FB-FC4E5864A0C3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11" name="Google Shape;162;p1">
              <a:extLst>
                <a:ext uri="{FF2B5EF4-FFF2-40B4-BE49-F238E27FC236}">
                  <a16:creationId xmlns:a16="http://schemas.microsoft.com/office/drawing/2014/main" id="{065B58BD-D81F-69EF-48CD-79C9F2C851FC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2" name="Google Shape;163;p1">
              <a:extLst>
                <a:ext uri="{FF2B5EF4-FFF2-40B4-BE49-F238E27FC236}">
                  <a16:creationId xmlns:a16="http://schemas.microsoft.com/office/drawing/2014/main" id="{FC6017D0-91B5-BA9B-8FCD-7A1F0CF1286E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3" name="Google Shape;164;p1">
              <a:extLst>
                <a:ext uri="{FF2B5EF4-FFF2-40B4-BE49-F238E27FC236}">
                  <a16:creationId xmlns:a16="http://schemas.microsoft.com/office/drawing/2014/main" id="{BB1C4035-8A4C-2228-D87F-FC0DC2424ACB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4" name="Google Shape;165;p1">
              <a:extLst>
                <a:ext uri="{FF2B5EF4-FFF2-40B4-BE49-F238E27FC236}">
                  <a16:creationId xmlns:a16="http://schemas.microsoft.com/office/drawing/2014/main" id="{D24B3DBF-3A3F-CD52-C6A6-CB847EA4589E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5" name="Google Shape;171;p1">
              <a:extLst>
                <a:ext uri="{FF2B5EF4-FFF2-40B4-BE49-F238E27FC236}">
                  <a16:creationId xmlns:a16="http://schemas.microsoft.com/office/drawing/2014/main" id="{936884F3-EDF3-2CF7-694A-BB89FD30BC8F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6" name="Google Shape;187;p1">
              <a:extLst>
                <a:ext uri="{FF2B5EF4-FFF2-40B4-BE49-F238E27FC236}">
                  <a16:creationId xmlns:a16="http://schemas.microsoft.com/office/drawing/2014/main" id="{ADDC6C04-6E3D-270B-B4AA-830FDF24F8D4}"/>
                </a:ext>
              </a:extLst>
            </p:cNvPr>
            <p:cNvCxnSpPr>
              <a:stCxn id="917" idx="6"/>
              <a:endCxn id="911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17" name="Google Shape;188;p1">
              <a:extLst>
                <a:ext uri="{FF2B5EF4-FFF2-40B4-BE49-F238E27FC236}">
                  <a16:creationId xmlns:a16="http://schemas.microsoft.com/office/drawing/2014/main" id="{A163DC0E-4306-2520-53B6-61BE97DC8B5C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8" name="Google Shape;196;p1">
              <a:extLst>
                <a:ext uri="{FF2B5EF4-FFF2-40B4-BE49-F238E27FC236}">
                  <a16:creationId xmlns:a16="http://schemas.microsoft.com/office/drawing/2014/main" id="{6E99B797-C28E-444F-8D47-DECA891AA68D}"/>
                </a:ext>
              </a:extLst>
            </p:cNvPr>
            <p:cNvCxnSpPr>
              <a:stCxn id="917" idx="5"/>
              <a:endCxn id="913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19" name="Google Shape;198;p1">
              <a:extLst>
                <a:ext uri="{FF2B5EF4-FFF2-40B4-BE49-F238E27FC236}">
                  <a16:creationId xmlns:a16="http://schemas.microsoft.com/office/drawing/2014/main" id="{DA62D5DB-917F-F1FD-8A81-ECF05512F60B}"/>
                </a:ext>
              </a:extLst>
            </p:cNvPr>
            <p:cNvCxnSpPr>
              <a:stCxn id="917" idx="6"/>
              <a:endCxn id="914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0" name="Google Shape;199;p1">
              <a:extLst>
                <a:ext uri="{FF2B5EF4-FFF2-40B4-BE49-F238E27FC236}">
                  <a16:creationId xmlns:a16="http://schemas.microsoft.com/office/drawing/2014/main" id="{8DC0143A-796A-D610-88EE-072EC410F101}"/>
                </a:ext>
              </a:extLst>
            </p:cNvPr>
            <p:cNvCxnSpPr>
              <a:stCxn id="917" idx="3"/>
              <a:endCxn id="915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1" name="Google Shape;200;p1">
              <a:extLst>
                <a:ext uri="{FF2B5EF4-FFF2-40B4-BE49-F238E27FC236}">
                  <a16:creationId xmlns:a16="http://schemas.microsoft.com/office/drawing/2014/main" id="{5A4C57BA-CE2C-1680-00C5-54DA0C18FA0D}"/>
                </a:ext>
              </a:extLst>
            </p:cNvPr>
            <p:cNvCxnSpPr>
              <a:stCxn id="917" idx="6"/>
              <a:endCxn id="912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926" name="TextBox 925">
            <a:extLst>
              <a:ext uri="{FF2B5EF4-FFF2-40B4-BE49-F238E27FC236}">
                <a16:creationId xmlns:a16="http://schemas.microsoft.com/office/drawing/2014/main" id="{05B21662-4364-6D40-A22B-62AE63F626B5}"/>
              </a:ext>
            </a:extLst>
          </p:cNvPr>
          <p:cNvSpPr txBox="1"/>
          <p:nvPr/>
        </p:nvSpPr>
        <p:spPr>
          <a:xfrm>
            <a:off x="4745786" y="9504777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.</a:t>
            </a:r>
            <a:r>
              <a:rPr lang="en-US" dirty="0" err="1"/>
              <a:t>json</a:t>
            </a:r>
            <a:endParaRPr lang="en-US" dirty="0"/>
          </a:p>
        </p:txBody>
      </p:sp>
      <p:cxnSp>
        <p:nvCxnSpPr>
          <p:cNvPr id="927" name="Straight Arrow Connector 926">
            <a:extLst>
              <a:ext uri="{FF2B5EF4-FFF2-40B4-BE49-F238E27FC236}">
                <a16:creationId xmlns:a16="http://schemas.microsoft.com/office/drawing/2014/main" id="{B6B70E37-1DBC-435B-AF06-D237A4711DBC}"/>
              </a:ext>
            </a:extLst>
          </p:cNvPr>
          <p:cNvCxnSpPr>
            <a:cxnSpLocks/>
          </p:cNvCxnSpPr>
          <p:nvPr/>
        </p:nvCxnSpPr>
        <p:spPr>
          <a:xfrm>
            <a:off x="6437738" y="8942534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8" name="Flowchart: Internal Storage 927">
            <a:extLst>
              <a:ext uri="{FF2B5EF4-FFF2-40B4-BE49-F238E27FC236}">
                <a16:creationId xmlns:a16="http://schemas.microsoft.com/office/drawing/2014/main" id="{1C4C1FF2-828B-E04D-39C0-FEDB71FAEDBC}"/>
              </a:ext>
            </a:extLst>
          </p:cNvPr>
          <p:cNvSpPr/>
          <p:nvPr/>
        </p:nvSpPr>
        <p:spPr>
          <a:xfrm>
            <a:off x="7070339" y="8311163"/>
            <a:ext cx="1472339" cy="1138122"/>
          </a:xfrm>
          <a:prstGeom prst="flowChartInternalStorage">
            <a:avLst/>
          </a:prstGeom>
          <a:noFill/>
          <a:ln w="12700" cap="flat">
            <a:solidFill>
              <a:schemeClr val="tx1">
                <a:lumMod val="50000"/>
              </a:schemeClr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33EB6256-FD2A-5A10-C5AB-AB476C961FF4}"/>
              </a:ext>
            </a:extLst>
          </p:cNvPr>
          <p:cNvGrpSpPr/>
          <p:nvPr/>
        </p:nvGrpSpPr>
        <p:grpSpPr>
          <a:xfrm>
            <a:off x="7473200" y="8601381"/>
            <a:ext cx="818142" cy="583040"/>
            <a:chOff x="3300333" y="6875181"/>
            <a:chExt cx="2140200" cy="1512332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E14BE1D7-8838-A6CE-7EDA-89140B383836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33" name="Google Shape;162;p1">
              <a:extLst>
                <a:ext uri="{FF2B5EF4-FFF2-40B4-BE49-F238E27FC236}">
                  <a16:creationId xmlns:a16="http://schemas.microsoft.com/office/drawing/2014/main" id="{3ACFB331-A23D-0497-DB2E-982E3825EF3F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4" name="Google Shape;163;p1">
              <a:extLst>
                <a:ext uri="{FF2B5EF4-FFF2-40B4-BE49-F238E27FC236}">
                  <a16:creationId xmlns:a16="http://schemas.microsoft.com/office/drawing/2014/main" id="{8D61810D-3102-574D-83D2-EFFA454029C6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6" name="Google Shape;164;p1">
              <a:extLst>
                <a:ext uri="{FF2B5EF4-FFF2-40B4-BE49-F238E27FC236}">
                  <a16:creationId xmlns:a16="http://schemas.microsoft.com/office/drawing/2014/main" id="{E6C71045-944E-6D8C-DBAE-CACF103E1DA5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7" name="Google Shape;165;p1">
              <a:extLst>
                <a:ext uri="{FF2B5EF4-FFF2-40B4-BE49-F238E27FC236}">
                  <a16:creationId xmlns:a16="http://schemas.microsoft.com/office/drawing/2014/main" id="{A775F165-2CC3-8EC6-1CB0-A1F081C9C921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8" name="Google Shape;171;p1">
              <a:extLst>
                <a:ext uri="{FF2B5EF4-FFF2-40B4-BE49-F238E27FC236}">
                  <a16:creationId xmlns:a16="http://schemas.microsoft.com/office/drawing/2014/main" id="{3887014D-13CA-488E-FD07-A2FB9CDA878D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5" name="Google Shape;187;p1">
              <a:extLst>
                <a:ext uri="{FF2B5EF4-FFF2-40B4-BE49-F238E27FC236}">
                  <a16:creationId xmlns:a16="http://schemas.microsoft.com/office/drawing/2014/main" id="{ACDCA3AD-7BF2-109C-2185-71B8715BD2CD}"/>
                </a:ext>
              </a:extLst>
            </p:cNvPr>
            <p:cNvCxnSpPr>
              <a:stCxn id="1116" idx="6"/>
              <a:endCxn id="1033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16" name="Google Shape;188;p1">
              <a:extLst>
                <a:ext uri="{FF2B5EF4-FFF2-40B4-BE49-F238E27FC236}">
                  <a16:creationId xmlns:a16="http://schemas.microsoft.com/office/drawing/2014/main" id="{084A7C8A-2EF3-A234-2FB5-17EB6597D4A0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7" name="Google Shape;196;p1">
              <a:extLst>
                <a:ext uri="{FF2B5EF4-FFF2-40B4-BE49-F238E27FC236}">
                  <a16:creationId xmlns:a16="http://schemas.microsoft.com/office/drawing/2014/main" id="{B679BCCE-0AB1-6244-3A88-D13F11AE6AF8}"/>
                </a:ext>
              </a:extLst>
            </p:cNvPr>
            <p:cNvCxnSpPr>
              <a:stCxn id="1116" idx="5"/>
              <a:endCxn id="1036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8" name="Google Shape;198;p1">
              <a:extLst>
                <a:ext uri="{FF2B5EF4-FFF2-40B4-BE49-F238E27FC236}">
                  <a16:creationId xmlns:a16="http://schemas.microsoft.com/office/drawing/2014/main" id="{9619F152-F4D2-D256-935B-D63C43171709}"/>
                </a:ext>
              </a:extLst>
            </p:cNvPr>
            <p:cNvCxnSpPr>
              <a:stCxn id="1116" idx="6"/>
              <a:endCxn id="1037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9" name="Google Shape;199;p1">
              <a:extLst>
                <a:ext uri="{FF2B5EF4-FFF2-40B4-BE49-F238E27FC236}">
                  <a16:creationId xmlns:a16="http://schemas.microsoft.com/office/drawing/2014/main" id="{FD347490-7E35-866F-F67D-027CC3E49A22}"/>
                </a:ext>
              </a:extLst>
            </p:cNvPr>
            <p:cNvCxnSpPr>
              <a:stCxn id="1116" idx="3"/>
              <a:endCxn id="1038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20" name="Google Shape;200;p1">
              <a:extLst>
                <a:ext uri="{FF2B5EF4-FFF2-40B4-BE49-F238E27FC236}">
                  <a16:creationId xmlns:a16="http://schemas.microsoft.com/office/drawing/2014/main" id="{C974E566-84CB-06EA-2554-D4EDC72E0D45}"/>
                </a:ext>
              </a:extLst>
            </p:cNvPr>
            <p:cNvCxnSpPr>
              <a:stCxn id="1116" idx="6"/>
              <a:endCxn id="1034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1121" name="TextBox 1120">
            <a:extLst>
              <a:ext uri="{FF2B5EF4-FFF2-40B4-BE49-F238E27FC236}">
                <a16:creationId xmlns:a16="http://schemas.microsoft.com/office/drawing/2014/main" id="{F2F49AC5-4F0C-EF53-2672-8FC659DAE9FF}"/>
              </a:ext>
            </a:extLst>
          </p:cNvPr>
          <p:cNvSpPr txBox="1"/>
          <p:nvPr/>
        </p:nvSpPr>
        <p:spPr>
          <a:xfrm>
            <a:off x="6892923" y="9463342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Tetrad GUI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2A82061E-DDE0-AEAD-CDBA-D65BCF1049FC}"/>
              </a:ext>
            </a:extLst>
          </p:cNvPr>
          <p:cNvSpPr txBox="1"/>
          <p:nvPr/>
        </p:nvSpPr>
        <p:spPr>
          <a:xfrm>
            <a:off x="7071481" y="845805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Graph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3CD34B55-3A53-4263-55C8-09B940DB39E3}"/>
              </a:ext>
            </a:extLst>
          </p:cNvPr>
          <p:cNvSpPr txBox="1"/>
          <p:nvPr/>
        </p:nvSpPr>
        <p:spPr>
          <a:xfrm>
            <a:off x="7061235" y="8531089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Compare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F39AE100-D27F-99F6-44F9-A6CA73101332}"/>
              </a:ext>
            </a:extLst>
          </p:cNvPr>
          <p:cNvSpPr txBox="1"/>
          <p:nvPr/>
        </p:nvSpPr>
        <p:spPr>
          <a:xfrm>
            <a:off x="7048685" y="8610068"/>
            <a:ext cx="251336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Grid Search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9119C8F1-037C-8DB7-1222-662B815DDE79}"/>
              </a:ext>
            </a:extLst>
          </p:cNvPr>
          <p:cNvSpPr txBox="1"/>
          <p:nvPr/>
        </p:nvSpPr>
        <p:spPr>
          <a:xfrm>
            <a:off x="7046974" y="8677995"/>
            <a:ext cx="303972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Parametric Model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60F6EB6B-D7F2-5390-E5A2-6F450BD77E65}"/>
              </a:ext>
            </a:extLst>
          </p:cNvPr>
          <p:cNvSpPr txBox="1"/>
          <p:nvPr/>
        </p:nvSpPr>
        <p:spPr>
          <a:xfrm>
            <a:off x="7052833" y="8791685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Simulation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368B12DD-AC44-0FB5-9164-40E49085C662}"/>
              </a:ext>
            </a:extLst>
          </p:cNvPr>
          <p:cNvSpPr txBox="1"/>
          <p:nvPr/>
        </p:nvSpPr>
        <p:spPr>
          <a:xfrm>
            <a:off x="7070339" y="8866499"/>
            <a:ext cx="235741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Cluster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B656073A-077A-B796-47AB-25910DD9A236}"/>
              </a:ext>
            </a:extLst>
          </p:cNvPr>
          <p:cNvSpPr txBox="1"/>
          <p:nvPr/>
        </p:nvSpPr>
        <p:spPr>
          <a:xfrm>
            <a:off x="7063846" y="8962863"/>
            <a:ext cx="260604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Structure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3BDDBBAA-E8E0-42C7-B8FE-621DA1BF814A}"/>
              </a:ext>
            </a:extLst>
          </p:cNvPr>
          <p:cNvSpPr txBox="1"/>
          <p:nvPr/>
        </p:nvSpPr>
        <p:spPr>
          <a:xfrm>
            <a:off x="7055007" y="9063908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Knowledge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D3B6B226-F836-2338-5F61-BD3AC39B6C64}"/>
              </a:ext>
            </a:extLst>
          </p:cNvPr>
          <p:cNvSpPr txBox="1"/>
          <p:nvPr/>
        </p:nvSpPr>
        <p:spPr>
          <a:xfrm>
            <a:off x="7061235" y="9140557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Updater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0C7D8AC4-1BAD-010D-D3F4-9A9D301A658F}"/>
              </a:ext>
            </a:extLst>
          </p:cNvPr>
          <p:cNvSpPr txBox="1"/>
          <p:nvPr/>
        </p:nvSpPr>
        <p:spPr>
          <a:xfrm>
            <a:off x="7048685" y="9227323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Regression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115EDF2A-6522-CD12-FBA3-A8AEB676BA0A}"/>
              </a:ext>
            </a:extLst>
          </p:cNvPr>
          <p:cNvSpPr txBox="1"/>
          <p:nvPr/>
        </p:nvSpPr>
        <p:spPr>
          <a:xfrm>
            <a:off x="7233495" y="8289476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File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0E3F90AE-B342-3EE5-27A7-E1D363D28D48}"/>
              </a:ext>
            </a:extLst>
          </p:cNvPr>
          <p:cNvSpPr txBox="1"/>
          <p:nvPr/>
        </p:nvSpPr>
        <p:spPr>
          <a:xfrm>
            <a:off x="7303218" y="829201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Edit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085DCB9D-7E72-D556-C399-94FA2F9132A7}"/>
              </a:ext>
            </a:extLst>
          </p:cNvPr>
          <p:cNvSpPr txBox="1"/>
          <p:nvPr/>
        </p:nvSpPr>
        <p:spPr>
          <a:xfrm>
            <a:off x="7383126" y="8291864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Logging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EDA4F294-DFC5-398B-6967-4F9FF5DD94D8}"/>
              </a:ext>
            </a:extLst>
          </p:cNvPr>
          <p:cNvSpPr txBox="1"/>
          <p:nvPr/>
        </p:nvSpPr>
        <p:spPr>
          <a:xfrm>
            <a:off x="7505552" y="8292313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Pipelines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14EF03AA-DE5A-4333-798D-20173F3ED22F}"/>
              </a:ext>
            </a:extLst>
          </p:cNvPr>
          <p:cNvSpPr txBox="1"/>
          <p:nvPr/>
        </p:nvSpPr>
        <p:spPr>
          <a:xfrm>
            <a:off x="7637493" y="829506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Window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32484422-0440-1839-A408-81DE44F4CC6F}"/>
              </a:ext>
            </a:extLst>
          </p:cNvPr>
          <p:cNvSpPr txBox="1"/>
          <p:nvPr/>
        </p:nvSpPr>
        <p:spPr>
          <a:xfrm>
            <a:off x="7754912" y="829506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Help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F812C79C-FAC2-7805-F3A3-EF4FFAE9751B}"/>
              </a:ext>
            </a:extLst>
          </p:cNvPr>
          <p:cNvGrpSpPr/>
          <p:nvPr/>
        </p:nvGrpSpPr>
        <p:grpSpPr>
          <a:xfrm>
            <a:off x="1195787" y="7121456"/>
            <a:ext cx="358133" cy="449780"/>
            <a:chOff x="3801693" y="7065060"/>
            <a:chExt cx="465922" cy="575948"/>
          </a:xfrm>
        </p:grpSpPr>
        <p:sp>
          <p:nvSpPr>
            <p:cNvPr id="1151" name="Flowchart: Internal Storage 1150">
              <a:extLst>
                <a:ext uri="{FF2B5EF4-FFF2-40B4-BE49-F238E27FC236}">
                  <a16:creationId xmlns:a16="http://schemas.microsoft.com/office/drawing/2014/main" id="{BA38A885-FEF9-DC0C-3D3C-FE2E9B5CA15A}"/>
                </a:ext>
              </a:extLst>
            </p:cNvPr>
            <p:cNvSpPr/>
            <p:nvPr/>
          </p:nvSpPr>
          <p:spPr>
            <a:xfrm>
              <a:off x="3824554" y="7065060"/>
              <a:ext cx="443061" cy="575948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BB1C3424-7CF9-A86A-DD7E-F566AE96FB2F}"/>
                </a:ext>
              </a:extLst>
            </p:cNvPr>
            <p:cNvSpPr txBox="1"/>
            <p:nvPr/>
          </p:nvSpPr>
          <p:spPr>
            <a:xfrm>
              <a:off x="3801693" y="7065060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3" name="TextBox 1152">
              <a:extLst>
                <a:ext uri="{FF2B5EF4-FFF2-40B4-BE49-F238E27FC236}">
                  <a16:creationId xmlns:a16="http://schemas.microsoft.com/office/drawing/2014/main" id="{F14689B6-2762-E478-85CC-B9C8A0C63173}"/>
                </a:ext>
              </a:extLst>
            </p:cNvPr>
            <p:cNvSpPr txBox="1"/>
            <p:nvPr/>
          </p:nvSpPr>
          <p:spPr>
            <a:xfrm>
              <a:off x="3801693" y="7191227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4" name="TextBox 1153">
              <a:extLst>
                <a:ext uri="{FF2B5EF4-FFF2-40B4-BE49-F238E27FC236}">
                  <a16:creationId xmlns:a16="http://schemas.microsoft.com/office/drawing/2014/main" id="{50E595D7-5756-081D-4859-88D57C3C66D9}"/>
                </a:ext>
              </a:extLst>
            </p:cNvPr>
            <p:cNvSpPr txBox="1"/>
            <p:nvPr/>
          </p:nvSpPr>
          <p:spPr>
            <a:xfrm>
              <a:off x="3801693" y="7336099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1155" name="Straight Connector 1154">
              <a:extLst>
                <a:ext uri="{FF2B5EF4-FFF2-40B4-BE49-F238E27FC236}">
                  <a16:creationId xmlns:a16="http://schemas.microsoft.com/office/drawing/2014/main" id="{FEE285B0-E580-7BA3-5EAF-6D58688520E7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1976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6" name="Straight Connector 1155">
              <a:extLst>
                <a:ext uri="{FF2B5EF4-FFF2-40B4-BE49-F238E27FC236}">
                  <a16:creationId xmlns:a16="http://schemas.microsoft.com/office/drawing/2014/main" id="{DAA238BF-C16D-1C36-811D-94BEAD532D9F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269790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7" name="Straight Connector 1156">
              <a:extLst>
                <a:ext uri="{FF2B5EF4-FFF2-40B4-BE49-F238E27FC236}">
                  <a16:creationId xmlns:a16="http://schemas.microsoft.com/office/drawing/2014/main" id="{F8778287-368E-2477-07F4-62BA2BA8259A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344697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8" name="Straight Connector 1157">
              <a:extLst>
                <a:ext uri="{FF2B5EF4-FFF2-40B4-BE49-F238E27FC236}">
                  <a16:creationId xmlns:a16="http://schemas.microsoft.com/office/drawing/2014/main" id="{397E548B-B3E6-8B92-4F13-30B96056B1FC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4262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9" name="Straight Connector 1158">
              <a:extLst>
                <a:ext uri="{FF2B5EF4-FFF2-40B4-BE49-F238E27FC236}">
                  <a16:creationId xmlns:a16="http://schemas.microsoft.com/office/drawing/2014/main" id="{C4510F14-8342-9AD9-559C-C18A15304DE7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01852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60" name="Straight Connector 1159">
              <a:extLst>
                <a:ext uri="{FF2B5EF4-FFF2-40B4-BE49-F238E27FC236}">
                  <a16:creationId xmlns:a16="http://schemas.microsoft.com/office/drawing/2014/main" id="{4EFF0D5F-4D1B-6BCF-9963-B0FDF951B59E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81085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213" name="Group 1212">
            <a:extLst>
              <a:ext uri="{FF2B5EF4-FFF2-40B4-BE49-F238E27FC236}">
                <a16:creationId xmlns:a16="http://schemas.microsoft.com/office/drawing/2014/main" id="{E88DD30B-BA19-B04A-09F4-2352EBD52044}"/>
              </a:ext>
            </a:extLst>
          </p:cNvPr>
          <p:cNvGrpSpPr/>
          <p:nvPr/>
        </p:nvGrpSpPr>
        <p:grpSpPr>
          <a:xfrm>
            <a:off x="2661632" y="7753204"/>
            <a:ext cx="1625672" cy="724346"/>
            <a:chOff x="4898186" y="8463563"/>
            <a:chExt cx="3978918" cy="1588036"/>
          </a:xfrm>
        </p:grpSpPr>
        <p:sp>
          <p:nvSpPr>
            <p:cNvPr id="1165" name="Folded Corner 5">
              <a:extLst>
                <a:ext uri="{FF2B5EF4-FFF2-40B4-BE49-F238E27FC236}">
                  <a16:creationId xmlns:a16="http://schemas.microsoft.com/office/drawing/2014/main" id="{89E8EE99-2B05-8EBE-12BD-86B54E572443}"/>
                </a:ext>
              </a:extLst>
            </p:cNvPr>
            <p:cNvSpPr/>
            <p:nvPr/>
          </p:nvSpPr>
          <p:spPr>
            <a:xfrm rot="10800000" flipH="1">
              <a:off x="5352204" y="8474861"/>
              <a:ext cx="944261" cy="1140881"/>
            </a:xfrm>
            <a:prstGeom prst="foldedCorner">
              <a:avLst>
                <a:gd name="adj" fmla="val 29505"/>
              </a:avLst>
            </a:prstGeom>
            <a:solidFill>
              <a:schemeClr val="bg1"/>
            </a:solidFill>
            <a:ln w="63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="horz" wrap="square" lIns="54570" tIns="54570" rIns="54570" bIns="5457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1pPr>
              <a:lvl2pPr marL="0" marR="0" indent="228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2pPr>
              <a:lvl3pPr marL="0" marR="0" indent="457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3pPr>
              <a:lvl4pPr marL="0" marR="0" indent="685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4pPr>
              <a:lvl5pPr marL="0" marR="0" indent="9144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5pPr>
              <a:lvl6pPr marL="0" marR="0" indent="11430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6pPr>
              <a:lvl7pPr marL="0" marR="0" indent="1371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7pPr>
              <a:lvl8pPr marL="0" marR="0" indent="1600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8pPr>
              <a:lvl9pPr marL="0" marR="0" indent="1828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9pPr>
            </a:lstStyle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66" name="Group 1165">
              <a:extLst>
                <a:ext uri="{FF2B5EF4-FFF2-40B4-BE49-F238E27FC236}">
                  <a16:creationId xmlns:a16="http://schemas.microsoft.com/office/drawing/2014/main" id="{B32644BF-E15B-5B2F-6D32-6A6C1298302B}"/>
                </a:ext>
              </a:extLst>
            </p:cNvPr>
            <p:cNvGrpSpPr/>
            <p:nvPr/>
          </p:nvGrpSpPr>
          <p:grpSpPr>
            <a:xfrm>
              <a:off x="5432008" y="8733825"/>
              <a:ext cx="818142" cy="583040"/>
              <a:chOff x="3300333" y="6875181"/>
              <a:chExt cx="2140200" cy="1512332"/>
            </a:xfrm>
          </p:grpSpPr>
          <p:sp>
            <p:nvSpPr>
              <p:cNvPr id="1167" name="TextBox 1166">
                <a:extLst>
                  <a:ext uri="{FF2B5EF4-FFF2-40B4-BE49-F238E27FC236}">
                    <a16:creationId xmlns:a16="http://schemas.microsoft.com/office/drawing/2014/main" id="{D6BBCC28-2182-A1DA-62BA-73C33BE211F0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68" name="Google Shape;162;p1">
                <a:extLst>
                  <a:ext uri="{FF2B5EF4-FFF2-40B4-BE49-F238E27FC236}">
                    <a16:creationId xmlns:a16="http://schemas.microsoft.com/office/drawing/2014/main" id="{EFA7830B-858E-1B57-068A-3C1B0D929DF3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69" name="Google Shape;163;p1">
                <a:extLst>
                  <a:ext uri="{FF2B5EF4-FFF2-40B4-BE49-F238E27FC236}">
                    <a16:creationId xmlns:a16="http://schemas.microsoft.com/office/drawing/2014/main" id="{C77B50E2-9052-5362-F9AC-1108E54F1AAE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0" name="Google Shape;164;p1">
                <a:extLst>
                  <a:ext uri="{FF2B5EF4-FFF2-40B4-BE49-F238E27FC236}">
                    <a16:creationId xmlns:a16="http://schemas.microsoft.com/office/drawing/2014/main" id="{A88EFCE3-59C4-7241-6A70-C7C533573CDC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1" name="Google Shape;165;p1">
                <a:extLst>
                  <a:ext uri="{FF2B5EF4-FFF2-40B4-BE49-F238E27FC236}">
                    <a16:creationId xmlns:a16="http://schemas.microsoft.com/office/drawing/2014/main" id="{D616A977-9171-FDD3-5774-21F61D80DDCF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2" name="Google Shape;171;p1">
                <a:extLst>
                  <a:ext uri="{FF2B5EF4-FFF2-40B4-BE49-F238E27FC236}">
                    <a16:creationId xmlns:a16="http://schemas.microsoft.com/office/drawing/2014/main" id="{5A7DAC46-2BCE-6C31-0335-7685D2B64D75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3" name="Google Shape;187;p1">
                <a:extLst>
                  <a:ext uri="{FF2B5EF4-FFF2-40B4-BE49-F238E27FC236}">
                    <a16:creationId xmlns:a16="http://schemas.microsoft.com/office/drawing/2014/main" id="{B57A44CC-6923-F79A-61CD-9CBD631D0619}"/>
                  </a:ext>
                </a:extLst>
              </p:cNvPr>
              <p:cNvCxnSpPr>
                <a:cxnSpLocks/>
                <a:stCxn id="1174" idx="6"/>
                <a:endCxn id="1168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74" name="Google Shape;188;p1">
                <a:extLst>
                  <a:ext uri="{FF2B5EF4-FFF2-40B4-BE49-F238E27FC236}">
                    <a16:creationId xmlns:a16="http://schemas.microsoft.com/office/drawing/2014/main" id="{F4D388F6-3074-A53B-57EE-887A911DC23E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5" name="Google Shape;196;p1">
                <a:extLst>
                  <a:ext uri="{FF2B5EF4-FFF2-40B4-BE49-F238E27FC236}">
                    <a16:creationId xmlns:a16="http://schemas.microsoft.com/office/drawing/2014/main" id="{8119C9B0-68E5-A1B7-C017-31AF963DE3B9}"/>
                  </a:ext>
                </a:extLst>
              </p:cNvPr>
              <p:cNvCxnSpPr>
                <a:cxnSpLocks/>
                <a:stCxn id="1174" idx="5"/>
                <a:endCxn id="1170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6" name="Google Shape;198;p1">
                <a:extLst>
                  <a:ext uri="{FF2B5EF4-FFF2-40B4-BE49-F238E27FC236}">
                    <a16:creationId xmlns:a16="http://schemas.microsoft.com/office/drawing/2014/main" id="{49D5ABB1-C34A-AF8A-A5A0-BE35BDD65BB2}"/>
                  </a:ext>
                </a:extLst>
              </p:cNvPr>
              <p:cNvCxnSpPr>
                <a:cxnSpLocks/>
                <a:stCxn id="1174" idx="6"/>
                <a:endCxn id="1171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7" name="Google Shape;199;p1">
                <a:extLst>
                  <a:ext uri="{FF2B5EF4-FFF2-40B4-BE49-F238E27FC236}">
                    <a16:creationId xmlns:a16="http://schemas.microsoft.com/office/drawing/2014/main" id="{DCA6873E-4273-7D45-E83E-35274959766F}"/>
                  </a:ext>
                </a:extLst>
              </p:cNvPr>
              <p:cNvCxnSpPr>
                <a:cxnSpLocks/>
                <a:stCxn id="1174" idx="3"/>
                <a:endCxn id="1172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8" name="Google Shape;200;p1">
                <a:extLst>
                  <a:ext uri="{FF2B5EF4-FFF2-40B4-BE49-F238E27FC236}">
                    <a16:creationId xmlns:a16="http://schemas.microsoft.com/office/drawing/2014/main" id="{18B80FCA-7E46-20CC-9B27-60CDE8168340}"/>
                  </a:ext>
                </a:extLst>
              </p:cNvPr>
              <p:cNvCxnSpPr>
                <a:cxnSpLocks/>
                <a:stCxn id="1174" idx="6"/>
                <a:endCxn id="1169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79" name="TextBox 1178">
              <a:extLst>
                <a:ext uri="{FF2B5EF4-FFF2-40B4-BE49-F238E27FC236}">
                  <a16:creationId xmlns:a16="http://schemas.microsoft.com/office/drawing/2014/main" id="{461224C0-608F-692D-0CD2-2C0D8CFED7E8}"/>
                </a:ext>
              </a:extLst>
            </p:cNvPr>
            <p:cNvSpPr txBox="1"/>
            <p:nvPr/>
          </p:nvSpPr>
          <p:spPr>
            <a:xfrm>
              <a:off x="4898186" y="9385556"/>
              <a:ext cx="1831780" cy="6556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000" dirty="0"/>
                <a:t>.</a:t>
              </a:r>
              <a:r>
                <a:rPr lang="en-US" sz="700" dirty="0" err="1"/>
                <a:t>json</a:t>
              </a:r>
              <a:endParaRPr lang="en-US" sz="1000" dirty="0"/>
            </a:p>
          </p:txBody>
        </p:sp>
        <p:sp>
          <p:nvSpPr>
            <p:cNvPr id="1181" name="Flowchart: Internal Storage 1180">
              <a:extLst>
                <a:ext uri="{FF2B5EF4-FFF2-40B4-BE49-F238E27FC236}">
                  <a16:creationId xmlns:a16="http://schemas.microsoft.com/office/drawing/2014/main" id="{B9D29480-C8F7-E38D-5B3A-7DC6B3E3588D}"/>
                </a:ext>
              </a:extLst>
            </p:cNvPr>
            <p:cNvSpPr/>
            <p:nvPr/>
          </p:nvSpPr>
          <p:spPr>
            <a:xfrm>
              <a:off x="7222739" y="8463563"/>
              <a:ext cx="1472339" cy="1138122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>
              <a:outerShdw blurRad="38100" dist="25400" dir="5400000" rotWithShape="0">
                <a:schemeClr val="bg1">
                  <a:alpha val="50000"/>
                </a:scheme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82" name="Group 1181">
              <a:extLst>
                <a:ext uri="{FF2B5EF4-FFF2-40B4-BE49-F238E27FC236}">
                  <a16:creationId xmlns:a16="http://schemas.microsoft.com/office/drawing/2014/main" id="{DD84DCC7-BCAE-671B-B5B0-A0CA0B0604A9}"/>
                </a:ext>
              </a:extLst>
            </p:cNvPr>
            <p:cNvGrpSpPr/>
            <p:nvPr/>
          </p:nvGrpSpPr>
          <p:grpSpPr>
            <a:xfrm>
              <a:off x="7625600" y="8753781"/>
              <a:ext cx="818142" cy="583040"/>
              <a:chOff x="3300333" y="6875181"/>
              <a:chExt cx="2140200" cy="1512332"/>
            </a:xfrm>
          </p:grpSpPr>
          <p:sp>
            <p:nvSpPr>
              <p:cNvPr id="1183" name="TextBox 1182">
                <a:extLst>
                  <a:ext uri="{FF2B5EF4-FFF2-40B4-BE49-F238E27FC236}">
                    <a16:creationId xmlns:a16="http://schemas.microsoft.com/office/drawing/2014/main" id="{58D53B31-1615-5582-54B7-259452D23574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84" name="Google Shape;162;p1">
                <a:extLst>
                  <a:ext uri="{FF2B5EF4-FFF2-40B4-BE49-F238E27FC236}">
                    <a16:creationId xmlns:a16="http://schemas.microsoft.com/office/drawing/2014/main" id="{95F4E3A3-DB07-580E-AE90-5B786805D466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5" name="Google Shape;163;p1">
                <a:extLst>
                  <a:ext uri="{FF2B5EF4-FFF2-40B4-BE49-F238E27FC236}">
                    <a16:creationId xmlns:a16="http://schemas.microsoft.com/office/drawing/2014/main" id="{AE61DED7-8780-E3BE-7467-68DA59F9D6BD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6" name="Google Shape;164;p1">
                <a:extLst>
                  <a:ext uri="{FF2B5EF4-FFF2-40B4-BE49-F238E27FC236}">
                    <a16:creationId xmlns:a16="http://schemas.microsoft.com/office/drawing/2014/main" id="{84022EC6-850B-E142-31BC-B0D309B5EB9F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7" name="Google Shape;165;p1">
                <a:extLst>
                  <a:ext uri="{FF2B5EF4-FFF2-40B4-BE49-F238E27FC236}">
                    <a16:creationId xmlns:a16="http://schemas.microsoft.com/office/drawing/2014/main" id="{B155DD29-7482-33E0-F3AB-B0EE8612006E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8" name="Google Shape;171;p1">
                <a:extLst>
                  <a:ext uri="{FF2B5EF4-FFF2-40B4-BE49-F238E27FC236}">
                    <a16:creationId xmlns:a16="http://schemas.microsoft.com/office/drawing/2014/main" id="{F3FA6AC4-6502-D9AB-C179-CAB8D3EC44BF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89" name="Google Shape;187;p1">
                <a:extLst>
                  <a:ext uri="{FF2B5EF4-FFF2-40B4-BE49-F238E27FC236}">
                    <a16:creationId xmlns:a16="http://schemas.microsoft.com/office/drawing/2014/main" id="{F70B7875-CD2C-79B8-3E0C-F30740A58700}"/>
                  </a:ext>
                </a:extLst>
              </p:cNvPr>
              <p:cNvCxnSpPr>
                <a:cxnSpLocks/>
                <a:stCxn id="1190" idx="6"/>
                <a:endCxn id="1184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90" name="Google Shape;188;p1">
                <a:extLst>
                  <a:ext uri="{FF2B5EF4-FFF2-40B4-BE49-F238E27FC236}">
                    <a16:creationId xmlns:a16="http://schemas.microsoft.com/office/drawing/2014/main" id="{78346816-FB57-B24F-3DCB-B716E3B42B46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91" name="Google Shape;196;p1">
                <a:extLst>
                  <a:ext uri="{FF2B5EF4-FFF2-40B4-BE49-F238E27FC236}">
                    <a16:creationId xmlns:a16="http://schemas.microsoft.com/office/drawing/2014/main" id="{C1BE412B-9021-DA60-3396-6AC3A1A9AFD1}"/>
                  </a:ext>
                </a:extLst>
              </p:cNvPr>
              <p:cNvCxnSpPr>
                <a:cxnSpLocks/>
                <a:stCxn id="1190" idx="5"/>
                <a:endCxn id="1186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2" name="Google Shape;198;p1">
                <a:extLst>
                  <a:ext uri="{FF2B5EF4-FFF2-40B4-BE49-F238E27FC236}">
                    <a16:creationId xmlns:a16="http://schemas.microsoft.com/office/drawing/2014/main" id="{148EC643-059A-51B9-7946-7690CD0828CD}"/>
                  </a:ext>
                </a:extLst>
              </p:cNvPr>
              <p:cNvCxnSpPr>
                <a:cxnSpLocks/>
                <a:stCxn id="1190" idx="6"/>
                <a:endCxn id="1187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3" name="Google Shape;199;p1">
                <a:extLst>
                  <a:ext uri="{FF2B5EF4-FFF2-40B4-BE49-F238E27FC236}">
                    <a16:creationId xmlns:a16="http://schemas.microsoft.com/office/drawing/2014/main" id="{37B4FBC7-21A2-9A0C-7D80-7082A75EBEB0}"/>
                  </a:ext>
                </a:extLst>
              </p:cNvPr>
              <p:cNvCxnSpPr>
                <a:cxnSpLocks/>
                <a:stCxn id="1190" idx="3"/>
                <a:endCxn id="1188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4" name="Google Shape;200;p1">
                <a:extLst>
                  <a:ext uri="{FF2B5EF4-FFF2-40B4-BE49-F238E27FC236}">
                    <a16:creationId xmlns:a16="http://schemas.microsoft.com/office/drawing/2014/main" id="{541C3705-F686-D968-FC10-21F74833280E}"/>
                  </a:ext>
                </a:extLst>
              </p:cNvPr>
              <p:cNvCxnSpPr>
                <a:cxnSpLocks/>
                <a:stCxn id="1190" idx="6"/>
                <a:endCxn id="1185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95" name="TextBox 1194">
              <a:extLst>
                <a:ext uri="{FF2B5EF4-FFF2-40B4-BE49-F238E27FC236}">
                  <a16:creationId xmlns:a16="http://schemas.microsoft.com/office/drawing/2014/main" id="{11C43FE2-43ED-6E94-9B98-095718449F17}"/>
                </a:ext>
              </a:extLst>
            </p:cNvPr>
            <p:cNvSpPr txBox="1"/>
            <p:nvPr/>
          </p:nvSpPr>
          <p:spPr>
            <a:xfrm>
              <a:off x="7045323" y="9500399"/>
              <a:ext cx="1831781" cy="551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700" dirty="0"/>
                <a:t>Tetrad GUI</a:t>
              </a:r>
            </a:p>
          </p:txBody>
        </p:sp>
      </p:grpSp>
      <p:cxnSp>
        <p:nvCxnSpPr>
          <p:cNvPr id="1220" name="Straight Arrow Connector 1219">
            <a:extLst>
              <a:ext uri="{FF2B5EF4-FFF2-40B4-BE49-F238E27FC236}">
                <a16:creationId xmlns:a16="http://schemas.microsoft.com/office/drawing/2014/main" id="{4210E550-BC78-751A-9B5F-91C9084D2A3F}"/>
              </a:ext>
            </a:extLst>
          </p:cNvPr>
          <p:cNvCxnSpPr>
            <a:cxnSpLocks/>
          </p:cNvCxnSpPr>
          <p:nvPr/>
        </p:nvCxnSpPr>
        <p:spPr>
          <a:xfrm flipV="1">
            <a:off x="540609" y="7400770"/>
            <a:ext cx="542836" cy="383885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1" name="Straight Arrow Connector 1220">
            <a:extLst>
              <a:ext uri="{FF2B5EF4-FFF2-40B4-BE49-F238E27FC236}">
                <a16:creationId xmlns:a16="http://schemas.microsoft.com/office/drawing/2014/main" id="{8BE123AC-DB67-B7EF-222C-FF2FF49CBDFB}"/>
              </a:ext>
            </a:extLst>
          </p:cNvPr>
          <p:cNvCxnSpPr>
            <a:cxnSpLocks/>
          </p:cNvCxnSpPr>
          <p:nvPr/>
        </p:nvCxnSpPr>
        <p:spPr>
          <a:xfrm>
            <a:off x="1686611" y="7382435"/>
            <a:ext cx="371548" cy="283991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4" name="Straight Arrow Connector 1223">
            <a:extLst>
              <a:ext uri="{FF2B5EF4-FFF2-40B4-BE49-F238E27FC236}">
                <a16:creationId xmlns:a16="http://schemas.microsoft.com/office/drawing/2014/main" id="{F1EB3051-AD1E-F39B-5636-71A2B9A7E190}"/>
              </a:ext>
            </a:extLst>
          </p:cNvPr>
          <p:cNvCxnSpPr>
            <a:cxnSpLocks/>
          </p:cNvCxnSpPr>
          <p:nvPr/>
        </p:nvCxnSpPr>
        <p:spPr>
          <a:xfrm flipV="1">
            <a:off x="1950245" y="8298297"/>
            <a:ext cx="178758" cy="30308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6" name="Straight Arrow Connector 1225">
            <a:extLst>
              <a:ext uri="{FF2B5EF4-FFF2-40B4-BE49-F238E27FC236}">
                <a16:creationId xmlns:a16="http://schemas.microsoft.com/office/drawing/2014/main" id="{40D7ACAF-B536-713C-73C3-D82F394F1125}"/>
              </a:ext>
            </a:extLst>
          </p:cNvPr>
          <p:cNvCxnSpPr>
            <a:cxnSpLocks/>
          </p:cNvCxnSpPr>
          <p:nvPr/>
        </p:nvCxnSpPr>
        <p:spPr>
          <a:xfrm>
            <a:off x="2446049" y="8029635"/>
            <a:ext cx="321536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9" name="Straight Arrow Connector 1228">
            <a:extLst>
              <a:ext uri="{FF2B5EF4-FFF2-40B4-BE49-F238E27FC236}">
                <a16:creationId xmlns:a16="http://schemas.microsoft.com/office/drawing/2014/main" id="{4FCAA936-9457-2E91-285C-471EC38C7FF1}"/>
              </a:ext>
            </a:extLst>
          </p:cNvPr>
          <p:cNvCxnSpPr>
            <a:cxnSpLocks/>
          </p:cNvCxnSpPr>
          <p:nvPr/>
        </p:nvCxnSpPr>
        <p:spPr>
          <a:xfrm>
            <a:off x="3325817" y="8048125"/>
            <a:ext cx="2118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33" name="TextBox 1232">
            <a:extLst>
              <a:ext uri="{FF2B5EF4-FFF2-40B4-BE49-F238E27FC236}">
                <a16:creationId xmlns:a16="http://schemas.microsoft.com/office/drawing/2014/main" id="{A1F51035-6D46-6F57-6BE2-AF095FCA7BD6}"/>
              </a:ext>
            </a:extLst>
          </p:cNvPr>
          <p:cNvSpPr txBox="1"/>
          <p:nvPr/>
        </p:nvSpPr>
        <p:spPr>
          <a:xfrm>
            <a:off x="1137303" y="7536186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notebook/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46235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C9096-737F-6FB8-CBB4-ED0C022F0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30EFD5DD-94D5-3958-476E-9D3364C2BD9E}"/>
              </a:ext>
            </a:extLst>
          </p:cNvPr>
          <p:cNvSpPr txBox="1"/>
          <p:nvPr/>
        </p:nvSpPr>
        <p:spPr>
          <a:xfrm>
            <a:off x="182880" y="5120640"/>
            <a:ext cx="4001355" cy="12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wraps the Tetrad Java API through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, exposing individual modules in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api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(data, score, algorithm, graph, knowledge, bootstrapping) that provide direct function level control over each step of the causal search pipeline.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expands on the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TetradSearch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API by breaking its single object, shared state pipeline into individual modules.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924" name="Folded Corner 5">
            <a:extLst>
              <a:ext uri="{FF2B5EF4-FFF2-40B4-BE49-F238E27FC236}">
                <a16:creationId xmlns:a16="http://schemas.microsoft.com/office/drawing/2014/main" id="{A82E7069-5B53-71BF-B1BB-7B057813E6DB}"/>
              </a:ext>
            </a:extLst>
          </p:cNvPr>
          <p:cNvSpPr/>
          <p:nvPr/>
        </p:nvSpPr>
        <p:spPr>
          <a:xfrm rot="10800000" flipH="1">
            <a:off x="5199804" y="8322461"/>
            <a:ext cx="944261" cy="1140881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8CA680CA-0269-993C-02F3-353AFD0DC61A}"/>
              </a:ext>
            </a:extLst>
          </p:cNvPr>
          <p:cNvSpPr/>
          <p:nvPr/>
        </p:nvSpPr>
        <p:spPr>
          <a:xfrm>
            <a:off x="7718005" y="6528063"/>
            <a:ext cx="416903" cy="565648"/>
          </a:xfrm>
          <a:prstGeom prst="rect">
            <a:avLst/>
          </a:prstGeom>
          <a:solidFill>
            <a:srgbClr val="FFFFFF"/>
          </a:solidFill>
          <a:ln w="254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36" name="Image" descr="Image">
            <a:extLst>
              <a:ext uri="{FF2B5EF4-FFF2-40B4-BE49-F238E27FC236}">
                <a16:creationId xmlns:a16="http://schemas.microsoft.com/office/drawing/2014/main" id="{8E0AE6B1-E533-1954-8E53-EFCC7D598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68" y="-661924"/>
            <a:ext cx="5598432" cy="2990088"/>
          </a:xfrm>
          <a:prstGeom prst="rect">
            <a:avLst/>
          </a:prstGeom>
          <a:ln w="12700">
            <a:miter lim="400000"/>
          </a:ln>
        </p:spPr>
      </p:pic>
      <p:sp>
        <p:nvSpPr>
          <p:cNvPr id="937" name="Line">
            <a:extLst>
              <a:ext uri="{FF2B5EF4-FFF2-40B4-BE49-F238E27FC236}">
                <a16:creationId xmlns:a16="http://schemas.microsoft.com/office/drawing/2014/main" id="{4D481ACE-6E5A-B032-F320-9C6BCA9D67E4}"/>
              </a:ext>
            </a:extLst>
          </p:cNvPr>
          <p:cNvSpPr/>
          <p:nvPr/>
        </p:nvSpPr>
        <p:spPr>
          <a:xfrm flipV="1">
            <a:off x="213255" y="10296246"/>
            <a:ext cx="13462982" cy="39499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38" name="YOUR LOGO…">
            <a:extLst>
              <a:ext uri="{FF2B5EF4-FFF2-40B4-BE49-F238E27FC236}">
                <a16:creationId xmlns:a16="http://schemas.microsoft.com/office/drawing/2014/main" id="{A31E36F8-7531-B181-37F1-9491D0A57CA7}"/>
              </a:ext>
            </a:extLst>
          </p:cNvPr>
          <p:cNvSpPr/>
          <p:nvPr/>
        </p:nvSpPr>
        <p:spPr>
          <a:xfrm>
            <a:off x="170343" y="10207710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sz="2400" dirty="0"/>
              <a:t>Kumu</a:t>
            </a:r>
            <a:endParaRPr sz="2400" dirty="0"/>
          </a:p>
        </p:txBody>
      </p:sp>
      <p:sp>
        <p:nvSpPr>
          <p:cNvPr id="939" name="Three Column Layout: : CHEAT SHEET">
            <a:extLst>
              <a:ext uri="{FF2B5EF4-FFF2-40B4-BE49-F238E27FC236}">
                <a16:creationId xmlns:a16="http://schemas.microsoft.com/office/drawing/2014/main" id="{B0AF11FC-A3F8-B624-F107-F27657DA9D82}"/>
              </a:ext>
            </a:extLst>
          </p:cNvPr>
          <p:cNvSpPr txBox="1">
            <a:spLocks/>
          </p:cNvSpPr>
          <p:nvPr/>
        </p:nvSpPr>
        <p:spPr>
          <a:xfrm>
            <a:off x="275721" y="361177"/>
            <a:ext cx="10898129" cy="803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1pPr>
            <a:lvl2pPr marL="0" marR="0" indent="228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2pPr>
            <a:lvl3pPr marL="0" marR="0" indent="457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3pPr>
            <a:lvl4pPr marL="0" marR="0" indent="685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4pPr>
            <a:lvl5pPr marL="0" marR="0" indent="9144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5pPr>
            <a:lvl6pPr marL="0" marR="0" indent="11430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6pPr>
            <a:lvl7pPr marL="0" marR="0" indent="1371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7pPr>
            <a:lvl8pPr marL="0" marR="0" indent="1600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8pPr>
            <a:lvl9pPr marL="0" marR="0" indent="1828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9pPr>
          </a:lstStyle>
          <a:p>
            <a:pPr hangingPunct="1"/>
            <a:r>
              <a:rPr lang="en-US"/>
              <a:t>Pykumu : : </a:t>
            </a:r>
            <a:r>
              <a:rPr lang="en-US"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941" name="Layout Suggestions">
            <a:extLst>
              <a:ext uri="{FF2B5EF4-FFF2-40B4-BE49-F238E27FC236}">
                <a16:creationId xmlns:a16="http://schemas.microsoft.com/office/drawing/2014/main" id="{0CA6A0AD-DE35-4B21-6200-DBCA0B654CD9}"/>
              </a:ext>
            </a:extLst>
          </p:cNvPr>
          <p:cNvSpPr txBox="1"/>
          <p:nvPr/>
        </p:nvSpPr>
        <p:spPr>
          <a:xfrm>
            <a:off x="182880" y="1463040"/>
            <a:ext cx="262128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About</a:t>
            </a:r>
            <a:endParaRPr dirty="0"/>
          </a:p>
        </p:txBody>
      </p:sp>
      <p:sp>
        <p:nvSpPr>
          <p:cNvPr id="943" name="TextBox 942">
            <a:extLst>
              <a:ext uri="{FF2B5EF4-FFF2-40B4-BE49-F238E27FC236}">
                <a16:creationId xmlns:a16="http://schemas.microsoft.com/office/drawing/2014/main" id="{95F453E7-03D6-A6D2-A313-5DD9FA87E675}"/>
              </a:ext>
            </a:extLst>
          </p:cNvPr>
          <p:cNvSpPr txBox="1"/>
          <p:nvPr/>
        </p:nvSpPr>
        <p:spPr>
          <a:xfrm>
            <a:off x="6080760" y="10327008"/>
            <a:ext cx="7747698" cy="500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1000" b="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1000" b="0" dirty="0">
                <a:solidFill>
                  <a:schemeClr val="tx1"/>
                </a:solidFill>
              </a:rPr>
              <a:t> Phuong Pham,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Carlos Paradis</a:t>
            </a:r>
            <a:r>
              <a:rPr lang="en-US" sz="1000" b="0" dirty="0">
                <a:solidFill>
                  <a:schemeClr val="tx1"/>
                </a:solidFill>
              </a:rPr>
              <a:t>, Adam Graham, Jared Seto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• Kai</a:t>
            </a:r>
            <a:r>
              <a:rPr kumimoji="0" lang="haw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ā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ulu package version 0.0.0.9700 (in development) •  Updated: 2026-04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4" name="Logistics">
            <a:extLst>
              <a:ext uri="{FF2B5EF4-FFF2-40B4-BE49-F238E27FC236}">
                <a16:creationId xmlns:a16="http://schemas.microsoft.com/office/drawing/2014/main" id="{641D74DB-F379-E662-004D-CDF5985092C6}"/>
              </a:ext>
            </a:extLst>
          </p:cNvPr>
          <p:cNvSpPr txBox="1"/>
          <p:nvPr/>
        </p:nvSpPr>
        <p:spPr>
          <a:xfrm>
            <a:off x="9601200" y="146304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API</a:t>
            </a:r>
          </a:p>
        </p:txBody>
      </p:sp>
      <p:sp>
        <p:nvSpPr>
          <p:cNvPr id="945" name="Logistics">
            <a:extLst>
              <a:ext uri="{FF2B5EF4-FFF2-40B4-BE49-F238E27FC236}">
                <a16:creationId xmlns:a16="http://schemas.microsoft.com/office/drawing/2014/main" id="{7F7B1E3C-080C-A81C-01AA-7A0BA515409D}"/>
              </a:ext>
            </a:extLst>
          </p:cNvPr>
          <p:cNvSpPr txBox="1"/>
          <p:nvPr/>
        </p:nvSpPr>
        <p:spPr>
          <a:xfrm>
            <a:off x="182880" y="6675120"/>
            <a:ext cx="332142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Command Line Interface</a:t>
            </a:r>
          </a:p>
        </p:txBody>
      </p:sp>
      <p:sp>
        <p:nvSpPr>
          <p:cNvPr id="947" name="Basics">
            <a:extLst>
              <a:ext uri="{FF2B5EF4-FFF2-40B4-BE49-F238E27FC236}">
                <a16:creationId xmlns:a16="http://schemas.microsoft.com/office/drawing/2014/main" id="{A51346B4-8C0C-C217-1577-4B77822FD849}"/>
              </a:ext>
            </a:extLst>
          </p:cNvPr>
          <p:cNvSpPr txBox="1"/>
          <p:nvPr/>
        </p:nvSpPr>
        <p:spPr>
          <a:xfrm>
            <a:off x="182880" y="2834640"/>
            <a:ext cx="16991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lc="http://schemas.openxmlformats.org/drawingml/2006/lockedCanvas" val="1"/>
            </a:ext>
          </a:extLst>
        </p:spPr>
        <p:txBody>
          <a:bodyPr wrap="none" lIns="12700" tIns="12700" rIns="12700" bIns="127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 err="1"/>
              <a:t>Pykumu</a:t>
            </a:r>
            <a:r>
              <a:rPr lang="en-US" dirty="0"/>
              <a:t> API </a:t>
            </a:r>
            <a:endParaRPr dirty="0"/>
          </a:p>
        </p:txBody>
      </p:sp>
      <p:sp>
        <p:nvSpPr>
          <p:cNvPr id="948" name="Manipulate Variables">
            <a:extLst>
              <a:ext uri="{FF2B5EF4-FFF2-40B4-BE49-F238E27FC236}">
                <a16:creationId xmlns:a16="http://schemas.microsoft.com/office/drawing/2014/main" id="{AD1E30E4-944A-3148-CC69-5629D0C9401A}"/>
              </a:ext>
            </a:extLst>
          </p:cNvPr>
          <p:cNvSpPr txBox="1"/>
          <p:nvPr/>
        </p:nvSpPr>
        <p:spPr>
          <a:xfrm>
            <a:off x="4754880" y="1463040"/>
            <a:ext cx="3414396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Analysis Workflow</a:t>
            </a:r>
          </a:p>
        </p:txBody>
      </p:sp>
      <p:graphicFrame>
        <p:nvGraphicFramePr>
          <p:cNvPr id="952" name="Table">
            <a:extLst>
              <a:ext uri="{FF2B5EF4-FFF2-40B4-BE49-F238E27FC236}">
                <a16:creationId xmlns:a16="http://schemas.microsoft.com/office/drawing/2014/main" id="{330BF661-89B6-5486-18B4-14A43071B191}"/>
              </a:ext>
            </a:extLst>
          </p:cNvPr>
          <p:cNvGraphicFramePr/>
          <p:nvPr/>
        </p:nvGraphicFramePr>
        <p:xfrm>
          <a:off x="7572970" y="1860776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3" name="Table">
            <a:extLst>
              <a:ext uri="{FF2B5EF4-FFF2-40B4-BE49-F238E27FC236}">
                <a16:creationId xmlns:a16="http://schemas.microsoft.com/office/drawing/2014/main" id="{CB3A5CD7-7D1C-156B-E1B9-23E3C16CFF4E}"/>
              </a:ext>
            </a:extLst>
          </p:cNvPr>
          <p:cNvGraphicFramePr/>
          <p:nvPr/>
        </p:nvGraphicFramePr>
        <p:xfrm>
          <a:off x="8061338" y="3158012"/>
          <a:ext cx="646626" cy="63799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07771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2262694748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819122332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296678260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322319369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17903980"/>
                    </a:ext>
                  </a:extLst>
                </a:gridCol>
              </a:tblGrid>
              <a:tr h="127598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4" name="Table">
            <a:extLst>
              <a:ext uri="{FF2B5EF4-FFF2-40B4-BE49-F238E27FC236}">
                <a16:creationId xmlns:a16="http://schemas.microsoft.com/office/drawing/2014/main" id="{C57FC54E-6F93-CC63-8671-52A48916408E}"/>
              </a:ext>
            </a:extLst>
          </p:cNvPr>
          <p:cNvGraphicFramePr/>
          <p:nvPr/>
        </p:nvGraphicFramePr>
        <p:xfrm>
          <a:off x="57722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5" name="Table">
            <a:extLst>
              <a:ext uri="{FF2B5EF4-FFF2-40B4-BE49-F238E27FC236}">
                <a16:creationId xmlns:a16="http://schemas.microsoft.com/office/drawing/2014/main" id="{79FFB451-ED5F-E24D-3FEE-A782608D4776}"/>
              </a:ext>
            </a:extLst>
          </p:cNvPr>
          <p:cNvGraphicFramePr/>
          <p:nvPr/>
        </p:nvGraphicFramePr>
        <p:xfrm>
          <a:off x="7118882" y="3162435"/>
          <a:ext cx="627864" cy="6400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933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102988"/>
                  </a:ext>
                </a:extLst>
              </a:tr>
            </a:tbl>
          </a:graphicData>
        </a:graphic>
      </p:graphicFrame>
      <p:graphicFrame>
        <p:nvGraphicFramePr>
          <p:cNvPr id="956" name="Table">
            <a:extLst>
              <a:ext uri="{FF2B5EF4-FFF2-40B4-BE49-F238E27FC236}">
                <a16:creationId xmlns:a16="http://schemas.microsoft.com/office/drawing/2014/main" id="{C50C49E0-EDA2-0EC9-CAD1-D6209DF98A28}"/>
              </a:ext>
            </a:extLst>
          </p:cNvPr>
          <p:cNvGraphicFramePr/>
          <p:nvPr/>
        </p:nvGraphicFramePr>
        <p:xfrm>
          <a:off x="53483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7" name="Plus Sign 956">
            <a:extLst>
              <a:ext uri="{FF2B5EF4-FFF2-40B4-BE49-F238E27FC236}">
                <a16:creationId xmlns:a16="http://schemas.microsoft.com/office/drawing/2014/main" id="{C046ADDB-CB96-7354-E6AE-A27270EBC138}"/>
              </a:ext>
            </a:extLst>
          </p:cNvPr>
          <p:cNvSpPr/>
          <p:nvPr/>
        </p:nvSpPr>
        <p:spPr>
          <a:xfrm>
            <a:off x="5608866" y="3336992"/>
            <a:ext cx="118473" cy="124938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8" name="Plus Sign 957">
            <a:extLst>
              <a:ext uri="{FF2B5EF4-FFF2-40B4-BE49-F238E27FC236}">
                <a16:creationId xmlns:a16="http://schemas.microsoft.com/office/drawing/2014/main" id="{FF41F5F7-CB07-009A-3C5A-E2746597B0C0}"/>
              </a:ext>
            </a:extLst>
          </p:cNvPr>
          <p:cNvSpPr/>
          <p:nvPr/>
        </p:nvSpPr>
        <p:spPr>
          <a:xfrm>
            <a:off x="7845219" y="3413769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9" name="Left Brace 958">
            <a:extLst>
              <a:ext uri="{FF2B5EF4-FFF2-40B4-BE49-F238E27FC236}">
                <a16:creationId xmlns:a16="http://schemas.microsoft.com/office/drawing/2014/main" id="{FC635D9F-C9F3-0B99-B7F2-7E3FBC28476E}"/>
              </a:ext>
            </a:extLst>
          </p:cNvPr>
          <p:cNvSpPr/>
          <p:nvPr/>
        </p:nvSpPr>
        <p:spPr>
          <a:xfrm>
            <a:off x="7013808" y="3168613"/>
            <a:ext cx="45719" cy="623765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0" name="TextBox 959">
            <a:extLst>
              <a:ext uri="{FF2B5EF4-FFF2-40B4-BE49-F238E27FC236}">
                <a16:creationId xmlns:a16="http://schemas.microsoft.com/office/drawing/2014/main" id="{08220B16-A8B0-19A9-3452-688129FA7413}"/>
              </a:ext>
            </a:extLst>
          </p:cNvPr>
          <p:cNvSpPr txBox="1"/>
          <p:nvPr/>
        </p:nvSpPr>
        <p:spPr>
          <a:xfrm>
            <a:off x="6843820" y="3302155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1" name="Left Brace 960">
            <a:extLst>
              <a:ext uri="{FF2B5EF4-FFF2-40B4-BE49-F238E27FC236}">
                <a16:creationId xmlns:a16="http://schemas.microsoft.com/office/drawing/2014/main" id="{2CB975EA-E66F-FBCC-8DB6-C6F642FB3483}"/>
              </a:ext>
            </a:extLst>
          </p:cNvPr>
          <p:cNvSpPr/>
          <p:nvPr/>
        </p:nvSpPr>
        <p:spPr>
          <a:xfrm rot="5400000">
            <a:off x="8355720" y="2751534"/>
            <a:ext cx="51104" cy="639868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9860986A-D0C1-9853-90FD-F6F8263A8B77}"/>
              </a:ext>
            </a:extLst>
          </p:cNvPr>
          <p:cNvSpPr txBox="1"/>
          <p:nvPr/>
        </p:nvSpPr>
        <p:spPr>
          <a:xfrm>
            <a:off x="8298111" y="2791232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3" name="TextBox 962">
            <a:extLst>
              <a:ext uri="{FF2B5EF4-FFF2-40B4-BE49-F238E27FC236}">
                <a16:creationId xmlns:a16="http://schemas.microsoft.com/office/drawing/2014/main" id="{99B11624-A76E-1245-6089-22A01065653C}"/>
              </a:ext>
            </a:extLst>
          </p:cNvPr>
          <p:cNvSpPr txBox="1"/>
          <p:nvPr/>
        </p:nvSpPr>
        <p:spPr>
          <a:xfrm>
            <a:off x="7059527" y="2904070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CVE_ID</a:t>
            </a:r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3548AC6F-539A-585A-084D-8E8DA0C2B737}"/>
              </a:ext>
            </a:extLst>
          </p:cNvPr>
          <p:cNvSpPr txBox="1"/>
          <p:nvPr/>
        </p:nvSpPr>
        <p:spPr>
          <a:xfrm>
            <a:off x="5375035" y="3638435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5" name="TextBox 964">
            <a:extLst>
              <a:ext uri="{FF2B5EF4-FFF2-40B4-BE49-F238E27FC236}">
                <a16:creationId xmlns:a16="http://schemas.microsoft.com/office/drawing/2014/main" id="{C9118E68-3336-ECED-AE1B-2E9CAF7D6AB0}"/>
              </a:ext>
            </a:extLst>
          </p:cNvPr>
          <p:cNvSpPr txBox="1"/>
          <p:nvPr/>
        </p:nvSpPr>
        <p:spPr>
          <a:xfrm>
            <a:off x="8265907" y="4958917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A6210B89-6B01-F09D-9C7C-5E88ECDB9DA3}"/>
              </a:ext>
            </a:extLst>
          </p:cNvPr>
          <p:cNvSpPr txBox="1"/>
          <p:nvPr/>
        </p:nvSpPr>
        <p:spPr>
          <a:xfrm>
            <a:off x="7143372" y="3761779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dirty="0"/>
              <a:t>4. Indicator Features 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7" name="TextBox 966">
            <a:extLst>
              <a:ext uri="{FF2B5EF4-FFF2-40B4-BE49-F238E27FC236}">
                <a16:creationId xmlns:a16="http://schemas.microsoft.com/office/drawing/2014/main" id="{6917C941-5B3A-DB58-CD7D-E81772C44F6B}"/>
              </a:ext>
            </a:extLst>
          </p:cNvPr>
          <p:cNvSpPr txBox="1"/>
          <p:nvPr/>
        </p:nvSpPr>
        <p:spPr>
          <a:xfrm>
            <a:off x="5218291" y="3762554"/>
            <a:ext cx="872964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/>
              <a:t>3. Time Lag</a:t>
            </a:r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968755CC-E08A-3B51-5F77-3A6E47C33A26}"/>
              </a:ext>
            </a:extLst>
          </p:cNvPr>
          <p:cNvSpPr txBox="1"/>
          <p:nvPr/>
        </p:nvSpPr>
        <p:spPr>
          <a:xfrm>
            <a:off x="7464986" y="2450238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2. Dataset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69" name="Connector: Elbow 968">
            <a:extLst>
              <a:ext uri="{FF2B5EF4-FFF2-40B4-BE49-F238E27FC236}">
                <a16:creationId xmlns:a16="http://schemas.microsoft.com/office/drawing/2014/main" id="{288DE198-3A3A-39A3-7F79-7A3CBAD0247D}"/>
              </a:ext>
            </a:extLst>
          </p:cNvPr>
          <p:cNvCxnSpPr>
            <a:cxnSpLocks/>
            <a:endCxn id="995" idx="1"/>
          </p:cNvCxnSpPr>
          <p:nvPr/>
        </p:nvCxnSpPr>
        <p:spPr>
          <a:xfrm flipH="1">
            <a:off x="5209590" y="2279027"/>
            <a:ext cx="3498712" cy="1167195"/>
          </a:xfrm>
          <a:prstGeom prst="bentConnector5">
            <a:avLst>
              <a:gd name="adj1" fmla="val -9550"/>
              <a:gd name="adj2" fmla="val 50000"/>
              <a:gd name="adj3" fmla="val 112547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70" name="Rectangle 969">
            <a:extLst>
              <a:ext uri="{FF2B5EF4-FFF2-40B4-BE49-F238E27FC236}">
                <a16:creationId xmlns:a16="http://schemas.microsoft.com/office/drawing/2014/main" id="{3FE89F69-48A0-1DEC-4C26-8EF3F6DF0AB2}"/>
              </a:ext>
            </a:extLst>
          </p:cNvPr>
          <p:cNvSpPr/>
          <p:nvPr/>
        </p:nvSpPr>
        <p:spPr>
          <a:xfrm>
            <a:off x="7370620" y="1800587"/>
            <a:ext cx="1443262" cy="996921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971" name="Table">
            <a:extLst>
              <a:ext uri="{FF2B5EF4-FFF2-40B4-BE49-F238E27FC236}">
                <a16:creationId xmlns:a16="http://schemas.microsoft.com/office/drawing/2014/main" id="{D3A79A7B-2074-5CFC-13DB-40F4FCB0ED54}"/>
              </a:ext>
            </a:extLst>
          </p:cNvPr>
          <p:cNvGraphicFramePr/>
          <p:nvPr/>
        </p:nvGraphicFramePr>
        <p:xfrm>
          <a:off x="5798497" y="4490104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72" name="Table">
            <a:extLst>
              <a:ext uri="{FF2B5EF4-FFF2-40B4-BE49-F238E27FC236}">
                <a16:creationId xmlns:a16="http://schemas.microsoft.com/office/drawing/2014/main" id="{E441B3B5-7CEB-C183-E674-446251619810}"/>
              </a:ext>
            </a:extLst>
          </p:cNvPr>
          <p:cNvGraphicFramePr/>
          <p:nvPr/>
        </p:nvGraphicFramePr>
        <p:xfrm>
          <a:off x="5305505" y="4499036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3" name="Plus Sign 972">
            <a:extLst>
              <a:ext uri="{FF2B5EF4-FFF2-40B4-BE49-F238E27FC236}">
                <a16:creationId xmlns:a16="http://schemas.microsoft.com/office/drawing/2014/main" id="{DA829FD9-84C3-CC9F-093A-E23C051A66C8}"/>
              </a:ext>
            </a:extLst>
          </p:cNvPr>
          <p:cNvSpPr/>
          <p:nvPr/>
        </p:nvSpPr>
        <p:spPr>
          <a:xfrm>
            <a:off x="5599687" y="4490104"/>
            <a:ext cx="12099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74" name="TextBox 973">
            <a:extLst>
              <a:ext uri="{FF2B5EF4-FFF2-40B4-BE49-F238E27FC236}">
                <a16:creationId xmlns:a16="http://schemas.microsoft.com/office/drawing/2014/main" id="{8596C8E2-4A36-9927-CC45-BE9446325D04}"/>
              </a:ext>
            </a:extLst>
          </p:cNvPr>
          <p:cNvSpPr txBox="1"/>
          <p:nvPr/>
        </p:nvSpPr>
        <p:spPr>
          <a:xfrm>
            <a:off x="5103638" y="5067603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5. Null Features</a:t>
            </a:r>
          </a:p>
        </p:txBody>
      </p:sp>
      <p:cxnSp>
        <p:nvCxnSpPr>
          <p:cNvPr id="975" name="Straight Arrow Connector 974">
            <a:extLst>
              <a:ext uri="{FF2B5EF4-FFF2-40B4-BE49-F238E27FC236}">
                <a16:creationId xmlns:a16="http://schemas.microsoft.com/office/drawing/2014/main" id="{B26A32A3-2A8A-0B65-7E15-DBCC0B9692AB}"/>
              </a:ext>
            </a:extLst>
          </p:cNvPr>
          <p:cNvCxnSpPr>
            <a:cxnSpLocks/>
          </p:cNvCxnSpPr>
          <p:nvPr/>
        </p:nvCxnSpPr>
        <p:spPr>
          <a:xfrm>
            <a:off x="5512825" y="4664976"/>
            <a:ext cx="285672" cy="357737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6" name="Straight Arrow Connector 975">
            <a:extLst>
              <a:ext uri="{FF2B5EF4-FFF2-40B4-BE49-F238E27FC236}">
                <a16:creationId xmlns:a16="http://schemas.microsoft.com/office/drawing/2014/main" id="{FA105ACA-7D44-05FE-9437-C17EB86C67EE}"/>
              </a:ext>
            </a:extLst>
          </p:cNvPr>
          <p:cNvCxnSpPr>
            <a:cxnSpLocks/>
          </p:cNvCxnSpPr>
          <p:nvPr/>
        </p:nvCxnSpPr>
        <p:spPr>
          <a:xfrm>
            <a:off x="5512825" y="4798565"/>
            <a:ext cx="285672" cy="11364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7" name="Straight Arrow Connector 976">
            <a:extLst>
              <a:ext uri="{FF2B5EF4-FFF2-40B4-BE49-F238E27FC236}">
                <a16:creationId xmlns:a16="http://schemas.microsoft.com/office/drawing/2014/main" id="{79CCC29B-834E-C988-D218-CA698FF91066}"/>
              </a:ext>
            </a:extLst>
          </p:cNvPr>
          <p:cNvCxnSpPr>
            <a:cxnSpLocks/>
            <a:endCxn id="971" idx="1"/>
          </p:cNvCxnSpPr>
          <p:nvPr/>
        </p:nvCxnSpPr>
        <p:spPr>
          <a:xfrm flipV="1">
            <a:off x="5506921" y="4786981"/>
            <a:ext cx="291576" cy="12208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8" name="Straight Arrow Connector 977">
            <a:extLst>
              <a:ext uri="{FF2B5EF4-FFF2-40B4-BE49-F238E27FC236}">
                <a16:creationId xmlns:a16="http://schemas.microsoft.com/office/drawing/2014/main" id="{E15B1129-2CEB-B5CD-A0F8-EFD26076EB6E}"/>
              </a:ext>
            </a:extLst>
          </p:cNvPr>
          <p:cNvCxnSpPr>
            <a:cxnSpLocks/>
          </p:cNvCxnSpPr>
          <p:nvPr/>
        </p:nvCxnSpPr>
        <p:spPr>
          <a:xfrm flipV="1">
            <a:off x="5509148" y="4664976"/>
            <a:ext cx="289349" cy="36609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9" name="Connector: Elbow 978">
            <a:extLst>
              <a:ext uri="{FF2B5EF4-FFF2-40B4-BE49-F238E27FC236}">
                <a16:creationId xmlns:a16="http://schemas.microsoft.com/office/drawing/2014/main" id="{C601BBF7-BD65-7AFA-408E-14E9BA4CF706}"/>
              </a:ext>
            </a:extLst>
          </p:cNvPr>
          <p:cNvCxnSpPr>
            <a:cxnSpLocks/>
            <a:stCxn id="992" idx="3"/>
            <a:endCxn id="993" idx="1"/>
          </p:cNvCxnSpPr>
          <p:nvPr/>
        </p:nvCxnSpPr>
        <p:spPr>
          <a:xfrm flipH="1">
            <a:off x="5202130" y="3497252"/>
            <a:ext cx="3609346" cy="1247213"/>
          </a:xfrm>
          <a:prstGeom prst="bentConnector5">
            <a:avLst>
              <a:gd name="adj1" fmla="val -6334"/>
              <a:gd name="adj2" fmla="val 54130"/>
              <a:gd name="adj3" fmla="val 111841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0" name="TextBox 979">
            <a:extLst>
              <a:ext uri="{FF2B5EF4-FFF2-40B4-BE49-F238E27FC236}">
                <a16:creationId xmlns:a16="http://schemas.microsoft.com/office/drawing/2014/main" id="{353961B4-BBB6-25F3-9991-CC88163723E1}"/>
              </a:ext>
            </a:extLst>
          </p:cNvPr>
          <p:cNvSpPr txBox="1"/>
          <p:nvPr/>
        </p:nvSpPr>
        <p:spPr>
          <a:xfrm>
            <a:off x="5700184" y="4315800"/>
            <a:ext cx="481869" cy="2000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NV-ID</a:t>
            </a:r>
          </a:p>
        </p:txBody>
      </p:sp>
      <p:pic>
        <p:nvPicPr>
          <p:cNvPr id="981" name="Picture 980" descr="A picture containing text&#10;&#10;Description automatically generated">
            <a:extLst>
              <a:ext uri="{FF2B5EF4-FFF2-40B4-BE49-F238E27FC236}">
                <a16:creationId xmlns:a16="http://schemas.microsoft.com/office/drawing/2014/main" id="{22592970-004B-C676-0474-15EF7400C6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501" y="1793256"/>
            <a:ext cx="575884" cy="668768"/>
          </a:xfrm>
          <a:prstGeom prst="rect">
            <a:avLst/>
          </a:prstGeom>
        </p:spPr>
      </p:pic>
      <p:sp>
        <p:nvSpPr>
          <p:cNvPr id="982" name="TextBox 981">
            <a:extLst>
              <a:ext uri="{FF2B5EF4-FFF2-40B4-BE49-F238E27FC236}">
                <a16:creationId xmlns:a16="http://schemas.microsoft.com/office/drawing/2014/main" id="{272A6FE4-A5A6-6396-6CA6-D56FB2D40F09}"/>
              </a:ext>
            </a:extLst>
          </p:cNvPr>
          <p:cNvSpPr txBox="1"/>
          <p:nvPr/>
        </p:nvSpPr>
        <p:spPr>
          <a:xfrm>
            <a:off x="5004947" y="2423307"/>
            <a:ext cx="131138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1. </a:t>
            </a:r>
            <a:r>
              <a:rPr lang="en-US" dirty="0" err="1"/>
              <a:t>sailuh</a:t>
            </a:r>
            <a:r>
              <a:rPr lang="en-US" dirty="0"/>
              <a:t>/</a:t>
            </a:r>
            <a:r>
              <a:rPr lang="en-US" dirty="0" err="1"/>
              <a:t>kaiaulu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83" name="TextBox 982">
            <a:extLst>
              <a:ext uri="{FF2B5EF4-FFF2-40B4-BE49-F238E27FC236}">
                <a16:creationId xmlns:a16="http://schemas.microsoft.com/office/drawing/2014/main" id="{10C8A73E-024E-EDF3-7418-B7C5F4EFA845}"/>
              </a:ext>
            </a:extLst>
          </p:cNvPr>
          <p:cNvSpPr txBox="1"/>
          <p:nvPr/>
        </p:nvSpPr>
        <p:spPr>
          <a:xfrm>
            <a:off x="7046974" y="7065060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7.2 Domain Knowledge</a:t>
            </a:r>
          </a:p>
        </p:txBody>
      </p:sp>
      <p:cxnSp>
        <p:nvCxnSpPr>
          <p:cNvPr id="984" name="Connector: Elbow 983">
            <a:extLst>
              <a:ext uri="{FF2B5EF4-FFF2-40B4-BE49-F238E27FC236}">
                <a16:creationId xmlns:a16="http://schemas.microsoft.com/office/drawing/2014/main" id="{DD57F5FE-4E1F-7B22-AF12-80C512370378}"/>
              </a:ext>
            </a:extLst>
          </p:cNvPr>
          <p:cNvCxnSpPr>
            <a:cxnSpLocks/>
            <a:endCxn id="1102" idx="3"/>
          </p:cNvCxnSpPr>
          <p:nvPr/>
        </p:nvCxnSpPr>
        <p:spPr>
          <a:xfrm flipH="1">
            <a:off x="8451473" y="5231923"/>
            <a:ext cx="266193" cy="568100"/>
          </a:xfrm>
          <a:prstGeom prst="bentConnector3">
            <a:avLst>
              <a:gd name="adj1" fmla="val -12022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5" name="Connector: Elbow 984">
            <a:extLst>
              <a:ext uri="{FF2B5EF4-FFF2-40B4-BE49-F238E27FC236}">
                <a16:creationId xmlns:a16="http://schemas.microsoft.com/office/drawing/2014/main" id="{28BDDB4F-DA42-F332-72FC-3CD4514F1AE4}"/>
              </a:ext>
            </a:extLst>
          </p:cNvPr>
          <p:cNvCxnSpPr>
            <a:cxnSpLocks/>
          </p:cNvCxnSpPr>
          <p:nvPr/>
        </p:nvCxnSpPr>
        <p:spPr>
          <a:xfrm rot="10800000">
            <a:off x="6191032" y="6088412"/>
            <a:ext cx="1339738" cy="753131"/>
          </a:xfrm>
          <a:prstGeom prst="bentConnector3">
            <a:avLst>
              <a:gd name="adj1" fmla="val 6433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6" name="Connector: Elbow 985">
            <a:extLst>
              <a:ext uri="{FF2B5EF4-FFF2-40B4-BE49-F238E27FC236}">
                <a16:creationId xmlns:a16="http://schemas.microsoft.com/office/drawing/2014/main" id="{4C4E3563-86F6-328D-9B77-85EBC7DF5E4F}"/>
              </a:ext>
            </a:extLst>
          </p:cNvPr>
          <p:cNvCxnSpPr>
            <a:cxnSpLocks/>
            <a:stCxn id="1103" idx="1"/>
          </p:cNvCxnSpPr>
          <p:nvPr/>
        </p:nvCxnSpPr>
        <p:spPr>
          <a:xfrm rot="10800000" flipV="1">
            <a:off x="6191031" y="5778057"/>
            <a:ext cx="1218821" cy="310351"/>
          </a:xfrm>
          <a:prstGeom prst="bentConnector3">
            <a:avLst>
              <a:gd name="adj1" fmla="val 61094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7" name="Connector: Elbow 986">
            <a:extLst>
              <a:ext uri="{FF2B5EF4-FFF2-40B4-BE49-F238E27FC236}">
                <a16:creationId xmlns:a16="http://schemas.microsoft.com/office/drawing/2014/main" id="{735392C3-AFF0-E752-A3CF-DE203333EB24}"/>
              </a:ext>
            </a:extLst>
          </p:cNvPr>
          <p:cNvCxnSpPr>
            <a:cxnSpLocks/>
            <a:stCxn id="997" idx="1"/>
          </p:cNvCxnSpPr>
          <p:nvPr/>
        </p:nvCxnSpPr>
        <p:spPr>
          <a:xfrm rot="10800000" flipV="1">
            <a:off x="6191031" y="3958395"/>
            <a:ext cx="868497" cy="2130014"/>
          </a:xfrm>
          <a:prstGeom prst="bentConnector3">
            <a:avLst>
              <a:gd name="adj1" fmla="val 44736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8" name="Connector: Elbow 987">
            <a:extLst>
              <a:ext uri="{FF2B5EF4-FFF2-40B4-BE49-F238E27FC236}">
                <a16:creationId xmlns:a16="http://schemas.microsoft.com/office/drawing/2014/main" id="{4077762F-A573-8020-CBCA-FBABD12F6EE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146994" y="6098332"/>
            <a:ext cx="1516881" cy="1905124"/>
          </a:xfrm>
          <a:prstGeom prst="bentConnector4">
            <a:avLst>
              <a:gd name="adj1" fmla="val -25117"/>
              <a:gd name="adj2" fmla="val 73163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9" name="Straight Arrow Connector 988">
            <a:extLst>
              <a:ext uri="{FF2B5EF4-FFF2-40B4-BE49-F238E27FC236}">
                <a16:creationId xmlns:a16="http://schemas.microsoft.com/office/drawing/2014/main" id="{E79E46BB-2AFC-CBAF-4726-31DC92BD8866}"/>
              </a:ext>
            </a:extLst>
          </p:cNvPr>
          <p:cNvCxnSpPr>
            <a:cxnSpLocks/>
          </p:cNvCxnSpPr>
          <p:nvPr/>
        </p:nvCxnSpPr>
        <p:spPr>
          <a:xfrm>
            <a:off x="6463103" y="4734321"/>
            <a:ext cx="540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0" name="Straight Arrow Connector 989">
            <a:extLst>
              <a:ext uri="{FF2B5EF4-FFF2-40B4-BE49-F238E27FC236}">
                <a16:creationId xmlns:a16="http://schemas.microsoft.com/office/drawing/2014/main" id="{19A7AF36-8827-AA29-88F6-2EBE8155879E}"/>
              </a:ext>
            </a:extLst>
          </p:cNvPr>
          <p:cNvCxnSpPr>
            <a:cxnSpLocks/>
          </p:cNvCxnSpPr>
          <p:nvPr/>
        </p:nvCxnSpPr>
        <p:spPr>
          <a:xfrm>
            <a:off x="6578363" y="2180213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1" name="TextBox 990">
            <a:extLst>
              <a:ext uri="{FF2B5EF4-FFF2-40B4-BE49-F238E27FC236}">
                <a16:creationId xmlns:a16="http://schemas.microsoft.com/office/drawing/2014/main" id="{90A66A3D-6D9B-F352-128D-F47C7D7E95D4}"/>
              </a:ext>
            </a:extLst>
          </p:cNvPr>
          <p:cNvSpPr txBox="1"/>
          <p:nvPr/>
        </p:nvSpPr>
        <p:spPr>
          <a:xfrm>
            <a:off x="8573910" y="1854240"/>
            <a:ext cx="130496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2" name="TextBox 991">
            <a:extLst>
              <a:ext uri="{FF2B5EF4-FFF2-40B4-BE49-F238E27FC236}">
                <a16:creationId xmlns:a16="http://schemas.microsoft.com/office/drawing/2014/main" id="{9DED81FB-35DD-B999-5907-30B1F279DCF4}"/>
              </a:ext>
            </a:extLst>
          </p:cNvPr>
          <p:cNvSpPr txBox="1"/>
          <p:nvPr/>
        </p:nvSpPr>
        <p:spPr>
          <a:xfrm>
            <a:off x="8701206" y="333699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3" name="TextBox 992">
            <a:extLst>
              <a:ext uri="{FF2B5EF4-FFF2-40B4-BE49-F238E27FC236}">
                <a16:creationId xmlns:a16="http://schemas.microsoft.com/office/drawing/2014/main" id="{1318CD71-BB17-79FA-A08C-F7038CE10F45}"/>
              </a:ext>
            </a:extLst>
          </p:cNvPr>
          <p:cNvSpPr txBox="1"/>
          <p:nvPr/>
        </p:nvSpPr>
        <p:spPr>
          <a:xfrm>
            <a:off x="5202130" y="458420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E2FCCC8D-29FC-D8A3-5815-D58C89211733}"/>
              </a:ext>
            </a:extLst>
          </p:cNvPr>
          <p:cNvCxnSpPr>
            <a:cxnSpLocks/>
          </p:cNvCxnSpPr>
          <p:nvPr/>
        </p:nvCxnSpPr>
        <p:spPr>
          <a:xfrm>
            <a:off x="6304400" y="3467696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5" name="TextBox 994">
            <a:extLst>
              <a:ext uri="{FF2B5EF4-FFF2-40B4-BE49-F238E27FC236}">
                <a16:creationId xmlns:a16="http://schemas.microsoft.com/office/drawing/2014/main" id="{BAB38F57-5F9D-9595-036E-F4B049820DD1}"/>
              </a:ext>
            </a:extLst>
          </p:cNvPr>
          <p:cNvSpPr txBox="1"/>
          <p:nvPr/>
        </p:nvSpPr>
        <p:spPr>
          <a:xfrm>
            <a:off x="5209590" y="328596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6" name="TextBox 995">
            <a:extLst>
              <a:ext uri="{FF2B5EF4-FFF2-40B4-BE49-F238E27FC236}">
                <a16:creationId xmlns:a16="http://schemas.microsoft.com/office/drawing/2014/main" id="{C60630DF-39A6-F43C-F0A3-36969A9D1878}"/>
              </a:ext>
            </a:extLst>
          </p:cNvPr>
          <p:cNvSpPr txBox="1"/>
          <p:nvPr/>
        </p:nvSpPr>
        <p:spPr>
          <a:xfrm rot="5400000">
            <a:off x="7893098" y="3828354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7" name="TextBox 996">
            <a:extLst>
              <a:ext uri="{FF2B5EF4-FFF2-40B4-BE49-F238E27FC236}">
                <a16:creationId xmlns:a16="http://schemas.microsoft.com/office/drawing/2014/main" id="{1AC43EAF-1717-06E7-D360-7099025E7AF9}"/>
              </a:ext>
            </a:extLst>
          </p:cNvPr>
          <p:cNvSpPr txBox="1"/>
          <p:nvPr/>
        </p:nvSpPr>
        <p:spPr>
          <a:xfrm>
            <a:off x="7059527" y="379813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8" name="TextBox 997">
            <a:extLst>
              <a:ext uri="{FF2B5EF4-FFF2-40B4-BE49-F238E27FC236}">
                <a16:creationId xmlns:a16="http://schemas.microsoft.com/office/drawing/2014/main" id="{26F2D9CC-AD82-332E-8B12-C4FC6EF60BFA}"/>
              </a:ext>
            </a:extLst>
          </p:cNvPr>
          <p:cNvSpPr txBox="1"/>
          <p:nvPr/>
        </p:nvSpPr>
        <p:spPr>
          <a:xfrm rot="5400000">
            <a:off x="6616888" y="7825672"/>
            <a:ext cx="97008" cy="231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99" name="Graphic 998" descr="Cmd Terminal with solid fill">
            <a:extLst>
              <a:ext uri="{FF2B5EF4-FFF2-40B4-BE49-F238E27FC236}">
                <a16:creationId xmlns:a16="http://schemas.microsoft.com/office/drawing/2014/main" id="{F7B649FF-C7D0-6542-EF7D-477BF1FAFA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761" y="8507313"/>
            <a:ext cx="451448" cy="455550"/>
          </a:xfrm>
          <a:prstGeom prst="rect">
            <a:avLst/>
          </a:prstGeom>
        </p:spPr>
      </p:pic>
      <p:pic>
        <p:nvPicPr>
          <p:cNvPr id="1000" name="Graphic 999" descr="Paper outline">
            <a:extLst>
              <a:ext uri="{FF2B5EF4-FFF2-40B4-BE49-F238E27FC236}">
                <a16:creationId xmlns:a16="http://schemas.microsoft.com/office/drawing/2014/main" id="{3C124EA2-4396-0EA0-5DB3-A49FE2C2A9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7882" y="7907026"/>
            <a:ext cx="261597" cy="261597"/>
          </a:xfrm>
          <a:prstGeom prst="rect">
            <a:avLst/>
          </a:prstGeom>
        </p:spPr>
      </p:pic>
      <p:sp>
        <p:nvSpPr>
          <p:cNvPr id="1001" name="TextBox 1000">
            <a:extLst>
              <a:ext uri="{FF2B5EF4-FFF2-40B4-BE49-F238E27FC236}">
                <a16:creationId xmlns:a16="http://schemas.microsoft.com/office/drawing/2014/main" id="{8B1E15A9-1CAE-C8FC-4D0C-C21AF97964F8}"/>
              </a:ext>
            </a:extLst>
          </p:cNvPr>
          <p:cNvSpPr txBox="1"/>
          <p:nvPr/>
        </p:nvSpPr>
        <p:spPr>
          <a:xfrm>
            <a:off x="1933340" y="7711753"/>
            <a:ext cx="687081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API</a:t>
            </a:r>
          </a:p>
        </p:txBody>
      </p:sp>
      <p:pic>
        <p:nvPicPr>
          <p:cNvPr id="1002" name="Graphic 1001" descr="Paper outline">
            <a:extLst>
              <a:ext uri="{FF2B5EF4-FFF2-40B4-BE49-F238E27FC236}">
                <a16:creationId xmlns:a16="http://schemas.microsoft.com/office/drawing/2014/main" id="{D7C9D75E-B0F8-B56A-A2F9-784D40E028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2978" y="8472819"/>
            <a:ext cx="527267" cy="527267"/>
          </a:xfrm>
          <a:prstGeom prst="rect">
            <a:avLst/>
          </a:prstGeom>
        </p:spPr>
      </p:pic>
      <p:sp>
        <p:nvSpPr>
          <p:cNvPr id="1003" name="TextBox 1002">
            <a:extLst>
              <a:ext uri="{FF2B5EF4-FFF2-40B4-BE49-F238E27FC236}">
                <a16:creationId xmlns:a16="http://schemas.microsoft.com/office/drawing/2014/main" id="{B90FC8C9-0E35-1D86-A6B9-68FD5EE84A68}"/>
              </a:ext>
            </a:extLst>
          </p:cNvPr>
          <p:cNvSpPr txBox="1"/>
          <p:nvPr/>
        </p:nvSpPr>
        <p:spPr>
          <a:xfrm>
            <a:off x="1509263" y="8904797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exec/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4733E5B2-5973-22D6-DA76-2A5F049AB73D}"/>
              </a:ext>
            </a:extLst>
          </p:cNvPr>
          <p:cNvSpPr/>
          <p:nvPr/>
        </p:nvSpPr>
        <p:spPr>
          <a:xfrm>
            <a:off x="185141" y="7885351"/>
            <a:ext cx="710936" cy="20869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&lt;</a:t>
            </a: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File_paths</a:t>
            </a: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&gt;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09" name="Straight Arrow Connector 1008">
            <a:extLst>
              <a:ext uri="{FF2B5EF4-FFF2-40B4-BE49-F238E27FC236}">
                <a16:creationId xmlns:a16="http://schemas.microsoft.com/office/drawing/2014/main" id="{5AB68001-F93B-81C5-FF4E-0467350AF730}"/>
              </a:ext>
            </a:extLst>
          </p:cNvPr>
          <p:cNvCxnSpPr>
            <a:cxnSpLocks/>
          </p:cNvCxnSpPr>
          <p:nvPr/>
        </p:nvCxnSpPr>
        <p:spPr>
          <a:xfrm>
            <a:off x="1292611" y="8729259"/>
            <a:ext cx="164486" cy="719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10" name="Straight Arrow Connector 1009">
            <a:extLst>
              <a:ext uri="{FF2B5EF4-FFF2-40B4-BE49-F238E27FC236}">
                <a16:creationId xmlns:a16="http://schemas.microsoft.com/office/drawing/2014/main" id="{619A50C2-D304-773F-154D-8B0CF8CD8DA4}"/>
              </a:ext>
            </a:extLst>
          </p:cNvPr>
          <p:cNvCxnSpPr>
            <a:cxnSpLocks/>
          </p:cNvCxnSpPr>
          <p:nvPr/>
        </p:nvCxnSpPr>
        <p:spPr>
          <a:xfrm>
            <a:off x="540609" y="8202553"/>
            <a:ext cx="251152" cy="274997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AACC4AF0-FCE5-3013-DB2C-35783E07375A}"/>
              </a:ext>
            </a:extLst>
          </p:cNvPr>
          <p:cNvSpPr txBox="1"/>
          <p:nvPr/>
        </p:nvSpPr>
        <p:spPr>
          <a:xfrm>
            <a:off x="182880" y="932688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Exec scripts provides command line access to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Pykumu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API package, allowing its causal analysis capabilities to be accessed via the terminal or server side without writing Python code. 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1019" name="TextBox 1018">
            <a:extLst>
              <a:ext uri="{FF2B5EF4-FFF2-40B4-BE49-F238E27FC236}">
                <a16:creationId xmlns:a16="http://schemas.microsoft.com/office/drawing/2014/main" id="{1FC300DB-31DE-47C4-DDA9-C6404C63441F}"/>
              </a:ext>
            </a:extLst>
          </p:cNvPr>
          <p:cNvSpPr txBox="1"/>
          <p:nvPr/>
        </p:nvSpPr>
        <p:spPr>
          <a:xfrm>
            <a:off x="232303" y="393741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>
                <a:solidFill>
                  <a:schemeClr val="bg2">
                    <a:lumMod val="10000"/>
                  </a:schemeClr>
                </a:solidFill>
              </a:rPr>
              <a:t>Tetrad Java API</a:t>
            </a:r>
          </a:p>
        </p:txBody>
      </p:sp>
      <p:pic>
        <p:nvPicPr>
          <p:cNvPr id="1020" name="Graphic 1019" descr="Paper outline">
            <a:extLst>
              <a:ext uri="{FF2B5EF4-FFF2-40B4-BE49-F238E27FC236}">
                <a16:creationId xmlns:a16="http://schemas.microsoft.com/office/drawing/2014/main" id="{4FE64F0D-DC68-C7F2-F436-F6C7B085FF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0954" y="4265041"/>
            <a:ext cx="527267" cy="527267"/>
          </a:xfrm>
          <a:prstGeom prst="rect">
            <a:avLst/>
          </a:prstGeom>
        </p:spPr>
      </p:pic>
      <p:cxnSp>
        <p:nvCxnSpPr>
          <p:cNvPr id="1023" name="Straight Arrow Connector 1022">
            <a:extLst>
              <a:ext uri="{FF2B5EF4-FFF2-40B4-BE49-F238E27FC236}">
                <a16:creationId xmlns:a16="http://schemas.microsoft.com/office/drawing/2014/main" id="{259D51C8-13E9-308B-F7D3-A52F9C7886CE}"/>
              </a:ext>
            </a:extLst>
          </p:cNvPr>
          <p:cNvCxnSpPr>
            <a:cxnSpLocks/>
          </p:cNvCxnSpPr>
          <p:nvPr/>
        </p:nvCxnSpPr>
        <p:spPr>
          <a:xfrm>
            <a:off x="1028993" y="3837479"/>
            <a:ext cx="9092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16D791E3-5856-2515-6C65-51EA40692656}"/>
              </a:ext>
            </a:extLst>
          </p:cNvPr>
          <p:cNvCxnSpPr>
            <a:cxnSpLocks/>
          </p:cNvCxnSpPr>
          <p:nvPr/>
        </p:nvCxnSpPr>
        <p:spPr>
          <a:xfrm>
            <a:off x="1023055" y="3972100"/>
            <a:ext cx="340872" cy="391832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A66237A2-BC28-6DC9-913C-7A9DFF576616}"/>
              </a:ext>
            </a:extLst>
          </p:cNvPr>
          <p:cNvSpPr txBox="1"/>
          <p:nvPr/>
        </p:nvSpPr>
        <p:spPr>
          <a:xfrm>
            <a:off x="815127" y="4126651"/>
            <a:ext cx="536637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AD1A6E5C-29D1-AF2F-DE09-16987C1137DC}"/>
              </a:ext>
            </a:extLst>
          </p:cNvPr>
          <p:cNvSpPr txBox="1"/>
          <p:nvPr/>
        </p:nvSpPr>
        <p:spPr>
          <a:xfrm>
            <a:off x="1510648" y="4422940"/>
            <a:ext cx="371960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" b="0" dirty="0" err="1">
                <a:solidFill>
                  <a:schemeClr val="tx1">
                    <a:lumMod val="50000"/>
                  </a:schemeClr>
                </a:solidFill>
              </a:rPr>
              <a:t>TetradSearch</a:t>
            </a:r>
            <a:r>
              <a:rPr lang="en-US" sz="300" b="0" dirty="0">
                <a:solidFill>
                  <a:schemeClr val="tx1">
                    <a:lumMod val="50000"/>
                  </a:schemeClr>
                </a:solidFill>
              </a:rPr>
              <a:t> Class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F2784D4F-C0B5-3442-2EB0-E608EDD49F54}"/>
              </a:ext>
            </a:extLst>
          </p:cNvPr>
          <p:cNvSpPr txBox="1"/>
          <p:nvPr/>
        </p:nvSpPr>
        <p:spPr>
          <a:xfrm>
            <a:off x="2385334" y="3867687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 API</a:t>
            </a:r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B37E3DAC-1679-2C52-B511-CA49A2B5AC3A}"/>
              </a:ext>
            </a:extLst>
          </p:cNvPr>
          <p:cNvCxnSpPr>
            <a:cxnSpLocks/>
          </p:cNvCxnSpPr>
          <p:nvPr/>
        </p:nvCxnSpPr>
        <p:spPr>
          <a:xfrm flipV="1">
            <a:off x="1979305" y="4126651"/>
            <a:ext cx="450843" cy="239726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41" name="Folded Corner 3">
            <a:extLst>
              <a:ext uri="{FF2B5EF4-FFF2-40B4-BE49-F238E27FC236}">
                <a16:creationId xmlns:a16="http://schemas.microsoft.com/office/drawing/2014/main" id="{14DFCAB2-D8C6-A2F2-7E98-FA5CB618EC24}"/>
              </a:ext>
            </a:extLst>
          </p:cNvPr>
          <p:cNvSpPr/>
          <p:nvPr/>
        </p:nvSpPr>
        <p:spPr>
          <a:xfrm rot="10800000" flipH="1">
            <a:off x="2129004" y="337722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2" name="Folded Corner 4">
            <a:extLst>
              <a:ext uri="{FF2B5EF4-FFF2-40B4-BE49-F238E27FC236}">
                <a16:creationId xmlns:a16="http://schemas.microsoft.com/office/drawing/2014/main" id="{91712BB6-BC03-0DAD-BF84-860C1196990E}"/>
              </a:ext>
            </a:extLst>
          </p:cNvPr>
          <p:cNvSpPr/>
          <p:nvPr/>
        </p:nvSpPr>
        <p:spPr>
          <a:xfrm rot="10800000" flipH="1">
            <a:off x="2095922" y="3405690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3" name="Folded Corner 5">
            <a:extLst>
              <a:ext uri="{FF2B5EF4-FFF2-40B4-BE49-F238E27FC236}">
                <a16:creationId xmlns:a16="http://schemas.microsoft.com/office/drawing/2014/main" id="{AB24BFC0-EBA5-D5C8-1455-BE899A952EF3}"/>
              </a:ext>
            </a:extLst>
          </p:cNvPr>
          <p:cNvSpPr/>
          <p:nvPr/>
        </p:nvSpPr>
        <p:spPr>
          <a:xfrm rot="10800000" flipH="1">
            <a:off x="2055485" y="343946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D91A9D25-ACF9-8A80-524D-CA6C1A74AFA2}"/>
              </a:ext>
            </a:extLst>
          </p:cNvPr>
          <p:cNvSpPr txBox="1"/>
          <p:nvPr/>
        </p:nvSpPr>
        <p:spPr>
          <a:xfrm>
            <a:off x="2026720" y="358624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tetrad.py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66FBC9C8-82BE-8594-A883-AC788E5148A2}"/>
              </a:ext>
            </a:extLst>
          </p:cNvPr>
          <p:cNvSpPr txBox="1"/>
          <p:nvPr/>
        </p:nvSpPr>
        <p:spPr>
          <a:xfrm>
            <a:off x="1285591" y="470218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TetradSearch.py</a:t>
            </a:r>
          </a:p>
        </p:txBody>
      </p: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6CE2A04F-58B5-B9F2-FA4E-2F6B0951A58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6384" y="118872"/>
            <a:ext cx="1444661" cy="1673352"/>
          </a:xfrm>
          <a:prstGeom prst="rect">
            <a:avLst/>
          </a:prstGeom>
        </p:spPr>
      </p:pic>
      <p:sp>
        <p:nvSpPr>
          <p:cNvPr id="1065" name="TextBox 1064">
            <a:extLst>
              <a:ext uri="{FF2B5EF4-FFF2-40B4-BE49-F238E27FC236}">
                <a16:creationId xmlns:a16="http://schemas.microsoft.com/office/drawing/2014/main" id="{3B05176D-DB17-32DA-73AB-9F10CADB7D07}"/>
              </a:ext>
            </a:extLst>
          </p:cNvPr>
          <p:cNvSpPr txBox="1"/>
          <p:nvPr/>
        </p:nvSpPr>
        <p:spPr>
          <a:xfrm>
            <a:off x="7318302" y="5055976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6. Causal Search</a:t>
            </a:r>
          </a:p>
        </p:txBody>
      </p:sp>
      <p:graphicFrame>
        <p:nvGraphicFramePr>
          <p:cNvPr id="1066" name="Table">
            <a:extLst>
              <a:ext uri="{FF2B5EF4-FFF2-40B4-BE49-F238E27FC236}">
                <a16:creationId xmlns:a16="http://schemas.microsoft.com/office/drawing/2014/main" id="{B0F5DDDB-4494-C02F-EB82-D84253149164}"/>
              </a:ext>
            </a:extLst>
          </p:cNvPr>
          <p:cNvGraphicFramePr/>
          <p:nvPr/>
        </p:nvGraphicFramePr>
        <p:xfrm>
          <a:off x="8297833" y="443547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67" name="Table">
            <a:extLst>
              <a:ext uri="{FF2B5EF4-FFF2-40B4-BE49-F238E27FC236}">
                <a16:creationId xmlns:a16="http://schemas.microsoft.com/office/drawing/2014/main" id="{FDB1985F-B062-C3A9-C584-2EEC96BCFDC6}"/>
              </a:ext>
            </a:extLst>
          </p:cNvPr>
          <p:cNvGraphicFramePr/>
          <p:nvPr/>
        </p:nvGraphicFramePr>
        <p:xfrm>
          <a:off x="7722129" y="443293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68" name="Arrow: Right 1067">
            <a:extLst>
              <a:ext uri="{FF2B5EF4-FFF2-40B4-BE49-F238E27FC236}">
                <a16:creationId xmlns:a16="http://schemas.microsoft.com/office/drawing/2014/main" id="{7EF8D876-D42B-A912-6D6E-FF4303E3858A}"/>
              </a:ext>
            </a:extLst>
          </p:cNvPr>
          <p:cNvSpPr/>
          <p:nvPr/>
        </p:nvSpPr>
        <p:spPr>
          <a:xfrm>
            <a:off x="8027045" y="4694321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069" name="Table">
            <a:extLst>
              <a:ext uri="{FF2B5EF4-FFF2-40B4-BE49-F238E27FC236}">
                <a16:creationId xmlns:a16="http://schemas.microsoft.com/office/drawing/2014/main" id="{6EEE70CC-7C4F-C615-8172-B0834796BEB9}"/>
              </a:ext>
            </a:extLst>
          </p:cNvPr>
          <p:cNvGraphicFramePr/>
          <p:nvPr/>
        </p:nvGraphicFramePr>
        <p:xfrm>
          <a:off x="7343385" y="4435227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0" name="Plus Sign 1069">
            <a:extLst>
              <a:ext uri="{FF2B5EF4-FFF2-40B4-BE49-F238E27FC236}">
                <a16:creationId xmlns:a16="http://schemas.microsoft.com/office/drawing/2014/main" id="{34A283A7-C01F-6C0E-8860-FE112AFF6225}"/>
              </a:ext>
            </a:extLst>
          </p:cNvPr>
          <p:cNvSpPr/>
          <p:nvPr/>
        </p:nvSpPr>
        <p:spPr>
          <a:xfrm>
            <a:off x="7572970" y="4672577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577F7D49-063C-DA4E-36AA-95961178AA51}"/>
              </a:ext>
            </a:extLst>
          </p:cNvPr>
          <p:cNvSpPr txBox="1"/>
          <p:nvPr/>
        </p:nvSpPr>
        <p:spPr>
          <a:xfrm>
            <a:off x="7370545" y="4957546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43A8DA8C-BF56-2E1D-DDEE-E99FC82FD3EB}"/>
              </a:ext>
            </a:extLst>
          </p:cNvPr>
          <p:cNvSpPr txBox="1"/>
          <p:nvPr/>
        </p:nvSpPr>
        <p:spPr>
          <a:xfrm>
            <a:off x="7632893" y="4956657"/>
            <a:ext cx="424651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Ind. </a:t>
            </a: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Ftr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2349AE1B-9F7B-5A6A-79AB-1507EE1134C4}"/>
              </a:ext>
            </a:extLst>
          </p:cNvPr>
          <p:cNvSpPr txBox="1"/>
          <p:nvPr/>
        </p:nvSpPr>
        <p:spPr>
          <a:xfrm>
            <a:off x="7948233" y="4515228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A6593F2B-C0A8-3B8A-2016-B4EEDD466E61}"/>
              </a:ext>
            </a:extLst>
          </p:cNvPr>
          <p:cNvSpPr txBox="1"/>
          <p:nvPr/>
        </p:nvSpPr>
        <p:spPr>
          <a:xfrm>
            <a:off x="7194148" y="5974847"/>
            <a:ext cx="1619559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7.1 1-PNEF Threshold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F55AD138-7D96-948C-7136-0F7FBF72D63C}"/>
              </a:ext>
            </a:extLst>
          </p:cNvPr>
          <p:cNvSpPr txBox="1"/>
          <p:nvPr/>
        </p:nvSpPr>
        <p:spPr>
          <a:xfrm>
            <a:off x="5731442" y="3637622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6732C216-5E95-1DF6-7E00-A529FC0C705C}"/>
              </a:ext>
            </a:extLst>
          </p:cNvPr>
          <p:cNvSpPr txBox="1"/>
          <p:nvPr/>
        </p:nvSpPr>
        <p:spPr>
          <a:xfrm>
            <a:off x="4766552" y="6486513"/>
            <a:ext cx="1831781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8. Domain Knowledge Causal Search</a:t>
            </a:r>
          </a:p>
        </p:txBody>
      </p:sp>
      <p:graphicFrame>
        <p:nvGraphicFramePr>
          <p:cNvPr id="1077" name="Table">
            <a:extLst>
              <a:ext uri="{FF2B5EF4-FFF2-40B4-BE49-F238E27FC236}">
                <a16:creationId xmlns:a16="http://schemas.microsoft.com/office/drawing/2014/main" id="{62F94155-36BA-17E5-CD38-48637B4BC67B}"/>
              </a:ext>
            </a:extLst>
          </p:cNvPr>
          <p:cNvGraphicFramePr/>
          <p:nvPr/>
        </p:nvGraphicFramePr>
        <p:xfrm>
          <a:off x="5269967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78" name="Table">
            <a:extLst>
              <a:ext uri="{FF2B5EF4-FFF2-40B4-BE49-F238E27FC236}">
                <a16:creationId xmlns:a16="http://schemas.microsoft.com/office/drawing/2014/main" id="{285FB75B-62F9-BFE7-552E-00E66E274FAD}"/>
              </a:ext>
            </a:extLst>
          </p:cNvPr>
          <p:cNvGraphicFramePr/>
          <p:nvPr/>
        </p:nvGraphicFramePr>
        <p:xfrm>
          <a:off x="5828244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9" name="TextBox 1078">
            <a:extLst>
              <a:ext uri="{FF2B5EF4-FFF2-40B4-BE49-F238E27FC236}">
                <a16:creationId xmlns:a16="http://schemas.microsoft.com/office/drawing/2014/main" id="{255200D3-29F5-19AA-DA8E-F061FB293119}"/>
              </a:ext>
            </a:extLst>
          </p:cNvPr>
          <p:cNvSpPr txBox="1"/>
          <p:nvPr/>
        </p:nvSpPr>
        <p:spPr>
          <a:xfrm>
            <a:off x="5856148" y="6329618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C027C85C-0D18-3B48-9CBA-0ADA8EE85E1C}"/>
              </a:ext>
            </a:extLst>
          </p:cNvPr>
          <p:cNvSpPr txBox="1"/>
          <p:nvPr/>
        </p:nvSpPr>
        <p:spPr>
          <a:xfrm>
            <a:off x="5242857" y="6333739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81" name="Arrow: Right 1080">
            <a:extLst>
              <a:ext uri="{FF2B5EF4-FFF2-40B4-BE49-F238E27FC236}">
                <a16:creationId xmlns:a16="http://schemas.microsoft.com/office/drawing/2014/main" id="{A3E90A42-9D50-DD96-C1E7-57D9C1A1D810}"/>
              </a:ext>
            </a:extLst>
          </p:cNvPr>
          <p:cNvSpPr/>
          <p:nvPr/>
        </p:nvSpPr>
        <p:spPr>
          <a:xfrm rot="10800000">
            <a:off x="5552507" y="6049867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D68719AC-0018-AC7F-7ED5-856C8A6FE602}"/>
              </a:ext>
            </a:extLst>
          </p:cNvPr>
          <p:cNvSpPr txBox="1"/>
          <p:nvPr/>
        </p:nvSpPr>
        <p:spPr>
          <a:xfrm>
            <a:off x="5490560" y="5860025"/>
            <a:ext cx="339664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63AF2665-7F76-42E9-FE3C-50F546EBB8BF}"/>
              </a:ext>
            </a:extLst>
          </p:cNvPr>
          <p:cNvSpPr/>
          <p:nvPr/>
        </p:nvSpPr>
        <p:spPr>
          <a:xfrm>
            <a:off x="8040579" y="5752125"/>
            <a:ext cx="206996" cy="6210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9CE0F658-7526-1FE2-3E04-E0EA129D6A38}"/>
              </a:ext>
            </a:extLst>
          </p:cNvPr>
          <p:cNvCxnSpPr>
            <a:cxnSpLocks/>
          </p:cNvCxnSpPr>
          <p:nvPr/>
        </p:nvCxnSpPr>
        <p:spPr>
          <a:xfrm>
            <a:off x="8010337" y="5687156"/>
            <a:ext cx="0" cy="188119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D22B2CED-E0D2-0E9E-6EC8-5F931A0F5938}"/>
              </a:ext>
            </a:extLst>
          </p:cNvPr>
          <p:cNvCxnSpPr>
            <a:cxnSpLocks/>
          </p:cNvCxnSpPr>
          <p:nvPr/>
        </p:nvCxnSpPr>
        <p:spPr>
          <a:xfrm flipH="1">
            <a:off x="7599385" y="5778796"/>
            <a:ext cx="375263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86" name="TextBox 1085">
            <a:extLst>
              <a:ext uri="{FF2B5EF4-FFF2-40B4-BE49-F238E27FC236}">
                <a16:creationId xmlns:a16="http://schemas.microsoft.com/office/drawing/2014/main" id="{D0D6D15A-7816-989B-ACC7-ACDCAB73E45C}"/>
              </a:ext>
            </a:extLst>
          </p:cNvPr>
          <p:cNvSpPr txBox="1"/>
          <p:nvPr/>
        </p:nvSpPr>
        <p:spPr>
          <a:xfrm>
            <a:off x="7544037" y="5812123"/>
            <a:ext cx="941475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n.edges</a:t>
            </a: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&lt; x</a:t>
            </a:r>
            <a:r>
              <a:rPr lang="en-US" sz="700" dirty="0"/>
              <a:t>%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D4631464-857E-67FB-6151-B5B5155010E2}"/>
              </a:ext>
            </a:extLst>
          </p:cNvPr>
          <p:cNvSpPr/>
          <p:nvPr/>
        </p:nvSpPr>
        <p:spPr>
          <a:xfrm>
            <a:off x="7747498" y="6647124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19C48D26-77EB-EEA1-339B-B903E3B525DF}"/>
              </a:ext>
            </a:extLst>
          </p:cNvPr>
          <p:cNvSpPr/>
          <p:nvPr/>
        </p:nvSpPr>
        <p:spPr>
          <a:xfrm>
            <a:off x="7766196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6A5CDDFB-A6AF-DD8E-B15B-5A75DB28BBFF}"/>
              </a:ext>
            </a:extLst>
          </p:cNvPr>
          <p:cNvSpPr/>
          <p:nvPr/>
        </p:nvSpPr>
        <p:spPr>
          <a:xfrm>
            <a:off x="7882271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170E471B-9325-1E23-E529-3F25CFDA3B55}"/>
              </a:ext>
            </a:extLst>
          </p:cNvPr>
          <p:cNvSpPr/>
          <p:nvPr/>
        </p:nvSpPr>
        <p:spPr>
          <a:xfrm>
            <a:off x="8006330" y="6675665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91FB9A8C-71EE-96F5-59BD-BCAA6E91C892}"/>
              </a:ext>
            </a:extLst>
          </p:cNvPr>
          <p:cNvSpPr txBox="1"/>
          <p:nvPr/>
        </p:nvSpPr>
        <p:spPr>
          <a:xfrm>
            <a:off x="7709321" y="6508461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1</a:t>
            </a: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0383D3DD-C1D9-4D6B-50BD-BB159B84786B}"/>
              </a:ext>
            </a:extLst>
          </p:cNvPr>
          <p:cNvSpPr/>
          <p:nvPr/>
        </p:nvSpPr>
        <p:spPr>
          <a:xfrm>
            <a:off x="7745715" y="680360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2D3166AA-948A-16C7-4A8F-55453124BFD4}"/>
              </a:ext>
            </a:extLst>
          </p:cNvPr>
          <p:cNvSpPr/>
          <p:nvPr/>
        </p:nvSpPr>
        <p:spPr>
          <a:xfrm>
            <a:off x="7764413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7C098A94-29A7-1C10-A6D8-5307358A6E20}"/>
              </a:ext>
            </a:extLst>
          </p:cNvPr>
          <p:cNvSpPr/>
          <p:nvPr/>
        </p:nvSpPr>
        <p:spPr>
          <a:xfrm>
            <a:off x="7880488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F214CE39-A7AB-A94D-C479-017C4668E24E}"/>
              </a:ext>
            </a:extLst>
          </p:cNvPr>
          <p:cNvSpPr/>
          <p:nvPr/>
        </p:nvSpPr>
        <p:spPr>
          <a:xfrm>
            <a:off x="8004547" y="683215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9840C557-569C-245B-DBAC-D961AFE25794}"/>
              </a:ext>
            </a:extLst>
          </p:cNvPr>
          <p:cNvSpPr txBox="1"/>
          <p:nvPr/>
        </p:nvSpPr>
        <p:spPr>
          <a:xfrm>
            <a:off x="7707538" y="666494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2</a:t>
            </a: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57775DE5-E306-8027-27CE-0B17550D2D6B}"/>
              </a:ext>
            </a:extLst>
          </p:cNvPr>
          <p:cNvSpPr/>
          <p:nvPr/>
        </p:nvSpPr>
        <p:spPr>
          <a:xfrm>
            <a:off x="7746658" y="695499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6224D15E-EE03-77BB-9B3A-3D38DE4B0189}"/>
              </a:ext>
            </a:extLst>
          </p:cNvPr>
          <p:cNvSpPr/>
          <p:nvPr/>
        </p:nvSpPr>
        <p:spPr>
          <a:xfrm>
            <a:off x="7765356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B35A9E53-0F71-E6B3-34CC-E81FD1D46763}"/>
              </a:ext>
            </a:extLst>
          </p:cNvPr>
          <p:cNvSpPr/>
          <p:nvPr/>
        </p:nvSpPr>
        <p:spPr>
          <a:xfrm>
            <a:off x="7881431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2796CB56-68B0-68AA-6F26-DB2140E90A1A}"/>
              </a:ext>
            </a:extLst>
          </p:cNvPr>
          <p:cNvSpPr/>
          <p:nvPr/>
        </p:nvSpPr>
        <p:spPr>
          <a:xfrm>
            <a:off x="8005490" y="698354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71099458-1F11-E046-B591-86F15D1A4FC7}"/>
              </a:ext>
            </a:extLst>
          </p:cNvPr>
          <p:cNvSpPr txBox="1"/>
          <p:nvPr/>
        </p:nvSpPr>
        <p:spPr>
          <a:xfrm>
            <a:off x="7708481" y="681633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3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F7E0C473-FEB3-8928-7BD8-F1D120FB143B}"/>
              </a:ext>
            </a:extLst>
          </p:cNvPr>
          <p:cNvSpPr txBox="1"/>
          <p:nvPr/>
        </p:nvSpPr>
        <p:spPr>
          <a:xfrm>
            <a:off x="8341203" y="5639763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C95E38D5-BE1D-CEC4-671F-669583011BD2}"/>
              </a:ext>
            </a:extLst>
          </p:cNvPr>
          <p:cNvSpPr txBox="1"/>
          <p:nvPr/>
        </p:nvSpPr>
        <p:spPr>
          <a:xfrm>
            <a:off x="7409851" y="5617798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9BC58FB6-D90D-8B6E-79A1-912A2AF8B9D2}"/>
              </a:ext>
            </a:extLst>
          </p:cNvPr>
          <p:cNvSpPr txBox="1"/>
          <p:nvPr/>
        </p:nvSpPr>
        <p:spPr>
          <a:xfrm>
            <a:off x="7672781" y="6340098"/>
            <a:ext cx="580165" cy="212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Knowledge Box</a:t>
            </a:r>
          </a:p>
        </p:txBody>
      </p:sp>
      <p:sp>
        <p:nvSpPr>
          <p:cNvPr id="1105" name="Logistics">
            <a:extLst>
              <a:ext uri="{FF2B5EF4-FFF2-40B4-BE49-F238E27FC236}">
                <a16:creationId xmlns:a16="http://schemas.microsoft.com/office/drawing/2014/main" id="{3CC25C6E-6062-C678-1528-CBE17A6E8E49}"/>
              </a:ext>
            </a:extLst>
          </p:cNvPr>
          <p:cNvSpPr txBox="1"/>
          <p:nvPr/>
        </p:nvSpPr>
        <p:spPr>
          <a:xfrm>
            <a:off x="9601200" y="256032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2500"/>
              <a:t>tetrad.py</a:t>
            </a:r>
            <a:endParaRPr lang="en-US" sz="2500" dirty="0"/>
          </a:p>
        </p:txBody>
      </p:sp>
      <p:sp>
        <p:nvSpPr>
          <p:cNvPr id="1106" name="Logistics">
            <a:extLst>
              <a:ext uri="{FF2B5EF4-FFF2-40B4-BE49-F238E27FC236}">
                <a16:creationId xmlns:a16="http://schemas.microsoft.com/office/drawing/2014/main" id="{BAED9DDE-26E2-C05E-AF95-9957D9D7EFC7}"/>
              </a:ext>
            </a:extLst>
          </p:cNvPr>
          <p:cNvSpPr txBox="1"/>
          <p:nvPr/>
        </p:nvSpPr>
        <p:spPr>
          <a:xfrm>
            <a:off x="9601200" y="438912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2500"/>
              <a:t>causal.py</a:t>
            </a:r>
            <a:endParaRPr lang="en-US"/>
          </a:p>
        </p:txBody>
      </p:sp>
      <p:sp>
        <p:nvSpPr>
          <p:cNvPr id="1107" name="Logistics">
            <a:extLst>
              <a:ext uri="{FF2B5EF4-FFF2-40B4-BE49-F238E27FC236}">
                <a16:creationId xmlns:a16="http://schemas.microsoft.com/office/drawing/2014/main" id="{02471D39-E770-36F3-638B-CEF6A8F9A7D7}"/>
              </a:ext>
            </a:extLst>
          </p:cNvPr>
          <p:cNvSpPr txBox="1"/>
          <p:nvPr/>
        </p:nvSpPr>
        <p:spPr>
          <a:xfrm>
            <a:off x="9601200" y="694944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2500"/>
              <a:t>knowledge.py</a:t>
            </a:r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10AB2762-BAAF-9EF0-FE05-CEBD4F491262}"/>
              </a:ext>
            </a:extLst>
          </p:cNvPr>
          <p:cNvSpPr txBox="1"/>
          <p:nvPr/>
        </p:nvSpPr>
        <p:spPr>
          <a:xfrm>
            <a:off x="9601200" y="4663440"/>
            <a:ext cx="4237460" cy="2187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run on dataset including null features, used to derive 1-PNEF.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score_sem_bic</a:t>
            </a:r>
            <a:r>
              <a:rPr lang="en-US" dirty="0"/>
              <a:t>()</a:t>
            </a:r>
          </a:p>
          <a:p>
            <a:r>
              <a:rPr lang="en-US" b="0" dirty="0"/>
              <a:t>Configure SEM BIC score.</a:t>
            </a:r>
          </a:p>
          <a:p>
            <a:r>
              <a:rPr lang="en-US" dirty="0"/>
              <a:t>2. bootstrapping()</a:t>
            </a:r>
          </a:p>
          <a:p>
            <a:r>
              <a:rPr lang="en-US" b="0" dirty="0"/>
              <a:t>Configure bootstrapping parameters.</a:t>
            </a:r>
          </a:p>
          <a:p>
            <a:r>
              <a:rPr lang="en-US" dirty="0"/>
              <a:t>3. </a:t>
            </a:r>
            <a:r>
              <a:rPr lang="en-US" dirty="0" err="1"/>
              <a:t>algorithm_fges</a:t>
            </a:r>
            <a:r>
              <a:rPr lang="en-US" dirty="0"/>
              <a:t>()</a:t>
            </a:r>
          </a:p>
          <a:p>
            <a:r>
              <a:rPr lang="en-US" b="0" dirty="0"/>
              <a:t>Performs Fast Greedy Equivalence Search (FGES) algorithm.</a:t>
            </a:r>
          </a:p>
          <a:p>
            <a:r>
              <a:rPr lang="en-US" dirty="0"/>
              <a:t>4. </a:t>
            </a:r>
            <a:r>
              <a:rPr lang="en-US" dirty="0" err="1"/>
              <a:t>algorithm_boss</a:t>
            </a:r>
            <a:r>
              <a:rPr lang="en-US" dirty="0"/>
              <a:t>()</a:t>
            </a:r>
          </a:p>
          <a:p>
            <a:r>
              <a:rPr lang="en-US" b="0" dirty="0"/>
              <a:t>Performs Best Order Score Search (BOSS) algorithm.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B96A3651-42A7-3A61-E268-741A03EC7152}"/>
              </a:ext>
            </a:extLst>
          </p:cNvPr>
          <p:cNvSpPr txBox="1"/>
          <p:nvPr/>
        </p:nvSpPr>
        <p:spPr>
          <a:xfrm>
            <a:off x="9601200" y="2834640"/>
            <a:ext cx="4237460" cy="1531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After applying time lag and features, </a:t>
            </a:r>
            <a:r>
              <a:rPr lang="en-US" b="0" dirty="0" err="1"/>
              <a:t>jpype</a:t>
            </a:r>
            <a:r>
              <a:rPr lang="en-US" b="0" dirty="0"/>
              <a:t> is imported to utilize API and turn the dataset into a Tetrad compatible format. 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tetrad_jvm_start</a:t>
            </a:r>
            <a:r>
              <a:rPr lang="en-US" dirty="0"/>
              <a:t>()</a:t>
            </a:r>
          </a:p>
          <a:p>
            <a:r>
              <a:rPr lang="en-US" b="0" dirty="0"/>
              <a:t>Import </a:t>
            </a:r>
            <a:r>
              <a:rPr lang="en-US" b="0" dirty="0" err="1"/>
              <a:t>jpype</a:t>
            </a:r>
            <a:r>
              <a:rPr lang="en-US" b="0" dirty="0"/>
              <a:t> to start JVM and load Tetrad jar file.</a:t>
            </a:r>
          </a:p>
          <a:p>
            <a:r>
              <a:rPr lang="en-US" dirty="0"/>
              <a:t>2. </a:t>
            </a:r>
            <a:r>
              <a:rPr lang="en-US" dirty="0" err="1"/>
              <a:t>transform_pandasdf_to_tetrad_boxdataset</a:t>
            </a:r>
            <a:r>
              <a:rPr lang="en-US" dirty="0"/>
              <a:t>()</a:t>
            </a:r>
          </a:p>
          <a:p>
            <a:r>
              <a:rPr lang="en-US" b="0" dirty="0"/>
              <a:t>Convert pandas </a:t>
            </a:r>
            <a:r>
              <a:rPr lang="en-US" b="0" dirty="0" err="1"/>
              <a:t>DataFrames</a:t>
            </a:r>
            <a:r>
              <a:rPr lang="en-US" b="0" dirty="0"/>
              <a:t> into Tetrad </a:t>
            </a:r>
            <a:r>
              <a:rPr lang="en-US" b="0" dirty="0" err="1"/>
              <a:t>BoxDataset</a:t>
            </a:r>
            <a:r>
              <a:rPr lang="en-US" b="0" dirty="0"/>
              <a:t> and initialize search state.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D21F05ED-7EE5-2530-4211-3837A0367C02}"/>
              </a:ext>
            </a:extLst>
          </p:cNvPr>
          <p:cNvSpPr txBox="1"/>
          <p:nvPr/>
        </p:nvSpPr>
        <p:spPr>
          <a:xfrm>
            <a:off x="9601200" y="7232335"/>
            <a:ext cx="4237460" cy="925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ran again with domain knowledge applied.</a:t>
            </a:r>
          </a:p>
          <a:p>
            <a:r>
              <a:rPr lang="en-US" dirty="0"/>
              <a:t>1. </a:t>
            </a:r>
            <a:r>
              <a:rPr lang="en-US" dirty="0" err="1"/>
              <a:t>parse_knowledge_txt</a:t>
            </a:r>
            <a:r>
              <a:rPr lang="en-US" dirty="0"/>
              <a:t>()</a:t>
            </a:r>
          </a:p>
          <a:p>
            <a:r>
              <a:rPr lang="en-US" b="0" dirty="0"/>
              <a:t>Load forbidden/required edges and temporal tiers from a .txt file into Tetrad knowledge object.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9B30CC0D-3188-2194-9C05-49596D30759E}"/>
              </a:ext>
            </a:extLst>
          </p:cNvPr>
          <p:cNvSpPr txBox="1"/>
          <p:nvPr/>
        </p:nvSpPr>
        <p:spPr>
          <a:xfrm>
            <a:off x="9601200" y="1737360"/>
            <a:ext cx="4264574" cy="6898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From an example of a dataset, see </a:t>
            </a:r>
            <a:r>
              <a:rPr lang="en-US" dirty="0" err="1"/>
              <a:t>issue_social_smell_showcase.Rmd</a:t>
            </a:r>
            <a:r>
              <a:rPr lang="en-US" b="0" dirty="0"/>
              <a:t>. Refer to </a:t>
            </a:r>
            <a:r>
              <a:rPr lang="en-US" b="0" dirty="0" err="1"/>
              <a:t>cheatsheets</a:t>
            </a:r>
            <a:r>
              <a:rPr lang="en-US" b="0" dirty="0"/>
              <a:t>/social-smells-cheatsheet.pdf</a:t>
            </a:r>
          </a:p>
        </p:txBody>
      </p:sp>
      <p:cxnSp>
        <p:nvCxnSpPr>
          <p:cNvPr id="1112" name="Connector: Elbow 1111">
            <a:extLst>
              <a:ext uri="{FF2B5EF4-FFF2-40B4-BE49-F238E27FC236}">
                <a16:creationId xmlns:a16="http://schemas.microsoft.com/office/drawing/2014/main" id="{0B385AE0-9B8C-ADE6-0454-3ACD9AF07169}"/>
              </a:ext>
            </a:extLst>
          </p:cNvPr>
          <p:cNvCxnSpPr>
            <a:cxnSpLocks/>
            <a:stCxn id="991" idx="3"/>
          </p:cNvCxnSpPr>
          <p:nvPr/>
        </p:nvCxnSpPr>
        <p:spPr>
          <a:xfrm flipV="1">
            <a:off x="8704406" y="1562408"/>
            <a:ext cx="859478" cy="452092"/>
          </a:xfrm>
          <a:prstGeom prst="bentConnector3">
            <a:avLst>
              <a:gd name="adj1" fmla="val 38543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F0D6B6F0-9A00-A671-949E-DED59801EA20}"/>
              </a:ext>
            </a:extLst>
          </p:cNvPr>
          <p:cNvCxnSpPr>
            <a:cxnSpLocks/>
            <a:endCxn id="1107" idx="1"/>
          </p:cNvCxnSpPr>
          <p:nvPr/>
        </p:nvCxnSpPr>
        <p:spPr>
          <a:xfrm>
            <a:off x="8325869" y="6858316"/>
            <a:ext cx="1275331" cy="261139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53BD41F-48B4-F3DB-43F2-3B6025813DCC}"/>
              </a:ext>
            </a:extLst>
          </p:cNvPr>
          <p:cNvSpPr txBox="1"/>
          <p:nvPr/>
        </p:nvSpPr>
        <p:spPr>
          <a:xfrm>
            <a:off x="1275037" y="358624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Folded Corner 3">
            <a:extLst>
              <a:ext uri="{FF2B5EF4-FFF2-40B4-BE49-F238E27FC236}">
                <a16:creationId xmlns:a16="http://schemas.microsoft.com/office/drawing/2014/main" id="{0AFBD040-AB23-0D73-8F8F-271031CDDF98}"/>
              </a:ext>
            </a:extLst>
          </p:cNvPr>
          <p:cNvSpPr/>
          <p:nvPr/>
        </p:nvSpPr>
        <p:spPr>
          <a:xfrm rot="10800000" flipH="1">
            <a:off x="2629874" y="338101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" name="Folded Corner 4">
            <a:extLst>
              <a:ext uri="{FF2B5EF4-FFF2-40B4-BE49-F238E27FC236}">
                <a16:creationId xmlns:a16="http://schemas.microsoft.com/office/drawing/2014/main" id="{A60080F8-7108-8289-4A86-D8D6B83A65B4}"/>
              </a:ext>
            </a:extLst>
          </p:cNvPr>
          <p:cNvSpPr/>
          <p:nvPr/>
        </p:nvSpPr>
        <p:spPr>
          <a:xfrm rot="10800000" flipH="1">
            <a:off x="2596792" y="34094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" name="Folded Corner 5">
            <a:extLst>
              <a:ext uri="{FF2B5EF4-FFF2-40B4-BE49-F238E27FC236}">
                <a16:creationId xmlns:a16="http://schemas.microsoft.com/office/drawing/2014/main" id="{78339562-36DA-867E-87FC-49B681E2A1B2}"/>
              </a:ext>
            </a:extLst>
          </p:cNvPr>
          <p:cNvSpPr/>
          <p:nvPr/>
        </p:nvSpPr>
        <p:spPr>
          <a:xfrm rot="10800000" flipH="1">
            <a:off x="2556355" y="344325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648595AE-607F-7BCD-ADC1-5DAF1B4FEB54}"/>
              </a:ext>
            </a:extLst>
          </p:cNvPr>
          <p:cNvSpPr txBox="1"/>
          <p:nvPr/>
        </p:nvSpPr>
        <p:spPr>
          <a:xfrm>
            <a:off x="2486995" y="3589370"/>
            <a:ext cx="4823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algorithm.py</a:t>
            </a:r>
          </a:p>
        </p:txBody>
      </p:sp>
      <p:sp>
        <p:nvSpPr>
          <p:cNvPr id="27" name="Folded Corner 3">
            <a:extLst>
              <a:ext uri="{FF2B5EF4-FFF2-40B4-BE49-F238E27FC236}">
                <a16:creationId xmlns:a16="http://schemas.microsoft.com/office/drawing/2014/main" id="{2AA37254-3769-0C8A-043C-CCAF882AF1AD}"/>
              </a:ext>
            </a:extLst>
          </p:cNvPr>
          <p:cNvSpPr/>
          <p:nvPr/>
        </p:nvSpPr>
        <p:spPr>
          <a:xfrm rot="10800000" flipH="1">
            <a:off x="3124045" y="336113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" name="Folded Corner 4">
            <a:extLst>
              <a:ext uri="{FF2B5EF4-FFF2-40B4-BE49-F238E27FC236}">
                <a16:creationId xmlns:a16="http://schemas.microsoft.com/office/drawing/2014/main" id="{6E811B7F-43BD-2E46-1E42-8F903867AEF8}"/>
              </a:ext>
            </a:extLst>
          </p:cNvPr>
          <p:cNvSpPr/>
          <p:nvPr/>
        </p:nvSpPr>
        <p:spPr>
          <a:xfrm rot="10800000" flipH="1">
            <a:off x="3090963" y="338960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" name="Folded Corner 5">
            <a:extLst>
              <a:ext uri="{FF2B5EF4-FFF2-40B4-BE49-F238E27FC236}">
                <a16:creationId xmlns:a16="http://schemas.microsoft.com/office/drawing/2014/main" id="{AC92A06C-735A-CBD2-D257-15B267E7D688}"/>
              </a:ext>
            </a:extLst>
          </p:cNvPr>
          <p:cNvSpPr/>
          <p:nvPr/>
        </p:nvSpPr>
        <p:spPr>
          <a:xfrm rot="10800000" flipH="1">
            <a:off x="3050526" y="34233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DE1722CD-5F07-52AB-B251-8AA16B2E08CE}"/>
              </a:ext>
            </a:extLst>
          </p:cNvPr>
          <p:cNvSpPr txBox="1"/>
          <p:nvPr/>
        </p:nvSpPr>
        <p:spPr>
          <a:xfrm>
            <a:off x="3041735" y="358121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score.py</a:t>
            </a:r>
          </a:p>
        </p:txBody>
      </p:sp>
      <p:sp>
        <p:nvSpPr>
          <p:cNvPr id="30" name="Folded Corner 3">
            <a:extLst>
              <a:ext uri="{FF2B5EF4-FFF2-40B4-BE49-F238E27FC236}">
                <a16:creationId xmlns:a16="http://schemas.microsoft.com/office/drawing/2014/main" id="{570158C5-1338-F386-AC3B-E9E3742A86AD}"/>
              </a:ext>
            </a:extLst>
          </p:cNvPr>
          <p:cNvSpPr/>
          <p:nvPr/>
        </p:nvSpPr>
        <p:spPr>
          <a:xfrm rot="10800000" flipH="1">
            <a:off x="489099" y="3477311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" name="Folded Corner 4">
            <a:extLst>
              <a:ext uri="{FF2B5EF4-FFF2-40B4-BE49-F238E27FC236}">
                <a16:creationId xmlns:a16="http://schemas.microsoft.com/office/drawing/2014/main" id="{281E3AD6-9D74-301E-082A-D1A860D4AE75}"/>
              </a:ext>
            </a:extLst>
          </p:cNvPr>
          <p:cNvSpPr/>
          <p:nvPr/>
        </p:nvSpPr>
        <p:spPr>
          <a:xfrm rot="10800000" flipH="1">
            <a:off x="456017" y="3505777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" name="Folded Corner 5">
            <a:extLst>
              <a:ext uri="{FF2B5EF4-FFF2-40B4-BE49-F238E27FC236}">
                <a16:creationId xmlns:a16="http://schemas.microsoft.com/office/drawing/2014/main" id="{EC497C95-CA4F-D88A-4268-41C770B58505}"/>
              </a:ext>
            </a:extLst>
          </p:cNvPr>
          <p:cNvSpPr/>
          <p:nvPr/>
        </p:nvSpPr>
        <p:spPr>
          <a:xfrm rot="10800000" flipH="1">
            <a:off x="415580" y="3539553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D1BF8781-C334-BDFC-E770-90C3EDE8AA94}"/>
              </a:ext>
            </a:extLst>
          </p:cNvPr>
          <p:cNvSpPr txBox="1"/>
          <p:nvPr/>
        </p:nvSpPr>
        <p:spPr>
          <a:xfrm>
            <a:off x="391503" y="3700338"/>
            <a:ext cx="4603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 err="1">
                <a:solidFill>
                  <a:schemeClr val="tx1">
                    <a:lumMod val="50000"/>
                  </a:schemeClr>
                </a:solidFill>
              </a:rPr>
              <a:t>edu.cmu</a:t>
            </a:r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196FAA-BFF7-11C2-EEDD-E9D821A4B4FD}"/>
              </a:ext>
            </a:extLst>
          </p:cNvPr>
          <p:cNvSpPr txBox="1"/>
          <p:nvPr/>
        </p:nvSpPr>
        <p:spPr>
          <a:xfrm>
            <a:off x="2058159" y="4229130"/>
            <a:ext cx="621043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run_fges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()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946792-3D87-92B0-820E-50AED27CE98A}"/>
              </a:ext>
            </a:extLst>
          </p:cNvPr>
          <p:cNvSpPr txBox="1"/>
          <p:nvPr/>
        </p:nvSpPr>
        <p:spPr>
          <a:xfrm>
            <a:off x="8607799" y="473724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56A8AC6E-C08C-A708-D634-83EABF70D8FC}"/>
              </a:ext>
            </a:extLst>
          </p:cNvPr>
          <p:cNvCxnSpPr>
            <a:cxnSpLocks/>
            <a:stCxn id="51" idx="3"/>
            <a:endCxn id="1106" idx="1"/>
          </p:cNvCxnSpPr>
          <p:nvPr/>
        </p:nvCxnSpPr>
        <p:spPr>
          <a:xfrm flipV="1">
            <a:off x="8718069" y="4559135"/>
            <a:ext cx="883131" cy="338367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9" name="TextBox 898">
            <a:extLst>
              <a:ext uri="{FF2B5EF4-FFF2-40B4-BE49-F238E27FC236}">
                <a16:creationId xmlns:a16="http://schemas.microsoft.com/office/drawing/2014/main" id="{E71054B6-0963-BACE-FBC8-838548AA7F4B}"/>
              </a:ext>
            </a:extLst>
          </p:cNvPr>
          <p:cNvSpPr txBox="1"/>
          <p:nvPr/>
        </p:nvSpPr>
        <p:spPr>
          <a:xfrm>
            <a:off x="9601200" y="8412480"/>
            <a:ext cx="4244990" cy="1900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graph output is converted and saved in JSON format that can be loaded and viewed in Tetrad GUI. Parsing graph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allows 1-PNEF to be applied. </a:t>
            </a:r>
          </a:p>
          <a:p>
            <a:r>
              <a:rPr lang="en-US" dirty="0"/>
              <a:t>1. </a:t>
            </a:r>
            <a:r>
              <a:rPr lang="en-US" dirty="0" err="1"/>
              <a:t>transform_graph_java_to_graph_json</a:t>
            </a:r>
            <a:r>
              <a:rPr lang="en-US" dirty="0"/>
              <a:t>()</a:t>
            </a:r>
          </a:p>
          <a:p>
            <a:r>
              <a:rPr lang="en-US" b="0" dirty="0"/>
              <a:t>Convert Tetrad graph object to JSON format.</a:t>
            </a:r>
          </a:p>
          <a:p>
            <a:r>
              <a:rPr lang="en-US" dirty="0"/>
              <a:t>2. </a:t>
            </a:r>
            <a:r>
              <a:rPr lang="en-US" dirty="0" err="1"/>
              <a:t>parse_graph_json</a:t>
            </a:r>
            <a:r>
              <a:rPr lang="en-US" dirty="0"/>
              <a:t>()</a:t>
            </a:r>
          </a:p>
          <a:p>
            <a:r>
              <a:rPr lang="en-US" b="0" dirty="0"/>
              <a:t>Parse Tetrad JSON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datasets.</a:t>
            </a:r>
          </a:p>
        </p:txBody>
      </p:sp>
      <p:sp>
        <p:nvSpPr>
          <p:cNvPr id="900" name="Logistics">
            <a:extLst>
              <a:ext uri="{FF2B5EF4-FFF2-40B4-BE49-F238E27FC236}">
                <a16:creationId xmlns:a16="http://schemas.microsoft.com/office/drawing/2014/main" id="{4A2BFF1F-D939-4372-AAF0-30D43D441C72}"/>
              </a:ext>
            </a:extLst>
          </p:cNvPr>
          <p:cNvSpPr txBox="1"/>
          <p:nvPr/>
        </p:nvSpPr>
        <p:spPr>
          <a:xfrm>
            <a:off x="9601200" y="813816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2500"/>
              <a:t>graph.py</a:t>
            </a:r>
            <a:endParaRPr lang="en-US"/>
          </a:p>
        </p:txBody>
      </p:sp>
      <p:sp>
        <p:nvSpPr>
          <p:cNvPr id="90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8D95EC1E-0734-DC08-E99C-3A9BD6B3F4D8}"/>
              </a:ext>
            </a:extLst>
          </p:cNvPr>
          <p:cNvSpPr txBox="1"/>
          <p:nvPr/>
        </p:nvSpPr>
        <p:spPr>
          <a:xfrm>
            <a:off x="182880" y="173736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Python package that serves as a wrapper over the Tetrad Java API (via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), providing an interface for causal analysis algorithms.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fork of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-tetrad/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pytetrad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grpSp>
        <p:nvGrpSpPr>
          <p:cNvPr id="909" name="Group 908">
            <a:extLst>
              <a:ext uri="{FF2B5EF4-FFF2-40B4-BE49-F238E27FC236}">
                <a16:creationId xmlns:a16="http://schemas.microsoft.com/office/drawing/2014/main" id="{88D8FF91-1076-5845-C6E9-9490F41E8E01}"/>
              </a:ext>
            </a:extLst>
          </p:cNvPr>
          <p:cNvGrpSpPr/>
          <p:nvPr/>
        </p:nvGrpSpPr>
        <p:grpSpPr>
          <a:xfrm>
            <a:off x="5279608" y="8581425"/>
            <a:ext cx="818142" cy="583040"/>
            <a:chOff x="3300333" y="6875181"/>
            <a:chExt cx="2140200" cy="1512332"/>
          </a:xfrm>
        </p:grpSpPr>
        <p:sp>
          <p:nvSpPr>
            <p:cNvPr id="910" name="TextBox 909">
              <a:extLst>
                <a:ext uri="{FF2B5EF4-FFF2-40B4-BE49-F238E27FC236}">
                  <a16:creationId xmlns:a16="http://schemas.microsoft.com/office/drawing/2014/main" id="{A9A69CC6-2F6B-6DA3-9083-3EBCED1AE1AB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11" name="Google Shape;162;p1">
              <a:extLst>
                <a:ext uri="{FF2B5EF4-FFF2-40B4-BE49-F238E27FC236}">
                  <a16:creationId xmlns:a16="http://schemas.microsoft.com/office/drawing/2014/main" id="{BB78E53A-BABA-2C24-7CE5-F278F18E33C4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2" name="Google Shape;163;p1">
              <a:extLst>
                <a:ext uri="{FF2B5EF4-FFF2-40B4-BE49-F238E27FC236}">
                  <a16:creationId xmlns:a16="http://schemas.microsoft.com/office/drawing/2014/main" id="{4AE3DF3A-6C5A-54DA-77F4-C11A3E21848C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3" name="Google Shape;164;p1">
              <a:extLst>
                <a:ext uri="{FF2B5EF4-FFF2-40B4-BE49-F238E27FC236}">
                  <a16:creationId xmlns:a16="http://schemas.microsoft.com/office/drawing/2014/main" id="{4650531F-98F9-8936-0390-E2C11662ECBB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4" name="Google Shape;165;p1">
              <a:extLst>
                <a:ext uri="{FF2B5EF4-FFF2-40B4-BE49-F238E27FC236}">
                  <a16:creationId xmlns:a16="http://schemas.microsoft.com/office/drawing/2014/main" id="{E3C87764-3C1B-4F86-1A4B-19A0E6D5BF34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5" name="Google Shape;171;p1">
              <a:extLst>
                <a:ext uri="{FF2B5EF4-FFF2-40B4-BE49-F238E27FC236}">
                  <a16:creationId xmlns:a16="http://schemas.microsoft.com/office/drawing/2014/main" id="{AC6B6C98-2BA8-D413-92AB-0C71B7F75E84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6" name="Google Shape;187;p1">
              <a:extLst>
                <a:ext uri="{FF2B5EF4-FFF2-40B4-BE49-F238E27FC236}">
                  <a16:creationId xmlns:a16="http://schemas.microsoft.com/office/drawing/2014/main" id="{1E18188D-EA15-9A05-9750-496D4F7482AD}"/>
                </a:ext>
              </a:extLst>
            </p:cNvPr>
            <p:cNvCxnSpPr>
              <a:stCxn id="917" idx="6"/>
              <a:endCxn id="911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17" name="Google Shape;188;p1">
              <a:extLst>
                <a:ext uri="{FF2B5EF4-FFF2-40B4-BE49-F238E27FC236}">
                  <a16:creationId xmlns:a16="http://schemas.microsoft.com/office/drawing/2014/main" id="{CE0DF7BB-D32A-4321-77EC-7E4FFD62B3B8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8" name="Google Shape;196;p1">
              <a:extLst>
                <a:ext uri="{FF2B5EF4-FFF2-40B4-BE49-F238E27FC236}">
                  <a16:creationId xmlns:a16="http://schemas.microsoft.com/office/drawing/2014/main" id="{EA57579F-BF2A-A8CC-D6AF-8B048D3775CD}"/>
                </a:ext>
              </a:extLst>
            </p:cNvPr>
            <p:cNvCxnSpPr>
              <a:stCxn id="917" idx="5"/>
              <a:endCxn id="913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19" name="Google Shape;198;p1">
              <a:extLst>
                <a:ext uri="{FF2B5EF4-FFF2-40B4-BE49-F238E27FC236}">
                  <a16:creationId xmlns:a16="http://schemas.microsoft.com/office/drawing/2014/main" id="{56186135-B382-0CB6-5558-AFB109C5624C}"/>
                </a:ext>
              </a:extLst>
            </p:cNvPr>
            <p:cNvCxnSpPr>
              <a:stCxn id="917" idx="6"/>
              <a:endCxn id="914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0" name="Google Shape;199;p1">
              <a:extLst>
                <a:ext uri="{FF2B5EF4-FFF2-40B4-BE49-F238E27FC236}">
                  <a16:creationId xmlns:a16="http://schemas.microsoft.com/office/drawing/2014/main" id="{BF5C267F-A1C6-7B91-0B54-12170CEE451A}"/>
                </a:ext>
              </a:extLst>
            </p:cNvPr>
            <p:cNvCxnSpPr>
              <a:stCxn id="917" idx="3"/>
              <a:endCxn id="915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1" name="Google Shape;200;p1">
              <a:extLst>
                <a:ext uri="{FF2B5EF4-FFF2-40B4-BE49-F238E27FC236}">
                  <a16:creationId xmlns:a16="http://schemas.microsoft.com/office/drawing/2014/main" id="{927A02FA-A320-0718-641A-4D18AE959BC6}"/>
                </a:ext>
              </a:extLst>
            </p:cNvPr>
            <p:cNvCxnSpPr>
              <a:stCxn id="917" idx="6"/>
              <a:endCxn id="912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926" name="TextBox 925">
            <a:extLst>
              <a:ext uri="{FF2B5EF4-FFF2-40B4-BE49-F238E27FC236}">
                <a16:creationId xmlns:a16="http://schemas.microsoft.com/office/drawing/2014/main" id="{53B152EC-3356-F26A-C4DE-8C351756A97D}"/>
              </a:ext>
            </a:extLst>
          </p:cNvPr>
          <p:cNvSpPr txBox="1"/>
          <p:nvPr/>
        </p:nvSpPr>
        <p:spPr>
          <a:xfrm>
            <a:off x="4745786" y="9504777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.</a:t>
            </a:r>
            <a:r>
              <a:rPr lang="en-US" dirty="0" err="1"/>
              <a:t>json</a:t>
            </a:r>
            <a:endParaRPr lang="en-US" dirty="0"/>
          </a:p>
        </p:txBody>
      </p:sp>
      <p:cxnSp>
        <p:nvCxnSpPr>
          <p:cNvPr id="927" name="Straight Arrow Connector 926">
            <a:extLst>
              <a:ext uri="{FF2B5EF4-FFF2-40B4-BE49-F238E27FC236}">
                <a16:creationId xmlns:a16="http://schemas.microsoft.com/office/drawing/2014/main" id="{7C71BA5B-FBC6-6F24-CAC7-A87BD73A6672}"/>
              </a:ext>
            </a:extLst>
          </p:cNvPr>
          <p:cNvCxnSpPr>
            <a:cxnSpLocks/>
          </p:cNvCxnSpPr>
          <p:nvPr/>
        </p:nvCxnSpPr>
        <p:spPr>
          <a:xfrm>
            <a:off x="6437738" y="8942534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8" name="Flowchart: Internal Storage 927">
            <a:extLst>
              <a:ext uri="{FF2B5EF4-FFF2-40B4-BE49-F238E27FC236}">
                <a16:creationId xmlns:a16="http://schemas.microsoft.com/office/drawing/2014/main" id="{D177B321-4419-7CAF-1EF6-B98E1CA34627}"/>
              </a:ext>
            </a:extLst>
          </p:cNvPr>
          <p:cNvSpPr/>
          <p:nvPr/>
        </p:nvSpPr>
        <p:spPr>
          <a:xfrm>
            <a:off x="7070339" y="8311163"/>
            <a:ext cx="1472339" cy="1138122"/>
          </a:xfrm>
          <a:prstGeom prst="flowChartInternalStorage">
            <a:avLst/>
          </a:prstGeom>
          <a:noFill/>
          <a:ln w="12700" cap="flat">
            <a:solidFill>
              <a:schemeClr val="tx1">
                <a:lumMod val="50000"/>
              </a:schemeClr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10127E98-DA17-12F4-F995-DE937B1353EA}"/>
              </a:ext>
            </a:extLst>
          </p:cNvPr>
          <p:cNvGrpSpPr/>
          <p:nvPr/>
        </p:nvGrpSpPr>
        <p:grpSpPr>
          <a:xfrm>
            <a:off x="7473200" y="8601381"/>
            <a:ext cx="818142" cy="583040"/>
            <a:chOff x="3300333" y="6875181"/>
            <a:chExt cx="2140200" cy="1512332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D154D81E-305A-DF81-5473-3AB4162DA1DD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33" name="Google Shape;162;p1">
              <a:extLst>
                <a:ext uri="{FF2B5EF4-FFF2-40B4-BE49-F238E27FC236}">
                  <a16:creationId xmlns:a16="http://schemas.microsoft.com/office/drawing/2014/main" id="{BA3F0A9D-C0A0-B61E-1E9F-8134DAD43D74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4" name="Google Shape;163;p1">
              <a:extLst>
                <a:ext uri="{FF2B5EF4-FFF2-40B4-BE49-F238E27FC236}">
                  <a16:creationId xmlns:a16="http://schemas.microsoft.com/office/drawing/2014/main" id="{ED79FD96-B92F-79C7-1433-C466D1E1A6E4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6" name="Google Shape;164;p1">
              <a:extLst>
                <a:ext uri="{FF2B5EF4-FFF2-40B4-BE49-F238E27FC236}">
                  <a16:creationId xmlns:a16="http://schemas.microsoft.com/office/drawing/2014/main" id="{B23375F9-DD61-20BF-FE47-DC27EA84130B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7" name="Google Shape;165;p1">
              <a:extLst>
                <a:ext uri="{FF2B5EF4-FFF2-40B4-BE49-F238E27FC236}">
                  <a16:creationId xmlns:a16="http://schemas.microsoft.com/office/drawing/2014/main" id="{B7CF97F7-4244-D9D0-F26D-E5C7E0B95842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8" name="Google Shape;171;p1">
              <a:extLst>
                <a:ext uri="{FF2B5EF4-FFF2-40B4-BE49-F238E27FC236}">
                  <a16:creationId xmlns:a16="http://schemas.microsoft.com/office/drawing/2014/main" id="{20BC15CD-1824-B7B8-2A13-07134E7AAEFB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5" name="Google Shape;187;p1">
              <a:extLst>
                <a:ext uri="{FF2B5EF4-FFF2-40B4-BE49-F238E27FC236}">
                  <a16:creationId xmlns:a16="http://schemas.microsoft.com/office/drawing/2014/main" id="{AB69AFE2-242F-F448-E8A8-50DF2FD1C3C5}"/>
                </a:ext>
              </a:extLst>
            </p:cNvPr>
            <p:cNvCxnSpPr>
              <a:stCxn id="1116" idx="6"/>
              <a:endCxn id="1033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16" name="Google Shape;188;p1">
              <a:extLst>
                <a:ext uri="{FF2B5EF4-FFF2-40B4-BE49-F238E27FC236}">
                  <a16:creationId xmlns:a16="http://schemas.microsoft.com/office/drawing/2014/main" id="{5CE612AC-6CBB-1FBB-DE6F-AD4E26517E05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7" name="Google Shape;196;p1">
              <a:extLst>
                <a:ext uri="{FF2B5EF4-FFF2-40B4-BE49-F238E27FC236}">
                  <a16:creationId xmlns:a16="http://schemas.microsoft.com/office/drawing/2014/main" id="{BFE61F70-2D08-2DDE-0834-7CAE3A141176}"/>
                </a:ext>
              </a:extLst>
            </p:cNvPr>
            <p:cNvCxnSpPr>
              <a:stCxn id="1116" idx="5"/>
              <a:endCxn id="1036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8" name="Google Shape;198;p1">
              <a:extLst>
                <a:ext uri="{FF2B5EF4-FFF2-40B4-BE49-F238E27FC236}">
                  <a16:creationId xmlns:a16="http://schemas.microsoft.com/office/drawing/2014/main" id="{745D7810-E511-C71E-8D86-72AC15EF12E6}"/>
                </a:ext>
              </a:extLst>
            </p:cNvPr>
            <p:cNvCxnSpPr>
              <a:stCxn id="1116" idx="6"/>
              <a:endCxn id="1037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9" name="Google Shape;199;p1">
              <a:extLst>
                <a:ext uri="{FF2B5EF4-FFF2-40B4-BE49-F238E27FC236}">
                  <a16:creationId xmlns:a16="http://schemas.microsoft.com/office/drawing/2014/main" id="{82192832-EFCA-A6C6-93C4-0E9CD225F549}"/>
                </a:ext>
              </a:extLst>
            </p:cNvPr>
            <p:cNvCxnSpPr>
              <a:stCxn id="1116" idx="3"/>
              <a:endCxn id="1038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20" name="Google Shape;200;p1">
              <a:extLst>
                <a:ext uri="{FF2B5EF4-FFF2-40B4-BE49-F238E27FC236}">
                  <a16:creationId xmlns:a16="http://schemas.microsoft.com/office/drawing/2014/main" id="{DEDBFF8E-AC74-9B1E-748D-F2494FCAD3F1}"/>
                </a:ext>
              </a:extLst>
            </p:cNvPr>
            <p:cNvCxnSpPr>
              <a:stCxn id="1116" idx="6"/>
              <a:endCxn id="1034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1121" name="TextBox 1120">
            <a:extLst>
              <a:ext uri="{FF2B5EF4-FFF2-40B4-BE49-F238E27FC236}">
                <a16:creationId xmlns:a16="http://schemas.microsoft.com/office/drawing/2014/main" id="{FFD3432E-8FB1-269E-BB6D-037A8B523458}"/>
              </a:ext>
            </a:extLst>
          </p:cNvPr>
          <p:cNvSpPr txBox="1"/>
          <p:nvPr/>
        </p:nvSpPr>
        <p:spPr>
          <a:xfrm>
            <a:off x="6892923" y="9463342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Tetrad GUI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DB807BE4-6508-C819-8E1F-C541C26BAFA9}"/>
              </a:ext>
            </a:extLst>
          </p:cNvPr>
          <p:cNvSpPr txBox="1"/>
          <p:nvPr/>
        </p:nvSpPr>
        <p:spPr>
          <a:xfrm>
            <a:off x="7071481" y="845805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Graph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5DC524E9-528B-E761-203B-8AC6C0EFB1D9}"/>
              </a:ext>
            </a:extLst>
          </p:cNvPr>
          <p:cNvSpPr txBox="1"/>
          <p:nvPr/>
        </p:nvSpPr>
        <p:spPr>
          <a:xfrm>
            <a:off x="7061235" y="8531089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Compare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DD297501-BBE7-75BF-57DA-EA61BE15F7B3}"/>
              </a:ext>
            </a:extLst>
          </p:cNvPr>
          <p:cNvSpPr txBox="1"/>
          <p:nvPr/>
        </p:nvSpPr>
        <p:spPr>
          <a:xfrm>
            <a:off x="7048685" y="8610068"/>
            <a:ext cx="251336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Grid Search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1A88F57E-4434-5245-B538-FB381ABFE311}"/>
              </a:ext>
            </a:extLst>
          </p:cNvPr>
          <p:cNvSpPr txBox="1"/>
          <p:nvPr/>
        </p:nvSpPr>
        <p:spPr>
          <a:xfrm>
            <a:off x="7046974" y="8677995"/>
            <a:ext cx="303972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Parametric Model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76896743-4FD4-4614-A8C4-45D907EC20CB}"/>
              </a:ext>
            </a:extLst>
          </p:cNvPr>
          <p:cNvSpPr txBox="1"/>
          <p:nvPr/>
        </p:nvSpPr>
        <p:spPr>
          <a:xfrm>
            <a:off x="7052833" y="8791685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Simulation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5BF4A3F2-4D92-E975-9420-54C194329385}"/>
              </a:ext>
            </a:extLst>
          </p:cNvPr>
          <p:cNvSpPr txBox="1"/>
          <p:nvPr/>
        </p:nvSpPr>
        <p:spPr>
          <a:xfrm>
            <a:off x="7070339" y="8866499"/>
            <a:ext cx="235741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Cluster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B0CAC066-086C-4781-8C56-116A29B7ADA2}"/>
              </a:ext>
            </a:extLst>
          </p:cNvPr>
          <p:cNvSpPr txBox="1"/>
          <p:nvPr/>
        </p:nvSpPr>
        <p:spPr>
          <a:xfrm>
            <a:off x="7063846" y="8962863"/>
            <a:ext cx="260604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Structure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3F27446F-D16E-9EC3-0245-AF19FB5A8EAF}"/>
              </a:ext>
            </a:extLst>
          </p:cNvPr>
          <p:cNvSpPr txBox="1"/>
          <p:nvPr/>
        </p:nvSpPr>
        <p:spPr>
          <a:xfrm>
            <a:off x="7055007" y="9063908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Knowledge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8D2B0073-CD6A-40D1-A9EF-CAA3B7CFF64D}"/>
              </a:ext>
            </a:extLst>
          </p:cNvPr>
          <p:cNvSpPr txBox="1"/>
          <p:nvPr/>
        </p:nvSpPr>
        <p:spPr>
          <a:xfrm>
            <a:off x="7061235" y="9140557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Updater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9F6CBF11-17EC-DA7C-85A0-7E3E84516E9B}"/>
              </a:ext>
            </a:extLst>
          </p:cNvPr>
          <p:cNvSpPr txBox="1"/>
          <p:nvPr/>
        </p:nvSpPr>
        <p:spPr>
          <a:xfrm>
            <a:off x="7048685" y="9227323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Regression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AD7A1A37-E511-F8D0-DD7D-DAA6CAFB1BA7}"/>
              </a:ext>
            </a:extLst>
          </p:cNvPr>
          <p:cNvSpPr txBox="1"/>
          <p:nvPr/>
        </p:nvSpPr>
        <p:spPr>
          <a:xfrm>
            <a:off x="7233495" y="8289476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File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556585DD-6223-4D4A-6826-978C8A254730}"/>
              </a:ext>
            </a:extLst>
          </p:cNvPr>
          <p:cNvSpPr txBox="1"/>
          <p:nvPr/>
        </p:nvSpPr>
        <p:spPr>
          <a:xfrm>
            <a:off x="7303218" y="829201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Edit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426980DC-1858-E93C-34F8-1D4EC3C60E8B}"/>
              </a:ext>
            </a:extLst>
          </p:cNvPr>
          <p:cNvSpPr txBox="1"/>
          <p:nvPr/>
        </p:nvSpPr>
        <p:spPr>
          <a:xfrm>
            <a:off x="7383126" y="8291864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Logging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C4F53C18-1540-318D-D0F9-9A3D10B09B2D}"/>
              </a:ext>
            </a:extLst>
          </p:cNvPr>
          <p:cNvSpPr txBox="1"/>
          <p:nvPr/>
        </p:nvSpPr>
        <p:spPr>
          <a:xfrm>
            <a:off x="7505552" y="8292313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Pipelines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D6DEA98C-EE77-B4CC-3A87-2CC52D6745C0}"/>
              </a:ext>
            </a:extLst>
          </p:cNvPr>
          <p:cNvSpPr txBox="1"/>
          <p:nvPr/>
        </p:nvSpPr>
        <p:spPr>
          <a:xfrm>
            <a:off x="7637493" y="829506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Window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59532092-C34A-04CE-559B-52856880AE97}"/>
              </a:ext>
            </a:extLst>
          </p:cNvPr>
          <p:cNvSpPr txBox="1"/>
          <p:nvPr/>
        </p:nvSpPr>
        <p:spPr>
          <a:xfrm>
            <a:off x="7754912" y="829506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Help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64EF73DA-1479-F90C-B24E-E1F8F2EA84F6}"/>
              </a:ext>
            </a:extLst>
          </p:cNvPr>
          <p:cNvGrpSpPr/>
          <p:nvPr/>
        </p:nvGrpSpPr>
        <p:grpSpPr>
          <a:xfrm>
            <a:off x="1195787" y="7121456"/>
            <a:ext cx="358133" cy="449780"/>
            <a:chOff x="3801693" y="7065060"/>
            <a:chExt cx="465922" cy="575948"/>
          </a:xfrm>
        </p:grpSpPr>
        <p:sp>
          <p:nvSpPr>
            <p:cNvPr id="1151" name="Flowchart: Internal Storage 1150">
              <a:extLst>
                <a:ext uri="{FF2B5EF4-FFF2-40B4-BE49-F238E27FC236}">
                  <a16:creationId xmlns:a16="http://schemas.microsoft.com/office/drawing/2014/main" id="{100E2B15-0CEC-22CA-A404-736A79C3ED0E}"/>
                </a:ext>
              </a:extLst>
            </p:cNvPr>
            <p:cNvSpPr/>
            <p:nvPr/>
          </p:nvSpPr>
          <p:spPr>
            <a:xfrm>
              <a:off x="3824554" y="7065060"/>
              <a:ext cx="443061" cy="575948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12CF6F9B-6464-315B-C0FC-B25A11C7FD7A}"/>
                </a:ext>
              </a:extLst>
            </p:cNvPr>
            <p:cNvSpPr txBox="1"/>
            <p:nvPr/>
          </p:nvSpPr>
          <p:spPr>
            <a:xfrm>
              <a:off x="3801693" y="7065060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3" name="TextBox 1152">
              <a:extLst>
                <a:ext uri="{FF2B5EF4-FFF2-40B4-BE49-F238E27FC236}">
                  <a16:creationId xmlns:a16="http://schemas.microsoft.com/office/drawing/2014/main" id="{1590187F-F0B2-F6D5-669A-4C4ABEA11A67}"/>
                </a:ext>
              </a:extLst>
            </p:cNvPr>
            <p:cNvSpPr txBox="1"/>
            <p:nvPr/>
          </p:nvSpPr>
          <p:spPr>
            <a:xfrm>
              <a:off x="3801693" y="7191227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4" name="TextBox 1153">
              <a:extLst>
                <a:ext uri="{FF2B5EF4-FFF2-40B4-BE49-F238E27FC236}">
                  <a16:creationId xmlns:a16="http://schemas.microsoft.com/office/drawing/2014/main" id="{168141A6-52A0-52FD-559D-24A9854282FF}"/>
                </a:ext>
              </a:extLst>
            </p:cNvPr>
            <p:cNvSpPr txBox="1"/>
            <p:nvPr/>
          </p:nvSpPr>
          <p:spPr>
            <a:xfrm>
              <a:off x="3801693" y="7336099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1155" name="Straight Connector 1154">
              <a:extLst>
                <a:ext uri="{FF2B5EF4-FFF2-40B4-BE49-F238E27FC236}">
                  <a16:creationId xmlns:a16="http://schemas.microsoft.com/office/drawing/2014/main" id="{315A676F-4113-DCD8-9FC8-CBFA0C053AF1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1976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6" name="Straight Connector 1155">
              <a:extLst>
                <a:ext uri="{FF2B5EF4-FFF2-40B4-BE49-F238E27FC236}">
                  <a16:creationId xmlns:a16="http://schemas.microsoft.com/office/drawing/2014/main" id="{8136A12B-03FA-FA48-D878-72A3288BB566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269790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7" name="Straight Connector 1156">
              <a:extLst>
                <a:ext uri="{FF2B5EF4-FFF2-40B4-BE49-F238E27FC236}">
                  <a16:creationId xmlns:a16="http://schemas.microsoft.com/office/drawing/2014/main" id="{0EF81877-2DEC-2D84-7F8B-9B2EDF3D8231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344697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8" name="Straight Connector 1157">
              <a:extLst>
                <a:ext uri="{FF2B5EF4-FFF2-40B4-BE49-F238E27FC236}">
                  <a16:creationId xmlns:a16="http://schemas.microsoft.com/office/drawing/2014/main" id="{107A6135-695C-D1D6-3835-071170A51AC4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4262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9" name="Straight Connector 1158">
              <a:extLst>
                <a:ext uri="{FF2B5EF4-FFF2-40B4-BE49-F238E27FC236}">
                  <a16:creationId xmlns:a16="http://schemas.microsoft.com/office/drawing/2014/main" id="{91CE169B-A128-1BBB-D5CC-9DEE76E74CEC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01852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60" name="Straight Connector 1159">
              <a:extLst>
                <a:ext uri="{FF2B5EF4-FFF2-40B4-BE49-F238E27FC236}">
                  <a16:creationId xmlns:a16="http://schemas.microsoft.com/office/drawing/2014/main" id="{1516310C-AC26-A3E8-5577-442892410B47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81085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213" name="Group 1212">
            <a:extLst>
              <a:ext uri="{FF2B5EF4-FFF2-40B4-BE49-F238E27FC236}">
                <a16:creationId xmlns:a16="http://schemas.microsoft.com/office/drawing/2014/main" id="{0F7C9DE8-B535-4871-38D1-344E2F4FD1A6}"/>
              </a:ext>
            </a:extLst>
          </p:cNvPr>
          <p:cNvGrpSpPr/>
          <p:nvPr/>
        </p:nvGrpSpPr>
        <p:grpSpPr>
          <a:xfrm>
            <a:off x="2661632" y="7753204"/>
            <a:ext cx="1625672" cy="724346"/>
            <a:chOff x="4898186" y="8463563"/>
            <a:chExt cx="3978918" cy="1588036"/>
          </a:xfrm>
        </p:grpSpPr>
        <p:sp>
          <p:nvSpPr>
            <p:cNvPr id="1165" name="Folded Corner 5">
              <a:extLst>
                <a:ext uri="{FF2B5EF4-FFF2-40B4-BE49-F238E27FC236}">
                  <a16:creationId xmlns:a16="http://schemas.microsoft.com/office/drawing/2014/main" id="{F506D7FB-9265-8B9B-F2FB-A7C7B887CFA9}"/>
                </a:ext>
              </a:extLst>
            </p:cNvPr>
            <p:cNvSpPr/>
            <p:nvPr/>
          </p:nvSpPr>
          <p:spPr>
            <a:xfrm rot="10800000" flipH="1">
              <a:off x="5352204" y="8474861"/>
              <a:ext cx="944261" cy="1140881"/>
            </a:xfrm>
            <a:prstGeom prst="foldedCorner">
              <a:avLst>
                <a:gd name="adj" fmla="val 29505"/>
              </a:avLst>
            </a:prstGeom>
            <a:solidFill>
              <a:schemeClr val="bg1"/>
            </a:solidFill>
            <a:ln w="63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="horz" wrap="square" lIns="54570" tIns="54570" rIns="54570" bIns="5457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1pPr>
              <a:lvl2pPr marL="0" marR="0" indent="228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2pPr>
              <a:lvl3pPr marL="0" marR="0" indent="457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3pPr>
              <a:lvl4pPr marL="0" marR="0" indent="685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4pPr>
              <a:lvl5pPr marL="0" marR="0" indent="9144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5pPr>
              <a:lvl6pPr marL="0" marR="0" indent="11430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6pPr>
              <a:lvl7pPr marL="0" marR="0" indent="1371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7pPr>
              <a:lvl8pPr marL="0" marR="0" indent="1600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8pPr>
              <a:lvl9pPr marL="0" marR="0" indent="1828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9pPr>
            </a:lstStyle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66" name="Group 1165">
              <a:extLst>
                <a:ext uri="{FF2B5EF4-FFF2-40B4-BE49-F238E27FC236}">
                  <a16:creationId xmlns:a16="http://schemas.microsoft.com/office/drawing/2014/main" id="{4AE48098-F214-AC41-3B76-0D3FAAE3F002}"/>
                </a:ext>
              </a:extLst>
            </p:cNvPr>
            <p:cNvGrpSpPr/>
            <p:nvPr/>
          </p:nvGrpSpPr>
          <p:grpSpPr>
            <a:xfrm>
              <a:off x="5432008" y="8733825"/>
              <a:ext cx="818142" cy="583040"/>
              <a:chOff x="3300333" y="6875181"/>
              <a:chExt cx="2140200" cy="1512332"/>
            </a:xfrm>
          </p:grpSpPr>
          <p:sp>
            <p:nvSpPr>
              <p:cNvPr id="1167" name="TextBox 1166">
                <a:extLst>
                  <a:ext uri="{FF2B5EF4-FFF2-40B4-BE49-F238E27FC236}">
                    <a16:creationId xmlns:a16="http://schemas.microsoft.com/office/drawing/2014/main" id="{7529A745-00BD-DF0E-BEB3-F59D5F0C48FD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68" name="Google Shape;162;p1">
                <a:extLst>
                  <a:ext uri="{FF2B5EF4-FFF2-40B4-BE49-F238E27FC236}">
                    <a16:creationId xmlns:a16="http://schemas.microsoft.com/office/drawing/2014/main" id="{AF3AC6B0-7B91-F7EA-7DEC-95939F0D5253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69" name="Google Shape;163;p1">
                <a:extLst>
                  <a:ext uri="{FF2B5EF4-FFF2-40B4-BE49-F238E27FC236}">
                    <a16:creationId xmlns:a16="http://schemas.microsoft.com/office/drawing/2014/main" id="{682618E7-E82F-4497-833A-FCD320ECE355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0" name="Google Shape;164;p1">
                <a:extLst>
                  <a:ext uri="{FF2B5EF4-FFF2-40B4-BE49-F238E27FC236}">
                    <a16:creationId xmlns:a16="http://schemas.microsoft.com/office/drawing/2014/main" id="{35AACAB0-9054-B55F-510B-6B01B7D7D984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1" name="Google Shape;165;p1">
                <a:extLst>
                  <a:ext uri="{FF2B5EF4-FFF2-40B4-BE49-F238E27FC236}">
                    <a16:creationId xmlns:a16="http://schemas.microsoft.com/office/drawing/2014/main" id="{7F9C5666-29A0-3E13-88E1-BBE54B8DF4AB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2" name="Google Shape;171;p1">
                <a:extLst>
                  <a:ext uri="{FF2B5EF4-FFF2-40B4-BE49-F238E27FC236}">
                    <a16:creationId xmlns:a16="http://schemas.microsoft.com/office/drawing/2014/main" id="{6E8B1DF6-BB4F-F4EF-383F-10C14797424E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3" name="Google Shape;187;p1">
                <a:extLst>
                  <a:ext uri="{FF2B5EF4-FFF2-40B4-BE49-F238E27FC236}">
                    <a16:creationId xmlns:a16="http://schemas.microsoft.com/office/drawing/2014/main" id="{6980CFAE-BE43-DE2E-65B8-E2E32815B75E}"/>
                  </a:ext>
                </a:extLst>
              </p:cNvPr>
              <p:cNvCxnSpPr>
                <a:cxnSpLocks/>
                <a:stCxn id="1174" idx="6"/>
                <a:endCxn id="1168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74" name="Google Shape;188;p1">
                <a:extLst>
                  <a:ext uri="{FF2B5EF4-FFF2-40B4-BE49-F238E27FC236}">
                    <a16:creationId xmlns:a16="http://schemas.microsoft.com/office/drawing/2014/main" id="{C589C4AA-20BE-4620-C408-7A069D42ED86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5" name="Google Shape;196;p1">
                <a:extLst>
                  <a:ext uri="{FF2B5EF4-FFF2-40B4-BE49-F238E27FC236}">
                    <a16:creationId xmlns:a16="http://schemas.microsoft.com/office/drawing/2014/main" id="{020809DF-17FE-C7A6-9465-0E3FAEBB0D9E}"/>
                  </a:ext>
                </a:extLst>
              </p:cNvPr>
              <p:cNvCxnSpPr>
                <a:cxnSpLocks/>
                <a:stCxn id="1174" idx="5"/>
                <a:endCxn id="1170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6" name="Google Shape;198;p1">
                <a:extLst>
                  <a:ext uri="{FF2B5EF4-FFF2-40B4-BE49-F238E27FC236}">
                    <a16:creationId xmlns:a16="http://schemas.microsoft.com/office/drawing/2014/main" id="{F3259966-6378-BB01-2732-BCB12C309E2A}"/>
                  </a:ext>
                </a:extLst>
              </p:cNvPr>
              <p:cNvCxnSpPr>
                <a:cxnSpLocks/>
                <a:stCxn id="1174" idx="6"/>
                <a:endCxn id="1171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7" name="Google Shape;199;p1">
                <a:extLst>
                  <a:ext uri="{FF2B5EF4-FFF2-40B4-BE49-F238E27FC236}">
                    <a16:creationId xmlns:a16="http://schemas.microsoft.com/office/drawing/2014/main" id="{BE234D43-5EF2-315C-AC4B-389B4CC0DDAD}"/>
                  </a:ext>
                </a:extLst>
              </p:cNvPr>
              <p:cNvCxnSpPr>
                <a:cxnSpLocks/>
                <a:stCxn id="1174" idx="3"/>
                <a:endCxn id="1172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8" name="Google Shape;200;p1">
                <a:extLst>
                  <a:ext uri="{FF2B5EF4-FFF2-40B4-BE49-F238E27FC236}">
                    <a16:creationId xmlns:a16="http://schemas.microsoft.com/office/drawing/2014/main" id="{690287DD-B31F-237D-CD6B-1C6EBC5E668A}"/>
                  </a:ext>
                </a:extLst>
              </p:cNvPr>
              <p:cNvCxnSpPr>
                <a:cxnSpLocks/>
                <a:stCxn id="1174" idx="6"/>
                <a:endCxn id="1169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79" name="TextBox 1178">
              <a:extLst>
                <a:ext uri="{FF2B5EF4-FFF2-40B4-BE49-F238E27FC236}">
                  <a16:creationId xmlns:a16="http://schemas.microsoft.com/office/drawing/2014/main" id="{421A5349-043F-8A41-5489-51C30FE2A2CF}"/>
                </a:ext>
              </a:extLst>
            </p:cNvPr>
            <p:cNvSpPr txBox="1"/>
            <p:nvPr/>
          </p:nvSpPr>
          <p:spPr>
            <a:xfrm>
              <a:off x="4898186" y="9385556"/>
              <a:ext cx="1831780" cy="6556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000" dirty="0"/>
                <a:t>.</a:t>
              </a:r>
              <a:r>
                <a:rPr lang="en-US" sz="700" dirty="0" err="1"/>
                <a:t>json</a:t>
              </a:r>
              <a:endParaRPr lang="en-US" sz="1000" dirty="0"/>
            </a:p>
          </p:txBody>
        </p:sp>
        <p:sp>
          <p:nvSpPr>
            <p:cNvPr id="1181" name="Flowchart: Internal Storage 1180">
              <a:extLst>
                <a:ext uri="{FF2B5EF4-FFF2-40B4-BE49-F238E27FC236}">
                  <a16:creationId xmlns:a16="http://schemas.microsoft.com/office/drawing/2014/main" id="{7F730CE4-8565-AC44-B90B-B8EEF0D69E51}"/>
                </a:ext>
              </a:extLst>
            </p:cNvPr>
            <p:cNvSpPr/>
            <p:nvPr/>
          </p:nvSpPr>
          <p:spPr>
            <a:xfrm>
              <a:off x="7222739" y="8463563"/>
              <a:ext cx="1472339" cy="1138122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>
              <a:outerShdw blurRad="38100" dist="25400" dir="5400000" rotWithShape="0">
                <a:schemeClr val="bg1">
                  <a:alpha val="50000"/>
                </a:scheme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82" name="Group 1181">
              <a:extLst>
                <a:ext uri="{FF2B5EF4-FFF2-40B4-BE49-F238E27FC236}">
                  <a16:creationId xmlns:a16="http://schemas.microsoft.com/office/drawing/2014/main" id="{5F52A12D-752D-5AD1-83CA-65ACEBF35F4D}"/>
                </a:ext>
              </a:extLst>
            </p:cNvPr>
            <p:cNvGrpSpPr/>
            <p:nvPr/>
          </p:nvGrpSpPr>
          <p:grpSpPr>
            <a:xfrm>
              <a:off x="7625600" y="8753781"/>
              <a:ext cx="818142" cy="583040"/>
              <a:chOff x="3300333" y="6875181"/>
              <a:chExt cx="2140200" cy="1512332"/>
            </a:xfrm>
          </p:grpSpPr>
          <p:sp>
            <p:nvSpPr>
              <p:cNvPr id="1183" name="TextBox 1182">
                <a:extLst>
                  <a:ext uri="{FF2B5EF4-FFF2-40B4-BE49-F238E27FC236}">
                    <a16:creationId xmlns:a16="http://schemas.microsoft.com/office/drawing/2014/main" id="{9A22912C-F03A-2AF7-F037-58CD8E1F3C52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84" name="Google Shape;162;p1">
                <a:extLst>
                  <a:ext uri="{FF2B5EF4-FFF2-40B4-BE49-F238E27FC236}">
                    <a16:creationId xmlns:a16="http://schemas.microsoft.com/office/drawing/2014/main" id="{BBA9D5E1-0E74-3DDF-7684-314FDE8D7DD1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5" name="Google Shape;163;p1">
                <a:extLst>
                  <a:ext uri="{FF2B5EF4-FFF2-40B4-BE49-F238E27FC236}">
                    <a16:creationId xmlns:a16="http://schemas.microsoft.com/office/drawing/2014/main" id="{6A5FC9A1-6A30-7777-032A-9BE128708F6D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6" name="Google Shape;164;p1">
                <a:extLst>
                  <a:ext uri="{FF2B5EF4-FFF2-40B4-BE49-F238E27FC236}">
                    <a16:creationId xmlns:a16="http://schemas.microsoft.com/office/drawing/2014/main" id="{A58FB904-F642-F2EB-9778-A17901015FFA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7" name="Google Shape;165;p1">
                <a:extLst>
                  <a:ext uri="{FF2B5EF4-FFF2-40B4-BE49-F238E27FC236}">
                    <a16:creationId xmlns:a16="http://schemas.microsoft.com/office/drawing/2014/main" id="{31BBB98E-E664-8056-D096-5074C1E16D64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8" name="Google Shape;171;p1">
                <a:extLst>
                  <a:ext uri="{FF2B5EF4-FFF2-40B4-BE49-F238E27FC236}">
                    <a16:creationId xmlns:a16="http://schemas.microsoft.com/office/drawing/2014/main" id="{8DFA3E84-E660-7FA0-6712-185F668FE7A9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89" name="Google Shape;187;p1">
                <a:extLst>
                  <a:ext uri="{FF2B5EF4-FFF2-40B4-BE49-F238E27FC236}">
                    <a16:creationId xmlns:a16="http://schemas.microsoft.com/office/drawing/2014/main" id="{3045F037-0482-6981-2718-D69BFB255CF2}"/>
                  </a:ext>
                </a:extLst>
              </p:cNvPr>
              <p:cNvCxnSpPr>
                <a:cxnSpLocks/>
                <a:stCxn id="1190" idx="6"/>
                <a:endCxn id="1184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90" name="Google Shape;188;p1">
                <a:extLst>
                  <a:ext uri="{FF2B5EF4-FFF2-40B4-BE49-F238E27FC236}">
                    <a16:creationId xmlns:a16="http://schemas.microsoft.com/office/drawing/2014/main" id="{7C503838-219B-F5A0-CCC7-63AA5A8066B5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91" name="Google Shape;196;p1">
                <a:extLst>
                  <a:ext uri="{FF2B5EF4-FFF2-40B4-BE49-F238E27FC236}">
                    <a16:creationId xmlns:a16="http://schemas.microsoft.com/office/drawing/2014/main" id="{3E409D0F-9948-D44D-7C10-9E56D4483ACF}"/>
                  </a:ext>
                </a:extLst>
              </p:cNvPr>
              <p:cNvCxnSpPr>
                <a:cxnSpLocks/>
                <a:stCxn id="1190" idx="5"/>
                <a:endCxn id="1186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2" name="Google Shape;198;p1">
                <a:extLst>
                  <a:ext uri="{FF2B5EF4-FFF2-40B4-BE49-F238E27FC236}">
                    <a16:creationId xmlns:a16="http://schemas.microsoft.com/office/drawing/2014/main" id="{AF34975C-3701-F0B3-7AE5-37240D75CA8B}"/>
                  </a:ext>
                </a:extLst>
              </p:cNvPr>
              <p:cNvCxnSpPr>
                <a:cxnSpLocks/>
                <a:stCxn id="1190" idx="6"/>
                <a:endCxn id="1187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3" name="Google Shape;199;p1">
                <a:extLst>
                  <a:ext uri="{FF2B5EF4-FFF2-40B4-BE49-F238E27FC236}">
                    <a16:creationId xmlns:a16="http://schemas.microsoft.com/office/drawing/2014/main" id="{A47CD165-6C44-C574-B7CF-1485F7E1E37B}"/>
                  </a:ext>
                </a:extLst>
              </p:cNvPr>
              <p:cNvCxnSpPr>
                <a:cxnSpLocks/>
                <a:stCxn id="1190" idx="3"/>
                <a:endCxn id="1188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4" name="Google Shape;200;p1">
                <a:extLst>
                  <a:ext uri="{FF2B5EF4-FFF2-40B4-BE49-F238E27FC236}">
                    <a16:creationId xmlns:a16="http://schemas.microsoft.com/office/drawing/2014/main" id="{2DC1B2C0-284E-C0F8-2FD6-B5C10231B3A5}"/>
                  </a:ext>
                </a:extLst>
              </p:cNvPr>
              <p:cNvCxnSpPr>
                <a:cxnSpLocks/>
                <a:stCxn id="1190" idx="6"/>
                <a:endCxn id="1185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95" name="TextBox 1194">
              <a:extLst>
                <a:ext uri="{FF2B5EF4-FFF2-40B4-BE49-F238E27FC236}">
                  <a16:creationId xmlns:a16="http://schemas.microsoft.com/office/drawing/2014/main" id="{69425CC4-7C8F-8366-EAEA-083A202B0637}"/>
                </a:ext>
              </a:extLst>
            </p:cNvPr>
            <p:cNvSpPr txBox="1"/>
            <p:nvPr/>
          </p:nvSpPr>
          <p:spPr>
            <a:xfrm>
              <a:off x="7045323" y="9500399"/>
              <a:ext cx="1831781" cy="551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700" dirty="0"/>
                <a:t>Tetrad GUI</a:t>
              </a:r>
            </a:p>
          </p:txBody>
        </p:sp>
      </p:grpSp>
      <p:cxnSp>
        <p:nvCxnSpPr>
          <p:cNvPr id="1220" name="Straight Arrow Connector 1219">
            <a:extLst>
              <a:ext uri="{FF2B5EF4-FFF2-40B4-BE49-F238E27FC236}">
                <a16:creationId xmlns:a16="http://schemas.microsoft.com/office/drawing/2014/main" id="{44D630B0-55DE-BA06-8063-E47577BCD161}"/>
              </a:ext>
            </a:extLst>
          </p:cNvPr>
          <p:cNvCxnSpPr>
            <a:cxnSpLocks/>
          </p:cNvCxnSpPr>
          <p:nvPr/>
        </p:nvCxnSpPr>
        <p:spPr>
          <a:xfrm flipV="1">
            <a:off x="540609" y="7400770"/>
            <a:ext cx="542836" cy="383885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1" name="Straight Arrow Connector 1220">
            <a:extLst>
              <a:ext uri="{FF2B5EF4-FFF2-40B4-BE49-F238E27FC236}">
                <a16:creationId xmlns:a16="http://schemas.microsoft.com/office/drawing/2014/main" id="{F5A99A87-DB46-A3F3-9AF7-E6C46567F181}"/>
              </a:ext>
            </a:extLst>
          </p:cNvPr>
          <p:cNvCxnSpPr>
            <a:cxnSpLocks/>
          </p:cNvCxnSpPr>
          <p:nvPr/>
        </p:nvCxnSpPr>
        <p:spPr>
          <a:xfrm>
            <a:off x="1686611" y="7382435"/>
            <a:ext cx="371548" cy="283991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4" name="Straight Arrow Connector 1223">
            <a:extLst>
              <a:ext uri="{FF2B5EF4-FFF2-40B4-BE49-F238E27FC236}">
                <a16:creationId xmlns:a16="http://schemas.microsoft.com/office/drawing/2014/main" id="{740EFBA5-CE3C-B185-F99F-C0BB882AFA88}"/>
              </a:ext>
            </a:extLst>
          </p:cNvPr>
          <p:cNvCxnSpPr>
            <a:cxnSpLocks/>
          </p:cNvCxnSpPr>
          <p:nvPr/>
        </p:nvCxnSpPr>
        <p:spPr>
          <a:xfrm flipV="1">
            <a:off x="1950245" y="8298297"/>
            <a:ext cx="178758" cy="30308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6" name="Straight Arrow Connector 1225">
            <a:extLst>
              <a:ext uri="{FF2B5EF4-FFF2-40B4-BE49-F238E27FC236}">
                <a16:creationId xmlns:a16="http://schemas.microsoft.com/office/drawing/2014/main" id="{0706EABF-FD17-4CDB-C2D0-4E191ABF808B}"/>
              </a:ext>
            </a:extLst>
          </p:cNvPr>
          <p:cNvCxnSpPr>
            <a:cxnSpLocks/>
          </p:cNvCxnSpPr>
          <p:nvPr/>
        </p:nvCxnSpPr>
        <p:spPr>
          <a:xfrm>
            <a:off x="2446049" y="8029635"/>
            <a:ext cx="321536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9" name="Straight Arrow Connector 1228">
            <a:extLst>
              <a:ext uri="{FF2B5EF4-FFF2-40B4-BE49-F238E27FC236}">
                <a16:creationId xmlns:a16="http://schemas.microsoft.com/office/drawing/2014/main" id="{341452F6-2BDB-23B4-E4AC-31250C8E039F}"/>
              </a:ext>
            </a:extLst>
          </p:cNvPr>
          <p:cNvCxnSpPr>
            <a:cxnSpLocks/>
          </p:cNvCxnSpPr>
          <p:nvPr/>
        </p:nvCxnSpPr>
        <p:spPr>
          <a:xfrm>
            <a:off x="3325817" y="8048125"/>
            <a:ext cx="2118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33" name="TextBox 1232">
            <a:extLst>
              <a:ext uri="{FF2B5EF4-FFF2-40B4-BE49-F238E27FC236}">
                <a16:creationId xmlns:a16="http://schemas.microsoft.com/office/drawing/2014/main" id="{F3F7122C-73CD-0C56-854A-5A9946F1B91D}"/>
              </a:ext>
            </a:extLst>
          </p:cNvPr>
          <p:cNvSpPr txBox="1"/>
          <p:nvPr/>
        </p:nvSpPr>
        <p:spPr>
          <a:xfrm>
            <a:off x="1137303" y="7536186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notebook/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55877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FF2F9-C3D7-2CE3-2C5E-D2CD1FE9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0C314954-A82F-1599-E4D8-8FF5E435128D}"/>
              </a:ext>
            </a:extLst>
          </p:cNvPr>
          <p:cNvSpPr txBox="1"/>
          <p:nvPr/>
        </p:nvSpPr>
        <p:spPr>
          <a:xfrm>
            <a:off x="182880" y="5120640"/>
            <a:ext cx="4001355" cy="12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wraps the Tetrad Java API through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, exposing individual modules in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api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(data, score, algorithm, graph, knowledge, bootstrapping) that provide direct function level control over each step of the causal search pipeline.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expands on the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TetradSearch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API by breaking its single object, shared state pipeline into individual modules.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924" name="Folded Corner 5">
            <a:extLst>
              <a:ext uri="{FF2B5EF4-FFF2-40B4-BE49-F238E27FC236}">
                <a16:creationId xmlns:a16="http://schemas.microsoft.com/office/drawing/2014/main" id="{E3ED0E30-581E-E5EB-9242-65362BCDE6EA}"/>
              </a:ext>
            </a:extLst>
          </p:cNvPr>
          <p:cNvSpPr/>
          <p:nvPr/>
        </p:nvSpPr>
        <p:spPr>
          <a:xfrm rot="10800000" flipH="1">
            <a:off x="5199804" y="8322461"/>
            <a:ext cx="944261" cy="1140881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691CCFF7-39AF-704A-9DD7-A493579524CA}"/>
              </a:ext>
            </a:extLst>
          </p:cNvPr>
          <p:cNvSpPr/>
          <p:nvPr/>
        </p:nvSpPr>
        <p:spPr>
          <a:xfrm>
            <a:off x="7718005" y="6528063"/>
            <a:ext cx="416903" cy="565648"/>
          </a:xfrm>
          <a:prstGeom prst="rect">
            <a:avLst/>
          </a:prstGeom>
          <a:solidFill>
            <a:srgbClr val="FFFFFF"/>
          </a:solidFill>
          <a:ln w="254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36" name="Image" descr="Image">
            <a:extLst>
              <a:ext uri="{FF2B5EF4-FFF2-40B4-BE49-F238E27FC236}">
                <a16:creationId xmlns:a16="http://schemas.microsoft.com/office/drawing/2014/main" id="{9DFF86CA-9107-D398-6E5A-580487D65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68" y="-661924"/>
            <a:ext cx="5598432" cy="2990088"/>
          </a:xfrm>
          <a:prstGeom prst="rect">
            <a:avLst/>
          </a:prstGeom>
          <a:ln w="12700">
            <a:miter lim="400000"/>
          </a:ln>
        </p:spPr>
      </p:pic>
      <p:sp>
        <p:nvSpPr>
          <p:cNvPr id="937" name="Line">
            <a:extLst>
              <a:ext uri="{FF2B5EF4-FFF2-40B4-BE49-F238E27FC236}">
                <a16:creationId xmlns:a16="http://schemas.microsoft.com/office/drawing/2014/main" id="{CC795089-5481-858B-C7E7-BDDE5D957EF1}"/>
              </a:ext>
            </a:extLst>
          </p:cNvPr>
          <p:cNvSpPr/>
          <p:nvPr/>
        </p:nvSpPr>
        <p:spPr>
          <a:xfrm flipV="1">
            <a:off x="213255" y="10296246"/>
            <a:ext cx="13462982" cy="39499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38" name="YOUR LOGO…">
            <a:extLst>
              <a:ext uri="{FF2B5EF4-FFF2-40B4-BE49-F238E27FC236}">
                <a16:creationId xmlns:a16="http://schemas.microsoft.com/office/drawing/2014/main" id="{E0BCA8CC-5DBD-56D7-00C0-2768E88C77E8}"/>
              </a:ext>
            </a:extLst>
          </p:cNvPr>
          <p:cNvSpPr/>
          <p:nvPr/>
        </p:nvSpPr>
        <p:spPr>
          <a:xfrm>
            <a:off x="170343" y="10207710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sz="2400" dirty="0"/>
              <a:t>Kumu</a:t>
            </a:r>
            <a:endParaRPr sz="2400" dirty="0"/>
          </a:p>
        </p:txBody>
      </p:sp>
      <p:sp>
        <p:nvSpPr>
          <p:cNvPr id="939" name="Three Column Layout: : CHEAT SHEET">
            <a:extLst>
              <a:ext uri="{FF2B5EF4-FFF2-40B4-BE49-F238E27FC236}">
                <a16:creationId xmlns:a16="http://schemas.microsoft.com/office/drawing/2014/main" id="{F593105B-3FE0-EB6D-3DC2-C35FED50D023}"/>
              </a:ext>
            </a:extLst>
          </p:cNvPr>
          <p:cNvSpPr txBox="1">
            <a:spLocks/>
          </p:cNvSpPr>
          <p:nvPr/>
        </p:nvSpPr>
        <p:spPr>
          <a:xfrm>
            <a:off x="275721" y="361177"/>
            <a:ext cx="10898129" cy="803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1pPr>
            <a:lvl2pPr marL="0" marR="0" indent="228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2pPr>
            <a:lvl3pPr marL="0" marR="0" indent="457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3pPr>
            <a:lvl4pPr marL="0" marR="0" indent="685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4pPr>
            <a:lvl5pPr marL="0" marR="0" indent="9144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5pPr>
            <a:lvl6pPr marL="0" marR="0" indent="11430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6pPr>
            <a:lvl7pPr marL="0" marR="0" indent="1371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7pPr>
            <a:lvl8pPr marL="0" marR="0" indent="1600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8pPr>
            <a:lvl9pPr marL="0" marR="0" indent="1828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9pPr>
          </a:lstStyle>
          <a:p>
            <a:pPr hangingPunct="1"/>
            <a:r>
              <a:rPr lang="en-US"/>
              <a:t>Pykumu : : </a:t>
            </a:r>
            <a:r>
              <a:rPr lang="en-US"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941" name="Layout Suggestions">
            <a:extLst>
              <a:ext uri="{FF2B5EF4-FFF2-40B4-BE49-F238E27FC236}">
                <a16:creationId xmlns:a16="http://schemas.microsoft.com/office/drawing/2014/main" id="{72D1112D-5D72-4C0D-2186-A9E79496A632}"/>
              </a:ext>
            </a:extLst>
          </p:cNvPr>
          <p:cNvSpPr txBox="1"/>
          <p:nvPr/>
        </p:nvSpPr>
        <p:spPr>
          <a:xfrm>
            <a:off x="182880" y="1463040"/>
            <a:ext cx="262128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About</a:t>
            </a:r>
            <a:endParaRPr dirty="0"/>
          </a:p>
        </p:txBody>
      </p:sp>
      <p:sp>
        <p:nvSpPr>
          <p:cNvPr id="943" name="TextBox 942">
            <a:extLst>
              <a:ext uri="{FF2B5EF4-FFF2-40B4-BE49-F238E27FC236}">
                <a16:creationId xmlns:a16="http://schemas.microsoft.com/office/drawing/2014/main" id="{0AEDF108-68AC-69AD-A5AE-BE77E9713666}"/>
              </a:ext>
            </a:extLst>
          </p:cNvPr>
          <p:cNvSpPr txBox="1"/>
          <p:nvPr/>
        </p:nvSpPr>
        <p:spPr>
          <a:xfrm>
            <a:off x="6080760" y="10327008"/>
            <a:ext cx="7747698" cy="500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1000" b="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1000" b="0" dirty="0">
                <a:solidFill>
                  <a:schemeClr val="tx1"/>
                </a:solidFill>
              </a:rPr>
              <a:t> Phuong Pham,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Carlos Paradis</a:t>
            </a:r>
            <a:r>
              <a:rPr lang="en-US" sz="1000" b="0" dirty="0">
                <a:solidFill>
                  <a:schemeClr val="tx1"/>
                </a:solidFill>
              </a:rPr>
              <a:t>, Adam Graham, Jared Seto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• Kai</a:t>
            </a:r>
            <a:r>
              <a:rPr kumimoji="0" lang="haw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ā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ulu package version 0.0.0.9700 (in development) •  Updated: 2026-04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4" name="Logistics">
            <a:extLst>
              <a:ext uri="{FF2B5EF4-FFF2-40B4-BE49-F238E27FC236}">
                <a16:creationId xmlns:a16="http://schemas.microsoft.com/office/drawing/2014/main" id="{8BB4B33D-D541-FD8B-245B-3BE04D34F2DD}"/>
              </a:ext>
            </a:extLst>
          </p:cNvPr>
          <p:cNvSpPr txBox="1"/>
          <p:nvPr/>
        </p:nvSpPr>
        <p:spPr>
          <a:xfrm>
            <a:off x="9601200" y="146304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API</a:t>
            </a:r>
          </a:p>
        </p:txBody>
      </p:sp>
      <p:sp>
        <p:nvSpPr>
          <p:cNvPr id="945" name="Logistics">
            <a:extLst>
              <a:ext uri="{FF2B5EF4-FFF2-40B4-BE49-F238E27FC236}">
                <a16:creationId xmlns:a16="http://schemas.microsoft.com/office/drawing/2014/main" id="{BBA9410E-6953-2287-CC6E-A1E4D95E25C2}"/>
              </a:ext>
            </a:extLst>
          </p:cNvPr>
          <p:cNvSpPr txBox="1"/>
          <p:nvPr/>
        </p:nvSpPr>
        <p:spPr>
          <a:xfrm>
            <a:off x="182880" y="6675120"/>
            <a:ext cx="332142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Command Line Interface</a:t>
            </a:r>
          </a:p>
        </p:txBody>
      </p:sp>
      <p:sp>
        <p:nvSpPr>
          <p:cNvPr id="947" name="Basics">
            <a:extLst>
              <a:ext uri="{FF2B5EF4-FFF2-40B4-BE49-F238E27FC236}">
                <a16:creationId xmlns:a16="http://schemas.microsoft.com/office/drawing/2014/main" id="{D66AC529-5ACB-5491-1F66-8D2DAF551427}"/>
              </a:ext>
            </a:extLst>
          </p:cNvPr>
          <p:cNvSpPr txBox="1"/>
          <p:nvPr/>
        </p:nvSpPr>
        <p:spPr>
          <a:xfrm>
            <a:off x="182880" y="2834640"/>
            <a:ext cx="16991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lc="http://schemas.openxmlformats.org/drawingml/2006/lockedCanvas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 err="1"/>
              <a:t>Pykumu</a:t>
            </a:r>
            <a:r>
              <a:rPr lang="en-US" dirty="0"/>
              <a:t> API </a:t>
            </a:r>
            <a:endParaRPr dirty="0"/>
          </a:p>
        </p:txBody>
      </p:sp>
      <p:sp>
        <p:nvSpPr>
          <p:cNvPr id="948" name="Manipulate Variables">
            <a:extLst>
              <a:ext uri="{FF2B5EF4-FFF2-40B4-BE49-F238E27FC236}">
                <a16:creationId xmlns:a16="http://schemas.microsoft.com/office/drawing/2014/main" id="{2D557908-D50C-00DD-43D4-BE42D6906EE1}"/>
              </a:ext>
            </a:extLst>
          </p:cNvPr>
          <p:cNvSpPr txBox="1"/>
          <p:nvPr/>
        </p:nvSpPr>
        <p:spPr>
          <a:xfrm>
            <a:off x="4754880" y="1463040"/>
            <a:ext cx="3414396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Analysis Workflow</a:t>
            </a:r>
          </a:p>
        </p:txBody>
      </p:sp>
      <p:graphicFrame>
        <p:nvGraphicFramePr>
          <p:cNvPr id="952" name="Table">
            <a:extLst>
              <a:ext uri="{FF2B5EF4-FFF2-40B4-BE49-F238E27FC236}">
                <a16:creationId xmlns:a16="http://schemas.microsoft.com/office/drawing/2014/main" id="{C62D6ABA-34C1-29E9-17F9-D9447D93104A}"/>
              </a:ext>
            </a:extLst>
          </p:cNvPr>
          <p:cNvGraphicFramePr/>
          <p:nvPr/>
        </p:nvGraphicFramePr>
        <p:xfrm>
          <a:off x="7572970" y="1860776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3" name="Table">
            <a:extLst>
              <a:ext uri="{FF2B5EF4-FFF2-40B4-BE49-F238E27FC236}">
                <a16:creationId xmlns:a16="http://schemas.microsoft.com/office/drawing/2014/main" id="{9DC6C3C0-A685-BA3B-4D64-08D707A394A5}"/>
              </a:ext>
            </a:extLst>
          </p:cNvPr>
          <p:cNvGraphicFramePr/>
          <p:nvPr/>
        </p:nvGraphicFramePr>
        <p:xfrm>
          <a:off x="8061338" y="3158012"/>
          <a:ext cx="646626" cy="63799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07771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2262694748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819122332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296678260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322319369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17903980"/>
                    </a:ext>
                  </a:extLst>
                </a:gridCol>
              </a:tblGrid>
              <a:tr h="127598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4" name="Table">
            <a:extLst>
              <a:ext uri="{FF2B5EF4-FFF2-40B4-BE49-F238E27FC236}">
                <a16:creationId xmlns:a16="http://schemas.microsoft.com/office/drawing/2014/main" id="{DD3CE780-7C92-6930-F1DF-D43C8A94F283}"/>
              </a:ext>
            </a:extLst>
          </p:cNvPr>
          <p:cNvGraphicFramePr/>
          <p:nvPr/>
        </p:nvGraphicFramePr>
        <p:xfrm>
          <a:off x="57722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5" name="Table">
            <a:extLst>
              <a:ext uri="{FF2B5EF4-FFF2-40B4-BE49-F238E27FC236}">
                <a16:creationId xmlns:a16="http://schemas.microsoft.com/office/drawing/2014/main" id="{BC0658E7-38AE-8E2B-3CCB-697BC25C68FD}"/>
              </a:ext>
            </a:extLst>
          </p:cNvPr>
          <p:cNvGraphicFramePr/>
          <p:nvPr/>
        </p:nvGraphicFramePr>
        <p:xfrm>
          <a:off x="7118882" y="3162435"/>
          <a:ext cx="627864" cy="6400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933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102988"/>
                  </a:ext>
                </a:extLst>
              </a:tr>
            </a:tbl>
          </a:graphicData>
        </a:graphic>
      </p:graphicFrame>
      <p:graphicFrame>
        <p:nvGraphicFramePr>
          <p:cNvPr id="956" name="Table">
            <a:extLst>
              <a:ext uri="{FF2B5EF4-FFF2-40B4-BE49-F238E27FC236}">
                <a16:creationId xmlns:a16="http://schemas.microsoft.com/office/drawing/2014/main" id="{994306D9-AA5C-4E2B-A603-7AC1DC3B4E26}"/>
              </a:ext>
            </a:extLst>
          </p:cNvPr>
          <p:cNvGraphicFramePr/>
          <p:nvPr/>
        </p:nvGraphicFramePr>
        <p:xfrm>
          <a:off x="53483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7" name="Plus Sign 956">
            <a:extLst>
              <a:ext uri="{FF2B5EF4-FFF2-40B4-BE49-F238E27FC236}">
                <a16:creationId xmlns:a16="http://schemas.microsoft.com/office/drawing/2014/main" id="{C2AC550E-CD23-B1F3-2805-F427E1518497}"/>
              </a:ext>
            </a:extLst>
          </p:cNvPr>
          <p:cNvSpPr/>
          <p:nvPr/>
        </p:nvSpPr>
        <p:spPr>
          <a:xfrm>
            <a:off x="5608866" y="3336992"/>
            <a:ext cx="118473" cy="124938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8" name="Plus Sign 957">
            <a:extLst>
              <a:ext uri="{FF2B5EF4-FFF2-40B4-BE49-F238E27FC236}">
                <a16:creationId xmlns:a16="http://schemas.microsoft.com/office/drawing/2014/main" id="{A96B3FC7-09AE-AD15-3977-A452033792A2}"/>
              </a:ext>
            </a:extLst>
          </p:cNvPr>
          <p:cNvSpPr/>
          <p:nvPr/>
        </p:nvSpPr>
        <p:spPr>
          <a:xfrm>
            <a:off x="7845219" y="3413769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9" name="Left Brace 958">
            <a:extLst>
              <a:ext uri="{FF2B5EF4-FFF2-40B4-BE49-F238E27FC236}">
                <a16:creationId xmlns:a16="http://schemas.microsoft.com/office/drawing/2014/main" id="{EBBB8E7F-996B-F8CE-8E8A-BFE3617CCE38}"/>
              </a:ext>
            </a:extLst>
          </p:cNvPr>
          <p:cNvSpPr/>
          <p:nvPr/>
        </p:nvSpPr>
        <p:spPr>
          <a:xfrm>
            <a:off x="7013808" y="3168613"/>
            <a:ext cx="45719" cy="623765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0" name="TextBox 959">
            <a:extLst>
              <a:ext uri="{FF2B5EF4-FFF2-40B4-BE49-F238E27FC236}">
                <a16:creationId xmlns:a16="http://schemas.microsoft.com/office/drawing/2014/main" id="{E4669502-6002-1F1E-ADCB-BE24D5BDB1F4}"/>
              </a:ext>
            </a:extLst>
          </p:cNvPr>
          <p:cNvSpPr txBox="1"/>
          <p:nvPr/>
        </p:nvSpPr>
        <p:spPr>
          <a:xfrm>
            <a:off x="6843820" y="3302155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1" name="Left Brace 960">
            <a:extLst>
              <a:ext uri="{FF2B5EF4-FFF2-40B4-BE49-F238E27FC236}">
                <a16:creationId xmlns:a16="http://schemas.microsoft.com/office/drawing/2014/main" id="{A8DD372D-B1D4-9452-02B7-82169437EAEA}"/>
              </a:ext>
            </a:extLst>
          </p:cNvPr>
          <p:cNvSpPr/>
          <p:nvPr/>
        </p:nvSpPr>
        <p:spPr>
          <a:xfrm rot="5400000">
            <a:off x="8355720" y="2751534"/>
            <a:ext cx="51104" cy="639868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769135EC-B198-8D61-7012-F336027D0D40}"/>
              </a:ext>
            </a:extLst>
          </p:cNvPr>
          <p:cNvSpPr txBox="1"/>
          <p:nvPr/>
        </p:nvSpPr>
        <p:spPr>
          <a:xfrm>
            <a:off x="8298111" y="2791232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3" name="TextBox 962">
            <a:extLst>
              <a:ext uri="{FF2B5EF4-FFF2-40B4-BE49-F238E27FC236}">
                <a16:creationId xmlns:a16="http://schemas.microsoft.com/office/drawing/2014/main" id="{85475456-0E8E-82BF-7F24-6BEDED7F56D2}"/>
              </a:ext>
            </a:extLst>
          </p:cNvPr>
          <p:cNvSpPr txBox="1"/>
          <p:nvPr/>
        </p:nvSpPr>
        <p:spPr>
          <a:xfrm>
            <a:off x="7059527" y="2904070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CVE_ID</a:t>
            </a:r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7365A346-B739-BE36-D062-9E970FBA224E}"/>
              </a:ext>
            </a:extLst>
          </p:cNvPr>
          <p:cNvSpPr txBox="1"/>
          <p:nvPr/>
        </p:nvSpPr>
        <p:spPr>
          <a:xfrm>
            <a:off x="5375035" y="3638435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5" name="TextBox 964">
            <a:extLst>
              <a:ext uri="{FF2B5EF4-FFF2-40B4-BE49-F238E27FC236}">
                <a16:creationId xmlns:a16="http://schemas.microsoft.com/office/drawing/2014/main" id="{F1641D32-EAAD-5571-6C45-3DCCE6E459D3}"/>
              </a:ext>
            </a:extLst>
          </p:cNvPr>
          <p:cNvSpPr txBox="1"/>
          <p:nvPr/>
        </p:nvSpPr>
        <p:spPr>
          <a:xfrm>
            <a:off x="8265907" y="4958917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23B038C8-BB28-D0BB-6129-9564580E792A}"/>
              </a:ext>
            </a:extLst>
          </p:cNvPr>
          <p:cNvSpPr txBox="1"/>
          <p:nvPr/>
        </p:nvSpPr>
        <p:spPr>
          <a:xfrm>
            <a:off x="7143372" y="3761779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dirty="0"/>
              <a:t>4. Indicator Features 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7" name="TextBox 966">
            <a:extLst>
              <a:ext uri="{FF2B5EF4-FFF2-40B4-BE49-F238E27FC236}">
                <a16:creationId xmlns:a16="http://schemas.microsoft.com/office/drawing/2014/main" id="{CFE47E7F-254D-260D-2E0C-F9CCF78C1839}"/>
              </a:ext>
            </a:extLst>
          </p:cNvPr>
          <p:cNvSpPr txBox="1"/>
          <p:nvPr/>
        </p:nvSpPr>
        <p:spPr>
          <a:xfrm>
            <a:off x="5218291" y="3762554"/>
            <a:ext cx="872964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/>
              <a:t>3. Time Lag</a:t>
            </a:r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58DE9C7D-80BA-72FC-9017-1312EF2867A5}"/>
              </a:ext>
            </a:extLst>
          </p:cNvPr>
          <p:cNvSpPr txBox="1"/>
          <p:nvPr/>
        </p:nvSpPr>
        <p:spPr>
          <a:xfrm>
            <a:off x="7464986" y="2450238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2. Dataset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69" name="Connector: Elbow 968">
            <a:extLst>
              <a:ext uri="{FF2B5EF4-FFF2-40B4-BE49-F238E27FC236}">
                <a16:creationId xmlns:a16="http://schemas.microsoft.com/office/drawing/2014/main" id="{9B5D8624-ACE8-6C36-48B7-716A5A4FDE1F}"/>
              </a:ext>
            </a:extLst>
          </p:cNvPr>
          <p:cNvCxnSpPr>
            <a:cxnSpLocks/>
            <a:endCxn id="995" idx="1"/>
          </p:cNvCxnSpPr>
          <p:nvPr/>
        </p:nvCxnSpPr>
        <p:spPr>
          <a:xfrm flipH="1">
            <a:off x="5209590" y="2279027"/>
            <a:ext cx="3498712" cy="1167195"/>
          </a:xfrm>
          <a:prstGeom prst="bentConnector5">
            <a:avLst>
              <a:gd name="adj1" fmla="val -9550"/>
              <a:gd name="adj2" fmla="val 50000"/>
              <a:gd name="adj3" fmla="val 112547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70" name="Rectangle 969">
            <a:extLst>
              <a:ext uri="{FF2B5EF4-FFF2-40B4-BE49-F238E27FC236}">
                <a16:creationId xmlns:a16="http://schemas.microsoft.com/office/drawing/2014/main" id="{400B9D7E-883E-716D-EDBE-30590C9E8D46}"/>
              </a:ext>
            </a:extLst>
          </p:cNvPr>
          <p:cNvSpPr/>
          <p:nvPr/>
        </p:nvSpPr>
        <p:spPr>
          <a:xfrm>
            <a:off x="7370620" y="1800587"/>
            <a:ext cx="1443262" cy="996921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971" name="Table">
            <a:extLst>
              <a:ext uri="{FF2B5EF4-FFF2-40B4-BE49-F238E27FC236}">
                <a16:creationId xmlns:a16="http://schemas.microsoft.com/office/drawing/2014/main" id="{3DB3D59F-DE0C-16A6-8026-48676117C62D}"/>
              </a:ext>
            </a:extLst>
          </p:cNvPr>
          <p:cNvGraphicFramePr/>
          <p:nvPr/>
        </p:nvGraphicFramePr>
        <p:xfrm>
          <a:off x="5798497" y="4490104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72" name="Table">
            <a:extLst>
              <a:ext uri="{FF2B5EF4-FFF2-40B4-BE49-F238E27FC236}">
                <a16:creationId xmlns:a16="http://schemas.microsoft.com/office/drawing/2014/main" id="{7F19F66E-5E3C-EAA8-220A-48F09913A53A}"/>
              </a:ext>
            </a:extLst>
          </p:cNvPr>
          <p:cNvGraphicFramePr/>
          <p:nvPr/>
        </p:nvGraphicFramePr>
        <p:xfrm>
          <a:off x="5305505" y="4499036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3" name="Plus Sign 972">
            <a:extLst>
              <a:ext uri="{FF2B5EF4-FFF2-40B4-BE49-F238E27FC236}">
                <a16:creationId xmlns:a16="http://schemas.microsoft.com/office/drawing/2014/main" id="{AFF210D1-5B02-5A1C-C5B0-E7E97115CD98}"/>
              </a:ext>
            </a:extLst>
          </p:cNvPr>
          <p:cNvSpPr/>
          <p:nvPr/>
        </p:nvSpPr>
        <p:spPr>
          <a:xfrm>
            <a:off x="5599687" y="4490104"/>
            <a:ext cx="12099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74" name="TextBox 973">
            <a:extLst>
              <a:ext uri="{FF2B5EF4-FFF2-40B4-BE49-F238E27FC236}">
                <a16:creationId xmlns:a16="http://schemas.microsoft.com/office/drawing/2014/main" id="{7B51FF4D-249C-DACC-EB29-37324DEE8718}"/>
              </a:ext>
            </a:extLst>
          </p:cNvPr>
          <p:cNvSpPr txBox="1"/>
          <p:nvPr/>
        </p:nvSpPr>
        <p:spPr>
          <a:xfrm>
            <a:off x="5103638" y="5067603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5. Null Features</a:t>
            </a:r>
          </a:p>
        </p:txBody>
      </p:sp>
      <p:cxnSp>
        <p:nvCxnSpPr>
          <p:cNvPr id="975" name="Straight Arrow Connector 974">
            <a:extLst>
              <a:ext uri="{FF2B5EF4-FFF2-40B4-BE49-F238E27FC236}">
                <a16:creationId xmlns:a16="http://schemas.microsoft.com/office/drawing/2014/main" id="{F2EC8265-67B5-77E7-8574-309AA2DF8E2C}"/>
              </a:ext>
            </a:extLst>
          </p:cNvPr>
          <p:cNvCxnSpPr>
            <a:cxnSpLocks/>
          </p:cNvCxnSpPr>
          <p:nvPr/>
        </p:nvCxnSpPr>
        <p:spPr>
          <a:xfrm>
            <a:off x="5512825" y="4664976"/>
            <a:ext cx="285672" cy="357737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6" name="Straight Arrow Connector 975">
            <a:extLst>
              <a:ext uri="{FF2B5EF4-FFF2-40B4-BE49-F238E27FC236}">
                <a16:creationId xmlns:a16="http://schemas.microsoft.com/office/drawing/2014/main" id="{553F398E-F293-C680-DAF1-4E4DC00F99F6}"/>
              </a:ext>
            </a:extLst>
          </p:cNvPr>
          <p:cNvCxnSpPr>
            <a:cxnSpLocks/>
          </p:cNvCxnSpPr>
          <p:nvPr/>
        </p:nvCxnSpPr>
        <p:spPr>
          <a:xfrm>
            <a:off x="5512825" y="4798565"/>
            <a:ext cx="285672" cy="11364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7" name="Straight Arrow Connector 976">
            <a:extLst>
              <a:ext uri="{FF2B5EF4-FFF2-40B4-BE49-F238E27FC236}">
                <a16:creationId xmlns:a16="http://schemas.microsoft.com/office/drawing/2014/main" id="{1AD8EB67-F60D-8325-5B0A-F2CF0482C91B}"/>
              </a:ext>
            </a:extLst>
          </p:cNvPr>
          <p:cNvCxnSpPr>
            <a:cxnSpLocks/>
            <a:endCxn id="971" idx="1"/>
          </p:cNvCxnSpPr>
          <p:nvPr/>
        </p:nvCxnSpPr>
        <p:spPr>
          <a:xfrm flipV="1">
            <a:off x="5506921" y="4786981"/>
            <a:ext cx="291576" cy="12208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8" name="Straight Arrow Connector 977">
            <a:extLst>
              <a:ext uri="{FF2B5EF4-FFF2-40B4-BE49-F238E27FC236}">
                <a16:creationId xmlns:a16="http://schemas.microsoft.com/office/drawing/2014/main" id="{A9D0B7F7-DAB8-0769-63AB-3FEBDFE185E2}"/>
              </a:ext>
            </a:extLst>
          </p:cNvPr>
          <p:cNvCxnSpPr>
            <a:cxnSpLocks/>
          </p:cNvCxnSpPr>
          <p:nvPr/>
        </p:nvCxnSpPr>
        <p:spPr>
          <a:xfrm flipV="1">
            <a:off x="5509148" y="4664976"/>
            <a:ext cx="289349" cy="36609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9" name="Connector: Elbow 978">
            <a:extLst>
              <a:ext uri="{FF2B5EF4-FFF2-40B4-BE49-F238E27FC236}">
                <a16:creationId xmlns:a16="http://schemas.microsoft.com/office/drawing/2014/main" id="{698E7627-BEE1-2C39-B9EC-CD64CD24505C}"/>
              </a:ext>
            </a:extLst>
          </p:cNvPr>
          <p:cNvCxnSpPr>
            <a:cxnSpLocks/>
            <a:stCxn id="992" idx="3"/>
            <a:endCxn id="993" idx="1"/>
          </p:cNvCxnSpPr>
          <p:nvPr/>
        </p:nvCxnSpPr>
        <p:spPr>
          <a:xfrm flipH="1">
            <a:off x="5202130" y="3497252"/>
            <a:ext cx="3609346" cy="1247213"/>
          </a:xfrm>
          <a:prstGeom prst="bentConnector5">
            <a:avLst>
              <a:gd name="adj1" fmla="val -6334"/>
              <a:gd name="adj2" fmla="val 54130"/>
              <a:gd name="adj3" fmla="val 111841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0" name="TextBox 979">
            <a:extLst>
              <a:ext uri="{FF2B5EF4-FFF2-40B4-BE49-F238E27FC236}">
                <a16:creationId xmlns:a16="http://schemas.microsoft.com/office/drawing/2014/main" id="{14F1B3D8-C0A4-108E-61F0-6DD75D7FD7B6}"/>
              </a:ext>
            </a:extLst>
          </p:cNvPr>
          <p:cNvSpPr txBox="1"/>
          <p:nvPr/>
        </p:nvSpPr>
        <p:spPr>
          <a:xfrm>
            <a:off x="5700184" y="4315800"/>
            <a:ext cx="481869" cy="2000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NV-ID</a:t>
            </a:r>
          </a:p>
        </p:txBody>
      </p:sp>
      <p:pic>
        <p:nvPicPr>
          <p:cNvPr id="981" name="Picture 980" descr="A picture containing text&#10;&#10;Description automatically generated">
            <a:extLst>
              <a:ext uri="{FF2B5EF4-FFF2-40B4-BE49-F238E27FC236}">
                <a16:creationId xmlns:a16="http://schemas.microsoft.com/office/drawing/2014/main" id="{99A3BBFF-D504-2E6D-253B-71B5C4C753A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501" y="1793256"/>
            <a:ext cx="575884" cy="668768"/>
          </a:xfrm>
          <a:prstGeom prst="rect">
            <a:avLst/>
          </a:prstGeom>
        </p:spPr>
      </p:pic>
      <p:sp>
        <p:nvSpPr>
          <p:cNvPr id="982" name="TextBox 981">
            <a:extLst>
              <a:ext uri="{FF2B5EF4-FFF2-40B4-BE49-F238E27FC236}">
                <a16:creationId xmlns:a16="http://schemas.microsoft.com/office/drawing/2014/main" id="{85E063F2-E11D-C385-EF49-05BE24671C5E}"/>
              </a:ext>
            </a:extLst>
          </p:cNvPr>
          <p:cNvSpPr txBox="1"/>
          <p:nvPr/>
        </p:nvSpPr>
        <p:spPr>
          <a:xfrm>
            <a:off x="5004947" y="2423307"/>
            <a:ext cx="131138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1. </a:t>
            </a:r>
            <a:r>
              <a:rPr lang="en-US" dirty="0" err="1"/>
              <a:t>sailuh</a:t>
            </a:r>
            <a:r>
              <a:rPr lang="en-US" dirty="0"/>
              <a:t>/</a:t>
            </a:r>
            <a:r>
              <a:rPr lang="en-US" dirty="0" err="1"/>
              <a:t>kaiaulu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83" name="TextBox 982">
            <a:extLst>
              <a:ext uri="{FF2B5EF4-FFF2-40B4-BE49-F238E27FC236}">
                <a16:creationId xmlns:a16="http://schemas.microsoft.com/office/drawing/2014/main" id="{997881FC-C1A8-FFB2-27D5-7246154A12E9}"/>
              </a:ext>
            </a:extLst>
          </p:cNvPr>
          <p:cNvSpPr txBox="1"/>
          <p:nvPr/>
        </p:nvSpPr>
        <p:spPr>
          <a:xfrm>
            <a:off x="7046974" y="7065060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7.2 Domain Knowledge</a:t>
            </a:r>
          </a:p>
        </p:txBody>
      </p:sp>
      <p:cxnSp>
        <p:nvCxnSpPr>
          <p:cNvPr id="984" name="Connector: Elbow 983">
            <a:extLst>
              <a:ext uri="{FF2B5EF4-FFF2-40B4-BE49-F238E27FC236}">
                <a16:creationId xmlns:a16="http://schemas.microsoft.com/office/drawing/2014/main" id="{E00413EF-435C-2318-F001-CCEE63D6E0A4}"/>
              </a:ext>
            </a:extLst>
          </p:cNvPr>
          <p:cNvCxnSpPr>
            <a:cxnSpLocks/>
            <a:endCxn id="1102" idx="3"/>
          </p:cNvCxnSpPr>
          <p:nvPr/>
        </p:nvCxnSpPr>
        <p:spPr>
          <a:xfrm flipH="1">
            <a:off x="8451473" y="5231923"/>
            <a:ext cx="266193" cy="568100"/>
          </a:xfrm>
          <a:prstGeom prst="bentConnector3">
            <a:avLst>
              <a:gd name="adj1" fmla="val -12022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5" name="Connector: Elbow 984">
            <a:extLst>
              <a:ext uri="{FF2B5EF4-FFF2-40B4-BE49-F238E27FC236}">
                <a16:creationId xmlns:a16="http://schemas.microsoft.com/office/drawing/2014/main" id="{0CC5EB30-36B5-1032-CFCC-411D2CD5C1CA}"/>
              </a:ext>
            </a:extLst>
          </p:cNvPr>
          <p:cNvCxnSpPr>
            <a:cxnSpLocks/>
          </p:cNvCxnSpPr>
          <p:nvPr/>
        </p:nvCxnSpPr>
        <p:spPr>
          <a:xfrm rot="10800000">
            <a:off x="6191032" y="6088412"/>
            <a:ext cx="1339738" cy="753131"/>
          </a:xfrm>
          <a:prstGeom prst="bentConnector3">
            <a:avLst>
              <a:gd name="adj1" fmla="val 6433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6" name="Connector: Elbow 985">
            <a:extLst>
              <a:ext uri="{FF2B5EF4-FFF2-40B4-BE49-F238E27FC236}">
                <a16:creationId xmlns:a16="http://schemas.microsoft.com/office/drawing/2014/main" id="{CDCA2EF7-0DE1-A0C6-239D-772D0EDAA8CF}"/>
              </a:ext>
            </a:extLst>
          </p:cNvPr>
          <p:cNvCxnSpPr>
            <a:cxnSpLocks/>
            <a:stCxn id="1103" idx="1"/>
          </p:cNvCxnSpPr>
          <p:nvPr/>
        </p:nvCxnSpPr>
        <p:spPr>
          <a:xfrm rot="10800000" flipV="1">
            <a:off x="6191031" y="5778057"/>
            <a:ext cx="1218821" cy="310351"/>
          </a:xfrm>
          <a:prstGeom prst="bentConnector3">
            <a:avLst>
              <a:gd name="adj1" fmla="val 61094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7" name="Connector: Elbow 986">
            <a:extLst>
              <a:ext uri="{FF2B5EF4-FFF2-40B4-BE49-F238E27FC236}">
                <a16:creationId xmlns:a16="http://schemas.microsoft.com/office/drawing/2014/main" id="{6FDA6C89-481B-661C-8F20-1C50A8CD2228}"/>
              </a:ext>
            </a:extLst>
          </p:cNvPr>
          <p:cNvCxnSpPr>
            <a:cxnSpLocks/>
            <a:stCxn id="997" idx="1"/>
          </p:cNvCxnSpPr>
          <p:nvPr/>
        </p:nvCxnSpPr>
        <p:spPr>
          <a:xfrm rot="10800000" flipV="1">
            <a:off x="6191031" y="3958395"/>
            <a:ext cx="868497" cy="2130014"/>
          </a:xfrm>
          <a:prstGeom prst="bentConnector3">
            <a:avLst>
              <a:gd name="adj1" fmla="val 44736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8" name="Connector: Elbow 987">
            <a:extLst>
              <a:ext uri="{FF2B5EF4-FFF2-40B4-BE49-F238E27FC236}">
                <a16:creationId xmlns:a16="http://schemas.microsoft.com/office/drawing/2014/main" id="{F58258B7-D7EA-BF1B-E27B-944F5E1B14F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146994" y="6098332"/>
            <a:ext cx="1516881" cy="1905124"/>
          </a:xfrm>
          <a:prstGeom prst="bentConnector4">
            <a:avLst>
              <a:gd name="adj1" fmla="val -25117"/>
              <a:gd name="adj2" fmla="val 73163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9" name="Straight Arrow Connector 988">
            <a:extLst>
              <a:ext uri="{FF2B5EF4-FFF2-40B4-BE49-F238E27FC236}">
                <a16:creationId xmlns:a16="http://schemas.microsoft.com/office/drawing/2014/main" id="{9034AEBD-E5C1-991C-3618-2B09DD9FDE85}"/>
              </a:ext>
            </a:extLst>
          </p:cNvPr>
          <p:cNvCxnSpPr>
            <a:cxnSpLocks/>
          </p:cNvCxnSpPr>
          <p:nvPr/>
        </p:nvCxnSpPr>
        <p:spPr>
          <a:xfrm>
            <a:off x="6463103" y="4734321"/>
            <a:ext cx="540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0" name="Straight Arrow Connector 989">
            <a:extLst>
              <a:ext uri="{FF2B5EF4-FFF2-40B4-BE49-F238E27FC236}">
                <a16:creationId xmlns:a16="http://schemas.microsoft.com/office/drawing/2014/main" id="{00A22497-E5EC-9475-D0A6-A8DC9BAEB544}"/>
              </a:ext>
            </a:extLst>
          </p:cNvPr>
          <p:cNvCxnSpPr>
            <a:cxnSpLocks/>
          </p:cNvCxnSpPr>
          <p:nvPr/>
        </p:nvCxnSpPr>
        <p:spPr>
          <a:xfrm>
            <a:off x="6578363" y="2180213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1" name="TextBox 990">
            <a:extLst>
              <a:ext uri="{FF2B5EF4-FFF2-40B4-BE49-F238E27FC236}">
                <a16:creationId xmlns:a16="http://schemas.microsoft.com/office/drawing/2014/main" id="{D7F9714C-F2C7-045F-83D8-23BB98C27038}"/>
              </a:ext>
            </a:extLst>
          </p:cNvPr>
          <p:cNvSpPr txBox="1"/>
          <p:nvPr/>
        </p:nvSpPr>
        <p:spPr>
          <a:xfrm>
            <a:off x="8573910" y="1854240"/>
            <a:ext cx="130496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2" name="TextBox 991">
            <a:extLst>
              <a:ext uri="{FF2B5EF4-FFF2-40B4-BE49-F238E27FC236}">
                <a16:creationId xmlns:a16="http://schemas.microsoft.com/office/drawing/2014/main" id="{8CE523BD-CEB7-610A-8661-C35EE2ABBACE}"/>
              </a:ext>
            </a:extLst>
          </p:cNvPr>
          <p:cNvSpPr txBox="1"/>
          <p:nvPr/>
        </p:nvSpPr>
        <p:spPr>
          <a:xfrm>
            <a:off x="8701206" y="333699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3" name="TextBox 992">
            <a:extLst>
              <a:ext uri="{FF2B5EF4-FFF2-40B4-BE49-F238E27FC236}">
                <a16:creationId xmlns:a16="http://schemas.microsoft.com/office/drawing/2014/main" id="{C79DC456-BB5B-559D-6B14-BA51B81FCC0B}"/>
              </a:ext>
            </a:extLst>
          </p:cNvPr>
          <p:cNvSpPr txBox="1"/>
          <p:nvPr/>
        </p:nvSpPr>
        <p:spPr>
          <a:xfrm>
            <a:off x="5202130" y="458420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FA6E205D-D595-98F6-7E67-5964F4B9C0AE}"/>
              </a:ext>
            </a:extLst>
          </p:cNvPr>
          <p:cNvCxnSpPr>
            <a:cxnSpLocks/>
          </p:cNvCxnSpPr>
          <p:nvPr/>
        </p:nvCxnSpPr>
        <p:spPr>
          <a:xfrm>
            <a:off x="6304400" y="3467696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5" name="TextBox 994">
            <a:extLst>
              <a:ext uri="{FF2B5EF4-FFF2-40B4-BE49-F238E27FC236}">
                <a16:creationId xmlns:a16="http://schemas.microsoft.com/office/drawing/2014/main" id="{3CEC728F-62B4-D7CD-1F8A-BE4AB0923686}"/>
              </a:ext>
            </a:extLst>
          </p:cNvPr>
          <p:cNvSpPr txBox="1"/>
          <p:nvPr/>
        </p:nvSpPr>
        <p:spPr>
          <a:xfrm>
            <a:off x="5209590" y="328596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6" name="TextBox 995">
            <a:extLst>
              <a:ext uri="{FF2B5EF4-FFF2-40B4-BE49-F238E27FC236}">
                <a16:creationId xmlns:a16="http://schemas.microsoft.com/office/drawing/2014/main" id="{3886A61C-5535-06E9-7133-577896DC4AE9}"/>
              </a:ext>
            </a:extLst>
          </p:cNvPr>
          <p:cNvSpPr txBox="1"/>
          <p:nvPr/>
        </p:nvSpPr>
        <p:spPr>
          <a:xfrm rot="5400000">
            <a:off x="7893098" y="3828354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7" name="TextBox 996">
            <a:extLst>
              <a:ext uri="{FF2B5EF4-FFF2-40B4-BE49-F238E27FC236}">
                <a16:creationId xmlns:a16="http://schemas.microsoft.com/office/drawing/2014/main" id="{A2FAD1C7-7103-8B9F-00B4-F05CDDD94555}"/>
              </a:ext>
            </a:extLst>
          </p:cNvPr>
          <p:cNvSpPr txBox="1"/>
          <p:nvPr/>
        </p:nvSpPr>
        <p:spPr>
          <a:xfrm>
            <a:off x="7059527" y="379813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8" name="TextBox 997">
            <a:extLst>
              <a:ext uri="{FF2B5EF4-FFF2-40B4-BE49-F238E27FC236}">
                <a16:creationId xmlns:a16="http://schemas.microsoft.com/office/drawing/2014/main" id="{49A2EC70-51F3-C905-7382-37F046D94790}"/>
              </a:ext>
            </a:extLst>
          </p:cNvPr>
          <p:cNvSpPr txBox="1"/>
          <p:nvPr/>
        </p:nvSpPr>
        <p:spPr>
          <a:xfrm rot="5400000">
            <a:off x="6616888" y="7825672"/>
            <a:ext cx="97008" cy="231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99" name="Graphic 998" descr="Cmd Terminal with solid fill">
            <a:extLst>
              <a:ext uri="{FF2B5EF4-FFF2-40B4-BE49-F238E27FC236}">
                <a16:creationId xmlns:a16="http://schemas.microsoft.com/office/drawing/2014/main" id="{8E0A52D5-3143-1537-5A94-9EFEC25604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761" y="8507313"/>
            <a:ext cx="451448" cy="455550"/>
          </a:xfrm>
          <a:prstGeom prst="rect">
            <a:avLst/>
          </a:prstGeom>
        </p:spPr>
      </p:pic>
      <p:pic>
        <p:nvPicPr>
          <p:cNvPr id="1000" name="Graphic 999" descr="Paper outline">
            <a:extLst>
              <a:ext uri="{FF2B5EF4-FFF2-40B4-BE49-F238E27FC236}">
                <a16:creationId xmlns:a16="http://schemas.microsoft.com/office/drawing/2014/main" id="{A250EA6D-FFE3-24BF-250D-95EB4EBD16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37240" y="7758357"/>
            <a:ext cx="261597" cy="261597"/>
          </a:xfrm>
          <a:prstGeom prst="rect">
            <a:avLst/>
          </a:prstGeom>
        </p:spPr>
      </p:pic>
      <p:sp>
        <p:nvSpPr>
          <p:cNvPr id="1001" name="TextBox 1000">
            <a:extLst>
              <a:ext uri="{FF2B5EF4-FFF2-40B4-BE49-F238E27FC236}">
                <a16:creationId xmlns:a16="http://schemas.microsoft.com/office/drawing/2014/main" id="{8B57A2EC-DF2E-1BEE-930A-95D21A6A8463}"/>
              </a:ext>
            </a:extLst>
          </p:cNvPr>
          <p:cNvSpPr txBox="1"/>
          <p:nvPr/>
        </p:nvSpPr>
        <p:spPr>
          <a:xfrm>
            <a:off x="1861850" y="7961614"/>
            <a:ext cx="687081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API</a:t>
            </a:r>
          </a:p>
        </p:txBody>
      </p:sp>
      <p:pic>
        <p:nvPicPr>
          <p:cNvPr id="1002" name="Graphic 1001" descr="Paper outline">
            <a:extLst>
              <a:ext uri="{FF2B5EF4-FFF2-40B4-BE49-F238E27FC236}">
                <a16:creationId xmlns:a16="http://schemas.microsoft.com/office/drawing/2014/main" id="{CA41B3B2-63EC-642D-3111-328DC35C05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2978" y="8472819"/>
            <a:ext cx="527267" cy="527267"/>
          </a:xfrm>
          <a:prstGeom prst="rect">
            <a:avLst/>
          </a:prstGeom>
        </p:spPr>
      </p:pic>
      <p:sp>
        <p:nvSpPr>
          <p:cNvPr id="1003" name="TextBox 1002">
            <a:extLst>
              <a:ext uri="{FF2B5EF4-FFF2-40B4-BE49-F238E27FC236}">
                <a16:creationId xmlns:a16="http://schemas.microsoft.com/office/drawing/2014/main" id="{AD142FF4-2303-0CB7-CD58-BCBC7884A8DE}"/>
              </a:ext>
            </a:extLst>
          </p:cNvPr>
          <p:cNvSpPr txBox="1"/>
          <p:nvPr/>
        </p:nvSpPr>
        <p:spPr>
          <a:xfrm>
            <a:off x="1509263" y="8904797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exec/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7656E50D-AEC6-FE18-FF13-A385A616F19D}"/>
              </a:ext>
            </a:extLst>
          </p:cNvPr>
          <p:cNvSpPr/>
          <p:nvPr/>
        </p:nvSpPr>
        <p:spPr>
          <a:xfrm>
            <a:off x="185141" y="7885351"/>
            <a:ext cx="710936" cy="20869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&lt;</a:t>
            </a: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File_paths</a:t>
            </a: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&gt;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09" name="Straight Arrow Connector 1008">
            <a:extLst>
              <a:ext uri="{FF2B5EF4-FFF2-40B4-BE49-F238E27FC236}">
                <a16:creationId xmlns:a16="http://schemas.microsoft.com/office/drawing/2014/main" id="{075E66D9-C79A-D0E8-D435-8191ED018F51}"/>
              </a:ext>
            </a:extLst>
          </p:cNvPr>
          <p:cNvCxnSpPr>
            <a:cxnSpLocks/>
          </p:cNvCxnSpPr>
          <p:nvPr/>
        </p:nvCxnSpPr>
        <p:spPr>
          <a:xfrm>
            <a:off x="1292611" y="8729259"/>
            <a:ext cx="164486" cy="719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10" name="Straight Arrow Connector 1009">
            <a:extLst>
              <a:ext uri="{FF2B5EF4-FFF2-40B4-BE49-F238E27FC236}">
                <a16:creationId xmlns:a16="http://schemas.microsoft.com/office/drawing/2014/main" id="{8E44C52A-F2FB-A229-4247-AFBD6445D67D}"/>
              </a:ext>
            </a:extLst>
          </p:cNvPr>
          <p:cNvCxnSpPr>
            <a:cxnSpLocks/>
          </p:cNvCxnSpPr>
          <p:nvPr/>
        </p:nvCxnSpPr>
        <p:spPr>
          <a:xfrm>
            <a:off x="540609" y="8202553"/>
            <a:ext cx="251152" cy="274997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ADB6B9A7-CB1E-D4F0-D1A0-6B55AECD80F7}"/>
              </a:ext>
            </a:extLst>
          </p:cNvPr>
          <p:cNvSpPr txBox="1"/>
          <p:nvPr/>
        </p:nvSpPr>
        <p:spPr>
          <a:xfrm>
            <a:off x="182880" y="932688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Exec scripts provides command line access to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Pykumu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API package, allowing its causal analysis capabilities to be accessed via the terminal or server side without writing Python code. 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1019" name="TextBox 1018">
            <a:extLst>
              <a:ext uri="{FF2B5EF4-FFF2-40B4-BE49-F238E27FC236}">
                <a16:creationId xmlns:a16="http://schemas.microsoft.com/office/drawing/2014/main" id="{5A9252A7-EEAC-172A-AC56-81AD14AE382A}"/>
              </a:ext>
            </a:extLst>
          </p:cNvPr>
          <p:cNvSpPr txBox="1"/>
          <p:nvPr/>
        </p:nvSpPr>
        <p:spPr>
          <a:xfrm>
            <a:off x="232303" y="393741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>
                <a:solidFill>
                  <a:schemeClr val="bg2">
                    <a:lumMod val="10000"/>
                  </a:schemeClr>
                </a:solidFill>
              </a:rPr>
              <a:t>Tetrad Java API</a:t>
            </a:r>
          </a:p>
        </p:txBody>
      </p:sp>
      <p:pic>
        <p:nvPicPr>
          <p:cNvPr id="1020" name="Graphic 1019" descr="Paper outline">
            <a:extLst>
              <a:ext uri="{FF2B5EF4-FFF2-40B4-BE49-F238E27FC236}">
                <a16:creationId xmlns:a16="http://schemas.microsoft.com/office/drawing/2014/main" id="{0CC260D2-3E6D-77C9-987D-A4B3D4A122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0954" y="4265041"/>
            <a:ext cx="527267" cy="527267"/>
          </a:xfrm>
          <a:prstGeom prst="rect">
            <a:avLst/>
          </a:prstGeom>
        </p:spPr>
      </p:pic>
      <p:cxnSp>
        <p:nvCxnSpPr>
          <p:cNvPr id="1023" name="Straight Arrow Connector 1022">
            <a:extLst>
              <a:ext uri="{FF2B5EF4-FFF2-40B4-BE49-F238E27FC236}">
                <a16:creationId xmlns:a16="http://schemas.microsoft.com/office/drawing/2014/main" id="{230F80FA-3AA3-B54B-B0D0-F94EC4D47590}"/>
              </a:ext>
            </a:extLst>
          </p:cNvPr>
          <p:cNvCxnSpPr>
            <a:cxnSpLocks/>
          </p:cNvCxnSpPr>
          <p:nvPr/>
        </p:nvCxnSpPr>
        <p:spPr>
          <a:xfrm>
            <a:off x="1028993" y="3837479"/>
            <a:ext cx="9092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AED99DA7-E551-B0DD-7E6E-4D6170AC02CF}"/>
              </a:ext>
            </a:extLst>
          </p:cNvPr>
          <p:cNvCxnSpPr>
            <a:cxnSpLocks/>
          </p:cNvCxnSpPr>
          <p:nvPr/>
        </p:nvCxnSpPr>
        <p:spPr>
          <a:xfrm>
            <a:off x="1023055" y="3972100"/>
            <a:ext cx="340872" cy="391832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9D9E69E5-2F6A-4EE2-EFFA-567994C73806}"/>
              </a:ext>
            </a:extLst>
          </p:cNvPr>
          <p:cNvSpPr txBox="1"/>
          <p:nvPr/>
        </p:nvSpPr>
        <p:spPr>
          <a:xfrm>
            <a:off x="815127" y="4126651"/>
            <a:ext cx="536637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BE9B2848-2114-AAF1-486D-D0CBE94EDA2C}"/>
              </a:ext>
            </a:extLst>
          </p:cNvPr>
          <p:cNvSpPr txBox="1"/>
          <p:nvPr/>
        </p:nvSpPr>
        <p:spPr>
          <a:xfrm>
            <a:off x="1510648" y="4422940"/>
            <a:ext cx="371960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" b="0" dirty="0" err="1">
                <a:solidFill>
                  <a:schemeClr val="tx1">
                    <a:lumMod val="50000"/>
                  </a:schemeClr>
                </a:solidFill>
              </a:rPr>
              <a:t>TetradSearch</a:t>
            </a:r>
            <a:r>
              <a:rPr lang="en-US" sz="300" b="0" dirty="0">
                <a:solidFill>
                  <a:schemeClr val="tx1">
                    <a:lumMod val="50000"/>
                  </a:schemeClr>
                </a:solidFill>
              </a:rPr>
              <a:t> Class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170F90C8-1ED2-7196-0275-813BA68AC295}"/>
              </a:ext>
            </a:extLst>
          </p:cNvPr>
          <p:cNvSpPr txBox="1"/>
          <p:nvPr/>
        </p:nvSpPr>
        <p:spPr>
          <a:xfrm>
            <a:off x="2385334" y="3867687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 API</a:t>
            </a:r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A4DD7004-8FA4-8C6D-17C1-C4F4F0835D15}"/>
              </a:ext>
            </a:extLst>
          </p:cNvPr>
          <p:cNvCxnSpPr>
            <a:cxnSpLocks/>
          </p:cNvCxnSpPr>
          <p:nvPr/>
        </p:nvCxnSpPr>
        <p:spPr>
          <a:xfrm flipV="1">
            <a:off x="1979305" y="4126651"/>
            <a:ext cx="450843" cy="239726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41" name="Folded Corner 3">
            <a:extLst>
              <a:ext uri="{FF2B5EF4-FFF2-40B4-BE49-F238E27FC236}">
                <a16:creationId xmlns:a16="http://schemas.microsoft.com/office/drawing/2014/main" id="{53C5C817-AC91-F91C-AB89-80F1E0AFE8DC}"/>
              </a:ext>
            </a:extLst>
          </p:cNvPr>
          <p:cNvSpPr/>
          <p:nvPr/>
        </p:nvSpPr>
        <p:spPr>
          <a:xfrm rot="10800000" flipH="1">
            <a:off x="2129004" y="337722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2" name="Folded Corner 4">
            <a:extLst>
              <a:ext uri="{FF2B5EF4-FFF2-40B4-BE49-F238E27FC236}">
                <a16:creationId xmlns:a16="http://schemas.microsoft.com/office/drawing/2014/main" id="{E03129F7-213D-6A1D-1102-E639D24ED991}"/>
              </a:ext>
            </a:extLst>
          </p:cNvPr>
          <p:cNvSpPr/>
          <p:nvPr/>
        </p:nvSpPr>
        <p:spPr>
          <a:xfrm rot="10800000" flipH="1">
            <a:off x="2095922" y="3405690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3" name="Folded Corner 5">
            <a:extLst>
              <a:ext uri="{FF2B5EF4-FFF2-40B4-BE49-F238E27FC236}">
                <a16:creationId xmlns:a16="http://schemas.microsoft.com/office/drawing/2014/main" id="{4771A92F-6200-758F-F0BE-6BCF665E56F8}"/>
              </a:ext>
            </a:extLst>
          </p:cNvPr>
          <p:cNvSpPr/>
          <p:nvPr/>
        </p:nvSpPr>
        <p:spPr>
          <a:xfrm rot="10800000" flipH="1">
            <a:off x="2055485" y="343946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C34A54A9-08C8-A31F-75B4-21DD9D61CB93}"/>
              </a:ext>
            </a:extLst>
          </p:cNvPr>
          <p:cNvSpPr txBox="1"/>
          <p:nvPr/>
        </p:nvSpPr>
        <p:spPr>
          <a:xfrm>
            <a:off x="2026720" y="358624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tetrad.py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C5C8E882-C9F4-2CAF-4709-6728D6EC1599}"/>
              </a:ext>
            </a:extLst>
          </p:cNvPr>
          <p:cNvSpPr txBox="1"/>
          <p:nvPr/>
        </p:nvSpPr>
        <p:spPr>
          <a:xfrm>
            <a:off x="1285591" y="470218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TetradSearch.py</a:t>
            </a:r>
          </a:p>
        </p:txBody>
      </p: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23B922A3-17F3-68FA-D55E-0E35EE1CB38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6384" y="118872"/>
            <a:ext cx="1444661" cy="1673352"/>
          </a:xfrm>
          <a:prstGeom prst="rect">
            <a:avLst/>
          </a:prstGeom>
        </p:spPr>
      </p:pic>
      <p:sp>
        <p:nvSpPr>
          <p:cNvPr id="1065" name="TextBox 1064">
            <a:extLst>
              <a:ext uri="{FF2B5EF4-FFF2-40B4-BE49-F238E27FC236}">
                <a16:creationId xmlns:a16="http://schemas.microsoft.com/office/drawing/2014/main" id="{C0C36388-6CA5-553B-1805-3A81EFA10337}"/>
              </a:ext>
            </a:extLst>
          </p:cNvPr>
          <p:cNvSpPr txBox="1"/>
          <p:nvPr/>
        </p:nvSpPr>
        <p:spPr>
          <a:xfrm>
            <a:off x="7318302" y="5055976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6. Causal Search</a:t>
            </a:r>
          </a:p>
        </p:txBody>
      </p:sp>
      <p:graphicFrame>
        <p:nvGraphicFramePr>
          <p:cNvPr id="1066" name="Table">
            <a:extLst>
              <a:ext uri="{FF2B5EF4-FFF2-40B4-BE49-F238E27FC236}">
                <a16:creationId xmlns:a16="http://schemas.microsoft.com/office/drawing/2014/main" id="{D76BC554-D5FF-0E46-5AE0-E5437D081E90}"/>
              </a:ext>
            </a:extLst>
          </p:cNvPr>
          <p:cNvGraphicFramePr/>
          <p:nvPr/>
        </p:nvGraphicFramePr>
        <p:xfrm>
          <a:off x="8297833" y="443547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67" name="Table">
            <a:extLst>
              <a:ext uri="{FF2B5EF4-FFF2-40B4-BE49-F238E27FC236}">
                <a16:creationId xmlns:a16="http://schemas.microsoft.com/office/drawing/2014/main" id="{65D024C8-7FB9-030A-1C38-D9A99C2968A1}"/>
              </a:ext>
            </a:extLst>
          </p:cNvPr>
          <p:cNvGraphicFramePr/>
          <p:nvPr/>
        </p:nvGraphicFramePr>
        <p:xfrm>
          <a:off x="7722129" y="443293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68" name="Arrow: Right 1067">
            <a:extLst>
              <a:ext uri="{FF2B5EF4-FFF2-40B4-BE49-F238E27FC236}">
                <a16:creationId xmlns:a16="http://schemas.microsoft.com/office/drawing/2014/main" id="{23324158-885A-5F8C-9060-0BCC18A11887}"/>
              </a:ext>
            </a:extLst>
          </p:cNvPr>
          <p:cNvSpPr/>
          <p:nvPr/>
        </p:nvSpPr>
        <p:spPr>
          <a:xfrm>
            <a:off x="8027045" y="4694321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069" name="Table">
            <a:extLst>
              <a:ext uri="{FF2B5EF4-FFF2-40B4-BE49-F238E27FC236}">
                <a16:creationId xmlns:a16="http://schemas.microsoft.com/office/drawing/2014/main" id="{EE804AF9-04B5-F381-B961-89CC9F360B8E}"/>
              </a:ext>
            </a:extLst>
          </p:cNvPr>
          <p:cNvGraphicFramePr/>
          <p:nvPr/>
        </p:nvGraphicFramePr>
        <p:xfrm>
          <a:off x="7343385" y="4435227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0" name="Plus Sign 1069">
            <a:extLst>
              <a:ext uri="{FF2B5EF4-FFF2-40B4-BE49-F238E27FC236}">
                <a16:creationId xmlns:a16="http://schemas.microsoft.com/office/drawing/2014/main" id="{42298C8D-189D-1B1F-E31E-E1B9DEA708F4}"/>
              </a:ext>
            </a:extLst>
          </p:cNvPr>
          <p:cNvSpPr/>
          <p:nvPr/>
        </p:nvSpPr>
        <p:spPr>
          <a:xfrm>
            <a:off x="7572970" y="4672577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90351F26-434C-3C58-674D-D1314366E39A}"/>
              </a:ext>
            </a:extLst>
          </p:cNvPr>
          <p:cNvSpPr txBox="1"/>
          <p:nvPr/>
        </p:nvSpPr>
        <p:spPr>
          <a:xfrm>
            <a:off x="7370545" y="4957546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BDE7862-F93B-E79C-FF2C-F9001C786344}"/>
              </a:ext>
            </a:extLst>
          </p:cNvPr>
          <p:cNvSpPr txBox="1"/>
          <p:nvPr/>
        </p:nvSpPr>
        <p:spPr>
          <a:xfrm>
            <a:off x="7632893" y="4956657"/>
            <a:ext cx="424651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Ind. </a:t>
            </a: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Ftr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4DBEECBD-CEA8-9400-2924-C309D66C038C}"/>
              </a:ext>
            </a:extLst>
          </p:cNvPr>
          <p:cNvSpPr txBox="1"/>
          <p:nvPr/>
        </p:nvSpPr>
        <p:spPr>
          <a:xfrm>
            <a:off x="7948233" y="4515228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D811EEA2-EC2C-2496-C7E3-8BE33BAF95FA}"/>
              </a:ext>
            </a:extLst>
          </p:cNvPr>
          <p:cNvSpPr txBox="1"/>
          <p:nvPr/>
        </p:nvSpPr>
        <p:spPr>
          <a:xfrm>
            <a:off x="7194148" y="5974847"/>
            <a:ext cx="1619559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7.1 1-PNEF Threshold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70D5F6DA-96D3-3CE9-C62B-F2708D83FA5C}"/>
              </a:ext>
            </a:extLst>
          </p:cNvPr>
          <p:cNvSpPr txBox="1"/>
          <p:nvPr/>
        </p:nvSpPr>
        <p:spPr>
          <a:xfrm>
            <a:off x="5731442" y="3637622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99DFC2C0-C584-E121-D1CB-723B64D7AE20}"/>
              </a:ext>
            </a:extLst>
          </p:cNvPr>
          <p:cNvSpPr txBox="1"/>
          <p:nvPr/>
        </p:nvSpPr>
        <p:spPr>
          <a:xfrm>
            <a:off x="4766552" y="6486513"/>
            <a:ext cx="1831781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8. Domain Knowledge Causal Search</a:t>
            </a:r>
          </a:p>
        </p:txBody>
      </p:sp>
      <p:graphicFrame>
        <p:nvGraphicFramePr>
          <p:cNvPr id="1077" name="Table">
            <a:extLst>
              <a:ext uri="{FF2B5EF4-FFF2-40B4-BE49-F238E27FC236}">
                <a16:creationId xmlns:a16="http://schemas.microsoft.com/office/drawing/2014/main" id="{F6BFABA2-B247-0FC0-7B2E-95BC358FCBD3}"/>
              </a:ext>
            </a:extLst>
          </p:cNvPr>
          <p:cNvGraphicFramePr/>
          <p:nvPr/>
        </p:nvGraphicFramePr>
        <p:xfrm>
          <a:off x="5269967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78" name="Table">
            <a:extLst>
              <a:ext uri="{FF2B5EF4-FFF2-40B4-BE49-F238E27FC236}">
                <a16:creationId xmlns:a16="http://schemas.microsoft.com/office/drawing/2014/main" id="{1540A03C-1E06-97E3-B743-1E8B8E2C73E6}"/>
              </a:ext>
            </a:extLst>
          </p:cNvPr>
          <p:cNvGraphicFramePr/>
          <p:nvPr/>
        </p:nvGraphicFramePr>
        <p:xfrm>
          <a:off x="5828244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9" name="TextBox 1078">
            <a:extLst>
              <a:ext uri="{FF2B5EF4-FFF2-40B4-BE49-F238E27FC236}">
                <a16:creationId xmlns:a16="http://schemas.microsoft.com/office/drawing/2014/main" id="{7E93909A-A38A-6841-9EE4-0D594DC3AEF8}"/>
              </a:ext>
            </a:extLst>
          </p:cNvPr>
          <p:cNvSpPr txBox="1"/>
          <p:nvPr/>
        </p:nvSpPr>
        <p:spPr>
          <a:xfrm>
            <a:off x="5856148" y="6329618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76451CA4-9BA9-A66A-F360-FF54DBB9E212}"/>
              </a:ext>
            </a:extLst>
          </p:cNvPr>
          <p:cNvSpPr txBox="1"/>
          <p:nvPr/>
        </p:nvSpPr>
        <p:spPr>
          <a:xfrm>
            <a:off x="5242857" y="6333739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81" name="Arrow: Right 1080">
            <a:extLst>
              <a:ext uri="{FF2B5EF4-FFF2-40B4-BE49-F238E27FC236}">
                <a16:creationId xmlns:a16="http://schemas.microsoft.com/office/drawing/2014/main" id="{D984CCEF-DC2F-D360-6F03-FBEC05EEA9AE}"/>
              </a:ext>
            </a:extLst>
          </p:cNvPr>
          <p:cNvSpPr/>
          <p:nvPr/>
        </p:nvSpPr>
        <p:spPr>
          <a:xfrm rot="10800000">
            <a:off x="5552507" y="6049867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2E1E77E0-C6C6-F149-0444-86736136B1EA}"/>
              </a:ext>
            </a:extLst>
          </p:cNvPr>
          <p:cNvSpPr txBox="1"/>
          <p:nvPr/>
        </p:nvSpPr>
        <p:spPr>
          <a:xfrm>
            <a:off x="5490560" y="5860025"/>
            <a:ext cx="339664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6458EDB-77B8-294E-D47E-C0FBFD33CFC7}"/>
              </a:ext>
            </a:extLst>
          </p:cNvPr>
          <p:cNvSpPr/>
          <p:nvPr/>
        </p:nvSpPr>
        <p:spPr>
          <a:xfrm>
            <a:off x="8040579" y="5752125"/>
            <a:ext cx="206996" cy="6210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099C0BB6-4DD6-D963-9EA9-A37F3C078DAA}"/>
              </a:ext>
            </a:extLst>
          </p:cNvPr>
          <p:cNvCxnSpPr>
            <a:cxnSpLocks/>
          </p:cNvCxnSpPr>
          <p:nvPr/>
        </p:nvCxnSpPr>
        <p:spPr>
          <a:xfrm>
            <a:off x="8010337" y="5687156"/>
            <a:ext cx="0" cy="188119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9B4A729E-A12B-0D5B-F20A-0D235E2F3438}"/>
              </a:ext>
            </a:extLst>
          </p:cNvPr>
          <p:cNvCxnSpPr>
            <a:cxnSpLocks/>
          </p:cNvCxnSpPr>
          <p:nvPr/>
        </p:nvCxnSpPr>
        <p:spPr>
          <a:xfrm flipH="1">
            <a:off x="7599385" y="5778796"/>
            <a:ext cx="375263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86" name="TextBox 1085">
            <a:extLst>
              <a:ext uri="{FF2B5EF4-FFF2-40B4-BE49-F238E27FC236}">
                <a16:creationId xmlns:a16="http://schemas.microsoft.com/office/drawing/2014/main" id="{374F5421-DC82-9089-5534-1F0F65622737}"/>
              </a:ext>
            </a:extLst>
          </p:cNvPr>
          <p:cNvSpPr txBox="1"/>
          <p:nvPr/>
        </p:nvSpPr>
        <p:spPr>
          <a:xfrm>
            <a:off x="7544037" y="5812123"/>
            <a:ext cx="941475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n.edges</a:t>
            </a: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&lt; x</a:t>
            </a:r>
            <a:r>
              <a:rPr lang="en-US" sz="700" dirty="0"/>
              <a:t>%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E277EAFB-7496-2EE8-996E-A9D9BDC7FE93}"/>
              </a:ext>
            </a:extLst>
          </p:cNvPr>
          <p:cNvSpPr/>
          <p:nvPr/>
        </p:nvSpPr>
        <p:spPr>
          <a:xfrm>
            <a:off x="7747498" y="6647124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2DA5C79B-241B-C3FD-DFCB-B6D93ED975B5}"/>
              </a:ext>
            </a:extLst>
          </p:cNvPr>
          <p:cNvSpPr/>
          <p:nvPr/>
        </p:nvSpPr>
        <p:spPr>
          <a:xfrm>
            <a:off x="7766196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73BFB2E4-547D-6E49-ACB8-A6A419839DD4}"/>
              </a:ext>
            </a:extLst>
          </p:cNvPr>
          <p:cNvSpPr/>
          <p:nvPr/>
        </p:nvSpPr>
        <p:spPr>
          <a:xfrm>
            <a:off x="7882271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B59CE41F-B9F1-5628-0657-0F0F9050BF4D}"/>
              </a:ext>
            </a:extLst>
          </p:cNvPr>
          <p:cNvSpPr/>
          <p:nvPr/>
        </p:nvSpPr>
        <p:spPr>
          <a:xfrm>
            <a:off x="8006330" y="6675665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B6D17929-0B95-46E2-2EC3-D03C5CE23C65}"/>
              </a:ext>
            </a:extLst>
          </p:cNvPr>
          <p:cNvSpPr txBox="1"/>
          <p:nvPr/>
        </p:nvSpPr>
        <p:spPr>
          <a:xfrm>
            <a:off x="7709321" y="6508461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1</a:t>
            </a: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3C822176-8AD9-B3C1-2F7E-DBDF00234A0A}"/>
              </a:ext>
            </a:extLst>
          </p:cNvPr>
          <p:cNvSpPr/>
          <p:nvPr/>
        </p:nvSpPr>
        <p:spPr>
          <a:xfrm>
            <a:off x="7745715" y="680360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4E7F8A89-DAA5-B6B1-34CE-D09972CD0E63}"/>
              </a:ext>
            </a:extLst>
          </p:cNvPr>
          <p:cNvSpPr/>
          <p:nvPr/>
        </p:nvSpPr>
        <p:spPr>
          <a:xfrm>
            <a:off x="7764413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02F56B9E-0D16-A0A0-DD5F-DE25AFAA8CE6}"/>
              </a:ext>
            </a:extLst>
          </p:cNvPr>
          <p:cNvSpPr/>
          <p:nvPr/>
        </p:nvSpPr>
        <p:spPr>
          <a:xfrm>
            <a:off x="7880488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9E5AED0C-C3E0-C697-E61C-AA52B9436D40}"/>
              </a:ext>
            </a:extLst>
          </p:cNvPr>
          <p:cNvSpPr/>
          <p:nvPr/>
        </p:nvSpPr>
        <p:spPr>
          <a:xfrm>
            <a:off x="8004547" y="683215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0AFE87E0-65BF-B806-9F6B-98F5C398DD0F}"/>
              </a:ext>
            </a:extLst>
          </p:cNvPr>
          <p:cNvSpPr txBox="1"/>
          <p:nvPr/>
        </p:nvSpPr>
        <p:spPr>
          <a:xfrm>
            <a:off x="7707538" y="666494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2</a:t>
            </a: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04263E9D-B026-7D44-0B26-7B08E04CC798}"/>
              </a:ext>
            </a:extLst>
          </p:cNvPr>
          <p:cNvSpPr/>
          <p:nvPr/>
        </p:nvSpPr>
        <p:spPr>
          <a:xfrm>
            <a:off x="7746658" y="695499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288898CC-794E-DB83-F28D-24727C8A1B9A}"/>
              </a:ext>
            </a:extLst>
          </p:cNvPr>
          <p:cNvSpPr/>
          <p:nvPr/>
        </p:nvSpPr>
        <p:spPr>
          <a:xfrm>
            <a:off x="7765356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BD40F293-DD02-314D-1A7F-2534EE1F28B9}"/>
              </a:ext>
            </a:extLst>
          </p:cNvPr>
          <p:cNvSpPr/>
          <p:nvPr/>
        </p:nvSpPr>
        <p:spPr>
          <a:xfrm>
            <a:off x="7881431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881F5D33-E5D9-E60E-647D-CB5283A8B2BA}"/>
              </a:ext>
            </a:extLst>
          </p:cNvPr>
          <p:cNvSpPr/>
          <p:nvPr/>
        </p:nvSpPr>
        <p:spPr>
          <a:xfrm>
            <a:off x="8005490" y="698354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82A371B3-B72E-BA0C-3B1A-4C4D5B14AF1D}"/>
              </a:ext>
            </a:extLst>
          </p:cNvPr>
          <p:cNvSpPr txBox="1"/>
          <p:nvPr/>
        </p:nvSpPr>
        <p:spPr>
          <a:xfrm>
            <a:off x="7708481" y="681633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3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BBF07EB8-51D8-9E97-5B0A-D99FC9555775}"/>
              </a:ext>
            </a:extLst>
          </p:cNvPr>
          <p:cNvSpPr txBox="1"/>
          <p:nvPr/>
        </p:nvSpPr>
        <p:spPr>
          <a:xfrm>
            <a:off x="8341203" y="5639763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B4204A25-A643-8B47-0109-437E3272A9DD}"/>
              </a:ext>
            </a:extLst>
          </p:cNvPr>
          <p:cNvSpPr txBox="1"/>
          <p:nvPr/>
        </p:nvSpPr>
        <p:spPr>
          <a:xfrm>
            <a:off x="7409851" y="5617798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44D81686-3C69-E653-F6C8-C2B0B1166DD4}"/>
              </a:ext>
            </a:extLst>
          </p:cNvPr>
          <p:cNvSpPr txBox="1"/>
          <p:nvPr/>
        </p:nvSpPr>
        <p:spPr>
          <a:xfrm>
            <a:off x="7672781" y="6340098"/>
            <a:ext cx="580165" cy="212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Knowledge Box</a:t>
            </a:r>
          </a:p>
        </p:txBody>
      </p:sp>
      <p:sp>
        <p:nvSpPr>
          <p:cNvPr id="1105" name="Logistics">
            <a:extLst>
              <a:ext uri="{FF2B5EF4-FFF2-40B4-BE49-F238E27FC236}">
                <a16:creationId xmlns:a16="http://schemas.microsoft.com/office/drawing/2014/main" id="{B9AC841F-22E0-B945-B517-403868EF4FB4}"/>
              </a:ext>
            </a:extLst>
          </p:cNvPr>
          <p:cNvSpPr txBox="1"/>
          <p:nvPr/>
        </p:nvSpPr>
        <p:spPr>
          <a:xfrm>
            <a:off x="9601200" y="260433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tetrad.py</a:t>
            </a:r>
          </a:p>
        </p:txBody>
      </p:sp>
      <p:sp>
        <p:nvSpPr>
          <p:cNvPr id="1106" name="Logistics">
            <a:extLst>
              <a:ext uri="{FF2B5EF4-FFF2-40B4-BE49-F238E27FC236}">
                <a16:creationId xmlns:a16="http://schemas.microsoft.com/office/drawing/2014/main" id="{B3C7702E-3E83-356F-B2F3-B3578066423E}"/>
              </a:ext>
            </a:extLst>
          </p:cNvPr>
          <p:cNvSpPr txBox="1"/>
          <p:nvPr/>
        </p:nvSpPr>
        <p:spPr>
          <a:xfrm>
            <a:off x="9601200" y="443313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causal.py</a:t>
            </a:r>
          </a:p>
        </p:txBody>
      </p:sp>
      <p:sp>
        <p:nvSpPr>
          <p:cNvPr id="1107" name="Logistics">
            <a:extLst>
              <a:ext uri="{FF2B5EF4-FFF2-40B4-BE49-F238E27FC236}">
                <a16:creationId xmlns:a16="http://schemas.microsoft.com/office/drawing/2014/main" id="{F814D995-AD8C-DD7B-5376-5F5FDB753D34}"/>
              </a:ext>
            </a:extLst>
          </p:cNvPr>
          <p:cNvSpPr txBox="1"/>
          <p:nvPr/>
        </p:nvSpPr>
        <p:spPr>
          <a:xfrm>
            <a:off x="9601200" y="699345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knowledge.py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ABDAC2A1-C616-1A7A-5D5C-F9D492C47E33}"/>
              </a:ext>
            </a:extLst>
          </p:cNvPr>
          <p:cNvSpPr txBox="1"/>
          <p:nvPr/>
        </p:nvSpPr>
        <p:spPr>
          <a:xfrm>
            <a:off x="9601200" y="4663440"/>
            <a:ext cx="4237460" cy="2187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run on dataset including null features, used to derive 1-PNEF.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score_sem_bic</a:t>
            </a:r>
            <a:r>
              <a:rPr lang="en-US" dirty="0"/>
              <a:t>()</a:t>
            </a:r>
          </a:p>
          <a:p>
            <a:r>
              <a:rPr lang="en-US" b="0" dirty="0"/>
              <a:t>Configure SEM BIC score.</a:t>
            </a:r>
          </a:p>
          <a:p>
            <a:r>
              <a:rPr lang="en-US" dirty="0"/>
              <a:t>2. bootstrapping()</a:t>
            </a:r>
          </a:p>
          <a:p>
            <a:r>
              <a:rPr lang="en-US" b="0" dirty="0"/>
              <a:t>Configure bootstrapping parameters.</a:t>
            </a:r>
          </a:p>
          <a:p>
            <a:r>
              <a:rPr lang="en-US" dirty="0"/>
              <a:t>3. </a:t>
            </a:r>
            <a:r>
              <a:rPr lang="en-US" dirty="0" err="1"/>
              <a:t>algorithm_fges</a:t>
            </a:r>
            <a:r>
              <a:rPr lang="en-US" dirty="0"/>
              <a:t>()</a:t>
            </a:r>
          </a:p>
          <a:p>
            <a:r>
              <a:rPr lang="en-US" b="0" dirty="0"/>
              <a:t>Performs Fast Greedy Equivalence Search (FGES) algorithm.</a:t>
            </a:r>
          </a:p>
          <a:p>
            <a:r>
              <a:rPr lang="en-US" dirty="0"/>
              <a:t>4. </a:t>
            </a:r>
            <a:r>
              <a:rPr lang="en-US" dirty="0" err="1"/>
              <a:t>algorithm_boss</a:t>
            </a:r>
            <a:r>
              <a:rPr lang="en-US" dirty="0"/>
              <a:t>()</a:t>
            </a:r>
          </a:p>
          <a:p>
            <a:r>
              <a:rPr lang="en-US" b="0" dirty="0"/>
              <a:t>Performs Best Order Score Search (BOSS) algorithm.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0809F0A7-5896-4A03-8B94-0A2D4F186F07}"/>
              </a:ext>
            </a:extLst>
          </p:cNvPr>
          <p:cNvSpPr txBox="1"/>
          <p:nvPr/>
        </p:nvSpPr>
        <p:spPr>
          <a:xfrm>
            <a:off x="9601200" y="2834640"/>
            <a:ext cx="4237460" cy="1531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After applying time lag and features, </a:t>
            </a:r>
            <a:r>
              <a:rPr lang="en-US" b="0" dirty="0" err="1"/>
              <a:t>jpype</a:t>
            </a:r>
            <a:r>
              <a:rPr lang="en-US" b="0" dirty="0"/>
              <a:t> is imported to utilize API and turn the dataset into a Tetrad compatible format. 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tetrad_jvm_start</a:t>
            </a:r>
            <a:r>
              <a:rPr lang="en-US" dirty="0"/>
              <a:t>()</a:t>
            </a:r>
          </a:p>
          <a:p>
            <a:r>
              <a:rPr lang="en-US" b="0" dirty="0"/>
              <a:t>Import </a:t>
            </a:r>
            <a:r>
              <a:rPr lang="en-US" b="0" dirty="0" err="1"/>
              <a:t>jpype</a:t>
            </a:r>
            <a:r>
              <a:rPr lang="en-US" b="0" dirty="0"/>
              <a:t> to start JVM and load Tetrad jar file.</a:t>
            </a:r>
          </a:p>
          <a:p>
            <a:r>
              <a:rPr lang="en-US" dirty="0"/>
              <a:t>2. </a:t>
            </a:r>
            <a:r>
              <a:rPr lang="en-US" dirty="0" err="1"/>
              <a:t>transform_pandasdf_to_tetrad_boxdataset</a:t>
            </a:r>
            <a:r>
              <a:rPr lang="en-US" dirty="0"/>
              <a:t>()</a:t>
            </a:r>
          </a:p>
          <a:p>
            <a:r>
              <a:rPr lang="en-US" b="0" dirty="0"/>
              <a:t>Convert pandas </a:t>
            </a:r>
            <a:r>
              <a:rPr lang="en-US" b="0" dirty="0" err="1"/>
              <a:t>DataFrames</a:t>
            </a:r>
            <a:r>
              <a:rPr lang="en-US" b="0" dirty="0"/>
              <a:t> into Tetrad </a:t>
            </a:r>
            <a:r>
              <a:rPr lang="en-US" b="0" dirty="0" err="1"/>
              <a:t>BoxDataset</a:t>
            </a:r>
            <a:r>
              <a:rPr lang="en-US" b="0" dirty="0"/>
              <a:t> and initialize search state.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D4AEDF38-2690-30EF-DEAF-8AECEB27250C}"/>
              </a:ext>
            </a:extLst>
          </p:cNvPr>
          <p:cNvSpPr txBox="1"/>
          <p:nvPr/>
        </p:nvSpPr>
        <p:spPr>
          <a:xfrm>
            <a:off x="9601200" y="7232335"/>
            <a:ext cx="4237460" cy="925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ran again with domain knowledge applied.</a:t>
            </a:r>
          </a:p>
          <a:p>
            <a:r>
              <a:rPr lang="en-US" dirty="0"/>
              <a:t>1. </a:t>
            </a:r>
            <a:r>
              <a:rPr lang="en-US" dirty="0" err="1"/>
              <a:t>parse_knowledge_txt</a:t>
            </a:r>
            <a:r>
              <a:rPr lang="en-US" dirty="0"/>
              <a:t>()</a:t>
            </a:r>
          </a:p>
          <a:p>
            <a:r>
              <a:rPr lang="en-US" b="0" dirty="0"/>
              <a:t>Load forbidden/required edges and temporal tiers from a .txt file into Tetrad knowledge object.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34F492CE-808F-7F71-94B8-15B4C3E99D95}"/>
              </a:ext>
            </a:extLst>
          </p:cNvPr>
          <p:cNvSpPr txBox="1"/>
          <p:nvPr/>
        </p:nvSpPr>
        <p:spPr>
          <a:xfrm>
            <a:off x="9601200" y="1737360"/>
            <a:ext cx="4264574" cy="6898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From an example of a dataset, see </a:t>
            </a:r>
            <a:r>
              <a:rPr lang="en-US" dirty="0" err="1"/>
              <a:t>issue_social_smell_showcase.Rmd</a:t>
            </a:r>
            <a:r>
              <a:rPr lang="en-US" b="0" dirty="0"/>
              <a:t>. Refer to </a:t>
            </a:r>
            <a:r>
              <a:rPr lang="en-US" b="0" dirty="0" err="1"/>
              <a:t>cheatsheets</a:t>
            </a:r>
            <a:r>
              <a:rPr lang="en-US" b="0" dirty="0"/>
              <a:t>/social-smells-cheatsheet.pdf</a:t>
            </a:r>
          </a:p>
        </p:txBody>
      </p:sp>
      <p:cxnSp>
        <p:nvCxnSpPr>
          <p:cNvPr id="1112" name="Connector: Elbow 1111">
            <a:extLst>
              <a:ext uri="{FF2B5EF4-FFF2-40B4-BE49-F238E27FC236}">
                <a16:creationId xmlns:a16="http://schemas.microsoft.com/office/drawing/2014/main" id="{7FCD7256-0625-FA07-BD8E-3452627F7B97}"/>
              </a:ext>
            </a:extLst>
          </p:cNvPr>
          <p:cNvCxnSpPr>
            <a:cxnSpLocks/>
            <a:stCxn id="991" idx="3"/>
          </p:cNvCxnSpPr>
          <p:nvPr/>
        </p:nvCxnSpPr>
        <p:spPr>
          <a:xfrm flipV="1">
            <a:off x="8704406" y="1562408"/>
            <a:ext cx="859478" cy="452092"/>
          </a:xfrm>
          <a:prstGeom prst="bentConnector3">
            <a:avLst>
              <a:gd name="adj1" fmla="val 38543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19EC5B2C-B4D4-21C8-559A-17F1CFB1435B}"/>
              </a:ext>
            </a:extLst>
          </p:cNvPr>
          <p:cNvCxnSpPr>
            <a:cxnSpLocks/>
            <a:endCxn id="1107" idx="1"/>
          </p:cNvCxnSpPr>
          <p:nvPr/>
        </p:nvCxnSpPr>
        <p:spPr>
          <a:xfrm>
            <a:off x="8325869" y="6858316"/>
            <a:ext cx="1275331" cy="261138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A76DB66-2C96-DBEE-4125-BED911185487}"/>
              </a:ext>
            </a:extLst>
          </p:cNvPr>
          <p:cNvSpPr txBox="1"/>
          <p:nvPr/>
        </p:nvSpPr>
        <p:spPr>
          <a:xfrm>
            <a:off x="1275037" y="358624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Folded Corner 3">
            <a:extLst>
              <a:ext uri="{FF2B5EF4-FFF2-40B4-BE49-F238E27FC236}">
                <a16:creationId xmlns:a16="http://schemas.microsoft.com/office/drawing/2014/main" id="{4FB2CCC2-9757-9A9D-32BC-FFCD68D0F2CA}"/>
              </a:ext>
            </a:extLst>
          </p:cNvPr>
          <p:cNvSpPr/>
          <p:nvPr/>
        </p:nvSpPr>
        <p:spPr>
          <a:xfrm rot="10800000" flipH="1">
            <a:off x="2629874" y="338101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" name="Folded Corner 4">
            <a:extLst>
              <a:ext uri="{FF2B5EF4-FFF2-40B4-BE49-F238E27FC236}">
                <a16:creationId xmlns:a16="http://schemas.microsoft.com/office/drawing/2014/main" id="{68D3D312-5DD6-A895-0BC8-B8C5D0DCBAB1}"/>
              </a:ext>
            </a:extLst>
          </p:cNvPr>
          <p:cNvSpPr/>
          <p:nvPr/>
        </p:nvSpPr>
        <p:spPr>
          <a:xfrm rot="10800000" flipH="1">
            <a:off x="2596792" y="34094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" name="Folded Corner 5">
            <a:extLst>
              <a:ext uri="{FF2B5EF4-FFF2-40B4-BE49-F238E27FC236}">
                <a16:creationId xmlns:a16="http://schemas.microsoft.com/office/drawing/2014/main" id="{7C9EA52B-EC03-FAE9-3CB0-4850BE674772}"/>
              </a:ext>
            </a:extLst>
          </p:cNvPr>
          <p:cNvSpPr/>
          <p:nvPr/>
        </p:nvSpPr>
        <p:spPr>
          <a:xfrm rot="10800000" flipH="1">
            <a:off x="2556355" y="344325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ADF1D6C5-662F-2A82-BE50-922C1D70F92E}"/>
              </a:ext>
            </a:extLst>
          </p:cNvPr>
          <p:cNvSpPr txBox="1"/>
          <p:nvPr/>
        </p:nvSpPr>
        <p:spPr>
          <a:xfrm>
            <a:off x="2486995" y="3589370"/>
            <a:ext cx="4823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algorithm.py</a:t>
            </a:r>
          </a:p>
        </p:txBody>
      </p:sp>
      <p:sp>
        <p:nvSpPr>
          <p:cNvPr id="27" name="Folded Corner 3">
            <a:extLst>
              <a:ext uri="{FF2B5EF4-FFF2-40B4-BE49-F238E27FC236}">
                <a16:creationId xmlns:a16="http://schemas.microsoft.com/office/drawing/2014/main" id="{41C2846B-97D3-B8A2-7681-E84DB1192C09}"/>
              </a:ext>
            </a:extLst>
          </p:cNvPr>
          <p:cNvSpPr/>
          <p:nvPr/>
        </p:nvSpPr>
        <p:spPr>
          <a:xfrm rot="10800000" flipH="1">
            <a:off x="3124045" y="336113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" name="Folded Corner 4">
            <a:extLst>
              <a:ext uri="{FF2B5EF4-FFF2-40B4-BE49-F238E27FC236}">
                <a16:creationId xmlns:a16="http://schemas.microsoft.com/office/drawing/2014/main" id="{07E8CDF6-85BC-15BD-54D8-317D7191ABE4}"/>
              </a:ext>
            </a:extLst>
          </p:cNvPr>
          <p:cNvSpPr/>
          <p:nvPr/>
        </p:nvSpPr>
        <p:spPr>
          <a:xfrm rot="10800000" flipH="1">
            <a:off x="3090963" y="338960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" name="Folded Corner 5">
            <a:extLst>
              <a:ext uri="{FF2B5EF4-FFF2-40B4-BE49-F238E27FC236}">
                <a16:creationId xmlns:a16="http://schemas.microsoft.com/office/drawing/2014/main" id="{648257C6-D506-9C50-81DB-6E0F8F81463E}"/>
              </a:ext>
            </a:extLst>
          </p:cNvPr>
          <p:cNvSpPr/>
          <p:nvPr/>
        </p:nvSpPr>
        <p:spPr>
          <a:xfrm rot="10800000" flipH="1">
            <a:off x="3050526" y="34233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7E9E1C7D-D54C-3B3F-66F8-517F602AC173}"/>
              </a:ext>
            </a:extLst>
          </p:cNvPr>
          <p:cNvSpPr txBox="1"/>
          <p:nvPr/>
        </p:nvSpPr>
        <p:spPr>
          <a:xfrm>
            <a:off x="3041735" y="358121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score.py</a:t>
            </a:r>
          </a:p>
        </p:txBody>
      </p:sp>
      <p:sp>
        <p:nvSpPr>
          <p:cNvPr id="30" name="Folded Corner 3">
            <a:extLst>
              <a:ext uri="{FF2B5EF4-FFF2-40B4-BE49-F238E27FC236}">
                <a16:creationId xmlns:a16="http://schemas.microsoft.com/office/drawing/2014/main" id="{5C2491D8-4A7D-1985-AB3E-88F889D0D4E1}"/>
              </a:ext>
            </a:extLst>
          </p:cNvPr>
          <p:cNvSpPr/>
          <p:nvPr/>
        </p:nvSpPr>
        <p:spPr>
          <a:xfrm rot="10800000" flipH="1">
            <a:off x="489099" y="3477311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" name="Folded Corner 4">
            <a:extLst>
              <a:ext uri="{FF2B5EF4-FFF2-40B4-BE49-F238E27FC236}">
                <a16:creationId xmlns:a16="http://schemas.microsoft.com/office/drawing/2014/main" id="{1B0046EB-2F9B-6CED-784E-FB8151C1A789}"/>
              </a:ext>
            </a:extLst>
          </p:cNvPr>
          <p:cNvSpPr/>
          <p:nvPr/>
        </p:nvSpPr>
        <p:spPr>
          <a:xfrm rot="10800000" flipH="1">
            <a:off x="456017" y="3505777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" name="Folded Corner 5">
            <a:extLst>
              <a:ext uri="{FF2B5EF4-FFF2-40B4-BE49-F238E27FC236}">
                <a16:creationId xmlns:a16="http://schemas.microsoft.com/office/drawing/2014/main" id="{7236A8B4-C9D1-8A2B-ED34-7DC4D56D0932}"/>
              </a:ext>
            </a:extLst>
          </p:cNvPr>
          <p:cNvSpPr/>
          <p:nvPr/>
        </p:nvSpPr>
        <p:spPr>
          <a:xfrm rot="10800000" flipH="1">
            <a:off x="415580" y="3539553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144923D2-0339-FF91-0B0E-E3C43374A93E}"/>
              </a:ext>
            </a:extLst>
          </p:cNvPr>
          <p:cNvSpPr txBox="1"/>
          <p:nvPr/>
        </p:nvSpPr>
        <p:spPr>
          <a:xfrm>
            <a:off x="391503" y="3700338"/>
            <a:ext cx="4603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 err="1">
                <a:solidFill>
                  <a:schemeClr val="tx1">
                    <a:lumMod val="50000"/>
                  </a:schemeClr>
                </a:solidFill>
              </a:rPr>
              <a:t>edu.cmu</a:t>
            </a:r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89B36B-E985-D5B2-D483-4C11B73147B4}"/>
              </a:ext>
            </a:extLst>
          </p:cNvPr>
          <p:cNvSpPr txBox="1"/>
          <p:nvPr/>
        </p:nvSpPr>
        <p:spPr>
          <a:xfrm>
            <a:off x="2058159" y="4229130"/>
            <a:ext cx="621043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run_fges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()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924A2E-1E1D-73FF-D3EB-31A9BE72CF40}"/>
              </a:ext>
            </a:extLst>
          </p:cNvPr>
          <p:cNvSpPr txBox="1"/>
          <p:nvPr/>
        </p:nvSpPr>
        <p:spPr>
          <a:xfrm>
            <a:off x="8607799" y="473724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77542968-D67C-7205-D3A5-C4C84EDA2A74}"/>
              </a:ext>
            </a:extLst>
          </p:cNvPr>
          <p:cNvCxnSpPr>
            <a:cxnSpLocks/>
            <a:stCxn id="51" idx="3"/>
            <a:endCxn id="1106" idx="1"/>
          </p:cNvCxnSpPr>
          <p:nvPr/>
        </p:nvCxnSpPr>
        <p:spPr>
          <a:xfrm flipV="1">
            <a:off x="8718069" y="4559134"/>
            <a:ext cx="883131" cy="338368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9" name="TextBox 898">
            <a:extLst>
              <a:ext uri="{FF2B5EF4-FFF2-40B4-BE49-F238E27FC236}">
                <a16:creationId xmlns:a16="http://schemas.microsoft.com/office/drawing/2014/main" id="{25DDE256-0619-C869-3387-7305C885339A}"/>
              </a:ext>
            </a:extLst>
          </p:cNvPr>
          <p:cNvSpPr txBox="1"/>
          <p:nvPr/>
        </p:nvSpPr>
        <p:spPr>
          <a:xfrm>
            <a:off x="9601200" y="8412480"/>
            <a:ext cx="4244990" cy="1900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graph output is converted and saved in JSON format that can be loaded and viewed in Tetrad GUI. Parsing graph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allows 1-PNEF to be applied. </a:t>
            </a:r>
          </a:p>
          <a:p>
            <a:r>
              <a:rPr lang="en-US" dirty="0"/>
              <a:t>1. </a:t>
            </a:r>
            <a:r>
              <a:rPr lang="en-US" dirty="0" err="1"/>
              <a:t>transform_graph_java_to_graph_json</a:t>
            </a:r>
            <a:r>
              <a:rPr lang="en-US" dirty="0"/>
              <a:t>()</a:t>
            </a:r>
          </a:p>
          <a:p>
            <a:r>
              <a:rPr lang="en-US" b="0" dirty="0"/>
              <a:t>Convert Tetrad graph object to JSON format.</a:t>
            </a:r>
          </a:p>
          <a:p>
            <a:r>
              <a:rPr lang="en-US" dirty="0"/>
              <a:t>2. </a:t>
            </a:r>
            <a:r>
              <a:rPr lang="en-US" dirty="0" err="1"/>
              <a:t>parse_graph_json</a:t>
            </a:r>
            <a:r>
              <a:rPr lang="en-US" dirty="0"/>
              <a:t>()</a:t>
            </a:r>
          </a:p>
          <a:p>
            <a:r>
              <a:rPr lang="en-US" b="0" dirty="0"/>
              <a:t>Parse Tetrad JSON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datasets.</a:t>
            </a:r>
          </a:p>
        </p:txBody>
      </p:sp>
      <p:sp>
        <p:nvSpPr>
          <p:cNvPr id="900" name="Logistics">
            <a:extLst>
              <a:ext uri="{FF2B5EF4-FFF2-40B4-BE49-F238E27FC236}">
                <a16:creationId xmlns:a16="http://schemas.microsoft.com/office/drawing/2014/main" id="{9B39940D-9BB5-4593-CB9B-69EE70569450}"/>
              </a:ext>
            </a:extLst>
          </p:cNvPr>
          <p:cNvSpPr txBox="1"/>
          <p:nvPr/>
        </p:nvSpPr>
        <p:spPr>
          <a:xfrm>
            <a:off x="9601200" y="818217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graph.py</a:t>
            </a:r>
          </a:p>
        </p:txBody>
      </p:sp>
      <p:sp>
        <p:nvSpPr>
          <p:cNvPr id="90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EE526682-4956-9D4B-698F-6F644E75C6E8}"/>
              </a:ext>
            </a:extLst>
          </p:cNvPr>
          <p:cNvSpPr txBox="1"/>
          <p:nvPr/>
        </p:nvSpPr>
        <p:spPr>
          <a:xfrm>
            <a:off x="182880" y="173736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Python package that serves as a wrapper over the Tetrad Java API (via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), providing an interface for causal analysis algorithms.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fork of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-tetrad/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pytetrad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grpSp>
        <p:nvGrpSpPr>
          <p:cNvPr id="909" name="Group 908">
            <a:extLst>
              <a:ext uri="{FF2B5EF4-FFF2-40B4-BE49-F238E27FC236}">
                <a16:creationId xmlns:a16="http://schemas.microsoft.com/office/drawing/2014/main" id="{17972858-30DA-DD44-2445-90FD5E0457B8}"/>
              </a:ext>
            </a:extLst>
          </p:cNvPr>
          <p:cNvGrpSpPr/>
          <p:nvPr/>
        </p:nvGrpSpPr>
        <p:grpSpPr>
          <a:xfrm>
            <a:off x="5279608" y="8581425"/>
            <a:ext cx="818142" cy="583040"/>
            <a:chOff x="3300333" y="6875181"/>
            <a:chExt cx="2140200" cy="1512332"/>
          </a:xfrm>
        </p:grpSpPr>
        <p:sp>
          <p:nvSpPr>
            <p:cNvPr id="910" name="TextBox 909">
              <a:extLst>
                <a:ext uri="{FF2B5EF4-FFF2-40B4-BE49-F238E27FC236}">
                  <a16:creationId xmlns:a16="http://schemas.microsoft.com/office/drawing/2014/main" id="{3E042F05-8CFD-3696-3376-E1AE5E4D3684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11" name="Google Shape;162;p1">
              <a:extLst>
                <a:ext uri="{FF2B5EF4-FFF2-40B4-BE49-F238E27FC236}">
                  <a16:creationId xmlns:a16="http://schemas.microsoft.com/office/drawing/2014/main" id="{64E31D49-69DA-8B25-A554-C626643C42B5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2" name="Google Shape;163;p1">
              <a:extLst>
                <a:ext uri="{FF2B5EF4-FFF2-40B4-BE49-F238E27FC236}">
                  <a16:creationId xmlns:a16="http://schemas.microsoft.com/office/drawing/2014/main" id="{3A4C3A2A-2A44-CCE6-95AE-5D31ED220B00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3" name="Google Shape;164;p1">
              <a:extLst>
                <a:ext uri="{FF2B5EF4-FFF2-40B4-BE49-F238E27FC236}">
                  <a16:creationId xmlns:a16="http://schemas.microsoft.com/office/drawing/2014/main" id="{A2C1361D-6F24-D2AE-CE36-91A46F860A94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4" name="Google Shape;165;p1">
              <a:extLst>
                <a:ext uri="{FF2B5EF4-FFF2-40B4-BE49-F238E27FC236}">
                  <a16:creationId xmlns:a16="http://schemas.microsoft.com/office/drawing/2014/main" id="{F07730E2-2724-B97E-92B8-6DC0442546ED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5" name="Google Shape;171;p1">
              <a:extLst>
                <a:ext uri="{FF2B5EF4-FFF2-40B4-BE49-F238E27FC236}">
                  <a16:creationId xmlns:a16="http://schemas.microsoft.com/office/drawing/2014/main" id="{A4F0E5AD-684B-7E76-9E05-5C7220BC7686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6" name="Google Shape;187;p1">
              <a:extLst>
                <a:ext uri="{FF2B5EF4-FFF2-40B4-BE49-F238E27FC236}">
                  <a16:creationId xmlns:a16="http://schemas.microsoft.com/office/drawing/2014/main" id="{A045CFAB-EC2E-B614-D856-30F2758C6219}"/>
                </a:ext>
              </a:extLst>
            </p:cNvPr>
            <p:cNvCxnSpPr>
              <a:stCxn id="917" idx="6"/>
              <a:endCxn id="911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17" name="Google Shape;188;p1">
              <a:extLst>
                <a:ext uri="{FF2B5EF4-FFF2-40B4-BE49-F238E27FC236}">
                  <a16:creationId xmlns:a16="http://schemas.microsoft.com/office/drawing/2014/main" id="{4F313323-596C-A6CE-2E70-B99A76C53982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8" name="Google Shape;196;p1">
              <a:extLst>
                <a:ext uri="{FF2B5EF4-FFF2-40B4-BE49-F238E27FC236}">
                  <a16:creationId xmlns:a16="http://schemas.microsoft.com/office/drawing/2014/main" id="{636DA152-A4B3-2C08-6389-D1E63EBB121B}"/>
                </a:ext>
              </a:extLst>
            </p:cNvPr>
            <p:cNvCxnSpPr>
              <a:stCxn id="917" idx="5"/>
              <a:endCxn id="913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19" name="Google Shape;198;p1">
              <a:extLst>
                <a:ext uri="{FF2B5EF4-FFF2-40B4-BE49-F238E27FC236}">
                  <a16:creationId xmlns:a16="http://schemas.microsoft.com/office/drawing/2014/main" id="{C7D82710-9113-7182-BE98-098F3E7A19C3}"/>
                </a:ext>
              </a:extLst>
            </p:cNvPr>
            <p:cNvCxnSpPr>
              <a:stCxn id="917" idx="6"/>
              <a:endCxn id="914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0" name="Google Shape;199;p1">
              <a:extLst>
                <a:ext uri="{FF2B5EF4-FFF2-40B4-BE49-F238E27FC236}">
                  <a16:creationId xmlns:a16="http://schemas.microsoft.com/office/drawing/2014/main" id="{316407D1-BB0A-F926-4ED7-14380EF24C5E}"/>
                </a:ext>
              </a:extLst>
            </p:cNvPr>
            <p:cNvCxnSpPr>
              <a:stCxn id="917" idx="3"/>
              <a:endCxn id="915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1" name="Google Shape;200;p1">
              <a:extLst>
                <a:ext uri="{FF2B5EF4-FFF2-40B4-BE49-F238E27FC236}">
                  <a16:creationId xmlns:a16="http://schemas.microsoft.com/office/drawing/2014/main" id="{D2FAAA60-0E51-5791-4BB2-FB730AA1F72C}"/>
                </a:ext>
              </a:extLst>
            </p:cNvPr>
            <p:cNvCxnSpPr>
              <a:stCxn id="917" idx="6"/>
              <a:endCxn id="912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926" name="TextBox 925">
            <a:extLst>
              <a:ext uri="{FF2B5EF4-FFF2-40B4-BE49-F238E27FC236}">
                <a16:creationId xmlns:a16="http://schemas.microsoft.com/office/drawing/2014/main" id="{50B366EF-5A68-70FF-C9C8-4C030084BE55}"/>
              </a:ext>
            </a:extLst>
          </p:cNvPr>
          <p:cNvSpPr txBox="1"/>
          <p:nvPr/>
        </p:nvSpPr>
        <p:spPr>
          <a:xfrm>
            <a:off x="4745786" y="9504777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.</a:t>
            </a:r>
            <a:r>
              <a:rPr lang="en-US" dirty="0" err="1"/>
              <a:t>json</a:t>
            </a:r>
            <a:endParaRPr lang="en-US" dirty="0"/>
          </a:p>
        </p:txBody>
      </p:sp>
      <p:cxnSp>
        <p:nvCxnSpPr>
          <p:cNvPr id="927" name="Straight Arrow Connector 926">
            <a:extLst>
              <a:ext uri="{FF2B5EF4-FFF2-40B4-BE49-F238E27FC236}">
                <a16:creationId xmlns:a16="http://schemas.microsoft.com/office/drawing/2014/main" id="{C249BB30-2AF1-2EE3-45DB-54CB06DB4987}"/>
              </a:ext>
            </a:extLst>
          </p:cNvPr>
          <p:cNvCxnSpPr>
            <a:cxnSpLocks/>
          </p:cNvCxnSpPr>
          <p:nvPr/>
        </p:nvCxnSpPr>
        <p:spPr>
          <a:xfrm>
            <a:off x="6437738" y="8942534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8" name="Flowchart: Internal Storage 927">
            <a:extLst>
              <a:ext uri="{FF2B5EF4-FFF2-40B4-BE49-F238E27FC236}">
                <a16:creationId xmlns:a16="http://schemas.microsoft.com/office/drawing/2014/main" id="{3A44419B-4783-B426-86E9-9B0D194F5410}"/>
              </a:ext>
            </a:extLst>
          </p:cNvPr>
          <p:cNvSpPr/>
          <p:nvPr/>
        </p:nvSpPr>
        <p:spPr>
          <a:xfrm>
            <a:off x="7070339" y="8311163"/>
            <a:ext cx="1472339" cy="1138122"/>
          </a:xfrm>
          <a:prstGeom prst="flowChartInternalStorage">
            <a:avLst/>
          </a:prstGeom>
          <a:noFill/>
          <a:ln w="12700" cap="flat">
            <a:solidFill>
              <a:schemeClr val="tx1">
                <a:lumMod val="50000"/>
              </a:schemeClr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36567B2B-CFBF-DBC5-CCA1-49D9DAEB9993}"/>
              </a:ext>
            </a:extLst>
          </p:cNvPr>
          <p:cNvGrpSpPr/>
          <p:nvPr/>
        </p:nvGrpSpPr>
        <p:grpSpPr>
          <a:xfrm>
            <a:off x="7473200" y="8601381"/>
            <a:ext cx="818142" cy="583040"/>
            <a:chOff x="3300333" y="6875181"/>
            <a:chExt cx="2140200" cy="1512332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1B044D2C-78C0-5528-D083-19B2E4212E24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33" name="Google Shape;162;p1">
              <a:extLst>
                <a:ext uri="{FF2B5EF4-FFF2-40B4-BE49-F238E27FC236}">
                  <a16:creationId xmlns:a16="http://schemas.microsoft.com/office/drawing/2014/main" id="{F01E817E-53DA-1815-72C9-17D5E6427FAC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4" name="Google Shape;163;p1">
              <a:extLst>
                <a:ext uri="{FF2B5EF4-FFF2-40B4-BE49-F238E27FC236}">
                  <a16:creationId xmlns:a16="http://schemas.microsoft.com/office/drawing/2014/main" id="{722BFA2E-5163-47C9-63D4-6E41B479DA96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6" name="Google Shape;164;p1">
              <a:extLst>
                <a:ext uri="{FF2B5EF4-FFF2-40B4-BE49-F238E27FC236}">
                  <a16:creationId xmlns:a16="http://schemas.microsoft.com/office/drawing/2014/main" id="{41BD4D8B-EA0F-8580-7A43-72A34EAB4DB5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7" name="Google Shape;165;p1">
              <a:extLst>
                <a:ext uri="{FF2B5EF4-FFF2-40B4-BE49-F238E27FC236}">
                  <a16:creationId xmlns:a16="http://schemas.microsoft.com/office/drawing/2014/main" id="{FC523A71-2051-2376-0678-537D7ECABEE6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8" name="Google Shape;171;p1">
              <a:extLst>
                <a:ext uri="{FF2B5EF4-FFF2-40B4-BE49-F238E27FC236}">
                  <a16:creationId xmlns:a16="http://schemas.microsoft.com/office/drawing/2014/main" id="{6580839F-02F7-7815-ED45-7C43CDB773F0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5" name="Google Shape;187;p1">
              <a:extLst>
                <a:ext uri="{FF2B5EF4-FFF2-40B4-BE49-F238E27FC236}">
                  <a16:creationId xmlns:a16="http://schemas.microsoft.com/office/drawing/2014/main" id="{2E7EAB8C-FD51-38BF-1E5A-6933AB700391}"/>
                </a:ext>
              </a:extLst>
            </p:cNvPr>
            <p:cNvCxnSpPr>
              <a:stCxn id="1116" idx="6"/>
              <a:endCxn id="1033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16" name="Google Shape;188;p1">
              <a:extLst>
                <a:ext uri="{FF2B5EF4-FFF2-40B4-BE49-F238E27FC236}">
                  <a16:creationId xmlns:a16="http://schemas.microsoft.com/office/drawing/2014/main" id="{FCD6B44C-E651-EEF2-D8C7-3360E08233F6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7" name="Google Shape;196;p1">
              <a:extLst>
                <a:ext uri="{FF2B5EF4-FFF2-40B4-BE49-F238E27FC236}">
                  <a16:creationId xmlns:a16="http://schemas.microsoft.com/office/drawing/2014/main" id="{31DC06FD-1C34-5174-2BDE-AB9B9AC7CF1D}"/>
                </a:ext>
              </a:extLst>
            </p:cNvPr>
            <p:cNvCxnSpPr>
              <a:stCxn id="1116" idx="5"/>
              <a:endCxn id="1036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8" name="Google Shape;198;p1">
              <a:extLst>
                <a:ext uri="{FF2B5EF4-FFF2-40B4-BE49-F238E27FC236}">
                  <a16:creationId xmlns:a16="http://schemas.microsoft.com/office/drawing/2014/main" id="{EECF914C-DBD4-BC66-27EC-86E0274972EB}"/>
                </a:ext>
              </a:extLst>
            </p:cNvPr>
            <p:cNvCxnSpPr>
              <a:stCxn id="1116" idx="6"/>
              <a:endCxn id="1037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9" name="Google Shape;199;p1">
              <a:extLst>
                <a:ext uri="{FF2B5EF4-FFF2-40B4-BE49-F238E27FC236}">
                  <a16:creationId xmlns:a16="http://schemas.microsoft.com/office/drawing/2014/main" id="{B2DD697C-7E02-5747-C1CF-1EEAF5A0C949}"/>
                </a:ext>
              </a:extLst>
            </p:cNvPr>
            <p:cNvCxnSpPr>
              <a:stCxn id="1116" idx="3"/>
              <a:endCxn id="1038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20" name="Google Shape;200;p1">
              <a:extLst>
                <a:ext uri="{FF2B5EF4-FFF2-40B4-BE49-F238E27FC236}">
                  <a16:creationId xmlns:a16="http://schemas.microsoft.com/office/drawing/2014/main" id="{1ACF0E99-9B9C-58BC-68C7-FE300A347670}"/>
                </a:ext>
              </a:extLst>
            </p:cNvPr>
            <p:cNvCxnSpPr>
              <a:stCxn id="1116" idx="6"/>
              <a:endCxn id="1034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1121" name="TextBox 1120">
            <a:extLst>
              <a:ext uri="{FF2B5EF4-FFF2-40B4-BE49-F238E27FC236}">
                <a16:creationId xmlns:a16="http://schemas.microsoft.com/office/drawing/2014/main" id="{D3536743-BC0C-AC68-C491-D88A0B190583}"/>
              </a:ext>
            </a:extLst>
          </p:cNvPr>
          <p:cNvSpPr txBox="1"/>
          <p:nvPr/>
        </p:nvSpPr>
        <p:spPr>
          <a:xfrm>
            <a:off x="6892923" y="9463342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Tetrad GUI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1C3051B2-6620-9C4A-A735-89FA9C7EE9EB}"/>
              </a:ext>
            </a:extLst>
          </p:cNvPr>
          <p:cNvSpPr txBox="1"/>
          <p:nvPr/>
        </p:nvSpPr>
        <p:spPr>
          <a:xfrm>
            <a:off x="7071481" y="845805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Graph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A521D517-73D5-1E3B-3142-6F06490B8744}"/>
              </a:ext>
            </a:extLst>
          </p:cNvPr>
          <p:cNvSpPr txBox="1"/>
          <p:nvPr/>
        </p:nvSpPr>
        <p:spPr>
          <a:xfrm>
            <a:off x="7061235" y="8531089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Compare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CF5C15AA-743D-D867-C2D0-B12B9AD14D8C}"/>
              </a:ext>
            </a:extLst>
          </p:cNvPr>
          <p:cNvSpPr txBox="1"/>
          <p:nvPr/>
        </p:nvSpPr>
        <p:spPr>
          <a:xfrm>
            <a:off x="7048685" y="8610068"/>
            <a:ext cx="251336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Grid Search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E1634C61-943E-5988-46B9-08490ADBCA0A}"/>
              </a:ext>
            </a:extLst>
          </p:cNvPr>
          <p:cNvSpPr txBox="1"/>
          <p:nvPr/>
        </p:nvSpPr>
        <p:spPr>
          <a:xfrm>
            <a:off x="7046974" y="8677995"/>
            <a:ext cx="303972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Parametric Model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7A158528-D053-D9A6-B65C-FD6251A095C9}"/>
              </a:ext>
            </a:extLst>
          </p:cNvPr>
          <p:cNvSpPr txBox="1"/>
          <p:nvPr/>
        </p:nvSpPr>
        <p:spPr>
          <a:xfrm>
            <a:off x="7052833" y="8791685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Simulation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339A8634-2A32-702B-75C8-0A4130E2B291}"/>
              </a:ext>
            </a:extLst>
          </p:cNvPr>
          <p:cNvSpPr txBox="1"/>
          <p:nvPr/>
        </p:nvSpPr>
        <p:spPr>
          <a:xfrm>
            <a:off x="7070339" y="8866499"/>
            <a:ext cx="235741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Cluster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EE2A0595-90F6-9893-8E0C-78E379993C88}"/>
              </a:ext>
            </a:extLst>
          </p:cNvPr>
          <p:cNvSpPr txBox="1"/>
          <p:nvPr/>
        </p:nvSpPr>
        <p:spPr>
          <a:xfrm>
            <a:off x="7063846" y="8962863"/>
            <a:ext cx="260604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Structure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8988BD53-1D0C-F9CE-F389-2E26D3C70FA3}"/>
              </a:ext>
            </a:extLst>
          </p:cNvPr>
          <p:cNvSpPr txBox="1"/>
          <p:nvPr/>
        </p:nvSpPr>
        <p:spPr>
          <a:xfrm>
            <a:off x="7055007" y="9063908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Knowledge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93E1D2E7-07C6-9532-DE5E-8CE7F08ED889}"/>
              </a:ext>
            </a:extLst>
          </p:cNvPr>
          <p:cNvSpPr txBox="1"/>
          <p:nvPr/>
        </p:nvSpPr>
        <p:spPr>
          <a:xfrm>
            <a:off x="7061235" y="9140557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Updater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8202042B-5EF1-19F8-4E34-8BDB576916B8}"/>
              </a:ext>
            </a:extLst>
          </p:cNvPr>
          <p:cNvSpPr txBox="1"/>
          <p:nvPr/>
        </p:nvSpPr>
        <p:spPr>
          <a:xfrm>
            <a:off x="7048685" y="9227323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Regression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0D7D566B-3CE9-F6C7-151E-98EE95387DE5}"/>
              </a:ext>
            </a:extLst>
          </p:cNvPr>
          <p:cNvSpPr txBox="1"/>
          <p:nvPr/>
        </p:nvSpPr>
        <p:spPr>
          <a:xfrm>
            <a:off x="7233495" y="8289476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File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DB69EE2D-D6CD-AE52-F208-A8333C525510}"/>
              </a:ext>
            </a:extLst>
          </p:cNvPr>
          <p:cNvSpPr txBox="1"/>
          <p:nvPr/>
        </p:nvSpPr>
        <p:spPr>
          <a:xfrm>
            <a:off x="7303218" y="829201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Edit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3C301803-5938-4EF2-E406-2AD8AF2539EC}"/>
              </a:ext>
            </a:extLst>
          </p:cNvPr>
          <p:cNvSpPr txBox="1"/>
          <p:nvPr/>
        </p:nvSpPr>
        <p:spPr>
          <a:xfrm>
            <a:off x="7383126" y="8291864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Logging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8C424677-8A77-8520-02B4-F202F281C228}"/>
              </a:ext>
            </a:extLst>
          </p:cNvPr>
          <p:cNvSpPr txBox="1"/>
          <p:nvPr/>
        </p:nvSpPr>
        <p:spPr>
          <a:xfrm>
            <a:off x="7505552" y="8292313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Pipelines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103BB67C-98AD-2B94-6B68-500E5124C115}"/>
              </a:ext>
            </a:extLst>
          </p:cNvPr>
          <p:cNvSpPr txBox="1"/>
          <p:nvPr/>
        </p:nvSpPr>
        <p:spPr>
          <a:xfrm>
            <a:off x="7637493" y="829506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Window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2B01FAD0-2E2E-8B07-0947-8B463AD20F4A}"/>
              </a:ext>
            </a:extLst>
          </p:cNvPr>
          <p:cNvSpPr txBox="1"/>
          <p:nvPr/>
        </p:nvSpPr>
        <p:spPr>
          <a:xfrm>
            <a:off x="7754912" y="829506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Help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A8ED137F-B50F-973D-C864-9CF31821CEE5}"/>
              </a:ext>
            </a:extLst>
          </p:cNvPr>
          <p:cNvGrpSpPr/>
          <p:nvPr/>
        </p:nvGrpSpPr>
        <p:grpSpPr>
          <a:xfrm>
            <a:off x="1195787" y="7121456"/>
            <a:ext cx="358133" cy="449780"/>
            <a:chOff x="3801693" y="7065060"/>
            <a:chExt cx="465922" cy="575948"/>
          </a:xfrm>
        </p:grpSpPr>
        <p:sp>
          <p:nvSpPr>
            <p:cNvPr id="1151" name="Flowchart: Internal Storage 1150">
              <a:extLst>
                <a:ext uri="{FF2B5EF4-FFF2-40B4-BE49-F238E27FC236}">
                  <a16:creationId xmlns:a16="http://schemas.microsoft.com/office/drawing/2014/main" id="{E1ED8BA1-3C37-A879-2E2C-02BCBDF01358}"/>
                </a:ext>
              </a:extLst>
            </p:cNvPr>
            <p:cNvSpPr/>
            <p:nvPr/>
          </p:nvSpPr>
          <p:spPr>
            <a:xfrm>
              <a:off x="3824554" y="7065060"/>
              <a:ext cx="443061" cy="575948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10486651-B704-C393-FC29-F09AAEA12FD5}"/>
                </a:ext>
              </a:extLst>
            </p:cNvPr>
            <p:cNvSpPr txBox="1"/>
            <p:nvPr/>
          </p:nvSpPr>
          <p:spPr>
            <a:xfrm>
              <a:off x="3801693" y="7065060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3" name="TextBox 1152">
              <a:extLst>
                <a:ext uri="{FF2B5EF4-FFF2-40B4-BE49-F238E27FC236}">
                  <a16:creationId xmlns:a16="http://schemas.microsoft.com/office/drawing/2014/main" id="{093109B4-73AD-1A5E-12DA-29DDE97823CE}"/>
                </a:ext>
              </a:extLst>
            </p:cNvPr>
            <p:cNvSpPr txBox="1"/>
            <p:nvPr/>
          </p:nvSpPr>
          <p:spPr>
            <a:xfrm>
              <a:off x="3801693" y="7191227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4" name="TextBox 1153">
              <a:extLst>
                <a:ext uri="{FF2B5EF4-FFF2-40B4-BE49-F238E27FC236}">
                  <a16:creationId xmlns:a16="http://schemas.microsoft.com/office/drawing/2014/main" id="{6D830422-ECDC-B4F2-9528-4A24E225EDDB}"/>
                </a:ext>
              </a:extLst>
            </p:cNvPr>
            <p:cNvSpPr txBox="1"/>
            <p:nvPr/>
          </p:nvSpPr>
          <p:spPr>
            <a:xfrm>
              <a:off x="3801693" y="7336099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1155" name="Straight Connector 1154">
              <a:extLst>
                <a:ext uri="{FF2B5EF4-FFF2-40B4-BE49-F238E27FC236}">
                  <a16:creationId xmlns:a16="http://schemas.microsoft.com/office/drawing/2014/main" id="{B8B47EFA-B6C1-F94B-B7F9-411FF75C2EB0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1976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6" name="Straight Connector 1155">
              <a:extLst>
                <a:ext uri="{FF2B5EF4-FFF2-40B4-BE49-F238E27FC236}">
                  <a16:creationId xmlns:a16="http://schemas.microsoft.com/office/drawing/2014/main" id="{A6A5FEF2-7401-DA25-C964-24311EAC688A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269790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7" name="Straight Connector 1156">
              <a:extLst>
                <a:ext uri="{FF2B5EF4-FFF2-40B4-BE49-F238E27FC236}">
                  <a16:creationId xmlns:a16="http://schemas.microsoft.com/office/drawing/2014/main" id="{07D72321-5E7B-77BF-D9D3-4BDDC601B633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344697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8" name="Straight Connector 1157">
              <a:extLst>
                <a:ext uri="{FF2B5EF4-FFF2-40B4-BE49-F238E27FC236}">
                  <a16:creationId xmlns:a16="http://schemas.microsoft.com/office/drawing/2014/main" id="{81363153-75C9-ACDD-5E78-57869A754753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4262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9" name="Straight Connector 1158">
              <a:extLst>
                <a:ext uri="{FF2B5EF4-FFF2-40B4-BE49-F238E27FC236}">
                  <a16:creationId xmlns:a16="http://schemas.microsoft.com/office/drawing/2014/main" id="{FB7D3268-4A4F-D8F5-BEF9-48866112428D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01852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60" name="Straight Connector 1159">
              <a:extLst>
                <a:ext uri="{FF2B5EF4-FFF2-40B4-BE49-F238E27FC236}">
                  <a16:creationId xmlns:a16="http://schemas.microsoft.com/office/drawing/2014/main" id="{21E4359E-E0FD-E869-DF2E-25BC49ED7646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81085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213" name="Group 1212">
            <a:extLst>
              <a:ext uri="{FF2B5EF4-FFF2-40B4-BE49-F238E27FC236}">
                <a16:creationId xmlns:a16="http://schemas.microsoft.com/office/drawing/2014/main" id="{131D8A4C-DAD6-9739-C25D-FF9A288BBBB2}"/>
              </a:ext>
            </a:extLst>
          </p:cNvPr>
          <p:cNvGrpSpPr/>
          <p:nvPr/>
        </p:nvGrpSpPr>
        <p:grpSpPr>
          <a:xfrm>
            <a:off x="2661632" y="7753204"/>
            <a:ext cx="1625672" cy="724346"/>
            <a:chOff x="4898186" y="8463563"/>
            <a:chExt cx="3978918" cy="1588036"/>
          </a:xfrm>
        </p:grpSpPr>
        <p:sp>
          <p:nvSpPr>
            <p:cNvPr id="1165" name="Folded Corner 5">
              <a:extLst>
                <a:ext uri="{FF2B5EF4-FFF2-40B4-BE49-F238E27FC236}">
                  <a16:creationId xmlns:a16="http://schemas.microsoft.com/office/drawing/2014/main" id="{F6272B7A-E34D-8651-BAC0-AD7927EA7251}"/>
                </a:ext>
              </a:extLst>
            </p:cNvPr>
            <p:cNvSpPr/>
            <p:nvPr/>
          </p:nvSpPr>
          <p:spPr>
            <a:xfrm rot="10800000" flipH="1">
              <a:off x="5352204" y="8474861"/>
              <a:ext cx="944261" cy="1140881"/>
            </a:xfrm>
            <a:prstGeom prst="foldedCorner">
              <a:avLst>
                <a:gd name="adj" fmla="val 29505"/>
              </a:avLst>
            </a:prstGeom>
            <a:solidFill>
              <a:schemeClr val="bg1"/>
            </a:solidFill>
            <a:ln w="63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="horz" wrap="square" lIns="54570" tIns="54570" rIns="54570" bIns="5457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1pPr>
              <a:lvl2pPr marL="0" marR="0" indent="228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2pPr>
              <a:lvl3pPr marL="0" marR="0" indent="457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3pPr>
              <a:lvl4pPr marL="0" marR="0" indent="685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4pPr>
              <a:lvl5pPr marL="0" marR="0" indent="9144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5pPr>
              <a:lvl6pPr marL="0" marR="0" indent="11430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6pPr>
              <a:lvl7pPr marL="0" marR="0" indent="1371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7pPr>
              <a:lvl8pPr marL="0" marR="0" indent="1600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8pPr>
              <a:lvl9pPr marL="0" marR="0" indent="1828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9pPr>
            </a:lstStyle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66" name="Group 1165">
              <a:extLst>
                <a:ext uri="{FF2B5EF4-FFF2-40B4-BE49-F238E27FC236}">
                  <a16:creationId xmlns:a16="http://schemas.microsoft.com/office/drawing/2014/main" id="{514BCB7C-7C13-9DAC-A629-A2568BA4ADC7}"/>
                </a:ext>
              </a:extLst>
            </p:cNvPr>
            <p:cNvGrpSpPr/>
            <p:nvPr/>
          </p:nvGrpSpPr>
          <p:grpSpPr>
            <a:xfrm>
              <a:off x="5432008" y="8733825"/>
              <a:ext cx="818142" cy="583040"/>
              <a:chOff x="3300333" y="6875181"/>
              <a:chExt cx="2140200" cy="1512332"/>
            </a:xfrm>
          </p:grpSpPr>
          <p:sp>
            <p:nvSpPr>
              <p:cNvPr id="1167" name="TextBox 1166">
                <a:extLst>
                  <a:ext uri="{FF2B5EF4-FFF2-40B4-BE49-F238E27FC236}">
                    <a16:creationId xmlns:a16="http://schemas.microsoft.com/office/drawing/2014/main" id="{7265918A-5E0F-E972-8ED5-A3E1A48DAB8C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68" name="Google Shape;162;p1">
                <a:extLst>
                  <a:ext uri="{FF2B5EF4-FFF2-40B4-BE49-F238E27FC236}">
                    <a16:creationId xmlns:a16="http://schemas.microsoft.com/office/drawing/2014/main" id="{B2B410A5-EAB7-6215-5B62-D335A12980A5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69" name="Google Shape;163;p1">
                <a:extLst>
                  <a:ext uri="{FF2B5EF4-FFF2-40B4-BE49-F238E27FC236}">
                    <a16:creationId xmlns:a16="http://schemas.microsoft.com/office/drawing/2014/main" id="{BF118728-D84C-81C6-45B2-DC1BBAB25504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0" name="Google Shape;164;p1">
                <a:extLst>
                  <a:ext uri="{FF2B5EF4-FFF2-40B4-BE49-F238E27FC236}">
                    <a16:creationId xmlns:a16="http://schemas.microsoft.com/office/drawing/2014/main" id="{8DA2DB1F-EC95-C617-EFC4-ECFC232597CF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1" name="Google Shape;165;p1">
                <a:extLst>
                  <a:ext uri="{FF2B5EF4-FFF2-40B4-BE49-F238E27FC236}">
                    <a16:creationId xmlns:a16="http://schemas.microsoft.com/office/drawing/2014/main" id="{9FFD40C0-3DE0-B9EA-6938-31EED637A13A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2" name="Google Shape;171;p1">
                <a:extLst>
                  <a:ext uri="{FF2B5EF4-FFF2-40B4-BE49-F238E27FC236}">
                    <a16:creationId xmlns:a16="http://schemas.microsoft.com/office/drawing/2014/main" id="{847A88BD-97C9-D0F9-01E0-59FB92C363A7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3" name="Google Shape;187;p1">
                <a:extLst>
                  <a:ext uri="{FF2B5EF4-FFF2-40B4-BE49-F238E27FC236}">
                    <a16:creationId xmlns:a16="http://schemas.microsoft.com/office/drawing/2014/main" id="{5E11E914-CF32-17F8-3A64-97587D86EFE5}"/>
                  </a:ext>
                </a:extLst>
              </p:cNvPr>
              <p:cNvCxnSpPr>
                <a:cxnSpLocks/>
                <a:stCxn id="1174" idx="6"/>
                <a:endCxn id="1168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74" name="Google Shape;188;p1">
                <a:extLst>
                  <a:ext uri="{FF2B5EF4-FFF2-40B4-BE49-F238E27FC236}">
                    <a16:creationId xmlns:a16="http://schemas.microsoft.com/office/drawing/2014/main" id="{D3122D0C-5A79-C4D7-51AB-3A0DC15321FC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5" name="Google Shape;196;p1">
                <a:extLst>
                  <a:ext uri="{FF2B5EF4-FFF2-40B4-BE49-F238E27FC236}">
                    <a16:creationId xmlns:a16="http://schemas.microsoft.com/office/drawing/2014/main" id="{3E46B09C-F34F-58DF-F73B-CCFA27D9944C}"/>
                  </a:ext>
                </a:extLst>
              </p:cNvPr>
              <p:cNvCxnSpPr>
                <a:cxnSpLocks/>
                <a:stCxn id="1174" idx="5"/>
                <a:endCxn id="1170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6" name="Google Shape;198;p1">
                <a:extLst>
                  <a:ext uri="{FF2B5EF4-FFF2-40B4-BE49-F238E27FC236}">
                    <a16:creationId xmlns:a16="http://schemas.microsoft.com/office/drawing/2014/main" id="{2C22AC50-3F39-2D59-F753-06B19F9173B2}"/>
                  </a:ext>
                </a:extLst>
              </p:cNvPr>
              <p:cNvCxnSpPr>
                <a:cxnSpLocks/>
                <a:stCxn id="1174" idx="6"/>
                <a:endCxn id="1171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7" name="Google Shape;199;p1">
                <a:extLst>
                  <a:ext uri="{FF2B5EF4-FFF2-40B4-BE49-F238E27FC236}">
                    <a16:creationId xmlns:a16="http://schemas.microsoft.com/office/drawing/2014/main" id="{F99AE9F4-974D-F0C1-CFAA-2714CFC8049C}"/>
                  </a:ext>
                </a:extLst>
              </p:cNvPr>
              <p:cNvCxnSpPr>
                <a:cxnSpLocks/>
                <a:stCxn id="1174" idx="3"/>
                <a:endCxn id="1172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8" name="Google Shape;200;p1">
                <a:extLst>
                  <a:ext uri="{FF2B5EF4-FFF2-40B4-BE49-F238E27FC236}">
                    <a16:creationId xmlns:a16="http://schemas.microsoft.com/office/drawing/2014/main" id="{50CBA160-181E-185B-5F8D-2F724401A3E9}"/>
                  </a:ext>
                </a:extLst>
              </p:cNvPr>
              <p:cNvCxnSpPr>
                <a:cxnSpLocks/>
                <a:stCxn id="1174" idx="6"/>
                <a:endCxn id="1169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79" name="TextBox 1178">
              <a:extLst>
                <a:ext uri="{FF2B5EF4-FFF2-40B4-BE49-F238E27FC236}">
                  <a16:creationId xmlns:a16="http://schemas.microsoft.com/office/drawing/2014/main" id="{A5385AD3-6D1A-9C28-56DC-88C4CC424C0D}"/>
                </a:ext>
              </a:extLst>
            </p:cNvPr>
            <p:cNvSpPr txBox="1"/>
            <p:nvPr/>
          </p:nvSpPr>
          <p:spPr>
            <a:xfrm>
              <a:off x="4898186" y="9385556"/>
              <a:ext cx="1831780" cy="6556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000" dirty="0"/>
                <a:t>.</a:t>
              </a:r>
              <a:r>
                <a:rPr lang="en-US" sz="700" dirty="0" err="1"/>
                <a:t>json</a:t>
              </a:r>
              <a:endParaRPr lang="en-US" sz="1000" dirty="0"/>
            </a:p>
          </p:txBody>
        </p:sp>
        <p:sp>
          <p:nvSpPr>
            <p:cNvPr id="1181" name="Flowchart: Internal Storage 1180">
              <a:extLst>
                <a:ext uri="{FF2B5EF4-FFF2-40B4-BE49-F238E27FC236}">
                  <a16:creationId xmlns:a16="http://schemas.microsoft.com/office/drawing/2014/main" id="{29068638-D14E-50C1-C42B-7E8C972FBEAB}"/>
                </a:ext>
              </a:extLst>
            </p:cNvPr>
            <p:cNvSpPr/>
            <p:nvPr/>
          </p:nvSpPr>
          <p:spPr>
            <a:xfrm>
              <a:off x="7222739" y="8463563"/>
              <a:ext cx="1472339" cy="1138122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>
              <a:outerShdw blurRad="38100" dist="25400" dir="5400000" rotWithShape="0">
                <a:schemeClr val="bg1">
                  <a:alpha val="50000"/>
                </a:scheme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82" name="Group 1181">
              <a:extLst>
                <a:ext uri="{FF2B5EF4-FFF2-40B4-BE49-F238E27FC236}">
                  <a16:creationId xmlns:a16="http://schemas.microsoft.com/office/drawing/2014/main" id="{A22FA353-FBFA-66C5-DA01-83B24C4095ED}"/>
                </a:ext>
              </a:extLst>
            </p:cNvPr>
            <p:cNvGrpSpPr/>
            <p:nvPr/>
          </p:nvGrpSpPr>
          <p:grpSpPr>
            <a:xfrm>
              <a:off x="7625600" y="8753781"/>
              <a:ext cx="818142" cy="583040"/>
              <a:chOff x="3300333" y="6875181"/>
              <a:chExt cx="2140200" cy="1512332"/>
            </a:xfrm>
          </p:grpSpPr>
          <p:sp>
            <p:nvSpPr>
              <p:cNvPr id="1183" name="TextBox 1182">
                <a:extLst>
                  <a:ext uri="{FF2B5EF4-FFF2-40B4-BE49-F238E27FC236}">
                    <a16:creationId xmlns:a16="http://schemas.microsoft.com/office/drawing/2014/main" id="{185D1275-1E3C-A86E-75B1-09D4772DFA12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84" name="Google Shape;162;p1">
                <a:extLst>
                  <a:ext uri="{FF2B5EF4-FFF2-40B4-BE49-F238E27FC236}">
                    <a16:creationId xmlns:a16="http://schemas.microsoft.com/office/drawing/2014/main" id="{0300F525-DFC1-FFF7-2720-EF7CA3352BAB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5" name="Google Shape;163;p1">
                <a:extLst>
                  <a:ext uri="{FF2B5EF4-FFF2-40B4-BE49-F238E27FC236}">
                    <a16:creationId xmlns:a16="http://schemas.microsoft.com/office/drawing/2014/main" id="{4BA58AEF-05CE-E602-E9E1-ADD77800B75C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6" name="Google Shape;164;p1">
                <a:extLst>
                  <a:ext uri="{FF2B5EF4-FFF2-40B4-BE49-F238E27FC236}">
                    <a16:creationId xmlns:a16="http://schemas.microsoft.com/office/drawing/2014/main" id="{8A147AC7-99CA-CC49-4819-9F24DEA0A41D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7" name="Google Shape;165;p1">
                <a:extLst>
                  <a:ext uri="{FF2B5EF4-FFF2-40B4-BE49-F238E27FC236}">
                    <a16:creationId xmlns:a16="http://schemas.microsoft.com/office/drawing/2014/main" id="{D92975C5-FBF0-79BE-E431-962CF2A77B3F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8" name="Google Shape;171;p1">
                <a:extLst>
                  <a:ext uri="{FF2B5EF4-FFF2-40B4-BE49-F238E27FC236}">
                    <a16:creationId xmlns:a16="http://schemas.microsoft.com/office/drawing/2014/main" id="{379DCEFA-5DFF-E8AD-7524-28F7BB8558C1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89" name="Google Shape;187;p1">
                <a:extLst>
                  <a:ext uri="{FF2B5EF4-FFF2-40B4-BE49-F238E27FC236}">
                    <a16:creationId xmlns:a16="http://schemas.microsoft.com/office/drawing/2014/main" id="{3ADF8A9E-0332-8EB1-A4AA-757D95262B99}"/>
                  </a:ext>
                </a:extLst>
              </p:cNvPr>
              <p:cNvCxnSpPr>
                <a:cxnSpLocks/>
                <a:stCxn id="1190" idx="6"/>
                <a:endCxn id="1184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90" name="Google Shape;188;p1">
                <a:extLst>
                  <a:ext uri="{FF2B5EF4-FFF2-40B4-BE49-F238E27FC236}">
                    <a16:creationId xmlns:a16="http://schemas.microsoft.com/office/drawing/2014/main" id="{79BE7259-8459-A56F-C89B-42CB75E02282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91" name="Google Shape;196;p1">
                <a:extLst>
                  <a:ext uri="{FF2B5EF4-FFF2-40B4-BE49-F238E27FC236}">
                    <a16:creationId xmlns:a16="http://schemas.microsoft.com/office/drawing/2014/main" id="{8DCF8A65-716B-E732-6483-581C6B13B57F}"/>
                  </a:ext>
                </a:extLst>
              </p:cNvPr>
              <p:cNvCxnSpPr>
                <a:cxnSpLocks/>
                <a:stCxn id="1190" idx="5"/>
                <a:endCxn id="1186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2" name="Google Shape;198;p1">
                <a:extLst>
                  <a:ext uri="{FF2B5EF4-FFF2-40B4-BE49-F238E27FC236}">
                    <a16:creationId xmlns:a16="http://schemas.microsoft.com/office/drawing/2014/main" id="{697997A1-661E-6F3F-B84B-AF5820737B07}"/>
                  </a:ext>
                </a:extLst>
              </p:cNvPr>
              <p:cNvCxnSpPr>
                <a:cxnSpLocks/>
                <a:stCxn id="1190" idx="6"/>
                <a:endCxn id="1187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3" name="Google Shape;199;p1">
                <a:extLst>
                  <a:ext uri="{FF2B5EF4-FFF2-40B4-BE49-F238E27FC236}">
                    <a16:creationId xmlns:a16="http://schemas.microsoft.com/office/drawing/2014/main" id="{F4E9DA91-0EB2-AEED-CB16-1B1EFD9503AE}"/>
                  </a:ext>
                </a:extLst>
              </p:cNvPr>
              <p:cNvCxnSpPr>
                <a:cxnSpLocks/>
                <a:stCxn id="1190" idx="3"/>
                <a:endCxn id="1188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4" name="Google Shape;200;p1">
                <a:extLst>
                  <a:ext uri="{FF2B5EF4-FFF2-40B4-BE49-F238E27FC236}">
                    <a16:creationId xmlns:a16="http://schemas.microsoft.com/office/drawing/2014/main" id="{3385D4B6-1F46-C4B4-BF28-906EEE0AE869}"/>
                  </a:ext>
                </a:extLst>
              </p:cNvPr>
              <p:cNvCxnSpPr>
                <a:cxnSpLocks/>
                <a:stCxn id="1190" idx="6"/>
                <a:endCxn id="1185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95" name="TextBox 1194">
              <a:extLst>
                <a:ext uri="{FF2B5EF4-FFF2-40B4-BE49-F238E27FC236}">
                  <a16:creationId xmlns:a16="http://schemas.microsoft.com/office/drawing/2014/main" id="{56BF0DEE-D216-1565-ECB2-B13DE83B3784}"/>
                </a:ext>
              </a:extLst>
            </p:cNvPr>
            <p:cNvSpPr txBox="1"/>
            <p:nvPr/>
          </p:nvSpPr>
          <p:spPr>
            <a:xfrm>
              <a:off x="7045323" y="9500399"/>
              <a:ext cx="1831781" cy="551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700" dirty="0"/>
                <a:t>Tetrad GUI</a:t>
              </a:r>
            </a:p>
          </p:txBody>
        </p:sp>
      </p:grpSp>
      <p:cxnSp>
        <p:nvCxnSpPr>
          <p:cNvPr id="1220" name="Straight Arrow Connector 1219">
            <a:extLst>
              <a:ext uri="{FF2B5EF4-FFF2-40B4-BE49-F238E27FC236}">
                <a16:creationId xmlns:a16="http://schemas.microsoft.com/office/drawing/2014/main" id="{BB355E33-1C71-40BD-D746-BBABB7E40EFD}"/>
              </a:ext>
            </a:extLst>
          </p:cNvPr>
          <p:cNvCxnSpPr>
            <a:cxnSpLocks/>
          </p:cNvCxnSpPr>
          <p:nvPr/>
        </p:nvCxnSpPr>
        <p:spPr>
          <a:xfrm flipV="1">
            <a:off x="540609" y="7400770"/>
            <a:ext cx="542836" cy="383885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1" name="Straight Arrow Connector 1220">
            <a:extLst>
              <a:ext uri="{FF2B5EF4-FFF2-40B4-BE49-F238E27FC236}">
                <a16:creationId xmlns:a16="http://schemas.microsoft.com/office/drawing/2014/main" id="{387E0C3B-4854-2F54-78E4-48332F2B60EC}"/>
              </a:ext>
            </a:extLst>
          </p:cNvPr>
          <p:cNvCxnSpPr>
            <a:cxnSpLocks/>
          </p:cNvCxnSpPr>
          <p:nvPr/>
        </p:nvCxnSpPr>
        <p:spPr>
          <a:xfrm>
            <a:off x="1686611" y="7382435"/>
            <a:ext cx="371548" cy="283991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4" name="Straight Arrow Connector 1223">
            <a:extLst>
              <a:ext uri="{FF2B5EF4-FFF2-40B4-BE49-F238E27FC236}">
                <a16:creationId xmlns:a16="http://schemas.microsoft.com/office/drawing/2014/main" id="{2C8A9FCD-40E4-2388-731A-8C0B209F25DA}"/>
              </a:ext>
            </a:extLst>
          </p:cNvPr>
          <p:cNvCxnSpPr>
            <a:cxnSpLocks/>
          </p:cNvCxnSpPr>
          <p:nvPr/>
        </p:nvCxnSpPr>
        <p:spPr>
          <a:xfrm flipV="1">
            <a:off x="1950245" y="8298297"/>
            <a:ext cx="178758" cy="30308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6" name="Straight Arrow Connector 1225">
            <a:extLst>
              <a:ext uri="{FF2B5EF4-FFF2-40B4-BE49-F238E27FC236}">
                <a16:creationId xmlns:a16="http://schemas.microsoft.com/office/drawing/2014/main" id="{D1DFD925-93CD-C74C-9B8E-A7B58948B5EE}"/>
              </a:ext>
            </a:extLst>
          </p:cNvPr>
          <p:cNvCxnSpPr>
            <a:cxnSpLocks/>
          </p:cNvCxnSpPr>
          <p:nvPr/>
        </p:nvCxnSpPr>
        <p:spPr>
          <a:xfrm>
            <a:off x="2446049" y="8029635"/>
            <a:ext cx="321536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9" name="Straight Arrow Connector 1228">
            <a:extLst>
              <a:ext uri="{FF2B5EF4-FFF2-40B4-BE49-F238E27FC236}">
                <a16:creationId xmlns:a16="http://schemas.microsoft.com/office/drawing/2014/main" id="{03364A8E-C7BF-1949-7A20-42DC6342E0E5}"/>
              </a:ext>
            </a:extLst>
          </p:cNvPr>
          <p:cNvCxnSpPr>
            <a:cxnSpLocks/>
          </p:cNvCxnSpPr>
          <p:nvPr/>
        </p:nvCxnSpPr>
        <p:spPr>
          <a:xfrm>
            <a:off x="3325817" y="8048125"/>
            <a:ext cx="2118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33" name="TextBox 1232">
            <a:extLst>
              <a:ext uri="{FF2B5EF4-FFF2-40B4-BE49-F238E27FC236}">
                <a16:creationId xmlns:a16="http://schemas.microsoft.com/office/drawing/2014/main" id="{24267283-8356-7EA5-3943-DE9C054EDD09}"/>
              </a:ext>
            </a:extLst>
          </p:cNvPr>
          <p:cNvSpPr txBox="1"/>
          <p:nvPr/>
        </p:nvSpPr>
        <p:spPr>
          <a:xfrm>
            <a:off x="1137303" y="7536186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notebook/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67895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3A3A8-1B5B-BDBC-F2C9-D8CEC6857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C48A894C-5BF0-665A-6D33-23703C077FBB}"/>
              </a:ext>
            </a:extLst>
          </p:cNvPr>
          <p:cNvSpPr txBox="1"/>
          <p:nvPr/>
        </p:nvSpPr>
        <p:spPr>
          <a:xfrm>
            <a:off x="182880" y="5120640"/>
            <a:ext cx="4001355" cy="12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wraps the Tetrad Java API through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, exposing individual modules in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api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(data, score, algorithm, graph, knowledge, bootstrapping) that provide direct function level control over each step of the causal search pipeline.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expands on the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TetradSearch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API by breaking its single object, shared state pipeline into individual modules.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924" name="Folded Corner 5">
            <a:extLst>
              <a:ext uri="{FF2B5EF4-FFF2-40B4-BE49-F238E27FC236}">
                <a16:creationId xmlns:a16="http://schemas.microsoft.com/office/drawing/2014/main" id="{374513DD-C582-3DEE-75C7-B267166F834E}"/>
              </a:ext>
            </a:extLst>
          </p:cNvPr>
          <p:cNvSpPr/>
          <p:nvPr/>
        </p:nvSpPr>
        <p:spPr>
          <a:xfrm rot="10800000" flipH="1">
            <a:off x="5199804" y="8322461"/>
            <a:ext cx="944261" cy="1140881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FF66C3C5-2B6C-3791-8927-90211404F31F}"/>
              </a:ext>
            </a:extLst>
          </p:cNvPr>
          <p:cNvSpPr/>
          <p:nvPr/>
        </p:nvSpPr>
        <p:spPr>
          <a:xfrm>
            <a:off x="7718005" y="6528063"/>
            <a:ext cx="416903" cy="565648"/>
          </a:xfrm>
          <a:prstGeom prst="rect">
            <a:avLst/>
          </a:prstGeom>
          <a:solidFill>
            <a:srgbClr val="FFFFFF"/>
          </a:solidFill>
          <a:ln w="254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36" name="Image" descr="Image">
            <a:extLst>
              <a:ext uri="{FF2B5EF4-FFF2-40B4-BE49-F238E27FC236}">
                <a16:creationId xmlns:a16="http://schemas.microsoft.com/office/drawing/2014/main" id="{57799FA9-1566-E93E-FE7F-2381683FD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68" y="-661924"/>
            <a:ext cx="5598432" cy="2990088"/>
          </a:xfrm>
          <a:prstGeom prst="rect">
            <a:avLst/>
          </a:prstGeom>
          <a:ln w="12700">
            <a:miter lim="400000"/>
          </a:ln>
        </p:spPr>
      </p:pic>
      <p:sp>
        <p:nvSpPr>
          <p:cNvPr id="937" name="Line">
            <a:extLst>
              <a:ext uri="{FF2B5EF4-FFF2-40B4-BE49-F238E27FC236}">
                <a16:creationId xmlns:a16="http://schemas.microsoft.com/office/drawing/2014/main" id="{82A20600-0A0E-212E-2958-79DA649B4A32}"/>
              </a:ext>
            </a:extLst>
          </p:cNvPr>
          <p:cNvSpPr/>
          <p:nvPr/>
        </p:nvSpPr>
        <p:spPr>
          <a:xfrm flipV="1">
            <a:off x="213255" y="10296246"/>
            <a:ext cx="13462982" cy="39499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38" name="YOUR LOGO…">
            <a:extLst>
              <a:ext uri="{FF2B5EF4-FFF2-40B4-BE49-F238E27FC236}">
                <a16:creationId xmlns:a16="http://schemas.microsoft.com/office/drawing/2014/main" id="{BC34912D-61A2-C951-98DE-CCF456104303}"/>
              </a:ext>
            </a:extLst>
          </p:cNvPr>
          <p:cNvSpPr/>
          <p:nvPr/>
        </p:nvSpPr>
        <p:spPr>
          <a:xfrm>
            <a:off x="170343" y="10207710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sz="2400" dirty="0"/>
              <a:t>Kumu</a:t>
            </a:r>
            <a:endParaRPr sz="2400" dirty="0"/>
          </a:p>
        </p:txBody>
      </p:sp>
      <p:sp>
        <p:nvSpPr>
          <p:cNvPr id="939" name="Three Column Layout: : CHEAT SHEET">
            <a:extLst>
              <a:ext uri="{FF2B5EF4-FFF2-40B4-BE49-F238E27FC236}">
                <a16:creationId xmlns:a16="http://schemas.microsoft.com/office/drawing/2014/main" id="{57A0D719-3CC9-BAA6-A677-56B12ACEABA1}"/>
              </a:ext>
            </a:extLst>
          </p:cNvPr>
          <p:cNvSpPr txBox="1">
            <a:spLocks/>
          </p:cNvSpPr>
          <p:nvPr/>
        </p:nvSpPr>
        <p:spPr>
          <a:xfrm>
            <a:off x="275721" y="361177"/>
            <a:ext cx="10898129" cy="803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1pPr>
            <a:lvl2pPr marL="0" marR="0" indent="228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2pPr>
            <a:lvl3pPr marL="0" marR="0" indent="457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3pPr>
            <a:lvl4pPr marL="0" marR="0" indent="685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4pPr>
            <a:lvl5pPr marL="0" marR="0" indent="9144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5pPr>
            <a:lvl6pPr marL="0" marR="0" indent="11430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6pPr>
            <a:lvl7pPr marL="0" marR="0" indent="1371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7pPr>
            <a:lvl8pPr marL="0" marR="0" indent="1600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8pPr>
            <a:lvl9pPr marL="0" marR="0" indent="1828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9pPr>
          </a:lstStyle>
          <a:p>
            <a:pPr hangingPunct="1"/>
            <a:r>
              <a:rPr lang="en-US"/>
              <a:t>Pykumu : : </a:t>
            </a:r>
            <a:r>
              <a:rPr lang="en-US"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941" name="Layout Suggestions">
            <a:extLst>
              <a:ext uri="{FF2B5EF4-FFF2-40B4-BE49-F238E27FC236}">
                <a16:creationId xmlns:a16="http://schemas.microsoft.com/office/drawing/2014/main" id="{17F24AB8-EAB3-0590-A89E-D4DB92464BED}"/>
              </a:ext>
            </a:extLst>
          </p:cNvPr>
          <p:cNvSpPr txBox="1"/>
          <p:nvPr/>
        </p:nvSpPr>
        <p:spPr>
          <a:xfrm>
            <a:off x="182880" y="1463040"/>
            <a:ext cx="262128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About</a:t>
            </a:r>
            <a:endParaRPr dirty="0"/>
          </a:p>
        </p:txBody>
      </p:sp>
      <p:sp>
        <p:nvSpPr>
          <p:cNvPr id="943" name="TextBox 942">
            <a:extLst>
              <a:ext uri="{FF2B5EF4-FFF2-40B4-BE49-F238E27FC236}">
                <a16:creationId xmlns:a16="http://schemas.microsoft.com/office/drawing/2014/main" id="{1DB8C108-D6DB-8F8A-D5D7-B4EE5F2F24E4}"/>
              </a:ext>
            </a:extLst>
          </p:cNvPr>
          <p:cNvSpPr txBox="1"/>
          <p:nvPr/>
        </p:nvSpPr>
        <p:spPr>
          <a:xfrm>
            <a:off x="6080760" y="10327008"/>
            <a:ext cx="7747698" cy="500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1000" b="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1000" b="0" dirty="0">
                <a:solidFill>
                  <a:schemeClr val="tx1"/>
                </a:solidFill>
              </a:rPr>
              <a:t> Phuong Pham,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Carlos Paradis</a:t>
            </a:r>
            <a:r>
              <a:rPr lang="en-US" sz="1000" b="0" dirty="0">
                <a:solidFill>
                  <a:schemeClr val="tx1"/>
                </a:solidFill>
              </a:rPr>
              <a:t>, Adam Graham, Jared Seto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• Kai</a:t>
            </a:r>
            <a:r>
              <a:rPr kumimoji="0" lang="haw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ā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ulu package version 0.0.0.9700 (in development) •  Updated: 2026-04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4" name="Logistics">
            <a:extLst>
              <a:ext uri="{FF2B5EF4-FFF2-40B4-BE49-F238E27FC236}">
                <a16:creationId xmlns:a16="http://schemas.microsoft.com/office/drawing/2014/main" id="{66A9476C-600A-62AC-CA31-2493E533B8DF}"/>
              </a:ext>
            </a:extLst>
          </p:cNvPr>
          <p:cNvSpPr txBox="1"/>
          <p:nvPr/>
        </p:nvSpPr>
        <p:spPr>
          <a:xfrm>
            <a:off x="9601200" y="146304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API</a:t>
            </a:r>
          </a:p>
        </p:txBody>
      </p:sp>
      <p:sp>
        <p:nvSpPr>
          <p:cNvPr id="945" name="Logistics">
            <a:extLst>
              <a:ext uri="{FF2B5EF4-FFF2-40B4-BE49-F238E27FC236}">
                <a16:creationId xmlns:a16="http://schemas.microsoft.com/office/drawing/2014/main" id="{E70230DC-5B7B-18D4-7459-8F20D44EDF32}"/>
              </a:ext>
            </a:extLst>
          </p:cNvPr>
          <p:cNvSpPr txBox="1"/>
          <p:nvPr/>
        </p:nvSpPr>
        <p:spPr>
          <a:xfrm>
            <a:off x="182880" y="6675120"/>
            <a:ext cx="332142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Command Line Interface</a:t>
            </a:r>
          </a:p>
        </p:txBody>
      </p:sp>
      <p:sp>
        <p:nvSpPr>
          <p:cNvPr id="947" name="Basics">
            <a:extLst>
              <a:ext uri="{FF2B5EF4-FFF2-40B4-BE49-F238E27FC236}">
                <a16:creationId xmlns:a16="http://schemas.microsoft.com/office/drawing/2014/main" id="{CED504F2-8BA9-A3EE-C8B7-4BA15E69D0FE}"/>
              </a:ext>
            </a:extLst>
          </p:cNvPr>
          <p:cNvSpPr txBox="1"/>
          <p:nvPr/>
        </p:nvSpPr>
        <p:spPr>
          <a:xfrm>
            <a:off x="182880" y="2834640"/>
            <a:ext cx="16991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lc="http://schemas.openxmlformats.org/drawingml/2006/lockedCanvas" val="1"/>
            </a:ext>
          </a:extLst>
        </p:spPr>
        <p:txBody>
          <a:bodyPr wrap="none" lIns="12700" tIns="12700" rIns="12700" bIns="127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 err="1"/>
              <a:t>Pykumu</a:t>
            </a:r>
            <a:r>
              <a:rPr lang="en-US" dirty="0"/>
              <a:t> API </a:t>
            </a:r>
            <a:endParaRPr dirty="0"/>
          </a:p>
        </p:txBody>
      </p:sp>
      <p:sp>
        <p:nvSpPr>
          <p:cNvPr id="948" name="Manipulate Variables">
            <a:extLst>
              <a:ext uri="{FF2B5EF4-FFF2-40B4-BE49-F238E27FC236}">
                <a16:creationId xmlns:a16="http://schemas.microsoft.com/office/drawing/2014/main" id="{C07EC5AD-7B1E-0D66-6541-419BF25B18BF}"/>
              </a:ext>
            </a:extLst>
          </p:cNvPr>
          <p:cNvSpPr txBox="1"/>
          <p:nvPr/>
        </p:nvSpPr>
        <p:spPr>
          <a:xfrm>
            <a:off x="4754880" y="1463040"/>
            <a:ext cx="3414396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Analysis Workflow</a:t>
            </a:r>
          </a:p>
        </p:txBody>
      </p:sp>
      <p:graphicFrame>
        <p:nvGraphicFramePr>
          <p:cNvPr id="952" name="Table">
            <a:extLst>
              <a:ext uri="{FF2B5EF4-FFF2-40B4-BE49-F238E27FC236}">
                <a16:creationId xmlns:a16="http://schemas.microsoft.com/office/drawing/2014/main" id="{4D78DA5C-582E-7D52-F571-DA325D4545C7}"/>
              </a:ext>
            </a:extLst>
          </p:cNvPr>
          <p:cNvGraphicFramePr/>
          <p:nvPr/>
        </p:nvGraphicFramePr>
        <p:xfrm>
          <a:off x="7572970" y="1860776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3" name="Table">
            <a:extLst>
              <a:ext uri="{FF2B5EF4-FFF2-40B4-BE49-F238E27FC236}">
                <a16:creationId xmlns:a16="http://schemas.microsoft.com/office/drawing/2014/main" id="{333C648E-F6A9-2DCF-6B24-BB8B50049DAB}"/>
              </a:ext>
            </a:extLst>
          </p:cNvPr>
          <p:cNvGraphicFramePr/>
          <p:nvPr/>
        </p:nvGraphicFramePr>
        <p:xfrm>
          <a:off x="8061338" y="3158012"/>
          <a:ext cx="646626" cy="63799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07771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2262694748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819122332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296678260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322319369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17903980"/>
                    </a:ext>
                  </a:extLst>
                </a:gridCol>
              </a:tblGrid>
              <a:tr h="127598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4" name="Table">
            <a:extLst>
              <a:ext uri="{FF2B5EF4-FFF2-40B4-BE49-F238E27FC236}">
                <a16:creationId xmlns:a16="http://schemas.microsoft.com/office/drawing/2014/main" id="{53185CE3-6C31-B109-B191-9E1960EDB652}"/>
              </a:ext>
            </a:extLst>
          </p:cNvPr>
          <p:cNvGraphicFramePr/>
          <p:nvPr/>
        </p:nvGraphicFramePr>
        <p:xfrm>
          <a:off x="57722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5" name="Table">
            <a:extLst>
              <a:ext uri="{FF2B5EF4-FFF2-40B4-BE49-F238E27FC236}">
                <a16:creationId xmlns:a16="http://schemas.microsoft.com/office/drawing/2014/main" id="{C0D241F0-815F-3E83-C3AB-83034A50A75E}"/>
              </a:ext>
            </a:extLst>
          </p:cNvPr>
          <p:cNvGraphicFramePr/>
          <p:nvPr/>
        </p:nvGraphicFramePr>
        <p:xfrm>
          <a:off x="7118882" y="3162435"/>
          <a:ext cx="627864" cy="6400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933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102988"/>
                  </a:ext>
                </a:extLst>
              </a:tr>
            </a:tbl>
          </a:graphicData>
        </a:graphic>
      </p:graphicFrame>
      <p:graphicFrame>
        <p:nvGraphicFramePr>
          <p:cNvPr id="956" name="Table">
            <a:extLst>
              <a:ext uri="{FF2B5EF4-FFF2-40B4-BE49-F238E27FC236}">
                <a16:creationId xmlns:a16="http://schemas.microsoft.com/office/drawing/2014/main" id="{52C55AE1-ADAD-C64E-1530-357950D3A259}"/>
              </a:ext>
            </a:extLst>
          </p:cNvPr>
          <p:cNvGraphicFramePr/>
          <p:nvPr/>
        </p:nvGraphicFramePr>
        <p:xfrm>
          <a:off x="53483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7" name="Plus Sign 956">
            <a:extLst>
              <a:ext uri="{FF2B5EF4-FFF2-40B4-BE49-F238E27FC236}">
                <a16:creationId xmlns:a16="http://schemas.microsoft.com/office/drawing/2014/main" id="{75868D0E-DE35-DECB-61DC-3CB30C4F5284}"/>
              </a:ext>
            </a:extLst>
          </p:cNvPr>
          <p:cNvSpPr/>
          <p:nvPr/>
        </p:nvSpPr>
        <p:spPr>
          <a:xfrm>
            <a:off x="5608866" y="3336992"/>
            <a:ext cx="118473" cy="124938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8" name="Plus Sign 957">
            <a:extLst>
              <a:ext uri="{FF2B5EF4-FFF2-40B4-BE49-F238E27FC236}">
                <a16:creationId xmlns:a16="http://schemas.microsoft.com/office/drawing/2014/main" id="{D5175BB9-95F4-06A5-B8E0-DBCFBF6877D9}"/>
              </a:ext>
            </a:extLst>
          </p:cNvPr>
          <p:cNvSpPr/>
          <p:nvPr/>
        </p:nvSpPr>
        <p:spPr>
          <a:xfrm>
            <a:off x="7845219" y="3413769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9" name="Left Brace 958">
            <a:extLst>
              <a:ext uri="{FF2B5EF4-FFF2-40B4-BE49-F238E27FC236}">
                <a16:creationId xmlns:a16="http://schemas.microsoft.com/office/drawing/2014/main" id="{AEF0BB0A-2AF8-DBC2-7382-B7FED2CC4E73}"/>
              </a:ext>
            </a:extLst>
          </p:cNvPr>
          <p:cNvSpPr/>
          <p:nvPr/>
        </p:nvSpPr>
        <p:spPr>
          <a:xfrm>
            <a:off x="7013808" y="3168613"/>
            <a:ext cx="45719" cy="623765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0" name="TextBox 959">
            <a:extLst>
              <a:ext uri="{FF2B5EF4-FFF2-40B4-BE49-F238E27FC236}">
                <a16:creationId xmlns:a16="http://schemas.microsoft.com/office/drawing/2014/main" id="{60E3DEFD-80F4-D894-26BD-7BCA655843EA}"/>
              </a:ext>
            </a:extLst>
          </p:cNvPr>
          <p:cNvSpPr txBox="1"/>
          <p:nvPr/>
        </p:nvSpPr>
        <p:spPr>
          <a:xfrm>
            <a:off x="6843820" y="3302155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1" name="Left Brace 960">
            <a:extLst>
              <a:ext uri="{FF2B5EF4-FFF2-40B4-BE49-F238E27FC236}">
                <a16:creationId xmlns:a16="http://schemas.microsoft.com/office/drawing/2014/main" id="{D0C0F125-1D30-14C1-C013-B4104AD4570B}"/>
              </a:ext>
            </a:extLst>
          </p:cNvPr>
          <p:cNvSpPr/>
          <p:nvPr/>
        </p:nvSpPr>
        <p:spPr>
          <a:xfrm rot="5400000">
            <a:off x="8355720" y="2751534"/>
            <a:ext cx="51104" cy="639868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81F59EBC-6A13-DEAA-BD9D-FFB61A4CD7F3}"/>
              </a:ext>
            </a:extLst>
          </p:cNvPr>
          <p:cNvSpPr txBox="1"/>
          <p:nvPr/>
        </p:nvSpPr>
        <p:spPr>
          <a:xfrm>
            <a:off x="8298111" y="2791232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3" name="TextBox 962">
            <a:extLst>
              <a:ext uri="{FF2B5EF4-FFF2-40B4-BE49-F238E27FC236}">
                <a16:creationId xmlns:a16="http://schemas.microsoft.com/office/drawing/2014/main" id="{C91392C3-A1CC-1F82-F652-5CC48E417A91}"/>
              </a:ext>
            </a:extLst>
          </p:cNvPr>
          <p:cNvSpPr txBox="1"/>
          <p:nvPr/>
        </p:nvSpPr>
        <p:spPr>
          <a:xfrm>
            <a:off x="7059527" y="2904070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CVE_ID</a:t>
            </a:r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7D9A0133-CC00-E4B7-8E29-26432AB777C4}"/>
              </a:ext>
            </a:extLst>
          </p:cNvPr>
          <p:cNvSpPr txBox="1"/>
          <p:nvPr/>
        </p:nvSpPr>
        <p:spPr>
          <a:xfrm>
            <a:off x="5375035" y="3638435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5" name="TextBox 964">
            <a:extLst>
              <a:ext uri="{FF2B5EF4-FFF2-40B4-BE49-F238E27FC236}">
                <a16:creationId xmlns:a16="http://schemas.microsoft.com/office/drawing/2014/main" id="{9B9B4ADD-4C5F-F48A-2EA1-69C8A8F09367}"/>
              </a:ext>
            </a:extLst>
          </p:cNvPr>
          <p:cNvSpPr txBox="1"/>
          <p:nvPr/>
        </p:nvSpPr>
        <p:spPr>
          <a:xfrm>
            <a:off x="8265907" y="4958917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DF33D979-C1EC-3DFB-994D-A164D1C5CBBC}"/>
              </a:ext>
            </a:extLst>
          </p:cNvPr>
          <p:cNvSpPr txBox="1"/>
          <p:nvPr/>
        </p:nvSpPr>
        <p:spPr>
          <a:xfrm>
            <a:off x="7061575" y="3769664"/>
            <a:ext cx="1841009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dirty="0"/>
              <a:t>4. Indicator Features (IF) 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7" name="TextBox 966">
            <a:extLst>
              <a:ext uri="{FF2B5EF4-FFF2-40B4-BE49-F238E27FC236}">
                <a16:creationId xmlns:a16="http://schemas.microsoft.com/office/drawing/2014/main" id="{268B4CD2-6DA6-4484-E971-BECA71CA209B}"/>
              </a:ext>
            </a:extLst>
          </p:cNvPr>
          <p:cNvSpPr txBox="1"/>
          <p:nvPr/>
        </p:nvSpPr>
        <p:spPr>
          <a:xfrm>
            <a:off x="5218291" y="3762554"/>
            <a:ext cx="872964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/>
              <a:t>3. Time Lag</a:t>
            </a:r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867D29BC-6AF5-00C6-1933-2D17EA7474EC}"/>
              </a:ext>
            </a:extLst>
          </p:cNvPr>
          <p:cNvSpPr txBox="1"/>
          <p:nvPr/>
        </p:nvSpPr>
        <p:spPr>
          <a:xfrm>
            <a:off x="7464986" y="2450238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2. Dataset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69" name="Connector: Elbow 968">
            <a:extLst>
              <a:ext uri="{FF2B5EF4-FFF2-40B4-BE49-F238E27FC236}">
                <a16:creationId xmlns:a16="http://schemas.microsoft.com/office/drawing/2014/main" id="{9B749F01-40A2-BFE9-61D4-656E34D0809C}"/>
              </a:ext>
            </a:extLst>
          </p:cNvPr>
          <p:cNvCxnSpPr>
            <a:cxnSpLocks/>
            <a:endCxn id="995" idx="1"/>
          </p:cNvCxnSpPr>
          <p:nvPr/>
        </p:nvCxnSpPr>
        <p:spPr>
          <a:xfrm flipH="1">
            <a:off x="5209590" y="2279027"/>
            <a:ext cx="3498712" cy="1167195"/>
          </a:xfrm>
          <a:prstGeom prst="bentConnector5">
            <a:avLst>
              <a:gd name="adj1" fmla="val -9550"/>
              <a:gd name="adj2" fmla="val 50000"/>
              <a:gd name="adj3" fmla="val 112547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70" name="Rectangle 969">
            <a:extLst>
              <a:ext uri="{FF2B5EF4-FFF2-40B4-BE49-F238E27FC236}">
                <a16:creationId xmlns:a16="http://schemas.microsoft.com/office/drawing/2014/main" id="{D66CECB1-3282-29DC-F324-B3699D011043}"/>
              </a:ext>
            </a:extLst>
          </p:cNvPr>
          <p:cNvSpPr/>
          <p:nvPr/>
        </p:nvSpPr>
        <p:spPr>
          <a:xfrm>
            <a:off x="7370620" y="1800587"/>
            <a:ext cx="1443262" cy="996921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971" name="Table">
            <a:extLst>
              <a:ext uri="{FF2B5EF4-FFF2-40B4-BE49-F238E27FC236}">
                <a16:creationId xmlns:a16="http://schemas.microsoft.com/office/drawing/2014/main" id="{934D86A8-D30D-3EDE-691A-40BD311CF1C8}"/>
              </a:ext>
            </a:extLst>
          </p:cNvPr>
          <p:cNvGraphicFramePr/>
          <p:nvPr/>
        </p:nvGraphicFramePr>
        <p:xfrm>
          <a:off x="5798497" y="4490104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72" name="Table">
            <a:extLst>
              <a:ext uri="{FF2B5EF4-FFF2-40B4-BE49-F238E27FC236}">
                <a16:creationId xmlns:a16="http://schemas.microsoft.com/office/drawing/2014/main" id="{CBD331F2-5C45-B595-4DEE-A4421298448A}"/>
              </a:ext>
            </a:extLst>
          </p:cNvPr>
          <p:cNvGraphicFramePr/>
          <p:nvPr/>
        </p:nvGraphicFramePr>
        <p:xfrm>
          <a:off x="5305505" y="4499036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3" name="Plus Sign 972">
            <a:extLst>
              <a:ext uri="{FF2B5EF4-FFF2-40B4-BE49-F238E27FC236}">
                <a16:creationId xmlns:a16="http://schemas.microsoft.com/office/drawing/2014/main" id="{8A2503E5-479D-53FA-2E11-DBFC8634A65C}"/>
              </a:ext>
            </a:extLst>
          </p:cNvPr>
          <p:cNvSpPr/>
          <p:nvPr/>
        </p:nvSpPr>
        <p:spPr>
          <a:xfrm>
            <a:off x="5599687" y="4490104"/>
            <a:ext cx="12099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74" name="TextBox 973">
            <a:extLst>
              <a:ext uri="{FF2B5EF4-FFF2-40B4-BE49-F238E27FC236}">
                <a16:creationId xmlns:a16="http://schemas.microsoft.com/office/drawing/2014/main" id="{B24AD182-60D5-8A01-812E-2C80D44E7FEA}"/>
              </a:ext>
            </a:extLst>
          </p:cNvPr>
          <p:cNvSpPr txBox="1"/>
          <p:nvPr/>
        </p:nvSpPr>
        <p:spPr>
          <a:xfrm>
            <a:off x="5103638" y="5067603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5. Null Features</a:t>
            </a:r>
          </a:p>
        </p:txBody>
      </p:sp>
      <p:cxnSp>
        <p:nvCxnSpPr>
          <p:cNvPr id="975" name="Straight Arrow Connector 974">
            <a:extLst>
              <a:ext uri="{FF2B5EF4-FFF2-40B4-BE49-F238E27FC236}">
                <a16:creationId xmlns:a16="http://schemas.microsoft.com/office/drawing/2014/main" id="{953A4096-B1A1-3DB0-4421-F9AB4D2CC5F8}"/>
              </a:ext>
            </a:extLst>
          </p:cNvPr>
          <p:cNvCxnSpPr>
            <a:cxnSpLocks/>
          </p:cNvCxnSpPr>
          <p:nvPr/>
        </p:nvCxnSpPr>
        <p:spPr>
          <a:xfrm>
            <a:off x="5512825" y="4664976"/>
            <a:ext cx="285672" cy="357737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6" name="Straight Arrow Connector 975">
            <a:extLst>
              <a:ext uri="{FF2B5EF4-FFF2-40B4-BE49-F238E27FC236}">
                <a16:creationId xmlns:a16="http://schemas.microsoft.com/office/drawing/2014/main" id="{3B634385-DD17-1F9E-1E93-0A5FC8A1BB30}"/>
              </a:ext>
            </a:extLst>
          </p:cNvPr>
          <p:cNvCxnSpPr>
            <a:cxnSpLocks/>
          </p:cNvCxnSpPr>
          <p:nvPr/>
        </p:nvCxnSpPr>
        <p:spPr>
          <a:xfrm>
            <a:off x="5512825" y="4798565"/>
            <a:ext cx="285672" cy="11364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7" name="Straight Arrow Connector 976">
            <a:extLst>
              <a:ext uri="{FF2B5EF4-FFF2-40B4-BE49-F238E27FC236}">
                <a16:creationId xmlns:a16="http://schemas.microsoft.com/office/drawing/2014/main" id="{F2E8EF5B-E10D-9DA9-DBA8-4AEB36E204F9}"/>
              </a:ext>
            </a:extLst>
          </p:cNvPr>
          <p:cNvCxnSpPr>
            <a:cxnSpLocks/>
            <a:endCxn id="971" idx="1"/>
          </p:cNvCxnSpPr>
          <p:nvPr/>
        </p:nvCxnSpPr>
        <p:spPr>
          <a:xfrm flipV="1">
            <a:off x="5506921" y="4786981"/>
            <a:ext cx="291576" cy="12208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8" name="Straight Arrow Connector 977">
            <a:extLst>
              <a:ext uri="{FF2B5EF4-FFF2-40B4-BE49-F238E27FC236}">
                <a16:creationId xmlns:a16="http://schemas.microsoft.com/office/drawing/2014/main" id="{A168A02D-C870-4209-46BE-87A031300D69}"/>
              </a:ext>
            </a:extLst>
          </p:cNvPr>
          <p:cNvCxnSpPr>
            <a:cxnSpLocks/>
          </p:cNvCxnSpPr>
          <p:nvPr/>
        </p:nvCxnSpPr>
        <p:spPr>
          <a:xfrm flipV="1">
            <a:off x="5509148" y="4664976"/>
            <a:ext cx="289349" cy="36609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9" name="Connector: Elbow 978">
            <a:extLst>
              <a:ext uri="{FF2B5EF4-FFF2-40B4-BE49-F238E27FC236}">
                <a16:creationId xmlns:a16="http://schemas.microsoft.com/office/drawing/2014/main" id="{F3A9D0D9-E418-EE0B-F8CA-58747191EC5D}"/>
              </a:ext>
            </a:extLst>
          </p:cNvPr>
          <p:cNvCxnSpPr>
            <a:cxnSpLocks/>
            <a:stCxn id="992" idx="3"/>
            <a:endCxn id="993" idx="1"/>
          </p:cNvCxnSpPr>
          <p:nvPr/>
        </p:nvCxnSpPr>
        <p:spPr>
          <a:xfrm flipH="1">
            <a:off x="5202130" y="3497252"/>
            <a:ext cx="3609346" cy="1247213"/>
          </a:xfrm>
          <a:prstGeom prst="bentConnector5">
            <a:avLst>
              <a:gd name="adj1" fmla="val -6334"/>
              <a:gd name="adj2" fmla="val 54130"/>
              <a:gd name="adj3" fmla="val 111841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0" name="TextBox 979">
            <a:extLst>
              <a:ext uri="{FF2B5EF4-FFF2-40B4-BE49-F238E27FC236}">
                <a16:creationId xmlns:a16="http://schemas.microsoft.com/office/drawing/2014/main" id="{D185D047-25CC-76D4-7B1A-4E8E1D39D48F}"/>
              </a:ext>
            </a:extLst>
          </p:cNvPr>
          <p:cNvSpPr txBox="1"/>
          <p:nvPr/>
        </p:nvSpPr>
        <p:spPr>
          <a:xfrm>
            <a:off x="5731442" y="4284432"/>
            <a:ext cx="807445" cy="2000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 err="1"/>
              <a:t>nv</a:t>
            </a:r>
            <a:r>
              <a:rPr lang="en-US" sz="700" dirty="0"/>
              <a:t>-*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81" name="Picture 980" descr="A picture containing text&#10;&#10;Description automatically generated">
            <a:extLst>
              <a:ext uri="{FF2B5EF4-FFF2-40B4-BE49-F238E27FC236}">
                <a16:creationId xmlns:a16="http://schemas.microsoft.com/office/drawing/2014/main" id="{843153D4-F46F-5C3D-F0EF-3F145B2692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501" y="1793256"/>
            <a:ext cx="575884" cy="668768"/>
          </a:xfrm>
          <a:prstGeom prst="rect">
            <a:avLst/>
          </a:prstGeom>
        </p:spPr>
      </p:pic>
      <p:sp>
        <p:nvSpPr>
          <p:cNvPr id="982" name="TextBox 981">
            <a:extLst>
              <a:ext uri="{FF2B5EF4-FFF2-40B4-BE49-F238E27FC236}">
                <a16:creationId xmlns:a16="http://schemas.microsoft.com/office/drawing/2014/main" id="{E60505B9-E3AC-1583-9A8D-2434FA79CB32}"/>
              </a:ext>
            </a:extLst>
          </p:cNvPr>
          <p:cNvSpPr txBox="1"/>
          <p:nvPr/>
        </p:nvSpPr>
        <p:spPr>
          <a:xfrm>
            <a:off x="5004947" y="2423307"/>
            <a:ext cx="131138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1. </a:t>
            </a:r>
            <a:r>
              <a:rPr lang="en-US" dirty="0" err="1"/>
              <a:t>sailuh</a:t>
            </a:r>
            <a:r>
              <a:rPr lang="en-US" dirty="0"/>
              <a:t>/</a:t>
            </a:r>
            <a:r>
              <a:rPr lang="en-US" dirty="0" err="1"/>
              <a:t>kaiaulu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83" name="TextBox 982">
            <a:extLst>
              <a:ext uri="{FF2B5EF4-FFF2-40B4-BE49-F238E27FC236}">
                <a16:creationId xmlns:a16="http://schemas.microsoft.com/office/drawing/2014/main" id="{5B908712-7CD3-995B-6D4B-F9A169B7D2A5}"/>
              </a:ext>
            </a:extLst>
          </p:cNvPr>
          <p:cNvSpPr txBox="1"/>
          <p:nvPr/>
        </p:nvSpPr>
        <p:spPr>
          <a:xfrm>
            <a:off x="7046974" y="7065060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7.2 Domain Knowledge</a:t>
            </a:r>
          </a:p>
        </p:txBody>
      </p:sp>
      <p:cxnSp>
        <p:nvCxnSpPr>
          <p:cNvPr id="984" name="Connector: Elbow 983">
            <a:extLst>
              <a:ext uri="{FF2B5EF4-FFF2-40B4-BE49-F238E27FC236}">
                <a16:creationId xmlns:a16="http://schemas.microsoft.com/office/drawing/2014/main" id="{C7853310-D6CD-D0E7-F0AC-11B89B211C18}"/>
              </a:ext>
            </a:extLst>
          </p:cNvPr>
          <p:cNvCxnSpPr>
            <a:cxnSpLocks/>
            <a:endCxn id="1102" idx="3"/>
          </p:cNvCxnSpPr>
          <p:nvPr/>
        </p:nvCxnSpPr>
        <p:spPr>
          <a:xfrm flipH="1">
            <a:off x="8451473" y="5231923"/>
            <a:ext cx="266193" cy="568100"/>
          </a:xfrm>
          <a:prstGeom prst="bentConnector3">
            <a:avLst>
              <a:gd name="adj1" fmla="val -12022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5" name="Connector: Elbow 984">
            <a:extLst>
              <a:ext uri="{FF2B5EF4-FFF2-40B4-BE49-F238E27FC236}">
                <a16:creationId xmlns:a16="http://schemas.microsoft.com/office/drawing/2014/main" id="{AC6D8A4B-1F6B-0DEA-BBFC-6BE2FD31AD08}"/>
              </a:ext>
            </a:extLst>
          </p:cNvPr>
          <p:cNvCxnSpPr>
            <a:cxnSpLocks/>
          </p:cNvCxnSpPr>
          <p:nvPr/>
        </p:nvCxnSpPr>
        <p:spPr>
          <a:xfrm rot="10800000">
            <a:off x="6191032" y="6088412"/>
            <a:ext cx="1339738" cy="753131"/>
          </a:xfrm>
          <a:prstGeom prst="bentConnector3">
            <a:avLst>
              <a:gd name="adj1" fmla="val 6433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6" name="Connector: Elbow 985">
            <a:extLst>
              <a:ext uri="{FF2B5EF4-FFF2-40B4-BE49-F238E27FC236}">
                <a16:creationId xmlns:a16="http://schemas.microsoft.com/office/drawing/2014/main" id="{871A2ABB-BF05-352B-BA72-C93478078359}"/>
              </a:ext>
            </a:extLst>
          </p:cNvPr>
          <p:cNvCxnSpPr>
            <a:cxnSpLocks/>
            <a:stCxn id="1103" idx="1"/>
          </p:cNvCxnSpPr>
          <p:nvPr/>
        </p:nvCxnSpPr>
        <p:spPr>
          <a:xfrm rot="10800000" flipV="1">
            <a:off x="6191031" y="5778057"/>
            <a:ext cx="1218821" cy="310351"/>
          </a:xfrm>
          <a:prstGeom prst="bentConnector3">
            <a:avLst>
              <a:gd name="adj1" fmla="val 61094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7" name="Connector: Elbow 986">
            <a:extLst>
              <a:ext uri="{FF2B5EF4-FFF2-40B4-BE49-F238E27FC236}">
                <a16:creationId xmlns:a16="http://schemas.microsoft.com/office/drawing/2014/main" id="{1BF4F3C1-CA25-E300-B5BF-2E96D0CAD65D}"/>
              </a:ext>
            </a:extLst>
          </p:cNvPr>
          <p:cNvCxnSpPr>
            <a:cxnSpLocks/>
            <a:stCxn id="997" idx="1"/>
          </p:cNvCxnSpPr>
          <p:nvPr/>
        </p:nvCxnSpPr>
        <p:spPr>
          <a:xfrm rot="10800000" flipV="1">
            <a:off x="6191031" y="3958395"/>
            <a:ext cx="868497" cy="2130014"/>
          </a:xfrm>
          <a:prstGeom prst="bentConnector3">
            <a:avLst>
              <a:gd name="adj1" fmla="val 44736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8" name="Connector: Elbow 987">
            <a:extLst>
              <a:ext uri="{FF2B5EF4-FFF2-40B4-BE49-F238E27FC236}">
                <a16:creationId xmlns:a16="http://schemas.microsoft.com/office/drawing/2014/main" id="{D7A77EB8-D9CA-B95D-75C0-22A35F70E5E0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146994" y="6098332"/>
            <a:ext cx="1516881" cy="1905124"/>
          </a:xfrm>
          <a:prstGeom prst="bentConnector4">
            <a:avLst>
              <a:gd name="adj1" fmla="val -25117"/>
              <a:gd name="adj2" fmla="val 73163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9" name="Straight Arrow Connector 988">
            <a:extLst>
              <a:ext uri="{FF2B5EF4-FFF2-40B4-BE49-F238E27FC236}">
                <a16:creationId xmlns:a16="http://schemas.microsoft.com/office/drawing/2014/main" id="{60C82449-C9E0-6D55-1AE4-68D6FDE86F9E}"/>
              </a:ext>
            </a:extLst>
          </p:cNvPr>
          <p:cNvCxnSpPr>
            <a:cxnSpLocks/>
          </p:cNvCxnSpPr>
          <p:nvPr/>
        </p:nvCxnSpPr>
        <p:spPr>
          <a:xfrm>
            <a:off x="6463103" y="4734321"/>
            <a:ext cx="540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0" name="Straight Arrow Connector 989">
            <a:extLst>
              <a:ext uri="{FF2B5EF4-FFF2-40B4-BE49-F238E27FC236}">
                <a16:creationId xmlns:a16="http://schemas.microsoft.com/office/drawing/2014/main" id="{268933A3-7A49-6259-0C71-DFDBF48C68F0}"/>
              </a:ext>
            </a:extLst>
          </p:cNvPr>
          <p:cNvCxnSpPr>
            <a:cxnSpLocks/>
          </p:cNvCxnSpPr>
          <p:nvPr/>
        </p:nvCxnSpPr>
        <p:spPr>
          <a:xfrm>
            <a:off x="6578363" y="2180213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1" name="TextBox 990">
            <a:extLst>
              <a:ext uri="{FF2B5EF4-FFF2-40B4-BE49-F238E27FC236}">
                <a16:creationId xmlns:a16="http://schemas.microsoft.com/office/drawing/2014/main" id="{2E1C911E-3CFE-4DD6-0502-93C670C87660}"/>
              </a:ext>
            </a:extLst>
          </p:cNvPr>
          <p:cNvSpPr txBox="1"/>
          <p:nvPr/>
        </p:nvSpPr>
        <p:spPr>
          <a:xfrm>
            <a:off x="8573910" y="1854240"/>
            <a:ext cx="130496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2" name="TextBox 991">
            <a:extLst>
              <a:ext uri="{FF2B5EF4-FFF2-40B4-BE49-F238E27FC236}">
                <a16:creationId xmlns:a16="http://schemas.microsoft.com/office/drawing/2014/main" id="{893113F5-A446-2303-6C25-E76755F0C2FA}"/>
              </a:ext>
            </a:extLst>
          </p:cNvPr>
          <p:cNvSpPr txBox="1"/>
          <p:nvPr/>
        </p:nvSpPr>
        <p:spPr>
          <a:xfrm>
            <a:off x="8701206" y="333699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3" name="TextBox 992">
            <a:extLst>
              <a:ext uri="{FF2B5EF4-FFF2-40B4-BE49-F238E27FC236}">
                <a16:creationId xmlns:a16="http://schemas.microsoft.com/office/drawing/2014/main" id="{894526D0-7A5D-2CEA-0EBA-99DB175002A6}"/>
              </a:ext>
            </a:extLst>
          </p:cNvPr>
          <p:cNvSpPr txBox="1"/>
          <p:nvPr/>
        </p:nvSpPr>
        <p:spPr>
          <a:xfrm>
            <a:off x="5202130" y="458420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563DF38B-7227-9870-B32A-C4DC55253417}"/>
              </a:ext>
            </a:extLst>
          </p:cNvPr>
          <p:cNvCxnSpPr>
            <a:cxnSpLocks/>
          </p:cNvCxnSpPr>
          <p:nvPr/>
        </p:nvCxnSpPr>
        <p:spPr>
          <a:xfrm>
            <a:off x="6304400" y="3467696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5" name="TextBox 994">
            <a:extLst>
              <a:ext uri="{FF2B5EF4-FFF2-40B4-BE49-F238E27FC236}">
                <a16:creationId xmlns:a16="http://schemas.microsoft.com/office/drawing/2014/main" id="{C47A501E-545A-4C04-BE50-F7E2E5549956}"/>
              </a:ext>
            </a:extLst>
          </p:cNvPr>
          <p:cNvSpPr txBox="1"/>
          <p:nvPr/>
        </p:nvSpPr>
        <p:spPr>
          <a:xfrm>
            <a:off x="5209590" y="328596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6" name="TextBox 995">
            <a:extLst>
              <a:ext uri="{FF2B5EF4-FFF2-40B4-BE49-F238E27FC236}">
                <a16:creationId xmlns:a16="http://schemas.microsoft.com/office/drawing/2014/main" id="{8315E1AE-53EA-CFB5-5264-4DBEB1C5BBF1}"/>
              </a:ext>
            </a:extLst>
          </p:cNvPr>
          <p:cNvSpPr txBox="1"/>
          <p:nvPr/>
        </p:nvSpPr>
        <p:spPr>
          <a:xfrm rot="5400000">
            <a:off x="7893098" y="3828354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7" name="TextBox 996">
            <a:extLst>
              <a:ext uri="{FF2B5EF4-FFF2-40B4-BE49-F238E27FC236}">
                <a16:creationId xmlns:a16="http://schemas.microsoft.com/office/drawing/2014/main" id="{7D77A715-76A7-A925-0D9C-8613051A3442}"/>
              </a:ext>
            </a:extLst>
          </p:cNvPr>
          <p:cNvSpPr txBox="1"/>
          <p:nvPr/>
        </p:nvSpPr>
        <p:spPr>
          <a:xfrm>
            <a:off x="7059527" y="379813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8" name="TextBox 997">
            <a:extLst>
              <a:ext uri="{FF2B5EF4-FFF2-40B4-BE49-F238E27FC236}">
                <a16:creationId xmlns:a16="http://schemas.microsoft.com/office/drawing/2014/main" id="{ADC94703-9CEE-FF92-4572-64D742A1CE00}"/>
              </a:ext>
            </a:extLst>
          </p:cNvPr>
          <p:cNvSpPr txBox="1"/>
          <p:nvPr/>
        </p:nvSpPr>
        <p:spPr>
          <a:xfrm rot="5400000">
            <a:off x="6616888" y="7825672"/>
            <a:ext cx="97008" cy="231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99" name="Graphic 998" descr="Cmd Terminal with solid fill">
            <a:extLst>
              <a:ext uri="{FF2B5EF4-FFF2-40B4-BE49-F238E27FC236}">
                <a16:creationId xmlns:a16="http://schemas.microsoft.com/office/drawing/2014/main" id="{7C26BC2E-FEC3-F8C3-DF98-27BD0E381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761" y="8507313"/>
            <a:ext cx="451448" cy="455550"/>
          </a:xfrm>
          <a:prstGeom prst="rect">
            <a:avLst/>
          </a:prstGeom>
        </p:spPr>
      </p:pic>
      <p:pic>
        <p:nvPicPr>
          <p:cNvPr id="1000" name="Graphic 999" descr="Paper outline">
            <a:extLst>
              <a:ext uri="{FF2B5EF4-FFF2-40B4-BE49-F238E27FC236}">
                <a16:creationId xmlns:a16="http://schemas.microsoft.com/office/drawing/2014/main" id="{3999EA95-9322-F505-ACC4-D453B0BA14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37240" y="7758357"/>
            <a:ext cx="261597" cy="261597"/>
          </a:xfrm>
          <a:prstGeom prst="rect">
            <a:avLst/>
          </a:prstGeom>
        </p:spPr>
      </p:pic>
      <p:sp>
        <p:nvSpPr>
          <p:cNvPr id="1001" name="TextBox 1000">
            <a:extLst>
              <a:ext uri="{FF2B5EF4-FFF2-40B4-BE49-F238E27FC236}">
                <a16:creationId xmlns:a16="http://schemas.microsoft.com/office/drawing/2014/main" id="{B4A5E341-4AED-1C64-562D-FAA1B1DF6AB9}"/>
              </a:ext>
            </a:extLst>
          </p:cNvPr>
          <p:cNvSpPr txBox="1"/>
          <p:nvPr/>
        </p:nvSpPr>
        <p:spPr>
          <a:xfrm>
            <a:off x="1861850" y="7961614"/>
            <a:ext cx="687081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API</a:t>
            </a:r>
          </a:p>
        </p:txBody>
      </p:sp>
      <p:pic>
        <p:nvPicPr>
          <p:cNvPr id="1002" name="Graphic 1001" descr="Paper outline">
            <a:extLst>
              <a:ext uri="{FF2B5EF4-FFF2-40B4-BE49-F238E27FC236}">
                <a16:creationId xmlns:a16="http://schemas.microsoft.com/office/drawing/2014/main" id="{2840D103-2523-064B-0AA1-4D54A25B81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2978" y="8472819"/>
            <a:ext cx="527267" cy="527267"/>
          </a:xfrm>
          <a:prstGeom prst="rect">
            <a:avLst/>
          </a:prstGeom>
        </p:spPr>
      </p:pic>
      <p:sp>
        <p:nvSpPr>
          <p:cNvPr id="1003" name="TextBox 1002">
            <a:extLst>
              <a:ext uri="{FF2B5EF4-FFF2-40B4-BE49-F238E27FC236}">
                <a16:creationId xmlns:a16="http://schemas.microsoft.com/office/drawing/2014/main" id="{BEDC37C1-AB2C-E596-E963-883AE94023E0}"/>
              </a:ext>
            </a:extLst>
          </p:cNvPr>
          <p:cNvSpPr txBox="1"/>
          <p:nvPr/>
        </p:nvSpPr>
        <p:spPr>
          <a:xfrm>
            <a:off x="1457097" y="8904797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exec/*.R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46FCC5BB-36AF-1A4C-1BED-ABA436BCA4BD}"/>
              </a:ext>
            </a:extLst>
          </p:cNvPr>
          <p:cNvSpPr/>
          <p:nvPr/>
        </p:nvSpPr>
        <p:spPr>
          <a:xfrm>
            <a:off x="185141" y="7885351"/>
            <a:ext cx="710936" cy="20869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&lt;</a:t>
            </a: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File_paths</a:t>
            </a: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&gt;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09" name="Straight Arrow Connector 1008">
            <a:extLst>
              <a:ext uri="{FF2B5EF4-FFF2-40B4-BE49-F238E27FC236}">
                <a16:creationId xmlns:a16="http://schemas.microsoft.com/office/drawing/2014/main" id="{738D91C9-DE9C-E624-A744-C8BA645E7AE7}"/>
              </a:ext>
            </a:extLst>
          </p:cNvPr>
          <p:cNvCxnSpPr>
            <a:cxnSpLocks/>
          </p:cNvCxnSpPr>
          <p:nvPr/>
        </p:nvCxnSpPr>
        <p:spPr>
          <a:xfrm>
            <a:off x="1292611" y="8729259"/>
            <a:ext cx="164486" cy="719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10" name="Straight Arrow Connector 1009">
            <a:extLst>
              <a:ext uri="{FF2B5EF4-FFF2-40B4-BE49-F238E27FC236}">
                <a16:creationId xmlns:a16="http://schemas.microsoft.com/office/drawing/2014/main" id="{E0AD4754-3FD7-0A57-87C3-44A09E48B302}"/>
              </a:ext>
            </a:extLst>
          </p:cNvPr>
          <p:cNvCxnSpPr>
            <a:cxnSpLocks/>
          </p:cNvCxnSpPr>
          <p:nvPr/>
        </p:nvCxnSpPr>
        <p:spPr>
          <a:xfrm>
            <a:off x="540609" y="8202553"/>
            <a:ext cx="251152" cy="274997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919395AB-0F4B-06EA-C439-8EFE04A553F9}"/>
              </a:ext>
            </a:extLst>
          </p:cNvPr>
          <p:cNvSpPr txBox="1"/>
          <p:nvPr/>
        </p:nvSpPr>
        <p:spPr>
          <a:xfrm>
            <a:off x="182880" y="932688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Exec scripts provides command line access to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Pykumu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API package, allowing its causal analysis capabilities to be accessed via the terminal or server side without writing Python code. 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1019" name="TextBox 1018">
            <a:extLst>
              <a:ext uri="{FF2B5EF4-FFF2-40B4-BE49-F238E27FC236}">
                <a16:creationId xmlns:a16="http://schemas.microsoft.com/office/drawing/2014/main" id="{C41657BD-D71E-D893-3CA6-E28398DBAC95}"/>
              </a:ext>
            </a:extLst>
          </p:cNvPr>
          <p:cNvSpPr txBox="1"/>
          <p:nvPr/>
        </p:nvSpPr>
        <p:spPr>
          <a:xfrm>
            <a:off x="232303" y="393741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>
                <a:solidFill>
                  <a:schemeClr val="bg2">
                    <a:lumMod val="10000"/>
                  </a:schemeClr>
                </a:solidFill>
              </a:rPr>
              <a:t>Tetrad Java API</a:t>
            </a:r>
          </a:p>
        </p:txBody>
      </p:sp>
      <p:pic>
        <p:nvPicPr>
          <p:cNvPr id="1020" name="Graphic 1019" descr="Paper outline">
            <a:extLst>
              <a:ext uri="{FF2B5EF4-FFF2-40B4-BE49-F238E27FC236}">
                <a16:creationId xmlns:a16="http://schemas.microsoft.com/office/drawing/2014/main" id="{C5BAB128-A391-5C8D-9097-EB563D5D1A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0954" y="4265041"/>
            <a:ext cx="527267" cy="527267"/>
          </a:xfrm>
          <a:prstGeom prst="rect">
            <a:avLst/>
          </a:prstGeom>
        </p:spPr>
      </p:pic>
      <p:cxnSp>
        <p:nvCxnSpPr>
          <p:cNvPr id="1023" name="Straight Arrow Connector 1022">
            <a:extLst>
              <a:ext uri="{FF2B5EF4-FFF2-40B4-BE49-F238E27FC236}">
                <a16:creationId xmlns:a16="http://schemas.microsoft.com/office/drawing/2014/main" id="{7EF22D1A-04B3-FCB1-721B-27870BF10343}"/>
              </a:ext>
            </a:extLst>
          </p:cNvPr>
          <p:cNvCxnSpPr>
            <a:cxnSpLocks/>
          </p:cNvCxnSpPr>
          <p:nvPr/>
        </p:nvCxnSpPr>
        <p:spPr>
          <a:xfrm>
            <a:off x="1028993" y="3837479"/>
            <a:ext cx="9092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D2828E4D-75B8-329C-9575-5129D6A94D61}"/>
              </a:ext>
            </a:extLst>
          </p:cNvPr>
          <p:cNvCxnSpPr>
            <a:cxnSpLocks/>
          </p:cNvCxnSpPr>
          <p:nvPr/>
        </p:nvCxnSpPr>
        <p:spPr>
          <a:xfrm>
            <a:off x="1023055" y="3972100"/>
            <a:ext cx="340872" cy="391832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1AABD15B-B4FA-CD6A-B63A-B64B6887B644}"/>
              </a:ext>
            </a:extLst>
          </p:cNvPr>
          <p:cNvSpPr txBox="1"/>
          <p:nvPr/>
        </p:nvSpPr>
        <p:spPr>
          <a:xfrm>
            <a:off x="815127" y="4126651"/>
            <a:ext cx="536637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ACD40C82-8BC7-22F2-1049-16EC45AA0245}"/>
              </a:ext>
            </a:extLst>
          </p:cNvPr>
          <p:cNvSpPr txBox="1"/>
          <p:nvPr/>
        </p:nvSpPr>
        <p:spPr>
          <a:xfrm>
            <a:off x="1510648" y="4422940"/>
            <a:ext cx="371960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" b="0" dirty="0" err="1">
                <a:solidFill>
                  <a:schemeClr val="tx1">
                    <a:lumMod val="50000"/>
                  </a:schemeClr>
                </a:solidFill>
              </a:rPr>
              <a:t>TetradSearch</a:t>
            </a:r>
            <a:r>
              <a:rPr lang="en-US" sz="300" b="0" dirty="0">
                <a:solidFill>
                  <a:schemeClr val="tx1">
                    <a:lumMod val="50000"/>
                  </a:schemeClr>
                </a:solidFill>
              </a:rPr>
              <a:t> Class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5E522564-8B9E-A95B-7612-AC275549CF4F}"/>
              </a:ext>
            </a:extLst>
          </p:cNvPr>
          <p:cNvSpPr txBox="1"/>
          <p:nvPr/>
        </p:nvSpPr>
        <p:spPr>
          <a:xfrm>
            <a:off x="2385334" y="3867687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 API</a:t>
            </a:r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113C10EC-87E5-D409-72F2-FF120C943EE1}"/>
              </a:ext>
            </a:extLst>
          </p:cNvPr>
          <p:cNvCxnSpPr>
            <a:cxnSpLocks/>
          </p:cNvCxnSpPr>
          <p:nvPr/>
        </p:nvCxnSpPr>
        <p:spPr>
          <a:xfrm flipV="1">
            <a:off x="1979305" y="4126651"/>
            <a:ext cx="450843" cy="239726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41" name="Folded Corner 3">
            <a:extLst>
              <a:ext uri="{FF2B5EF4-FFF2-40B4-BE49-F238E27FC236}">
                <a16:creationId xmlns:a16="http://schemas.microsoft.com/office/drawing/2014/main" id="{5A2BEE35-58A2-A01E-172E-74EBC7926ACE}"/>
              </a:ext>
            </a:extLst>
          </p:cNvPr>
          <p:cNvSpPr/>
          <p:nvPr/>
        </p:nvSpPr>
        <p:spPr>
          <a:xfrm rot="10800000" flipH="1">
            <a:off x="2129004" y="337722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2" name="Folded Corner 4">
            <a:extLst>
              <a:ext uri="{FF2B5EF4-FFF2-40B4-BE49-F238E27FC236}">
                <a16:creationId xmlns:a16="http://schemas.microsoft.com/office/drawing/2014/main" id="{F046AA6C-D750-F3BD-A104-2887BA9A7B5D}"/>
              </a:ext>
            </a:extLst>
          </p:cNvPr>
          <p:cNvSpPr/>
          <p:nvPr/>
        </p:nvSpPr>
        <p:spPr>
          <a:xfrm rot="10800000" flipH="1">
            <a:off x="2095922" y="3405690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3" name="Folded Corner 5">
            <a:extLst>
              <a:ext uri="{FF2B5EF4-FFF2-40B4-BE49-F238E27FC236}">
                <a16:creationId xmlns:a16="http://schemas.microsoft.com/office/drawing/2014/main" id="{152ABA03-A1D6-B2B8-CA0C-FD47E7A6422A}"/>
              </a:ext>
            </a:extLst>
          </p:cNvPr>
          <p:cNvSpPr/>
          <p:nvPr/>
        </p:nvSpPr>
        <p:spPr>
          <a:xfrm rot="10800000" flipH="1">
            <a:off x="2055485" y="343946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950DAA70-DC8C-1606-787D-CFB36BD78170}"/>
              </a:ext>
            </a:extLst>
          </p:cNvPr>
          <p:cNvSpPr txBox="1"/>
          <p:nvPr/>
        </p:nvSpPr>
        <p:spPr>
          <a:xfrm>
            <a:off x="2026720" y="358624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tetrad.py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F8F4D3F8-1C66-C0FA-0086-56EC0ED211B6}"/>
              </a:ext>
            </a:extLst>
          </p:cNvPr>
          <p:cNvSpPr txBox="1"/>
          <p:nvPr/>
        </p:nvSpPr>
        <p:spPr>
          <a:xfrm>
            <a:off x="1285591" y="470218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TetradSearch.py</a:t>
            </a:r>
          </a:p>
        </p:txBody>
      </p: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BDCBEA09-79DA-1661-14B6-F70F256AB87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6384" y="118872"/>
            <a:ext cx="1444661" cy="1673352"/>
          </a:xfrm>
          <a:prstGeom prst="rect">
            <a:avLst/>
          </a:prstGeom>
        </p:spPr>
      </p:pic>
      <p:sp>
        <p:nvSpPr>
          <p:cNvPr id="1065" name="TextBox 1064">
            <a:extLst>
              <a:ext uri="{FF2B5EF4-FFF2-40B4-BE49-F238E27FC236}">
                <a16:creationId xmlns:a16="http://schemas.microsoft.com/office/drawing/2014/main" id="{3FFA94B5-F3DB-9916-F7AF-5F9B0D7AD639}"/>
              </a:ext>
            </a:extLst>
          </p:cNvPr>
          <p:cNvSpPr txBox="1"/>
          <p:nvPr/>
        </p:nvSpPr>
        <p:spPr>
          <a:xfrm>
            <a:off x="7318302" y="5055976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6. Causal Search</a:t>
            </a:r>
          </a:p>
        </p:txBody>
      </p:sp>
      <p:graphicFrame>
        <p:nvGraphicFramePr>
          <p:cNvPr id="1066" name="Table">
            <a:extLst>
              <a:ext uri="{FF2B5EF4-FFF2-40B4-BE49-F238E27FC236}">
                <a16:creationId xmlns:a16="http://schemas.microsoft.com/office/drawing/2014/main" id="{8C40B21F-9A7E-D326-BF2E-24C7E82A6BB0}"/>
              </a:ext>
            </a:extLst>
          </p:cNvPr>
          <p:cNvGraphicFramePr/>
          <p:nvPr/>
        </p:nvGraphicFramePr>
        <p:xfrm>
          <a:off x="8297833" y="443547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67" name="Table">
            <a:extLst>
              <a:ext uri="{FF2B5EF4-FFF2-40B4-BE49-F238E27FC236}">
                <a16:creationId xmlns:a16="http://schemas.microsoft.com/office/drawing/2014/main" id="{0632EDF6-5B83-099D-C9D6-3EADFA7657D2}"/>
              </a:ext>
            </a:extLst>
          </p:cNvPr>
          <p:cNvGraphicFramePr/>
          <p:nvPr/>
        </p:nvGraphicFramePr>
        <p:xfrm>
          <a:off x="7722129" y="443293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68" name="Arrow: Right 1067">
            <a:extLst>
              <a:ext uri="{FF2B5EF4-FFF2-40B4-BE49-F238E27FC236}">
                <a16:creationId xmlns:a16="http://schemas.microsoft.com/office/drawing/2014/main" id="{0FFFF5E0-5A7E-95AD-2905-737D73B9114B}"/>
              </a:ext>
            </a:extLst>
          </p:cNvPr>
          <p:cNvSpPr/>
          <p:nvPr/>
        </p:nvSpPr>
        <p:spPr>
          <a:xfrm>
            <a:off x="8027045" y="4694321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069" name="Table">
            <a:extLst>
              <a:ext uri="{FF2B5EF4-FFF2-40B4-BE49-F238E27FC236}">
                <a16:creationId xmlns:a16="http://schemas.microsoft.com/office/drawing/2014/main" id="{C30BD09D-2F9B-550C-A059-0B2F63444543}"/>
              </a:ext>
            </a:extLst>
          </p:cNvPr>
          <p:cNvGraphicFramePr/>
          <p:nvPr/>
        </p:nvGraphicFramePr>
        <p:xfrm>
          <a:off x="7343385" y="4435227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0" name="Plus Sign 1069">
            <a:extLst>
              <a:ext uri="{FF2B5EF4-FFF2-40B4-BE49-F238E27FC236}">
                <a16:creationId xmlns:a16="http://schemas.microsoft.com/office/drawing/2014/main" id="{78C80747-829E-03E4-B075-149FF84A2292}"/>
              </a:ext>
            </a:extLst>
          </p:cNvPr>
          <p:cNvSpPr/>
          <p:nvPr/>
        </p:nvSpPr>
        <p:spPr>
          <a:xfrm>
            <a:off x="7572970" y="4672577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AF6B5AAA-A861-F4D4-66C7-FBEA76E81ABC}"/>
              </a:ext>
            </a:extLst>
          </p:cNvPr>
          <p:cNvSpPr txBox="1"/>
          <p:nvPr/>
        </p:nvSpPr>
        <p:spPr>
          <a:xfrm>
            <a:off x="7370545" y="4957546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8FA232F1-1E07-6893-6FF8-9CAD2926FE41}"/>
              </a:ext>
            </a:extLst>
          </p:cNvPr>
          <p:cNvSpPr txBox="1"/>
          <p:nvPr/>
        </p:nvSpPr>
        <p:spPr>
          <a:xfrm>
            <a:off x="7731829" y="4967981"/>
            <a:ext cx="424651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IF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60B3EDD2-3F50-9AAB-277A-6FA2E12B4FC4}"/>
              </a:ext>
            </a:extLst>
          </p:cNvPr>
          <p:cNvSpPr txBox="1"/>
          <p:nvPr/>
        </p:nvSpPr>
        <p:spPr>
          <a:xfrm>
            <a:off x="7948233" y="4515228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C47BB2B5-DF5B-4D9E-B3E7-74D7B81883F4}"/>
              </a:ext>
            </a:extLst>
          </p:cNvPr>
          <p:cNvSpPr txBox="1"/>
          <p:nvPr/>
        </p:nvSpPr>
        <p:spPr>
          <a:xfrm>
            <a:off x="7194148" y="5974847"/>
            <a:ext cx="1619559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7.1 1-PNEF Threshold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14E2FDC2-4660-8755-347B-6B342B2C3643}"/>
              </a:ext>
            </a:extLst>
          </p:cNvPr>
          <p:cNvSpPr txBox="1"/>
          <p:nvPr/>
        </p:nvSpPr>
        <p:spPr>
          <a:xfrm>
            <a:off x="5731442" y="3637622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382943F0-363B-A49F-EBC8-F71088DD41EF}"/>
              </a:ext>
            </a:extLst>
          </p:cNvPr>
          <p:cNvSpPr txBox="1"/>
          <p:nvPr/>
        </p:nvSpPr>
        <p:spPr>
          <a:xfrm>
            <a:off x="4766552" y="6486513"/>
            <a:ext cx="1831781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8. Domain Knowledge Causal Search</a:t>
            </a:r>
          </a:p>
        </p:txBody>
      </p:sp>
      <p:graphicFrame>
        <p:nvGraphicFramePr>
          <p:cNvPr id="1077" name="Table">
            <a:extLst>
              <a:ext uri="{FF2B5EF4-FFF2-40B4-BE49-F238E27FC236}">
                <a16:creationId xmlns:a16="http://schemas.microsoft.com/office/drawing/2014/main" id="{65F824D6-75A5-6040-903A-555C25DE8509}"/>
              </a:ext>
            </a:extLst>
          </p:cNvPr>
          <p:cNvGraphicFramePr/>
          <p:nvPr/>
        </p:nvGraphicFramePr>
        <p:xfrm>
          <a:off x="5269967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78" name="Table">
            <a:extLst>
              <a:ext uri="{FF2B5EF4-FFF2-40B4-BE49-F238E27FC236}">
                <a16:creationId xmlns:a16="http://schemas.microsoft.com/office/drawing/2014/main" id="{A15EA13E-3EDF-1EF9-EDB1-E5E670CED334}"/>
              </a:ext>
            </a:extLst>
          </p:cNvPr>
          <p:cNvGraphicFramePr/>
          <p:nvPr/>
        </p:nvGraphicFramePr>
        <p:xfrm>
          <a:off x="5828244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9" name="TextBox 1078">
            <a:extLst>
              <a:ext uri="{FF2B5EF4-FFF2-40B4-BE49-F238E27FC236}">
                <a16:creationId xmlns:a16="http://schemas.microsoft.com/office/drawing/2014/main" id="{7A48604A-7B59-1498-559E-500D7CE203F0}"/>
              </a:ext>
            </a:extLst>
          </p:cNvPr>
          <p:cNvSpPr txBox="1"/>
          <p:nvPr/>
        </p:nvSpPr>
        <p:spPr>
          <a:xfrm>
            <a:off x="5856148" y="6329618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97335940-514F-73BC-159E-500241D915AA}"/>
              </a:ext>
            </a:extLst>
          </p:cNvPr>
          <p:cNvSpPr txBox="1"/>
          <p:nvPr/>
        </p:nvSpPr>
        <p:spPr>
          <a:xfrm>
            <a:off x="5242857" y="6333739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81" name="Arrow: Right 1080">
            <a:extLst>
              <a:ext uri="{FF2B5EF4-FFF2-40B4-BE49-F238E27FC236}">
                <a16:creationId xmlns:a16="http://schemas.microsoft.com/office/drawing/2014/main" id="{6D6777E7-BD49-5E29-598D-1B9BACBE3253}"/>
              </a:ext>
            </a:extLst>
          </p:cNvPr>
          <p:cNvSpPr/>
          <p:nvPr/>
        </p:nvSpPr>
        <p:spPr>
          <a:xfrm rot="10800000">
            <a:off x="5552507" y="6049867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CF484E13-AA29-A2AF-B1D2-BDE0E54BDA15}"/>
              </a:ext>
            </a:extLst>
          </p:cNvPr>
          <p:cNvSpPr txBox="1"/>
          <p:nvPr/>
        </p:nvSpPr>
        <p:spPr>
          <a:xfrm>
            <a:off x="5490560" y="5860025"/>
            <a:ext cx="339664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0DB9D724-ADE3-6291-3B6A-144ECA56D7C0}"/>
              </a:ext>
            </a:extLst>
          </p:cNvPr>
          <p:cNvSpPr/>
          <p:nvPr/>
        </p:nvSpPr>
        <p:spPr>
          <a:xfrm>
            <a:off x="8040579" y="5752125"/>
            <a:ext cx="206996" cy="6210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25095AB5-8300-E5E9-D503-B44B4B764EB2}"/>
              </a:ext>
            </a:extLst>
          </p:cNvPr>
          <p:cNvCxnSpPr>
            <a:cxnSpLocks/>
          </p:cNvCxnSpPr>
          <p:nvPr/>
        </p:nvCxnSpPr>
        <p:spPr>
          <a:xfrm>
            <a:off x="8010337" y="5687156"/>
            <a:ext cx="0" cy="188119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283C0DF0-365F-0480-AD83-9FE43E33AAF1}"/>
              </a:ext>
            </a:extLst>
          </p:cNvPr>
          <p:cNvCxnSpPr>
            <a:cxnSpLocks/>
          </p:cNvCxnSpPr>
          <p:nvPr/>
        </p:nvCxnSpPr>
        <p:spPr>
          <a:xfrm flipH="1">
            <a:off x="7599385" y="5778796"/>
            <a:ext cx="375263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86" name="TextBox 1085">
            <a:extLst>
              <a:ext uri="{FF2B5EF4-FFF2-40B4-BE49-F238E27FC236}">
                <a16:creationId xmlns:a16="http://schemas.microsoft.com/office/drawing/2014/main" id="{FDEE6BB4-CBF3-9B9C-E6A7-73D209F0E4E2}"/>
              </a:ext>
            </a:extLst>
          </p:cNvPr>
          <p:cNvSpPr txBox="1"/>
          <p:nvPr/>
        </p:nvSpPr>
        <p:spPr>
          <a:xfrm>
            <a:off x="7544037" y="5812123"/>
            <a:ext cx="941475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n.edges</a:t>
            </a: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&lt; x</a:t>
            </a:r>
            <a:r>
              <a:rPr lang="en-US" sz="700" dirty="0"/>
              <a:t>%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6B579EF6-5B6C-2C91-D420-BDA7707657D9}"/>
              </a:ext>
            </a:extLst>
          </p:cNvPr>
          <p:cNvSpPr/>
          <p:nvPr/>
        </p:nvSpPr>
        <p:spPr>
          <a:xfrm>
            <a:off x="7747498" y="6647124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998284C1-56A0-680F-1B30-8F683696A723}"/>
              </a:ext>
            </a:extLst>
          </p:cNvPr>
          <p:cNvSpPr/>
          <p:nvPr/>
        </p:nvSpPr>
        <p:spPr>
          <a:xfrm>
            <a:off x="7766196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13B68178-B35D-4B4E-EECA-168C4F92253B}"/>
              </a:ext>
            </a:extLst>
          </p:cNvPr>
          <p:cNvSpPr/>
          <p:nvPr/>
        </p:nvSpPr>
        <p:spPr>
          <a:xfrm>
            <a:off x="7882271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79CC1595-BC6B-221C-05E9-9AED31FC0A6B}"/>
              </a:ext>
            </a:extLst>
          </p:cNvPr>
          <p:cNvSpPr/>
          <p:nvPr/>
        </p:nvSpPr>
        <p:spPr>
          <a:xfrm>
            <a:off x="8006330" y="6675665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5273AE2B-0E99-BC20-12E5-5FE4A823F61E}"/>
              </a:ext>
            </a:extLst>
          </p:cNvPr>
          <p:cNvSpPr txBox="1"/>
          <p:nvPr/>
        </p:nvSpPr>
        <p:spPr>
          <a:xfrm>
            <a:off x="7709321" y="6508461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1</a:t>
            </a: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1F24677C-32EE-F812-E2B9-B08DD27CA3CD}"/>
              </a:ext>
            </a:extLst>
          </p:cNvPr>
          <p:cNvSpPr/>
          <p:nvPr/>
        </p:nvSpPr>
        <p:spPr>
          <a:xfrm>
            <a:off x="7745715" y="680360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E636B383-9806-1111-D3C5-107D2C166C12}"/>
              </a:ext>
            </a:extLst>
          </p:cNvPr>
          <p:cNvSpPr/>
          <p:nvPr/>
        </p:nvSpPr>
        <p:spPr>
          <a:xfrm>
            <a:off x="7764413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CE355717-D4CF-C25D-1DA6-B41D96F60FBC}"/>
              </a:ext>
            </a:extLst>
          </p:cNvPr>
          <p:cNvSpPr/>
          <p:nvPr/>
        </p:nvSpPr>
        <p:spPr>
          <a:xfrm>
            <a:off x="7880488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E420A21C-C780-901E-6C47-C955D907E654}"/>
              </a:ext>
            </a:extLst>
          </p:cNvPr>
          <p:cNvSpPr/>
          <p:nvPr/>
        </p:nvSpPr>
        <p:spPr>
          <a:xfrm>
            <a:off x="8004547" y="683215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9F9CD0B4-5AB4-5DDB-BC59-594C79CA2AE3}"/>
              </a:ext>
            </a:extLst>
          </p:cNvPr>
          <p:cNvSpPr txBox="1"/>
          <p:nvPr/>
        </p:nvSpPr>
        <p:spPr>
          <a:xfrm>
            <a:off x="7707538" y="666494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2</a:t>
            </a: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9199C45A-1E1E-AA02-18B0-6B49701A2D78}"/>
              </a:ext>
            </a:extLst>
          </p:cNvPr>
          <p:cNvSpPr/>
          <p:nvPr/>
        </p:nvSpPr>
        <p:spPr>
          <a:xfrm>
            <a:off x="7746658" y="695499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7404B1DB-B6E8-20D7-64BC-FF8A0F7FA0CE}"/>
              </a:ext>
            </a:extLst>
          </p:cNvPr>
          <p:cNvSpPr/>
          <p:nvPr/>
        </p:nvSpPr>
        <p:spPr>
          <a:xfrm>
            <a:off x="7765356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BDFE470C-8AA1-8F29-BD97-FE230BE34E9B}"/>
              </a:ext>
            </a:extLst>
          </p:cNvPr>
          <p:cNvSpPr/>
          <p:nvPr/>
        </p:nvSpPr>
        <p:spPr>
          <a:xfrm>
            <a:off x="7881431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B28AF749-5ADA-8AB5-5540-06848CC7C97E}"/>
              </a:ext>
            </a:extLst>
          </p:cNvPr>
          <p:cNvSpPr/>
          <p:nvPr/>
        </p:nvSpPr>
        <p:spPr>
          <a:xfrm>
            <a:off x="8005490" y="698354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3264F98F-5A17-D3A5-BFFC-5C8280F2C125}"/>
              </a:ext>
            </a:extLst>
          </p:cNvPr>
          <p:cNvSpPr txBox="1"/>
          <p:nvPr/>
        </p:nvSpPr>
        <p:spPr>
          <a:xfrm>
            <a:off x="7708481" y="681633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3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6DAEE7F1-461C-32CE-792E-DD55030259F2}"/>
              </a:ext>
            </a:extLst>
          </p:cNvPr>
          <p:cNvSpPr txBox="1"/>
          <p:nvPr/>
        </p:nvSpPr>
        <p:spPr>
          <a:xfrm>
            <a:off x="8341203" y="5639763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82DEF2A0-D550-6373-BEF1-290BC476E14C}"/>
              </a:ext>
            </a:extLst>
          </p:cNvPr>
          <p:cNvSpPr txBox="1"/>
          <p:nvPr/>
        </p:nvSpPr>
        <p:spPr>
          <a:xfrm>
            <a:off x="7409851" y="5617798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68DC2069-8FE5-691E-513F-D6F5E99D1033}"/>
              </a:ext>
            </a:extLst>
          </p:cNvPr>
          <p:cNvSpPr txBox="1"/>
          <p:nvPr/>
        </p:nvSpPr>
        <p:spPr>
          <a:xfrm>
            <a:off x="7672781" y="6340098"/>
            <a:ext cx="580165" cy="212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Knowledge Box</a:t>
            </a:r>
          </a:p>
        </p:txBody>
      </p:sp>
      <p:sp>
        <p:nvSpPr>
          <p:cNvPr id="1105" name="Logistics">
            <a:extLst>
              <a:ext uri="{FF2B5EF4-FFF2-40B4-BE49-F238E27FC236}">
                <a16:creationId xmlns:a16="http://schemas.microsoft.com/office/drawing/2014/main" id="{E4FF2513-1807-9CCD-6A02-BC9339C84C6C}"/>
              </a:ext>
            </a:extLst>
          </p:cNvPr>
          <p:cNvSpPr txBox="1"/>
          <p:nvPr/>
        </p:nvSpPr>
        <p:spPr>
          <a:xfrm>
            <a:off x="9601200" y="260433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tetrad.py</a:t>
            </a:r>
          </a:p>
        </p:txBody>
      </p:sp>
      <p:sp>
        <p:nvSpPr>
          <p:cNvPr id="1106" name="Logistics">
            <a:extLst>
              <a:ext uri="{FF2B5EF4-FFF2-40B4-BE49-F238E27FC236}">
                <a16:creationId xmlns:a16="http://schemas.microsoft.com/office/drawing/2014/main" id="{374CB665-68DC-A9F4-F8AC-1CAA3F92FF78}"/>
              </a:ext>
            </a:extLst>
          </p:cNvPr>
          <p:cNvSpPr txBox="1"/>
          <p:nvPr/>
        </p:nvSpPr>
        <p:spPr>
          <a:xfrm>
            <a:off x="9601200" y="443313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causal.py</a:t>
            </a:r>
          </a:p>
        </p:txBody>
      </p:sp>
      <p:sp>
        <p:nvSpPr>
          <p:cNvPr id="1107" name="Logistics">
            <a:extLst>
              <a:ext uri="{FF2B5EF4-FFF2-40B4-BE49-F238E27FC236}">
                <a16:creationId xmlns:a16="http://schemas.microsoft.com/office/drawing/2014/main" id="{5C1656C5-AE5D-07D2-FACE-0D5C35CB66F9}"/>
              </a:ext>
            </a:extLst>
          </p:cNvPr>
          <p:cNvSpPr txBox="1"/>
          <p:nvPr/>
        </p:nvSpPr>
        <p:spPr>
          <a:xfrm>
            <a:off x="9601200" y="699345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knowledge.py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41C84516-E709-13D0-2202-4D46E0C00AF0}"/>
              </a:ext>
            </a:extLst>
          </p:cNvPr>
          <p:cNvSpPr txBox="1"/>
          <p:nvPr/>
        </p:nvSpPr>
        <p:spPr>
          <a:xfrm>
            <a:off x="9601200" y="4663440"/>
            <a:ext cx="4237460" cy="2187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run on dataset including null features, used to derive 1-PNEF.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score_sem_bic</a:t>
            </a:r>
            <a:r>
              <a:rPr lang="en-US" dirty="0"/>
              <a:t>()</a:t>
            </a:r>
          </a:p>
          <a:p>
            <a:r>
              <a:rPr lang="en-US" b="0" dirty="0"/>
              <a:t>Configure SEM BIC score.</a:t>
            </a:r>
          </a:p>
          <a:p>
            <a:r>
              <a:rPr lang="en-US" dirty="0"/>
              <a:t>2. bootstrapping()</a:t>
            </a:r>
          </a:p>
          <a:p>
            <a:r>
              <a:rPr lang="en-US" b="0" dirty="0"/>
              <a:t>Configure bootstrapping parameters.</a:t>
            </a:r>
          </a:p>
          <a:p>
            <a:r>
              <a:rPr lang="en-US" dirty="0"/>
              <a:t>3. </a:t>
            </a:r>
            <a:r>
              <a:rPr lang="en-US" dirty="0" err="1"/>
              <a:t>algorithm_fges</a:t>
            </a:r>
            <a:r>
              <a:rPr lang="en-US" dirty="0"/>
              <a:t>()</a:t>
            </a:r>
          </a:p>
          <a:p>
            <a:r>
              <a:rPr lang="en-US" b="0" dirty="0"/>
              <a:t>Performs Fast Greedy Equivalence Search (FGES) algorithm.</a:t>
            </a:r>
          </a:p>
          <a:p>
            <a:r>
              <a:rPr lang="en-US" dirty="0"/>
              <a:t>4. </a:t>
            </a:r>
            <a:r>
              <a:rPr lang="en-US" dirty="0" err="1"/>
              <a:t>algorithm_boss</a:t>
            </a:r>
            <a:r>
              <a:rPr lang="en-US" dirty="0"/>
              <a:t>()</a:t>
            </a:r>
          </a:p>
          <a:p>
            <a:r>
              <a:rPr lang="en-US" b="0" dirty="0"/>
              <a:t>Performs Best Order Score Search (BOSS) algorithm.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94BE0E2F-E37B-02AC-D9C5-D0230522CA7B}"/>
              </a:ext>
            </a:extLst>
          </p:cNvPr>
          <p:cNvSpPr txBox="1"/>
          <p:nvPr/>
        </p:nvSpPr>
        <p:spPr>
          <a:xfrm>
            <a:off x="9601200" y="2834640"/>
            <a:ext cx="4237460" cy="1531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After applying time lag and features, </a:t>
            </a:r>
            <a:r>
              <a:rPr lang="en-US" b="0" dirty="0" err="1"/>
              <a:t>jpype</a:t>
            </a:r>
            <a:r>
              <a:rPr lang="en-US" b="0" dirty="0"/>
              <a:t> is imported to utilize API and turn the dataset into a Tetrad compatible format. 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tetrad_jvm_start</a:t>
            </a:r>
            <a:r>
              <a:rPr lang="en-US" dirty="0"/>
              <a:t>()</a:t>
            </a:r>
          </a:p>
          <a:p>
            <a:r>
              <a:rPr lang="en-US" b="0" dirty="0"/>
              <a:t>Import </a:t>
            </a:r>
            <a:r>
              <a:rPr lang="en-US" b="0" dirty="0" err="1"/>
              <a:t>jpype</a:t>
            </a:r>
            <a:r>
              <a:rPr lang="en-US" b="0" dirty="0"/>
              <a:t> to start JVM and load Tetrad jar file.</a:t>
            </a:r>
          </a:p>
          <a:p>
            <a:r>
              <a:rPr lang="en-US" dirty="0"/>
              <a:t>2. </a:t>
            </a:r>
            <a:r>
              <a:rPr lang="en-US" dirty="0" err="1"/>
              <a:t>transform_pandasdf_to_tetrad_boxdataset</a:t>
            </a:r>
            <a:r>
              <a:rPr lang="en-US" dirty="0"/>
              <a:t>()</a:t>
            </a:r>
          </a:p>
          <a:p>
            <a:r>
              <a:rPr lang="en-US" b="0" dirty="0"/>
              <a:t>Convert pandas </a:t>
            </a:r>
            <a:r>
              <a:rPr lang="en-US" b="0" dirty="0" err="1"/>
              <a:t>DataFrames</a:t>
            </a:r>
            <a:r>
              <a:rPr lang="en-US" b="0" dirty="0"/>
              <a:t> into Tetrad </a:t>
            </a:r>
            <a:r>
              <a:rPr lang="en-US" b="0" dirty="0" err="1"/>
              <a:t>BoxDataset</a:t>
            </a:r>
            <a:r>
              <a:rPr lang="en-US" b="0" dirty="0"/>
              <a:t> and initialize search state.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D7D1CA7C-ED43-780E-349A-BC45A9D0EBD4}"/>
              </a:ext>
            </a:extLst>
          </p:cNvPr>
          <p:cNvSpPr txBox="1"/>
          <p:nvPr/>
        </p:nvSpPr>
        <p:spPr>
          <a:xfrm>
            <a:off x="9601200" y="7232335"/>
            <a:ext cx="4237460" cy="925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ran again with domain knowledge applied.</a:t>
            </a:r>
          </a:p>
          <a:p>
            <a:r>
              <a:rPr lang="en-US" dirty="0"/>
              <a:t>1. </a:t>
            </a:r>
            <a:r>
              <a:rPr lang="en-US" dirty="0" err="1"/>
              <a:t>parse_knowledge_txt</a:t>
            </a:r>
            <a:r>
              <a:rPr lang="en-US" dirty="0"/>
              <a:t>()</a:t>
            </a:r>
          </a:p>
          <a:p>
            <a:r>
              <a:rPr lang="en-US" b="0" dirty="0"/>
              <a:t>Load forbidden/required edges and temporal tiers from a .txt file into Tetrad knowledge object.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1F7CAAA7-FA91-D3B8-BC0F-5C1DE5768DCE}"/>
              </a:ext>
            </a:extLst>
          </p:cNvPr>
          <p:cNvSpPr txBox="1"/>
          <p:nvPr/>
        </p:nvSpPr>
        <p:spPr>
          <a:xfrm>
            <a:off x="9601200" y="1737360"/>
            <a:ext cx="4264574" cy="6898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From an example of a dataset, see </a:t>
            </a:r>
            <a:r>
              <a:rPr lang="en-US" dirty="0" err="1"/>
              <a:t>issue_social_smell_showcase.Rmd</a:t>
            </a:r>
            <a:r>
              <a:rPr lang="en-US" b="0" dirty="0"/>
              <a:t>. Refer to </a:t>
            </a:r>
            <a:r>
              <a:rPr lang="en-US" b="0" dirty="0" err="1"/>
              <a:t>cheatsheets</a:t>
            </a:r>
            <a:r>
              <a:rPr lang="en-US" b="0" dirty="0"/>
              <a:t>/social-smells-cheatsheet.pdf</a:t>
            </a:r>
          </a:p>
        </p:txBody>
      </p:sp>
      <p:cxnSp>
        <p:nvCxnSpPr>
          <p:cNvPr id="1112" name="Connector: Elbow 1111">
            <a:extLst>
              <a:ext uri="{FF2B5EF4-FFF2-40B4-BE49-F238E27FC236}">
                <a16:creationId xmlns:a16="http://schemas.microsoft.com/office/drawing/2014/main" id="{80F001ED-6CC4-3953-5B0D-4D5546E3CF2A}"/>
              </a:ext>
            </a:extLst>
          </p:cNvPr>
          <p:cNvCxnSpPr>
            <a:cxnSpLocks/>
            <a:stCxn id="991" idx="3"/>
          </p:cNvCxnSpPr>
          <p:nvPr/>
        </p:nvCxnSpPr>
        <p:spPr>
          <a:xfrm flipV="1">
            <a:off x="8704406" y="1562408"/>
            <a:ext cx="859478" cy="452092"/>
          </a:xfrm>
          <a:prstGeom prst="bentConnector3">
            <a:avLst>
              <a:gd name="adj1" fmla="val 38543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5FA302B1-C51C-AAE1-BE33-CB4B56E1A327}"/>
              </a:ext>
            </a:extLst>
          </p:cNvPr>
          <p:cNvCxnSpPr>
            <a:cxnSpLocks/>
            <a:endCxn id="1107" idx="1"/>
          </p:cNvCxnSpPr>
          <p:nvPr/>
        </p:nvCxnSpPr>
        <p:spPr>
          <a:xfrm>
            <a:off x="8325869" y="6858316"/>
            <a:ext cx="1275331" cy="261138"/>
          </a:xfrm>
          <a:prstGeom prst="bentConnector3">
            <a:avLst>
              <a:gd name="adj1" fmla="val 5284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FF8C6E3-6F27-6E26-CE76-9A1A66DB8EAA}"/>
              </a:ext>
            </a:extLst>
          </p:cNvPr>
          <p:cNvSpPr txBox="1"/>
          <p:nvPr/>
        </p:nvSpPr>
        <p:spPr>
          <a:xfrm>
            <a:off x="1275037" y="358624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Folded Corner 3">
            <a:extLst>
              <a:ext uri="{FF2B5EF4-FFF2-40B4-BE49-F238E27FC236}">
                <a16:creationId xmlns:a16="http://schemas.microsoft.com/office/drawing/2014/main" id="{DDE959FF-0D26-B43C-733E-6A8BF9E1E556}"/>
              </a:ext>
            </a:extLst>
          </p:cNvPr>
          <p:cNvSpPr/>
          <p:nvPr/>
        </p:nvSpPr>
        <p:spPr>
          <a:xfrm rot="10800000" flipH="1">
            <a:off x="2629874" y="338101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" name="Folded Corner 4">
            <a:extLst>
              <a:ext uri="{FF2B5EF4-FFF2-40B4-BE49-F238E27FC236}">
                <a16:creationId xmlns:a16="http://schemas.microsoft.com/office/drawing/2014/main" id="{F9294C4D-F31A-AC78-CA43-6D88984F1CA1}"/>
              </a:ext>
            </a:extLst>
          </p:cNvPr>
          <p:cNvSpPr/>
          <p:nvPr/>
        </p:nvSpPr>
        <p:spPr>
          <a:xfrm rot="10800000" flipH="1">
            <a:off x="2596792" y="34094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" name="Folded Corner 5">
            <a:extLst>
              <a:ext uri="{FF2B5EF4-FFF2-40B4-BE49-F238E27FC236}">
                <a16:creationId xmlns:a16="http://schemas.microsoft.com/office/drawing/2014/main" id="{BB53D9F1-0BD8-D35E-023B-378D20D3F4F0}"/>
              </a:ext>
            </a:extLst>
          </p:cNvPr>
          <p:cNvSpPr/>
          <p:nvPr/>
        </p:nvSpPr>
        <p:spPr>
          <a:xfrm rot="10800000" flipH="1">
            <a:off x="2556355" y="344325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33C195E8-4988-6916-147C-FF7F92CA35DF}"/>
              </a:ext>
            </a:extLst>
          </p:cNvPr>
          <p:cNvSpPr txBox="1"/>
          <p:nvPr/>
        </p:nvSpPr>
        <p:spPr>
          <a:xfrm>
            <a:off x="2486995" y="3589370"/>
            <a:ext cx="4823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algorithm.py</a:t>
            </a:r>
          </a:p>
        </p:txBody>
      </p:sp>
      <p:sp>
        <p:nvSpPr>
          <p:cNvPr id="27" name="Folded Corner 3">
            <a:extLst>
              <a:ext uri="{FF2B5EF4-FFF2-40B4-BE49-F238E27FC236}">
                <a16:creationId xmlns:a16="http://schemas.microsoft.com/office/drawing/2014/main" id="{0B499562-3FEF-3D50-47C3-AC95A5A8DEB2}"/>
              </a:ext>
            </a:extLst>
          </p:cNvPr>
          <p:cNvSpPr/>
          <p:nvPr/>
        </p:nvSpPr>
        <p:spPr>
          <a:xfrm rot="10800000" flipH="1">
            <a:off x="3124045" y="336113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" name="Folded Corner 4">
            <a:extLst>
              <a:ext uri="{FF2B5EF4-FFF2-40B4-BE49-F238E27FC236}">
                <a16:creationId xmlns:a16="http://schemas.microsoft.com/office/drawing/2014/main" id="{147A22FF-BA72-FF1F-01F5-110A423C5FC5}"/>
              </a:ext>
            </a:extLst>
          </p:cNvPr>
          <p:cNvSpPr/>
          <p:nvPr/>
        </p:nvSpPr>
        <p:spPr>
          <a:xfrm rot="10800000" flipH="1">
            <a:off x="3090963" y="338960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" name="Folded Corner 5">
            <a:extLst>
              <a:ext uri="{FF2B5EF4-FFF2-40B4-BE49-F238E27FC236}">
                <a16:creationId xmlns:a16="http://schemas.microsoft.com/office/drawing/2014/main" id="{EC6D84E1-BD9F-A791-19E0-CE03FD74A677}"/>
              </a:ext>
            </a:extLst>
          </p:cNvPr>
          <p:cNvSpPr/>
          <p:nvPr/>
        </p:nvSpPr>
        <p:spPr>
          <a:xfrm rot="10800000" flipH="1">
            <a:off x="3050526" y="34233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0F4CD2C9-1E17-7F78-10C4-C8611BA8F47A}"/>
              </a:ext>
            </a:extLst>
          </p:cNvPr>
          <p:cNvSpPr txBox="1"/>
          <p:nvPr/>
        </p:nvSpPr>
        <p:spPr>
          <a:xfrm>
            <a:off x="3041735" y="358121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score.py</a:t>
            </a:r>
          </a:p>
        </p:txBody>
      </p:sp>
      <p:sp>
        <p:nvSpPr>
          <p:cNvPr id="30" name="Folded Corner 3">
            <a:extLst>
              <a:ext uri="{FF2B5EF4-FFF2-40B4-BE49-F238E27FC236}">
                <a16:creationId xmlns:a16="http://schemas.microsoft.com/office/drawing/2014/main" id="{A14E9212-2B74-C51C-F6D3-F8D98AF081EC}"/>
              </a:ext>
            </a:extLst>
          </p:cNvPr>
          <p:cNvSpPr/>
          <p:nvPr/>
        </p:nvSpPr>
        <p:spPr>
          <a:xfrm rot="10800000" flipH="1">
            <a:off x="489099" y="3477311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" name="Folded Corner 4">
            <a:extLst>
              <a:ext uri="{FF2B5EF4-FFF2-40B4-BE49-F238E27FC236}">
                <a16:creationId xmlns:a16="http://schemas.microsoft.com/office/drawing/2014/main" id="{E0D92228-86ED-200B-B714-4709A809C6D5}"/>
              </a:ext>
            </a:extLst>
          </p:cNvPr>
          <p:cNvSpPr/>
          <p:nvPr/>
        </p:nvSpPr>
        <p:spPr>
          <a:xfrm rot="10800000" flipH="1">
            <a:off x="456017" y="3505777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" name="Folded Corner 5">
            <a:extLst>
              <a:ext uri="{FF2B5EF4-FFF2-40B4-BE49-F238E27FC236}">
                <a16:creationId xmlns:a16="http://schemas.microsoft.com/office/drawing/2014/main" id="{2A454909-B5CF-4CB5-13D5-20263F3F0FE2}"/>
              </a:ext>
            </a:extLst>
          </p:cNvPr>
          <p:cNvSpPr/>
          <p:nvPr/>
        </p:nvSpPr>
        <p:spPr>
          <a:xfrm rot="10800000" flipH="1">
            <a:off x="415580" y="3539553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4385BBCD-B99D-9958-FB43-A34D400BBE28}"/>
              </a:ext>
            </a:extLst>
          </p:cNvPr>
          <p:cNvSpPr txBox="1"/>
          <p:nvPr/>
        </p:nvSpPr>
        <p:spPr>
          <a:xfrm>
            <a:off x="391503" y="3700338"/>
            <a:ext cx="4603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 err="1">
                <a:solidFill>
                  <a:schemeClr val="tx1">
                    <a:lumMod val="50000"/>
                  </a:schemeClr>
                </a:solidFill>
              </a:rPr>
              <a:t>edu.cmu</a:t>
            </a:r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613C8F-0FD4-50EA-0A2B-0AEE0F220329}"/>
              </a:ext>
            </a:extLst>
          </p:cNvPr>
          <p:cNvSpPr txBox="1"/>
          <p:nvPr/>
        </p:nvSpPr>
        <p:spPr>
          <a:xfrm>
            <a:off x="2058159" y="4229130"/>
            <a:ext cx="621043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run_fges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()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497EC0-454B-E194-BC8A-4C1F44364128}"/>
              </a:ext>
            </a:extLst>
          </p:cNvPr>
          <p:cNvSpPr txBox="1"/>
          <p:nvPr/>
        </p:nvSpPr>
        <p:spPr>
          <a:xfrm>
            <a:off x="8607799" y="473724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BCB25FA7-662A-678F-9820-EB18EF4C99A7}"/>
              </a:ext>
            </a:extLst>
          </p:cNvPr>
          <p:cNvCxnSpPr>
            <a:cxnSpLocks/>
            <a:stCxn id="51" idx="3"/>
            <a:endCxn id="1106" idx="1"/>
          </p:cNvCxnSpPr>
          <p:nvPr/>
        </p:nvCxnSpPr>
        <p:spPr>
          <a:xfrm flipV="1">
            <a:off x="8718069" y="4559134"/>
            <a:ext cx="883131" cy="338368"/>
          </a:xfrm>
          <a:prstGeom prst="bentConnector3">
            <a:avLst>
              <a:gd name="adj1" fmla="val 36673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9" name="TextBox 898">
            <a:extLst>
              <a:ext uri="{FF2B5EF4-FFF2-40B4-BE49-F238E27FC236}">
                <a16:creationId xmlns:a16="http://schemas.microsoft.com/office/drawing/2014/main" id="{B693874D-16D0-A901-A0AA-78768ADAEB70}"/>
              </a:ext>
            </a:extLst>
          </p:cNvPr>
          <p:cNvSpPr txBox="1"/>
          <p:nvPr/>
        </p:nvSpPr>
        <p:spPr>
          <a:xfrm>
            <a:off x="9601200" y="8412480"/>
            <a:ext cx="4244990" cy="1900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graph output is converted and saved in JSON format that can be loaded and viewed in Tetrad GUI. Parsing graph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allows 1-PNEF to be applied. </a:t>
            </a:r>
          </a:p>
          <a:p>
            <a:r>
              <a:rPr lang="en-US" dirty="0"/>
              <a:t>1. </a:t>
            </a:r>
            <a:r>
              <a:rPr lang="en-US" dirty="0" err="1"/>
              <a:t>transform_graph_java_to_graph_json</a:t>
            </a:r>
            <a:r>
              <a:rPr lang="en-US" dirty="0"/>
              <a:t>()</a:t>
            </a:r>
          </a:p>
          <a:p>
            <a:r>
              <a:rPr lang="en-US" b="0" dirty="0"/>
              <a:t>Convert Tetrad graph object to JSON format.</a:t>
            </a:r>
          </a:p>
          <a:p>
            <a:r>
              <a:rPr lang="en-US" dirty="0"/>
              <a:t>2. </a:t>
            </a:r>
            <a:r>
              <a:rPr lang="en-US" dirty="0" err="1"/>
              <a:t>parse_graph_json</a:t>
            </a:r>
            <a:r>
              <a:rPr lang="en-US" dirty="0"/>
              <a:t>()</a:t>
            </a:r>
          </a:p>
          <a:p>
            <a:r>
              <a:rPr lang="en-US" b="0" dirty="0"/>
              <a:t>Parse Tetrad JSON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datasets.</a:t>
            </a:r>
          </a:p>
        </p:txBody>
      </p:sp>
      <p:sp>
        <p:nvSpPr>
          <p:cNvPr id="900" name="Logistics">
            <a:extLst>
              <a:ext uri="{FF2B5EF4-FFF2-40B4-BE49-F238E27FC236}">
                <a16:creationId xmlns:a16="http://schemas.microsoft.com/office/drawing/2014/main" id="{071E9DB0-D662-95F5-E8E6-EAB39ECC501F}"/>
              </a:ext>
            </a:extLst>
          </p:cNvPr>
          <p:cNvSpPr txBox="1"/>
          <p:nvPr/>
        </p:nvSpPr>
        <p:spPr>
          <a:xfrm>
            <a:off x="9601200" y="818217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graph.py</a:t>
            </a:r>
          </a:p>
        </p:txBody>
      </p:sp>
      <p:sp>
        <p:nvSpPr>
          <p:cNvPr id="90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1E59C230-69F4-A884-0DB1-41C3FB5A748D}"/>
              </a:ext>
            </a:extLst>
          </p:cNvPr>
          <p:cNvSpPr txBox="1"/>
          <p:nvPr/>
        </p:nvSpPr>
        <p:spPr>
          <a:xfrm>
            <a:off x="182880" y="173736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Python package that serves as a wrapper over the Tetrad Java API (via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), providing an interface for causal analysis algorithms.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fork of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-tetrad/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pytetrad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grpSp>
        <p:nvGrpSpPr>
          <p:cNvPr id="909" name="Group 908">
            <a:extLst>
              <a:ext uri="{FF2B5EF4-FFF2-40B4-BE49-F238E27FC236}">
                <a16:creationId xmlns:a16="http://schemas.microsoft.com/office/drawing/2014/main" id="{B632E03C-CB72-2F03-690F-52B627ADDC91}"/>
              </a:ext>
            </a:extLst>
          </p:cNvPr>
          <p:cNvGrpSpPr/>
          <p:nvPr/>
        </p:nvGrpSpPr>
        <p:grpSpPr>
          <a:xfrm>
            <a:off x="5279608" y="8581425"/>
            <a:ext cx="818142" cy="583040"/>
            <a:chOff x="3300333" y="6875181"/>
            <a:chExt cx="2140200" cy="1512332"/>
          </a:xfrm>
        </p:grpSpPr>
        <p:sp>
          <p:nvSpPr>
            <p:cNvPr id="910" name="TextBox 909">
              <a:extLst>
                <a:ext uri="{FF2B5EF4-FFF2-40B4-BE49-F238E27FC236}">
                  <a16:creationId xmlns:a16="http://schemas.microsoft.com/office/drawing/2014/main" id="{F2B4C82B-5DF5-5BAF-AB81-5D9612731B8F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11" name="Google Shape;162;p1">
              <a:extLst>
                <a:ext uri="{FF2B5EF4-FFF2-40B4-BE49-F238E27FC236}">
                  <a16:creationId xmlns:a16="http://schemas.microsoft.com/office/drawing/2014/main" id="{93A1219A-D109-AFAB-9181-DC885CA27A33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2" name="Google Shape;163;p1">
              <a:extLst>
                <a:ext uri="{FF2B5EF4-FFF2-40B4-BE49-F238E27FC236}">
                  <a16:creationId xmlns:a16="http://schemas.microsoft.com/office/drawing/2014/main" id="{BF081C05-E7A4-8E53-E8EF-1CE140DE2BFB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3" name="Google Shape;164;p1">
              <a:extLst>
                <a:ext uri="{FF2B5EF4-FFF2-40B4-BE49-F238E27FC236}">
                  <a16:creationId xmlns:a16="http://schemas.microsoft.com/office/drawing/2014/main" id="{62D6E6CD-ADA0-1F14-C9D3-A9E11A6A46EA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4" name="Google Shape;165;p1">
              <a:extLst>
                <a:ext uri="{FF2B5EF4-FFF2-40B4-BE49-F238E27FC236}">
                  <a16:creationId xmlns:a16="http://schemas.microsoft.com/office/drawing/2014/main" id="{C1A98438-F003-3AFE-BF55-CD82CB1B7149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5" name="Google Shape;171;p1">
              <a:extLst>
                <a:ext uri="{FF2B5EF4-FFF2-40B4-BE49-F238E27FC236}">
                  <a16:creationId xmlns:a16="http://schemas.microsoft.com/office/drawing/2014/main" id="{F1049234-D3EB-6402-4624-A98002F08C23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6" name="Google Shape;187;p1">
              <a:extLst>
                <a:ext uri="{FF2B5EF4-FFF2-40B4-BE49-F238E27FC236}">
                  <a16:creationId xmlns:a16="http://schemas.microsoft.com/office/drawing/2014/main" id="{C6DD997F-1DE5-03DA-F46B-9D0FA9640533}"/>
                </a:ext>
              </a:extLst>
            </p:cNvPr>
            <p:cNvCxnSpPr>
              <a:stCxn id="917" idx="6"/>
              <a:endCxn id="911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17" name="Google Shape;188;p1">
              <a:extLst>
                <a:ext uri="{FF2B5EF4-FFF2-40B4-BE49-F238E27FC236}">
                  <a16:creationId xmlns:a16="http://schemas.microsoft.com/office/drawing/2014/main" id="{6B742CF1-7413-CE5B-223F-B52462498627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8" name="Google Shape;196;p1">
              <a:extLst>
                <a:ext uri="{FF2B5EF4-FFF2-40B4-BE49-F238E27FC236}">
                  <a16:creationId xmlns:a16="http://schemas.microsoft.com/office/drawing/2014/main" id="{1593A7BA-CC30-430B-0575-1754371DE3A5}"/>
                </a:ext>
              </a:extLst>
            </p:cNvPr>
            <p:cNvCxnSpPr>
              <a:stCxn id="917" idx="5"/>
              <a:endCxn id="913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19" name="Google Shape;198;p1">
              <a:extLst>
                <a:ext uri="{FF2B5EF4-FFF2-40B4-BE49-F238E27FC236}">
                  <a16:creationId xmlns:a16="http://schemas.microsoft.com/office/drawing/2014/main" id="{F9FE009C-F8C8-A34A-5E4B-19E509CB3621}"/>
                </a:ext>
              </a:extLst>
            </p:cNvPr>
            <p:cNvCxnSpPr>
              <a:stCxn id="917" idx="6"/>
              <a:endCxn id="914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0" name="Google Shape;199;p1">
              <a:extLst>
                <a:ext uri="{FF2B5EF4-FFF2-40B4-BE49-F238E27FC236}">
                  <a16:creationId xmlns:a16="http://schemas.microsoft.com/office/drawing/2014/main" id="{A1701F56-5514-6E76-7142-89B34FA8FDA3}"/>
                </a:ext>
              </a:extLst>
            </p:cNvPr>
            <p:cNvCxnSpPr>
              <a:stCxn id="917" idx="3"/>
              <a:endCxn id="915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1" name="Google Shape;200;p1">
              <a:extLst>
                <a:ext uri="{FF2B5EF4-FFF2-40B4-BE49-F238E27FC236}">
                  <a16:creationId xmlns:a16="http://schemas.microsoft.com/office/drawing/2014/main" id="{40C65211-5D72-D58D-AA63-65228A2DEB41}"/>
                </a:ext>
              </a:extLst>
            </p:cNvPr>
            <p:cNvCxnSpPr>
              <a:stCxn id="917" idx="6"/>
              <a:endCxn id="912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926" name="TextBox 925">
            <a:extLst>
              <a:ext uri="{FF2B5EF4-FFF2-40B4-BE49-F238E27FC236}">
                <a16:creationId xmlns:a16="http://schemas.microsoft.com/office/drawing/2014/main" id="{B6121598-0243-05AB-333B-B7FA4E9C9353}"/>
              </a:ext>
            </a:extLst>
          </p:cNvPr>
          <p:cNvSpPr txBox="1"/>
          <p:nvPr/>
        </p:nvSpPr>
        <p:spPr>
          <a:xfrm>
            <a:off x="4745786" y="9504777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.</a:t>
            </a:r>
            <a:r>
              <a:rPr lang="en-US" dirty="0" err="1"/>
              <a:t>json</a:t>
            </a:r>
            <a:endParaRPr lang="en-US" dirty="0"/>
          </a:p>
        </p:txBody>
      </p:sp>
      <p:cxnSp>
        <p:nvCxnSpPr>
          <p:cNvPr id="927" name="Straight Arrow Connector 926">
            <a:extLst>
              <a:ext uri="{FF2B5EF4-FFF2-40B4-BE49-F238E27FC236}">
                <a16:creationId xmlns:a16="http://schemas.microsoft.com/office/drawing/2014/main" id="{2644E5FC-64E0-AA7B-5FC1-45551AE1E62C}"/>
              </a:ext>
            </a:extLst>
          </p:cNvPr>
          <p:cNvCxnSpPr>
            <a:cxnSpLocks/>
          </p:cNvCxnSpPr>
          <p:nvPr/>
        </p:nvCxnSpPr>
        <p:spPr>
          <a:xfrm>
            <a:off x="6437738" y="8942534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8" name="Flowchart: Internal Storage 927">
            <a:extLst>
              <a:ext uri="{FF2B5EF4-FFF2-40B4-BE49-F238E27FC236}">
                <a16:creationId xmlns:a16="http://schemas.microsoft.com/office/drawing/2014/main" id="{F3803597-C075-5B17-0583-037B1BBE3BD6}"/>
              </a:ext>
            </a:extLst>
          </p:cNvPr>
          <p:cNvSpPr/>
          <p:nvPr/>
        </p:nvSpPr>
        <p:spPr>
          <a:xfrm>
            <a:off x="7070339" y="8311163"/>
            <a:ext cx="1472339" cy="1138122"/>
          </a:xfrm>
          <a:prstGeom prst="flowChartInternalStorage">
            <a:avLst/>
          </a:prstGeom>
          <a:noFill/>
          <a:ln w="12700" cap="flat">
            <a:solidFill>
              <a:schemeClr val="tx1">
                <a:lumMod val="50000"/>
              </a:schemeClr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2B29FBAD-937A-F5F5-5420-D96D87B04AAD}"/>
              </a:ext>
            </a:extLst>
          </p:cNvPr>
          <p:cNvGrpSpPr/>
          <p:nvPr/>
        </p:nvGrpSpPr>
        <p:grpSpPr>
          <a:xfrm>
            <a:off x="7473200" y="8601381"/>
            <a:ext cx="818142" cy="583040"/>
            <a:chOff x="3300333" y="6875181"/>
            <a:chExt cx="2140200" cy="1512332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5794AF96-F921-C8DC-D215-5159D54F83FA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33" name="Google Shape;162;p1">
              <a:extLst>
                <a:ext uri="{FF2B5EF4-FFF2-40B4-BE49-F238E27FC236}">
                  <a16:creationId xmlns:a16="http://schemas.microsoft.com/office/drawing/2014/main" id="{CA49DDCC-50EE-B185-10E0-F426721B8937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4" name="Google Shape;163;p1">
              <a:extLst>
                <a:ext uri="{FF2B5EF4-FFF2-40B4-BE49-F238E27FC236}">
                  <a16:creationId xmlns:a16="http://schemas.microsoft.com/office/drawing/2014/main" id="{6E40E832-304C-0924-74E6-01EABFCF52B2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6" name="Google Shape;164;p1">
              <a:extLst>
                <a:ext uri="{FF2B5EF4-FFF2-40B4-BE49-F238E27FC236}">
                  <a16:creationId xmlns:a16="http://schemas.microsoft.com/office/drawing/2014/main" id="{011C003E-CB44-7B8E-04A1-F766990B7E7A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7" name="Google Shape;165;p1">
              <a:extLst>
                <a:ext uri="{FF2B5EF4-FFF2-40B4-BE49-F238E27FC236}">
                  <a16:creationId xmlns:a16="http://schemas.microsoft.com/office/drawing/2014/main" id="{600B507C-CA07-3D47-2FA2-EA50E428CAE1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8" name="Google Shape;171;p1">
              <a:extLst>
                <a:ext uri="{FF2B5EF4-FFF2-40B4-BE49-F238E27FC236}">
                  <a16:creationId xmlns:a16="http://schemas.microsoft.com/office/drawing/2014/main" id="{F24136E9-1D62-185A-4E82-9AA61A12EA30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5" name="Google Shape;187;p1">
              <a:extLst>
                <a:ext uri="{FF2B5EF4-FFF2-40B4-BE49-F238E27FC236}">
                  <a16:creationId xmlns:a16="http://schemas.microsoft.com/office/drawing/2014/main" id="{AC7093CC-73B6-FB08-0F89-D54EB594FD6F}"/>
                </a:ext>
              </a:extLst>
            </p:cNvPr>
            <p:cNvCxnSpPr>
              <a:stCxn id="1116" idx="6"/>
              <a:endCxn id="1033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16" name="Google Shape;188;p1">
              <a:extLst>
                <a:ext uri="{FF2B5EF4-FFF2-40B4-BE49-F238E27FC236}">
                  <a16:creationId xmlns:a16="http://schemas.microsoft.com/office/drawing/2014/main" id="{2D17CA1F-17FF-B03F-1365-8A031358AFAA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7" name="Google Shape;196;p1">
              <a:extLst>
                <a:ext uri="{FF2B5EF4-FFF2-40B4-BE49-F238E27FC236}">
                  <a16:creationId xmlns:a16="http://schemas.microsoft.com/office/drawing/2014/main" id="{0BF69042-A457-0388-616E-A029C407138C}"/>
                </a:ext>
              </a:extLst>
            </p:cNvPr>
            <p:cNvCxnSpPr>
              <a:stCxn id="1116" idx="5"/>
              <a:endCxn id="1036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8" name="Google Shape;198;p1">
              <a:extLst>
                <a:ext uri="{FF2B5EF4-FFF2-40B4-BE49-F238E27FC236}">
                  <a16:creationId xmlns:a16="http://schemas.microsoft.com/office/drawing/2014/main" id="{0A3E1C83-C49C-9A81-859D-B8F16C56EE54}"/>
                </a:ext>
              </a:extLst>
            </p:cNvPr>
            <p:cNvCxnSpPr>
              <a:stCxn id="1116" idx="6"/>
              <a:endCxn id="1037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9" name="Google Shape;199;p1">
              <a:extLst>
                <a:ext uri="{FF2B5EF4-FFF2-40B4-BE49-F238E27FC236}">
                  <a16:creationId xmlns:a16="http://schemas.microsoft.com/office/drawing/2014/main" id="{1349407B-98C9-574D-6536-82677DE6CDB0}"/>
                </a:ext>
              </a:extLst>
            </p:cNvPr>
            <p:cNvCxnSpPr>
              <a:stCxn id="1116" idx="3"/>
              <a:endCxn id="1038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20" name="Google Shape;200;p1">
              <a:extLst>
                <a:ext uri="{FF2B5EF4-FFF2-40B4-BE49-F238E27FC236}">
                  <a16:creationId xmlns:a16="http://schemas.microsoft.com/office/drawing/2014/main" id="{A95EB1E9-764C-A4BE-580A-00A8498D8AC0}"/>
                </a:ext>
              </a:extLst>
            </p:cNvPr>
            <p:cNvCxnSpPr>
              <a:stCxn id="1116" idx="6"/>
              <a:endCxn id="1034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1121" name="TextBox 1120">
            <a:extLst>
              <a:ext uri="{FF2B5EF4-FFF2-40B4-BE49-F238E27FC236}">
                <a16:creationId xmlns:a16="http://schemas.microsoft.com/office/drawing/2014/main" id="{2472FD5D-63D3-E53F-EBEC-B8A952E26391}"/>
              </a:ext>
            </a:extLst>
          </p:cNvPr>
          <p:cNvSpPr txBox="1"/>
          <p:nvPr/>
        </p:nvSpPr>
        <p:spPr>
          <a:xfrm>
            <a:off x="6892923" y="9463342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Tetrad GUI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D9AA2F8A-19D3-38E8-48FF-859F65714A84}"/>
              </a:ext>
            </a:extLst>
          </p:cNvPr>
          <p:cNvSpPr txBox="1"/>
          <p:nvPr/>
        </p:nvSpPr>
        <p:spPr>
          <a:xfrm>
            <a:off x="7071481" y="845805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Graph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AAF1494F-B0EC-5B95-30C4-277695E49AAA}"/>
              </a:ext>
            </a:extLst>
          </p:cNvPr>
          <p:cNvSpPr txBox="1"/>
          <p:nvPr/>
        </p:nvSpPr>
        <p:spPr>
          <a:xfrm>
            <a:off x="7061235" y="8531089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Compare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0BE9F0CA-E14E-A8DA-8FFB-AFCF3D27E086}"/>
              </a:ext>
            </a:extLst>
          </p:cNvPr>
          <p:cNvSpPr txBox="1"/>
          <p:nvPr/>
        </p:nvSpPr>
        <p:spPr>
          <a:xfrm>
            <a:off x="7048685" y="8610068"/>
            <a:ext cx="251336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Grid Search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0BA279AB-F503-0488-43FD-27D57B101C47}"/>
              </a:ext>
            </a:extLst>
          </p:cNvPr>
          <p:cNvSpPr txBox="1"/>
          <p:nvPr/>
        </p:nvSpPr>
        <p:spPr>
          <a:xfrm>
            <a:off x="7046974" y="8677995"/>
            <a:ext cx="303972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Parametric Model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CFD82F59-EF30-ACC3-C9C6-25BC82CFA21D}"/>
              </a:ext>
            </a:extLst>
          </p:cNvPr>
          <p:cNvSpPr txBox="1"/>
          <p:nvPr/>
        </p:nvSpPr>
        <p:spPr>
          <a:xfrm>
            <a:off x="7052833" y="8791685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Simulation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29B95948-DA98-49BE-716C-69EBBC85F926}"/>
              </a:ext>
            </a:extLst>
          </p:cNvPr>
          <p:cNvSpPr txBox="1"/>
          <p:nvPr/>
        </p:nvSpPr>
        <p:spPr>
          <a:xfrm>
            <a:off x="7070339" y="8866499"/>
            <a:ext cx="235741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Cluster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68ED169B-6FE0-85FD-7A37-957BC4720FB3}"/>
              </a:ext>
            </a:extLst>
          </p:cNvPr>
          <p:cNvSpPr txBox="1"/>
          <p:nvPr/>
        </p:nvSpPr>
        <p:spPr>
          <a:xfrm>
            <a:off x="7063846" y="8962863"/>
            <a:ext cx="260604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Structure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D1325031-E600-FFB8-6BB3-F47B79B1E181}"/>
              </a:ext>
            </a:extLst>
          </p:cNvPr>
          <p:cNvSpPr txBox="1"/>
          <p:nvPr/>
        </p:nvSpPr>
        <p:spPr>
          <a:xfrm>
            <a:off x="7055007" y="9063908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Knowledge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E24E2562-FFE8-1B77-5B53-BCACF50BFC23}"/>
              </a:ext>
            </a:extLst>
          </p:cNvPr>
          <p:cNvSpPr txBox="1"/>
          <p:nvPr/>
        </p:nvSpPr>
        <p:spPr>
          <a:xfrm>
            <a:off x="7061235" y="9140557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Updater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AC6A2345-B242-3F61-17A4-31E72899687D}"/>
              </a:ext>
            </a:extLst>
          </p:cNvPr>
          <p:cNvSpPr txBox="1"/>
          <p:nvPr/>
        </p:nvSpPr>
        <p:spPr>
          <a:xfrm>
            <a:off x="7048685" y="9227323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Regression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9C011B9E-7C0D-6CF3-7D96-034C0AC7085E}"/>
              </a:ext>
            </a:extLst>
          </p:cNvPr>
          <p:cNvSpPr txBox="1"/>
          <p:nvPr/>
        </p:nvSpPr>
        <p:spPr>
          <a:xfrm>
            <a:off x="7233495" y="8289476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File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EAEBFF59-F09B-FEAF-F201-88555193109B}"/>
              </a:ext>
            </a:extLst>
          </p:cNvPr>
          <p:cNvSpPr txBox="1"/>
          <p:nvPr/>
        </p:nvSpPr>
        <p:spPr>
          <a:xfrm>
            <a:off x="7303218" y="829201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Edit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55FAC156-DBA3-6172-96A8-2B15C69F1FA1}"/>
              </a:ext>
            </a:extLst>
          </p:cNvPr>
          <p:cNvSpPr txBox="1"/>
          <p:nvPr/>
        </p:nvSpPr>
        <p:spPr>
          <a:xfrm>
            <a:off x="7383126" y="8291864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Logging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33ED035C-54AC-0C3D-AB24-4358CD411BD4}"/>
              </a:ext>
            </a:extLst>
          </p:cNvPr>
          <p:cNvSpPr txBox="1"/>
          <p:nvPr/>
        </p:nvSpPr>
        <p:spPr>
          <a:xfrm>
            <a:off x="7505552" y="8292313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Pipelines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7CE94C76-E180-0BC3-D532-55163B382F05}"/>
              </a:ext>
            </a:extLst>
          </p:cNvPr>
          <p:cNvSpPr txBox="1"/>
          <p:nvPr/>
        </p:nvSpPr>
        <p:spPr>
          <a:xfrm>
            <a:off x="7637493" y="829506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Window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64DFA0D1-73FB-015F-BAEB-37FC3639AB72}"/>
              </a:ext>
            </a:extLst>
          </p:cNvPr>
          <p:cNvSpPr txBox="1"/>
          <p:nvPr/>
        </p:nvSpPr>
        <p:spPr>
          <a:xfrm>
            <a:off x="7754912" y="829506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Help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8DDBF073-EB23-043C-3D2A-850913CB863A}"/>
              </a:ext>
            </a:extLst>
          </p:cNvPr>
          <p:cNvGrpSpPr/>
          <p:nvPr/>
        </p:nvGrpSpPr>
        <p:grpSpPr>
          <a:xfrm>
            <a:off x="1195787" y="7121456"/>
            <a:ext cx="358133" cy="449780"/>
            <a:chOff x="3801693" y="7065060"/>
            <a:chExt cx="465922" cy="575948"/>
          </a:xfrm>
        </p:grpSpPr>
        <p:sp>
          <p:nvSpPr>
            <p:cNvPr id="1151" name="Flowchart: Internal Storage 1150">
              <a:extLst>
                <a:ext uri="{FF2B5EF4-FFF2-40B4-BE49-F238E27FC236}">
                  <a16:creationId xmlns:a16="http://schemas.microsoft.com/office/drawing/2014/main" id="{13AA6ECB-4A3A-DAE1-1F31-4C88A19E366D}"/>
                </a:ext>
              </a:extLst>
            </p:cNvPr>
            <p:cNvSpPr/>
            <p:nvPr/>
          </p:nvSpPr>
          <p:spPr>
            <a:xfrm>
              <a:off x="3824554" y="7065060"/>
              <a:ext cx="443061" cy="575948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8C2DA621-FAD9-D191-06CF-1D0716FE8A0F}"/>
                </a:ext>
              </a:extLst>
            </p:cNvPr>
            <p:cNvSpPr txBox="1"/>
            <p:nvPr/>
          </p:nvSpPr>
          <p:spPr>
            <a:xfrm>
              <a:off x="3801693" y="7065060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3" name="TextBox 1152">
              <a:extLst>
                <a:ext uri="{FF2B5EF4-FFF2-40B4-BE49-F238E27FC236}">
                  <a16:creationId xmlns:a16="http://schemas.microsoft.com/office/drawing/2014/main" id="{930631F9-B3D7-9074-A75B-1DA401E8847B}"/>
                </a:ext>
              </a:extLst>
            </p:cNvPr>
            <p:cNvSpPr txBox="1"/>
            <p:nvPr/>
          </p:nvSpPr>
          <p:spPr>
            <a:xfrm>
              <a:off x="3801693" y="7191227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4" name="TextBox 1153">
              <a:extLst>
                <a:ext uri="{FF2B5EF4-FFF2-40B4-BE49-F238E27FC236}">
                  <a16:creationId xmlns:a16="http://schemas.microsoft.com/office/drawing/2014/main" id="{ABC3198E-2A59-F200-3E17-58DAACBEFB5C}"/>
                </a:ext>
              </a:extLst>
            </p:cNvPr>
            <p:cNvSpPr txBox="1"/>
            <p:nvPr/>
          </p:nvSpPr>
          <p:spPr>
            <a:xfrm>
              <a:off x="3801693" y="7336099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1155" name="Straight Connector 1154">
              <a:extLst>
                <a:ext uri="{FF2B5EF4-FFF2-40B4-BE49-F238E27FC236}">
                  <a16:creationId xmlns:a16="http://schemas.microsoft.com/office/drawing/2014/main" id="{B32C68A8-E86C-80A5-A0EA-28BF8B3204A5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1976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6" name="Straight Connector 1155">
              <a:extLst>
                <a:ext uri="{FF2B5EF4-FFF2-40B4-BE49-F238E27FC236}">
                  <a16:creationId xmlns:a16="http://schemas.microsoft.com/office/drawing/2014/main" id="{32EDD009-0F2B-7E11-BA54-C853CF628403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269790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7" name="Straight Connector 1156">
              <a:extLst>
                <a:ext uri="{FF2B5EF4-FFF2-40B4-BE49-F238E27FC236}">
                  <a16:creationId xmlns:a16="http://schemas.microsoft.com/office/drawing/2014/main" id="{9E1A08B5-A773-0356-1036-55E69C7829A1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344697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8" name="Straight Connector 1157">
              <a:extLst>
                <a:ext uri="{FF2B5EF4-FFF2-40B4-BE49-F238E27FC236}">
                  <a16:creationId xmlns:a16="http://schemas.microsoft.com/office/drawing/2014/main" id="{74A48F79-214E-F3E8-F0D1-6EBA965C753F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4262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9" name="Straight Connector 1158">
              <a:extLst>
                <a:ext uri="{FF2B5EF4-FFF2-40B4-BE49-F238E27FC236}">
                  <a16:creationId xmlns:a16="http://schemas.microsoft.com/office/drawing/2014/main" id="{A45B9CD1-292B-1D39-8BEC-E06C0F7EDD07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01852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60" name="Straight Connector 1159">
              <a:extLst>
                <a:ext uri="{FF2B5EF4-FFF2-40B4-BE49-F238E27FC236}">
                  <a16:creationId xmlns:a16="http://schemas.microsoft.com/office/drawing/2014/main" id="{725B88E4-6B1E-DCC6-FF17-A71C52981035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81085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213" name="Group 1212">
            <a:extLst>
              <a:ext uri="{FF2B5EF4-FFF2-40B4-BE49-F238E27FC236}">
                <a16:creationId xmlns:a16="http://schemas.microsoft.com/office/drawing/2014/main" id="{C30AE262-63BD-AA63-B567-0A7CC9E5CC86}"/>
              </a:ext>
            </a:extLst>
          </p:cNvPr>
          <p:cNvGrpSpPr/>
          <p:nvPr/>
        </p:nvGrpSpPr>
        <p:grpSpPr>
          <a:xfrm>
            <a:off x="2661632" y="7753204"/>
            <a:ext cx="1625672" cy="724346"/>
            <a:chOff x="4898186" y="8463563"/>
            <a:chExt cx="3978918" cy="1588036"/>
          </a:xfrm>
        </p:grpSpPr>
        <p:sp>
          <p:nvSpPr>
            <p:cNvPr id="1165" name="Folded Corner 5">
              <a:extLst>
                <a:ext uri="{FF2B5EF4-FFF2-40B4-BE49-F238E27FC236}">
                  <a16:creationId xmlns:a16="http://schemas.microsoft.com/office/drawing/2014/main" id="{325DEDCB-7FFF-0243-9E4C-7FEAF42DED65}"/>
                </a:ext>
              </a:extLst>
            </p:cNvPr>
            <p:cNvSpPr/>
            <p:nvPr/>
          </p:nvSpPr>
          <p:spPr>
            <a:xfrm rot="10800000" flipH="1">
              <a:off x="5352204" y="8474861"/>
              <a:ext cx="944261" cy="1140881"/>
            </a:xfrm>
            <a:prstGeom prst="foldedCorner">
              <a:avLst>
                <a:gd name="adj" fmla="val 29505"/>
              </a:avLst>
            </a:prstGeom>
            <a:solidFill>
              <a:schemeClr val="bg1"/>
            </a:solidFill>
            <a:ln w="63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="horz" wrap="square" lIns="54570" tIns="54570" rIns="54570" bIns="5457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1pPr>
              <a:lvl2pPr marL="0" marR="0" indent="228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2pPr>
              <a:lvl3pPr marL="0" marR="0" indent="457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3pPr>
              <a:lvl4pPr marL="0" marR="0" indent="685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4pPr>
              <a:lvl5pPr marL="0" marR="0" indent="9144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5pPr>
              <a:lvl6pPr marL="0" marR="0" indent="11430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6pPr>
              <a:lvl7pPr marL="0" marR="0" indent="1371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7pPr>
              <a:lvl8pPr marL="0" marR="0" indent="1600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8pPr>
              <a:lvl9pPr marL="0" marR="0" indent="1828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9pPr>
            </a:lstStyle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66" name="Group 1165">
              <a:extLst>
                <a:ext uri="{FF2B5EF4-FFF2-40B4-BE49-F238E27FC236}">
                  <a16:creationId xmlns:a16="http://schemas.microsoft.com/office/drawing/2014/main" id="{CED2189C-7CB1-5572-231A-3EE10D710AD7}"/>
                </a:ext>
              </a:extLst>
            </p:cNvPr>
            <p:cNvGrpSpPr/>
            <p:nvPr/>
          </p:nvGrpSpPr>
          <p:grpSpPr>
            <a:xfrm>
              <a:off x="5432008" y="8733825"/>
              <a:ext cx="818142" cy="583040"/>
              <a:chOff x="3300333" y="6875181"/>
              <a:chExt cx="2140200" cy="1512332"/>
            </a:xfrm>
          </p:grpSpPr>
          <p:sp>
            <p:nvSpPr>
              <p:cNvPr id="1167" name="TextBox 1166">
                <a:extLst>
                  <a:ext uri="{FF2B5EF4-FFF2-40B4-BE49-F238E27FC236}">
                    <a16:creationId xmlns:a16="http://schemas.microsoft.com/office/drawing/2014/main" id="{3C6450BF-63BA-7686-E2A1-2EC85BCC83C0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68" name="Google Shape;162;p1">
                <a:extLst>
                  <a:ext uri="{FF2B5EF4-FFF2-40B4-BE49-F238E27FC236}">
                    <a16:creationId xmlns:a16="http://schemas.microsoft.com/office/drawing/2014/main" id="{2954EA63-28AC-8664-6D5A-00FECBB6FBF0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69" name="Google Shape;163;p1">
                <a:extLst>
                  <a:ext uri="{FF2B5EF4-FFF2-40B4-BE49-F238E27FC236}">
                    <a16:creationId xmlns:a16="http://schemas.microsoft.com/office/drawing/2014/main" id="{1BCDBBA5-F014-F2C3-F0CD-7F174C9223A0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0" name="Google Shape;164;p1">
                <a:extLst>
                  <a:ext uri="{FF2B5EF4-FFF2-40B4-BE49-F238E27FC236}">
                    <a16:creationId xmlns:a16="http://schemas.microsoft.com/office/drawing/2014/main" id="{CCE8CD46-BA00-7201-656F-58A3403D0611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1" name="Google Shape;165;p1">
                <a:extLst>
                  <a:ext uri="{FF2B5EF4-FFF2-40B4-BE49-F238E27FC236}">
                    <a16:creationId xmlns:a16="http://schemas.microsoft.com/office/drawing/2014/main" id="{0330C4C5-11E2-8843-42F9-4D7554194648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2" name="Google Shape;171;p1">
                <a:extLst>
                  <a:ext uri="{FF2B5EF4-FFF2-40B4-BE49-F238E27FC236}">
                    <a16:creationId xmlns:a16="http://schemas.microsoft.com/office/drawing/2014/main" id="{8779D832-3BA6-BB1E-ADA6-4119DEC817E3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3" name="Google Shape;187;p1">
                <a:extLst>
                  <a:ext uri="{FF2B5EF4-FFF2-40B4-BE49-F238E27FC236}">
                    <a16:creationId xmlns:a16="http://schemas.microsoft.com/office/drawing/2014/main" id="{9BF52338-6A37-00A9-6476-5B60C8311B16}"/>
                  </a:ext>
                </a:extLst>
              </p:cNvPr>
              <p:cNvCxnSpPr>
                <a:cxnSpLocks/>
                <a:stCxn id="1174" idx="6"/>
                <a:endCxn id="1168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74" name="Google Shape;188;p1">
                <a:extLst>
                  <a:ext uri="{FF2B5EF4-FFF2-40B4-BE49-F238E27FC236}">
                    <a16:creationId xmlns:a16="http://schemas.microsoft.com/office/drawing/2014/main" id="{1759FB3B-0804-8919-6594-F0ED36B65CF8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5" name="Google Shape;196;p1">
                <a:extLst>
                  <a:ext uri="{FF2B5EF4-FFF2-40B4-BE49-F238E27FC236}">
                    <a16:creationId xmlns:a16="http://schemas.microsoft.com/office/drawing/2014/main" id="{03D9BE1C-D631-E642-D2D9-2FAC86F724CF}"/>
                  </a:ext>
                </a:extLst>
              </p:cNvPr>
              <p:cNvCxnSpPr>
                <a:cxnSpLocks/>
                <a:stCxn id="1174" idx="5"/>
                <a:endCxn id="1170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6" name="Google Shape;198;p1">
                <a:extLst>
                  <a:ext uri="{FF2B5EF4-FFF2-40B4-BE49-F238E27FC236}">
                    <a16:creationId xmlns:a16="http://schemas.microsoft.com/office/drawing/2014/main" id="{C3AAB252-5B9F-2C93-F993-EBC60E10590B}"/>
                  </a:ext>
                </a:extLst>
              </p:cNvPr>
              <p:cNvCxnSpPr>
                <a:cxnSpLocks/>
                <a:stCxn id="1174" idx="6"/>
                <a:endCxn id="1171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7" name="Google Shape;199;p1">
                <a:extLst>
                  <a:ext uri="{FF2B5EF4-FFF2-40B4-BE49-F238E27FC236}">
                    <a16:creationId xmlns:a16="http://schemas.microsoft.com/office/drawing/2014/main" id="{138541CD-2D64-B95A-EFB8-4E3281E387AE}"/>
                  </a:ext>
                </a:extLst>
              </p:cNvPr>
              <p:cNvCxnSpPr>
                <a:cxnSpLocks/>
                <a:stCxn id="1174" idx="3"/>
                <a:endCxn id="1172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8" name="Google Shape;200;p1">
                <a:extLst>
                  <a:ext uri="{FF2B5EF4-FFF2-40B4-BE49-F238E27FC236}">
                    <a16:creationId xmlns:a16="http://schemas.microsoft.com/office/drawing/2014/main" id="{7F04A9E1-E6E8-E76B-784E-78EF8B2A7F64}"/>
                  </a:ext>
                </a:extLst>
              </p:cNvPr>
              <p:cNvCxnSpPr>
                <a:cxnSpLocks/>
                <a:stCxn id="1174" idx="6"/>
                <a:endCxn id="1169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79" name="TextBox 1178">
              <a:extLst>
                <a:ext uri="{FF2B5EF4-FFF2-40B4-BE49-F238E27FC236}">
                  <a16:creationId xmlns:a16="http://schemas.microsoft.com/office/drawing/2014/main" id="{12486B4F-5B25-85EA-A6F8-B58A6B668D71}"/>
                </a:ext>
              </a:extLst>
            </p:cNvPr>
            <p:cNvSpPr txBox="1"/>
            <p:nvPr/>
          </p:nvSpPr>
          <p:spPr>
            <a:xfrm>
              <a:off x="4898186" y="9385556"/>
              <a:ext cx="1831780" cy="6556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000" dirty="0"/>
                <a:t>.</a:t>
              </a:r>
              <a:r>
                <a:rPr lang="en-US" sz="700" dirty="0" err="1"/>
                <a:t>json</a:t>
              </a:r>
              <a:endParaRPr lang="en-US" sz="1000" dirty="0"/>
            </a:p>
          </p:txBody>
        </p:sp>
        <p:sp>
          <p:nvSpPr>
            <p:cNvPr id="1181" name="Flowchart: Internal Storage 1180">
              <a:extLst>
                <a:ext uri="{FF2B5EF4-FFF2-40B4-BE49-F238E27FC236}">
                  <a16:creationId xmlns:a16="http://schemas.microsoft.com/office/drawing/2014/main" id="{9330B5D1-D246-D7F2-6398-D1636EE013E5}"/>
                </a:ext>
              </a:extLst>
            </p:cNvPr>
            <p:cNvSpPr/>
            <p:nvPr/>
          </p:nvSpPr>
          <p:spPr>
            <a:xfrm>
              <a:off x="7222739" y="8463563"/>
              <a:ext cx="1472339" cy="1138122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>
              <a:outerShdw blurRad="38100" dist="25400" dir="5400000" rotWithShape="0">
                <a:schemeClr val="bg1">
                  <a:alpha val="50000"/>
                </a:scheme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82" name="Group 1181">
              <a:extLst>
                <a:ext uri="{FF2B5EF4-FFF2-40B4-BE49-F238E27FC236}">
                  <a16:creationId xmlns:a16="http://schemas.microsoft.com/office/drawing/2014/main" id="{3CF06976-22BC-08C7-7EC3-658EE12F4AA9}"/>
                </a:ext>
              </a:extLst>
            </p:cNvPr>
            <p:cNvGrpSpPr/>
            <p:nvPr/>
          </p:nvGrpSpPr>
          <p:grpSpPr>
            <a:xfrm>
              <a:off x="7625600" y="8753781"/>
              <a:ext cx="818142" cy="583040"/>
              <a:chOff x="3300333" y="6875181"/>
              <a:chExt cx="2140200" cy="1512332"/>
            </a:xfrm>
          </p:grpSpPr>
          <p:sp>
            <p:nvSpPr>
              <p:cNvPr id="1183" name="TextBox 1182">
                <a:extLst>
                  <a:ext uri="{FF2B5EF4-FFF2-40B4-BE49-F238E27FC236}">
                    <a16:creationId xmlns:a16="http://schemas.microsoft.com/office/drawing/2014/main" id="{7D572864-8292-8D25-F24C-DDA8306444BF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84" name="Google Shape;162;p1">
                <a:extLst>
                  <a:ext uri="{FF2B5EF4-FFF2-40B4-BE49-F238E27FC236}">
                    <a16:creationId xmlns:a16="http://schemas.microsoft.com/office/drawing/2014/main" id="{1D6B5E84-8DBD-E881-D46A-DA28123CA20C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5" name="Google Shape;163;p1">
                <a:extLst>
                  <a:ext uri="{FF2B5EF4-FFF2-40B4-BE49-F238E27FC236}">
                    <a16:creationId xmlns:a16="http://schemas.microsoft.com/office/drawing/2014/main" id="{306B99B1-F1C8-CF0E-42D1-60806FF3D5D1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6" name="Google Shape;164;p1">
                <a:extLst>
                  <a:ext uri="{FF2B5EF4-FFF2-40B4-BE49-F238E27FC236}">
                    <a16:creationId xmlns:a16="http://schemas.microsoft.com/office/drawing/2014/main" id="{5C4B6A8C-FFB9-18F9-52A5-D5AF4192F9EB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7" name="Google Shape;165;p1">
                <a:extLst>
                  <a:ext uri="{FF2B5EF4-FFF2-40B4-BE49-F238E27FC236}">
                    <a16:creationId xmlns:a16="http://schemas.microsoft.com/office/drawing/2014/main" id="{C02FCC94-CF23-68CF-7265-57AFD78AD135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8" name="Google Shape;171;p1">
                <a:extLst>
                  <a:ext uri="{FF2B5EF4-FFF2-40B4-BE49-F238E27FC236}">
                    <a16:creationId xmlns:a16="http://schemas.microsoft.com/office/drawing/2014/main" id="{C330AA4B-C6E6-7B9B-D678-3AC3DC741B7C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89" name="Google Shape;187;p1">
                <a:extLst>
                  <a:ext uri="{FF2B5EF4-FFF2-40B4-BE49-F238E27FC236}">
                    <a16:creationId xmlns:a16="http://schemas.microsoft.com/office/drawing/2014/main" id="{2261BF39-12CA-6EA6-1D44-1F97F2910DDF}"/>
                  </a:ext>
                </a:extLst>
              </p:cNvPr>
              <p:cNvCxnSpPr>
                <a:cxnSpLocks/>
                <a:stCxn id="1190" idx="6"/>
                <a:endCxn id="1184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90" name="Google Shape;188;p1">
                <a:extLst>
                  <a:ext uri="{FF2B5EF4-FFF2-40B4-BE49-F238E27FC236}">
                    <a16:creationId xmlns:a16="http://schemas.microsoft.com/office/drawing/2014/main" id="{73BE20F7-1D53-3458-931F-A75A14341980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91" name="Google Shape;196;p1">
                <a:extLst>
                  <a:ext uri="{FF2B5EF4-FFF2-40B4-BE49-F238E27FC236}">
                    <a16:creationId xmlns:a16="http://schemas.microsoft.com/office/drawing/2014/main" id="{4659B756-AD6B-E565-10F6-37CD2CDEC942}"/>
                  </a:ext>
                </a:extLst>
              </p:cNvPr>
              <p:cNvCxnSpPr>
                <a:cxnSpLocks/>
                <a:stCxn id="1190" idx="5"/>
                <a:endCxn id="1186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2" name="Google Shape;198;p1">
                <a:extLst>
                  <a:ext uri="{FF2B5EF4-FFF2-40B4-BE49-F238E27FC236}">
                    <a16:creationId xmlns:a16="http://schemas.microsoft.com/office/drawing/2014/main" id="{45EDEEFD-B6FD-3000-C63C-083F48C7E973}"/>
                  </a:ext>
                </a:extLst>
              </p:cNvPr>
              <p:cNvCxnSpPr>
                <a:cxnSpLocks/>
                <a:stCxn id="1190" idx="6"/>
                <a:endCxn id="1187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3" name="Google Shape;199;p1">
                <a:extLst>
                  <a:ext uri="{FF2B5EF4-FFF2-40B4-BE49-F238E27FC236}">
                    <a16:creationId xmlns:a16="http://schemas.microsoft.com/office/drawing/2014/main" id="{B6F84796-93DF-2DDE-BA04-6ADA27959ADE}"/>
                  </a:ext>
                </a:extLst>
              </p:cNvPr>
              <p:cNvCxnSpPr>
                <a:cxnSpLocks/>
                <a:stCxn id="1190" idx="3"/>
                <a:endCxn id="1188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4" name="Google Shape;200;p1">
                <a:extLst>
                  <a:ext uri="{FF2B5EF4-FFF2-40B4-BE49-F238E27FC236}">
                    <a16:creationId xmlns:a16="http://schemas.microsoft.com/office/drawing/2014/main" id="{8E653591-8392-5065-AF0A-A885FB3720C2}"/>
                  </a:ext>
                </a:extLst>
              </p:cNvPr>
              <p:cNvCxnSpPr>
                <a:cxnSpLocks/>
                <a:stCxn id="1190" idx="6"/>
                <a:endCxn id="1185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95" name="TextBox 1194">
              <a:extLst>
                <a:ext uri="{FF2B5EF4-FFF2-40B4-BE49-F238E27FC236}">
                  <a16:creationId xmlns:a16="http://schemas.microsoft.com/office/drawing/2014/main" id="{4787132D-74E8-4999-F8D1-82938F73CC82}"/>
                </a:ext>
              </a:extLst>
            </p:cNvPr>
            <p:cNvSpPr txBox="1"/>
            <p:nvPr/>
          </p:nvSpPr>
          <p:spPr>
            <a:xfrm>
              <a:off x="7045323" y="9500399"/>
              <a:ext cx="1831781" cy="551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700" dirty="0"/>
                <a:t>Tetrad GUI</a:t>
              </a:r>
            </a:p>
          </p:txBody>
        </p:sp>
      </p:grpSp>
      <p:cxnSp>
        <p:nvCxnSpPr>
          <p:cNvPr id="1220" name="Straight Arrow Connector 1219">
            <a:extLst>
              <a:ext uri="{FF2B5EF4-FFF2-40B4-BE49-F238E27FC236}">
                <a16:creationId xmlns:a16="http://schemas.microsoft.com/office/drawing/2014/main" id="{EBDD9966-60E4-310F-A339-B7B23BE7265B}"/>
              </a:ext>
            </a:extLst>
          </p:cNvPr>
          <p:cNvCxnSpPr>
            <a:cxnSpLocks/>
          </p:cNvCxnSpPr>
          <p:nvPr/>
        </p:nvCxnSpPr>
        <p:spPr>
          <a:xfrm flipV="1">
            <a:off x="540609" y="7400770"/>
            <a:ext cx="542836" cy="383885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1" name="Straight Arrow Connector 1220">
            <a:extLst>
              <a:ext uri="{FF2B5EF4-FFF2-40B4-BE49-F238E27FC236}">
                <a16:creationId xmlns:a16="http://schemas.microsoft.com/office/drawing/2014/main" id="{B635F34B-8650-D447-A70B-1C7F71D61EA6}"/>
              </a:ext>
            </a:extLst>
          </p:cNvPr>
          <p:cNvCxnSpPr>
            <a:cxnSpLocks/>
          </p:cNvCxnSpPr>
          <p:nvPr/>
        </p:nvCxnSpPr>
        <p:spPr>
          <a:xfrm>
            <a:off x="1686611" y="7382435"/>
            <a:ext cx="371548" cy="283991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4" name="Straight Arrow Connector 1223">
            <a:extLst>
              <a:ext uri="{FF2B5EF4-FFF2-40B4-BE49-F238E27FC236}">
                <a16:creationId xmlns:a16="http://schemas.microsoft.com/office/drawing/2014/main" id="{C808F155-5D8A-AB92-2DFC-FE82B6DA7D54}"/>
              </a:ext>
            </a:extLst>
          </p:cNvPr>
          <p:cNvCxnSpPr>
            <a:cxnSpLocks/>
          </p:cNvCxnSpPr>
          <p:nvPr/>
        </p:nvCxnSpPr>
        <p:spPr>
          <a:xfrm flipV="1">
            <a:off x="1950245" y="8298297"/>
            <a:ext cx="178758" cy="30308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6" name="Straight Arrow Connector 1225">
            <a:extLst>
              <a:ext uri="{FF2B5EF4-FFF2-40B4-BE49-F238E27FC236}">
                <a16:creationId xmlns:a16="http://schemas.microsoft.com/office/drawing/2014/main" id="{C44073BF-2B02-E416-32F3-E3E3722176DD}"/>
              </a:ext>
            </a:extLst>
          </p:cNvPr>
          <p:cNvCxnSpPr>
            <a:cxnSpLocks/>
          </p:cNvCxnSpPr>
          <p:nvPr/>
        </p:nvCxnSpPr>
        <p:spPr>
          <a:xfrm>
            <a:off x="2446049" y="8029635"/>
            <a:ext cx="321536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9" name="Straight Arrow Connector 1228">
            <a:extLst>
              <a:ext uri="{FF2B5EF4-FFF2-40B4-BE49-F238E27FC236}">
                <a16:creationId xmlns:a16="http://schemas.microsoft.com/office/drawing/2014/main" id="{357A8F5C-9DD2-810E-5365-554CC0DA66FB}"/>
              </a:ext>
            </a:extLst>
          </p:cNvPr>
          <p:cNvCxnSpPr>
            <a:cxnSpLocks/>
          </p:cNvCxnSpPr>
          <p:nvPr/>
        </p:nvCxnSpPr>
        <p:spPr>
          <a:xfrm>
            <a:off x="3325817" y="8048125"/>
            <a:ext cx="2118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33" name="TextBox 1232">
            <a:extLst>
              <a:ext uri="{FF2B5EF4-FFF2-40B4-BE49-F238E27FC236}">
                <a16:creationId xmlns:a16="http://schemas.microsoft.com/office/drawing/2014/main" id="{A7BB3938-2370-4F4F-BA0F-4895B2C472F7}"/>
              </a:ext>
            </a:extLst>
          </p:cNvPr>
          <p:cNvSpPr txBox="1"/>
          <p:nvPr/>
        </p:nvSpPr>
        <p:spPr>
          <a:xfrm>
            <a:off x="1137303" y="7536186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notebook/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FFC6C2-EBDA-FC17-D2DB-7DBCE3E283F7}"/>
              </a:ext>
            </a:extLst>
          </p:cNvPr>
          <p:cNvSpPr txBox="1"/>
          <p:nvPr/>
        </p:nvSpPr>
        <p:spPr>
          <a:xfrm>
            <a:off x="872730" y="8832718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CLI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29092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3A3A8-1B5B-BDBC-F2C9-D8CEC6857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C48A894C-5BF0-665A-6D33-23703C077FBB}"/>
              </a:ext>
            </a:extLst>
          </p:cNvPr>
          <p:cNvSpPr txBox="1"/>
          <p:nvPr/>
        </p:nvSpPr>
        <p:spPr>
          <a:xfrm>
            <a:off x="182880" y="5120640"/>
            <a:ext cx="4001355" cy="14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wraps the Tetrad Java API through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, exposing individual modules in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api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(data, score, algorithm, graph, knowledge, bootstrapping) that provide direct function level control over each step of the causal search pipeline. Pykumu uses an R Package architecture, like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Kaiaulu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, with API, Notebooks, and Scripts. Its scripts and Notebooks also support interfaces to other tools in the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Sailuh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tools ecosystem. 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924" name="Folded Corner 5">
            <a:extLst>
              <a:ext uri="{FF2B5EF4-FFF2-40B4-BE49-F238E27FC236}">
                <a16:creationId xmlns:a16="http://schemas.microsoft.com/office/drawing/2014/main" id="{374513DD-C582-3DEE-75C7-B267166F834E}"/>
              </a:ext>
            </a:extLst>
          </p:cNvPr>
          <p:cNvSpPr/>
          <p:nvPr/>
        </p:nvSpPr>
        <p:spPr>
          <a:xfrm rot="10800000" flipH="1">
            <a:off x="5199804" y="8322461"/>
            <a:ext cx="944261" cy="1140881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FF66C3C5-2B6C-3791-8927-90211404F31F}"/>
              </a:ext>
            </a:extLst>
          </p:cNvPr>
          <p:cNvSpPr/>
          <p:nvPr/>
        </p:nvSpPr>
        <p:spPr>
          <a:xfrm>
            <a:off x="7718005" y="6528063"/>
            <a:ext cx="416903" cy="565648"/>
          </a:xfrm>
          <a:prstGeom prst="rect">
            <a:avLst/>
          </a:prstGeom>
          <a:solidFill>
            <a:srgbClr val="FFFFFF"/>
          </a:solidFill>
          <a:ln w="254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36" name="Image" descr="Image">
            <a:extLst>
              <a:ext uri="{FF2B5EF4-FFF2-40B4-BE49-F238E27FC236}">
                <a16:creationId xmlns:a16="http://schemas.microsoft.com/office/drawing/2014/main" id="{57799FA9-1566-E93E-FE7F-2381683FD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68" y="-661924"/>
            <a:ext cx="5598432" cy="2990088"/>
          </a:xfrm>
          <a:prstGeom prst="rect">
            <a:avLst/>
          </a:prstGeom>
          <a:ln w="12700">
            <a:miter lim="400000"/>
          </a:ln>
        </p:spPr>
      </p:pic>
      <p:sp>
        <p:nvSpPr>
          <p:cNvPr id="937" name="Line">
            <a:extLst>
              <a:ext uri="{FF2B5EF4-FFF2-40B4-BE49-F238E27FC236}">
                <a16:creationId xmlns:a16="http://schemas.microsoft.com/office/drawing/2014/main" id="{82A20600-0A0E-212E-2958-79DA649B4A32}"/>
              </a:ext>
            </a:extLst>
          </p:cNvPr>
          <p:cNvSpPr/>
          <p:nvPr/>
        </p:nvSpPr>
        <p:spPr>
          <a:xfrm flipV="1">
            <a:off x="213255" y="10296246"/>
            <a:ext cx="13462982" cy="39499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38" name="YOUR LOGO…">
            <a:extLst>
              <a:ext uri="{FF2B5EF4-FFF2-40B4-BE49-F238E27FC236}">
                <a16:creationId xmlns:a16="http://schemas.microsoft.com/office/drawing/2014/main" id="{BC34912D-61A2-C951-98DE-CCF456104303}"/>
              </a:ext>
            </a:extLst>
          </p:cNvPr>
          <p:cNvSpPr/>
          <p:nvPr/>
        </p:nvSpPr>
        <p:spPr>
          <a:xfrm>
            <a:off x="170343" y="10207710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sz="2400" dirty="0"/>
              <a:t>Kumu</a:t>
            </a:r>
            <a:endParaRPr sz="2400" dirty="0"/>
          </a:p>
        </p:txBody>
      </p:sp>
      <p:sp>
        <p:nvSpPr>
          <p:cNvPr id="939" name="Three Column Layout: : CHEAT SHEET">
            <a:extLst>
              <a:ext uri="{FF2B5EF4-FFF2-40B4-BE49-F238E27FC236}">
                <a16:creationId xmlns:a16="http://schemas.microsoft.com/office/drawing/2014/main" id="{57A0D719-3CC9-BAA6-A677-56B12ACEABA1}"/>
              </a:ext>
            </a:extLst>
          </p:cNvPr>
          <p:cNvSpPr txBox="1">
            <a:spLocks/>
          </p:cNvSpPr>
          <p:nvPr/>
        </p:nvSpPr>
        <p:spPr>
          <a:xfrm>
            <a:off x="275721" y="361177"/>
            <a:ext cx="10898129" cy="803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1pPr>
            <a:lvl2pPr marL="0" marR="0" indent="228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2pPr>
            <a:lvl3pPr marL="0" marR="0" indent="457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3pPr>
            <a:lvl4pPr marL="0" marR="0" indent="685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4pPr>
            <a:lvl5pPr marL="0" marR="0" indent="9144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5pPr>
            <a:lvl6pPr marL="0" marR="0" indent="11430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6pPr>
            <a:lvl7pPr marL="0" marR="0" indent="1371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7pPr>
            <a:lvl8pPr marL="0" marR="0" indent="1600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8pPr>
            <a:lvl9pPr marL="0" marR="0" indent="1828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9pPr>
          </a:lstStyle>
          <a:p>
            <a:pPr hangingPunct="1"/>
            <a:r>
              <a:rPr lang="en-US"/>
              <a:t>Pykumu : : </a:t>
            </a:r>
            <a:r>
              <a:rPr lang="en-US"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941" name="Layout Suggestions">
            <a:extLst>
              <a:ext uri="{FF2B5EF4-FFF2-40B4-BE49-F238E27FC236}">
                <a16:creationId xmlns:a16="http://schemas.microsoft.com/office/drawing/2014/main" id="{17F24AB8-EAB3-0590-A89E-D4DB92464BED}"/>
              </a:ext>
            </a:extLst>
          </p:cNvPr>
          <p:cNvSpPr txBox="1"/>
          <p:nvPr/>
        </p:nvSpPr>
        <p:spPr>
          <a:xfrm>
            <a:off x="182880" y="1463040"/>
            <a:ext cx="262128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About</a:t>
            </a:r>
            <a:endParaRPr dirty="0"/>
          </a:p>
        </p:txBody>
      </p:sp>
      <p:sp>
        <p:nvSpPr>
          <p:cNvPr id="943" name="TextBox 942">
            <a:extLst>
              <a:ext uri="{FF2B5EF4-FFF2-40B4-BE49-F238E27FC236}">
                <a16:creationId xmlns:a16="http://schemas.microsoft.com/office/drawing/2014/main" id="{1DB8C108-D6DB-8F8A-D5D7-B4EE5F2F24E4}"/>
              </a:ext>
            </a:extLst>
          </p:cNvPr>
          <p:cNvSpPr txBox="1"/>
          <p:nvPr/>
        </p:nvSpPr>
        <p:spPr>
          <a:xfrm>
            <a:off x="6080760" y="10327008"/>
            <a:ext cx="7747698" cy="500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1000" b="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1000" b="0" dirty="0">
                <a:solidFill>
                  <a:schemeClr val="tx1"/>
                </a:solidFill>
              </a:rPr>
              <a:t> Phuong Pham,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Carlos Paradis</a:t>
            </a:r>
            <a:r>
              <a:rPr lang="en-US" sz="1000" b="0" dirty="0">
                <a:solidFill>
                  <a:schemeClr val="tx1"/>
                </a:solidFill>
              </a:rPr>
              <a:t>, Adam Graham, Jared Seto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• Kai</a:t>
            </a:r>
            <a:r>
              <a:rPr kumimoji="0" lang="haw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ā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ulu package version 0.0.0.9700 (in development) •  Updated: 2026-04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4" name="Logistics">
            <a:extLst>
              <a:ext uri="{FF2B5EF4-FFF2-40B4-BE49-F238E27FC236}">
                <a16:creationId xmlns:a16="http://schemas.microsoft.com/office/drawing/2014/main" id="{66A9476C-600A-62AC-CA31-2493E533B8DF}"/>
              </a:ext>
            </a:extLst>
          </p:cNvPr>
          <p:cNvSpPr txBox="1"/>
          <p:nvPr/>
        </p:nvSpPr>
        <p:spPr>
          <a:xfrm>
            <a:off x="9601200" y="146304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API</a:t>
            </a:r>
          </a:p>
        </p:txBody>
      </p:sp>
      <p:sp>
        <p:nvSpPr>
          <p:cNvPr id="945" name="Logistics">
            <a:extLst>
              <a:ext uri="{FF2B5EF4-FFF2-40B4-BE49-F238E27FC236}">
                <a16:creationId xmlns:a16="http://schemas.microsoft.com/office/drawing/2014/main" id="{E70230DC-5B7B-18D4-7459-8F20D44EDF32}"/>
              </a:ext>
            </a:extLst>
          </p:cNvPr>
          <p:cNvSpPr txBox="1"/>
          <p:nvPr/>
        </p:nvSpPr>
        <p:spPr>
          <a:xfrm>
            <a:off x="182880" y="6675120"/>
            <a:ext cx="332142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Command Line Interface</a:t>
            </a:r>
          </a:p>
        </p:txBody>
      </p:sp>
      <p:sp>
        <p:nvSpPr>
          <p:cNvPr id="947" name="Basics">
            <a:extLst>
              <a:ext uri="{FF2B5EF4-FFF2-40B4-BE49-F238E27FC236}">
                <a16:creationId xmlns:a16="http://schemas.microsoft.com/office/drawing/2014/main" id="{CED504F2-8BA9-A3EE-C8B7-4BA15E69D0FE}"/>
              </a:ext>
            </a:extLst>
          </p:cNvPr>
          <p:cNvSpPr txBox="1"/>
          <p:nvPr/>
        </p:nvSpPr>
        <p:spPr>
          <a:xfrm>
            <a:off x="182880" y="2834640"/>
            <a:ext cx="16991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lc="http://schemas.openxmlformats.org/drawingml/2006/lockedCanvas" val="1"/>
            </a:ext>
          </a:extLst>
        </p:spPr>
        <p:txBody>
          <a:bodyPr wrap="none" lIns="12700" tIns="12700" rIns="12700" bIns="127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 err="1"/>
              <a:t>Pykumu</a:t>
            </a:r>
            <a:r>
              <a:rPr lang="en-US" dirty="0"/>
              <a:t> API </a:t>
            </a:r>
            <a:endParaRPr dirty="0"/>
          </a:p>
        </p:txBody>
      </p:sp>
      <p:sp>
        <p:nvSpPr>
          <p:cNvPr id="948" name="Manipulate Variables">
            <a:extLst>
              <a:ext uri="{FF2B5EF4-FFF2-40B4-BE49-F238E27FC236}">
                <a16:creationId xmlns:a16="http://schemas.microsoft.com/office/drawing/2014/main" id="{C07EC5AD-7B1E-0D66-6541-419BF25B18BF}"/>
              </a:ext>
            </a:extLst>
          </p:cNvPr>
          <p:cNvSpPr txBox="1"/>
          <p:nvPr/>
        </p:nvSpPr>
        <p:spPr>
          <a:xfrm>
            <a:off x="4754880" y="1463040"/>
            <a:ext cx="3414396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Analysis Workflow</a:t>
            </a:r>
          </a:p>
        </p:txBody>
      </p:sp>
      <p:graphicFrame>
        <p:nvGraphicFramePr>
          <p:cNvPr id="952" name="Table">
            <a:extLst>
              <a:ext uri="{FF2B5EF4-FFF2-40B4-BE49-F238E27FC236}">
                <a16:creationId xmlns:a16="http://schemas.microsoft.com/office/drawing/2014/main" id="{4D78DA5C-582E-7D52-F571-DA325D4545C7}"/>
              </a:ext>
            </a:extLst>
          </p:cNvPr>
          <p:cNvGraphicFramePr/>
          <p:nvPr/>
        </p:nvGraphicFramePr>
        <p:xfrm>
          <a:off x="7572970" y="1860776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3" name="Table">
            <a:extLst>
              <a:ext uri="{FF2B5EF4-FFF2-40B4-BE49-F238E27FC236}">
                <a16:creationId xmlns:a16="http://schemas.microsoft.com/office/drawing/2014/main" id="{333C648E-F6A9-2DCF-6B24-BB8B50049DAB}"/>
              </a:ext>
            </a:extLst>
          </p:cNvPr>
          <p:cNvGraphicFramePr/>
          <p:nvPr/>
        </p:nvGraphicFramePr>
        <p:xfrm>
          <a:off x="8061338" y="3158012"/>
          <a:ext cx="646626" cy="63799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07771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2262694748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819122332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296678260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322319369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17903980"/>
                    </a:ext>
                  </a:extLst>
                </a:gridCol>
              </a:tblGrid>
              <a:tr h="127598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4" name="Table">
            <a:extLst>
              <a:ext uri="{FF2B5EF4-FFF2-40B4-BE49-F238E27FC236}">
                <a16:creationId xmlns:a16="http://schemas.microsoft.com/office/drawing/2014/main" id="{53185CE3-6C31-B109-B191-9E1960EDB652}"/>
              </a:ext>
            </a:extLst>
          </p:cNvPr>
          <p:cNvGraphicFramePr/>
          <p:nvPr/>
        </p:nvGraphicFramePr>
        <p:xfrm>
          <a:off x="57722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5" name="Table">
            <a:extLst>
              <a:ext uri="{FF2B5EF4-FFF2-40B4-BE49-F238E27FC236}">
                <a16:creationId xmlns:a16="http://schemas.microsoft.com/office/drawing/2014/main" id="{C0D241F0-815F-3E83-C3AB-83034A50A75E}"/>
              </a:ext>
            </a:extLst>
          </p:cNvPr>
          <p:cNvGraphicFramePr/>
          <p:nvPr/>
        </p:nvGraphicFramePr>
        <p:xfrm>
          <a:off x="7118882" y="3162435"/>
          <a:ext cx="627864" cy="6400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933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102988"/>
                  </a:ext>
                </a:extLst>
              </a:tr>
            </a:tbl>
          </a:graphicData>
        </a:graphic>
      </p:graphicFrame>
      <p:graphicFrame>
        <p:nvGraphicFramePr>
          <p:cNvPr id="956" name="Table">
            <a:extLst>
              <a:ext uri="{FF2B5EF4-FFF2-40B4-BE49-F238E27FC236}">
                <a16:creationId xmlns:a16="http://schemas.microsoft.com/office/drawing/2014/main" id="{52C55AE1-ADAD-C64E-1530-357950D3A259}"/>
              </a:ext>
            </a:extLst>
          </p:cNvPr>
          <p:cNvGraphicFramePr/>
          <p:nvPr/>
        </p:nvGraphicFramePr>
        <p:xfrm>
          <a:off x="5348324" y="3098401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7" name="Plus Sign 956">
            <a:extLst>
              <a:ext uri="{FF2B5EF4-FFF2-40B4-BE49-F238E27FC236}">
                <a16:creationId xmlns:a16="http://schemas.microsoft.com/office/drawing/2014/main" id="{75868D0E-DE35-DECB-61DC-3CB30C4F5284}"/>
              </a:ext>
            </a:extLst>
          </p:cNvPr>
          <p:cNvSpPr/>
          <p:nvPr/>
        </p:nvSpPr>
        <p:spPr>
          <a:xfrm>
            <a:off x="5608866" y="3336992"/>
            <a:ext cx="118473" cy="124938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8" name="Plus Sign 957">
            <a:extLst>
              <a:ext uri="{FF2B5EF4-FFF2-40B4-BE49-F238E27FC236}">
                <a16:creationId xmlns:a16="http://schemas.microsoft.com/office/drawing/2014/main" id="{D5175BB9-95F4-06A5-B8E0-DBCFBF6877D9}"/>
              </a:ext>
            </a:extLst>
          </p:cNvPr>
          <p:cNvSpPr/>
          <p:nvPr/>
        </p:nvSpPr>
        <p:spPr>
          <a:xfrm>
            <a:off x="7845219" y="3413769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9" name="Left Brace 958">
            <a:extLst>
              <a:ext uri="{FF2B5EF4-FFF2-40B4-BE49-F238E27FC236}">
                <a16:creationId xmlns:a16="http://schemas.microsoft.com/office/drawing/2014/main" id="{AEF0BB0A-2AF8-DBC2-7382-B7FED2CC4E73}"/>
              </a:ext>
            </a:extLst>
          </p:cNvPr>
          <p:cNvSpPr/>
          <p:nvPr/>
        </p:nvSpPr>
        <p:spPr>
          <a:xfrm>
            <a:off x="7013808" y="3168613"/>
            <a:ext cx="45719" cy="623765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0" name="TextBox 959">
            <a:extLst>
              <a:ext uri="{FF2B5EF4-FFF2-40B4-BE49-F238E27FC236}">
                <a16:creationId xmlns:a16="http://schemas.microsoft.com/office/drawing/2014/main" id="{60E3DEFD-80F4-D894-26BD-7BCA655843EA}"/>
              </a:ext>
            </a:extLst>
          </p:cNvPr>
          <p:cNvSpPr txBox="1"/>
          <p:nvPr/>
        </p:nvSpPr>
        <p:spPr>
          <a:xfrm>
            <a:off x="6843820" y="3302155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1" name="Left Brace 960">
            <a:extLst>
              <a:ext uri="{FF2B5EF4-FFF2-40B4-BE49-F238E27FC236}">
                <a16:creationId xmlns:a16="http://schemas.microsoft.com/office/drawing/2014/main" id="{D0C0F125-1D30-14C1-C013-B4104AD4570B}"/>
              </a:ext>
            </a:extLst>
          </p:cNvPr>
          <p:cNvSpPr/>
          <p:nvPr/>
        </p:nvSpPr>
        <p:spPr>
          <a:xfrm rot="5400000">
            <a:off x="8355720" y="2751534"/>
            <a:ext cx="51104" cy="639868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81F59EBC-6A13-DEAA-BD9D-FFB61A4CD7F3}"/>
              </a:ext>
            </a:extLst>
          </p:cNvPr>
          <p:cNvSpPr txBox="1"/>
          <p:nvPr/>
        </p:nvSpPr>
        <p:spPr>
          <a:xfrm>
            <a:off x="8298111" y="2791232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3" name="TextBox 962">
            <a:extLst>
              <a:ext uri="{FF2B5EF4-FFF2-40B4-BE49-F238E27FC236}">
                <a16:creationId xmlns:a16="http://schemas.microsoft.com/office/drawing/2014/main" id="{C91392C3-A1CC-1F82-F652-5CC48E417A91}"/>
              </a:ext>
            </a:extLst>
          </p:cNvPr>
          <p:cNvSpPr txBox="1"/>
          <p:nvPr/>
        </p:nvSpPr>
        <p:spPr>
          <a:xfrm>
            <a:off x="7059527" y="2904070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CVE_ID</a:t>
            </a:r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7D9A0133-CC00-E4B7-8E29-26432AB777C4}"/>
              </a:ext>
            </a:extLst>
          </p:cNvPr>
          <p:cNvSpPr txBox="1"/>
          <p:nvPr/>
        </p:nvSpPr>
        <p:spPr>
          <a:xfrm>
            <a:off x="5375035" y="3638435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5" name="TextBox 964">
            <a:extLst>
              <a:ext uri="{FF2B5EF4-FFF2-40B4-BE49-F238E27FC236}">
                <a16:creationId xmlns:a16="http://schemas.microsoft.com/office/drawing/2014/main" id="{9B9B4ADD-4C5F-F48A-2EA1-69C8A8F09367}"/>
              </a:ext>
            </a:extLst>
          </p:cNvPr>
          <p:cNvSpPr txBox="1"/>
          <p:nvPr/>
        </p:nvSpPr>
        <p:spPr>
          <a:xfrm>
            <a:off x="8265907" y="4958917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DF33D979-C1EC-3DFB-994D-A164D1C5CBBC}"/>
              </a:ext>
            </a:extLst>
          </p:cNvPr>
          <p:cNvSpPr txBox="1"/>
          <p:nvPr/>
        </p:nvSpPr>
        <p:spPr>
          <a:xfrm>
            <a:off x="7061575" y="3769664"/>
            <a:ext cx="1841009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dirty="0"/>
              <a:t>4. Indicator Features (IF) 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7" name="TextBox 966">
            <a:extLst>
              <a:ext uri="{FF2B5EF4-FFF2-40B4-BE49-F238E27FC236}">
                <a16:creationId xmlns:a16="http://schemas.microsoft.com/office/drawing/2014/main" id="{268B4CD2-6DA6-4484-E971-BECA71CA209B}"/>
              </a:ext>
            </a:extLst>
          </p:cNvPr>
          <p:cNvSpPr txBox="1"/>
          <p:nvPr/>
        </p:nvSpPr>
        <p:spPr>
          <a:xfrm>
            <a:off x="5218291" y="3762554"/>
            <a:ext cx="872964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/>
              <a:t>3. Time Lag</a:t>
            </a:r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867D29BC-6AF5-00C6-1933-2D17EA7474EC}"/>
              </a:ext>
            </a:extLst>
          </p:cNvPr>
          <p:cNvSpPr txBox="1"/>
          <p:nvPr/>
        </p:nvSpPr>
        <p:spPr>
          <a:xfrm>
            <a:off x="7464986" y="2450238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2. Dataset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69" name="Connector: Elbow 968">
            <a:extLst>
              <a:ext uri="{FF2B5EF4-FFF2-40B4-BE49-F238E27FC236}">
                <a16:creationId xmlns:a16="http://schemas.microsoft.com/office/drawing/2014/main" id="{9B749F01-40A2-BFE9-61D4-656E34D0809C}"/>
              </a:ext>
            </a:extLst>
          </p:cNvPr>
          <p:cNvCxnSpPr>
            <a:cxnSpLocks/>
            <a:endCxn id="995" idx="1"/>
          </p:cNvCxnSpPr>
          <p:nvPr/>
        </p:nvCxnSpPr>
        <p:spPr>
          <a:xfrm flipH="1">
            <a:off x="5209590" y="2279027"/>
            <a:ext cx="3498712" cy="1167195"/>
          </a:xfrm>
          <a:prstGeom prst="bentConnector5">
            <a:avLst>
              <a:gd name="adj1" fmla="val -9550"/>
              <a:gd name="adj2" fmla="val 50000"/>
              <a:gd name="adj3" fmla="val 112547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70" name="Rectangle 969">
            <a:extLst>
              <a:ext uri="{FF2B5EF4-FFF2-40B4-BE49-F238E27FC236}">
                <a16:creationId xmlns:a16="http://schemas.microsoft.com/office/drawing/2014/main" id="{D66CECB1-3282-29DC-F324-B3699D011043}"/>
              </a:ext>
            </a:extLst>
          </p:cNvPr>
          <p:cNvSpPr/>
          <p:nvPr/>
        </p:nvSpPr>
        <p:spPr>
          <a:xfrm>
            <a:off x="7370620" y="1800587"/>
            <a:ext cx="1443262" cy="996921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971" name="Table">
            <a:extLst>
              <a:ext uri="{FF2B5EF4-FFF2-40B4-BE49-F238E27FC236}">
                <a16:creationId xmlns:a16="http://schemas.microsoft.com/office/drawing/2014/main" id="{934D86A8-D30D-3EDE-691A-40BD311CF1C8}"/>
              </a:ext>
            </a:extLst>
          </p:cNvPr>
          <p:cNvGraphicFramePr/>
          <p:nvPr/>
        </p:nvGraphicFramePr>
        <p:xfrm>
          <a:off x="5798497" y="4490104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72" name="Table">
            <a:extLst>
              <a:ext uri="{FF2B5EF4-FFF2-40B4-BE49-F238E27FC236}">
                <a16:creationId xmlns:a16="http://schemas.microsoft.com/office/drawing/2014/main" id="{CBD331F2-5C45-B595-4DEE-A4421298448A}"/>
              </a:ext>
            </a:extLst>
          </p:cNvPr>
          <p:cNvGraphicFramePr/>
          <p:nvPr/>
        </p:nvGraphicFramePr>
        <p:xfrm>
          <a:off x="5305505" y="4499036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3" name="Plus Sign 972">
            <a:extLst>
              <a:ext uri="{FF2B5EF4-FFF2-40B4-BE49-F238E27FC236}">
                <a16:creationId xmlns:a16="http://schemas.microsoft.com/office/drawing/2014/main" id="{8A2503E5-479D-53FA-2E11-DBFC8634A65C}"/>
              </a:ext>
            </a:extLst>
          </p:cNvPr>
          <p:cNvSpPr/>
          <p:nvPr/>
        </p:nvSpPr>
        <p:spPr>
          <a:xfrm>
            <a:off x="5599687" y="4490104"/>
            <a:ext cx="12099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74" name="TextBox 973">
            <a:extLst>
              <a:ext uri="{FF2B5EF4-FFF2-40B4-BE49-F238E27FC236}">
                <a16:creationId xmlns:a16="http://schemas.microsoft.com/office/drawing/2014/main" id="{B24AD182-60D5-8A01-812E-2C80D44E7FEA}"/>
              </a:ext>
            </a:extLst>
          </p:cNvPr>
          <p:cNvSpPr txBox="1"/>
          <p:nvPr/>
        </p:nvSpPr>
        <p:spPr>
          <a:xfrm>
            <a:off x="5103638" y="5067603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5. Null Features</a:t>
            </a:r>
          </a:p>
        </p:txBody>
      </p:sp>
      <p:cxnSp>
        <p:nvCxnSpPr>
          <p:cNvPr id="975" name="Straight Arrow Connector 974">
            <a:extLst>
              <a:ext uri="{FF2B5EF4-FFF2-40B4-BE49-F238E27FC236}">
                <a16:creationId xmlns:a16="http://schemas.microsoft.com/office/drawing/2014/main" id="{953A4096-B1A1-3DB0-4421-F9AB4D2CC5F8}"/>
              </a:ext>
            </a:extLst>
          </p:cNvPr>
          <p:cNvCxnSpPr>
            <a:cxnSpLocks/>
          </p:cNvCxnSpPr>
          <p:nvPr/>
        </p:nvCxnSpPr>
        <p:spPr>
          <a:xfrm>
            <a:off x="5512825" y="4664976"/>
            <a:ext cx="285672" cy="357737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6" name="Straight Arrow Connector 975">
            <a:extLst>
              <a:ext uri="{FF2B5EF4-FFF2-40B4-BE49-F238E27FC236}">
                <a16:creationId xmlns:a16="http://schemas.microsoft.com/office/drawing/2014/main" id="{3B634385-DD17-1F9E-1E93-0A5FC8A1BB30}"/>
              </a:ext>
            </a:extLst>
          </p:cNvPr>
          <p:cNvCxnSpPr>
            <a:cxnSpLocks/>
          </p:cNvCxnSpPr>
          <p:nvPr/>
        </p:nvCxnSpPr>
        <p:spPr>
          <a:xfrm>
            <a:off x="5512825" y="4798565"/>
            <a:ext cx="285672" cy="11364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7" name="Straight Arrow Connector 976">
            <a:extLst>
              <a:ext uri="{FF2B5EF4-FFF2-40B4-BE49-F238E27FC236}">
                <a16:creationId xmlns:a16="http://schemas.microsoft.com/office/drawing/2014/main" id="{F2E8EF5B-E10D-9DA9-DBA8-4AEB36E204F9}"/>
              </a:ext>
            </a:extLst>
          </p:cNvPr>
          <p:cNvCxnSpPr>
            <a:cxnSpLocks/>
            <a:endCxn id="971" idx="1"/>
          </p:cNvCxnSpPr>
          <p:nvPr/>
        </p:nvCxnSpPr>
        <p:spPr>
          <a:xfrm flipV="1">
            <a:off x="5506921" y="4786981"/>
            <a:ext cx="291576" cy="12208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8" name="Straight Arrow Connector 977">
            <a:extLst>
              <a:ext uri="{FF2B5EF4-FFF2-40B4-BE49-F238E27FC236}">
                <a16:creationId xmlns:a16="http://schemas.microsoft.com/office/drawing/2014/main" id="{A168A02D-C870-4209-46BE-87A031300D69}"/>
              </a:ext>
            </a:extLst>
          </p:cNvPr>
          <p:cNvCxnSpPr>
            <a:cxnSpLocks/>
          </p:cNvCxnSpPr>
          <p:nvPr/>
        </p:nvCxnSpPr>
        <p:spPr>
          <a:xfrm flipV="1">
            <a:off x="5509148" y="4664976"/>
            <a:ext cx="289349" cy="36609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9" name="Connector: Elbow 978">
            <a:extLst>
              <a:ext uri="{FF2B5EF4-FFF2-40B4-BE49-F238E27FC236}">
                <a16:creationId xmlns:a16="http://schemas.microsoft.com/office/drawing/2014/main" id="{F3A9D0D9-E418-EE0B-F8CA-58747191EC5D}"/>
              </a:ext>
            </a:extLst>
          </p:cNvPr>
          <p:cNvCxnSpPr>
            <a:cxnSpLocks/>
            <a:stCxn id="992" idx="3"/>
            <a:endCxn id="993" idx="1"/>
          </p:cNvCxnSpPr>
          <p:nvPr/>
        </p:nvCxnSpPr>
        <p:spPr>
          <a:xfrm flipH="1">
            <a:off x="5202130" y="3497252"/>
            <a:ext cx="3609346" cy="1247213"/>
          </a:xfrm>
          <a:prstGeom prst="bentConnector5">
            <a:avLst>
              <a:gd name="adj1" fmla="val -6334"/>
              <a:gd name="adj2" fmla="val 54130"/>
              <a:gd name="adj3" fmla="val 111841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0" name="TextBox 979">
            <a:extLst>
              <a:ext uri="{FF2B5EF4-FFF2-40B4-BE49-F238E27FC236}">
                <a16:creationId xmlns:a16="http://schemas.microsoft.com/office/drawing/2014/main" id="{D185D047-25CC-76D4-7B1A-4E8E1D39D48F}"/>
              </a:ext>
            </a:extLst>
          </p:cNvPr>
          <p:cNvSpPr txBox="1"/>
          <p:nvPr/>
        </p:nvSpPr>
        <p:spPr>
          <a:xfrm>
            <a:off x="5731442" y="4284432"/>
            <a:ext cx="807445" cy="2000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 err="1"/>
              <a:t>nv</a:t>
            </a:r>
            <a:r>
              <a:rPr lang="en-US" sz="700" dirty="0"/>
              <a:t>-*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81" name="Picture 980" descr="A picture containing text&#10;&#10;Description automatically generated">
            <a:extLst>
              <a:ext uri="{FF2B5EF4-FFF2-40B4-BE49-F238E27FC236}">
                <a16:creationId xmlns:a16="http://schemas.microsoft.com/office/drawing/2014/main" id="{843153D4-F46F-5C3D-F0EF-3F145B2692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501" y="1793256"/>
            <a:ext cx="575884" cy="668768"/>
          </a:xfrm>
          <a:prstGeom prst="rect">
            <a:avLst/>
          </a:prstGeom>
        </p:spPr>
      </p:pic>
      <p:sp>
        <p:nvSpPr>
          <p:cNvPr id="982" name="TextBox 981">
            <a:extLst>
              <a:ext uri="{FF2B5EF4-FFF2-40B4-BE49-F238E27FC236}">
                <a16:creationId xmlns:a16="http://schemas.microsoft.com/office/drawing/2014/main" id="{E60505B9-E3AC-1583-9A8D-2434FA79CB32}"/>
              </a:ext>
            </a:extLst>
          </p:cNvPr>
          <p:cNvSpPr txBox="1"/>
          <p:nvPr/>
        </p:nvSpPr>
        <p:spPr>
          <a:xfrm>
            <a:off x="5004947" y="2423307"/>
            <a:ext cx="131138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1. </a:t>
            </a:r>
            <a:r>
              <a:rPr lang="en-US" dirty="0" err="1"/>
              <a:t>sailuh</a:t>
            </a:r>
            <a:r>
              <a:rPr lang="en-US" dirty="0"/>
              <a:t>/</a:t>
            </a:r>
            <a:r>
              <a:rPr lang="en-US" dirty="0" err="1"/>
              <a:t>kaiaulu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83" name="TextBox 982">
            <a:extLst>
              <a:ext uri="{FF2B5EF4-FFF2-40B4-BE49-F238E27FC236}">
                <a16:creationId xmlns:a16="http://schemas.microsoft.com/office/drawing/2014/main" id="{5B908712-7CD3-995B-6D4B-F9A169B7D2A5}"/>
              </a:ext>
            </a:extLst>
          </p:cNvPr>
          <p:cNvSpPr txBox="1"/>
          <p:nvPr/>
        </p:nvSpPr>
        <p:spPr>
          <a:xfrm>
            <a:off x="7046974" y="7065060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7.2 Domain Knowledge</a:t>
            </a:r>
          </a:p>
        </p:txBody>
      </p:sp>
      <p:cxnSp>
        <p:nvCxnSpPr>
          <p:cNvPr id="984" name="Connector: Elbow 983">
            <a:extLst>
              <a:ext uri="{FF2B5EF4-FFF2-40B4-BE49-F238E27FC236}">
                <a16:creationId xmlns:a16="http://schemas.microsoft.com/office/drawing/2014/main" id="{C7853310-D6CD-D0E7-F0AC-11B89B211C18}"/>
              </a:ext>
            </a:extLst>
          </p:cNvPr>
          <p:cNvCxnSpPr>
            <a:cxnSpLocks/>
            <a:endCxn id="1102" idx="3"/>
          </p:cNvCxnSpPr>
          <p:nvPr/>
        </p:nvCxnSpPr>
        <p:spPr>
          <a:xfrm flipH="1">
            <a:off x="8451473" y="5231923"/>
            <a:ext cx="266193" cy="568100"/>
          </a:xfrm>
          <a:prstGeom prst="bentConnector3">
            <a:avLst>
              <a:gd name="adj1" fmla="val -12022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5" name="Connector: Elbow 984">
            <a:extLst>
              <a:ext uri="{FF2B5EF4-FFF2-40B4-BE49-F238E27FC236}">
                <a16:creationId xmlns:a16="http://schemas.microsoft.com/office/drawing/2014/main" id="{AC6D8A4B-1F6B-0DEA-BBFC-6BE2FD31AD08}"/>
              </a:ext>
            </a:extLst>
          </p:cNvPr>
          <p:cNvCxnSpPr>
            <a:cxnSpLocks/>
          </p:cNvCxnSpPr>
          <p:nvPr/>
        </p:nvCxnSpPr>
        <p:spPr>
          <a:xfrm rot="10800000">
            <a:off x="6191032" y="6088412"/>
            <a:ext cx="1339738" cy="753131"/>
          </a:xfrm>
          <a:prstGeom prst="bentConnector3">
            <a:avLst>
              <a:gd name="adj1" fmla="val 6433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6" name="Connector: Elbow 985">
            <a:extLst>
              <a:ext uri="{FF2B5EF4-FFF2-40B4-BE49-F238E27FC236}">
                <a16:creationId xmlns:a16="http://schemas.microsoft.com/office/drawing/2014/main" id="{871A2ABB-BF05-352B-BA72-C93478078359}"/>
              </a:ext>
            </a:extLst>
          </p:cNvPr>
          <p:cNvCxnSpPr>
            <a:cxnSpLocks/>
            <a:stCxn id="1103" idx="1"/>
          </p:cNvCxnSpPr>
          <p:nvPr/>
        </p:nvCxnSpPr>
        <p:spPr>
          <a:xfrm rot="10800000" flipV="1">
            <a:off x="6191031" y="5778057"/>
            <a:ext cx="1218821" cy="310351"/>
          </a:xfrm>
          <a:prstGeom prst="bentConnector3">
            <a:avLst>
              <a:gd name="adj1" fmla="val 61094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7" name="Connector: Elbow 986">
            <a:extLst>
              <a:ext uri="{FF2B5EF4-FFF2-40B4-BE49-F238E27FC236}">
                <a16:creationId xmlns:a16="http://schemas.microsoft.com/office/drawing/2014/main" id="{1BF4F3C1-CA25-E300-B5BF-2E96D0CAD65D}"/>
              </a:ext>
            </a:extLst>
          </p:cNvPr>
          <p:cNvCxnSpPr>
            <a:cxnSpLocks/>
            <a:stCxn id="997" idx="1"/>
          </p:cNvCxnSpPr>
          <p:nvPr/>
        </p:nvCxnSpPr>
        <p:spPr>
          <a:xfrm rot="10800000" flipV="1">
            <a:off x="6191031" y="3958395"/>
            <a:ext cx="868497" cy="2130014"/>
          </a:xfrm>
          <a:prstGeom prst="bentConnector3">
            <a:avLst>
              <a:gd name="adj1" fmla="val 44736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8" name="Connector: Elbow 987">
            <a:extLst>
              <a:ext uri="{FF2B5EF4-FFF2-40B4-BE49-F238E27FC236}">
                <a16:creationId xmlns:a16="http://schemas.microsoft.com/office/drawing/2014/main" id="{D7A77EB8-D9CA-B95D-75C0-22A35F70E5E0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146994" y="6098332"/>
            <a:ext cx="1516881" cy="1905124"/>
          </a:xfrm>
          <a:prstGeom prst="bentConnector4">
            <a:avLst>
              <a:gd name="adj1" fmla="val -25117"/>
              <a:gd name="adj2" fmla="val 73163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9" name="Straight Arrow Connector 988">
            <a:extLst>
              <a:ext uri="{FF2B5EF4-FFF2-40B4-BE49-F238E27FC236}">
                <a16:creationId xmlns:a16="http://schemas.microsoft.com/office/drawing/2014/main" id="{60C82449-C9E0-6D55-1AE4-68D6FDE86F9E}"/>
              </a:ext>
            </a:extLst>
          </p:cNvPr>
          <p:cNvCxnSpPr>
            <a:cxnSpLocks/>
          </p:cNvCxnSpPr>
          <p:nvPr/>
        </p:nvCxnSpPr>
        <p:spPr>
          <a:xfrm>
            <a:off x="6463103" y="4734321"/>
            <a:ext cx="540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0" name="Straight Arrow Connector 989">
            <a:extLst>
              <a:ext uri="{FF2B5EF4-FFF2-40B4-BE49-F238E27FC236}">
                <a16:creationId xmlns:a16="http://schemas.microsoft.com/office/drawing/2014/main" id="{268933A3-7A49-6259-0C71-DFDBF48C68F0}"/>
              </a:ext>
            </a:extLst>
          </p:cNvPr>
          <p:cNvCxnSpPr>
            <a:cxnSpLocks/>
          </p:cNvCxnSpPr>
          <p:nvPr/>
        </p:nvCxnSpPr>
        <p:spPr>
          <a:xfrm>
            <a:off x="6578363" y="2180213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1" name="TextBox 990">
            <a:extLst>
              <a:ext uri="{FF2B5EF4-FFF2-40B4-BE49-F238E27FC236}">
                <a16:creationId xmlns:a16="http://schemas.microsoft.com/office/drawing/2014/main" id="{2E1C911E-3CFE-4DD6-0502-93C670C87660}"/>
              </a:ext>
            </a:extLst>
          </p:cNvPr>
          <p:cNvSpPr txBox="1"/>
          <p:nvPr/>
        </p:nvSpPr>
        <p:spPr>
          <a:xfrm>
            <a:off x="8573910" y="1854240"/>
            <a:ext cx="130496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2" name="TextBox 991">
            <a:extLst>
              <a:ext uri="{FF2B5EF4-FFF2-40B4-BE49-F238E27FC236}">
                <a16:creationId xmlns:a16="http://schemas.microsoft.com/office/drawing/2014/main" id="{893113F5-A446-2303-6C25-E76755F0C2FA}"/>
              </a:ext>
            </a:extLst>
          </p:cNvPr>
          <p:cNvSpPr txBox="1"/>
          <p:nvPr/>
        </p:nvSpPr>
        <p:spPr>
          <a:xfrm>
            <a:off x="8701206" y="333699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3" name="TextBox 992">
            <a:extLst>
              <a:ext uri="{FF2B5EF4-FFF2-40B4-BE49-F238E27FC236}">
                <a16:creationId xmlns:a16="http://schemas.microsoft.com/office/drawing/2014/main" id="{894526D0-7A5D-2CEA-0EBA-99DB175002A6}"/>
              </a:ext>
            </a:extLst>
          </p:cNvPr>
          <p:cNvSpPr txBox="1"/>
          <p:nvPr/>
        </p:nvSpPr>
        <p:spPr>
          <a:xfrm>
            <a:off x="5202130" y="458420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563DF38B-7227-9870-B32A-C4DC55253417}"/>
              </a:ext>
            </a:extLst>
          </p:cNvPr>
          <p:cNvCxnSpPr>
            <a:cxnSpLocks/>
          </p:cNvCxnSpPr>
          <p:nvPr/>
        </p:nvCxnSpPr>
        <p:spPr>
          <a:xfrm>
            <a:off x="6304400" y="3467696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5" name="TextBox 994">
            <a:extLst>
              <a:ext uri="{FF2B5EF4-FFF2-40B4-BE49-F238E27FC236}">
                <a16:creationId xmlns:a16="http://schemas.microsoft.com/office/drawing/2014/main" id="{C47A501E-545A-4C04-BE50-F7E2E5549956}"/>
              </a:ext>
            </a:extLst>
          </p:cNvPr>
          <p:cNvSpPr txBox="1"/>
          <p:nvPr/>
        </p:nvSpPr>
        <p:spPr>
          <a:xfrm>
            <a:off x="5209590" y="328596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6" name="TextBox 995">
            <a:extLst>
              <a:ext uri="{FF2B5EF4-FFF2-40B4-BE49-F238E27FC236}">
                <a16:creationId xmlns:a16="http://schemas.microsoft.com/office/drawing/2014/main" id="{8315E1AE-53EA-CFB5-5264-4DBEB1C5BBF1}"/>
              </a:ext>
            </a:extLst>
          </p:cNvPr>
          <p:cNvSpPr txBox="1"/>
          <p:nvPr/>
        </p:nvSpPr>
        <p:spPr>
          <a:xfrm rot="5400000">
            <a:off x="7893098" y="3828354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7" name="TextBox 996">
            <a:extLst>
              <a:ext uri="{FF2B5EF4-FFF2-40B4-BE49-F238E27FC236}">
                <a16:creationId xmlns:a16="http://schemas.microsoft.com/office/drawing/2014/main" id="{7D77A715-76A7-A925-0D9C-8613051A3442}"/>
              </a:ext>
            </a:extLst>
          </p:cNvPr>
          <p:cNvSpPr txBox="1"/>
          <p:nvPr/>
        </p:nvSpPr>
        <p:spPr>
          <a:xfrm>
            <a:off x="7059527" y="3798135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8" name="TextBox 997">
            <a:extLst>
              <a:ext uri="{FF2B5EF4-FFF2-40B4-BE49-F238E27FC236}">
                <a16:creationId xmlns:a16="http://schemas.microsoft.com/office/drawing/2014/main" id="{ADC94703-9CEE-FF92-4572-64D742A1CE00}"/>
              </a:ext>
            </a:extLst>
          </p:cNvPr>
          <p:cNvSpPr txBox="1"/>
          <p:nvPr/>
        </p:nvSpPr>
        <p:spPr>
          <a:xfrm rot="5400000">
            <a:off x="6616888" y="7825672"/>
            <a:ext cx="97008" cy="231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99" name="Graphic 998" descr="Cmd Terminal with solid fill">
            <a:extLst>
              <a:ext uri="{FF2B5EF4-FFF2-40B4-BE49-F238E27FC236}">
                <a16:creationId xmlns:a16="http://schemas.microsoft.com/office/drawing/2014/main" id="{7C26BC2E-FEC3-F8C3-DF98-27BD0E381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761" y="8507313"/>
            <a:ext cx="451448" cy="455550"/>
          </a:xfrm>
          <a:prstGeom prst="rect">
            <a:avLst/>
          </a:prstGeom>
        </p:spPr>
      </p:pic>
      <p:pic>
        <p:nvPicPr>
          <p:cNvPr id="1000" name="Graphic 999" descr="Paper outline">
            <a:extLst>
              <a:ext uri="{FF2B5EF4-FFF2-40B4-BE49-F238E27FC236}">
                <a16:creationId xmlns:a16="http://schemas.microsoft.com/office/drawing/2014/main" id="{3999EA95-9322-F505-ACC4-D453B0BA14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37240" y="7758357"/>
            <a:ext cx="261597" cy="261597"/>
          </a:xfrm>
          <a:prstGeom prst="rect">
            <a:avLst/>
          </a:prstGeom>
        </p:spPr>
      </p:pic>
      <p:sp>
        <p:nvSpPr>
          <p:cNvPr id="1001" name="TextBox 1000">
            <a:extLst>
              <a:ext uri="{FF2B5EF4-FFF2-40B4-BE49-F238E27FC236}">
                <a16:creationId xmlns:a16="http://schemas.microsoft.com/office/drawing/2014/main" id="{B4A5E341-4AED-1C64-562D-FAA1B1DF6AB9}"/>
              </a:ext>
            </a:extLst>
          </p:cNvPr>
          <p:cNvSpPr txBox="1"/>
          <p:nvPr/>
        </p:nvSpPr>
        <p:spPr>
          <a:xfrm>
            <a:off x="1861850" y="7961614"/>
            <a:ext cx="687081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API</a:t>
            </a:r>
          </a:p>
        </p:txBody>
      </p:sp>
      <p:pic>
        <p:nvPicPr>
          <p:cNvPr id="1002" name="Graphic 1001" descr="Paper outline">
            <a:extLst>
              <a:ext uri="{FF2B5EF4-FFF2-40B4-BE49-F238E27FC236}">
                <a16:creationId xmlns:a16="http://schemas.microsoft.com/office/drawing/2014/main" id="{2840D103-2523-064B-0AA1-4D54A25B81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2978" y="8472819"/>
            <a:ext cx="527267" cy="527267"/>
          </a:xfrm>
          <a:prstGeom prst="rect">
            <a:avLst/>
          </a:prstGeom>
        </p:spPr>
      </p:pic>
      <p:sp>
        <p:nvSpPr>
          <p:cNvPr id="1003" name="TextBox 1002">
            <a:extLst>
              <a:ext uri="{FF2B5EF4-FFF2-40B4-BE49-F238E27FC236}">
                <a16:creationId xmlns:a16="http://schemas.microsoft.com/office/drawing/2014/main" id="{BEDC37C1-AB2C-E596-E963-883AE94023E0}"/>
              </a:ext>
            </a:extLst>
          </p:cNvPr>
          <p:cNvSpPr txBox="1"/>
          <p:nvPr/>
        </p:nvSpPr>
        <p:spPr>
          <a:xfrm>
            <a:off x="1457097" y="8904797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exec/*.R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46FCC5BB-36AF-1A4C-1BED-ABA436BCA4BD}"/>
              </a:ext>
            </a:extLst>
          </p:cNvPr>
          <p:cNvSpPr/>
          <p:nvPr/>
        </p:nvSpPr>
        <p:spPr>
          <a:xfrm>
            <a:off x="185141" y="7885351"/>
            <a:ext cx="710936" cy="20869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&lt;</a:t>
            </a: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File_paths</a:t>
            </a: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&gt;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09" name="Straight Arrow Connector 1008">
            <a:extLst>
              <a:ext uri="{FF2B5EF4-FFF2-40B4-BE49-F238E27FC236}">
                <a16:creationId xmlns:a16="http://schemas.microsoft.com/office/drawing/2014/main" id="{738D91C9-DE9C-E624-A744-C8BA645E7AE7}"/>
              </a:ext>
            </a:extLst>
          </p:cNvPr>
          <p:cNvCxnSpPr>
            <a:cxnSpLocks/>
          </p:cNvCxnSpPr>
          <p:nvPr/>
        </p:nvCxnSpPr>
        <p:spPr>
          <a:xfrm>
            <a:off x="1292611" y="8729259"/>
            <a:ext cx="164486" cy="719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10" name="Straight Arrow Connector 1009">
            <a:extLst>
              <a:ext uri="{FF2B5EF4-FFF2-40B4-BE49-F238E27FC236}">
                <a16:creationId xmlns:a16="http://schemas.microsoft.com/office/drawing/2014/main" id="{E0AD4754-3FD7-0A57-87C3-44A09E48B302}"/>
              </a:ext>
            </a:extLst>
          </p:cNvPr>
          <p:cNvCxnSpPr>
            <a:cxnSpLocks/>
          </p:cNvCxnSpPr>
          <p:nvPr/>
        </p:nvCxnSpPr>
        <p:spPr>
          <a:xfrm>
            <a:off x="540609" y="8202553"/>
            <a:ext cx="251152" cy="274997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919395AB-0F4B-06EA-C439-8EFE04A553F9}"/>
              </a:ext>
            </a:extLst>
          </p:cNvPr>
          <p:cNvSpPr txBox="1"/>
          <p:nvPr/>
        </p:nvSpPr>
        <p:spPr>
          <a:xfrm>
            <a:off x="182880" y="932688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Exec scripts provides command line access to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Pykumu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API package, allowing its causal analysis capabilities to be accessed via the terminal or server side without requiring Python code knowledge. 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1019" name="TextBox 1018">
            <a:extLst>
              <a:ext uri="{FF2B5EF4-FFF2-40B4-BE49-F238E27FC236}">
                <a16:creationId xmlns:a16="http://schemas.microsoft.com/office/drawing/2014/main" id="{C41657BD-D71E-D893-3CA6-E28398DBAC95}"/>
              </a:ext>
            </a:extLst>
          </p:cNvPr>
          <p:cNvSpPr txBox="1"/>
          <p:nvPr/>
        </p:nvSpPr>
        <p:spPr>
          <a:xfrm>
            <a:off x="232303" y="393741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>
                <a:solidFill>
                  <a:schemeClr val="bg2">
                    <a:lumMod val="10000"/>
                  </a:schemeClr>
                </a:solidFill>
              </a:rPr>
              <a:t>Tetrad Java API</a:t>
            </a:r>
          </a:p>
        </p:txBody>
      </p:sp>
      <p:pic>
        <p:nvPicPr>
          <p:cNvPr id="1020" name="Graphic 1019" descr="Paper outline">
            <a:extLst>
              <a:ext uri="{FF2B5EF4-FFF2-40B4-BE49-F238E27FC236}">
                <a16:creationId xmlns:a16="http://schemas.microsoft.com/office/drawing/2014/main" id="{C5BAB128-A391-5C8D-9097-EB563D5D1A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0954" y="4265041"/>
            <a:ext cx="527267" cy="527267"/>
          </a:xfrm>
          <a:prstGeom prst="rect">
            <a:avLst/>
          </a:prstGeom>
        </p:spPr>
      </p:pic>
      <p:cxnSp>
        <p:nvCxnSpPr>
          <p:cNvPr id="1023" name="Straight Arrow Connector 1022">
            <a:extLst>
              <a:ext uri="{FF2B5EF4-FFF2-40B4-BE49-F238E27FC236}">
                <a16:creationId xmlns:a16="http://schemas.microsoft.com/office/drawing/2014/main" id="{7EF22D1A-04B3-FCB1-721B-27870BF10343}"/>
              </a:ext>
            </a:extLst>
          </p:cNvPr>
          <p:cNvCxnSpPr>
            <a:cxnSpLocks/>
          </p:cNvCxnSpPr>
          <p:nvPr/>
        </p:nvCxnSpPr>
        <p:spPr>
          <a:xfrm>
            <a:off x="1028993" y="3837479"/>
            <a:ext cx="9092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D2828E4D-75B8-329C-9575-5129D6A94D61}"/>
              </a:ext>
            </a:extLst>
          </p:cNvPr>
          <p:cNvCxnSpPr>
            <a:cxnSpLocks/>
          </p:cNvCxnSpPr>
          <p:nvPr/>
        </p:nvCxnSpPr>
        <p:spPr>
          <a:xfrm>
            <a:off x="1023055" y="3972100"/>
            <a:ext cx="340872" cy="391832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1AABD15B-B4FA-CD6A-B63A-B64B6887B644}"/>
              </a:ext>
            </a:extLst>
          </p:cNvPr>
          <p:cNvSpPr txBox="1"/>
          <p:nvPr/>
        </p:nvSpPr>
        <p:spPr>
          <a:xfrm>
            <a:off x="815127" y="4126651"/>
            <a:ext cx="536637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ACD40C82-8BC7-22F2-1049-16EC45AA0245}"/>
              </a:ext>
            </a:extLst>
          </p:cNvPr>
          <p:cNvSpPr txBox="1"/>
          <p:nvPr/>
        </p:nvSpPr>
        <p:spPr>
          <a:xfrm>
            <a:off x="1510648" y="4422940"/>
            <a:ext cx="371960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" b="0" dirty="0" err="1">
                <a:solidFill>
                  <a:schemeClr val="tx1">
                    <a:lumMod val="50000"/>
                  </a:schemeClr>
                </a:solidFill>
              </a:rPr>
              <a:t>TetradSearch</a:t>
            </a:r>
            <a:r>
              <a:rPr lang="en-US" sz="300" b="0" dirty="0">
                <a:solidFill>
                  <a:schemeClr val="tx1">
                    <a:lumMod val="50000"/>
                  </a:schemeClr>
                </a:solidFill>
              </a:rPr>
              <a:t> Class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5E522564-8B9E-A95B-7612-AC275549CF4F}"/>
              </a:ext>
            </a:extLst>
          </p:cNvPr>
          <p:cNvSpPr txBox="1"/>
          <p:nvPr/>
        </p:nvSpPr>
        <p:spPr>
          <a:xfrm>
            <a:off x="2385334" y="3867687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 API</a:t>
            </a:r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113C10EC-87E5-D409-72F2-FF120C943EE1}"/>
              </a:ext>
            </a:extLst>
          </p:cNvPr>
          <p:cNvCxnSpPr>
            <a:cxnSpLocks/>
          </p:cNvCxnSpPr>
          <p:nvPr/>
        </p:nvCxnSpPr>
        <p:spPr>
          <a:xfrm flipV="1">
            <a:off x="1979305" y="4126651"/>
            <a:ext cx="450843" cy="239726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41" name="Folded Corner 3">
            <a:extLst>
              <a:ext uri="{FF2B5EF4-FFF2-40B4-BE49-F238E27FC236}">
                <a16:creationId xmlns:a16="http://schemas.microsoft.com/office/drawing/2014/main" id="{5A2BEE35-58A2-A01E-172E-74EBC7926ACE}"/>
              </a:ext>
            </a:extLst>
          </p:cNvPr>
          <p:cNvSpPr/>
          <p:nvPr/>
        </p:nvSpPr>
        <p:spPr>
          <a:xfrm rot="10800000" flipH="1">
            <a:off x="2129004" y="337722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2" name="Folded Corner 4">
            <a:extLst>
              <a:ext uri="{FF2B5EF4-FFF2-40B4-BE49-F238E27FC236}">
                <a16:creationId xmlns:a16="http://schemas.microsoft.com/office/drawing/2014/main" id="{F046AA6C-D750-F3BD-A104-2887BA9A7B5D}"/>
              </a:ext>
            </a:extLst>
          </p:cNvPr>
          <p:cNvSpPr/>
          <p:nvPr/>
        </p:nvSpPr>
        <p:spPr>
          <a:xfrm rot="10800000" flipH="1">
            <a:off x="2095922" y="3405690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3" name="Folded Corner 5">
            <a:extLst>
              <a:ext uri="{FF2B5EF4-FFF2-40B4-BE49-F238E27FC236}">
                <a16:creationId xmlns:a16="http://schemas.microsoft.com/office/drawing/2014/main" id="{152ABA03-A1D6-B2B8-CA0C-FD47E7A6422A}"/>
              </a:ext>
            </a:extLst>
          </p:cNvPr>
          <p:cNvSpPr/>
          <p:nvPr/>
        </p:nvSpPr>
        <p:spPr>
          <a:xfrm rot="10800000" flipH="1">
            <a:off x="2055485" y="343946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950DAA70-DC8C-1606-787D-CFB36BD78170}"/>
              </a:ext>
            </a:extLst>
          </p:cNvPr>
          <p:cNvSpPr txBox="1"/>
          <p:nvPr/>
        </p:nvSpPr>
        <p:spPr>
          <a:xfrm>
            <a:off x="2026720" y="358624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tetrad.py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F8F4D3F8-1C66-C0FA-0086-56EC0ED211B6}"/>
              </a:ext>
            </a:extLst>
          </p:cNvPr>
          <p:cNvSpPr txBox="1"/>
          <p:nvPr/>
        </p:nvSpPr>
        <p:spPr>
          <a:xfrm>
            <a:off x="1285591" y="470218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TetradSearch.py</a:t>
            </a:r>
          </a:p>
        </p:txBody>
      </p: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BDCBEA09-79DA-1661-14B6-F70F256AB87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6384" y="118872"/>
            <a:ext cx="1444661" cy="1673352"/>
          </a:xfrm>
          <a:prstGeom prst="rect">
            <a:avLst/>
          </a:prstGeom>
        </p:spPr>
      </p:pic>
      <p:sp>
        <p:nvSpPr>
          <p:cNvPr id="1065" name="TextBox 1064">
            <a:extLst>
              <a:ext uri="{FF2B5EF4-FFF2-40B4-BE49-F238E27FC236}">
                <a16:creationId xmlns:a16="http://schemas.microsoft.com/office/drawing/2014/main" id="{3FFA94B5-F3DB-9916-F7AF-5F9B0D7AD639}"/>
              </a:ext>
            </a:extLst>
          </p:cNvPr>
          <p:cNvSpPr txBox="1"/>
          <p:nvPr/>
        </p:nvSpPr>
        <p:spPr>
          <a:xfrm>
            <a:off x="7318302" y="5055976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6. Causal Search</a:t>
            </a:r>
          </a:p>
        </p:txBody>
      </p:sp>
      <p:graphicFrame>
        <p:nvGraphicFramePr>
          <p:cNvPr id="1066" name="Table">
            <a:extLst>
              <a:ext uri="{FF2B5EF4-FFF2-40B4-BE49-F238E27FC236}">
                <a16:creationId xmlns:a16="http://schemas.microsoft.com/office/drawing/2014/main" id="{8C40B21F-9A7E-D326-BF2E-24C7E82A6BB0}"/>
              </a:ext>
            </a:extLst>
          </p:cNvPr>
          <p:cNvGraphicFramePr/>
          <p:nvPr/>
        </p:nvGraphicFramePr>
        <p:xfrm>
          <a:off x="8297833" y="443547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67" name="Table">
            <a:extLst>
              <a:ext uri="{FF2B5EF4-FFF2-40B4-BE49-F238E27FC236}">
                <a16:creationId xmlns:a16="http://schemas.microsoft.com/office/drawing/2014/main" id="{0632EDF6-5B83-099D-C9D6-3EADFA7657D2}"/>
              </a:ext>
            </a:extLst>
          </p:cNvPr>
          <p:cNvGraphicFramePr/>
          <p:nvPr/>
        </p:nvGraphicFramePr>
        <p:xfrm>
          <a:off x="7722129" y="443293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68" name="Arrow: Right 1067">
            <a:extLst>
              <a:ext uri="{FF2B5EF4-FFF2-40B4-BE49-F238E27FC236}">
                <a16:creationId xmlns:a16="http://schemas.microsoft.com/office/drawing/2014/main" id="{0FFFF5E0-5A7E-95AD-2905-737D73B9114B}"/>
              </a:ext>
            </a:extLst>
          </p:cNvPr>
          <p:cNvSpPr/>
          <p:nvPr/>
        </p:nvSpPr>
        <p:spPr>
          <a:xfrm>
            <a:off x="8027045" y="4694321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069" name="Table">
            <a:extLst>
              <a:ext uri="{FF2B5EF4-FFF2-40B4-BE49-F238E27FC236}">
                <a16:creationId xmlns:a16="http://schemas.microsoft.com/office/drawing/2014/main" id="{C30BD09D-2F9B-550C-A059-0B2F63444543}"/>
              </a:ext>
            </a:extLst>
          </p:cNvPr>
          <p:cNvGraphicFramePr/>
          <p:nvPr/>
        </p:nvGraphicFramePr>
        <p:xfrm>
          <a:off x="7343385" y="4435227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0" name="Plus Sign 1069">
            <a:extLst>
              <a:ext uri="{FF2B5EF4-FFF2-40B4-BE49-F238E27FC236}">
                <a16:creationId xmlns:a16="http://schemas.microsoft.com/office/drawing/2014/main" id="{78C80747-829E-03E4-B075-149FF84A2292}"/>
              </a:ext>
            </a:extLst>
          </p:cNvPr>
          <p:cNvSpPr/>
          <p:nvPr/>
        </p:nvSpPr>
        <p:spPr>
          <a:xfrm>
            <a:off x="7572970" y="4672577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AF6B5AAA-A861-F4D4-66C7-FBEA76E81ABC}"/>
              </a:ext>
            </a:extLst>
          </p:cNvPr>
          <p:cNvSpPr txBox="1"/>
          <p:nvPr/>
        </p:nvSpPr>
        <p:spPr>
          <a:xfrm>
            <a:off x="7370545" y="4957546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8FA232F1-1E07-6893-6FF8-9CAD2926FE41}"/>
              </a:ext>
            </a:extLst>
          </p:cNvPr>
          <p:cNvSpPr txBox="1"/>
          <p:nvPr/>
        </p:nvSpPr>
        <p:spPr>
          <a:xfrm>
            <a:off x="7731829" y="4967981"/>
            <a:ext cx="424651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IF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60B3EDD2-3F50-9AAB-277A-6FA2E12B4FC4}"/>
              </a:ext>
            </a:extLst>
          </p:cNvPr>
          <p:cNvSpPr txBox="1"/>
          <p:nvPr/>
        </p:nvSpPr>
        <p:spPr>
          <a:xfrm>
            <a:off x="7948233" y="4515228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C47BB2B5-DF5B-4D9E-B3E7-74D7B81883F4}"/>
              </a:ext>
            </a:extLst>
          </p:cNvPr>
          <p:cNvSpPr txBox="1"/>
          <p:nvPr/>
        </p:nvSpPr>
        <p:spPr>
          <a:xfrm>
            <a:off x="7194148" y="5974847"/>
            <a:ext cx="1619559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7.1 1-PNEF Threshold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14E2FDC2-4660-8755-347B-6B342B2C3643}"/>
              </a:ext>
            </a:extLst>
          </p:cNvPr>
          <p:cNvSpPr txBox="1"/>
          <p:nvPr/>
        </p:nvSpPr>
        <p:spPr>
          <a:xfrm>
            <a:off x="5731442" y="3637622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382943F0-363B-A49F-EBC8-F71088DD41EF}"/>
              </a:ext>
            </a:extLst>
          </p:cNvPr>
          <p:cNvSpPr txBox="1"/>
          <p:nvPr/>
        </p:nvSpPr>
        <p:spPr>
          <a:xfrm>
            <a:off x="4766552" y="6486513"/>
            <a:ext cx="1831781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8. Domain Knowledge Causal Search</a:t>
            </a:r>
          </a:p>
        </p:txBody>
      </p:sp>
      <p:graphicFrame>
        <p:nvGraphicFramePr>
          <p:cNvPr id="1077" name="Table">
            <a:extLst>
              <a:ext uri="{FF2B5EF4-FFF2-40B4-BE49-F238E27FC236}">
                <a16:creationId xmlns:a16="http://schemas.microsoft.com/office/drawing/2014/main" id="{65F824D6-75A5-6040-903A-555C25DE8509}"/>
              </a:ext>
            </a:extLst>
          </p:cNvPr>
          <p:cNvGraphicFramePr/>
          <p:nvPr/>
        </p:nvGraphicFramePr>
        <p:xfrm>
          <a:off x="5269967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78" name="Table">
            <a:extLst>
              <a:ext uri="{FF2B5EF4-FFF2-40B4-BE49-F238E27FC236}">
                <a16:creationId xmlns:a16="http://schemas.microsoft.com/office/drawing/2014/main" id="{A15EA13E-3EDF-1EF9-EDB1-E5E670CED334}"/>
              </a:ext>
            </a:extLst>
          </p:cNvPr>
          <p:cNvGraphicFramePr/>
          <p:nvPr/>
        </p:nvGraphicFramePr>
        <p:xfrm>
          <a:off x="5828244" y="5813095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9" name="TextBox 1078">
            <a:extLst>
              <a:ext uri="{FF2B5EF4-FFF2-40B4-BE49-F238E27FC236}">
                <a16:creationId xmlns:a16="http://schemas.microsoft.com/office/drawing/2014/main" id="{7A48604A-7B59-1498-559E-500D7CE203F0}"/>
              </a:ext>
            </a:extLst>
          </p:cNvPr>
          <p:cNvSpPr txBox="1"/>
          <p:nvPr/>
        </p:nvSpPr>
        <p:spPr>
          <a:xfrm>
            <a:off x="5856148" y="6329618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97335940-514F-73BC-159E-500241D915AA}"/>
              </a:ext>
            </a:extLst>
          </p:cNvPr>
          <p:cNvSpPr txBox="1"/>
          <p:nvPr/>
        </p:nvSpPr>
        <p:spPr>
          <a:xfrm>
            <a:off x="5242857" y="6333739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81" name="Arrow: Right 1080">
            <a:extLst>
              <a:ext uri="{FF2B5EF4-FFF2-40B4-BE49-F238E27FC236}">
                <a16:creationId xmlns:a16="http://schemas.microsoft.com/office/drawing/2014/main" id="{6D6777E7-BD49-5E29-598D-1B9BACBE3253}"/>
              </a:ext>
            </a:extLst>
          </p:cNvPr>
          <p:cNvSpPr/>
          <p:nvPr/>
        </p:nvSpPr>
        <p:spPr>
          <a:xfrm rot="10800000">
            <a:off x="5552507" y="6049867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CF484E13-AA29-A2AF-B1D2-BDE0E54BDA15}"/>
              </a:ext>
            </a:extLst>
          </p:cNvPr>
          <p:cNvSpPr txBox="1"/>
          <p:nvPr/>
        </p:nvSpPr>
        <p:spPr>
          <a:xfrm>
            <a:off x="5490560" y="5860025"/>
            <a:ext cx="339664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0DB9D724-ADE3-6291-3B6A-144ECA56D7C0}"/>
              </a:ext>
            </a:extLst>
          </p:cNvPr>
          <p:cNvSpPr/>
          <p:nvPr/>
        </p:nvSpPr>
        <p:spPr>
          <a:xfrm>
            <a:off x="8040579" y="5752125"/>
            <a:ext cx="206996" cy="6210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25095AB5-8300-E5E9-D503-B44B4B764EB2}"/>
              </a:ext>
            </a:extLst>
          </p:cNvPr>
          <p:cNvCxnSpPr>
            <a:cxnSpLocks/>
          </p:cNvCxnSpPr>
          <p:nvPr/>
        </p:nvCxnSpPr>
        <p:spPr>
          <a:xfrm>
            <a:off x="8010337" y="5687156"/>
            <a:ext cx="0" cy="188119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283C0DF0-365F-0480-AD83-9FE43E33AAF1}"/>
              </a:ext>
            </a:extLst>
          </p:cNvPr>
          <p:cNvCxnSpPr>
            <a:cxnSpLocks/>
          </p:cNvCxnSpPr>
          <p:nvPr/>
        </p:nvCxnSpPr>
        <p:spPr>
          <a:xfrm flipH="1">
            <a:off x="7599385" y="5778796"/>
            <a:ext cx="375263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86" name="TextBox 1085">
            <a:extLst>
              <a:ext uri="{FF2B5EF4-FFF2-40B4-BE49-F238E27FC236}">
                <a16:creationId xmlns:a16="http://schemas.microsoft.com/office/drawing/2014/main" id="{FDEE6BB4-CBF3-9B9C-E6A7-73D209F0E4E2}"/>
              </a:ext>
            </a:extLst>
          </p:cNvPr>
          <p:cNvSpPr txBox="1"/>
          <p:nvPr/>
        </p:nvSpPr>
        <p:spPr>
          <a:xfrm>
            <a:off x="7544037" y="5812123"/>
            <a:ext cx="941475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n.edges</a:t>
            </a: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&lt; x</a:t>
            </a:r>
            <a:r>
              <a:rPr lang="en-US" sz="700" dirty="0"/>
              <a:t>%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6B579EF6-5B6C-2C91-D420-BDA7707657D9}"/>
              </a:ext>
            </a:extLst>
          </p:cNvPr>
          <p:cNvSpPr/>
          <p:nvPr/>
        </p:nvSpPr>
        <p:spPr>
          <a:xfrm>
            <a:off x="7747498" y="6647124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998284C1-56A0-680F-1B30-8F683696A723}"/>
              </a:ext>
            </a:extLst>
          </p:cNvPr>
          <p:cNvSpPr/>
          <p:nvPr/>
        </p:nvSpPr>
        <p:spPr>
          <a:xfrm>
            <a:off x="7766196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13B68178-B35D-4B4E-EECA-168C4F92253B}"/>
              </a:ext>
            </a:extLst>
          </p:cNvPr>
          <p:cNvSpPr/>
          <p:nvPr/>
        </p:nvSpPr>
        <p:spPr>
          <a:xfrm>
            <a:off x="7882271" y="6675666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79CC1595-BC6B-221C-05E9-9AED31FC0A6B}"/>
              </a:ext>
            </a:extLst>
          </p:cNvPr>
          <p:cNvSpPr/>
          <p:nvPr/>
        </p:nvSpPr>
        <p:spPr>
          <a:xfrm>
            <a:off x="8006330" y="6675665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5273AE2B-0E99-BC20-12E5-5FE4A823F61E}"/>
              </a:ext>
            </a:extLst>
          </p:cNvPr>
          <p:cNvSpPr txBox="1"/>
          <p:nvPr/>
        </p:nvSpPr>
        <p:spPr>
          <a:xfrm>
            <a:off x="7709321" y="6508461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1</a:t>
            </a: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1F24677C-32EE-F812-E2B9-B08DD27CA3CD}"/>
              </a:ext>
            </a:extLst>
          </p:cNvPr>
          <p:cNvSpPr/>
          <p:nvPr/>
        </p:nvSpPr>
        <p:spPr>
          <a:xfrm>
            <a:off x="7745715" y="680360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E636B383-9806-1111-D3C5-107D2C166C12}"/>
              </a:ext>
            </a:extLst>
          </p:cNvPr>
          <p:cNvSpPr/>
          <p:nvPr/>
        </p:nvSpPr>
        <p:spPr>
          <a:xfrm>
            <a:off x="7764413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CE355717-D4CF-C25D-1DA6-B41D96F60FBC}"/>
              </a:ext>
            </a:extLst>
          </p:cNvPr>
          <p:cNvSpPr/>
          <p:nvPr/>
        </p:nvSpPr>
        <p:spPr>
          <a:xfrm>
            <a:off x="7880488" y="683215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E420A21C-C780-901E-6C47-C955D907E654}"/>
              </a:ext>
            </a:extLst>
          </p:cNvPr>
          <p:cNvSpPr/>
          <p:nvPr/>
        </p:nvSpPr>
        <p:spPr>
          <a:xfrm>
            <a:off x="8004547" y="683215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9F9CD0B4-5AB4-5DDB-BC59-594C79CA2AE3}"/>
              </a:ext>
            </a:extLst>
          </p:cNvPr>
          <p:cNvSpPr txBox="1"/>
          <p:nvPr/>
        </p:nvSpPr>
        <p:spPr>
          <a:xfrm>
            <a:off x="7707538" y="666494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2</a:t>
            </a: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9199C45A-1E1E-AA02-18B0-6B49701A2D78}"/>
              </a:ext>
            </a:extLst>
          </p:cNvPr>
          <p:cNvSpPr/>
          <p:nvPr/>
        </p:nvSpPr>
        <p:spPr>
          <a:xfrm>
            <a:off x="7746658" y="6954999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7404B1DB-B6E8-20D7-64BC-FF8A0F7FA0CE}"/>
              </a:ext>
            </a:extLst>
          </p:cNvPr>
          <p:cNvSpPr/>
          <p:nvPr/>
        </p:nvSpPr>
        <p:spPr>
          <a:xfrm>
            <a:off x="7765356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BDFE470C-8AA1-8F29-BD97-FE230BE34E9B}"/>
              </a:ext>
            </a:extLst>
          </p:cNvPr>
          <p:cNvSpPr/>
          <p:nvPr/>
        </p:nvSpPr>
        <p:spPr>
          <a:xfrm>
            <a:off x="7881431" y="6983541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B28AF749-5ADA-8AB5-5540-06848CC7C97E}"/>
              </a:ext>
            </a:extLst>
          </p:cNvPr>
          <p:cNvSpPr/>
          <p:nvPr/>
        </p:nvSpPr>
        <p:spPr>
          <a:xfrm>
            <a:off x="8005490" y="698354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3264F98F-5A17-D3A5-BFFC-5C8280F2C125}"/>
              </a:ext>
            </a:extLst>
          </p:cNvPr>
          <p:cNvSpPr txBox="1"/>
          <p:nvPr/>
        </p:nvSpPr>
        <p:spPr>
          <a:xfrm>
            <a:off x="7708481" y="6816336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3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6DAEE7F1-461C-32CE-792E-DD55030259F2}"/>
              </a:ext>
            </a:extLst>
          </p:cNvPr>
          <p:cNvSpPr txBox="1"/>
          <p:nvPr/>
        </p:nvSpPr>
        <p:spPr>
          <a:xfrm>
            <a:off x="8341203" y="5639763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82DEF2A0-D550-6373-BEF1-290BC476E14C}"/>
              </a:ext>
            </a:extLst>
          </p:cNvPr>
          <p:cNvSpPr txBox="1"/>
          <p:nvPr/>
        </p:nvSpPr>
        <p:spPr>
          <a:xfrm>
            <a:off x="7409851" y="5617798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68DC2069-8FE5-691E-513F-D6F5E99D1033}"/>
              </a:ext>
            </a:extLst>
          </p:cNvPr>
          <p:cNvSpPr txBox="1"/>
          <p:nvPr/>
        </p:nvSpPr>
        <p:spPr>
          <a:xfrm>
            <a:off x="7672781" y="6340098"/>
            <a:ext cx="580165" cy="212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Knowledge Box</a:t>
            </a:r>
          </a:p>
        </p:txBody>
      </p:sp>
      <p:sp>
        <p:nvSpPr>
          <p:cNvPr id="1105" name="Logistics">
            <a:extLst>
              <a:ext uri="{FF2B5EF4-FFF2-40B4-BE49-F238E27FC236}">
                <a16:creationId xmlns:a16="http://schemas.microsoft.com/office/drawing/2014/main" id="{E4FF2513-1807-9CCD-6A02-BC9339C84C6C}"/>
              </a:ext>
            </a:extLst>
          </p:cNvPr>
          <p:cNvSpPr txBox="1"/>
          <p:nvPr/>
        </p:nvSpPr>
        <p:spPr>
          <a:xfrm>
            <a:off x="9601200" y="260433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tetrad.py</a:t>
            </a:r>
          </a:p>
        </p:txBody>
      </p:sp>
      <p:sp>
        <p:nvSpPr>
          <p:cNvPr id="1106" name="Logistics">
            <a:extLst>
              <a:ext uri="{FF2B5EF4-FFF2-40B4-BE49-F238E27FC236}">
                <a16:creationId xmlns:a16="http://schemas.microsoft.com/office/drawing/2014/main" id="{374CB665-68DC-A9F4-F8AC-1CAA3F92FF78}"/>
              </a:ext>
            </a:extLst>
          </p:cNvPr>
          <p:cNvSpPr txBox="1"/>
          <p:nvPr/>
        </p:nvSpPr>
        <p:spPr>
          <a:xfrm>
            <a:off x="9601200" y="443313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causal.py</a:t>
            </a:r>
          </a:p>
        </p:txBody>
      </p:sp>
      <p:sp>
        <p:nvSpPr>
          <p:cNvPr id="1107" name="Logistics">
            <a:extLst>
              <a:ext uri="{FF2B5EF4-FFF2-40B4-BE49-F238E27FC236}">
                <a16:creationId xmlns:a16="http://schemas.microsoft.com/office/drawing/2014/main" id="{5C1656C5-AE5D-07D2-FACE-0D5C35CB66F9}"/>
              </a:ext>
            </a:extLst>
          </p:cNvPr>
          <p:cNvSpPr txBox="1"/>
          <p:nvPr/>
        </p:nvSpPr>
        <p:spPr>
          <a:xfrm>
            <a:off x="9601200" y="699345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knowledge.py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41C84516-E709-13D0-2202-4D46E0C00AF0}"/>
              </a:ext>
            </a:extLst>
          </p:cNvPr>
          <p:cNvSpPr txBox="1"/>
          <p:nvPr/>
        </p:nvSpPr>
        <p:spPr>
          <a:xfrm>
            <a:off x="9601200" y="4663440"/>
            <a:ext cx="4237460" cy="2187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run on dataset including null features, used to derive 1-PNEF.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score_sem_bic</a:t>
            </a:r>
            <a:r>
              <a:rPr lang="en-US" dirty="0"/>
              <a:t>()</a:t>
            </a:r>
          </a:p>
          <a:p>
            <a:r>
              <a:rPr lang="en-US" b="0" dirty="0"/>
              <a:t>Configure SEM BIC score.</a:t>
            </a:r>
          </a:p>
          <a:p>
            <a:r>
              <a:rPr lang="en-US" dirty="0"/>
              <a:t>2. bootstrapping()</a:t>
            </a:r>
          </a:p>
          <a:p>
            <a:r>
              <a:rPr lang="en-US" b="0" dirty="0"/>
              <a:t>Configure bootstrapping parameters.</a:t>
            </a:r>
          </a:p>
          <a:p>
            <a:r>
              <a:rPr lang="en-US" dirty="0"/>
              <a:t>3. </a:t>
            </a:r>
            <a:r>
              <a:rPr lang="en-US" dirty="0" err="1"/>
              <a:t>algorithm_fges</a:t>
            </a:r>
            <a:r>
              <a:rPr lang="en-US" dirty="0"/>
              <a:t>()</a:t>
            </a:r>
          </a:p>
          <a:p>
            <a:r>
              <a:rPr lang="en-US" b="0" dirty="0"/>
              <a:t>Performs Fast Greedy Equivalence Search (FGES) algorithm.</a:t>
            </a:r>
          </a:p>
          <a:p>
            <a:r>
              <a:rPr lang="en-US" dirty="0"/>
              <a:t>4. </a:t>
            </a:r>
            <a:r>
              <a:rPr lang="en-US" dirty="0" err="1"/>
              <a:t>algorithm_boss</a:t>
            </a:r>
            <a:r>
              <a:rPr lang="en-US" dirty="0"/>
              <a:t>()</a:t>
            </a:r>
          </a:p>
          <a:p>
            <a:r>
              <a:rPr lang="en-US" b="0" dirty="0"/>
              <a:t>Performs Best Order Score Search (BOSS) algorithm.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94BE0E2F-E37B-02AC-D9C5-D0230522CA7B}"/>
              </a:ext>
            </a:extLst>
          </p:cNvPr>
          <p:cNvSpPr txBox="1"/>
          <p:nvPr/>
        </p:nvSpPr>
        <p:spPr>
          <a:xfrm>
            <a:off x="9601200" y="2834640"/>
            <a:ext cx="4237460" cy="1531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After applying time lag and features, </a:t>
            </a:r>
            <a:r>
              <a:rPr lang="en-US" b="0" dirty="0" err="1"/>
              <a:t>jpype</a:t>
            </a:r>
            <a:r>
              <a:rPr lang="en-US" b="0" dirty="0"/>
              <a:t> is imported to utilize API and turn the dataset into a Tetrad compatible format. 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tetrad_jvm_start</a:t>
            </a:r>
            <a:r>
              <a:rPr lang="en-US" dirty="0"/>
              <a:t>()</a:t>
            </a:r>
          </a:p>
          <a:p>
            <a:r>
              <a:rPr lang="en-US" b="0" dirty="0"/>
              <a:t>Import </a:t>
            </a:r>
            <a:r>
              <a:rPr lang="en-US" b="0" dirty="0" err="1"/>
              <a:t>jpype</a:t>
            </a:r>
            <a:r>
              <a:rPr lang="en-US" b="0" dirty="0"/>
              <a:t> to start JVM and load Tetrad jar file.</a:t>
            </a:r>
          </a:p>
          <a:p>
            <a:r>
              <a:rPr lang="en-US" dirty="0"/>
              <a:t>2. </a:t>
            </a:r>
            <a:r>
              <a:rPr lang="en-US" dirty="0" err="1"/>
              <a:t>transform_pandasdf_to_tetrad_boxdataset</a:t>
            </a:r>
            <a:r>
              <a:rPr lang="en-US" dirty="0"/>
              <a:t>()</a:t>
            </a:r>
          </a:p>
          <a:p>
            <a:r>
              <a:rPr lang="en-US" b="0" dirty="0"/>
              <a:t>Convert pandas </a:t>
            </a:r>
            <a:r>
              <a:rPr lang="en-US" b="0" dirty="0" err="1"/>
              <a:t>DataFrames</a:t>
            </a:r>
            <a:r>
              <a:rPr lang="en-US" b="0" dirty="0"/>
              <a:t> into Tetrad </a:t>
            </a:r>
            <a:r>
              <a:rPr lang="en-US" b="0" dirty="0" err="1"/>
              <a:t>BoxDataset</a:t>
            </a:r>
            <a:r>
              <a:rPr lang="en-US" b="0" dirty="0"/>
              <a:t> and initialize search state.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D7D1CA7C-ED43-780E-349A-BC45A9D0EBD4}"/>
              </a:ext>
            </a:extLst>
          </p:cNvPr>
          <p:cNvSpPr txBox="1"/>
          <p:nvPr/>
        </p:nvSpPr>
        <p:spPr>
          <a:xfrm>
            <a:off x="9601200" y="7232335"/>
            <a:ext cx="4237460" cy="925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can be used with domain knowledge applied.</a:t>
            </a:r>
          </a:p>
          <a:p>
            <a:r>
              <a:rPr lang="en-US" dirty="0"/>
              <a:t>1. </a:t>
            </a:r>
            <a:r>
              <a:rPr lang="en-US" dirty="0" err="1"/>
              <a:t>parse_knowledge_txt</a:t>
            </a:r>
            <a:r>
              <a:rPr lang="en-US" dirty="0"/>
              <a:t>()</a:t>
            </a:r>
          </a:p>
          <a:p>
            <a:r>
              <a:rPr lang="en-US" b="0" dirty="0"/>
              <a:t>Load forbidden/required edges and temporal tiers from a .txt file into Tetrad knowledge object.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1F7CAAA7-FA91-D3B8-BC0F-5C1DE5768DCE}"/>
              </a:ext>
            </a:extLst>
          </p:cNvPr>
          <p:cNvSpPr txBox="1"/>
          <p:nvPr/>
        </p:nvSpPr>
        <p:spPr>
          <a:xfrm>
            <a:off x="9601200" y="1714477"/>
            <a:ext cx="4264574" cy="8745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 err="1"/>
              <a:t>Pykumu</a:t>
            </a:r>
            <a:r>
              <a:rPr lang="en-US" b="0" dirty="0"/>
              <a:t> more closely interfaces with </a:t>
            </a:r>
            <a:r>
              <a:rPr lang="en-US" b="0" dirty="0" err="1"/>
              <a:t>Kaiaulu</a:t>
            </a:r>
            <a:r>
              <a:rPr lang="en-US" b="0" dirty="0"/>
              <a:t> but can use any other dataset. For an example of a dataset, see </a:t>
            </a:r>
            <a:r>
              <a:rPr lang="en-US" dirty="0" err="1"/>
              <a:t>issue_social_smell_showcase.Rmd</a:t>
            </a:r>
            <a:r>
              <a:rPr lang="en-US" b="0" dirty="0"/>
              <a:t>. Refer to </a:t>
            </a:r>
            <a:r>
              <a:rPr lang="en-US" b="0" dirty="0" err="1"/>
              <a:t>cheatsheets</a:t>
            </a:r>
            <a:r>
              <a:rPr lang="en-US" b="0" dirty="0"/>
              <a:t>/social-smells-</a:t>
            </a:r>
            <a:r>
              <a:rPr lang="en-US" b="0" dirty="0" err="1"/>
              <a:t>cheatsheet.pdf</a:t>
            </a:r>
            <a:endParaRPr lang="en-US" b="0" dirty="0"/>
          </a:p>
        </p:txBody>
      </p:sp>
      <p:cxnSp>
        <p:nvCxnSpPr>
          <p:cNvPr id="1112" name="Connector: Elbow 1111">
            <a:extLst>
              <a:ext uri="{FF2B5EF4-FFF2-40B4-BE49-F238E27FC236}">
                <a16:creationId xmlns:a16="http://schemas.microsoft.com/office/drawing/2014/main" id="{80F001ED-6CC4-3953-5B0D-4D5546E3CF2A}"/>
              </a:ext>
            </a:extLst>
          </p:cNvPr>
          <p:cNvCxnSpPr>
            <a:cxnSpLocks/>
            <a:stCxn id="991" idx="3"/>
          </p:cNvCxnSpPr>
          <p:nvPr/>
        </p:nvCxnSpPr>
        <p:spPr>
          <a:xfrm flipV="1">
            <a:off x="8704406" y="1562408"/>
            <a:ext cx="859478" cy="452092"/>
          </a:xfrm>
          <a:prstGeom prst="bentConnector3">
            <a:avLst>
              <a:gd name="adj1" fmla="val 38543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5FA302B1-C51C-AAE1-BE33-CB4B56E1A327}"/>
              </a:ext>
            </a:extLst>
          </p:cNvPr>
          <p:cNvCxnSpPr>
            <a:cxnSpLocks/>
            <a:endCxn id="1107" idx="1"/>
          </p:cNvCxnSpPr>
          <p:nvPr/>
        </p:nvCxnSpPr>
        <p:spPr>
          <a:xfrm>
            <a:off x="8325869" y="6858316"/>
            <a:ext cx="1275331" cy="261138"/>
          </a:xfrm>
          <a:prstGeom prst="bentConnector3">
            <a:avLst>
              <a:gd name="adj1" fmla="val 5284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FF8C6E3-6F27-6E26-CE76-9A1A66DB8EAA}"/>
              </a:ext>
            </a:extLst>
          </p:cNvPr>
          <p:cNvSpPr txBox="1"/>
          <p:nvPr/>
        </p:nvSpPr>
        <p:spPr>
          <a:xfrm>
            <a:off x="1275037" y="358624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Folded Corner 3">
            <a:extLst>
              <a:ext uri="{FF2B5EF4-FFF2-40B4-BE49-F238E27FC236}">
                <a16:creationId xmlns:a16="http://schemas.microsoft.com/office/drawing/2014/main" id="{DDE959FF-0D26-B43C-733E-6A8BF9E1E556}"/>
              </a:ext>
            </a:extLst>
          </p:cNvPr>
          <p:cNvSpPr/>
          <p:nvPr/>
        </p:nvSpPr>
        <p:spPr>
          <a:xfrm rot="10800000" flipH="1">
            <a:off x="2629874" y="338101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" name="Folded Corner 4">
            <a:extLst>
              <a:ext uri="{FF2B5EF4-FFF2-40B4-BE49-F238E27FC236}">
                <a16:creationId xmlns:a16="http://schemas.microsoft.com/office/drawing/2014/main" id="{F9294C4D-F31A-AC78-CA43-6D88984F1CA1}"/>
              </a:ext>
            </a:extLst>
          </p:cNvPr>
          <p:cNvSpPr/>
          <p:nvPr/>
        </p:nvSpPr>
        <p:spPr>
          <a:xfrm rot="10800000" flipH="1">
            <a:off x="2596792" y="34094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" name="Folded Corner 5">
            <a:extLst>
              <a:ext uri="{FF2B5EF4-FFF2-40B4-BE49-F238E27FC236}">
                <a16:creationId xmlns:a16="http://schemas.microsoft.com/office/drawing/2014/main" id="{BB53D9F1-0BD8-D35E-023B-378D20D3F4F0}"/>
              </a:ext>
            </a:extLst>
          </p:cNvPr>
          <p:cNvSpPr/>
          <p:nvPr/>
        </p:nvSpPr>
        <p:spPr>
          <a:xfrm rot="10800000" flipH="1">
            <a:off x="2556355" y="344325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33C195E8-4988-6916-147C-FF7F92CA35DF}"/>
              </a:ext>
            </a:extLst>
          </p:cNvPr>
          <p:cNvSpPr txBox="1"/>
          <p:nvPr/>
        </p:nvSpPr>
        <p:spPr>
          <a:xfrm>
            <a:off x="2486995" y="3589370"/>
            <a:ext cx="4823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algorithm.py</a:t>
            </a:r>
          </a:p>
        </p:txBody>
      </p:sp>
      <p:sp>
        <p:nvSpPr>
          <p:cNvPr id="27" name="Folded Corner 3">
            <a:extLst>
              <a:ext uri="{FF2B5EF4-FFF2-40B4-BE49-F238E27FC236}">
                <a16:creationId xmlns:a16="http://schemas.microsoft.com/office/drawing/2014/main" id="{0B499562-3FEF-3D50-47C3-AC95A5A8DEB2}"/>
              </a:ext>
            </a:extLst>
          </p:cNvPr>
          <p:cNvSpPr/>
          <p:nvPr/>
        </p:nvSpPr>
        <p:spPr>
          <a:xfrm rot="10800000" flipH="1">
            <a:off x="3124045" y="336113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" name="Folded Corner 4">
            <a:extLst>
              <a:ext uri="{FF2B5EF4-FFF2-40B4-BE49-F238E27FC236}">
                <a16:creationId xmlns:a16="http://schemas.microsoft.com/office/drawing/2014/main" id="{147A22FF-BA72-FF1F-01F5-110A423C5FC5}"/>
              </a:ext>
            </a:extLst>
          </p:cNvPr>
          <p:cNvSpPr/>
          <p:nvPr/>
        </p:nvSpPr>
        <p:spPr>
          <a:xfrm rot="10800000" flipH="1">
            <a:off x="3090963" y="338960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" name="Folded Corner 5">
            <a:extLst>
              <a:ext uri="{FF2B5EF4-FFF2-40B4-BE49-F238E27FC236}">
                <a16:creationId xmlns:a16="http://schemas.microsoft.com/office/drawing/2014/main" id="{EC6D84E1-BD9F-A791-19E0-CE03FD74A677}"/>
              </a:ext>
            </a:extLst>
          </p:cNvPr>
          <p:cNvSpPr/>
          <p:nvPr/>
        </p:nvSpPr>
        <p:spPr>
          <a:xfrm rot="10800000" flipH="1">
            <a:off x="3050526" y="34233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0F4CD2C9-1E17-7F78-10C4-C8611BA8F47A}"/>
              </a:ext>
            </a:extLst>
          </p:cNvPr>
          <p:cNvSpPr txBox="1"/>
          <p:nvPr/>
        </p:nvSpPr>
        <p:spPr>
          <a:xfrm>
            <a:off x="3041735" y="358121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score.py</a:t>
            </a:r>
          </a:p>
        </p:txBody>
      </p:sp>
      <p:sp>
        <p:nvSpPr>
          <p:cNvPr id="30" name="Folded Corner 3">
            <a:extLst>
              <a:ext uri="{FF2B5EF4-FFF2-40B4-BE49-F238E27FC236}">
                <a16:creationId xmlns:a16="http://schemas.microsoft.com/office/drawing/2014/main" id="{A14E9212-2B74-C51C-F6D3-F8D98AF081EC}"/>
              </a:ext>
            </a:extLst>
          </p:cNvPr>
          <p:cNvSpPr/>
          <p:nvPr/>
        </p:nvSpPr>
        <p:spPr>
          <a:xfrm rot="10800000" flipH="1">
            <a:off x="489099" y="3477311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" name="Folded Corner 4">
            <a:extLst>
              <a:ext uri="{FF2B5EF4-FFF2-40B4-BE49-F238E27FC236}">
                <a16:creationId xmlns:a16="http://schemas.microsoft.com/office/drawing/2014/main" id="{E0D92228-86ED-200B-B714-4709A809C6D5}"/>
              </a:ext>
            </a:extLst>
          </p:cNvPr>
          <p:cNvSpPr/>
          <p:nvPr/>
        </p:nvSpPr>
        <p:spPr>
          <a:xfrm rot="10800000" flipH="1">
            <a:off x="456017" y="3505777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" name="Folded Corner 5">
            <a:extLst>
              <a:ext uri="{FF2B5EF4-FFF2-40B4-BE49-F238E27FC236}">
                <a16:creationId xmlns:a16="http://schemas.microsoft.com/office/drawing/2014/main" id="{2A454909-B5CF-4CB5-13D5-20263F3F0FE2}"/>
              </a:ext>
            </a:extLst>
          </p:cNvPr>
          <p:cNvSpPr/>
          <p:nvPr/>
        </p:nvSpPr>
        <p:spPr>
          <a:xfrm rot="10800000" flipH="1">
            <a:off x="415580" y="3539553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4385BBCD-B99D-9958-FB43-A34D400BBE28}"/>
              </a:ext>
            </a:extLst>
          </p:cNvPr>
          <p:cNvSpPr txBox="1"/>
          <p:nvPr/>
        </p:nvSpPr>
        <p:spPr>
          <a:xfrm>
            <a:off x="391503" y="3700338"/>
            <a:ext cx="4603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 err="1">
                <a:solidFill>
                  <a:schemeClr val="tx1">
                    <a:lumMod val="50000"/>
                  </a:schemeClr>
                </a:solidFill>
              </a:rPr>
              <a:t>edu.cmu</a:t>
            </a:r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613C8F-0FD4-50EA-0A2B-0AEE0F220329}"/>
              </a:ext>
            </a:extLst>
          </p:cNvPr>
          <p:cNvSpPr txBox="1"/>
          <p:nvPr/>
        </p:nvSpPr>
        <p:spPr>
          <a:xfrm>
            <a:off x="2058159" y="4229130"/>
            <a:ext cx="621043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run_fges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()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497EC0-454B-E194-BC8A-4C1F44364128}"/>
              </a:ext>
            </a:extLst>
          </p:cNvPr>
          <p:cNvSpPr txBox="1"/>
          <p:nvPr/>
        </p:nvSpPr>
        <p:spPr>
          <a:xfrm>
            <a:off x="8607799" y="473724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BCB25FA7-662A-678F-9820-EB18EF4C99A7}"/>
              </a:ext>
            </a:extLst>
          </p:cNvPr>
          <p:cNvCxnSpPr>
            <a:cxnSpLocks/>
            <a:stCxn id="51" idx="3"/>
            <a:endCxn id="1106" idx="1"/>
          </p:cNvCxnSpPr>
          <p:nvPr/>
        </p:nvCxnSpPr>
        <p:spPr>
          <a:xfrm flipV="1">
            <a:off x="8718069" y="4559134"/>
            <a:ext cx="883131" cy="338368"/>
          </a:xfrm>
          <a:prstGeom prst="bentConnector3">
            <a:avLst>
              <a:gd name="adj1" fmla="val 36673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9" name="TextBox 898">
            <a:extLst>
              <a:ext uri="{FF2B5EF4-FFF2-40B4-BE49-F238E27FC236}">
                <a16:creationId xmlns:a16="http://schemas.microsoft.com/office/drawing/2014/main" id="{B693874D-16D0-A901-A0AA-78768ADAEB70}"/>
              </a:ext>
            </a:extLst>
          </p:cNvPr>
          <p:cNvSpPr txBox="1"/>
          <p:nvPr/>
        </p:nvSpPr>
        <p:spPr>
          <a:xfrm>
            <a:off x="9601200" y="8412480"/>
            <a:ext cx="4244990" cy="1900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Parsing graph data into nodes</a:t>
            </a:r>
            <a:r>
              <a:rPr lang="en-US" b="0"/>
              <a:t>, an edge set, and edge-type probabilities enables </a:t>
            </a:r>
            <a:r>
              <a:rPr lang="en-US" b="0" dirty="0"/>
              <a:t>1-PNEF to be applied. Causal search graph outputs can be saved as JSON, which can be loaded and viewed in the Tetrad GUI. </a:t>
            </a:r>
          </a:p>
          <a:p>
            <a:r>
              <a:rPr lang="en-US" dirty="0"/>
              <a:t>1. </a:t>
            </a:r>
            <a:r>
              <a:rPr lang="en-US" dirty="0" err="1"/>
              <a:t>transform_graph_java_to_graph_json</a:t>
            </a:r>
            <a:r>
              <a:rPr lang="en-US" dirty="0"/>
              <a:t>()</a:t>
            </a:r>
          </a:p>
          <a:p>
            <a:r>
              <a:rPr lang="en-US" b="0" dirty="0"/>
              <a:t>Convert Tetrad graph object to JSON format.</a:t>
            </a:r>
          </a:p>
          <a:p>
            <a:r>
              <a:rPr lang="en-US" dirty="0"/>
              <a:t>2. </a:t>
            </a:r>
            <a:r>
              <a:rPr lang="en-US" dirty="0" err="1"/>
              <a:t>parse_graph_json</a:t>
            </a:r>
            <a:r>
              <a:rPr lang="en-US" dirty="0"/>
              <a:t>()</a:t>
            </a:r>
          </a:p>
          <a:p>
            <a:r>
              <a:rPr lang="en-US" b="0" dirty="0"/>
              <a:t>Parse Tetrad JSON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datasets.</a:t>
            </a:r>
          </a:p>
        </p:txBody>
      </p:sp>
      <p:sp>
        <p:nvSpPr>
          <p:cNvPr id="900" name="Logistics">
            <a:extLst>
              <a:ext uri="{FF2B5EF4-FFF2-40B4-BE49-F238E27FC236}">
                <a16:creationId xmlns:a16="http://schemas.microsoft.com/office/drawing/2014/main" id="{071E9DB0-D662-95F5-E8E6-EAB39ECC501F}"/>
              </a:ext>
            </a:extLst>
          </p:cNvPr>
          <p:cNvSpPr txBox="1"/>
          <p:nvPr/>
        </p:nvSpPr>
        <p:spPr>
          <a:xfrm>
            <a:off x="9601200" y="818217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graph.py</a:t>
            </a:r>
          </a:p>
        </p:txBody>
      </p:sp>
      <p:sp>
        <p:nvSpPr>
          <p:cNvPr id="90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1E59C230-69F4-A884-0DB1-41C3FB5A748D}"/>
              </a:ext>
            </a:extLst>
          </p:cNvPr>
          <p:cNvSpPr txBox="1"/>
          <p:nvPr/>
        </p:nvSpPr>
        <p:spPr>
          <a:xfrm>
            <a:off x="182880" y="173736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Python package that serves as a wrapper over the Tetrad Java API (via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), providing an interface for causal analysis algorithms.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fork of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-tetrad/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pytetrad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grpSp>
        <p:nvGrpSpPr>
          <p:cNvPr id="909" name="Group 908">
            <a:extLst>
              <a:ext uri="{FF2B5EF4-FFF2-40B4-BE49-F238E27FC236}">
                <a16:creationId xmlns:a16="http://schemas.microsoft.com/office/drawing/2014/main" id="{B632E03C-CB72-2F03-690F-52B627ADDC91}"/>
              </a:ext>
            </a:extLst>
          </p:cNvPr>
          <p:cNvGrpSpPr/>
          <p:nvPr/>
        </p:nvGrpSpPr>
        <p:grpSpPr>
          <a:xfrm>
            <a:off x="5279608" y="8581425"/>
            <a:ext cx="818142" cy="583040"/>
            <a:chOff x="3300333" y="6875181"/>
            <a:chExt cx="2140200" cy="1512332"/>
          </a:xfrm>
        </p:grpSpPr>
        <p:sp>
          <p:nvSpPr>
            <p:cNvPr id="910" name="TextBox 909">
              <a:extLst>
                <a:ext uri="{FF2B5EF4-FFF2-40B4-BE49-F238E27FC236}">
                  <a16:creationId xmlns:a16="http://schemas.microsoft.com/office/drawing/2014/main" id="{F2B4C82B-5DF5-5BAF-AB81-5D9612731B8F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11" name="Google Shape;162;p1">
              <a:extLst>
                <a:ext uri="{FF2B5EF4-FFF2-40B4-BE49-F238E27FC236}">
                  <a16:creationId xmlns:a16="http://schemas.microsoft.com/office/drawing/2014/main" id="{93A1219A-D109-AFAB-9181-DC885CA27A33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2" name="Google Shape;163;p1">
              <a:extLst>
                <a:ext uri="{FF2B5EF4-FFF2-40B4-BE49-F238E27FC236}">
                  <a16:creationId xmlns:a16="http://schemas.microsoft.com/office/drawing/2014/main" id="{BF081C05-E7A4-8E53-E8EF-1CE140DE2BFB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3" name="Google Shape;164;p1">
              <a:extLst>
                <a:ext uri="{FF2B5EF4-FFF2-40B4-BE49-F238E27FC236}">
                  <a16:creationId xmlns:a16="http://schemas.microsoft.com/office/drawing/2014/main" id="{62D6E6CD-ADA0-1F14-C9D3-A9E11A6A46EA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4" name="Google Shape;165;p1">
              <a:extLst>
                <a:ext uri="{FF2B5EF4-FFF2-40B4-BE49-F238E27FC236}">
                  <a16:creationId xmlns:a16="http://schemas.microsoft.com/office/drawing/2014/main" id="{C1A98438-F003-3AFE-BF55-CD82CB1B7149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5" name="Google Shape;171;p1">
              <a:extLst>
                <a:ext uri="{FF2B5EF4-FFF2-40B4-BE49-F238E27FC236}">
                  <a16:creationId xmlns:a16="http://schemas.microsoft.com/office/drawing/2014/main" id="{F1049234-D3EB-6402-4624-A98002F08C23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6" name="Google Shape;187;p1">
              <a:extLst>
                <a:ext uri="{FF2B5EF4-FFF2-40B4-BE49-F238E27FC236}">
                  <a16:creationId xmlns:a16="http://schemas.microsoft.com/office/drawing/2014/main" id="{C6DD997F-1DE5-03DA-F46B-9D0FA9640533}"/>
                </a:ext>
              </a:extLst>
            </p:cNvPr>
            <p:cNvCxnSpPr>
              <a:stCxn id="917" idx="6"/>
              <a:endCxn id="911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17" name="Google Shape;188;p1">
              <a:extLst>
                <a:ext uri="{FF2B5EF4-FFF2-40B4-BE49-F238E27FC236}">
                  <a16:creationId xmlns:a16="http://schemas.microsoft.com/office/drawing/2014/main" id="{6B742CF1-7413-CE5B-223F-B52462498627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8" name="Google Shape;196;p1">
              <a:extLst>
                <a:ext uri="{FF2B5EF4-FFF2-40B4-BE49-F238E27FC236}">
                  <a16:creationId xmlns:a16="http://schemas.microsoft.com/office/drawing/2014/main" id="{1593A7BA-CC30-430B-0575-1754371DE3A5}"/>
                </a:ext>
              </a:extLst>
            </p:cNvPr>
            <p:cNvCxnSpPr>
              <a:stCxn id="917" idx="5"/>
              <a:endCxn id="913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19" name="Google Shape;198;p1">
              <a:extLst>
                <a:ext uri="{FF2B5EF4-FFF2-40B4-BE49-F238E27FC236}">
                  <a16:creationId xmlns:a16="http://schemas.microsoft.com/office/drawing/2014/main" id="{F9FE009C-F8C8-A34A-5E4B-19E509CB3621}"/>
                </a:ext>
              </a:extLst>
            </p:cNvPr>
            <p:cNvCxnSpPr>
              <a:stCxn id="917" idx="6"/>
              <a:endCxn id="914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0" name="Google Shape;199;p1">
              <a:extLst>
                <a:ext uri="{FF2B5EF4-FFF2-40B4-BE49-F238E27FC236}">
                  <a16:creationId xmlns:a16="http://schemas.microsoft.com/office/drawing/2014/main" id="{A1701F56-5514-6E76-7142-89B34FA8FDA3}"/>
                </a:ext>
              </a:extLst>
            </p:cNvPr>
            <p:cNvCxnSpPr>
              <a:stCxn id="917" idx="3"/>
              <a:endCxn id="915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1" name="Google Shape;200;p1">
              <a:extLst>
                <a:ext uri="{FF2B5EF4-FFF2-40B4-BE49-F238E27FC236}">
                  <a16:creationId xmlns:a16="http://schemas.microsoft.com/office/drawing/2014/main" id="{40C65211-5D72-D58D-AA63-65228A2DEB41}"/>
                </a:ext>
              </a:extLst>
            </p:cNvPr>
            <p:cNvCxnSpPr>
              <a:stCxn id="917" idx="6"/>
              <a:endCxn id="912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926" name="TextBox 925">
            <a:extLst>
              <a:ext uri="{FF2B5EF4-FFF2-40B4-BE49-F238E27FC236}">
                <a16:creationId xmlns:a16="http://schemas.microsoft.com/office/drawing/2014/main" id="{B6121598-0243-05AB-333B-B7FA4E9C9353}"/>
              </a:ext>
            </a:extLst>
          </p:cNvPr>
          <p:cNvSpPr txBox="1"/>
          <p:nvPr/>
        </p:nvSpPr>
        <p:spPr>
          <a:xfrm>
            <a:off x="4745786" y="9504777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.</a:t>
            </a:r>
            <a:r>
              <a:rPr lang="en-US" dirty="0" err="1"/>
              <a:t>json</a:t>
            </a:r>
            <a:endParaRPr lang="en-US" dirty="0"/>
          </a:p>
        </p:txBody>
      </p:sp>
      <p:cxnSp>
        <p:nvCxnSpPr>
          <p:cNvPr id="927" name="Straight Arrow Connector 926">
            <a:extLst>
              <a:ext uri="{FF2B5EF4-FFF2-40B4-BE49-F238E27FC236}">
                <a16:creationId xmlns:a16="http://schemas.microsoft.com/office/drawing/2014/main" id="{2644E5FC-64E0-AA7B-5FC1-45551AE1E62C}"/>
              </a:ext>
            </a:extLst>
          </p:cNvPr>
          <p:cNvCxnSpPr>
            <a:cxnSpLocks/>
          </p:cNvCxnSpPr>
          <p:nvPr/>
        </p:nvCxnSpPr>
        <p:spPr>
          <a:xfrm>
            <a:off x="6437738" y="8942534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8" name="Flowchart: Internal Storage 927">
            <a:extLst>
              <a:ext uri="{FF2B5EF4-FFF2-40B4-BE49-F238E27FC236}">
                <a16:creationId xmlns:a16="http://schemas.microsoft.com/office/drawing/2014/main" id="{F3803597-C075-5B17-0583-037B1BBE3BD6}"/>
              </a:ext>
            </a:extLst>
          </p:cNvPr>
          <p:cNvSpPr/>
          <p:nvPr/>
        </p:nvSpPr>
        <p:spPr>
          <a:xfrm>
            <a:off x="7070339" y="8311163"/>
            <a:ext cx="1472339" cy="1138122"/>
          </a:xfrm>
          <a:prstGeom prst="flowChartInternalStorage">
            <a:avLst/>
          </a:prstGeom>
          <a:noFill/>
          <a:ln w="12700" cap="flat">
            <a:solidFill>
              <a:schemeClr val="tx1">
                <a:lumMod val="50000"/>
              </a:schemeClr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2B29FBAD-937A-F5F5-5420-D96D87B04AAD}"/>
              </a:ext>
            </a:extLst>
          </p:cNvPr>
          <p:cNvGrpSpPr/>
          <p:nvPr/>
        </p:nvGrpSpPr>
        <p:grpSpPr>
          <a:xfrm>
            <a:off x="7473200" y="8601381"/>
            <a:ext cx="818142" cy="583040"/>
            <a:chOff x="3300333" y="6875181"/>
            <a:chExt cx="2140200" cy="1512332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5794AF96-F921-C8DC-D215-5159D54F83FA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33" name="Google Shape;162;p1">
              <a:extLst>
                <a:ext uri="{FF2B5EF4-FFF2-40B4-BE49-F238E27FC236}">
                  <a16:creationId xmlns:a16="http://schemas.microsoft.com/office/drawing/2014/main" id="{CA49DDCC-50EE-B185-10E0-F426721B8937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4" name="Google Shape;163;p1">
              <a:extLst>
                <a:ext uri="{FF2B5EF4-FFF2-40B4-BE49-F238E27FC236}">
                  <a16:creationId xmlns:a16="http://schemas.microsoft.com/office/drawing/2014/main" id="{6E40E832-304C-0924-74E6-01EABFCF52B2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6" name="Google Shape;164;p1">
              <a:extLst>
                <a:ext uri="{FF2B5EF4-FFF2-40B4-BE49-F238E27FC236}">
                  <a16:creationId xmlns:a16="http://schemas.microsoft.com/office/drawing/2014/main" id="{011C003E-CB44-7B8E-04A1-F766990B7E7A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7" name="Google Shape;165;p1">
              <a:extLst>
                <a:ext uri="{FF2B5EF4-FFF2-40B4-BE49-F238E27FC236}">
                  <a16:creationId xmlns:a16="http://schemas.microsoft.com/office/drawing/2014/main" id="{600B507C-CA07-3D47-2FA2-EA50E428CAE1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8" name="Google Shape;171;p1">
              <a:extLst>
                <a:ext uri="{FF2B5EF4-FFF2-40B4-BE49-F238E27FC236}">
                  <a16:creationId xmlns:a16="http://schemas.microsoft.com/office/drawing/2014/main" id="{F24136E9-1D62-185A-4E82-9AA61A12EA30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5" name="Google Shape;187;p1">
              <a:extLst>
                <a:ext uri="{FF2B5EF4-FFF2-40B4-BE49-F238E27FC236}">
                  <a16:creationId xmlns:a16="http://schemas.microsoft.com/office/drawing/2014/main" id="{AC7093CC-73B6-FB08-0F89-D54EB594FD6F}"/>
                </a:ext>
              </a:extLst>
            </p:cNvPr>
            <p:cNvCxnSpPr>
              <a:stCxn id="1116" idx="6"/>
              <a:endCxn id="1033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16" name="Google Shape;188;p1">
              <a:extLst>
                <a:ext uri="{FF2B5EF4-FFF2-40B4-BE49-F238E27FC236}">
                  <a16:creationId xmlns:a16="http://schemas.microsoft.com/office/drawing/2014/main" id="{2D17CA1F-17FF-B03F-1365-8A031358AFAA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7" name="Google Shape;196;p1">
              <a:extLst>
                <a:ext uri="{FF2B5EF4-FFF2-40B4-BE49-F238E27FC236}">
                  <a16:creationId xmlns:a16="http://schemas.microsoft.com/office/drawing/2014/main" id="{0BF69042-A457-0388-616E-A029C407138C}"/>
                </a:ext>
              </a:extLst>
            </p:cNvPr>
            <p:cNvCxnSpPr>
              <a:stCxn id="1116" idx="5"/>
              <a:endCxn id="1036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8" name="Google Shape;198;p1">
              <a:extLst>
                <a:ext uri="{FF2B5EF4-FFF2-40B4-BE49-F238E27FC236}">
                  <a16:creationId xmlns:a16="http://schemas.microsoft.com/office/drawing/2014/main" id="{0A3E1C83-C49C-9A81-859D-B8F16C56EE54}"/>
                </a:ext>
              </a:extLst>
            </p:cNvPr>
            <p:cNvCxnSpPr>
              <a:stCxn id="1116" idx="6"/>
              <a:endCxn id="1037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9" name="Google Shape;199;p1">
              <a:extLst>
                <a:ext uri="{FF2B5EF4-FFF2-40B4-BE49-F238E27FC236}">
                  <a16:creationId xmlns:a16="http://schemas.microsoft.com/office/drawing/2014/main" id="{1349407B-98C9-574D-6536-82677DE6CDB0}"/>
                </a:ext>
              </a:extLst>
            </p:cNvPr>
            <p:cNvCxnSpPr>
              <a:stCxn id="1116" idx="3"/>
              <a:endCxn id="1038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20" name="Google Shape;200;p1">
              <a:extLst>
                <a:ext uri="{FF2B5EF4-FFF2-40B4-BE49-F238E27FC236}">
                  <a16:creationId xmlns:a16="http://schemas.microsoft.com/office/drawing/2014/main" id="{A95EB1E9-764C-A4BE-580A-00A8498D8AC0}"/>
                </a:ext>
              </a:extLst>
            </p:cNvPr>
            <p:cNvCxnSpPr>
              <a:stCxn id="1116" idx="6"/>
              <a:endCxn id="1034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1121" name="TextBox 1120">
            <a:extLst>
              <a:ext uri="{FF2B5EF4-FFF2-40B4-BE49-F238E27FC236}">
                <a16:creationId xmlns:a16="http://schemas.microsoft.com/office/drawing/2014/main" id="{2472FD5D-63D3-E53F-EBEC-B8A952E26391}"/>
              </a:ext>
            </a:extLst>
          </p:cNvPr>
          <p:cNvSpPr txBox="1"/>
          <p:nvPr/>
        </p:nvSpPr>
        <p:spPr>
          <a:xfrm>
            <a:off x="6892923" y="9463342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Tetrad GUI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D9AA2F8A-19D3-38E8-48FF-859F65714A84}"/>
              </a:ext>
            </a:extLst>
          </p:cNvPr>
          <p:cNvSpPr txBox="1"/>
          <p:nvPr/>
        </p:nvSpPr>
        <p:spPr>
          <a:xfrm>
            <a:off x="7071481" y="845805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Graph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AAF1494F-B0EC-5B95-30C4-277695E49AAA}"/>
              </a:ext>
            </a:extLst>
          </p:cNvPr>
          <p:cNvSpPr txBox="1"/>
          <p:nvPr/>
        </p:nvSpPr>
        <p:spPr>
          <a:xfrm>
            <a:off x="7061235" y="8531089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Compare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0BE9F0CA-E14E-A8DA-8FFB-AFCF3D27E086}"/>
              </a:ext>
            </a:extLst>
          </p:cNvPr>
          <p:cNvSpPr txBox="1"/>
          <p:nvPr/>
        </p:nvSpPr>
        <p:spPr>
          <a:xfrm>
            <a:off x="7048685" y="8610068"/>
            <a:ext cx="251336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Grid Search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0BA279AB-F503-0488-43FD-27D57B101C47}"/>
              </a:ext>
            </a:extLst>
          </p:cNvPr>
          <p:cNvSpPr txBox="1"/>
          <p:nvPr/>
        </p:nvSpPr>
        <p:spPr>
          <a:xfrm>
            <a:off x="7046974" y="8677995"/>
            <a:ext cx="303972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Parametric Model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CFD82F59-EF30-ACC3-C9C6-25BC82CFA21D}"/>
              </a:ext>
            </a:extLst>
          </p:cNvPr>
          <p:cNvSpPr txBox="1"/>
          <p:nvPr/>
        </p:nvSpPr>
        <p:spPr>
          <a:xfrm>
            <a:off x="7052833" y="8791685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Simulation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29B95948-DA98-49BE-716C-69EBBC85F926}"/>
              </a:ext>
            </a:extLst>
          </p:cNvPr>
          <p:cNvSpPr txBox="1"/>
          <p:nvPr/>
        </p:nvSpPr>
        <p:spPr>
          <a:xfrm>
            <a:off x="7070339" y="8866499"/>
            <a:ext cx="235741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Cluster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68ED169B-6FE0-85FD-7A37-957BC4720FB3}"/>
              </a:ext>
            </a:extLst>
          </p:cNvPr>
          <p:cNvSpPr txBox="1"/>
          <p:nvPr/>
        </p:nvSpPr>
        <p:spPr>
          <a:xfrm>
            <a:off x="7063846" y="8962863"/>
            <a:ext cx="260604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Structure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D1325031-E600-FFB8-6BB3-F47B79B1E181}"/>
              </a:ext>
            </a:extLst>
          </p:cNvPr>
          <p:cNvSpPr txBox="1"/>
          <p:nvPr/>
        </p:nvSpPr>
        <p:spPr>
          <a:xfrm>
            <a:off x="7055007" y="9063908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Knowledge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E24E2562-FFE8-1B77-5B53-BCACF50BFC23}"/>
              </a:ext>
            </a:extLst>
          </p:cNvPr>
          <p:cNvSpPr txBox="1"/>
          <p:nvPr/>
        </p:nvSpPr>
        <p:spPr>
          <a:xfrm>
            <a:off x="7061235" y="9140557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Updater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AC6A2345-B242-3F61-17A4-31E72899687D}"/>
              </a:ext>
            </a:extLst>
          </p:cNvPr>
          <p:cNvSpPr txBox="1"/>
          <p:nvPr/>
        </p:nvSpPr>
        <p:spPr>
          <a:xfrm>
            <a:off x="7048685" y="9227323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Regression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9C011B9E-7C0D-6CF3-7D96-034C0AC7085E}"/>
              </a:ext>
            </a:extLst>
          </p:cNvPr>
          <p:cNvSpPr txBox="1"/>
          <p:nvPr/>
        </p:nvSpPr>
        <p:spPr>
          <a:xfrm>
            <a:off x="7233495" y="8289476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File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EAEBFF59-F09B-FEAF-F201-88555193109B}"/>
              </a:ext>
            </a:extLst>
          </p:cNvPr>
          <p:cNvSpPr txBox="1"/>
          <p:nvPr/>
        </p:nvSpPr>
        <p:spPr>
          <a:xfrm>
            <a:off x="7303218" y="829201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Edit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55FAC156-DBA3-6172-96A8-2B15C69F1FA1}"/>
              </a:ext>
            </a:extLst>
          </p:cNvPr>
          <p:cNvSpPr txBox="1"/>
          <p:nvPr/>
        </p:nvSpPr>
        <p:spPr>
          <a:xfrm>
            <a:off x="7383126" y="8291864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Logging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33ED035C-54AC-0C3D-AB24-4358CD411BD4}"/>
              </a:ext>
            </a:extLst>
          </p:cNvPr>
          <p:cNvSpPr txBox="1"/>
          <p:nvPr/>
        </p:nvSpPr>
        <p:spPr>
          <a:xfrm>
            <a:off x="7505552" y="8292313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Pipelines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7CE94C76-E180-0BC3-D532-55163B382F05}"/>
              </a:ext>
            </a:extLst>
          </p:cNvPr>
          <p:cNvSpPr txBox="1"/>
          <p:nvPr/>
        </p:nvSpPr>
        <p:spPr>
          <a:xfrm>
            <a:off x="7637493" y="829506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Window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64DFA0D1-73FB-015F-BAEB-37FC3639AB72}"/>
              </a:ext>
            </a:extLst>
          </p:cNvPr>
          <p:cNvSpPr txBox="1"/>
          <p:nvPr/>
        </p:nvSpPr>
        <p:spPr>
          <a:xfrm>
            <a:off x="7754912" y="8295067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Help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8DDBF073-EB23-043C-3D2A-850913CB863A}"/>
              </a:ext>
            </a:extLst>
          </p:cNvPr>
          <p:cNvGrpSpPr/>
          <p:nvPr/>
        </p:nvGrpSpPr>
        <p:grpSpPr>
          <a:xfrm>
            <a:off x="1195787" y="7121456"/>
            <a:ext cx="358133" cy="449780"/>
            <a:chOff x="3801693" y="7065060"/>
            <a:chExt cx="465922" cy="575948"/>
          </a:xfrm>
        </p:grpSpPr>
        <p:sp>
          <p:nvSpPr>
            <p:cNvPr id="1151" name="Flowchart: Internal Storage 1150">
              <a:extLst>
                <a:ext uri="{FF2B5EF4-FFF2-40B4-BE49-F238E27FC236}">
                  <a16:creationId xmlns:a16="http://schemas.microsoft.com/office/drawing/2014/main" id="{13AA6ECB-4A3A-DAE1-1F31-4C88A19E366D}"/>
                </a:ext>
              </a:extLst>
            </p:cNvPr>
            <p:cNvSpPr/>
            <p:nvPr/>
          </p:nvSpPr>
          <p:spPr>
            <a:xfrm>
              <a:off x="3824554" y="7065060"/>
              <a:ext cx="443061" cy="575948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8C2DA621-FAD9-D191-06CF-1D0716FE8A0F}"/>
                </a:ext>
              </a:extLst>
            </p:cNvPr>
            <p:cNvSpPr txBox="1"/>
            <p:nvPr/>
          </p:nvSpPr>
          <p:spPr>
            <a:xfrm>
              <a:off x="3801693" y="7065060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3" name="TextBox 1152">
              <a:extLst>
                <a:ext uri="{FF2B5EF4-FFF2-40B4-BE49-F238E27FC236}">
                  <a16:creationId xmlns:a16="http://schemas.microsoft.com/office/drawing/2014/main" id="{930631F9-B3D7-9074-A75B-1DA401E8847B}"/>
                </a:ext>
              </a:extLst>
            </p:cNvPr>
            <p:cNvSpPr txBox="1"/>
            <p:nvPr/>
          </p:nvSpPr>
          <p:spPr>
            <a:xfrm>
              <a:off x="3801693" y="7191227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4" name="TextBox 1153">
              <a:extLst>
                <a:ext uri="{FF2B5EF4-FFF2-40B4-BE49-F238E27FC236}">
                  <a16:creationId xmlns:a16="http://schemas.microsoft.com/office/drawing/2014/main" id="{ABC3198E-2A59-F200-3E17-58DAACBEFB5C}"/>
                </a:ext>
              </a:extLst>
            </p:cNvPr>
            <p:cNvSpPr txBox="1"/>
            <p:nvPr/>
          </p:nvSpPr>
          <p:spPr>
            <a:xfrm>
              <a:off x="3801693" y="7336099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1155" name="Straight Connector 1154">
              <a:extLst>
                <a:ext uri="{FF2B5EF4-FFF2-40B4-BE49-F238E27FC236}">
                  <a16:creationId xmlns:a16="http://schemas.microsoft.com/office/drawing/2014/main" id="{B32C68A8-E86C-80A5-A0EA-28BF8B3204A5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1976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6" name="Straight Connector 1155">
              <a:extLst>
                <a:ext uri="{FF2B5EF4-FFF2-40B4-BE49-F238E27FC236}">
                  <a16:creationId xmlns:a16="http://schemas.microsoft.com/office/drawing/2014/main" id="{32EDD009-0F2B-7E11-BA54-C853CF628403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269790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7" name="Straight Connector 1156">
              <a:extLst>
                <a:ext uri="{FF2B5EF4-FFF2-40B4-BE49-F238E27FC236}">
                  <a16:creationId xmlns:a16="http://schemas.microsoft.com/office/drawing/2014/main" id="{9E1A08B5-A773-0356-1036-55E69C7829A1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344697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8" name="Straight Connector 1157">
              <a:extLst>
                <a:ext uri="{FF2B5EF4-FFF2-40B4-BE49-F238E27FC236}">
                  <a16:creationId xmlns:a16="http://schemas.microsoft.com/office/drawing/2014/main" id="{74A48F79-214E-F3E8-F0D1-6EBA965C753F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4262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9" name="Straight Connector 1158">
              <a:extLst>
                <a:ext uri="{FF2B5EF4-FFF2-40B4-BE49-F238E27FC236}">
                  <a16:creationId xmlns:a16="http://schemas.microsoft.com/office/drawing/2014/main" id="{A45B9CD1-292B-1D39-8BEC-E06C0F7EDD07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01852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60" name="Straight Connector 1159">
              <a:extLst>
                <a:ext uri="{FF2B5EF4-FFF2-40B4-BE49-F238E27FC236}">
                  <a16:creationId xmlns:a16="http://schemas.microsoft.com/office/drawing/2014/main" id="{725B88E4-6B1E-DCC6-FF17-A71C52981035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81085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213" name="Group 1212">
            <a:extLst>
              <a:ext uri="{FF2B5EF4-FFF2-40B4-BE49-F238E27FC236}">
                <a16:creationId xmlns:a16="http://schemas.microsoft.com/office/drawing/2014/main" id="{C30AE262-63BD-AA63-B567-0A7CC9E5CC86}"/>
              </a:ext>
            </a:extLst>
          </p:cNvPr>
          <p:cNvGrpSpPr/>
          <p:nvPr/>
        </p:nvGrpSpPr>
        <p:grpSpPr>
          <a:xfrm>
            <a:off x="2661632" y="7753204"/>
            <a:ext cx="1625672" cy="724346"/>
            <a:chOff x="4898186" y="8463563"/>
            <a:chExt cx="3978918" cy="1588036"/>
          </a:xfrm>
        </p:grpSpPr>
        <p:sp>
          <p:nvSpPr>
            <p:cNvPr id="1165" name="Folded Corner 5">
              <a:extLst>
                <a:ext uri="{FF2B5EF4-FFF2-40B4-BE49-F238E27FC236}">
                  <a16:creationId xmlns:a16="http://schemas.microsoft.com/office/drawing/2014/main" id="{325DEDCB-7FFF-0243-9E4C-7FEAF42DED65}"/>
                </a:ext>
              </a:extLst>
            </p:cNvPr>
            <p:cNvSpPr/>
            <p:nvPr/>
          </p:nvSpPr>
          <p:spPr>
            <a:xfrm rot="10800000" flipH="1">
              <a:off x="5352204" y="8474861"/>
              <a:ext cx="944261" cy="1140881"/>
            </a:xfrm>
            <a:prstGeom prst="foldedCorner">
              <a:avLst>
                <a:gd name="adj" fmla="val 29505"/>
              </a:avLst>
            </a:prstGeom>
            <a:solidFill>
              <a:schemeClr val="bg1"/>
            </a:solidFill>
            <a:ln w="63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="horz" wrap="square" lIns="54570" tIns="54570" rIns="54570" bIns="5457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1pPr>
              <a:lvl2pPr marL="0" marR="0" indent="228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2pPr>
              <a:lvl3pPr marL="0" marR="0" indent="457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3pPr>
              <a:lvl4pPr marL="0" marR="0" indent="685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4pPr>
              <a:lvl5pPr marL="0" marR="0" indent="9144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5pPr>
              <a:lvl6pPr marL="0" marR="0" indent="11430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6pPr>
              <a:lvl7pPr marL="0" marR="0" indent="1371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7pPr>
              <a:lvl8pPr marL="0" marR="0" indent="1600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8pPr>
              <a:lvl9pPr marL="0" marR="0" indent="1828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9pPr>
            </a:lstStyle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66" name="Group 1165">
              <a:extLst>
                <a:ext uri="{FF2B5EF4-FFF2-40B4-BE49-F238E27FC236}">
                  <a16:creationId xmlns:a16="http://schemas.microsoft.com/office/drawing/2014/main" id="{CED2189C-7CB1-5572-231A-3EE10D710AD7}"/>
                </a:ext>
              </a:extLst>
            </p:cNvPr>
            <p:cNvGrpSpPr/>
            <p:nvPr/>
          </p:nvGrpSpPr>
          <p:grpSpPr>
            <a:xfrm>
              <a:off x="5432008" y="8733825"/>
              <a:ext cx="818142" cy="583040"/>
              <a:chOff x="3300333" y="6875181"/>
              <a:chExt cx="2140200" cy="1512332"/>
            </a:xfrm>
          </p:grpSpPr>
          <p:sp>
            <p:nvSpPr>
              <p:cNvPr id="1167" name="TextBox 1166">
                <a:extLst>
                  <a:ext uri="{FF2B5EF4-FFF2-40B4-BE49-F238E27FC236}">
                    <a16:creationId xmlns:a16="http://schemas.microsoft.com/office/drawing/2014/main" id="{3C6450BF-63BA-7686-E2A1-2EC85BCC83C0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68" name="Google Shape;162;p1">
                <a:extLst>
                  <a:ext uri="{FF2B5EF4-FFF2-40B4-BE49-F238E27FC236}">
                    <a16:creationId xmlns:a16="http://schemas.microsoft.com/office/drawing/2014/main" id="{2954EA63-28AC-8664-6D5A-00FECBB6FBF0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69" name="Google Shape;163;p1">
                <a:extLst>
                  <a:ext uri="{FF2B5EF4-FFF2-40B4-BE49-F238E27FC236}">
                    <a16:creationId xmlns:a16="http://schemas.microsoft.com/office/drawing/2014/main" id="{1BCDBBA5-F014-F2C3-F0CD-7F174C9223A0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0" name="Google Shape;164;p1">
                <a:extLst>
                  <a:ext uri="{FF2B5EF4-FFF2-40B4-BE49-F238E27FC236}">
                    <a16:creationId xmlns:a16="http://schemas.microsoft.com/office/drawing/2014/main" id="{CCE8CD46-BA00-7201-656F-58A3403D0611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1" name="Google Shape;165;p1">
                <a:extLst>
                  <a:ext uri="{FF2B5EF4-FFF2-40B4-BE49-F238E27FC236}">
                    <a16:creationId xmlns:a16="http://schemas.microsoft.com/office/drawing/2014/main" id="{0330C4C5-11E2-8843-42F9-4D7554194648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2" name="Google Shape;171;p1">
                <a:extLst>
                  <a:ext uri="{FF2B5EF4-FFF2-40B4-BE49-F238E27FC236}">
                    <a16:creationId xmlns:a16="http://schemas.microsoft.com/office/drawing/2014/main" id="{8779D832-3BA6-BB1E-ADA6-4119DEC817E3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3" name="Google Shape;187;p1">
                <a:extLst>
                  <a:ext uri="{FF2B5EF4-FFF2-40B4-BE49-F238E27FC236}">
                    <a16:creationId xmlns:a16="http://schemas.microsoft.com/office/drawing/2014/main" id="{9BF52338-6A37-00A9-6476-5B60C8311B16}"/>
                  </a:ext>
                </a:extLst>
              </p:cNvPr>
              <p:cNvCxnSpPr>
                <a:cxnSpLocks/>
                <a:stCxn id="1174" idx="6"/>
                <a:endCxn id="1168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74" name="Google Shape;188;p1">
                <a:extLst>
                  <a:ext uri="{FF2B5EF4-FFF2-40B4-BE49-F238E27FC236}">
                    <a16:creationId xmlns:a16="http://schemas.microsoft.com/office/drawing/2014/main" id="{1759FB3B-0804-8919-6594-F0ED36B65CF8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5" name="Google Shape;196;p1">
                <a:extLst>
                  <a:ext uri="{FF2B5EF4-FFF2-40B4-BE49-F238E27FC236}">
                    <a16:creationId xmlns:a16="http://schemas.microsoft.com/office/drawing/2014/main" id="{03D9BE1C-D631-E642-D2D9-2FAC86F724CF}"/>
                  </a:ext>
                </a:extLst>
              </p:cNvPr>
              <p:cNvCxnSpPr>
                <a:cxnSpLocks/>
                <a:stCxn id="1174" idx="5"/>
                <a:endCxn id="1170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6" name="Google Shape;198;p1">
                <a:extLst>
                  <a:ext uri="{FF2B5EF4-FFF2-40B4-BE49-F238E27FC236}">
                    <a16:creationId xmlns:a16="http://schemas.microsoft.com/office/drawing/2014/main" id="{C3AAB252-5B9F-2C93-F993-EBC60E10590B}"/>
                  </a:ext>
                </a:extLst>
              </p:cNvPr>
              <p:cNvCxnSpPr>
                <a:cxnSpLocks/>
                <a:stCxn id="1174" idx="6"/>
                <a:endCxn id="1171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7" name="Google Shape;199;p1">
                <a:extLst>
                  <a:ext uri="{FF2B5EF4-FFF2-40B4-BE49-F238E27FC236}">
                    <a16:creationId xmlns:a16="http://schemas.microsoft.com/office/drawing/2014/main" id="{138541CD-2D64-B95A-EFB8-4E3281E387AE}"/>
                  </a:ext>
                </a:extLst>
              </p:cNvPr>
              <p:cNvCxnSpPr>
                <a:cxnSpLocks/>
                <a:stCxn id="1174" idx="3"/>
                <a:endCxn id="1172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8" name="Google Shape;200;p1">
                <a:extLst>
                  <a:ext uri="{FF2B5EF4-FFF2-40B4-BE49-F238E27FC236}">
                    <a16:creationId xmlns:a16="http://schemas.microsoft.com/office/drawing/2014/main" id="{7F04A9E1-E6E8-E76B-784E-78EF8B2A7F64}"/>
                  </a:ext>
                </a:extLst>
              </p:cNvPr>
              <p:cNvCxnSpPr>
                <a:cxnSpLocks/>
                <a:stCxn id="1174" idx="6"/>
                <a:endCxn id="1169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79" name="TextBox 1178">
              <a:extLst>
                <a:ext uri="{FF2B5EF4-FFF2-40B4-BE49-F238E27FC236}">
                  <a16:creationId xmlns:a16="http://schemas.microsoft.com/office/drawing/2014/main" id="{12486B4F-5B25-85EA-A6F8-B58A6B668D71}"/>
                </a:ext>
              </a:extLst>
            </p:cNvPr>
            <p:cNvSpPr txBox="1"/>
            <p:nvPr/>
          </p:nvSpPr>
          <p:spPr>
            <a:xfrm>
              <a:off x="4898186" y="9385556"/>
              <a:ext cx="1831780" cy="6556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000" dirty="0"/>
                <a:t>.</a:t>
              </a:r>
              <a:r>
                <a:rPr lang="en-US" sz="700" dirty="0" err="1"/>
                <a:t>json</a:t>
              </a:r>
              <a:endParaRPr lang="en-US" sz="1000" dirty="0"/>
            </a:p>
          </p:txBody>
        </p:sp>
        <p:sp>
          <p:nvSpPr>
            <p:cNvPr id="1181" name="Flowchart: Internal Storage 1180">
              <a:extLst>
                <a:ext uri="{FF2B5EF4-FFF2-40B4-BE49-F238E27FC236}">
                  <a16:creationId xmlns:a16="http://schemas.microsoft.com/office/drawing/2014/main" id="{9330B5D1-D246-D7F2-6398-D1636EE013E5}"/>
                </a:ext>
              </a:extLst>
            </p:cNvPr>
            <p:cNvSpPr/>
            <p:nvPr/>
          </p:nvSpPr>
          <p:spPr>
            <a:xfrm>
              <a:off x="7222739" y="8463563"/>
              <a:ext cx="1472339" cy="1138122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>
              <a:outerShdw blurRad="38100" dist="25400" dir="5400000" rotWithShape="0">
                <a:schemeClr val="bg1">
                  <a:alpha val="50000"/>
                </a:scheme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82" name="Group 1181">
              <a:extLst>
                <a:ext uri="{FF2B5EF4-FFF2-40B4-BE49-F238E27FC236}">
                  <a16:creationId xmlns:a16="http://schemas.microsoft.com/office/drawing/2014/main" id="{3CF06976-22BC-08C7-7EC3-658EE12F4AA9}"/>
                </a:ext>
              </a:extLst>
            </p:cNvPr>
            <p:cNvGrpSpPr/>
            <p:nvPr/>
          </p:nvGrpSpPr>
          <p:grpSpPr>
            <a:xfrm>
              <a:off x="7625600" y="8753781"/>
              <a:ext cx="818142" cy="583040"/>
              <a:chOff x="3300333" y="6875181"/>
              <a:chExt cx="2140200" cy="1512332"/>
            </a:xfrm>
          </p:grpSpPr>
          <p:sp>
            <p:nvSpPr>
              <p:cNvPr id="1183" name="TextBox 1182">
                <a:extLst>
                  <a:ext uri="{FF2B5EF4-FFF2-40B4-BE49-F238E27FC236}">
                    <a16:creationId xmlns:a16="http://schemas.microsoft.com/office/drawing/2014/main" id="{7D572864-8292-8D25-F24C-DDA8306444BF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84" name="Google Shape;162;p1">
                <a:extLst>
                  <a:ext uri="{FF2B5EF4-FFF2-40B4-BE49-F238E27FC236}">
                    <a16:creationId xmlns:a16="http://schemas.microsoft.com/office/drawing/2014/main" id="{1D6B5E84-8DBD-E881-D46A-DA28123CA20C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5" name="Google Shape;163;p1">
                <a:extLst>
                  <a:ext uri="{FF2B5EF4-FFF2-40B4-BE49-F238E27FC236}">
                    <a16:creationId xmlns:a16="http://schemas.microsoft.com/office/drawing/2014/main" id="{306B99B1-F1C8-CF0E-42D1-60806FF3D5D1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6" name="Google Shape;164;p1">
                <a:extLst>
                  <a:ext uri="{FF2B5EF4-FFF2-40B4-BE49-F238E27FC236}">
                    <a16:creationId xmlns:a16="http://schemas.microsoft.com/office/drawing/2014/main" id="{5C4B6A8C-FFB9-18F9-52A5-D5AF4192F9EB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7" name="Google Shape;165;p1">
                <a:extLst>
                  <a:ext uri="{FF2B5EF4-FFF2-40B4-BE49-F238E27FC236}">
                    <a16:creationId xmlns:a16="http://schemas.microsoft.com/office/drawing/2014/main" id="{C02FCC94-CF23-68CF-7265-57AFD78AD135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8" name="Google Shape;171;p1">
                <a:extLst>
                  <a:ext uri="{FF2B5EF4-FFF2-40B4-BE49-F238E27FC236}">
                    <a16:creationId xmlns:a16="http://schemas.microsoft.com/office/drawing/2014/main" id="{C330AA4B-C6E6-7B9B-D678-3AC3DC741B7C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89" name="Google Shape;187;p1">
                <a:extLst>
                  <a:ext uri="{FF2B5EF4-FFF2-40B4-BE49-F238E27FC236}">
                    <a16:creationId xmlns:a16="http://schemas.microsoft.com/office/drawing/2014/main" id="{2261BF39-12CA-6EA6-1D44-1F97F2910DDF}"/>
                  </a:ext>
                </a:extLst>
              </p:cNvPr>
              <p:cNvCxnSpPr>
                <a:cxnSpLocks/>
                <a:stCxn id="1190" idx="6"/>
                <a:endCxn id="1184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90" name="Google Shape;188;p1">
                <a:extLst>
                  <a:ext uri="{FF2B5EF4-FFF2-40B4-BE49-F238E27FC236}">
                    <a16:creationId xmlns:a16="http://schemas.microsoft.com/office/drawing/2014/main" id="{73BE20F7-1D53-3458-931F-A75A14341980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91" name="Google Shape;196;p1">
                <a:extLst>
                  <a:ext uri="{FF2B5EF4-FFF2-40B4-BE49-F238E27FC236}">
                    <a16:creationId xmlns:a16="http://schemas.microsoft.com/office/drawing/2014/main" id="{4659B756-AD6B-E565-10F6-37CD2CDEC942}"/>
                  </a:ext>
                </a:extLst>
              </p:cNvPr>
              <p:cNvCxnSpPr>
                <a:cxnSpLocks/>
                <a:stCxn id="1190" idx="5"/>
                <a:endCxn id="1186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2" name="Google Shape;198;p1">
                <a:extLst>
                  <a:ext uri="{FF2B5EF4-FFF2-40B4-BE49-F238E27FC236}">
                    <a16:creationId xmlns:a16="http://schemas.microsoft.com/office/drawing/2014/main" id="{45EDEEFD-B6FD-3000-C63C-083F48C7E973}"/>
                  </a:ext>
                </a:extLst>
              </p:cNvPr>
              <p:cNvCxnSpPr>
                <a:cxnSpLocks/>
                <a:stCxn id="1190" idx="6"/>
                <a:endCxn id="1187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3" name="Google Shape;199;p1">
                <a:extLst>
                  <a:ext uri="{FF2B5EF4-FFF2-40B4-BE49-F238E27FC236}">
                    <a16:creationId xmlns:a16="http://schemas.microsoft.com/office/drawing/2014/main" id="{B6F84796-93DF-2DDE-BA04-6ADA27959ADE}"/>
                  </a:ext>
                </a:extLst>
              </p:cNvPr>
              <p:cNvCxnSpPr>
                <a:cxnSpLocks/>
                <a:stCxn id="1190" idx="3"/>
                <a:endCxn id="1188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4" name="Google Shape;200;p1">
                <a:extLst>
                  <a:ext uri="{FF2B5EF4-FFF2-40B4-BE49-F238E27FC236}">
                    <a16:creationId xmlns:a16="http://schemas.microsoft.com/office/drawing/2014/main" id="{8E653591-8392-5065-AF0A-A885FB3720C2}"/>
                  </a:ext>
                </a:extLst>
              </p:cNvPr>
              <p:cNvCxnSpPr>
                <a:cxnSpLocks/>
                <a:stCxn id="1190" idx="6"/>
                <a:endCxn id="1185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95" name="TextBox 1194">
              <a:extLst>
                <a:ext uri="{FF2B5EF4-FFF2-40B4-BE49-F238E27FC236}">
                  <a16:creationId xmlns:a16="http://schemas.microsoft.com/office/drawing/2014/main" id="{4787132D-74E8-4999-F8D1-82938F73CC82}"/>
                </a:ext>
              </a:extLst>
            </p:cNvPr>
            <p:cNvSpPr txBox="1"/>
            <p:nvPr/>
          </p:nvSpPr>
          <p:spPr>
            <a:xfrm>
              <a:off x="7045323" y="9500399"/>
              <a:ext cx="1831781" cy="551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700" dirty="0"/>
                <a:t>Tetrad GUI</a:t>
              </a:r>
            </a:p>
          </p:txBody>
        </p:sp>
      </p:grpSp>
      <p:cxnSp>
        <p:nvCxnSpPr>
          <p:cNvPr id="1220" name="Straight Arrow Connector 1219">
            <a:extLst>
              <a:ext uri="{FF2B5EF4-FFF2-40B4-BE49-F238E27FC236}">
                <a16:creationId xmlns:a16="http://schemas.microsoft.com/office/drawing/2014/main" id="{EBDD9966-60E4-310F-A339-B7B23BE7265B}"/>
              </a:ext>
            </a:extLst>
          </p:cNvPr>
          <p:cNvCxnSpPr>
            <a:cxnSpLocks/>
          </p:cNvCxnSpPr>
          <p:nvPr/>
        </p:nvCxnSpPr>
        <p:spPr>
          <a:xfrm flipV="1">
            <a:off x="540609" y="7400770"/>
            <a:ext cx="542836" cy="383885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1" name="Straight Arrow Connector 1220">
            <a:extLst>
              <a:ext uri="{FF2B5EF4-FFF2-40B4-BE49-F238E27FC236}">
                <a16:creationId xmlns:a16="http://schemas.microsoft.com/office/drawing/2014/main" id="{B635F34B-8650-D447-A70B-1C7F71D61EA6}"/>
              </a:ext>
            </a:extLst>
          </p:cNvPr>
          <p:cNvCxnSpPr>
            <a:cxnSpLocks/>
          </p:cNvCxnSpPr>
          <p:nvPr/>
        </p:nvCxnSpPr>
        <p:spPr>
          <a:xfrm>
            <a:off x="1686611" y="7382435"/>
            <a:ext cx="371548" cy="283991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4" name="Straight Arrow Connector 1223">
            <a:extLst>
              <a:ext uri="{FF2B5EF4-FFF2-40B4-BE49-F238E27FC236}">
                <a16:creationId xmlns:a16="http://schemas.microsoft.com/office/drawing/2014/main" id="{C808F155-5D8A-AB92-2DFC-FE82B6DA7D54}"/>
              </a:ext>
            </a:extLst>
          </p:cNvPr>
          <p:cNvCxnSpPr>
            <a:cxnSpLocks/>
          </p:cNvCxnSpPr>
          <p:nvPr/>
        </p:nvCxnSpPr>
        <p:spPr>
          <a:xfrm flipV="1">
            <a:off x="1950245" y="8298297"/>
            <a:ext cx="178758" cy="30308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6" name="Straight Arrow Connector 1225">
            <a:extLst>
              <a:ext uri="{FF2B5EF4-FFF2-40B4-BE49-F238E27FC236}">
                <a16:creationId xmlns:a16="http://schemas.microsoft.com/office/drawing/2014/main" id="{C44073BF-2B02-E416-32F3-E3E3722176DD}"/>
              </a:ext>
            </a:extLst>
          </p:cNvPr>
          <p:cNvCxnSpPr>
            <a:cxnSpLocks/>
          </p:cNvCxnSpPr>
          <p:nvPr/>
        </p:nvCxnSpPr>
        <p:spPr>
          <a:xfrm>
            <a:off x="2446049" y="8029635"/>
            <a:ext cx="321536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9" name="Straight Arrow Connector 1228">
            <a:extLst>
              <a:ext uri="{FF2B5EF4-FFF2-40B4-BE49-F238E27FC236}">
                <a16:creationId xmlns:a16="http://schemas.microsoft.com/office/drawing/2014/main" id="{357A8F5C-9DD2-810E-5365-554CC0DA66FB}"/>
              </a:ext>
            </a:extLst>
          </p:cNvPr>
          <p:cNvCxnSpPr>
            <a:cxnSpLocks/>
          </p:cNvCxnSpPr>
          <p:nvPr/>
        </p:nvCxnSpPr>
        <p:spPr>
          <a:xfrm>
            <a:off x="3325817" y="8048125"/>
            <a:ext cx="2118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33" name="TextBox 1232">
            <a:extLst>
              <a:ext uri="{FF2B5EF4-FFF2-40B4-BE49-F238E27FC236}">
                <a16:creationId xmlns:a16="http://schemas.microsoft.com/office/drawing/2014/main" id="{A7BB3938-2370-4F4F-BA0F-4895B2C472F7}"/>
              </a:ext>
            </a:extLst>
          </p:cNvPr>
          <p:cNvSpPr txBox="1"/>
          <p:nvPr/>
        </p:nvSpPr>
        <p:spPr>
          <a:xfrm>
            <a:off x="1137303" y="7536186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notebook/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FFC6C2-EBDA-FC17-D2DB-7DBCE3E283F7}"/>
              </a:ext>
            </a:extLst>
          </p:cNvPr>
          <p:cNvSpPr txBox="1"/>
          <p:nvPr/>
        </p:nvSpPr>
        <p:spPr>
          <a:xfrm>
            <a:off x="872730" y="8832718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CLI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80681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2C115-EDD9-1EF0-7D0E-2852B235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E069B74A-B950-FDDE-9124-61B906C52171}"/>
              </a:ext>
            </a:extLst>
          </p:cNvPr>
          <p:cNvSpPr txBox="1"/>
          <p:nvPr/>
        </p:nvSpPr>
        <p:spPr>
          <a:xfrm>
            <a:off x="182880" y="5120640"/>
            <a:ext cx="4001355" cy="14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wraps the Tetrad Java API through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, exposing individual modules in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api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(data, score, algorithm, graph, knowledge, bootstrapping) that provide direct function level control over each step of the causal search pipeline. Pykumu uses an R Package architecture, like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Kaiaulu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, with API, Notebooks, and Scripts. Its scripts and Notebooks also support interfaces to other tools in the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Sailuh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tools ecosystem. 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924" name="Folded Corner 5">
            <a:extLst>
              <a:ext uri="{FF2B5EF4-FFF2-40B4-BE49-F238E27FC236}">
                <a16:creationId xmlns:a16="http://schemas.microsoft.com/office/drawing/2014/main" id="{8DC431BB-4054-8B29-7D8F-9D2EE87F5E61}"/>
              </a:ext>
            </a:extLst>
          </p:cNvPr>
          <p:cNvSpPr/>
          <p:nvPr/>
        </p:nvSpPr>
        <p:spPr>
          <a:xfrm rot="10800000" flipH="1">
            <a:off x="5199804" y="8600070"/>
            <a:ext cx="944261" cy="1140881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177546A7-34A3-5448-84D2-607E5941CF6A}"/>
              </a:ext>
            </a:extLst>
          </p:cNvPr>
          <p:cNvSpPr/>
          <p:nvPr/>
        </p:nvSpPr>
        <p:spPr>
          <a:xfrm>
            <a:off x="7718005" y="6805672"/>
            <a:ext cx="416903" cy="565648"/>
          </a:xfrm>
          <a:prstGeom prst="rect">
            <a:avLst/>
          </a:prstGeom>
          <a:solidFill>
            <a:srgbClr val="FFFFFF"/>
          </a:solidFill>
          <a:ln w="254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36" name="Image" descr="Image">
            <a:extLst>
              <a:ext uri="{FF2B5EF4-FFF2-40B4-BE49-F238E27FC236}">
                <a16:creationId xmlns:a16="http://schemas.microsoft.com/office/drawing/2014/main" id="{A6A7C1DE-D346-15D5-673C-9F9B67E2E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68" y="-661924"/>
            <a:ext cx="5598432" cy="2990088"/>
          </a:xfrm>
          <a:prstGeom prst="rect">
            <a:avLst/>
          </a:prstGeom>
          <a:ln w="12700">
            <a:miter lim="400000"/>
          </a:ln>
        </p:spPr>
      </p:pic>
      <p:sp>
        <p:nvSpPr>
          <p:cNvPr id="937" name="Line">
            <a:extLst>
              <a:ext uri="{FF2B5EF4-FFF2-40B4-BE49-F238E27FC236}">
                <a16:creationId xmlns:a16="http://schemas.microsoft.com/office/drawing/2014/main" id="{F9A70F9B-7A7E-2C4B-6A1C-2E9BB56BDA21}"/>
              </a:ext>
            </a:extLst>
          </p:cNvPr>
          <p:cNvSpPr/>
          <p:nvPr/>
        </p:nvSpPr>
        <p:spPr>
          <a:xfrm flipV="1">
            <a:off x="213255" y="10296246"/>
            <a:ext cx="13462982" cy="39499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38" name="YOUR LOGO…">
            <a:extLst>
              <a:ext uri="{FF2B5EF4-FFF2-40B4-BE49-F238E27FC236}">
                <a16:creationId xmlns:a16="http://schemas.microsoft.com/office/drawing/2014/main" id="{86E34F88-6E8A-464E-02F9-EF86D0D4AB60}"/>
              </a:ext>
            </a:extLst>
          </p:cNvPr>
          <p:cNvSpPr/>
          <p:nvPr/>
        </p:nvSpPr>
        <p:spPr>
          <a:xfrm>
            <a:off x="170343" y="10207710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sz="2400" dirty="0"/>
              <a:t>Kumu</a:t>
            </a:r>
            <a:endParaRPr sz="2400" dirty="0"/>
          </a:p>
        </p:txBody>
      </p:sp>
      <p:sp>
        <p:nvSpPr>
          <p:cNvPr id="939" name="Three Column Layout: : CHEAT SHEET">
            <a:extLst>
              <a:ext uri="{FF2B5EF4-FFF2-40B4-BE49-F238E27FC236}">
                <a16:creationId xmlns:a16="http://schemas.microsoft.com/office/drawing/2014/main" id="{93A7F124-9228-6103-5A68-4386574F6CAB}"/>
              </a:ext>
            </a:extLst>
          </p:cNvPr>
          <p:cNvSpPr txBox="1">
            <a:spLocks/>
          </p:cNvSpPr>
          <p:nvPr/>
        </p:nvSpPr>
        <p:spPr>
          <a:xfrm>
            <a:off x="275721" y="361177"/>
            <a:ext cx="10898129" cy="803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1pPr>
            <a:lvl2pPr marL="0" marR="0" indent="228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2pPr>
            <a:lvl3pPr marL="0" marR="0" indent="457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3pPr>
            <a:lvl4pPr marL="0" marR="0" indent="685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4pPr>
            <a:lvl5pPr marL="0" marR="0" indent="9144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5pPr>
            <a:lvl6pPr marL="0" marR="0" indent="11430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6pPr>
            <a:lvl7pPr marL="0" marR="0" indent="1371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7pPr>
            <a:lvl8pPr marL="0" marR="0" indent="1600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8pPr>
            <a:lvl9pPr marL="0" marR="0" indent="1828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9pPr>
          </a:lstStyle>
          <a:p>
            <a:pPr hangingPunct="1"/>
            <a:r>
              <a:rPr lang="en-US"/>
              <a:t>Pykumu : : </a:t>
            </a:r>
            <a:r>
              <a:rPr lang="en-US"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941" name="Layout Suggestions">
            <a:extLst>
              <a:ext uri="{FF2B5EF4-FFF2-40B4-BE49-F238E27FC236}">
                <a16:creationId xmlns:a16="http://schemas.microsoft.com/office/drawing/2014/main" id="{4441B3E6-274E-E156-7EFA-7E6EF0631203}"/>
              </a:ext>
            </a:extLst>
          </p:cNvPr>
          <p:cNvSpPr txBox="1"/>
          <p:nvPr/>
        </p:nvSpPr>
        <p:spPr>
          <a:xfrm>
            <a:off x="182880" y="1463040"/>
            <a:ext cx="262128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About</a:t>
            </a:r>
            <a:endParaRPr dirty="0"/>
          </a:p>
        </p:txBody>
      </p:sp>
      <p:sp>
        <p:nvSpPr>
          <p:cNvPr id="943" name="TextBox 942">
            <a:extLst>
              <a:ext uri="{FF2B5EF4-FFF2-40B4-BE49-F238E27FC236}">
                <a16:creationId xmlns:a16="http://schemas.microsoft.com/office/drawing/2014/main" id="{8E75FACA-9AA0-BFE1-435A-C83DC5C2DB41}"/>
              </a:ext>
            </a:extLst>
          </p:cNvPr>
          <p:cNvSpPr txBox="1"/>
          <p:nvPr/>
        </p:nvSpPr>
        <p:spPr>
          <a:xfrm>
            <a:off x="6080760" y="10327008"/>
            <a:ext cx="7747698" cy="500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1000" b="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1000" b="0" dirty="0">
                <a:solidFill>
                  <a:schemeClr val="tx1"/>
                </a:solidFill>
              </a:rPr>
              <a:t> Phuong Pham,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Carlos Paradis</a:t>
            </a:r>
            <a:r>
              <a:rPr lang="en-US" sz="1000" b="0" dirty="0">
                <a:solidFill>
                  <a:schemeClr val="tx1"/>
                </a:solidFill>
              </a:rPr>
              <a:t>, Adam Graham, Jared Seto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• Kai</a:t>
            </a:r>
            <a:r>
              <a:rPr kumimoji="0" lang="haw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ā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ulu package version 0.0.0.9700 (in development) •  Updated: 2026-04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4" name="Logistics">
            <a:extLst>
              <a:ext uri="{FF2B5EF4-FFF2-40B4-BE49-F238E27FC236}">
                <a16:creationId xmlns:a16="http://schemas.microsoft.com/office/drawing/2014/main" id="{8129606E-347E-E975-CE14-DD70F1AF1D32}"/>
              </a:ext>
            </a:extLst>
          </p:cNvPr>
          <p:cNvSpPr txBox="1"/>
          <p:nvPr/>
        </p:nvSpPr>
        <p:spPr>
          <a:xfrm>
            <a:off x="9601200" y="146304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API</a:t>
            </a:r>
          </a:p>
        </p:txBody>
      </p:sp>
      <p:sp>
        <p:nvSpPr>
          <p:cNvPr id="945" name="Logistics">
            <a:extLst>
              <a:ext uri="{FF2B5EF4-FFF2-40B4-BE49-F238E27FC236}">
                <a16:creationId xmlns:a16="http://schemas.microsoft.com/office/drawing/2014/main" id="{9CA9B140-9568-28FC-3204-5FFF05012D4D}"/>
              </a:ext>
            </a:extLst>
          </p:cNvPr>
          <p:cNvSpPr txBox="1"/>
          <p:nvPr/>
        </p:nvSpPr>
        <p:spPr>
          <a:xfrm>
            <a:off x="182880" y="6675120"/>
            <a:ext cx="332142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Command Line Interface</a:t>
            </a:r>
          </a:p>
        </p:txBody>
      </p:sp>
      <p:sp>
        <p:nvSpPr>
          <p:cNvPr id="947" name="Basics">
            <a:extLst>
              <a:ext uri="{FF2B5EF4-FFF2-40B4-BE49-F238E27FC236}">
                <a16:creationId xmlns:a16="http://schemas.microsoft.com/office/drawing/2014/main" id="{6103A952-C7B1-D13D-752F-026CE41197D2}"/>
              </a:ext>
            </a:extLst>
          </p:cNvPr>
          <p:cNvSpPr txBox="1"/>
          <p:nvPr/>
        </p:nvSpPr>
        <p:spPr>
          <a:xfrm>
            <a:off x="182880" y="2834640"/>
            <a:ext cx="16991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lc="http://schemas.openxmlformats.org/drawingml/2006/lockedCanvas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 err="1"/>
              <a:t>Pykumu</a:t>
            </a:r>
            <a:r>
              <a:rPr lang="en-US" dirty="0"/>
              <a:t> API </a:t>
            </a:r>
            <a:endParaRPr dirty="0"/>
          </a:p>
        </p:txBody>
      </p:sp>
      <p:sp>
        <p:nvSpPr>
          <p:cNvPr id="948" name="Manipulate Variables">
            <a:extLst>
              <a:ext uri="{FF2B5EF4-FFF2-40B4-BE49-F238E27FC236}">
                <a16:creationId xmlns:a16="http://schemas.microsoft.com/office/drawing/2014/main" id="{FB87A8B2-9EBC-69F0-F9C5-796DD90F9A97}"/>
              </a:ext>
            </a:extLst>
          </p:cNvPr>
          <p:cNvSpPr txBox="1"/>
          <p:nvPr/>
        </p:nvSpPr>
        <p:spPr>
          <a:xfrm>
            <a:off x="4754880" y="1463040"/>
            <a:ext cx="3414396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Analysis Workflow</a:t>
            </a:r>
          </a:p>
        </p:txBody>
      </p:sp>
      <p:graphicFrame>
        <p:nvGraphicFramePr>
          <p:cNvPr id="952" name="Table">
            <a:extLst>
              <a:ext uri="{FF2B5EF4-FFF2-40B4-BE49-F238E27FC236}">
                <a16:creationId xmlns:a16="http://schemas.microsoft.com/office/drawing/2014/main" id="{969B1CE4-DE8C-93ED-9C38-8E45791BB9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9326755"/>
              </p:ext>
            </p:extLst>
          </p:nvPr>
        </p:nvGraphicFramePr>
        <p:xfrm>
          <a:off x="7572970" y="2138385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3" name="Table">
            <a:extLst>
              <a:ext uri="{FF2B5EF4-FFF2-40B4-BE49-F238E27FC236}">
                <a16:creationId xmlns:a16="http://schemas.microsoft.com/office/drawing/2014/main" id="{8546FBD8-A7E5-CC3B-B223-EA8FCFD803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6193117"/>
              </p:ext>
            </p:extLst>
          </p:nvPr>
        </p:nvGraphicFramePr>
        <p:xfrm>
          <a:off x="8061338" y="3435621"/>
          <a:ext cx="646626" cy="63799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07771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2262694748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819122332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296678260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322319369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17903980"/>
                    </a:ext>
                  </a:extLst>
                </a:gridCol>
              </a:tblGrid>
              <a:tr h="127598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4" name="Table">
            <a:extLst>
              <a:ext uri="{FF2B5EF4-FFF2-40B4-BE49-F238E27FC236}">
                <a16:creationId xmlns:a16="http://schemas.microsoft.com/office/drawing/2014/main" id="{FBBD847E-B307-EAEE-4DAD-4EAD11FCFE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1305417"/>
              </p:ext>
            </p:extLst>
          </p:nvPr>
        </p:nvGraphicFramePr>
        <p:xfrm>
          <a:off x="5772224" y="337601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5" name="Table">
            <a:extLst>
              <a:ext uri="{FF2B5EF4-FFF2-40B4-BE49-F238E27FC236}">
                <a16:creationId xmlns:a16="http://schemas.microsoft.com/office/drawing/2014/main" id="{023AE83B-0EAA-8CF8-AD16-A57DE63397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5677139"/>
              </p:ext>
            </p:extLst>
          </p:nvPr>
        </p:nvGraphicFramePr>
        <p:xfrm>
          <a:off x="7118882" y="3440044"/>
          <a:ext cx="627864" cy="6400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933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102988"/>
                  </a:ext>
                </a:extLst>
              </a:tr>
            </a:tbl>
          </a:graphicData>
        </a:graphic>
      </p:graphicFrame>
      <p:graphicFrame>
        <p:nvGraphicFramePr>
          <p:cNvPr id="956" name="Table">
            <a:extLst>
              <a:ext uri="{FF2B5EF4-FFF2-40B4-BE49-F238E27FC236}">
                <a16:creationId xmlns:a16="http://schemas.microsoft.com/office/drawing/2014/main" id="{E38DBFCB-E866-A938-519C-B74682825F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9153359"/>
              </p:ext>
            </p:extLst>
          </p:nvPr>
        </p:nvGraphicFramePr>
        <p:xfrm>
          <a:off x="5348324" y="337601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7" name="Plus Sign 956">
            <a:extLst>
              <a:ext uri="{FF2B5EF4-FFF2-40B4-BE49-F238E27FC236}">
                <a16:creationId xmlns:a16="http://schemas.microsoft.com/office/drawing/2014/main" id="{457633A9-2CE2-862E-1573-F927DFF16BBC}"/>
              </a:ext>
            </a:extLst>
          </p:cNvPr>
          <p:cNvSpPr/>
          <p:nvPr/>
        </p:nvSpPr>
        <p:spPr>
          <a:xfrm>
            <a:off x="5608866" y="3614601"/>
            <a:ext cx="118473" cy="124938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8" name="Plus Sign 957">
            <a:extLst>
              <a:ext uri="{FF2B5EF4-FFF2-40B4-BE49-F238E27FC236}">
                <a16:creationId xmlns:a16="http://schemas.microsoft.com/office/drawing/2014/main" id="{EE5A902F-9665-AD80-C8D6-36A3B16E60FD}"/>
              </a:ext>
            </a:extLst>
          </p:cNvPr>
          <p:cNvSpPr/>
          <p:nvPr/>
        </p:nvSpPr>
        <p:spPr>
          <a:xfrm>
            <a:off x="7845219" y="3691378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9" name="Left Brace 958">
            <a:extLst>
              <a:ext uri="{FF2B5EF4-FFF2-40B4-BE49-F238E27FC236}">
                <a16:creationId xmlns:a16="http://schemas.microsoft.com/office/drawing/2014/main" id="{A3B1FB1A-C9D8-B538-03B1-2F9054E2C9BF}"/>
              </a:ext>
            </a:extLst>
          </p:cNvPr>
          <p:cNvSpPr/>
          <p:nvPr/>
        </p:nvSpPr>
        <p:spPr>
          <a:xfrm>
            <a:off x="7013808" y="3446222"/>
            <a:ext cx="45719" cy="623765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0" name="TextBox 959">
            <a:extLst>
              <a:ext uri="{FF2B5EF4-FFF2-40B4-BE49-F238E27FC236}">
                <a16:creationId xmlns:a16="http://schemas.microsoft.com/office/drawing/2014/main" id="{A853A30A-7F64-F1D1-9250-63F9FF3AE7AE}"/>
              </a:ext>
            </a:extLst>
          </p:cNvPr>
          <p:cNvSpPr txBox="1"/>
          <p:nvPr/>
        </p:nvSpPr>
        <p:spPr>
          <a:xfrm>
            <a:off x="6843820" y="3579764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1" name="Left Brace 960">
            <a:extLst>
              <a:ext uri="{FF2B5EF4-FFF2-40B4-BE49-F238E27FC236}">
                <a16:creationId xmlns:a16="http://schemas.microsoft.com/office/drawing/2014/main" id="{401DE3FD-D151-2DBD-AAE4-FACE2FA110B6}"/>
              </a:ext>
            </a:extLst>
          </p:cNvPr>
          <p:cNvSpPr/>
          <p:nvPr/>
        </p:nvSpPr>
        <p:spPr>
          <a:xfrm rot="5400000">
            <a:off x="8355720" y="3029143"/>
            <a:ext cx="51104" cy="639868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F6E53A6D-FCCD-334E-A749-CCF8FB0E1E6A}"/>
              </a:ext>
            </a:extLst>
          </p:cNvPr>
          <p:cNvSpPr txBox="1"/>
          <p:nvPr/>
        </p:nvSpPr>
        <p:spPr>
          <a:xfrm>
            <a:off x="8298111" y="3068841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3" name="TextBox 962">
            <a:extLst>
              <a:ext uri="{FF2B5EF4-FFF2-40B4-BE49-F238E27FC236}">
                <a16:creationId xmlns:a16="http://schemas.microsoft.com/office/drawing/2014/main" id="{0DAC07AE-BD65-A042-FED4-8E255CB2BDAD}"/>
              </a:ext>
            </a:extLst>
          </p:cNvPr>
          <p:cNvSpPr txBox="1"/>
          <p:nvPr/>
        </p:nvSpPr>
        <p:spPr>
          <a:xfrm>
            <a:off x="7059527" y="3181679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CVE_ID</a:t>
            </a:r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C2261B69-A8CA-F533-DD68-C413EDE3290B}"/>
              </a:ext>
            </a:extLst>
          </p:cNvPr>
          <p:cNvSpPr txBox="1"/>
          <p:nvPr/>
        </p:nvSpPr>
        <p:spPr>
          <a:xfrm>
            <a:off x="5375035" y="3916044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5" name="TextBox 964">
            <a:extLst>
              <a:ext uri="{FF2B5EF4-FFF2-40B4-BE49-F238E27FC236}">
                <a16:creationId xmlns:a16="http://schemas.microsoft.com/office/drawing/2014/main" id="{1DF5F6AB-905D-5043-3893-BCA105B2CBA2}"/>
              </a:ext>
            </a:extLst>
          </p:cNvPr>
          <p:cNvSpPr txBox="1"/>
          <p:nvPr/>
        </p:nvSpPr>
        <p:spPr>
          <a:xfrm>
            <a:off x="8265907" y="5236526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7EC81BB4-19F4-C8FB-8F8C-7C9111693D56}"/>
              </a:ext>
            </a:extLst>
          </p:cNvPr>
          <p:cNvSpPr txBox="1"/>
          <p:nvPr/>
        </p:nvSpPr>
        <p:spPr>
          <a:xfrm>
            <a:off x="7061575" y="4047273"/>
            <a:ext cx="1841009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dirty="0"/>
              <a:t>4. Indicator Features (IF) 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7" name="TextBox 966">
            <a:extLst>
              <a:ext uri="{FF2B5EF4-FFF2-40B4-BE49-F238E27FC236}">
                <a16:creationId xmlns:a16="http://schemas.microsoft.com/office/drawing/2014/main" id="{487BBB33-E117-A114-0F69-2702880D5146}"/>
              </a:ext>
            </a:extLst>
          </p:cNvPr>
          <p:cNvSpPr txBox="1"/>
          <p:nvPr/>
        </p:nvSpPr>
        <p:spPr>
          <a:xfrm>
            <a:off x="5218291" y="4040163"/>
            <a:ext cx="872964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/>
              <a:t>3. Time Lag</a:t>
            </a:r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35130DEC-7A14-9D31-DB4F-2B8E9267D73D}"/>
              </a:ext>
            </a:extLst>
          </p:cNvPr>
          <p:cNvSpPr txBox="1"/>
          <p:nvPr/>
        </p:nvSpPr>
        <p:spPr>
          <a:xfrm>
            <a:off x="7464986" y="2727847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2. Dataset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69" name="Connector: Elbow 968">
            <a:extLst>
              <a:ext uri="{FF2B5EF4-FFF2-40B4-BE49-F238E27FC236}">
                <a16:creationId xmlns:a16="http://schemas.microsoft.com/office/drawing/2014/main" id="{E6417101-7B44-3BA1-AD3D-D80903879ED2}"/>
              </a:ext>
            </a:extLst>
          </p:cNvPr>
          <p:cNvCxnSpPr>
            <a:cxnSpLocks/>
            <a:endCxn id="995" idx="1"/>
          </p:cNvCxnSpPr>
          <p:nvPr/>
        </p:nvCxnSpPr>
        <p:spPr>
          <a:xfrm flipH="1">
            <a:off x="5209590" y="2556636"/>
            <a:ext cx="3498712" cy="1167195"/>
          </a:xfrm>
          <a:prstGeom prst="bentConnector5">
            <a:avLst>
              <a:gd name="adj1" fmla="val -9550"/>
              <a:gd name="adj2" fmla="val 50000"/>
              <a:gd name="adj3" fmla="val 112547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70" name="Rectangle 969">
            <a:extLst>
              <a:ext uri="{FF2B5EF4-FFF2-40B4-BE49-F238E27FC236}">
                <a16:creationId xmlns:a16="http://schemas.microsoft.com/office/drawing/2014/main" id="{6F0FDB0A-002A-AC8D-166F-1BB05DDE425F}"/>
              </a:ext>
            </a:extLst>
          </p:cNvPr>
          <p:cNvSpPr/>
          <p:nvPr/>
        </p:nvSpPr>
        <p:spPr>
          <a:xfrm>
            <a:off x="7370620" y="1800587"/>
            <a:ext cx="1443262" cy="996921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971" name="Table">
            <a:extLst>
              <a:ext uri="{FF2B5EF4-FFF2-40B4-BE49-F238E27FC236}">
                <a16:creationId xmlns:a16="http://schemas.microsoft.com/office/drawing/2014/main" id="{92BF1CFC-67E2-0182-7E83-23456BD7A4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8347939"/>
              </p:ext>
            </p:extLst>
          </p:nvPr>
        </p:nvGraphicFramePr>
        <p:xfrm>
          <a:off x="5798497" y="4767713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72" name="Table">
            <a:extLst>
              <a:ext uri="{FF2B5EF4-FFF2-40B4-BE49-F238E27FC236}">
                <a16:creationId xmlns:a16="http://schemas.microsoft.com/office/drawing/2014/main" id="{6DEA6F83-4C39-91B0-FEB6-304696E0A8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4262920"/>
              </p:ext>
            </p:extLst>
          </p:nvPr>
        </p:nvGraphicFramePr>
        <p:xfrm>
          <a:off x="5305505" y="4776645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3" name="Plus Sign 972">
            <a:extLst>
              <a:ext uri="{FF2B5EF4-FFF2-40B4-BE49-F238E27FC236}">
                <a16:creationId xmlns:a16="http://schemas.microsoft.com/office/drawing/2014/main" id="{C856C3FA-0492-641E-4B9A-8D13F21A57AB}"/>
              </a:ext>
            </a:extLst>
          </p:cNvPr>
          <p:cNvSpPr/>
          <p:nvPr/>
        </p:nvSpPr>
        <p:spPr>
          <a:xfrm>
            <a:off x="5599687" y="4767713"/>
            <a:ext cx="12099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74" name="TextBox 973">
            <a:extLst>
              <a:ext uri="{FF2B5EF4-FFF2-40B4-BE49-F238E27FC236}">
                <a16:creationId xmlns:a16="http://schemas.microsoft.com/office/drawing/2014/main" id="{9AD219A3-2FCF-6066-7093-23CDF07E5939}"/>
              </a:ext>
            </a:extLst>
          </p:cNvPr>
          <p:cNvSpPr txBox="1"/>
          <p:nvPr/>
        </p:nvSpPr>
        <p:spPr>
          <a:xfrm>
            <a:off x="5103638" y="5345212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5. Null Features</a:t>
            </a:r>
          </a:p>
        </p:txBody>
      </p:sp>
      <p:cxnSp>
        <p:nvCxnSpPr>
          <p:cNvPr id="975" name="Straight Arrow Connector 974">
            <a:extLst>
              <a:ext uri="{FF2B5EF4-FFF2-40B4-BE49-F238E27FC236}">
                <a16:creationId xmlns:a16="http://schemas.microsoft.com/office/drawing/2014/main" id="{A5F99B8E-EE7E-E92D-B7AC-E3F3F6C1B933}"/>
              </a:ext>
            </a:extLst>
          </p:cNvPr>
          <p:cNvCxnSpPr>
            <a:cxnSpLocks/>
          </p:cNvCxnSpPr>
          <p:nvPr/>
        </p:nvCxnSpPr>
        <p:spPr>
          <a:xfrm>
            <a:off x="5512825" y="4942585"/>
            <a:ext cx="285672" cy="357737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6" name="Straight Arrow Connector 975">
            <a:extLst>
              <a:ext uri="{FF2B5EF4-FFF2-40B4-BE49-F238E27FC236}">
                <a16:creationId xmlns:a16="http://schemas.microsoft.com/office/drawing/2014/main" id="{0A2618CF-6879-0962-FCF1-AA2D2047C854}"/>
              </a:ext>
            </a:extLst>
          </p:cNvPr>
          <p:cNvCxnSpPr>
            <a:cxnSpLocks/>
          </p:cNvCxnSpPr>
          <p:nvPr/>
        </p:nvCxnSpPr>
        <p:spPr>
          <a:xfrm>
            <a:off x="5512825" y="5076174"/>
            <a:ext cx="285672" cy="11364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7" name="Straight Arrow Connector 976">
            <a:extLst>
              <a:ext uri="{FF2B5EF4-FFF2-40B4-BE49-F238E27FC236}">
                <a16:creationId xmlns:a16="http://schemas.microsoft.com/office/drawing/2014/main" id="{21ADDA0E-8BBF-A37A-B92F-F9576029E066}"/>
              </a:ext>
            </a:extLst>
          </p:cNvPr>
          <p:cNvCxnSpPr>
            <a:cxnSpLocks/>
            <a:endCxn id="971" idx="1"/>
          </p:cNvCxnSpPr>
          <p:nvPr/>
        </p:nvCxnSpPr>
        <p:spPr>
          <a:xfrm flipV="1">
            <a:off x="5506921" y="5064590"/>
            <a:ext cx="291576" cy="12208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8" name="Straight Arrow Connector 977">
            <a:extLst>
              <a:ext uri="{FF2B5EF4-FFF2-40B4-BE49-F238E27FC236}">
                <a16:creationId xmlns:a16="http://schemas.microsoft.com/office/drawing/2014/main" id="{81042ECC-82D6-6004-7E43-16D48FB4247E}"/>
              </a:ext>
            </a:extLst>
          </p:cNvPr>
          <p:cNvCxnSpPr>
            <a:cxnSpLocks/>
          </p:cNvCxnSpPr>
          <p:nvPr/>
        </p:nvCxnSpPr>
        <p:spPr>
          <a:xfrm flipV="1">
            <a:off x="5509148" y="4942585"/>
            <a:ext cx="289349" cy="36609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9" name="Connector: Elbow 978">
            <a:extLst>
              <a:ext uri="{FF2B5EF4-FFF2-40B4-BE49-F238E27FC236}">
                <a16:creationId xmlns:a16="http://schemas.microsoft.com/office/drawing/2014/main" id="{9E8DD5C5-C66D-D30D-E9AE-6146206606CB}"/>
              </a:ext>
            </a:extLst>
          </p:cNvPr>
          <p:cNvCxnSpPr>
            <a:cxnSpLocks/>
            <a:stCxn id="992" idx="3"/>
            <a:endCxn id="993" idx="1"/>
          </p:cNvCxnSpPr>
          <p:nvPr/>
        </p:nvCxnSpPr>
        <p:spPr>
          <a:xfrm flipH="1">
            <a:off x="5202130" y="3774861"/>
            <a:ext cx="3609346" cy="1247213"/>
          </a:xfrm>
          <a:prstGeom prst="bentConnector5">
            <a:avLst>
              <a:gd name="adj1" fmla="val -6334"/>
              <a:gd name="adj2" fmla="val 54130"/>
              <a:gd name="adj3" fmla="val 111841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0" name="TextBox 979">
            <a:extLst>
              <a:ext uri="{FF2B5EF4-FFF2-40B4-BE49-F238E27FC236}">
                <a16:creationId xmlns:a16="http://schemas.microsoft.com/office/drawing/2014/main" id="{FBA9E099-A473-4C4A-FD69-5F0EA3EB7403}"/>
              </a:ext>
            </a:extLst>
          </p:cNvPr>
          <p:cNvSpPr txBox="1"/>
          <p:nvPr/>
        </p:nvSpPr>
        <p:spPr>
          <a:xfrm>
            <a:off x="5731442" y="4562041"/>
            <a:ext cx="807445" cy="2000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 err="1"/>
              <a:t>nv</a:t>
            </a:r>
            <a:r>
              <a:rPr lang="en-US" sz="700" dirty="0"/>
              <a:t>-*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81" name="Picture 980" descr="A picture containing text&#10;&#10;Description automatically generated">
            <a:extLst>
              <a:ext uri="{FF2B5EF4-FFF2-40B4-BE49-F238E27FC236}">
                <a16:creationId xmlns:a16="http://schemas.microsoft.com/office/drawing/2014/main" id="{1CAD5C0B-CEFD-CC8E-912E-21AE0164E9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501" y="2070865"/>
            <a:ext cx="575884" cy="668768"/>
          </a:xfrm>
          <a:prstGeom prst="rect">
            <a:avLst/>
          </a:prstGeom>
        </p:spPr>
      </p:pic>
      <p:sp>
        <p:nvSpPr>
          <p:cNvPr id="982" name="TextBox 981">
            <a:extLst>
              <a:ext uri="{FF2B5EF4-FFF2-40B4-BE49-F238E27FC236}">
                <a16:creationId xmlns:a16="http://schemas.microsoft.com/office/drawing/2014/main" id="{1C6BED93-CCF9-546D-CA84-A4BDA4F5C1DB}"/>
              </a:ext>
            </a:extLst>
          </p:cNvPr>
          <p:cNvSpPr txBox="1"/>
          <p:nvPr/>
        </p:nvSpPr>
        <p:spPr>
          <a:xfrm>
            <a:off x="5004947" y="2700916"/>
            <a:ext cx="131138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1. </a:t>
            </a:r>
            <a:r>
              <a:rPr lang="en-US" dirty="0" err="1"/>
              <a:t>sailuh</a:t>
            </a:r>
            <a:r>
              <a:rPr lang="en-US" dirty="0"/>
              <a:t>/</a:t>
            </a:r>
            <a:r>
              <a:rPr lang="en-US" dirty="0" err="1"/>
              <a:t>kaiaulu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83" name="TextBox 982">
            <a:extLst>
              <a:ext uri="{FF2B5EF4-FFF2-40B4-BE49-F238E27FC236}">
                <a16:creationId xmlns:a16="http://schemas.microsoft.com/office/drawing/2014/main" id="{D9D1D4C7-61D0-BE2C-841E-B0E3943E2A49}"/>
              </a:ext>
            </a:extLst>
          </p:cNvPr>
          <p:cNvSpPr txBox="1"/>
          <p:nvPr/>
        </p:nvSpPr>
        <p:spPr>
          <a:xfrm>
            <a:off x="7046974" y="7342669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7.2 Domain Knowledge</a:t>
            </a:r>
          </a:p>
        </p:txBody>
      </p:sp>
      <p:cxnSp>
        <p:nvCxnSpPr>
          <p:cNvPr id="984" name="Connector: Elbow 983">
            <a:extLst>
              <a:ext uri="{FF2B5EF4-FFF2-40B4-BE49-F238E27FC236}">
                <a16:creationId xmlns:a16="http://schemas.microsoft.com/office/drawing/2014/main" id="{F496BB88-D9B8-7731-00E6-793122EFA3DB}"/>
              </a:ext>
            </a:extLst>
          </p:cNvPr>
          <p:cNvCxnSpPr>
            <a:cxnSpLocks/>
            <a:endCxn id="1102" idx="3"/>
          </p:cNvCxnSpPr>
          <p:nvPr/>
        </p:nvCxnSpPr>
        <p:spPr>
          <a:xfrm flipH="1">
            <a:off x="8451473" y="5509532"/>
            <a:ext cx="266193" cy="568100"/>
          </a:xfrm>
          <a:prstGeom prst="bentConnector3">
            <a:avLst>
              <a:gd name="adj1" fmla="val -12022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5" name="Connector: Elbow 984">
            <a:extLst>
              <a:ext uri="{FF2B5EF4-FFF2-40B4-BE49-F238E27FC236}">
                <a16:creationId xmlns:a16="http://schemas.microsoft.com/office/drawing/2014/main" id="{8119C4F1-F05E-337C-7EBF-8530F54161B8}"/>
              </a:ext>
            </a:extLst>
          </p:cNvPr>
          <p:cNvCxnSpPr>
            <a:cxnSpLocks/>
          </p:cNvCxnSpPr>
          <p:nvPr/>
        </p:nvCxnSpPr>
        <p:spPr>
          <a:xfrm rot="10800000">
            <a:off x="6191032" y="6366021"/>
            <a:ext cx="1339738" cy="753131"/>
          </a:xfrm>
          <a:prstGeom prst="bentConnector3">
            <a:avLst>
              <a:gd name="adj1" fmla="val 6433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6" name="Connector: Elbow 985">
            <a:extLst>
              <a:ext uri="{FF2B5EF4-FFF2-40B4-BE49-F238E27FC236}">
                <a16:creationId xmlns:a16="http://schemas.microsoft.com/office/drawing/2014/main" id="{FB728F09-EAE9-64A7-14A7-88EF2D079B71}"/>
              </a:ext>
            </a:extLst>
          </p:cNvPr>
          <p:cNvCxnSpPr>
            <a:cxnSpLocks/>
            <a:stCxn id="1103" idx="1"/>
          </p:cNvCxnSpPr>
          <p:nvPr/>
        </p:nvCxnSpPr>
        <p:spPr>
          <a:xfrm rot="10800000" flipV="1">
            <a:off x="6191031" y="6055666"/>
            <a:ext cx="1218821" cy="310351"/>
          </a:xfrm>
          <a:prstGeom prst="bentConnector3">
            <a:avLst>
              <a:gd name="adj1" fmla="val 61094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7" name="Connector: Elbow 986">
            <a:extLst>
              <a:ext uri="{FF2B5EF4-FFF2-40B4-BE49-F238E27FC236}">
                <a16:creationId xmlns:a16="http://schemas.microsoft.com/office/drawing/2014/main" id="{EC5A03D9-DF3C-84CD-987F-D673AC1BB1DB}"/>
              </a:ext>
            </a:extLst>
          </p:cNvPr>
          <p:cNvCxnSpPr>
            <a:cxnSpLocks/>
            <a:stCxn id="997" idx="1"/>
          </p:cNvCxnSpPr>
          <p:nvPr/>
        </p:nvCxnSpPr>
        <p:spPr>
          <a:xfrm rot="10800000" flipV="1">
            <a:off x="6191031" y="4236004"/>
            <a:ext cx="868497" cy="2130014"/>
          </a:xfrm>
          <a:prstGeom prst="bentConnector3">
            <a:avLst>
              <a:gd name="adj1" fmla="val 44736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8" name="Connector: Elbow 987">
            <a:extLst>
              <a:ext uri="{FF2B5EF4-FFF2-40B4-BE49-F238E27FC236}">
                <a16:creationId xmlns:a16="http://schemas.microsoft.com/office/drawing/2014/main" id="{A70521EA-0A05-AAB5-DA96-5D617CC69FB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146994" y="6375941"/>
            <a:ext cx="1516881" cy="1905124"/>
          </a:xfrm>
          <a:prstGeom prst="bentConnector4">
            <a:avLst>
              <a:gd name="adj1" fmla="val -25117"/>
              <a:gd name="adj2" fmla="val 73163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9" name="Straight Arrow Connector 988">
            <a:extLst>
              <a:ext uri="{FF2B5EF4-FFF2-40B4-BE49-F238E27FC236}">
                <a16:creationId xmlns:a16="http://schemas.microsoft.com/office/drawing/2014/main" id="{71E05029-CDE1-8919-C38D-AE4E9FBD3013}"/>
              </a:ext>
            </a:extLst>
          </p:cNvPr>
          <p:cNvCxnSpPr>
            <a:cxnSpLocks/>
          </p:cNvCxnSpPr>
          <p:nvPr/>
        </p:nvCxnSpPr>
        <p:spPr>
          <a:xfrm>
            <a:off x="6463103" y="5011930"/>
            <a:ext cx="540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0" name="Straight Arrow Connector 989">
            <a:extLst>
              <a:ext uri="{FF2B5EF4-FFF2-40B4-BE49-F238E27FC236}">
                <a16:creationId xmlns:a16="http://schemas.microsoft.com/office/drawing/2014/main" id="{C73D7024-FB93-7906-65B2-96D2E5E15A20}"/>
              </a:ext>
            </a:extLst>
          </p:cNvPr>
          <p:cNvCxnSpPr>
            <a:cxnSpLocks/>
          </p:cNvCxnSpPr>
          <p:nvPr/>
        </p:nvCxnSpPr>
        <p:spPr>
          <a:xfrm>
            <a:off x="6578363" y="2457822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1" name="TextBox 990">
            <a:extLst>
              <a:ext uri="{FF2B5EF4-FFF2-40B4-BE49-F238E27FC236}">
                <a16:creationId xmlns:a16="http://schemas.microsoft.com/office/drawing/2014/main" id="{3FFC9200-6EBE-3480-C3D4-C2C78D24353C}"/>
              </a:ext>
            </a:extLst>
          </p:cNvPr>
          <p:cNvSpPr txBox="1"/>
          <p:nvPr/>
        </p:nvSpPr>
        <p:spPr>
          <a:xfrm>
            <a:off x="8573910" y="2131849"/>
            <a:ext cx="130496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2" name="TextBox 991">
            <a:extLst>
              <a:ext uri="{FF2B5EF4-FFF2-40B4-BE49-F238E27FC236}">
                <a16:creationId xmlns:a16="http://schemas.microsoft.com/office/drawing/2014/main" id="{40CF0F3A-8373-FE5B-496D-741FC5382E3E}"/>
              </a:ext>
            </a:extLst>
          </p:cNvPr>
          <p:cNvSpPr txBox="1"/>
          <p:nvPr/>
        </p:nvSpPr>
        <p:spPr>
          <a:xfrm>
            <a:off x="8701206" y="3614601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3" name="TextBox 992">
            <a:extLst>
              <a:ext uri="{FF2B5EF4-FFF2-40B4-BE49-F238E27FC236}">
                <a16:creationId xmlns:a16="http://schemas.microsoft.com/office/drawing/2014/main" id="{8DDB0811-4B3C-7D91-C955-436F31177074}"/>
              </a:ext>
            </a:extLst>
          </p:cNvPr>
          <p:cNvSpPr txBox="1"/>
          <p:nvPr/>
        </p:nvSpPr>
        <p:spPr>
          <a:xfrm>
            <a:off x="5202130" y="4861814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2F2C44CF-616A-7127-5105-9DE5B4548CF5}"/>
              </a:ext>
            </a:extLst>
          </p:cNvPr>
          <p:cNvCxnSpPr>
            <a:cxnSpLocks/>
          </p:cNvCxnSpPr>
          <p:nvPr/>
        </p:nvCxnSpPr>
        <p:spPr>
          <a:xfrm>
            <a:off x="6304400" y="3745305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5" name="TextBox 994">
            <a:extLst>
              <a:ext uri="{FF2B5EF4-FFF2-40B4-BE49-F238E27FC236}">
                <a16:creationId xmlns:a16="http://schemas.microsoft.com/office/drawing/2014/main" id="{7C1A33F2-359E-4754-158D-D654D110316C}"/>
              </a:ext>
            </a:extLst>
          </p:cNvPr>
          <p:cNvSpPr txBox="1"/>
          <p:nvPr/>
        </p:nvSpPr>
        <p:spPr>
          <a:xfrm>
            <a:off x="5209590" y="3563571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6" name="TextBox 995">
            <a:extLst>
              <a:ext uri="{FF2B5EF4-FFF2-40B4-BE49-F238E27FC236}">
                <a16:creationId xmlns:a16="http://schemas.microsoft.com/office/drawing/2014/main" id="{21CCBE70-88FF-963F-C1F2-351E2548A52B}"/>
              </a:ext>
            </a:extLst>
          </p:cNvPr>
          <p:cNvSpPr txBox="1"/>
          <p:nvPr/>
        </p:nvSpPr>
        <p:spPr>
          <a:xfrm rot="5400000">
            <a:off x="7893098" y="4105963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7" name="TextBox 996">
            <a:extLst>
              <a:ext uri="{FF2B5EF4-FFF2-40B4-BE49-F238E27FC236}">
                <a16:creationId xmlns:a16="http://schemas.microsoft.com/office/drawing/2014/main" id="{5BD8DE1E-D382-5236-CFBD-82CCF6D63407}"/>
              </a:ext>
            </a:extLst>
          </p:cNvPr>
          <p:cNvSpPr txBox="1"/>
          <p:nvPr/>
        </p:nvSpPr>
        <p:spPr>
          <a:xfrm>
            <a:off x="7059527" y="4075744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8" name="TextBox 997">
            <a:extLst>
              <a:ext uri="{FF2B5EF4-FFF2-40B4-BE49-F238E27FC236}">
                <a16:creationId xmlns:a16="http://schemas.microsoft.com/office/drawing/2014/main" id="{F59BF033-21B6-1BAC-A7C9-F998B87D3E1A}"/>
              </a:ext>
            </a:extLst>
          </p:cNvPr>
          <p:cNvSpPr txBox="1"/>
          <p:nvPr/>
        </p:nvSpPr>
        <p:spPr>
          <a:xfrm rot="5400000">
            <a:off x="6616888" y="8103281"/>
            <a:ext cx="97008" cy="231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99" name="Graphic 998" descr="Cmd Terminal with solid fill">
            <a:extLst>
              <a:ext uri="{FF2B5EF4-FFF2-40B4-BE49-F238E27FC236}">
                <a16:creationId xmlns:a16="http://schemas.microsoft.com/office/drawing/2014/main" id="{8321CAB0-8C80-0F3B-90A8-A422002F1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761" y="8669687"/>
            <a:ext cx="451448" cy="455550"/>
          </a:xfrm>
          <a:prstGeom prst="rect">
            <a:avLst/>
          </a:prstGeom>
        </p:spPr>
      </p:pic>
      <p:pic>
        <p:nvPicPr>
          <p:cNvPr id="1000" name="Graphic 999" descr="Paper outline">
            <a:extLst>
              <a:ext uri="{FF2B5EF4-FFF2-40B4-BE49-F238E27FC236}">
                <a16:creationId xmlns:a16="http://schemas.microsoft.com/office/drawing/2014/main" id="{E5AA7693-1C9A-E29A-B2D3-A03322FA35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37240" y="7920731"/>
            <a:ext cx="261597" cy="261597"/>
          </a:xfrm>
          <a:prstGeom prst="rect">
            <a:avLst/>
          </a:prstGeom>
        </p:spPr>
      </p:pic>
      <p:sp>
        <p:nvSpPr>
          <p:cNvPr id="1001" name="TextBox 1000">
            <a:extLst>
              <a:ext uri="{FF2B5EF4-FFF2-40B4-BE49-F238E27FC236}">
                <a16:creationId xmlns:a16="http://schemas.microsoft.com/office/drawing/2014/main" id="{456307BF-C0C0-E3F5-C348-09A02945A52E}"/>
              </a:ext>
            </a:extLst>
          </p:cNvPr>
          <p:cNvSpPr txBox="1"/>
          <p:nvPr/>
        </p:nvSpPr>
        <p:spPr>
          <a:xfrm>
            <a:off x="1861850" y="8123988"/>
            <a:ext cx="687081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API</a:t>
            </a:r>
          </a:p>
        </p:txBody>
      </p:sp>
      <p:pic>
        <p:nvPicPr>
          <p:cNvPr id="1002" name="Graphic 1001" descr="Paper outline">
            <a:extLst>
              <a:ext uri="{FF2B5EF4-FFF2-40B4-BE49-F238E27FC236}">
                <a16:creationId xmlns:a16="http://schemas.microsoft.com/office/drawing/2014/main" id="{F8A47CDB-F8F5-BA45-A8A1-70834372A9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2978" y="8635193"/>
            <a:ext cx="527267" cy="527267"/>
          </a:xfrm>
          <a:prstGeom prst="rect">
            <a:avLst/>
          </a:prstGeom>
        </p:spPr>
      </p:pic>
      <p:sp>
        <p:nvSpPr>
          <p:cNvPr id="1003" name="TextBox 1002">
            <a:extLst>
              <a:ext uri="{FF2B5EF4-FFF2-40B4-BE49-F238E27FC236}">
                <a16:creationId xmlns:a16="http://schemas.microsoft.com/office/drawing/2014/main" id="{BCC4F527-202E-D0C6-5885-6168F4061B2F}"/>
              </a:ext>
            </a:extLst>
          </p:cNvPr>
          <p:cNvSpPr txBox="1"/>
          <p:nvPr/>
        </p:nvSpPr>
        <p:spPr>
          <a:xfrm>
            <a:off x="1457097" y="9067171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exec/*.R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283F60E0-90A8-D4D3-50FD-4925EBF520A7}"/>
              </a:ext>
            </a:extLst>
          </p:cNvPr>
          <p:cNvSpPr/>
          <p:nvPr/>
        </p:nvSpPr>
        <p:spPr>
          <a:xfrm>
            <a:off x="185141" y="8047725"/>
            <a:ext cx="710936" cy="20869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&lt;</a:t>
            </a: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File_paths</a:t>
            </a: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&gt;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09" name="Straight Arrow Connector 1008">
            <a:extLst>
              <a:ext uri="{FF2B5EF4-FFF2-40B4-BE49-F238E27FC236}">
                <a16:creationId xmlns:a16="http://schemas.microsoft.com/office/drawing/2014/main" id="{D0CEBB86-306F-3926-D461-7DD65C1119E0}"/>
              </a:ext>
            </a:extLst>
          </p:cNvPr>
          <p:cNvCxnSpPr>
            <a:cxnSpLocks/>
          </p:cNvCxnSpPr>
          <p:nvPr/>
        </p:nvCxnSpPr>
        <p:spPr>
          <a:xfrm>
            <a:off x="1292611" y="8891633"/>
            <a:ext cx="164486" cy="719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10" name="Straight Arrow Connector 1009">
            <a:extLst>
              <a:ext uri="{FF2B5EF4-FFF2-40B4-BE49-F238E27FC236}">
                <a16:creationId xmlns:a16="http://schemas.microsoft.com/office/drawing/2014/main" id="{4E8C6A86-4BD2-8229-1FCB-51662005EC8B}"/>
              </a:ext>
            </a:extLst>
          </p:cNvPr>
          <p:cNvCxnSpPr>
            <a:cxnSpLocks/>
          </p:cNvCxnSpPr>
          <p:nvPr/>
        </p:nvCxnSpPr>
        <p:spPr>
          <a:xfrm>
            <a:off x="540609" y="8364927"/>
            <a:ext cx="251152" cy="274997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047F3A9D-DA27-B709-5BDC-2374D6B965F6}"/>
              </a:ext>
            </a:extLst>
          </p:cNvPr>
          <p:cNvSpPr txBox="1"/>
          <p:nvPr/>
        </p:nvSpPr>
        <p:spPr>
          <a:xfrm>
            <a:off x="182880" y="932688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Exec scripts provides command line access to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Pykumu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API package, allowing its causal analysis capabilities to be accessed via the terminal or server side without requiring Python code knowledge. 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1019" name="TextBox 1018">
            <a:extLst>
              <a:ext uri="{FF2B5EF4-FFF2-40B4-BE49-F238E27FC236}">
                <a16:creationId xmlns:a16="http://schemas.microsoft.com/office/drawing/2014/main" id="{06952AA5-71CE-5B05-554A-C3F3237B88A0}"/>
              </a:ext>
            </a:extLst>
          </p:cNvPr>
          <p:cNvSpPr txBox="1"/>
          <p:nvPr/>
        </p:nvSpPr>
        <p:spPr>
          <a:xfrm>
            <a:off x="232303" y="393741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>
                <a:solidFill>
                  <a:schemeClr val="bg2">
                    <a:lumMod val="10000"/>
                  </a:schemeClr>
                </a:solidFill>
              </a:rPr>
              <a:t>Tetrad Java API</a:t>
            </a:r>
          </a:p>
        </p:txBody>
      </p:sp>
      <p:pic>
        <p:nvPicPr>
          <p:cNvPr id="1020" name="Graphic 1019" descr="Paper outline">
            <a:extLst>
              <a:ext uri="{FF2B5EF4-FFF2-40B4-BE49-F238E27FC236}">
                <a16:creationId xmlns:a16="http://schemas.microsoft.com/office/drawing/2014/main" id="{D022EE58-1FC2-B7CB-6303-9A5D134DB0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0954" y="4265041"/>
            <a:ext cx="527267" cy="527267"/>
          </a:xfrm>
          <a:prstGeom prst="rect">
            <a:avLst/>
          </a:prstGeom>
        </p:spPr>
      </p:pic>
      <p:cxnSp>
        <p:nvCxnSpPr>
          <p:cNvPr id="1023" name="Straight Arrow Connector 1022">
            <a:extLst>
              <a:ext uri="{FF2B5EF4-FFF2-40B4-BE49-F238E27FC236}">
                <a16:creationId xmlns:a16="http://schemas.microsoft.com/office/drawing/2014/main" id="{AC381A2E-540F-87A3-76A6-5D5FCFF5149B}"/>
              </a:ext>
            </a:extLst>
          </p:cNvPr>
          <p:cNvCxnSpPr>
            <a:cxnSpLocks/>
          </p:cNvCxnSpPr>
          <p:nvPr/>
        </p:nvCxnSpPr>
        <p:spPr>
          <a:xfrm>
            <a:off x="1028993" y="3837479"/>
            <a:ext cx="9092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82F355AC-93FF-70C8-614C-3C3011E86201}"/>
              </a:ext>
            </a:extLst>
          </p:cNvPr>
          <p:cNvCxnSpPr>
            <a:cxnSpLocks/>
          </p:cNvCxnSpPr>
          <p:nvPr/>
        </p:nvCxnSpPr>
        <p:spPr>
          <a:xfrm>
            <a:off x="1023055" y="3972100"/>
            <a:ext cx="340872" cy="391832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5A3A2118-18E8-0BE7-E0D6-9A69098B114A}"/>
              </a:ext>
            </a:extLst>
          </p:cNvPr>
          <p:cNvSpPr txBox="1"/>
          <p:nvPr/>
        </p:nvSpPr>
        <p:spPr>
          <a:xfrm>
            <a:off x="815127" y="4126651"/>
            <a:ext cx="536637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FA98F80A-F434-F632-C21D-DF46097BA8FF}"/>
              </a:ext>
            </a:extLst>
          </p:cNvPr>
          <p:cNvSpPr txBox="1"/>
          <p:nvPr/>
        </p:nvSpPr>
        <p:spPr>
          <a:xfrm>
            <a:off x="1510648" y="4422940"/>
            <a:ext cx="371960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" b="0" dirty="0" err="1">
                <a:solidFill>
                  <a:schemeClr val="tx1">
                    <a:lumMod val="50000"/>
                  </a:schemeClr>
                </a:solidFill>
              </a:rPr>
              <a:t>TetradSearch</a:t>
            </a:r>
            <a:r>
              <a:rPr lang="en-US" sz="300" b="0" dirty="0">
                <a:solidFill>
                  <a:schemeClr val="tx1">
                    <a:lumMod val="50000"/>
                  </a:schemeClr>
                </a:solidFill>
              </a:rPr>
              <a:t> Class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B7D656B8-CA37-48A1-E306-709FF7A156B9}"/>
              </a:ext>
            </a:extLst>
          </p:cNvPr>
          <p:cNvSpPr txBox="1"/>
          <p:nvPr/>
        </p:nvSpPr>
        <p:spPr>
          <a:xfrm>
            <a:off x="2385334" y="3867687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 API</a:t>
            </a:r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09A20764-0166-94E2-866B-F6F243210F1B}"/>
              </a:ext>
            </a:extLst>
          </p:cNvPr>
          <p:cNvCxnSpPr>
            <a:cxnSpLocks/>
          </p:cNvCxnSpPr>
          <p:nvPr/>
        </p:nvCxnSpPr>
        <p:spPr>
          <a:xfrm flipV="1">
            <a:off x="1979305" y="4126651"/>
            <a:ext cx="450843" cy="239726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41" name="Folded Corner 3">
            <a:extLst>
              <a:ext uri="{FF2B5EF4-FFF2-40B4-BE49-F238E27FC236}">
                <a16:creationId xmlns:a16="http://schemas.microsoft.com/office/drawing/2014/main" id="{61A20C43-2A20-F1F3-E087-7C61B6BA4909}"/>
              </a:ext>
            </a:extLst>
          </p:cNvPr>
          <p:cNvSpPr/>
          <p:nvPr/>
        </p:nvSpPr>
        <p:spPr>
          <a:xfrm rot="10800000" flipH="1">
            <a:off x="2129004" y="337722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2" name="Folded Corner 4">
            <a:extLst>
              <a:ext uri="{FF2B5EF4-FFF2-40B4-BE49-F238E27FC236}">
                <a16:creationId xmlns:a16="http://schemas.microsoft.com/office/drawing/2014/main" id="{CA8CCC2D-ECB0-EA9E-15DC-AA2B2693B12F}"/>
              </a:ext>
            </a:extLst>
          </p:cNvPr>
          <p:cNvSpPr/>
          <p:nvPr/>
        </p:nvSpPr>
        <p:spPr>
          <a:xfrm rot="10800000" flipH="1">
            <a:off x="2095922" y="3405690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3" name="Folded Corner 5">
            <a:extLst>
              <a:ext uri="{FF2B5EF4-FFF2-40B4-BE49-F238E27FC236}">
                <a16:creationId xmlns:a16="http://schemas.microsoft.com/office/drawing/2014/main" id="{372AC90C-3F4D-02E7-64B5-A50532345C83}"/>
              </a:ext>
            </a:extLst>
          </p:cNvPr>
          <p:cNvSpPr/>
          <p:nvPr/>
        </p:nvSpPr>
        <p:spPr>
          <a:xfrm rot="10800000" flipH="1">
            <a:off x="2055485" y="343946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96D6FB16-CCF4-B373-B2FB-C8A3300C8119}"/>
              </a:ext>
            </a:extLst>
          </p:cNvPr>
          <p:cNvSpPr txBox="1"/>
          <p:nvPr/>
        </p:nvSpPr>
        <p:spPr>
          <a:xfrm>
            <a:off x="2026720" y="358624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tetrad.py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69FD1FD0-9C5C-15A6-4657-C0C5B2F627E2}"/>
              </a:ext>
            </a:extLst>
          </p:cNvPr>
          <p:cNvSpPr txBox="1"/>
          <p:nvPr/>
        </p:nvSpPr>
        <p:spPr>
          <a:xfrm>
            <a:off x="1285591" y="470218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TetradSearch.py</a:t>
            </a:r>
          </a:p>
        </p:txBody>
      </p: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3B94A97B-A1BE-E809-0004-55EBF18926C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6384" y="118872"/>
            <a:ext cx="1444661" cy="1673352"/>
          </a:xfrm>
          <a:prstGeom prst="rect">
            <a:avLst/>
          </a:prstGeom>
        </p:spPr>
      </p:pic>
      <p:sp>
        <p:nvSpPr>
          <p:cNvPr id="1065" name="TextBox 1064">
            <a:extLst>
              <a:ext uri="{FF2B5EF4-FFF2-40B4-BE49-F238E27FC236}">
                <a16:creationId xmlns:a16="http://schemas.microsoft.com/office/drawing/2014/main" id="{09AAE757-6C4E-84F3-3FB2-671F448AA6E7}"/>
              </a:ext>
            </a:extLst>
          </p:cNvPr>
          <p:cNvSpPr txBox="1"/>
          <p:nvPr/>
        </p:nvSpPr>
        <p:spPr>
          <a:xfrm>
            <a:off x="7318302" y="5333585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6. Causal Search</a:t>
            </a:r>
          </a:p>
        </p:txBody>
      </p:sp>
      <p:graphicFrame>
        <p:nvGraphicFramePr>
          <p:cNvPr id="1066" name="Table">
            <a:extLst>
              <a:ext uri="{FF2B5EF4-FFF2-40B4-BE49-F238E27FC236}">
                <a16:creationId xmlns:a16="http://schemas.microsoft.com/office/drawing/2014/main" id="{57D0F6AA-9B42-B430-44F2-6321966283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8142404"/>
              </p:ext>
            </p:extLst>
          </p:nvPr>
        </p:nvGraphicFramePr>
        <p:xfrm>
          <a:off x="8297833" y="4713079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67" name="Table">
            <a:extLst>
              <a:ext uri="{FF2B5EF4-FFF2-40B4-BE49-F238E27FC236}">
                <a16:creationId xmlns:a16="http://schemas.microsoft.com/office/drawing/2014/main" id="{9B42850D-7440-8560-5E21-948883748C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3248317"/>
              </p:ext>
            </p:extLst>
          </p:nvPr>
        </p:nvGraphicFramePr>
        <p:xfrm>
          <a:off x="7722129" y="4710539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68" name="Arrow: Right 1067">
            <a:extLst>
              <a:ext uri="{FF2B5EF4-FFF2-40B4-BE49-F238E27FC236}">
                <a16:creationId xmlns:a16="http://schemas.microsoft.com/office/drawing/2014/main" id="{B459C27C-257A-C8D0-BF77-92AD6E76E504}"/>
              </a:ext>
            </a:extLst>
          </p:cNvPr>
          <p:cNvSpPr/>
          <p:nvPr/>
        </p:nvSpPr>
        <p:spPr>
          <a:xfrm>
            <a:off x="8027045" y="4971930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069" name="Table">
            <a:extLst>
              <a:ext uri="{FF2B5EF4-FFF2-40B4-BE49-F238E27FC236}">
                <a16:creationId xmlns:a16="http://schemas.microsoft.com/office/drawing/2014/main" id="{683B2797-5FCE-04C0-71A9-7A30B75760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812763"/>
              </p:ext>
            </p:extLst>
          </p:nvPr>
        </p:nvGraphicFramePr>
        <p:xfrm>
          <a:off x="7343385" y="4712836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0" name="Plus Sign 1069">
            <a:extLst>
              <a:ext uri="{FF2B5EF4-FFF2-40B4-BE49-F238E27FC236}">
                <a16:creationId xmlns:a16="http://schemas.microsoft.com/office/drawing/2014/main" id="{090F1815-7945-099F-50E4-B70C0C2DB169}"/>
              </a:ext>
            </a:extLst>
          </p:cNvPr>
          <p:cNvSpPr/>
          <p:nvPr/>
        </p:nvSpPr>
        <p:spPr>
          <a:xfrm>
            <a:off x="7572970" y="4950186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2465E906-3868-FF7C-5DB1-8B17CDF8A417}"/>
              </a:ext>
            </a:extLst>
          </p:cNvPr>
          <p:cNvSpPr txBox="1"/>
          <p:nvPr/>
        </p:nvSpPr>
        <p:spPr>
          <a:xfrm>
            <a:off x="7370545" y="5235155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FAF9444-43C5-CCC7-E326-FF649F39D9CB}"/>
              </a:ext>
            </a:extLst>
          </p:cNvPr>
          <p:cNvSpPr txBox="1"/>
          <p:nvPr/>
        </p:nvSpPr>
        <p:spPr>
          <a:xfrm>
            <a:off x="7731829" y="5245590"/>
            <a:ext cx="424651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IF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920432C9-F886-F722-CD36-5EDD9417EBCA}"/>
              </a:ext>
            </a:extLst>
          </p:cNvPr>
          <p:cNvSpPr txBox="1"/>
          <p:nvPr/>
        </p:nvSpPr>
        <p:spPr>
          <a:xfrm>
            <a:off x="7948233" y="4792837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64C5FF0F-64FF-37BF-909B-45B50FE41A73}"/>
              </a:ext>
            </a:extLst>
          </p:cNvPr>
          <p:cNvSpPr txBox="1"/>
          <p:nvPr/>
        </p:nvSpPr>
        <p:spPr>
          <a:xfrm>
            <a:off x="7194148" y="6252456"/>
            <a:ext cx="1619559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7.1 1-PNEF Threshold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34425893-E462-90FD-4EE8-BF62B3800C29}"/>
              </a:ext>
            </a:extLst>
          </p:cNvPr>
          <p:cNvSpPr txBox="1"/>
          <p:nvPr/>
        </p:nvSpPr>
        <p:spPr>
          <a:xfrm>
            <a:off x="5731442" y="3915231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3C543DC6-0412-19B1-8E7E-5597106F5EAE}"/>
              </a:ext>
            </a:extLst>
          </p:cNvPr>
          <p:cNvSpPr txBox="1"/>
          <p:nvPr/>
        </p:nvSpPr>
        <p:spPr>
          <a:xfrm>
            <a:off x="4766552" y="6764122"/>
            <a:ext cx="1831781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8. Domain Knowledge Causal Search</a:t>
            </a:r>
          </a:p>
        </p:txBody>
      </p:sp>
      <p:graphicFrame>
        <p:nvGraphicFramePr>
          <p:cNvPr id="1077" name="Table">
            <a:extLst>
              <a:ext uri="{FF2B5EF4-FFF2-40B4-BE49-F238E27FC236}">
                <a16:creationId xmlns:a16="http://schemas.microsoft.com/office/drawing/2014/main" id="{5240F448-4959-5E2C-145C-5FD9AEF411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354957"/>
              </p:ext>
            </p:extLst>
          </p:nvPr>
        </p:nvGraphicFramePr>
        <p:xfrm>
          <a:off x="5269967" y="6090704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78" name="Table">
            <a:extLst>
              <a:ext uri="{FF2B5EF4-FFF2-40B4-BE49-F238E27FC236}">
                <a16:creationId xmlns:a16="http://schemas.microsoft.com/office/drawing/2014/main" id="{2A59AC70-CB33-B79C-2E99-0027A8B0E1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9957570"/>
              </p:ext>
            </p:extLst>
          </p:nvPr>
        </p:nvGraphicFramePr>
        <p:xfrm>
          <a:off x="5828244" y="6090704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9" name="TextBox 1078">
            <a:extLst>
              <a:ext uri="{FF2B5EF4-FFF2-40B4-BE49-F238E27FC236}">
                <a16:creationId xmlns:a16="http://schemas.microsoft.com/office/drawing/2014/main" id="{15FA31E5-7234-A5DF-9902-790B738284FA}"/>
              </a:ext>
            </a:extLst>
          </p:cNvPr>
          <p:cNvSpPr txBox="1"/>
          <p:nvPr/>
        </p:nvSpPr>
        <p:spPr>
          <a:xfrm>
            <a:off x="5856148" y="6607227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6DF6AD8A-DF4D-838D-096E-E412B83ACD69}"/>
              </a:ext>
            </a:extLst>
          </p:cNvPr>
          <p:cNvSpPr txBox="1"/>
          <p:nvPr/>
        </p:nvSpPr>
        <p:spPr>
          <a:xfrm>
            <a:off x="5242857" y="6611348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81" name="Arrow: Right 1080">
            <a:extLst>
              <a:ext uri="{FF2B5EF4-FFF2-40B4-BE49-F238E27FC236}">
                <a16:creationId xmlns:a16="http://schemas.microsoft.com/office/drawing/2014/main" id="{90ED5E58-2562-A722-912F-2E8F04095849}"/>
              </a:ext>
            </a:extLst>
          </p:cNvPr>
          <p:cNvSpPr/>
          <p:nvPr/>
        </p:nvSpPr>
        <p:spPr>
          <a:xfrm rot="10800000">
            <a:off x="5552507" y="6327476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91269FB9-B7EF-3AA0-BF51-5A9E63AA121E}"/>
              </a:ext>
            </a:extLst>
          </p:cNvPr>
          <p:cNvSpPr txBox="1"/>
          <p:nvPr/>
        </p:nvSpPr>
        <p:spPr>
          <a:xfrm>
            <a:off x="5490560" y="6137634"/>
            <a:ext cx="339664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E24BB62D-0CE3-FC42-4B79-2DFE4F469E98}"/>
              </a:ext>
            </a:extLst>
          </p:cNvPr>
          <p:cNvSpPr/>
          <p:nvPr/>
        </p:nvSpPr>
        <p:spPr>
          <a:xfrm>
            <a:off x="8040579" y="6029734"/>
            <a:ext cx="206996" cy="6210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4A81D013-B26D-B27A-26CD-0FB5E5618DF7}"/>
              </a:ext>
            </a:extLst>
          </p:cNvPr>
          <p:cNvCxnSpPr>
            <a:cxnSpLocks/>
          </p:cNvCxnSpPr>
          <p:nvPr/>
        </p:nvCxnSpPr>
        <p:spPr>
          <a:xfrm>
            <a:off x="8010337" y="5964765"/>
            <a:ext cx="0" cy="188119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015625F6-D812-A725-CA85-7BF5F06AB520}"/>
              </a:ext>
            </a:extLst>
          </p:cNvPr>
          <p:cNvCxnSpPr>
            <a:cxnSpLocks/>
          </p:cNvCxnSpPr>
          <p:nvPr/>
        </p:nvCxnSpPr>
        <p:spPr>
          <a:xfrm flipH="1">
            <a:off x="7599385" y="6056405"/>
            <a:ext cx="375263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86" name="TextBox 1085">
            <a:extLst>
              <a:ext uri="{FF2B5EF4-FFF2-40B4-BE49-F238E27FC236}">
                <a16:creationId xmlns:a16="http://schemas.microsoft.com/office/drawing/2014/main" id="{B9164B78-BFBB-7656-10B6-70ACE4E26532}"/>
              </a:ext>
            </a:extLst>
          </p:cNvPr>
          <p:cNvSpPr txBox="1"/>
          <p:nvPr/>
        </p:nvSpPr>
        <p:spPr>
          <a:xfrm>
            <a:off x="7544037" y="6089732"/>
            <a:ext cx="941475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n.edges</a:t>
            </a: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&lt; x</a:t>
            </a:r>
            <a:r>
              <a:rPr lang="en-US" sz="700" dirty="0"/>
              <a:t>%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4C78AE67-CB6B-5484-E92C-C9C363DC1DDF}"/>
              </a:ext>
            </a:extLst>
          </p:cNvPr>
          <p:cNvSpPr/>
          <p:nvPr/>
        </p:nvSpPr>
        <p:spPr>
          <a:xfrm>
            <a:off x="7747498" y="6924733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7818CACC-4FB0-C360-1DAC-74B70D8A591E}"/>
              </a:ext>
            </a:extLst>
          </p:cNvPr>
          <p:cNvSpPr/>
          <p:nvPr/>
        </p:nvSpPr>
        <p:spPr>
          <a:xfrm>
            <a:off x="7766196" y="6953275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4ACA924E-164B-7C06-ADF4-24E2DF406B91}"/>
              </a:ext>
            </a:extLst>
          </p:cNvPr>
          <p:cNvSpPr/>
          <p:nvPr/>
        </p:nvSpPr>
        <p:spPr>
          <a:xfrm>
            <a:off x="7882271" y="6953275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A9C97C4B-9F05-1C29-D840-211FA8BBFE86}"/>
              </a:ext>
            </a:extLst>
          </p:cNvPr>
          <p:cNvSpPr/>
          <p:nvPr/>
        </p:nvSpPr>
        <p:spPr>
          <a:xfrm>
            <a:off x="8006330" y="6953274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6EA91F55-D974-70C1-9D85-12C7C6AFBA02}"/>
              </a:ext>
            </a:extLst>
          </p:cNvPr>
          <p:cNvSpPr txBox="1"/>
          <p:nvPr/>
        </p:nvSpPr>
        <p:spPr>
          <a:xfrm>
            <a:off x="7709321" y="6786070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1</a:t>
            </a: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C421BADA-81A1-A775-B52E-283D61AB698F}"/>
              </a:ext>
            </a:extLst>
          </p:cNvPr>
          <p:cNvSpPr/>
          <p:nvPr/>
        </p:nvSpPr>
        <p:spPr>
          <a:xfrm>
            <a:off x="7745715" y="7081218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4A6631EA-B352-E2B6-33A0-09B5194D7A4F}"/>
              </a:ext>
            </a:extLst>
          </p:cNvPr>
          <p:cNvSpPr/>
          <p:nvPr/>
        </p:nvSpPr>
        <p:spPr>
          <a:xfrm>
            <a:off x="7764413" y="710976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752AB869-6FEA-C560-8E58-F135F2F3E3F4}"/>
              </a:ext>
            </a:extLst>
          </p:cNvPr>
          <p:cNvSpPr/>
          <p:nvPr/>
        </p:nvSpPr>
        <p:spPr>
          <a:xfrm>
            <a:off x="7880488" y="710976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4FCFD74-C847-04D6-0739-2905ED757FCB}"/>
              </a:ext>
            </a:extLst>
          </p:cNvPr>
          <p:cNvSpPr/>
          <p:nvPr/>
        </p:nvSpPr>
        <p:spPr>
          <a:xfrm>
            <a:off x="8004547" y="7109759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E7BA808F-A1AF-F4C1-0AA9-D90702B5661C}"/>
              </a:ext>
            </a:extLst>
          </p:cNvPr>
          <p:cNvSpPr txBox="1"/>
          <p:nvPr/>
        </p:nvSpPr>
        <p:spPr>
          <a:xfrm>
            <a:off x="7707538" y="6942555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2</a:t>
            </a: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D1F363BA-F8C4-85FA-E214-E2450969D82B}"/>
              </a:ext>
            </a:extLst>
          </p:cNvPr>
          <p:cNvSpPr/>
          <p:nvPr/>
        </p:nvSpPr>
        <p:spPr>
          <a:xfrm>
            <a:off x="7746658" y="7232608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075E9328-93C6-5067-B983-6DAD6DC3FC19}"/>
              </a:ext>
            </a:extLst>
          </p:cNvPr>
          <p:cNvSpPr/>
          <p:nvPr/>
        </p:nvSpPr>
        <p:spPr>
          <a:xfrm>
            <a:off x="7765356" y="726115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76650B32-7F56-FF4E-48AA-55997CBC0225}"/>
              </a:ext>
            </a:extLst>
          </p:cNvPr>
          <p:cNvSpPr/>
          <p:nvPr/>
        </p:nvSpPr>
        <p:spPr>
          <a:xfrm>
            <a:off x="7881431" y="726115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1CD546EA-4D62-8FFC-0639-682294FFEFF2}"/>
              </a:ext>
            </a:extLst>
          </p:cNvPr>
          <p:cNvSpPr/>
          <p:nvPr/>
        </p:nvSpPr>
        <p:spPr>
          <a:xfrm>
            <a:off x="8005490" y="7261149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14ACDDF5-E707-780B-2E64-96A0A54592EA}"/>
              </a:ext>
            </a:extLst>
          </p:cNvPr>
          <p:cNvSpPr txBox="1"/>
          <p:nvPr/>
        </p:nvSpPr>
        <p:spPr>
          <a:xfrm>
            <a:off x="7708481" y="7093945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3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087960DE-4E16-AD56-7966-82ACA7262A89}"/>
              </a:ext>
            </a:extLst>
          </p:cNvPr>
          <p:cNvSpPr txBox="1"/>
          <p:nvPr/>
        </p:nvSpPr>
        <p:spPr>
          <a:xfrm>
            <a:off x="8341203" y="591737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42B7D5C4-DE4C-6840-1D37-F6169FDEDEF5}"/>
              </a:ext>
            </a:extLst>
          </p:cNvPr>
          <p:cNvSpPr txBox="1"/>
          <p:nvPr/>
        </p:nvSpPr>
        <p:spPr>
          <a:xfrm>
            <a:off x="7409851" y="5895407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CAF98ADC-54F4-23ED-1FB1-797F93AA8A88}"/>
              </a:ext>
            </a:extLst>
          </p:cNvPr>
          <p:cNvSpPr txBox="1"/>
          <p:nvPr/>
        </p:nvSpPr>
        <p:spPr>
          <a:xfrm>
            <a:off x="7672781" y="6617707"/>
            <a:ext cx="580165" cy="212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Knowledge Box</a:t>
            </a:r>
          </a:p>
        </p:txBody>
      </p:sp>
      <p:sp>
        <p:nvSpPr>
          <p:cNvPr id="1105" name="Logistics">
            <a:extLst>
              <a:ext uri="{FF2B5EF4-FFF2-40B4-BE49-F238E27FC236}">
                <a16:creationId xmlns:a16="http://schemas.microsoft.com/office/drawing/2014/main" id="{60C4E484-2F1D-4FEF-4EBC-0F3221432E46}"/>
              </a:ext>
            </a:extLst>
          </p:cNvPr>
          <p:cNvSpPr txBox="1"/>
          <p:nvPr/>
        </p:nvSpPr>
        <p:spPr>
          <a:xfrm>
            <a:off x="9601200" y="2717072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tetrad.py</a:t>
            </a:r>
          </a:p>
        </p:txBody>
      </p:sp>
      <p:sp>
        <p:nvSpPr>
          <p:cNvPr id="1106" name="Logistics">
            <a:extLst>
              <a:ext uri="{FF2B5EF4-FFF2-40B4-BE49-F238E27FC236}">
                <a16:creationId xmlns:a16="http://schemas.microsoft.com/office/drawing/2014/main" id="{549B8A9E-682F-B8AB-E80D-816AB185C9FD}"/>
              </a:ext>
            </a:extLst>
          </p:cNvPr>
          <p:cNvSpPr txBox="1"/>
          <p:nvPr/>
        </p:nvSpPr>
        <p:spPr>
          <a:xfrm>
            <a:off x="9601200" y="4520820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causal.py</a:t>
            </a:r>
          </a:p>
        </p:txBody>
      </p:sp>
      <p:sp>
        <p:nvSpPr>
          <p:cNvPr id="1107" name="Logistics">
            <a:extLst>
              <a:ext uri="{FF2B5EF4-FFF2-40B4-BE49-F238E27FC236}">
                <a16:creationId xmlns:a16="http://schemas.microsoft.com/office/drawing/2014/main" id="{F30C77DF-987C-0EE5-EE9C-E86774368A70}"/>
              </a:ext>
            </a:extLst>
          </p:cNvPr>
          <p:cNvSpPr txBox="1"/>
          <p:nvPr/>
        </p:nvSpPr>
        <p:spPr>
          <a:xfrm>
            <a:off x="9601200" y="699345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knowledge.py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4B65B256-0C02-F782-4FC0-1816F4B8FEF0}"/>
              </a:ext>
            </a:extLst>
          </p:cNvPr>
          <p:cNvSpPr txBox="1"/>
          <p:nvPr/>
        </p:nvSpPr>
        <p:spPr>
          <a:xfrm>
            <a:off x="9601200" y="4738596"/>
            <a:ext cx="4237460" cy="2187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run on dataset including null features, used to derive 1-PNEF.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score_sem_bic</a:t>
            </a:r>
            <a:r>
              <a:rPr lang="en-US" dirty="0"/>
              <a:t>()</a:t>
            </a:r>
          </a:p>
          <a:p>
            <a:r>
              <a:rPr lang="en-US" b="0" dirty="0"/>
              <a:t>Configure SEM BIC score.</a:t>
            </a:r>
          </a:p>
          <a:p>
            <a:r>
              <a:rPr lang="en-US" dirty="0"/>
              <a:t>2. bootstrapping()</a:t>
            </a:r>
          </a:p>
          <a:p>
            <a:r>
              <a:rPr lang="en-US" b="0" dirty="0"/>
              <a:t>Configure bootstrapping parameters.</a:t>
            </a:r>
          </a:p>
          <a:p>
            <a:r>
              <a:rPr lang="en-US" dirty="0"/>
              <a:t>3. </a:t>
            </a:r>
            <a:r>
              <a:rPr lang="en-US" dirty="0" err="1"/>
              <a:t>algorithm_fges</a:t>
            </a:r>
            <a:r>
              <a:rPr lang="en-US" dirty="0"/>
              <a:t>()</a:t>
            </a:r>
          </a:p>
          <a:p>
            <a:r>
              <a:rPr lang="en-US" b="0" dirty="0"/>
              <a:t>Performs Fast Greedy Equivalence Search (FGES) algorithm.</a:t>
            </a:r>
          </a:p>
          <a:p>
            <a:r>
              <a:rPr lang="en-US" dirty="0"/>
              <a:t>4. </a:t>
            </a:r>
            <a:r>
              <a:rPr lang="en-US" dirty="0" err="1"/>
              <a:t>algorithm_boss</a:t>
            </a:r>
            <a:r>
              <a:rPr lang="en-US" dirty="0"/>
              <a:t>()</a:t>
            </a:r>
          </a:p>
          <a:p>
            <a:r>
              <a:rPr lang="en-US" b="0" dirty="0"/>
              <a:t>Performs Best Order Score Search (BOSS) algorithm.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58C2C9FE-23BA-D8D7-AE06-A59D72BB9767}"/>
              </a:ext>
            </a:extLst>
          </p:cNvPr>
          <p:cNvSpPr txBox="1"/>
          <p:nvPr/>
        </p:nvSpPr>
        <p:spPr>
          <a:xfrm>
            <a:off x="9601200" y="2934848"/>
            <a:ext cx="4237460" cy="1531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After applying time lag and features, </a:t>
            </a:r>
            <a:r>
              <a:rPr lang="en-US" b="0" dirty="0" err="1"/>
              <a:t>jpype</a:t>
            </a:r>
            <a:r>
              <a:rPr lang="en-US" b="0" dirty="0"/>
              <a:t> is imported to utilize API and turn the dataset into a Tetrad compatible format. 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tetrad_jvm_start</a:t>
            </a:r>
            <a:r>
              <a:rPr lang="en-US" dirty="0"/>
              <a:t>()</a:t>
            </a:r>
          </a:p>
          <a:p>
            <a:r>
              <a:rPr lang="en-US" b="0" dirty="0"/>
              <a:t>Import </a:t>
            </a:r>
            <a:r>
              <a:rPr lang="en-US" b="0" dirty="0" err="1"/>
              <a:t>jpype</a:t>
            </a:r>
            <a:r>
              <a:rPr lang="en-US" b="0" dirty="0"/>
              <a:t> to start JVM and load Tetrad jar file.</a:t>
            </a:r>
          </a:p>
          <a:p>
            <a:r>
              <a:rPr lang="en-US" dirty="0"/>
              <a:t>2. </a:t>
            </a:r>
            <a:r>
              <a:rPr lang="en-US" dirty="0" err="1"/>
              <a:t>transform_pandasdf_to_tetrad_boxdataset</a:t>
            </a:r>
            <a:r>
              <a:rPr lang="en-US" dirty="0"/>
              <a:t>()</a:t>
            </a:r>
          </a:p>
          <a:p>
            <a:r>
              <a:rPr lang="en-US" b="0" dirty="0"/>
              <a:t>Convert pandas </a:t>
            </a:r>
            <a:r>
              <a:rPr lang="en-US" b="0" dirty="0" err="1"/>
              <a:t>DataFrames</a:t>
            </a:r>
            <a:r>
              <a:rPr lang="en-US" b="0" dirty="0"/>
              <a:t> into Tetrad </a:t>
            </a:r>
            <a:r>
              <a:rPr lang="en-US" b="0" dirty="0" err="1"/>
              <a:t>BoxDataset</a:t>
            </a:r>
            <a:r>
              <a:rPr lang="en-US" b="0" dirty="0"/>
              <a:t> and initialize search state.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7F07F7A5-3BF0-0FD7-59F6-E7EDDD3F398F}"/>
              </a:ext>
            </a:extLst>
          </p:cNvPr>
          <p:cNvSpPr txBox="1"/>
          <p:nvPr/>
        </p:nvSpPr>
        <p:spPr>
          <a:xfrm>
            <a:off x="9601200" y="7232335"/>
            <a:ext cx="4237460" cy="925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can be used with domain knowledge applied.</a:t>
            </a:r>
          </a:p>
          <a:p>
            <a:r>
              <a:rPr lang="en-US" dirty="0"/>
              <a:t>1. </a:t>
            </a:r>
            <a:r>
              <a:rPr lang="en-US" dirty="0" err="1"/>
              <a:t>parse_knowledge_txt</a:t>
            </a:r>
            <a:r>
              <a:rPr lang="en-US" dirty="0"/>
              <a:t>()</a:t>
            </a:r>
          </a:p>
          <a:p>
            <a:r>
              <a:rPr lang="en-US" b="0" dirty="0"/>
              <a:t>Load forbidden/required edges and temporal tiers from a .txt file into Tetrad knowledge object.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B6B2D5DA-13C7-5843-9756-AF486643FE84}"/>
              </a:ext>
            </a:extLst>
          </p:cNvPr>
          <p:cNvSpPr txBox="1"/>
          <p:nvPr/>
        </p:nvSpPr>
        <p:spPr>
          <a:xfrm>
            <a:off x="9601200" y="1814685"/>
            <a:ext cx="4264574" cy="8745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 err="1"/>
              <a:t>Pykumu</a:t>
            </a:r>
            <a:r>
              <a:rPr lang="en-US" b="0" dirty="0"/>
              <a:t> more closely interfaces with </a:t>
            </a:r>
            <a:r>
              <a:rPr lang="en-US" b="0" dirty="0" err="1"/>
              <a:t>Kaiaulu</a:t>
            </a:r>
            <a:r>
              <a:rPr lang="en-US" b="0" dirty="0"/>
              <a:t> but can use any other dataset. For an example of a dataset, see </a:t>
            </a:r>
            <a:r>
              <a:rPr lang="en-US" dirty="0" err="1"/>
              <a:t>issue_social_smell_showcase.Rmd</a:t>
            </a:r>
            <a:r>
              <a:rPr lang="en-US" b="0" dirty="0"/>
              <a:t>. Refer to </a:t>
            </a:r>
            <a:r>
              <a:rPr lang="en-US" b="0" dirty="0" err="1"/>
              <a:t>cheatsheets</a:t>
            </a:r>
            <a:r>
              <a:rPr lang="en-US" b="0" dirty="0"/>
              <a:t>/social-smells-</a:t>
            </a:r>
            <a:r>
              <a:rPr lang="en-US" b="0" dirty="0" err="1"/>
              <a:t>cheatsheet.pdf</a:t>
            </a:r>
            <a:endParaRPr lang="en-US" b="0" dirty="0"/>
          </a:p>
        </p:txBody>
      </p:sp>
      <p:cxnSp>
        <p:nvCxnSpPr>
          <p:cNvPr id="1112" name="Connector: Elbow 1111">
            <a:extLst>
              <a:ext uri="{FF2B5EF4-FFF2-40B4-BE49-F238E27FC236}">
                <a16:creationId xmlns:a16="http://schemas.microsoft.com/office/drawing/2014/main" id="{6CD5DC9E-FCF1-89A3-C042-B5E452FA00AC}"/>
              </a:ext>
            </a:extLst>
          </p:cNvPr>
          <p:cNvCxnSpPr>
            <a:cxnSpLocks/>
            <a:stCxn id="991" idx="3"/>
            <a:endCxn id="944" idx="1"/>
          </p:cNvCxnSpPr>
          <p:nvPr/>
        </p:nvCxnSpPr>
        <p:spPr>
          <a:xfrm flipV="1">
            <a:off x="8704406" y="1633055"/>
            <a:ext cx="896794" cy="659054"/>
          </a:xfrm>
          <a:prstGeom prst="bentConnector3">
            <a:avLst>
              <a:gd name="adj1" fmla="val 34636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E69391C-4661-AC8E-39B1-3933B982A2B5}"/>
              </a:ext>
            </a:extLst>
          </p:cNvPr>
          <p:cNvSpPr txBox="1"/>
          <p:nvPr/>
        </p:nvSpPr>
        <p:spPr>
          <a:xfrm>
            <a:off x="1275037" y="358624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Folded Corner 3">
            <a:extLst>
              <a:ext uri="{FF2B5EF4-FFF2-40B4-BE49-F238E27FC236}">
                <a16:creationId xmlns:a16="http://schemas.microsoft.com/office/drawing/2014/main" id="{94F826D2-FE81-24AC-C978-547CFB8875F6}"/>
              </a:ext>
            </a:extLst>
          </p:cNvPr>
          <p:cNvSpPr/>
          <p:nvPr/>
        </p:nvSpPr>
        <p:spPr>
          <a:xfrm rot="10800000" flipH="1">
            <a:off x="2629874" y="338101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" name="Folded Corner 4">
            <a:extLst>
              <a:ext uri="{FF2B5EF4-FFF2-40B4-BE49-F238E27FC236}">
                <a16:creationId xmlns:a16="http://schemas.microsoft.com/office/drawing/2014/main" id="{A60F9644-8BD2-F4BC-4D37-225E34AAEA94}"/>
              </a:ext>
            </a:extLst>
          </p:cNvPr>
          <p:cNvSpPr/>
          <p:nvPr/>
        </p:nvSpPr>
        <p:spPr>
          <a:xfrm rot="10800000" flipH="1">
            <a:off x="2596792" y="34094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" name="Folded Corner 5">
            <a:extLst>
              <a:ext uri="{FF2B5EF4-FFF2-40B4-BE49-F238E27FC236}">
                <a16:creationId xmlns:a16="http://schemas.microsoft.com/office/drawing/2014/main" id="{2FDE42B7-29D5-236E-4A0E-C06A50BFC1FF}"/>
              </a:ext>
            </a:extLst>
          </p:cNvPr>
          <p:cNvSpPr/>
          <p:nvPr/>
        </p:nvSpPr>
        <p:spPr>
          <a:xfrm rot="10800000" flipH="1">
            <a:off x="2556355" y="344325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F90AEEE5-3686-CB48-A2FB-DDAD6BF9C0FC}"/>
              </a:ext>
            </a:extLst>
          </p:cNvPr>
          <p:cNvSpPr txBox="1"/>
          <p:nvPr/>
        </p:nvSpPr>
        <p:spPr>
          <a:xfrm>
            <a:off x="2486995" y="3589370"/>
            <a:ext cx="4823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algorithm.py</a:t>
            </a:r>
          </a:p>
        </p:txBody>
      </p:sp>
      <p:sp>
        <p:nvSpPr>
          <p:cNvPr id="27" name="Folded Corner 3">
            <a:extLst>
              <a:ext uri="{FF2B5EF4-FFF2-40B4-BE49-F238E27FC236}">
                <a16:creationId xmlns:a16="http://schemas.microsoft.com/office/drawing/2014/main" id="{4BB04979-445C-E56C-0EA7-6462F7B0B8AB}"/>
              </a:ext>
            </a:extLst>
          </p:cNvPr>
          <p:cNvSpPr/>
          <p:nvPr/>
        </p:nvSpPr>
        <p:spPr>
          <a:xfrm rot="10800000" flipH="1">
            <a:off x="3124045" y="336113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" name="Folded Corner 4">
            <a:extLst>
              <a:ext uri="{FF2B5EF4-FFF2-40B4-BE49-F238E27FC236}">
                <a16:creationId xmlns:a16="http://schemas.microsoft.com/office/drawing/2014/main" id="{67DDE09A-5D81-8900-2935-4451550B4441}"/>
              </a:ext>
            </a:extLst>
          </p:cNvPr>
          <p:cNvSpPr/>
          <p:nvPr/>
        </p:nvSpPr>
        <p:spPr>
          <a:xfrm rot="10800000" flipH="1">
            <a:off x="3090963" y="338960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" name="Folded Corner 5">
            <a:extLst>
              <a:ext uri="{FF2B5EF4-FFF2-40B4-BE49-F238E27FC236}">
                <a16:creationId xmlns:a16="http://schemas.microsoft.com/office/drawing/2014/main" id="{81F5CB06-DD26-E4B1-F35A-C22CD69A37CA}"/>
              </a:ext>
            </a:extLst>
          </p:cNvPr>
          <p:cNvSpPr/>
          <p:nvPr/>
        </p:nvSpPr>
        <p:spPr>
          <a:xfrm rot="10800000" flipH="1">
            <a:off x="3050526" y="34233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D31EE5CA-3B79-148C-AFEA-DA67620DC563}"/>
              </a:ext>
            </a:extLst>
          </p:cNvPr>
          <p:cNvSpPr txBox="1"/>
          <p:nvPr/>
        </p:nvSpPr>
        <p:spPr>
          <a:xfrm>
            <a:off x="3041735" y="358121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score.py</a:t>
            </a:r>
          </a:p>
        </p:txBody>
      </p:sp>
      <p:sp>
        <p:nvSpPr>
          <p:cNvPr id="30" name="Folded Corner 3">
            <a:extLst>
              <a:ext uri="{FF2B5EF4-FFF2-40B4-BE49-F238E27FC236}">
                <a16:creationId xmlns:a16="http://schemas.microsoft.com/office/drawing/2014/main" id="{031F6FB7-42FF-0D17-D5DF-AF64BE714234}"/>
              </a:ext>
            </a:extLst>
          </p:cNvPr>
          <p:cNvSpPr/>
          <p:nvPr/>
        </p:nvSpPr>
        <p:spPr>
          <a:xfrm rot="10800000" flipH="1">
            <a:off x="489099" y="3477311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" name="Folded Corner 4">
            <a:extLst>
              <a:ext uri="{FF2B5EF4-FFF2-40B4-BE49-F238E27FC236}">
                <a16:creationId xmlns:a16="http://schemas.microsoft.com/office/drawing/2014/main" id="{72468F55-40F2-2405-FE7F-F47ECACAD4BC}"/>
              </a:ext>
            </a:extLst>
          </p:cNvPr>
          <p:cNvSpPr/>
          <p:nvPr/>
        </p:nvSpPr>
        <p:spPr>
          <a:xfrm rot="10800000" flipH="1">
            <a:off x="456017" y="3505777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" name="Folded Corner 5">
            <a:extLst>
              <a:ext uri="{FF2B5EF4-FFF2-40B4-BE49-F238E27FC236}">
                <a16:creationId xmlns:a16="http://schemas.microsoft.com/office/drawing/2014/main" id="{810C4047-D381-04BD-A2E4-BD4CA1A6ABD1}"/>
              </a:ext>
            </a:extLst>
          </p:cNvPr>
          <p:cNvSpPr/>
          <p:nvPr/>
        </p:nvSpPr>
        <p:spPr>
          <a:xfrm rot="10800000" flipH="1">
            <a:off x="415580" y="3539553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FEDEBD0C-17BD-BF4C-70CA-57664FD58297}"/>
              </a:ext>
            </a:extLst>
          </p:cNvPr>
          <p:cNvSpPr txBox="1"/>
          <p:nvPr/>
        </p:nvSpPr>
        <p:spPr>
          <a:xfrm>
            <a:off x="391503" y="3700338"/>
            <a:ext cx="4603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 err="1">
                <a:solidFill>
                  <a:schemeClr val="tx1">
                    <a:lumMod val="50000"/>
                  </a:schemeClr>
                </a:solidFill>
              </a:rPr>
              <a:t>edu.cmu</a:t>
            </a:r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02FEC6-3C4B-9CF2-EA89-72AC81080B24}"/>
              </a:ext>
            </a:extLst>
          </p:cNvPr>
          <p:cNvSpPr txBox="1"/>
          <p:nvPr/>
        </p:nvSpPr>
        <p:spPr>
          <a:xfrm>
            <a:off x="2058159" y="4229130"/>
            <a:ext cx="621043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run_fges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()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3D2D5B-7389-E333-A8B7-469AC5A19703}"/>
              </a:ext>
            </a:extLst>
          </p:cNvPr>
          <p:cNvSpPr txBox="1"/>
          <p:nvPr/>
        </p:nvSpPr>
        <p:spPr>
          <a:xfrm>
            <a:off x="8607799" y="5014851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4B43F8BE-25FC-CE90-4090-76B00161AB7D}"/>
              </a:ext>
            </a:extLst>
          </p:cNvPr>
          <p:cNvCxnSpPr>
            <a:cxnSpLocks/>
            <a:stCxn id="51" idx="3"/>
            <a:endCxn id="1106" idx="1"/>
          </p:cNvCxnSpPr>
          <p:nvPr/>
        </p:nvCxnSpPr>
        <p:spPr>
          <a:xfrm flipV="1">
            <a:off x="8718069" y="4646816"/>
            <a:ext cx="883131" cy="528295"/>
          </a:xfrm>
          <a:prstGeom prst="bentConnector3">
            <a:avLst>
              <a:gd name="adj1" fmla="val 35816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9" name="TextBox 898">
            <a:extLst>
              <a:ext uri="{FF2B5EF4-FFF2-40B4-BE49-F238E27FC236}">
                <a16:creationId xmlns:a16="http://schemas.microsoft.com/office/drawing/2014/main" id="{8D625990-E0A2-6B58-170F-E97153237F90}"/>
              </a:ext>
            </a:extLst>
          </p:cNvPr>
          <p:cNvSpPr txBox="1"/>
          <p:nvPr/>
        </p:nvSpPr>
        <p:spPr>
          <a:xfrm>
            <a:off x="9601200" y="8412480"/>
            <a:ext cx="4244990" cy="1900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Parsing graph data into nodes</a:t>
            </a:r>
            <a:r>
              <a:rPr lang="en-US" b="0"/>
              <a:t>, an edge set, and edge-type probabilities enables </a:t>
            </a:r>
            <a:r>
              <a:rPr lang="en-US" b="0" dirty="0"/>
              <a:t>1-PNEF to be applied. Causal search graph outputs can be saved as JSON, which can be loaded and viewed in the Tetrad GUI. </a:t>
            </a:r>
          </a:p>
          <a:p>
            <a:r>
              <a:rPr lang="en-US" dirty="0"/>
              <a:t>1. </a:t>
            </a:r>
            <a:r>
              <a:rPr lang="en-US" dirty="0" err="1"/>
              <a:t>transform_graph_java_to_graph_json</a:t>
            </a:r>
            <a:r>
              <a:rPr lang="en-US" dirty="0"/>
              <a:t>()</a:t>
            </a:r>
          </a:p>
          <a:p>
            <a:r>
              <a:rPr lang="en-US" b="0" dirty="0"/>
              <a:t>Convert Tetrad graph object to JSON format.</a:t>
            </a:r>
          </a:p>
          <a:p>
            <a:r>
              <a:rPr lang="en-US" dirty="0"/>
              <a:t>2. </a:t>
            </a:r>
            <a:r>
              <a:rPr lang="en-US" dirty="0" err="1"/>
              <a:t>parse_graph_json</a:t>
            </a:r>
            <a:r>
              <a:rPr lang="en-US" dirty="0"/>
              <a:t>()</a:t>
            </a:r>
          </a:p>
          <a:p>
            <a:r>
              <a:rPr lang="en-US" b="0" dirty="0"/>
              <a:t>Parse Tetrad JSON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datasets.</a:t>
            </a:r>
          </a:p>
        </p:txBody>
      </p:sp>
      <p:sp>
        <p:nvSpPr>
          <p:cNvPr id="900" name="Logistics">
            <a:extLst>
              <a:ext uri="{FF2B5EF4-FFF2-40B4-BE49-F238E27FC236}">
                <a16:creationId xmlns:a16="http://schemas.microsoft.com/office/drawing/2014/main" id="{560F751C-0892-0CE1-185E-0BE3B3D3DE48}"/>
              </a:ext>
            </a:extLst>
          </p:cNvPr>
          <p:cNvSpPr txBox="1"/>
          <p:nvPr/>
        </p:nvSpPr>
        <p:spPr>
          <a:xfrm>
            <a:off x="9601200" y="818217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graph.py</a:t>
            </a:r>
          </a:p>
        </p:txBody>
      </p:sp>
      <p:sp>
        <p:nvSpPr>
          <p:cNvPr id="90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8EB52327-588C-81E4-BBB0-4BFB049E86DF}"/>
              </a:ext>
            </a:extLst>
          </p:cNvPr>
          <p:cNvSpPr txBox="1"/>
          <p:nvPr/>
        </p:nvSpPr>
        <p:spPr>
          <a:xfrm>
            <a:off x="182880" y="186555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Python package that serves as a wrapper over the Tetrad Java API (via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), providing an interface for causal analysis algorithms.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fork of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-tetrad/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pytetrad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grpSp>
        <p:nvGrpSpPr>
          <p:cNvPr id="909" name="Group 908">
            <a:extLst>
              <a:ext uri="{FF2B5EF4-FFF2-40B4-BE49-F238E27FC236}">
                <a16:creationId xmlns:a16="http://schemas.microsoft.com/office/drawing/2014/main" id="{C52833F6-1CAE-BD5F-6AD7-DAD45CC28531}"/>
              </a:ext>
            </a:extLst>
          </p:cNvPr>
          <p:cNvGrpSpPr/>
          <p:nvPr/>
        </p:nvGrpSpPr>
        <p:grpSpPr>
          <a:xfrm>
            <a:off x="5279608" y="8859034"/>
            <a:ext cx="818142" cy="583040"/>
            <a:chOff x="3300333" y="6875181"/>
            <a:chExt cx="2140200" cy="1512332"/>
          </a:xfrm>
        </p:grpSpPr>
        <p:sp>
          <p:nvSpPr>
            <p:cNvPr id="910" name="TextBox 909">
              <a:extLst>
                <a:ext uri="{FF2B5EF4-FFF2-40B4-BE49-F238E27FC236}">
                  <a16:creationId xmlns:a16="http://schemas.microsoft.com/office/drawing/2014/main" id="{5DF6DAB7-4731-7FF2-09E7-F0E1CC2DE85C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11" name="Google Shape;162;p1">
              <a:extLst>
                <a:ext uri="{FF2B5EF4-FFF2-40B4-BE49-F238E27FC236}">
                  <a16:creationId xmlns:a16="http://schemas.microsoft.com/office/drawing/2014/main" id="{66D43623-D83C-FF47-AEC9-5B93B73E50CF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2" name="Google Shape;163;p1">
              <a:extLst>
                <a:ext uri="{FF2B5EF4-FFF2-40B4-BE49-F238E27FC236}">
                  <a16:creationId xmlns:a16="http://schemas.microsoft.com/office/drawing/2014/main" id="{8C46AF84-0587-17DE-7FB4-229F3BF53C10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3" name="Google Shape;164;p1">
              <a:extLst>
                <a:ext uri="{FF2B5EF4-FFF2-40B4-BE49-F238E27FC236}">
                  <a16:creationId xmlns:a16="http://schemas.microsoft.com/office/drawing/2014/main" id="{5E814E5F-4A7B-93C7-7059-CC7C95E7AFB7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4" name="Google Shape;165;p1">
              <a:extLst>
                <a:ext uri="{FF2B5EF4-FFF2-40B4-BE49-F238E27FC236}">
                  <a16:creationId xmlns:a16="http://schemas.microsoft.com/office/drawing/2014/main" id="{FC08743D-7ACC-0B6B-F7D3-EF87AA5A705C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5" name="Google Shape;171;p1">
              <a:extLst>
                <a:ext uri="{FF2B5EF4-FFF2-40B4-BE49-F238E27FC236}">
                  <a16:creationId xmlns:a16="http://schemas.microsoft.com/office/drawing/2014/main" id="{DDC2077F-8410-4301-05BC-51C7ADFC8734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6" name="Google Shape;187;p1">
              <a:extLst>
                <a:ext uri="{FF2B5EF4-FFF2-40B4-BE49-F238E27FC236}">
                  <a16:creationId xmlns:a16="http://schemas.microsoft.com/office/drawing/2014/main" id="{28B96B55-6B5A-3901-9F43-1762F9337134}"/>
                </a:ext>
              </a:extLst>
            </p:cNvPr>
            <p:cNvCxnSpPr>
              <a:stCxn id="917" idx="6"/>
              <a:endCxn id="911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17" name="Google Shape;188;p1">
              <a:extLst>
                <a:ext uri="{FF2B5EF4-FFF2-40B4-BE49-F238E27FC236}">
                  <a16:creationId xmlns:a16="http://schemas.microsoft.com/office/drawing/2014/main" id="{175FCB1E-FA1D-1535-280A-0F849A1AF4A1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8" name="Google Shape;196;p1">
              <a:extLst>
                <a:ext uri="{FF2B5EF4-FFF2-40B4-BE49-F238E27FC236}">
                  <a16:creationId xmlns:a16="http://schemas.microsoft.com/office/drawing/2014/main" id="{2C06782A-7D67-5E60-F563-5CFBEF867B15}"/>
                </a:ext>
              </a:extLst>
            </p:cNvPr>
            <p:cNvCxnSpPr>
              <a:stCxn id="917" idx="5"/>
              <a:endCxn id="913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19" name="Google Shape;198;p1">
              <a:extLst>
                <a:ext uri="{FF2B5EF4-FFF2-40B4-BE49-F238E27FC236}">
                  <a16:creationId xmlns:a16="http://schemas.microsoft.com/office/drawing/2014/main" id="{094DDEF4-5545-28FE-78DD-A14729D8F367}"/>
                </a:ext>
              </a:extLst>
            </p:cNvPr>
            <p:cNvCxnSpPr>
              <a:stCxn id="917" idx="6"/>
              <a:endCxn id="914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0" name="Google Shape;199;p1">
              <a:extLst>
                <a:ext uri="{FF2B5EF4-FFF2-40B4-BE49-F238E27FC236}">
                  <a16:creationId xmlns:a16="http://schemas.microsoft.com/office/drawing/2014/main" id="{4F3DB3B9-6479-49FE-E252-32B2C7769B4F}"/>
                </a:ext>
              </a:extLst>
            </p:cNvPr>
            <p:cNvCxnSpPr>
              <a:stCxn id="917" idx="3"/>
              <a:endCxn id="915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1" name="Google Shape;200;p1">
              <a:extLst>
                <a:ext uri="{FF2B5EF4-FFF2-40B4-BE49-F238E27FC236}">
                  <a16:creationId xmlns:a16="http://schemas.microsoft.com/office/drawing/2014/main" id="{CEE8F0AB-F791-630B-08CF-D0F776FA158A}"/>
                </a:ext>
              </a:extLst>
            </p:cNvPr>
            <p:cNvCxnSpPr>
              <a:stCxn id="917" idx="6"/>
              <a:endCxn id="912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926" name="TextBox 925">
            <a:extLst>
              <a:ext uri="{FF2B5EF4-FFF2-40B4-BE49-F238E27FC236}">
                <a16:creationId xmlns:a16="http://schemas.microsoft.com/office/drawing/2014/main" id="{0A209465-0B40-3B3A-973D-948FF842583B}"/>
              </a:ext>
            </a:extLst>
          </p:cNvPr>
          <p:cNvSpPr txBox="1"/>
          <p:nvPr/>
        </p:nvSpPr>
        <p:spPr>
          <a:xfrm>
            <a:off x="4745786" y="9782386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.</a:t>
            </a:r>
            <a:r>
              <a:rPr lang="en-US" dirty="0" err="1"/>
              <a:t>json</a:t>
            </a:r>
            <a:endParaRPr lang="en-US" dirty="0"/>
          </a:p>
        </p:txBody>
      </p:sp>
      <p:cxnSp>
        <p:nvCxnSpPr>
          <p:cNvPr id="927" name="Straight Arrow Connector 926">
            <a:extLst>
              <a:ext uri="{FF2B5EF4-FFF2-40B4-BE49-F238E27FC236}">
                <a16:creationId xmlns:a16="http://schemas.microsoft.com/office/drawing/2014/main" id="{9A18DEC0-5B20-CA7B-3B9D-CDA840B83ECB}"/>
              </a:ext>
            </a:extLst>
          </p:cNvPr>
          <p:cNvCxnSpPr>
            <a:cxnSpLocks/>
          </p:cNvCxnSpPr>
          <p:nvPr/>
        </p:nvCxnSpPr>
        <p:spPr>
          <a:xfrm>
            <a:off x="6437738" y="9220143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8" name="Flowchart: Internal Storage 927">
            <a:extLst>
              <a:ext uri="{FF2B5EF4-FFF2-40B4-BE49-F238E27FC236}">
                <a16:creationId xmlns:a16="http://schemas.microsoft.com/office/drawing/2014/main" id="{B434B8CC-80BF-B139-4E71-8818D707DF95}"/>
              </a:ext>
            </a:extLst>
          </p:cNvPr>
          <p:cNvSpPr/>
          <p:nvPr/>
        </p:nvSpPr>
        <p:spPr>
          <a:xfrm>
            <a:off x="7070339" y="8588772"/>
            <a:ext cx="1472339" cy="1138122"/>
          </a:xfrm>
          <a:prstGeom prst="flowChartInternalStorage">
            <a:avLst/>
          </a:prstGeom>
          <a:noFill/>
          <a:ln w="12700" cap="flat">
            <a:solidFill>
              <a:schemeClr val="tx1">
                <a:lumMod val="50000"/>
              </a:schemeClr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94252386-295F-482C-2B68-748CB4FF3C37}"/>
              </a:ext>
            </a:extLst>
          </p:cNvPr>
          <p:cNvGrpSpPr/>
          <p:nvPr/>
        </p:nvGrpSpPr>
        <p:grpSpPr>
          <a:xfrm>
            <a:off x="7473200" y="8878990"/>
            <a:ext cx="818142" cy="583040"/>
            <a:chOff x="3300333" y="6875181"/>
            <a:chExt cx="2140200" cy="1512332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2141814B-B369-B101-19E4-59436332919C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33" name="Google Shape;162;p1">
              <a:extLst>
                <a:ext uri="{FF2B5EF4-FFF2-40B4-BE49-F238E27FC236}">
                  <a16:creationId xmlns:a16="http://schemas.microsoft.com/office/drawing/2014/main" id="{8415CC06-0334-6E0E-309D-83F11C9BDECF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4" name="Google Shape;163;p1">
              <a:extLst>
                <a:ext uri="{FF2B5EF4-FFF2-40B4-BE49-F238E27FC236}">
                  <a16:creationId xmlns:a16="http://schemas.microsoft.com/office/drawing/2014/main" id="{32E4339A-7AD7-E8EA-E58E-0135D26C7588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6" name="Google Shape;164;p1">
              <a:extLst>
                <a:ext uri="{FF2B5EF4-FFF2-40B4-BE49-F238E27FC236}">
                  <a16:creationId xmlns:a16="http://schemas.microsoft.com/office/drawing/2014/main" id="{10A85EB3-7D33-F2C1-A0ED-D4CB42A6D09A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7" name="Google Shape;165;p1">
              <a:extLst>
                <a:ext uri="{FF2B5EF4-FFF2-40B4-BE49-F238E27FC236}">
                  <a16:creationId xmlns:a16="http://schemas.microsoft.com/office/drawing/2014/main" id="{A4C475B2-2B09-34F7-7648-13C4935B4A61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8" name="Google Shape;171;p1">
              <a:extLst>
                <a:ext uri="{FF2B5EF4-FFF2-40B4-BE49-F238E27FC236}">
                  <a16:creationId xmlns:a16="http://schemas.microsoft.com/office/drawing/2014/main" id="{4CA4DE2B-4585-2FF2-2C02-B9E8F92F193D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5" name="Google Shape;187;p1">
              <a:extLst>
                <a:ext uri="{FF2B5EF4-FFF2-40B4-BE49-F238E27FC236}">
                  <a16:creationId xmlns:a16="http://schemas.microsoft.com/office/drawing/2014/main" id="{3BA4D3B9-172A-1EAC-1F41-47C62457304D}"/>
                </a:ext>
              </a:extLst>
            </p:cNvPr>
            <p:cNvCxnSpPr>
              <a:stCxn id="1116" idx="6"/>
              <a:endCxn id="1033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16" name="Google Shape;188;p1">
              <a:extLst>
                <a:ext uri="{FF2B5EF4-FFF2-40B4-BE49-F238E27FC236}">
                  <a16:creationId xmlns:a16="http://schemas.microsoft.com/office/drawing/2014/main" id="{386CA9AF-55E4-94E6-C1D6-472FA42F482D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7" name="Google Shape;196;p1">
              <a:extLst>
                <a:ext uri="{FF2B5EF4-FFF2-40B4-BE49-F238E27FC236}">
                  <a16:creationId xmlns:a16="http://schemas.microsoft.com/office/drawing/2014/main" id="{572781E4-758C-63EB-CCA8-B18EB0D49FB1}"/>
                </a:ext>
              </a:extLst>
            </p:cNvPr>
            <p:cNvCxnSpPr>
              <a:stCxn id="1116" idx="5"/>
              <a:endCxn id="1036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8" name="Google Shape;198;p1">
              <a:extLst>
                <a:ext uri="{FF2B5EF4-FFF2-40B4-BE49-F238E27FC236}">
                  <a16:creationId xmlns:a16="http://schemas.microsoft.com/office/drawing/2014/main" id="{2269E73F-3580-2B8D-4B85-A60ED6274D41}"/>
                </a:ext>
              </a:extLst>
            </p:cNvPr>
            <p:cNvCxnSpPr>
              <a:stCxn id="1116" idx="6"/>
              <a:endCxn id="1037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9" name="Google Shape;199;p1">
              <a:extLst>
                <a:ext uri="{FF2B5EF4-FFF2-40B4-BE49-F238E27FC236}">
                  <a16:creationId xmlns:a16="http://schemas.microsoft.com/office/drawing/2014/main" id="{87ECBFB6-76FC-B6DB-A495-920A7F8F2E13}"/>
                </a:ext>
              </a:extLst>
            </p:cNvPr>
            <p:cNvCxnSpPr>
              <a:stCxn id="1116" idx="3"/>
              <a:endCxn id="1038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20" name="Google Shape;200;p1">
              <a:extLst>
                <a:ext uri="{FF2B5EF4-FFF2-40B4-BE49-F238E27FC236}">
                  <a16:creationId xmlns:a16="http://schemas.microsoft.com/office/drawing/2014/main" id="{38E6D06A-4985-CD2D-B25D-3A1155B8D93E}"/>
                </a:ext>
              </a:extLst>
            </p:cNvPr>
            <p:cNvCxnSpPr>
              <a:stCxn id="1116" idx="6"/>
              <a:endCxn id="1034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1121" name="TextBox 1120">
            <a:extLst>
              <a:ext uri="{FF2B5EF4-FFF2-40B4-BE49-F238E27FC236}">
                <a16:creationId xmlns:a16="http://schemas.microsoft.com/office/drawing/2014/main" id="{5C5234CA-376B-FCC6-E655-FEAE55C803E0}"/>
              </a:ext>
            </a:extLst>
          </p:cNvPr>
          <p:cNvSpPr txBox="1"/>
          <p:nvPr/>
        </p:nvSpPr>
        <p:spPr>
          <a:xfrm>
            <a:off x="6892923" y="9740951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Tetrad GUI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7824EA88-3756-4780-6BE5-F6460FF169C5}"/>
              </a:ext>
            </a:extLst>
          </p:cNvPr>
          <p:cNvSpPr txBox="1"/>
          <p:nvPr/>
        </p:nvSpPr>
        <p:spPr>
          <a:xfrm>
            <a:off x="7071481" y="8735666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Graph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7A706FC3-5699-8A1A-E8DA-FD11EE1FC653}"/>
              </a:ext>
            </a:extLst>
          </p:cNvPr>
          <p:cNvSpPr txBox="1"/>
          <p:nvPr/>
        </p:nvSpPr>
        <p:spPr>
          <a:xfrm>
            <a:off x="7061235" y="8808698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Compare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2B342B23-2100-4E27-4DE1-1719DDAC8377}"/>
              </a:ext>
            </a:extLst>
          </p:cNvPr>
          <p:cNvSpPr txBox="1"/>
          <p:nvPr/>
        </p:nvSpPr>
        <p:spPr>
          <a:xfrm>
            <a:off x="7048685" y="8887677"/>
            <a:ext cx="251336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Grid Search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375F7FD7-50B3-EB70-5D93-910196E8561F}"/>
              </a:ext>
            </a:extLst>
          </p:cNvPr>
          <p:cNvSpPr txBox="1"/>
          <p:nvPr/>
        </p:nvSpPr>
        <p:spPr>
          <a:xfrm>
            <a:off x="7046974" y="8955604"/>
            <a:ext cx="303972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Parametric Model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95DCB8E8-4B1A-1302-F1F3-3623DB2FA4BD}"/>
              </a:ext>
            </a:extLst>
          </p:cNvPr>
          <p:cNvSpPr txBox="1"/>
          <p:nvPr/>
        </p:nvSpPr>
        <p:spPr>
          <a:xfrm>
            <a:off x="7052833" y="9069294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Simulation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FFBD0A61-1371-CD59-BB54-BE260571DC47}"/>
              </a:ext>
            </a:extLst>
          </p:cNvPr>
          <p:cNvSpPr txBox="1"/>
          <p:nvPr/>
        </p:nvSpPr>
        <p:spPr>
          <a:xfrm>
            <a:off x="7070339" y="9144108"/>
            <a:ext cx="235741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Cluster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EF85735C-0D49-9240-E9BA-B17279CC0E2B}"/>
              </a:ext>
            </a:extLst>
          </p:cNvPr>
          <p:cNvSpPr txBox="1"/>
          <p:nvPr/>
        </p:nvSpPr>
        <p:spPr>
          <a:xfrm>
            <a:off x="7063846" y="9240472"/>
            <a:ext cx="260604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Structure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E031BEB1-DC34-CDDA-5032-DACD3025F862}"/>
              </a:ext>
            </a:extLst>
          </p:cNvPr>
          <p:cNvSpPr txBox="1"/>
          <p:nvPr/>
        </p:nvSpPr>
        <p:spPr>
          <a:xfrm>
            <a:off x="7055007" y="9341517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Knowledge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EBDD080B-2543-C693-0C71-B8C57A7ED00B}"/>
              </a:ext>
            </a:extLst>
          </p:cNvPr>
          <p:cNvSpPr txBox="1"/>
          <p:nvPr/>
        </p:nvSpPr>
        <p:spPr>
          <a:xfrm>
            <a:off x="7061235" y="9418166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Updater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12617E51-0273-E3FF-7EAD-1772CEBBB196}"/>
              </a:ext>
            </a:extLst>
          </p:cNvPr>
          <p:cNvSpPr txBox="1"/>
          <p:nvPr/>
        </p:nvSpPr>
        <p:spPr>
          <a:xfrm>
            <a:off x="7048685" y="9504932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Regression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DB0AD4F7-C90C-17EF-0630-F359E4763947}"/>
              </a:ext>
            </a:extLst>
          </p:cNvPr>
          <p:cNvSpPr txBox="1"/>
          <p:nvPr/>
        </p:nvSpPr>
        <p:spPr>
          <a:xfrm>
            <a:off x="7233495" y="8567085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File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20DD9CEC-F9F5-9D78-9C0A-D469E99872FA}"/>
              </a:ext>
            </a:extLst>
          </p:cNvPr>
          <p:cNvSpPr txBox="1"/>
          <p:nvPr/>
        </p:nvSpPr>
        <p:spPr>
          <a:xfrm>
            <a:off x="7303218" y="8569626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Edit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F13D2685-1F6A-12B7-1BE4-A8978A6B050F}"/>
              </a:ext>
            </a:extLst>
          </p:cNvPr>
          <p:cNvSpPr txBox="1"/>
          <p:nvPr/>
        </p:nvSpPr>
        <p:spPr>
          <a:xfrm>
            <a:off x="7383126" y="8569473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Logging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7BE2B1AD-C7A9-1150-0199-F7374221A566}"/>
              </a:ext>
            </a:extLst>
          </p:cNvPr>
          <p:cNvSpPr txBox="1"/>
          <p:nvPr/>
        </p:nvSpPr>
        <p:spPr>
          <a:xfrm>
            <a:off x="7505552" y="8569922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Pipelines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4BCA19C1-EBB4-E40D-BB79-C1BC4C50C611}"/>
              </a:ext>
            </a:extLst>
          </p:cNvPr>
          <p:cNvSpPr txBox="1"/>
          <p:nvPr/>
        </p:nvSpPr>
        <p:spPr>
          <a:xfrm>
            <a:off x="7637493" y="8572676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Window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D1B5644D-BC88-51BA-86BE-F116A6D75A2C}"/>
              </a:ext>
            </a:extLst>
          </p:cNvPr>
          <p:cNvSpPr txBox="1"/>
          <p:nvPr/>
        </p:nvSpPr>
        <p:spPr>
          <a:xfrm>
            <a:off x="7754912" y="8572676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Help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64D84E9C-BB38-BBCF-4179-14703F9769FC}"/>
              </a:ext>
            </a:extLst>
          </p:cNvPr>
          <p:cNvGrpSpPr/>
          <p:nvPr/>
        </p:nvGrpSpPr>
        <p:grpSpPr>
          <a:xfrm>
            <a:off x="1195787" y="7283830"/>
            <a:ext cx="358133" cy="449780"/>
            <a:chOff x="3801693" y="7065060"/>
            <a:chExt cx="465922" cy="575948"/>
          </a:xfrm>
        </p:grpSpPr>
        <p:sp>
          <p:nvSpPr>
            <p:cNvPr id="1151" name="Flowchart: Internal Storage 1150">
              <a:extLst>
                <a:ext uri="{FF2B5EF4-FFF2-40B4-BE49-F238E27FC236}">
                  <a16:creationId xmlns:a16="http://schemas.microsoft.com/office/drawing/2014/main" id="{B45F9938-0975-0D79-CBD9-58322A728220}"/>
                </a:ext>
              </a:extLst>
            </p:cNvPr>
            <p:cNvSpPr/>
            <p:nvPr/>
          </p:nvSpPr>
          <p:spPr>
            <a:xfrm>
              <a:off x="3824554" y="7065060"/>
              <a:ext cx="443061" cy="575948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138DD4C7-9D55-3EBE-A5F5-FE3CB034B652}"/>
                </a:ext>
              </a:extLst>
            </p:cNvPr>
            <p:cNvSpPr txBox="1"/>
            <p:nvPr/>
          </p:nvSpPr>
          <p:spPr>
            <a:xfrm>
              <a:off x="3801693" y="7065060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3" name="TextBox 1152">
              <a:extLst>
                <a:ext uri="{FF2B5EF4-FFF2-40B4-BE49-F238E27FC236}">
                  <a16:creationId xmlns:a16="http://schemas.microsoft.com/office/drawing/2014/main" id="{CB63947B-AB84-7642-4C2F-C3CAE65537E4}"/>
                </a:ext>
              </a:extLst>
            </p:cNvPr>
            <p:cNvSpPr txBox="1"/>
            <p:nvPr/>
          </p:nvSpPr>
          <p:spPr>
            <a:xfrm>
              <a:off x="3801693" y="7191227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4" name="TextBox 1153">
              <a:extLst>
                <a:ext uri="{FF2B5EF4-FFF2-40B4-BE49-F238E27FC236}">
                  <a16:creationId xmlns:a16="http://schemas.microsoft.com/office/drawing/2014/main" id="{1754DFEF-E6E1-CD94-C62D-3A2D080420C5}"/>
                </a:ext>
              </a:extLst>
            </p:cNvPr>
            <p:cNvSpPr txBox="1"/>
            <p:nvPr/>
          </p:nvSpPr>
          <p:spPr>
            <a:xfrm>
              <a:off x="3801693" y="7336099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1155" name="Straight Connector 1154">
              <a:extLst>
                <a:ext uri="{FF2B5EF4-FFF2-40B4-BE49-F238E27FC236}">
                  <a16:creationId xmlns:a16="http://schemas.microsoft.com/office/drawing/2014/main" id="{DBB67E2E-E680-DF37-617D-65DD9A2A5432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1976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6" name="Straight Connector 1155">
              <a:extLst>
                <a:ext uri="{FF2B5EF4-FFF2-40B4-BE49-F238E27FC236}">
                  <a16:creationId xmlns:a16="http://schemas.microsoft.com/office/drawing/2014/main" id="{D8F1C379-EFD6-2F62-75D5-5FD2B6D95E6C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269790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7" name="Straight Connector 1156">
              <a:extLst>
                <a:ext uri="{FF2B5EF4-FFF2-40B4-BE49-F238E27FC236}">
                  <a16:creationId xmlns:a16="http://schemas.microsoft.com/office/drawing/2014/main" id="{F36E2BCD-7CD4-4654-8CEF-20C483F775BF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344697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8" name="Straight Connector 1157">
              <a:extLst>
                <a:ext uri="{FF2B5EF4-FFF2-40B4-BE49-F238E27FC236}">
                  <a16:creationId xmlns:a16="http://schemas.microsoft.com/office/drawing/2014/main" id="{E798A0B6-13D4-51B7-5A30-35A0CE231F3D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4262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9" name="Straight Connector 1158">
              <a:extLst>
                <a:ext uri="{FF2B5EF4-FFF2-40B4-BE49-F238E27FC236}">
                  <a16:creationId xmlns:a16="http://schemas.microsoft.com/office/drawing/2014/main" id="{EAB60A75-D3DB-974D-D713-FC6FBB60FB94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01852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60" name="Straight Connector 1159">
              <a:extLst>
                <a:ext uri="{FF2B5EF4-FFF2-40B4-BE49-F238E27FC236}">
                  <a16:creationId xmlns:a16="http://schemas.microsoft.com/office/drawing/2014/main" id="{194F87E3-517F-20F9-A478-E0E624647D30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81085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213" name="Group 1212">
            <a:extLst>
              <a:ext uri="{FF2B5EF4-FFF2-40B4-BE49-F238E27FC236}">
                <a16:creationId xmlns:a16="http://schemas.microsoft.com/office/drawing/2014/main" id="{5898DEB4-2ECE-B6C4-782E-D996288D43F9}"/>
              </a:ext>
            </a:extLst>
          </p:cNvPr>
          <p:cNvGrpSpPr/>
          <p:nvPr/>
        </p:nvGrpSpPr>
        <p:grpSpPr>
          <a:xfrm>
            <a:off x="2661632" y="7915578"/>
            <a:ext cx="1625672" cy="724346"/>
            <a:chOff x="4898186" y="8463563"/>
            <a:chExt cx="3978918" cy="1588036"/>
          </a:xfrm>
        </p:grpSpPr>
        <p:sp>
          <p:nvSpPr>
            <p:cNvPr id="1165" name="Folded Corner 5">
              <a:extLst>
                <a:ext uri="{FF2B5EF4-FFF2-40B4-BE49-F238E27FC236}">
                  <a16:creationId xmlns:a16="http://schemas.microsoft.com/office/drawing/2014/main" id="{F439BAE2-ECA5-ABB7-196C-14FCB77EA3C6}"/>
                </a:ext>
              </a:extLst>
            </p:cNvPr>
            <p:cNvSpPr/>
            <p:nvPr/>
          </p:nvSpPr>
          <p:spPr>
            <a:xfrm rot="10800000" flipH="1">
              <a:off x="5352204" y="8474861"/>
              <a:ext cx="944261" cy="1140881"/>
            </a:xfrm>
            <a:prstGeom prst="foldedCorner">
              <a:avLst>
                <a:gd name="adj" fmla="val 29505"/>
              </a:avLst>
            </a:prstGeom>
            <a:solidFill>
              <a:schemeClr val="bg1"/>
            </a:solidFill>
            <a:ln w="63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="horz" wrap="square" lIns="54570" tIns="54570" rIns="54570" bIns="5457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1pPr>
              <a:lvl2pPr marL="0" marR="0" indent="228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2pPr>
              <a:lvl3pPr marL="0" marR="0" indent="457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3pPr>
              <a:lvl4pPr marL="0" marR="0" indent="685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4pPr>
              <a:lvl5pPr marL="0" marR="0" indent="9144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5pPr>
              <a:lvl6pPr marL="0" marR="0" indent="11430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6pPr>
              <a:lvl7pPr marL="0" marR="0" indent="1371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7pPr>
              <a:lvl8pPr marL="0" marR="0" indent="1600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8pPr>
              <a:lvl9pPr marL="0" marR="0" indent="1828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9pPr>
            </a:lstStyle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66" name="Group 1165">
              <a:extLst>
                <a:ext uri="{FF2B5EF4-FFF2-40B4-BE49-F238E27FC236}">
                  <a16:creationId xmlns:a16="http://schemas.microsoft.com/office/drawing/2014/main" id="{EA18D094-C13A-CE31-1B4A-9D562041F085}"/>
                </a:ext>
              </a:extLst>
            </p:cNvPr>
            <p:cNvGrpSpPr/>
            <p:nvPr/>
          </p:nvGrpSpPr>
          <p:grpSpPr>
            <a:xfrm>
              <a:off x="5432008" y="8733825"/>
              <a:ext cx="818142" cy="583040"/>
              <a:chOff x="3300333" y="6875181"/>
              <a:chExt cx="2140200" cy="1512332"/>
            </a:xfrm>
          </p:grpSpPr>
          <p:sp>
            <p:nvSpPr>
              <p:cNvPr id="1167" name="TextBox 1166">
                <a:extLst>
                  <a:ext uri="{FF2B5EF4-FFF2-40B4-BE49-F238E27FC236}">
                    <a16:creationId xmlns:a16="http://schemas.microsoft.com/office/drawing/2014/main" id="{8DCBFCD3-81E3-2DD2-D547-18132C2D257B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68" name="Google Shape;162;p1">
                <a:extLst>
                  <a:ext uri="{FF2B5EF4-FFF2-40B4-BE49-F238E27FC236}">
                    <a16:creationId xmlns:a16="http://schemas.microsoft.com/office/drawing/2014/main" id="{A8C0BF98-4FCC-4173-CBC3-4CE1FD7B76C4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69" name="Google Shape;163;p1">
                <a:extLst>
                  <a:ext uri="{FF2B5EF4-FFF2-40B4-BE49-F238E27FC236}">
                    <a16:creationId xmlns:a16="http://schemas.microsoft.com/office/drawing/2014/main" id="{8CA721DD-8F20-F0DB-4AB6-7260E92741DF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0" name="Google Shape;164;p1">
                <a:extLst>
                  <a:ext uri="{FF2B5EF4-FFF2-40B4-BE49-F238E27FC236}">
                    <a16:creationId xmlns:a16="http://schemas.microsoft.com/office/drawing/2014/main" id="{E800544C-8424-B0F8-CD97-24158E0870A4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1" name="Google Shape;165;p1">
                <a:extLst>
                  <a:ext uri="{FF2B5EF4-FFF2-40B4-BE49-F238E27FC236}">
                    <a16:creationId xmlns:a16="http://schemas.microsoft.com/office/drawing/2014/main" id="{2BB7632F-D2A4-4AD6-61C6-FA59196AE305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2" name="Google Shape;171;p1">
                <a:extLst>
                  <a:ext uri="{FF2B5EF4-FFF2-40B4-BE49-F238E27FC236}">
                    <a16:creationId xmlns:a16="http://schemas.microsoft.com/office/drawing/2014/main" id="{00092B25-0B80-F0A4-DFD3-E83FA71D2BF7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3" name="Google Shape;187;p1">
                <a:extLst>
                  <a:ext uri="{FF2B5EF4-FFF2-40B4-BE49-F238E27FC236}">
                    <a16:creationId xmlns:a16="http://schemas.microsoft.com/office/drawing/2014/main" id="{698493E0-C68E-3FD2-188F-8A2F6AEDE727}"/>
                  </a:ext>
                </a:extLst>
              </p:cNvPr>
              <p:cNvCxnSpPr>
                <a:cxnSpLocks/>
                <a:stCxn id="1174" idx="6"/>
                <a:endCxn id="1168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74" name="Google Shape;188;p1">
                <a:extLst>
                  <a:ext uri="{FF2B5EF4-FFF2-40B4-BE49-F238E27FC236}">
                    <a16:creationId xmlns:a16="http://schemas.microsoft.com/office/drawing/2014/main" id="{EF82E5C6-AB89-60FE-F92E-D4F955FE6BD4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5" name="Google Shape;196;p1">
                <a:extLst>
                  <a:ext uri="{FF2B5EF4-FFF2-40B4-BE49-F238E27FC236}">
                    <a16:creationId xmlns:a16="http://schemas.microsoft.com/office/drawing/2014/main" id="{AE603436-BA56-A43F-FD77-3ED6B333ACFD}"/>
                  </a:ext>
                </a:extLst>
              </p:cNvPr>
              <p:cNvCxnSpPr>
                <a:cxnSpLocks/>
                <a:stCxn id="1174" idx="5"/>
                <a:endCxn id="1170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6" name="Google Shape;198;p1">
                <a:extLst>
                  <a:ext uri="{FF2B5EF4-FFF2-40B4-BE49-F238E27FC236}">
                    <a16:creationId xmlns:a16="http://schemas.microsoft.com/office/drawing/2014/main" id="{2B801B53-8908-F300-69B5-83E2C253F5BF}"/>
                  </a:ext>
                </a:extLst>
              </p:cNvPr>
              <p:cNvCxnSpPr>
                <a:cxnSpLocks/>
                <a:stCxn id="1174" idx="6"/>
                <a:endCxn id="1171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7" name="Google Shape;199;p1">
                <a:extLst>
                  <a:ext uri="{FF2B5EF4-FFF2-40B4-BE49-F238E27FC236}">
                    <a16:creationId xmlns:a16="http://schemas.microsoft.com/office/drawing/2014/main" id="{7B843A58-D61B-F615-2B26-A0DC31637C7D}"/>
                  </a:ext>
                </a:extLst>
              </p:cNvPr>
              <p:cNvCxnSpPr>
                <a:cxnSpLocks/>
                <a:stCxn id="1174" idx="3"/>
                <a:endCxn id="1172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8" name="Google Shape;200;p1">
                <a:extLst>
                  <a:ext uri="{FF2B5EF4-FFF2-40B4-BE49-F238E27FC236}">
                    <a16:creationId xmlns:a16="http://schemas.microsoft.com/office/drawing/2014/main" id="{EF883E5A-672A-9E84-3E1F-9360EF19B821}"/>
                  </a:ext>
                </a:extLst>
              </p:cNvPr>
              <p:cNvCxnSpPr>
                <a:cxnSpLocks/>
                <a:stCxn id="1174" idx="6"/>
                <a:endCxn id="1169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79" name="TextBox 1178">
              <a:extLst>
                <a:ext uri="{FF2B5EF4-FFF2-40B4-BE49-F238E27FC236}">
                  <a16:creationId xmlns:a16="http://schemas.microsoft.com/office/drawing/2014/main" id="{EC7C6EFE-6D47-F64F-62D4-972BC68E6550}"/>
                </a:ext>
              </a:extLst>
            </p:cNvPr>
            <p:cNvSpPr txBox="1"/>
            <p:nvPr/>
          </p:nvSpPr>
          <p:spPr>
            <a:xfrm>
              <a:off x="4898186" y="9385556"/>
              <a:ext cx="1831780" cy="6556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000" dirty="0"/>
                <a:t>.</a:t>
              </a:r>
              <a:r>
                <a:rPr lang="en-US" sz="700" dirty="0" err="1"/>
                <a:t>json</a:t>
              </a:r>
              <a:endParaRPr lang="en-US" sz="1000" dirty="0"/>
            </a:p>
          </p:txBody>
        </p:sp>
        <p:sp>
          <p:nvSpPr>
            <p:cNvPr id="1181" name="Flowchart: Internal Storage 1180">
              <a:extLst>
                <a:ext uri="{FF2B5EF4-FFF2-40B4-BE49-F238E27FC236}">
                  <a16:creationId xmlns:a16="http://schemas.microsoft.com/office/drawing/2014/main" id="{5D1E7BE1-6020-0FEE-841B-101E13745873}"/>
                </a:ext>
              </a:extLst>
            </p:cNvPr>
            <p:cNvSpPr/>
            <p:nvPr/>
          </p:nvSpPr>
          <p:spPr>
            <a:xfrm>
              <a:off x="7222739" y="8463563"/>
              <a:ext cx="1472339" cy="1138122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>
              <a:outerShdw blurRad="38100" dist="25400" dir="5400000" rotWithShape="0">
                <a:schemeClr val="bg1">
                  <a:alpha val="50000"/>
                </a:scheme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82" name="Group 1181">
              <a:extLst>
                <a:ext uri="{FF2B5EF4-FFF2-40B4-BE49-F238E27FC236}">
                  <a16:creationId xmlns:a16="http://schemas.microsoft.com/office/drawing/2014/main" id="{566BEE9E-E5DB-A382-D4D8-EF1BCAA625A0}"/>
                </a:ext>
              </a:extLst>
            </p:cNvPr>
            <p:cNvGrpSpPr/>
            <p:nvPr/>
          </p:nvGrpSpPr>
          <p:grpSpPr>
            <a:xfrm>
              <a:off x="7625600" y="8753781"/>
              <a:ext cx="818142" cy="583040"/>
              <a:chOff x="3300333" y="6875181"/>
              <a:chExt cx="2140200" cy="1512332"/>
            </a:xfrm>
          </p:grpSpPr>
          <p:sp>
            <p:nvSpPr>
              <p:cNvPr id="1183" name="TextBox 1182">
                <a:extLst>
                  <a:ext uri="{FF2B5EF4-FFF2-40B4-BE49-F238E27FC236}">
                    <a16:creationId xmlns:a16="http://schemas.microsoft.com/office/drawing/2014/main" id="{E50E0B4B-C958-ED73-C975-E98F8686D9AA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84" name="Google Shape;162;p1">
                <a:extLst>
                  <a:ext uri="{FF2B5EF4-FFF2-40B4-BE49-F238E27FC236}">
                    <a16:creationId xmlns:a16="http://schemas.microsoft.com/office/drawing/2014/main" id="{060AB68B-C69A-9BCD-D817-6DAE52BE5D48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5" name="Google Shape;163;p1">
                <a:extLst>
                  <a:ext uri="{FF2B5EF4-FFF2-40B4-BE49-F238E27FC236}">
                    <a16:creationId xmlns:a16="http://schemas.microsoft.com/office/drawing/2014/main" id="{70C16D57-7D18-A119-1F41-486602BA255B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6" name="Google Shape;164;p1">
                <a:extLst>
                  <a:ext uri="{FF2B5EF4-FFF2-40B4-BE49-F238E27FC236}">
                    <a16:creationId xmlns:a16="http://schemas.microsoft.com/office/drawing/2014/main" id="{FBC41F07-9E62-8D2F-B9E0-293A4E15C80F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7" name="Google Shape;165;p1">
                <a:extLst>
                  <a:ext uri="{FF2B5EF4-FFF2-40B4-BE49-F238E27FC236}">
                    <a16:creationId xmlns:a16="http://schemas.microsoft.com/office/drawing/2014/main" id="{9A9B9277-6946-EF6D-4564-FE502B2CDEC1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8" name="Google Shape;171;p1">
                <a:extLst>
                  <a:ext uri="{FF2B5EF4-FFF2-40B4-BE49-F238E27FC236}">
                    <a16:creationId xmlns:a16="http://schemas.microsoft.com/office/drawing/2014/main" id="{18F94A82-1DAE-43A4-1D8B-36E16CB2CCA8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89" name="Google Shape;187;p1">
                <a:extLst>
                  <a:ext uri="{FF2B5EF4-FFF2-40B4-BE49-F238E27FC236}">
                    <a16:creationId xmlns:a16="http://schemas.microsoft.com/office/drawing/2014/main" id="{B9FE082B-B4DB-1921-4080-EA4F066F4E56}"/>
                  </a:ext>
                </a:extLst>
              </p:cNvPr>
              <p:cNvCxnSpPr>
                <a:cxnSpLocks/>
                <a:stCxn id="1190" idx="6"/>
                <a:endCxn id="1184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90" name="Google Shape;188;p1">
                <a:extLst>
                  <a:ext uri="{FF2B5EF4-FFF2-40B4-BE49-F238E27FC236}">
                    <a16:creationId xmlns:a16="http://schemas.microsoft.com/office/drawing/2014/main" id="{E82E02AB-E4B1-BB68-8A70-8794123ABC18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91" name="Google Shape;196;p1">
                <a:extLst>
                  <a:ext uri="{FF2B5EF4-FFF2-40B4-BE49-F238E27FC236}">
                    <a16:creationId xmlns:a16="http://schemas.microsoft.com/office/drawing/2014/main" id="{A5533D02-2697-83AF-4B9C-C2B6D5422C25}"/>
                  </a:ext>
                </a:extLst>
              </p:cNvPr>
              <p:cNvCxnSpPr>
                <a:cxnSpLocks/>
                <a:stCxn id="1190" idx="5"/>
                <a:endCxn id="1186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2" name="Google Shape;198;p1">
                <a:extLst>
                  <a:ext uri="{FF2B5EF4-FFF2-40B4-BE49-F238E27FC236}">
                    <a16:creationId xmlns:a16="http://schemas.microsoft.com/office/drawing/2014/main" id="{5663AC1C-4A6D-FE6F-2784-8D9A755708E6}"/>
                  </a:ext>
                </a:extLst>
              </p:cNvPr>
              <p:cNvCxnSpPr>
                <a:cxnSpLocks/>
                <a:stCxn id="1190" idx="6"/>
                <a:endCxn id="1187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3" name="Google Shape;199;p1">
                <a:extLst>
                  <a:ext uri="{FF2B5EF4-FFF2-40B4-BE49-F238E27FC236}">
                    <a16:creationId xmlns:a16="http://schemas.microsoft.com/office/drawing/2014/main" id="{03623C69-A462-DD03-9399-CB674EE15198}"/>
                  </a:ext>
                </a:extLst>
              </p:cNvPr>
              <p:cNvCxnSpPr>
                <a:cxnSpLocks/>
                <a:stCxn id="1190" idx="3"/>
                <a:endCxn id="1188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4" name="Google Shape;200;p1">
                <a:extLst>
                  <a:ext uri="{FF2B5EF4-FFF2-40B4-BE49-F238E27FC236}">
                    <a16:creationId xmlns:a16="http://schemas.microsoft.com/office/drawing/2014/main" id="{B6ED8837-9C93-ED53-226B-7AF1F83B1CD0}"/>
                  </a:ext>
                </a:extLst>
              </p:cNvPr>
              <p:cNvCxnSpPr>
                <a:cxnSpLocks/>
                <a:stCxn id="1190" idx="6"/>
                <a:endCxn id="1185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95" name="TextBox 1194">
              <a:extLst>
                <a:ext uri="{FF2B5EF4-FFF2-40B4-BE49-F238E27FC236}">
                  <a16:creationId xmlns:a16="http://schemas.microsoft.com/office/drawing/2014/main" id="{37830246-355B-5921-2970-CF168AE2369C}"/>
                </a:ext>
              </a:extLst>
            </p:cNvPr>
            <p:cNvSpPr txBox="1"/>
            <p:nvPr/>
          </p:nvSpPr>
          <p:spPr>
            <a:xfrm>
              <a:off x="7045323" y="9500399"/>
              <a:ext cx="1831781" cy="551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700" dirty="0"/>
                <a:t>Tetrad GUI</a:t>
              </a:r>
            </a:p>
          </p:txBody>
        </p:sp>
      </p:grpSp>
      <p:cxnSp>
        <p:nvCxnSpPr>
          <p:cNvPr id="1220" name="Straight Arrow Connector 1219">
            <a:extLst>
              <a:ext uri="{FF2B5EF4-FFF2-40B4-BE49-F238E27FC236}">
                <a16:creationId xmlns:a16="http://schemas.microsoft.com/office/drawing/2014/main" id="{9EAB41A4-5007-C80A-D62F-E3EC9FA41A8A}"/>
              </a:ext>
            </a:extLst>
          </p:cNvPr>
          <p:cNvCxnSpPr>
            <a:cxnSpLocks/>
          </p:cNvCxnSpPr>
          <p:nvPr/>
        </p:nvCxnSpPr>
        <p:spPr>
          <a:xfrm flipV="1">
            <a:off x="540609" y="7563144"/>
            <a:ext cx="542836" cy="383885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1" name="Straight Arrow Connector 1220">
            <a:extLst>
              <a:ext uri="{FF2B5EF4-FFF2-40B4-BE49-F238E27FC236}">
                <a16:creationId xmlns:a16="http://schemas.microsoft.com/office/drawing/2014/main" id="{1665B829-1B72-087C-1D91-C1A5EA5F14E4}"/>
              </a:ext>
            </a:extLst>
          </p:cNvPr>
          <p:cNvCxnSpPr>
            <a:cxnSpLocks/>
          </p:cNvCxnSpPr>
          <p:nvPr/>
        </p:nvCxnSpPr>
        <p:spPr>
          <a:xfrm>
            <a:off x="1686611" y="7544809"/>
            <a:ext cx="371548" cy="283991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4" name="Straight Arrow Connector 1223">
            <a:extLst>
              <a:ext uri="{FF2B5EF4-FFF2-40B4-BE49-F238E27FC236}">
                <a16:creationId xmlns:a16="http://schemas.microsoft.com/office/drawing/2014/main" id="{978D955E-8984-7591-AF5F-F4A7E5F81E50}"/>
              </a:ext>
            </a:extLst>
          </p:cNvPr>
          <p:cNvCxnSpPr>
            <a:cxnSpLocks/>
          </p:cNvCxnSpPr>
          <p:nvPr/>
        </p:nvCxnSpPr>
        <p:spPr>
          <a:xfrm flipV="1">
            <a:off x="1950245" y="8460671"/>
            <a:ext cx="178758" cy="30308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6" name="Straight Arrow Connector 1225">
            <a:extLst>
              <a:ext uri="{FF2B5EF4-FFF2-40B4-BE49-F238E27FC236}">
                <a16:creationId xmlns:a16="http://schemas.microsoft.com/office/drawing/2014/main" id="{6D2905DC-CB90-2191-A020-9E248504CD14}"/>
              </a:ext>
            </a:extLst>
          </p:cNvPr>
          <p:cNvCxnSpPr>
            <a:cxnSpLocks/>
          </p:cNvCxnSpPr>
          <p:nvPr/>
        </p:nvCxnSpPr>
        <p:spPr>
          <a:xfrm>
            <a:off x="2446049" y="8192009"/>
            <a:ext cx="321536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9" name="Straight Arrow Connector 1228">
            <a:extLst>
              <a:ext uri="{FF2B5EF4-FFF2-40B4-BE49-F238E27FC236}">
                <a16:creationId xmlns:a16="http://schemas.microsoft.com/office/drawing/2014/main" id="{64EE332A-A526-0BF3-5CC3-DB19D421CFA0}"/>
              </a:ext>
            </a:extLst>
          </p:cNvPr>
          <p:cNvCxnSpPr>
            <a:cxnSpLocks/>
          </p:cNvCxnSpPr>
          <p:nvPr/>
        </p:nvCxnSpPr>
        <p:spPr>
          <a:xfrm>
            <a:off x="3325817" y="8210499"/>
            <a:ext cx="2118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33" name="TextBox 1232">
            <a:extLst>
              <a:ext uri="{FF2B5EF4-FFF2-40B4-BE49-F238E27FC236}">
                <a16:creationId xmlns:a16="http://schemas.microsoft.com/office/drawing/2014/main" id="{08D333D2-0C04-6E5A-98D0-F9271094A8E7}"/>
              </a:ext>
            </a:extLst>
          </p:cNvPr>
          <p:cNvSpPr txBox="1"/>
          <p:nvPr/>
        </p:nvSpPr>
        <p:spPr>
          <a:xfrm>
            <a:off x="1137303" y="7698560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notebook/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F8B614-E9B2-E7EC-9330-2C2CF1BA1C98}"/>
              </a:ext>
            </a:extLst>
          </p:cNvPr>
          <p:cNvSpPr txBox="1"/>
          <p:nvPr/>
        </p:nvSpPr>
        <p:spPr>
          <a:xfrm>
            <a:off x="872730" y="9003638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CLI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16FE481C-3AD0-89C9-E384-28AD5DD02AF3}"/>
              </a:ext>
            </a:extLst>
          </p:cNvPr>
          <p:cNvSpPr/>
          <p:nvPr/>
        </p:nvSpPr>
        <p:spPr>
          <a:xfrm>
            <a:off x="146304" y="3191986"/>
            <a:ext cx="4170149" cy="9585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FE4B3F64-1DED-FC4C-03AD-0FB8F3151EE6}"/>
              </a:ext>
            </a:extLst>
          </p:cNvPr>
          <p:cNvSpPr/>
          <p:nvPr/>
        </p:nvSpPr>
        <p:spPr>
          <a:xfrm>
            <a:off x="146304" y="1817077"/>
            <a:ext cx="4170149" cy="9585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9C62DA02-86F1-20DD-9B6A-FB724DAEA5FB}"/>
              </a:ext>
            </a:extLst>
          </p:cNvPr>
          <p:cNvSpPr/>
          <p:nvPr/>
        </p:nvSpPr>
        <p:spPr>
          <a:xfrm>
            <a:off x="146304" y="7039728"/>
            <a:ext cx="4170149" cy="9585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9A8DF42-4D05-9751-A99F-F495EA87806B}"/>
              </a:ext>
            </a:extLst>
          </p:cNvPr>
          <p:cNvCxnSpPr>
            <a:cxnSpLocks/>
            <a:endCxn id="1107" idx="1"/>
          </p:cNvCxnSpPr>
          <p:nvPr/>
        </p:nvCxnSpPr>
        <p:spPr>
          <a:xfrm flipV="1">
            <a:off x="8322143" y="7119454"/>
            <a:ext cx="1279057" cy="5121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5" name="Line">
            <a:extLst>
              <a:ext uri="{FF2B5EF4-FFF2-40B4-BE49-F238E27FC236}">
                <a16:creationId xmlns:a16="http://schemas.microsoft.com/office/drawing/2014/main" id="{4EB94286-F0C8-DCC3-4E9B-E9D5965CE6E4}"/>
              </a:ext>
            </a:extLst>
          </p:cNvPr>
          <p:cNvSpPr/>
          <p:nvPr/>
        </p:nvSpPr>
        <p:spPr>
          <a:xfrm>
            <a:off x="4775825" y="1819656"/>
            <a:ext cx="4170149" cy="9585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37" name="Line">
            <a:extLst>
              <a:ext uri="{FF2B5EF4-FFF2-40B4-BE49-F238E27FC236}">
                <a16:creationId xmlns:a16="http://schemas.microsoft.com/office/drawing/2014/main" id="{48547223-F4EA-B44C-0F6E-7EA39721FAA1}"/>
              </a:ext>
            </a:extLst>
          </p:cNvPr>
          <p:cNvSpPr/>
          <p:nvPr/>
        </p:nvSpPr>
        <p:spPr>
          <a:xfrm>
            <a:off x="9576628" y="1817315"/>
            <a:ext cx="4170149" cy="9585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8146342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6910</TotalTime>
  <Words>7269</Words>
  <Application>Microsoft Office PowerPoint</Application>
  <PresentationFormat>Custom</PresentationFormat>
  <Paragraphs>1232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Avenir</vt:lpstr>
      <vt:lpstr>Helvetica Light</vt:lpstr>
      <vt:lpstr>Source Sans Pro</vt:lpstr>
      <vt:lpstr>Source Sans Pro Light</vt:lpstr>
      <vt:lpstr>Source Sans Pro Semibold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: : CHEAT SHEET</dc:title>
  <dc:creator>phuong pham</dc:creator>
  <cp:lastModifiedBy>Phuong Pham</cp:lastModifiedBy>
  <cp:revision>235</cp:revision>
  <dcterms:modified xsi:type="dcterms:W3CDTF">2026-05-10T04:52:53Z</dcterms:modified>
</cp:coreProperties>
</file>