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8_C1D3A479.xml" ContentType="application/vnd.ms-powerpoint.comments+xml"/>
  <Override PartName="/ppt/notesSlides/notesSlide2.xml" ContentType="application/vnd.openxmlformats-officedocument.presentationml.notesSlide+xml"/>
  <Override PartName="/ppt/comments/modernComment_109_E646BFDE.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12_5EEF17C0.xml" ContentType="application/vnd.ms-powerpoint.comments+xml"/>
  <Override PartName="/ppt/notesSlides/notesSlide7.xml" ContentType="application/vnd.openxmlformats-officedocument.presentationml.notesSlide+xml"/>
  <Override PartName="/ppt/comments/modernComment_113_C42BFBB2.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69" r:id="rId2"/>
    <p:sldId id="270" r:id="rId3"/>
    <p:sldId id="271" r:id="rId4"/>
    <p:sldId id="272" r:id="rId5"/>
    <p:sldId id="264" r:id="rId6"/>
    <p:sldId id="265" r:id="rId7"/>
    <p:sldId id="266" r:id="rId8"/>
    <p:sldId id="268" r:id="rId9"/>
    <p:sldId id="273" r:id="rId10"/>
    <p:sldId id="274" r:id="rId11"/>
    <p:sldId id="275" r:id="rId12"/>
    <p:sldId id="276" r:id="rId13"/>
    <p:sldId id="277" r:id="rId14"/>
    <p:sldId id="278" r:id="rId15"/>
    <p:sldId id="279" r:id="rId16"/>
    <p:sldId id="280" r:id="rId17"/>
    <p:sldId id="281" r:id="rId18"/>
  </p:sldIdLst>
  <p:sldSz cx="13970000" cy="10795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2A07992-44BC-E5C6-5874-4E6FB9D91CC9}" name="Colby F" initials="CF" userId="d8d0c4c9dc85948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4C4C"/>
    <a:srgbClr val="0265BF"/>
    <a:srgbClr val="00872B"/>
    <a:srgbClr val="DF9660"/>
    <a:srgbClr val="C78758"/>
    <a:srgbClr val="F5A468"/>
    <a:srgbClr val="499FB8"/>
    <a:srgbClr val="8BC34A"/>
    <a:srgbClr val="C8D6C2"/>
    <a:srgbClr val="00882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Source Sans Pro"/>
          <a:ea typeface="Source Sans Pro"/>
          <a:cs typeface="Source Sans Pro"/>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Source Sans Pro"/>
          <a:ea typeface="Source Sans Pro"/>
          <a:cs typeface="Source Sans Pr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
          <a:latin typeface="Source Sans Pro"/>
          <a:ea typeface="Source Sans Pro"/>
          <a:cs typeface="Source Sans Pro"/>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Source Sans Pro"/>
          <a:ea typeface="Source Sans Pro"/>
          <a:cs typeface="Source Sans Pr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
          <a:latin typeface="Source Sans Pro"/>
          <a:ea typeface="Source Sans Pro"/>
          <a:cs typeface="Source Sans Pro"/>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
          <a:latin typeface="Source Sans Pro"/>
          <a:ea typeface="Source Sans Pro"/>
          <a:cs typeface="Source Sans Pro"/>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
          <a:latin typeface="Source Sans Pro"/>
          <a:ea typeface="Source Sans Pro"/>
          <a:cs typeface="Source Sans Pro"/>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
          <a:latin typeface="Source Sans Pro"/>
          <a:ea typeface="Source Sans Pro"/>
          <a:cs typeface="Source Sans Pro"/>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
          <a:latin typeface="Source Sans Pro"/>
          <a:ea typeface="Source Sans Pro"/>
          <a:cs typeface="Source Sans Pro"/>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
          <a:latin typeface="Source Sans Pro"/>
          <a:ea typeface="Source Sans Pro"/>
          <a:cs typeface="Source Sans Pro"/>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58" autoAdjust="0"/>
    <p:restoredTop sz="95859"/>
  </p:normalViewPr>
  <p:slideViewPr>
    <p:cSldViewPr snapToGrid="0" snapToObjects="1">
      <p:cViewPr>
        <p:scale>
          <a:sx n="60" d="100"/>
          <a:sy n="60" d="100"/>
        </p:scale>
        <p:origin x="1027"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omments/modernComment_108_C1D3A479.xml><?xml version="1.0" encoding="utf-8"?>
<p188:cmLst xmlns:a="http://schemas.openxmlformats.org/drawingml/2006/main" xmlns:r="http://schemas.openxmlformats.org/officeDocument/2006/relationships" xmlns:p188="http://schemas.microsoft.com/office/powerpoint/2018/8/main">
  <p188:cm id="{7DB41663-1B80-4697-980B-19266DCF1CB8}" authorId="{82A07992-44BC-E5C6-5874-4E6FB9D91CC9}" created="2026-04-18T00:14:45.588">
    <ac:deMkLst xmlns:ac="http://schemas.microsoft.com/office/drawing/2013/main/command">
      <pc:docMk xmlns:pc="http://schemas.microsoft.com/office/powerpoint/2013/main/command"/>
      <pc:sldMk xmlns:pc="http://schemas.microsoft.com/office/powerpoint/2013/main/command" cId="3251872889" sldId="264"/>
      <ac:grpSpMk id="620" creationId="{3199307E-E375-4569-2E73-B56A670E7A33}"/>
    </ac:deMkLst>
    <p188:txBody>
      <a:bodyPr/>
      <a:lstStyle/>
      <a:p>
        <a:r>
          <a:rPr lang="en-US"/>
          <a:t>Change review shape to blocky corners</a:t>
        </a:r>
      </a:p>
    </p188:txBody>
  </p188:cm>
  <p188:cm id="{693952AF-1500-472E-8A57-186C759D3F9A}" authorId="{82A07992-44BC-E5C6-5874-4E6FB9D91CC9}" created="2026-04-18T00:15:54.946">
    <ac:deMkLst xmlns:ac="http://schemas.microsoft.com/office/drawing/2013/main/command">
      <pc:docMk xmlns:pc="http://schemas.microsoft.com/office/powerpoint/2013/main/command"/>
      <pc:sldMk xmlns:pc="http://schemas.microsoft.com/office/powerpoint/2013/main/command" cId="3251872889" sldId="264"/>
      <ac:grpSpMk id="620" creationId="{3199307E-E375-4569-2E73-B56A670E7A33}"/>
    </ac:deMkLst>
    <p188:txBody>
      <a:bodyPr/>
      <a:lstStyle/>
      <a:p>
        <a:r>
          <a:rPr lang="en-US"/>
          <a:t>Remove the gray boxes from codecov
</a:t>
        </a:r>
      </a:p>
    </p188:txBody>
  </p188:cm>
  <p188:cm id="{493F2329-0949-4FE8-BCB3-91CA2C22E430}" authorId="{82A07992-44BC-E5C6-5874-4E6FB9D91CC9}" created="2026-04-18T00:20:35.333">
    <ac:deMkLst xmlns:ac="http://schemas.microsoft.com/office/drawing/2013/main/command">
      <pc:docMk xmlns:pc="http://schemas.microsoft.com/office/powerpoint/2013/main/command"/>
      <pc:sldMk xmlns:pc="http://schemas.microsoft.com/office/powerpoint/2013/main/command" cId="3251872889" sldId="264"/>
      <ac:grpSpMk id="45" creationId="{63D29162-3F67-7A25-EB43-4F52786CD480}"/>
    </ac:deMkLst>
    <p188:txBody>
      <a:bodyPr/>
      <a:lstStyle/>
      <a:p>
        <a:r>
          <a:rPr lang="en-US"/>
          <a:t>Add f,f,f(functions between file sections)</a:t>
        </a:r>
      </a:p>
    </p188:txBody>
  </p188:cm>
</p188:cmLst>
</file>

<file path=ppt/comments/modernComment_109_E646BFDE.xml><?xml version="1.0" encoding="utf-8"?>
<p188:cmLst xmlns:a="http://schemas.openxmlformats.org/drawingml/2006/main" xmlns:r="http://schemas.openxmlformats.org/officeDocument/2006/relationships" xmlns:p188="http://schemas.microsoft.com/office/powerpoint/2018/8/main">
  <p188:cm id="{0FB6A371-486F-43E6-97B8-EE807D6EB8F7}" authorId="{82A07992-44BC-E5C6-5874-4E6FB9D91CC9}" created="2026-04-18T00:33:34.335">
    <ac:deMkLst xmlns:ac="http://schemas.microsoft.com/office/drawing/2013/main/command">
      <pc:docMk xmlns:pc="http://schemas.microsoft.com/office/powerpoint/2013/main/command"/>
      <pc:sldMk xmlns:pc="http://schemas.microsoft.com/office/powerpoint/2013/main/command" cId="3863396318" sldId="265"/>
      <ac:picMk id="468" creationId="{CD4FB4A2-23E3-5EBB-D467-2980282CCA0A}"/>
    </ac:deMkLst>
    <p188:txBody>
      <a:bodyPr/>
      <a:lstStyle/>
      <a:p>
        <a:r>
          <a:rPr lang="en-US"/>
          <a:t>Add dotted circle to represent other files</a:t>
        </a:r>
      </a:p>
    </p188:txBody>
  </p188:cm>
</p188:cmLst>
</file>

<file path=ppt/comments/modernComment_112_5EEF17C0.xml><?xml version="1.0" encoding="utf-8"?>
<p188:cmLst xmlns:a="http://schemas.openxmlformats.org/drawingml/2006/main" xmlns:r="http://schemas.openxmlformats.org/officeDocument/2006/relationships" xmlns:p188="http://schemas.microsoft.com/office/powerpoint/2018/8/main">
  <p188:cm id="{81EE0EE8-1BA3-4817-8AE2-625B2F626AB2}" authorId="{82A07992-44BC-E5C6-5874-4E6FB9D91CC9}" created="2026-04-21T02:32:59.266">
    <pc:sldMkLst xmlns:pc="http://schemas.microsoft.com/office/powerpoint/2013/main/command">
      <pc:docMk/>
      <pc:sldMk cId="1592727488" sldId="274"/>
    </pc:sldMkLst>
    <p188:txBody>
      <a:bodyPr/>
      <a:lstStyle/>
      <a:p>
        <a:r>
          <a:rPr lang="en-US"/>
          <a:t>The error moves through different files, exception is caught, then addressed in future files. Copy paste new files to show this</a:t>
        </a:r>
      </a:p>
    </p188:txBody>
  </p188:cm>
  <p188:cm id="{DE3C66DE-8B00-4606-8510-B6AE583AAF9F}" authorId="{82A07992-44BC-E5C6-5874-4E6FB9D91CC9}" created="2026-04-21T02:40:14.945">
    <ac:deMkLst xmlns:ac="http://schemas.microsoft.com/office/drawing/2013/main/command">
      <pc:docMk xmlns:pc="http://schemas.microsoft.com/office/powerpoint/2013/main/command"/>
      <pc:sldMk xmlns:pc="http://schemas.microsoft.com/office/powerpoint/2013/main/command" cId="1592727488" sldId="274"/>
      <ac:spMk id="342" creationId="{F473A1C8-854B-5ADD-153D-868C3DE0442C}"/>
    </ac:deMkLst>
    <p188:txBody>
      <a:bodyPr/>
      <a:lstStyle/>
      <a:p>
        <a:r>
          <a:rPr lang="en-US"/>
          <a:t>USE PR Icon</a:t>
        </a:r>
      </a:p>
    </p188:txBody>
  </p188:cm>
</p188:cmLst>
</file>

<file path=ppt/comments/modernComment_113_C42BFBB2.xml><?xml version="1.0" encoding="utf-8"?>
<p188:cmLst xmlns:a="http://schemas.openxmlformats.org/drawingml/2006/main" xmlns:r="http://schemas.openxmlformats.org/officeDocument/2006/relationships" xmlns:p188="http://schemas.microsoft.com/office/powerpoint/2018/8/main">
  <p188:cm id="{1132A8E9-40CD-4538-B80C-07B0A3D84954}" authorId="{82A07992-44BC-E5C6-5874-4E6FB9D91CC9}" status="resolved" created="2026-04-22T01:34:38.962" complete="100000">
    <ac:txMkLst xmlns:ac="http://schemas.microsoft.com/office/drawing/2013/main/command">
      <pc:docMk xmlns:pc="http://schemas.microsoft.com/office/powerpoint/2013/main/command"/>
      <pc:sldMk xmlns:pc="http://schemas.microsoft.com/office/powerpoint/2013/main/command" cId="3291216818" sldId="275"/>
      <ac:spMk id="341" creationId="{866243D2-EE98-07BD-3D32-8337F3863B69}"/>
      <ac:txMk cp="0" len="7">
        <ac:context len="191" hash="2475697893"/>
      </ac:txMk>
    </ac:txMkLst>
    <p188:pos x="564538" y="247226"/>
    <p188:txBody>
      <a:bodyPr/>
      <a:lstStyle/>
      <a:p>
        <a:r>
          <a:rPr lang="en-US"/>
          <a:t>Remove bullet points
</a:t>
        </a:r>
      </a:p>
    </p188:txBody>
  </p188:cm>
  <p188:cm id="{9AD0DA77-BD5A-4F86-98AA-ADCD2D60CC27}" authorId="{82A07992-44BC-E5C6-5874-4E6FB9D91CC9}" status="resolved" created="2026-04-22T01:50:08.320" complete="100000">
    <pc:sldMkLst xmlns:pc="http://schemas.microsoft.com/office/powerpoint/2013/main/command">
      <pc:docMk/>
      <pc:sldMk cId="3291216818" sldId="275"/>
    </pc:sldMkLst>
    <p188:txBody>
      <a:bodyPr/>
      <a:lstStyle/>
      <a:p>
        <a:r>
          <a:rPr lang="en-US"/>
          <a:t>Convey same idea through different perspectives as code review work flow</a:t>
        </a:r>
      </a:p>
    </p188:txBody>
  </p188:cm>
  <p188:cm id="{3DD24C58-DC75-49EB-9A1E-E8645630280B}" authorId="{82A07992-44BC-E5C6-5874-4E6FB9D91CC9}" status="resolved" created="2026-04-22T01:51:42.275" complete="100000">
    <ac:deMkLst xmlns:ac="http://schemas.microsoft.com/office/drawing/2013/main/command">
      <pc:docMk xmlns:pc="http://schemas.microsoft.com/office/powerpoint/2013/main/command"/>
      <pc:sldMk xmlns:pc="http://schemas.microsoft.com/office/powerpoint/2013/main/command" cId="3291216818" sldId="275"/>
      <ac:picMk id="1026" creationId="{F878E57D-61FC-4F30-8553-A276A1291A8A}"/>
    </ac:deMkLst>
    <p188:txBody>
      <a:bodyPr/>
      <a:lstStyle/>
      <a:p>
        <a:r>
          <a:rPr lang="en-US"/>
          <a:t>Add PR Icon
</a:t>
        </a:r>
      </a:p>
    </p188:txBody>
  </p188:cm>
  <p188:cm id="{B5486C1A-B36B-42E1-A495-38FD12581176}" authorId="{82A07992-44BC-E5C6-5874-4E6FB9D91CC9}" status="resolved" created="2026-04-22T01:52:01.836" complete="100000">
    <ac:deMkLst xmlns:ac="http://schemas.microsoft.com/office/drawing/2013/main/command">
      <pc:docMk xmlns:pc="http://schemas.microsoft.com/office/powerpoint/2013/main/command"/>
      <pc:sldMk xmlns:pc="http://schemas.microsoft.com/office/powerpoint/2013/main/command" cId="3291216818" sldId="275"/>
      <ac:picMk id="1026" creationId="{F878E57D-61FC-4F30-8553-A276A1291A8A}"/>
    </ac:deMkLst>
    <p188:txBody>
      <a:bodyPr/>
      <a:lstStyle/>
      <a:p>
        <a:r>
          <a:rPr lang="en-US"/>
          <a:t>Fix commit icon</a:t>
        </a:r>
      </a:p>
    </p188:txBody>
  </p188:cm>
  <p188:cm id="{790E5D2D-0478-4A0F-AE19-05A0C6F44E9C}" authorId="{82A07992-44BC-E5C6-5874-4E6FB9D91CC9}" status="resolved" created="2026-04-22T01:54:03.341" complete="100000">
    <ac:deMkLst xmlns:ac="http://schemas.microsoft.com/office/drawing/2013/main/command">
      <pc:docMk xmlns:pc="http://schemas.microsoft.com/office/powerpoint/2013/main/command"/>
      <pc:sldMk xmlns:pc="http://schemas.microsoft.com/office/powerpoint/2013/main/command" cId="3291216818" sldId="275"/>
      <ac:picMk id="32" creationId="{06CE45BF-BE7C-3F02-5268-2272A94DF353}"/>
    </ac:deMkLst>
    <p188:txBody>
      <a:bodyPr/>
      <a:lstStyle/>
      <a:p>
        <a:r>
          <a:rPr lang="en-US"/>
          <a:t>Bring inside and to the bottom left of the PR Box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5" name="Shape 125"/>
          <p:cNvSpPr>
            <a:spLocks noGrp="1" noRot="1" noChangeAspect="1"/>
          </p:cNvSpPr>
          <p:nvPr>
            <p:ph type="sldImg"/>
          </p:nvPr>
        </p:nvSpPr>
        <p:spPr>
          <a:xfrm>
            <a:off x="1143000" y="685800"/>
            <a:ext cx="4572000" cy="3429000"/>
          </a:xfrm>
          <a:prstGeom prst="rect">
            <a:avLst/>
          </a:prstGeom>
        </p:spPr>
        <p:txBody>
          <a:bodyPr/>
          <a:lstStyle/>
          <a:p>
            <a:endParaRPr/>
          </a:p>
        </p:txBody>
      </p:sp>
      <p:sp>
        <p:nvSpPr>
          <p:cNvPr id="126" name="Shape 12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25000"/>
      </a:lnSpc>
      <a:defRPr sz="2600">
        <a:latin typeface="Avenir"/>
        <a:ea typeface="Avenir"/>
        <a:cs typeface="Avenir"/>
        <a:sym typeface="Avenir Roman"/>
      </a:defRPr>
    </a:lvl1pPr>
    <a:lvl2pPr indent="228600" defTabSz="457200" latinLnBrk="0">
      <a:lnSpc>
        <a:spcPct val="125000"/>
      </a:lnSpc>
      <a:defRPr sz="2600">
        <a:latin typeface="Avenir"/>
        <a:ea typeface="Avenir"/>
        <a:cs typeface="Avenir"/>
        <a:sym typeface="Avenir Roman"/>
      </a:defRPr>
    </a:lvl2pPr>
    <a:lvl3pPr indent="457200" defTabSz="457200" latinLnBrk="0">
      <a:lnSpc>
        <a:spcPct val="125000"/>
      </a:lnSpc>
      <a:defRPr sz="2600">
        <a:latin typeface="Avenir"/>
        <a:ea typeface="Avenir"/>
        <a:cs typeface="Avenir"/>
        <a:sym typeface="Avenir Roman"/>
      </a:defRPr>
    </a:lvl3pPr>
    <a:lvl4pPr indent="685800" defTabSz="457200" latinLnBrk="0">
      <a:lnSpc>
        <a:spcPct val="125000"/>
      </a:lnSpc>
      <a:defRPr sz="2600">
        <a:latin typeface="Avenir"/>
        <a:ea typeface="Avenir"/>
        <a:cs typeface="Avenir"/>
        <a:sym typeface="Avenir Roman"/>
      </a:defRPr>
    </a:lvl4pPr>
    <a:lvl5pPr indent="914400" defTabSz="457200" latinLnBrk="0">
      <a:lnSpc>
        <a:spcPct val="125000"/>
      </a:lnSpc>
      <a:defRPr sz="2600">
        <a:latin typeface="Avenir"/>
        <a:ea typeface="Avenir"/>
        <a:cs typeface="Avenir"/>
        <a:sym typeface="Avenir Roman"/>
      </a:defRPr>
    </a:lvl5pPr>
    <a:lvl6pPr indent="1143000" defTabSz="457200" latinLnBrk="0">
      <a:lnSpc>
        <a:spcPct val="125000"/>
      </a:lnSpc>
      <a:defRPr sz="2600">
        <a:latin typeface="Avenir"/>
        <a:ea typeface="Avenir"/>
        <a:cs typeface="Avenir"/>
        <a:sym typeface="Avenir Roman"/>
      </a:defRPr>
    </a:lvl6pPr>
    <a:lvl7pPr indent="1371600" defTabSz="457200" latinLnBrk="0">
      <a:lnSpc>
        <a:spcPct val="125000"/>
      </a:lnSpc>
      <a:defRPr sz="2600">
        <a:latin typeface="Avenir"/>
        <a:ea typeface="Avenir"/>
        <a:cs typeface="Avenir"/>
        <a:sym typeface="Avenir Roman"/>
      </a:defRPr>
    </a:lvl7pPr>
    <a:lvl8pPr indent="1600200" defTabSz="457200" latinLnBrk="0">
      <a:lnSpc>
        <a:spcPct val="125000"/>
      </a:lnSpc>
      <a:defRPr sz="2600">
        <a:latin typeface="Avenir"/>
        <a:ea typeface="Avenir"/>
        <a:cs typeface="Avenir"/>
        <a:sym typeface="Avenir Roman"/>
      </a:defRPr>
    </a:lvl8pPr>
    <a:lvl9pPr indent="1828800" defTabSz="457200" latinLnBrk="0">
      <a:lnSpc>
        <a:spcPct val="125000"/>
      </a:lnSpc>
      <a:defRPr sz="2600">
        <a:latin typeface="Avenir"/>
        <a:ea typeface="Avenir"/>
        <a:cs typeface="Avenir"/>
        <a:sym typeface="Avenir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7950D-1B58-F663-0145-0F5D493AAF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FDD809-C039-18C2-3E36-977335C7FA86}"/>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D652DA5B-DA29-BA3F-AD14-BF5BCC72CF5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406676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63D02-7BFE-6B7D-C415-58EA9BBF65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E315A8-4C71-77F8-CACA-EABB7F745104}"/>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210D5310-3879-87C7-3885-2BACE8C3746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15634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E7EDB-0F91-4404-871C-3C99262DBD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957DC6-3284-7718-F908-492874D8A082}"/>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8EEE7A66-2CE3-8811-E171-559AA18DD1E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853552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9675" y="685800"/>
            <a:ext cx="4438650" cy="3429000"/>
          </a:xfrm>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665456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2148F-400E-FA09-EAB5-EDFED25974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73A579-4ED7-8597-5199-5990AE8F1A04}"/>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FB569675-9E2F-4BE9-57C0-6D4D4F39681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892931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C7CA0-D834-A747-7BFF-600ED29DCB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E99F82-7FA1-95E6-45F7-BC4C68E9E3DE}"/>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8201E908-3D5A-DC5D-4051-1EC91381AD1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727666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F3B77-6C0F-31F4-8292-93241F93B9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44F033-F2C7-ACD4-AFDC-5F59C5FE48FC}"/>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6249FA02-F24A-0C18-D754-C364C4E6F1D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930423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E5B70-36C0-CFDC-717B-AE71C76862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7C16B1-E1BA-32CE-2218-FFD8A7CF188B}"/>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FDBFE1E0-2CE5-4754-4CD9-A66E1B8F064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387801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D2479-92DD-B8C1-4E0A-265ABEC061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7AC173-9887-EF35-87B9-CF79A4DAC3F1}"/>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FBE3E6A8-8958-3FFD-823A-42C15F90E9D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995670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DD6D6-8315-91B1-1A01-BCBA3657F9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D0A72C-4BFD-5297-3B87-83FA02C8364C}"/>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A55B6452-E000-CA10-0F62-8057CF09E80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429372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438D6-EAE2-FCAE-CA17-D101563C1E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414227-B694-8EC9-935C-8B082356A339}"/>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BAF18CD8-9488-66AE-0C04-BD8B68FE354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645421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F763F-33E9-F399-BF53-82C4B961E9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57FBA0-E8EA-A767-2A0F-3B45DDB746DE}"/>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8652F4CC-026E-BFDD-A0FA-81EB6ED896A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372262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64711-C638-AEBF-6E98-7261FE7CA4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C352C9-6329-0098-1CCE-0DFCCCE906DE}"/>
              </a:ext>
            </a:extLst>
          </p:cNvPr>
          <p:cNvSpPr>
            <a:spLocks noGrp="1" noRot="1" noChangeAspect="1"/>
          </p:cNvSpPr>
          <p:nvPr>
            <p:ph type="sldImg"/>
          </p:nvPr>
        </p:nvSpPr>
        <p:spPr>
          <a:xfrm>
            <a:off x="1209675" y="685800"/>
            <a:ext cx="4438650" cy="3429000"/>
          </a:xfrm>
        </p:spPr>
        <p:txBody>
          <a:bodyPr/>
          <a:lstStyle/>
          <a:p>
            <a:endParaRPr lang="en-US"/>
          </a:p>
        </p:txBody>
      </p:sp>
      <p:sp>
        <p:nvSpPr>
          <p:cNvPr id="3" name="Notes Placeholder 2">
            <a:extLst>
              <a:ext uri="{FF2B5EF4-FFF2-40B4-BE49-F238E27FC236}">
                <a16:creationId xmlns:a16="http://schemas.microsoft.com/office/drawing/2014/main" id="{D67B3FD2-7658-B9D9-7163-C38625C30F7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81111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364257" y="1918642"/>
            <a:ext cx="11241486" cy="3547071"/>
          </a:xfrm>
          <a:prstGeom prst="rect">
            <a:avLst/>
          </a:prstGeom>
        </p:spPr>
        <p:txBody>
          <a:bodyPr anchor="b"/>
          <a:lstStyle/>
          <a:p>
            <a:r>
              <a:t>Title Text</a:t>
            </a:r>
          </a:p>
        </p:txBody>
      </p:sp>
      <p:sp>
        <p:nvSpPr>
          <p:cNvPr id="12" name="Body Level One…"/>
          <p:cNvSpPr txBox="1">
            <a:spLocks noGrp="1"/>
          </p:cNvSpPr>
          <p:nvPr>
            <p:ph type="body" sz="quarter" idx="1"/>
          </p:nvPr>
        </p:nvSpPr>
        <p:spPr>
          <a:xfrm>
            <a:off x="1364257" y="5561210"/>
            <a:ext cx="11241486" cy="1214191"/>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Image"/>
          <p:cNvSpPr>
            <a:spLocks noGrp="1"/>
          </p:cNvSpPr>
          <p:nvPr>
            <p:ph type="pic" idx="13"/>
          </p:nvPr>
        </p:nvSpPr>
        <p:spPr>
          <a:xfrm>
            <a:off x="1725786" y="840878"/>
            <a:ext cx="10504786" cy="6357443"/>
          </a:xfrm>
          <a:prstGeom prst="rect">
            <a:avLst/>
          </a:prstGeom>
        </p:spPr>
        <p:txBody>
          <a:bodyPr lIns="91439" tIns="45719" rIns="91439" bIns="45719" anchor="t">
            <a:noAutofit/>
          </a:bodyPr>
          <a:lstStyle/>
          <a:p>
            <a:endParaRPr/>
          </a:p>
        </p:txBody>
      </p:sp>
      <p:sp>
        <p:nvSpPr>
          <p:cNvPr id="21" name="Title Text"/>
          <p:cNvSpPr txBox="1">
            <a:spLocks noGrp="1"/>
          </p:cNvSpPr>
          <p:nvPr>
            <p:ph type="title"/>
          </p:nvPr>
        </p:nvSpPr>
        <p:spPr>
          <a:xfrm>
            <a:off x="1364257" y="7375673"/>
            <a:ext cx="11241486" cy="1527970"/>
          </a:xfrm>
          <a:prstGeom prst="rect">
            <a:avLst/>
          </a:prstGeom>
        </p:spPr>
        <p:txBody>
          <a:bodyPr anchor="b"/>
          <a:lstStyle/>
          <a:p>
            <a:r>
              <a:t>Title Text</a:t>
            </a:r>
          </a:p>
        </p:txBody>
      </p:sp>
      <p:sp>
        <p:nvSpPr>
          <p:cNvPr id="22" name="Body Level One…"/>
          <p:cNvSpPr txBox="1">
            <a:spLocks noGrp="1"/>
          </p:cNvSpPr>
          <p:nvPr>
            <p:ph type="body" sz="quarter" idx="1"/>
          </p:nvPr>
        </p:nvSpPr>
        <p:spPr>
          <a:xfrm>
            <a:off x="1364257" y="8958212"/>
            <a:ext cx="11241486" cy="1214191"/>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xfrm>
            <a:off x="6790156" y="10090546"/>
            <a:ext cx="376045" cy="388542"/>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1364257" y="3623964"/>
            <a:ext cx="11241486" cy="3547072"/>
          </a:xfrm>
          <a:prstGeom prst="rect">
            <a:avLst/>
          </a:prstGeom>
        </p:spPr>
        <p:txBody>
          <a:bodyPr/>
          <a:lstStyle/>
          <a:p>
            <a:r>
              <a:t>Title Text</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Image"/>
          <p:cNvSpPr>
            <a:spLocks noGrp="1"/>
          </p:cNvSpPr>
          <p:nvPr>
            <p:ph type="pic" sz="half" idx="13"/>
          </p:nvPr>
        </p:nvSpPr>
        <p:spPr>
          <a:xfrm>
            <a:off x="7216923" y="840878"/>
            <a:ext cx="5729884" cy="8840392"/>
          </a:xfrm>
          <a:prstGeom prst="rect">
            <a:avLst/>
          </a:prstGeom>
        </p:spPr>
        <p:txBody>
          <a:bodyPr lIns="91439" tIns="45719" rIns="91439" bIns="45719" anchor="t">
            <a:noAutofit/>
          </a:bodyPr>
          <a:lstStyle/>
          <a:p>
            <a:endParaRPr/>
          </a:p>
        </p:txBody>
      </p:sp>
      <p:sp>
        <p:nvSpPr>
          <p:cNvPr id="39" name="Title Text"/>
          <p:cNvSpPr txBox="1">
            <a:spLocks noGrp="1"/>
          </p:cNvSpPr>
          <p:nvPr>
            <p:ph type="title"/>
          </p:nvPr>
        </p:nvSpPr>
        <p:spPr>
          <a:xfrm>
            <a:off x="1023193" y="840878"/>
            <a:ext cx="5729884" cy="4283771"/>
          </a:xfrm>
          <a:prstGeom prst="rect">
            <a:avLst/>
          </a:prstGeom>
        </p:spPr>
        <p:txBody>
          <a:bodyPr anchor="b"/>
          <a:lstStyle>
            <a:lvl1pPr>
              <a:defRPr sz="3300">
                <a:latin typeface="Source Sans Pro Semibold"/>
                <a:ea typeface="Source Sans Pro Semibold"/>
                <a:cs typeface="Source Sans Pro Semibold"/>
                <a:sym typeface="Source Sans Pro Semibold"/>
              </a:defRPr>
            </a:lvl1pPr>
          </a:lstStyle>
          <a:p>
            <a:r>
              <a:t>Title Text</a:t>
            </a:r>
          </a:p>
        </p:txBody>
      </p:sp>
      <p:sp>
        <p:nvSpPr>
          <p:cNvPr id="40" name="Body Level One…"/>
          <p:cNvSpPr txBox="1">
            <a:spLocks noGrp="1"/>
          </p:cNvSpPr>
          <p:nvPr>
            <p:ph type="body" sz="quarter" idx="1"/>
          </p:nvPr>
        </p:nvSpPr>
        <p:spPr>
          <a:xfrm>
            <a:off x="1023193" y="5274716"/>
            <a:ext cx="5729884" cy="4406554"/>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7216923" y="2955478"/>
            <a:ext cx="5729884" cy="6753077"/>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1023193" y="2955478"/>
            <a:ext cx="5729884" cy="6753077"/>
          </a:xfrm>
          <a:prstGeom prst="rect">
            <a:avLst/>
          </a:prstGeom>
        </p:spPr>
        <p:txBody>
          <a:bodyPr/>
          <a:lstStyle>
            <a:lvl1pPr marL="146957" indent="-146957">
              <a:defRPr b="1"/>
            </a:lvl1pPr>
            <a:lvl2pPr marL="489857" indent="-146957">
              <a:defRPr b="1"/>
            </a:lvl2pPr>
            <a:lvl3pPr marL="832757" indent="-146957">
              <a:defRPr b="1"/>
            </a:lvl3pPr>
            <a:lvl4pPr marL="1175657" indent="-146957">
              <a:defRPr b="1"/>
            </a:lvl4pPr>
            <a:lvl5pPr marL="1518557" indent="-146957">
              <a:defRPr b="1"/>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1023193" y="1523007"/>
            <a:ext cx="11923614" cy="7748986"/>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Image"/>
          <p:cNvSpPr>
            <a:spLocks noGrp="1"/>
          </p:cNvSpPr>
          <p:nvPr>
            <p:ph type="pic" sz="half" idx="13"/>
          </p:nvPr>
        </p:nvSpPr>
        <p:spPr>
          <a:xfrm>
            <a:off x="1023193" y="1113730"/>
            <a:ext cx="5729884" cy="8567540"/>
          </a:xfrm>
          <a:prstGeom prst="rect">
            <a:avLst/>
          </a:prstGeom>
        </p:spPr>
        <p:txBody>
          <a:bodyPr lIns="91439" tIns="45719" rIns="91439" bIns="45719" anchor="t">
            <a:noAutofit/>
          </a:bodyPr>
          <a:lstStyle/>
          <a:p>
            <a:endParaRPr/>
          </a:p>
        </p:txBody>
      </p:sp>
      <p:sp>
        <p:nvSpPr>
          <p:cNvPr id="84" name="Image"/>
          <p:cNvSpPr>
            <a:spLocks noGrp="1"/>
          </p:cNvSpPr>
          <p:nvPr>
            <p:ph type="pic" sz="quarter" idx="14"/>
          </p:nvPr>
        </p:nvSpPr>
        <p:spPr>
          <a:xfrm>
            <a:off x="7216923" y="5629423"/>
            <a:ext cx="5729884" cy="4051847"/>
          </a:xfrm>
          <a:prstGeom prst="rect">
            <a:avLst/>
          </a:prstGeom>
        </p:spPr>
        <p:txBody>
          <a:bodyPr lIns="91439" tIns="45719" rIns="91439" bIns="45719" anchor="t">
            <a:noAutofit/>
          </a:bodyPr>
          <a:lstStyle/>
          <a:p>
            <a:endParaRPr/>
          </a:p>
        </p:txBody>
      </p:sp>
      <p:sp>
        <p:nvSpPr>
          <p:cNvPr id="85" name="Image"/>
          <p:cNvSpPr>
            <a:spLocks noGrp="1"/>
          </p:cNvSpPr>
          <p:nvPr>
            <p:ph type="pic" sz="quarter" idx="15"/>
          </p:nvPr>
        </p:nvSpPr>
        <p:spPr>
          <a:xfrm>
            <a:off x="7223603" y="1113730"/>
            <a:ext cx="5729884" cy="4051847"/>
          </a:xfrm>
          <a:prstGeom prst="rect">
            <a:avLst/>
          </a:prstGeom>
        </p:spPr>
        <p:txBody>
          <a:bodyPr lIns="91439" tIns="45719" rIns="91439" bIns="45719" anchor="t">
            <a:noAutofit/>
          </a:bodyPr>
          <a:lstStyle/>
          <a:p>
            <a:endParaRP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Johnny Appleseed"/>
          <p:cNvSpPr>
            <a:spLocks noGrp="1"/>
          </p:cNvSpPr>
          <p:nvPr>
            <p:ph type="body" sz="quarter" idx="13"/>
          </p:nvPr>
        </p:nvSpPr>
        <p:spPr>
          <a:xfrm>
            <a:off x="1364257" y="6993681"/>
            <a:ext cx="11241486" cy="508001"/>
          </a:xfrm>
          <a:prstGeom prst="rect">
            <a:avLst/>
          </a:prstGeom>
        </p:spPr>
        <p:txBody>
          <a:bodyPr anchor="t">
            <a:spAutoFit/>
          </a:bodyPr>
          <a:lstStyle>
            <a:lvl1pPr marL="0" indent="0" algn="r">
              <a:lnSpc>
                <a:spcPct val="90000"/>
              </a:lnSpc>
              <a:buSzTx/>
              <a:buNone/>
              <a:defRPr sz="900"/>
            </a:lvl1pPr>
          </a:lstStyle>
          <a:p>
            <a:r>
              <a:t>–Johnny Appleseed</a:t>
            </a:r>
          </a:p>
        </p:txBody>
      </p:sp>
      <p:sp>
        <p:nvSpPr>
          <p:cNvPr id="94" name="“Type a quote here.”"/>
          <p:cNvSpPr>
            <a:spLocks noGrp="1"/>
          </p:cNvSpPr>
          <p:nvPr>
            <p:ph type="body" sz="quarter" idx="14"/>
          </p:nvPr>
        </p:nvSpPr>
        <p:spPr>
          <a:xfrm>
            <a:off x="1364257" y="4742656"/>
            <a:ext cx="11241486" cy="736700"/>
          </a:xfrm>
          <a:prstGeom prst="rect">
            <a:avLst/>
          </a:prstGeom>
        </p:spPr>
        <p:txBody>
          <a:bodyPr>
            <a:spAutoFit/>
          </a:bodyPr>
          <a:lstStyle>
            <a:lvl1pPr marL="0" indent="0">
              <a:buSzTx/>
              <a:buNone/>
            </a:lvl1pPr>
          </a:lstStyle>
          <a:p>
            <a:r>
              <a:t>“Type a quote here.” </a:t>
            </a: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Image"/>
          <p:cNvSpPr>
            <a:spLocks noGrp="1"/>
          </p:cNvSpPr>
          <p:nvPr>
            <p:ph type="pic" idx="13"/>
          </p:nvPr>
        </p:nvSpPr>
        <p:spPr>
          <a:xfrm>
            <a:off x="0" y="158750"/>
            <a:ext cx="13964218" cy="10477500"/>
          </a:xfrm>
          <a:prstGeom prst="rect">
            <a:avLst/>
          </a:prstGeom>
        </p:spPr>
        <p:txBody>
          <a:bodyPr lIns="91439" tIns="45719" rIns="91439" bIns="45719" anchor="t">
            <a:noAutofit/>
          </a:bodyPr>
          <a:lstStyle/>
          <a:p>
            <a:endParaRP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023193" y="636240"/>
            <a:ext cx="11923614" cy="23192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4570" tIns="54570" rIns="54570" bIns="54570" anchor="ctr">
            <a:normAutofit/>
          </a:bodyPr>
          <a:lstStyle/>
          <a:p>
            <a:r>
              <a:t>Title Text</a:t>
            </a:r>
          </a:p>
        </p:txBody>
      </p:sp>
      <p:sp>
        <p:nvSpPr>
          <p:cNvPr id="3" name="Body Level One…"/>
          <p:cNvSpPr txBox="1">
            <a:spLocks noGrp="1"/>
          </p:cNvSpPr>
          <p:nvPr>
            <p:ph type="body" idx="1"/>
          </p:nvPr>
        </p:nvSpPr>
        <p:spPr>
          <a:xfrm>
            <a:off x="1023193" y="2955478"/>
            <a:ext cx="11923614" cy="67530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4570" tIns="54570" rIns="54570" bIns="5457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6790156" y="10097368"/>
            <a:ext cx="376045" cy="388541"/>
          </a:xfrm>
          <a:prstGeom prst="rect">
            <a:avLst/>
          </a:prstGeom>
          <a:ln w="12700">
            <a:miter lim="400000"/>
          </a:ln>
        </p:spPr>
        <p:txBody>
          <a:bodyPr wrap="none" lIns="54570" tIns="54570" rIns="54570" bIns="54570">
            <a:spAutoFit/>
          </a:bodyPr>
          <a:lstStyle>
            <a:lvl1pPr algn="ctr">
              <a:spcBef>
                <a:spcPts val="0"/>
              </a:spcBef>
              <a:defRPr sz="1800" b="0">
                <a:solidFill>
                  <a:srgbClr val="000000"/>
                </a:solidFill>
                <a:latin typeface="Helvetica Light"/>
                <a:ea typeface="Helvetica Light"/>
                <a:cs typeface="Helvetica Light"/>
                <a:sym typeface="Helvetica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1pPr>
      <a:lvl2pPr marL="0" marR="0" indent="2286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2pPr>
      <a:lvl3pPr marL="0" marR="0" indent="4572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3pPr>
      <a:lvl4pPr marL="0" marR="0" indent="6858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4pPr>
      <a:lvl5pPr marL="0" marR="0" indent="9144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5pPr>
      <a:lvl6pPr marL="0" marR="0" indent="11430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6pPr>
      <a:lvl7pPr marL="0" marR="0" indent="13716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7pPr>
      <a:lvl8pPr marL="0" marR="0" indent="16002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8pPr>
      <a:lvl9pPr marL="0" marR="0" indent="18288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9pPr>
    </p:titleStyle>
    <p:bodyStyle>
      <a:lvl1pPr marL="148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microsoft.com/office/2018/10/relationships/comments" Target="../comments/modernComment_108_C1D3A479.xml"/><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notesSlide" Target="../notesSlides/notesSlide1.xml"/><Relationship Id="rId16" Type="http://schemas.openxmlformats.org/officeDocument/2006/relationships/image" Target="../media/image19.png"/><Relationship Id="rId20" Type="http://schemas.openxmlformats.org/officeDocument/2006/relationships/image" Target="../media/image23.png"/><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11" Type="http://schemas.openxmlformats.org/officeDocument/2006/relationships/image" Target="../media/image14.png"/><Relationship Id="rId5" Type="http://schemas.openxmlformats.org/officeDocument/2006/relationships/image" Target="../media/image9.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image" Target="../media/image8.png"/><Relationship Id="rId9" Type="http://schemas.openxmlformats.org/officeDocument/2006/relationships/image" Target="../media/image12.png"/><Relationship Id="rId14" Type="http://schemas.openxmlformats.org/officeDocument/2006/relationships/image" Target="../media/image17.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microsoft.com/office/2018/10/relationships/comments" Target="../comments/modernComment_109_E646BFDE.xml"/><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0.png"/><Relationship Id="rId3" Type="http://schemas.openxmlformats.org/officeDocument/2006/relationships/image" Target="../media/image8.png"/><Relationship Id="rId7" Type="http://schemas.openxmlformats.org/officeDocument/2006/relationships/hyperlink" Target="http://fortawesome.github.io/Font-Awesome/get-started/" TargetMode="External"/><Relationship Id="rId12" Type="http://schemas.openxmlformats.org/officeDocument/2006/relationships/image" Target="../media/image29.png"/><Relationship Id="rId17" Type="http://schemas.openxmlformats.org/officeDocument/2006/relationships/image" Target="../media/image33.svg"/><Relationship Id="rId2" Type="http://schemas.openxmlformats.org/officeDocument/2006/relationships/notesSlide" Target="../notesSlides/notesSlide3.xml"/><Relationship Id="rId16" Type="http://schemas.openxmlformats.org/officeDocument/2006/relationships/image" Target="../media/image32.png"/><Relationship Id="rId1" Type="http://schemas.openxmlformats.org/officeDocument/2006/relationships/slideLayout" Target="../slideLayouts/slideLayout6.xml"/><Relationship Id="rId6" Type="http://schemas.openxmlformats.org/officeDocument/2006/relationships/image" Target="../media/image25.png"/><Relationship Id="rId11" Type="http://schemas.openxmlformats.org/officeDocument/2006/relationships/image" Target="../media/image28.png"/><Relationship Id="rId5" Type="http://schemas.openxmlformats.org/officeDocument/2006/relationships/hyperlink" Target="https://creativecommons.org/licenses/by-sa/4.0/" TargetMode="External"/><Relationship Id="rId15" Type="http://schemas.openxmlformats.org/officeDocument/2006/relationships/image" Target="../media/image31.png"/><Relationship Id="rId10" Type="http://schemas.openxmlformats.org/officeDocument/2006/relationships/image" Target="../media/image16.png"/><Relationship Id="rId4" Type="http://schemas.openxmlformats.org/officeDocument/2006/relationships/image" Target="../media/image9.png"/><Relationship Id="rId9" Type="http://schemas.openxmlformats.org/officeDocument/2006/relationships/image" Target="../media/image27.png"/><Relationship Id="rId14" Type="http://schemas.openxmlformats.org/officeDocument/2006/relationships/image" Target="../media/image22.png"/></Relationships>
</file>

<file path=ppt/slides/_rels/slide8.xml.rels><?xml version="1.0" encoding="UTF-8" standalone="yes"?>
<Relationships xmlns="http://schemas.openxmlformats.org/package/2006/relationships"><Relationship Id="rId8" Type="http://schemas.openxmlformats.org/officeDocument/2006/relationships/hyperlink" Target="http://fortawesome.github.io/Font-Awesome/get-started/" TargetMode="External"/><Relationship Id="rId13" Type="http://schemas.openxmlformats.org/officeDocument/2006/relationships/image" Target="../media/image29.png"/><Relationship Id="rId3" Type="http://schemas.openxmlformats.org/officeDocument/2006/relationships/image" Target="../media/image8.png"/><Relationship Id="rId7" Type="http://schemas.openxmlformats.org/officeDocument/2006/relationships/image" Target="../media/image25.png"/><Relationship Id="rId12" Type="http://schemas.openxmlformats.org/officeDocument/2006/relationships/image" Target="../media/image28.png"/><Relationship Id="rId17" Type="http://schemas.openxmlformats.org/officeDocument/2006/relationships/image" Target="../media/image32.png"/><Relationship Id="rId2" Type="http://schemas.openxmlformats.org/officeDocument/2006/relationships/notesSlide" Target="../notesSlides/notesSlide4.xml"/><Relationship Id="rId16" Type="http://schemas.openxmlformats.org/officeDocument/2006/relationships/image" Target="../media/image31.png"/><Relationship Id="rId1" Type="http://schemas.openxmlformats.org/officeDocument/2006/relationships/slideLayout" Target="../slideLayouts/slideLayout6.xml"/><Relationship Id="rId6" Type="http://schemas.openxmlformats.org/officeDocument/2006/relationships/image" Target="../media/image33.svg"/><Relationship Id="rId11" Type="http://schemas.openxmlformats.org/officeDocument/2006/relationships/image" Target="../media/image16.png"/><Relationship Id="rId5" Type="http://schemas.openxmlformats.org/officeDocument/2006/relationships/hyperlink" Target="https://creativecommons.org/licenses/by-sa/4.0/" TargetMode="External"/><Relationship Id="rId1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9.png"/><Relationship Id="rId9" Type="http://schemas.openxmlformats.org/officeDocument/2006/relationships/image" Target="../media/image26.png"/><Relationship Id="rId14" Type="http://schemas.openxmlformats.org/officeDocument/2006/relationships/image" Target="../media/image30.png"/></Relationships>
</file>

<file path=ppt/slides/_rels/slide9.xml.rels><?xml version="1.0" encoding="UTF-8" standalone="yes"?>
<Relationships xmlns="http://schemas.openxmlformats.org/package/2006/relationships"><Relationship Id="rId8" Type="http://schemas.openxmlformats.org/officeDocument/2006/relationships/hyperlink" Target="http://fortawesome.github.io/Font-Awesome/get-started/" TargetMode="External"/><Relationship Id="rId13" Type="http://schemas.openxmlformats.org/officeDocument/2006/relationships/image" Target="../media/image29.png"/><Relationship Id="rId18" Type="http://schemas.openxmlformats.org/officeDocument/2006/relationships/image" Target="../media/image34.png"/><Relationship Id="rId3" Type="http://schemas.openxmlformats.org/officeDocument/2006/relationships/image" Target="../media/image8.png"/><Relationship Id="rId7" Type="http://schemas.openxmlformats.org/officeDocument/2006/relationships/image" Target="../media/image25.png"/><Relationship Id="rId12" Type="http://schemas.openxmlformats.org/officeDocument/2006/relationships/image" Target="../media/image28.png"/><Relationship Id="rId17" Type="http://schemas.openxmlformats.org/officeDocument/2006/relationships/image" Target="../media/image32.png"/><Relationship Id="rId2" Type="http://schemas.openxmlformats.org/officeDocument/2006/relationships/notesSlide" Target="../notesSlides/notesSlide5.xml"/><Relationship Id="rId16" Type="http://schemas.openxmlformats.org/officeDocument/2006/relationships/image" Target="../media/image31.png"/><Relationship Id="rId20" Type="http://schemas.openxmlformats.org/officeDocument/2006/relationships/image" Target="../media/image36.png"/><Relationship Id="rId1" Type="http://schemas.openxmlformats.org/officeDocument/2006/relationships/slideLayout" Target="../slideLayouts/slideLayout6.xml"/><Relationship Id="rId6" Type="http://schemas.openxmlformats.org/officeDocument/2006/relationships/image" Target="../media/image33.svg"/><Relationship Id="rId11" Type="http://schemas.openxmlformats.org/officeDocument/2006/relationships/image" Target="../media/image16.png"/><Relationship Id="rId5" Type="http://schemas.openxmlformats.org/officeDocument/2006/relationships/hyperlink" Target="https://creativecommons.org/licenses/by-sa/4.0/" TargetMode="External"/><Relationship Id="rId15" Type="http://schemas.openxmlformats.org/officeDocument/2006/relationships/image" Target="../media/image22.png"/><Relationship Id="rId10" Type="http://schemas.openxmlformats.org/officeDocument/2006/relationships/image" Target="../media/image27.png"/><Relationship Id="rId19" Type="http://schemas.openxmlformats.org/officeDocument/2006/relationships/image" Target="../media/image35.png"/><Relationship Id="rId4" Type="http://schemas.openxmlformats.org/officeDocument/2006/relationships/image" Target="../media/image9.png"/><Relationship Id="rId9" Type="http://schemas.openxmlformats.org/officeDocument/2006/relationships/image" Target="../media/image26.png"/><Relationship Id="rId14" Type="http://schemas.openxmlformats.org/officeDocument/2006/relationships/image" Target="../media/image30.png"/></Relationships>
</file>

<file path=ppt/slides/_rels/slide10.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28.png"/><Relationship Id="rId18" Type="http://schemas.openxmlformats.org/officeDocument/2006/relationships/image" Target="../media/image32.png"/><Relationship Id="rId3" Type="http://schemas.microsoft.com/office/2018/10/relationships/comments" Target="../comments/modernComment_112_5EEF17C0.xml"/><Relationship Id="rId7" Type="http://schemas.openxmlformats.org/officeDocument/2006/relationships/image" Target="../media/image33.svg"/><Relationship Id="rId12" Type="http://schemas.openxmlformats.org/officeDocument/2006/relationships/image" Target="../media/image16.png"/><Relationship Id="rId17" Type="http://schemas.openxmlformats.org/officeDocument/2006/relationships/image" Target="../media/image31.png"/><Relationship Id="rId2" Type="http://schemas.openxmlformats.org/officeDocument/2006/relationships/notesSlide" Target="../notesSlides/notesSlide6.xml"/><Relationship Id="rId16" Type="http://schemas.openxmlformats.org/officeDocument/2006/relationships/image" Target="../media/image22.png"/><Relationship Id="rId20" Type="http://schemas.openxmlformats.org/officeDocument/2006/relationships/image" Target="../media/image37.png"/><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11" Type="http://schemas.openxmlformats.org/officeDocument/2006/relationships/image" Target="../media/image27.png"/><Relationship Id="rId5" Type="http://schemas.openxmlformats.org/officeDocument/2006/relationships/image" Target="../media/image9.png"/><Relationship Id="rId15" Type="http://schemas.openxmlformats.org/officeDocument/2006/relationships/image" Target="../media/image30.png"/><Relationship Id="rId10" Type="http://schemas.openxmlformats.org/officeDocument/2006/relationships/image" Target="../media/image26.png"/><Relationship Id="rId19" Type="http://schemas.openxmlformats.org/officeDocument/2006/relationships/image" Target="../media/image36.png"/><Relationship Id="rId4" Type="http://schemas.openxmlformats.org/officeDocument/2006/relationships/image" Target="../media/image8.png"/><Relationship Id="rId9" Type="http://schemas.openxmlformats.org/officeDocument/2006/relationships/hyperlink" Target="http://fortawesome.github.io/Font-Awesome/get-started/" TargetMode="External"/><Relationship Id="rId14" Type="http://schemas.openxmlformats.org/officeDocument/2006/relationships/image" Target="../media/image29.png"/></Relationships>
</file>

<file path=ppt/slides/_rels/slide11.xml.rels><?xml version="1.0" encoding="UTF-8" standalone="yes"?>
<Relationships xmlns="http://schemas.openxmlformats.org/package/2006/relationships"><Relationship Id="rId8" Type="http://schemas.openxmlformats.org/officeDocument/2006/relationships/hyperlink" Target="http://fortawesome.github.io/Font-Awesome/get-started/" TargetMode="External"/><Relationship Id="rId13" Type="http://schemas.openxmlformats.org/officeDocument/2006/relationships/image" Target="../media/image29.png"/><Relationship Id="rId18" Type="http://schemas.openxmlformats.org/officeDocument/2006/relationships/image" Target="../media/image33.svg"/><Relationship Id="rId3" Type="http://schemas.microsoft.com/office/2018/10/relationships/comments" Target="../comments/modernComment_113_C42BFBB2.xml"/><Relationship Id="rId7" Type="http://schemas.openxmlformats.org/officeDocument/2006/relationships/image" Target="../media/image25.png"/><Relationship Id="rId12" Type="http://schemas.openxmlformats.org/officeDocument/2006/relationships/image" Target="../media/image28.png"/><Relationship Id="rId17" Type="http://schemas.openxmlformats.org/officeDocument/2006/relationships/image" Target="../media/image32.png"/><Relationship Id="rId2" Type="http://schemas.openxmlformats.org/officeDocument/2006/relationships/notesSlide" Target="../notesSlides/notesSlide7.xml"/><Relationship Id="rId16" Type="http://schemas.openxmlformats.org/officeDocument/2006/relationships/image" Target="../media/image31.png"/><Relationship Id="rId1" Type="http://schemas.openxmlformats.org/officeDocument/2006/relationships/slideLayout" Target="../slideLayouts/slideLayout6.xml"/><Relationship Id="rId6" Type="http://schemas.openxmlformats.org/officeDocument/2006/relationships/hyperlink" Target="https://creativecommons.org/licenses/by-sa/4.0/" TargetMode="External"/><Relationship Id="rId11" Type="http://schemas.openxmlformats.org/officeDocument/2006/relationships/image" Target="../media/image16.png"/><Relationship Id="rId5" Type="http://schemas.openxmlformats.org/officeDocument/2006/relationships/image" Target="../media/image9.png"/><Relationship Id="rId15" Type="http://schemas.openxmlformats.org/officeDocument/2006/relationships/image" Target="../media/image22.png"/><Relationship Id="rId10" Type="http://schemas.openxmlformats.org/officeDocument/2006/relationships/image" Target="../media/image27.png"/><Relationship Id="rId19" Type="http://schemas.openxmlformats.org/officeDocument/2006/relationships/image" Target="../media/image37.png"/><Relationship Id="rId4" Type="http://schemas.openxmlformats.org/officeDocument/2006/relationships/image" Target="../media/image8.png"/><Relationship Id="rId9" Type="http://schemas.openxmlformats.org/officeDocument/2006/relationships/image" Target="../media/image26.png"/><Relationship Id="rId14" Type="http://schemas.openxmlformats.org/officeDocument/2006/relationships/image" Target="../media/image30.png"/></Relationships>
</file>

<file path=ppt/slides/_rels/slide12.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0.png"/><Relationship Id="rId3" Type="http://schemas.openxmlformats.org/officeDocument/2006/relationships/image" Target="../media/image8.png"/><Relationship Id="rId7" Type="http://schemas.openxmlformats.org/officeDocument/2006/relationships/hyperlink" Target="http://fortawesome.github.io/Font-Awesome/get-started/" TargetMode="External"/><Relationship Id="rId12" Type="http://schemas.openxmlformats.org/officeDocument/2006/relationships/image" Target="../media/image29.png"/><Relationship Id="rId17" Type="http://schemas.openxmlformats.org/officeDocument/2006/relationships/image" Target="../media/image33.svg"/><Relationship Id="rId2" Type="http://schemas.openxmlformats.org/officeDocument/2006/relationships/notesSlide" Target="../notesSlides/notesSlide8.xml"/><Relationship Id="rId16" Type="http://schemas.openxmlformats.org/officeDocument/2006/relationships/image" Target="../media/image32.png"/><Relationship Id="rId1" Type="http://schemas.openxmlformats.org/officeDocument/2006/relationships/slideLayout" Target="../slideLayouts/slideLayout6.xml"/><Relationship Id="rId6" Type="http://schemas.openxmlformats.org/officeDocument/2006/relationships/image" Target="../media/image25.png"/><Relationship Id="rId11" Type="http://schemas.openxmlformats.org/officeDocument/2006/relationships/image" Target="../media/image28.png"/><Relationship Id="rId5" Type="http://schemas.openxmlformats.org/officeDocument/2006/relationships/hyperlink" Target="https://creativecommons.org/licenses/by-sa/4.0/" TargetMode="External"/><Relationship Id="rId15" Type="http://schemas.openxmlformats.org/officeDocument/2006/relationships/image" Target="../media/image31.png"/><Relationship Id="rId10" Type="http://schemas.openxmlformats.org/officeDocument/2006/relationships/image" Target="../media/image16.png"/><Relationship Id="rId4" Type="http://schemas.openxmlformats.org/officeDocument/2006/relationships/image" Target="../media/image9.png"/><Relationship Id="rId9" Type="http://schemas.openxmlformats.org/officeDocument/2006/relationships/image" Target="../media/image27.png"/><Relationship Id="rId14" Type="http://schemas.openxmlformats.org/officeDocument/2006/relationships/image" Target="../media/image22.png"/></Relationships>
</file>

<file path=ppt/slides/_rels/slide13.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22.png"/><Relationship Id="rId3" Type="http://schemas.openxmlformats.org/officeDocument/2006/relationships/image" Target="../media/image8.png"/><Relationship Id="rId7" Type="http://schemas.openxmlformats.org/officeDocument/2006/relationships/hyperlink" Target="http://fortawesome.github.io/Font-Awesome/get-started/" TargetMode="External"/><Relationship Id="rId12" Type="http://schemas.openxmlformats.org/officeDocument/2006/relationships/image" Target="../media/image30.png"/><Relationship Id="rId17" Type="http://schemas.openxmlformats.org/officeDocument/2006/relationships/image" Target="../media/image38.png"/><Relationship Id="rId2" Type="http://schemas.openxmlformats.org/officeDocument/2006/relationships/notesSlide" Target="../notesSlides/notesSlide9.xml"/><Relationship Id="rId16" Type="http://schemas.openxmlformats.org/officeDocument/2006/relationships/image" Target="../media/image33.svg"/><Relationship Id="rId1" Type="http://schemas.openxmlformats.org/officeDocument/2006/relationships/slideLayout" Target="../slideLayouts/slideLayout6.xml"/><Relationship Id="rId6" Type="http://schemas.openxmlformats.org/officeDocument/2006/relationships/image" Target="../media/image25.png"/><Relationship Id="rId11" Type="http://schemas.openxmlformats.org/officeDocument/2006/relationships/image" Target="../media/image29.png"/><Relationship Id="rId5" Type="http://schemas.openxmlformats.org/officeDocument/2006/relationships/hyperlink" Target="https://creativecommons.org/licenses/by-sa/4.0/" TargetMode="External"/><Relationship Id="rId15" Type="http://schemas.openxmlformats.org/officeDocument/2006/relationships/image" Target="../media/image32.png"/><Relationship Id="rId10" Type="http://schemas.openxmlformats.org/officeDocument/2006/relationships/image" Target="../media/image16.png"/><Relationship Id="rId4" Type="http://schemas.openxmlformats.org/officeDocument/2006/relationships/image" Target="../media/image9.png"/><Relationship Id="rId9" Type="http://schemas.openxmlformats.org/officeDocument/2006/relationships/image" Target="../media/image27.png"/><Relationship Id="rId14" Type="http://schemas.openxmlformats.org/officeDocument/2006/relationships/image" Target="../media/image31.png"/></Relationships>
</file>

<file path=ppt/slides/_rels/slide14.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22.png"/><Relationship Id="rId3" Type="http://schemas.openxmlformats.org/officeDocument/2006/relationships/image" Target="../media/image8.png"/><Relationship Id="rId7" Type="http://schemas.openxmlformats.org/officeDocument/2006/relationships/hyperlink" Target="http://fortawesome.github.io/Font-Awesome/get-started/" TargetMode="External"/><Relationship Id="rId12" Type="http://schemas.openxmlformats.org/officeDocument/2006/relationships/image" Target="../media/image30.png"/><Relationship Id="rId17" Type="http://schemas.openxmlformats.org/officeDocument/2006/relationships/image" Target="../media/image38.png"/><Relationship Id="rId2" Type="http://schemas.openxmlformats.org/officeDocument/2006/relationships/notesSlide" Target="../notesSlides/notesSlide10.xml"/><Relationship Id="rId16" Type="http://schemas.openxmlformats.org/officeDocument/2006/relationships/image" Target="../media/image33.svg"/><Relationship Id="rId1" Type="http://schemas.openxmlformats.org/officeDocument/2006/relationships/slideLayout" Target="../slideLayouts/slideLayout6.xml"/><Relationship Id="rId6" Type="http://schemas.openxmlformats.org/officeDocument/2006/relationships/image" Target="../media/image25.png"/><Relationship Id="rId11" Type="http://schemas.openxmlformats.org/officeDocument/2006/relationships/image" Target="../media/image29.png"/><Relationship Id="rId5" Type="http://schemas.openxmlformats.org/officeDocument/2006/relationships/hyperlink" Target="https://creativecommons.org/licenses/by-sa/4.0/" TargetMode="External"/><Relationship Id="rId15" Type="http://schemas.openxmlformats.org/officeDocument/2006/relationships/image" Target="../media/image32.png"/><Relationship Id="rId10" Type="http://schemas.openxmlformats.org/officeDocument/2006/relationships/image" Target="../media/image16.png"/><Relationship Id="rId4" Type="http://schemas.openxmlformats.org/officeDocument/2006/relationships/image" Target="../media/image9.png"/><Relationship Id="rId9" Type="http://schemas.openxmlformats.org/officeDocument/2006/relationships/image" Target="../media/image27.png"/><Relationship Id="rId14" Type="http://schemas.openxmlformats.org/officeDocument/2006/relationships/image" Target="../media/image31.png"/></Relationships>
</file>

<file path=ppt/slides/_rels/slide15.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22.png"/><Relationship Id="rId3" Type="http://schemas.openxmlformats.org/officeDocument/2006/relationships/image" Target="../media/image8.png"/><Relationship Id="rId7" Type="http://schemas.openxmlformats.org/officeDocument/2006/relationships/hyperlink" Target="http://fortawesome.github.io/Font-Awesome/get-started/" TargetMode="External"/><Relationship Id="rId12" Type="http://schemas.openxmlformats.org/officeDocument/2006/relationships/image" Target="../media/image30.png"/><Relationship Id="rId2" Type="http://schemas.openxmlformats.org/officeDocument/2006/relationships/notesSlide" Target="../notesSlides/notesSlide11.xml"/><Relationship Id="rId16" Type="http://schemas.openxmlformats.org/officeDocument/2006/relationships/image" Target="../media/image38.png"/><Relationship Id="rId1" Type="http://schemas.openxmlformats.org/officeDocument/2006/relationships/slideLayout" Target="../slideLayouts/slideLayout6.xml"/><Relationship Id="rId6" Type="http://schemas.openxmlformats.org/officeDocument/2006/relationships/image" Target="../media/image25.png"/><Relationship Id="rId11" Type="http://schemas.openxmlformats.org/officeDocument/2006/relationships/image" Target="../media/image29.png"/><Relationship Id="rId5" Type="http://schemas.openxmlformats.org/officeDocument/2006/relationships/hyperlink" Target="https://creativecommons.org/licenses/by-sa/4.0/" TargetMode="External"/><Relationship Id="rId15" Type="http://schemas.openxmlformats.org/officeDocument/2006/relationships/image" Target="../media/image33.svg"/><Relationship Id="rId10" Type="http://schemas.openxmlformats.org/officeDocument/2006/relationships/image" Target="../media/image16.png"/><Relationship Id="rId4" Type="http://schemas.openxmlformats.org/officeDocument/2006/relationships/image" Target="../media/image9.png"/><Relationship Id="rId9" Type="http://schemas.openxmlformats.org/officeDocument/2006/relationships/image" Target="../media/image27.png"/><Relationship Id="rId14" Type="http://schemas.openxmlformats.org/officeDocument/2006/relationships/image" Target="../media/image32.png"/></Relationships>
</file>

<file path=ppt/slides/_rels/slide16.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22.png"/><Relationship Id="rId3" Type="http://schemas.openxmlformats.org/officeDocument/2006/relationships/image" Target="../media/image8.png"/><Relationship Id="rId7" Type="http://schemas.openxmlformats.org/officeDocument/2006/relationships/hyperlink" Target="http://fortawesome.github.io/Font-Awesome/get-started/" TargetMode="External"/><Relationship Id="rId12" Type="http://schemas.openxmlformats.org/officeDocument/2006/relationships/image" Target="../media/image30.png"/><Relationship Id="rId2" Type="http://schemas.openxmlformats.org/officeDocument/2006/relationships/notesSlide" Target="../notesSlides/notesSlide12.xml"/><Relationship Id="rId16" Type="http://schemas.openxmlformats.org/officeDocument/2006/relationships/image" Target="../media/image38.png"/><Relationship Id="rId1" Type="http://schemas.openxmlformats.org/officeDocument/2006/relationships/slideLayout" Target="../slideLayouts/slideLayout6.xml"/><Relationship Id="rId6" Type="http://schemas.openxmlformats.org/officeDocument/2006/relationships/image" Target="../media/image25.png"/><Relationship Id="rId11" Type="http://schemas.openxmlformats.org/officeDocument/2006/relationships/image" Target="../media/image29.png"/><Relationship Id="rId5" Type="http://schemas.openxmlformats.org/officeDocument/2006/relationships/hyperlink" Target="https://creativecommons.org/licenses/by-sa/4.0/" TargetMode="External"/><Relationship Id="rId15" Type="http://schemas.openxmlformats.org/officeDocument/2006/relationships/image" Target="../media/image33.svg"/><Relationship Id="rId10" Type="http://schemas.openxmlformats.org/officeDocument/2006/relationships/image" Target="../media/image16.png"/><Relationship Id="rId4" Type="http://schemas.openxmlformats.org/officeDocument/2006/relationships/image" Target="../media/image9.png"/><Relationship Id="rId9" Type="http://schemas.openxmlformats.org/officeDocument/2006/relationships/image" Target="../media/image27.png"/><Relationship Id="rId14" Type="http://schemas.openxmlformats.org/officeDocument/2006/relationships/image" Target="../media/image32.png"/></Relationships>
</file>

<file path=ppt/slides/_rels/slide17.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22.png"/><Relationship Id="rId3" Type="http://schemas.openxmlformats.org/officeDocument/2006/relationships/image" Target="../media/image8.png"/><Relationship Id="rId7" Type="http://schemas.openxmlformats.org/officeDocument/2006/relationships/hyperlink" Target="http://fortawesome.github.io/Font-Awesome/get-started/" TargetMode="External"/><Relationship Id="rId12" Type="http://schemas.openxmlformats.org/officeDocument/2006/relationships/image" Target="../media/image30.png"/><Relationship Id="rId2" Type="http://schemas.openxmlformats.org/officeDocument/2006/relationships/notesSlide" Target="../notesSlides/notesSlide13.xml"/><Relationship Id="rId16" Type="http://schemas.openxmlformats.org/officeDocument/2006/relationships/image" Target="../media/image38.png"/><Relationship Id="rId1" Type="http://schemas.openxmlformats.org/officeDocument/2006/relationships/slideLayout" Target="../slideLayouts/slideLayout6.xml"/><Relationship Id="rId6" Type="http://schemas.openxmlformats.org/officeDocument/2006/relationships/image" Target="../media/image25.png"/><Relationship Id="rId11" Type="http://schemas.openxmlformats.org/officeDocument/2006/relationships/image" Target="../media/image29.png"/><Relationship Id="rId5" Type="http://schemas.openxmlformats.org/officeDocument/2006/relationships/hyperlink" Target="https://creativecommons.org/licenses/by-sa/4.0/" TargetMode="External"/><Relationship Id="rId15" Type="http://schemas.openxmlformats.org/officeDocument/2006/relationships/image" Target="../media/image33.svg"/><Relationship Id="rId10" Type="http://schemas.openxmlformats.org/officeDocument/2006/relationships/image" Target="../media/image16.png"/><Relationship Id="rId4" Type="http://schemas.openxmlformats.org/officeDocument/2006/relationships/image" Target="../media/image9.png"/><Relationship Id="rId9" Type="http://schemas.openxmlformats.org/officeDocument/2006/relationships/image" Target="../media/image27.png"/><Relationship Id="rId1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diagram illustrates a flowchart or process diagram related to software development, including steps like Pull Request, testing with Testthat and Codecov, approval, refactored tests, and various tools and actions involved in testing and development.&#10;&#10;AI-generated content may be incorrect.">
            <a:extLst>
              <a:ext uri="{FF2B5EF4-FFF2-40B4-BE49-F238E27FC236}">
                <a16:creationId xmlns:a16="http://schemas.microsoft.com/office/drawing/2014/main" id="{C71AB144-3C60-6830-ECAB-8F4C20A0E64A}"/>
              </a:ext>
            </a:extLst>
          </p:cNvPr>
          <p:cNvPicPr>
            <a:picLocks noChangeAspect="1"/>
          </p:cNvPicPr>
          <p:nvPr/>
        </p:nvPicPr>
        <p:blipFill>
          <a:blip r:embed="rId2"/>
          <a:stretch>
            <a:fillRect/>
          </a:stretch>
        </p:blipFill>
        <p:spPr>
          <a:xfrm>
            <a:off x="122830" y="1349708"/>
            <a:ext cx="12968160" cy="8095583"/>
          </a:xfrm>
          <a:prstGeom prst="rect">
            <a:avLst/>
          </a:prstGeom>
        </p:spPr>
      </p:pic>
    </p:spTree>
    <p:extLst>
      <p:ext uri="{BB962C8B-B14F-4D97-AF65-F5344CB8AC3E}">
        <p14:creationId xmlns:p14="http://schemas.microsoft.com/office/powerpoint/2010/main" val="120751634"/>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The image displays a software development workflow, featuring sections for issues, pull requests, actions, and various tests such as unit tests, parser tests, and downloader tests, with some comments and coverage statistics.&#10;&#10;AI-generated content may be incorrect.">
            <a:extLst>
              <a:ext uri="{FF2B5EF4-FFF2-40B4-BE49-F238E27FC236}">
                <a16:creationId xmlns:a16="http://schemas.microsoft.com/office/drawing/2014/main" id="{B57A15B5-55C9-137D-97DE-92227FE9C812}"/>
              </a:ext>
            </a:extLst>
          </p:cNvPr>
          <p:cNvPicPr>
            <a:picLocks noChangeAspect="1"/>
          </p:cNvPicPr>
          <p:nvPr/>
        </p:nvPicPr>
        <p:blipFill>
          <a:blip r:embed="rId2"/>
          <a:stretch>
            <a:fillRect/>
          </a:stretch>
        </p:blipFill>
        <p:spPr>
          <a:xfrm>
            <a:off x="249574" y="1783697"/>
            <a:ext cx="13470852" cy="7227605"/>
          </a:xfrm>
          <a:prstGeom prst="rect">
            <a:avLst/>
          </a:prstGeom>
        </p:spPr>
      </p:pic>
    </p:spTree>
    <p:extLst>
      <p:ext uri="{BB962C8B-B14F-4D97-AF65-F5344CB8AC3E}">
        <p14:creationId xmlns:p14="http://schemas.microsoft.com/office/powerpoint/2010/main" val="810127769"/>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The image depicts a software project management interface with various tabs and sections for issues, pull requests, actions, and test results, including user comments and coverage statistics.&#10;&#10;AI-generated content may be incorrect.">
            <a:extLst>
              <a:ext uri="{FF2B5EF4-FFF2-40B4-BE49-F238E27FC236}">
                <a16:creationId xmlns:a16="http://schemas.microsoft.com/office/drawing/2014/main" id="{FE057026-4B00-EF0F-99D4-60CD92EE9F57}"/>
              </a:ext>
            </a:extLst>
          </p:cNvPr>
          <p:cNvPicPr>
            <a:picLocks noChangeAspect="1"/>
          </p:cNvPicPr>
          <p:nvPr/>
        </p:nvPicPr>
        <p:blipFill>
          <a:blip r:embed="rId2"/>
          <a:stretch>
            <a:fillRect/>
          </a:stretch>
        </p:blipFill>
        <p:spPr>
          <a:xfrm>
            <a:off x="120176" y="789512"/>
            <a:ext cx="13729648" cy="9215976"/>
          </a:xfrm>
          <a:prstGeom prst="rect">
            <a:avLst/>
          </a:prstGeom>
        </p:spPr>
      </p:pic>
    </p:spTree>
    <p:extLst>
      <p:ext uri="{BB962C8B-B14F-4D97-AF65-F5344CB8AC3E}">
        <p14:creationId xmlns:p14="http://schemas.microsoft.com/office/powerpoint/2010/main" val="1444669277"/>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The image depicts a pull request dashboard with various tabs showing comments, code coverage statistics, and approval statuses.&#10;&#10;AI-generated content may be incorrect.">
            <a:extLst>
              <a:ext uri="{FF2B5EF4-FFF2-40B4-BE49-F238E27FC236}">
                <a16:creationId xmlns:a16="http://schemas.microsoft.com/office/drawing/2014/main" id="{D9526D8D-3E21-B686-9986-731785EED3EB}"/>
              </a:ext>
            </a:extLst>
          </p:cNvPr>
          <p:cNvPicPr>
            <a:picLocks noChangeAspect="1"/>
          </p:cNvPicPr>
          <p:nvPr/>
        </p:nvPicPr>
        <p:blipFill>
          <a:blip r:embed="rId2"/>
          <a:stretch>
            <a:fillRect/>
          </a:stretch>
        </p:blipFill>
        <p:spPr>
          <a:xfrm>
            <a:off x="9666566" y="1292664"/>
            <a:ext cx="4163006" cy="7964011"/>
          </a:xfrm>
          <a:prstGeom prst="rect">
            <a:avLst/>
          </a:prstGeom>
        </p:spPr>
      </p:pic>
      <p:pic>
        <p:nvPicPr>
          <p:cNvPr id="8" name="Picture 7" descr="The diagram illustrates a system architecture for processing and managing fake data, including generators, downloaders, parsers, transforms, and various testing examples.&#10;&#10;AI-generated content may be incorrect.">
            <a:extLst>
              <a:ext uri="{FF2B5EF4-FFF2-40B4-BE49-F238E27FC236}">
                <a16:creationId xmlns:a16="http://schemas.microsoft.com/office/drawing/2014/main" id="{C7930B11-F1F4-1F48-14AE-4E40CB431C20}"/>
              </a:ext>
            </a:extLst>
          </p:cNvPr>
          <p:cNvPicPr>
            <a:picLocks noChangeAspect="1"/>
          </p:cNvPicPr>
          <p:nvPr/>
        </p:nvPicPr>
        <p:blipFill>
          <a:blip r:embed="rId3"/>
          <a:stretch>
            <a:fillRect/>
          </a:stretch>
        </p:blipFill>
        <p:spPr>
          <a:xfrm>
            <a:off x="140428" y="111810"/>
            <a:ext cx="9392761" cy="5388238"/>
          </a:xfrm>
          <a:prstGeom prst="rect">
            <a:avLst/>
          </a:prstGeom>
        </p:spPr>
      </p:pic>
      <p:pic>
        <p:nvPicPr>
          <p:cNvPr id="10" name="Picture 9" descr="The image illustrates a hierarchical diagram of software components, including transforms, tests, parsers, downloaders, and modules, with various data and source files referenced.&#10;&#10;AI-generated content may be incorrect.">
            <a:extLst>
              <a:ext uri="{FF2B5EF4-FFF2-40B4-BE49-F238E27FC236}">
                <a16:creationId xmlns:a16="http://schemas.microsoft.com/office/drawing/2014/main" id="{140555DC-59DF-4EA6-C5D1-CE547B0CBFD2}"/>
              </a:ext>
            </a:extLst>
          </p:cNvPr>
          <p:cNvPicPr>
            <a:picLocks noChangeAspect="1"/>
          </p:cNvPicPr>
          <p:nvPr/>
        </p:nvPicPr>
        <p:blipFill>
          <a:blip r:embed="rId4"/>
          <a:stretch>
            <a:fillRect/>
          </a:stretch>
        </p:blipFill>
        <p:spPr>
          <a:xfrm>
            <a:off x="399625" y="5558132"/>
            <a:ext cx="7365951" cy="4877357"/>
          </a:xfrm>
          <a:prstGeom prst="rect">
            <a:avLst/>
          </a:prstGeom>
        </p:spPr>
      </p:pic>
    </p:spTree>
    <p:extLst>
      <p:ext uri="{BB962C8B-B14F-4D97-AF65-F5344CB8AC3E}">
        <p14:creationId xmlns:p14="http://schemas.microsoft.com/office/powerpoint/2010/main" val="3359504479"/>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67B752C-56F1-6D71-5B62-689B0565DD2E}"/>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FEC9BBDE-63A6-B6E4-C38A-C28D3E4F5C4B}"/>
              </a:ext>
            </a:extLst>
          </p:cNvPr>
          <p:cNvPicPr>
            <a:picLocks noChangeAspect="1"/>
          </p:cNvPicPr>
          <p:nvPr/>
        </p:nvPicPr>
        <p:blipFill>
          <a:blip r:embed="rId4"/>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D2C937FA-C797-8DFE-D1DD-E736FF8BD043}"/>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8983C10D-97C5-F5F2-AD9A-8FD532551DF5}"/>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19" name="Basics">
            <a:extLst>
              <a:ext uri="{FF2B5EF4-FFF2-40B4-BE49-F238E27FC236}">
                <a16:creationId xmlns:a16="http://schemas.microsoft.com/office/drawing/2014/main" id="{53D408AE-3D86-EF9E-43FD-3337C4F4B0DC}"/>
              </a:ext>
            </a:extLst>
          </p:cNvPr>
          <p:cNvSpPr txBox="1"/>
          <p:nvPr/>
        </p:nvSpPr>
        <p:spPr>
          <a:xfrm>
            <a:off x="187309" y="6180387"/>
            <a:ext cx="277640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Fake Data Generator</a:t>
            </a:r>
            <a:endParaRPr dirty="0"/>
          </a:p>
        </p:txBody>
      </p:sp>
      <p:sp>
        <p:nvSpPr>
          <p:cNvPr id="326" name="Manipulate Variables">
            <a:extLst>
              <a:ext uri="{FF2B5EF4-FFF2-40B4-BE49-F238E27FC236}">
                <a16:creationId xmlns:a16="http://schemas.microsoft.com/office/drawing/2014/main" id="{7555AD71-3B6D-95E6-1BC1-7D2BF4944C98}"/>
              </a:ext>
            </a:extLst>
          </p:cNvPr>
          <p:cNvSpPr txBox="1"/>
          <p:nvPr/>
        </p:nvSpPr>
        <p:spPr>
          <a:xfrm>
            <a:off x="9545644" y="1763173"/>
            <a:ext cx="2839675"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Code Quality</a:t>
            </a:r>
          </a:p>
        </p:txBody>
      </p:sp>
      <p:sp>
        <p:nvSpPr>
          <p:cNvPr id="330" name="Line">
            <a:extLst>
              <a:ext uri="{FF2B5EF4-FFF2-40B4-BE49-F238E27FC236}">
                <a16:creationId xmlns:a16="http://schemas.microsoft.com/office/drawing/2014/main" id="{DC013E49-1CDF-F145-C5E9-9BAC6CE6F7F9}"/>
              </a:ext>
            </a:extLst>
          </p:cNvPr>
          <p:cNvSpPr/>
          <p:nvPr/>
        </p:nvSpPr>
        <p:spPr>
          <a:xfrm flipV="1">
            <a:off x="98465" y="6546610"/>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34" name="Three Column Layout: : CHEAT SHEET">
            <a:extLst>
              <a:ext uri="{FF2B5EF4-FFF2-40B4-BE49-F238E27FC236}">
                <a16:creationId xmlns:a16="http://schemas.microsoft.com/office/drawing/2014/main" id="{1D3C7350-A49E-A0F4-C2FB-9BEE33A94BA1}"/>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Unit Tests </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41" name="Use headers, colors, and/or backgrounds to separate or group together sections.">
            <a:extLst>
              <a:ext uri="{FF2B5EF4-FFF2-40B4-BE49-F238E27FC236}">
                <a16:creationId xmlns:a16="http://schemas.microsoft.com/office/drawing/2014/main" id="{C623C02F-5237-0475-F7B8-7AEF4EAB70C4}"/>
              </a:ext>
            </a:extLst>
          </p:cNvPr>
          <p:cNvSpPr txBox="1"/>
          <p:nvPr/>
        </p:nvSpPr>
        <p:spPr>
          <a:xfrm>
            <a:off x="197696" y="1894414"/>
            <a:ext cx="3949153" cy="2764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dirty="0">
              <a:latin typeface="Source Sans Pro" panose="020B0503030403020204" pitchFamily="34" charset="0"/>
              <a:ea typeface="Source Sans Pro" panose="020B0503030403020204" pitchFamily="34" charset="0"/>
              <a:sym typeface="Source Sans Pro"/>
            </a:endParaRPr>
          </a:p>
        </p:txBody>
      </p:sp>
      <p:sp>
        <p:nvSpPr>
          <p:cNvPr id="382" name="Logistics">
            <a:extLst>
              <a:ext uri="{FF2B5EF4-FFF2-40B4-BE49-F238E27FC236}">
                <a16:creationId xmlns:a16="http://schemas.microsoft.com/office/drawing/2014/main" id="{765390BE-FB01-2F55-C331-1151098B62DD}"/>
              </a:ext>
            </a:extLst>
          </p:cNvPr>
          <p:cNvSpPr txBox="1"/>
          <p:nvPr/>
        </p:nvSpPr>
        <p:spPr>
          <a:xfrm>
            <a:off x="4503715" y="6009086"/>
            <a:ext cx="1336904"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Unit Tests</a:t>
            </a:r>
          </a:p>
        </p:txBody>
      </p:sp>
      <p:sp>
        <p:nvSpPr>
          <p:cNvPr id="384" name="Layout Suggestions">
            <a:extLst>
              <a:ext uri="{FF2B5EF4-FFF2-40B4-BE49-F238E27FC236}">
                <a16:creationId xmlns:a16="http://schemas.microsoft.com/office/drawing/2014/main" id="{2B4D8D1E-DD9A-D795-73DF-10F034922962}"/>
              </a:ext>
            </a:extLst>
          </p:cNvPr>
          <p:cNvSpPr txBox="1"/>
          <p:nvPr/>
        </p:nvSpPr>
        <p:spPr>
          <a:xfrm>
            <a:off x="246888" y="1435608"/>
            <a:ext cx="1349729"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p>
        </p:txBody>
      </p:sp>
      <p:pic>
        <p:nvPicPr>
          <p:cNvPr id="8" name="Picture 7" descr="A picture containing text&#10;&#10;Description automatically generated">
            <a:extLst>
              <a:ext uri="{FF2B5EF4-FFF2-40B4-BE49-F238E27FC236}">
                <a16:creationId xmlns:a16="http://schemas.microsoft.com/office/drawing/2014/main" id="{A103EECC-1FD8-12D7-34E0-A858F51D47E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491" name="Line">
            <a:extLst>
              <a:ext uri="{FF2B5EF4-FFF2-40B4-BE49-F238E27FC236}">
                <a16:creationId xmlns:a16="http://schemas.microsoft.com/office/drawing/2014/main" id="{8E401E2F-D143-A8BE-DE33-E032BBA02D7E}"/>
              </a:ext>
            </a:extLst>
          </p:cNvPr>
          <p:cNvSpPr/>
          <p:nvPr/>
        </p:nvSpPr>
        <p:spPr>
          <a:xfrm flipV="1">
            <a:off x="330164" y="1819904"/>
            <a:ext cx="3656656" cy="2672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 name="TextBox 3">
            <a:extLst>
              <a:ext uri="{FF2B5EF4-FFF2-40B4-BE49-F238E27FC236}">
                <a16:creationId xmlns:a16="http://schemas.microsoft.com/office/drawing/2014/main" id="{0EB5C7A4-9EFD-89DC-3250-8E105B974AC8}"/>
              </a:ext>
            </a:extLst>
          </p:cNvPr>
          <p:cNvSpPr txBox="1"/>
          <p:nvPr/>
        </p:nvSpPr>
        <p:spPr>
          <a:xfrm>
            <a:off x="4838467" y="10304849"/>
            <a:ext cx="9809266"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hlinkClick r:id="rId6">
                  <a:extLst>
                    <a:ext uri="{A12FA001-AC4F-418D-AE19-62706E023703}">
                      <ahyp:hlinkClr xmlns:ahyp="http://schemas.microsoft.com/office/drawing/2018/hyperlinkcolor" val="tx"/>
                    </a:ext>
                  </a:extLst>
                </a:hlinkClick>
              </a:rPr>
              <a:t>CC BY SA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Ruben Jacobo, Waylon Ho, Carlos Paradis • Kaiaulu package version 0.0.0.9600 (in development) •  Updated: 2023-12</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45" name="Group 44">
            <a:extLst>
              <a:ext uri="{FF2B5EF4-FFF2-40B4-BE49-F238E27FC236}">
                <a16:creationId xmlns:a16="http://schemas.microsoft.com/office/drawing/2014/main" id="{63D29162-3F67-7A25-EB43-4F52786CD480}"/>
              </a:ext>
            </a:extLst>
          </p:cNvPr>
          <p:cNvGrpSpPr/>
          <p:nvPr/>
        </p:nvGrpSpPr>
        <p:grpSpPr>
          <a:xfrm>
            <a:off x="557938" y="6564286"/>
            <a:ext cx="8282877" cy="3057131"/>
            <a:chOff x="2009526" y="2232419"/>
            <a:chExt cx="11421306" cy="5664526"/>
          </a:xfrm>
        </p:grpSpPr>
        <p:pic>
          <p:nvPicPr>
            <p:cNvPr id="2" name="Google Shape;301;p17">
              <a:extLst>
                <a:ext uri="{FF2B5EF4-FFF2-40B4-BE49-F238E27FC236}">
                  <a16:creationId xmlns:a16="http://schemas.microsoft.com/office/drawing/2014/main" id="{3675D873-9CA4-F34A-214C-889A560B983C}"/>
                </a:ext>
              </a:extLst>
            </p:cNvPr>
            <p:cNvPicPr preferRelativeResize="0"/>
            <p:nvPr/>
          </p:nvPicPr>
          <p:blipFill>
            <a:blip r:embed="rId7">
              <a:alphaModFix/>
            </a:blip>
            <a:stretch>
              <a:fillRect/>
            </a:stretch>
          </p:blipFill>
          <p:spPr>
            <a:xfrm>
              <a:off x="2328334" y="2773810"/>
              <a:ext cx="2964233" cy="673712"/>
            </a:xfrm>
            <a:prstGeom prst="rect">
              <a:avLst/>
            </a:prstGeom>
            <a:noFill/>
            <a:ln>
              <a:noFill/>
            </a:ln>
          </p:spPr>
        </p:pic>
        <p:pic>
          <p:nvPicPr>
            <p:cNvPr id="3" name="Google Shape;302;p17">
              <a:extLst>
                <a:ext uri="{FF2B5EF4-FFF2-40B4-BE49-F238E27FC236}">
                  <a16:creationId xmlns:a16="http://schemas.microsoft.com/office/drawing/2014/main" id="{FBBB000F-7791-400E-943F-9AFFAE37701E}"/>
                </a:ext>
              </a:extLst>
            </p:cNvPr>
            <p:cNvPicPr preferRelativeResize="0"/>
            <p:nvPr/>
          </p:nvPicPr>
          <p:blipFill rotWithShape="1">
            <a:blip r:embed="rId7">
              <a:alphaModFix/>
            </a:blip>
            <a:srcRect l="9183" t="71730" r="57962" b="14345"/>
            <a:stretch/>
          </p:blipFill>
          <p:spPr>
            <a:xfrm>
              <a:off x="2557540" y="2905343"/>
              <a:ext cx="2454065" cy="419601"/>
            </a:xfrm>
            <a:prstGeom prst="rect">
              <a:avLst/>
            </a:prstGeom>
            <a:noFill/>
            <a:ln>
              <a:noFill/>
            </a:ln>
          </p:spPr>
        </p:pic>
        <p:pic>
          <p:nvPicPr>
            <p:cNvPr id="5" name="Google Shape;305;p17">
              <a:extLst>
                <a:ext uri="{FF2B5EF4-FFF2-40B4-BE49-F238E27FC236}">
                  <a16:creationId xmlns:a16="http://schemas.microsoft.com/office/drawing/2014/main" id="{7BEDD48B-FDEB-8C2A-46F5-9E68EA63B585}"/>
                </a:ext>
              </a:extLst>
            </p:cNvPr>
            <p:cNvPicPr preferRelativeResize="0"/>
            <p:nvPr/>
          </p:nvPicPr>
          <p:blipFill>
            <a:blip r:embed="rId8">
              <a:alphaModFix/>
            </a:blip>
            <a:stretch>
              <a:fillRect/>
            </a:stretch>
          </p:blipFill>
          <p:spPr>
            <a:xfrm>
              <a:off x="7980875" y="2676467"/>
              <a:ext cx="1565683" cy="2169590"/>
            </a:xfrm>
            <a:prstGeom prst="rect">
              <a:avLst/>
            </a:prstGeom>
            <a:noFill/>
            <a:ln>
              <a:noFill/>
            </a:ln>
          </p:spPr>
        </p:pic>
        <p:sp>
          <p:nvSpPr>
            <p:cNvPr id="6" name="Google Shape;306;p17">
              <a:extLst>
                <a:ext uri="{FF2B5EF4-FFF2-40B4-BE49-F238E27FC236}">
                  <a16:creationId xmlns:a16="http://schemas.microsoft.com/office/drawing/2014/main" id="{5CF859C3-225A-6C11-6EA4-003F279C23E5}"/>
                </a:ext>
              </a:extLst>
            </p:cNvPr>
            <p:cNvSpPr txBox="1"/>
            <p:nvPr/>
          </p:nvSpPr>
          <p:spPr>
            <a:xfrm>
              <a:off x="7931263" y="4424891"/>
              <a:ext cx="1865195" cy="751208"/>
            </a:xfrm>
            <a:prstGeom prst="rect">
              <a:avLst/>
            </a:prstGeom>
            <a:noFill/>
            <a:ln>
              <a:noFill/>
            </a:ln>
          </p:spPr>
          <p:txBody>
            <a:bodyPr spcFirstLastPara="1" wrap="square" lIns="295319" tIns="295319" rIns="295319" bIns="295319" anchor="t" anchorCtr="0">
              <a:noAutofit/>
            </a:bodyPr>
            <a:lstStyle/>
            <a:p>
              <a:pPr algn="ctr">
                <a:spcBef>
                  <a:spcPts val="0"/>
                </a:spcBef>
              </a:pPr>
              <a:r>
                <a:rPr lang="en" sz="2000" dirty="0">
                  <a:solidFill>
                    <a:schemeClr val="dk2"/>
                  </a:solidFill>
                </a:rPr>
                <a:t>JIRA.R</a:t>
              </a:r>
              <a:endParaRPr sz="2000" dirty="0">
                <a:solidFill>
                  <a:schemeClr val="dk2"/>
                </a:solidFill>
              </a:endParaRPr>
            </a:p>
          </p:txBody>
        </p:sp>
        <p:pic>
          <p:nvPicPr>
            <p:cNvPr id="7" name="Google Shape;307;p17">
              <a:extLst>
                <a:ext uri="{FF2B5EF4-FFF2-40B4-BE49-F238E27FC236}">
                  <a16:creationId xmlns:a16="http://schemas.microsoft.com/office/drawing/2014/main" id="{BD973B96-AC32-BE98-E8C1-A59817E30C78}"/>
                </a:ext>
              </a:extLst>
            </p:cNvPr>
            <p:cNvPicPr preferRelativeResize="0"/>
            <p:nvPr/>
          </p:nvPicPr>
          <p:blipFill>
            <a:blip r:embed="rId8">
              <a:alphaModFix/>
            </a:blip>
            <a:stretch>
              <a:fillRect/>
            </a:stretch>
          </p:blipFill>
          <p:spPr>
            <a:xfrm>
              <a:off x="9889795" y="2644715"/>
              <a:ext cx="1565683" cy="2169590"/>
            </a:xfrm>
            <a:prstGeom prst="rect">
              <a:avLst/>
            </a:prstGeom>
            <a:noFill/>
            <a:ln>
              <a:noFill/>
            </a:ln>
          </p:spPr>
        </p:pic>
        <p:sp>
          <p:nvSpPr>
            <p:cNvPr id="9" name="Google Shape;308;p17">
              <a:extLst>
                <a:ext uri="{FF2B5EF4-FFF2-40B4-BE49-F238E27FC236}">
                  <a16:creationId xmlns:a16="http://schemas.microsoft.com/office/drawing/2014/main" id="{110A032D-D9DD-5C5C-DC1F-8DD5CFF3AA87}"/>
                </a:ext>
              </a:extLst>
            </p:cNvPr>
            <p:cNvSpPr txBox="1"/>
            <p:nvPr/>
          </p:nvSpPr>
          <p:spPr>
            <a:xfrm>
              <a:off x="9739544" y="4461705"/>
              <a:ext cx="1973429" cy="751208"/>
            </a:xfrm>
            <a:prstGeom prst="rect">
              <a:avLst/>
            </a:prstGeom>
            <a:noFill/>
            <a:ln>
              <a:noFill/>
            </a:ln>
          </p:spPr>
          <p:txBody>
            <a:bodyPr spcFirstLastPara="1" wrap="square" lIns="295319" tIns="295319" rIns="295319" bIns="295319" anchor="t" anchorCtr="0">
              <a:noAutofit/>
            </a:bodyPr>
            <a:lstStyle/>
            <a:p>
              <a:pPr algn="ctr">
                <a:spcBef>
                  <a:spcPts val="0"/>
                </a:spcBef>
              </a:pPr>
              <a:r>
                <a:rPr lang="en" sz="2000" dirty="0">
                  <a:solidFill>
                    <a:schemeClr val="dk2"/>
                  </a:solidFill>
                </a:rPr>
                <a:t>Mail.R</a:t>
              </a:r>
              <a:endParaRPr sz="2000" dirty="0">
                <a:solidFill>
                  <a:schemeClr val="dk2"/>
                </a:solidFill>
              </a:endParaRPr>
            </a:p>
          </p:txBody>
        </p:sp>
        <p:pic>
          <p:nvPicPr>
            <p:cNvPr id="11" name="Google Shape;309;p17">
              <a:extLst>
                <a:ext uri="{FF2B5EF4-FFF2-40B4-BE49-F238E27FC236}">
                  <a16:creationId xmlns:a16="http://schemas.microsoft.com/office/drawing/2014/main" id="{05D50319-56AB-569E-13F6-D9485FE80C44}"/>
                </a:ext>
              </a:extLst>
            </p:cNvPr>
            <p:cNvPicPr preferRelativeResize="0"/>
            <p:nvPr/>
          </p:nvPicPr>
          <p:blipFill>
            <a:blip r:embed="rId8">
              <a:alphaModFix/>
            </a:blip>
            <a:stretch>
              <a:fillRect/>
            </a:stretch>
          </p:blipFill>
          <p:spPr>
            <a:xfrm>
              <a:off x="11865149" y="2676467"/>
              <a:ext cx="1565683" cy="2169590"/>
            </a:xfrm>
            <a:prstGeom prst="rect">
              <a:avLst/>
            </a:prstGeom>
            <a:noFill/>
            <a:ln>
              <a:noFill/>
            </a:ln>
          </p:spPr>
        </p:pic>
        <p:pic>
          <p:nvPicPr>
            <p:cNvPr id="12" name="Google Shape;311;p17">
              <a:extLst>
                <a:ext uri="{FF2B5EF4-FFF2-40B4-BE49-F238E27FC236}">
                  <a16:creationId xmlns:a16="http://schemas.microsoft.com/office/drawing/2014/main" id="{534B9F89-BA23-F597-92CE-73DB7E749B75}"/>
                </a:ext>
              </a:extLst>
            </p:cNvPr>
            <p:cNvPicPr preferRelativeResize="0"/>
            <p:nvPr/>
          </p:nvPicPr>
          <p:blipFill>
            <a:blip r:embed="rId8">
              <a:alphaModFix/>
            </a:blip>
            <a:stretch>
              <a:fillRect/>
            </a:stretch>
          </p:blipFill>
          <p:spPr>
            <a:xfrm>
              <a:off x="6657244" y="5275472"/>
              <a:ext cx="1565683" cy="2169590"/>
            </a:xfrm>
            <a:prstGeom prst="rect">
              <a:avLst/>
            </a:prstGeom>
            <a:noFill/>
            <a:ln>
              <a:noFill/>
            </a:ln>
          </p:spPr>
        </p:pic>
        <p:sp>
          <p:nvSpPr>
            <p:cNvPr id="13" name="Google Shape;312;p17">
              <a:extLst>
                <a:ext uri="{FF2B5EF4-FFF2-40B4-BE49-F238E27FC236}">
                  <a16:creationId xmlns:a16="http://schemas.microsoft.com/office/drawing/2014/main" id="{BBD8ECB6-8B16-3DD1-E988-CEE61ABDA45C}"/>
                </a:ext>
              </a:extLst>
            </p:cNvPr>
            <p:cNvSpPr txBox="1"/>
            <p:nvPr/>
          </p:nvSpPr>
          <p:spPr>
            <a:xfrm>
              <a:off x="6062185" y="6975576"/>
              <a:ext cx="2708292" cy="751208"/>
            </a:xfrm>
            <a:prstGeom prst="rect">
              <a:avLst/>
            </a:prstGeom>
            <a:noFill/>
            <a:ln>
              <a:noFill/>
            </a:ln>
          </p:spPr>
          <p:txBody>
            <a:bodyPr spcFirstLastPara="1" wrap="square" lIns="295319" tIns="295319" rIns="295319" bIns="295319" anchor="t" anchorCtr="0">
              <a:noAutofit/>
            </a:bodyPr>
            <a:lstStyle/>
            <a:p>
              <a:pPr algn="ctr">
                <a:spcBef>
                  <a:spcPts val="0"/>
                </a:spcBef>
              </a:pPr>
              <a:r>
                <a:rPr lang="en" sz="2400" dirty="0">
                  <a:solidFill>
                    <a:schemeClr val="accent1"/>
                  </a:solidFill>
                </a:rPr>
                <a:t>Examples</a:t>
              </a:r>
              <a:endParaRPr sz="2400" dirty="0">
                <a:solidFill>
                  <a:schemeClr val="accent1"/>
                </a:solidFill>
              </a:endParaRPr>
            </a:p>
          </p:txBody>
        </p:sp>
        <p:pic>
          <p:nvPicPr>
            <p:cNvPr id="14" name="Google Shape;313;p17">
              <a:extLst>
                <a:ext uri="{FF2B5EF4-FFF2-40B4-BE49-F238E27FC236}">
                  <a16:creationId xmlns:a16="http://schemas.microsoft.com/office/drawing/2014/main" id="{88CBECE8-FDAF-1368-E00D-FE93C32924B4}"/>
                </a:ext>
              </a:extLst>
            </p:cNvPr>
            <p:cNvPicPr preferRelativeResize="0"/>
            <p:nvPr/>
          </p:nvPicPr>
          <p:blipFill>
            <a:blip r:embed="rId8">
              <a:alphaModFix/>
            </a:blip>
            <a:stretch>
              <a:fillRect/>
            </a:stretch>
          </p:blipFill>
          <p:spPr>
            <a:xfrm>
              <a:off x="11511229" y="5221079"/>
              <a:ext cx="1565683" cy="2169590"/>
            </a:xfrm>
            <a:prstGeom prst="rect">
              <a:avLst/>
            </a:prstGeom>
            <a:noFill/>
            <a:ln>
              <a:noFill/>
            </a:ln>
          </p:spPr>
        </p:pic>
        <p:pic>
          <p:nvPicPr>
            <p:cNvPr id="15" name="Google Shape;315;p17">
              <a:extLst>
                <a:ext uri="{FF2B5EF4-FFF2-40B4-BE49-F238E27FC236}">
                  <a16:creationId xmlns:a16="http://schemas.microsoft.com/office/drawing/2014/main" id="{8393DB28-98DB-FDF0-3F32-029F2F37E305}"/>
                </a:ext>
              </a:extLst>
            </p:cNvPr>
            <p:cNvPicPr preferRelativeResize="0"/>
            <p:nvPr/>
          </p:nvPicPr>
          <p:blipFill>
            <a:blip r:embed="rId8">
              <a:alphaModFix/>
            </a:blip>
            <a:stretch>
              <a:fillRect/>
            </a:stretch>
          </p:blipFill>
          <p:spPr>
            <a:xfrm>
              <a:off x="9058697" y="5240738"/>
              <a:ext cx="1565683" cy="2169590"/>
            </a:xfrm>
            <a:prstGeom prst="rect">
              <a:avLst/>
            </a:prstGeom>
            <a:noFill/>
            <a:ln>
              <a:noFill/>
            </a:ln>
          </p:spPr>
        </p:pic>
        <p:sp>
          <p:nvSpPr>
            <p:cNvPr id="16" name="Google Shape;316;p17">
              <a:extLst>
                <a:ext uri="{FF2B5EF4-FFF2-40B4-BE49-F238E27FC236}">
                  <a16:creationId xmlns:a16="http://schemas.microsoft.com/office/drawing/2014/main" id="{1E850D7A-5EC4-43C4-47AC-A4201C69C2CA}"/>
                </a:ext>
              </a:extLst>
            </p:cNvPr>
            <p:cNvSpPr txBox="1"/>
            <p:nvPr/>
          </p:nvSpPr>
          <p:spPr>
            <a:xfrm>
              <a:off x="9027899" y="6928456"/>
              <a:ext cx="1723792" cy="751208"/>
            </a:xfrm>
            <a:prstGeom prst="rect">
              <a:avLst/>
            </a:prstGeom>
            <a:noFill/>
            <a:ln>
              <a:noFill/>
            </a:ln>
          </p:spPr>
          <p:txBody>
            <a:bodyPr spcFirstLastPara="1" wrap="square" lIns="295319" tIns="295319" rIns="295319" bIns="295319" anchor="t" anchorCtr="0">
              <a:noAutofit/>
            </a:bodyPr>
            <a:lstStyle/>
            <a:p>
              <a:pPr algn="ctr">
                <a:spcBef>
                  <a:spcPts val="0"/>
                </a:spcBef>
              </a:pPr>
              <a:r>
                <a:rPr lang="en-US" sz="2000" dirty="0">
                  <a:solidFill>
                    <a:schemeClr val="dk2"/>
                  </a:solidFill>
                </a:rPr>
                <a:t>s</a:t>
              </a:r>
              <a:r>
                <a:rPr lang="en" sz="2000" dirty="0">
                  <a:solidFill>
                    <a:schemeClr val="dk2"/>
                  </a:solidFill>
                </a:rPr>
                <a:t>rc.R</a:t>
              </a:r>
              <a:endParaRPr sz="2000" dirty="0">
                <a:solidFill>
                  <a:schemeClr val="dk2"/>
                </a:solidFill>
              </a:endParaRPr>
            </a:p>
          </p:txBody>
        </p:sp>
        <p:sp>
          <p:nvSpPr>
            <p:cNvPr id="17" name="Google Shape;317;p17">
              <a:extLst>
                <a:ext uri="{FF2B5EF4-FFF2-40B4-BE49-F238E27FC236}">
                  <a16:creationId xmlns:a16="http://schemas.microsoft.com/office/drawing/2014/main" id="{649E8948-1FD6-3626-AD07-1D92BA02CFDA}"/>
                </a:ext>
              </a:extLst>
            </p:cNvPr>
            <p:cNvSpPr txBox="1"/>
            <p:nvPr/>
          </p:nvSpPr>
          <p:spPr>
            <a:xfrm>
              <a:off x="6530310" y="5890170"/>
              <a:ext cx="1820500" cy="1004208"/>
            </a:xfrm>
            <a:prstGeom prst="rect">
              <a:avLst/>
            </a:prstGeom>
            <a:noFill/>
            <a:ln>
              <a:noFill/>
            </a:ln>
          </p:spPr>
          <p:txBody>
            <a:bodyPr spcFirstLastPara="1" wrap="square" lIns="295319" tIns="295319" rIns="295319" bIns="295319" anchor="t" anchorCtr="0">
              <a:noAutofit/>
            </a:bodyPr>
            <a:lstStyle/>
            <a:p>
              <a:pPr algn="ctr">
                <a:spcBef>
                  <a:spcPts val="0"/>
                </a:spcBef>
              </a:pPr>
              <a:r>
                <a:rPr lang="en" dirty="0">
                  <a:solidFill>
                    <a:schemeClr val="accent1"/>
                  </a:solidFill>
                </a:rPr>
                <a:t>Example Fake Data</a:t>
              </a:r>
              <a:endParaRPr dirty="0">
                <a:solidFill>
                  <a:schemeClr val="accent1"/>
                </a:solidFill>
              </a:endParaRPr>
            </a:p>
          </p:txBody>
        </p:sp>
        <p:sp>
          <p:nvSpPr>
            <p:cNvPr id="18" name="Google Shape;318;p17">
              <a:extLst>
                <a:ext uri="{FF2B5EF4-FFF2-40B4-BE49-F238E27FC236}">
                  <a16:creationId xmlns:a16="http://schemas.microsoft.com/office/drawing/2014/main" id="{85433B01-7849-AAEF-4C37-B0AA1DBDB716}"/>
                </a:ext>
              </a:extLst>
            </p:cNvPr>
            <p:cNvSpPr txBox="1"/>
            <p:nvPr/>
          </p:nvSpPr>
          <p:spPr>
            <a:xfrm>
              <a:off x="11373572" y="5628939"/>
              <a:ext cx="1950208" cy="751208"/>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dirty="0">
                  <a:solidFill>
                    <a:srgbClr val="F6B26B"/>
                  </a:solidFill>
                </a:rPr>
                <a:t>Downloader Tests</a:t>
              </a:r>
              <a:endParaRPr sz="1000" dirty="0">
                <a:solidFill>
                  <a:srgbClr val="F6B26B"/>
                </a:solidFill>
              </a:endParaRPr>
            </a:p>
            <a:p>
              <a:pPr algn="ctr">
                <a:spcBef>
                  <a:spcPts val="0"/>
                </a:spcBef>
              </a:pPr>
              <a:r>
                <a:rPr lang="en" sz="1000" dirty="0">
                  <a:solidFill>
                    <a:srgbClr val="F6B26B"/>
                  </a:solidFill>
                </a:rPr>
                <a:t>Parser Tests</a:t>
              </a:r>
              <a:endParaRPr sz="1000" dirty="0">
                <a:solidFill>
                  <a:srgbClr val="F6B26B"/>
                </a:solidFill>
              </a:endParaRPr>
            </a:p>
            <a:p>
              <a:pPr algn="ctr">
                <a:spcBef>
                  <a:spcPts val="0"/>
                </a:spcBef>
              </a:pPr>
              <a:r>
                <a:rPr lang="en" sz="1000" dirty="0">
                  <a:solidFill>
                    <a:srgbClr val="F6B26B"/>
                  </a:solidFill>
                </a:rPr>
                <a:t>Transform Tests</a:t>
              </a:r>
              <a:endParaRPr sz="1000" dirty="0">
                <a:solidFill>
                  <a:srgbClr val="F6B26B"/>
                </a:solidFill>
              </a:endParaRPr>
            </a:p>
          </p:txBody>
        </p:sp>
        <p:cxnSp>
          <p:nvCxnSpPr>
            <p:cNvPr id="19" name="Google Shape;319;p17">
              <a:extLst>
                <a:ext uri="{FF2B5EF4-FFF2-40B4-BE49-F238E27FC236}">
                  <a16:creationId xmlns:a16="http://schemas.microsoft.com/office/drawing/2014/main" id="{EE93255D-CA4C-A59B-5692-B20B25B78EF8}"/>
                </a:ext>
              </a:extLst>
            </p:cNvPr>
            <p:cNvCxnSpPr>
              <a:endCxn id="41" idx="1"/>
            </p:cNvCxnSpPr>
            <p:nvPr/>
          </p:nvCxnSpPr>
          <p:spPr>
            <a:xfrm rot="10800000" flipH="1">
              <a:off x="8064528" y="6321092"/>
              <a:ext cx="1224667" cy="188375"/>
            </a:xfrm>
            <a:prstGeom prst="bentConnector3">
              <a:avLst>
                <a:gd name="adj1" fmla="val 50000"/>
              </a:avLst>
            </a:prstGeom>
            <a:noFill/>
            <a:ln w="13400" cap="flat" cmpd="sng">
              <a:solidFill>
                <a:schemeClr val="dk1"/>
              </a:solidFill>
              <a:prstDash val="solid"/>
              <a:round/>
              <a:headEnd type="none" w="med" len="med"/>
              <a:tailEnd type="triangle" w="med" len="med"/>
            </a:ln>
          </p:spPr>
        </p:cxnSp>
        <p:cxnSp>
          <p:nvCxnSpPr>
            <p:cNvPr id="20" name="Google Shape;321;p17">
              <a:extLst>
                <a:ext uri="{FF2B5EF4-FFF2-40B4-BE49-F238E27FC236}">
                  <a16:creationId xmlns:a16="http://schemas.microsoft.com/office/drawing/2014/main" id="{14C4EBF9-E67B-82E1-7D87-A1125A15B486}"/>
                </a:ext>
              </a:extLst>
            </p:cNvPr>
            <p:cNvCxnSpPr/>
            <p:nvPr/>
          </p:nvCxnSpPr>
          <p:spPr>
            <a:xfrm rot="10800000" flipH="1">
              <a:off x="10272070" y="6039394"/>
              <a:ext cx="1494167" cy="90292"/>
            </a:xfrm>
            <a:prstGeom prst="bentConnector3">
              <a:avLst>
                <a:gd name="adj1" fmla="val 50000"/>
              </a:avLst>
            </a:prstGeom>
            <a:noFill/>
            <a:ln w="13400" cap="flat" cmpd="sng">
              <a:solidFill>
                <a:schemeClr val="dk1"/>
              </a:solidFill>
              <a:prstDash val="solid"/>
              <a:round/>
              <a:headEnd type="none" w="med" len="med"/>
              <a:tailEnd type="triangle" w="med" len="med"/>
            </a:ln>
          </p:spPr>
        </p:cxnSp>
        <p:cxnSp>
          <p:nvCxnSpPr>
            <p:cNvPr id="21" name="Google Shape;322;p17">
              <a:extLst>
                <a:ext uri="{FF2B5EF4-FFF2-40B4-BE49-F238E27FC236}">
                  <a16:creationId xmlns:a16="http://schemas.microsoft.com/office/drawing/2014/main" id="{A109EE0B-CB0D-5FC0-3604-8AD9DA5DCDE9}"/>
                </a:ext>
              </a:extLst>
            </p:cNvPr>
            <p:cNvCxnSpPr/>
            <p:nvPr/>
          </p:nvCxnSpPr>
          <p:spPr>
            <a:xfrm rot="10800000" flipH="1">
              <a:off x="10413758" y="6271155"/>
              <a:ext cx="1404333" cy="77458"/>
            </a:xfrm>
            <a:prstGeom prst="bentConnector3">
              <a:avLst>
                <a:gd name="adj1" fmla="val 50000"/>
              </a:avLst>
            </a:prstGeom>
            <a:noFill/>
            <a:ln w="13400" cap="flat" cmpd="sng">
              <a:solidFill>
                <a:schemeClr val="dk1"/>
              </a:solidFill>
              <a:prstDash val="solid"/>
              <a:round/>
              <a:headEnd type="none" w="med" len="med"/>
              <a:tailEnd type="triangle" w="med" len="med"/>
            </a:ln>
          </p:spPr>
        </p:cxnSp>
        <p:cxnSp>
          <p:nvCxnSpPr>
            <p:cNvPr id="22" name="Google Shape;323;p17">
              <a:extLst>
                <a:ext uri="{FF2B5EF4-FFF2-40B4-BE49-F238E27FC236}">
                  <a16:creationId xmlns:a16="http://schemas.microsoft.com/office/drawing/2014/main" id="{B4780691-0363-88F6-AE51-1FBB2291D11F}"/>
                </a:ext>
              </a:extLst>
            </p:cNvPr>
            <p:cNvCxnSpPr/>
            <p:nvPr/>
          </p:nvCxnSpPr>
          <p:spPr>
            <a:xfrm>
              <a:off x="10478152" y="6580496"/>
              <a:ext cx="1314042" cy="154917"/>
            </a:xfrm>
            <a:prstGeom prst="bentConnector3">
              <a:avLst>
                <a:gd name="adj1" fmla="val 50000"/>
              </a:avLst>
            </a:prstGeom>
            <a:noFill/>
            <a:ln w="13400" cap="flat" cmpd="sng">
              <a:solidFill>
                <a:schemeClr val="dk1"/>
              </a:solidFill>
              <a:prstDash val="solid"/>
              <a:round/>
              <a:headEnd type="none" w="med" len="med"/>
              <a:tailEnd type="triangle" w="med" len="med"/>
            </a:ln>
          </p:spPr>
        </p:cxnSp>
        <p:cxnSp>
          <p:nvCxnSpPr>
            <p:cNvPr id="23" name="Google Shape;324;p17">
              <a:extLst>
                <a:ext uri="{FF2B5EF4-FFF2-40B4-BE49-F238E27FC236}">
                  <a16:creationId xmlns:a16="http://schemas.microsoft.com/office/drawing/2014/main" id="{90A0A2E6-224D-FC56-06D4-B7F303F382C4}"/>
                </a:ext>
              </a:extLst>
            </p:cNvPr>
            <p:cNvCxnSpPr/>
            <p:nvPr/>
          </p:nvCxnSpPr>
          <p:spPr>
            <a:xfrm rot="10800000">
              <a:off x="7468340" y="3771813"/>
              <a:ext cx="0" cy="2423208"/>
            </a:xfrm>
            <a:prstGeom prst="straightConnector1">
              <a:avLst/>
            </a:prstGeom>
            <a:noFill/>
            <a:ln w="13400" cap="flat" cmpd="sng">
              <a:solidFill>
                <a:schemeClr val="dk1"/>
              </a:solidFill>
              <a:prstDash val="solid"/>
              <a:round/>
              <a:headEnd type="triangle" w="med" len="med"/>
              <a:tailEnd type="none" w="med" len="med"/>
            </a:ln>
          </p:spPr>
        </p:cxnSp>
        <p:cxnSp>
          <p:nvCxnSpPr>
            <p:cNvPr id="24" name="Google Shape;325;p17">
              <a:extLst>
                <a:ext uri="{FF2B5EF4-FFF2-40B4-BE49-F238E27FC236}">
                  <a16:creationId xmlns:a16="http://schemas.microsoft.com/office/drawing/2014/main" id="{85FDE54D-AA01-D82A-158D-29861303C0FA}"/>
                </a:ext>
              </a:extLst>
            </p:cNvPr>
            <p:cNvCxnSpPr/>
            <p:nvPr/>
          </p:nvCxnSpPr>
          <p:spPr>
            <a:xfrm>
              <a:off x="7468985" y="3770038"/>
              <a:ext cx="938667" cy="0"/>
            </a:xfrm>
            <a:prstGeom prst="straightConnector1">
              <a:avLst/>
            </a:prstGeom>
            <a:noFill/>
            <a:ln w="13400" cap="flat" cmpd="sng">
              <a:solidFill>
                <a:schemeClr val="dk1"/>
              </a:solidFill>
              <a:prstDash val="solid"/>
              <a:round/>
              <a:headEnd type="none" w="med" len="med"/>
              <a:tailEnd type="none" w="med" len="med"/>
            </a:ln>
          </p:spPr>
        </p:cxnSp>
        <p:cxnSp>
          <p:nvCxnSpPr>
            <p:cNvPr id="25" name="Google Shape;326;p17">
              <a:extLst>
                <a:ext uri="{FF2B5EF4-FFF2-40B4-BE49-F238E27FC236}">
                  <a16:creationId xmlns:a16="http://schemas.microsoft.com/office/drawing/2014/main" id="{0DB10352-D21F-2C69-B7FA-7CEC944F3F56}"/>
                </a:ext>
              </a:extLst>
            </p:cNvPr>
            <p:cNvCxnSpPr/>
            <p:nvPr/>
          </p:nvCxnSpPr>
          <p:spPr>
            <a:xfrm rot="10800000">
              <a:off x="7335656" y="2359286"/>
              <a:ext cx="0" cy="3843125"/>
            </a:xfrm>
            <a:prstGeom prst="straightConnector1">
              <a:avLst/>
            </a:prstGeom>
            <a:noFill/>
            <a:ln w="13400" cap="flat" cmpd="sng">
              <a:solidFill>
                <a:schemeClr val="dk1"/>
              </a:solidFill>
              <a:prstDash val="solid"/>
              <a:round/>
              <a:headEnd type="triangle" w="med" len="med"/>
              <a:tailEnd type="none" w="med" len="med"/>
            </a:ln>
          </p:spPr>
        </p:cxnSp>
        <p:cxnSp>
          <p:nvCxnSpPr>
            <p:cNvPr id="26" name="Google Shape;327;p17">
              <a:extLst>
                <a:ext uri="{FF2B5EF4-FFF2-40B4-BE49-F238E27FC236}">
                  <a16:creationId xmlns:a16="http://schemas.microsoft.com/office/drawing/2014/main" id="{2ACFF6E1-8D22-F67B-D828-948747C8FB1A}"/>
                </a:ext>
              </a:extLst>
            </p:cNvPr>
            <p:cNvCxnSpPr/>
            <p:nvPr/>
          </p:nvCxnSpPr>
          <p:spPr>
            <a:xfrm>
              <a:off x="7335656" y="2383674"/>
              <a:ext cx="2408083" cy="0"/>
            </a:xfrm>
            <a:prstGeom prst="straightConnector1">
              <a:avLst/>
            </a:prstGeom>
            <a:noFill/>
            <a:ln w="13400" cap="flat" cmpd="sng">
              <a:solidFill>
                <a:schemeClr val="dk1"/>
              </a:solidFill>
              <a:prstDash val="solid"/>
              <a:round/>
              <a:headEnd type="none" w="med" len="med"/>
              <a:tailEnd type="none" w="med" len="med"/>
            </a:ln>
          </p:spPr>
        </p:cxnSp>
        <p:cxnSp>
          <p:nvCxnSpPr>
            <p:cNvPr id="27" name="Google Shape;328;p17">
              <a:extLst>
                <a:ext uri="{FF2B5EF4-FFF2-40B4-BE49-F238E27FC236}">
                  <a16:creationId xmlns:a16="http://schemas.microsoft.com/office/drawing/2014/main" id="{842EAD76-D4A9-5B73-DF3D-19AB0C7B169C}"/>
                </a:ext>
              </a:extLst>
            </p:cNvPr>
            <p:cNvCxnSpPr/>
            <p:nvPr/>
          </p:nvCxnSpPr>
          <p:spPr>
            <a:xfrm rot="10800000">
              <a:off x="7202945" y="2232419"/>
              <a:ext cx="0" cy="3958167"/>
            </a:xfrm>
            <a:prstGeom prst="straightConnector1">
              <a:avLst/>
            </a:prstGeom>
            <a:noFill/>
            <a:ln w="13400" cap="flat" cmpd="sng">
              <a:solidFill>
                <a:schemeClr val="dk1"/>
              </a:solidFill>
              <a:prstDash val="solid"/>
              <a:round/>
              <a:headEnd type="triangle" w="med" len="med"/>
              <a:tailEnd type="none" w="med" len="med"/>
            </a:ln>
          </p:spPr>
        </p:cxnSp>
        <p:cxnSp>
          <p:nvCxnSpPr>
            <p:cNvPr id="28" name="Google Shape;329;p17">
              <a:extLst>
                <a:ext uri="{FF2B5EF4-FFF2-40B4-BE49-F238E27FC236}">
                  <a16:creationId xmlns:a16="http://schemas.microsoft.com/office/drawing/2014/main" id="{4760C0F4-3DD2-20D8-C698-AC2B982E512E}"/>
                </a:ext>
              </a:extLst>
            </p:cNvPr>
            <p:cNvCxnSpPr/>
            <p:nvPr/>
          </p:nvCxnSpPr>
          <p:spPr>
            <a:xfrm rot="10800000">
              <a:off x="7183723" y="2249835"/>
              <a:ext cx="4529250" cy="0"/>
            </a:xfrm>
            <a:prstGeom prst="straightConnector1">
              <a:avLst/>
            </a:prstGeom>
            <a:noFill/>
            <a:ln w="13400" cap="flat" cmpd="sng">
              <a:solidFill>
                <a:schemeClr val="dk1"/>
              </a:solidFill>
              <a:prstDash val="solid"/>
              <a:round/>
              <a:headEnd type="none" w="med" len="med"/>
              <a:tailEnd type="none" w="med" len="med"/>
            </a:ln>
          </p:spPr>
        </p:cxnSp>
        <p:cxnSp>
          <p:nvCxnSpPr>
            <p:cNvPr id="29" name="Google Shape;330;p17">
              <a:extLst>
                <a:ext uri="{FF2B5EF4-FFF2-40B4-BE49-F238E27FC236}">
                  <a16:creationId xmlns:a16="http://schemas.microsoft.com/office/drawing/2014/main" id="{F0B25088-E835-784D-E50A-3FADEAEC6F1C}"/>
                </a:ext>
              </a:extLst>
            </p:cNvPr>
            <p:cNvCxnSpPr/>
            <p:nvPr/>
          </p:nvCxnSpPr>
          <p:spPr>
            <a:xfrm rot="10800000">
              <a:off x="9739545" y="2373035"/>
              <a:ext cx="0" cy="1504250"/>
            </a:xfrm>
            <a:prstGeom prst="straightConnector1">
              <a:avLst/>
            </a:prstGeom>
            <a:noFill/>
            <a:ln w="13400" cap="flat" cmpd="sng">
              <a:solidFill>
                <a:schemeClr val="dk1"/>
              </a:solidFill>
              <a:prstDash val="solid"/>
              <a:round/>
              <a:headEnd type="none" w="med" len="med"/>
              <a:tailEnd type="none" w="med" len="med"/>
            </a:ln>
          </p:spPr>
        </p:cxnSp>
        <p:cxnSp>
          <p:nvCxnSpPr>
            <p:cNvPr id="30" name="Google Shape;331;p17">
              <a:extLst>
                <a:ext uri="{FF2B5EF4-FFF2-40B4-BE49-F238E27FC236}">
                  <a16:creationId xmlns:a16="http://schemas.microsoft.com/office/drawing/2014/main" id="{950C5B7D-0179-DD53-7B7E-4DAA27DCFAE5}"/>
                </a:ext>
              </a:extLst>
            </p:cNvPr>
            <p:cNvCxnSpPr/>
            <p:nvPr/>
          </p:nvCxnSpPr>
          <p:spPr>
            <a:xfrm>
              <a:off x="9741603" y="3844793"/>
              <a:ext cx="619208" cy="0"/>
            </a:xfrm>
            <a:prstGeom prst="straightConnector1">
              <a:avLst/>
            </a:prstGeom>
            <a:noFill/>
            <a:ln w="13400" cap="flat" cmpd="sng">
              <a:solidFill>
                <a:schemeClr val="dk1"/>
              </a:solidFill>
              <a:prstDash val="solid"/>
              <a:round/>
              <a:headEnd type="none" w="med" len="med"/>
              <a:tailEnd type="none" w="med" len="med"/>
            </a:ln>
          </p:spPr>
        </p:cxnSp>
        <p:cxnSp>
          <p:nvCxnSpPr>
            <p:cNvPr id="31" name="Google Shape;332;p17">
              <a:extLst>
                <a:ext uri="{FF2B5EF4-FFF2-40B4-BE49-F238E27FC236}">
                  <a16:creationId xmlns:a16="http://schemas.microsoft.com/office/drawing/2014/main" id="{472A8B60-31F2-7FC1-0080-B55A467E8C3A}"/>
                </a:ext>
              </a:extLst>
            </p:cNvPr>
            <p:cNvCxnSpPr/>
            <p:nvPr/>
          </p:nvCxnSpPr>
          <p:spPr>
            <a:xfrm rot="10800000">
              <a:off x="11689219" y="2248101"/>
              <a:ext cx="0" cy="1598208"/>
            </a:xfrm>
            <a:prstGeom prst="straightConnector1">
              <a:avLst/>
            </a:prstGeom>
            <a:noFill/>
            <a:ln w="13400" cap="flat" cmpd="sng">
              <a:solidFill>
                <a:schemeClr val="dk1"/>
              </a:solidFill>
              <a:prstDash val="solid"/>
              <a:round/>
              <a:headEnd type="none" w="med" len="med"/>
              <a:tailEnd type="none" w="med" len="med"/>
            </a:ln>
          </p:spPr>
        </p:cxnSp>
        <p:cxnSp>
          <p:nvCxnSpPr>
            <p:cNvPr id="32" name="Google Shape;333;p17">
              <a:extLst>
                <a:ext uri="{FF2B5EF4-FFF2-40B4-BE49-F238E27FC236}">
                  <a16:creationId xmlns:a16="http://schemas.microsoft.com/office/drawing/2014/main" id="{BAF2041C-2E7B-BEC2-4CD3-A7870D887F0D}"/>
                </a:ext>
              </a:extLst>
            </p:cNvPr>
            <p:cNvCxnSpPr/>
            <p:nvPr/>
          </p:nvCxnSpPr>
          <p:spPr>
            <a:xfrm>
              <a:off x="11698836" y="3851305"/>
              <a:ext cx="557333" cy="0"/>
            </a:xfrm>
            <a:prstGeom prst="straightConnector1">
              <a:avLst/>
            </a:prstGeom>
            <a:noFill/>
            <a:ln w="13400" cap="flat" cmpd="sng">
              <a:solidFill>
                <a:schemeClr val="dk1"/>
              </a:solidFill>
              <a:prstDash val="solid"/>
              <a:round/>
              <a:headEnd type="none" w="med" len="med"/>
              <a:tailEnd type="none" w="med" len="med"/>
            </a:ln>
          </p:spPr>
        </p:cxnSp>
        <p:sp>
          <p:nvSpPr>
            <p:cNvPr id="33" name="Google Shape;334;p17">
              <a:extLst>
                <a:ext uri="{FF2B5EF4-FFF2-40B4-BE49-F238E27FC236}">
                  <a16:creationId xmlns:a16="http://schemas.microsoft.com/office/drawing/2014/main" id="{EF0105FB-776F-8BC6-5CE6-757978ED7032}"/>
                </a:ext>
              </a:extLst>
            </p:cNvPr>
            <p:cNvSpPr txBox="1"/>
            <p:nvPr/>
          </p:nvSpPr>
          <p:spPr>
            <a:xfrm>
              <a:off x="2623479" y="2956513"/>
              <a:ext cx="2358583" cy="316708"/>
            </a:xfrm>
            <a:prstGeom prst="rect">
              <a:avLst/>
            </a:prstGeom>
            <a:noFill/>
            <a:ln>
              <a:noFill/>
            </a:ln>
          </p:spPr>
          <p:txBody>
            <a:bodyPr spcFirstLastPara="1" wrap="square" lIns="161677" tIns="161677" rIns="161677" bIns="161677" anchor="ctr" anchorCtr="0">
              <a:noAutofit/>
            </a:bodyPr>
            <a:lstStyle/>
            <a:p>
              <a:pPr algn="ctr">
                <a:spcBef>
                  <a:spcPts val="0"/>
                </a:spcBef>
              </a:pPr>
              <a:r>
                <a:rPr lang="en" sz="1994" dirty="0">
                  <a:solidFill>
                    <a:schemeClr val="dk1"/>
                  </a:solidFill>
                </a:rPr>
                <a:t>Fake Data Generator</a:t>
              </a:r>
              <a:endParaRPr sz="1994" dirty="0">
                <a:solidFill>
                  <a:schemeClr val="dk1"/>
                </a:solidFill>
              </a:endParaRPr>
            </a:p>
          </p:txBody>
        </p:sp>
        <p:pic>
          <p:nvPicPr>
            <p:cNvPr id="34" name="Google Shape;339;p17">
              <a:extLst>
                <a:ext uri="{FF2B5EF4-FFF2-40B4-BE49-F238E27FC236}">
                  <a16:creationId xmlns:a16="http://schemas.microsoft.com/office/drawing/2014/main" id="{59029465-5CDB-BDB5-B0E5-77DDC8485A79}"/>
                </a:ext>
              </a:extLst>
            </p:cNvPr>
            <p:cNvPicPr preferRelativeResize="0"/>
            <p:nvPr/>
          </p:nvPicPr>
          <p:blipFill>
            <a:blip r:embed="rId9">
              <a:alphaModFix/>
            </a:blip>
            <a:stretch>
              <a:fillRect/>
            </a:stretch>
          </p:blipFill>
          <p:spPr>
            <a:xfrm>
              <a:off x="2009526" y="3623133"/>
              <a:ext cx="3488681" cy="4273812"/>
            </a:xfrm>
            <a:prstGeom prst="rect">
              <a:avLst/>
            </a:prstGeom>
            <a:noFill/>
            <a:ln>
              <a:noFill/>
            </a:ln>
          </p:spPr>
        </p:pic>
        <p:cxnSp>
          <p:nvCxnSpPr>
            <p:cNvPr id="35" name="Google Shape;340;p17">
              <a:extLst>
                <a:ext uri="{FF2B5EF4-FFF2-40B4-BE49-F238E27FC236}">
                  <a16:creationId xmlns:a16="http://schemas.microsoft.com/office/drawing/2014/main" id="{7E2A28A0-D3B2-283C-15FE-1797500351F8}"/>
                </a:ext>
              </a:extLst>
            </p:cNvPr>
            <p:cNvCxnSpPr>
              <a:endCxn id="17" idx="1"/>
            </p:cNvCxnSpPr>
            <p:nvPr/>
          </p:nvCxnSpPr>
          <p:spPr>
            <a:xfrm>
              <a:off x="4584685" y="4645107"/>
              <a:ext cx="1945625" cy="1747167"/>
            </a:xfrm>
            <a:prstGeom prst="bentConnector3">
              <a:avLst>
                <a:gd name="adj1" fmla="val 50000"/>
              </a:avLst>
            </a:prstGeom>
            <a:noFill/>
            <a:ln w="9525" cap="flat" cmpd="sng">
              <a:solidFill>
                <a:schemeClr val="dk1"/>
              </a:solidFill>
              <a:prstDash val="solid"/>
              <a:round/>
              <a:headEnd type="none" w="med" len="med"/>
              <a:tailEnd type="triangle" w="med" len="med"/>
            </a:ln>
          </p:spPr>
        </p:cxnSp>
        <p:cxnSp>
          <p:nvCxnSpPr>
            <p:cNvPr id="36" name="Google Shape;341;p17">
              <a:extLst>
                <a:ext uri="{FF2B5EF4-FFF2-40B4-BE49-F238E27FC236}">
                  <a16:creationId xmlns:a16="http://schemas.microsoft.com/office/drawing/2014/main" id="{DB515024-CE81-6D24-9868-4E4DEE76DF7F}"/>
                </a:ext>
              </a:extLst>
            </p:cNvPr>
            <p:cNvCxnSpPr/>
            <p:nvPr/>
          </p:nvCxnSpPr>
          <p:spPr>
            <a:xfrm>
              <a:off x="4321281" y="6017014"/>
              <a:ext cx="2300833" cy="637542"/>
            </a:xfrm>
            <a:prstGeom prst="bentConnector3">
              <a:avLst>
                <a:gd name="adj1" fmla="val 50000"/>
              </a:avLst>
            </a:prstGeom>
            <a:noFill/>
            <a:ln w="9525" cap="flat" cmpd="sng">
              <a:solidFill>
                <a:schemeClr val="dk1"/>
              </a:solidFill>
              <a:prstDash val="solid"/>
              <a:round/>
              <a:headEnd type="none" w="med" len="med"/>
              <a:tailEnd type="triangle" w="med" len="med"/>
            </a:ln>
          </p:spPr>
        </p:cxnSp>
        <p:cxnSp>
          <p:nvCxnSpPr>
            <p:cNvPr id="37" name="Google Shape;342;p17">
              <a:extLst>
                <a:ext uri="{FF2B5EF4-FFF2-40B4-BE49-F238E27FC236}">
                  <a16:creationId xmlns:a16="http://schemas.microsoft.com/office/drawing/2014/main" id="{45D8D467-0D38-B2AC-5291-48D12B4DEE4B}"/>
                </a:ext>
              </a:extLst>
            </p:cNvPr>
            <p:cNvCxnSpPr/>
            <p:nvPr/>
          </p:nvCxnSpPr>
          <p:spPr>
            <a:xfrm rot="10800000" flipH="1">
              <a:off x="4251996" y="6904156"/>
              <a:ext cx="2383792" cy="720500"/>
            </a:xfrm>
            <a:prstGeom prst="bentConnector3">
              <a:avLst>
                <a:gd name="adj1" fmla="val 50000"/>
              </a:avLst>
            </a:prstGeom>
            <a:noFill/>
            <a:ln w="9525" cap="flat" cmpd="sng">
              <a:solidFill>
                <a:schemeClr val="dk1"/>
              </a:solidFill>
              <a:prstDash val="solid"/>
              <a:round/>
              <a:headEnd type="none" w="med" len="med"/>
              <a:tailEnd type="triangle" w="med" len="med"/>
            </a:ln>
          </p:spPr>
        </p:cxnSp>
        <p:pic>
          <p:nvPicPr>
            <p:cNvPr id="38" name="Google Shape;343;p17">
              <a:extLst>
                <a:ext uri="{FF2B5EF4-FFF2-40B4-BE49-F238E27FC236}">
                  <a16:creationId xmlns:a16="http://schemas.microsoft.com/office/drawing/2014/main" id="{8FE1200F-EC12-4DF5-E261-3A4B4CCD94B8}"/>
                </a:ext>
              </a:extLst>
            </p:cNvPr>
            <p:cNvPicPr preferRelativeResize="0"/>
            <p:nvPr/>
          </p:nvPicPr>
          <p:blipFill>
            <a:blip r:embed="rId10">
              <a:alphaModFix/>
            </a:blip>
            <a:stretch>
              <a:fillRect/>
            </a:stretch>
          </p:blipFill>
          <p:spPr>
            <a:xfrm>
              <a:off x="8229452" y="3470748"/>
              <a:ext cx="1139608" cy="650161"/>
            </a:xfrm>
            <a:prstGeom prst="rect">
              <a:avLst/>
            </a:prstGeom>
            <a:noFill/>
            <a:ln>
              <a:noFill/>
            </a:ln>
          </p:spPr>
        </p:pic>
        <p:pic>
          <p:nvPicPr>
            <p:cNvPr id="39" name="Google Shape;344;p17">
              <a:extLst>
                <a:ext uri="{FF2B5EF4-FFF2-40B4-BE49-F238E27FC236}">
                  <a16:creationId xmlns:a16="http://schemas.microsoft.com/office/drawing/2014/main" id="{16F749B2-57F8-60BD-4594-56B79DB9F55C}"/>
                </a:ext>
              </a:extLst>
            </p:cNvPr>
            <p:cNvPicPr preferRelativeResize="0"/>
            <p:nvPr/>
          </p:nvPicPr>
          <p:blipFill>
            <a:blip r:embed="rId10">
              <a:alphaModFix/>
            </a:blip>
            <a:stretch>
              <a:fillRect/>
            </a:stretch>
          </p:blipFill>
          <p:spPr>
            <a:xfrm>
              <a:off x="10144560" y="3538466"/>
              <a:ext cx="1139608" cy="650161"/>
            </a:xfrm>
            <a:prstGeom prst="rect">
              <a:avLst/>
            </a:prstGeom>
            <a:noFill/>
            <a:ln>
              <a:noFill/>
            </a:ln>
          </p:spPr>
        </p:pic>
        <p:pic>
          <p:nvPicPr>
            <p:cNvPr id="40" name="Google Shape;345;p17">
              <a:extLst>
                <a:ext uri="{FF2B5EF4-FFF2-40B4-BE49-F238E27FC236}">
                  <a16:creationId xmlns:a16="http://schemas.microsoft.com/office/drawing/2014/main" id="{4DDA23D1-7891-DE5D-121D-F1116B4089AD}"/>
                </a:ext>
              </a:extLst>
            </p:cNvPr>
            <p:cNvPicPr preferRelativeResize="0"/>
            <p:nvPr/>
          </p:nvPicPr>
          <p:blipFill>
            <a:blip r:embed="rId10">
              <a:alphaModFix/>
            </a:blip>
            <a:stretch>
              <a:fillRect/>
            </a:stretch>
          </p:blipFill>
          <p:spPr>
            <a:xfrm>
              <a:off x="12090605" y="3523571"/>
              <a:ext cx="1139608" cy="650161"/>
            </a:xfrm>
            <a:prstGeom prst="rect">
              <a:avLst/>
            </a:prstGeom>
            <a:noFill/>
            <a:ln>
              <a:noFill/>
            </a:ln>
          </p:spPr>
        </p:pic>
        <p:pic>
          <p:nvPicPr>
            <p:cNvPr id="41" name="Google Shape;320;p17">
              <a:extLst>
                <a:ext uri="{FF2B5EF4-FFF2-40B4-BE49-F238E27FC236}">
                  <a16:creationId xmlns:a16="http://schemas.microsoft.com/office/drawing/2014/main" id="{C1249A7C-4876-8BC2-D685-5AC1F25A9686}"/>
                </a:ext>
              </a:extLst>
            </p:cNvPr>
            <p:cNvPicPr preferRelativeResize="0"/>
            <p:nvPr/>
          </p:nvPicPr>
          <p:blipFill>
            <a:blip r:embed="rId10">
              <a:alphaModFix/>
            </a:blip>
            <a:stretch>
              <a:fillRect/>
            </a:stretch>
          </p:blipFill>
          <p:spPr>
            <a:xfrm>
              <a:off x="9289195" y="5996012"/>
              <a:ext cx="1139608" cy="650161"/>
            </a:xfrm>
            <a:prstGeom prst="rect">
              <a:avLst/>
            </a:prstGeom>
            <a:noFill/>
            <a:ln>
              <a:noFill/>
            </a:ln>
          </p:spPr>
        </p:pic>
        <p:sp>
          <p:nvSpPr>
            <p:cNvPr id="42" name="Google Shape;346;p17">
              <a:extLst>
                <a:ext uri="{FF2B5EF4-FFF2-40B4-BE49-F238E27FC236}">
                  <a16:creationId xmlns:a16="http://schemas.microsoft.com/office/drawing/2014/main" id="{F555DEE5-C571-C9F9-E67E-052F4B4D6D54}"/>
                </a:ext>
              </a:extLst>
            </p:cNvPr>
            <p:cNvSpPr/>
            <p:nvPr/>
          </p:nvSpPr>
          <p:spPr>
            <a:xfrm>
              <a:off x="11785340" y="5957749"/>
              <a:ext cx="1139875" cy="433583"/>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spcBef>
                  <a:spcPts val="0"/>
                </a:spcBef>
              </a:pPr>
              <a:endParaRPr sz="1833"/>
            </a:p>
          </p:txBody>
        </p:sp>
        <p:sp>
          <p:nvSpPr>
            <p:cNvPr id="43" name="Google Shape;347;p17">
              <a:extLst>
                <a:ext uri="{FF2B5EF4-FFF2-40B4-BE49-F238E27FC236}">
                  <a16:creationId xmlns:a16="http://schemas.microsoft.com/office/drawing/2014/main" id="{B2F14A64-030F-8F2F-ADF7-31CE508D2C66}"/>
                </a:ext>
              </a:extLst>
            </p:cNvPr>
            <p:cNvSpPr/>
            <p:nvPr/>
          </p:nvSpPr>
          <p:spPr>
            <a:xfrm>
              <a:off x="11789007" y="6391167"/>
              <a:ext cx="1113292" cy="264458"/>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spcBef>
                  <a:spcPts val="0"/>
                </a:spcBef>
              </a:pPr>
              <a:endParaRPr sz="1833"/>
            </a:p>
          </p:txBody>
        </p:sp>
        <p:sp>
          <p:nvSpPr>
            <p:cNvPr id="44" name="Google Shape;348;p17">
              <a:extLst>
                <a:ext uri="{FF2B5EF4-FFF2-40B4-BE49-F238E27FC236}">
                  <a16:creationId xmlns:a16="http://schemas.microsoft.com/office/drawing/2014/main" id="{E243F2DA-0E3A-EAF3-B12F-0E6FDA9672F9}"/>
                </a:ext>
              </a:extLst>
            </p:cNvPr>
            <p:cNvSpPr/>
            <p:nvPr/>
          </p:nvSpPr>
          <p:spPr>
            <a:xfrm>
              <a:off x="11781216" y="6641123"/>
              <a:ext cx="1121083" cy="466125"/>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lgn="ctr">
                <a:spcBef>
                  <a:spcPts val="0"/>
                </a:spcBef>
              </a:pPr>
              <a:endParaRPr sz="1833"/>
            </a:p>
          </p:txBody>
        </p:sp>
      </p:grpSp>
      <p:sp>
        <p:nvSpPr>
          <p:cNvPr id="10" name="Line">
            <a:extLst>
              <a:ext uri="{FF2B5EF4-FFF2-40B4-BE49-F238E27FC236}">
                <a16:creationId xmlns:a16="http://schemas.microsoft.com/office/drawing/2014/main" id="{2115F500-CCD5-7445-769D-1561425872FB}"/>
              </a:ext>
            </a:extLst>
          </p:cNvPr>
          <p:cNvSpPr/>
          <p:nvPr/>
        </p:nvSpPr>
        <p:spPr>
          <a:xfrm flipV="1">
            <a:off x="4480733" y="6376700"/>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pic>
        <p:nvPicPr>
          <p:cNvPr id="47" name="Picture 46">
            <a:extLst>
              <a:ext uri="{FF2B5EF4-FFF2-40B4-BE49-F238E27FC236}">
                <a16:creationId xmlns:a16="http://schemas.microsoft.com/office/drawing/2014/main" id="{B440F2E7-E680-A3A9-46A1-E92F9DAFED04}"/>
              </a:ext>
            </a:extLst>
          </p:cNvPr>
          <p:cNvPicPr>
            <a:picLocks noChangeAspect="1"/>
          </p:cNvPicPr>
          <p:nvPr/>
        </p:nvPicPr>
        <p:blipFill>
          <a:blip r:embed="rId11"/>
          <a:stretch>
            <a:fillRect/>
          </a:stretch>
        </p:blipFill>
        <p:spPr>
          <a:xfrm>
            <a:off x="6718263" y="5202210"/>
            <a:ext cx="533474" cy="390580"/>
          </a:xfrm>
          <a:prstGeom prst="rect">
            <a:avLst/>
          </a:prstGeom>
        </p:spPr>
      </p:pic>
      <p:sp>
        <p:nvSpPr>
          <p:cNvPr id="51" name="Google Shape;316;p17">
            <a:extLst>
              <a:ext uri="{FF2B5EF4-FFF2-40B4-BE49-F238E27FC236}">
                <a16:creationId xmlns:a16="http://schemas.microsoft.com/office/drawing/2014/main" id="{AA60EED6-7771-F803-341D-4FA6C227AFD0}"/>
              </a:ext>
            </a:extLst>
          </p:cNvPr>
          <p:cNvSpPr txBox="1"/>
          <p:nvPr/>
        </p:nvSpPr>
        <p:spPr>
          <a:xfrm>
            <a:off x="7642310" y="7651057"/>
            <a:ext cx="1374014" cy="527123"/>
          </a:xfrm>
          <a:prstGeom prst="rect">
            <a:avLst/>
          </a:prstGeom>
          <a:noFill/>
          <a:ln>
            <a:noFill/>
          </a:ln>
        </p:spPr>
        <p:txBody>
          <a:bodyPr spcFirstLastPara="1" wrap="square" lIns="295319" tIns="295319" rIns="295319" bIns="295319" anchor="t" anchorCtr="0">
            <a:noAutofit/>
          </a:bodyPr>
          <a:lstStyle/>
          <a:p>
            <a:pPr algn="ctr">
              <a:spcBef>
                <a:spcPts val="0"/>
              </a:spcBef>
            </a:pPr>
            <a:r>
              <a:rPr lang="en" sz="2000" dirty="0">
                <a:solidFill>
                  <a:schemeClr val="dk2"/>
                </a:solidFill>
              </a:rPr>
              <a:t>Git.R</a:t>
            </a:r>
            <a:endParaRPr sz="2000" dirty="0">
              <a:solidFill>
                <a:schemeClr val="dk2"/>
              </a:solidFill>
            </a:endParaRPr>
          </a:p>
        </p:txBody>
      </p:sp>
      <p:grpSp>
        <p:nvGrpSpPr>
          <p:cNvPr id="472" name="Group 471">
            <a:extLst>
              <a:ext uri="{FF2B5EF4-FFF2-40B4-BE49-F238E27FC236}">
                <a16:creationId xmlns:a16="http://schemas.microsoft.com/office/drawing/2014/main" id="{F6963772-45AB-A369-17EC-828A770D4334}"/>
              </a:ext>
            </a:extLst>
          </p:cNvPr>
          <p:cNvGrpSpPr/>
          <p:nvPr/>
        </p:nvGrpSpPr>
        <p:grpSpPr>
          <a:xfrm>
            <a:off x="2417617" y="2510666"/>
            <a:ext cx="6478782" cy="3410842"/>
            <a:chOff x="1986844" y="360223"/>
            <a:chExt cx="6608909" cy="3539327"/>
          </a:xfrm>
        </p:grpSpPr>
        <p:pic>
          <p:nvPicPr>
            <p:cNvPr id="52" name="Google Shape;258;p16">
              <a:extLst>
                <a:ext uri="{FF2B5EF4-FFF2-40B4-BE49-F238E27FC236}">
                  <a16:creationId xmlns:a16="http://schemas.microsoft.com/office/drawing/2014/main" id="{52C6E3DC-DD25-B7CB-B1E9-A5AFD4FE8273}"/>
                </a:ext>
              </a:extLst>
            </p:cNvPr>
            <p:cNvPicPr preferRelativeResize="0"/>
            <p:nvPr/>
          </p:nvPicPr>
          <p:blipFill>
            <a:blip r:embed="rId12">
              <a:alphaModFix/>
            </a:blip>
            <a:stretch>
              <a:fillRect/>
            </a:stretch>
          </p:blipFill>
          <p:spPr>
            <a:xfrm>
              <a:off x="4875975" y="360223"/>
              <a:ext cx="764400" cy="569452"/>
            </a:xfrm>
            <a:prstGeom prst="rect">
              <a:avLst/>
            </a:prstGeom>
            <a:noFill/>
            <a:ln>
              <a:noFill/>
            </a:ln>
          </p:spPr>
        </p:pic>
        <p:sp>
          <p:nvSpPr>
            <p:cNvPr id="53" name="Google Shape;259;p16">
              <a:extLst>
                <a:ext uri="{FF2B5EF4-FFF2-40B4-BE49-F238E27FC236}">
                  <a16:creationId xmlns:a16="http://schemas.microsoft.com/office/drawing/2014/main" id="{E76BF3B1-59F1-DEBC-0438-728F94A81A18}"/>
                </a:ext>
              </a:extLst>
            </p:cNvPr>
            <p:cNvSpPr/>
            <p:nvPr/>
          </p:nvSpPr>
          <p:spPr>
            <a:xfrm>
              <a:off x="5091421" y="636756"/>
              <a:ext cx="297900" cy="188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54" name="Google Shape;260;p16">
              <a:extLst>
                <a:ext uri="{FF2B5EF4-FFF2-40B4-BE49-F238E27FC236}">
                  <a16:creationId xmlns:a16="http://schemas.microsoft.com/office/drawing/2014/main" id="{107D8A4E-6261-71F4-555B-4CE537A7D661}"/>
                </a:ext>
              </a:extLst>
            </p:cNvPr>
            <p:cNvCxnSpPr/>
            <p:nvPr/>
          </p:nvCxnSpPr>
          <p:spPr>
            <a:xfrm>
              <a:off x="5762638" y="686185"/>
              <a:ext cx="452100" cy="0"/>
            </a:xfrm>
            <a:prstGeom prst="straightConnector1">
              <a:avLst/>
            </a:prstGeom>
            <a:noFill/>
            <a:ln w="9525" cap="flat" cmpd="sng">
              <a:solidFill>
                <a:srgbClr val="1B1311"/>
              </a:solidFill>
              <a:prstDash val="solid"/>
              <a:round/>
              <a:headEnd type="none" w="med" len="med"/>
              <a:tailEnd type="triangle" w="med" len="med"/>
            </a:ln>
          </p:spPr>
        </p:cxnSp>
        <p:pic>
          <p:nvPicPr>
            <p:cNvPr id="55" name="Google Shape;261;p16">
              <a:extLst>
                <a:ext uri="{FF2B5EF4-FFF2-40B4-BE49-F238E27FC236}">
                  <a16:creationId xmlns:a16="http://schemas.microsoft.com/office/drawing/2014/main" id="{0D777ECA-9164-D884-25C7-2D9967EA0D73}"/>
                </a:ext>
              </a:extLst>
            </p:cNvPr>
            <p:cNvPicPr preferRelativeResize="0"/>
            <p:nvPr/>
          </p:nvPicPr>
          <p:blipFill rotWithShape="1">
            <a:blip r:embed="rId13">
              <a:alphaModFix/>
            </a:blip>
            <a:srcRect r="65739" b="78559"/>
            <a:stretch/>
          </p:blipFill>
          <p:spPr>
            <a:xfrm>
              <a:off x="6349839" y="604356"/>
              <a:ext cx="1353075" cy="255900"/>
            </a:xfrm>
            <a:prstGeom prst="rect">
              <a:avLst/>
            </a:prstGeom>
            <a:noFill/>
            <a:ln>
              <a:noFill/>
            </a:ln>
          </p:spPr>
        </p:pic>
        <p:sp>
          <p:nvSpPr>
            <p:cNvPr id="56" name="Google Shape;262;p16">
              <a:extLst>
                <a:ext uri="{FF2B5EF4-FFF2-40B4-BE49-F238E27FC236}">
                  <a16:creationId xmlns:a16="http://schemas.microsoft.com/office/drawing/2014/main" id="{33A567B9-2E85-7392-464A-1CEBDB16773C}"/>
                </a:ext>
              </a:extLst>
            </p:cNvPr>
            <p:cNvSpPr/>
            <p:nvPr/>
          </p:nvSpPr>
          <p:spPr>
            <a:xfrm>
              <a:off x="6305411" y="621365"/>
              <a:ext cx="1825200" cy="152100"/>
            </a:xfrm>
            <a:prstGeom prst="rect">
              <a:avLst/>
            </a:prstGeom>
            <a:noFill/>
            <a:ln>
              <a:noFill/>
            </a:ln>
          </p:spPr>
          <p:txBody>
            <a:bodyPr spcFirstLastPara="1" wrap="square" lIns="83600" tIns="83600" rIns="83600" bIns="83600" anchor="ctr" anchorCtr="0">
              <a:noAutofit/>
            </a:bodyPr>
            <a:lstStyle/>
            <a:p>
              <a:pPr marL="0" lvl="0" indent="0" algn="l" rtl="0">
                <a:spcBef>
                  <a:spcPts val="0"/>
                </a:spcBef>
                <a:spcAft>
                  <a:spcPts val="0"/>
                </a:spcAft>
                <a:buClr>
                  <a:schemeClr val="dk1"/>
                </a:buClr>
                <a:buSzPts val="1006"/>
                <a:buFont typeface="Arial"/>
                <a:buNone/>
              </a:pPr>
              <a:r>
                <a:rPr lang="en" sz="549" dirty="0">
                  <a:solidFill>
                    <a:schemeClr val="dk1"/>
                  </a:solidFill>
                </a:rPr>
                <a:t>   </a:t>
              </a:r>
              <a:r>
                <a:rPr lang="en" sz="549" dirty="0">
                  <a:solidFill>
                    <a:srgbClr val="1F2328"/>
                  </a:solidFill>
                </a:rPr>
                <a:t>           test-coverage/test-coverage(4.4)</a:t>
              </a:r>
              <a:endParaRPr sz="1280" dirty="0"/>
            </a:p>
          </p:txBody>
        </p:sp>
        <p:sp>
          <p:nvSpPr>
            <p:cNvPr id="57" name="Google Shape;263;p16">
              <a:extLst>
                <a:ext uri="{FF2B5EF4-FFF2-40B4-BE49-F238E27FC236}">
                  <a16:creationId xmlns:a16="http://schemas.microsoft.com/office/drawing/2014/main" id="{E2A02709-72C3-68C9-94CE-93CF4280ABFF}"/>
                </a:ext>
              </a:extLst>
            </p:cNvPr>
            <p:cNvSpPr/>
            <p:nvPr/>
          </p:nvSpPr>
          <p:spPr>
            <a:xfrm>
              <a:off x="6436799" y="644165"/>
              <a:ext cx="108300" cy="106500"/>
            </a:xfrm>
            <a:prstGeom prst="roundRect">
              <a:avLst>
                <a:gd name="adj" fmla="val 16667"/>
              </a:avLst>
            </a:prstGeom>
            <a:solidFill>
              <a:schemeClr val="dk1"/>
            </a:solidFill>
            <a:ln w="8700" cap="flat" cmpd="sng">
              <a:solidFill>
                <a:schemeClr val="dk2"/>
              </a:solidFill>
              <a:prstDash val="solid"/>
              <a:round/>
              <a:headEnd type="none" w="sm" len="sm"/>
              <a:tailEnd type="none" w="sm" len="sm"/>
            </a:ln>
          </p:spPr>
          <p:txBody>
            <a:bodyPr spcFirstLastPara="1" wrap="square" lIns="83600" tIns="83600" rIns="83600" bIns="83600" anchor="ctr" anchorCtr="0">
              <a:noAutofit/>
            </a:bodyPr>
            <a:lstStyle/>
            <a:p>
              <a:pPr marL="0" lvl="0" indent="0" algn="l" rtl="0">
                <a:spcBef>
                  <a:spcPts val="0"/>
                </a:spcBef>
                <a:spcAft>
                  <a:spcPts val="0"/>
                </a:spcAft>
                <a:buNone/>
              </a:pPr>
              <a:endParaRPr sz="731">
                <a:solidFill>
                  <a:schemeClr val="lt1"/>
                </a:solidFill>
              </a:endParaRPr>
            </a:p>
          </p:txBody>
        </p:sp>
        <p:sp>
          <p:nvSpPr>
            <p:cNvPr id="58" name="Google Shape;264;p16">
              <a:extLst>
                <a:ext uri="{FF2B5EF4-FFF2-40B4-BE49-F238E27FC236}">
                  <a16:creationId xmlns:a16="http://schemas.microsoft.com/office/drawing/2014/main" id="{485F7775-72C5-1223-63AE-51C69F935802}"/>
                </a:ext>
              </a:extLst>
            </p:cNvPr>
            <p:cNvSpPr txBox="1"/>
            <p:nvPr/>
          </p:nvSpPr>
          <p:spPr>
            <a:xfrm>
              <a:off x="1986844" y="2862034"/>
              <a:ext cx="272400" cy="152100"/>
            </a:xfrm>
            <a:prstGeom prst="rect">
              <a:avLst/>
            </a:prstGeom>
            <a:noFill/>
            <a:ln>
              <a:noFill/>
            </a:ln>
          </p:spPr>
          <p:txBody>
            <a:bodyPr spcFirstLastPara="1" wrap="square" lIns="83600" tIns="83600" rIns="83600" bIns="83600" anchor="t" anchorCtr="0">
              <a:noAutofit/>
            </a:bodyPr>
            <a:lstStyle/>
            <a:p>
              <a:pPr marL="0" lvl="0" indent="0" algn="l" rtl="0">
                <a:spcBef>
                  <a:spcPts val="0"/>
                </a:spcBef>
                <a:spcAft>
                  <a:spcPts val="0"/>
                </a:spcAft>
                <a:buNone/>
              </a:pPr>
              <a:r>
                <a:rPr lang="en" sz="457">
                  <a:solidFill>
                    <a:schemeClr val="lt1"/>
                  </a:solidFill>
                </a:rPr>
                <a:t>GH</a:t>
              </a:r>
              <a:endParaRPr sz="457">
                <a:solidFill>
                  <a:schemeClr val="lt1"/>
                </a:solidFill>
              </a:endParaRPr>
            </a:p>
          </p:txBody>
        </p:sp>
        <p:sp>
          <p:nvSpPr>
            <p:cNvPr id="59" name="Google Shape;265;p16">
              <a:extLst>
                <a:ext uri="{FF2B5EF4-FFF2-40B4-BE49-F238E27FC236}">
                  <a16:creationId xmlns:a16="http://schemas.microsoft.com/office/drawing/2014/main" id="{B5783AB6-E5C9-A0FC-0F7A-559FEFAB7D11}"/>
                </a:ext>
              </a:extLst>
            </p:cNvPr>
            <p:cNvSpPr/>
            <p:nvPr/>
          </p:nvSpPr>
          <p:spPr>
            <a:xfrm>
              <a:off x="6354723" y="581715"/>
              <a:ext cx="1385400" cy="260100"/>
            </a:xfrm>
            <a:prstGeom prst="rect">
              <a:avLst/>
            </a:prstGeom>
            <a:noFill/>
            <a:ln w="28575" cap="flat" cmpd="sng">
              <a:solidFill>
                <a:srgbClr val="1B131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 name="Google Shape;266;p16">
              <a:extLst>
                <a:ext uri="{FF2B5EF4-FFF2-40B4-BE49-F238E27FC236}">
                  <a16:creationId xmlns:a16="http://schemas.microsoft.com/office/drawing/2014/main" id="{9A48D63E-AB20-89A0-18AA-C4E76B35AB69}"/>
                </a:ext>
              </a:extLst>
            </p:cNvPr>
            <p:cNvSpPr txBox="1"/>
            <p:nvPr/>
          </p:nvSpPr>
          <p:spPr>
            <a:xfrm>
              <a:off x="6031708" y="748992"/>
              <a:ext cx="1772700" cy="491700"/>
            </a:xfrm>
            <a:prstGeom prst="rect">
              <a:avLst/>
            </a:prstGeom>
            <a:noFill/>
            <a:ln>
              <a:noFill/>
            </a:ln>
          </p:spPr>
          <p:txBody>
            <a:bodyPr spcFirstLastPara="1" wrap="square" lIns="193300" tIns="193300" rIns="193300" bIns="193300" anchor="t" anchorCtr="0">
              <a:noAutofit/>
            </a:bodyPr>
            <a:lstStyle/>
            <a:p>
              <a:pPr marL="0" lvl="0" indent="0" algn="ctr" rtl="0">
                <a:spcBef>
                  <a:spcPts val="0"/>
                </a:spcBef>
                <a:spcAft>
                  <a:spcPts val="0"/>
                </a:spcAft>
                <a:buNone/>
              </a:pPr>
              <a:r>
                <a:rPr lang="en" sz="1415">
                  <a:solidFill>
                    <a:schemeClr val="dk1"/>
                  </a:solidFill>
                </a:rPr>
                <a:t>GitHub Actions</a:t>
              </a:r>
              <a:endParaRPr sz="1415" dirty="0">
                <a:solidFill>
                  <a:schemeClr val="dk1"/>
                </a:solidFill>
              </a:endParaRPr>
            </a:p>
          </p:txBody>
        </p:sp>
        <p:pic>
          <p:nvPicPr>
            <p:cNvPr id="61" name="Google Shape;267;p16">
              <a:extLst>
                <a:ext uri="{FF2B5EF4-FFF2-40B4-BE49-F238E27FC236}">
                  <a16:creationId xmlns:a16="http://schemas.microsoft.com/office/drawing/2014/main" id="{71317E89-369F-8A2D-08E6-D4307E0656C3}"/>
                </a:ext>
              </a:extLst>
            </p:cNvPr>
            <p:cNvPicPr preferRelativeResize="0"/>
            <p:nvPr/>
          </p:nvPicPr>
          <p:blipFill>
            <a:blip r:embed="rId14">
              <a:alphaModFix/>
            </a:blip>
            <a:stretch>
              <a:fillRect/>
            </a:stretch>
          </p:blipFill>
          <p:spPr>
            <a:xfrm>
              <a:off x="5483063" y="2242200"/>
              <a:ext cx="866775" cy="1657350"/>
            </a:xfrm>
            <a:prstGeom prst="rect">
              <a:avLst/>
            </a:prstGeom>
            <a:noFill/>
            <a:ln>
              <a:noFill/>
            </a:ln>
          </p:spPr>
        </p:pic>
        <p:sp>
          <p:nvSpPr>
            <p:cNvPr id="62" name="Google Shape;268;p16">
              <a:extLst>
                <a:ext uri="{FF2B5EF4-FFF2-40B4-BE49-F238E27FC236}">
                  <a16:creationId xmlns:a16="http://schemas.microsoft.com/office/drawing/2014/main" id="{1F9FA33D-6C12-C185-6F45-588F4763B849}"/>
                </a:ext>
              </a:extLst>
            </p:cNvPr>
            <p:cNvSpPr txBox="1"/>
            <p:nvPr/>
          </p:nvSpPr>
          <p:spPr>
            <a:xfrm>
              <a:off x="6414388" y="2030763"/>
              <a:ext cx="2174700" cy="141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1B1311"/>
                  </a:solidFill>
                </a:rPr>
                <a:t>Commit # 1cd3f7c</a:t>
              </a:r>
              <a:endParaRPr sz="1300">
                <a:solidFill>
                  <a:srgbClr val="1B1311"/>
                </a:solidFill>
              </a:endParaRPr>
            </a:p>
            <a:p>
              <a:pPr marL="0" lvl="0" indent="0" algn="l" rtl="0">
                <a:spcBef>
                  <a:spcPts val="0"/>
                </a:spcBef>
                <a:spcAft>
                  <a:spcPts val="0"/>
                </a:spcAft>
                <a:buNone/>
              </a:pPr>
              <a:endParaRPr sz="1300">
                <a:solidFill>
                  <a:srgbClr val="1B1311"/>
                </a:solidFill>
              </a:endParaRPr>
            </a:p>
            <a:p>
              <a:pPr marL="0" lvl="0" indent="0" algn="l" rtl="0">
                <a:spcBef>
                  <a:spcPts val="0"/>
                </a:spcBef>
                <a:spcAft>
                  <a:spcPts val="0"/>
                </a:spcAft>
                <a:buClr>
                  <a:schemeClr val="dk1"/>
                </a:buClr>
                <a:buSzPts val="1100"/>
                <a:buFont typeface="Arial"/>
                <a:buNone/>
              </a:pPr>
              <a:r>
                <a:rPr lang="en" sz="1300">
                  <a:solidFill>
                    <a:srgbClr val="1B1311"/>
                  </a:solidFill>
                </a:rPr>
                <a:t>Commit # e637da5</a:t>
              </a:r>
              <a:endParaRPr sz="1300">
                <a:solidFill>
                  <a:srgbClr val="1B1311"/>
                </a:solidFill>
              </a:endParaRPr>
            </a:p>
            <a:p>
              <a:pPr marL="0" lvl="0" indent="0" algn="l" rtl="0">
                <a:spcBef>
                  <a:spcPts val="0"/>
                </a:spcBef>
                <a:spcAft>
                  <a:spcPts val="0"/>
                </a:spcAft>
                <a:buNone/>
              </a:pPr>
              <a:endParaRPr sz="1300">
                <a:solidFill>
                  <a:srgbClr val="1B1311"/>
                </a:solidFill>
              </a:endParaRPr>
            </a:p>
            <a:p>
              <a:pPr marL="0" lvl="0" indent="0" algn="l" rtl="0">
                <a:spcBef>
                  <a:spcPts val="0"/>
                </a:spcBef>
                <a:spcAft>
                  <a:spcPts val="0"/>
                </a:spcAft>
                <a:buClr>
                  <a:schemeClr val="dk1"/>
                </a:buClr>
                <a:buSzPts val="1100"/>
                <a:buFont typeface="Arial"/>
                <a:buNone/>
              </a:pPr>
              <a:r>
                <a:rPr lang="en" sz="1300">
                  <a:solidFill>
                    <a:srgbClr val="1B1311"/>
                  </a:solidFill>
                </a:rPr>
                <a:t>Commit # 18f1d2d</a:t>
              </a:r>
              <a:endParaRPr sz="1300">
                <a:solidFill>
                  <a:srgbClr val="1B1311"/>
                </a:solidFill>
              </a:endParaRPr>
            </a:p>
            <a:p>
              <a:pPr marL="0" lvl="0" indent="0" algn="l" rtl="0">
                <a:spcBef>
                  <a:spcPts val="0"/>
                </a:spcBef>
                <a:spcAft>
                  <a:spcPts val="0"/>
                </a:spcAft>
                <a:buNone/>
              </a:pPr>
              <a:endParaRPr sz="1300">
                <a:solidFill>
                  <a:srgbClr val="1B1311"/>
                </a:solidFill>
              </a:endParaRPr>
            </a:p>
          </p:txBody>
        </p:sp>
        <p:sp>
          <p:nvSpPr>
            <p:cNvPr id="63" name="Google Shape;270;p16">
              <a:extLst>
                <a:ext uri="{FF2B5EF4-FFF2-40B4-BE49-F238E27FC236}">
                  <a16:creationId xmlns:a16="http://schemas.microsoft.com/office/drawing/2014/main" id="{2572133E-55C8-3A0A-62AF-024DE3FB10D0}"/>
                </a:ext>
              </a:extLst>
            </p:cNvPr>
            <p:cNvSpPr/>
            <p:nvPr/>
          </p:nvSpPr>
          <p:spPr>
            <a:xfrm>
              <a:off x="5260875" y="1243951"/>
              <a:ext cx="1385400" cy="3411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 Commits</a:t>
              </a:r>
              <a:endParaRPr/>
            </a:p>
          </p:txBody>
        </p:sp>
        <p:cxnSp>
          <p:nvCxnSpPr>
            <p:cNvPr id="448" name="Google Shape;271;p16">
              <a:extLst>
                <a:ext uri="{FF2B5EF4-FFF2-40B4-BE49-F238E27FC236}">
                  <a16:creationId xmlns:a16="http://schemas.microsoft.com/office/drawing/2014/main" id="{AD9FF8CB-3FA9-DA39-74AA-C333AA661DDB}"/>
                </a:ext>
              </a:extLst>
            </p:cNvPr>
            <p:cNvCxnSpPr/>
            <p:nvPr/>
          </p:nvCxnSpPr>
          <p:spPr>
            <a:xfrm>
              <a:off x="4176175" y="1585050"/>
              <a:ext cx="4240500" cy="0"/>
            </a:xfrm>
            <a:prstGeom prst="straightConnector1">
              <a:avLst/>
            </a:prstGeom>
            <a:noFill/>
            <a:ln w="9525" cap="flat" cmpd="sng">
              <a:solidFill>
                <a:schemeClr val="dk2"/>
              </a:solidFill>
              <a:prstDash val="solid"/>
              <a:round/>
              <a:headEnd type="none" w="med" len="med"/>
              <a:tailEnd type="none" w="med" len="med"/>
            </a:ln>
          </p:spPr>
        </p:cxnSp>
        <p:pic>
          <p:nvPicPr>
            <p:cNvPr id="449" name="Google Shape;272;p16">
              <a:extLst>
                <a:ext uri="{FF2B5EF4-FFF2-40B4-BE49-F238E27FC236}">
                  <a16:creationId xmlns:a16="http://schemas.microsoft.com/office/drawing/2014/main" id="{5EB04C87-1184-FC38-ACDF-9129A743C4B3}"/>
                </a:ext>
              </a:extLst>
            </p:cNvPr>
            <p:cNvPicPr preferRelativeResize="0"/>
            <p:nvPr/>
          </p:nvPicPr>
          <p:blipFill rotWithShape="1">
            <a:blip r:embed="rId15">
              <a:alphaModFix/>
            </a:blip>
            <a:srcRect l="31687" t="4056" r="63774" b="89379"/>
            <a:stretch/>
          </p:blipFill>
          <p:spPr>
            <a:xfrm>
              <a:off x="5334875" y="1316865"/>
              <a:ext cx="280500" cy="195264"/>
            </a:xfrm>
            <a:prstGeom prst="rect">
              <a:avLst/>
            </a:prstGeom>
            <a:noFill/>
            <a:ln>
              <a:noFill/>
            </a:ln>
          </p:spPr>
        </p:pic>
        <p:pic>
          <p:nvPicPr>
            <p:cNvPr id="450" name="Google Shape;273;p16">
              <a:extLst>
                <a:ext uri="{FF2B5EF4-FFF2-40B4-BE49-F238E27FC236}">
                  <a16:creationId xmlns:a16="http://schemas.microsoft.com/office/drawing/2014/main" id="{54CB3BDE-B9E9-88B6-0419-125CAF6A03E2}"/>
                </a:ext>
              </a:extLst>
            </p:cNvPr>
            <p:cNvPicPr preferRelativeResize="0"/>
            <p:nvPr/>
          </p:nvPicPr>
          <p:blipFill rotWithShape="1">
            <a:blip r:embed="rId15">
              <a:alphaModFix/>
            </a:blip>
            <a:srcRect l="54814" r="5216" b="87027"/>
            <a:stretch/>
          </p:blipFill>
          <p:spPr>
            <a:xfrm>
              <a:off x="6792187" y="1267788"/>
              <a:ext cx="1665250" cy="260125"/>
            </a:xfrm>
            <a:prstGeom prst="rect">
              <a:avLst/>
            </a:prstGeom>
            <a:noFill/>
            <a:ln>
              <a:noFill/>
            </a:ln>
          </p:spPr>
        </p:pic>
        <p:pic>
          <p:nvPicPr>
            <p:cNvPr id="451" name="Google Shape;274;p16">
              <a:extLst>
                <a:ext uri="{FF2B5EF4-FFF2-40B4-BE49-F238E27FC236}">
                  <a16:creationId xmlns:a16="http://schemas.microsoft.com/office/drawing/2014/main" id="{360BF0A8-69B3-1A2D-DF56-CBF4E755B405}"/>
                </a:ext>
              </a:extLst>
            </p:cNvPr>
            <p:cNvPicPr preferRelativeResize="0"/>
            <p:nvPr/>
          </p:nvPicPr>
          <p:blipFill>
            <a:blip r:embed="rId16">
              <a:alphaModFix/>
            </a:blip>
            <a:stretch>
              <a:fillRect/>
            </a:stretch>
          </p:blipFill>
          <p:spPr>
            <a:xfrm>
              <a:off x="7316475" y="1274025"/>
              <a:ext cx="304800" cy="247650"/>
            </a:xfrm>
            <a:prstGeom prst="rect">
              <a:avLst/>
            </a:prstGeom>
            <a:noFill/>
            <a:ln>
              <a:noFill/>
            </a:ln>
          </p:spPr>
        </p:pic>
        <p:pic>
          <p:nvPicPr>
            <p:cNvPr id="452" name="Google Shape;275;p16">
              <a:extLst>
                <a:ext uri="{FF2B5EF4-FFF2-40B4-BE49-F238E27FC236}">
                  <a16:creationId xmlns:a16="http://schemas.microsoft.com/office/drawing/2014/main" id="{9215ACC9-4DDC-483E-52BD-52323286B89C}"/>
                </a:ext>
              </a:extLst>
            </p:cNvPr>
            <p:cNvPicPr preferRelativeResize="0"/>
            <p:nvPr/>
          </p:nvPicPr>
          <p:blipFill>
            <a:blip r:embed="rId17">
              <a:alphaModFix/>
            </a:blip>
            <a:stretch>
              <a:fillRect/>
            </a:stretch>
          </p:blipFill>
          <p:spPr>
            <a:xfrm>
              <a:off x="4248200" y="1348121"/>
              <a:ext cx="866775" cy="164162"/>
            </a:xfrm>
            <a:prstGeom prst="rect">
              <a:avLst/>
            </a:prstGeom>
            <a:noFill/>
            <a:ln>
              <a:noFill/>
            </a:ln>
          </p:spPr>
        </p:pic>
        <p:sp>
          <p:nvSpPr>
            <p:cNvPr id="453" name="Google Shape;276;p16">
              <a:extLst>
                <a:ext uri="{FF2B5EF4-FFF2-40B4-BE49-F238E27FC236}">
                  <a16:creationId xmlns:a16="http://schemas.microsoft.com/office/drawing/2014/main" id="{10F38125-4DA1-F0D4-4BB9-7558B90BC45D}"/>
                </a:ext>
              </a:extLst>
            </p:cNvPr>
            <p:cNvSpPr txBox="1"/>
            <p:nvPr/>
          </p:nvSpPr>
          <p:spPr>
            <a:xfrm>
              <a:off x="4494675" y="1655875"/>
              <a:ext cx="1424100" cy="23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a:solidFill>
                    <a:schemeClr val="dk2"/>
                  </a:solidFill>
                </a:rPr>
                <a:t>Commits on Mar 8, 2026</a:t>
              </a:r>
              <a:endParaRPr sz="800">
                <a:solidFill>
                  <a:schemeClr val="dk2"/>
                </a:solidFill>
              </a:endParaRPr>
            </a:p>
          </p:txBody>
        </p:sp>
        <p:pic>
          <p:nvPicPr>
            <p:cNvPr id="454" name="Google Shape;277;p16">
              <a:extLst>
                <a:ext uri="{FF2B5EF4-FFF2-40B4-BE49-F238E27FC236}">
                  <a16:creationId xmlns:a16="http://schemas.microsoft.com/office/drawing/2014/main" id="{3FA00A15-1F48-3E5C-B639-0430E15EBFA4}"/>
                </a:ext>
              </a:extLst>
            </p:cNvPr>
            <p:cNvPicPr preferRelativeResize="0"/>
            <p:nvPr/>
          </p:nvPicPr>
          <p:blipFill>
            <a:blip r:embed="rId18">
              <a:alphaModFix/>
            </a:blip>
            <a:stretch>
              <a:fillRect/>
            </a:stretch>
          </p:blipFill>
          <p:spPr>
            <a:xfrm>
              <a:off x="4342672" y="1699788"/>
              <a:ext cx="189125" cy="143474"/>
            </a:xfrm>
            <a:prstGeom prst="rect">
              <a:avLst/>
            </a:prstGeom>
            <a:noFill/>
            <a:ln>
              <a:noFill/>
            </a:ln>
          </p:spPr>
        </p:pic>
        <p:sp>
          <p:nvSpPr>
            <p:cNvPr id="455" name="Google Shape;278;p16">
              <a:extLst>
                <a:ext uri="{FF2B5EF4-FFF2-40B4-BE49-F238E27FC236}">
                  <a16:creationId xmlns:a16="http://schemas.microsoft.com/office/drawing/2014/main" id="{D8ED0A9E-34EF-E3EB-7D30-E0B2C40BC33E}"/>
                </a:ext>
              </a:extLst>
            </p:cNvPr>
            <p:cNvSpPr/>
            <p:nvPr/>
          </p:nvSpPr>
          <p:spPr>
            <a:xfrm>
              <a:off x="4614900" y="2154725"/>
              <a:ext cx="3411000" cy="1555500"/>
            </a:xfrm>
            <a:prstGeom prst="roundRect">
              <a:avLst>
                <a:gd name="adj" fmla="val 7729"/>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456" name="Google Shape;279;p16">
              <a:extLst>
                <a:ext uri="{FF2B5EF4-FFF2-40B4-BE49-F238E27FC236}">
                  <a16:creationId xmlns:a16="http://schemas.microsoft.com/office/drawing/2014/main" id="{728527B2-D4F4-EB71-EDAE-5DC42D977DCD}"/>
                </a:ext>
              </a:extLst>
            </p:cNvPr>
            <p:cNvCxnSpPr/>
            <p:nvPr/>
          </p:nvCxnSpPr>
          <p:spPr>
            <a:xfrm>
              <a:off x="4618800" y="2662763"/>
              <a:ext cx="3403200" cy="0"/>
            </a:xfrm>
            <a:prstGeom prst="straightConnector1">
              <a:avLst/>
            </a:prstGeom>
            <a:noFill/>
            <a:ln w="9525" cap="flat" cmpd="sng">
              <a:solidFill>
                <a:schemeClr val="dk2"/>
              </a:solidFill>
              <a:prstDash val="solid"/>
              <a:round/>
              <a:headEnd type="none" w="med" len="med"/>
              <a:tailEnd type="none" w="med" len="med"/>
            </a:ln>
          </p:spPr>
        </p:cxnSp>
        <p:cxnSp>
          <p:nvCxnSpPr>
            <p:cNvPr id="457" name="Google Shape;280;p16">
              <a:extLst>
                <a:ext uri="{FF2B5EF4-FFF2-40B4-BE49-F238E27FC236}">
                  <a16:creationId xmlns:a16="http://schemas.microsoft.com/office/drawing/2014/main" id="{EA562150-AC6D-DA17-4931-B2D0E1CCD58C}"/>
                </a:ext>
              </a:extLst>
            </p:cNvPr>
            <p:cNvCxnSpPr/>
            <p:nvPr/>
          </p:nvCxnSpPr>
          <p:spPr>
            <a:xfrm>
              <a:off x="4618800" y="3217275"/>
              <a:ext cx="3403200" cy="0"/>
            </a:xfrm>
            <a:prstGeom prst="straightConnector1">
              <a:avLst/>
            </a:prstGeom>
            <a:noFill/>
            <a:ln w="9525" cap="flat" cmpd="sng">
              <a:solidFill>
                <a:schemeClr val="dk2"/>
              </a:solidFill>
              <a:prstDash val="solid"/>
              <a:round/>
              <a:headEnd type="none" w="med" len="med"/>
              <a:tailEnd type="none" w="med" len="med"/>
            </a:ln>
          </p:spPr>
        </p:cxnSp>
        <p:cxnSp>
          <p:nvCxnSpPr>
            <p:cNvPr id="458" name="Google Shape;281;p16">
              <a:extLst>
                <a:ext uri="{FF2B5EF4-FFF2-40B4-BE49-F238E27FC236}">
                  <a16:creationId xmlns:a16="http://schemas.microsoft.com/office/drawing/2014/main" id="{0EB07379-A964-40BB-F636-1E5F7E41F190}"/>
                </a:ext>
              </a:extLst>
            </p:cNvPr>
            <p:cNvCxnSpPr/>
            <p:nvPr/>
          </p:nvCxnSpPr>
          <p:spPr>
            <a:xfrm>
              <a:off x="4437450" y="2024325"/>
              <a:ext cx="0" cy="1815300"/>
            </a:xfrm>
            <a:prstGeom prst="straightConnector1">
              <a:avLst/>
            </a:prstGeom>
            <a:noFill/>
            <a:ln w="9525" cap="flat" cmpd="sng">
              <a:solidFill>
                <a:schemeClr val="dk2"/>
              </a:solidFill>
              <a:prstDash val="solid"/>
              <a:round/>
              <a:headEnd type="none" w="med" len="med"/>
              <a:tailEnd type="none" w="med" len="med"/>
            </a:ln>
          </p:spPr>
        </p:cxnSp>
        <p:sp>
          <p:nvSpPr>
            <p:cNvPr id="459" name="Google Shape;282;p16">
              <a:extLst>
                <a:ext uri="{FF2B5EF4-FFF2-40B4-BE49-F238E27FC236}">
                  <a16:creationId xmlns:a16="http://schemas.microsoft.com/office/drawing/2014/main" id="{5D563837-BA3E-7B60-DF92-41F9D7812DC8}"/>
                </a:ext>
              </a:extLst>
            </p:cNvPr>
            <p:cNvSpPr txBox="1"/>
            <p:nvPr/>
          </p:nvSpPr>
          <p:spPr>
            <a:xfrm>
              <a:off x="4614900" y="2598600"/>
              <a:ext cx="2381400" cy="38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rgbClr val="1B1311"/>
                  </a:solidFill>
                </a:rPr>
                <a:t>Add new Example function</a:t>
              </a:r>
              <a:endParaRPr sz="1200">
                <a:solidFill>
                  <a:srgbClr val="B7B7B7"/>
                </a:solidFill>
              </a:endParaRPr>
            </a:p>
          </p:txBody>
        </p:sp>
        <p:sp>
          <p:nvSpPr>
            <p:cNvPr id="460" name="Google Shape;283;p16">
              <a:extLst>
                <a:ext uri="{FF2B5EF4-FFF2-40B4-BE49-F238E27FC236}">
                  <a16:creationId xmlns:a16="http://schemas.microsoft.com/office/drawing/2014/main" id="{30E9136E-C43C-E93C-D2E8-906F5DF1899E}"/>
                </a:ext>
              </a:extLst>
            </p:cNvPr>
            <p:cNvSpPr txBox="1"/>
            <p:nvPr/>
          </p:nvSpPr>
          <p:spPr>
            <a:xfrm>
              <a:off x="4618800" y="3184950"/>
              <a:ext cx="2122800" cy="38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1B1311"/>
                  </a:solidFill>
                </a:rPr>
                <a:t>Fix edge case in parser</a:t>
              </a:r>
              <a:endParaRPr sz="1200">
                <a:solidFill>
                  <a:srgbClr val="B7B7B7"/>
                </a:solidFill>
              </a:endParaRPr>
            </a:p>
          </p:txBody>
        </p:sp>
        <p:sp>
          <p:nvSpPr>
            <p:cNvPr id="461" name="Google Shape;284;p16">
              <a:extLst>
                <a:ext uri="{FF2B5EF4-FFF2-40B4-BE49-F238E27FC236}">
                  <a16:creationId xmlns:a16="http://schemas.microsoft.com/office/drawing/2014/main" id="{DB881958-D42A-E8A7-A038-D3971C02598A}"/>
                </a:ext>
              </a:extLst>
            </p:cNvPr>
            <p:cNvSpPr txBox="1"/>
            <p:nvPr/>
          </p:nvSpPr>
          <p:spPr>
            <a:xfrm>
              <a:off x="4614900" y="2083413"/>
              <a:ext cx="2497200" cy="38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1B1311"/>
                  </a:solidFill>
                </a:rPr>
                <a:t>Create new transform tests</a:t>
              </a:r>
              <a:endParaRPr sz="100">
                <a:solidFill>
                  <a:srgbClr val="B7B7B7"/>
                </a:solidFill>
              </a:endParaRPr>
            </a:p>
          </p:txBody>
        </p:sp>
        <p:sp>
          <p:nvSpPr>
            <p:cNvPr id="462" name="Google Shape;285;p16">
              <a:extLst>
                <a:ext uri="{FF2B5EF4-FFF2-40B4-BE49-F238E27FC236}">
                  <a16:creationId xmlns:a16="http://schemas.microsoft.com/office/drawing/2014/main" id="{84D2E65D-8C81-C0F9-18F3-C435AD2FE424}"/>
                </a:ext>
              </a:extLst>
            </p:cNvPr>
            <p:cNvSpPr txBox="1"/>
            <p:nvPr/>
          </p:nvSpPr>
          <p:spPr>
            <a:xfrm>
              <a:off x="4600650" y="3319550"/>
              <a:ext cx="1930200" cy="38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1B1311"/>
                  </a:solidFill>
                </a:rPr>
                <a:t>   </a:t>
              </a:r>
              <a:r>
                <a:rPr lang="en" sz="700" b="1">
                  <a:solidFill>
                    <a:srgbClr val="B7B7B7"/>
                  </a:solidFill>
                </a:rPr>
                <a:t>Username</a:t>
              </a:r>
              <a:r>
                <a:rPr lang="en" sz="700">
                  <a:solidFill>
                    <a:srgbClr val="B7B7B7"/>
                  </a:solidFill>
                </a:rPr>
                <a:t> authored on Mar 8</a:t>
              </a:r>
              <a:endParaRPr sz="1800">
                <a:solidFill>
                  <a:schemeClr val="dk2"/>
                </a:solidFill>
              </a:endParaRPr>
            </a:p>
          </p:txBody>
        </p:sp>
        <p:sp>
          <p:nvSpPr>
            <p:cNvPr id="463" name="Google Shape;286;p16">
              <a:extLst>
                <a:ext uri="{FF2B5EF4-FFF2-40B4-BE49-F238E27FC236}">
                  <a16:creationId xmlns:a16="http://schemas.microsoft.com/office/drawing/2014/main" id="{19A2F643-763E-94DA-BECD-FE95A6662B58}"/>
                </a:ext>
              </a:extLst>
            </p:cNvPr>
            <p:cNvSpPr txBox="1"/>
            <p:nvPr/>
          </p:nvSpPr>
          <p:spPr>
            <a:xfrm>
              <a:off x="4600650" y="2748475"/>
              <a:ext cx="1930200" cy="38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1B1311"/>
                  </a:solidFill>
                </a:rPr>
                <a:t>   </a:t>
              </a:r>
              <a:r>
                <a:rPr lang="en" sz="700" b="1">
                  <a:solidFill>
                    <a:srgbClr val="B7B7B7"/>
                  </a:solidFill>
                </a:rPr>
                <a:t>Username</a:t>
              </a:r>
              <a:r>
                <a:rPr lang="en" sz="700">
                  <a:solidFill>
                    <a:srgbClr val="B7B7B7"/>
                  </a:solidFill>
                </a:rPr>
                <a:t> authored on Mar 8</a:t>
              </a:r>
              <a:endParaRPr sz="1800">
                <a:solidFill>
                  <a:schemeClr val="dk2"/>
                </a:solidFill>
              </a:endParaRPr>
            </a:p>
          </p:txBody>
        </p:sp>
        <p:sp>
          <p:nvSpPr>
            <p:cNvPr id="464" name="Google Shape;287;p16">
              <a:extLst>
                <a:ext uri="{FF2B5EF4-FFF2-40B4-BE49-F238E27FC236}">
                  <a16:creationId xmlns:a16="http://schemas.microsoft.com/office/drawing/2014/main" id="{0D6E19DD-0C20-8C4E-0841-E438F7C38BA0}"/>
                </a:ext>
              </a:extLst>
            </p:cNvPr>
            <p:cNvSpPr txBox="1"/>
            <p:nvPr/>
          </p:nvSpPr>
          <p:spPr>
            <a:xfrm>
              <a:off x="4614900" y="2209600"/>
              <a:ext cx="1930200" cy="38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rgbClr val="1B1311"/>
                  </a:solidFill>
                </a:rPr>
                <a:t>   </a:t>
              </a:r>
              <a:r>
                <a:rPr lang="en" sz="700" b="1" dirty="0">
                  <a:solidFill>
                    <a:srgbClr val="B7B7B7"/>
                  </a:solidFill>
                </a:rPr>
                <a:t>Username</a:t>
              </a:r>
              <a:r>
                <a:rPr lang="en" sz="700" dirty="0">
                  <a:solidFill>
                    <a:srgbClr val="B7B7B7"/>
                  </a:solidFill>
                </a:rPr>
                <a:t> authored on Mar 8</a:t>
              </a:r>
              <a:endParaRPr sz="1800" dirty="0">
                <a:solidFill>
                  <a:schemeClr val="dk2"/>
                </a:solidFill>
              </a:endParaRPr>
            </a:p>
          </p:txBody>
        </p:sp>
        <p:pic>
          <p:nvPicPr>
            <p:cNvPr id="465" name="Google Shape;288;p16">
              <a:extLst>
                <a:ext uri="{FF2B5EF4-FFF2-40B4-BE49-F238E27FC236}">
                  <a16:creationId xmlns:a16="http://schemas.microsoft.com/office/drawing/2014/main" id="{38D97C98-84E9-7CA2-0B03-685E6C265F11}"/>
                </a:ext>
              </a:extLst>
            </p:cNvPr>
            <p:cNvPicPr preferRelativeResize="0"/>
            <p:nvPr/>
          </p:nvPicPr>
          <p:blipFill>
            <a:blip r:embed="rId19">
              <a:alphaModFix/>
            </a:blip>
            <a:stretch>
              <a:fillRect/>
            </a:stretch>
          </p:blipFill>
          <p:spPr>
            <a:xfrm>
              <a:off x="4686850" y="3498349"/>
              <a:ext cx="189125" cy="159774"/>
            </a:xfrm>
            <a:prstGeom prst="rect">
              <a:avLst/>
            </a:prstGeom>
            <a:noFill/>
            <a:ln>
              <a:noFill/>
            </a:ln>
          </p:spPr>
        </p:pic>
        <p:pic>
          <p:nvPicPr>
            <p:cNvPr id="466" name="Google Shape;289;p16">
              <a:extLst>
                <a:ext uri="{FF2B5EF4-FFF2-40B4-BE49-F238E27FC236}">
                  <a16:creationId xmlns:a16="http://schemas.microsoft.com/office/drawing/2014/main" id="{1CCF2E29-9E6C-80FC-36F4-EB94E431B3D0}"/>
                </a:ext>
              </a:extLst>
            </p:cNvPr>
            <p:cNvPicPr preferRelativeResize="0"/>
            <p:nvPr/>
          </p:nvPicPr>
          <p:blipFill>
            <a:blip r:embed="rId19">
              <a:alphaModFix/>
            </a:blip>
            <a:stretch>
              <a:fillRect/>
            </a:stretch>
          </p:blipFill>
          <p:spPr>
            <a:xfrm>
              <a:off x="4691900" y="2911287"/>
              <a:ext cx="189125" cy="159774"/>
            </a:xfrm>
            <a:prstGeom prst="rect">
              <a:avLst/>
            </a:prstGeom>
            <a:noFill/>
            <a:ln>
              <a:noFill/>
            </a:ln>
          </p:spPr>
        </p:pic>
        <p:pic>
          <p:nvPicPr>
            <p:cNvPr id="467" name="Google Shape;290;p16">
              <a:extLst>
                <a:ext uri="{FF2B5EF4-FFF2-40B4-BE49-F238E27FC236}">
                  <a16:creationId xmlns:a16="http://schemas.microsoft.com/office/drawing/2014/main" id="{FEDF5446-434E-4584-BEAD-15CB95361887}"/>
                </a:ext>
              </a:extLst>
            </p:cNvPr>
            <p:cNvPicPr preferRelativeResize="0"/>
            <p:nvPr/>
          </p:nvPicPr>
          <p:blipFill>
            <a:blip r:embed="rId19">
              <a:alphaModFix/>
            </a:blip>
            <a:stretch>
              <a:fillRect/>
            </a:stretch>
          </p:blipFill>
          <p:spPr>
            <a:xfrm>
              <a:off x="4691900" y="2372412"/>
              <a:ext cx="189125" cy="159774"/>
            </a:xfrm>
            <a:prstGeom prst="rect">
              <a:avLst/>
            </a:prstGeom>
            <a:noFill/>
            <a:ln>
              <a:noFill/>
            </a:ln>
          </p:spPr>
        </p:pic>
        <p:cxnSp>
          <p:nvCxnSpPr>
            <p:cNvPr id="469" name="Google Shape;292;p16">
              <a:extLst>
                <a:ext uri="{FF2B5EF4-FFF2-40B4-BE49-F238E27FC236}">
                  <a16:creationId xmlns:a16="http://schemas.microsoft.com/office/drawing/2014/main" id="{F46428AA-69DD-D3C4-E329-C7EC36A39203}"/>
                </a:ext>
              </a:extLst>
            </p:cNvPr>
            <p:cNvCxnSpPr>
              <a:cxnSpLocks/>
            </p:cNvCxnSpPr>
            <p:nvPr/>
          </p:nvCxnSpPr>
          <p:spPr>
            <a:xfrm flipH="1">
              <a:off x="8021999" y="2928015"/>
              <a:ext cx="543774" cy="0"/>
            </a:xfrm>
            <a:prstGeom prst="straightConnector1">
              <a:avLst/>
            </a:prstGeom>
            <a:noFill/>
            <a:ln w="9525" cap="flat" cmpd="sng">
              <a:solidFill>
                <a:srgbClr val="1B1311"/>
              </a:solidFill>
              <a:prstDash val="solid"/>
              <a:round/>
              <a:headEnd type="none" w="med" len="med"/>
              <a:tailEnd type="triangle" w="med" len="med"/>
            </a:ln>
          </p:spPr>
        </p:cxnSp>
        <p:cxnSp>
          <p:nvCxnSpPr>
            <p:cNvPr id="471" name="Google Shape;294;p16">
              <a:extLst>
                <a:ext uri="{FF2B5EF4-FFF2-40B4-BE49-F238E27FC236}">
                  <a16:creationId xmlns:a16="http://schemas.microsoft.com/office/drawing/2014/main" id="{1A94AC6F-DF7E-5040-4C91-E89F22D7FA09}"/>
                </a:ext>
              </a:extLst>
            </p:cNvPr>
            <p:cNvCxnSpPr>
              <a:cxnSpLocks/>
            </p:cNvCxnSpPr>
            <p:nvPr/>
          </p:nvCxnSpPr>
          <p:spPr>
            <a:xfrm>
              <a:off x="8595753" y="697415"/>
              <a:ext cx="0" cy="2751748"/>
            </a:xfrm>
            <a:prstGeom prst="straightConnector1">
              <a:avLst/>
            </a:prstGeom>
            <a:noFill/>
            <a:ln w="9525" cap="flat" cmpd="sng">
              <a:solidFill>
                <a:schemeClr val="dk2"/>
              </a:solidFill>
              <a:prstDash val="solid"/>
              <a:round/>
              <a:headEnd type="none" w="med" len="med"/>
              <a:tailEnd type="none" w="med" len="med"/>
            </a:ln>
          </p:spPr>
        </p:cxnSp>
      </p:grpSp>
      <p:sp>
        <p:nvSpPr>
          <p:cNvPr id="499" name="Line">
            <a:extLst>
              <a:ext uri="{FF2B5EF4-FFF2-40B4-BE49-F238E27FC236}">
                <a16:creationId xmlns:a16="http://schemas.microsoft.com/office/drawing/2014/main" id="{260A915C-206B-1143-EF7D-BE1AB7C89250}"/>
              </a:ext>
            </a:extLst>
          </p:cNvPr>
          <p:cNvSpPr/>
          <p:nvPr/>
        </p:nvSpPr>
        <p:spPr>
          <a:xfrm flipV="1">
            <a:off x="4614475" y="2424560"/>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500" name="Logistics">
            <a:extLst>
              <a:ext uri="{FF2B5EF4-FFF2-40B4-BE49-F238E27FC236}">
                <a16:creationId xmlns:a16="http://schemas.microsoft.com/office/drawing/2014/main" id="{F3B13CD3-B16E-B4A4-6847-CDF98616575D}"/>
              </a:ext>
            </a:extLst>
          </p:cNvPr>
          <p:cNvSpPr txBox="1"/>
          <p:nvPr/>
        </p:nvSpPr>
        <p:spPr>
          <a:xfrm>
            <a:off x="4480733" y="2024986"/>
            <a:ext cx="2026196"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GitHub Actions</a:t>
            </a:r>
          </a:p>
        </p:txBody>
      </p:sp>
      <p:cxnSp>
        <p:nvCxnSpPr>
          <p:cNvPr id="510" name="Google Shape;292;p16">
            <a:extLst>
              <a:ext uri="{FF2B5EF4-FFF2-40B4-BE49-F238E27FC236}">
                <a16:creationId xmlns:a16="http://schemas.microsoft.com/office/drawing/2014/main" id="{6740ABC8-059F-7994-228B-81A9D9ABF6B2}"/>
              </a:ext>
            </a:extLst>
          </p:cNvPr>
          <p:cNvCxnSpPr>
            <a:cxnSpLocks/>
          </p:cNvCxnSpPr>
          <p:nvPr/>
        </p:nvCxnSpPr>
        <p:spPr>
          <a:xfrm flipH="1">
            <a:off x="8337766" y="5502508"/>
            <a:ext cx="533067" cy="0"/>
          </a:xfrm>
          <a:prstGeom prst="straightConnector1">
            <a:avLst/>
          </a:prstGeom>
          <a:noFill/>
          <a:ln w="9525" cap="flat" cmpd="sng">
            <a:solidFill>
              <a:srgbClr val="1B1311"/>
            </a:solidFill>
            <a:prstDash val="solid"/>
            <a:round/>
            <a:headEnd type="none" w="med" len="med"/>
            <a:tailEnd type="triangle" w="med" len="med"/>
          </a:ln>
        </p:spPr>
      </p:cxnSp>
      <p:cxnSp>
        <p:nvCxnSpPr>
          <p:cNvPr id="511" name="Google Shape;292;p16">
            <a:extLst>
              <a:ext uri="{FF2B5EF4-FFF2-40B4-BE49-F238E27FC236}">
                <a16:creationId xmlns:a16="http://schemas.microsoft.com/office/drawing/2014/main" id="{376115C0-6BFB-47F7-05A2-2027EB616340}"/>
              </a:ext>
            </a:extLst>
          </p:cNvPr>
          <p:cNvCxnSpPr>
            <a:cxnSpLocks/>
          </p:cNvCxnSpPr>
          <p:nvPr/>
        </p:nvCxnSpPr>
        <p:spPr>
          <a:xfrm flipH="1">
            <a:off x="8337766" y="4482756"/>
            <a:ext cx="533067" cy="0"/>
          </a:xfrm>
          <a:prstGeom prst="straightConnector1">
            <a:avLst/>
          </a:prstGeom>
          <a:noFill/>
          <a:ln w="9525" cap="flat" cmpd="sng">
            <a:solidFill>
              <a:srgbClr val="1B1311"/>
            </a:solidFill>
            <a:prstDash val="solid"/>
            <a:round/>
            <a:headEnd type="none" w="med" len="med"/>
            <a:tailEnd type="triangle" w="med" len="med"/>
          </a:ln>
        </p:spPr>
      </p:cxnSp>
      <p:cxnSp>
        <p:nvCxnSpPr>
          <p:cNvPr id="513" name="Google Shape;260;p16">
            <a:extLst>
              <a:ext uri="{FF2B5EF4-FFF2-40B4-BE49-F238E27FC236}">
                <a16:creationId xmlns:a16="http://schemas.microsoft.com/office/drawing/2014/main" id="{D20A226B-0A70-450A-A32B-9E5DDE7E03BF}"/>
              </a:ext>
            </a:extLst>
          </p:cNvPr>
          <p:cNvCxnSpPr>
            <a:cxnSpLocks/>
          </p:cNvCxnSpPr>
          <p:nvPr/>
        </p:nvCxnSpPr>
        <p:spPr>
          <a:xfrm>
            <a:off x="8161101" y="2824795"/>
            <a:ext cx="735298" cy="0"/>
          </a:xfrm>
          <a:prstGeom prst="straightConnector1">
            <a:avLst/>
          </a:prstGeom>
          <a:noFill/>
          <a:ln w="9525" cap="flat" cmpd="sng">
            <a:solidFill>
              <a:srgbClr val="1B1311"/>
            </a:solidFill>
            <a:prstDash val="solid"/>
            <a:round/>
            <a:headEnd type="none" w="med" len="med"/>
            <a:tailEnd type="triangle" w="med" len="med"/>
          </a:ln>
        </p:spPr>
      </p:cxnSp>
      <p:sp>
        <p:nvSpPr>
          <p:cNvPr id="514" name="Google Shape;237;p15">
            <a:extLst>
              <a:ext uri="{FF2B5EF4-FFF2-40B4-BE49-F238E27FC236}">
                <a16:creationId xmlns:a16="http://schemas.microsoft.com/office/drawing/2014/main" id="{90D5BE8B-06E8-29C0-9CA5-6E279E7A7EDB}"/>
              </a:ext>
            </a:extLst>
          </p:cNvPr>
          <p:cNvSpPr txBox="1"/>
          <p:nvPr/>
        </p:nvSpPr>
        <p:spPr>
          <a:xfrm>
            <a:off x="6647769" y="2668112"/>
            <a:ext cx="416167" cy="232375"/>
          </a:xfrm>
          <a:prstGeom prst="rect">
            <a:avLst/>
          </a:prstGeom>
          <a:noFill/>
          <a:ln>
            <a:noFill/>
          </a:ln>
        </p:spPr>
        <p:txBody>
          <a:bodyPr spcFirstLastPara="1" wrap="square" lIns="127722" tIns="127722" rIns="127722" bIns="127722" anchor="t" anchorCtr="0">
            <a:noAutofit/>
          </a:bodyPr>
          <a:lstStyle/>
          <a:p>
            <a:pPr>
              <a:spcBef>
                <a:spcPts val="0"/>
              </a:spcBef>
            </a:pPr>
            <a:r>
              <a:rPr lang="en" sz="698" dirty="0">
                <a:solidFill>
                  <a:schemeClr val="lt1"/>
                </a:solidFill>
              </a:rPr>
              <a:t>GH</a:t>
            </a:r>
            <a:endParaRPr sz="698" dirty="0">
              <a:solidFill>
                <a:schemeClr val="lt1"/>
              </a:solidFill>
            </a:endParaRPr>
          </a:p>
        </p:txBody>
      </p:sp>
      <p:sp>
        <p:nvSpPr>
          <p:cNvPr id="517" name="Google Shape;318;p17">
            <a:extLst>
              <a:ext uri="{FF2B5EF4-FFF2-40B4-BE49-F238E27FC236}">
                <a16:creationId xmlns:a16="http://schemas.microsoft.com/office/drawing/2014/main" id="{8D37C041-EE0A-460E-A6FE-F3323A2AE2E6}"/>
              </a:ext>
            </a:extLst>
          </p:cNvPr>
          <p:cNvSpPr txBox="1"/>
          <p:nvPr/>
        </p:nvSpPr>
        <p:spPr>
          <a:xfrm>
            <a:off x="7313981" y="9170322"/>
            <a:ext cx="1414316"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US" sz="2000" dirty="0">
                <a:solidFill>
                  <a:srgbClr val="F6B26B"/>
                </a:solidFill>
              </a:rPr>
              <a:t>Tests</a:t>
            </a:r>
            <a:endParaRPr sz="2000" dirty="0">
              <a:solidFill>
                <a:srgbClr val="F6B26B"/>
              </a:solidFill>
            </a:endParaRPr>
          </a:p>
        </p:txBody>
      </p:sp>
      <p:sp>
        <p:nvSpPr>
          <p:cNvPr id="518" name="Google Shape;318;p17">
            <a:extLst>
              <a:ext uri="{FF2B5EF4-FFF2-40B4-BE49-F238E27FC236}">
                <a16:creationId xmlns:a16="http://schemas.microsoft.com/office/drawing/2014/main" id="{771026BE-B926-5D95-30DF-704A8C40FF42}"/>
              </a:ext>
            </a:extLst>
          </p:cNvPr>
          <p:cNvSpPr txBox="1"/>
          <p:nvPr/>
        </p:nvSpPr>
        <p:spPr>
          <a:xfrm>
            <a:off x="4866082" y="2848824"/>
            <a:ext cx="1414316"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US" sz="2000" dirty="0">
                <a:solidFill>
                  <a:srgbClr val="F6B26B"/>
                </a:solidFill>
              </a:rPr>
              <a:t>Tests</a:t>
            </a:r>
            <a:endParaRPr sz="2000" dirty="0">
              <a:solidFill>
                <a:srgbClr val="F6B26B"/>
              </a:solidFill>
            </a:endParaRPr>
          </a:p>
        </p:txBody>
      </p:sp>
      <p:grpSp>
        <p:nvGrpSpPr>
          <p:cNvPr id="620" name="Group 619">
            <a:extLst>
              <a:ext uri="{FF2B5EF4-FFF2-40B4-BE49-F238E27FC236}">
                <a16:creationId xmlns:a16="http://schemas.microsoft.com/office/drawing/2014/main" id="{3199307E-E375-4569-2E73-B56A670E7A33}"/>
              </a:ext>
            </a:extLst>
          </p:cNvPr>
          <p:cNvGrpSpPr/>
          <p:nvPr/>
        </p:nvGrpSpPr>
        <p:grpSpPr>
          <a:xfrm>
            <a:off x="9615360" y="3508078"/>
            <a:ext cx="4087131" cy="6557445"/>
            <a:chOff x="9545644" y="2373038"/>
            <a:chExt cx="4087131" cy="6557445"/>
          </a:xfrm>
        </p:grpSpPr>
        <p:pic>
          <p:nvPicPr>
            <p:cNvPr id="618" name="Picture 617" descr="The image displays a software development dashboard showing a pull request (#330) with user comments, code coverage statistics, and various statuses indicating approvals, requested changes, and check results.&#10;&#10;AI-generated content may be incorrect.">
              <a:extLst>
                <a:ext uri="{FF2B5EF4-FFF2-40B4-BE49-F238E27FC236}">
                  <a16:creationId xmlns:a16="http://schemas.microsoft.com/office/drawing/2014/main" id="{081431EA-B73A-321D-176C-2DAB7887859C}"/>
                </a:ext>
              </a:extLst>
            </p:cNvPr>
            <p:cNvPicPr>
              <a:picLocks noChangeAspect="1"/>
            </p:cNvPicPr>
            <p:nvPr/>
          </p:nvPicPr>
          <p:blipFill>
            <a:blip r:embed="rId20" cstate="print">
              <a:extLst>
                <a:ext uri="{28A0092B-C50C-407E-A947-70E740481C1C}">
                  <a14:useLocalDpi xmlns:a14="http://schemas.microsoft.com/office/drawing/2010/main" val="0"/>
                </a:ext>
              </a:extLst>
            </a:blip>
            <a:srcRect b="81077"/>
            <a:stretch>
              <a:fillRect/>
            </a:stretch>
          </p:blipFill>
          <p:spPr>
            <a:xfrm>
              <a:off x="9545644" y="2373038"/>
              <a:ext cx="4087131" cy="1481760"/>
            </a:xfrm>
            <a:prstGeom prst="rect">
              <a:avLst/>
            </a:prstGeom>
          </p:spPr>
        </p:pic>
        <p:pic>
          <p:nvPicPr>
            <p:cNvPr id="49" name="Picture 48">
              <a:extLst>
                <a:ext uri="{FF2B5EF4-FFF2-40B4-BE49-F238E27FC236}">
                  <a16:creationId xmlns:a16="http://schemas.microsoft.com/office/drawing/2014/main" id="{652D9081-BA1F-51F6-B9EA-E5B7FC2419EE}"/>
                </a:ext>
              </a:extLst>
            </p:cNvPr>
            <p:cNvPicPr>
              <a:picLocks noChangeAspect="1"/>
            </p:cNvPicPr>
            <p:nvPr/>
          </p:nvPicPr>
          <p:blipFill>
            <a:blip r:embed="rId11"/>
            <a:stretch>
              <a:fillRect/>
            </a:stretch>
          </p:blipFill>
          <p:spPr>
            <a:xfrm>
              <a:off x="10290902" y="3219263"/>
              <a:ext cx="441798" cy="264004"/>
            </a:xfrm>
            <a:prstGeom prst="rect">
              <a:avLst/>
            </a:prstGeom>
          </p:spPr>
        </p:pic>
        <p:pic>
          <p:nvPicPr>
            <p:cNvPr id="50" name="Picture 49">
              <a:extLst>
                <a:ext uri="{FF2B5EF4-FFF2-40B4-BE49-F238E27FC236}">
                  <a16:creationId xmlns:a16="http://schemas.microsoft.com/office/drawing/2014/main" id="{D56C23B2-7A2B-047B-8438-FB529B119676}"/>
                </a:ext>
              </a:extLst>
            </p:cNvPr>
            <p:cNvPicPr>
              <a:picLocks noChangeAspect="1"/>
            </p:cNvPicPr>
            <p:nvPr/>
          </p:nvPicPr>
          <p:blipFill>
            <a:blip r:embed="rId11"/>
            <a:stretch>
              <a:fillRect/>
            </a:stretch>
          </p:blipFill>
          <p:spPr>
            <a:xfrm>
              <a:off x="10315587" y="4355516"/>
              <a:ext cx="617310" cy="368884"/>
            </a:xfrm>
            <a:prstGeom prst="rect">
              <a:avLst/>
            </a:prstGeom>
          </p:spPr>
        </p:pic>
        <p:pic>
          <p:nvPicPr>
            <p:cNvPr id="616" name="Picture 615" descr="The image displays a software development dashboard showing a pull request (#330) with user comments, code coverage statistics, and various statuses indicating approvals, requested changes, and check results.&#10;&#10;AI-generated content may be incorrect.">
              <a:extLst>
                <a:ext uri="{FF2B5EF4-FFF2-40B4-BE49-F238E27FC236}">
                  <a16:creationId xmlns:a16="http://schemas.microsoft.com/office/drawing/2014/main" id="{C4F11033-EC62-03F5-D0FF-E3384B6CECFF}"/>
                </a:ext>
              </a:extLst>
            </p:cNvPr>
            <p:cNvPicPr>
              <a:picLocks noChangeAspect="1"/>
            </p:cNvPicPr>
            <p:nvPr/>
          </p:nvPicPr>
          <p:blipFill>
            <a:blip r:embed="rId20" cstate="print">
              <a:extLst>
                <a:ext uri="{28A0092B-C50C-407E-A947-70E740481C1C}">
                  <a14:useLocalDpi xmlns:a14="http://schemas.microsoft.com/office/drawing/2010/main" val="0"/>
                </a:ext>
              </a:extLst>
            </a:blip>
            <a:srcRect t="32466"/>
            <a:stretch>
              <a:fillRect/>
            </a:stretch>
          </p:blipFill>
          <p:spPr>
            <a:xfrm>
              <a:off x="9545644" y="3642115"/>
              <a:ext cx="4087131" cy="5288368"/>
            </a:xfrm>
            <a:prstGeom prst="rect">
              <a:avLst/>
            </a:prstGeom>
          </p:spPr>
        </p:pic>
        <p:sp>
          <p:nvSpPr>
            <p:cNvPr id="619" name="TextBox 618">
              <a:extLst>
                <a:ext uri="{FF2B5EF4-FFF2-40B4-BE49-F238E27FC236}">
                  <a16:creationId xmlns:a16="http://schemas.microsoft.com/office/drawing/2014/main" id="{54751F35-4C35-9DC4-8F5D-310AD98EE79D}"/>
                </a:ext>
              </a:extLst>
            </p:cNvPr>
            <p:cNvSpPr txBox="1"/>
            <p:nvPr/>
          </p:nvSpPr>
          <p:spPr>
            <a:xfrm>
              <a:off x="10290902" y="3191005"/>
              <a:ext cx="40900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rPr>
                <a:t>…</a:t>
              </a:r>
            </a:p>
          </p:txBody>
        </p:sp>
      </p:grpSp>
      <p:sp>
        <p:nvSpPr>
          <p:cNvPr id="621" name="Line">
            <a:extLst>
              <a:ext uri="{FF2B5EF4-FFF2-40B4-BE49-F238E27FC236}">
                <a16:creationId xmlns:a16="http://schemas.microsoft.com/office/drawing/2014/main" id="{683C4ABC-838B-90D6-FD4A-9A7F9CAE563C}"/>
              </a:ext>
            </a:extLst>
          </p:cNvPr>
          <p:cNvSpPr/>
          <p:nvPr/>
        </p:nvSpPr>
        <p:spPr>
          <a:xfrm flipV="1">
            <a:off x="9492058" y="2155265"/>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Tree>
    <p:extLst>
      <p:ext uri="{BB962C8B-B14F-4D97-AF65-F5344CB8AC3E}">
        <p14:creationId xmlns:p14="http://schemas.microsoft.com/office/powerpoint/2010/main" val="3251872889"/>
      </p:ext>
    </p:extLst>
  </p:cSld>
  <p:clrMapOvr>
    <a:masterClrMapping/>
  </p:clrMapOvr>
  <p:transition spd="med"/>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3582A4-E76B-5BFA-9176-0DB3C62C13C9}"/>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EE727E28-D85C-A8C5-7965-122D09A74842}"/>
              </a:ext>
            </a:extLst>
          </p:cNvPr>
          <p:cNvPicPr>
            <a:picLocks noChangeAspect="1"/>
          </p:cNvPicPr>
          <p:nvPr/>
        </p:nvPicPr>
        <p:blipFill>
          <a:blip r:embed="rId4"/>
          <a:stretch>
            <a:fillRect/>
          </a:stretch>
        </p:blipFill>
        <p:spPr>
          <a:xfrm>
            <a:off x="8867009" y="-681823"/>
            <a:ext cx="5121226" cy="2990088"/>
          </a:xfrm>
          <a:prstGeom prst="rect">
            <a:avLst/>
          </a:prstGeom>
          <a:ln w="12700">
            <a:miter lim="400000"/>
          </a:ln>
        </p:spPr>
      </p:pic>
      <p:sp>
        <p:nvSpPr>
          <p:cNvPr id="312" name="Line">
            <a:extLst>
              <a:ext uri="{FF2B5EF4-FFF2-40B4-BE49-F238E27FC236}">
                <a16:creationId xmlns:a16="http://schemas.microsoft.com/office/drawing/2014/main" id="{7E834E18-04F6-0FF6-3BC6-E1180C9491F0}"/>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32D768D8-E7E5-A0BD-A731-33BAD5C71EB7}"/>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19" name="Basics">
            <a:extLst>
              <a:ext uri="{FF2B5EF4-FFF2-40B4-BE49-F238E27FC236}">
                <a16:creationId xmlns:a16="http://schemas.microsoft.com/office/drawing/2014/main" id="{7F21EF32-2F8E-27FF-7D2A-F8FF85790C5C}"/>
              </a:ext>
            </a:extLst>
          </p:cNvPr>
          <p:cNvSpPr txBox="1"/>
          <p:nvPr/>
        </p:nvSpPr>
        <p:spPr>
          <a:xfrm>
            <a:off x="330164" y="4135321"/>
            <a:ext cx="277640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Fake Data Generator</a:t>
            </a:r>
            <a:endParaRPr dirty="0"/>
          </a:p>
        </p:txBody>
      </p:sp>
      <p:sp>
        <p:nvSpPr>
          <p:cNvPr id="326" name="Manipulate Variables">
            <a:extLst>
              <a:ext uri="{FF2B5EF4-FFF2-40B4-BE49-F238E27FC236}">
                <a16:creationId xmlns:a16="http://schemas.microsoft.com/office/drawing/2014/main" id="{03955361-DDA5-FFB5-A267-DD4EA8AB9491}"/>
              </a:ext>
            </a:extLst>
          </p:cNvPr>
          <p:cNvSpPr txBox="1"/>
          <p:nvPr/>
        </p:nvSpPr>
        <p:spPr>
          <a:xfrm>
            <a:off x="9545644" y="1763173"/>
            <a:ext cx="2839675"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Code Quality</a:t>
            </a:r>
          </a:p>
        </p:txBody>
      </p:sp>
      <p:sp>
        <p:nvSpPr>
          <p:cNvPr id="330" name="Line">
            <a:extLst>
              <a:ext uri="{FF2B5EF4-FFF2-40B4-BE49-F238E27FC236}">
                <a16:creationId xmlns:a16="http://schemas.microsoft.com/office/drawing/2014/main" id="{97D3A36D-99E5-FCEF-5330-DB38E478FFD8}"/>
              </a:ext>
            </a:extLst>
          </p:cNvPr>
          <p:cNvSpPr/>
          <p:nvPr/>
        </p:nvSpPr>
        <p:spPr>
          <a:xfrm flipV="1">
            <a:off x="330164" y="4607012"/>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34" name="Three Column Layout: : CHEAT SHEET">
            <a:extLst>
              <a:ext uri="{FF2B5EF4-FFF2-40B4-BE49-F238E27FC236}">
                <a16:creationId xmlns:a16="http://schemas.microsoft.com/office/drawing/2014/main" id="{DEE18457-7AC0-5CBA-3469-CD27A95FCE84}"/>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Unit Tests </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41" name="Use headers, colors, and/or backgrounds to separate or group together sections.">
            <a:extLst>
              <a:ext uri="{FF2B5EF4-FFF2-40B4-BE49-F238E27FC236}">
                <a16:creationId xmlns:a16="http://schemas.microsoft.com/office/drawing/2014/main" id="{8912A262-DCA1-EDDE-646A-F2AD4BA6DD44}"/>
              </a:ext>
            </a:extLst>
          </p:cNvPr>
          <p:cNvSpPr txBox="1"/>
          <p:nvPr/>
        </p:nvSpPr>
        <p:spPr>
          <a:xfrm>
            <a:off x="265517" y="1918659"/>
            <a:ext cx="3949153"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dirty="0">
              <a:latin typeface="Source Sans Pro" panose="020B0503030403020204" pitchFamily="34" charset="0"/>
              <a:ea typeface="Source Sans Pro" panose="020B0503030403020204" pitchFamily="34" charset="0"/>
              <a:sym typeface="Source Sans Pro"/>
            </a:endParaRPr>
          </a:p>
        </p:txBody>
      </p:sp>
      <p:sp>
        <p:nvSpPr>
          <p:cNvPr id="384" name="Layout Suggestions">
            <a:extLst>
              <a:ext uri="{FF2B5EF4-FFF2-40B4-BE49-F238E27FC236}">
                <a16:creationId xmlns:a16="http://schemas.microsoft.com/office/drawing/2014/main" id="{6F6DC6AC-032E-49FF-2065-34ABA7C61C9C}"/>
              </a:ext>
            </a:extLst>
          </p:cNvPr>
          <p:cNvSpPr txBox="1"/>
          <p:nvPr/>
        </p:nvSpPr>
        <p:spPr>
          <a:xfrm>
            <a:off x="246888" y="1435608"/>
            <a:ext cx="134972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p>
        </p:txBody>
      </p:sp>
      <p:pic>
        <p:nvPicPr>
          <p:cNvPr id="8" name="Picture 7" descr="A picture containing text&#10;&#10;Description automatically generated">
            <a:extLst>
              <a:ext uri="{FF2B5EF4-FFF2-40B4-BE49-F238E27FC236}">
                <a16:creationId xmlns:a16="http://schemas.microsoft.com/office/drawing/2014/main" id="{2A604ABB-BBD1-5AEB-1923-E6337E63EEA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491" name="Line">
            <a:extLst>
              <a:ext uri="{FF2B5EF4-FFF2-40B4-BE49-F238E27FC236}">
                <a16:creationId xmlns:a16="http://schemas.microsoft.com/office/drawing/2014/main" id="{D4DAE723-965C-9EE7-3BF1-D866F8B93160}"/>
              </a:ext>
            </a:extLst>
          </p:cNvPr>
          <p:cNvSpPr/>
          <p:nvPr/>
        </p:nvSpPr>
        <p:spPr>
          <a:xfrm flipV="1">
            <a:off x="330164" y="1819904"/>
            <a:ext cx="3656656" cy="2672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 name="TextBox 3">
            <a:extLst>
              <a:ext uri="{FF2B5EF4-FFF2-40B4-BE49-F238E27FC236}">
                <a16:creationId xmlns:a16="http://schemas.microsoft.com/office/drawing/2014/main" id="{685B1967-E013-6487-8743-49FD39AD5B80}"/>
              </a:ext>
            </a:extLst>
          </p:cNvPr>
          <p:cNvSpPr txBox="1"/>
          <p:nvPr/>
        </p:nvSpPr>
        <p:spPr>
          <a:xfrm>
            <a:off x="4838467" y="10304849"/>
            <a:ext cx="9809266"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hlinkClick r:id="rId6">
                  <a:extLst>
                    <a:ext uri="{A12FA001-AC4F-418D-AE19-62706E023703}">
                      <ahyp:hlinkClr xmlns:ahyp="http://schemas.microsoft.com/office/drawing/2018/hyperlinkcolor" val="tx"/>
                    </a:ext>
                  </a:extLst>
                </a:hlinkClick>
              </a:rPr>
              <a:t>CC BY SA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Ruben Jacobo, Waylon Ho, Carlos Paradis • Kaiaulu package version 0.0.0.9600 (in development) •  Updated: 2023-12</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6" name="Google Shape;306;p17">
            <a:extLst>
              <a:ext uri="{FF2B5EF4-FFF2-40B4-BE49-F238E27FC236}">
                <a16:creationId xmlns:a16="http://schemas.microsoft.com/office/drawing/2014/main" id="{99312B29-E8C1-07CF-8622-A649C1C262C5}"/>
              </a:ext>
            </a:extLst>
          </p:cNvPr>
          <p:cNvSpPr txBox="1"/>
          <p:nvPr/>
        </p:nvSpPr>
        <p:spPr>
          <a:xfrm>
            <a:off x="5441147" y="8169413"/>
            <a:ext cx="1352663"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2000" dirty="0">
                <a:solidFill>
                  <a:schemeClr val="dk2"/>
                </a:solidFill>
              </a:rPr>
              <a:t>JIRA.R</a:t>
            </a:r>
            <a:endParaRPr sz="2000" dirty="0">
              <a:solidFill>
                <a:schemeClr val="dk2"/>
              </a:solidFill>
            </a:endParaRPr>
          </a:p>
        </p:txBody>
      </p:sp>
      <p:pic>
        <p:nvPicPr>
          <p:cNvPr id="12" name="Google Shape;311;p17">
            <a:extLst>
              <a:ext uri="{FF2B5EF4-FFF2-40B4-BE49-F238E27FC236}">
                <a16:creationId xmlns:a16="http://schemas.microsoft.com/office/drawing/2014/main" id="{BC1A1F8A-D952-7A05-3488-9DA2F8BE6AFC}"/>
              </a:ext>
            </a:extLst>
          </p:cNvPr>
          <p:cNvPicPr preferRelativeResize="0"/>
          <p:nvPr/>
        </p:nvPicPr>
        <p:blipFill>
          <a:blip r:embed="rId7">
            <a:alphaModFix/>
          </a:blip>
          <a:stretch>
            <a:fillRect/>
          </a:stretch>
        </p:blipFill>
        <p:spPr>
          <a:xfrm>
            <a:off x="3920379" y="8495595"/>
            <a:ext cx="1135453" cy="1170922"/>
          </a:xfrm>
          <a:prstGeom prst="rect">
            <a:avLst/>
          </a:prstGeom>
          <a:noFill/>
          <a:ln>
            <a:noFill/>
          </a:ln>
        </p:spPr>
      </p:pic>
      <p:sp>
        <p:nvSpPr>
          <p:cNvPr id="13" name="Google Shape;312;p17">
            <a:extLst>
              <a:ext uri="{FF2B5EF4-FFF2-40B4-BE49-F238E27FC236}">
                <a16:creationId xmlns:a16="http://schemas.microsoft.com/office/drawing/2014/main" id="{7CEE4656-5701-DE6C-0512-DFC732B28AEB}"/>
              </a:ext>
            </a:extLst>
          </p:cNvPr>
          <p:cNvSpPr txBox="1"/>
          <p:nvPr/>
        </p:nvSpPr>
        <p:spPr>
          <a:xfrm>
            <a:off x="3360462" y="9411947"/>
            <a:ext cx="2240541"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2400" dirty="0">
                <a:solidFill>
                  <a:schemeClr val="accent1"/>
                </a:solidFill>
              </a:rPr>
              <a:t>Example.R</a:t>
            </a:r>
            <a:endParaRPr sz="2400" dirty="0">
              <a:solidFill>
                <a:schemeClr val="accent1"/>
              </a:solidFill>
            </a:endParaRPr>
          </a:p>
        </p:txBody>
      </p:sp>
      <p:pic>
        <p:nvPicPr>
          <p:cNvPr id="14" name="Google Shape;313;p17">
            <a:extLst>
              <a:ext uri="{FF2B5EF4-FFF2-40B4-BE49-F238E27FC236}">
                <a16:creationId xmlns:a16="http://schemas.microsoft.com/office/drawing/2014/main" id="{62E3C4CF-AAC9-104C-4DB6-332DAE2CCE4A}"/>
              </a:ext>
            </a:extLst>
          </p:cNvPr>
          <p:cNvPicPr preferRelativeResize="0"/>
          <p:nvPr/>
        </p:nvPicPr>
        <p:blipFill>
          <a:blip r:embed="rId7">
            <a:alphaModFix/>
          </a:blip>
          <a:stretch>
            <a:fillRect/>
          </a:stretch>
        </p:blipFill>
        <p:spPr>
          <a:xfrm>
            <a:off x="7448694" y="8177259"/>
            <a:ext cx="1135453" cy="1170922"/>
          </a:xfrm>
          <a:prstGeom prst="rect">
            <a:avLst/>
          </a:prstGeom>
          <a:noFill/>
          <a:ln>
            <a:noFill/>
          </a:ln>
        </p:spPr>
      </p:pic>
      <p:sp>
        <p:nvSpPr>
          <p:cNvPr id="17" name="Google Shape;317;p17">
            <a:extLst>
              <a:ext uri="{FF2B5EF4-FFF2-40B4-BE49-F238E27FC236}">
                <a16:creationId xmlns:a16="http://schemas.microsoft.com/office/drawing/2014/main" id="{9F785EAB-C6A0-A2BC-D124-26A4D40901BA}"/>
              </a:ext>
            </a:extLst>
          </p:cNvPr>
          <p:cNvSpPr txBox="1"/>
          <p:nvPr/>
        </p:nvSpPr>
        <p:spPr>
          <a:xfrm>
            <a:off x="3836468" y="8754616"/>
            <a:ext cx="1320250" cy="541969"/>
          </a:xfrm>
          <a:prstGeom prst="rect">
            <a:avLst/>
          </a:prstGeom>
          <a:noFill/>
          <a:ln>
            <a:noFill/>
          </a:ln>
        </p:spPr>
        <p:txBody>
          <a:bodyPr spcFirstLastPara="1" wrap="square" lIns="295319" tIns="295319" rIns="295319" bIns="295319" anchor="t" anchorCtr="0">
            <a:noAutofit/>
          </a:bodyPr>
          <a:lstStyle/>
          <a:p>
            <a:pPr algn="ctr">
              <a:spcBef>
                <a:spcPts val="0"/>
              </a:spcBef>
            </a:pPr>
            <a:r>
              <a:rPr lang="en" dirty="0">
                <a:solidFill>
                  <a:schemeClr val="accent1"/>
                </a:solidFill>
              </a:rPr>
              <a:t>Example Fake Data</a:t>
            </a:r>
            <a:endParaRPr dirty="0">
              <a:solidFill>
                <a:schemeClr val="accent1"/>
              </a:solidFill>
            </a:endParaRPr>
          </a:p>
        </p:txBody>
      </p:sp>
      <p:sp>
        <p:nvSpPr>
          <p:cNvPr id="42" name="Google Shape;346;p17">
            <a:extLst>
              <a:ext uri="{FF2B5EF4-FFF2-40B4-BE49-F238E27FC236}">
                <a16:creationId xmlns:a16="http://schemas.microsoft.com/office/drawing/2014/main" id="{E0D3F7F3-1CFE-D195-C9E5-7BD8B0986E0E}"/>
              </a:ext>
            </a:extLst>
          </p:cNvPr>
          <p:cNvSpPr/>
          <p:nvPr/>
        </p:nvSpPr>
        <p:spPr>
          <a:xfrm>
            <a:off x="7647483" y="8574838"/>
            <a:ext cx="826652" cy="234004"/>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spcBef>
                <a:spcPts val="0"/>
              </a:spcBef>
            </a:pPr>
            <a:endParaRPr sz="1833"/>
          </a:p>
        </p:txBody>
      </p:sp>
      <p:sp>
        <p:nvSpPr>
          <p:cNvPr id="499" name="Line">
            <a:extLst>
              <a:ext uri="{FF2B5EF4-FFF2-40B4-BE49-F238E27FC236}">
                <a16:creationId xmlns:a16="http://schemas.microsoft.com/office/drawing/2014/main" id="{92977146-C216-BB70-5B6B-17E2F81E3E13}"/>
              </a:ext>
            </a:extLst>
          </p:cNvPr>
          <p:cNvSpPr/>
          <p:nvPr/>
        </p:nvSpPr>
        <p:spPr>
          <a:xfrm flipV="1">
            <a:off x="4614475" y="2424560"/>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500" name="Logistics">
            <a:extLst>
              <a:ext uri="{FF2B5EF4-FFF2-40B4-BE49-F238E27FC236}">
                <a16:creationId xmlns:a16="http://schemas.microsoft.com/office/drawing/2014/main" id="{22C6F5F9-3935-BBEB-A307-06DF16EF84BB}"/>
              </a:ext>
            </a:extLst>
          </p:cNvPr>
          <p:cNvSpPr txBox="1"/>
          <p:nvPr/>
        </p:nvSpPr>
        <p:spPr>
          <a:xfrm>
            <a:off x="4480733" y="2024986"/>
            <a:ext cx="136736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Unit Tests</a:t>
            </a:r>
          </a:p>
        </p:txBody>
      </p:sp>
      <p:sp>
        <p:nvSpPr>
          <p:cNvPr id="514" name="Google Shape;237;p15">
            <a:extLst>
              <a:ext uri="{FF2B5EF4-FFF2-40B4-BE49-F238E27FC236}">
                <a16:creationId xmlns:a16="http://schemas.microsoft.com/office/drawing/2014/main" id="{4D88CB6F-99F0-FCDB-53F3-24E6303D40AB}"/>
              </a:ext>
            </a:extLst>
          </p:cNvPr>
          <p:cNvSpPr txBox="1"/>
          <p:nvPr/>
        </p:nvSpPr>
        <p:spPr>
          <a:xfrm>
            <a:off x="6647769" y="2668112"/>
            <a:ext cx="416167" cy="232375"/>
          </a:xfrm>
          <a:prstGeom prst="rect">
            <a:avLst/>
          </a:prstGeom>
          <a:noFill/>
          <a:ln>
            <a:noFill/>
          </a:ln>
        </p:spPr>
        <p:txBody>
          <a:bodyPr spcFirstLastPara="1" wrap="square" lIns="127722" tIns="127722" rIns="127722" bIns="127722" anchor="t" anchorCtr="0">
            <a:noAutofit/>
          </a:bodyPr>
          <a:lstStyle/>
          <a:p>
            <a:pPr>
              <a:spcBef>
                <a:spcPts val="0"/>
              </a:spcBef>
            </a:pPr>
            <a:r>
              <a:rPr lang="en" sz="698" dirty="0">
                <a:solidFill>
                  <a:schemeClr val="lt1"/>
                </a:solidFill>
              </a:rPr>
              <a:t>GH</a:t>
            </a:r>
            <a:endParaRPr sz="698" dirty="0">
              <a:solidFill>
                <a:schemeClr val="lt1"/>
              </a:solidFill>
            </a:endParaRPr>
          </a:p>
        </p:txBody>
      </p:sp>
      <p:sp>
        <p:nvSpPr>
          <p:cNvPr id="517" name="Google Shape;318;p17">
            <a:extLst>
              <a:ext uri="{FF2B5EF4-FFF2-40B4-BE49-F238E27FC236}">
                <a16:creationId xmlns:a16="http://schemas.microsoft.com/office/drawing/2014/main" id="{1FE7C6ED-CF40-0885-A550-085BFA682F86}"/>
              </a:ext>
            </a:extLst>
          </p:cNvPr>
          <p:cNvSpPr txBox="1"/>
          <p:nvPr/>
        </p:nvSpPr>
        <p:spPr>
          <a:xfrm>
            <a:off x="7313981" y="9170322"/>
            <a:ext cx="1414316"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US" sz="2000" dirty="0">
                <a:solidFill>
                  <a:srgbClr val="F6B26B"/>
                </a:solidFill>
              </a:rPr>
              <a:t>Tests/**</a:t>
            </a:r>
            <a:endParaRPr sz="2000" dirty="0">
              <a:solidFill>
                <a:srgbClr val="F6B26B"/>
              </a:solidFill>
            </a:endParaRPr>
          </a:p>
        </p:txBody>
      </p:sp>
      <p:grpSp>
        <p:nvGrpSpPr>
          <p:cNvPr id="620" name="Group 619">
            <a:extLst>
              <a:ext uri="{FF2B5EF4-FFF2-40B4-BE49-F238E27FC236}">
                <a16:creationId xmlns:a16="http://schemas.microsoft.com/office/drawing/2014/main" id="{E83B3DF3-C78E-E2CA-9CBF-AEF07847F0CD}"/>
              </a:ext>
            </a:extLst>
          </p:cNvPr>
          <p:cNvGrpSpPr/>
          <p:nvPr/>
        </p:nvGrpSpPr>
        <p:grpSpPr>
          <a:xfrm>
            <a:off x="9615360" y="3508078"/>
            <a:ext cx="4087131" cy="6557445"/>
            <a:chOff x="9545644" y="2373038"/>
            <a:chExt cx="4087131" cy="6557445"/>
          </a:xfrm>
        </p:grpSpPr>
        <p:pic>
          <p:nvPicPr>
            <p:cNvPr id="618" name="Picture 617" descr="The image displays a software development dashboard showing a pull request (#330) with user comments, code coverage statistics, and various statuses indicating approvals, requested changes, and check results.&#10;&#10;AI-generated content may be incorrect.">
              <a:extLst>
                <a:ext uri="{FF2B5EF4-FFF2-40B4-BE49-F238E27FC236}">
                  <a16:creationId xmlns:a16="http://schemas.microsoft.com/office/drawing/2014/main" id="{917B0A9B-9302-922E-086B-486A300C4DE0}"/>
                </a:ext>
              </a:extLst>
            </p:cNvPr>
            <p:cNvPicPr>
              <a:picLocks noChangeAspect="1"/>
            </p:cNvPicPr>
            <p:nvPr/>
          </p:nvPicPr>
          <p:blipFill>
            <a:blip r:embed="rId8" cstate="print">
              <a:extLst>
                <a:ext uri="{28A0092B-C50C-407E-A947-70E740481C1C}">
                  <a14:useLocalDpi xmlns:a14="http://schemas.microsoft.com/office/drawing/2010/main" val="0"/>
                </a:ext>
              </a:extLst>
            </a:blip>
            <a:srcRect b="81077"/>
            <a:stretch>
              <a:fillRect/>
            </a:stretch>
          </p:blipFill>
          <p:spPr>
            <a:xfrm>
              <a:off x="9545644" y="2373038"/>
              <a:ext cx="4087131" cy="1481760"/>
            </a:xfrm>
            <a:prstGeom prst="rect">
              <a:avLst/>
            </a:prstGeom>
          </p:spPr>
        </p:pic>
        <p:pic>
          <p:nvPicPr>
            <p:cNvPr id="49" name="Picture 48">
              <a:extLst>
                <a:ext uri="{FF2B5EF4-FFF2-40B4-BE49-F238E27FC236}">
                  <a16:creationId xmlns:a16="http://schemas.microsoft.com/office/drawing/2014/main" id="{96362E34-B37D-7724-56BB-28F5EDE8E1AA}"/>
                </a:ext>
              </a:extLst>
            </p:cNvPr>
            <p:cNvPicPr>
              <a:picLocks noChangeAspect="1"/>
            </p:cNvPicPr>
            <p:nvPr/>
          </p:nvPicPr>
          <p:blipFill>
            <a:blip r:embed="rId9"/>
            <a:stretch>
              <a:fillRect/>
            </a:stretch>
          </p:blipFill>
          <p:spPr>
            <a:xfrm>
              <a:off x="10290902" y="3219263"/>
              <a:ext cx="441798" cy="264004"/>
            </a:xfrm>
            <a:prstGeom prst="rect">
              <a:avLst/>
            </a:prstGeom>
          </p:spPr>
        </p:pic>
        <p:pic>
          <p:nvPicPr>
            <p:cNvPr id="50" name="Picture 49">
              <a:extLst>
                <a:ext uri="{FF2B5EF4-FFF2-40B4-BE49-F238E27FC236}">
                  <a16:creationId xmlns:a16="http://schemas.microsoft.com/office/drawing/2014/main" id="{5E23075A-80BF-3413-3FBD-A993F4A1B3E8}"/>
                </a:ext>
              </a:extLst>
            </p:cNvPr>
            <p:cNvPicPr>
              <a:picLocks noChangeAspect="1"/>
            </p:cNvPicPr>
            <p:nvPr/>
          </p:nvPicPr>
          <p:blipFill>
            <a:blip r:embed="rId9"/>
            <a:stretch>
              <a:fillRect/>
            </a:stretch>
          </p:blipFill>
          <p:spPr>
            <a:xfrm>
              <a:off x="10315587" y="4355516"/>
              <a:ext cx="617310" cy="368884"/>
            </a:xfrm>
            <a:prstGeom prst="rect">
              <a:avLst/>
            </a:prstGeom>
          </p:spPr>
        </p:pic>
        <p:pic>
          <p:nvPicPr>
            <p:cNvPr id="616" name="Picture 615" descr="The image displays a software development dashboard showing a pull request (#330) with user comments, code coverage statistics, and various statuses indicating approvals, requested changes, and check results.&#10;&#10;AI-generated content may be incorrect.">
              <a:extLst>
                <a:ext uri="{FF2B5EF4-FFF2-40B4-BE49-F238E27FC236}">
                  <a16:creationId xmlns:a16="http://schemas.microsoft.com/office/drawing/2014/main" id="{5BFE71D7-B471-74CD-67BE-B9093C599FF5}"/>
                </a:ext>
              </a:extLst>
            </p:cNvPr>
            <p:cNvPicPr>
              <a:picLocks noChangeAspect="1"/>
            </p:cNvPicPr>
            <p:nvPr/>
          </p:nvPicPr>
          <p:blipFill>
            <a:blip r:embed="rId8" cstate="print">
              <a:extLst>
                <a:ext uri="{28A0092B-C50C-407E-A947-70E740481C1C}">
                  <a14:useLocalDpi xmlns:a14="http://schemas.microsoft.com/office/drawing/2010/main" val="0"/>
                </a:ext>
              </a:extLst>
            </a:blip>
            <a:srcRect t="32466"/>
            <a:stretch>
              <a:fillRect/>
            </a:stretch>
          </p:blipFill>
          <p:spPr>
            <a:xfrm>
              <a:off x="9545644" y="3642115"/>
              <a:ext cx="4087131" cy="5288368"/>
            </a:xfrm>
            <a:prstGeom prst="rect">
              <a:avLst/>
            </a:prstGeom>
          </p:spPr>
        </p:pic>
        <p:sp>
          <p:nvSpPr>
            <p:cNvPr id="619" name="TextBox 618">
              <a:extLst>
                <a:ext uri="{FF2B5EF4-FFF2-40B4-BE49-F238E27FC236}">
                  <a16:creationId xmlns:a16="http://schemas.microsoft.com/office/drawing/2014/main" id="{98D81CFA-8004-3138-757A-A84B0909741B}"/>
                </a:ext>
              </a:extLst>
            </p:cNvPr>
            <p:cNvSpPr txBox="1"/>
            <p:nvPr/>
          </p:nvSpPr>
          <p:spPr>
            <a:xfrm>
              <a:off x="10290902" y="3191005"/>
              <a:ext cx="40900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rPr>
                <a:t>…</a:t>
              </a:r>
            </a:p>
          </p:txBody>
        </p:sp>
      </p:grpSp>
      <p:sp>
        <p:nvSpPr>
          <p:cNvPr id="621" name="Line">
            <a:extLst>
              <a:ext uri="{FF2B5EF4-FFF2-40B4-BE49-F238E27FC236}">
                <a16:creationId xmlns:a16="http://schemas.microsoft.com/office/drawing/2014/main" id="{73925B14-DB2D-9694-F7AB-306BEE9BDD4E}"/>
              </a:ext>
            </a:extLst>
          </p:cNvPr>
          <p:cNvSpPr/>
          <p:nvPr/>
        </p:nvSpPr>
        <p:spPr>
          <a:xfrm flipV="1">
            <a:off x="9492058" y="2155265"/>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pic>
        <p:nvPicPr>
          <p:cNvPr id="468" name="Google Shape;305;p17">
            <a:extLst>
              <a:ext uri="{FF2B5EF4-FFF2-40B4-BE49-F238E27FC236}">
                <a16:creationId xmlns:a16="http://schemas.microsoft.com/office/drawing/2014/main" id="{CD4FB4A2-23E3-5EBB-D467-2980282CCA0A}"/>
              </a:ext>
            </a:extLst>
          </p:cNvPr>
          <p:cNvPicPr preferRelativeResize="0"/>
          <p:nvPr/>
        </p:nvPicPr>
        <p:blipFill>
          <a:blip r:embed="rId7">
            <a:alphaModFix/>
          </a:blip>
          <a:stretch>
            <a:fillRect/>
          </a:stretch>
        </p:blipFill>
        <p:spPr>
          <a:xfrm>
            <a:off x="4993285" y="6421288"/>
            <a:ext cx="2320696" cy="2182473"/>
          </a:xfrm>
          <a:prstGeom prst="rect">
            <a:avLst/>
          </a:prstGeom>
          <a:noFill/>
          <a:ln>
            <a:noFill/>
          </a:ln>
        </p:spPr>
      </p:pic>
      <p:sp>
        <p:nvSpPr>
          <p:cNvPr id="470" name="TextBox 469">
            <a:extLst>
              <a:ext uri="{FF2B5EF4-FFF2-40B4-BE49-F238E27FC236}">
                <a16:creationId xmlns:a16="http://schemas.microsoft.com/office/drawing/2014/main" id="{84C1A9A9-52C0-E60E-5212-57691BC9F9D4}"/>
              </a:ext>
            </a:extLst>
          </p:cNvPr>
          <p:cNvSpPr txBox="1"/>
          <p:nvPr/>
        </p:nvSpPr>
        <p:spPr>
          <a:xfrm>
            <a:off x="5232279" y="6683304"/>
            <a:ext cx="1159502"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dirty="0">
                <a:ln>
                  <a:noFill/>
                </a:ln>
                <a:solidFill>
                  <a:srgbClr val="4C4C4C"/>
                </a:solidFill>
                <a:effectLst/>
                <a:uFillTx/>
                <a:latin typeface="Source Sans Pro"/>
                <a:ea typeface="Source Sans Pro"/>
                <a:cs typeface="Source Sans Pro"/>
                <a:sym typeface="Source Sans Pro"/>
              </a:rPr>
              <a:t>Downloaders</a:t>
            </a:r>
            <a:endParaRPr lang="en-US" dirty="0"/>
          </a:p>
        </p:txBody>
      </p:sp>
      <p:sp>
        <p:nvSpPr>
          <p:cNvPr id="474" name="TextBox 473">
            <a:extLst>
              <a:ext uri="{FF2B5EF4-FFF2-40B4-BE49-F238E27FC236}">
                <a16:creationId xmlns:a16="http://schemas.microsoft.com/office/drawing/2014/main" id="{68D3ECFB-5C21-BDFF-0118-27BA8EBFD83E}"/>
              </a:ext>
            </a:extLst>
          </p:cNvPr>
          <p:cNvSpPr txBox="1"/>
          <p:nvPr/>
        </p:nvSpPr>
        <p:spPr>
          <a:xfrm>
            <a:off x="5257493" y="6954313"/>
            <a:ext cx="1607827" cy="46927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dirty="0"/>
              <a:t>f</a:t>
            </a:r>
            <a:r>
              <a:rPr kumimoji="0" lang="en-US" sz="1000" b="1" i="0" u="none" strike="noStrike" cap="none" spc="0" normalizeH="0" baseline="0" dirty="0">
                <a:ln>
                  <a:noFill/>
                </a:ln>
                <a:solidFill>
                  <a:srgbClr val="4C4C4C"/>
                </a:solidFill>
                <a:effectLst/>
                <a:uFillTx/>
                <a:latin typeface="Source Sans Pro"/>
                <a:ea typeface="Source Sans Pro"/>
                <a:cs typeface="Source Sans Pro"/>
                <a:sym typeface="Source Sans Pro"/>
              </a:rPr>
              <a:t>unction()</a:t>
            </a:r>
          </a:p>
          <a:p>
            <a:pPr marL="0" marR="0" indent="0" algn="l" defTabSz="584200" rtl="0" fontAlgn="auto" latinLnBrk="0" hangingPunct="0">
              <a:lnSpc>
                <a:spcPct val="100000"/>
              </a:lnSpc>
              <a:spcBef>
                <a:spcPts val="200"/>
              </a:spcBef>
              <a:spcAft>
                <a:spcPts val="0"/>
              </a:spcAft>
              <a:buClrTx/>
              <a:buSzTx/>
              <a:buFontTx/>
              <a:buNone/>
              <a:tabLst/>
            </a:pPr>
            <a:r>
              <a:rPr lang="en-US" sz="1000" dirty="0"/>
              <a:t>…</a:t>
            </a:r>
          </a:p>
        </p:txBody>
      </p:sp>
      <p:sp>
        <p:nvSpPr>
          <p:cNvPr id="475" name="TextBox 474">
            <a:extLst>
              <a:ext uri="{FF2B5EF4-FFF2-40B4-BE49-F238E27FC236}">
                <a16:creationId xmlns:a16="http://schemas.microsoft.com/office/drawing/2014/main" id="{355FFDD3-8240-A6E2-847D-09D16FA71BDA}"/>
              </a:ext>
            </a:extLst>
          </p:cNvPr>
          <p:cNvSpPr txBox="1"/>
          <p:nvPr/>
        </p:nvSpPr>
        <p:spPr>
          <a:xfrm>
            <a:off x="5261534" y="8091349"/>
            <a:ext cx="171546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b="1" i="0" u="none" strike="noStrike" cap="none" spc="0" normalizeH="0" baseline="0" dirty="0">
                <a:ln>
                  <a:noFill/>
                </a:ln>
                <a:solidFill>
                  <a:srgbClr val="4C4C4C"/>
                </a:solidFill>
                <a:effectLst/>
                <a:uFillTx/>
                <a:latin typeface="Source Sans Pro"/>
                <a:ea typeface="Source Sans Pro"/>
                <a:cs typeface="Source Sans Pro"/>
                <a:sym typeface="Source Sans Pro"/>
              </a:rPr>
              <a:t>Fake Data Generator</a:t>
            </a:r>
            <a:endParaRPr lang="en-US" dirty="0"/>
          </a:p>
        </p:txBody>
      </p:sp>
      <p:cxnSp>
        <p:nvCxnSpPr>
          <p:cNvPr id="477" name="Connector: Elbow 476">
            <a:extLst>
              <a:ext uri="{FF2B5EF4-FFF2-40B4-BE49-F238E27FC236}">
                <a16:creationId xmlns:a16="http://schemas.microsoft.com/office/drawing/2014/main" id="{FEF2D494-B20D-9E6D-4851-3D2A86921B43}"/>
              </a:ext>
            </a:extLst>
          </p:cNvPr>
          <p:cNvCxnSpPr>
            <a:cxnSpLocks/>
            <a:stCxn id="475" idx="1"/>
            <a:endCxn id="12" idx="0"/>
          </p:cNvCxnSpPr>
          <p:nvPr/>
        </p:nvCxnSpPr>
        <p:spPr>
          <a:xfrm rot="10800000" flipV="1">
            <a:off x="4488106" y="8251609"/>
            <a:ext cx="773428" cy="243986"/>
          </a:xfrm>
          <a:prstGeom prst="bentConnector2">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79" name="Connector: Elbow 478">
            <a:extLst>
              <a:ext uri="{FF2B5EF4-FFF2-40B4-BE49-F238E27FC236}">
                <a16:creationId xmlns:a16="http://schemas.microsoft.com/office/drawing/2014/main" id="{80514839-30C2-FDB1-3BFE-DEB4F1019056}"/>
              </a:ext>
            </a:extLst>
          </p:cNvPr>
          <p:cNvCxnSpPr>
            <a:cxnSpLocks/>
            <a:endCxn id="483" idx="0"/>
          </p:cNvCxnSpPr>
          <p:nvPr/>
        </p:nvCxnSpPr>
        <p:spPr>
          <a:xfrm>
            <a:off x="6279470" y="6864545"/>
            <a:ext cx="1816458" cy="1633621"/>
          </a:xfrm>
          <a:prstGeom prst="bentConnector2">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481" name="Connector: Elbow 480">
            <a:extLst>
              <a:ext uri="{FF2B5EF4-FFF2-40B4-BE49-F238E27FC236}">
                <a16:creationId xmlns:a16="http://schemas.microsoft.com/office/drawing/2014/main" id="{CE5B9887-9C75-A989-64B0-ACE648798B38}"/>
              </a:ext>
            </a:extLst>
          </p:cNvPr>
          <p:cNvCxnSpPr>
            <a:cxnSpLocks/>
          </p:cNvCxnSpPr>
          <p:nvPr/>
        </p:nvCxnSpPr>
        <p:spPr>
          <a:xfrm flipV="1">
            <a:off x="4874819" y="8708483"/>
            <a:ext cx="2825633" cy="581753"/>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483" name="TextBox 482">
            <a:extLst>
              <a:ext uri="{FF2B5EF4-FFF2-40B4-BE49-F238E27FC236}">
                <a16:creationId xmlns:a16="http://schemas.microsoft.com/office/drawing/2014/main" id="{CC09E7F9-A3FE-CD11-8527-58D6D4C11FC1}"/>
              </a:ext>
            </a:extLst>
          </p:cNvPr>
          <p:cNvSpPr txBox="1"/>
          <p:nvPr/>
        </p:nvSpPr>
        <p:spPr>
          <a:xfrm>
            <a:off x="7700451" y="8498166"/>
            <a:ext cx="790953" cy="3512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400" b="1" i="0" u="none" strike="noStrike" cap="none" spc="0" normalizeH="0" baseline="0" dirty="0">
                <a:ln>
                  <a:noFill/>
                </a:ln>
                <a:solidFill>
                  <a:srgbClr val="4C4C4C"/>
                </a:solidFill>
                <a:effectLst/>
                <a:uFillTx/>
                <a:latin typeface="Source Sans Pro"/>
                <a:ea typeface="Source Sans Pro"/>
                <a:cs typeface="Source Sans Pro"/>
                <a:sym typeface="Source Sans Pro"/>
              </a:rPr>
              <a:t>testthat</a:t>
            </a:r>
          </a:p>
        </p:txBody>
      </p:sp>
      <p:cxnSp>
        <p:nvCxnSpPr>
          <p:cNvPr id="485" name="Connector: Elbow 484">
            <a:extLst>
              <a:ext uri="{FF2B5EF4-FFF2-40B4-BE49-F238E27FC236}">
                <a16:creationId xmlns:a16="http://schemas.microsoft.com/office/drawing/2014/main" id="{C2E7F5C0-C3B3-0596-4B3F-E31017899550}"/>
              </a:ext>
            </a:extLst>
          </p:cNvPr>
          <p:cNvCxnSpPr>
            <a:cxnSpLocks/>
          </p:cNvCxnSpPr>
          <p:nvPr/>
        </p:nvCxnSpPr>
        <p:spPr>
          <a:xfrm>
            <a:off x="8728297" y="8701162"/>
            <a:ext cx="1493175" cy="179915"/>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494" name="TextBox 493">
            <a:extLst>
              <a:ext uri="{FF2B5EF4-FFF2-40B4-BE49-F238E27FC236}">
                <a16:creationId xmlns:a16="http://schemas.microsoft.com/office/drawing/2014/main" id="{64FEF47C-2027-0CE8-A116-81AC4F18764B}"/>
              </a:ext>
            </a:extLst>
          </p:cNvPr>
          <p:cNvSpPr txBox="1"/>
          <p:nvPr/>
        </p:nvSpPr>
        <p:spPr>
          <a:xfrm>
            <a:off x="5245599" y="7419465"/>
            <a:ext cx="94705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dirty="0"/>
              <a:t>Parsers</a:t>
            </a:r>
          </a:p>
        </p:txBody>
      </p:sp>
      <p:sp>
        <p:nvSpPr>
          <p:cNvPr id="516" name="Oval 515">
            <a:extLst>
              <a:ext uri="{FF2B5EF4-FFF2-40B4-BE49-F238E27FC236}">
                <a16:creationId xmlns:a16="http://schemas.microsoft.com/office/drawing/2014/main" id="{B3A7C1B6-612B-54EE-D779-E3743E18BBCB}"/>
              </a:ext>
            </a:extLst>
          </p:cNvPr>
          <p:cNvSpPr/>
          <p:nvPr/>
        </p:nvSpPr>
        <p:spPr>
          <a:xfrm>
            <a:off x="3200378" y="3090586"/>
            <a:ext cx="5852181" cy="5328338"/>
          </a:xfrm>
          <a:prstGeom prst="ellipse">
            <a:avLst/>
          </a:prstGeom>
          <a:noFill/>
          <a:ln w="12700" cap="flat">
            <a:solidFill>
              <a:schemeClr val="tx1">
                <a:lumMod val="5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519" name="Google Shape;311;p17">
            <a:extLst>
              <a:ext uri="{FF2B5EF4-FFF2-40B4-BE49-F238E27FC236}">
                <a16:creationId xmlns:a16="http://schemas.microsoft.com/office/drawing/2014/main" id="{618ECAE9-C5BF-784B-3FA3-1EE7CCBECDEC}"/>
              </a:ext>
            </a:extLst>
          </p:cNvPr>
          <p:cNvPicPr preferRelativeResize="0"/>
          <p:nvPr/>
        </p:nvPicPr>
        <p:blipFill>
          <a:blip r:embed="rId7">
            <a:alphaModFix/>
          </a:blip>
          <a:stretch>
            <a:fillRect/>
          </a:stretch>
        </p:blipFill>
        <p:spPr>
          <a:xfrm>
            <a:off x="7355951" y="4297285"/>
            <a:ext cx="1135453" cy="1170922"/>
          </a:xfrm>
          <a:prstGeom prst="rect">
            <a:avLst/>
          </a:prstGeom>
          <a:noFill/>
          <a:ln>
            <a:noFill/>
          </a:ln>
        </p:spPr>
      </p:pic>
      <p:pic>
        <p:nvPicPr>
          <p:cNvPr id="520" name="Google Shape;311;p17">
            <a:extLst>
              <a:ext uri="{FF2B5EF4-FFF2-40B4-BE49-F238E27FC236}">
                <a16:creationId xmlns:a16="http://schemas.microsoft.com/office/drawing/2014/main" id="{E22B26F8-FB1B-1D29-0100-FA81B4FEA0F3}"/>
              </a:ext>
            </a:extLst>
          </p:cNvPr>
          <p:cNvPicPr preferRelativeResize="0"/>
          <p:nvPr/>
        </p:nvPicPr>
        <p:blipFill>
          <a:blip r:embed="rId7">
            <a:alphaModFix/>
          </a:blip>
          <a:stretch>
            <a:fillRect/>
          </a:stretch>
        </p:blipFill>
        <p:spPr>
          <a:xfrm>
            <a:off x="4560354" y="4648675"/>
            <a:ext cx="1135453" cy="1170922"/>
          </a:xfrm>
          <a:prstGeom prst="rect">
            <a:avLst/>
          </a:prstGeom>
          <a:noFill/>
          <a:ln>
            <a:noFill/>
          </a:ln>
        </p:spPr>
      </p:pic>
      <p:pic>
        <p:nvPicPr>
          <p:cNvPr id="521" name="Google Shape;311;p17">
            <a:extLst>
              <a:ext uri="{FF2B5EF4-FFF2-40B4-BE49-F238E27FC236}">
                <a16:creationId xmlns:a16="http://schemas.microsoft.com/office/drawing/2014/main" id="{98E2F448-922A-EC4B-4174-6374C0C6A2CE}"/>
              </a:ext>
            </a:extLst>
          </p:cNvPr>
          <p:cNvPicPr preferRelativeResize="0"/>
          <p:nvPr/>
        </p:nvPicPr>
        <p:blipFill>
          <a:blip r:embed="rId7">
            <a:alphaModFix/>
          </a:blip>
          <a:stretch>
            <a:fillRect/>
          </a:stretch>
        </p:blipFill>
        <p:spPr>
          <a:xfrm>
            <a:off x="5938833" y="3394002"/>
            <a:ext cx="1135453" cy="1170922"/>
          </a:xfrm>
          <a:prstGeom prst="rect">
            <a:avLst/>
          </a:prstGeom>
          <a:noFill/>
          <a:ln>
            <a:noFill/>
          </a:ln>
        </p:spPr>
      </p:pic>
      <p:sp>
        <p:nvSpPr>
          <p:cNvPr id="522" name="Google Shape;306;p17">
            <a:extLst>
              <a:ext uri="{FF2B5EF4-FFF2-40B4-BE49-F238E27FC236}">
                <a16:creationId xmlns:a16="http://schemas.microsoft.com/office/drawing/2014/main" id="{18A456E0-FA26-08A9-4F39-200AA5881B6A}"/>
              </a:ext>
            </a:extLst>
          </p:cNvPr>
          <p:cNvSpPr txBox="1"/>
          <p:nvPr/>
        </p:nvSpPr>
        <p:spPr>
          <a:xfrm>
            <a:off x="7190373" y="5297361"/>
            <a:ext cx="1352663"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2000" dirty="0">
                <a:solidFill>
                  <a:schemeClr val="dk2"/>
                </a:solidFill>
              </a:rPr>
              <a:t>Mail.R</a:t>
            </a:r>
            <a:endParaRPr sz="2000" dirty="0">
              <a:solidFill>
                <a:schemeClr val="dk2"/>
              </a:solidFill>
            </a:endParaRPr>
          </a:p>
        </p:txBody>
      </p:sp>
      <p:sp>
        <p:nvSpPr>
          <p:cNvPr id="523" name="Google Shape;306;p17">
            <a:extLst>
              <a:ext uri="{FF2B5EF4-FFF2-40B4-BE49-F238E27FC236}">
                <a16:creationId xmlns:a16="http://schemas.microsoft.com/office/drawing/2014/main" id="{BD7B3F67-0190-3E7E-F83A-C6096520CCE4}"/>
              </a:ext>
            </a:extLst>
          </p:cNvPr>
          <p:cNvSpPr txBox="1"/>
          <p:nvPr/>
        </p:nvSpPr>
        <p:spPr>
          <a:xfrm>
            <a:off x="5747439" y="4305335"/>
            <a:ext cx="1352663"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2000" dirty="0">
                <a:solidFill>
                  <a:schemeClr val="dk2"/>
                </a:solidFill>
              </a:rPr>
              <a:t>Git.R</a:t>
            </a:r>
            <a:endParaRPr sz="2000" dirty="0">
              <a:solidFill>
                <a:schemeClr val="dk2"/>
              </a:solidFill>
            </a:endParaRPr>
          </a:p>
        </p:txBody>
      </p:sp>
      <p:sp>
        <p:nvSpPr>
          <p:cNvPr id="524" name="Google Shape;306;p17">
            <a:extLst>
              <a:ext uri="{FF2B5EF4-FFF2-40B4-BE49-F238E27FC236}">
                <a16:creationId xmlns:a16="http://schemas.microsoft.com/office/drawing/2014/main" id="{DE7DD726-D79A-9FE8-D413-AA648C8A3D4E}"/>
              </a:ext>
            </a:extLst>
          </p:cNvPr>
          <p:cNvSpPr txBox="1"/>
          <p:nvPr/>
        </p:nvSpPr>
        <p:spPr>
          <a:xfrm>
            <a:off x="4411213" y="5576752"/>
            <a:ext cx="1352663"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2000" dirty="0">
                <a:solidFill>
                  <a:schemeClr val="dk2"/>
                </a:solidFill>
              </a:rPr>
              <a:t>src.R</a:t>
            </a:r>
            <a:endParaRPr sz="2000" dirty="0">
              <a:solidFill>
                <a:schemeClr val="dk2"/>
              </a:solidFill>
            </a:endParaRPr>
          </a:p>
        </p:txBody>
      </p:sp>
      <p:sp>
        <p:nvSpPr>
          <p:cNvPr id="526" name="TextBox 525">
            <a:extLst>
              <a:ext uri="{FF2B5EF4-FFF2-40B4-BE49-F238E27FC236}">
                <a16:creationId xmlns:a16="http://schemas.microsoft.com/office/drawing/2014/main" id="{1E3E85F9-899F-E188-750C-CA1C386544F5}"/>
              </a:ext>
            </a:extLst>
          </p:cNvPr>
          <p:cNvSpPr txBox="1"/>
          <p:nvPr/>
        </p:nvSpPr>
        <p:spPr>
          <a:xfrm>
            <a:off x="5248025" y="7580794"/>
            <a:ext cx="1607827" cy="64881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dirty="0"/>
              <a:t>f</a:t>
            </a:r>
            <a:r>
              <a:rPr kumimoji="0" lang="en-US" sz="1000" b="1"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100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1000" dirty="0"/>
              <a:t>function() …</a:t>
            </a:r>
          </a:p>
        </p:txBody>
      </p:sp>
      <p:sp>
        <p:nvSpPr>
          <p:cNvPr id="535" name="Google Shape;306;p17">
            <a:extLst>
              <a:ext uri="{FF2B5EF4-FFF2-40B4-BE49-F238E27FC236}">
                <a16:creationId xmlns:a16="http://schemas.microsoft.com/office/drawing/2014/main" id="{3E852611-7F64-C7E6-3521-B9D30C0AE87B}"/>
              </a:ext>
            </a:extLst>
          </p:cNvPr>
          <p:cNvSpPr txBox="1"/>
          <p:nvPr/>
        </p:nvSpPr>
        <p:spPr>
          <a:xfrm>
            <a:off x="5144682" y="8324518"/>
            <a:ext cx="1352663"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2000" dirty="0">
                <a:solidFill>
                  <a:schemeClr val="dk2"/>
                </a:solidFill>
              </a:rPr>
              <a:t>JIRA.R</a:t>
            </a:r>
            <a:endParaRPr sz="2000" dirty="0">
              <a:solidFill>
                <a:schemeClr val="dk2"/>
              </a:solidFill>
            </a:endParaRPr>
          </a:p>
        </p:txBody>
      </p:sp>
      <p:cxnSp>
        <p:nvCxnSpPr>
          <p:cNvPr id="536" name="Connector: Elbow 535">
            <a:extLst>
              <a:ext uri="{FF2B5EF4-FFF2-40B4-BE49-F238E27FC236}">
                <a16:creationId xmlns:a16="http://schemas.microsoft.com/office/drawing/2014/main" id="{092BD5C5-6BE2-D211-41F4-BCFA88283D7B}"/>
              </a:ext>
            </a:extLst>
          </p:cNvPr>
          <p:cNvCxnSpPr>
            <a:cxnSpLocks/>
          </p:cNvCxnSpPr>
          <p:nvPr/>
        </p:nvCxnSpPr>
        <p:spPr>
          <a:xfrm>
            <a:off x="5843535" y="7617200"/>
            <a:ext cx="2136273" cy="866961"/>
          </a:xfrm>
          <a:prstGeom prst="bentConnector3">
            <a:avLst>
              <a:gd name="adj1" fmla="val 99937"/>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863396318"/>
      </p:ext>
    </p:extLst>
  </p:cSld>
  <p:clrMapOvr>
    <a:masterClrMapping/>
  </p:clrMapOvr>
  <p:transition spd="med"/>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A737A5-45B9-268E-F777-A7E7A8BC91F7}"/>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C9434FEC-8508-7A1D-19C9-F033373DAF40}"/>
              </a:ext>
            </a:extLst>
          </p:cNvPr>
          <p:cNvPicPr>
            <a:picLocks noChangeAspect="1"/>
          </p:cNvPicPr>
          <p:nvPr/>
        </p:nvPicPr>
        <p:blipFill>
          <a:blip r:embed="rId3"/>
          <a:stretch>
            <a:fillRect/>
          </a:stretch>
        </p:blipFill>
        <p:spPr>
          <a:xfrm>
            <a:off x="8917887" y="-681823"/>
            <a:ext cx="5121226" cy="2990088"/>
          </a:xfrm>
          <a:prstGeom prst="rect">
            <a:avLst/>
          </a:prstGeom>
          <a:ln w="12700">
            <a:miter lim="400000"/>
          </a:ln>
        </p:spPr>
      </p:pic>
      <p:sp>
        <p:nvSpPr>
          <p:cNvPr id="312" name="Line">
            <a:extLst>
              <a:ext uri="{FF2B5EF4-FFF2-40B4-BE49-F238E27FC236}">
                <a16:creationId xmlns:a16="http://schemas.microsoft.com/office/drawing/2014/main" id="{4B10EC14-C207-FE0A-6EBE-9B2686AD2489}"/>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AA1998F7-6744-9F96-9F00-8AAF666616E6}"/>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19" name="Basics">
            <a:extLst>
              <a:ext uri="{FF2B5EF4-FFF2-40B4-BE49-F238E27FC236}">
                <a16:creationId xmlns:a16="http://schemas.microsoft.com/office/drawing/2014/main" id="{C1F90266-5AEA-337D-BE8A-54FE08AE9168}"/>
              </a:ext>
            </a:extLst>
          </p:cNvPr>
          <p:cNvSpPr txBox="1"/>
          <p:nvPr/>
        </p:nvSpPr>
        <p:spPr>
          <a:xfrm>
            <a:off x="213446" y="3094404"/>
            <a:ext cx="1336904"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Unit Tests</a:t>
            </a:r>
            <a:endParaRPr dirty="0"/>
          </a:p>
        </p:txBody>
      </p:sp>
      <p:sp>
        <p:nvSpPr>
          <p:cNvPr id="326" name="Manipulate Variables">
            <a:extLst>
              <a:ext uri="{FF2B5EF4-FFF2-40B4-BE49-F238E27FC236}">
                <a16:creationId xmlns:a16="http://schemas.microsoft.com/office/drawing/2014/main" id="{ED487A42-191F-E8F9-7CDE-4874D7ADBAD8}"/>
              </a:ext>
            </a:extLst>
          </p:cNvPr>
          <p:cNvSpPr txBox="1"/>
          <p:nvPr/>
        </p:nvSpPr>
        <p:spPr>
          <a:xfrm>
            <a:off x="9545644" y="1763173"/>
            <a:ext cx="2839675"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Pull Requests</a:t>
            </a:r>
          </a:p>
        </p:txBody>
      </p:sp>
      <p:sp>
        <p:nvSpPr>
          <p:cNvPr id="330" name="Line">
            <a:extLst>
              <a:ext uri="{FF2B5EF4-FFF2-40B4-BE49-F238E27FC236}">
                <a16:creationId xmlns:a16="http://schemas.microsoft.com/office/drawing/2014/main" id="{F66701F5-4CC4-D665-3D51-6C893D1EF9C7}"/>
              </a:ext>
            </a:extLst>
          </p:cNvPr>
          <p:cNvSpPr/>
          <p:nvPr/>
        </p:nvSpPr>
        <p:spPr>
          <a:xfrm flipV="1">
            <a:off x="286508" y="2926368"/>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34" name="Three Column Layout: : CHEAT SHEET">
            <a:extLst>
              <a:ext uri="{FF2B5EF4-FFF2-40B4-BE49-F238E27FC236}">
                <a16:creationId xmlns:a16="http://schemas.microsoft.com/office/drawing/2014/main" id="{A3B30820-DB64-F231-CD4B-8B5072EF8B29}"/>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Fake Data Generator </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41" name="Use headers, colors, and/or backgrounds to separate or group together sections.">
            <a:extLst>
              <a:ext uri="{FF2B5EF4-FFF2-40B4-BE49-F238E27FC236}">
                <a16:creationId xmlns:a16="http://schemas.microsoft.com/office/drawing/2014/main" id="{F494CCFE-EDED-D9E5-F15D-08F572A7E733}"/>
              </a:ext>
            </a:extLst>
          </p:cNvPr>
          <p:cNvSpPr txBox="1"/>
          <p:nvPr/>
        </p:nvSpPr>
        <p:spPr>
          <a:xfrm>
            <a:off x="197696" y="1894414"/>
            <a:ext cx="3949153" cy="9412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The fake data generators provide API to create minimal reproducible examples (MRE) capturing unusual project data to unit test Kaiaulu data parsers. They can also be used to compare equivalent analyses to other tools, and different versions of the same tool.</a:t>
            </a:r>
            <a:endParaRPr lang="en-US" dirty="0">
              <a:latin typeface="Source Sans Pro" panose="020B0503030403020204" pitchFamily="34" charset="0"/>
              <a:ea typeface="Source Sans Pro" panose="020B0503030403020204" pitchFamily="34" charset="0"/>
              <a:sym typeface="Source Sans Pro"/>
            </a:endParaRPr>
          </a:p>
        </p:txBody>
      </p:sp>
      <p:sp>
        <p:nvSpPr>
          <p:cNvPr id="382" name="Logistics">
            <a:extLst>
              <a:ext uri="{FF2B5EF4-FFF2-40B4-BE49-F238E27FC236}">
                <a16:creationId xmlns:a16="http://schemas.microsoft.com/office/drawing/2014/main" id="{7AD54AB5-10B2-6202-6DBE-4C22C942F8FE}"/>
              </a:ext>
            </a:extLst>
          </p:cNvPr>
          <p:cNvSpPr txBox="1"/>
          <p:nvPr/>
        </p:nvSpPr>
        <p:spPr>
          <a:xfrm>
            <a:off x="4463999" y="1435608"/>
            <a:ext cx="2019784"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Fake Examples</a:t>
            </a:r>
          </a:p>
        </p:txBody>
      </p:sp>
      <p:sp>
        <p:nvSpPr>
          <p:cNvPr id="384" name="Layout Suggestions">
            <a:extLst>
              <a:ext uri="{FF2B5EF4-FFF2-40B4-BE49-F238E27FC236}">
                <a16:creationId xmlns:a16="http://schemas.microsoft.com/office/drawing/2014/main" id="{24764683-AF0D-62BB-88B5-BE288FDE131D}"/>
              </a:ext>
            </a:extLst>
          </p:cNvPr>
          <p:cNvSpPr txBox="1"/>
          <p:nvPr/>
        </p:nvSpPr>
        <p:spPr>
          <a:xfrm>
            <a:off x="246888" y="1435608"/>
            <a:ext cx="1349729"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p>
        </p:txBody>
      </p:sp>
      <p:pic>
        <p:nvPicPr>
          <p:cNvPr id="8" name="Picture 7" descr="A picture containing text&#10;&#10;Description automatically generated">
            <a:extLst>
              <a:ext uri="{FF2B5EF4-FFF2-40B4-BE49-F238E27FC236}">
                <a16:creationId xmlns:a16="http://schemas.microsoft.com/office/drawing/2014/main" id="{369CDFEB-EFA3-769A-8256-E9E65CF612C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491" name="Line">
            <a:extLst>
              <a:ext uri="{FF2B5EF4-FFF2-40B4-BE49-F238E27FC236}">
                <a16:creationId xmlns:a16="http://schemas.microsoft.com/office/drawing/2014/main" id="{05BD0B2A-7F22-DDBB-61E9-F3727F5F87E1}"/>
              </a:ext>
            </a:extLst>
          </p:cNvPr>
          <p:cNvSpPr/>
          <p:nvPr/>
        </p:nvSpPr>
        <p:spPr>
          <a:xfrm flipV="1">
            <a:off x="330164" y="1819904"/>
            <a:ext cx="3656656" cy="2672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 name="TextBox 3">
            <a:extLst>
              <a:ext uri="{FF2B5EF4-FFF2-40B4-BE49-F238E27FC236}">
                <a16:creationId xmlns:a16="http://schemas.microsoft.com/office/drawing/2014/main" id="{0D74238C-6802-B607-F21B-614C901B60B1}"/>
              </a:ext>
            </a:extLst>
          </p:cNvPr>
          <p:cNvSpPr txBox="1"/>
          <p:nvPr/>
        </p:nvSpPr>
        <p:spPr>
          <a:xfrm>
            <a:off x="4838467" y="10304849"/>
            <a:ext cx="9809266"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hlinkClick r:id="rId5">
                  <a:extLst>
                    <a:ext uri="{A12FA001-AC4F-418D-AE19-62706E023703}">
                      <ahyp:hlinkClr xmlns:ahyp="http://schemas.microsoft.com/office/drawing/2018/hyperlinkcolor" val="tx"/>
                    </a:ext>
                  </a:extLst>
                </a:hlinkClick>
              </a:rPr>
              <a:t>CC BY SA  </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Ruben Jacobo, Waylon Ho, Carlos Paradis • Kaiaulu package version 0.0.0.9600 (in development) •  Updated: 2023-12</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647" name="Group 646">
            <a:extLst>
              <a:ext uri="{FF2B5EF4-FFF2-40B4-BE49-F238E27FC236}">
                <a16:creationId xmlns:a16="http://schemas.microsoft.com/office/drawing/2014/main" id="{8878CE00-2B5C-0948-0C8B-1F4A27EA6D82}"/>
              </a:ext>
            </a:extLst>
          </p:cNvPr>
          <p:cNvGrpSpPr/>
          <p:nvPr/>
        </p:nvGrpSpPr>
        <p:grpSpPr>
          <a:xfrm>
            <a:off x="9541159" y="2174444"/>
            <a:ext cx="3848844" cy="6172184"/>
            <a:chOff x="9541159" y="2174444"/>
            <a:chExt cx="3848844" cy="6172184"/>
          </a:xfrm>
        </p:grpSpPr>
        <p:grpSp>
          <p:nvGrpSpPr>
            <p:cNvPr id="480" name="Group 479">
              <a:extLst>
                <a:ext uri="{FF2B5EF4-FFF2-40B4-BE49-F238E27FC236}">
                  <a16:creationId xmlns:a16="http://schemas.microsoft.com/office/drawing/2014/main" id="{7B783B39-B66F-FBC3-2513-EA129565B0E7}"/>
                </a:ext>
              </a:extLst>
            </p:cNvPr>
            <p:cNvGrpSpPr/>
            <p:nvPr/>
          </p:nvGrpSpPr>
          <p:grpSpPr>
            <a:xfrm>
              <a:off x="9541159" y="2174444"/>
              <a:ext cx="3848844" cy="6172184"/>
              <a:chOff x="870417" y="3616023"/>
              <a:chExt cx="3848844" cy="6172184"/>
            </a:xfrm>
          </p:grpSpPr>
          <p:sp>
            <p:nvSpPr>
              <p:cNvPr id="11" name="Rectangle 10">
                <a:extLst>
                  <a:ext uri="{FF2B5EF4-FFF2-40B4-BE49-F238E27FC236}">
                    <a16:creationId xmlns:a16="http://schemas.microsoft.com/office/drawing/2014/main" id="{6DBC6260-7EB1-FCD4-C231-520040DC39DC}"/>
                  </a:ext>
                </a:extLst>
              </p:cNvPr>
              <p:cNvSpPr/>
              <p:nvPr/>
            </p:nvSpPr>
            <p:spPr>
              <a:xfrm>
                <a:off x="870417" y="3627271"/>
                <a:ext cx="3848844" cy="6160936"/>
              </a:xfrm>
              <a:prstGeom prst="rect">
                <a:avLst/>
              </a:prstGeom>
              <a:ln w="12700"/>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pic>
            <p:nvPicPr>
              <p:cNvPr id="16" name="Picture 15" descr="Account ">
                <a:extLst>
                  <a:ext uri="{FF2B5EF4-FFF2-40B4-BE49-F238E27FC236}">
                    <a16:creationId xmlns:a16="http://schemas.microsoft.com/office/drawing/2014/main" id="{F7444261-59D3-36A8-CD75-EB4C88EE113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41298" y="4156809"/>
                <a:ext cx="306136" cy="306136"/>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1284">
                <a:extLst>
                  <a:ext uri="{FF2B5EF4-FFF2-40B4-BE49-F238E27FC236}">
                    <a16:creationId xmlns:a16="http://schemas.microsoft.com/office/drawing/2014/main" id="{8A4E4781-EF46-392D-2516-E65624E6955B}"/>
                  </a:ext>
                </a:extLst>
              </p:cNvPr>
              <p:cNvSpPr txBox="1"/>
              <p:nvPr/>
            </p:nvSpPr>
            <p:spPr>
              <a:xfrm>
                <a:off x="991912" y="3616023"/>
                <a:ext cx="3720890" cy="261610"/>
              </a:xfrm>
              <a:prstGeom prst="rect">
                <a:avLst/>
              </a:prstGeom>
              <a:noFill/>
            </p:spPr>
            <p:txBody>
              <a:bodyPr wrap="none" rtlCol="0">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r>
                  <a:rPr lang="en-US" sz="800" dirty="0"/>
                  <a:t>Code          Issues          </a:t>
                </a:r>
                <a:r>
                  <a:rPr lang="en-US" sz="1100" b="1" dirty="0"/>
                  <a:t>Pull Requests          </a:t>
                </a:r>
                <a:r>
                  <a:rPr lang="en-US" sz="800" dirty="0"/>
                  <a:t>Actions          Wiki          Security  </a:t>
                </a:r>
              </a:p>
            </p:txBody>
          </p:sp>
          <p:cxnSp>
            <p:nvCxnSpPr>
              <p:cNvPr id="32" name="Straight Connector 31">
                <a:extLst>
                  <a:ext uri="{FF2B5EF4-FFF2-40B4-BE49-F238E27FC236}">
                    <a16:creationId xmlns:a16="http://schemas.microsoft.com/office/drawing/2014/main" id="{82F4EFFD-F6B2-5609-CB60-50D8AC98F9BA}"/>
                  </a:ext>
                </a:extLst>
              </p:cNvPr>
              <p:cNvCxnSpPr>
                <a:cxnSpLocks/>
              </p:cNvCxnSpPr>
              <p:nvPr/>
            </p:nvCxnSpPr>
            <p:spPr>
              <a:xfrm>
                <a:off x="870417" y="3877633"/>
                <a:ext cx="3842385" cy="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5" name="Use headers, colors, and/or backgrounds to separate or group together sections.">
                <a:extLst>
                  <a:ext uri="{FF2B5EF4-FFF2-40B4-BE49-F238E27FC236}">
                    <a16:creationId xmlns:a16="http://schemas.microsoft.com/office/drawing/2014/main" id="{306FBB49-B89B-52EB-0ADA-0AAF90BA6A75}"/>
                  </a:ext>
                </a:extLst>
              </p:cNvPr>
              <p:cNvSpPr txBox="1"/>
              <p:nvPr/>
            </p:nvSpPr>
            <p:spPr>
              <a:xfrm>
                <a:off x="1455985" y="3883746"/>
                <a:ext cx="1356960" cy="256245"/>
              </a:xfrm>
              <a:prstGeom prst="rect">
                <a:avLst/>
              </a:prstGeom>
              <a:ln w="12700">
                <a:miter lim="400000"/>
              </a:ln>
              <a:extLst>
                <a:ext uri="{C572A759-6A51-4108-AA02-DFA0A04FC94B}">
                  <ma14:wrappingTextBoxFlag xmlns:lc="http://schemas.openxmlformats.org/drawingml/2006/lockedCanvas" xmlns:ma14="http://schemas.microsoft.com/office/mac/drawingml/2011/main" xmlns:a14="http://schemas.microsoft.com/office/drawing/2010/main" xmlns:m="http://schemas.openxmlformats.org/officeDocument/2006/math" xmlns="" val="1"/>
                </a:ext>
              </a:extLst>
            </p:spPr>
            <p:txBody>
              <a:bodyPr wrap="square" lIns="54570" tIns="54570" rIns="54570" bIns="5457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a:lnSpc>
                    <a:spcPct val="90000"/>
                  </a:lnSpc>
                  <a:buSzPts val="3700"/>
                </a:pPr>
                <a:r>
                  <a:rPr lang="en-US" b="0" dirty="0">
                    <a:latin typeface="Source Sans Pro" panose="020B0503030403020204" pitchFamily="34" charset="0"/>
                    <a:ea typeface="Source Sans Pro" panose="020B0503030403020204" pitchFamily="34" charset="0"/>
                    <a:cs typeface="Arial" panose="020B0604020202020204" pitchFamily="34" charset="0"/>
                  </a:rPr>
                  <a:t>Pull Request #330</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7"/>
                </a:endParaRPr>
              </a:p>
              <a:p>
                <a:pPr lvl="0">
                  <a:lnSpc>
                    <a:spcPct val="90000"/>
                  </a:lnSpc>
                  <a:buSzPts val="3700"/>
                </a:pP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7"/>
                </a:endParaRPr>
              </a:p>
            </p:txBody>
          </p:sp>
          <p:pic>
            <p:nvPicPr>
              <p:cNvPr id="59" name="Google Shape;214;p15">
                <a:extLst>
                  <a:ext uri="{FF2B5EF4-FFF2-40B4-BE49-F238E27FC236}">
                    <a16:creationId xmlns:a16="http://schemas.microsoft.com/office/drawing/2014/main" id="{14C9AEBA-0924-0240-201A-FA99FA42D2C4}"/>
                  </a:ext>
                </a:extLst>
              </p:cNvPr>
              <p:cNvPicPr preferRelativeResize="0"/>
              <p:nvPr/>
            </p:nvPicPr>
            <p:blipFill>
              <a:blip r:embed="rId8">
                <a:alphaModFix/>
              </a:blip>
              <a:stretch>
                <a:fillRect/>
              </a:stretch>
            </p:blipFill>
            <p:spPr>
              <a:xfrm>
                <a:off x="914022" y="4784929"/>
                <a:ext cx="476766" cy="456900"/>
              </a:xfrm>
              <a:prstGeom prst="rect">
                <a:avLst/>
              </a:prstGeom>
              <a:noFill/>
              <a:ln>
                <a:noFill/>
              </a:ln>
            </p:spPr>
          </p:pic>
          <p:sp>
            <p:nvSpPr>
              <p:cNvPr id="60" name="Google Shape;216;p15">
                <a:extLst>
                  <a:ext uri="{FF2B5EF4-FFF2-40B4-BE49-F238E27FC236}">
                    <a16:creationId xmlns:a16="http://schemas.microsoft.com/office/drawing/2014/main" id="{045F3410-17EA-D75D-8CC0-852CBE863877}"/>
                  </a:ext>
                </a:extLst>
              </p:cNvPr>
              <p:cNvSpPr/>
              <p:nvPr/>
            </p:nvSpPr>
            <p:spPr>
              <a:xfrm>
                <a:off x="1469668" y="4973530"/>
                <a:ext cx="3025431" cy="652091"/>
              </a:xfrm>
              <a:prstGeom prst="rect">
                <a:avLst/>
              </a:prstGeom>
              <a:solidFill>
                <a:schemeClr val="lt1"/>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sp>
            <p:nvSpPr>
              <p:cNvPr id="61" name="Google Shape;215;p15">
                <a:extLst>
                  <a:ext uri="{FF2B5EF4-FFF2-40B4-BE49-F238E27FC236}">
                    <a16:creationId xmlns:a16="http://schemas.microsoft.com/office/drawing/2014/main" id="{1381F04C-D851-5915-0833-7A729191E844}"/>
                  </a:ext>
                </a:extLst>
              </p:cNvPr>
              <p:cNvSpPr/>
              <p:nvPr/>
            </p:nvSpPr>
            <p:spPr>
              <a:xfrm>
                <a:off x="1467748" y="4759190"/>
                <a:ext cx="3025431" cy="232375"/>
              </a:xfrm>
              <a:prstGeom prst="rect">
                <a:avLst/>
              </a:prstGeom>
              <a:solidFill>
                <a:schemeClr val="lt2"/>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839" dirty="0"/>
              </a:p>
              <a:p>
                <a:pPr>
                  <a:spcBef>
                    <a:spcPts val="0"/>
                  </a:spcBef>
                </a:pPr>
                <a:endParaRPr sz="839" dirty="0"/>
              </a:p>
              <a:p>
                <a:pPr>
                  <a:spcBef>
                    <a:spcPts val="0"/>
                  </a:spcBef>
                </a:pPr>
                <a:r>
                  <a:rPr lang="en" sz="839" dirty="0">
                    <a:solidFill>
                      <a:schemeClr val="tx1">
                        <a:lumMod val="50000"/>
                      </a:schemeClr>
                    </a:solidFill>
                  </a:rPr>
                  <a:t>Codecov </a:t>
                </a:r>
                <a:r>
                  <a:rPr lang="en" sz="839" b="0" dirty="0">
                    <a:solidFill>
                      <a:schemeClr val="tx1">
                        <a:lumMod val="50000"/>
                      </a:schemeClr>
                    </a:solidFill>
                  </a:rPr>
                  <a:t>commented on Mar 27</a:t>
                </a:r>
                <a:endParaRPr sz="839" b="0" dirty="0">
                  <a:solidFill>
                    <a:schemeClr val="tx1">
                      <a:lumMod val="50000"/>
                    </a:schemeClr>
                  </a:solidFill>
                </a:endParaRPr>
              </a:p>
              <a:p>
                <a:pPr>
                  <a:spcBef>
                    <a:spcPts val="0"/>
                  </a:spcBef>
                </a:pPr>
                <a:endParaRPr sz="1956" dirty="0"/>
              </a:p>
            </p:txBody>
          </p:sp>
          <p:sp>
            <p:nvSpPr>
              <p:cNvPr id="62" name="Google Shape;217;p15">
                <a:extLst>
                  <a:ext uri="{FF2B5EF4-FFF2-40B4-BE49-F238E27FC236}">
                    <a16:creationId xmlns:a16="http://schemas.microsoft.com/office/drawing/2014/main" id="{38C1EBDA-AB35-A86D-EBA8-A7045390CA30}"/>
                  </a:ext>
                </a:extLst>
              </p:cNvPr>
              <p:cNvSpPr txBox="1"/>
              <p:nvPr/>
            </p:nvSpPr>
            <p:spPr>
              <a:xfrm>
                <a:off x="1396836" y="4941265"/>
                <a:ext cx="2116583" cy="554125"/>
              </a:xfrm>
              <a:prstGeom prst="rect">
                <a:avLst/>
              </a:prstGeom>
              <a:noFill/>
              <a:ln>
                <a:noFill/>
              </a:ln>
            </p:spPr>
            <p:txBody>
              <a:bodyPr spcFirstLastPara="1" wrap="square" lIns="127722" tIns="127722" rIns="127722" bIns="127722" anchor="t" anchorCtr="0">
                <a:noAutofit/>
              </a:bodyPr>
              <a:lstStyle/>
              <a:p>
                <a:pPr>
                  <a:spcBef>
                    <a:spcPts val="0"/>
                  </a:spcBef>
                </a:pPr>
                <a:r>
                  <a:rPr lang="en" sz="839" dirty="0">
                    <a:solidFill>
                      <a:srgbClr val="1F2328"/>
                    </a:solidFill>
                    <a:highlight>
                      <a:srgbClr val="FFFFFF"/>
                    </a:highlight>
                  </a:rPr>
                  <a:t>❌ Patch coverage is…</a:t>
                </a:r>
                <a:endParaRPr sz="839" dirty="0">
                  <a:solidFill>
                    <a:srgbClr val="1F2328"/>
                  </a:solidFill>
                  <a:highlight>
                    <a:srgbClr val="FFFFFF"/>
                  </a:highlight>
                </a:endParaRPr>
              </a:p>
              <a:p>
                <a:pPr>
                  <a:spcBef>
                    <a:spcPts val="0"/>
                  </a:spcBef>
                </a:pPr>
                <a:r>
                  <a:rPr lang="en" sz="839" dirty="0">
                    <a:solidFill>
                      <a:srgbClr val="1F2328"/>
                    </a:solidFill>
                    <a:highlight>
                      <a:srgbClr val="FFFFFF"/>
                    </a:highlight>
                  </a:rPr>
                  <a:t>✅ Project coverage is…</a:t>
                </a:r>
                <a:endParaRPr sz="839" dirty="0">
                  <a:solidFill>
                    <a:srgbClr val="1F2328"/>
                  </a:solidFill>
                  <a:highlight>
                    <a:srgbClr val="FFFFFF"/>
                  </a:highlight>
                </a:endParaRPr>
              </a:p>
              <a:p>
                <a:pPr>
                  <a:spcBef>
                    <a:spcPts val="0"/>
                  </a:spcBef>
                </a:pPr>
                <a:r>
                  <a:rPr lang="en" sz="839" dirty="0">
                    <a:solidFill>
                      <a:srgbClr val="1F2328"/>
                    </a:solidFill>
                    <a:highlight>
                      <a:srgbClr val="FFFFFF"/>
                    </a:highlight>
                  </a:rPr>
                  <a:t>⚠️ Report is…</a:t>
                </a:r>
                <a:endParaRPr sz="839" dirty="0">
                  <a:solidFill>
                    <a:srgbClr val="1F2328"/>
                  </a:solidFill>
                  <a:highlight>
                    <a:srgbClr val="FFFFFF"/>
                  </a:highlight>
                </a:endParaRPr>
              </a:p>
            </p:txBody>
          </p:sp>
          <p:pic>
            <p:nvPicPr>
              <p:cNvPr id="448" name="Google Shape;227;p15">
                <a:extLst>
                  <a:ext uri="{FF2B5EF4-FFF2-40B4-BE49-F238E27FC236}">
                    <a16:creationId xmlns:a16="http://schemas.microsoft.com/office/drawing/2014/main" id="{732384A7-4D20-EA15-90D3-D68F26CCAE30}"/>
                  </a:ext>
                </a:extLst>
              </p:cNvPr>
              <p:cNvPicPr preferRelativeResize="0"/>
              <p:nvPr/>
            </p:nvPicPr>
            <p:blipFill>
              <a:blip r:embed="rId9">
                <a:alphaModFix/>
              </a:blip>
              <a:stretch>
                <a:fillRect/>
              </a:stretch>
            </p:blipFill>
            <p:spPr>
              <a:xfrm>
                <a:off x="955980" y="5812064"/>
                <a:ext cx="476772" cy="434075"/>
              </a:xfrm>
              <a:prstGeom prst="rect">
                <a:avLst/>
              </a:prstGeom>
              <a:noFill/>
              <a:ln>
                <a:noFill/>
              </a:ln>
            </p:spPr>
          </p:pic>
          <p:pic>
            <p:nvPicPr>
              <p:cNvPr id="449" name="Google Shape;206;p15">
                <a:extLst>
                  <a:ext uri="{FF2B5EF4-FFF2-40B4-BE49-F238E27FC236}">
                    <a16:creationId xmlns:a16="http://schemas.microsoft.com/office/drawing/2014/main" id="{34743E0D-D73A-1192-3FC5-6C106914D9FC}"/>
                  </a:ext>
                </a:extLst>
              </p:cNvPr>
              <p:cNvPicPr preferRelativeResize="0"/>
              <p:nvPr/>
            </p:nvPicPr>
            <p:blipFill rotWithShape="1">
              <a:blip r:embed="rId10">
                <a:alphaModFix/>
              </a:blip>
              <a:srcRect r="56805" b="59527"/>
              <a:stretch/>
            </p:blipFill>
            <p:spPr>
              <a:xfrm>
                <a:off x="1474313" y="8180149"/>
                <a:ext cx="3020786" cy="737988"/>
              </a:xfrm>
              <a:prstGeom prst="rect">
                <a:avLst/>
              </a:prstGeom>
              <a:noFill/>
              <a:ln>
                <a:noFill/>
              </a:ln>
            </p:spPr>
          </p:pic>
          <p:pic>
            <p:nvPicPr>
              <p:cNvPr id="450" name="Google Shape;207;p15">
                <a:extLst>
                  <a:ext uri="{FF2B5EF4-FFF2-40B4-BE49-F238E27FC236}">
                    <a16:creationId xmlns:a16="http://schemas.microsoft.com/office/drawing/2014/main" id="{64065C88-01D9-7C44-3B16-35A116BA60DB}"/>
                  </a:ext>
                </a:extLst>
              </p:cNvPr>
              <p:cNvPicPr preferRelativeResize="0"/>
              <p:nvPr/>
            </p:nvPicPr>
            <p:blipFill rotWithShape="1">
              <a:blip r:embed="rId11">
                <a:alphaModFix/>
              </a:blip>
              <a:srcRect r="49675"/>
              <a:stretch/>
            </p:blipFill>
            <p:spPr>
              <a:xfrm>
                <a:off x="1466614" y="7582857"/>
                <a:ext cx="3053268" cy="585347"/>
              </a:xfrm>
              <a:prstGeom prst="rect">
                <a:avLst/>
              </a:prstGeom>
              <a:noFill/>
              <a:ln>
                <a:noFill/>
              </a:ln>
            </p:spPr>
          </p:pic>
          <p:pic>
            <p:nvPicPr>
              <p:cNvPr id="451" name="Google Shape;208;p15">
                <a:extLst>
                  <a:ext uri="{FF2B5EF4-FFF2-40B4-BE49-F238E27FC236}">
                    <a16:creationId xmlns:a16="http://schemas.microsoft.com/office/drawing/2014/main" id="{516F6538-6B53-88B4-E84D-5EEF653028C7}"/>
                  </a:ext>
                </a:extLst>
              </p:cNvPr>
              <p:cNvPicPr preferRelativeResize="0"/>
              <p:nvPr/>
            </p:nvPicPr>
            <p:blipFill rotWithShape="1">
              <a:blip r:embed="rId10">
                <a:alphaModFix/>
              </a:blip>
              <a:srcRect r="51536" b="66346"/>
              <a:stretch/>
            </p:blipFill>
            <p:spPr>
              <a:xfrm>
                <a:off x="1478995" y="6325833"/>
                <a:ext cx="3018340" cy="1245849"/>
              </a:xfrm>
              <a:prstGeom prst="rect">
                <a:avLst/>
              </a:prstGeom>
              <a:noFill/>
              <a:ln>
                <a:noFill/>
              </a:ln>
            </p:spPr>
          </p:pic>
          <p:pic>
            <p:nvPicPr>
              <p:cNvPr id="453" name="Google Shape;226;p15">
                <a:extLst>
                  <a:ext uri="{FF2B5EF4-FFF2-40B4-BE49-F238E27FC236}">
                    <a16:creationId xmlns:a16="http://schemas.microsoft.com/office/drawing/2014/main" id="{444DAA16-2286-4525-B1AA-F486FBF227DF}"/>
                  </a:ext>
                </a:extLst>
              </p:cNvPr>
              <p:cNvPicPr preferRelativeResize="0"/>
              <p:nvPr/>
            </p:nvPicPr>
            <p:blipFill>
              <a:blip r:embed="rId12">
                <a:alphaModFix/>
              </a:blip>
              <a:stretch>
                <a:fillRect/>
              </a:stretch>
            </p:blipFill>
            <p:spPr>
              <a:xfrm>
                <a:off x="1520465" y="5876512"/>
                <a:ext cx="418118" cy="397419"/>
              </a:xfrm>
              <a:prstGeom prst="rect">
                <a:avLst/>
              </a:prstGeom>
              <a:noFill/>
              <a:ln>
                <a:noFill/>
              </a:ln>
            </p:spPr>
          </p:pic>
          <p:sp>
            <p:nvSpPr>
              <p:cNvPr id="455" name="Google Shape;228;p15">
                <a:extLst>
                  <a:ext uri="{FF2B5EF4-FFF2-40B4-BE49-F238E27FC236}">
                    <a16:creationId xmlns:a16="http://schemas.microsoft.com/office/drawing/2014/main" id="{45EE0D4A-44D9-8E1F-7255-D94C683C1F46}"/>
                  </a:ext>
                </a:extLst>
              </p:cNvPr>
              <p:cNvSpPr txBox="1"/>
              <p:nvPr/>
            </p:nvSpPr>
            <p:spPr>
              <a:xfrm>
                <a:off x="1866920" y="5853986"/>
                <a:ext cx="1995583" cy="204417"/>
              </a:xfrm>
              <a:prstGeom prst="rect">
                <a:avLst/>
              </a:prstGeom>
              <a:noFill/>
              <a:ln>
                <a:noFill/>
              </a:ln>
            </p:spPr>
            <p:txBody>
              <a:bodyPr spcFirstLastPara="1" wrap="square" lIns="127722" tIns="127722" rIns="127722" bIns="127722" anchor="t" anchorCtr="0">
                <a:noAutofit/>
              </a:bodyPr>
              <a:lstStyle/>
              <a:p>
                <a:pPr>
                  <a:spcBef>
                    <a:spcPts val="0"/>
                  </a:spcBef>
                </a:pPr>
                <a:r>
                  <a:rPr lang="en" sz="1117" dirty="0">
                    <a:solidFill>
                      <a:schemeClr val="dk1"/>
                    </a:solidFill>
                  </a:rPr>
                  <a:t>Changes Reviewed</a:t>
                </a:r>
                <a:endParaRPr sz="1117" dirty="0">
                  <a:solidFill>
                    <a:schemeClr val="dk1"/>
                  </a:solidFill>
                </a:endParaRPr>
              </a:p>
            </p:txBody>
          </p:sp>
          <p:cxnSp>
            <p:nvCxnSpPr>
              <p:cNvPr id="456" name="Google Shape;229;p15">
                <a:extLst>
                  <a:ext uri="{FF2B5EF4-FFF2-40B4-BE49-F238E27FC236}">
                    <a16:creationId xmlns:a16="http://schemas.microsoft.com/office/drawing/2014/main" id="{3C702B58-2300-B401-97CE-08108ABCDFEC}"/>
                  </a:ext>
                </a:extLst>
              </p:cNvPr>
              <p:cNvCxnSpPr/>
              <p:nvPr/>
            </p:nvCxnSpPr>
            <p:spPr>
              <a:xfrm>
                <a:off x="1467748" y="6324819"/>
                <a:ext cx="3040125" cy="0"/>
              </a:xfrm>
              <a:prstGeom prst="straightConnector1">
                <a:avLst/>
              </a:prstGeom>
              <a:noFill/>
              <a:ln w="8700" cap="flat" cmpd="sng">
                <a:solidFill>
                  <a:schemeClr val="dk2"/>
                </a:solidFill>
                <a:prstDash val="solid"/>
                <a:round/>
                <a:headEnd type="none" w="med" len="med"/>
                <a:tailEnd type="none" w="med" len="med"/>
              </a:ln>
            </p:spPr>
          </p:cxnSp>
          <p:pic>
            <p:nvPicPr>
              <p:cNvPr id="457" name="Google Shape;230;p15">
                <a:extLst>
                  <a:ext uri="{FF2B5EF4-FFF2-40B4-BE49-F238E27FC236}">
                    <a16:creationId xmlns:a16="http://schemas.microsoft.com/office/drawing/2014/main" id="{B251C0E6-6BAB-DDF0-E42B-FC32D60B48CE}"/>
                  </a:ext>
                </a:extLst>
              </p:cNvPr>
              <p:cNvPicPr preferRelativeResize="0"/>
              <p:nvPr/>
            </p:nvPicPr>
            <p:blipFill>
              <a:blip r:embed="rId13">
                <a:alphaModFix/>
              </a:blip>
              <a:stretch>
                <a:fillRect/>
              </a:stretch>
            </p:blipFill>
            <p:spPr>
              <a:xfrm>
                <a:off x="1576377" y="6953035"/>
                <a:ext cx="233220" cy="273781"/>
              </a:xfrm>
              <a:prstGeom prst="rect">
                <a:avLst/>
              </a:prstGeom>
              <a:noFill/>
              <a:ln>
                <a:noFill/>
              </a:ln>
            </p:spPr>
          </p:pic>
          <p:pic>
            <p:nvPicPr>
              <p:cNvPr id="458" name="Google Shape;231;p15">
                <a:extLst>
                  <a:ext uri="{FF2B5EF4-FFF2-40B4-BE49-F238E27FC236}">
                    <a16:creationId xmlns:a16="http://schemas.microsoft.com/office/drawing/2014/main" id="{79E6AED3-6BF2-FB9D-1228-93F2F3DA5D84}"/>
                  </a:ext>
                </a:extLst>
              </p:cNvPr>
              <p:cNvPicPr preferRelativeResize="0"/>
              <p:nvPr/>
            </p:nvPicPr>
            <p:blipFill>
              <a:blip r:embed="rId10">
                <a:alphaModFix/>
              </a:blip>
              <a:stretch>
                <a:fillRect/>
              </a:stretch>
            </p:blipFill>
            <p:spPr>
              <a:xfrm>
                <a:off x="1530785" y="6396970"/>
                <a:ext cx="288926" cy="211878"/>
              </a:xfrm>
              <a:prstGeom prst="rect">
                <a:avLst/>
              </a:prstGeom>
              <a:noFill/>
              <a:ln>
                <a:noFill/>
              </a:ln>
            </p:spPr>
          </p:pic>
          <p:pic>
            <p:nvPicPr>
              <p:cNvPr id="459" name="Google Shape;232;p15">
                <a:extLst>
                  <a:ext uri="{FF2B5EF4-FFF2-40B4-BE49-F238E27FC236}">
                    <a16:creationId xmlns:a16="http://schemas.microsoft.com/office/drawing/2014/main" id="{A17E2D31-CE67-50F7-028B-7CA27B50F918}"/>
                  </a:ext>
                </a:extLst>
              </p:cNvPr>
              <p:cNvPicPr preferRelativeResize="0"/>
              <p:nvPr/>
            </p:nvPicPr>
            <p:blipFill>
              <a:blip r:embed="rId14">
                <a:alphaModFix/>
              </a:blip>
              <a:stretch>
                <a:fillRect/>
              </a:stretch>
            </p:blipFill>
            <p:spPr>
              <a:xfrm>
                <a:off x="1523888" y="6653098"/>
                <a:ext cx="275348" cy="232624"/>
              </a:xfrm>
              <a:prstGeom prst="rect">
                <a:avLst/>
              </a:prstGeom>
              <a:noFill/>
              <a:ln>
                <a:noFill/>
              </a:ln>
            </p:spPr>
          </p:pic>
          <p:pic>
            <p:nvPicPr>
              <p:cNvPr id="460" name="Google Shape;233;p15">
                <a:extLst>
                  <a:ext uri="{FF2B5EF4-FFF2-40B4-BE49-F238E27FC236}">
                    <a16:creationId xmlns:a16="http://schemas.microsoft.com/office/drawing/2014/main" id="{BFFBEC52-74AD-E227-4BC1-F9F8A6F66105}"/>
                  </a:ext>
                </a:extLst>
              </p:cNvPr>
              <p:cNvPicPr preferRelativeResize="0"/>
              <p:nvPr/>
            </p:nvPicPr>
            <p:blipFill>
              <a:blip r:embed="rId15">
                <a:alphaModFix/>
              </a:blip>
              <a:stretch>
                <a:fillRect/>
              </a:stretch>
            </p:blipFill>
            <p:spPr>
              <a:xfrm>
                <a:off x="1546046" y="8251899"/>
                <a:ext cx="253223" cy="282442"/>
              </a:xfrm>
              <a:prstGeom prst="rect">
                <a:avLst/>
              </a:prstGeom>
              <a:noFill/>
              <a:ln>
                <a:noFill/>
              </a:ln>
            </p:spPr>
          </p:pic>
          <p:sp>
            <p:nvSpPr>
              <p:cNvPr id="461" name="Google Shape;234;p15">
                <a:extLst>
                  <a:ext uri="{FF2B5EF4-FFF2-40B4-BE49-F238E27FC236}">
                    <a16:creationId xmlns:a16="http://schemas.microsoft.com/office/drawing/2014/main" id="{832836FC-15EA-89FA-526D-9FDEAD5A561F}"/>
                  </a:ext>
                </a:extLst>
              </p:cNvPr>
              <p:cNvSpPr/>
              <p:nvPr/>
            </p:nvSpPr>
            <p:spPr>
              <a:xfrm>
                <a:off x="1629407" y="8282439"/>
                <a:ext cx="2788500" cy="232375"/>
              </a:xfrm>
              <a:prstGeom prst="rect">
                <a:avLst/>
              </a:prstGeom>
              <a:noFill/>
              <a:ln>
                <a:noFill/>
              </a:ln>
            </p:spPr>
            <p:txBody>
              <a:bodyPr spcFirstLastPara="1" wrap="square" lIns="127722" tIns="127722" rIns="127722" bIns="127722" anchor="ctr" anchorCtr="0">
                <a:noAutofit/>
              </a:bodyPr>
              <a:lstStyle/>
              <a:p>
                <a:pPr>
                  <a:spcBef>
                    <a:spcPts val="0"/>
                  </a:spcBef>
                  <a:buClr>
                    <a:schemeClr val="dk1"/>
                  </a:buClr>
                  <a:buSzPts val="1006"/>
                </a:pPr>
                <a:r>
                  <a:rPr lang="en" sz="839">
                    <a:solidFill>
                      <a:schemeClr val="dk1"/>
                    </a:solidFill>
                  </a:rPr>
                  <a:t>   </a:t>
                </a:r>
                <a:r>
                  <a:rPr lang="en" sz="839">
                    <a:solidFill>
                      <a:srgbClr val="1F2328"/>
                    </a:solidFill>
                  </a:rPr>
                  <a:t>           test-coverage/test-coverage(4.4)</a:t>
                </a:r>
                <a:endParaRPr sz="1956"/>
              </a:p>
            </p:txBody>
          </p:sp>
          <p:sp>
            <p:nvSpPr>
              <p:cNvPr id="462" name="Google Shape;235;p15">
                <a:extLst>
                  <a:ext uri="{FF2B5EF4-FFF2-40B4-BE49-F238E27FC236}">
                    <a16:creationId xmlns:a16="http://schemas.microsoft.com/office/drawing/2014/main" id="{207242FD-E4E9-4F80-8F4E-292D9F005433}"/>
                  </a:ext>
                </a:extLst>
              </p:cNvPr>
              <p:cNvSpPr/>
              <p:nvPr/>
            </p:nvSpPr>
            <p:spPr>
              <a:xfrm>
                <a:off x="1629374" y="8621717"/>
                <a:ext cx="2788500" cy="232375"/>
              </a:xfrm>
              <a:prstGeom prst="rect">
                <a:avLst/>
              </a:prstGeom>
              <a:noFill/>
              <a:ln>
                <a:noFill/>
              </a:ln>
            </p:spPr>
            <p:txBody>
              <a:bodyPr spcFirstLastPara="1" wrap="square" lIns="127722" tIns="127722" rIns="127722" bIns="127722" anchor="ctr" anchorCtr="0">
                <a:noAutofit/>
              </a:bodyPr>
              <a:lstStyle/>
              <a:p>
                <a:pPr>
                  <a:spcBef>
                    <a:spcPts val="0"/>
                  </a:spcBef>
                </a:pPr>
                <a:r>
                  <a:rPr lang="en" sz="839"/>
                  <a:t>              R-CMD-check</a:t>
                </a:r>
                <a:endParaRPr sz="839"/>
              </a:p>
            </p:txBody>
          </p:sp>
          <p:sp>
            <p:nvSpPr>
              <p:cNvPr id="463" name="Google Shape;236;p15">
                <a:extLst>
                  <a:ext uri="{FF2B5EF4-FFF2-40B4-BE49-F238E27FC236}">
                    <a16:creationId xmlns:a16="http://schemas.microsoft.com/office/drawing/2014/main" id="{20188F57-B68F-839E-A1DA-4A99775E862E}"/>
                  </a:ext>
                </a:extLst>
              </p:cNvPr>
              <p:cNvSpPr/>
              <p:nvPr/>
            </p:nvSpPr>
            <p:spPr>
              <a:xfrm>
                <a:off x="1830220" y="8318797"/>
                <a:ext cx="165458" cy="162708"/>
              </a:xfrm>
              <a:prstGeom prst="roundRect">
                <a:avLst>
                  <a:gd name="adj" fmla="val 16667"/>
                </a:avLst>
              </a:prstGeom>
              <a:solidFill>
                <a:schemeClr val="dk1"/>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464" name="Google Shape;237;p15">
                <a:extLst>
                  <a:ext uri="{FF2B5EF4-FFF2-40B4-BE49-F238E27FC236}">
                    <a16:creationId xmlns:a16="http://schemas.microsoft.com/office/drawing/2014/main" id="{D19C30D9-6EB9-5F3B-E2CF-5F59B915AA00}"/>
                  </a:ext>
                </a:extLst>
              </p:cNvPr>
              <p:cNvSpPr txBox="1"/>
              <p:nvPr/>
            </p:nvSpPr>
            <p:spPr>
              <a:xfrm>
                <a:off x="1729524" y="8229908"/>
                <a:ext cx="416167" cy="232375"/>
              </a:xfrm>
              <a:prstGeom prst="rect">
                <a:avLst/>
              </a:prstGeom>
              <a:noFill/>
              <a:ln>
                <a:noFill/>
              </a:ln>
            </p:spPr>
            <p:txBody>
              <a:bodyPr spcFirstLastPara="1" wrap="square" lIns="127722" tIns="127722" rIns="127722" bIns="127722" anchor="t" anchorCtr="0">
                <a:noAutofit/>
              </a:bodyPr>
              <a:lstStyle/>
              <a:p>
                <a:pPr>
                  <a:spcBef>
                    <a:spcPts val="0"/>
                  </a:spcBef>
                </a:pPr>
                <a:r>
                  <a:rPr lang="en" sz="698" dirty="0">
                    <a:solidFill>
                      <a:schemeClr val="lt1"/>
                    </a:solidFill>
                  </a:rPr>
                  <a:t>GH</a:t>
                </a:r>
                <a:endParaRPr sz="698" dirty="0">
                  <a:solidFill>
                    <a:schemeClr val="lt1"/>
                  </a:solidFill>
                </a:endParaRPr>
              </a:p>
            </p:txBody>
          </p:sp>
          <p:sp>
            <p:nvSpPr>
              <p:cNvPr id="465" name="Google Shape;238;p15">
                <a:extLst>
                  <a:ext uri="{FF2B5EF4-FFF2-40B4-BE49-F238E27FC236}">
                    <a16:creationId xmlns:a16="http://schemas.microsoft.com/office/drawing/2014/main" id="{CED13EEC-61C0-47F3-1650-77DCB6ED405E}"/>
                  </a:ext>
                </a:extLst>
              </p:cNvPr>
              <p:cNvSpPr/>
              <p:nvPr/>
            </p:nvSpPr>
            <p:spPr>
              <a:xfrm>
                <a:off x="1835613" y="8653245"/>
                <a:ext cx="165458" cy="162708"/>
              </a:xfrm>
              <a:prstGeom prst="roundRect">
                <a:avLst>
                  <a:gd name="adj" fmla="val 16667"/>
                </a:avLst>
              </a:prstGeom>
              <a:solidFill>
                <a:schemeClr val="dk1"/>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466" name="Google Shape;239;p15">
                <a:extLst>
                  <a:ext uri="{FF2B5EF4-FFF2-40B4-BE49-F238E27FC236}">
                    <a16:creationId xmlns:a16="http://schemas.microsoft.com/office/drawing/2014/main" id="{CD9F7647-E75F-EC9F-EFD1-704BF7C561C0}"/>
                  </a:ext>
                </a:extLst>
              </p:cNvPr>
              <p:cNvSpPr txBox="1"/>
              <p:nvPr/>
            </p:nvSpPr>
            <p:spPr>
              <a:xfrm>
                <a:off x="1730499" y="8555049"/>
                <a:ext cx="416167" cy="232375"/>
              </a:xfrm>
              <a:prstGeom prst="rect">
                <a:avLst/>
              </a:prstGeom>
              <a:noFill/>
              <a:ln>
                <a:noFill/>
              </a:ln>
            </p:spPr>
            <p:txBody>
              <a:bodyPr spcFirstLastPara="1" wrap="square" lIns="127722" tIns="127722" rIns="127722" bIns="127722" anchor="t" anchorCtr="0">
                <a:noAutofit/>
              </a:bodyPr>
              <a:lstStyle/>
              <a:p>
                <a:pPr>
                  <a:spcBef>
                    <a:spcPts val="0"/>
                  </a:spcBef>
                </a:pPr>
                <a:r>
                  <a:rPr lang="en" sz="698" dirty="0">
                    <a:solidFill>
                      <a:schemeClr val="lt1"/>
                    </a:solidFill>
                  </a:rPr>
                  <a:t>GH</a:t>
                </a:r>
                <a:endParaRPr sz="698" dirty="0">
                  <a:solidFill>
                    <a:schemeClr val="lt1"/>
                  </a:solidFill>
                </a:endParaRPr>
              </a:p>
            </p:txBody>
          </p:sp>
          <p:sp>
            <p:nvSpPr>
              <p:cNvPr id="467" name="Google Shape;240;p15">
                <a:extLst>
                  <a:ext uri="{FF2B5EF4-FFF2-40B4-BE49-F238E27FC236}">
                    <a16:creationId xmlns:a16="http://schemas.microsoft.com/office/drawing/2014/main" id="{C8AAAE3D-919C-6E75-4336-69C5EC43DADC}"/>
                  </a:ext>
                </a:extLst>
              </p:cNvPr>
              <p:cNvSpPr txBox="1"/>
              <p:nvPr/>
            </p:nvSpPr>
            <p:spPr>
              <a:xfrm>
                <a:off x="1694050" y="6325762"/>
                <a:ext cx="970292"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a:solidFill>
                      <a:srgbClr val="999999"/>
                    </a:solidFill>
                  </a:rPr>
                  <a:t>1 approval</a:t>
                </a:r>
                <a:endParaRPr sz="978">
                  <a:solidFill>
                    <a:srgbClr val="999999"/>
                  </a:solidFill>
                </a:endParaRPr>
              </a:p>
              <a:p>
                <a:pPr>
                  <a:spcBef>
                    <a:spcPts val="0"/>
                  </a:spcBef>
                </a:pPr>
                <a:endParaRPr sz="978">
                  <a:solidFill>
                    <a:srgbClr val="999999"/>
                  </a:solidFill>
                </a:endParaRPr>
              </a:p>
              <a:p>
                <a:pPr>
                  <a:spcBef>
                    <a:spcPts val="0"/>
                  </a:spcBef>
                </a:pPr>
                <a:r>
                  <a:rPr lang="en" sz="978">
                    <a:solidFill>
                      <a:srgbClr val="999999"/>
                    </a:solidFill>
                  </a:rPr>
                  <a:t> </a:t>
                </a:r>
                <a:endParaRPr sz="978">
                  <a:solidFill>
                    <a:srgbClr val="999999"/>
                  </a:solidFill>
                </a:endParaRPr>
              </a:p>
            </p:txBody>
          </p:sp>
          <p:sp>
            <p:nvSpPr>
              <p:cNvPr id="468" name="Google Shape;241;p15">
                <a:extLst>
                  <a:ext uri="{FF2B5EF4-FFF2-40B4-BE49-F238E27FC236}">
                    <a16:creationId xmlns:a16="http://schemas.microsoft.com/office/drawing/2014/main" id="{BAEC8FCE-EA8B-0C97-8AD2-75515FCB47BB}"/>
                  </a:ext>
                </a:extLst>
              </p:cNvPr>
              <p:cNvSpPr txBox="1"/>
              <p:nvPr/>
            </p:nvSpPr>
            <p:spPr>
              <a:xfrm>
                <a:off x="1707043" y="6907723"/>
                <a:ext cx="1532667"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a:solidFill>
                      <a:srgbClr val="999999"/>
                    </a:solidFill>
                  </a:rPr>
                  <a:t>1 requested change</a:t>
                </a:r>
                <a:endParaRPr sz="978">
                  <a:solidFill>
                    <a:srgbClr val="999999"/>
                  </a:solidFill>
                </a:endParaRPr>
              </a:p>
            </p:txBody>
          </p:sp>
          <p:sp>
            <p:nvSpPr>
              <p:cNvPr id="469" name="Google Shape;242;p15">
                <a:extLst>
                  <a:ext uri="{FF2B5EF4-FFF2-40B4-BE49-F238E27FC236}">
                    <a16:creationId xmlns:a16="http://schemas.microsoft.com/office/drawing/2014/main" id="{96564F68-4D55-BF5C-BD93-CDFD6980947C}"/>
                  </a:ext>
                </a:extLst>
              </p:cNvPr>
              <p:cNvSpPr txBox="1"/>
              <p:nvPr/>
            </p:nvSpPr>
            <p:spPr>
              <a:xfrm>
                <a:off x="1705960" y="6587163"/>
                <a:ext cx="2640000"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dirty="0">
                    <a:solidFill>
                      <a:schemeClr val="dk1"/>
                    </a:solidFill>
                  </a:rPr>
                  <a:t>Quality Reviewer    </a:t>
                </a:r>
                <a:r>
                  <a:rPr lang="en" sz="839" dirty="0">
                    <a:solidFill>
                      <a:schemeClr val="dk1"/>
                    </a:solidFill>
                  </a:rPr>
                  <a:t> </a:t>
                </a:r>
                <a:r>
                  <a:rPr lang="en" sz="839" dirty="0">
                    <a:solidFill>
                      <a:srgbClr val="999999"/>
                    </a:solidFill>
                  </a:rPr>
                  <a:t> Approved these changes</a:t>
                </a:r>
                <a:endParaRPr sz="839" dirty="0">
                  <a:solidFill>
                    <a:srgbClr val="999999"/>
                  </a:solidFill>
                </a:endParaRPr>
              </a:p>
              <a:p>
                <a:pPr>
                  <a:spcBef>
                    <a:spcPts val="0"/>
                  </a:spcBef>
                </a:pPr>
                <a:endParaRPr sz="978" dirty="0">
                  <a:solidFill>
                    <a:srgbClr val="999999"/>
                  </a:solidFill>
                </a:endParaRPr>
              </a:p>
              <a:p>
                <a:pPr>
                  <a:spcBef>
                    <a:spcPts val="0"/>
                  </a:spcBef>
                </a:pPr>
                <a:r>
                  <a:rPr lang="en" sz="978" dirty="0">
                    <a:solidFill>
                      <a:srgbClr val="999999"/>
                    </a:solidFill>
                  </a:rPr>
                  <a:t> </a:t>
                </a:r>
                <a:endParaRPr sz="978" dirty="0">
                  <a:solidFill>
                    <a:srgbClr val="999999"/>
                  </a:solidFill>
                </a:endParaRPr>
              </a:p>
            </p:txBody>
          </p:sp>
          <p:pic>
            <p:nvPicPr>
              <p:cNvPr id="470" name="Google Shape;243;p15">
                <a:extLst>
                  <a:ext uri="{FF2B5EF4-FFF2-40B4-BE49-F238E27FC236}">
                    <a16:creationId xmlns:a16="http://schemas.microsoft.com/office/drawing/2014/main" id="{C5DF2FB1-5608-11BF-C1CA-9FFD8BD89CF5}"/>
                  </a:ext>
                </a:extLst>
              </p:cNvPr>
              <p:cNvPicPr preferRelativeResize="0"/>
              <p:nvPr/>
            </p:nvPicPr>
            <p:blipFill>
              <a:blip r:embed="rId14">
                <a:alphaModFix/>
              </a:blip>
              <a:stretch>
                <a:fillRect/>
              </a:stretch>
            </p:blipFill>
            <p:spPr>
              <a:xfrm>
                <a:off x="1535831" y="7247141"/>
                <a:ext cx="275348" cy="232624"/>
              </a:xfrm>
              <a:prstGeom prst="rect">
                <a:avLst/>
              </a:prstGeom>
              <a:noFill/>
              <a:ln>
                <a:noFill/>
              </a:ln>
            </p:spPr>
          </p:pic>
          <p:sp>
            <p:nvSpPr>
              <p:cNvPr id="471" name="Google Shape;244;p15">
                <a:extLst>
                  <a:ext uri="{FF2B5EF4-FFF2-40B4-BE49-F238E27FC236}">
                    <a16:creationId xmlns:a16="http://schemas.microsoft.com/office/drawing/2014/main" id="{CFEC575F-06C0-495B-8FDA-71A9F859FCE8}"/>
                  </a:ext>
                </a:extLst>
              </p:cNvPr>
              <p:cNvSpPr txBox="1"/>
              <p:nvPr/>
            </p:nvSpPr>
            <p:spPr>
              <a:xfrm>
                <a:off x="1703969" y="7146562"/>
                <a:ext cx="2640000"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dirty="0">
                    <a:solidFill>
                      <a:schemeClr val="dk1"/>
                    </a:solidFill>
                  </a:rPr>
                  <a:t>Code Architect    </a:t>
                </a:r>
                <a:r>
                  <a:rPr lang="en" sz="839" dirty="0">
                    <a:solidFill>
                      <a:schemeClr val="dk1"/>
                    </a:solidFill>
                  </a:rPr>
                  <a:t> </a:t>
                </a:r>
                <a:r>
                  <a:rPr lang="en" sz="839" dirty="0">
                    <a:solidFill>
                      <a:srgbClr val="999999"/>
                    </a:solidFill>
                  </a:rPr>
                  <a:t>     Requested changes</a:t>
                </a:r>
                <a:endParaRPr sz="839" dirty="0">
                  <a:solidFill>
                    <a:srgbClr val="999999"/>
                  </a:solidFill>
                </a:endParaRPr>
              </a:p>
              <a:p>
                <a:pPr>
                  <a:spcBef>
                    <a:spcPts val="0"/>
                  </a:spcBef>
                </a:pPr>
                <a:endParaRPr sz="978" dirty="0">
                  <a:solidFill>
                    <a:srgbClr val="999999"/>
                  </a:solidFill>
                </a:endParaRPr>
              </a:p>
              <a:p>
                <a:pPr>
                  <a:spcBef>
                    <a:spcPts val="0"/>
                  </a:spcBef>
                </a:pPr>
                <a:r>
                  <a:rPr lang="en" sz="978" dirty="0">
                    <a:solidFill>
                      <a:srgbClr val="999999"/>
                    </a:solidFill>
                  </a:rPr>
                  <a:t> </a:t>
                </a:r>
                <a:endParaRPr sz="978" dirty="0">
                  <a:solidFill>
                    <a:srgbClr val="999999"/>
                  </a:solidFill>
                </a:endParaRPr>
              </a:p>
            </p:txBody>
          </p:sp>
          <p:cxnSp>
            <p:nvCxnSpPr>
              <p:cNvPr id="472" name="Google Shape;245;p15">
                <a:extLst>
                  <a:ext uri="{FF2B5EF4-FFF2-40B4-BE49-F238E27FC236}">
                    <a16:creationId xmlns:a16="http://schemas.microsoft.com/office/drawing/2014/main" id="{767ABA41-C7F4-1BA9-3E59-C8156655810A}"/>
                  </a:ext>
                </a:extLst>
              </p:cNvPr>
              <p:cNvCxnSpPr/>
              <p:nvPr/>
            </p:nvCxnSpPr>
            <p:spPr>
              <a:xfrm>
                <a:off x="1477667" y="7575104"/>
                <a:ext cx="3040125" cy="0"/>
              </a:xfrm>
              <a:prstGeom prst="straightConnector1">
                <a:avLst/>
              </a:prstGeom>
              <a:noFill/>
              <a:ln w="8700" cap="flat" cmpd="sng">
                <a:solidFill>
                  <a:schemeClr val="dk2"/>
                </a:solidFill>
                <a:prstDash val="solid"/>
                <a:round/>
                <a:headEnd type="none" w="med" len="med"/>
                <a:tailEnd type="none" w="med" len="med"/>
              </a:ln>
            </p:spPr>
          </p:cxnSp>
          <p:pic>
            <p:nvPicPr>
              <p:cNvPr id="473" name="Google Shape;246;p15">
                <a:extLst>
                  <a:ext uri="{FF2B5EF4-FFF2-40B4-BE49-F238E27FC236}">
                    <a16:creationId xmlns:a16="http://schemas.microsoft.com/office/drawing/2014/main" id="{A8B4CF42-827B-B716-2C75-C618BF6FA966}"/>
                  </a:ext>
                </a:extLst>
              </p:cNvPr>
              <p:cNvPicPr preferRelativeResize="0"/>
              <p:nvPr/>
            </p:nvPicPr>
            <p:blipFill>
              <a:blip r:embed="rId10">
                <a:alphaModFix/>
              </a:blip>
              <a:stretch>
                <a:fillRect/>
              </a:stretch>
            </p:blipFill>
            <p:spPr>
              <a:xfrm>
                <a:off x="1529318" y="8636978"/>
                <a:ext cx="288926" cy="211878"/>
              </a:xfrm>
              <a:prstGeom prst="rect">
                <a:avLst/>
              </a:prstGeom>
              <a:noFill/>
              <a:ln>
                <a:noFill/>
              </a:ln>
            </p:spPr>
          </p:pic>
          <p:cxnSp>
            <p:nvCxnSpPr>
              <p:cNvPr id="474" name="Google Shape;247;p15">
                <a:extLst>
                  <a:ext uri="{FF2B5EF4-FFF2-40B4-BE49-F238E27FC236}">
                    <a16:creationId xmlns:a16="http://schemas.microsoft.com/office/drawing/2014/main" id="{341A97C0-AD3F-3482-B9C3-5C3A4AA23D35}"/>
                  </a:ext>
                </a:extLst>
              </p:cNvPr>
              <p:cNvCxnSpPr/>
              <p:nvPr/>
            </p:nvCxnSpPr>
            <p:spPr>
              <a:xfrm>
                <a:off x="1458389" y="8163071"/>
                <a:ext cx="3040125" cy="0"/>
              </a:xfrm>
              <a:prstGeom prst="straightConnector1">
                <a:avLst/>
              </a:prstGeom>
              <a:noFill/>
              <a:ln w="8700" cap="flat" cmpd="sng">
                <a:solidFill>
                  <a:schemeClr val="dk2"/>
                </a:solidFill>
                <a:prstDash val="solid"/>
                <a:round/>
                <a:headEnd type="none" w="med" len="med"/>
                <a:tailEnd type="none" w="med" len="med"/>
              </a:ln>
            </p:spPr>
          </p:cxnSp>
          <p:pic>
            <p:nvPicPr>
              <p:cNvPr id="475" name="Google Shape;248;p15" title="download.png">
                <a:extLst>
                  <a:ext uri="{FF2B5EF4-FFF2-40B4-BE49-F238E27FC236}">
                    <a16:creationId xmlns:a16="http://schemas.microsoft.com/office/drawing/2014/main" id="{31E60F23-D512-7FBB-AEC9-DA6099799547}"/>
                  </a:ext>
                </a:extLst>
              </p:cNvPr>
              <p:cNvPicPr preferRelativeResize="0"/>
              <p:nvPr/>
            </p:nvPicPr>
            <p:blipFill>
              <a:blip r:embed="rId16">
                <a:alphaModFix/>
              </a:blip>
              <a:stretch>
                <a:fillRect/>
              </a:stretch>
            </p:blipFill>
            <p:spPr>
              <a:xfrm>
                <a:off x="1524726" y="8948407"/>
                <a:ext cx="344920" cy="344920"/>
              </a:xfrm>
              <a:prstGeom prst="rect">
                <a:avLst/>
              </a:prstGeom>
              <a:noFill/>
              <a:ln>
                <a:noFill/>
              </a:ln>
            </p:spPr>
          </p:pic>
          <p:sp>
            <p:nvSpPr>
              <p:cNvPr id="476" name="Google Shape;249;p15">
                <a:extLst>
                  <a:ext uri="{FF2B5EF4-FFF2-40B4-BE49-F238E27FC236}">
                    <a16:creationId xmlns:a16="http://schemas.microsoft.com/office/drawing/2014/main" id="{1FDA6EF0-611A-4D61-A6FA-666966338595}"/>
                  </a:ext>
                </a:extLst>
              </p:cNvPr>
              <p:cNvSpPr txBox="1"/>
              <p:nvPr/>
            </p:nvSpPr>
            <p:spPr>
              <a:xfrm>
                <a:off x="1798191" y="8820046"/>
                <a:ext cx="1821875" cy="348333"/>
              </a:xfrm>
              <a:prstGeom prst="rect">
                <a:avLst/>
              </a:prstGeom>
              <a:noFill/>
              <a:ln>
                <a:noFill/>
              </a:ln>
            </p:spPr>
            <p:txBody>
              <a:bodyPr spcFirstLastPara="1" wrap="square" lIns="127722" tIns="127722" rIns="127722" bIns="127722" anchor="t" anchorCtr="0">
                <a:noAutofit/>
              </a:bodyPr>
              <a:lstStyle/>
              <a:p>
                <a:pPr>
                  <a:spcBef>
                    <a:spcPts val="0"/>
                  </a:spcBef>
                </a:pPr>
                <a:r>
                  <a:rPr lang="en" sz="1257">
                    <a:solidFill>
                      <a:schemeClr val="dk1"/>
                    </a:solidFill>
                  </a:rPr>
                  <a:t>No conflicts with base branch</a:t>
                </a:r>
                <a:endParaRPr sz="1257">
                  <a:solidFill>
                    <a:schemeClr val="dk1"/>
                  </a:solidFill>
                </a:endParaRPr>
              </a:p>
              <a:p>
                <a:pPr>
                  <a:spcBef>
                    <a:spcPts val="0"/>
                  </a:spcBef>
                </a:pPr>
                <a:endParaRPr sz="1257">
                  <a:solidFill>
                    <a:schemeClr val="dk1"/>
                  </a:solidFill>
                </a:endParaRPr>
              </a:p>
            </p:txBody>
          </p:sp>
          <p:cxnSp>
            <p:nvCxnSpPr>
              <p:cNvPr id="477" name="Google Shape;250;p15">
                <a:extLst>
                  <a:ext uri="{FF2B5EF4-FFF2-40B4-BE49-F238E27FC236}">
                    <a16:creationId xmlns:a16="http://schemas.microsoft.com/office/drawing/2014/main" id="{15642639-33CB-5357-668C-9CAEEBD406E2}"/>
                  </a:ext>
                </a:extLst>
              </p:cNvPr>
              <p:cNvCxnSpPr/>
              <p:nvPr/>
            </p:nvCxnSpPr>
            <p:spPr>
              <a:xfrm>
                <a:off x="1474802" y="8902850"/>
                <a:ext cx="3040125" cy="0"/>
              </a:xfrm>
              <a:prstGeom prst="straightConnector1">
                <a:avLst/>
              </a:prstGeom>
              <a:noFill/>
              <a:ln w="8700" cap="flat" cmpd="sng">
                <a:solidFill>
                  <a:schemeClr val="dk2"/>
                </a:solidFill>
                <a:prstDash val="solid"/>
                <a:round/>
                <a:headEnd type="none" w="med" len="med"/>
                <a:tailEnd type="none" w="med" len="med"/>
              </a:ln>
            </p:spPr>
          </p:cxnSp>
          <p:sp>
            <p:nvSpPr>
              <p:cNvPr id="478" name="Google Shape;216;p15">
                <a:extLst>
                  <a:ext uri="{FF2B5EF4-FFF2-40B4-BE49-F238E27FC236}">
                    <a16:creationId xmlns:a16="http://schemas.microsoft.com/office/drawing/2014/main" id="{A508C978-171C-AEB0-FBC7-D7C37B68DD02}"/>
                  </a:ext>
                </a:extLst>
              </p:cNvPr>
              <p:cNvSpPr/>
              <p:nvPr/>
            </p:nvSpPr>
            <p:spPr>
              <a:xfrm>
                <a:off x="1466614" y="5802822"/>
                <a:ext cx="3030718" cy="3579582"/>
              </a:xfrm>
              <a:prstGeom prst="rect">
                <a:avLst/>
              </a:prstGeom>
              <a:no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grpSp>
        <p:sp>
          <p:nvSpPr>
            <p:cNvPr id="3" name="Google Shape;215;p15">
              <a:extLst>
                <a:ext uri="{FF2B5EF4-FFF2-40B4-BE49-F238E27FC236}">
                  <a16:creationId xmlns:a16="http://schemas.microsoft.com/office/drawing/2014/main" id="{0FE9A551-CD18-8C4D-74D6-7E21EA69FC97}"/>
                </a:ext>
              </a:extLst>
            </p:cNvPr>
            <p:cNvSpPr/>
            <p:nvPr/>
          </p:nvSpPr>
          <p:spPr>
            <a:xfrm>
              <a:off x="10139699" y="2716877"/>
              <a:ext cx="3024222" cy="232375"/>
            </a:xfrm>
            <a:prstGeom prst="rect">
              <a:avLst/>
            </a:prstGeom>
            <a:solidFill>
              <a:schemeClr val="lt2"/>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839" dirty="0"/>
            </a:p>
            <a:p>
              <a:pPr>
                <a:spcBef>
                  <a:spcPts val="0"/>
                </a:spcBef>
              </a:pPr>
              <a:endParaRPr sz="839" dirty="0"/>
            </a:p>
            <a:p>
              <a:pPr>
                <a:spcBef>
                  <a:spcPts val="0"/>
                </a:spcBef>
              </a:pPr>
              <a:r>
                <a:rPr lang="en" sz="839" dirty="0">
                  <a:solidFill>
                    <a:schemeClr val="tx1">
                      <a:lumMod val="50000"/>
                    </a:schemeClr>
                  </a:solidFill>
                </a:rPr>
                <a:t>Username </a:t>
              </a:r>
              <a:r>
                <a:rPr lang="en" sz="839" b="0" dirty="0">
                  <a:solidFill>
                    <a:schemeClr val="tx1">
                      <a:lumMod val="50000"/>
                    </a:schemeClr>
                  </a:solidFill>
                </a:rPr>
                <a:t>commented on Mar 15</a:t>
              </a:r>
              <a:endParaRPr sz="839" b="0" dirty="0">
                <a:solidFill>
                  <a:schemeClr val="tx1">
                    <a:lumMod val="50000"/>
                  </a:schemeClr>
                </a:solidFill>
              </a:endParaRPr>
            </a:p>
            <a:p>
              <a:pPr>
                <a:spcBef>
                  <a:spcPts val="0"/>
                </a:spcBef>
              </a:pPr>
              <a:endParaRPr sz="1956" dirty="0"/>
            </a:p>
          </p:txBody>
        </p:sp>
        <p:sp>
          <p:nvSpPr>
            <p:cNvPr id="5" name="Google Shape;216;p15">
              <a:extLst>
                <a:ext uri="{FF2B5EF4-FFF2-40B4-BE49-F238E27FC236}">
                  <a16:creationId xmlns:a16="http://schemas.microsoft.com/office/drawing/2014/main" id="{4198F9D5-CBA6-F19B-EA2B-7477B491C0F3}"/>
                </a:ext>
              </a:extLst>
            </p:cNvPr>
            <p:cNvSpPr/>
            <p:nvPr/>
          </p:nvSpPr>
          <p:spPr>
            <a:xfrm>
              <a:off x="10139699" y="2949252"/>
              <a:ext cx="3024222" cy="227593"/>
            </a:xfrm>
            <a:prstGeom prst="rect">
              <a:avLst/>
            </a:prstGeom>
            <a:solidFill>
              <a:schemeClr val="lt1"/>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sp>
          <p:nvSpPr>
            <p:cNvPr id="6" name="TextBox 5">
              <a:extLst>
                <a:ext uri="{FF2B5EF4-FFF2-40B4-BE49-F238E27FC236}">
                  <a16:creationId xmlns:a16="http://schemas.microsoft.com/office/drawing/2014/main" id="{BDA8CE93-3175-7750-1F22-087FC27E43F3}"/>
                </a:ext>
              </a:extLst>
            </p:cNvPr>
            <p:cNvSpPr txBox="1"/>
            <p:nvPr/>
          </p:nvSpPr>
          <p:spPr>
            <a:xfrm>
              <a:off x="10164572" y="2884290"/>
              <a:ext cx="40900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rPr>
                <a:t>…</a:t>
              </a:r>
            </a:p>
          </p:txBody>
        </p:sp>
      </p:grpSp>
      <p:grpSp>
        <p:nvGrpSpPr>
          <p:cNvPr id="646" name="Group 645">
            <a:extLst>
              <a:ext uri="{FF2B5EF4-FFF2-40B4-BE49-F238E27FC236}">
                <a16:creationId xmlns:a16="http://schemas.microsoft.com/office/drawing/2014/main" id="{C6245EB4-43E9-F1B1-917E-501AB255F72A}"/>
              </a:ext>
            </a:extLst>
          </p:cNvPr>
          <p:cNvGrpSpPr/>
          <p:nvPr/>
        </p:nvGrpSpPr>
        <p:grpSpPr>
          <a:xfrm>
            <a:off x="4658453" y="3196943"/>
            <a:ext cx="4212846" cy="4552931"/>
            <a:chOff x="4658453" y="3196943"/>
            <a:chExt cx="4212846" cy="4552931"/>
          </a:xfrm>
        </p:grpSpPr>
        <p:pic>
          <p:nvPicPr>
            <p:cNvPr id="483" name="Graphic 482" descr="Paper outline">
              <a:extLst>
                <a:ext uri="{FF2B5EF4-FFF2-40B4-BE49-F238E27FC236}">
                  <a16:creationId xmlns:a16="http://schemas.microsoft.com/office/drawing/2014/main" id="{12888220-B4E0-CC39-62CF-EC6BB878539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199970" y="6453813"/>
              <a:ext cx="1118249" cy="1118249"/>
            </a:xfrm>
            <a:prstGeom prst="rect">
              <a:avLst/>
            </a:prstGeom>
          </p:spPr>
        </p:pic>
        <p:sp>
          <p:nvSpPr>
            <p:cNvPr id="485" name="Oval 484">
              <a:extLst>
                <a:ext uri="{FF2B5EF4-FFF2-40B4-BE49-F238E27FC236}">
                  <a16:creationId xmlns:a16="http://schemas.microsoft.com/office/drawing/2014/main" id="{17DF3BA3-829C-5601-9365-23E140BAFD95}"/>
                </a:ext>
              </a:extLst>
            </p:cNvPr>
            <p:cNvSpPr/>
            <p:nvPr/>
          </p:nvSpPr>
          <p:spPr>
            <a:xfrm>
              <a:off x="5243445" y="3206239"/>
              <a:ext cx="3291892" cy="3175648"/>
            </a:xfrm>
            <a:prstGeom prst="ellipse">
              <a:avLst/>
            </a:prstGeom>
            <a:noFill/>
            <a:ln w="12700" cap="flat">
              <a:solidFill>
                <a:schemeClr val="tx1">
                  <a:lumMod val="5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486" name="Graphic 485" descr="Paper outline">
              <a:extLst>
                <a:ext uri="{FF2B5EF4-FFF2-40B4-BE49-F238E27FC236}">
                  <a16:creationId xmlns:a16="http://schemas.microsoft.com/office/drawing/2014/main" id="{BA8F6C73-C7A8-5E21-C3F1-7A8C0FCD0A3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035391" y="4671724"/>
              <a:ext cx="1731153" cy="1731153"/>
            </a:xfrm>
            <a:prstGeom prst="rect">
              <a:avLst/>
            </a:prstGeom>
          </p:spPr>
        </p:pic>
        <p:sp>
          <p:nvSpPr>
            <p:cNvPr id="487" name="TextBox 486">
              <a:extLst>
                <a:ext uri="{FF2B5EF4-FFF2-40B4-BE49-F238E27FC236}">
                  <a16:creationId xmlns:a16="http://schemas.microsoft.com/office/drawing/2014/main" id="{A42770FE-7BC9-95D0-9481-F8E84347AECE}"/>
                </a:ext>
              </a:extLst>
            </p:cNvPr>
            <p:cNvSpPr txBox="1"/>
            <p:nvPr/>
          </p:nvSpPr>
          <p:spPr>
            <a:xfrm>
              <a:off x="6355563" y="4758231"/>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rPr>
                <a:t>Downloaders</a:t>
              </a:r>
              <a:endParaRPr lang="en-US" sz="800" dirty="0"/>
            </a:p>
          </p:txBody>
        </p:sp>
        <p:sp>
          <p:nvSpPr>
            <p:cNvPr id="488" name="TextBox 487">
              <a:extLst>
                <a:ext uri="{FF2B5EF4-FFF2-40B4-BE49-F238E27FC236}">
                  <a16:creationId xmlns:a16="http://schemas.microsoft.com/office/drawing/2014/main" id="{E3612245-09F5-9AFB-76C0-3F12BFE4C71D}"/>
                </a:ext>
              </a:extLst>
            </p:cNvPr>
            <p:cNvSpPr txBox="1"/>
            <p:nvPr/>
          </p:nvSpPr>
          <p:spPr>
            <a:xfrm>
              <a:off x="6359464" y="4857682"/>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dirty="0"/>
                <a:t>f</a:t>
              </a:r>
              <a:r>
                <a:rPr kumimoji="0" lang="en-US" sz="600" b="1"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dirty="0"/>
                <a:t>function() …</a:t>
              </a:r>
            </a:p>
          </p:txBody>
        </p:sp>
        <p:sp>
          <p:nvSpPr>
            <p:cNvPr id="490" name="TextBox 489">
              <a:extLst>
                <a:ext uri="{FF2B5EF4-FFF2-40B4-BE49-F238E27FC236}">
                  <a16:creationId xmlns:a16="http://schemas.microsoft.com/office/drawing/2014/main" id="{4C9C35D9-B204-3B93-8113-16386E4B7ECE}"/>
                </a:ext>
              </a:extLst>
            </p:cNvPr>
            <p:cNvSpPr txBox="1"/>
            <p:nvPr/>
          </p:nvSpPr>
          <p:spPr>
            <a:xfrm>
              <a:off x="6360046" y="5272612"/>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dirty="0"/>
                <a:t>f</a:t>
              </a:r>
              <a:r>
                <a:rPr kumimoji="0" lang="en-US" sz="600" b="1"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dirty="0"/>
                <a:t>function() …</a:t>
              </a:r>
            </a:p>
          </p:txBody>
        </p:sp>
        <p:sp>
          <p:nvSpPr>
            <p:cNvPr id="492" name="TextBox 491">
              <a:extLst>
                <a:ext uri="{FF2B5EF4-FFF2-40B4-BE49-F238E27FC236}">
                  <a16:creationId xmlns:a16="http://schemas.microsoft.com/office/drawing/2014/main" id="{82EC40B9-4BB3-8BE0-BA13-8C19102C6209}"/>
                </a:ext>
              </a:extLst>
            </p:cNvPr>
            <p:cNvSpPr txBox="1"/>
            <p:nvPr/>
          </p:nvSpPr>
          <p:spPr>
            <a:xfrm>
              <a:off x="6355563" y="5166517"/>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rPr>
                <a:t>Parsers</a:t>
              </a:r>
              <a:endParaRPr lang="en-US" sz="800" dirty="0"/>
            </a:p>
          </p:txBody>
        </p:sp>
        <p:sp>
          <p:nvSpPr>
            <p:cNvPr id="494" name="TextBox 493">
              <a:extLst>
                <a:ext uri="{FF2B5EF4-FFF2-40B4-BE49-F238E27FC236}">
                  <a16:creationId xmlns:a16="http://schemas.microsoft.com/office/drawing/2014/main" id="{C2467058-5EED-6BAB-17A5-0672F31719F7}"/>
                </a:ext>
              </a:extLst>
            </p:cNvPr>
            <p:cNvSpPr txBox="1"/>
            <p:nvPr/>
          </p:nvSpPr>
          <p:spPr>
            <a:xfrm>
              <a:off x="6365028" y="5681544"/>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dirty="0"/>
                <a:t>f</a:t>
              </a:r>
              <a:r>
                <a:rPr kumimoji="0" lang="en-US" sz="600" b="1"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dirty="0"/>
                <a:t>function() …</a:t>
              </a:r>
            </a:p>
          </p:txBody>
        </p:sp>
        <p:sp>
          <p:nvSpPr>
            <p:cNvPr id="495" name="TextBox 494">
              <a:extLst>
                <a:ext uri="{FF2B5EF4-FFF2-40B4-BE49-F238E27FC236}">
                  <a16:creationId xmlns:a16="http://schemas.microsoft.com/office/drawing/2014/main" id="{814F6B4C-1486-7229-0296-6055BB6AE977}"/>
                </a:ext>
              </a:extLst>
            </p:cNvPr>
            <p:cNvSpPr txBox="1"/>
            <p:nvPr/>
          </p:nvSpPr>
          <p:spPr>
            <a:xfrm>
              <a:off x="6359464" y="5577248"/>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rPr>
                <a:t>Transforms</a:t>
              </a:r>
              <a:endParaRPr lang="en-US" sz="800" dirty="0"/>
            </a:p>
          </p:txBody>
        </p:sp>
        <p:pic>
          <p:nvPicPr>
            <p:cNvPr id="496" name="Graphic 495" descr="Paper outline">
              <a:extLst>
                <a:ext uri="{FF2B5EF4-FFF2-40B4-BE49-F238E27FC236}">
                  <a16:creationId xmlns:a16="http://schemas.microsoft.com/office/drawing/2014/main" id="{50060E9B-19B1-CEB8-240B-A561FD3FEA6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322710" y="3613426"/>
              <a:ext cx="1045469" cy="1045469"/>
            </a:xfrm>
            <a:prstGeom prst="rect">
              <a:avLst/>
            </a:prstGeom>
          </p:spPr>
        </p:pic>
        <p:pic>
          <p:nvPicPr>
            <p:cNvPr id="497" name="Graphic 496" descr="Paper outline">
              <a:extLst>
                <a:ext uri="{FF2B5EF4-FFF2-40B4-BE49-F238E27FC236}">
                  <a16:creationId xmlns:a16="http://schemas.microsoft.com/office/drawing/2014/main" id="{48488420-F72F-53AD-D69C-8E764CB2A6E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494543" y="6516319"/>
              <a:ext cx="1118249" cy="1118249"/>
            </a:xfrm>
            <a:prstGeom prst="rect">
              <a:avLst/>
            </a:prstGeom>
          </p:spPr>
        </p:pic>
        <p:sp>
          <p:nvSpPr>
            <p:cNvPr id="500" name="Google Shape;312;p17">
              <a:extLst>
                <a:ext uri="{FF2B5EF4-FFF2-40B4-BE49-F238E27FC236}">
                  <a16:creationId xmlns:a16="http://schemas.microsoft.com/office/drawing/2014/main" id="{7380AFE4-0FC1-36D8-4F17-35C15DD6CC26}"/>
                </a:ext>
              </a:extLst>
            </p:cNvPr>
            <p:cNvSpPr txBox="1"/>
            <p:nvPr/>
          </p:nvSpPr>
          <p:spPr>
            <a:xfrm>
              <a:off x="4658453" y="7302872"/>
              <a:ext cx="2240541"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2400" dirty="0">
                  <a:solidFill>
                    <a:schemeClr val="accent1"/>
                  </a:solidFill>
                </a:rPr>
                <a:t>Example.R</a:t>
              </a:r>
              <a:endParaRPr sz="2400" dirty="0">
                <a:solidFill>
                  <a:schemeClr val="accent1"/>
                </a:solidFill>
              </a:endParaRPr>
            </a:p>
          </p:txBody>
        </p:sp>
        <p:sp>
          <p:nvSpPr>
            <p:cNvPr id="504" name="Google Shape;318;p17">
              <a:extLst>
                <a:ext uri="{FF2B5EF4-FFF2-40B4-BE49-F238E27FC236}">
                  <a16:creationId xmlns:a16="http://schemas.microsoft.com/office/drawing/2014/main" id="{AFF0CA78-7B3C-BC49-FD50-75C3F53E8E32}"/>
                </a:ext>
              </a:extLst>
            </p:cNvPr>
            <p:cNvSpPr txBox="1"/>
            <p:nvPr/>
          </p:nvSpPr>
          <p:spPr>
            <a:xfrm>
              <a:off x="7236035" y="7344449"/>
              <a:ext cx="1635264"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US" sz="2000" dirty="0">
                  <a:solidFill>
                    <a:srgbClr val="F6B26B"/>
                  </a:solidFill>
                </a:rPr>
                <a:t>Tests/**</a:t>
              </a:r>
              <a:endParaRPr sz="2000" dirty="0">
                <a:solidFill>
                  <a:srgbClr val="F6B26B"/>
                </a:solidFill>
              </a:endParaRPr>
            </a:p>
          </p:txBody>
        </p:sp>
        <p:sp>
          <p:nvSpPr>
            <p:cNvPr id="521" name="TextBox 520">
              <a:extLst>
                <a:ext uri="{FF2B5EF4-FFF2-40B4-BE49-F238E27FC236}">
                  <a16:creationId xmlns:a16="http://schemas.microsoft.com/office/drawing/2014/main" id="{EA1797B8-CB84-B195-217E-233489473B70}"/>
                </a:ext>
              </a:extLst>
            </p:cNvPr>
            <p:cNvSpPr txBox="1"/>
            <p:nvPr/>
          </p:nvSpPr>
          <p:spPr>
            <a:xfrm>
              <a:off x="7715453" y="6891047"/>
              <a:ext cx="676428"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1000" dirty="0">
                  <a:solidFill>
                    <a:srgbClr val="F6B26B"/>
                  </a:solidFill>
                </a:rPr>
                <a:t>testthat</a:t>
              </a:r>
              <a:endParaRPr kumimoji="0" lang="en-US" sz="10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23" name="Google Shape;346;p17">
              <a:extLst>
                <a:ext uri="{FF2B5EF4-FFF2-40B4-BE49-F238E27FC236}">
                  <a16:creationId xmlns:a16="http://schemas.microsoft.com/office/drawing/2014/main" id="{97A7DB87-FE94-6F56-1305-B3DFB922D035}"/>
                </a:ext>
              </a:extLst>
            </p:cNvPr>
            <p:cNvSpPr/>
            <p:nvPr/>
          </p:nvSpPr>
          <p:spPr>
            <a:xfrm>
              <a:off x="7786140" y="6916705"/>
              <a:ext cx="549624" cy="255847"/>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spcBef>
                  <a:spcPts val="0"/>
                </a:spcBef>
              </a:pPr>
              <a:endParaRPr sz="1833"/>
            </a:p>
          </p:txBody>
        </p:sp>
        <p:sp>
          <p:nvSpPr>
            <p:cNvPr id="524" name="Google Shape;317;p17">
              <a:extLst>
                <a:ext uri="{FF2B5EF4-FFF2-40B4-BE49-F238E27FC236}">
                  <a16:creationId xmlns:a16="http://schemas.microsoft.com/office/drawing/2014/main" id="{ED1FA9DA-2418-F932-90F2-5F948D9ABFAC}"/>
                </a:ext>
              </a:extLst>
            </p:cNvPr>
            <p:cNvSpPr txBox="1"/>
            <p:nvPr/>
          </p:nvSpPr>
          <p:spPr>
            <a:xfrm>
              <a:off x="5101677" y="6607358"/>
              <a:ext cx="1320250" cy="541969"/>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dirty="0">
                  <a:solidFill>
                    <a:schemeClr val="accent1"/>
                  </a:solidFill>
                </a:rPr>
                <a:t>Example Fake Data</a:t>
              </a:r>
              <a:endParaRPr sz="1000" dirty="0">
                <a:solidFill>
                  <a:schemeClr val="accent1"/>
                </a:solidFill>
              </a:endParaRPr>
            </a:p>
          </p:txBody>
        </p:sp>
        <p:sp>
          <p:nvSpPr>
            <p:cNvPr id="525" name="Google Shape;306;p17">
              <a:extLst>
                <a:ext uri="{FF2B5EF4-FFF2-40B4-BE49-F238E27FC236}">
                  <a16:creationId xmlns:a16="http://schemas.microsoft.com/office/drawing/2014/main" id="{3B707F92-DFC3-D175-918A-09F45E735D0B}"/>
                </a:ext>
              </a:extLst>
            </p:cNvPr>
            <p:cNvSpPr txBox="1"/>
            <p:nvPr/>
          </p:nvSpPr>
          <p:spPr>
            <a:xfrm>
              <a:off x="6195839" y="5977772"/>
              <a:ext cx="1401619" cy="524556"/>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dirty="0">
                  <a:solidFill>
                    <a:schemeClr val="dk2"/>
                  </a:solidFill>
                </a:rPr>
                <a:t>Git.R</a:t>
              </a:r>
              <a:endParaRPr sz="1000" dirty="0">
                <a:solidFill>
                  <a:schemeClr val="dk2"/>
                </a:solidFill>
              </a:endParaRPr>
            </a:p>
          </p:txBody>
        </p:sp>
        <p:sp>
          <p:nvSpPr>
            <p:cNvPr id="526" name="Google Shape;306;p17">
              <a:extLst>
                <a:ext uri="{FF2B5EF4-FFF2-40B4-BE49-F238E27FC236}">
                  <a16:creationId xmlns:a16="http://schemas.microsoft.com/office/drawing/2014/main" id="{CFA91728-644C-E1DF-ED73-779153A4CBE1}"/>
                </a:ext>
              </a:extLst>
            </p:cNvPr>
            <p:cNvSpPr txBox="1"/>
            <p:nvPr/>
          </p:nvSpPr>
          <p:spPr>
            <a:xfrm>
              <a:off x="7381313" y="4363761"/>
              <a:ext cx="928261"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dirty="0">
                  <a:solidFill>
                    <a:schemeClr val="dk2"/>
                  </a:solidFill>
                </a:rPr>
                <a:t>src.R</a:t>
              </a:r>
              <a:endParaRPr sz="1000" dirty="0">
                <a:solidFill>
                  <a:schemeClr val="dk2"/>
                </a:solidFill>
              </a:endParaRPr>
            </a:p>
          </p:txBody>
        </p:sp>
        <p:sp>
          <p:nvSpPr>
            <p:cNvPr id="527" name="Google Shape;306;p17">
              <a:extLst>
                <a:ext uri="{FF2B5EF4-FFF2-40B4-BE49-F238E27FC236}">
                  <a16:creationId xmlns:a16="http://schemas.microsoft.com/office/drawing/2014/main" id="{1FF01305-07C3-F839-698C-B6AA571BE54A}"/>
                </a:ext>
              </a:extLst>
            </p:cNvPr>
            <p:cNvSpPr txBox="1"/>
            <p:nvPr/>
          </p:nvSpPr>
          <p:spPr>
            <a:xfrm>
              <a:off x="6454666" y="3954829"/>
              <a:ext cx="1006099"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dirty="0">
                  <a:solidFill>
                    <a:schemeClr val="dk2"/>
                  </a:solidFill>
                </a:rPr>
                <a:t>Mail.R</a:t>
              </a:r>
              <a:endParaRPr sz="1000" dirty="0">
                <a:solidFill>
                  <a:schemeClr val="dk2"/>
                </a:solidFill>
              </a:endParaRPr>
            </a:p>
          </p:txBody>
        </p:sp>
        <p:sp>
          <p:nvSpPr>
            <p:cNvPr id="528" name="Google Shape;306;p17">
              <a:extLst>
                <a:ext uri="{FF2B5EF4-FFF2-40B4-BE49-F238E27FC236}">
                  <a16:creationId xmlns:a16="http://schemas.microsoft.com/office/drawing/2014/main" id="{048AFA38-F564-A616-4270-1E8898C6FE19}"/>
                </a:ext>
              </a:extLst>
            </p:cNvPr>
            <p:cNvSpPr txBox="1"/>
            <p:nvPr/>
          </p:nvSpPr>
          <p:spPr>
            <a:xfrm>
              <a:off x="5592202" y="4359252"/>
              <a:ext cx="987526"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dirty="0">
                  <a:solidFill>
                    <a:schemeClr val="dk2"/>
                  </a:solidFill>
                </a:rPr>
                <a:t>JIRA.R</a:t>
              </a:r>
              <a:endParaRPr sz="1000" dirty="0">
                <a:solidFill>
                  <a:schemeClr val="dk2"/>
                </a:solidFill>
              </a:endParaRPr>
            </a:p>
          </p:txBody>
        </p:sp>
        <p:cxnSp>
          <p:nvCxnSpPr>
            <p:cNvPr id="529" name="Connector: Elbow 528">
              <a:extLst>
                <a:ext uri="{FF2B5EF4-FFF2-40B4-BE49-F238E27FC236}">
                  <a16:creationId xmlns:a16="http://schemas.microsoft.com/office/drawing/2014/main" id="{DF73E2DE-67EA-96D7-A1D4-627EA22A835E}"/>
                </a:ext>
              </a:extLst>
            </p:cNvPr>
            <p:cNvCxnSpPr>
              <a:cxnSpLocks/>
            </p:cNvCxnSpPr>
            <p:nvPr/>
          </p:nvCxnSpPr>
          <p:spPr>
            <a:xfrm rot="16200000" flipH="1">
              <a:off x="6648673" y="5320284"/>
              <a:ext cx="1972627" cy="1165690"/>
            </a:xfrm>
            <a:prstGeom prst="bentConnector3">
              <a:avLst>
                <a:gd name="adj1" fmla="val -63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32" name="Connector: Elbow 531">
              <a:extLst>
                <a:ext uri="{FF2B5EF4-FFF2-40B4-BE49-F238E27FC236}">
                  <a16:creationId xmlns:a16="http://schemas.microsoft.com/office/drawing/2014/main" id="{59CEE8A3-5580-E72C-90C6-C0CB4DCCE981}"/>
                </a:ext>
              </a:extLst>
            </p:cNvPr>
            <p:cNvCxnSpPr>
              <a:cxnSpLocks/>
              <a:endCxn id="521" idx="0"/>
            </p:cNvCxnSpPr>
            <p:nvPr/>
          </p:nvCxnSpPr>
          <p:spPr>
            <a:xfrm rot="16200000" flipH="1">
              <a:off x="6628285" y="5465665"/>
              <a:ext cx="1581472" cy="1269292"/>
            </a:xfrm>
            <a:prstGeom prst="bentConnector3">
              <a:avLst>
                <a:gd name="adj1" fmla="val 762"/>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89" name="Connector: Elbow 588">
              <a:extLst>
                <a:ext uri="{FF2B5EF4-FFF2-40B4-BE49-F238E27FC236}">
                  <a16:creationId xmlns:a16="http://schemas.microsoft.com/office/drawing/2014/main" id="{D55FA30D-866E-49AA-6600-1300EDF1D029}"/>
                </a:ext>
              </a:extLst>
            </p:cNvPr>
            <p:cNvCxnSpPr>
              <a:cxnSpLocks/>
            </p:cNvCxnSpPr>
            <p:nvPr/>
          </p:nvCxnSpPr>
          <p:spPr>
            <a:xfrm rot="16200000" flipH="1">
              <a:off x="6842943" y="5844758"/>
              <a:ext cx="1163140" cy="926227"/>
            </a:xfrm>
            <a:prstGeom prst="bentConnector3">
              <a:avLst>
                <a:gd name="adj1" fmla="val 119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593" name="TextBox 592">
              <a:extLst>
                <a:ext uri="{FF2B5EF4-FFF2-40B4-BE49-F238E27FC236}">
                  <a16:creationId xmlns:a16="http://schemas.microsoft.com/office/drawing/2014/main" id="{143CA482-D770-C010-CD9C-20042DDF943B}"/>
                </a:ext>
              </a:extLst>
            </p:cNvPr>
            <p:cNvSpPr txBox="1"/>
            <p:nvPr/>
          </p:nvSpPr>
          <p:spPr>
            <a:xfrm>
              <a:off x="6365028" y="5991025"/>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rPr>
                <a:t>Fake Data Generator</a:t>
              </a:r>
              <a:endParaRPr lang="en-US" sz="800" dirty="0"/>
            </a:p>
          </p:txBody>
        </p:sp>
        <p:cxnSp>
          <p:nvCxnSpPr>
            <p:cNvPr id="601" name="Connector: Elbow 600">
              <a:extLst>
                <a:ext uri="{FF2B5EF4-FFF2-40B4-BE49-F238E27FC236}">
                  <a16:creationId xmlns:a16="http://schemas.microsoft.com/office/drawing/2014/main" id="{4073320D-2522-8112-C291-FFC7D46D80B8}"/>
                </a:ext>
              </a:extLst>
            </p:cNvPr>
            <p:cNvCxnSpPr>
              <a:cxnSpLocks/>
              <a:endCxn id="483" idx="0"/>
            </p:cNvCxnSpPr>
            <p:nvPr/>
          </p:nvCxnSpPr>
          <p:spPr>
            <a:xfrm rot="10800000" flipV="1">
              <a:off x="5759095" y="6132915"/>
              <a:ext cx="650776" cy="320897"/>
            </a:xfrm>
            <a:prstGeom prst="bentConnector2">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608" name="Google Shape;445;p18">
              <a:extLst>
                <a:ext uri="{FF2B5EF4-FFF2-40B4-BE49-F238E27FC236}">
                  <a16:creationId xmlns:a16="http://schemas.microsoft.com/office/drawing/2014/main" id="{5EBA954B-255E-2B42-8BA4-239F340185E8}"/>
                </a:ext>
              </a:extLst>
            </p:cNvPr>
            <p:cNvCxnSpPr>
              <a:cxnSpLocks/>
            </p:cNvCxnSpPr>
            <p:nvPr/>
          </p:nvCxnSpPr>
          <p:spPr>
            <a:xfrm>
              <a:off x="6035391" y="7035918"/>
              <a:ext cx="1722517" cy="0"/>
            </a:xfrm>
            <a:prstGeom prst="straightConnector1">
              <a:avLst/>
            </a:prstGeom>
            <a:noFill/>
            <a:ln w="19050" cap="flat" cmpd="sng">
              <a:solidFill>
                <a:srgbClr val="1B1311"/>
              </a:solidFill>
              <a:prstDash val="solid"/>
              <a:round/>
              <a:headEnd type="none" w="med" len="med"/>
              <a:tailEnd type="triangle" w="med" len="med"/>
            </a:ln>
          </p:spPr>
        </p:cxnSp>
        <p:pic>
          <p:nvPicPr>
            <p:cNvPr id="615" name="Graphic 614" descr="Paper outline">
              <a:extLst>
                <a:ext uri="{FF2B5EF4-FFF2-40B4-BE49-F238E27FC236}">
                  <a16:creationId xmlns:a16="http://schemas.microsoft.com/office/drawing/2014/main" id="{4EC660C9-881D-C094-E448-4104488DB3F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438664" y="3196943"/>
              <a:ext cx="1045469" cy="1045469"/>
            </a:xfrm>
            <a:prstGeom prst="rect">
              <a:avLst/>
            </a:prstGeom>
          </p:spPr>
        </p:pic>
        <p:pic>
          <p:nvPicPr>
            <p:cNvPr id="618" name="Graphic 617" descr="Paper outline">
              <a:extLst>
                <a:ext uri="{FF2B5EF4-FFF2-40B4-BE49-F238E27FC236}">
                  <a16:creationId xmlns:a16="http://schemas.microsoft.com/office/drawing/2014/main" id="{52659DEA-A109-5755-04E2-FE68240AEDB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557609" y="3583871"/>
              <a:ext cx="1045469" cy="1045469"/>
            </a:xfrm>
            <a:prstGeom prst="rect">
              <a:avLst/>
            </a:prstGeom>
          </p:spPr>
        </p:pic>
        <p:grpSp>
          <p:nvGrpSpPr>
            <p:cNvPr id="627" name="Group 626">
              <a:extLst>
                <a:ext uri="{FF2B5EF4-FFF2-40B4-BE49-F238E27FC236}">
                  <a16:creationId xmlns:a16="http://schemas.microsoft.com/office/drawing/2014/main" id="{37E25E97-25AA-87EC-62A6-E97CA8DA1E19}"/>
                </a:ext>
              </a:extLst>
            </p:cNvPr>
            <p:cNvGrpSpPr/>
            <p:nvPr/>
          </p:nvGrpSpPr>
          <p:grpSpPr>
            <a:xfrm>
              <a:off x="5729710" y="3610093"/>
              <a:ext cx="1161768" cy="964728"/>
              <a:chOff x="4984006" y="2603702"/>
              <a:chExt cx="1161768" cy="964728"/>
            </a:xfrm>
          </p:grpSpPr>
          <p:sp>
            <p:nvSpPr>
              <p:cNvPr id="620" name="TextBox 619">
                <a:extLst>
                  <a:ext uri="{FF2B5EF4-FFF2-40B4-BE49-F238E27FC236}">
                    <a16:creationId xmlns:a16="http://schemas.microsoft.com/office/drawing/2014/main" id="{631E36CC-98AA-B73C-1C19-0ED8FC6E647E}"/>
                  </a:ext>
                </a:extLst>
              </p:cNvPr>
              <p:cNvSpPr txBox="1"/>
              <p:nvPr/>
            </p:nvSpPr>
            <p:spPr>
              <a:xfrm>
                <a:off x="4986272" y="2603702"/>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1" i="0" u="none" strike="noStrike" cap="none" spc="0" normalizeH="0" baseline="0" dirty="0">
                    <a:ln>
                      <a:noFill/>
                    </a:ln>
                    <a:solidFill>
                      <a:srgbClr val="4C4C4C"/>
                    </a:solidFill>
                    <a:effectLst/>
                    <a:uFillTx/>
                    <a:latin typeface="Source Sans Pro"/>
                    <a:ea typeface="Source Sans Pro"/>
                    <a:cs typeface="Source Sans Pro"/>
                    <a:sym typeface="Source Sans Pro"/>
                  </a:rPr>
                  <a:t>Downloaders</a:t>
                </a:r>
                <a:endParaRPr lang="en-US" sz="500" dirty="0"/>
              </a:p>
            </p:txBody>
          </p:sp>
          <p:sp>
            <p:nvSpPr>
              <p:cNvPr id="621" name="TextBox 620">
                <a:extLst>
                  <a:ext uri="{FF2B5EF4-FFF2-40B4-BE49-F238E27FC236}">
                    <a16:creationId xmlns:a16="http://schemas.microsoft.com/office/drawing/2014/main" id="{D0623DAC-DF91-7DA9-F44C-5C3DA372522F}"/>
                  </a:ext>
                </a:extLst>
              </p:cNvPr>
              <p:cNvSpPr txBox="1"/>
              <p:nvPr/>
            </p:nvSpPr>
            <p:spPr>
              <a:xfrm>
                <a:off x="4986272" y="2674821"/>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dirty="0"/>
                  <a:t>f</a:t>
                </a:r>
                <a:r>
                  <a:rPr kumimoji="0" lang="en-US" sz="300" b="1"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p:txBody>
          </p:sp>
          <p:sp>
            <p:nvSpPr>
              <p:cNvPr id="622" name="TextBox 621">
                <a:extLst>
                  <a:ext uri="{FF2B5EF4-FFF2-40B4-BE49-F238E27FC236}">
                    <a16:creationId xmlns:a16="http://schemas.microsoft.com/office/drawing/2014/main" id="{B5602149-1C47-0981-9E1A-62D33FF7DDD6}"/>
                  </a:ext>
                </a:extLst>
              </p:cNvPr>
              <p:cNvSpPr txBox="1"/>
              <p:nvPr/>
            </p:nvSpPr>
            <p:spPr>
              <a:xfrm>
                <a:off x="4984006" y="2855929"/>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1" i="0" u="none" strike="noStrike" cap="none" spc="0" normalizeH="0" baseline="0" dirty="0">
                    <a:ln>
                      <a:noFill/>
                    </a:ln>
                    <a:solidFill>
                      <a:srgbClr val="4C4C4C"/>
                    </a:solidFill>
                    <a:effectLst/>
                    <a:uFillTx/>
                    <a:latin typeface="Source Sans Pro"/>
                    <a:ea typeface="Source Sans Pro"/>
                    <a:cs typeface="Source Sans Pro"/>
                    <a:sym typeface="Source Sans Pro"/>
                  </a:rPr>
                  <a:t>Parsers</a:t>
                </a:r>
                <a:endParaRPr lang="en-US" sz="500" dirty="0"/>
              </a:p>
            </p:txBody>
          </p:sp>
          <p:sp>
            <p:nvSpPr>
              <p:cNvPr id="623" name="TextBox 622">
                <a:extLst>
                  <a:ext uri="{FF2B5EF4-FFF2-40B4-BE49-F238E27FC236}">
                    <a16:creationId xmlns:a16="http://schemas.microsoft.com/office/drawing/2014/main" id="{52FE7E3B-6DE2-F070-140A-F035C7C2AC22}"/>
                  </a:ext>
                </a:extLst>
              </p:cNvPr>
              <p:cNvSpPr txBox="1"/>
              <p:nvPr/>
            </p:nvSpPr>
            <p:spPr>
              <a:xfrm>
                <a:off x="4984006" y="3108753"/>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1" i="0" u="none" strike="noStrike" cap="none" spc="0" normalizeH="0" baseline="0" dirty="0">
                    <a:ln>
                      <a:noFill/>
                    </a:ln>
                    <a:solidFill>
                      <a:srgbClr val="4C4C4C"/>
                    </a:solidFill>
                    <a:effectLst/>
                    <a:uFillTx/>
                    <a:latin typeface="Source Sans Pro"/>
                    <a:ea typeface="Source Sans Pro"/>
                    <a:cs typeface="Source Sans Pro"/>
                    <a:sym typeface="Source Sans Pro"/>
                  </a:rPr>
                  <a:t>Transforms</a:t>
                </a:r>
                <a:endParaRPr lang="en-US" sz="500" dirty="0"/>
              </a:p>
            </p:txBody>
          </p:sp>
          <p:sp>
            <p:nvSpPr>
              <p:cNvPr id="624" name="TextBox 623">
                <a:extLst>
                  <a:ext uri="{FF2B5EF4-FFF2-40B4-BE49-F238E27FC236}">
                    <a16:creationId xmlns:a16="http://schemas.microsoft.com/office/drawing/2014/main" id="{26A0C96A-3EB0-381A-9BEC-BFE70C34707A}"/>
                  </a:ext>
                </a:extLst>
              </p:cNvPr>
              <p:cNvSpPr txBox="1"/>
              <p:nvPr/>
            </p:nvSpPr>
            <p:spPr>
              <a:xfrm>
                <a:off x="4986272" y="2926948"/>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dirty="0"/>
                  <a:t>f</a:t>
                </a:r>
                <a:r>
                  <a:rPr kumimoji="0" lang="en-US" sz="300" b="1"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p:txBody>
          </p:sp>
          <p:sp>
            <p:nvSpPr>
              <p:cNvPr id="625" name="TextBox 624">
                <a:extLst>
                  <a:ext uri="{FF2B5EF4-FFF2-40B4-BE49-F238E27FC236}">
                    <a16:creationId xmlns:a16="http://schemas.microsoft.com/office/drawing/2014/main" id="{FEBDDEEB-2A8B-51F0-357C-773AAE413AFA}"/>
                  </a:ext>
                </a:extLst>
              </p:cNvPr>
              <p:cNvSpPr txBox="1"/>
              <p:nvPr/>
            </p:nvSpPr>
            <p:spPr>
              <a:xfrm>
                <a:off x="4986272" y="3178756"/>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dirty="0"/>
                  <a:t>f</a:t>
                </a:r>
                <a:r>
                  <a:rPr kumimoji="0" lang="en-US" sz="300" b="1"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p:txBody>
          </p:sp>
          <p:sp>
            <p:nvSpPr>
              <p:cNvPr id="626" name="TextBox 625">
                <a:extLst>
                  <a:ext uri="{FF2B5EF4-FFF2-40B4-BE49-F238E27FC236}">
                    <a16:creationId xmlns:a16="http://schemas.microsoft.com/office/drawing/2014/main" id="{9A131083-9D04-0CB4-1316-2BC08C278CCA}"/>
                  </a:ext>
                </a:extLst>
              </p:cNvPr>
              <p:cNvSpPr txBox="1"/>
              <p:nvPr/>
            </p:nvSpPr>
            <p:spPr>
              <a:xfrm>
                <a:off x="4984006" y="3355632"/>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500" dirty="0"/>
                  <a:t>Fake Data Generator</a:t>
                </a:r>
              </a:p>
            </p:txBody>
          </p:sp>
        </p:grpSp>
        <p:grpSp>
          <p:nvGrpSpPr>
            <p:cNvPr id="628" name="Group 627">
              <a:extLst>
                <a:ext uri="{FF2B5EF4-FFF2-40B4-BE49-F238E27FC236}">
                  <a16:creationId xmlns:a16="http://schemas.microsoft.com/office/drawing/2014/main" id="{7ACDA254-495A-F5C1-2171-507A8EB464BD}"/>
                </a:ext>
              </a:extLst>
            </p:cNvPr>
            <p:cNvGrpSpPr/>
            <p:nvPr/>
          </p:nvGrpSpPr>
          <p:grpSpPr>
            <a:xfrm>
              <a:off x="7492706" y="3633909"/>
              <a:ext cx="1161768" cy="964728"/>
              <a:chOff x="4984006" y="2603702"/>
              <a:chExt cx="1161768" cy="964728"/>
            </a:xfrm>
          </p:grpSpPr>
          <p:sp>
            <p:nvSpPr>
              <p:cNvPr id="629" name="TextBox 628">
                <a:extLst>
                  <a:ext uri="{FF2B5EF4-FFF2-40B4-BE49-F238E27FC236}">
                    <a16:creationId xmlns:a16="http://schemas.microsoft.com/office/drawing/2014/main" id="{525DD555-8E98-1E58-60C9-F57771B464C6}"/>
                  </a:ext>
                </a:extLst>
              </p:cNvPr>
              <p:cNvSpPr txBox="1"/>
              <p:nvPr/>
            </p:nvSpPr>
            <p:spPr>
              <a:xfrm>
                <a:off x="4986272" y="2603702"/>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1" i="0" u="none" strike="noStrike" cap="none" spc="0" normalizeH="0" baseline="0" dirty="0">
                    <a:ln>
                      <a:noFill/>
                    </a:ln>
                    <a:solidFill>
                      <a:srgbClr val="4C4C4C"/>
                    </a:solidFill>
                    <a:effectLst/>
                    <a:uFillTx/>
                    <a:latin typeface="Source Sans Pro"/>
                    <a:ea typeface="Source Sans Pro"/>
                    <a:cs typeface="Source Sans Pro"/>
                    <a:sym typeface="Source Sans Pro"/>
                  </a:rPr>
                  <a:t>Downloaders</a:t>
                </a:r>
                <a:endParaRPr lang="en-US" sz="500" dirty="0"/>
              </a:p>
            </p:txBody>
          </p:sp>
          <p:sp>
            <p:nvSpPr>
              <p:cNvPr id="630" name="TextBox 629">
                <a:extLst>
                  <a:ext uri="{FF2B5EF4-FFF2-40B4-BE49-F238E27FC236}">
                    <a16:creationId xmlns:a16="http://schemas.microsoft.com/office/drawing/2014/main" id="{2C7447FD-9BB6-5505-03B6-0EC683EA8CD3}"/>
                  </a:ext>
                </a:extLst>
              </p:cNvPr>
              <p:cNvSpPr txBox="1"/>
              <p:nvPr/>
            </p:nvSpPr>
            <p:spPr>
              <a:xfrm>
                <a:off x="4986272" y="2674821"/>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dirty="0"/>
                  <a:t>f</a:t>
                </a:r>
                <a:r>
                  <a:rPr kumimoji="0" lang="en-US" sz="300" b="1"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p:txBody>
          </p:sp>
          <p:sp>
            <p:nvSpPr>
              <p:cNvPr id="631" name="TextBox 630">
                <a:extLst>
                  <a:ext uri="{FF2B5EF4-FFF2-40B4-BE49-F238E27FC236}">
                    <a16:creationId xmlns:a16="http://schemas.microsoft.com/office/drawing/2014/main" id="{B40EB8A2-EFD6-20EE-9A01-30E339FA2BB6}"/>
                  </a:ext>
                </a:extLst>
              </p:cNvPr>
              <p:cNvSpPr txBox="1"/>
              <p:nvPr/>
            </p:nvSpPr>
            <p:spPr>
              <a:xfrm>
                <a:off x="4984006" y="2855929"/>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1" i="0" u="none" strike="noStrike" cap="none" spc="0" normalizeH="0" baseline="0" dirty="0">
                    <a:ln>
                      <a:noFill/>
                    </a:ln>
                    <a:solidFill>
                      <a:srgbClr val="4C4C4C"/>
                    </a:solidFill>
                    <a:effectLst/>
                    <a:uFillTx/>
                    <a:latin typeface="Source Sans Pro"/>
                    <a:ea typeface="Source Sans Pro"/>
                    <a:cs typeface="Source Sans Pro"/>
                    <a:sym typeface="Source Sans Pro"/>
                  </a:rPr>
                  <a:t>Parsers</a:t>
                </a:r>
                <a:endParaRPr lang="en-US" sz="500" dirty="0"/>
              </a:p>
            </p:txBody>
          </p:sp>
          <p:sp>
            <p:nvSpPr>
              <p:cNvPr id="632" name="TextBox 631">
                <a:extLst>
                  <a:ext uri="{FF2B5EF4-FFF2-40B4-BE49-F238E27FC236}">
                    <a16:creationId xmlns:a16="http://schemas.microsoft.com/office/drawing/2014/main" id="{FDD49442-03EE-AFC0-B652-9C1D57606C2D}"/>
                  </a:ext>
                </a:extLst>
              </p:cNvPr>
              <p:cNvSpPr txBox="1"/>
              <p:nvPr/>
            </p:nvSpPr>
            <p:spPr>
              <a:xfrm>
                <a:off x="4984006" y="3108753"/>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1" i="0" u="none" strike="noStrike" cap="none" spc="0" normalizeH="0" baseline="0" dirty="0">
                    <a:ln>
                      <a:noFill/>
                    </a:ln>
                    <a:solidFill>
                      <a:srgbClr val="4C4C4C"/>
                    </a:solidFill>
                    <a:effectLst/>
                    <a:uFillTx/>
                    <a:latin typeface="Source Sans Pro"/>
                    <a:ea typeface="Source Sans Pro"/>
                    <a:cs typeface="Source Sans Pro"/>
                    <a:sym typeface="Source Sans Pro"/>
                  </a:rPr>
                  <a:t>Transforms</a:t>
                </a:r>
                <a:endParaRPr lang="en-US" sz="500" dirty="0"/>
              </a:p>
            </p:txBody>
          </p:sp>
          <p:sp>
            <p:nvSpPr>
              <p:cNvPr id="633" name="TextBox 632">
                <a:extLst>
                  <a:ext uri="{FF2B5EF4-FFF2-40B4-BE49-F238E27FC236}">
                    <a16:creationId xmlns:a16="http://schemas.microsoft.com/office/drawing/2014/main" id="{B4DAB51F-FC30-1B79-1FFA-171B3FED5031}"/>
                  </a:ext>
                </a:extLst>
              </p:cNvPr>
              <p:cNvSpPr txBox="1"/>
              <p:nvPr/>
            </p:nvSpPr>
            <p:spPr>
              <a:xfrm>
                <a:off x="4986272" y="2926948"/>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dirty="0"/>
                  <a:t>f</a:t>
                </a:r>
                <a:r>
                  <a:rPr kumimoji="0" lang="en-US" sz="300" b="1"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p:txBody>
          </p:sp>
          <p:sp>
            <p:nvSpPr>
              <p:cNvPr id="634" name="TextBox 633">
                <a:extLst>
                  <a:ext uri="{FF2B5EF4-FFF2-40B4-BE49-F238E27FC236}">
                    <a16:creationId xmlns:a16="http://schemas.microsoft.com/office/drawing/2014/main" id="{B01C1521-1168-03DF-60A2-C359E8DE89D5}"/>
                  </a:ext>
                </a:extLst>
              </p:cNvPr>
              <p:cNvSpPr txBox="1"/>
              <p:nvPr/>
            </p:nvSpPr>
            <p:spPr>
              <a:xfrm>
                <a:off x="4986272" y="3178756"/>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dirty="0"/>
                  <a:t>f</a:t>
                </a:r>
                <a:r>
                  <a:rPr kumimoji="0" lang="en-US" sz="300" b="1"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p:txBody>
          </p:sp>
          <p:sp>
            <p:nvSpPr>
              <p:cNvPr id="635" name="TextBox 634">
                <a:extLst>
                  <a:ext uri="{FF2B5EF4-FFF2-40B4-BE49-F238E27FC236}">
                    <a16:creationId xmlns:a16="http://schemas.microsoft.com/office/drawing/2014/main" id="{4EBF6F52-D725-A5D3-3CED-5A755F0A74F8}"/>
                  </a:ext>
                </a:extLst>
              </p:cNvPr>
              <p:cNvSpPr txBox="1"/>
              <p:nvPr/>
            </p:nvSpPr>
            <p:spPr>
              <a:xfrm>
                <a:off x="4984006" y="3355632"/>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500" dirty="0"/>
                  <a:t>Fake Data Generator</a:t>
                </a:r>
              </a:p>
            </p:txBody>
          </p:sp>
        </p:grpSp>
        <p:grpSp>
          <p:nvGrpSpPr>
            <p:cNvPr id="636" name="Group 635">
              <a:extLst>
                <a:ext uri="{FF2B5EF4-FFF2-40B4-BE49-F238E27FC236}">
                  <a16:creationId xmlns:a16="http://schemas.microsoft.com/office/drawing/2014/main" id="{BE52022B-872C-120C-497A-DA131FCCD8F0}"/>
                </a:ext>
              </a:extLst>
            </p:cNvPr>
            <p:cNvGrpSpPr/>
            <p:nvPr/>
          </p:nvGrpSpPr>
          <p:grpSpPr>
            <a:xfrm>
              <a:off x="6604776" y="3219314"/>
              <a:ext cx="1161768" cy="964728"/>
              <a:chOff x="4984006" y="2603702"/>
              <a:chExt cx="1161768" cy="964728"/>
            </a:xfrm>
          </p:grpSpPr>
          <p:sp>
            <p:nvSpPr>
              <p:cNvPr id="637" name="TextBox 636">
                <a:extLst>
                  <a:ext uri="{FF2B5EF4-FFF2-40B4-BE49-F238E27FC236}">
                    <a16:creationId xmlns:a16="http://schemas.microsoft.com/office/drawing/2014/main" id="{0B3271CD-0AC7-45D9-3588-58FBCC1EB1A4}"/>
                  </a:ext>
                </a:extLst>
              </p:cNvPr>
              <p:cNvSpPr txBox="1"/>
              <p:nvPr/>
            </p:nvSpPr>
            <p:spPr>
              <a:xfrm>
                <a:off x="4986272" y="2603702"/>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1" i="0" u="none" strike="noStrike" cap="none" spc="0" normalizeH="0" baseline="0" dirty="0">
                    <a:ln>
                      <a:noFill/>
                    </a:ln>
                    <a:solidFill>
                      <a:srgbClr val="4C4C4C"/>
                    </a:solidFill>
                    <a:effectLst/>
                    <a:uFillTx/>
                    <a:latin typeface="Source Sans Pro"/>
                    <a:ea typeface="Source Sans Pro"/>
                    <a:cs typeface="Source Sans Pro"/>
                    <a:sym typeface="Source Sans Pro"/>
                  </a:rPr>
                  <a:t>Downloaders</a:t>
                </a:r>
                <a:endParaRPr lang="en-US" sz="500" dirty="0"/>
              </a:p>
            </p:txBody>
          </p:sp>
          <p:sp>
            <p:nvSpPr>
              <p:cNvPr id="638" name="TextBox 637">
                <a:extLst>
                  <a:ext uri="{FF2B5EF4-FFF2-40B4-BE49-F238E27FC236}">
                    <a16:creationId xmlns:a16="http://schemas.microsoft.com/office/drawing/2014/main" id="{3D1CA99B-4565-A45D-EDE3-47AD295D2C5B}"/>
                  </a:ext>
                </a:extLst>
              </p:cNvPr>
              <p:cNvSpPr txBox="1"/>
              <p:nvPr/>
            </p:nvSpPr>
            <p:spPr>
              <a:xfrm>
                <a:off x="4986272" y="2674821"/>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dirty="0"/>
                  <a:t>f</a:t>
                </a:r>
                <a:r>
                  <a:rPr kumimoji="0" lang="en-US" sz="300" b="1"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p:txBody>
          </p:sp>
          <p:sp>
            <p:nvSpPr>
              <p:cNvPr id="639" name="TextBox 638">
                <a:extLst>
                  <a:ext uri="{FF2B5EF4-FFF2-40B4-BE49-F238E27FC236}">
                    <a16:creationId xmlns:a16="http://schemas.microsoft.com/office/drawing/2014/main" id="{776D75C9-D7E2-A599-AED1-E590A42F2BBD}"/>
                  </a:ext>
                </a:extLst>
              </p:cNvPr>
              <p:cNvSpPr txBox="1"/>
              <p:nvPr/>
            </p:nvSpPr>
            <p:spPr>
              <a:xfrm>
                <a:off x="4984006" y="2855929"/>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1" i="0" u="none" strike="noStrike" cap="none" spc="0" normalizeH="0" baseline="0" dirty="0">
                    <a:ln>
                      <a:noFill/>
                    </a:ln>
                    <a:solidFill>
                      <a:srgbClr val="4C4C4C"/>
                    </a:solidFill>
                    <a:effectLst/>
                    <a:uFillTx/>
                    <a:latin typeface="Source Sans Pro"/>
                    <a:ea typeface="Source Sans Pro"/>
                    <a:cs typeface="Source Sans Pro"/>
                    <a:sym typeface="Source Sans Pro"/>
                  </a:rPr>
                  <a:t>Parsers</a:t>
                </a:r>
                <a:endParaRPr lang="en-US" sz="500" dirty="0"/>
              </a:p>
            </p:txBody>
          </p:sp>
          <p:sp>
            <p:nvSpPr>
              <p:cNvPr id="640" name="TextBox 639">
                <a:extLst>
                  <a:ext uri="{FF2B5EF4-FFF2-40B4-BE49-F238E27FC236}">
                    <a16:creationId xmlns:a16="http://schemas.microsoft.com/office/drawing/2014/main" id="{186353A8-CF77-3A03-F647-A9B1A7DABA54}"/>
                  </a:ext>
                </a:extLst>
              </p:cNvPr>
              <p:cNvSpPr txBox="1"/>
              <p:nvPr/>
            </p:nvSpPr>
            <p:spPr>
              <a:xfrm>
                <a:off x="4984006" y="3108753"/>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1" i="0" u="none" strike="noStrike" cap="none" spc="0" normalizeH="0" baseline="0" dirty="0">
                    <a:ln>
                      <a:noFill/>
                    </a:ln>
                    <a:solidFill>
                      <a:srgbClr val="4C4C4C"/>
                    </a:solidFill>
                    <a:effectLst/>
                    <a:uFillTx/>
                    <a:latin typeface="Source Sans Pro"/>
                    <a:ea typeface="Source Sans Pro"/>
                    <a:cs typeface="Source Sans Pro"/>
                    <a:sym typeface="Source Sans Pro"/>
                  </a:rPr>
                  <a:t>Transforms</a:t>
                </a:r>
                <a:endParaRPr lang="en-US" sz="500" dirty="0"/>
              </a:p>
            </p:txBody>
          </p:sp>
          <p:sp>
            <p:nvSpPr>
              <p:cNvPr id="641" name="TextBox 640">
                <a:extLst>
                  <a:ext uri="{FF2B5EF4-FFF2-40B4-BE49-F238E27FC236}">
                    <a16:creationId xmlns:a16="http://schemas.microsoft.com/office/drawing/2014/main" id="{7AE49DA1-9E6A-C4B5-18AC-70F89D4931B3}"/>
                  </a:ext>
                </a:extLst>
              </p:cNvPr>
              <p:cNvSpPr txBox="1"/>
              <p:nvPr/>
            </p:nvSpPr>
            <p:spPr>
              <a:xfrm>
                <a:off x="4986272" y="2926948"/>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dirty="0"/>
                  <a:t>f</a:t>
                </a:r>
                <a:r>
                  <a:rPr kumimoji="0" lang="en-US" sz="300" b="1"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p:txBody>
          </p:sp>
          <p:sp>
            <p:nvSpPr>
              <p:cNvPr id="642" name="TextBox 641">
                <a:extLst>
                  <a:ext uri="{FF2B5EF4-FFF2-40B4-BE49-F238E27FC236}">
                    <a16:creationId xmlns:a16="http://schemas.microsoft.com/office/drawing/2014/main" id="{D9C99BE4-9B73-FE64-9E38-9789A5A6683F}"/>
                  </a:ext>
                </a:extLst>
              </p:cNvPr>
              <p:cNvSpPr txBox="1"/>
              <p:nvPr/>
            </p:nvSpPr>
            <p:spPr>
              <a:xfrm>
                <a:off x="4986272" y="3178756"/>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dirty="0"/>
                  <a:t>f</a:t>
                </a:r>
                <a:r>
                  <a:rPr kumimoji="0" lang="en-US" sz="300" b="1"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p:txBody>
          </p:sp>
          <p:sp>
            <p:nvSpPr>
              <p:cNvPr id="643" name="TextBox 642">
                <a:extLst>
                  <a:ext uri="{FF2B5EF4-FFF2-40B4-BE49-F238E27FC236}">
                    <a16:creationId xmlns:a16="http://schemas.microsoft.com/office/drawing/2014/main" id="{CF19D91D-D93E-1CB3-940A-118965A1AD14}"/>
                  </a:ext>
                </a:extLst>
              </p:cNvPr>
              <p:cNvSpPr txBox="1"/>
              <p:nvPr/>
            </p:nvSpPr>
            <p:spPr>
              <a:xfrm>
                <a:off x="4984006" y="3355632"/>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500" dirty="0"/>
                  <a:t>Fake Data Generator</a:t>
                </a:r>
              </a:p>
            </p:txBody>
          </p:sp>
        </p:grpSp>
      </p:grpSp>
    </p:spTree>
    <p:extLst>
      <p:ext uri="{BB962C8B-B14F-4D97-AF65-F5344CB8AC3E}">
        <p14:creationId xmlns:p14="http://schemas.microsoft.com/office/powerpoint/2010/main" val="10314177"/>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2" name="Image" descr="Image"/>
          <p:cNvPicPr>
            <a:picLocks noChangeAspect="1"/>
          </p:cNvPicPr>
          <p:nvPr/>
        </p:nvPicPr>
        <p:blipFill>
          <a:blip r:embed="rId3"/>
          <a:stretch>
            <a:fillRect/>
          </a:stretch>
        </p:blipFill>
        <p:spPr>
          <a:xfrm>
            <a:off x="8382051" y="-676677"/>
            <a:ext cx="5598432" cy="2990088"/>
          </a:xfrm>
          <a:prstGeom prst="rect">
            <a:avLst/>
          </a:prstGeom>
          <a:ln w="12700">
            <a:miter lim="400000"/>
          </a:ln>
        </p:spPr>
      </p:pic>
      <p:sp>
        <p:nvSpPr>
          <p:cNvPr id="312" name="Line"/>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26" name="Manipulate Variables"/>
          <p:cNvSpPr txBox="1"/>
          <p:nvPr/>
        </p:nvSpPr>
        <p:spPr>
          <a:xfrm>
            <a:off x="4764287" y="1447511"/>
            <a:ext cx="1750479"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Code Quality</a:t>
            </a:r>
          </a:p>
        </p:txBody>
      </p:sp>
      <p:sp>
        <p:nvSpPr>
          <p:cNvPr id="334" name="Three Column Layout: : CHEAT SHEET"/>
          <p:cNvSpPr txBox="1">
            <a:spLocks noGrp="1"/>
          </p:cNvSpPr>
          <p:nvPr>
            <p:ph type="title"/>
          </p:nvPr>
        </p:nvSpPr>
        <p:spPr>
          <a:xfrm>
            <a:off x="275721" y="361177"/>
            <a:ext cx="10898129" cy="803346"/>
          </a:xfrm>
          <a:prstGeom prst="rect">
            <a:avLst/>
          </a:prstGeom>
        </p:spPr>
        <p:txBody>
          <a:bodyPr lIns="0" tIns="0" rIns="0" bIns="0" anchor="t"/>
          <a:lstStyle/>
          <a:p>
            <a:r>
              <a:rPr lang="en-US" dirty="0"/>
              <a:t>Unit Tests </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41" name="Use headers, colors, and/or backgrounds to separate or group together sections."/>
          <p:cNvSpPr txBox="1"/>
          <p:nvPr/>
        </p:nvSpPr>
        <p:spPr>
          <a:xfrm>
            <a:off x="275721" y="1869898"/>
            <a:ext cx="3949153" cy="22846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rPr>
              <a:t>Kaiaulu has multiple measures in place to ensure that its codebase remains stable. These include</a:t>
            </a:r>
          </a:p>
          <a:p>
            <a:pPr marL="171450" indent="-171450">
              <a:lnSpc>
                <a:spcPct val="90000"/>
              </a:lnSpc>
              <a:spcBef>
                <a:spcPts val="300"/>
              </a:spcBef>
              <a:buFont typeface="Arial" panose="020B0604020202020204" pitchFamily="34" charset="0"/>
              <a:buChar cha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rPr>
              <a:t>Unit Tests</a:t>
            </a:r>
          </a:p>
          <a:p>
            <a:pPr marL="171450" indent="-171450">
              <a:lnSpc>
                <a:spcPct val="90000"/>
              </a:lnSpc>
              <a:spcBef>
                <a:spcPts val="300"/>
              </a:spcBef>
              <a:buFont typeface="Arial" panose="020B0604020202020204" pitchFamily="34" charset="0"/>
              <a:buChar cha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rPr>
              <a:t>Codecov</a:t>
            </a:r>
          </a:p>
          <a:p>
            <a:pPr marL="171450" indent="-171450">
              <a:lnSpc>
                <a:spcPct val="90000"/>
              </a:lnSpc>
              <a:spcBef>
                <a:spcPts val="300"/>
              </a:spcBef>
              <a:buFont typeface="Arial" panose="020B0604020202020204" pitchFamily="34" charset="0"/>
              <a:buChar cha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rPr>
              <a:t>GitHub Actions</a:t>
            </a:r>
          </a:p>
          <a:p>
            <a:pPr marL="171450" indent="-171450">
              <a:lnSpc>
                <a:spcPct val="90000"/>
              </a:lnSpc>
              <a:spcBef>
                <a:spcPts val="300"/>
              </a:spcBef>
              <a:buFont typeface="Arial" panose="020B0604020202020204" pitchFamily="34" charset="0"/>
              <a:buChar cha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rPr>
              <a:t>Example Functions</a:t>
            </a:r>
          </a:p>
          <a:p>
            <a:pPr marL="171450" indent="-171450">
              <a:lnSpc>
                <a:spcPct val="90000"/>
              </a:lnSpc>
              <a:spcBef>
                <a:spcPts val="300"/>
              </a:spcBef>
              <a:buFont typeface="Arial" panose="020B0604020202020204" pitchFamily="34" charset="0"/>
              <a:buChar cha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rPr>
              <a:t>Internal Try Catch Statements</a:t>
            </a:r>
          </a:p>
          <a:p>
            <a:pPr marL="171450" indent="-171450">
              <a:lnSpc>
                <a:spcPct val="90000"/>
              </a:lnSpc>
              <a:spcBef>
                <a:spcPts val="300"/>
              </a:spcBef>
              <a:buClr>
                <a:schemeClr val="accent4">
                  <a:hueOff val="384618"/>
                  <a:satOff val="3869"/>
                  <a:lumOff val="5802"/>
                </a:schemeClr>
              </a:buClr>
              <a:buFont typeface="Arial" panose="020B0604020202020204" pitchFamily="34" charset="0"/>
              <a:buChar char="•"/>
              <a:defRPr b="0">
                <a:solidFill>
                  <a:srgbClr val="000000"/>
                </a:solidFill>
                <a:latin typeface="+mn-lt"/>
                <a:ea typeface="+mn-ea"/>
                <a:cs typeface="+mn-cs"/>
                <a:sym typeface="Source Sans Pro Light"/>
              </a:defRPr>
            </a:pPr>
            <a:endParaRPr lang="en-US" b="0" dirty="0">
              <a:solidFill>
                <a:srgbClr val="000000"/>
              </a:solidFill>
              <a:latin typeface="Source Sans Pro" panose="020B0503030403020204" pitchFamily="34" charset="0"/>
              <a:ea typeface="Source Sans Pro" panose="020B0503030403020204" pitchFamily="34" charset="0"/>
            </a:endParaRPr>
          </a:p>
          <a:p>
            <a:pPr>
              <a:lnSpc>
                <a:spcPct val="90000"/>
              </a:lnSpc>
              <a:spcBef>
                <a:spcPts val="300"/>
              </a:spcBef>
              <a:buClr>
                <a:schemeClr val="tx1">
                  <a:lumMod val="50000"/>
                </a:schemeClr>
              </a:buClr>
              <a:defRPr b="0">
                <a:solidFill>
                  <a:srgbClr val="000000"/>
                </a:solidFill>
                <a:latin typeface="+mn-lt"/>
                <a:ea typeface="+mn-ea"/>
                <a:cs typeface="+mn-cs"/>
                <a:sym typeface="Source Sans Pro Light"/>
              </a:defRPr>
            </a:pPr>
            <a:endParaRPr lang="en-US" b="0" i="0" u="none" strike="noStrike" dirty="0">
              <a:solidFill>
                <a:schemeClr val="tx1">
                  <a:lumMod val="50000"/>
                </a:schemeClr>
              </a:solidFill>
              <a:effectLst/>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dirty="0">
              <a:solidFill>
                <a:srgbClr val="000000"/>
              </a:solidFill>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i="0" u="none" strike="noStrike" dirty="0">
              <a:solidFill>
                <a:srgbClr val="000000"/>
              </a:solidFill>
              <a:effectLst/>
              <a:latin typeface="Source Sans Pro" panose="020B0503030403020204" pitchFamily="34" charset="0"/>
              <a:ea typeface="Source Sans Pro" panose="020B0503030403020204" pitchFamily="34" charset="0"/>
            </a:endParaRPr>
          </a:p>
        </p:txBody>
      </p:sp>
      <p:sp>
        <p:nvSpPr>
          <p:cNvPr id="342" name="Create a visual hierarchy. Help users navigate the page with titles, subtitles, and subsubtitles"/>
          <p:cNvSpPr txBox="1"/>
          <p:nvPr/>
        </p:nvSpPr>
        <p:spPr>
          <a:xfrm>
            <a:off x="4764287" y="1905798"/>
            <a:ext cx="4001355" cy="26801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marL="171450" indent="-171450">
              <a:lnSpc>
                <a:spcPct val="90000"/>
              </a:lnSpc>
              <a:spcBef>
                <a:spcPts val="300"/>
              </a:spcBef>
              <a:buClr>
                <a:schemeClr val="bg2">
                  <a:lumMod val="10000"/>
                </a:schemeClr>
              </a:buClr>
              <a:buFont typeface="Arial" panose="020B0604020202020204" pitchFamily="34" charset="0"/>
              <a:buChar cha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Codecov is the first tool in a Pull Request that is responsible for code quality. It scans the coverage files generated from the ‘covr’ R package, which displays what percentage of the codebase has been tested for, by scanning the output from testthat.  Based on how it is configured, </a:t>
            </a:r>
            <a:r>
              <a:rPr lang="en-US" b="0" dirty="0">
                <a:solidFill>
                  <a:srgbClr val="000000"/>
                </a:solidFill>
                <a:latin typeface="Source Sans Pro" panose="020B0503030403020204" pitchFamily="34" charset="0"/>
                <a:ea typeface="Source Sans Pro" panose="020B0503030403020204" pitchFamily="34" charset="0"/>
              </a:rPr>
              <a:t>C</a:t>
            </a:r>
            <a:r>
              <a:rPr lang="en-US" b="0" i="0" u="none" strike="noStrike" dirty="0">
                <a:solidFill>
                  <a:srgbClr val="000000"/>
                </a:solidFill>
                <a:effectLst/>
                <a:latin typeface="Source Sans Pro" panose="020B0503030403020204" pitchFamily="34" charset="0"/>
                <a:ea typeface="Source Sans Pro" panose="020B0503030403020204" pitchFamily="34" charset="0"/>
              </a:rPr>
              <a:t>odecov can automatically deny Pull Requests from merging if the coverage is too little. </a:t>
            </a:r>
          </a:p>
          <a:p>
            <a:pPr marL="171450" indent="-171450">
              <a:lnSpc>
                <a:spcPct val="90000"/>
              </a:lnSpc>
              <a:spcBef>
                <a:spcPts val="300"/>
              </a:spcBef>
              <a:buClr>
                <a:schemeClr val="bg2">
                  <a:lumMod val="10000"/>
                </a:schemeClr>
              </a:buClr>
              <a:buFont typeface="Arial" panose="020B0604020202020204" pitchFamily="34" charset="0"/>
              <a:buChar cha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a:rPr>
              <a:t>Man</a:t>
            </a:r>
            <a:r>
              <a:rPr lang="en-US" b="0" dirty="0">
                <a:solidFill>
                  <a:srgbClr val="000000"/>
                </a:solidFill>
                <a:latin typeface="Source Sans Pro" panose="020B0503030403020204" pitchFamily="34" charset="0"/>
                <a:ea typeface="Source Sans Pro" panose="020B0503030403020204" pitchFamily="34" charset="0"/>
              </a:rPr>
              <a:t>ual review by a designated Quality Reviewer catches code that is dependent on the writer’s personal setup. The Quality Reviewer is responsible for running committed code on their own machine and verifying that it is running as intended. </a:t>
            </a:r>
          </a:p>
          <a:p>
            <a:pPr marL="171450" indent="-171450">
              <a:lnSpc>
                <a:spcPct val="90000"/>
              </a:lnSpc>
              <a:spcBef>
                <a:spcPts val="300"/>
              </a:spcBef>
              <a:buClr>
                <a:schemeClr val="bg2">
                  <a:lumMod val="10000"/>
                </a:schemeClr>
              </a:buClr>
              <a:buFont typeface="Arial" panose="020B0604020202020204" pitchFamily="34" charset="0"/>
              <a:buChar cha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a:rPr>
              <a:t>Manual review by a designated Code Architect catches consistency issues between what is in the committed code, and the code that already exists in the files. </a:t>
            </a:r>
            <a:endParaRPr lang="en-US" dirty="0">
              <a:latin typeface="Source Sans Pro" panose="020B0503030403020204" pitchFamily="34" charset="0"/>
              <a:ea typeface="Source Sans Pro" panose="020B0503030403020204" pitchFamily="34" charset="0"/>
              <a:sym typeface="Source Sans Pro"/>
            </a:endParaRPr>
          </a:p>
        </p:txBody>
      </p:sp>
      <p:sp>
        <p:nvSpPr>
          <p:cNvPr id="382" name="Logistics"/>
          <p:cNvSpPr txBox="1"/>
          <p:nvPr/>
        </p:nvSpPr>
        <p:spPr>
          <a:xfrm>
            <a:off x="275721" y="5185660"/>
            <a:ext cx="2914259"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Unit Tests &amp; Try Catch</a:t>
            </a:r>
          </a:p>
        </p:txBody>
      </p:sp>
      <p:sp>
        <p:nvSpPr>
          <p:cNvPr id="384" name="Layout Suggestions"/>
          <p:cNvSpPr txBox="1"/>
          <p:nvPr/>
        </p:nvSpPr>
        <p:spPr>
          <a:xfrm>
            <a:off x="275721" y="1453227"/>
            <a:ext cx="262128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1C9AB6D2-F69D-1DEC-41BE-05335D7DBE4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198E25CE-0FCD-0F14-DE41-E9F889215D13}"/>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5">
                  <a:extLst>
                    <a:ext uri="{A12FA001-AC4F-418D-AE19-62706E023703}">
                      <ahyp:hlinkClr xmlns:ahyp="http://schemas.microsoft.com/office/drawing/2018/hyperlinkcolor" val="tx"/>
                    </a:ext>
                  </a:extLst>
                </a:hlinkClick>
              </a:rPr>
              <a:t>CC BY SA</a:t>
            </a:r>
            <a:r>
              <a:rPr lang="en-US" sz="1000" b="0" dirty="0">
                <a:solidFill>
                  <a:schemeClr val="tx1"/>
                </a:solidFill>
              </a:rPr>
              <a:t> Ian Jaymes Iwata, Anthony Lau, Sean Sunoo</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2024-04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01" name="TextBox 500">
            <a:extLst>
              <a:ext uri="{FF2B5EF4-FFF2-40B4-BE49-F238E27FC236}">
                <a16:creationId xmlns:a16="http://schemas.microsoft.com/office/drawing/2014/main" id="{F118DF81-C193-422D-BF5F-D5A23FB2CF1E}"/>
              </a:ext>
            </a:extLst>
          </p:cNvPr>
          <p:cNvSpPr txBox="1"/>
          <p:nvPr/>
        </p:nvSpPr>
        <p:spPr>
          <a:xfrm>
            <a:off x="205764" y="5459725"/>
            <a:ext cx="4184378" cy="461400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tx1">
                    <a:lumMod val="50000"/>
                  </a:schemeClr>
                </a:solidFill>
              </a:rPr>
              <a:t>Kaiaulu’s native R code takes the form of three types of functions:</a:t>
            </a:r>
          </a:p>
          <a:p>
            <a:pPr marL="171450" indent="-171450">
              <a:buFont typeface="Arial" panose="020B0604020202020204" pitchFamily="34" charset="0"/>
              <a:buChar char="•"/>
            </a:pPr>
            <a:r>
              <a:rPr lang="en-US" b="0" dirty="0">
                <a:solidFill>
                  <a:schemeClr val="tx1">
                    <a:lumMod val="50000"/>
                  </a:schemeClr>
                </a:solidFill>
                <a:latin typeface="Source Sans Pro" panose="020B0503030403020204" pitchFamily="34" charset="0"/>
                <a:ea typeface="Source Sans Pro" panose="020B0503030403020204" pitchFamily="34" charset="0"/>
              </a:rPr>
              <a:t>Downloaders download raw data from a website</a:t>
            </a:r>
          </a:p>
          <a:p>
            <a:pPr marL="171450" lvl="7" indent="-171450">
              <a:buFont typeface="Arial" panose="020B0604020202020204" pitchFamily="34" charset="0"/>
              <a:buChar char="•"/>
            </a:pPr>
            <a:r>
              <a:rPr lang="en-US" b="0" dirty="0">
                <a:solidFill>
                  <a:schemeClr val="tx1">
                    <a:lumMod val="50000"/>
                  </a:schemeClr>
                </a:solidFill>
                <a:latin typeface="Source Sans Pro" panose="020B0503030403020204" pitchFamily="34" charset="0"/>
                <a:ea typeface="Source Sans Pro" panose="020B0503030403020204" pitchFamily="34" charset="0"/>
              </a:rPr>
              <a:t>Parsers change the downloaded data into parsed R tables</a:t>
            </a:r>
          </a:p>
          <a:p>
            <a:pPr marL="171450" lvl="2" indent="-171450">
              <a:buFont typeface="Arial" panose="020B0604020202020204" pitchFamily="34" charset="0"/>
              <a:buChar char="•"/>
            </a:pPr>
            <a:r>
              <a:rPr lang="en-US" b="0" dirty="0">
                <a:solidFill>
                  <a:schemeClr val="tx1">
                    <a:lumMod val="50000"/>
                  </a:schemeClr>
                </a:solidFill>
                <a:latin typeface="Source Sans Pro" panose="020B0503030403020204" pitchFamily="34" charset="0"/>
                <a:ea typeface="Source Sans Pro" panose="020B0503030403020204" pitchFamily="34" charset="0"/>
              </a:rPr>
              <a:t>Transforms change the parsed data into parsed node and edge lists, and then present the data in the form of a graph specified by the user</a:t>
            </a:r>
          </a:p>
          <a:p>
            <a:pPr lvl="2" indent="0"/>
            <a:r>
              <a:rPr lang="en-US" b="0" dirty="0">
                <a:solidFill>
                  <a:schemeClr val="tx1">
                    <a:lumMod val="50000"/>
                  </a:schemeClr>
                </a:solidFill>
                <a:latin typeface="Source Sans Pro" panose="020B0503030403020204" pitchFamily="34" charset="0"/>
                <a:ea typeface="Source Sans Pro" panose="020B0503030403020204" pitchFamily="34" charset="0"/>
              </a:rPr>
              <a:t>Each of these functions need to be tested for in different ways:</a:t>
            </a:r>
          </a:p>
          <a:p>
            <a:pPr marL="171450" lvl="2" indent="-171450">
              <a:buFont typeface="Arial" panose="020B0604020202020204" pitchFamily="34" charset="0"/>
              <a:buChar char="•"/>
            </a:pPr>
            <a:r>
              <a:rPr lang="en-US" b="0" dirty="0">
                <a:solidFill>
                  <a:schemeClr val="tx1">
                    <a:lumMod val="50000"/>
                  </a:schemeClr>
                </a:solidFill>
                <a:latin typeface="Source Sans Pro" panose="020B0503030403020204" pitchFamily="34" charset="0"/>
                <a:ea typeface="Source Sans Pro" panose="020B0503030403020204" pitchFamily="34" charset="0"/>
              </a:rPr>
              <a:t>Downloaders require a fake URL to be generated in order to be tested for</a:t>
            </a:r>
          </a:p>
          <a:p>
            <a:pPr marL="171450" lvl="2" indent="-171450">
              <a:buFont typeface="Arial" panose="020B0604020202020204" pitchFamily="34" charset="0"/>
              <a:buChar char="•"/>
            </a:pPr>
            <a:r>
              <a:rPr lang="en-US" b="0" dirty="0">
                <a:solidFill>
                  <a:schemeClr val="tx1">
                    <a:lumMod val="50000"/>
                  </a:schemeClr>
                </a:solidFill>
                <a:latin typeface="Source Sans Pro" panose="020B0503030403020204" pitchFamily="34" charset="0"/>
                <a:ea typeface="Source Sans Pro" panose="020B0503030403020204" pitchFamily="34" charset="0"/>
              </a:rPr>
              <a:t>Parsers require fake data, and due to being the functions most prone to receiving odd raw data from users, need to be thoroughly tested for in order to ensure their stability</a:t>
            </a:r>
          </a:p>
          <a:p>
            <a:pPr marL="171450" lvl="2" indent="-171450">
              <a:buFont typeface="Arial" panose="020B0604020202020204" pitchFamily="34" charset="0"/>
              <a:buChar char="•"/>
            </a:pPr>
            <a:r>
              <a:rPr lang="en-US" b="0" dirty="0">
                <a:solidFill>
                  <a:schemeClr val="tx1">
                    <a:lumMod val="50000"/>
                  </a:schemeClr>
                </a:solidFill>
                <a:latin typeface="Source Sans Pro" panose="020B0503030403020204" pitchFamily="34" charset="0"/>
                <a:ea typeface="Source Sans Pro" panose="020B0503030403020204" pitchFamily="34" charset="0"/>
              </a:rPr>
              <a:t>Transforms also require fake data, but the relationships between the nodes and edge tables should be tested for the most</a:t>
            </a:r>
          </a:p>
          <a:p>
            <a:pPr lvl="2" indent="0"/>
            <a:r>
              <a:rPr lang="en-US" b="0" dirty="0">
                <a:solidFill>
                  <a:schemeClr val="tx1">
                    <a:lumMod val="50000"/>
                  </a:schemeClr>
                </a:solidFill>
                <a:latin typeface="Source Sans Pro" panose="020B0503030403020204" pitchFamily="34" charset="0"/>
                <a:ea typeface="Source Sans Pro" panose="020B0503030403020204" pitchFamily="34" charset="0"/>
              </a:rPr>
              <a:t>The Try Catch statements in Kaiaulu ensure that functions don’t return confusing errors to users that don’t make sense. They are primarily used in command line wrapper functions. That way, instead of being returned an unfamiliar error in the form of an R warning, the function explicitly states to the user what they did wrong.</a:t>
            </a:r>
          </a:p>
          <a:p>
            <a:pPr marL="171450" marR="0" indent="-171450" algn="l" defTabSz="584200" rtl="0" fontAlgn="auto" latinLnBrk="0" hangingPunct="0">
              <a:lnSpc>
                <a:spcPct val="100000"/>
              </a:lnSpc>
              <a:spcBef>
                <a:spcPts val="200"/>
              </a:spcBef>
              <a:spcAft>
                <a:spcPts val="0"/>
              </a:spcAft>
              <a:buClrTx/>
              <a:buSzTx/>
              <a:buFont typeface="Arial" panose="020B0604020202020204" pitchFamily="34" charset="0"/>
              <a:buChar char="•"/>
              <a:tabLst/>
            </a:pPr>
            <a:endParaRPr lang="en-US" b="0" dirty="0">
              <a:solidFill>
                <a:schemeClr val="tx1"/>
              </a:solidFill>
              <a:effectLst/>
              <a:latin typeface="Source Sans Pro" panose="020B0503030403020204" pitchFamily="34" charset="0"/>
              <a:ea typeface="Source Sans Pro" panose="020B0503030403020204" pitchFamily="34" charset="0"/>
            </a:endParaRPr>
          </a:p>
        </p:txBody>
      </p:sp>
      <p:sp>
        <p:nvSpPr>
          <p:cNvPr id="370" name="Basics">
            <a:extLst>
              <a:ext uri="{FF2B5EF4-FFF2-40B4-BE49-F238E27FC236}">
                <a16:creationId xmlns:a16="http://schemas.microsoft.com/office/drawing/2014/main" id="{78170172-2617-B449-A16C-2B624CC4A404}"/>
              </a:ext>
            </a:extLst>
          </p:cNvPr>
          <p:cNvSpPr txBox="1"/>
          <p:nvPr/>
        </p:nvSpPr>
        <p:spPr>
          <a:xfrm>
            <a:off x="275721" y="3342198"/>
            <a:ext cx="2766632"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Fake Data Examples</a:t>
            </a:r>
            <a:endParaRPr dirty="0"/>
          </a:p>
        </p:txBody>
      </p:sp>
      <p:sp>
        <p:nvSpPr>
          <p:cNvPr id="371" name="Line">
            <a:extLst>
              <a:ext uri="{FF2B5EF4-FFF2-40B4-BE49-F238E27FC236}">
                <a16:creationId xmlns:a16="http://schemas.microsoft.com/office/drawing/2014/main" id="{3E1227C5-190B-40AA-17E8-5AFF1E3B99DA}"/>
              </a:ext>
            </a:extLst>
          </p:cNvPr>
          <p:cNvSpPr/>
          <p:nvPr/>
        </p:nvSpPr>
        <p:spPr>
          <a:xfrm flipV="1">
            <a:off x="148894" y="1800587"/>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75" name="Line">
            <a:extLst>
              <a:ext uri="{FF2B5EF4-FFF2-40B4-BE49-F238E27FC236}">
                <a16:creationId xmlns:a16="http://schemas.microsoft.com/office/drawing/2014/main" id="{FA2B2D45-EC3B-5790-3E0A-049345E53CB4}"/>
              </a:ext>
            </a:extLst>
          </p:cNvPr>
          <p:cNvSpPr/>
          <p:nvPr/>
        </p:nvSpPr>
        <p:spPr>
          <a:xfrm flipV="1">
            <a:off x="4701317" y="1828842"/>
            <a:ext cx="7845027"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nvGrpSpPr>
          <p:cNvPr id="2" name="Group 1">
            <a:extLst>
              <a:ext uri="{FF2B5EF4-FFF2-40B4-BE49-F238E27FC236}">
                <a16:creationId xmlns:a16="http://schemas.microsoft.com/office/drawing/2014/main" id="{32679222-2EF9-8143-446A-3A4210F2ECE3}"/>
              </a:ext>
            </a:extLst>
          </p:cNvPr>
          <p:cNvGrpSpPr/>
          <p:nvPr/>
        </p:nvGrpSpPr>
        <p:grpSpPr>
          <a:xfrm>
            <a:off x="4618483" y="4985898"/>
            <a:ext cx="4212846" cy="4552931"/>
            <a:chOff x="4658453" y="3196943"/>
            <a:chExt cx="4212846" cy="4552931"/>
          </a:xfrm>
        </p:grpSpPr>
        <p:pic>
          <p:nvPicPr>
            <p:cNvPr id="3" name="Graphic 2" descr="Paper outline">
              <a:extLst>
                <a:ext uri="{FF2B5EF4-FFF2-40B4-BE49-F238E27FC236}">
                  <a16:creationId xmlns:a16="http://schemas.microsoft.com/office/drawing/2014/main" id="{62FFA530-C293-7DD9-A301-D79F7947929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99970" y="6453813"/>
              <a:ext cx="1118249" cy="1118249"/>
            </a:xfrm>
            <a:prstGeom prst="rect">
              <a:avLst/>
            </a:prstGeom>
          </p:spPr>
        </p:pic>
        <p:sp>
          <p:nvSpPr>
            <p:cNvPr id="4" name="Oval 3">
              <a:extLst>
                <a:ext uri="{FF2B5EF4-FFF2-40B4-BE49-F238E27FC236}">
                  <a16:creationId xmlns:a16="http://schemas.microsoft.com/office/drawing/2014/main" id="{47C2D4A3-3889-C386-B78E-EDDC8FCD049D}"/>
                </a:ext>
              </a:extLst>
            </p:cNvPr>
            <p:cNvSpPr/>
            <p:nvPr/>
          </p:nvSpPr>
          <p:spPr>
            <a:xfrm>
              <a:off x="5243445" y="3206239"/>
              <a:ext cx="3291892" cy="3175648"/>
            </a:xfrm>
            <a:prstGeom prst="ellipse">
              <a:avLst/>
            </a:prstGeom>
            <a:noFill/>
            <a:ln w="12700" cap="flat">
              <a:solidFill>
                <a:schemeClr val="tx1">
                  <a:lumMod val="50000"/>
                </a:schemeClr>
              </a:solidFill>
              <a:prstDash val="sysDash"/>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5" name="Graphic 4" descr="Paper outline">
              <a:extLst>
                <a:ext uri="{FF2B5EF4-FFF2-40B4-BE49-F238E27FC236}">
                  <a16:creationId xmlns:a16="http://schemas.microsoft.com/office/drawing/2014/main" id="{86658DC8-86C2-C094-8992-63B7F1182E4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35391" y="4671724"/>
              <a:ext cx="1731153" cy="1731153"/>
            </a:xfrm>
            <a:prstGeom prst="rect">
              <a:avLst/>
            </a:prstGeom>
          </p:spPr>
        </p:pic>
        <p:sp>
          <p:nvSpPr>
            <p:cNvPr id="6" name="TextBox 5">
              <a:extLst>
                <a:ext uri="{FF2B5EF4-FFF2-40B4-BE49-F238E27FC236}">
                  <a16:creationId xmlns:a16="http://schemas.microsoft.com/office/drawing/2014/main" id="{49A5A989-5677-DA01-093B-BD3FB2E774A6}"/>
                </a:ext>
              </a:extLst>
            </p:cNvPr>
            <p:cNvSpPr txBox="1"/>
            <p:nvPr/>
          </p:nvSpPr>
          <p:spPr>
            <a:xfrm>
              <a:off x="6355563" y="4758231"/>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rPr>
                <a:t>Downloaders</a:t>
              </a:r>
              <a:endParaRPr lang="en-US" sz="800" dirty="0"/>
            </a:p>
          </p:txBody>
        </p:sp>
        <p:sp>
          <p:nvSpPr>
            <p:cNvPr id="7" name="TextBox 6">
              <a:extLst>
                <a:ext uri="{FF2B5EF4-FFF2-40B4-BE49-F238E27FC236}">
                  <a16:creationId xmlns:a16="http://schemas.microsoft.com/office/drawing/2014/main" id="{B39D6D7A-AF09-9186-FD10-7559AAA8D431}"/>
                </a:ext>
              </a:extLst>
            </p:cNvPr>
            <p:cNvSpPr txBox="1"/>
            <p:nvPr/>
          </p:nvSpPr>
          <p:spPr>
            <a:xfrm>
              <a:off x="6359464" y="4857682"/>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dirty="0"/>
                <a:t>f</a:t>
              </a:r>
              <a:r>
                <a:rPr kumimoji="0" lang="en-US" sz="600" b="1"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dirty="0"/>
                <a:t>function() …</a:t>
              </a:r>
            </a:p>
          </p:txBody>
        </p:sp>
        <p:sp>
          <p:nvSpPr>
            <p:cNvPr id="9" name="TextBox 8">
              <a:extLst>
                <a:ext uri="{FF2B5EF4-FFF2-40B4-BE49-F238E27FC236}">
                  <a16:creationId xmlns:a16="http://schemas.microsoft.com/office/drawing/2014/main" id="{8219E527-19CF-4839-C1E9-A45F52BFA32B}"/>
                </a:ext>
              </a:extLst>
            </p:cNvPr>
            <p:cNvSpPr txBox="1"/>
            <p:nvPr/>
          </p:nvSpPr>
          <p:spPr>
            <a:xfrm>
              <a:off x="6360046" y="5272612"/>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dirty="0"/>
                <a:t>f</a:t>
              </a:r>
              <a:r>
                <a:rPr kumimoji="0" lang="en-US" sz="600" b="1"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dirty="0"/>
                <a:t>function() …</a:t>
              </a:r>
            </a:p>
          </p:txBody>
        </p:sp>
        <p:sp>
          <p:nvSpPr>
            <p:cNvPr id="10" name="TextBox 9">
              <a:extLst>
                <a:ext uri="{FF2B5EF4-FFF2-40B4-BE49-F238E27FC236}">
                  <a16:creationId xmlns:a16="http://schemas.microsoft.com/office/drawing/2014/main" id="{63564C98-F0F1-55BA-73C4-03B87A3F4FD3}"/>
                </a:ext>
              </a:extLst>
            </p:cNvPr>
            <p:cNvSpPr txBox="1"/>
            <p:nvPr/>
          </p:nvSpPr>
          <p:spPr>
            <a:xfrm>
              <a:off x="6355563" y="5166517"/>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rPr>
                <a:t>Parsers</a:t>
              </a:r>
              <a:endParaRPr lang="en-US" sz="800" dirty="0"/>
            </a:p>
          </p:txBody>
        </p:sp>
        <p:sp>
          <p:nvSpPr>
            <p:cNvPr id="12" name="TextBox 11">
              <a:extLst>
                <a:ext uri="{FF2B5EF4-FFF2-40B4-BE49-F238E27FC236}">
                  <a16:creationId xmlns:a16="http://schemas.microsoft.com/office/drawing/2014/main" id="{F7E68C5B-8F50-2A38-798B-528D16BF87CF}"/>
                </a:ext>
              </a:extLst>
            </p:cNvPr>
            <p:cNvSpPr txBox="1"/>
            <p:nvPr/>
          </p:nvSpPr>
          <p:spPr>
            <a:xfrm>
              <a:off x="6365028" y="5681544"/>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dirty="0"/>
                <a:t>f</a:t>
              </a:r>
              <a:r>
                <a:rPr kumimoji="0" lang="en-US" sz="600" b="1"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dirty="0"/>
                <a:t>function() …</a:t>
              </a:r>
            </a:p>
          </p:txBody>
        </p:sp>
        <p:sp>
          <p:nvSpPr>
            <p:cNvPr id="13" name="TextBox 12">
              <a:extLst>
                <a:ext uri="{FF2B5EF4-FFF2-40B4-BE49-F238E27FC236}">
                  <a16:creationId xmlns:a16="http://schemas.microsoft.com/office/drawing/2014/main" id="{F69F0033-5567-8E96-D12F-6792B1136E5D}"/>
                </a:ext>
              </a:extLst>
            </p:cNvPr>
            <p:cNvSpPr txBox="1"/>
            <p:nvPr/>
          </p:nvSpPr>
          <p:spPr>
            <a:xfrm>
              <a:off x="6359464" y="5577248"/>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rPr>
                <a:t>Transforms</a:t>
              </a:r>
              <a:endParaRPr lang="en-US" sz="800" dirty="0"/>
            </a:p>
          </p:txBody>
        </p:sp>
        <p:pic>
          <p:nvPicPr>
            <p:cNvPr id="14" name="Graphic 13" descr="Paper outline">
              <a:extLst>
                <a:ext uri="{FF2B5EF4-FFF2-40B4-BE49-F238E27FC236}">
                  <a16:creationId xmlns:a16="http://schemas.microsoft.com/office/drawing/2014/main" id="{8EEE4430-92A9-B989-4E41-883271B6278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322710" y="3613426"/>
              <a:ext cx="1045469" cy="1045469"/>
            </a:xfrm>
            <a:prstGeom prst="rect">
              <a:avLst/>
            </a:prstGeom>
          </p:spPr>
        </p:pic>
        <p:pic>
          <p:nvPicPr>
            <p:cNvPr id="15" name="Graphic 14" descr="Paper outline">
              <a:extLst>
                <a:ext uri="{FF2B5EF4-FFF2-40B4-BE49-F238E27FC236}">
                  <a16:creationId xmlns:a16="http://schemas.microsoft.com/office/drawing/2014/main" id="{8F8D38AE-58F1-EF56-FB99-EC4A3076959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94543" y="6516319"/>
              <a:ext cx="1118249" cy="1118249"/>
            </a:xfrm>
            <a:prstGeom prst="rect">
              <a:avLst/>
            </a:prstGeom>
          </p:spPr>
        </p:pic>
        <p:sp>
          <p:nvSpPr>
            <p:cNvPr id="16" name="Google Shape;312;p17">
              <a:extLst>
                <a:ext uri="{FF2B5EF4-FFF2-40B4-BE49-F238E27FC236}">
                  <a16:creationId xmlns:a16="http://schemas.microsoft.com/office/drawing/2014/main" id="{8C6B8BD0-2EA8-EF05-099A-26630698233B}"/>
                </a:ext>
              </a:extLst>
            </p:cNvPr>
            <p:cNvSpPr txBox="1"/>
            <p:nvPr/>
          </p:nvSpPr>
          <p:spPr>
            <a:xfrm>
              <a:off x="4658453" y="7302872"/>
              <a:ext cx="2240541"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2400" dirty="0">
                  <a:solidFill>
                    <a:schemeClr val="accent1"/>
                  </a:solidFill>
                </a:rPr>
                <a:t>Example.R</a:t>
              </a:r>
              <a:endParaRPr sz="2400" dirty="0">
                <a:solidFill>
                  <a:schemeClr val="accent1"/>
                </a:solidFill>
              </a:endParaRPr>
            </a:p>
          </p:txBody>
        </p:sp>
        <p:sp>
          <p:nvSpPr>
            <p:cNvPr id="17" name="Google Shape;318;p17">
              <a:extLst>
                <a:ext uri="{FF2B5EF4-FFF2-40B4-BE49-F238E27FC236}">
                  <a16:creationId xmlns:a16="http://schemas.microsoft.com/office/drawing/2014/main" id="{B71921A0-16B4-6418-894F-7B64AB52A753}"/>
                </a:ext>
              </a:extLst>
            </p:cNvPr>
            <p:cNvSpPr txBox="1"/>
            <p:nvPr/>
          </p:nvSpPr>
          <p:spPr>
            <a:xfrm>
              <a:off x="7236035" y="7344449"/>
              <a:ext cx="1635264"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US" sz="2000" dirty="0">
                  <a:solidFill>
                    <a:srgbClr val="F6B26B"/>
                  </a:solidFill>
                </a:rPr>
                <a:t>Tests/**</a:t>
              </a:r>
              <a:endParaRPr sz="2000" dirty="0">
                <a:solidFill>
                  <a:srgbClr val="F6B26B"/>
                </a:solidFill>
              </a:endParaRPr>
            </a:p>
          </p:txBody>
        </p:sp>
        <p:sp>
          <p:nvSpPr>
            <p:cNvPr id="18" name="TextBox 17">
              <a:extLst>
                <a:ext uri="{FF2B5EF4-FFF2-40B4-BE49-F238E27FC236}">
                  <a16:creationId xmlns:a16="http://schemas.microsoft.com/office/drawing/2014/main" id="{20441F9F-FE09-6C39-B01B-1D5448DCBECA}"/>
                </a:ext>
              </a:extLst>
            </p:cNvPr>
            <p:cNvSpPr txBox="1"/>
            <p:nvPr/>
          </p:nvSpPr>
          <p:spPr>
            <a:xfrm>
              <a:off x="7715453" y="6891047"/>
              <a:ext cx="676428"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1000" dirty="0">
                  <a:solidFill>
                    <a:srgbClr val="F6B26B"/>
                  </a:solidFill>
                </a:rPr>
                <a:t>testthat</a:t>
              </a:r>
              <a:endParaRPr kumimoji="0" lang="en-US" sz="10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19" name="Google Shape;346;p17">
              <a:extLst>
                <a:ext uri="{FF2B5EF4-FFF2-40B4-BE49-F238E27FC236}">
                  <a16:creationId xmlns:a16="http://schemas.microsoft.com/office/drawing/2014/main" id="{57995CCC-85B6-82D2-6B91-7D06C713C860}"/>
                </a:ext>
              </a:extLst>
            </p:cNvPr>
            <p:cNvSpPr/>
            <p:nvPr/>
          </p:nvSpPr>
          <p:spPr>
            <a:xfrm>
              <a:off x="7786140" y="6916705"/>
              <a:ext cx="549624" cy="255847"/>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spcBef>
                  <a:spcPts val="0"/>
                </a:spcBef>
              </a:pPr>
              <a:endParaRPr sz="1833"/>
            </a:p>
          </p:txBody>
        </p:sp>
        <p:sp>
          <p:nvSpPr>
            <p:cNvPr id="20" name="Google Shape;317;p17">
              <a:extLst>
                <a:ext uri="{FF2B5EF4-FFF2-40B4-BE49-F238E27FC236}">
                  <a16:creationId xmlns:a16="http://schemas.microsoft.com/office/drawing/2014/main" id="{860E5C3F-3022-02A8-7844-2AB694C70DC0}"/>
                </a:ext>
              </a:extLst>
            </p:cNvPr>
            <p:cNvSpPr txBox="1"/>
            <p:nvPr/>
          </p:nvSpPr>
          <p:spPr>
            <a:xfrm>
              <a:off x="5101677" y="6607358"/>
              <a:ext cx="1320250" cy="541969"/>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dirty="0">
                  <a:solidFill>
                    <a:schemeClr val="accent1"/>
                  </a:solidFill>
                </a:rPr>
                <a:t>Example Fake Data</a:t>
              </a:r>
              <a:endParaRPr sz="1000" dirty="0">
                <a:solidFill>
                  <a:schemeClr val="accent1"/>
                </a:solidFill>
              </a:endParaRPr>
            </a:p>
          </p:txBody>
        </p:sp>
        <p:sp>
          <p:nvSpPr>
            <p:cNvPr id="21" name="Google Shape;306;p17">
              <a:extLst>
                <a:ext uri="{FF2B5EF4-FFF2-40B4-BE49-F238E27FC236}">
                  <a16:creationId xmlns:a16="http://schemas.microsoft.com/office/drawing/2014/main" id="{44D54AD0-06B9-0584-F88C-0AFAE75FB956}"/>
                </a:ext>
              </a:extLst>
            </p:cNvPr>
            <p:cNvSpPr txBox="1"/>
            <p:nvPr/>
          </p:nvSpPr>
          <p:spPr>
            <a:xfrm>
              <a:off x="6195839" y="5977772"/>
              <a:ext cx="1401619" cy="524556"/>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dirty="0">
                  <a:solidFill>
                    <a:schemeClr val="dk2"/>
                  </a:solidFill>
                </a:rPr>
                <a:t>Git.R</a:t>
              </a:r>
              <a:endParaRPr sz="1000" dirty="0">
                <a:solidFill>
                  <a:schemeClr val="dk2"/>
                </a:solidFill>
              </a:endParaRPr>
            </a:p>
          </p:txBody>
        </p:sp>
        <p:sp>
          <p:nvSpPr>
            <p:cNvPr id="22" name="Google Shape;306;p17">
              <a:extLst>
                <a:ext uri="{FF2B5EF4-FFF2-40B4-BE49-F238E27FC236}">
                  <a16:creationId xmlns:a16="http://schemas.microsoft.com/office/drawing/2014/main" id="{9F24CFB1-54AD-5A53-6B2F-70A6C9B97EA2}"/>
                </a:ext>
              </a:extLst>
            </p:cNvPr>
            <p:cNvSpPr txBox="1"/>
            <p:nvPr/>
          </p:nvSpPr>
          <p:spPr>
            <a:xfrm>
              <a:off x="7381313" y="4363761"/>
              <a:ext cx="928261"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dirty="0">
                  <a:solidFill>
                    <a:schemeClr val="dk2"/>
                  </a:solidFill>
                </a:rPr>
                <a:t>src.R</a:t>
              </a:r>
              <a:endParaRPr sz="1000" dirty="0">
                <a:solidFill>
                  <a:schemeClr val="dk2"/>
                </a:solidFill>
              </a:endParaRPr>
            </a:p>
          </p:txBody>
        </p:sp>
        <p:sp>
          <p:nvSpPr>
            <p:cNvPr id="23" name="Google Shape;306;p17">
              <a:extLst>
                <a:ext uri="{FF2B5EF4-FFF2-40B4-BE49-F238E27FC236}">
                  <a16:creationId xmlns:a16="http://schemas.microsoft.com/office/drawing/2014/main" id="{3FE33CF6-A886-AEA4-2ED4-578167CAC565}"/>
                </a:ext>
              </a:extLst>
            </p:cNvPr>
            <p:cNvSpPr txBox="1"/>
            <p:nvPr/>
          </p:nvSpPr>
          <p:spPr>
            <a:xfrm>
              <a:off x="6454666" y="3954829"/>
              <a:ext cx="1006099"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dirty="0">
                  <a:solidFill>
                    <a:schemeClr val="dk2"/>
                  </a:solidFill>
                </a:rPr>
                <a:t>Mail.R</a:t>
              </a:r>
              <a:endParaRPr sz="1000" dirty="0">
                <a:solidFill>
                  <a:schemeClr val="dk2"/>
                </a:solidFill>
              </a:endParaRPr>
            </a:p>
          </p:txBody>
        </p:sp>
        <p:sp>
          <p:nvSpPr>
            <p:cNvPr id="24" name="Google Shape;306;p17">
              <a:extLst>
                <a:ext uri="{FF2B5EF4-FFF2-40B4-BE49-F238E27FC236}">
                  <a16:creationId xmlns:a16="http://schemas.microsoft.com/office/drawing/2014/main" id="{21F1FD08-CFEE-8299-E885-F6F2441A24AE}"/>
                </a:ext>
              </a:extLst>
            </p:cNvPr>
            <p:cNvSpPr txBox="1"/>
            <p:nvPr/>
          </p:nvSpPr>
          <p:spPr>
            <a:xfrm>
              <a:off x="5592202" y="4359252"/>
              <a:ext cx="987526"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dirty="0">
                  <a:solidFill>
                    <a:schemeClr val="dk2"/>
                  </a:solidFill>
                </a:rPr>
                <a:t>JIRA.R</a:t>
              </a:r>
              <a:endParaRPr sz="1000" dirty="0">
                <a:solidFill>
                  <a:schemeClr val="dk2"/>
                </a:solidFill>
              </a:endParaRPr>
            </a:p>
          </p:txBody>
        </p:sp>
        <p:cxnSp>
          <p:nvCxnSpPr>
            <p:cNvPr id="25" name="Connector: Elbow 24">
              <a:extLst>
                <a:ext uri="{FF2B5EF4-FFF2-40B4-BE49-F238E27FC236}">
                  <a16:creationId xmlns:a16="http://schemas.microsoft.com/office/drawing/2014/main" id="{A88BA58B-03FA-14D8-1326-129B4E595BFE}"/>
                </a:ext>
              </a:extLst>
            </p:cNvPr>
            <p:cNvCxnSpPr>
              <a:cxnSpLocks/>
            </p:cNvCxnSpPr>
            <p:nvPr/>
          </p:nvCxnSpPr>
          <p:spPr>
            <a:xfrm rot="16200000" flipH="1">
              <a:off x="6648673" y="5320284"/>
              <a:ext cx="1972627" cy="1165690"/>
            </a:xfrm>
            <a:prstGeom prst="bentConnector3">
              <a:avLst>
                <a:gd name="adj1" fmla="val -63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 name="Connector: Elbow 25">
              <a:extLst>
                <a:ext uri="{FF2B5EF4-FFF2-40B4-BE49-F238E27FC236}">
                  <a16:creationId xmlns:a16="http://schemas.microsoft.com/office/drawing/2014/main" id="{71152D28-6CA8-7EEF-F3DA-EE401B4EF35C}"/>
                </a:ext>
              </a:extLst>
            </p:cNvPr>
            <p:cNvCxnSpPr>
              <a:cxnSpLocks/>
              <a:endCxn id="18" idx="0"/>
            </p:cNvCxnSpPr>
            <p:nvPr/>
          </p:nvCxnSpPr>
          <p:spPr>
            <a:xfrm rot="16200000" flipH="1">
              <a:off x="6628285" y="5465665"/>
              <a:ext cx="1581472" cy="1269292"/>
            </a:xfrm>
            <a:prstGeom prst="bentConnector3">
              <a:avLst>
                <a:gd name="adj1" fmla="val 762"/>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 name="Connector: Elbow 26">
              <a:extLst>
                <a:ext uri="{FF2B5EF4-FFF2-40B4-BE49-F238E27FC236}">
                  <a16:creationId xmlns:a16="http://schemas.microsoft.com/office/drawing/2014/main" id="{869BB535-841B-132C-9677-38763E95E6B9}"/>
                </a:ext>
              </a:extLst>
            </p:cNvPr>
            <p:cNvCxnSpPr>
              <a:cxnSpLocks/>
            </p:cNvCxnSpPr>
            <p:nvPr/>
          </p:nvCxnSpPr>
          <p:spPr>
            <a:xfrm rot="16200000" flipH="1">
              <a:off x="6842943" y="5844758"/>
              <a:ext cx="1163140" cy="926227"/>
            </a:xfrm>
            <a:prstGeom prst="bentConnector3">
              <a:avLst>
                <a:gd name="adj1" fmla="val 1193"/>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9" name="TextBox 28">
              <a:extLst>
                <a:ext uri="{FF2B5EF4-FFF2-40B4-BE49-F238E27FC236}">
                  <a16:creationId xmlns:a16="http://schemas.microsoft.com/office/drawing/2014/main" id="{A2404173-C356-58B7-BF26-ACD7E8513107}"/>
                </a:ext>
              </a:extLst>
            </p:cNvPr>
            <p:cNvSpPr txBox="1"/>
            <p:nvPr/>
          </p:nvSpPr>
          <p:spPr>
            <a:xfrm>
              <a:off x="6365028" y="5991025"/>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1" i="0" u="none" strike="noStrike" cap="none" spc="0" normalizeH="0" baseline="0" dirty="0">
                  <a:ln>
                    <a:noFill/>
                  </a:ln>
                  <a:solidFill>
                    <a:srgbClr val="4C4C4C"/>
                  </a:solidFill>
                  <a:effectLst/>
                  <a:uFillTx/>
                  <a:latin typeface="Source Sans Pro"/>
                  <a:ea typeface="Source Sans Pro"/>
                  <a:cs typeface="Source Sans Pro"/>
                  <a:sym typeface="Source Sans Pro"/>
                </a:rPr>
                <a:t>Fake Data Generator</a:t>
              </a:r>
              <a:endParaRPr lang="en-US" sz="800" dirty="0"/>
            </a:p>
          </p:txBody>
        </p:sp>
        <p:cxnSp>
          <p:nvCxnSpPr>
            <p:cNvPr id="30" name="Connector: Elbow 29">
              <a:extLst>
                <a:ext uri="{FF2B5EF4-FFF2-40B4-BE49-F238E27FC236}">
                  <a16:creationId xmlns:a16="http://schemas.microsoft.com/office/drawing/2014/main" id="{A854019D-3161-1759-07B2-238C99D5165B}"/>
                </a:ext>
              </a:extLst>
            </p:cNvPr>
            <p:cNvCxnSpPr>
              <a:cxnSpLocks/>
              <a:endCxn id="3" idx="0"/>
            </p:cNvCxnSpPr>
            <p:nvPr/>
          </p:nvCxnSpPr>
          <p:spPr>
            <a:xfrm rot="10800000" flipV="1">
              <a:off x="5759095" y="6132915"/>
              <a:ext cx="650776" cy="320897"/>
            </a:xfrm>
            <a:prstGeom prst="bentConnector2">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1" name="Google Shape;445;p18">
              <a:extLst>
                <a:ext uri="{FF2B5EF4-FFF2-40B4-BE49-F238E27FC236}">
                  <a16:creationId xmlns:a16="http://schemas.microsoft.com/office/drawing/2014/main" id="{28D4C2E3-6DD7-2A86-AFE1-11D27E79D6B8}"/>
                </a:ext>
              </a:extLst>
            </p:cNvPr>
            <p:cNvCxnSpPr>
              <a:cxnSpLocks/>
            </p:cNvCxnSpPr>
            <p:nvPr/>
          </p:nvCxnSpPr>
          <p:spPr>
            <a:xfrm>
              <a:off x="6035391" y="7035918"/>
              <a:ext cx="1722517" cy="0"/>
            </a:xfrm>
            <a:prstGeom prst="straightConnector1">
              <a:avLst/>
            </a:prstGeom>
            <a:noFill/>
            <a:ln w="19050" cap="flat" cmpd="sng">
              <a:solidFill>
                <a:srgbClr val="1B1311"/>
              </a:solidFill>
              <a:prstDash val="solid"/>
              <a:round/>
              <a:headEnd type="none" w="med" len="med"/>
              <a:tailEnd type="triangle" w="med" len="med"/>
            </a:ln>
          </p:spPr>
        </p:cxnSp>
        <p:pic>
          <p:nvPicPr>
            <p:cNvPr id="32" name="Graphic 31" descr="Paper outline">
              <a:extLst>
                <a:ext uri="{FF2B5EF4-FFF2-40B4-BE49-F238E27FC236}">
                  <a16:creationId xmlns:a16="http://schemas.microsoft.com/office/drawing/2014/main" id="{C058EF6F-8A29-EFA7-7BC7-5B11A932E26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38664" y="3196943"/>
              <a:ext cx="1045469" cy="1045469"/>
            </a:xfrm>
            <a:prstGeom prst="rect">
              <a:avLst/>
            </a:prstGeom>
          </p:spPr>
        </p:pic>
        <p:pic>
          <p:nvPicPr>
            <p:cNvPr id="33" name="Graphic 32" descr="Paper outline">
              <a:extLst>
                <a:ext uri="{FF2B5EF4-FFF2-40B4-BE49-F238E27FC236}">
                  <a16:creationId xmlns:a16="http://schemas.microsoft.com/office/drawing/2014/main" id="{FE1EF67B-621C-8BF3-6B44-7F43E424EA2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57609" y="3583871"/>
              <a:ext cx="1045469" cy="1045469"/>
            </a:xfrm>
            <a:prstGeom prst="rect">
              <a:avLst/>
            </a:prstGeom>
          </p:spPr>
        </p:pic>
        <p:grpSp>
          <p:nvGrpSpPr>
            <p:cNvPr id="34" name="Group 33">
              <a:extLst>
                <a:ext uri="{FF2B5EF4-FFF2-40B4-BE49-F238E27FC236}">
                  <a16:creationId xmlns:a16="http://schemas.microsoft.com/office/drawing/2014/main" id="{67363B60-0578-C594-0D49-86645C038D0E}"/>
                </a:ext>
              </a:extLst>
            </p:cNvPr>
            <p:cNvGrpSpPr/>
            <p:nvPr/>
          </p:nvGrpSpPr>
          <p:grpSpPr>
            <a:xfrm>
              <a:off x="5729710" y="3610093"/>
              <a:ext cx="1161768" cy="964728"/>
              <a:chOff x="4984006" y="2603702"/>
              <a:chExt cx="1161768" cy="964728"/>
            </a:xfrm>
          </p:grpSpPr>
          <p:sp>
            <p:nvSpPr>
              <p:cNvPr id="53" name="TextBox 52">
                <a:extLst>
                  <a:ext uri="{FF2B5EF4-FFF2-40B4-BE49-F238E27FC236}">
                    <a16:creationId xmlns:a16="http://schemas.microsoft.com/office/drawing/2014/main" id="{A9960F7D-4BB1-1A13-4CC0-5B45B36D131A}"/>
                  </a:ext>
                </a:extLst>
              </p:cNvPr>
              <p:cNvSpPr txBox="1"/>
              <p:nvPr/>
            </p:nvSpPr>
            <p:spPr>
              <a:xfrm>
                <a:off x="4986272" y="2603702"/>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1" i="0" u="none" strike="noStrike" cap="none" spc="0" normalizeH="0" baseline="0" dirty="0">
                    <a:ln>
                      <a:noFill/>
                    </a:ln>
                    <a:solidFill>
                      <a:srgbClr val="4C4C4C"/>
                    </a:solidFill>
                    <a:effectLst/>
                    <a:uFillTx/>
                    <a:latin typeface="Source Sans Pro"/>
                    <a:ea typeface="Source Sans Pro"/>
                    <a:cs typeface="Source Sans Pro"/>
                    <a:sym typeface="Source Sans Pro"/>
                  </a:rPr>
                  <a:t>Downloaders</a:t>
                </a:r>
                <a:endParaRPr lang="en-US" sz="500" dirty="0"/>
              </a:p>
            </p:txBody>
          </p:sp>
          <p:sp>
            <p:nvSpPr>
              <p:cNvPr id="54" name="TextBox 53">
                <a:extLst>
                  <a:ext uri="{FF2B5EF4-FFF2-40B4-BE49-F238E27FC236}">
                    <a16:creationId xmlns:a16="http://schemas.microsoft.com/office/drawing/2014/main" id="{18BFB56C-9BC1-D834-4FA9-7A8FE0713641}"/>
                  </a:ext>
                </a:extLst>
              </p:cNvPr>
              <p:cNvSpPr txBox="1"/>
              <p:nvPr/>
            </p:nvSpPr>
            <p:spPr>
              <a:xfrm>
                <a:off x="4986272" y="2674821"/>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dirty="0"/>
                  <a:t>f</a:t>
                </a:r>
                <a:r>
                  <a:rPr kumimoji="0" lang="en-US" sz="300" b="1"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p:txBody>
          </p:sp>
          <p:sp>
            <p:nvSpPr>
              <p:cNvPr id="55" name="TextBox 54">
                <a:extLst>
                  <a:ext uri="{FF2B5EF4-FFF2-40B4-BE49-F238E27FC236}">
                    <a16:creationId xmlns:a16="http://schemas.microsoft.com/office/drawing/2014/main" id="{91F75337-B2F5-0D1B-8B4D-936AA1EDE8CB}"/>
                  </a:ext>
                </a:extLst>
              </p:cNvPr>
              <p:cNvSpPr txBox="1"/>
              <p:nvPr/>
            </p:nvSpPr>
            <p:spPr>
              <a:xfrm>
                <a:off x="4984006" y="2855929"/>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1" i="0" u="none" strike="noStrike" cap="none" spc="0" normalizeH="0" baseline="0" dirty="0">
                    <a:ln>
                      <a:noFill/>
                    </a:ln>
                    <a:solidFill>
                      <a:srgbClr val="4C4C4C"/>
                    </a:solidFill>
                    <a:effectLst/>
                    <a:uFillTx/>
                    <a:latin typeface="Source Sans Pro"/>
                    <a:ea typeface="Source Sans Pro"/>
                    <a:cs typeface="Source Sans Pro"/>
                    <a:sym typeface="Source Sans Pro"/>
                  </a:rPr>
                  <a:t>Parsers</a:t>
                </a:r>
                <a:endParaRPr lang="en-US" sz="500" dirty="0"/>
              </a:p>
            </p:txBody>
          </p:sp>
          <p:sp>
            <p:nvSpPr>
              <p:cNvPr id="56" name="TextBox 55">
                <a:extLst>
                  <a:ext uri="{FF2B5EF4-FFF2-40B4-BE49-F238E27FC236}">
                    <a16:creationId xmlns:a16="http://schemas.microsoft.com/office/drawing/2014/main" id="{749DD036-399D-55CA-BFB4-2A4DF655AB02}"/>
                  </a:ext>
                </a:extLst>
              </p:cNvPr>
              <p:cNvSpPr txBox="1"/>
              <p:nvPr/>
            </p:nvSpPr>
            <p:spPr>
              <a:xfrm>
                <a:off x="4984006" y="3108753"/>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1" i="0" u="none" strike="noStrike" cap="none" spc="0" normalizeH="0" baseline="0" dirty="0">
                    <a:ln>
                      <a:noFill/>
                    </a:ln>
                    <a:solidFill>
                      <a:srgbClr val="4C4C4C"/>
                    </a:solidFill>
                    <a:effectLst/>
                    <a:uFillTx/>
                    <a:latin typeface="Source Sans Pro"/>
                    <a:ea typeface="Source Sans Pro"/>
                    <a:cs typeface="Source Sans Pro"/>
                    <a:sym typeface="Source Sans Pro"/>
                  </a:rPr>
                  <a:t>Transforms</a:t>
                </a:r>
                <a:endParaRPr lang="en-US" sz="500" dirty="0"/>
              </a:p>
            </p:txBody>
          </p:sp>
          <p:sp>
            <p:nvSpPr>
              <p:cNvPr id="57" name="TextBox 56">
                <a:extLst>
                  <a:ext uri="{FF2B5EF4-FFF2-40B4-BE49-F238E27FC236}">
                    <a16:creationId xmlns:a16="http://schemas.microsoft.com/office/drawing/2014/main" id="{1A8C02F9-B8F8-C5D3-2672-0298E99F62BD}"/>
                  </a:ext>
                </a:extLst>
              </p:cNvPr>
              <p:cNvSpPr txBox="1"/>
              <p:nvPr/>
            </p:nvSpPr>
            <p:spPr>
              <a:xfrm>
                <a:off x="4986272" y="2926948"/>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dirty="0"/>
                  <a:t>f</a:t>
                </a:r>
                <a:r>
                  <a:rPr kumimoji="0" lang="en-US" sz="300" b="1"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p:txBody>
          </p:sp>
          <p:sp>
            <p:nvSpPr>
              <p:cNvPr id="58" name="TextBox 57">
                <a:extLst>
                  <a:ext uri="{FF2B5EF4-FFF2-40B4-BE49-F238E27FC236}">
                    <a16:creationId xmlns:a16="http://schemas.microsoft.com/office/drawing/2014/main" id="{E27142F0-D351-4DB0-8723-C7630F40CD98}"/>
                  </a:ext>
                </a:extLst>
              </p:cNvPr>
              <p:cNvSpPr txBox="1"/>
              <p:nvPr/>
            </p:nvSpPr>
            <p:spPr>
              <a:xfrm>
                <a:off x="4986272" y="3178756"/>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dirty="0"/>
                  <a:t>f</a:t>
                </a:r>
                <a:r>
                  <a:rPr kumimoji="0" lang="en-US" sz="300" b="1"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p:txBody>
          </p:sp>
          <p:sp>
            <p:nvSpPr>
              <p:cNvPr id="59" name="TextBox 58">
                <a:extLst>
                  <a:ext uri="{FF2B5EF4-FFF2-40B4-BE49-F238E27FC236}">
                    <a16:creationId xmlns:a16="http://schemas.microsoft.com/office/drawing/2014/main" id="{DCC1E7A5-ACD7-7C3F-E767-EDC778FA72A3}"/>
                  </a:ext>
                </a:extLst>
              </p:cNvPr>
              <p:cNvSpPr txBox="1"/>
              <p:nvPr/>
            </p:nvSpPr>
            <p:spPr>
              <a:xfrm>
                <a:off x="4984006" y="3355632"/>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500" dirty="0"/>
                  <a:t>Fake Data Generator</a:t>
                </a:r>
              </a:p>
            </p:txBody>
          </p:sp>
        </p:grpSp>
        <p:grpSp>
          <p:nvGrpSpPr>
            <p:cNvPr id="35" name="Group 34">
              <a:extLst>
                <a:ext uri="{FF2B5EF4-FFF2-40B4-BE49-F238E27FC236}">
                  <a16:creationId xmlns:a16="http://schemas.microsoft.com/office/drawing/2014/main" id="{8E17EA7C-B5C8-D3A4-6F91-8898D815C7CC}"/>
                </a:ext>
              </a:extLst>
            </p:cNvPr>
            <p:cNvGrpSpPr/>
            <p:nvPr/>
          </p:nvGrpSpPr>
          <p:grpSpPr>
            <a:xfrm>
              <a:off x="7492706" y="3633909"/>
              <a:ext cx="1161768" cy="964728"/>
              <a:chOff x="4984006" y="2603702"/>
              <a:chExt cx="1161768" cy="964728"/>
            </a:xfrm>
          </p:grpSpPr>
          <p:sp>
            <p:nvSpPr>
              <p:cNvPr id="44" name="TextBox 43">
                <a:extLst>
                  <a:ext uri="{FF2B5EF4-FFF2-40B4-BE49-F238E27FC236}">
                    <a16:creationId xmlns:a16="http://schemas.microsoft.com/office/drawing/2014/main" id="{404EEE68-9AC8-A320-F8CB-14F84769B9DD}"/>
                  </a:ext>
                </a:extLst>
              </p:cNvPr>
              <p:cNvSpPr txBox="1"/>
              <p:nvPr/>
            </p:nvSpPr>
            <p:spPr>
              <a:xfrm>
                <a:off x="4986272" y="2603702"/>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1" i="0" u="none" strike="noStrike" cap="none" spc="0" normalizeH="0" baseline="0" dirty="0">
                    <a:ln>
                      <a:noFill/>
                    </a:ln>
                    <a:solidFill>
                      <a:srgbClr val="4C4C4C"/>
                    </a:solidFill>
                    <a:effectLst/>
                    <a:uFillTx/>
                    <a:latin typeface="Source Sans Pro"/>
                    <a:ea typeface="Source Sans Pro"/>
                    <a:cs typeface="Source Sans Pro"/>
                    <a:sym typeface="Source Sans Pro"/>
                  </a:rPr>
                  <a:t>Downloaders</a:t>
                </a:r>
                <a:endParaRPr lang="en-US" sz="500" dirty="0"/>
              </a:p>
            </p:txBody>
          </p:sp>
          <p:sp>
            <p:nvSpPr>
              <p:cNvPr id="45" name="TextBox 44">
                <a:extLst>
                  <a:ext uri="{FF2B5EF4-FFF2-40B4-BE49-F238E27FC236}">
                    <a16:creationId xmlns:a16="http://schemas.microsoft.com/office/drawing/2014/main" id="{D9997FAD-92CE-8708-65A0-9C9709911403}"/>
                  </a:ext>
                </a:extLst>
              </p:cNvPr>
              <p:cNvSpPr txBox="1"/>
              <p:nvPr/>
            </p:nvSpPr>
            <p:spPr>
              <a:xfrm>
                <a:off x="4986272" y="2674821"/>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dirty="0"/>
                  <a:t>f</a:t>
                </a:r>
                <a:r>
                  <a:rPr kumimoji="0" lang="en-US" sz="300" b="1"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p:txBody>
          </p:sp>
          <p:sp>
            <p:nvSpPr>
              <p:cNvPr id="47" name="TextBox 46">
                <a:extLst>
                  <a:ext uri="{FF2B5EF4-FFF2-40B4-BE49-F238E27FC236}">
                    <a16:creationId xmlns:a16="http://schemas.microsoft.com/office/drawing/2014/main" id="{79650E3C-5096-DA47-E960-C7375EB569D7}"/>
                  </a:ext>
                </a:extLst>
              </p:cNvPr>
              <p:cNvSpPr txBox="1"/>
              <p:nvPr/>
            </p:nvSpPr>
            <p:spPr>
              <a:xfrm>
                <a:off x="4984006" y="2855929"/>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1" i="0" u="none" strike="noStrike" cap="none" spc="0" normalizeH="0" baseline="0" dirty="0">
                    <a:ln>
                      <a:noFill/>
                    </a:ln>
                    <a:solidFill>
                      <a:srgbClr val="4C4C4C"/>
                    </a:solidFill>
                    <a:effectLst/>
                    <a:uFillTx/>
                    <a:latin typeface="Source Sans Pro"/>
                    <a:ea typeface="Source Sans Pro"/>
                    <a:cs typeface="Source Sans Pro"/>
                    <a:sym typeface="Source Sans Pro"/>
                  </a:rPr>
                  <a:t>Parsers</a:t>
                </a:r>
                <a:endParaRPr lang="en-US" sz="500" dirty="0"/>
              </a:p>
            </p:txBody>
          </p:sp>
          <p:sp>
            <p:nvSpPr>
              <p:cNvPr id="48" name="TextBox 47">
                <a:extLst>
                  <a:ext uri="{FF2B5EF4-FFF2-40B4-BE49-F238E27FC236}">
                    <a16:creationId xmlns:a16="http://schemas.microsoft.com/office/drawing/2014/main" id="{B7766C1B-DE64-9889-02A8-2BE288B81ED5}"/>
                  </a:ext>
                </a:extLst>
              </p:cNvPr>
              <p:cNvSpPr txBox="1"/>
              <p:nvPr/>
            </p:nvSpPr>
            <p:spPr>
              <a:xfrm>
                <a:off x="4984006" y="3108753"/>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1" i="0" u="none" strike="noStrike" cap="none" spc="0" normalizeH="0" baseline="0" dirty="0">
                    <a:ln>
                      <a:noFill/>
                    </a:ln>
                    <a:solidFill>
                      <a:srgbClr val="4C4C4C"/>
                    </a:solidFill>
                    <a:effectLst/>
                    <a:uFillTx/>
                    <a:latin typeface="Source Sans Pro"/>
                    <a:ea typeface="Source Sans Pro"/>
                    <a:cs typeface="Source Sans Pro"/>
                    <a:sym typeface="Source Sans Pro"/>
                  </a:rPr>
                  <a:t>Transforms</a:t>
                </a:r>
                <a:endParaRPr lang="en-US" sz="500" dirty="0"/>
              </a:p>
            </p:txBody>
          </p:sp>
          <p:sp>
            <p:nvSpPr>
              <p:cNvPr id="49" name="TextBox 48">
                <a:extLst>
                  <a:ext uri="{FF2B5EF4-FFF2-40B4-BE49-F238E27FC236}">
                    <a16:creationId xmlns:a16="http://schemas.microsoft.com/office/drawing/2014/main" id="{EE2D17D3-48A0-39D2-FE3C-742975FE19CB}"/>
                  </a:ext>
                </a:extLst>
              </p:cNvPr>
              <p:cNvSpPr txBox="1"/>
              <p:nvPr/>
            </p:nvSpPr>
            <p:spPr>
              <a:xfrm>
                <a:off x="4986272" y="2926948"/>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dirty="0"/>
                  <a:t>f</a:t>
                </a:r>
                <a:r>
                  <a:rPr kumimoji="0" lang="en-US" sz="300" b="1"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p:txBody>
          </p:sp>
          <p:sp>
            <p:nvSpPr>
              <p:cNvPr id="51" name="TextBox 50">
                <a:extLst>
                  <a:ext uri="{FF2B5EF4-FFF2-40B4-BE49-F238E27FC236}">
                    <a16:creationId xmlns:a16="http://schemas.microsoft.com/office/drawing/2014/main" id="{4BF1819D-07BC-0A06-CE0B-F495888A2E46}"/>
                  </a:ext>
                </a:extLst>
              </p:cNvPr>
              <p:cNvSpPr txBox="1"/>
              <p:nvPr/>
            </p:nvSpPr>
            <p:spPr>
              <a:xfrm>
                <a:off x="4986272" y="3178756"/>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dirty="0"/>
                  <a:t>f</a:t>
                </a:r>
                <a:r>
                  <a:rPr kumimoji="0" lang="en-US" sz="300" b="1"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p:txBody>
          </p:sp>
          <p:sp>
            <p:nvSpPr>
              <p:cNvPr id="52" name="TextBox 51">
                <a:extLst>
                  <a:ext uri="{FF2B5EF4-FFF2-40B4-BE49-F238E27FC236}">
                    <a16:creationId xmlns:a16="http://schemas.microsoft.com/office/drawing/2014/main" id="{A40FC4C8-91A1-ECA2-7B71-9FE48D78A199}"/>
                  </a:ext>
                </a:extLst>
              </p:cNvPr>
              <p:cNvSpPr txBox="1"/>
              <p:nvPr/>
            </p:nvSpPr>
            <p:spPr>
              <a:xfrm>
                <a:off x="4984006" y="3355632"/>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500" dirty="0"/>
                  <a:t>Fake Data Generator</a:t>
                </a:r>
              </a:p>
            </p:txBody>
          </p:sp>
        </p:grpSp>
        <p:grpSp>
          <p:nvGrpSpPr>
            <p:cNvPr id="36" name="Group 35">
              <a:extLst>
                <a:ext uri="{FF2B5EF4-FFF2-40B4-BE49-F238E27FC236}">
                  <a16:creationId xmlns:a16="http://schemas.microsoft.com/office/drawing/2014/main" id="{94DAB81E-0647-5D03-AFC8-92300B7DE765}"/>
                </a:ext>
              </a:extLst>
            </p:cNvPr>
            <p:cNvGrpSpPr/>
            <p:nvPr/>
          </p:nvGrpSpPr>
          <p:grpSpPr>
            <a:xfrm>
              <a:off x="6604776" y="3219314"/>
              <a:ext cx="1161768" cy="964728"/>
              <a:chOff x="4984006" y="2603702"/>
              <a:chExt cx="1161768" cy="964728"/>
            </a:xfrm>
          </p:grpSpPr>
          <p:sp>
            <p:nvSpPr>
              <p:cNvPr id="37" name="TextBox 36">
                <a:extLst>
                  <a:ext uri="{FF2B5EF4-FFF2-40B4-BE49-F238E27FC236}">
                    <a16:creationId xmlns:a16="http://schemas.microsoft.com/office/drawing/2014/main" id="{41D8381A-FC27-8E52-29BD-330E3451A243}"/>
                  </a:ext>
                </a:extLst>
              </p:cNvPr>
              <p:cNvSpPr txBox="1"/>
              <p:nvPr/>
            </p:nvSpPr>
            <p:spPr>
              <a:xfrm>
                <a:off x="4986272" y="2603702"/>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1" i="0" u="none" strike="noStrike" cap="none" spc="0" normalizeH="0" baseline="0" dirty="0">
                    <a:ln>
                      <a:noFill/>
                    </a:ln>
                    <a:solidFill>
                      <a:srgbClr val="4C4C4C"/>
                    </a:solidFill>
                    <a:effectLst/>
                    <a:uFillTx/>
                    <a:latin typeface="Source Sans Pro"/>
                    <a:ea typeface="Source Sans Pro"/>
                    <a:cs typeface="Source Sans Pro"/>
                    <a:sym typeface="Source Sans Pro"/>
                  </a:rPr>
                  <a:t>Downloaders</a:t>
                </a:r>
                <a:endParaRPr lang="en-US" sz="500" dirty="0"/>
              </a:p>
            </p:txBody>
          </p:sp>
          <p:sp>
            <p:nvSpPr>
              <p:cNvPr id="38" name="TextBox 37">
                <a:extLst>
                  <a:ext uri="{FF2B5EF4-FFF2-40B4-BE49-F238E27FC236}">
                    <a16:creationId xmlns:a16="http://schemas.microsoft.com/office/drawing/2014/main" id="{6D3C654B-40C1-A6FC-ABAB-3A73162D0504}"/>
                  </a:ext>
                </a:extLst>
              </p:cNvPr>
              <p:cNvSpPr txBox="1"/>
              <p:nvPr/>
            </p:nvSpPr>
            <p:spPr>
              <a:xfrm>
                <a:off x="4986272" y="2674821"/>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dirty="0"/>
                  <a:t>f</a:t>
                </a:r>
                <a:r>
                  <a:rPr kumimoji="0" lang="en-US" sz="300" b="1"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p:txBody>
          </p:sp>
          <p:sp>
            <p:nvSpPr>
              <p:cNvPr id="39" name="TextBox 38">
                <a:extLst>
                  <a:ext uri="{FF2B5EF4-FFF2-40B4-BE49-F238E27FC236}">
                    <a16:creationId xmlns:a16="http://schemas.microsoft.com/office/drawing/2014/main" id="{7B2A9810-0453-D2A3-6D37-9769A22EE643}"/>
                  </a:ext>
                </a:extLst>
              </p:cNvPr>
              <p:cNvSpPr txBox="1"/>
              <p:nvPr/>
            </p:nvSpPr>
            <p:spPr>
              <a:xfrm>
                <a:off x="4984006" y="2855929"/>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1" i="0" u="none" strike="noStrike" cap="none" spc="0" normalizeH="0" baseline="0" dirty="0">
                    <a:ln>
                      <a:noFill/>
                    </a:ln>
                    <a:solidFill>
                      <a:srgbClr val="4C4C4C"/>
                    </a:solidFill>
                    <a:effectLst/>
                    <a:uFillTx/>
                    <a:latin typeface="Source Sans Pro"/>
                    <a:ea typeface="Source Sans Pro"/>
                    <a:cs typeface="Source Sans Pro"/>
                    <a:sym typeface="Source Sans Pro"/>
                  </a:rPr>
                  <a:t>Parsers</a:t>
                </a:r>
                <a:endParaRPr lang="en-US" sz="500" dirty="0"/>
              </a:p>
            </p:txBody>
          </p:sp>
          <p:sp>
            <p:nvSpPr>
              <p:cNvPr id="40" name="TextBox 39">
                <a:extLst>
                  <a:ext uri="{FF2B5EF4-FFF2-40B4-BE49-F238E27FC236}">
                    <a16:creationId xmlns:a16="http://schemas.microsoft.com/office/drawing/2014/main" id="{CCB0748C-D95D-B05F-1EBE-9C39B26BCDD6}"/>
                  </a:ext>
                </a:extLst>
              </p:cNvPr>
              <p:cNvSpPr txBox="1"/>
              <p:nvPr/>
            </p:nvSpPr>
            <p:spPr>
              <a:xfrm>
                <a:off x="4984006" y="3108753"/>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1" i="0" u="none" strike="noStrike" cap="none" spc="0" normalizeH="0" baseline="0" dirty="0">
                    <a:ln>
                      <a:noFill/>
                    </a:ln>
                    <a:solidFill>
                      <a:srgbClr val="4C4C4C"/>
                    </a:solidFill>
                    <a:effectLst/>
                    <a:uFillTx/>
                    <a:latin typeface="Source Sans Pro"/>
                    <a:ea typeface="Source Sans Pro"/>
                    <a:cs typeface="Source Sans Pro"/>
                    <a:sym typeface="Source Sans Pro"/>
                  </a:rPr>
                  <a:t>Transforms</a:t>
                </a:r>
                <a:endParaRPr lang="en-US" sz="500" dirty="0"/>
              </a:p>
            </p:txBody>
          </p:sp>
          <p:sp>
            <p:nvSpPr>
              <p:cNvPr id="41" name="TextBox 40">
                <a:extLst>
                  <a:ext uri="{FF2B5EF4-FFF2-40B4-BE49-F238E27FC236}">
                    <a16:creationId xmlns:a16="http://schemas.microsoft.com/office/drawing/2014/main" id="{C4AEB27D-DEAD-0CC6-C3B7-2A0C4ECEE869}"/>
                  </a:ext>
                </a:extLst>
              </p:cNvPr>
              <p:cNvSpPr txBox="1"/>
              <p:nvPr/>
            </p:nvSpPr>
            <p:spPr>
              <a:xfrm>
                <a:off x="4986272" y="2926948"/>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dirty="0"/>
                  <a:t>f</a:t>
                </a:r>
                <a:r>
                  <a:rPr kumimoji="0" lang="en-US" sz="300" b="1"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p:txBody>
          </p:sp>
          <p:sp>
            <p:nvSpPr>
              <p:cNvPr id="42" name="TextBox 41">
                <a:extLst>
                  <a:ext uri="{FF2B5EF4-FFF2-40B4-BE49-F238E27FC236}">
                    <a16:creationId xmlns:a16="http://schemas.microsoft.com/office/drawing/2014/main" id="{62F5B0F6-4F79-0C3A-7B30-1611310A8B9B}"/>
                  </a:ext>
                </a:extLst>
              </p:cNvPr>
              <p:cNvSpPr txBox="1"/>
              <p:nvPr/>
            </p:nvSpPr>
            <p:spPr>
              <a:xfrm>
                <a:off x="4986272" y="3178756"/>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dirty="0"/>
                  <a:t>f</a:t>
                </a:r>
                <a:r>
                  <a:rPr kumimoji="0" lang="en-US" sz="300" b="1"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dirty="0"/>
                  <a:t>function() …</a:t>
                </a:r>
              </a:p>
            </p:txBody>
          </p:sp>
          <p:sp>
            <p:nvSpPr>
              <p:cNvPr id="43" name="TextBox 42">
                <a:extLst>
                  <a:ext uri="{FF2B5EF4-FFF2-40B4-BE49-F238E27FC236}">
                    <a16:creationId xmlns:a16="http://schemas.microsoft.com/office/drawing/2014/main" id="{279A0E58-E3C6-92B0-732F-D4FF0F96E44F}"/>
                  </a:ext>
                </a:extLst>
              </p:cNvPr>
              <p:cNvSpPr txBox="1"/>
              <p:nvPr/>
            </p:nvSpPr>
            <p:spPr>
              <a:xfrm>
                <a:off x="4984006" y="3355632"/>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500" dirty="0"/>
                  <a:t>Fake Data Generator</a:t>
                </a:r>
              </a:p>
            </p:txBody>
          </p:sp>
        </p:grpSp>
      </p:grpSp>
      <p:grpSp>
        <p:nvGrpSpPr>
          <p:cNvPr id="60" name="Group 59">
            <a:extLst>
              <a:ext uri="{FF2B5EF4-FFF2-40B4-BE49-F238E27FC236}">
                <a16:creationId xmlns:a16="http://schemas.microsoft.com/office/drawing/2014/main" id="{AF3C4AA3-8542-A4A8-E0C2-B2078AAA5705}"/>
              </a:ext>
            </a:extLst>
          </p:cNvPr>
          <p:cNvGrpSpPr/>
          <p:nvPr/>
        </p:nvGrpSpPr>
        <p:grpSpPr>
          <a:xfrm>
            <a:off x="9554259" y="3866817"/>
            <a:ext cx="3848844" cy="6172184"/>
            <a:chOff x="9541159" y="2174444"/>
            <a:chExt cx="3848844" cy="6172184"/>
          </a:xfrm>
        </p:grpSpPr>
        <p:grpSp>
          <p:nvGrpSpPr>
            <p:cNvPr id="61" name="Group 60">
              <a:extLst>
                <a:ext uri="{FF2B5EF4-FFF2-40B4-BE49-F238E27FC236}">
                  <a16:creationId xmlns:a16="http://schemas.microsoft.com/office/drawing/2014/main" id="{67AEBF77-45DC-A44C-97DE-81FD2F1F6984}"/>
                </a:ext>
              </a:extLst>
            </p:cNvPr>
            <p:cNvGrpSpPr/>
            <p:nvPr/>
          </p:nvGrpSpPr>
          <p:grpSpPr>
            <a:xfrm>
              <a:off x="9541159" y="2174444"/>
              <a:ext cx="3848844" cy="6172184"/>
              <a:chOff x="870417" y="3616023"/>
              <a:chExt cx="3848844" cy="6172184"/>
            </a:xfrm>
          </p:grpSpPr>
          <p:sp>
            <p:nvSpPr>
              <p:cNvPr id="449" name="Rectangle 448">
                <a:extLst>
                  <a:ext uri="{FF2B5EF4-FFF2-40B4-BE49-F238E27FC236}">
                    <a16:creationId xmlns:a16="http://schemas.microsoft.com/office/drawing/2014/main" id="{A9940EA7-F7C0-9D69-E125-8FFC4D674400}"/>
                  </a:ext>
                </a:extLst>
              </p:cNvPr>
              <p:cNvSpPr/>
              <p:nvPr/>
            </p:nvSpPr>
            <p:spPr>
              <a:xfrm>
                <a:off x="870417" y="3627271"/>
                <a:ext cx="3848844" cy="6160936"/>
              </a:xfrm>
              <a:prstGeom prst="rect">
                <a:avLst/>
              </a:prstGeom>
              <a:ln w="12700"/>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pic>
            <p:nvPicPr>
              <p:cNvPr id="450" name="Picture 449" descr="Account ">
                <a:extLst>
                  <a:ext uri="{FF2B5EF4-FFF2-40B4-BE49-F238E27FC236}">
                    <a16:creationId xmlns:a16="http://schemas.microsoft.com/office/drawing/2014/main" id="{B0DB8E47-D787-9353-F70F-2076B2CCD97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41298" y="4156809"/>
                <a:ext cx="306136" cy="306136"/>
              </a:xfrm>
              <a:prstGeom prst="rect">
                <a:avLst/>
              </a:prstGeom>
              <a:noFill/>
              <a:extLst>
                <a:ext uri="{909E8E84-426E-40DD-AFC4-6F175D3DCCD1}">
                  <a14:hiddenFill xmlns:a14="http://schemas.microsoft.com/office/drawing/2010/main">
                    <a:solidFill>
                      <a:srgbClr val="FFFFFF"/>
                    </a:solidFill>
                  </a14:hiddenFill>
                </a:ext>
              </a:extLst>
            </p:spPr>
          </p:pic>
          <p:sp>
            <p:nvSpPr>
              <p:cNvPr id="451" name="TextBox 1284">
                <a:extLst>
                  <a:ext uri="{FF2B5EF4-FFF2-40B4-BE49-F238E27FC236}">
                    <a16:creationId xmlns:a16="http://schemas.microsoft.com/office/drawing/2014/main" id="{BDDC89D5-D6D3-AE4C-295A-AB5AF66CDFDB}"/>
                  </a:ext>
                </a:extLst>
              </p:cNvPr>
              <p:cNvSpPr txBox="1"/>
              <p:nvPr/>
            </p:nvSpPr>
            <p:spPr>
              <a:xfrm>
                <a:off x="991912" y="3616023"/>
                <a:ext cx="3720890" cy="261610"/>
              </a:xfrm>
              <a:prstGeom prst="rect">
                <a:avLst/>
              </a:prstGeom>
              <a:noFill/>
            </p:spPr>
            <p:txBody>
              <a:bodyPr wrap="none" rtlCol="0">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r>
                  <a:rPr lang="en-US" sz="800" dirty="0"/>
                  <a:t>Code          Issues          </a:t>
                </a:r>
                <a:r>
                  <a:rPr lang="en-US" sz="1100" b="1" dirty="0"/>
                  <a:t>Pull Requests          </a:t>
                </a:r>
                <a:r>
                  <a:rPr lang="en-US" sz="800" dirty="0"/>
                  <a:t>Actions          Wiki          Security  </a:t>
                </a:r>
              </a:p>
            </p:txBody>
          </p:sp>
          <p:cxnSp>
            <p:nvCxnSpPr>
              <p:cNvPr id="452" name="Straight Connector 451">
                <a:extLst>
                  <a:ext uri="{FF2B5EF4-FFF2-40B4-BE49-F238E27FC236}">
                    <a16:creationId xmlns:a16="http://schemas.microsoft.com/office/drawing/2014/main" id="{EFC54CA8-D58F-5E54-A124-9CEA4F8F2500}"/>
                  </a:ext>
                </a:extLst>
              </p:cNvPr>
              <p:cNvCxnSpPr>
                <a:cxnSpLocks/>
              </p:cNvCxnSpPr>
              <p:nvPr/>
            </p:nvCxnSpPr>
            <p:spPr>
              <a:xfrm>
                <a:off x="870417" y="3877633"/>
                <a:ext cx="3842385" cy="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53" name="Use headers, colors, and/or backgrounds to separate or group together sections.">
                <a:extLst>
                  <a:ext uri="{FF2B5EF4-FFF2-40B4-BE49-F238E27FC236}">
                    <a16:creationId xmlns:a16="http://schemas.microsoft.com/office/drawing/2014/main" id="{63B442B9-E5B1-BB32-2327-75E49A91D26E}"/>
                  </a:ext>
                </a:extLst>
              </p:cNvPr>
              <p:cNvSpPr txBox="1"/>
              <p:nvPr/>
            </p:nvSpPr>
            <p:spPr>
              <a:xfrm>
                <a:off x="1455985" y="3883746"/>
                <a:ext cx="1356960" cy="256245"/>
              </a:xfrm>
              <a:prstGeom prst="rect">
                <a:avLst/>
              </a:prstGeom>
              <a:ln w="12700">
                <a:miter lim="400000"/>
              </a:ln>
              <a:extLst>
                <a:ext uri="{C572A759-6A51-4108-AA02-DFA0A04FC94B}">
                  <ma14:wrappingTextBoxFlag xmlns:lc="http://schemas.openxmlformats.org/drawingml/2006/lockedCanvas" xmlns:ma14="http://schemas.microsoft.com/office/mac/drawingml/2011/main" xmlns:a14="http://schemas.microsoft.com/office/drawing/2010/main" xmlns:m="http://schemas.openxmlformats.org/officeDocument/2006/math" xmlns="" val="1"/>
                </a:ext>
              </a:extLst>
            </p:spPr>
            <p:txBody>
              <a:bodyPr wrap="square" lIns="54570" tIns="54570" rIns="54570" bIns="5457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a:lnSpc>
                    <a:spcPct val="90000"/>
                  </a:lnSpc>
                  <a:buSzPts val="3700"/>
                </a:pPr>
                <a:r>
                  <a:rPr lang="en-US" b="0" dirty="0">
                    <a:latin typeface="Source Sans Pro" panose="020B0503030403020204" pitchFamily="34" charset="0"/>
                    <a:ea typeface="Source Sans Pro" panose="020B0503030403020204" pitchFamily="34" charset="0"/>
                    <a:cs typeface="Arial" panose="020B0604020202020204" pitchFamily="34" charset="0"/>
                  </a:rPr>
                  <a:t>Pull Request #330</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8"/>
                </a:endParaRPr>
              </a:p>
              <a:p>
                <a:pPr lvl="0">
                  <a:lnSpc>
                    <a:spcPct val="90000"/>
                  </a:lnSpc>
                  <a:buSzPts val="3700"/>
                </a:pP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8"/>
                </a:endParaRPr>
              </a:p>
            </p:txBody>
          </p:sp>
          <p:pic>
            <p:nvPicPr>
              <p:cNvPr id="454" name="Google Shape;214;p15">
                <a:extLst>
                  <a:ext uri="{FF2B5EF4-FFF2-40B4-BE49-F238E27FC236}">
                    <a16:creationId xmlns:a16="http://schemas.microsoft.com/office/drawing/2014/main" id="{C4237265-3D52-0DFE-46C1-555F0FE76CA9}"/>
                  </a:ext>
                </a:extLst>
              </p:cNvPr>
              <p:cNvPicPr preferRelativeResize="0"/>
              <p:nvPr/>
            </p:nvPicPr>
            <p:blipFill>
              <a:blip r:embed="rId9">
                <a:alphaModFix/>
              </a:blip>
              <a:stretch>
                <a:fillRect/>
              </a:stretch>
            </p:blipFill>
            <p:spPr>
              <a:xfrm>
                <a:off x="914022" y="4784929"/>
                <a:ext cx="476766" cy="456900"/>
              </a:xfrm>
              <a:prstGeom prst="rect">
                <a:avLst/>
              </a:prstGeom>
              <a:noFill/>
              <a:ln>
                <a:noFill/>
              </a:ln>
            </p:spPr>
          </p:pic>
          <p:sp>
            <p:nvSpPr>
              <p:cNvPr id="455" name="Google Shape;216;p15">
                <a:extLst>
                  <a:ext uri="{FF2B5EF4-FFF2-40B4-BE49-F238E27FC236}">
                    <a16:creationId xmlns:a16="http://schemas.microsoft.com/office/drawing/2014/main" id="{44659BFE-5F2B-6F87-E4E9-2B6E669DDCB7}"/>
                  </a:ext>
                </a:extLst>
              </p:cNvPr>
              <p:cNvSpPr/>
              <p:nvPr/>
            </p:nvSpPr>
            <p:spPr>
              <a:xfrm>
                <a:off x="1469668" y="4973530"/>
                <a:ext cx="3025431" cy="652091"/>
              </a:xfrm>
              <a:prstGeom prst="rect">
                <a:avLst/>
              </a:prstGeom>
              <a:solidFill>
                <a:schemeClr val="lt1"/>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sp>
            <p:nvSpPr>
              <p:cNvPr id="456" name="Google Shape;215;p15">
                <a:extLst>
                  <a:ext uri="{FF2B5EF4-FFF2-40B4-BE49-F238E27FC236}">
                    <a16:creationId xmlns:a16="http://schemas.microsoft.com/office/drawing/2014/main" id="{CAC8C8FF-1763-85DA-F68A-991AED481DEE}"/>
                  </a:ext>
                </a:extLst>
              </p:cNvPr>
              <p:cNvSpPr/>
              <p:nvPr/>
            </p:nvSpPr>
            <p:spPr>
              <a:xfrm>
                <a:off x="1467748" y="4759190"/>
                <a:ext cx="3025431" cy="232375"/>
              </a:xfrm>
              <a:prstGeom prst="rect">
                <a:avLst/>
              </a:prstGeom>
              <a:solidFill>
                <a:schemeClr val="lt2"/>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839" dirty="0"/>
              </a:p>
              <a:p>
                <a:pPr>
                  <a:spcBef>
                    <a:spcPts val="0"/>
                  </a:spcBef>
                </a:pPr>
                <a:endParaRPr sz="839" dirty="0"/>
              </a:p>
              <a:p>
                <a:pPr>
                  <a:spcBef>
                    <a:spcPts val="0"/>
                  </a:spcBef>
                </a:pPr>
                <a:r>
                  <a:rPr lang="en" sz="839" dirty="0">
                    <a:solidFill>
                      <a:schemeClr val="tx1">
                        <a:lumMod val="50000"/>
                      </a:schemeClr>
                    </a:solidFill>
                  </a:rPr>
                  <a:t>Codecov </a:t>
                </a:r>
                <a:r>
                  <a:rPr lang="en" sz="839" b="0" dirty="0">
                    <a:solidFill>
                      <a:schemeClr val="tx1">
                        <a:lumMod val="50000"/>
                      </a:schemeClr>
                    </a:solidFill>
                  </a:rPr>
                  <a:t>commented on Mar 27</a:t>
                </a:r>
                <a:endParaRPr sz="839" b="0" dirty="0">
                  <a:solidFill>
                    <a:schemeClr val="tx1">
                      <a:lumMod val="50000"/>
                    </a:schemeClr>
                  </a:solidFill>
                </a:endParaRPr>
              </a:p>
              <a:p>
                <a:pPr>
                  <a:spcBef>
                    <a:spcPts val="0"/>
                  </a:spcBef>
                </a:pPr>
                <a:endParaRPr sz="1956" dirty="0"/>
              </a:p>
            </p:txBody>
          </p:sp>
          <p:sp>
            <p:nvSpPr>
              <p:cNvPr id="457" name="Google Shape;217;p15">
                <a:extLst>
                  <a:ext uri="{FF2B5EF4-FFF2-40B4-BE49-F238E27FC236}">
                    <a16:creationId xmlns:a16="http://schemas.microsoft.com/office/drawing/2014/main" id="{4B5471AA-A1E5-CCEC-65DE-337318D8B5EB}"/>
                  </a:ext>
                </a:extLst>
              </p:cNvPr>
              <p:cNvSpPr txBox="1"/>
              <p:nvPr/>
            </p:nvSpPr>
            <p:spPr>
              <a:xfrm>
                <a:off x="1396836" y="4941265"/>
                <a:ext cx="2116583" cy="554125"/>
              </a:xfrm>
              <a:prstGeom prst="rect">
                <a:avLst/>
              </a:prstGeom>
              <a:noFill/>
              <a:ln>
                <a:noFill/>
              </a:ln>
            </p:spPr>
            <p:txBody>
              <a:bodyPr spcFirstLastPara="1" wrap="square" lIns="127722" tIns="127722" rIns="127722" bIns="127722" anchor="t" anchorCtr="0">
                <a:noAutofit/>
              </a:bodyPr>
              <a:lstStyle/>
              <a:p>
                <a:pPr>
                  <a:spcBef>
                    <a:spcPts val="0"/>
                  </a:spcBef>
                </a:pPr>
                <a:r>
                  <a:rPr lang="en" sz="839" dirty="0">
                    <a:solidFill>
                      <a:srgbClr val="1F2328"/>
                    </a:solidFill>
                    <a:highlight>
                      <a:srgbClr val="FFFFFF"/>
                    </a:highlight>
                  </a:rPr>
                  <a:t>❌ Patch coverage is…</a:t>
                </a:r>
                <a:endParaRPr sz="839" dirty="0">
                  <a:solidFill>
                    <a:srgbClr val="1F2328"/>
                  </a:solidFill>
                  <a:highlight>
                    <a:srgbClr val="FFFFFF"/>
                  </a:highlight>
                </a:endParaRPr>
              </a:p>
              <a:p>
                <a:pPr>
                  <a:spcBef>
                    <a:spcPts val="0"/>
                  </a:spcBef>
                </a:pPr>
                <a:r>
                  <a:rPr lang="en" sz="839" dirty="0">
                    <a:solidFill>
                      <a:srgbClr val="1F2328"/>
                    </a:solidFill>
                    <a:highlight>
                      <a:srgbClr val="FFFFFF"/>
                    </a:highlight>
                  </a:rPr>
                  <a:t>✅ Project coverage is…</a:t>
                </a:r>
                <a:endParaRPr sz="839" dirty="0">
                  <a:solidFill>
                    <a:srgbClr val="1F2328"/>
                  </a:solidFill>
                  <a:highlight>
                    <a:srgbClr val="FFFFFF"/>
                  </a:highlight>
                </a:endParaRPr>
              </a:p>
              <a:p>
                <a:pPr>
                  <a:spcBef>
                    <a:spcPts val="0"/>
                  </a:spcBef>
                </a:pPr>
                <a:r>
                  <a:rPr lang="en" sz="839" dirty="0">
                    <a:solidFill>
                      <a:srgbClr val="1F2328"/>
                    </a:solidFill>
                    <a:highlight>
                      <a:srgbClr val="FFFFFF"/>
                    </a:highlight>
                  </a:rPr>
                  <a:t>⚠️ Report is…</a:t>
                </a:r>
                <a:endParaRPr sz="839" dirty="0">
                  <a:solidFill>
                    <a:srgbClr val="1F2328"/>
                  </a:solidFill>
                  <a:highlight>
                    <a:srgbClr val="FFFFFF"/>
                  </a:highlight>
                </a:endParaRPr>
              </a:p>
            </p:txBody>
          </p:sp>
          <p:pic>
            <p:nvPicPr>
              <p:cNvPr id="458" name="Google Shape;227;p15">
                <a:extLst>
                  <a:ext uri="{FF2B5EF4-FFF2-40B4-BE49-F238E27FC236}">
                    <a16:creationId xmlns:a16="http://schemas.microsoft.com/office/drawing/2014/main" id="{A03D49A2-5FA5-2AFE-F31F-65AA488209D1}"/>
                  </a:ext>
                </a:extLst>
              </p:cNvPr>
              <p:cNvPicPr preferRelativeResize="0"/>
              <p:nvPr/>
            </p:nvPicPr>
            <p:blipFill>
              <a:blip r:embed="rId10">
                <a:alphaModFix/>
              </a:blip>
              <a:stretch>
                <a:fillRect/>
              </a:stretch>
            </p:blipFill>
            <p:spPr>
              <a:xfrm>
                <a:off x="955980" y="5812064"/>
                <a:ext cx="476772" cy="434075"/>
              </a:xfrm>
              <a:prstGeom prst="rect">
                <a:avLst/>
              </a:prstGeom>
              <a:noFill/>
              <a:ln>
                <a:noFill/>
              </a:ln>
            </p:spPr>
          </p:pic>
          <p:pic>
            <p:nvPicPr>
              <p:cNvPr id="459" name="Google Shape;206;p15">
                <a:extLst>
                  <a:ext uri="{FF2B5EF4-FFF2-40B4-BE49-F238E27FC236}">
                    <a16:creationId xmlns:a16="http://schemas.microsoft.com/office/drawing/2014/main" id="{FD871F2E-BF07-DD03-3D28-21D130954808}"/>
                  </a:ext>
                </a:extLst>
              </p:cNvPr>
              <p:cNvPicPr preferRelativeResize="0"/>
              <p:nvPr/>
            </p:nvPicPr>
            <p:blipFill rotWithShape="1">
              <a:blip r:embed="rId11">
                <a:alphaModFix/>
              </a:blip>
              <a:srcRect r="56805" b="59527"/>
              <a:stretch/>
            </p:blipFill>
            <p:spPr>
              <a:xfrm>
                <a:off x="1474313" y="8180149"/>
                <a:ext cx="3020786" cy="737988"/>
              </a:xfrm>
              <a:prstGeom prst="rect">
                <a:avLst/>
              </a:prstGeom>
              <a:noFill/>
              <a:ln>
                <a:noFill/>
              </a:ln>
            </p:spPr>
          </p:pic>
          <p:pic>
            <p:nvPicPr>
              <p:cNvPr id="460" name="Google Shape;207;p15">
                <a:extLst>
                  <a:ext uri="{FF2B5EF4-FFF2-40B4-BE49-F238E27FC236}">
                    <a16:creationId xmlns:a16="http://schemas.microsoft.com/office/drawing/2014/main" id="{232D6B00-18DC-C9CF-CDF5-5BA6860EACF1}"/>
                  </a:ext>
                </a:extLst>
              </p:cNvPr>
              <p:cNvPicPr preferRelativeResize="0"/>
              <p:nvPr/>
            </p:nvPicPr>
            <p:blipFill rotWithShape="1">
              <a:blip r:embed="rId12">
                <a:alphaModFix/>
              </a:blip>
              <a:srcRect r="49675"/>
              <a:stretch/>
            </p:blipFill>
            <p:spPr>
              <a:xfrm>
                <a:off x="1466614" y="7582857"/>
                <a:ext cx="3053268" cy="585347"/>
              </a:xfrm>
              <a:prstGeom prst="rect">
                <a:avLst/>
              </a:prstGeom>
              <a:noFill/>
              <a:ln>
                <a:noFill/>
              </a:ln>
            </p:spPr>
          </p:pic>
          <p:pic>
            <p:nvPicPr>
              <p:cNvPr id="461" name="Google Shape;208;p15">
                <a:extLst>
                  <a:ext uri="{FF2B5EF4-FFF2-40B4-BE49-F238E27FC236}">
                    <a16:creationId xmlns:a16="http://schemas.microsoft.com/office/drawing/2014/main" id="{5056F8BB-409A-392C-F88C-67BC36FBC4F3}"/>
                  </a:ext>
                </a:extLst>
              </p:cNvPr>
              <p:cNvPicPr preferRelativeResize="0"/>
              <p:nvPr/>
            </p:nvPicPr>
            <p:blipFill rotWithShape="1">
              <a:blip r:embed="rId11">
                <a:alphaModFix/>
              </a:blip>
              <a:srcRect r="51536" b="66346"/>
              <a:stretch/>
            </p:blipFill>
            <p:spPr>
              <a:xfrm>
                <a:off x="1478995" y="6325833"/>
                <a:ext cx="3018340" cy="1245849"/>
              </a:xfrm>
              <a:prstGeom prst="rect">
                <a:avLst/>
              </a:prstGeom>
              <a:noFill/>
              <a:ln>
                <a:noFill/>
              </a:ln>
            </p:spPr>
          </p:pic>
          <p:pic>
            <p:nvPicPr>
              <p:cNvPr id="462" name="Google Shape;226;p15">
                <a:extLst>
                  <a:ext uri="{FF2B5EF4-FFF2-40B4-BE49-F238E27FC236}">
                    <a16:creationId xmlns:a16="http://schemas.microsoft.com/office/drawing/2014/main" id="{0EF980C3-B178-7CE3-0D54-2FAE690478E2}"/>
                  </a:ext>
                </a:extLst>
              </p:cNvPr>
              <p:cNvPicPr preferRelativeResize="0"/>
              <p:nvPr/>
            </p:nvPicPr>
            <p:blipFill>
              <a:blip r:embed="rId13">
                <a:alphaModFix/>
              </a:blip>
              <a:stretch>
                <a:fillRect/>
              </a:stretch>
            </p:blipFill>
            <p:spPr>
              <a:xfrm>
                <a:off x="1520465" y="5876512"/>
                <a:ext cx="418118" cy="397419"/>
              </a:xfrm>
              <a:prstGeom prst="rect">
                <a:avLst/>
              </a:prstGeom>
              <a:noFill/>
              <a:ln>
                <a:noFill/>
              </a:ln>
            </p:spPr>
          </p:pic>
          <p:sp>
            <p:nvSpPr>
              <p:cNvPr id="463" name="Google Shape;228;p15">
                <a:extLst>
                  <a:ext uri="{FF2B5EF4-FFF2-40B4-BE49-F238E27FC236}">
                    <a16:creationId xmlns:a16="http://schemas.microsoft.com/office/drawing/2014/main" id="{2C8F38C9-1B5F-0E5D-B76B-FCF18B5B25E5}"/>
                  </a:ext>
                </a:extLst>
              </p:cNvPr>
              <p:cNvSpPr txBox="1"/>
              <p:nvPr/>
            </p:nvSpPr>
            <p:spPr>
              <a:xfrm>
                <a:off x="1866920" y="5853986"/>
                <a:ext cx="1995583" cy="204417"/>
              </a:xfrm>
              <a:prstGeom prst="rect">
                <a:avLst/>
              </a:prstGeom>
              <a:noFill/>
              <a:ln>
                <a:noFill/>
              </a:ln>
            </p:spPr>
            <p:txBody>
              <a:bodyPr spcFirstLastPara="1" wrap="square" lIns="127722" tIns="127722" rIns="127722" bIns="127722" anchor="t" anchorCtr="0">
                <a:noAutofit/>
              </a:bodyPr>
              <a:lstStyle/>
              <a:p>
                <a:pPr>
                  <a:spcBef>
                    <a:spcPts val="0"/>
                  </a:spcBef>
                </a:pPr>
                <a:r>
                  <a:rPr lang="en" sz="1117" dirty="0">
                    <a:solidFill>
                      <a:schemeClr val="dk1"/>
                    </a:solidFill>
                  </a:rPr>
                  <a:t>Changes Reviewed</a:t>
                </a:r>
                <a:endParaRPr sz="1117" dirty="0">
                  <a:solidFill>
                    <a:schemeClr val="dk1"/>
                  </a:solidFill>
                </a:endParaRPr>
              </a:p>
            </p:txBody>
          </p:sp>
          <p:cxnSp>
            <p:nvCxnSpPr>
              <p:cNvPr id="464" name="Google Shape;229;p15">
                <a:extLst>
                  <a:ext uri="{FF2B5EF4-FFF2-40B4-BE49-F238E27FC236}">
                    <a16:creationId xmlns:a16="http://schemas.microsoft.com/office/drawing/2014/main" id="{79852AFB-ED97-640D-D5EB-F8A267425ACA}"/>
                  </a:ext>
                </a:extLst>
              </p:cNvPr>
              <p:cNvCxnSpPr/>
              <p:nvPr/>
            </p:nvCxnSpPr>
            <p:spPr>
              <a:xfrm>
                <a:off x="1467748" y="6324819"/>
                <a:ext cx="3040125" cy="0"/>
              </a:xfrm>
              <a:prstGeom prst="straightConnector1">
                <a:avLst/>
              </a:prstGeom>
              <a:noFill/>
              <a:ln w="8700" cap="flat" cmpd="sng">
                <a:solidFill>
                  <a:schemeClr val="dk2"/>
                </a:solidFill>
                <a:prstDash val="solid"/>
                <a:round/>
                <a:headEnd type="none" w="med" len="med"/>
                <a:tailEnd type="none" w="med" len="med"/>
              </a:ln>
            </p:spPr>
          </p:cxnSp>
          <p:pic>
            <p:nvPicPr>
              <p:cNvPr id="465" name="Google Shape;230;p15">
                <a:extLst>
                  <a:ext uri="{FF2B5EF4-FFF2-40B4-BE49-F238E27FC236}">
                    <a16:creationId xmlns:a16="http://schemas.microsoft.com/office/drawing/2014/main" id="{13B031DE-6988-B2A0-42D3-D9A8113A142E}"/>
                  </a:ext>
                </a:extLst>
              </p:cNvPr>
              <p:cNvPicPr preferRelativeResize="0"/>
              <p:nvPr/>
            </p:nvPicPr>
            <p:blipFill>
              <a:blip r:embed="rId14">
                <a:alphaModFix/>
              </a:blip>
              <a:stretch>
                <a:fillRect/>
              </a:stretch>
            </p:blipFill>
            <p:spPr>
              <a:xfrm>
                <a:off x="1576377" y="6953035"/>
                <a:ext cx="233220" cy="273781"/>
              </a:xfrm>
              <a:prstGeom prst="rect">
                <a:avLst/>
              </a:prstGeom>
              <a:noFill/>
              <a:ln>
                <a:noFill/>
              </a:ln>
            </p:spPr>
          </p:pic>
          <p:pic>
            <p:nvPicPr>
              <p:cNvPr id="466" name="Google Shape;231;p15">
                <a:extLst>
                  <a:ext uri="{FF2B5EF4-FFF2-40B4-BE49-F238E27FC236}">
                    <a16:creationId xmlns:a16="http://schemas.microsoft.com/office/drawing/2014/main" id="{CE4ABCCE-0A54-043F-9576-EE71762F6E90}"/>
                  </a:ext>
                </a:extLst>
              </p:cNvPr>
              <p:cNvPicPr preferRelativeResize="0"/>
              <p:nvPr/>
            </p:nvPicPr>
            <p:blipFill>
              <a:blip r:embed="rId11">
                <a:alphaModFix/>
              </a:blip>
              <a:stretch>
                <a:fillRect/>
              </a:stretch>
            </p:blipFill>
            <p:spPr>
              <a:xfrm>
                <a:off x="1530785" y="6396970"/>
                <a:ext cx="288926" cy="211878"/>
              </a:xfrm>
              <a:prstGeom prst="rect">
                <a:avLst/>
              </a:prstGeom>
              <a:noFill/>
              <a:ln>
                <a:noFill/>
              </a:ln>
            </p:spPr>
          </p:pic>
          <p:pic>
            <p:nvPicPr>
              <p:cNvPr id="467" name="Google Shape;232;p15">
                <a:extLst>
                  <a:ext uri="{FF2B5EF4-FFF2-40B4-BE49-F238E27FC236}">
                    <a16:creationId xmlns:a16="http://schemas.microsoft.com/office/drawing/2014/main" id="{598054EF-CC6D-0D1D-AA19-6DA7A1271C7C}"/>
                  </a:ext>
                </a:extLst>
              </p:cNvPr>
              <p:cNvPicPr preferRelativeResize="0"/>
              <p:nvPr/>
            </p:nvPicPr>
            <p:blipFill>
              <a:blip r:embed="rId15">
                <a:alphaModFix/>
              </a:blip>
              <a:stretch>
                <a:fillRect/>
              </a:stretch>
            </p:blipFill>
            <p:spPr>
              <a:xfrm>
                <a:off x="1523888" y="6653098"/>
                <a:ext cx="275348" cy="232624"/>
              </a:xfrm>
              <a:prstGeom prst="rect">
                <a:avLst/>
              </a:prstGeom>
              <a:noFill/>
              <a:ln>
                <a:noFill/>
              </a:ln>
            </p:spPr>
          </p:pic>
          <p:pic>
            <p:nvPicPr>
              <p:cNvPr id="468" name="Google Shape;233;p15">
                <a:extLst>
                  <a:ext uri="{FF2B5EF4-FFF2-40B4-BE49-F238E27FC236}">
                    <a16:creationId xmlns:a16="http://schemas.microsoft.com/office/drawing/2014/main" id="{CD6FC109-55B8-C958-B120-DF6F9D805627}"/>
                  </a:ext>
                </a:extLst>
              </p:cNvPr>
              <p:cNvPicPr preferRelativeResize="0"/>
              <p:nvPr/>
            </p:nvPicPr>
            <p:blipFill>
              <a:blip r:embed="rId16">
                <a:alphaModFix/>
              </a:blip>
              <a:stretch>
                <a:fillRect/>
              </a:stretch>
            </p:blipFill>
            <p:spPr>
              <a:xfrm>
                <a:off x="1546046" y="8251899"/>
                <a:ext cx="253223" cy="282442"/>
              </a:xfrm>
              <a:prstGeom prst="rect">
                <a:avLst/>
              </a:prstGeom>
              <a:noFill/>
              <a:ln>
                <a:noFill/>
              </a:ln>
            </p:spPr>
          </p:pic>
          <p:sp>
            <p:nvSpPr>
              <p:cNvPr id="469" name="Google Shape;234;p15">
                <a:extLst>
                  <a:ext uri="{FF2B5EF4-FFF2-40B4-BE49-F238E27FC236}">
                    <a16:creationId xmlns:a16="http://schemas.microsoft.com/office/drawing/2014/main" id="{CF23EFD4-D331-92AB-45FD-E3716E6879DB}"/>
                  </a:ext>
                </a:extLst>
              </p:cNvPr>
              <p:cNvSpPr/>
              <p:nvPr/>
            </p:nvSpPr>
            <p:spPr>
              <a:xfrm>
                <a:off x="1629407" y="8282439"/>
                <a:ext cx="2788500" cy="232375"/>
              </a:xfrm>
              <a:prstGeom prst="rect">
                <a:avLst/>
              </a:prstGeom>
              <a:noFill/>
              <a:ln>
                <a:noFill/>
              </a:ln>
            </p:spPr>
            <p:txBody>
              <a:bodyPr spcFirstLastPara="1" wrap="square" lIns="127722" tIns="127722" rIns="127722" bIns="127722" anchor="ctr" anchorCtr="0">
                <a:noAutofit/>
              </a:bodyPr>
              <a:lstStyle/>
              <a:p>
                <a:pPr>
                  <a:spcBef>
                    <a:spcPts val="0"/>
                  </a:spcBef>
                  <a:buClr>
                    <a:schemeClr val="dk1"/>
                  </a:buClr>
                  <a:buSzPts val="1006"/>
                </a:pPr>
                <a:r>
                  <a:rPr lang="en" sz="839">
                    <a:solidFill>
                      <a:schemeClr val="dk1"/>
                    </a:solidFill>
                  </a:rPr>
                  <a:t>   </a:t>
                </a:r>
                <a:r>
                  <a:rPr lang="en" sz="839">
                    <a:solidFill>
                      <a:srgbClr val="1F2328"/>
                    </a:solidFill>
                  </a:rPr>
                  <a:t>           test-coverage/test-coverage(4.4)</a:t>
                </a:r>
                <a:endParaRPr sz="1956"/>
              </a:p>
            </p:txBody>
          </p:sp>
          <p:sp>
            <p:nvSpPr>
              <p:cNvPr id="470" name="Google Shape;235;p15">
                <a:extLst>
                  <a:ext uri="{FF2B5EF4-FFF2-40B4-BE49-F238E27FC236}">
                    <a16:creationId xmlns:a16="http://schemas.microsoft.com/office/drawing/2014/main" id="{64FF3A3D-3451-07DC-E214-0C115F763325}"/>
                  </a:ext>
                </a:extLst>
              </p:cNvPr>
              <p:cNvSpPr/>
              <p:nvPr/>
            </p:nvSpPr>
            <p:spPr>
              <a:xfrm>
                <a:off x="1629374" y="8621717"/>
                <a:ext cx="2788500" cy="232375"/>
              </a:xfrm>
              <a:prstGeom prst="rect">
                <a:avLst/>
              </a:prstGeom>
              <a:noFill/>
              <a:ln>
                <a:noFill/>
              </a:ln>
            </p:spPr>
            <p:txBody>
              <a:bodyPr spcFirstLastPara="1" wrap="square" lIns="127722" tIns="127722" rIns="127722" bIns="127722" anchor="ctr" anchorCtr="0">
                <a:noAutofit/>
              </a:bodyPr>
              <a:lstStyle/>
              <a:p>
                <a:pPr>
                  <a:spcBef>
                    <a:spcPts val="0"/>
                  </a:spcBef>
                </a:pPr>
                <a:r>
                  <a:rPr lang="en" sz="839"/>
                  <a:t>              R-CMD-check</a:t>
                </a:r>
                <a:endParaRPr sz="839"/>
              </a:p>
            </p:txBody>
          </p:sp>
          <p:sp>
            <p:nvSpPr>
              <p:cNvPr id="471" name="Google Shape;236;p15">
                <a:extLst>
                  <a:ext uri="{FF2B5EF4-FFF2-40B4-BE49-F238E27FC236}">
                    <a16:creationId xmlns:a16="http://schemas.microsoft.com/office/drawing/2014/main" id="{B767380E-2D27-913A-570B-1914EAF95A47}"/>
                  </a:ext>
                </a:extLst>
              </p:cNvPr>
              <p:cNvSpPr/>
              <p:nvPr/>
            </p:nvSpPr>
            <p:spPr>
              <a:xfrm>
                <a:off x="1830220" y="8318797"/>
                <a:ext cx="165458" cy="162708"/>
              </a:xfrm>
              <a:prstGeom prst="roundRect">
                <a:avLst>
                  <a:gd name="adj" fmla="val 16667"/>
                </a:avLst>
              </a:prstGeom>
              <a:solidFill>
                <a:schemeClr val="dk1"/>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472" name="Google Shape;237;p15">
                <a:extLst>
                  <a:ext uri="{FF2B5EF4-FFF2-40B4-BE49-F238E27FC236}">
                    <a16:creationId xmlns:a16="http://schemas.microsoft.com/office/drawing/2014/main" id="{47E79339-E051-AF56-C684-6BCFE56A222C}"/>
                  </a:ext>
                </a:extLst>
              </p:cNvPr>
              <p:cNvSpPr txBox="1"/>
              <p:nvPr/>
            </p:nvSpPr>
            <p:spPr>
              <a:xfrm>
                <a:off x="1729524" y="8229908"/>
                <a:ext cx="416167" cy="232375"/>
              </a:xfrm>
              <a:prstGeom prst="rect">
                <a:avLst/>
              </a:prstGeom>
              <a:noFill/>
              <a:ln>
                <a:noFill/>
              </a:ln>
            </p:spPr>
            <p:txBody>
              <a:bodyPr spcFirstLastPara="1" wrap="square" lIns="127722" tIns="127722" rIns="127722" bIns="127722" anchor="t" anchorCtr="0">
                <a:noAutofit/>
              </a:bodyPr>
              <a:lstStyle/>
              <a:p>
                <a:pPr>
                  <a:spcBef>
                    <a:spcPts val="0"/>
                  </a:spcBef>
                </a:pPr>
                <a:r>
                  <a:rPr lang="en" sz="698" dirty="0">
                    <a:solidFill>
                      <a:schemeClr val="lt1"/>
                    </a:solidFill>
                  </a:rPr>
                  <a:t>GH</a:t>
                </a:r>
                <a:endParaRPr sz="698" dirty="0">
                  <a:solidFill>
                    <a:schemeClr val="lt1"/>
                  </a:solidFill>
                </a:endParaRPr>
              </a:p>
            </p:txBody>
          </p:sp>
          <p:sp>
            <p:nvSpPr>
              <p:cNvPr id="473" name="Google Shape;238;p15">
                <a:extLst>
                  <a:ext uri="{FF2B5EF4-FFF2-40B4-BE49-F238E27FC236}">
                    <a16:creationId xmlns:a16="http://schemas.microsoft.com/office/drawing/2014/main" id="{3AF2C292-56C6-56BD-114D-71F49C3EDE2B}"/>
                  </a:ext>
                </a:extLst>
              </p:cNvPr>
              <p:cNvSpPr/>
              <p:nvPr/>
            </p:nvSpPr>
            <p:spPr>
              <a:xfrm>
                <a:off x="1835613" y="8653245"/>
                <a:ext cx="165458" cy="162708"/>
              </a:xfrm>
              <a:prstGeom prst="roundRect">
                <a:avLst>
                  <a:gd name="adj" fmla="val 16667"/>
                </a:avLst>
              </a:prstGeom>
              <a:solidFill>
                <a:schemeClr val="dk1"/>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474" name="Google Shape;239;p15">
                <a:extLst>
                  <a:ext uri="{FF2B5EF4-FFF2-40B4-BE49-F238E27FC236}">
                    <a16:creationId xmlns:a16="http://schemas.microsoft.com/office/drawing/2014/main" id="{FC01A748-3F2B-6D6B-D262-43BDD56799D3}"/>
                  </a:ext>
                </a:extLst>
              </p:cNvPr>
              <p:cNvSpPr txBox="1"/>
              <p:nvPr/>
            </p:nvSpPr>
            <p:spPr>
              <a:xfrm>
                <a:off x="1730499" y="8555049"/>
                <a:ext cx="416167" cy="232375"/>
              </a:xfrm>
              <a:prstGeom prst="rect">
                <a:avLst/>
              </a:prstGeom>
              <a:noFill/>
              <a:ln>
                <a:noFill/>
              </a:ln>
            </p:spPr>
            <p:txBody>
              <a:bodyPr spcFirstLastPara="1" wrap="square" lIns="127722" tIns="127722" rIns="127722" bIns="127722" anchor="t" anchorCtr="0">
                <a:noAutofit/>
              </a:bodyPr>
              <a:lstStyle/>
              <a:p>
                <a:pPr>
                  <a:spcBef>
                    <a:spcPts val="0"/>
                  </a:spcBef>
                </a:pPr>
                <a:r>
                  <a:rPr lang="en" sz="698" dirty="0">
                    <a:solidFill>
                      <a:schemeClr val="lt1"/>
                    </a:solidFill>
                  </a:rPr>
                  <a:t>GH</a:t>
                </a:r>
                <a:endParaRPr sz="698" dirty="0">
                  <a:solidFill>
                    <a:schemeClr val="lt1"/>
                  </a:solidFill>
                </a:endParaRPr>
              </a:p>
            </p:txBody>
          </p:sp>
          <p:sp>
            <p:nvSpPr>
              <p:cNvPr id="475" name="Google Shape;240;p15">
                <a:extLst>
                  <a:ext uri="{FF2B5EF4-FFF2-40B4-BE49-F238E27FC236}">
                    <a16:creationId xmlns:a16="http://schemas.microsoft.com/office/drawing/2014/main" id="{2B930B87-7A63-0662-4CF4-4F4285C47672}"/>
                  </a:ext>
                </a:extLst>
              </p:cNvPr>
              <p:cNvSpPr txBox="1"/>
              <p:nvPr/>
            </p:nvSpPr>
            <p:spPr>
              <a:xfrm>
                <a:off x="1694050" y="6325762"/>
                <a:ext cx="970292"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a:solidFill>
                      <a:srgbClr val="999999"/>
                    </a:solidFill>
                  </a:rPr>
                  <a:t>1 approval</a:t>
                </a:r>
                <a:endParaRPr sz="978">
                  <a:solidFill>
                    <a:srgbClr val="999999"/>
                  </a:solidFill>
                </a:endParaRPr>
              </a:p>
              <a:p>
                <a:pPr>
                  <a:spcBef>
                    <a:spcPts val="0"/>
                  </a:spcBef>
                </a:pPr>
                <a:endParaRPr sz="978">
                  <a:solidFill>
                    <a:srgbClr val="999999"/>
                  </a:solidFill>
                </a:endParaRPr>
              </a:p>
              <a:p>
                <a:pPr>
                  <a:spcBef>
                    <a:spcPts val="0"/>
                  </a:spcBef>
                </a:pPr>
                <a:r>
                  <a:rPr lang="en" sz="978">
                    <a:solidFill>
                      <a:srgbClr val="999999"/>
                    </a:solidFill>
                  </a:rPr>
                  <a:t> </a:t>
                </a:r>
                <a:endParaRPr sz="978">
                  <a:solidFill>
                    <a:srgbClr val="999999"/>
                  </a:solidFill>
                </a:endParaRPr>
              </a:p>
            </p:txBody>
          </p:sp>
          <p:sp>
            <p:nvSpPr>
              <p:cNvPr id="476" name="Google Shape;241;p15">
                <a:extLst>
                  <a:ext uri="{FF2B5EF4-FFF2-40B4-BE49-F238E27FC236}">
                    <a16:creationId xmlns:a16="http://schemas.microsoft.com/office/drawing/2014/main" id="{DA1495CF-A6C5-7F59-4D8A-A71024170E25}"/>
                  </a:ext>
                </a:extLst>
              </p:cNvPr>
              <p:cNvSpPr txBox="1"/>
              <p:nvPr/>
            </p:nvSpPr>
            <p:spPr>
              <a:xfrm>
                <a:off x="1707043" y="6907723"/>
                <a:ext cx="1532667"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a:solidFill>
                      <a:srgbClr val="999999"/>
                    </a:solidFill>
                  </a:rPr>
                  <a:t>1 requested change</a:t>
                </a:r>
                <a:endParaRPr sz="978">
                  <a:solidFill>
                    <a:srgbClr val="999999"/>
                  </a:solidFill>
                </a:endParaRPr>
              </a:p>
            </p:txBody>
          </p:sp>
          <p:sp>
            <p:nvSpPr>
              <p:cNvPr id="477" name="Google Shape;242;p15">
                <a:extLst>
                  <a:ext uri="{FF2B5EF4-FFF2-40B4-BE49-F238E27FC236}">
                    <a16:creationId xmlns:a16="http://schemas.microsoft.com/office/drawing/2014/main" id="{62A25C1F-ECBE-FC6F-1BD0-E1CF017BFD1F}"/>
                  </a:ext>
                </a:extLst>
              </p:cNvPr>
              <p:cNvSpPr txBox="1"/>
              <p:nvPr/>
            </p:nvSpPr>
            <p:spPr>
              <a:xfrm>
                <a:off x="1705960" y="6587163"/>
                <a:ext cx="2640000"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dirty="0">
                    <a:solidFill>
                      <a:schemeClr val="dk1"/>
                    </a:solidFill>
                  </a:rPr>
                  <a:t>Quality Reviewer    </a:t>
                </a:r>
                <a:r>
                  <a:rPr lang="en" sz="839" dirty="0">
                    <a:solidFill>
                      <a:schemeClr val="dk1"/>
                    </a:solidFill>
                  </a:rPr>
                  <a:t> </a:t>
                </a:r>
                <a:r>
                  <a:rPr lang="en" sz="839" dirty="0">
                    <a:solidFill>
                      <a:srgbClr val="999999"/>
                    </a:solidFill>
                  </a:rPr>
                  <a:t> Approved these changes</a:t>
                </a:r>
                <a:endParaRPr sz="839" dirty="0">
                  <a:solidFill>
                    <a:srgbClr val="999999"/>
                  </a:solidFill>
                </a:endParaRPr>
              </a:p>
              <a:p>
                <a:pPr>
                  <a:spcBef>
                    <a:spcPts val="0"/>
                  </a:spcBef>
                </a:pPr>
                <a:endParaRPr sz="978" dirty="0">
                  <a:solidFill>
                    <a:srgbClr val="999999"/>
                  </a:solidFill>
                </a:endParaRPr>
              </a:p>
              <a:p>
                <a:pPr>
                  <a:spcBef>
                    <a:spcPts val="0"/>
                  </a:spcBef>
                </a:pPr>
                <a:r>
                  <a:rPr lang="en" sz="978" dirty="0">
                    <a:solidFill>
                      <a:srgbClr val="999999"/>
                    </a:solidFill>
                  </a:rPr>
                  <a:t> </a:t>
                </a:r>
                <a:endParaRPr sz="978" dirty="0">
                  <a:solidFill>
                    <a:srgbClr val="999999"/>
                  </a:solidFill>
                </a:endParaRPr>
              </a:p>
            </p:txBody>
          </p:sp>
          <p:pic>
            <p:nvPicPr>
              <p:cNvPr id="478" name="Google Shape;243;p15">
                <a:extLst>
                  <a:ext uri="{FF2B5EF4-FFF2-40B4-BE49-F238E27FC236}">
                    <a16:creationId xmlns:a16="http://schemas.microsoft.com/office/drawing/2014/main" id="{DFE50D8A-A623-D02C-FFA2-3361020E15F5}"/>
                  </a:ext>
                </a:extLst>
              </p:cNvPr>
              <p:cNvPicPr preferRelativeResize="0"/>
              <p:nvPr/>
            </p:nvPicPr>
            <p:blipFill>
              <a:blip r:embed="rId15">
                <a:alphaModFix/>
              </a:blip>
              <a:stretch>
                <a:fillRect/>
              </a:stretch>
            </p:blipFill>
            <p:spPr>
              <a:xfrm>
                <a:off x="1535831" y="7247141"/>
                <a:ext cx="275348" cy="232624"/>
              </a:xfrm>
              <a:prstGeom prst="rect">
                <a:avLst/>
              </a:prstGeom>
              <a:noFill/>
              <a:ln>
                <a:noFill/>
              </a:ln>
            </p:spPr>
          </p:pic>
          <p:sp>
            <p:nvSpPr>
              <p:cNvPr id="479" name="Google Shape;244;p15">
                <a:extLst>
                  <a:ext uri="{FF2B5EF4-FFF2-40B4-BE49-F238E27FC236}">
                    <a16:creationId xmlns:a16="http://schemas.microsoft.com/office/drawing/2014/main" id="{F4695718-9B50-AC17-5A99-0E480A657A26}"/>
                  </a:ext>
                </a:extLst>
              </p:cNvPr>
              <p:cNvSpPr txBox="1"/>
              <p:nvPr/>
            </p:nvSpPr>
            <p:spPr>
              <a:xfrm>
                <a:off x="1703969" y="7146562"/>
                <a:ext cx="2640000"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dirty="0">
                    <a:solidFill>
                      <a:schemeClr val="dk1"/>
                    </a:solidFill>
                  </a:rPr>
                  <a:t>Code Architect    </a:t>
                </a:r>
                <a:r>
                  <a:rPr lang="en" sz="839" dirty="0">
                    <a:solidFill>
                      <a:schemeClr val="dk1"/>
                    </a:solidFill>
                  </a:rPr>
                  <a:t> </a:t>
                </a:r>
                <a:r>
                  <a:rPr lang="en" sz="839" dirty="0">
                    <a:solidFill>
                      <a:srgbClr val="999999"/>
                    </a:solidFill>
                  </a:rPr>
                  <a:t>     Requested changes</a:t>
                </a:r>
                <a:endParaRPr sz="839" dirty="0">
                  <a:solidFill>
                    <a:srgbClr val="999999"/>
                  </a:solidFill>
                </a:endParaRPr>
              </a:p>
              <a:p>
                <a:pPr>
                  <a:spcBef>
                    <a:spcPts val="0"/>
                  </a:spcBef>
                </a:pPr>
                <a:endParaRPr sz="978" dirty="0">
                  <a:solidFill>
                    <a:srgbClr val="999999"/>
                  </a:solidFill>
                </a:endParaRPr>
              </a:p>
              <a:p>
                <a:pPr>
                  <a:spcBef>
                    <a:spcPts val="0"/>
                  </a:spcBef>
                </a:pPr>
                <a:r>
                  <a:rPr lang="en" sz="978" dirty="0">
                    <a:solidFill>
                      <a:srgbClr val="999999"/>
                    </a:solidFill>
                  </a:rPr>
                  <a:t> </a:t>
                </a:r>
                <a:endParaRPr sz="978" dirty="0">
                  <a:solidFill>
                    <a:srgbClr val="999999"/>
                  </a:solidFill>
                </a:endParaRPr>
              </a:p>
            </p:txBody>
          </p:sp>
          <p:cxnSp>
            <p:nvCxnSpPr>
              <p:cNvPr id="480" name="Google Shape;245;p15">
                <a:extLst>
                  <a:ext uri="{FF2B5EF4-FFF2-40B4-BE49-F238E27FC236}">
                    <a16:creationId xmlns:a16="http://schemas.microsoft.com/office/drawing/2014/main" id="{7473C632-2A21-9FF2-949E-CD99823E7B40}"/>
                  </a:ext>
                </a:extLst>
              </p:cNvPr>
              <p:cNvCxnSpPr/>
              <p:nvPr/>
            </p:nvCxnSpPr>
            <p:spPr>
              <a:xfrm>
                <a:off x="1477667" y="7575104"/>
                <a:ext cx="3040125" cy="0"/>
              </a:xfrm>
              <a:prstGeom prst="straightConnector1">
                <a:avLst/>
              </a:prstGeom>
              <a:noFill/>
              <a:ln w="8700" cap="flat" cmpd="sng">
                <a:solidFill>
                  <a:schemeClr val="dk2"/>
                </a:solidFill>
                <a:prstDash val="solid"/>
                <a:round/>
                <a:headEnd type="none" w="med" len="med"/>
                <a:tailEnd type="none" w="med" len="med"/>
              </a:ln>
            </p:spPr>
          </p:cxnSp>
          <p:pic>
            <p:nvPicPr>
              <p:cNvPr id="482" name="Google Shape;246;p15">
                <a:extLst>
                  <a:ext uri="{FF2B5EF4-FFF2-40B4-BE49-F238E27FC236}">
                    <a16:creationId xmlns:a16="http://schemas.microsoft.com/office/drawing/2014/main" id="{F8C09611-2407-4B4A-A3C7-2D5972A1AF0E}"/>
                  </a:ext>
                </a:extLst>
              </p:cNvPr>
              <p:cNvPicPr preferRelativeResize="0"/>
              <p:nvPr/>
            </p:nvPicPr>
            <p:blipFill>
              <a:blip r:embed="rId11">
                <a:alphaModFix/>
              </a:blip>
              <a:stretch>
                <a:fillRect/>
              </a:stretch>
            </p:blipFill>
            <p:spPr>
              <a:xfrm>
                <a:off x="1529318" y="8636978"/>
                <a:ext cx="288926" cy="211878"/>
              </a:xfrm>
              <a:prstGeom prst="rect">
                <a:avLst/>
              </a:prstGeom>
              <a:noFill/>
              <a:ln>
                <a:noFill/>
              </a:ln>
            </p:spPr>
          </p:pic>
          <p:cxnSp>
            <p:nvCxnSpPr>
              <p:cNvPr id="484" name="Google Shape;247;p15">
                <a:extLst>
                  <a:ext uri="{FF2B5EF4-FFF2-40B4-BE49-F238E27FC236}">
                    <a16:creationId xmlns:a16="http://schemas.microsoft.com/office/drawing/2014/main" id="{3660A6AC-0160-AE2A-54B6-902D84228445}"/>
                  </a:ext>
                </a:extLst>
              </p:cNvPr>
              <p:cNvCxnSpPr/>
              <p:nvPr/>
            </p:nvCxnSpPr>
            <p:spPr>
              <a:xfrm>
                <a:off x="1458389" y="8163071"/>
                <a:ext cx="3040125" cy="0"/>
              </a:xfrm>
              <a:prstGeom prst="straightConnector1">
                <a:avLst/>
              </a:prstGeom>
              <a:noFill/>
              <a:ln w="8700" cap="flat" cmpd="sng">
                <a:solidFill>
                  <a:schemeClr val="dk2"/>
                </a:solidFill>
                <a:prstDash val="solid"/>
                <a:round/>
                <a:headEnd type="none" w="med" len="med"/>
                <a:tailEnd type="none" w="med" len="med"/>
              </a:ln>
            </p:spPr>
          </p:cxnSp>
          <p:pic>
            <p:nvPicPr>
              <p:cNvPr id="485" name="Google Shape;248;p15" title="download.png">
                <a:extLst>
                  <a:ext uri="{FF2B5EF4-FFF2-40B4-BE49-F238E27FC236}">
                    <a16:creationId xmlns:a16="http://schemas.microsoft.com/office/drawing/2014/main" id="{A385F14E-1D6B-D384-5A08-7877997B4F31}"/>
                  </a:ext>
                </a:extLst>
              </p:cNvPr>
              <p:cNvPicPr preferRelativeResize="0"/>
              <p:nvPr/>
            </p:nvPicPr>
            <p:blipFill>
              <a:blip r:embed="rId17">
                <a:alphaModFix/>
              </a:blip>
              <a:stretch>
                <a:fillRect/>
              </a:stretch>
            </p:blipFill>
            <p:spPr>
              <a:xfrm>
                <a:off x="1524726" y="8948407"/>
                <a:ext cx="344920" cy="344920"/>
              </a:xfrm>
              <a:prstGeom prst="rect">
                <a:avLst/>
              </a:prstGeom>
              <a:noFill/>
              <a:ln>
                <a:noFill/>
              </a:ln>
            </p:spPr>
          </p:pic>
          <p:sp>
            <p:nvSpPr>
              <p:cNvPr id="488" name="Google Shape;249;p15">
                <a:extLst>
                  <a:ext uri="{FF2B5EF4-FFF2-40B4-BE49-F238E27FC236}">
                    <a16:creationId xmlns:a16="http://schemas.microsoft.com/office/drawing/2014/main" id="{7C33F69A-C13A-127E-F6FD-FF84F35C27C7}"/>
                  </a:ext>
                </a:extLst>
              </p:cNvPr>
              <p:cNvSpPr txBox="1"/>
              <p:nvPr/>
            </p:nvSpPr>
            <p:spPr>
              <a:xfrm>
                <a:off x="1798191" y="8820046"/>
                <a:ext cx="1821875" cy="348333"/>
              </a:xfrm>
              <a:prstGeom prst="rect">
                <a:avLst/>
              </a:prstGeom>
              <a:noFill/>
              <a:ln>
                <a:noFill/>
              </a:ln>
            </p:spPr>
            <p:txBody>
              <a:bodyPr spcFirstLastPara="1" wrap="square" lIns="127722" tIns="127722" rIns="127722" bIns="127722" anchor="t" anchorCtr="0">
                <a:noAutofit/>
              </a:bodyPr>
              <a:lstStyle/>
              <a:p>
                <a:pPr>
                  <a:spcBef>
                    <a:spcPts val="0"/>
                  </a:spcBef>
                </a:pPr>
                <a:r>
                  <a:rPr lang="en" sz="1257">
                    <a:solidFill>
                      <a:schemeClr val="dk1"/>
                    </a:solidFill>
                  </a:rPr>
                  <a:t>No conflicts with base branch</a:t>
                </a:r>
                <a:endParaRPr sz="1257">
                  <a:solidFill>
                    <a:schemeClr val="dk1"/>
                  </a:solidFill>
                </a:endParaRPr>
              </a:p>
              <a:p>
                <a:pPr>
                  <a:spcBef>
                    <a:spcPts val="0"/>
                  </a:spcBef>
                </a:pPr>
                <a:endParaRPr sz="1257">
                  <a:solidFill>
                    <a:schemeClr val="dk1"/>
                  </a:solidFill>
                </a:endParaRPr>
              </a:p>
            </p:txBody>
          </p:sp>
          <p:cxnSp>
            <p:nvCxnSpPr>
              <p:cNvPr id="489" name="Google Shape;250;p15">
                <a:extLst>
                  <a:ext uri="{FF2B5EF4-FFF2-40B4-BE49-F238E27FC236}">
                    <a16:creationId xmlns:a16="http://schemas.microsoft.com/office/drawing/2014/main" id="{FC6DA58E-28D2-F415-8AFB-F7BDBCD9625B}"/>
                  </a:ext>
                </a:extLst>
              </p:cNvPr>
              <p:cNvCxnSpPr/>
              <p:nvPr/>
            </p:nvCxnSpPr>
            <p:spPr>
              <a:xfrm>
                <a:off x="1474802" y="8902850"/>
                <a:ext cx="3040125" cy="0"/>
              </a:xfrm>
              <a:prstGeom prst="straightConnector1">
                <a:avLst/>
              </a:prstGeom>
              <a:noFill/>
              <a:ln w="8700" cap="flat" cmpd="sng">
                <a:solidFill>
                  <a:schemeClr val="dk2"/>
                </a:solidFill>
                <a:prstDash val="solid"/>
                <a:round/>
                <a:headEnd type="none" w="med" len="med"/>
                <a:tailEnd type="none" w="med" len="med"/>
              </a:ln>
            </p:spPr>
          </p:cxnSp>
          <p:sp>
            <p:nvSpPr>
              <p:cNvPr id="492" name="Google Shape;216;p15">
                <a:extLst>
                  <a:ext uri="{FF2B5EF4-FFF2-40B4-BE49-F238E27FC236}">
                    <a16:creationId xmlns:a16="http://schemas.microsoft.com/office/drawing/2014/main" id="{CB9084B7-1468-4ACE-2C82-174B8A1D4F58}"/>
                  </a:ext>
                </a:extLst>
              </p:cNvPr>
              <p:cNvSpPr/>
              <p:nvPr/>
            </p:nvSpPr>
            <p:spPr>
              <a:xfrm>
                <a:off x="1466614" y="5802822"/>
                <a:ext cx="3030718" cy="3579582"/>
              </a:xfrm>
              <a:prstGeom prst="rect">
                <a:avLst/>
              </a:prstGeom>
              <a:no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grpSp>
        <p:sp>
          <p:nvSpPr>
            <p:cNvPr id="62" name="Google Shape;215;p15">
              <a:extLst>
                <a:ext uri="{FF2B5EF4-FFF2-40B4-BE49-F238E27FC236}">
                  <a16:creationId xmlns:a16="http://schemas.microsoft.com/office/drawing/2014/main" id="{88BB223A-F427-DB56-ED5A-D473A22A12BD}"/>
                </a:ext>
              </a:extLst>
            </p:cNvPr>
            <p:cNvSpPr/>
            <p:nvPr/>
          </p:nvSpPr>
          <p:spPr>
            <a:xfrm>
              <a:off x="10139699" y="2716877"/>
              <a:ext cx="3024222" cy="232375"/>
            </a:xfrm>
            <a:prstGeom prst="rect">
              <a:avLst/>
            </a:prstGeom>
            <a:solidFill>
              <a:schemeClr val="lt2"/>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839" dirty="0"/>
            </a:p>
            <a:p>
              <a:pPr>
                <a:spcBef>
                  <a:spcPts val="0"/>
                </a:spcBef>
              </a:pPr>
              <a:endParaRPr sz="839" dirty="0"/>
            </a:p>
            <a:p>
              <a:pPr>
                <a:spcBef>
                  <a:spcPts val="0"/>
                </a:spcBef>
              </a:pPr>
              <a:r>
                <a:rPr lang="en" sz="839" dirty="0">
                  <a:solidFill>
                    <a:schemeClr val="tx1">
                      <a:lumMod val="50000"/>
                    </a:schemeClr>
                  </a:solidFill>
                </a:rPr>
                <a:t>Username </a:t>
              </a:r>
              <a:r>
                <a:rPr lang="en" sz="839" b="0" dirty="0">
                  <a:solidFill>
                    <a:schemeClr val="tx1">
                      <a:lumMod val="50000"/>
                    </a:schemeClr>
                  </a:solidFill>
                </a:rPr>
                <a:t>commented on Mar 15</a:t>
              </a:r>
              <a:endParaRPr sz="839" b="0" dirty="0">
                <a:solidFill>
                  <a:schemeClr val="tx1">
                    <a:lumMod val="50000"/>
                  </a:schemeClr>
                </a:solidFill>
              </a:endParaRPr>
            </a:p>
            <a:p>
              <a:pPr>
                <a:spcBef>
                  <a:spcPts val="0"/>
                </a:spcBef>
              </a:pPr>
              <a:endParaRPr sz="1956" dirty="0"/>
            </a:p>
          </p:txBody>
        </p:sp>
        <p:sp>
          <p:nvSpPr>
            <p:cNvPr id="63" name="Google Shape;216;p15">
              <a:extLst>
                <a:ext uri="{FF2B5EF4-FFF2-40B4-BE49-F238E27FC236}">
                  <a16:creationId xmlns:a16="http://schemas.microsoft.com/office/drawing/2014/main" id="{D9291349-5D94-BEB2-9C1E-41F0D93A94E6}"/>
                </a:ext>
              </a:extLst>
            </p:cNvPr>
            <p:cNvSpPr/>
            <p:nvPr/>
          </p:nvSpPr>
          <p:spPr>
            <a:xfrm>
              <a:off x="10139699" y="2949252"/>
              <a:ext cx="3024222" cy="227593"/>
            </a:xfrm>
            <a:prstGeom prst="rect">
              <a:avLst/>
            </a:prstGeom>
            <a:solidFill>
              <a:schemeClr val="lt1"/>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sp>
          <p:nvSpPr>
            <p:cNvPr id="448" name="TextBox 447">
              <a:extLst>
                <a:ext uri="{FF2B5EF4-FFF2-40B4-BE49-F238E27FC236}">
                  <a16:creationId xmlns:a16="http://schemas.microsoft.com/office/drawing/2014/main" id="{2B45C326-2C95-4678-9C31-4E271436364A}"/>
                </a:ext>
              </a:extLst>
            </p:cNvPr>
            <p:cNvSpPr txBox="1"/>
            <p:nvPr/>
          </p:nvSpPr>
          <p:spPr>
            <a:xfrm>
              <a:off x="10164572" y="2884290"/>
              <a:ext cx="40900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rPr>
                <a:t>…</a:t>
              </a:r>
            </a:p>
          </p:txBody>
        </p:sp>
      </p:grpSp>
      <p:sp>
        <p:nvSpPr>
          <p:cNvPr id="493" name="Line">
            <a:extLst>
              <a:ext uri="{FF2B5EF4-FFF2-40B4-BE49-F238E27FC236}">
                <a16:creationId xmlns:a16="http://schemas.microsoft.com/office/drawing/2014/main" id="{AC4BED9C-05C1-72D7-E5CB-4814631BFAAE}"/>
              </a:ext>
            </a:extLst>
          </p:cNvPr>
          <p:cNvSpPr/>
          <p:nvPr/>
        </p:nvSpPr>
        <p:spPr>
          <a:xfrm flipV="1">
            <a:off x="199162" y="5513320"/>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cxnSp>
        <p:nvCxnSpPr>
          <p:cNvPr id="495" name="Connector: Elbow 494">
            <a:extLst>
              <a:ext uri="{FF2B5EF4-FFF2-40B4-BE49-F238E27FC236}">
                <a16:creationId xmlns:a16="http://schemas.microsoft.com/office/drawing/2014/main" id="{80807F7B-BE94-1568-2D9A-7D892736C4CF}"/>
              </a:ext>
            </a:extLst>
          </p:cNvPr>
          <p:cNvCxnSpPr>
            <a:cxnSpLocks/>
            <a:stCxn id="18" idx="3"/>
          </p:cNvCxnSpPr>
          <p:nvPr/>
        </p:nvCxnSpPr>
        <p:spPr>
          <a:xfrm flipV="1">
            <a:off x="8351911" y="8665051"/>
            <a:ext cx="1889074" cy="159822"/>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498" name="Line">
            <a:extLst>
              <a:ext uri="{FF2B5EF4-FFF2-40B4-BE49-F238E27FC236}">
                <a16:creationId xmlns:a16="http://schemas.microsoft.com/office/drawing/2014/main" id="{F0DE81C5-71F8-EB0A-50C1-63BC2C5F30AE}"/>
              </a:ext>
            </a:extLst>
          </p:cNvPr>
          <p:cNvSpPr/>
          <p:nvPr/>
        </p:nvSpPr>
        <p:spPr>
          <a:xfrm flipV="1">
            <a:off x="170343" y="3682227"/>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99" name="Use headers, colors, and/or backgrounds to separate or group together sections.">
            <a:extLst>
              <a:ext uri="{FF2B5EF4-FFF2-40B4-BE49-F238E27FC236}">
                <a16:creationId xmlns:a16="http://schemas.microsoft.com/office/drawing/2014/main" id="{B6B9DDC9-A7E3-BED4-4B5F-2A82855E9568}"/>
              </a:ext>
            </a:extLst>
          </p:cNvPr>
          <p:cNvSpPr txBox="1"/>
          <p:nvPr/>
        </p:nvSpPr>
        <p:spPr>
          <a:xfrm>
            <a:off x="238315" y="3740841"/>
            <a:ext cx="4251862" cy="1439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rPr>
              <a:t>In order to create easily reproducible tests, Kaiaulu’s R function files contain Fake Data Generation functions. These functions can create fake data, which is utilized in </a:t>
            </a:r>
            <a:r>
              <a:rPr lang="en-US" b="0" dirty="0" err="1">
                <a:solidFill>
                  <a:srgbClr val="000000"/>
                </a:solidFill>
                <a:latin typeface="Source Sans Pro" panose="020B0503030403020204" pitchFamily="34" charset="0"/>
                <a:ea typeface="Source Sans Pro" panose="020B0503030403020204" pitchFamily="34" charset="0"/>
              </a:rPr>
              <a:t>Example.R</a:t>
            </a:r>
            <a:r>
              <a:rPr lang="en-US" b="0" dirty="0">
                <a:solidFill>
                  <a:srgbClr val="000000"/>
                </a:solidFill>
                <a:latin typeface="Source Sans Pro" panose="020B0503030403020204" pitchFamily="34" charset="0"/>
                <a:ea typeface="Source Sans Pro" panose="020B0503030403020204" pitchFamily="34" charset="0"/>
              </a:rPr>
              <a:t>. This file contains functions which use the fake data functions to easily reproduce raw data that creates odd behavior in Kaiaulu. This, in turn, allows the data to be called by the unit tests, and ensures that users will not have to deal with that same erroneous case ever again. </a:t>
            </a:r>
          </a:p>
        </p:txBody>
      </p:sp>
      <p:sp>
        <p:nvSpPr>
          <p:cNvPr id="502" name="TextBox 501">
            <a:extLst>
              <a:ext uri="{FF2B5EF4-FFF2-40B4-BE49-F238E27FC236}">
                <a16:creationId xmlns:a16="http://schemas.microsoft.com/office/drawing/2014/main" id="{89B4F6F4-06E6-686D-CFDE-F07BD18E92D2}"/>
              </a:ext>
            </a:extLst>
          </p:cNvPr>
          <p:cNvSpPr txBox="1"/>
          <p:nvPr/>
        </p:nvSpPr>
        <p:spPr>
          <a:xfrm>
            <a:off x="5369266" y="4685436"/>
            <a:ext cx="62615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2000" dirty="0"/>
              <a:t>R/**</a:t>
            </a:r>
          </a:p>
        </p:txBody>
      </p:sp>
      <p:sp>
        <p:nvSpPr>
          <p:cNvPr id="504" name="Create a visual hierarchy. Help users navigate the page with titles, subtitles, and subsubtitles">
            <a:extLst>
              <a:ext uri="{FF2B5EF4-FFF2-40B4-BE49-F238E27FC236}">
                <a16:creationId xmlns:a16="http://schemas.microsoft.com/office/drawing/2014/main" id="{B9F75370-6830-35FC-04B3-667E6CB7D6FA}"/>
              </a:ext>
            </a:extLst>
          </p:cNvPr>
          <p:cNvSpPr txBox="1"/>
          <p:nvPr/>
        </p:nvSpPr>
        <p:spPr>
          <a:xfrm>
            <a:off x="9393237" y="1898790"/>
            <a:ext cx="4001355" cy="1606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marL="171450" indent="-171450">
              <a:lnSpc>
                <a:spcPct val="90000"/>
              </a:lnSpc>
              <a:spcBef>
                <a:spcPts val="300"/>
              </a:spcBef>
              <a:buClr>
                <a:schemeClr val="bg2">
                  <a:lumMod val="10000"/>
                </a:schemeClr>
              </a:buClr>
              <a:buFont typeface="Arial" panose="020B0604020202020204" pitchFamily="34" charset="0"/>
              <a:buChar cha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All unit tests in Kaiaulu are ran for every commit in a Pull Request by using GitHub Actions. GitHub Actions creates a simulated test environment by downloading all required third party tools and running all the tests in the testthat folder. If any test were to fail, GitHub Actions will state which one it was as well as its error output, and the Pull Request would be unable to be merged to the master branch. This ensures that no error-causing code can be merged to the master branch, causing future issues. </a:t>
            </a:r>
            <a:endParaRPr lang="en-US" dirty="0">
              <a:latin typeface="Source Sans Pro" panose="020B0503030403020204" pitchFamily="34" charset="0"/>
              <a:ea typeface="Source Sans Pro" panose="020B0503030403020204" pitchFamily="34" charset="0"/>
              <a:sym typeface="Source Sans Pro"/>
            </a:endParaRPr>
          </a:p>
        </p:txBody>
      </p:sp>
    </p:spTree>
    <p:extLst>
      <p:ext uri="{BB962C8B-B14F-4D97-AF65-F5344CB8AC3E}">
        <p14:creationId xmlns:p14="http://schemas.microsoft.com/office/powerpoint/2010/main" val="4968406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950B8-5B9D-18C9-6B2A-B6DB7F8DA929}"/>
            </a:ext>
          </a:extLst>
        </p:cNvPr>
        <p:cNvGrpSpPr/>
        <p:nvPr/>
      </p:nvGrpSpPr>
      <p:grpSpPr>
        <a:xfrm>
          <a:off x="0" y="0"/>
          <a:ext cx="0" cy="0"/>
          <a:chOff x="0" y="0"/>
          <a:chExt cx="0" cy="0"/>
        </a:xfrm>
      </p:grpSpPr>
      <p:grpSp>
        <p:nvGrpSpPr>
          <p:cNvPr id="536" name="Group 535">
            <a:extLst>
              <a:ext uri="{FF2B5EF4-FFF2-40B4-BE49-F238E27FC236}">
                <a16:creationId xmlns:a16="http://schemas.microsoft.com/office/drawing/2014/main" id="{A76A2872-137A-AF71-31F2-2C01BBBBFA0A}"/>
              </a:ext>
            </a:extLst>
          </p:cNvPr>
          <p:cNvGrpSpPr/>
          <p:nvPr/>
        </p:nvGrpSpPr>
        <p:grpSpPr>
          <a:xfrm>
            <a:off x="10886795" y="2947031"/>
            <a:ext cx="526129" cy="369657"/>
            <a:chOff x="11008619" y="1823977"/>
            <a:chExt cx="526129" cy="369657"/>
          </a:xfrm>
        </p:grpSpPr>
        <p:sp>
          <p:nvSpPr>
            <p:cNvPr id="537" name="Google Shape;236;p15">
              <a:extLst>
                <a:ext uri="{FF2B5EF4-FFF2-40B4-BE49-F238E27FC236}">
                  <a16:creationId xmlns:a16="http://schemas.microsoft.com/office/drawing/2014/main" id="{49638833-E020-2920-A5C2-C6CEA6240101}"/>
                </a:ext>
              </a:extLst>
            </p:cNvPr>
            <p:cNvSpPr/>
            <p:nvPr/>
          </p:nvSpPr>
          <p:spPr>
            <a:xfrm>
              <a:off x="11088127" y="1905940"/>
              <a:ext cx="310026" cy="287694"/>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538" name="Google Shape;237;p15">
              <a:extLst>
                <a:ext uri="{FF2B5EF4-FFF2-40B4-BE49-F238E27FC236}">
                  <a16:creationId xmlns:a16="http://schemas.microsoft.com/office/drawing/2014/main" id="{CD823832-B964-F48F-D859-6619E62D0FAA}"/>
                </a:ext>
              </a:extLst>
            </p:cNvPr>
            <p:cNvSpPr txBox="1"/>
            <p:nvPr/>
          </p:nvSpPr>
          <p:spPr>
            <a:xfrm>
              <a:off x="11008619" y="1823977"/>
              <a:ext cx="526129" cy="263210"/>
            </a:xfrm>
            <a:prstGeom prst="rect">
              <a:avLst/>
            </a:prstGeom>
            <a:noFill/>
            <a:ln>
              <a:noFill/>
            </a:ln>
          </p:spPr>
          <p:txBody>
            <a:bodyPr spcFirstLastPara="1" wrap="square" lIns="127722" tIns="127722" rIns="127722" bIns="127722" anchor="t" anchorCtr="0">
              <a:noAutofit/>
            </a:bodyPr>
            <a:lstStyle/>
            <a:p>
              <a:pPr>
                <a:spcBef>
                  <a:spcPts val="0"/>
                </a:spcBef>
              </a:pPr>
              <a:r>
                <a:rPr lang="en" sz="1400" dirty="0">
                  <a:solidFill>
                    <a:schemeClr val="lt1"/>
                  </a:solidFill>
                </a:rPr>
                <a:t>PR</a:t>
              </a:r>
              <a:endParaRPr sz="1400" dirty="0">
                <a:solidFill>
                  <a:schemeClr val="lt1"/>
                </a:solidFill>
              </a:endParaRPr>
            </a:p>
          </p:txBody>
        </p:sp>
      </p:grpSp>
      <p:pic>
        <p:nvPicPr>
          <p:cNvPr id="292" name="Image" descr="Image">
            <a:extLst>
              <a:ext uri="{FF2B5EF4-FFF2-40B4-BE49-F238E27FC236}">
                <a16:creationId xmlns:a16="http://schemas.microsoft.com/office/drawing/2014/main" id="{AF49F36E-74C0-DBCD-FC8C-321885128989}"/>
              </a:ext>
            </a:extLst>
          </p:cNvPr>
          <p:cNvPicPr>
            <a:picLocks noChangeAspect="1"/>
          </p:cNvPicPr>
          <p:nvPr/>
        </p:nvPicPr>
        <p:blipFill>
          <a:blip r:embed="rId3"/>
          <a:stretch>
            <a:fillRect/>
          </a:stretch>
        </p:blipFill>
        <p:spPr>
          <a:xfrm>
            <a:off x="8382051" y="-676677"/>
            <a:ext cx="5598432" cy="2990088"/>
          </a:xfrm>
          <a:prstGeom prst="rect">
            <a:avLst/>
          </a:prstGeom>
          <a:ln w="12700">
            <a:miter lim="400000"/>
          </a:ln>
        </p:spPr>
      </p:pic>
      <p:sp>
        <p:nvSpPr>
          <p:cNvPr id="312" name="Line">
            <a:extLst>
              <a:ext uri="{FF2B5EF4-FFF2-40B4-BE49-F238E27FC236}">
                <a16:creationId xmlns:a16="http://schemas.microsoft.com/office/drawing/2014/main" id="{1C15C5BD-F248-2215-1E1B-8B9A2B20C072}"/>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0E3E7664-81AD-429F-DE38-78EC7D85B994}"/>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26" name="Manipulate Variables">
            <a:extLst>
              <a:ext uri="{FF2B5EF4-FFF2-40B4-BE49-F238E27FC236}">
                <a16:creationId xmlns:a16="http://schemas.microsoft.com/office/drawing/2014/main" id="{71086C61-9875-BEE2-01F5-1462A021C663}"/>
              </a:ext>
            </a:extLst>
          </p:cNvPr>
          <p:cNvSpPr txBox="1"/>
          <p:nvPr/>
        </p:nvSpPr>
        <p:spPr>
          <a:xfrm>
            <a:off x="4764287" y="1447511"/>
            <a:ext cx="3290966"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Try Catch + Code Quality</a:t>
            </a:r>
          </a:p>
        </p:txBody>
      </p:sp>
      <p:sp>
        <p:nvSpPr>
          <p:cNvPr id="334" name="Three Column Layout: : CHEAT SHEET">
            <a:extLst>
              <a:ext uri="{FF2B5EF4-FFF2-40B4-BE49-F238E27FC236}">
                <a16:creationId xmlns:a16="http://schemas.microsoft.com/office/drawing/2014/main" id="{21243420-0A38-0296-6436-546115D9B4DF}"/>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Unit Tests </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41" name="Use headers, colors, and/or backgrounds to separate or group together sections.">
            <a:extLst>
              <a:ext uri="{FF2B5EF4-FFF2-40B4-BE49-F238E27FC236}">
                <a16:creationId xmlns:a16="http://schemas.microsoft.com/office/drawing/2014/main" id="{8D91DB53-EEFE-23C1-7D6F-65B0CE7DB7EF}"/>
              </a:ext>
            </a:extLst>
          </p:cNvPr>
          <p:cNvSpPr txBox="1"/>
          <p:nvPr/>
        </p:nvSpPr>
        <p:spPr>
          <a:xfrm>
            <a:off x="275721" y="1869898"/>
            <a:ext cx="3949153" cy="228464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Kaiaulu has multiple measures in place to ensure that its codebase remains stable. These include</a:t>
            </a:r>
          </a:p>
          <a:p>
            <a:pPr marL="171450" indent="-171450">
              <a:lnSpc>
                <a:spcPct val="90000"/>
              </a:lnSpc>
              <a:spcBef>
                <a:spcPts val="300"/>
              </a:spcBef>
              <a:buFont typeface="Arial" panose="020B0604020202020204" pitchFamily="34" charset="0"/>
              <a:buChar cha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Unit Tests</a:t>
            </a:r>
          </a:p>
          <a:p>
            <a:pPr marL="171450" indent="-171450">
              <a:lnSpc>
                <a:spcPct val="90000"/>
              </a:lnSpc>
              <a:spcBef>
                <a:spcPts val="300"/>
              </a:spcBef>
              <a:buFont typeface="Arial" panose="020B0604020202020204" pitchFamily="34" charset="0"/>
              <a:buChar cha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Codecov</a:t>
            </a:r>
          </a:p>
          <a:p>
            <a:pPr marL="171450" indent="-171450">
              <a:lnSpc>
                <a:spcPct val="90000"/>
              </a:lnSpc>
              <a:spcBef>
                <a:spcPts val="300"/>
              </a:spcBef>
              <a:buFont typeface="Arial" panose="020B0604020202020204" pitchFamily="34" charset="0"/>
              <a:buChar cha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GitHub Actions</a:t>
            </a:r>
          </a:p>
          <a:p>
            <a:pPr marL="171450" indent="-171450">
              <a:lnSpc>
                <a:spcPct val="90000"/>
              </a:lnSpc>
              <a:spcBef>
                <a:spcPts val="300"/>
              </a:spcBef>
              <a:buFont typeface="Arial" panose="020B0604020202020204" pitchFamily="34" charset="0"/>
              <a:buChar cha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Example Functions</a:t>
            </a:r>
          </a:p>
          <a:p>
            <a:pPr marL="171450" indent="-171450">
              <a:lnSpc>
                <a:spcPct val="90000"/>
              </a:lnSpc>
              <a:spcBef>
                <a:spcPts val="300"/>
              </a:spcBef>
              <a:buFont typeface="Arial" panose="020B0604020202020204" pitchFamily="34" charset="0"/>
              <a:buChar cha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Internal Try Catch Statements</a:t>
            </a:r>
          </a:p>
          <a:p>
            <a:pPr marL="171450" indent="-171450">
              <a:lnSpc>
                <a:spcPct val="90000"/>
              </a:lnSpc>
              <a:spcBef>
                <a:spcPts val="300"/>
              </a:spcBef>
              <a:buClr>
                <a:schemeClr val="accent4">
                  <a:hueOff val="384618"/>
                  <a:satOff val="3869"/>
                  <a:lumOff val="5802"/>
                </a:schemeClr>
              </a:buClr>
              <a:buFont typeface="Arial" panose="020B0604020202020204" pitchFamily="34" charset="0"/>
              <a:buChar char="•"/>
              <a:defRPr b="0">
                <a:solidFill>
                  <a:srgbClr val="000000"/>
                </a:solidFill>
                <a:latin typeface="+mn-lt"/>
                <a:ea typeface="+mn-ea"/>
                <a:cs typeface="+mn-cs"/>
                <a:sym typeface="Source Sans Pro Light"/>
              </a:defRPr>
            </a:pPr>
            <a:endParaRPr lang="en-US" b="0" dirty="0">
              <a:solidFill>
                <a:srgbClr val="000000"/>
              </a:solidFill>
              <a:latin typeface="Source Sans Pro" panose="020B0503030403020204" pitchFamily="34" charset="0"/>
              <a:ea typeface="Source Sans Pro" panose="020B0503030403020204" pitchFamily="34" charset="0"/>
            </a:endParaRPr>
          </a:p>
          <a:p>
            <a:pPr>
              <a:lnSpc>
                <a:spcPct val="90000"/>
              </a:lnSpc>
              <a:spcBef>
                <a:spcPts val="300"/>
              </a:spcBef>
              <a:buClr>
                <a:schemeClr val="tx1">
                  <a:lumMod val="50000"/>
                </a:schemeClr>
              </a:buClr>
              <a:defRPr b="0">
                <a:solidFill>
                  <a:srgbClr val="000000"/>
                </a:solidFill>
                <a:latin typeface="+mn-lt"/>
                <a:ea typeface="+mn-ea"/>
                <a:cs typeface="+mn-cs"/>
                <a:sym typeface="Source Sans Pro Light"/>
              </a:defRPr>
            </a:pPr>
            <a:endParaRPr lang="en-US" b="0" i="0" u="none" strike="noStrike" dirty="0">
              <a:solidFill>
                <a:schemeClr val="tx1">
                  <a:lumMod val="50000"/>
                </a:schemeClr>
              </a:solidFill>
              <a:effectLst/>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dirty="0">
              <a:solidFill>
                <a:srgbClr val="000000"/>
              </a:solidFill>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i="0" u="none" strike="noStrike" dirty="0">
              <a:solidFill>
                <a:srgbClr val="000000"/>
              </a:solidFill>
              <a:effectLst/>
              <a:latin typeface="Source Sans Pro" panose="020B0503030403020204" pitchFamily="34" charset="0"/>
              <a:ea typeface="Source Sans Pro" panose="020B0503030403020204" pitchFamily="34" charset="0"/>
            </a:endParaRPr>
          </a:p>
        </p:txBody>
      </p:sp>
      <p:sp>
        <p:nvSpPr>
          <p:cNvPr id="342" name="Create a visual hierarchy. Help users navigate the page with titles, subtitles, and subsubtitles">
            <a:extLst>
              <a:ext uri="{FF2B5EF4-FFF2-40B4-BE49-F238E27FC236}">
                <a16:creationId xmlns:a16="http://schemas.microsoft.com/office/drawing/2014/main" id="{E0367F00-FF52-5E0D-051E-C2EEBEEC45FE}"/>
              </a:ext>
            </a:extLst>
          </p:cNvPr>
          <p:cNvSpPr txBox="1"/>
          <p:nvPr/>
        </p:nvSpPr>
        <p:spPr>
          <a:xfrm>
            <a:off x="9622588" y="1316402"/>
            <a:ext cx="1028394"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Pull Request</a:t>
            </a:r>
          </a:p>
        </p:txBody>
      </p:sp>
      <p:sp>
        <p:nvSpPr>
          <p:cNvPr id="382" name="Logistics">
            <a:extLst>
              <a:ext uri="{FF2B5EF4-FFF2-40B4-BE49-F238E27FC236}">
                <a16:creationId xmlns:a16="http://schemas.microsoft.com/office/drawing/2014/main" id="{2BA00A7F-64BC-A1B9-EE51-8F5422D79D1C}"/>
              </a:ext>
            </a:extLst>
          </p:cNvPr>
          <p:cNvSpPr txBox="1"/>
          <p:nvPr/>
        </p:nvSpPr>
        <p:spPr>
          <a:xfrm>
            <a:off x="249457" y="5620358"/>
            <a:ext cx="1336904"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Unit Tests</a:t>
            </a:r>
          </a:p>
        </p:txBody>
      </p:sp>
      <p:sp>
        <p:nvSpPr>
          <p:cNvPr id="384" name="Layout Suggestions">
            <a:extLst>
              <a:ext uri="{FF2B5EF4-FFF2-40B4-BE49-F238E27FC236}">
                <a16:creationId xmlns:a16="http://schemas.microsoft.com/office/drawing/2014/main" id="{F0BA76F5-B4D9-3C7E-1A50-2CB73EF1F135}"/>
              </a:ext>
            </a:extLst>
          </p:cNvPr>
          <p:cNvSpPr txBox="1"/>
          <p:nvPr/>
        </p:nvSpPr>
        <p:spPr>
          <a:xfrm>
            <a:off x="275721" y="1453227"/>
            <a:ext cx="26212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7C821991-07E5-2725-5E96-D5A12D0CD1C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917916E2-38E0-2638-B9C4-AC531313514A}"/>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5">
                  <a:extLst>
                    <a:ext uri="{A12FA001-AC4F-418D-AE19-62706E023703}">
                      <ahyp:hlinkClr xmlns:ahyp="http://schemas.microsoft.com/office/drawing/2018/hyperlinkcolor" val="tx"/>
                    </a:ext>
                  </a:extLst>
                </a:hlinkClick>
              </a:rPr>
              <a:t>CC BY SA</a:t>
            </a:r>
            <a:r>
              <a:rPr lang="en-US" sz="1000" b="0" dirty="0">
                <a:solidFill>
                  <a:schemeClr val="tx1"/>
                </a:solidFill>
              </a:rPr>
              <a:t> Ian Jaymes Iwata, Anthony Lau, Sean Sunoo</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2024-04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01" name="TextBox 500">
            <a:extLst>
              <a:ext uri="{FF2B5EF4-FFF2-40B4-BE49-F238E27FC236}">
                <a16:creationId xmlns:a16="http://schemas.microsoft.com/office/drawing/2014/main" id="{E6154BFD-4363-F11D-4192-3C39739780C1}"/>
              </a:ext>
            </a:extLst>
          </p:cNvPr>
          <p:cNvSpPr txBox="1"/>
          <p:nvPr/>
        </p:nvSpPr>
        <p:spPr>
          <a:xfrm>
            <a:off x="220737" y="5973827"/>
            <a:ext cx="4184378" cy="348035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tx1">
                    <a:lumMod val="50000"/>
                  </a:schemeClr>
                </a:solidFill>
              </a:rPr>
              <a:t>Kaiaulu’s native R code takes the form of three types of functions:</a:t>
            </a:r>
          </a:p>
          <a:p>
            <a:pPr marL="171450" indent="-171450">
              <a:buFont typeface="Arial" panose="020B0604020202020204" pitchFamily="34" charset="0"/>
              <a:buChar char="•"/>
            </a:pPr>
            <a:r>
              <a:rPr lang="en-US" b="0" dirty="0">
                <a:solidFill>
                  <a:schemeClr val="tx1">
                    <a:lumMod val="50000"/>
                  </a:schemeClr>
                </a:solidFill>
                <a:latin typeface="Source Sans Pro" panose="020B0503030403020204" pitchFamily="34" charset="0"/>
                <a:ea typeface="Source Sans Pro" panose="020B0503030403020204" pitchFamily="34" charset="0"/>
              </a:rPr>
              <a:t>Downloaders download raw data from a website</a:t>
            </a:r>
          </a:p>
          <a:p>
            <a:pPr marL="171450" lvl="7" indent="-171450">
              <a:buFont typeface="Arial" panose="020B0604020202020204" pitchFamily="34" charset="0"/>
              <a:buChar char="•"/>
            </a:pPr>
            <a:r>
              <a:rPr lang="en-US" b="0" dirty="0">
                <a:solidFill>
                  <a:schemeClr val="tx1">
                    <a:lumMod val="50000"/>
                  </a:schemeClr>
                </a:solidFill>
                <a:latin typeface="Source Sans Pro" panose="020B0503030403020204" pitchFamily="34" charset="0"/>
                <a:ea typeface="Source Sans Pro" panose="020B0503030403020204" pitchFamily="34" charset="0"/>
              </a:rPr>
              <a:t>Parsers change the downloaded data into parsed R tables</a:t>
            </a:r>
          </a:p>
          <a:p>
            <a:pPr marL="171450" lvl="2" indent="-171450">
              <a:buFont typeface="Arial" panose="020B0604020202020204" pitchFamily="34" charset="0"/>
              <a:buChar char="•"/>
            </a:pPr>
            <a:r>
              <a:rPr lang="en-US" b="0" dirty="0">
                <a:solidFill>
                  <a:schemeClr val="tx1">
                    <a:lumMod val="50000"/>
                  </a:schemeClr>
                </a:solidFill>
                <a:latin typeface="Source Sans Pro" panose="020B0503030403020204" pitchFamily="34" charset="0"/>
                <a:ea typeface="Source Sans Pro" panose="020B0503030403020204" pitchFamily="34" charset="0"/>
              </a:rPr>
              <a:t>Transforms change the parsed data into parsed node and edge lists, and then present the data in the form of a graph specified by the user</a:t>
            </a:r>
          </a:p>
          <a:p>
            <a:pPr lvl="2" indent="0"/>
            <a:r>
              <a:rPr lang="en-US" b="0" dirty="0">
                <a:solidFill>
                  <a:schemeClr val="tx1">
                    <a:lumMod val="50000"/>
                  </a:schemeClr>
                </a:solidFill>
                <a:latin typeface="Source Sans Pro" panose="020B0503030403020204" pitchFamily="34" charset="0"/>
                <a:ea typeface="Source Sans Pro" panose="020B0503030403020204" pitchFamily="34" charset="0"/>
              </a:rPr>
              <a:t>Each of these functions need to be tested for in different ways:</a:t>
            </a:r>
          </a:p>
          <a:p>
            <a:pPr marL="171450" lvl="2" indent="-171450">
              <a:buFont typeface="Arial" panose="020B0604020202020204" pitchFamily="34" charset="0"/>
              <a:buChar char="•"/>
            </a:pPr>
            <a:r>
              <a:rPr lang="en-US" b="0" dirty="0">
                <a:solidFill>
                  <a:schemeClr val="tx1">
                    <a:lumMod val="50000"/>
                  </a:schemeClr>
                </a:solidFill>
                <a:latin typeface="Source Sans Pro" panose="020B0503030403020204" pitchFamily="34" charset="0"/>
                <a:ea typeface="Source Sans Pro" panose="020B0503030403020204" pitchFamily="34" charset="0"/>
              </a:rPr>
              <a:t>Downloaders require a fake URL to be generated in order to be tested for</a:t>
            </a:r>
          </a:p>
          <a:p>
            <a:pPr marL="171450" lvl="2" indent="-171450">
              <a:buFont typeface="Arial" panose="020B0604020202020204" pitchFamily="34" charset="0"/>
              <a:buChar char="•"/>
            </a:pPr>
            <a:r>
              <a:rPr lang="en-US" b="0" dirty="0">
                <a:solidFill>
                  <a:schemeClr val="tx1">
                    <a:lumMod val="50000"/>
                  </a:schemeClr>
                </a:solidFill>
                <a:latin typeface="Source Sans Pro" panose="020B0503030403020204" pitchFamily="34" charset="0"/>
                <a:ea typeface="Source Sans Pro" panose="020B0503030403020204" pitchFamily="34" charset="0"/>
              </a:rPr>
              <a:t>Parsers require fake data, and are prone to receiving odd raw data from users, so they need to be thoroughly tested for in order to ensure their stability</a:t>
            </a:r>
          </a:p>
          <a:p>
            <a:pPr marL="171450" lvl="2" indent="-171450">
              <a:buFont typeface="Arial" panose="020B0604020202020204" pitchFamily="34" charset="0"/>
              <a:buChar char="•"/>
            </a:pPr>
            <a:r>
              <a:rPr lang="en-US" b="0" dirty="0">
                <a:solidFill>
                  <a:schemeClr val="tx1">
                    <a:lumMod val="50000"/>
                  </a:schemeClr>
                </a:solidFill>
                <a:latin typeface="Source Sans Pro" panose="020B0503030403020204" pitchFamily="34" charset="0"/>
                <a:ea typeface="Source Sans Pro" panose="020B0503030403020204" pitchFamily="34" charset="0"/>
              </a:rPr>
              <a:t>Transforms also require fake data, but the relationships between the nodes and edge tables should be tested for the most</a:t>
            </a:r>
          </a:p>
          <a:p>
            <a:pPr marL="171450" marR="0" indent="-171450" algn="l" defTabSz="584200" rtl="0" fontAlgn="auto" latinLnBrk="0" hangingPunct="0">
              <a:lnSpc>
                <a:spcPct val="100000"/>
              </a:lnSpc>
              <a:spcBef>
                <a:spcPts val="200"/>
              </a:spcBef>
              <a:spcAft>
                <a:spcPts val="0"/>
              </a:spcAft>
              <a:buClrTx/>
              <a:buSzTx/>
              <a:buFont typeface="Arial" panose="020B0604020202020204" pitchFamily="34" charset="0"/>
              <a:buChar char="•"/>
              <a:tabLst/>
            </a:pPr>
            <a:endParaRPr lang="en-US" b="0" dirty="0">
              <a:solidFill>
                <a:schemeClr val="tx1"/>
              </a:solidFill>
              <a:effectLst/>
              <a:latin typeface="Source Sans Pro" panose="020B0503030403020204" pitchFamily="34" charset="0"/>
              <a:ea typeface="Source Sans Pro" panose="020B0503030403020204" pitchFamily="34" charset="0"/>
            </a:endParaRPr>
          </a:p>
        </p:txBody>
      </p:sp>
      <p:sp>
        <p:nvSpPr>
          <p:cNvPr id="370" name="Basics">
            <a:extLst>
              <a:ext uri="{FF2B5EF4-FFF2-40B4-BE49-F238E27FC236}">
                <a16:creationId xmlns:a16="http://schemas.microsoft.com/office/drawing/2014/main" id="{B5050BE1-E43B-C441-E1C3-6B40BBEF7D91}"/>
              </a:ext>
            </a:extLst>
          </p:cNvPr>
          <p:cNvSpPr txBox="1"/>
          <p:nvPr/>
        </p:nvSpPr>
        <p:spPr>
          <a:xfrm>
            <a:off x="280327" y="3592826"/>
            <a:ext cx="276663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Fake Data Examples</a:t>
            </a:r>
            <a:endParaRPr dirty="0"/>
          </a:p>
        </p:txBody>
      </p:sp>
      <p:sp>
        <p:nvSpPr>
          <p:cNvPr id="371" name="Line">
            <a:extLst>
              <a:ext uri="{FF2B5EF4-FFF2-40B4-BE49-F238E27FC236}">
                <a16:creationId xmlns:a16="http://schemas.microsoft.com/office/drawing/2014/main" id="{C4FC2346-9A2F-ED0B-D92E-CE4C9E829F83}"/>
              </a:ext>
            </a:extLst>
          </p:cNvPr>
          <p:cNvSpPr/>
          <p:nvPr/>
        </p:nvSpPr>
        <p:spPr>
          <a:xfrm flipV="1">
            <a:off x="148894" y="1800587"/>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75" name="Line">
            <a:extLst>
              <a:ext uri="{FF2B5EF4-FFF2-40B4-BE49-F238E27FC236}">
                <a16:creationId xmlns:a16="http://schemas.microsoft.com/office/drawing/2014/main" id="{EA09B55A-DBA6-9172-F369-24EEA3EC1534}"/>
              </a:ext>
            </a:extLst>
          </p:cNvPr>
          <p:cNvSpPr/>
          <p:nvPr/>
        </p:nvSpPr>
        <p:spPr>
          <a:xfrm flipV="1">
            <a:off x="4729312" y="1816647"/>
            <a:ext cx="4318858"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pic>
        <p:nvPicPr>
          <p:cNvPr id="3" name="Graphic 2" descr="Paper outline">
            <a:extLst>
              <a:ext uri="{FF2B5EF4-FFF2-40B4-BE49-F238E27FC236}">
                <a16:creationId xmlns:a16="http://schemas.microsoft.com/office/drawing/2014/main" id="{E3465B71-9254-FD9A-533F-D9CA07E70B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60000" y="8242768"/>
            <a:ext cx="1118249" cy="1118249"/>
          </a:xfrm>
          <a:prstGeom prst="rect">
            <a:avLst/>
          </a:prstGeom>
        </p:spPr>
      </p:pic>
      <p:pic>
        <p:nvPicPr>
          <p:cNvPr id="5" name="Graphic 4" descr="Paper outline">
            <a:extLst>
              <a:ext uri="{FF2B5EF4-FFF2-40B4-BE49-F238E27FC236}">
                <a16:creationId xmlns:a16="http://schemas.microsoft.com/office/drawing/2014/main" id="{7C75D6B8-A04D-FD43-65DD-17C2CD837E7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95421" y="6460679"/>
            <a:ext cx="1731153" cy="1731153"/>
          </a:xfrm>
          <a:prstGeom prst="rect">
            <a:avLst/>
          </a:prstGeom>
        </p:spPr>
      </p:pic>
      <p:sp>
        <p:nvSpPr>
          <p:cNvPr id="6" name="TextBox 5">
            <a:extLst>
              <a:ext uri="{FF2B5EF4-FFF2-40B4-BE49-F238E27FC236}">
                <a16:creationId xmlns:a16="http://schemas.microsoft.com/office/drawing/2014/main" id="{75FA94B6-793C-F4A3-2CB8-7A645021BED6}"/>
              </a:ext>
            </a:extLst>
          </p:cNvPr>
          <p:cNvSpPr txBox="1"/>
          <p:nvPr/>
        </p:nvSpPr>
        <p:spPr>
          <a:xfrm>
            <a:off x="6315593" y="6547186"/>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Downloaders</a:t>
            </a:r>
            <a:endParaRPr lang="en-US" sz="800" b="0" dirty="0"/>
          </a:p>
        </p:txBody>
      </p:sp>
      <p:sp>
        <p:nvSpPr>
          <p:cNvPr id="7" name="TextBox 6">
            <a:extLst>
              <a:ext uri="{FF2B5EF4-FFF2-40B4-BE49-F238E27FC236}">
                <a16:creationId xmlns:a16="http://schemas.microsoft.com/office/drawing/2014/main" id="{2D9F00CD-1659-9284-A4EE-416DC133916B}"/>
              </a:ext>
            </a:extLst>
          </p:cNvPr>
          <p:cNvSpPr txBox="1"/>
          <p:nvPr/>
        </p:nvSpPr>
        <p:spPr>
          <a:xfrm>
            <a:off x="6319494" y="6646637"/>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9" name="TextBox 8">
            <a:extLst>
              <a:ext uri="{FF2B5EF4-FFF2-40B4-BE49-F238E27FC236}">
                <a16:creationId xmlns:a16="http://schemas.microsoft.com/office/drawing/2014/main" id="{01E69608-7E1A-2FCA-4C61-E1FC5D6C34A6}"/>
              </a:ext>
            </a:extLst>
          </p:cNvPr>
          <p:cNvSpPr txBox="1"/>
          <p:nvPr/>
        </p:nvSpPr>
        <p:spPr>
          <a:xfrm>
            <a:off x="6320076" y="7061567"/>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10" name="TextBox 9">
            <a:extLst>
              <a:ext uri="{FF2B5EF4-FFF2-40B4-BE49-F238E27FC236}">
                <a16:creationId xmlns:a16="http://schemas.microsoft.com/office/drawing/2014/main" id="{F1268186-430E-C00F-864F-FEB8B0A876BB}"/>
              </a:ext>
            </a:extLst>
          </p:cNvPr>
          <p:cNvSpPr txBox="1"/>
          <p:nvPr/>
        </p:nvSpPr>
        <p:spPr>
          <a:xfrm>
            <a:off x="6315593" y="6955472"/>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Parsers</a:t>
            </a:r>
            <a:endParaRPr lang="en-US" sz="800" b="0" dirty="0"/>
          </a:p>
        </p:txBody>
      </p:sp>
      <p:sp>
        <p:nvSpPr>
          <p:cNvPr id="12" name="TextBox 11">
            <a:extLst>
              <a:ext uri="{FF2B5EF4-FFF2-40B4-BE49-F238E27FC236}">
                <a16:creationId xmlns:a16="http://schemas.microsoft.com/office/drawing/2014/main" id="{0D9A05E0-3D82-4749-664B-4E52E0E48B4D}"/>
              </a:ext>
            </a:extLst>
          </p:cNvPr>
          <p:cNvSpPr txBox="1"/>
          <p:nvPr/>
        </p:nvSpPr>
        <p:spPr>
          <a:xfrm>
            <a:off x="6325058" y="7470499"/>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13" name="TextBox 12">
            <a:extLst>
              <a:ext uri="{FF2B5EF4-FFF2-40B4-BE49-F238E27FC236}">
                <a16:creationId xmlns:a16="http://schemas.microsoft.com/office/drawing/2014/main" id="{1BEF2871-6F27-A214-98DD-2FB689037C62}"/>
              </a:ext>
            </a:extLst>
          </p:cNvPr>
          <p:cNvSpPr txBox="1"/>
          <p:nvPr/>
        </p:nvSpPr>
        <p:spPr>
          <a:xfrm>
            <a:off x="6319494" y="7366203"/>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Transforms</a:t>
            </a:r>
            <a:endParaRPr lang="en-US" sz="800" b="0" dirty="0"/>
          </a:p>
        </p:txBody>
      </p:sp>
      <p:pic>
        <p:nvPicPr>
          <p:cNvPr id="15" name="Graphic 14" descr="Paper outline">
            <a:extLst>
              <a:ext uri="{FF2B5EF4-FFF2-40B4-BE49-F238E27FC236}">
                <a16:creationId xmlns:a16="http://schemas.microsoft.com/office/drawing/2014/main" id="{9DF73DE0-CE8F-D169-144B-0B5A233907E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54573" y="8305274"/>
            <a:ext cx="1118249" cy="1118249"/>
          </a:xfrm>
          <a:prstGeom prst="rect">
            <a:avLst/>
          </a:prstGeom>
        </p:spPr>
      </p:pic>
      <p:sp>
        <p:nvSpPr>
          <p:cNvPr id="16" name="Google Shape;312;p17">
            <a:extLst>
              <a:ext uri="{FF2B5EF4-FFF2-40B4-BE49-F238E27FC236}">
                <a16:creationId xmlns:a16="http://schemas.microsoft.com/office/drawing/2014/main" id="{1E30CC1B-20F6-CB43-8E74-2D29A949CFE8}"/>
              </a:ext>
            </a:extLst>
          </p:cNvPr>
          <p:cNvSpPr txBox="1"/>
          <p:nvPr/>
        </p:nvSpPr>
        <p:spPr>
          <a:xfrm>
            <a:off x="4618483" y="9091827"/>
            <a:ext cx="2240541"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2400" b="0" dirty="0"/>
              <a:t>Example.R</a:t>
            </a:r>
            <a:endParaRPr sz="2400" b="0" dirty="0"/>
          </a:p>
        </p:txBody>
      </p:sp>
      <p:sp>
        <p:nvSpPr>
          <p:cNvPr id="17" name="Google Shape;318;p17">
            <a:extLst>
              <a:ext uri="{FF2B5EF4-FFF2-40B4-BE49-F238E27FC236}">
                <a16:creationId xmlns:a16="http://schemas.microsoft.com/office/drawing/2014/main" id="{009D74C9-D523-3DA2-D6D3-25856EFEBA8A}"/>
              </a:ext>
            </a:extLst>
          </p:cNvPr>
          <p:cNvSpPr txBox="1"/>
          <p:nvPr/>
        </p:nvSpPr>
        <p:spPr>
          <a:xfrm>
            <a:off x="7196065" y="9133404"/>
            <a:ext cx="1635264"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US" sz="2000" b="0" dirty="0"/>
              <a:t>Tests/**</a:t>
            </a:r>
            <a:endParaRPr sz="2000" b="0" dirty="0"/>
          </a:p>
        </p:txBody>
      </p:sp>
      <p:sp>
        <p:nvSpPr>
          <p:cNvPr id="18" name="TextBox 17">
            <a:extLst>
              <a:ext uri="{FF2B5EF4-FFF2-40B4-BE49-F238E27FC236}">
                <a16:creationId xmlns:a16="http://schemas.microsoft.com/office/drawing/2014/main" id="{EE4A839C-686B-7D92-3E33-606C3C48FFBB}"/>
              </a:ext>
            </a:extLst>
          </p:cNvPr>
          <p:cNvSpPr txBox="1"/>
          <p:nvPr/>
        </p:nvSpPr>
        <p:spPr>
          <a:xfrm>
            <a:off x="7675483" y="8680002"/>
            <a:ext cx="676428"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1000" b="0" dirty="0"/>
              <a:t>testthat</a:t>
            </a:r>
            <a:endParaRPr kumimoji="0" lang="en-US" sz="1000" b="0" i="0" u="none" strike="noStrike" cap="none" spc="0" normalizeH="0" baseline="0" dirty="0">
              <a:ln>
                <a:noFill/>
              </a:ln>
              <a:effectLst/>
              <a:uFillTx/>
              <a:latin typeface="Source Sans Pro"/>
              <a:ea typeface="Source Sans Pro"/>
              <a:cs typeface="Source Sans Pro"/>
              <a:sym typeface="Source Sans Pro"/>
            </a:endParaRPr>
          </a:p>
        </p:txBody>
      </p:sp>
      <p:sp>
        <p:nvSpPr>
          <p:cNvPr id="19" name="Google Shape;346;p17">
            <a:extLst>
              <a:ext uri="{FF2B5EF4-FFF2-40B4-BE49-F238E27FC236}">
                <a16:creationId xmlns:a16="http://schemas.microsoft.com/office/drawing/2014/main" id="{4890366A-0DD8-4A67-FAB1-8B9915351030}"/>
              </a:ext>
            </a:extLst>
          </p:cNvPr>
          <p:cNvSpPr/>
          <p:nvPr/>
        </p:nvSpPr>
        <p:spPr>
          <a:xfrm>
            <a:off x="7746170" y="8705660"/>
            <a:ext cx="549624" cy="255847"/>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spcBef>
                <a:spcPts val="0"/>
              </a:spcBef>
            </a:pPr>
            <a:endParaRPr sz="1833"/>
          </a:p>
        </p:txBody>
      </p:sp>
      <p:sp>
        <p:nvSpPr>
          <p:cNvPr id="20" name="Google Shape;317;p17">
            <a:extLst>
              <a:ext uri="{FF2B5EF4-FFF2-40B4-BE49-F238E27FC236}">
                <a16:creationId xmlns:a16="http://schemas.microsoft.com/office/drawing/2014/main" id="{D98982A6-E86C-34B8-05D1-FC655BDED512}"/>
              </a:ext>
            </a:extLst>
          </p:cNvPr>
          <p:cNvSpPr txBox="1"/>
          <p:nvPr/>
        </p:nvSpPr>
        <p:spPr>
          <a:xfrm>
            <a:off x="5061707" y="8396313"/>
            <a:ext cx="1320250" cy="541969"/>
          </a:xfrm>
          <a:prstGeom prst="rect">
            <a:avLst/>
          </a:prstGeom>
          <a:noFill/>
          <a:ln>
            <a:noFill/>
          </a:ln>
        </p:spPr>
        <p:txBody>
          <a:bodyPr spcFirstLastPara="1" wrap="square" lIns="295319" tIns="295319" rIns="295319" bIns="295319" anchor="t" anchorCtr="0">
            <a:noAutofit/>
          </a:bodyPr>
          <a:lstStyle/>
          <a:p>
            <a:pPr algn="ctr">
              <a:spcBef>
                <a:spcPts val="0"/>
              </a:spcBef>
            </a:pPr>
            <a:r>
              <a:rPr lang="en" sz="800" b="0" dirty="0"/>
              <a:t>Example Fake Data</a:t>
            </a:r>
            <a:endParaRPr sz="800" b="0" dirty="0"/>
          </a:p>
        </p:txBody>
      </p:sp>
      <p:sp>
        <p:nvSpPr>
          <p:cNvPr id="21" name="Google Shape;306;p17">
            <a:extLst>
              <a:ext uri="{FF2B5EF4-FFF2-40B4-BE49-F238E27FC236}">
                <a16:creationId xmlns:a16="http://schemas.microsoft.com/office/drawing/2014/main" id="{D223472E-31B0-2E45-8BEC-4F0E2C1AC738}"/>
              </a:ext>
            </a:extLst>
          </p:cNvPr>
          <p:cNvSpPr txBox="1"/>
          <p:nvPr/>
        </p:nvSpPr>
        <p:spPr>
          <a:xfrm>
            <a:off x="6155869" y="7766727"/>
            <a:ext cx="1401619" cy="524556"/>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Git.R</a:t>
            </a:r>
            <a:endParaRPr sz="1000" b="0" dirty="0">
              <a:solidFill>
                <a:schemeClr val="dk2"/>
              </a:solidFill>
            </a:endParaRPr>
          </a:p>
        </p:txBody>
      </p:sp>
      <p:sp>
        <p:nvSpPr>
          <p:cNvPr id="23" name="Google Shape;306;p17">
            <a:extLst>
              <a:ext uri="{FF2B5EF4-FFF2-40B4-BE49-F238E27FC236}">
                <a16:creationId xmlns:a16="http://schemas.microsoft.com/office/drawing/2014/main" id="{173137BC-AAF9-74DD-3279-61BD67397A3C}"/>
              </a:ext>
            </a:extLst>
          </p:cNvPr>
          <p:cNvSpPr txBox="1"/>
          <p:nvPr/>
        </p:nvSpPr>
        <p:spPr>
          <a:xfrm>
            <a:off x="6327555" y="5344117"/>
            <a:ext cx="1006099"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Mail.R</a:t>
            </a:r>
            <a:endParaRPr sz="1000" b="0" dirty="0">
              <a:solidFill>
                <a:schemeClr val="dk2"/>
              </a:solidFill>
            </a:endParaRPr>
          </a:p>
        </p:txBody>
      </p:sp>
      <p:sp>
        <p:nvSpPr>
          <p:cNvPr id="24" name="Google Shape;306;p17">
            <a:extLst>
              <a:ext uri="{FF2B5EF4-FFF2-40B4-BE49-F238E27FC236}">
                <a16:creationId xmlns:a16="http://schemas.microsoft.com/office/drawing/2014/main" id="{BD2D6C9E-DE05-51B3-60A5-A74A0FACDB80}"/>
              </a:ext>
            </a:extLst>
          </p:cNvPr>
          <p:cNvSpPr txBox="1"/>
          <p:nvPr/>
        </p:nvSpPr>
        <p:spPr>
          <a:xfrm>
            <a:off x="5486239" y="6106484"/>
            <a:ext cx="987526"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JIRA.R</a:t>
            </a:r>
            <a:endParaRPr sz="1000" b="0" dirty="0">
              <a:solidFill>
                <a:schemeClr val="dk2"/>
              </a:solidFill>
            </a:endParaRPr>
          </a:p>
        </p:txBody>
      </p:sp>
      <p:cxnSp>
        <p:nvCxnSpPr>
          <p:cNvPr id="25" name="Connector: Elbow 24">
            <a:extLst>
              <a:ext uri="{FF2B5EF4-FFF2-40B4-BE49-F238E27FC236}">
                <a16:creationId xmlns:a16="http://schemas.microsoft.com/office/drawing/2014/main" id="{5AAC87D2-8A2D-EBCD-4A4C-3081FE66837A}"/>
              </a:ext>
            </a:extLst>
          </p:cNvPr>
          <p:cNvCxnSpPr>
            <a:cxnSpLocks/>
          </p:cNvCxnSpPr>
          <p:nvPr/>
        </p:nvCxnSpPr>
        <p:spPr>
          <a:xfrm rot="16200000" flipH="1">
            <a:off x="6748995" y="6912035"/>
            <a:ext cx="1650573" cy="1223096"/>
          </a:xfrm>
          <a:prstGeom prst="bentConnector3">
            <a:avLst>
              <a:gd name="adj1" fmla="val 864"/>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 name="Connector: Elbow 25">
            <a:extLst>
              <a:ext uri="{FF2B5EF4-FFF2-40B4-BE49-F238E27FC236}">
                <a16:creationId xmlns:a16="http://schemas.microsoft.com/office/drawing/2014/main" id="{E241A4D9-1C7B-1C63-D854-2E103E19ACBF}"/>
              </a:ext>
            </a:extLst>
          </p:cNvPr>
          <p:cNvCxnSpPr>
            <a:cxnSpLocks/>
          </p:cNvCxnSpPr>
          <p:nvPr/>
        </p:nvCxnSpPr>
        <p:spPr>
          <a:xfrm>
            <a:off x="6714993" y="7092686"/>
            <a:ext cx="1301263" cy="1256183"/>
          </a:xfrm>
          <a:prstGeom prst="bentConnector3">
            <a:avLst>
              <a:gd name="adj1" fmla="val 998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 name="Connector: Elbow 26">
            <a:extLst>
              <a:ext uri="{FF2B5EF4-FFF2-40B4-BE49-F238E27FC236}">
                <a16:creationId xmlns:a16="http://schemas.microsoft.com/office/drawing/2014/main" id="{2F74D5C5-1C74-2C23-2857-C6148E7613A3}"/>
              </a:ext>
            </a:extLst>
          </p:cNvPr>
          <p:cNvCxnSpPr>
            <a:cxnSpLocks/>
          </p:cNvCxnSpPr>
          <p:nvPr/>
        </p:nvCxnSpPr>
        <p:spPr>
          <a:xfrm>
            <a:off x="6873798" y="7508017"/>
            <a:ext cx="973858" cy="840853"/>
          </a:xfrm>
          <a:prstGeom prst="bentConnector3">
            <a:avLst>
              <a:gd name="adj1" fmla="val 99805"/>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9" name="TextBox 28">
            <a:extLst>
              <a:ext uri="{FF2B5EF4-FFF2-40B4-BE49-F238E27FC236}">
                <a16:creationId xmlns:a16="http://schemas.microsoft.com/office/drawing/2014/main" id="{46C0AEB4-B0B1-C01B-DA31-6B817D229776}"/>
              </a:ext>
            </a:extLst>
          </p:cNvPr>
          <p:cNvSpPr txBox="1"/>
          <p:nvPr/>
        </p:nvSpPr>
        <p:spPr>
          <a:xfrm>
            <a:off x="6325058" y="7779980"/>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Fake Data Generator</a:t>
            </a:r>
            <a:endParaRPr lang="en-US" sz="800" b="0" dirty="0"/>
          </a:p>
        </p:txBody>
      </p:sp>
      <p:cxnSp>
        <p:nvCxnSpPr>
          <p:cNvPr id="30" name="Connector: Elbow 29">
            <a:extLst>
              <a:ext uri="{FF2B5EF4-FFF2-40B4-BE49-F238E27FC236}">
                <a16:creationId xmlns:a16="http://schemas.microsoft.com/office/drawing/2014/main" id="{8070A490-91D0-0F01-D2AC-1593406C8A66}"/>
              </a:ext>
            </a:extLst>
          </p:cNvPr>
          <p:cNvCxnSpPr>
            <a:cxnSpLocks/>
            <a:endCxn id="3" idx="0"/>
          </p:cNvCxnSpPr>
          <p:nvPr/>
        </p:nvCxnSpPr>
        <p:spPr>
          <a:xfrm rot="10800000" flipV="1">
            <a:off x="5719125" y="7921870"/>
            <a:ext cx="650776" cy="320897"/>
          </a:xfrm>
          <a:prstGeom prst="bentConnector2">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1" name="Google Shape;445;p18">
            <a:extLst>
              <a:ext uri="{FF2B5EF4-FFF2-40B4-BE49-F238E27FC236}">
                <a16:creationId xmlns:a16="http://schemas.microsoft.com/office/drawing/2014/main" id="{0C48BAB0-E212-013A-A278-F8244BC32728}"/>
              </a:ext>
            </a:extLst>
          </p:cNvPr>
          <p:cNvCxnSpPr>
            <a:cxnSpLocks/>
          </p:cNvCxnSpPr>
          <p:nvPr/>
        </p:nvCxnSpPr>
        <p:spPr>
          <a:xfrm>
            <a:off x="6118087" y="8824873"/>
            <a:ext cx="1475409" cy="0"/>
          </a:xfrm>
          <a:prstGeom prst="straightConnector1">
            <a:avLst/>
          </a:prstGeom>
          <a:noFill/>
          <a:ln w="28575" cap="flat" cmpd="sng">
            <a:solidFill>
              <a:srgbClr val="1B1311"/>
            </a:solidFill>
            <a:prstDash val="solid"/>
            <a:round/>
            <a:headEnd type="none" w="med" len="med"/>
            <a:tailEnd type="triangle" w="med" len="med"/>
          </a:ln>
        </p:spPr>
      </p:cxnSp>
      <p:pic>
        <p:nvPicPr>
          <p:cNvPr id="33" name="Graphic 32" descr="Paper outline">
            <a:extLst>
              <a:ext uri="{FF2B5EF4-FFF2-40B4-BE49-F238E27FC236}">
                <a16:creationId xmlns:a16="http://schemas.microsoft.com/office/drawing/2014/main" id="{DDBD24B8-CEE4-7D1D-4F29-82017DBC100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51646" y="5331103"/>
            <a:ext cx="1045469" cy="1045469"/>
          </a:xfrm>
          <a:prstGeom prst="rect">
            <a:avLst/>
          </a:prstGeom>
        </p:spPr>
      </p:pic>
      <p:grpSp>
        <p:nvGrpSpPr>
          <p:cNvPr id="34" name="Group 33">
            <a:extLst>
              <a:ext uri="{FF2B5EF4-FFF2-40B4-BE49-F238E27FC236}">
                <a16:creationId xmlns:a16="http://schemas.microsoft.com/office/drawing/2014/main" id="{E848A0BB-43FB-6DA9-A960-98E1F3E542A8}"/>
              </a:ext>
            </a:extLst>
          </p:cNvPr>
          <p:cNvGrpSpPr/>
          <p:nvPr/>
        </p:nvGrpSpPr>
        <p:grpSpPr>
          <a:xfrm>
            <a:off x="5623747" y="5367383"/>
            <a:ext cx="1159502" cy="954670"/>
            <a:chOff x="4984006" y="2613760"/>
            <a:chExt cx="1159502" cy="954670"/>
          </a:xfrm>
        </p:grpSpPr>
        <p:sp>
          <p:nvSpPr>
            <p:cNvPr id="53" name="TextBox 52">
              <a:extLst>
                <a:ext uri="{FF2B5EF4-FFF2-40B4-BE49-F238E27FC236}">
                  <a16:creationId xmlns:a16="http://schemas.microsoft.com/office/drawing/2014/main" id="{207ED2CF-BA8C-D7F4-7133-5948688DC457}"/>
                </a:ext>
              </a:extLst>
            </p:cNvPr>
            <p:cNvSpPr txBox="1"/>
            <p:nvPr/>
          </p:nvSpPr>
          <p:spPr>
            <a:xfrm>
              <a:off x="4984006" y="2613760"/>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0" i="0" u="none" strike="noStrike" cap="none" spc="0" normalizeH="0" baseline="0" dirty="0">
                  <a:ln>
                    <a:noFill/>
                  </a:ln>
                  <a:solidFill>
                    <a:srgbClr val="4C4C4C"/>
                  </a:solidFill>
                  <a:effectLst/>
                  <a:uFillTx/>
                  <a:latin typeface="Source Sans Pro"/>
                  <a:ea typeface="Source Sans Pro"/>
                  <a:cs typeface="Source Sans Pro"/>
                  <a:sym typeface="Source Sans Pro"/>
                </a:rPr>
                <a:t>Downloaders</a:t>
              </a:r>
              <a:endParaRPr lang="en-US" sz="500" b="0" dirty="0"/>
            </a:p>
          </p:txBody>
        </p:sp>
        <p:sp>
          <p:nvSpPr>
            <p:cNvPr id="54" name="TextBox 53">
              <a:extLst>
                <a:ext uri="{FF2B5EF4-FFF2-40B4-BE49-F238E27FC236}">
                  <a16:creationId xmlns:a16="http://schemas.microsoft.com/office/drawing/2014/main" id="{8FCAA341-9407-3506-F14C-76D5A3A74E41}"/>
                </a:ext>
              </a:extLst>
            </p:cNvPr>
            <p:cNvSpPr txBox="1"/>
            <p:nvPr/>
          </p:nvSpPr>
          <p:spPr>
            <a:xfrm>
              <a:off x="4986272" y="2674821"/>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b="0" dirty="0"/>
                <a:t>f</a:t>
              </a:r>
              <a:r>
                <a:rPr kumimoji="0" lang="en-US" sz="3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p:txBody>
        </p:sp>
        <p:sp>
          <p:nvSpPr>
            <p:cNvPr id="55" name="TextBox 54">
              <a:extLst>
                <a:ext uri="{FF2B5EF4-FFF2-40B4-BE49-F238E27FC236}">
                  <a16:creationId xmlns:a16="http://schemas.microsoft.com/office/drawing/2014/main" id="{1C6568DF-D93A-182F-4E23-30CF4CB64C17}"/>
                </a:ext>
              </a:extLst>
            </p:cNvPr>
            <p:cNvSpPr txBox="1"/>
            <p:nvPr/>
          </p:nvSpPr>
          <p:spPr>
            <a:xfrm>
              <a:off x="4984006" y="2855766"/>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0" i="0" u="none" strike="noStrike" cap="none" spc="0" normalizeH="0" baseline="0" dirty="0">
                  <a:ln>
                    <a:noFill/>
                  </a:ln>
                  <a:solidFill>
                    <a:srgbClr val="4C4C4C"/>
                  </a:solidFill>
                  <a:effectLst/>
                  <a:uFillTx/>
                  <a:latin typeface="Source Sans Pro"/>
                  <a:ea typeface="Source Sans Pro"/>
                  <a:cs typeface="Source Sans Pro"/>
                  <a:sym typeface="Source Sans Pro"/>
                </a:rPr>
                <a:t>Parsers</a:t>
              </a:r>
              <a:endParaRPr lang="en-US" sz="500" b="0" dirty="0"/>
            </a:p>
          </p:txBody>
        </p:sp>
        <p:sp>
          <p:nvSpPr>
            <p:cNvPr id="56" name="TextBox 55">
              <a:extLst>
                <a:ext uri="{FF2B5EF4-FFF2-40B4-BE49-F238E27FC236}">
                  <a16:creationId xmlns:a16="http://schemas.microsoft.com/office/drawing/2014/main" id="{7A342A93-B20C-B567-04AF-15CBC45AE958}"/>
                </a:ext>
              </a:extLst>
            </p:cNvPr>
            <p:cNvSpPr txBox="1"/>
            <p:nvPr/>
          </p:nvSpPr>
          <p:spPr>
            <a:xfrm>
              <a:off x="4984006" y="3111851"/>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0" i="0" u="none" strike="noStrike" cap="none" spc="0" normalizeH="0" baseline="0" dirty="0">
                  <a:ln>
                    <a:noFill/>
                  </a:ln>
                  <a:solidFill>
                    <a:srgbClr val="4C4C4C"/>
                  </a:solidFill>
                  <a:effectLst/>
                  <a:uFillTx/>
                  <a:latin typeface="Source Sans Pro"/>
                  <a:ea typeface="Source Sans Pro"/>
                  <a:cs typeface="Source Sans Pro"/>
                  <a:sym typeface="Source Sans Pro"/>
                </a:rPr>
                <a:t>Transforms</a:t>
              </a:r>
              <a:endParaRPr lang="en-US" sz="500" b="0" dirty="0"/>
            </a:p>
          </p:txBody>
        </p:sp>
        <p:sp>
          <p:nvSpPr>
            <p:cNvPr id="57" name="TextBox 56">
              <a:extLst>
                <a:ext uri="{FF2B5EF4-FFF2-40B4-BE49-F238E27FC236}">
                  <a16:creationId xmlns:a16="http://schemas.microsoft.com/office/drawing/2014/main" id="{8A4EAF70-0A76-97A0-2567-38D0F1EACD76}"/>
                </a:ext>
              </a:extLst>
            </p:cNvPr>
            <p:cNvSpPr txBox="1"/>
            <p:nvPr/>
          </p:nvSpPr>
          <p:spPr>
            <a:xfrm>
              <a:off x="4986272" y="2926948"/>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b="0" dirty="0"/>
                <a:t>f</a:t>
              </a:r>
              <a:r>
                <a:rPr kumimoji="0" lang="en-US" sz="3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p:txBody>
        </p:sp>
        <p:sp>
          <p:nvSpPr>
            <p:cNvPr id="58" name="TextBox 57">
              <a:extLst>
                <a:ext uri="{FF2B5EF4-FFF2-40B4-BE49-F238E27FC236}">
                  <a16:creationId xmlns:a16="http://schemas.microsoft.com/office/drawing/2014/main" id="{F5E17CCA-32F7-A43D-9406-8E6E5CC00C17}"/>
                </a:ext>
              </a:extLst>
            </p:cNvPr>
            <p:cNvSpPr txBox="1"/>
            <p:nvPr/>
          </p:nvSpPr>
          <p:spPr>
            <a:xfrm>
              <a:off x="4986272" y="3178756"/>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b="0" dirty="0"/>
                <a:t>f</a:t>
              </a:r>
              <a:r>
                <a:rPr kumimoji="0" lang="en-US" sz="3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p:txBody>
        </p:sp>
        <p:sp>
          <p:nvSpPr>
            <p:cNvPr id="59" name="TextBox 58">
              <a:extLst>
                <a:ext uri="{FF2B5EF4-FFF2-40B4-BE49-F238E27FC236}">
                  <a16:creationId xmlns:a16="http://schemas.microsoft.com/office/drawing/2014/main" id="{F41CFC54-0C34-0391-917D-82412FE01B10}"/>
                </a:ext>
              </a:extLst>
            </p:cNvPr>
            <p:cNvSpPr txBox="1"/>
            <p:nvPr/>
          </p:nvSpPr>
          <p:spPr>
            <a:xfrm>
              <a:off x="4984006" y="3355632"/>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500" b="0" dirty="0"/>
                <a:t>Fake Data Generator</a:t>
              </a:r>
            </a:p>
          </p:txBody>
        </p:sp>
      </p:grpSp>
      <p:grpSp>
        <p:nvGrpSpPr>
          <p:cNvPr id="60" name="Group 59">
            <a:extLst>
              <a:ext uri="{FF2B5EF4-FFF2-40B4-BE49-F238E27FC236}">
                <a16:creationId xmlns:a16="http://schemas.microsoft.com/office/drawing/2014/main" id="{D09FF8E8-0B0C-AD01-125C-A4A44D5162CB}"/>
              </a:ext>
            </a:extLst>
          </p:cNvPr>
          <p:cNvGrpSpPr/>
          <p:nvPr/>
        </p:nvGrpSpPr>
        <p:grpSpPr>
          <a:xfrm>
            <a:off x="9554259" y="3866817"/>
            <a:ext cx="3848844" cy="6172184"/>
            <a:chOff x="9541159" y="2174444"/>
            <a:chExt cx="3848844" cy="6172184"/>
          </a:xfrm>
        </p:grpSpPr>
        <p:grpSp>
          <p:nvGrpSpPr>
            <p:cNvPr id="61" name="Group 60">
              <a:extLst>
                <a:ext uri="{FF2B5EF4-FFF2-40B4-BE49-F238E27FC236}">
                  <a16:creationId xmlns:a16="http://schemas.microsoft.com/office/drawing/2014/main" id="{ED60E2AB-5616-4B37-605F-4AA433FB23CA}"/>
                </a:ext>
              </a:extLst>
            </p:cNvPr>
            <p:cNvGrpSpPr/>
            <p:nvPr/>
          </p:nvGrpSpPr>
          <p:grpSpPr>
            <a:xfrm>
              <a:off x="9541159" y="2174444"/>
              <a:ext cx="3848844" cy="6172184"/>
              <a:chOff x="870417" y="3616023"/>
              <a:chExt cx="3848844" cy="6172184"/>
            </a:xfrm>
          </p:grpSpPr>
          <p:sp>
            <p:nvSpPr>
              <p:cNvPr id="449" name="Rectangle 448">
                <a:extLst>
                  <a:ext uri="{FF2B5EF4-FFF2-40B4-BE49-F238E27FC236}">
                    <a16:creationId xmlns:a16="http://schemas.microsoft.com/office/drawing/2014/main" id="{5F75AAF8-C8EC-358B-47CE-8E8C526326A7}"/>
                  </a:ext>
                </a:extLst>
              </p:cNvPr>
              <p:cNvSpPr/>
              <p:nvPr/>
            </p:nvSpPr>
            <p:spPr>
              <a:xfrm>
                <a:off x="870417" y="3627271"/>
                <a:ext cx="3848844" cy="6160936"/>
              </a:xfrm>
              <a:prstGeom prst="rect">
                <a:avLst/>
              </a:prstGeom>
              <a:ln w="12700"/>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pic>
            <p:nvPicPr>
              <p:cNvPr id="450" name="Picture 449" descr="Account ">
                <a:extLst>
                  <a:ext uri="{FF2B5EF4-FFF2-40B4-BE49-F238E27FC236}">
                    <a16:creationId xmlns:a16="http://schemas.microsoft.com/office/drawing/2014/main" id="{63079FF0-D159-6775-22EE-A1590492BD4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41298" y="4156809"/>
                <a:ext cx="306136" cy="306136"/>
              </a:xfrm>
              <a:prstGeom prst="rect">
                <a:avLst/>
              </a:prstGeom>
              <a:noFill/>
              <a:extLst>
                <a:ext uri="{909E8E84-426E-40DD-AFC4-6F175D3DCCD1}">
                  <a14:hiddenFill xmlns:a14="http://schemas.microsoft.com/office/drawing/2010/main">
                    <a:solidFill>
                      <a:srgbClr val="FFFFFF"/>
                    </a:solidFill>
                  </a14:hiddenFill>
                </a:ext>
              </a:extLst>
            </p:spPr>
          </p:pic>
          <p:sp>
            <p:nvSpPr>
              <p:cNvPr id="451" name="TextBox 1284">
                <a:extLst>
                  <a:ext uri="{FF2B5EF4-FFF2-40B4-BE49-F238E27FC236}">
                    <a16:creationId xmlns:a16="http://schemas.microsoft.com/office/drawing/2014/main" id="{12174498-399F-65E1-E91A-F88691AE3DF2}"/>
                  </a:ext>
                </a:extLst>
              </p:cNvPr>
              <p:cNvSpPr txBox="1"/>
              <p:nvPr/>
            </p:nvSpPr>
            <p:spPr>
              <a:xfrm>
                <a:off x="991912" y="3616023"/>
                <a:ext cx="3720890" cy="261610"/>
              </a:xfrm>
              <a:prstGeom prst="rect">
                <a:avLst/>
              </a:prstGeom>
              <a:noFill/>
            </p:spPr>
            <p:txBody>
              <a:bodyPr wrap="none" rtlCol="0">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r>
                  <a:rPr lang="en-US" sz="800" dirty="0"/>
                  <a:t>Code          Issues          </a:t>
                </a:r>
                <a:r>
                  <a:rPr lang="en-US" sz="1100" b="1" dirty="0"/>
                  <a:t>Pull Requests          </a:t>
                </a:r>
                <a:r>
                  <a:rPr lang="en-US" sz="800" dirty="0"/>
                  <a:t>Actions          Wiki          Security  </a:t>
                </a:r>
              </a:p>
            </p:txBody>
          </p:sp>
          <p:cxnSp>
            <p:nvCxnSpPr>
              <p:cNvPr id="452" name="Straight Connector 451">
                <a:extLst>
                  <a:ext uri="{FF2B5EF4-FFF2-40B4-BE49-F238E27FC236}">
                    <a16:creationId xmlns:a16="http://schemas.microsoft.com/office/drawing/2014/main" id="{0F3565CA-A73B-1412-3899-252126EE1E86}"/>
                  </a:ext>
                </a:extLst>
              </p:cNvPr>
              <p:cNvCxnSpPr>
                <a:cxnSpLocks/>
              </p:cNvCxnSpPr>
              <p:nvPr/>
            </p:nvCxnSpPr>
            <p:spPr>
              <a:xfrm>
                <a:off x="870417" y="3877633"/>
                <a:ext cx="3842385" cy="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53" name="Use headers, colors, and/or backgrounds to separate or group together sections.">
                <a:extLst>
                  <a:ext uri="{FF2B5EF4-FFF2-40B4-BE49-F238E27FC236}">
                    <a16:creationId xmlns:a16="http://schemas.microsoft.com/office/drawing/2014/main" id="{FA191415-F280-6FDE-9A21-57203D7E79A6}"/>
                  </a:ext>
                </a:extLst>
              </p:cNvPr>
              <p:cNvSpPr txBox="1"/>
              <p:nvPr/>
            </p:nvSpPr>
            <p:spPr>
              <a:xfrm>
                <a:off x="1455985" y="3883746"/>
                <a:ext cx="1356960" cy="2562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lc="http://schemas.openxmlformats.org/drawingml/2006/lockedCanvas" val="1"/>
                </a:ext>
              </a:extLst>
            </p:spPr>
            <p:txBody>
              <a:bodyPr wrap="square" lIns="54570" tIns="54570" rIns="54570" bIns="5457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a:lnSpc>
                    <a:spcPct val="90000"/>
                  </a:lnSpc>
                  <a:buSzPts val="3700"/>
                </a:pPr>
                <a:r>
                  <a:rPr lang="en-US" b="0" dirty="0">
                    <a:latin typeface="Source Sans Pro" panose="020B0503030403020204" pitchFamily="34" charset="0"/>
                    <a:ea typeface="Source Sans Pro" panose="020B0503030403020204" pitchFamily="34" charset="0"/>
                    <a:cs typeface="Arial" panose="020B0604020202020204" pitchFamily="34" charset="0"/>
                  </a:rPr>
                  <a:t>Pull Request #330</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8"/>
                </a:endParaRPr>
              </a:p>
              <a:p>
                <a:pPr lvl="0">
                  <a:lnSpc>
                    <a:spcPct val="90000"/>
                  </a:lnSpc>
                  <a:buSzPts val="3700"/>
                </a:pP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8"/>
                </a:endParaRPr>
              </a:p>
            </p:txBody>
          </p:sp>
          <p:pic>
            <p:nvPicPr>
              <p:cNvPr id="454" name="Google Shape;214;p15">
                <a:extLst>
                  <a:ext uri="{FF2B5EF4-FFF2-40B4-BE49-F238E27FC236}">
                    <a16:creationId xmlns:a16="http://schemas.microsoft.com/office/drawing/2014/main" id="{F98F8FA3-FABC-6B58-B1A6-BA87E9A228E8}"/>
                  </a:ext>
                </a:extLst>
              </p:cNvPr>
              <p:cNvPicPr preferRelativeResize="0"/>
              <p:nvPr/>
            </p:nvPicPr>
            <p:blipFill>
              <a:blip r:embed="rId9">
                <a:alphaModFix/>
              </a:blip>
              <a:stretch>
                <a:fillRect/>
              </a:stretch>
            </p:blipFill>
            <p:spPr>
              <a:xfrm>
                <a:off x="914022" y="4784929"/>
                <a:ext cx="476766" cy="456900"/>
              </a:xfrm>
              <a:prstGeom prst="rect">
                <a:avLst/>
              </a:prstGeom>
              <a:noFill/>
              <a:ln>
                <a:noFill/>
              </a:ln>
            </p:spPr>
          </p:pic>
          <p:sp>
            <p:nvSpPr>
              <p:cNvPr id="455" name="Google Shape;216;p15">
                <a:extLst>
                  <a:ext uri="{FF2B5EF4-FFF2-40B4-BE49-F238E27FC236}">
                    <a16:creationId xmlns:a16="http://schemas.microsoft.com/office/drawing/2014/main" id="{6A62E470-2F66-B906-E4CA-370DA80DD0F1}"/>
                  </a:ext>
                </a:extLst>
              </p:cNvPr>
              <p:cNvSpPr/>
              <p:nvPr/>
            </p:nvSpPr>
            <p:spPr>
              <a:xfrm>
                <a:off x="1469668" y="4973530"/>
                <a:ext cx="3025431" cy="652091"/>
              </a:xfrm>
              <a:prstGeom prst="rect">
                <a:avLst/>
              </a:prstGeom>
              <a:solidFill>
                <a:schemeClr val="lt1"/>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sp>
            <p:nvSpPr>
              <p:cNvPr id="456" name="Google Shape;215;p15">
                <a:extLst>
                  <a:ext uri="{FF2B5EF4-FFF2-40B4-BE49-F238E27FC236}">
                    <a16:creationId xmlns:a16="http://schemas.microsoft.com/office/drawing/2014/main" id="{F8254A4D-BD21-C49A-C998-48A03A1E34AA}"/>
                  </a:ext>
                </a:extLst>
              </p:cNvPr>
              <p:cNvSpPr/>
              <p:nvPr/>
            </p:nvSpPr>
            <p:spPr>
              <a:xfrm>
                <a:off x="1467748" y="4759190"/>
                <a:ext cx="3025431" cy="232375"/>
              </a:xfrm>
              <a:prstGeom prst="rect">
                <a:avLst/>
              </a:prstGeom>
              <a:solidFill>
                <a:schemeClr val="lt2"/>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839" dirty="0"/>
              </a:p>
              <a:p>
                <a:pPr>
                  <a:spcBef>
                    <a:spcPts val="0"/>
                  </a:spcBef>
                </a:pPr>
                <a:endParaRPr sz="839" dirty="0"/>
              </a:p>
              <a:p>
                <a:pPr>
                  <a:spcBef>
                    <a:spcPts val="0"/>
                  </a:spcBef>
                </a:pPr>
                <a:r>
                  <a:rPr lang="en" sz="839" dirty="0">
                    <a:solidFill>
                      <a:schemeClr val="tx1">
                        <a:lumMod val="50000"/>
                      </a:schemeClr>
                    </a:solidFill>
                  </a:rPr>
                  <a:t>Codecov </a:t>
                </a:r>
                <a:r>
                  <a:rPr lang="en" sz="839" b="0" dirty="0">
                    <a:solidFill>
                      <a:schemeClr val="tx1">
                        <a:lumMod val="50000"/>
                      </a:schemeClr>
                    </a:solidFill>
                  </a:rPr>
                  <a:t>commented on Mar 27</a:t>
                </a:r>
                <a:endParaRPr sz="839" b="0" dirty="0">
                  <a:solidFill>
                    <a:schemeClr val="tx1">
                      <a:lumMod val="50000"/>
                    </a:schemeClr>
                  </a:solidFill>
                </a:endParaRPr>
              </a:p>
              <a:p>
                <a:pPr>
                  <a:spcBef>
                    <a:spcPts val="0"/>
                  </a:spcBef>
                </a:pPr>
                <a:endParaRPr sz="1956" dirty="0"/>
              </a:p>
            </p:txBody>
          </p:sp>
          <p:sp>
            <p:nvSpPr>
              <p:cNvPr id="457" name="Google Shape;217;p15">
                <a:extLst>
                  <a:ext uri="{FF2B5EF4-FFF2-40B4-BE49-F238E27FC236}">
                    <a16:creationId xmlns:a16="http://schemas.microsoft.com/office/drawing/2014/main" id="{7C566733-409E-9F87-A6DF-E2B0730298A6}"/>
                  </a:ext>
                </a:extLst>
              </p:cNvPr>
              <p:cNvSpPr txBox="1"/>
              <p:nvPr/>
            </p:nvSpPr>
            <p:spPr>
              <a:xfrm>
                <a:off x="1396836" y="4941265"/>
                <a:ext cx="2116583" cy="554125"/>
              </a:xfrm>
              <a:prstGeom prst="rect">
                <a:avLst/>
              </a:prstGeom>
              <a:noFill/>
              <a:ln>
                <a:noFill/>
              </a:ln>
            </p:spPr>
            <p:txBody>
              <a:bodyPr spcFirstLastPara="1" wrap="square" lIns="127722" tIns="127722" rIns="127722" bIns="127722" anchor="t" anchorCtr="0">
                <a:noAutofit/>
              </a:bodyPr>
              <a:lstStyle/>
              <a:p>
                <a:pPr>
                  <a:spcBef>
                    <a:spcPts val="0"/>
                  </a:spcBef>
                </a:pPr>
                <a:r>
                  <a:rPr lang="en" sz="839" dirty="0">
                    <a:solidFill>
                      <a:srgbClr val="1F2328"/>
                    </a:solidFill>
                    <a:highlight>
                      <a:srgbClr val="FFFFFF"/>
                    </a:highlight>
                  </a:rPr>
                  <a:t>❌ Patch coverage is…</a:t>
                </a:r>
                <a:endParaRPr sz="839" dirty="0">
                  <a:solidFill>
                    <a:srgbClr val="1F2328"/>
                  </a:solidFill>
                  <a:highlight>
                    <a:srgbClr val="FFFFFF"/>
                  </a:highlight>
                </a:endParaRPr>
              </a:p>
              <a:p>
                <a:pPr>
                  <a:spcBef>
                    <a:spcPts val="0"/>
                  </a:spcBef>
                </a:pPr>
                <a:r>
                  <a:rPr lang="en" sz="839" dirty="0">
                    <a:solidFill>
                      <a:srgbClr val="1F2328"/>
                    </a:solidFill>
                    <a:highlight>
                      <a:srgbClr val="FFFFFF"/>
                    </a:highlight>
                  </a:rPr>
                  <a:t>✅ Project coverage is…</a:t>
                </a:r>
                <a:endParaRPr sz="839" dirty="0">
                  <a:solidFill>
                    <a:srgbClr val="1F2328"/>
                  </a:solidFill>
                  <a:highlight>
                    <a:srgbClr val="FFFFFF"/>
                  </a:highlight>
                </a:endParaRPr>
              </a:p>
              <a:p>
                <a:pPr>
                  <a:spcBef>
                    <a:spcPts val="0"/>
                  </a:spcBef>
                </a:pPr>
                <a:r>
                  <a:rPr lang="en" sz="839" dirty="0">
                    <a:solidFill>
                      <a:srgbClr val="1F2328"/>
                    </a:solidFill>
                    <a:highlight>
                      <a:srgbClr val="FFFFFF"/>
                    </a:highlight>
                  </a:rPr>
                  <a:t>⚠️ Report is…</a:t>
                </a:r>
                <a:endParaRPr sz="839" dirty="0">
                  <a:solidFill>
                    <a:srgbClr val="1F2328"/>
                  </a:solidFill>
                  <a:highlight>
                    <a:srgbClr val="FFFFFF"/>
                  </a:highlight>
                </a:endParaRPr>
              </a:p>
            </p:txBody>
          </p:sp>
          <p:pic>
            <p:nvPicPr>
              <p:cNvPr id="458" name="Google Shape;227;p15">
                <a:extLst>
                  <a:ext uri="{FF2B5EF4-FFF2-40B4-BE49-F238E27FC236}">
                    <a16:creationId xmlns:a16="http://schemas.microsoft.com/office/drawing/2014/main" id="{9FBA4600-C227-FBA5-4F99-0464ECEF9AED}"/>
                  </a:ext>
                </a:extLst>
              </p:cNvPr>
              <p:cNvPicPr preferRelativeResize="0"/>
              <p:nvPr/>
            </p:nvPicPr>
            <p:blipFill>
              <a:blip r:embed="rId10">
                <a:alphaModFix/>
              </a:blip>
              <a:stretch>
                <a:fillRect/>
              </a:stretch>
            </p:blipFill>
            <p:spPr>
              <a:xfrm>
                <a:off x="955980" y="5812064"/>
                <a:ext cx="476772" cy="434075"/>
              </a:xfrm>
              <a:prstGeom prst="rect">
                <a:avLst/>
              </a:prstGeom>
              <a:noFill/>
              <a:ln>
                <a:noFill/>
              </a:ln>
            </p:spPr>
          </p:pic>
          <p:pic>
            <p:nvPicPr>
              <p:cNvPr id="459" name="Google Shape;206;p15">
                <a:extLst>
                  <a:ext uri="{FF2B5EF4-FFF2-40B4-BE49-F238E27FC236}">
                    <a16:creationId xmlns:a16="http://schemas.microsoft.com/office/drawing/2014/main" id="{918707D7-8824-C5E9-7CE1-0AA2EE85C83A}"/>
                  </a:ext>
                </a:extLst>
              </p:cNvPr>
              <p:cNvPicPr preferRelativeResize="0"/>
              <p:nvPr/>
            </p:nvPicPr>
            <p:blipFill rotWithShape="1">
              <a:blip r:embed="rId11">
                <a:alphaModFix/>
              </a:blip>
              <a:srcRect r="56805" b="59527"/>
              <a:stretch/>
            </p:blipFill>
            <p:spPr>
              <a:xfrm>
                <a:off x="1474313" y="8180149"/>
                <a:ext cx="3020786" cy="737988"/>
              </a:xfrm>
              <a:prstGeom prst="rect">
                <a:avLst/>
              </a:prstGeom>
              <a:noFill/>
              <a:ln>
                <a:noFill/>
              </a:ln>
            </p:spPr>
          </p:pic>
          <p:pic>
            <p:nvPicPr>
              <p:cNvPr id="460" name="Google Shape;207;p15">
                <a:extLst>
                  <a:ext uri="{FF2B5EF4-FFF2-40B4-BE49-F238E27FC236}">
                    <a16:creationId xmlns:a16="http://schemas.microsoft.com/office/drawing/2014/main" id="{B00A7FAC-905C-39FD-4362-131469924EC6}"/>
                  </a:ext>
                </a:extLst>
              </p:cNvPr>
              <p:cNvPicPr preferRelativeResize="0"/>
              <p:nvPr/>
            </p:nvPicPr>
            <p:blipFill rotWithShape="1">
              <a:blip r:embed="rId12">
                <a:alphaModFix/>
              </a:blip>
              <a:srcRect r="49675"/>
              <a:stretch/>
            </p:blipFill>
            <p:spPr>
              <a:xfrm>
                <a:off x="1466614" y="7582857"/>
                <a:ext cx="3053268" cy="585347"/>
              </a:xfrm>
              <a:prstGeom prst="rect">
                <a:avLst/>
              </a:prstGeom>
              <a:noFill/>
              <a:ln>
                <a:noFill/>
              </a:ln>
            </p:spPr>
          </p:pic>
          <p:pic>
            <p:nvPicPr>
              <p:cNvPr id="461" name="Google Shape;208;p15">
                <a:extLst>
                  <a:ext uri="{FF2B5EF4-FFF2-40B4-BE49-F238E27FC236}">
                    <a16:creationId xmlns:a16="http://schemas.microsoft.com/office/drawing/2014/main" id="{E21E2483-8652-BF49-7C29-D976765E277D}"/>
                  </a:ext>
                </a:extLst>
              </p:cNvPr>
              <p:cNvPicPr preferRelativeResize="0"/>
              <p:nvPr/>
            </p:nvPicPr>
            <p:blipFill rotWithShape="1">
              <a:blip r:embed="rId11">
                <a:alphaModFix/>
              </a:blip>
              <a:srcRect r="51536" b="66346"/>
              <a:stretch/>
            </p:blipFill>
            <p:spPr>
              <a:xfrm>
                <a:off x="1478995" y="6325833"/>
                <a:ext cx="3018340" cy="1245849"/>
              </a:xfrm>
              <a:prstGeom prst="rect">
                <a:avLst/>
              </a:prstGeom>
              <a:noFill/>
              <a:ln>
                <a:noFill/>
              </a:ln>
            </p:spPr>
          </p:pic>
          <p:pic>
            <p:nvPicPr>
              <p:cNvPr id="462" name="Google Shape;226;p15">
                <a:extLst>
                  <a:ext uri="{FF2B5EF4-FFF2-40B4-BE49-F238E27FC236}">
                    <a16:creationId xmlns:a16="http://schemas.microsoft.com/office/drawing/2014/main" id="{5ACE10CD-FEAA-CA04-9B6D-7A6A18C51B81}"/>
                  </a:ext>
                </a:extLst>
              </p:cNvPr>
              <p:cNvPicPr preferRelativeResize="0"/>
              <p:nvPr/>
            </p:nvPicPr>
            <p:blipFill>
              <a:blip r:embed="rId13">
                <a:alphaModFix/>
              </a:blip>
              <a:stretch>
                <a:fillRect/>
              </a:stretch>
            </p:blipFill>
            <p:spPr>
              <a:xfrm>
                <a:off x="1520465" y="5876512"/>
                <a:ext cx="418118" cy="397419"/>
              </a:xfrm>
              <a:prstGeom prst="rect">
                <a:avLst/>
              </a:prstGeom>
              <a:noFill/>
              <a:ln>
                <a:noFill/>
              </a:ln>
            </p:spPr>
          </p:pic>
          <p:sp>
            <p:nvSpPr>
              <p:cNvPr id="463" name="Google Shape;228;p15">
                <a:extLst>
                  <a:ext uri="{FF2B5EF4-FFF2-40B4-BE49-F238E27FC236}">
                    <a16:creationId xmlns:a16="http://schemas.microsoft.com/office/drawing/2014/main" id="{8B05FCAF-602E-E2F6-DFA0-FB76FD29E20A}"/>
                  </a:ext>
                </a:extLst>
              </p:cNvPr>
              <p:cNvSpPr txBox="1"/>
              <p:nvPr/>
            </p:nvSpPr>
            <p:spPr>
              <a:xfrm>
                <a:off x="1866920" y="5853986"/>
                <a:ext cx="1995583" cy="204417"/>
              </a:xfrm>
              <a:prstGeom prst="rect">
                <a:avLst/>
              </a:prstGeom>
              <a:noFill/>
              <a:ln>
                <a:noFill/>
              </a:ln>
            </p:spPr>
            <p:txBody>
              <a:bodyPr spcFirstLastPara="1" wrap="square" lIns="127722" tIns="127722" rIns="127722" bIns="127722" anchor="t" anchorCtr="0">
                <a:noAutofit/>
              </a:bodyPr>
              <a:lstStyle/>
              <a:p>
                <a:pPr>
                  <a:spcBef>
                    <a:spcPts val="0"/>
                  </a:spcBef>
                </a:pPr>
                <a:r>
                  <a:rPr lang="en" sz="1117" dirty="0">
                    <a:solidFill>
                      <a:schemeClr val="dk1"/>
                    </a:solidFill>
                  </a:rPr>
                  <a:t>Changes Reviewed</a:t>
                </a:r>
                <a:endParaRPr sz="1117" dirty="0">
                  <a:solidFill>
                    <a:schemeClr val="dk1"/>
                  </a:solidFill>
                </a:endParaRPr>
              </a:p>
            </p:txBody>
          </p:sp>
          <p:cxnSp>
            <p:nvCxnSpPr>
              <p:cNvPr id="464" name="Google Shape;229;p15">
                <a:extLst>
                  <a:ext uri="{FF2B5EF4-FFF2-40B4-BE49-F238E27FC236}">
                    <a16:creationId xmlns:a16="http://schemas.microsoft.com/office/drawing/2014/main" id="{DBEB78AA-40E0-43FF-4815-BE0E680E7016}"/>
                  </a:ext>
                </a:extLst>
              </p:cNvPr>
              <p:cNvCxnSpPr/>
              <p:nvPr/>
            </p:nvCxnSpPr>
            <p:spPr>
              <a:xfrm>
                <a:off x="1467748" y="6324819"/>
                <a:ext cx="3040125" cy="0"/>
              </a:xfrm>
              <a:prstGeom prst="straightConnector1">
                <a:avLst/>
              </a:prstGeom>
              <a:noFill/>
              <a:ln w="8700" cap="flat" cmpd="sng">
                <a:solidFill>
                  <a:schemeClr val="dk2"/>
                </a:solidFill>
                <a:prstDash val="solid"/>
                <a:round/>
                <a:headEnd type="none" w="med" len="med"/>
                <a:tailEnd type="none" w="med" len="med"/>
              </a:ln>
            </p:spPr>
          </p:cxnSp>
          <p:pic>
            <p:nvPicPr>
              <p:cNvPr id="465" name="Google Shape;230;p15">
                <a:extLst>
                  <a:ext uri="{FF2B5EF4-FFF2-40B4-BE49-F238E27FC236}">
                    <a16:creationId xmlns:a16="http://schemas.microsoft.com/office/drawing/2014/main" id="{79608C56-E56F-B3C4-B12F-FDF62F6030F2}"/>
                  </a:ext>
                </a:extLst>
              </p:cNvPr>
              <p:cNvPicPr preferRelativeResize="0"/>
              <p:nvPr/>
            </p:nvPicPr>
            <p:blipFill>
              <a:blip r:embed="rId14">
                <a:alphaModFix/>
              </a:blip>
              <a:stretch>
                <a:fillRect/>
              </a:stretch>
            </p:blipFill>
            <p:spPr>
              <a:xfrm>
                <a:off x="1576377" y="6953035"/>
                <a:ext cx="233220" cy="273781"/>
              </a:xfrm>
              <a:prstGeom prst="rect">
                <a:avLst/>
              </a:prstGeom>
              <a:noFill/>
              <a:ln>
                <a:noFill/>
              </a:ln>
            </p:spPr>
          </p:pic>
          <p:pic>
            <p:nvPicPr>
              <p:cNvPr id="466" name="Google Shape;231;p15">
                <a:extLst>
                  <a:ext uri="{FF2B5EF4-FFF2-40B4-BE49-F238E27FC236}">
                    <a16:creationId xmlns:a16="http://schemas.microsoft.com/office/drawing/2014/main" id="{98180347-051D-2FF1-F925-54AC6008D93D}"/>
                  </a:ext>
                </a:extLst>
              </p:cNvPr>
              <p:cNvPicPr preferRelativeResize="0"/>
              <p:nvPr/>
            </p:nvPicPr>
            <p:blipFill>
              <a:blip r:embed="rId11">
                <a:alphaModFix/>
              </a:blip>
              <a:stretch>
                <a:fillRect/>
              </a:stretch>
            </p:blipFill>
            <p:spPr>
              <a:xfrm>
                <a:off x="1530785" y="6396970"/>
                <a:ext cx="288926" cy="211878"/>
              </a:xfrm>
              <a:prstGeom prst="rect">
                <a:avLst/>
              </a:prstGeom>
              <a:noFill/>
              <a:ln>
                <a:noFill/>
              </a:ln>
            </p:spPr>
          </p:pic>
          <p:pic>
            <p:nvPicPr>
              <p:cNvPr id="467" name="Google Shape;232;p15">
                <a:extLst>
                  <a:ext uri="{FF2B5EF4-FFF2-40B4-BE49-F238E27FC236}">
                    <a16:creationId xmlns:a16="http://schemas.microsoft.com/office/drawing/2014/main" id="{B50ED463-E58C-C355-22E8-49EBD813D74D}"/>
                  </a:ext>
                </a:extLst>
              </p:cNvPr>
              <p:cNvPicPr preferRelativeResize="0"/>
              <p:nvPr/>
            </p:nvPicPr>
            <p:blipFill>
              <a:blip r:embed="rId15">
                <a:alphaModFix/>
              </a:blip>
              <a:stretch>
                <a:fillRect/>
              </a:stretch>
            </p:blipFill>
            <p:spPr>
              <a:xfrm>
                <a:off x="1523888" y="6653098"/>
                <a:ext cx="275348" cy="232624"/>
              </a:xfrm>
              <a:prstGeom prst="rect">
                <a:avLst/>
              </a:prstGeom>
              <a:noFill/>
              <a:ln>
                <a:noFill/>
              </a:ln>
            </p:spPr>
          </p:pic>
          <p:pic>
            <p:nvPicPr>
              <p:cNvPr id="468" name="Google Shape;233;p15">
                <a:extLst>
                  <a:ext uri="{FF2B5EF4-FFF2-40B4-BE49-F238E27FC236}">
                    <a16:creationId xmlns:a16="http://schemas.microsoft.com/office/drawing/2014/main" id="{767C45C4-79D3-EDAE-EE3B-27689930D69C}"/>
                  </a:ext>
                </a:extLst>
              </p:cNvPr>
              <p:cNvPicPr preferRelativeResize="0"/>
              <p:nvPr/>
            </p:nvPicPr>
            <p:blipFill>
              <a:blip r:embed="rId16">
                <a:alphaModFix/>
              </a:blip>
              <a:stretch>
                <a:fillRect/>
              </a:stretch>
            </p:blipFill>
            <p:spPr>
              <a:xfrm>
                <a:off x="1546046" y="8251899"/>
                <a:ext cx="253223" cy="282442"/>
              </a:xfrm>
              <a:prstGeom prst="rect">
                <a:avLst/>
              </a:prstGeom>
              <a:noFill/>
              <a:ln>
                <a:noFill/>
              </a:ln>
            </p:spPr>
          </p:pic>
          <p:sp>
            <p:nvSpPr>
              <p:cNvPr id="469" name="Google Shape;234;p15">
                <a:extLst>
                  <a:ext uri="{FF2B5EF4-FFF2-40B4-BE49-F238E27FC236}">
                    <a16:creationId xmlns:a16="http://schemas.microsoft.com/office/drawing/2014/main" id="{7A953EB7-32BC-041B-BC1B-F07D04EDBDBB}"/>
                  </a:ext>
                </a:extLst>
              </p:cNvPr>
              <p:cNvSpPr/>
              <p:nvPr/>
            </p:nvSpPr>
            <p:spPr>
              <a:xfrm>
                <a:off x="1629407" y="8282439"/>
                <a:ext cx="2788500" cy="232375"/>
              </a:xfrm>
              <a:prstGeom prst="rect">
                <a:avLst/>
              </a:prstGeom>
              <a:noFill/>
              <a:ln>
                <a:noFill/>
              </a:ln>
            </p:spPr>
            <p:txBody>
              <a:bodyPr spcFirstLastPara="1" wrap="square" lIns="127722" tIns="127722" rIns="127722" bIns="127722" anchor="ctr" anchorCtr="0">
                <a:noAutofit/>
              </a:bodyPr>
              <a:lstStyle/>
              <a:p>
                <a:pPr>
                  <a:spcBef>
                    <a:spcPts val="0"/>
                  </a:spcBef>
                  <a:buClr>
                    <a:schemeClr val="dk1"/>
                  </a:buClr>
                  <a:buSzPts val="1006"/>
                </a:pPr>
                <a:r>
                  <a:rPr lang="en" sz="839">
                    <a:solidFill>
                      <a:schemeClr val="dk1"/>
                    </a:solidFill>
                  </a:rPr>
                  <a:t>   </a:t>
                </a:r>
                <a:r>
                  <a:rPr lang="en" sz="839">
                    <a:solidFill>
                      <a:srgbClr val="1F2328"/>
                    </a:solidFill>
                  </a:rPr>
                  <a:t>           test-coverage/test-coverage(4.4)</a:t>
                </a:r>
                <a:endParaRPr sz="1956"/>
              </a:p>
            </p:txBody>
          </p:sp>
          <p:sp>
            <p:nvSpPr>
              <p:cNvPr id="470" name="Google Shape;235;p15">
                <a:extLst>
                  <a:ext uri="{FF2B5EF4-FFF2-40B4-BE49-F238E27FC236}">
                    <a16:creationId xmlns:a16="http://schemas.microsoft.com/office/drawing/2014/main" id="{F9232A09-B1B7-8DEB-D9B0-8B20938B1330}"/>
                  </a:ext>
                </a:extLst>
              </p:cNvPr>
              <p:cNvSpPr/>
              <p:nvPr/>
            </p:nvSpPr>
            <p:spPr>
              <a:xfrm>
                <a:off x="1629374" y="8621717"/>
                <a:ext cx="2788500" cy="232375"/>
              </a:xfrm>
              <a:prstGeom prst="rect">
                <a:avLst/>
              </a:prstGeom>
              <a:noFill/>
              <a:ln>
                <a:noFill/>
              </a:ln>
            </p:spPr>
            <p:txBody>
              <a:bodyPr spcFirstLastPara="1" wrap="square" lIns="127722" tIns="127722" rIns="127722" bIns="127722" anchor="ctr" anchorCtr="0">
                <a:noAutofit/>
              </a:bodyPr>
              <a:lstStyle/>
              <a:p>
                <a:pPr>
                  <a:spcBef>
                    <a:spcPts val="0"/>
                  </a:spcBef>
                </a:pPr>
                <a:r>
                  <a:rPr lang="en" sz="839"/>
                  <a:t>              R-CMD-check</a:t>
                </a:r>
                <a:endParaRPr sz="839"/>
              </a:p>
            </p:txBody>
          </p:sp>
          <p:sp>
            <p:nvSpPr>
              <p:cNvPr id="471" name="Google Shape;236;p15">
                <a:extLst>
                  <a:ext uri="{FF2B5EF4-FFF2-40B4-BE49-F238E27FC236}">
                    <a16:creationId xmlns:a16="http://schemas.microsoft.com/office/drawing/2014/main" id="{B6FD26AB-B204-B996-3D91-BE663C7D29D7}"/>
                  </a:ext>
                </a:extLst>
              </p:cNvPr>
              <p:cNvSpPr/>
              <p:nvPr/>
            </p:nvSpPr>
            <p:spPr>
              <a:xfrm>
                <a:off x="1830220" y="8318797"/>
                <a:ext cx="165458" cy="16270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bg2">
                      <a:lumMod val="10000"/>
                    </a:schemeClr>
                  </a:solidFill>
                </a:endParaRPr>
              </a:p>
            </p:txBody>
          </p:sp>
          <p:sp>
            <p:nvSpPr>
              <p:cNvPr id="472" name="Google Shape;237;p15">
                <a:extLst>
                  <a:ext uri="{FF2B5EF4-FFF2-40B4-BE49-F238E27FC236}">
                    <a16:creationId xmlns:a16="http://schemas.microsoft.com/office/drawing/2014/main" id="{B053D1E7-362C-6304-5619-FAF24B7C3F31}"/>
                  </a:ext>
                </a:extLst>
              </p:cNvPr>
              <p:cNvSpPr txBox="1"/>
              <p:nvPr/>
            </p:nvSpPr>
            <p:spPr>
              <a:xfrm>
                <a:off x="1729524" y="8229908"/>
                <a:ext cx="416167" cy="232375"/>
              </a:xfrm>
              <a:prstGeom prst="rect">
                <a:avLst/>
              </a:prstGeom>
              <a:noFill/>
              <a:ln>
                <a:noFill/>
              </a:ln>
            </p:spPr>
            <p:txBody>
              <a:bodyPr spcFirstLastPara="1" wrap="square" lIns="127722" tIns="127722" rIns="127722" bIns="127722" anchor="t" anchorCtr="0">
                <a:noAutofit/>
              </a:bodyPr>
              <a:lstStyle/>
              <a:p>
                <a:pPr>
                  <a:spcBef>
                    <a:spcPts val="0"/>
                  </a:spcBef>
                </a:pPr>
                <a:r>
                  <a:rPr lang="en" sz="698" dirty="0">
                    <a:solidFill>
                      <a:schemeClr val="lt1"/>
                    </a:solidFill>
                  </a:rPr>
                  <a:t>GH</a:t>
                </a:r>
                <a:endParaRPr sz="698" dirty="0">
                  <a:solidFill>
                    <a:schemeClr val="lt1"/>
                  </a:solidFill>
                </a:endParaRPr>
              </a:p>
            </p:txBody>
          </p:sp>
          <p:sp>
            <p:nvSpPr>
              <p:cNvPr id="473" name="Google Shape;238;p15">
                <a:extLst>
                  <a:ext uri="{FF2B5EF4-FFF2-40B4-BE49-F238E27FC236}">
                    <a16:creationId xmlns:a16="http://schemas.microsoft.com/office/drawing/2014/main" id="{C91F2EB8-D793-F759-CCA3-619D05FE9605}"/>
                  </a:ext>
                </a:extLst>
              </p:cNvPr>
              <p:cNvSpPr/>
              <p:nvPr/>
            </p:nvSpPr>
            <p:spPr>
              <a:xfrm>
                <a:off x="1835613" y="8653245"/>
                <a:ext cx="165458" cy="16270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474" name="Google Shape;239;p15">
                <a:extLst>
                  <a:ext uri="{FF2B5EF4-FFF2-40B4-BE49-F238E27FC236}">
                    <a16:creationId xmlns:a16="http://schemas.microsoft.com/office/drawing/2014/main" id="{FCC499A1-3CBD-B657-B514-61BAE5F35058}"/>
                  </a:ext>
                </a:extLst>
              </p:cNvPr>
              <p:cNvSpPr txBox="1"/>
              <p:nvPr/>
            </p:nvSpPr>
            <p:spPr>
              <a:xfrm>
                <a:off x="1730499" y="8555049"/>
                <a:ext cx="416167" cy="232375"/>
              </a:xfrm>
              <a:prstGeom prst="rect">
                <a:avLst/>
              </a:prstGeom>
              <a:noFill/>
              <a:ln>
                <a:noFill/>
              </a:ln>
            </p:spPr>
            <p:txBody>
              <a:bodyPr spcFirstLastPara="1" wrap="square" lIns="127722" tIns="127722" rIns="127722" bIns="127722" anchor="t" anchorCtr="0">
                <a:noAutofit/>
              </a:bodyPr>
              <a:lstStyle/>
              <a:p>
                <a:pPr>
                  <a:spcBef>
                    <a:spcPts val="0"/>
                  </a:spcBef>
                </a:pPr>
                <a:r>
                  <a:rPr lang="en" sz="698" dirty="0">
                    <a:solidFill>
                      <a:schemeClr val="lt1"/>
                    </a:solidFill>
                  </a:rPr>
                  <a:t>GH</a:t>
                </a:r>
                <a:endParaRPr sz="698" dirty="0">
                  <a:solidFill>
                    <a:schemeClr val="lt1"/>
                  </a:solidFill>
                </a:endParaRPr>
              </a:p>
            </p:txBody>
          </p:sp>
          <p:sp>
            <p:nvSpPr>
              <p:cNvPr id="475" name="Google Shape;240;p15">
                <a:extLst>
                  <a:ext uri="{FF2B5EF4-FFF2-40B4-BE49-F238E27FC236}">
                    <a16:creationId xmlns:a16="http://schemas.microsoft.com/office/drawing/2014/main" id="{6B14E888-8375-F142-082C-BB392BC9DA77}"/>
                  </a:ext>
                </a:extLst>
              </p:cNvPr>
              <p:cNvSpPr txBox="1"/>
              <p:nvPr/>
            </p:nvSpPr>
            <p:spPr>
              <a:xfrm>
                <a:off x="1694050" y="6325762"/>
                <a:ext cx="970292"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a:solidFill>
                      <a:srgbClr val="999999"/>
                    </a:solidFill>
                  </a:rPr>
                  <a:t>1 approval</a:t>
                </a:r>
                <a:endParaRPr sz="978">
                  <a:solidFill>
                    <a:srgbClr val="999999"/>
                  </a:solidFill>
                </a:endParaRPr>
              </a:p>
              <a:p>
                <a:pPr>
                  <a:spcBef>
                    <a:spcPts val="0"/>
                  </a:spcBef>
                </a:pPr>
                <a:endParaRPr sz="978">
                  <a:solidFill>
                    <a:srgbClr val="999999"/>
                  </a:solidFill>
                </a:endParaRPr>
              </a:p>
              <a:p>
                <a:pPr>
                  <a:spcBef>
                    <a:spcPts val="0"/>
                  </a:spcBef>
                </a:pPr>
                <a:r>
                  <a:rPr lang="en" sz="978">
                    <a:solidFill>
                      <a:srgbClr val="999999"/>
                    </a:solidFill>
                  </a:rPr>
                  <a:t> </a:t>
                </a:r>
                <a:endParaRPr sz="978">
                  <a:solidFill>
                    <a:srgbClr val="999999"/>
                  </a:solidFill>
                </a:endParaRPr>
              </a:p>
            </p:txBody>
          </p:sp>
          <p:sp>
            <p:nvSpPr>
              <p:cNvPr id="476" name="Google Shape;241;p15">
                <a:extLst>
                  <a:ext uri="{FF2B5EF4-FFF2-40B4-BE49-F238E27FC236}">
                    <a16:creationId xmlns:a16="http://schemas.microsoft.com/office/drawing/2014/main" id="{A610D43A-97C0-C466-1F95-71803E1441A9}"/>
                  </a:ext>
                </a:extLst>
              </p:cNvPr>
              <p:cNvSpPr txBox="1"/>
              <p:nvPr/>
            </p:nvSpPr>
            <p:spPr>
              <a:xfrm>
                <a:off x="1707043" y="6907723"/>
                <a:ext cx="1532667"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a:solidFill>
                      <a:srgbClr val="999999"/>
                    </a:solidFill>
                  </a:rPr>
                  <a:t>1 requested change</a:t>
                </a:r>
                <a:endParaRPr sz="978">
                  <a:solidFill>
                    <a:srgbClr val="999999"/>
                  </a:solidFill>
                </a:endParaRPr>
              </a:p>
            </p:txBody>
          </p:sp>
          <p:sp>
            <p:nvSpPr>
              <p:cNvPr id="477" name="Google Shape;242;p15">
                <a:extLst>
                  <a:ext uri="{FF2B5EF4-FFF2-40B4-BE49-F238E27FC236}">
                    <a16:creationId xmlns:a16="http://schemas.microsoft.com/office/drawing/2014/main" id="{826BEE95-5A30-08DF-2524-3B155CEC3B4C}"/>
                  </a:ext>
                </a:extLst>
              </p:cNvPr>
              <p:cNvSpPr txBox="1"/>
              <p:nvPr/>
            </p:nvSpPr>
            <p:spPr>
              <a:xfrm>
                <a:off x="1705960" y="6587163"/>
                <a:ext cx="2640000"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dirty="0">
                    <a:solidFill>
                      <a:schemeClr val="dk1"/>
                    </a:solidFill>
                  </a:rPr>
                  <a:t>Quality Reviewer    </a:t>
                </a:r>
                <a:r>
                  <a:rPr lang="en" sz="839" dirty="0">
                    <a:solidFill>
                      <a:schemeClr val="dk1"/>
                    </a:solidFill>
                  </a:rPr>
                  <a:t> </a:t>
                </a:r>
                <a:r>
                  <a:rPr lang="en" sz="839" dirty="0">
                    <a:solidFill>
                      <a:srgbClr val="999999"/>
                    </a:solidFill>
                  </a:rPr>
                  <a:t> Approved these changes</a:t>
                </a:r>
                <a:endParaRPr sz="839" dirty="0">
                  <a:solidFill>
                    <a:srgbClr val="999999"/>
                  </a:solidFill>
                </a:endParaRPr>
              </a:p>
              <a:p>
                <a:pPr>
                  <a:spcBef>
                    <a:spcPts val="0"/>
                  </a:spcBef>
                </a:pPr>
                <a:endParaRPr sz="978" dirty="0">
                  <a:solidFill>
                    <a:srgbClr val="999999"/>
                  </a:solidFill>
                </a:endParaRPr>
              </a:p>
              <a:p>
                <a:pPr>
                  <a:spcBef>
                    <a:spcPts val="0"/>
                  </a:spcBef>
                </a:pPr>
                <a:r>
                  <a:rPr lang="en" sz="978" dirty="0">
                    <a:solidFill>
                      <a:srgbClr val="999999"/>
                    </a:solidFill>
                  </a:rPr>
                  <a:t> </a:t>
                </a:r>
                <a:endParaRPr sz="978" dirty="0">
                  <a:solidFill>
                    <a:srgbClr val="999999"/>
                  </a:solidFill>
                </a:endParaRPr>
              </a:p>
            </p:txBody>
          </p:sp>
          <p:pic>
            <p:nvPicPr>
              <p:cNvPr id="478" name="Google Shape;243;p15">
                <a:extLst>
                  <a:ext uri="{FF2B5EF4-FFF2-40B4-BE49-F238E27FC236}">
                    <a16:creationId xmlns:a16="http://schemas.microsoft.com/office/drawing/2014/main" id="{B923D681-B3CA-0C80-F011-504C67576615}"/>
                  </a:ext>
                </a:extLst>
              </p:cNvPr>
              <p:cNvPicPr preferRelativeResize="0"/>
              <p:nvPr/>
            </p:nvPicPr>
            <p:blipFill>
              <a:blip r:embed="rId15">
                <a:alphaModFix/>
              </a:blip>
              <a:stretch>
                <a:fillRect/>
              </a:stretch>
            </p:blipFill>
            <p:spPr>
              <a:xfrm>
                <a:off x="1535831" y="7247141"/>
                <a:ext cx="275348" cy="232624"/>
              </a:xfrm>
              <a:prstGeom prst="rect">
                <a:avLst/>
              </a:prstGeom>
              <a:noFill/>
              <a:ln>
                <a:noFill/>
              </a:ln>
            </p:spPr>
          </p:pic>
          <p:sp>
            <p:nvSpPr>
              <p:cNvPr id="479" name="Google Shape;244;p15">
                <a:extLst>
                  <a:ext uri="{FF2B5EF4-FFF2-40B4-BE49-F238E27FC236}">
                    <a16:creationId xmlns:a16="http://schemas.microsoft.com/office/drawing/2014/main" id="{CBBC651C-D47C-AFAD-EDDB-642AF95E89F1}"/>
                  </a:ext>
                </a:extLst>
              </p:cNvPr>
              <p:cNvSpPr txBox="1"/>
              <p:nvPr/>
            </p:nvSpPr>
            <p:spPr>
              <a:xfrm>
                <a:off x="1703969" y="7146562"/>
                <a:ext cx="2640000"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dirty="0">
                    <a:solidFill>
                      <a:schemeClr val="dk1"/>
                    </a:solidFill>
                  </a:rPr>
                  <a:t>Code Architect    </a:t>
                </a:r>
                <a:r>
                  <a:rPr lang="en" sz="839" dirty="0">
                    <a:solidFill>
                      <a:schemeClr val="dk1"/>
                    </a:solidFill>
                  </a:rPr>
                  <a:t> </a:t>
                </a:r>
                <a:r>
                  <a:rPr lang="en" sz="839" dirty="0">
                    <a:solidFill>
                      <a:srgbClr val="999999"/>
                    </a:solidFill>
                  </a:rPr>
                  <a:t>     Requested changes</a:t>
                </a:r>
                <a:endParaRPr sz="839" dirty="0">
                  <a:solidFill>
                    <a:srgbClr val="999999"/>
                  </a:solidFill>
                </a:endParaRPr>
              </a:p>
              <a:p>
                <a:pPr>
                  <a:spcBef>
                    <a:spcPts val="0"/>
                  </a:spcBef>
                </a:pPr>
                <a:endParaRPr sz="978" dirty="0">
                  <a:solidFill>
                    <a:srgbClr val="999999"/>
                  </a:solidFill>
                </a:endParaRPr>
              </a:p>
              <a:p>
                <a:pPr>
                  <a:spcBef>
                    <a:spcPts val="0"/>
                  </a:spcBef>
                </a:pPr>
                <a:r>
                  <a:rPr lang="en" sz="978" dirty="0">
                    <a:solidFill>
                      <a:srgbClr val="999999"/>
                    </a:solidFill>
                  </a:rPr>
                  <a:t> </a:t>
                </a:r>
                <a:endParaRPr sz="978" dirty="0">
                  <a:solidFill>
                    <a:srgbClr val="999999"/>
                  </a:solidFill>
                </a:endParaRPr>
              </a:p>
            </p:txBody>
          </p:sp>
          <p:cxnSp>
            <p:nvCxnSpPr>
              <p:cNvPr id="480" name="Google Shape;245;p15">
                <a:extLst>
                  <a:ext uri="{FF2B5EF4-FFF2-40B4-BE49-F238E27FC236}">
                    <a16:creationId xmlns:a16="http://schemas.microsoft.com/office/drawing/2014/main" id="{B4AAA568-4D69-A986-5CDA-B0F45D43BB55}"/>
                  </a:ext>
                </a:extLst>
              </p:cNvPr>
              <p:cNvCxnSpPr/>
              <p:nvPr/>
            </p:nvCxnSpPr>
            <p:spPr>
              <a:xfrm>
                <a:off x="1477667" y="7575104"/>
                <a:ext cx="3040125" cy="0"/>
              </a:xfrm>
              <a:prstGeom prst="straightConnector1">
                <a:avLst/>
              </a:prstGeom>
              <a:noFill/>
              <a:ln w="8700" cap="flat" cmpd="sng">
                <a:solidFill>
                  <a:schemeClr val="dk2"/>
                </a:solidFill>
                <a:prstDash val="solid"/>
                <a:round/>
                <a:headEnd type="none" w="med" len="med"/>
                <a:tailEnd type="none" w="med" len="med"/>
              </a:ln>
            </p:spPr>
          </p:cxnSp>
          <p:pic>
            <p:nvPicPr>
              <p:cNvPr id="482" name="Google Shape;246;p15">
                <a:extLst>
                  <a:ext uri="{FF2B5EF4-FFF2-40B4-BE49-F238E27FC236}">
                    <a16:creationId xmlns:a16="http://schemas.microsoft.com/office/drawing/2014/main" id="{D4C4ED85-FF9D-4B02-FFD1-AB29444FA25F}"/>
                  </a:ext>
                </a:extLst>
              </p:cNvPr>
              <p:cNvPicPr preferRelativeResize="0"/>
              <p:nvPr/>
            </p:nvPicPr>
            <p:blipFill>
              <a:blip r:embed="rId11">
                <a:alphaModFix/>
              </a:blip>
              <a:stretch>
                <a:fillRect/>
              </a:stretch>
            </p:blipFill>
            <p:spPr>
              <a:xfrm>
                <a:off x="1529318" y="8636978"/>
                <a:ext cx="288926" cy="211878"/>
              </a:xfrm>
              <a:prstGeom prst="rect">
                <a:avLst/>
              </a:prstGeom>
              <a:noFill/>
              <a:ln>
                <a:noFill/>
              </a:ln>
            </p:spPr>
          </p:pic>
          <p:cxnSp>
            <p:nvCxnSpPr>
              <p:cNvPr id="484" name="Google Shape;247;p15">
                <a:extLst>
                  <a:ext uri="{FF2B5EF4-FFF2-40B4-BE49-F238E27FC236}">
                    <a16:creationId xmlns:a16="http://schemas.microsoft.com/office/drawing/2014/main" id="{025CBDB0-9DEB-7187-A43A-579BD85A798F}"/>
                  </a:ext>
                </a:extLst>
              </p:cNvPr>
              <p:cNvCxnSpPr/>
              <p:nvPr/>
            </p:nvCxnSpPr>
            <p:spPr>
              <a:xfrm>
                <a:off x="1458389" y="8163071"/>
                <a:ext cx="3040125" cy="0"/>
              </a:xfrm>
              <a:prstGeom prst="straightConnector1">
                <a:avLst/>
              </a:prstGeom>
              <a:noFill/>
              <a:ln w="8700" cap="flat" cmpd="sng">
                <a:solidFill>
                  <a:schemeClr val="dk2"/>
                </a:solidFill>
                <a:prstDash val="solid"/>
                <a:round/>
                <a:headEnd type="none" w="med" len="med"/>
                <a:tailEnd type="none" w="med" len="med"/>
              </a:ln>
            </p:spPr>
          </p:cxnSp>
          <p:pic>
            <p:nvPicPr>
              <p:cNvPr id="485" name="Google Shape;248;p15" title="download.png">
                <a:extLst>
                  <a:ext uri="{FF2B5EF4-FFF2-40B4-BE49-F238E27FC236}">
                    <a16:creationId xmlns:a16="http://schemas.microsoft.com/office/drawing/2014/main" id="{5B15B7FC-6397-37CD-8E39-E4EF3FF0A717}"/>
                  </a:ext>
                </a:extLst>
              </p:cNvPr>
              <p:cNvPicPr preferRelativeResize="0"/>
              <p:nvPr/>
            </p:nvPicPr>
            <p:blipFill>
              <a:blip r:embed="rId17">
                <a:alphaModFix/>
              </a:blip>
              <a:stretch>
                <a:fillRect/>
              </a:stretch>
            </p:blipFill>
            <p:spPr>
              <a:xfrm>
                <a:off x="1524726" y="8948407"/>
                <a:ext cx="344920" cy="344920"/>
              </a:xfrm>
              <a:prstGeom prst="rect">
                <a:avLst/>
              </a:prstGeom>
              <a:noFill/>
              <a:ln>
                <a:noFill/>
              </a:ln>
            </p:spPr>
          </p:pic>
          <p:sp>
            <p:nvSpPr>
              <p:cNvPr id="488" name="Google Shape;249;p15">
                <a:extLst>
                  <a:ext uri="{FF2B5EF4-FFF2-40B4-BE49-F238E27FC236}">
                    <a16:creationId xmlns:a16="http://schemas.microsoft.com/office/drawing/2014/main" id="{552807AE-CC81-3257-B7B9-5F6D14D725A7}"/>
                  </a:ext>
                </a:extLst>
              </p:cNvPr>
              <p:cNvSpPr txBox="1"/>
              <p:nvPr/>
            </p:nvSpPr>
            <p:spPr>
              <a:xfrm>
                <a:off x="1798191" y="8820046"/>
                <a:ext cx="1821875" cy="348333"/>
              </a:xfrm>
              <a:prstGeom prst="rect">
                <a:avLst/>
              </a:prstGeom>
              <a:noFill/>
              <a:ln>
                <a:noFill/>
              </a:ln>
            </p:spPr>
            <p:txBody>
              <a:bodyPr spcFirstLastPara="1" wrap="square" lIns="127722" tIns="127722" rIns="127722" bIns="127722" anchor="t" anchorCtr="0">
                <a:noAutofit/>
              </a:bodyPr>
              <a:lstStyle/>
              <a:p>
                <a:pPr>
                  <a:spcBef>
                    <a:spcPts val="0"/>
                  </a:spcBef>
                </a:pPr>
                <a:r>
                  <a:rPr lang="en" sz="1257">
                    <a:solidFill>
                      <a:schemeClr val="dk1"/>
                    </a:solidFill>
                  </a:rPr>
                  <a:t>No conflicts with base branch</a:t>
                </a:r>
                <a:endParaRPr sz="1257">
                  <a:solidFill>
                    <a:schemeClr val="dk1"/>
                  </a:solidFill>
                </a:endParaRPr>
              </a:p>
              <a:p>
                <a:pPr>
                  <a:spcBef>
                    <a:spcPts val="0"/>
                  </a:spcBef>
                </a:pPr>
                <a:endParaRPr sz="1257">
                  <a:solidFill>
                    <a:schemeClr val="dk1"/>
                  </a:solidFill>
                </a:endParaRPr>
              </a:p>
            </p:txBody>
          </p:sp>
          <p:cxnSp>
            <p:nvCxnSpPr>
              <p:cNvPr id="489" name="Google Shape;250;p15">
                <a:extLst>
                  <a:ext uri="{FF2B5EF4-FFF2-40B4-BE49-F238E27FC236}">
                    <a16:creationId xmlns:a16="http://schemas.microsoft.com/office/drawing/2014/main" id="{0A21F471-FD42-7A5E-F995-04E4C7DEB40F}"/>
                  </a:ext>
                </a:extLst>
              </p:cNvPr>
              <p:cNvCxnSpPr/>
              <p:nvPr/>
            </p:nvCxnSpPr>
            <p:spPr>
              <a:xfrm>
                <a:off x="1474802" y="8902850"/>
                <a:ext cx="3040125" cy="0"/>
              </a:xfrm>
              <a:prstGeom prst="straightConnector1">
                <a:avLst/>
              </a:prstGeom>
              <a:noFill/>
              <a:ln w="8700" cap="flat" cmpd="sng">
                <a:solidFill>
                  <a:schemeClr val="dk2"/>
                </a:solidFill>
                <a:prstDash val="solid"/>
                <a:round/>
                <a:headEnd type="none" w="med" len="med"/>
                <a:tailEnd type="none" w="med" len="med"/>
              </a:ln>
            </p:spPr>
          </p:cxnSp>
          <p:sp>
            <p:nvSpPr>
              <p:cNvPr id="492" name="Google Shape;216;p15">
                <a:extLst>
                  <a:ext uri="{FF2B5EF4-FFF2-40B4-BE49-F238E27FC236}">
                    <a16:creationId xmlns:a16="http://schemas.microsoft.com/office/drawing/2014/main" id="{15D4FC95-BF89-7AE6-082D-D0EF214EB1F3}"/>
                  </a:ext>
                </a:extLst>
              </p:cNvPr>
              <p:cNvSpPr/>
              <p:nvPr/>
            </p:nvSpPr>
            <p:spPr>
              <a:xfrm>
                <a:off x="1466614" y="5802822"/>
                <a:ext cx="3030718" cy="3579582"/>
              </a:xfrm>
              <a:prstGeom prst="rect">
                <a:avLst/>
              </a:prstGeom>
              <a:no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grpSp>
        <p:sp>
          <p:nvSpPr>
            <p:cNvPr id="62" name="Google Shape;215;p15">
              <a:extLst>
                <a:ext uri="{FF2B5EF4-FFF2-40B4-BE49-F238E27FC236}">
                  <a16:creationId xmlns:a16="http://schemas.microsoft.com/office/drawing/2014/main" id="{2CC1F474-232A-FAFC-D7E3-5A298293F593}"/>
                </a:ext>
              </a:extLst>
            </p:cNvPr>
            <p:cNvSpPr/>
            <p:nvPr/>
          </p:nvSpPr>
          <p:spPr>
            <a:xfrm>
              <a:off x="10139699" y="2716877"/>
              <a:ext cx="3024222" cy="232375"/>
            </a:xfrm>
            <a:prstGeom prst="rect">
              <a:avLst/>
            </a:prstGeom>
            <a:solidFill>
              <a:schemeClr val="lt2"/>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839" dirty="0"/>
            </a:p>
            <a:p>
              <a:pPr>
                <a:spcBef>
                  <a:spcPts val="0"/>
                </a:spcBef>
              </a:pPr>
              <a:endParaRPr sz="839" dirty="0"/>
            </a:p>
            <a:p>
              <a:pPr>
                <a:spcBef>
                  <a:spcPts val="0"/>
                </a:spcBef>
              </a:pPr>
              <a:r>
                <a:rPr lang="en" sz="839" dirty="0">
                  <a:solidFill>
                    <a:schemeClr val="tx1">
                      <a:lumMod val="50000"/>
                    </a:schemeClr>
                  </a:solidFill>
                </a:rPr>
                <a:t>Username </a:t>
              </a:r>
              <a:r>
                <a:rPr lang="en" sz="839" b="0" dirty="0">
                  <a:solidFill>
                    <a:schemeClr val="tx1">
                      <a:lumMod val="50000"/>
                    </a:schemeClr>
                  </a:solidFill>
                </a:rPr>
                <a:t>commented on Mar 15</a:t>
              </a:r>
              <a:endParaRPr sz="839" b="0" dirty="0">
                <a:solidFill>
                  <a:schemeClr val="tx1">
                    <a:lumMod val="50000"/>
                  </a:schemeClr>
                </a:solidFill>
              </a:endParaRPr>
            </a:p>
            <a:p>
              <a:pPr>
                <a:spcBef>
                  <a:spcPts val="0"/>
                </a:spcBef>
              </a:pPr>
              <a:endParaRPr sz="1956" dirty="0"/>
            </a:p>
          </p:txBody>
        </p:sp>
        <p:sp>
          <p:nvSpPr>
            <p:cNvPr id="63" name="Google Shape;216;p15">
              <a:extLst>
                <a:ext uri="{FF2B5EF4-FFF2-40B4-BE49-F238E27FC236}">
                  <a16:creationId xmlns:a16="http://schemas.microsoft.com/office/drawing/2014/main" id="{CC8BFD9A-89C1-F7C9-07A3-56119D1CC905}"/>
                </a:ext>
              </a:extLst>
            </p:cNvPr>
            <p:cNvSpPr/>
            <p:nvPr/>
          </p:nvSpPr>
          <p:spPr>
            <a:xfrm>
              <a:off x="10139699" y="2949252"/>
              <a:ext cx="3024222" cy="227593"/>
            </a:xfrm>
            <a:prstGeom prst="rect">
              <a:avLst/>
            </a:prstGeom>
            <a:solidFill>
              <a:schemeClr val="lt1"/>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sp>
          <p:nvSpPr>
            <p:cNvPr id="448" name="TextBox 447">
              <a:extLst>
                <a:ext uri="{FF2B5EF4-FFF2-40B4-BE49-F238E27FC236}">
                  <a16:creationId xmlns:a16="http://schemas.microsoft.com/office/drawing/2014/main" id="{1ADB3AF7-A0FC-AD88-B2BA-0BCF5F6CD8A1}"/>
                </a:ext>
              </a:extLst>
            </p:cNvPr>
            <p:cNvSpPr txBox="1"/>
            <p:nvPr/>
          </p:nvSpPr>
          <p:spPr>
            <a:xfrm>
              <a:off x="10164572" y="2884290"/>
              <a:ext cx="40900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rPr>
                <a:t>…</a:t>
              </a:r>
            </a:p>
          </p:txBody>
        </p:sp>
      </p:grpSp>
      <p:sp>
        <p:nvSpPr>
          <p:cNvPr id="493" name="Line">
            <a:extLst>
              <a:ext uri="{FF2B5EF4-FFF2-40B4-BE49-F238E27FC236}">
                <a16:creationId xmlns:a16="http://schemas.microsoft.com/office/drawing/2014/main" id="{341F854E-F02D-599C-52A5-1532D5693631}"/>
              </a:ext>
            </a:extLst>
          </p:cNvPr>
          <p:cNvSpPr/>
          <p:nvPr/>
        </p:nvSpPr>
        <p:spPr>
          <a:xfrm flipV="1">
            <a:off x="199162" y="5988715"/>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cxnSp>
        <p:nvCxnSpPr>
          <p:cNvPr id="495" name="Connector: Elbow 494">
            <a:extLst>
              <a:ext uri="{FF2B5EF4-FFF2-40B4-BE49-F238E27FC236}">
                <a16:creationId xmlns:a16="http://schemas.microsoft.com/office/drawing/2014/main" id="{0902D8AC-7B15-4A1B-8AEE-8DAB8F4D3F00}"/>
              </a:ext>
            </a:extLst>
          </p:cNvPr>
          <p:cNvCxnSpPr>
            <a:cxnSpLocks/>
            <a:stCxn id="19" idx="3"/>
          </p:cNvCxnSpPr>
          <p:nvPr/>
        </p:nvCxnSpPr>
        <p:spPr>
          <a:xfrm flipV="1">
            <a:off x="8295794" y="8665051"/>
            <a:ext cx="1945191" cy="168533"/>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498" name="Line">
            <a:extLst>
              <a:ext uri="{FF2B5EF4-FFF2-40B4-BE49-F238E27FC236}">
                <a16:creationId xmlns:a16="http://schemas.microsoft.com/office/drawing/2014/main" id="{19F09148-E5BC-6DB4-1858-BBE3F4A76CD4}"/>
              </a:ext>
            </a:extLst>
          </p:cNvPr>
          <p:cNvSpPr/>
          <p:nvPr/>
        </p:nvSpPr>
        <p:spPr>
          <a:xfrm flipV="1">
            <a:off x="213255" y="4030267"/>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99" name="Use headers, colors, and/or backgrounds to separate or group together sections.">
            <a:extLst>
              <a:ext uri="{FF2B5EF4-FFF2-40B4-BE49-F238E27FC236}">
                <a16:creationId xmlns:a16="http://schemas.microsoft.com/office/drawing/2014/main" id="{DAF16DE7-95EC-798D-0079-EAA41AAA33BC}"/>
              </a:ext>
            </a:extLst>
          </p:cNvPr>
          <p:cNvSpPr txBox="1"/>
          <p:nvPr/>
        </p:nvSpPr>
        <p:spPr>
          <a:xfrm>
            <a:off x="238315" y="4062961"/>
            <a:ext cx="4251862" cy="14398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In order to create easily reproducible tests, Kaiaulu’s R function files contain Fake Data Generation functions. These functions can create fake data, which is utilized in </a:t>
            </a:r>
            <a:r>
              <a:rPr lang="en-US" b="0" dirty="0" err="1">
                <a:latin typeface="Source Sans Pro" panose="020B0503030403020204" pitchFamily="34" charset="0"/>
                <a:ea typeface="Source Sans Pro" panose="020B0503030403020204" pitchFamily="34" charset="0"/>
              </a:rPr>
              <a:t>Example.R</a:t>
            </a:r>
            <a:r>
              <a:rPr lang="en-US" b="0" dirty="0">
                <a:latin typeface="Source Sans Pro" panose="020B0503030403020204" pitchFamily="34" charset="0"/>
                <a:ea typeface="Source Sans Pro" panose="020B0503030403020204" pitchFamily="34" charset="0"/>
              </a:rPr>
              <a:t>. This file contains functions which use the fake data functions to easily reproduce raw data that creates odd behavior in Kaiaulu. This, in turn, allows the data to be called by the unit tests, and ensures that users will not have to deal with that same erroneous case ever again. </a:t>
            </a:r>
          </a:p>
        </p:txBody>
      </p:sp>
      <p:sp>
        <p:nvSpPr>
          <p:cNvPr id="502" name="TextBox 501">
            <a:extLst>
              <a:ext uri="{FF2B5EF4-FFF2-40B4-BE49-F238E27FC236}">
                <a16:creationId xmlns:a16="http://schemas.microsoft.com/office/drawing/2014/main" id="{61453C0B-BD4C-60B6-61FE-00AADD51CE85}"/>
              </a:ext>
            </a:extLst>
          </p:cNvPr>
          <p:cNvSpPr txBox="1"/>
          <p:nvPr/>
        </p:nvSpPr>
        <p:spPr>
          <a:xfrm>
            <a:off x="5881426" y="4615933"/>
            <a:ext cx="62615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2000" b="0" dirty="0"/>
              <a:t>R/**</a:t>
            </a:r>
          </a:p>
        </p:txBody>
      </p:sp>
      <p:sp>
        <p:nvSpPr>
          <p:cNvPr id="504" name="Create a visual hierarchy. Help users navigate the page with titles, subtitles, and subsubtitles">
            <a:extLst>
              <a:ext uri="{FF2B5EF4-FFF2-40B4-BE49-F238E27FC236}">
                <a16:creationId xmlns:a16="http://schemas.microsoft.com/office/drawing/2014/main" id="{149B1233-D4C3-3CF4-D25D-409AC0D7E2E0}"/>
              </a:ext>
            </a:extLst>
          </p:cNvPr>
          <p:cNvSpPr txBox="1"/>
          <p:nvPr/>
        </p:nvSpPr>
        <p:spPr>
          <a:xfrm>
            <a:off x="10406271" y="2026651"/>
            <a:ext cx="1138332"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GitHub Actions</a:t>
            </a:r>
            <a:endParaRPr lang="en-US" dirty="0">
              <a:latin typeface="Source Sans Pro" panose="020B0503030403020204" pitchFamily="34" charset="0"/>
              <a:ea typeface="Source Sans Pro" panose="020B0503030403020204" pitchFamily="34" charset="0"/>
              <a:sym typeface="Source Sans Pro"/>
            </a:endParaRPr>
          </a:p>
        </p:txBody>
      </p:sp>
      <p:pic>
        <p:nvPicPr>
          <p:cNvPr id="50" name="Picture 49" descr="Account ">
            <a:extLst>
              <a:ext uri="{FF2B5EF4-FFF2-40B4-BE49-F238E27FC236}">
                <a16:creationId xmlns:a16="http://schemas.microsoft.com/office/drawing/2014/main" id="{7A980440-9AE9-3629-BA71-7DFDF96ECC6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1999898" y="2246025"/>
            <a:ext cx="306136" cy="306136"/>
          </a:xfrm>
          <a:prstGeom prst="rect">
            <a:avLst/>
          </a:prstGeom>
          <a:noFill/>
          <a:extLst>
            <a:ext uri="{909E8E84-426E-40DD-AFC4-6F175D3DCCD1}">
              <a14:hiddenFill xmlns:a14="http://schemas.microsoft.com/office/drawing/2010/main">
                <a:solidFill>
                  <a:srgbClr val="FFFFFF"/>
                </a:solidFill>
              </a14:hiddenFill>
            </a:ext>
          </a:extLst>
        </p:spPr>
      </p:pic>
      <p:pic>
        <p:nvPicPr>
          <p:cNvPr id="481" name="Google Shape;214;p15">
            <a:extLst>
              <a:ext uri="{FF2B5EF4-FFF2-40B4-BE49-F238E27FC236}">
                <a16:creationId xmlns:a16="http://schemas.microsoft.com/office/drawing/2014/main" id="{9C7B8C69-D76A-D4D4-A76D-D3C74FBE8B3C}"/>
              </a:ext>
            </a:extLst>
          </p:cNvPr>
          <p:cNvPicPr preferRelativeResize="0"/>
          <p:nvPr/>
        </p:nvPicPr>
        <p:blipFill>
          <a:blip r:embed="rId9">
            <a:alphaModFix/>
          </a:blip>
          <a:stretch>
            <a:fillRect/>
          </a:stretch>
        </p:blipFill>
        <p:spPr>
          <a:xfrm>
            <a:off x="9818004" y="2157960"/>
            <a:ext cx="476766" cy="456900"/>
          </a:xfrm>
          <a:prstGeom prst="rect">
            <a:avLst/>
          </a:prstGeom>
          <a:noFill/>
          <a:ln>
            <a:noFill/>
          </a:ln>
        </p:spPr>
      </p:pic>
      <p:grpSp>
        <p:nvGrpSpPr>
          <p:cNvPr id="520" name="Group 519">
            <a:extLst>
              <a:ext uri="{FF2B5EF4-FFF2-40B4-BE49-F238E27FC236}">
                <a16:creationId xmlns:a16="http://schemas.microsoft.com/office/drawing/2014/main" id="{9A594FFC-C929-DBE8-E30C-1E01E41A1A23}"/>
              </a:ext>
            </a:extLst>
          </p:cNvPr>
          <p:cNvGrpSpPr/>
          <p:nvPr/>
        </p:nvGrpSpPr>
        <p:grpSpPr>
          <a:xfrm>
            <a:off x="10857071" y="2164854"/>
            <a:ext cx="526129" cy="375540"/>
            <a:chOff x="9482063" y="3370485"/>
            <a:chExt cx="526129" cy="375540"/>
          </a:xfrm>
        </p:grpSpPr>
        <p:sp>
          <p:nvSpPr>
            <p:cNvPr id="486" name="Google Shape;236;p15">
              <a:extLst>
                <a:ext uri="{FF2B5EF4-FFF2-40B4-BE49-F238E27FC236}">
                  <a16:creationId xmlns:a16="http://schemas.microsoft.com/office/drawing/2014/main" id="{0CC11C54-49C0-2C99-7EAC-BBA96FA68FE6}"/>
                </a:ext>
              </a:extLst>
            </p:cNvPr>
            <p:cNvSpPr/>
            <p:nvPr/>
          </p:nvSpPr>
          <p:spPr>
            <a:xfrm>
              <a:off x="9567136" y="3458331"/>
              <a:ext cx="310026" cy="287694"/>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483" name="Google Shape;237;p15">
              <a:extLst>
                <a:ext uri="{FF2B5EF4-FFF2-40B4-BE49-F238E27FC236}">
                  <a16:creationId xmlns:a16="http://schemas.microsoft.com/office/drawing/2014/main" id="{8E38AE91-087C-F46F-9C0F-909CFD60AD52}"/>
                </a:ext>
              </a:extLst>
            </p:cNvPr>
            <p:cNvSpPr txBox="1"/>
            <p:nvPr/>
          </p:nvSpPr>
          <p:spPr>
            <a:xfrm>
              <a:off x="9482063" y="3370485"/>
              <a:ext cx="526129" cy="263210"/>
            </a:xfrm>
            <a:prstGeom prst="rect">
              <a:avLst/>
            </a:prstGeom>
            <a:noFill/>
            <a:ln>
              <a:noFill/>
            </a:ln>
          </p:spPr>
          <p:txBody>
            <a:bodyPr spcFirstLastPara="1" wrap="square" lIns="127722" tIns="127722" rIns="127722" bIns="127722" anchor="t" anchorCtr="0">
              <a:noAutofit/>
            </a:bodyPr>
            <a:lstStyle/>
            <a:p>
              <a:pPr>
                <a:spcBef>
                  <a:spcPts val="0"/>
                </a:spcBef>
              </a:pPr>
              <a:r>
                <a:rPr lang="en" sz="1400" dirty="0">
                  <a:solidFill>
                    <a:schemeClr val="lt1"/>
                  </a:solidFill>
                </a:rPr>
                <a:t>GH</a:t>
              </a:r>
              <a:endParaRPr sz="1400" dirty="0">
                <a:solidFill>
                  <a:schemeClr val="lt1"/>
                </a:solidFill>
              </a:endParaRPr>
            </a:p>
          </p:txBody>
        </p:sp>
      </p:grpSp>
      <p:pic>
        <p:nvPicPr>
          <p:cNvPr id="487" name="Picture 486" descr="Account ">
            <a:extLst>
              <a:ext uri="{FF2B5EF4-FFF2-40B4-BE49-F238E27FC236}">
                <a16:creationId xmlns:a16="http://schemas.microsoft.com/office/drawing/2014/main" id="{E9B08F36-1D8E-B4DB-79AA-CADB2EEC79F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3036780" y="2237773"/>
            <a:ext cx="306136" cy="306136"/>
          </a:xfrm>
          <a:prstGeom prst="rect">
            <a:avLst/>
          </a:prstGeom>
          <a:noFill/>
          <a:extLst>
            <a:ext uri="{909E8E84-426E-40DD-AFC4-6F175D3DCCD1}">
              <a14:hiddenFill xmlns:a14="http://schemas.microsoft.com/office/drawing/2010/main">
                <a:solidFill>
                  <a:srgbClr val="FFFFFF"/>
                </a:solidFill>
              </a14:hiddenFill>
            </a:ext>
          </a:extLst>
        </p:spPr>
      </p:pic>
      <p:sp>
        <p:nvSpPr>
          <p:cNvPr id="490" name="Create a visual hierarchy. Help users navigate the page with titles, subtitles, and subsubtitles">
            <a:extLst>
              <a:ext uri="{FF2B5EF4-FFF2-40B4-BE49-F238E27FC236}">
                <a16:creationId xmlns:a16="http://schemas.microsoft.com/office/drawing/2014/main" id="{8FDF523B-F985-7F66-EEC6-28215F35A59A}"/>
              </a:ext>
            </a:extLst>
          </p:cNvPr>
          <p:cNvSpPr txBox="1"/>
          <p:nvPr/>
        </p:nvSpPr>
        <p:spPr>
          <a:xfrm>
            <a:off x="11507864" y="2024322"/>
            <a:ext cx="1241412"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rPr>
              <a:t>Quality Manager</a:t>
            </a:r>
            <a:endParaRPr lang="en-US" dirty="0">
              <a:latin typeface="Source Sans Pro" panose="020B0503030403020204" pitchFamily="34" charset="0"/>
              <a:ea typeface="Source Sans Pro" panose="020B0503030403020204" pitchFamily="34" charset="0"/>
              <a:sym typeface="Source Sans Pro"/>
            </a:endParaRPr>
          </a:p>
        </p:txBody>
      </p:sp>
      <p:sp>
        <p:nvSpPr>
          <p:cNvPr id="491" name="Create a visual hierarchy. Help users navigate the page with titles, subtitles, and subsubtitles">
            <a:extLst>
              <a:ext uri="{FF2B5EF4-FFF2-40B4-BE49-F238E27FC236}">
                <a16:creationId xmlns:a16="http://schemas.microsoft.com/office/drawing/2014/main" id="{BCFACB14-4DA4-3DF8-A179-6A02AC60EECD}"/>
              </a:ext>
            </a:extLst>
          </p:cNvPr>
          <p:cNvSpPr txBox="1"/>
          <p:nvPr/>
        </p:nvSpPr>
        <p:spPr>
          <a:xfrm>
            <a:off x="12705683" y="2029130"/>
            <a:ext cx="1200148"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a:rPr>
              <a:t>Code Architect</a:t>
            </a:r>
            <a:endParaRPr lang="en-US" dirty="0">
              <a:latin typeface="Source Sans Pro" panose="020B0503030403020204" pitchFamily="34" charset="0"/>
              <a:ea typeface="Source Sans Pro" panose="020B0503030403020204" pitchFamily="34" charset="0"/>
              <a:sym typeface="Source Sans Pro"/>
            </a:endParaRPr>
          </a:p>
        </p:txBody>
      </p:sp>
      <p:pic>
        <p:nvPicPr>
          <p:cNvPr id="508" name="Graphic 507" descr="Paper outline">
            <a:extLst>
              <a:ext uri="{FF2B5EF4-FFF2-40B4-BE49-F238E27FC236}">
                <a16:creationId xmlns:a16="http://schemas.microsoft.com/office/drawing/2014/main" id="{604F6BC2-D1FB-9F8E-7C03-4308E082274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20126" y="4594953"/>
            <a:ext cx="1045469" cy="1045469"/>
          </a:xfrm>
          <a:prstGeom prst="rect">
            <a:avLst/>
          </a:prstGeom>
        </p:spPr>
      </p:pic>
      <p:grpSp>
        <p:nvGrpSpPr>
          <p:cNvPr id="509" name="Group 508">
            <a:extLst>
              <a:ext uri="{FF2B5EF4-FFF2-40B4-BE49-F238E27FC236}">
                <a16:creationId xmlns:a16="http://schemas.microsoft.com/office/drawing/2014/main" id="{1D52B599-B9A7-0EAA-A959-9D26EF55DA8B}"/>
              </a:ext>
            </a:extLst>
          </p:cNvPr>
          <p:cNvGrpSpPr/>
          <p:nvPr/>
        </p:nvGrpSpPr>
        <p:grpSpPr>
          <a:xfrm>
            <a:off x="6492227" y="4631233"/>
            <a:ext cx="1159502" cy="954670"/>
            <a:chOff x="4984006" y="2613760"/>
            <a:chExt cx="1159502" cy="954670"/>
          </a:xfrm>
        </p:grpSpPr>
        <p:sp>
          <p:nvSpPr>
            <p:cNvPr id="510" name="TextBox 509">
              <a:extLst>
                <a:ext uri="{FF2B5EF4-FFF2-40B4-BE49-F238E27FC236}">
                  <a16:creationId xmlns:a16="http://schemas.microsoft.com/office/drawing/2014/main" id="{7490F761-3817-7CA9-8CE5-CE899EF32F99}"/>
                </a:ext>
              </a:extLst>
            </p:cNvPr>
            <p:cNvSpPr txBox="1"/>
            <p:nvPr/>
          </p:nvSpPr>
          <p:spPr>
            <a:xfrm>
              <a:off x="4984006" y="2613760"/>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0" i="0" u="none" strike="noStrike" cap="none" spc="0" normalizeH="0" baseline="0" dirty="0">
                  <a:ln>
                    <a:noFill/>
                  </a:ln>
                  <a:solidFill>
                    <a:srgbClr val="4C4C4C"/>
                  </a:solidFill>
                  <a:effectLst/>
                  <a:uFillTx/>
                  <a:latin typeface="Source Sans Pro"/>
                  <a:ea typeface="Source Sans Pro"/>
                  <a:cs typeface="Source Sans Pro"/>
                  <a:sym typeface="Source Sans Pro"/>
                </a:rPr>
                <a:t>Downloaders</a:t>
              </a:r>
              <a:endParaRPr lang="en-US" sz="500" b="0" dirty="0"/>
            </a:p>
          </p:txBody>
        </p:sp>
        <p:sp>
          <p:nvSpPr>
            <p:cNvPr id="511" name="TextBox 510">
              <a:extLst>
                <a:ext uri="{FF2B5EF4-FFF2-40B4-BE49-F238E27FC236}">
                  <a16:creationId xmlns:a16="http://schemas.microsoft.com/office/drawing/2014/main" id="{3B37AB35-1982-D84F-0BAE-7352ED9E3AD9}"/>
                </a:ext>
              </a:extLst>
            </p:cNvPr>
            <p:cNvSpPr txBox="1"/>
            <p:nvPr/>
          </p:nvSpPr>
          <p:spPr>
            <a:xfrm>
              <a:off x="4986272" y="2674821"/>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b="0" dirty="0"/>
                <a:t>f</a:t>
              </a:r>
              <a:r>
                <a:rPr kumimoji="0" lang="en-US" sz="3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p:txBody>
        </p:sp>
        <p:sp>
          <p:nvSpPr>
            <p:cNvPr id="256" name="TextBox 255">
              <a:extLst>
                <a:ext uri="{FF2B5EF4-FFF2-40B4-BE49-F238E27FC236}">
                  <a16:creationId xmlns:a16="http://schemas.microsoft.com/office/drawing/2014/main" id="{236858E9-1032-3337-F048-6F21EF70E07D}"/>
                </a:ext>
              </a:extLst>
            </p:cNvPr>
            <p:cNvSpPr txBox="1"/>
            <p:nvPr/>
          </p:nvSpPr>
          <p:spPr>
            <a:xfrm>
              <a:off x="4984006" y="2855766"/>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0" i="0" u="none" strike="noStrike" cap="none" spc="0" normalizeH="0" baseline="0" dirty="0">
                  <a:ln>
                    <a:noFill/>
                  </a:ln>
                  <a:solidFill>
                    <a:srgbClr val="4C4C4C"/>
                  </a:solidFill>
                  <a:effectLst/>
                  <a:uFillTx/>
                  <a:latin typeface="Source Sans Pro"/>
                  <a:ea typeface="Source Sans Pro"/>
                  <a:cs typeface="Source Sans Pro"/>
                  <a:sym typeface="Source Sans Pro"/>
                </a:rPr>
                <a:t>Parsers</a:t>
              </a:r>
              <a:endParaRPr lang="en-US" sz="500" b="0" dirty="0"/>
            </a:p>
          </p:txBody>
        </p:sp>
        <p:sp>
          <p:nvSpPr>
            <p:cNvPr id="257" name="TextBox 256">
              <a:extLst>
                <a:ext uri="{FF2B5EF4-FFF2-40B4-BE49-F238E27FC236}">
                  <a16:creationId xmlns:a16="http://schemas.microsoft.com/office/drawing/2014/main" id="{7FF5EDDF-7668-7517-7F3D-329993AECBE7}"/>
                </a:ext>
              </a:extLst>
            </p:cNvPr>
            <p:cNvSpPr txBox="1"/>
            <p:nvPr/>
          </p:nvSpPr>
          <p:spPr>
            <a:xfrm>
              <a:off x="4984006" y="3111851"/>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0" i="0" u="none" strike="noStrike" cap="none" spc="0" normalizeH="0" baseline="0" dirty="0">
                  <a:ln>
                    <a:noFill/>
                  </a:ln>
                  <a:solidFill>
                    <a:srgbClr val="4C4C4C"/>
                  </a:solidFill>
                  <a:effectLst/>
                  <a:uFillTx/>
                  <a:latin typeface="Source Sans Pro"/>
                  <a:ea typeface="Source Sans Pro"/>
                  <a:cs typeface="Source Sans Pro"/>
                  <a:sym typeface="Source Sans Pro"/>
                </a:rPr>
                <a:t>Transforms</a:t>
              </a:r>
              <a:endParaRPr lang="en-US" sz="500" b="0" dirty="0"/>
            </a:p>
          </p:txBody>
        </p:sp>
        <p:sp>
          <p:nvSpPr>
            <p:cNvPr id="258" name="TextBox 257">
              <a:extLst>
                <a:ext uri="{FF2B5EF4-FFF2-40B4-BE49-F238E27FC236}">
                  <a16:creationId xmlns:a16="http://schemas.microsoft.com/office/drawing/2014/main" id="{256523FA-6ED5-A640-FBC6-A1C92C0FC9B0}"/>
                </a:ext>
              </a:extLst>
            </p:cNvPr>
            <p:cNvSpPr txBox="1"/>
            <p:nvPr/>
          </p:nvSpPr>
          <p:spPr>
            <a:xfrm>
              <a:off x="4986272" y="2926948"/>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b="0" dirty="0"/>
                <a:t>f</a:t>
              </a:r>
              <a:r>
                <a:rPr kumimoji="0" lang="en-US" sz="3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p:txBody>
        </p:sp>
        <p:sp>
          <p:nvSpPr>
            <p:cNvPr id="259" name="TextBox 258">
              <a:extLst>
                <a:ext uri="{FF2B5EF4-FFF2-40B4-BE49-F238E27FC236}">
                  <a16:creationId xmlns:a16="http://schemas.microsoft.com/office/drawing/2014/main" id="{D9C2C4A2-6C11-7DBE-C4B2-5A4FEEE2123D}"/>
                </a:ext>
              </a:extLst>
            </p:cNvPr>
            <p:cNvSpPr txBox="1"/>
            <p:nvPr/>
          </p:nvSpPr>
          <p:spPr>
            <a:xfrm>
              <a:off x="4986272" y="3178756"/>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b="0" dirty="0"/>
                <a:t>f</a:t>
              </a:r>
              <a:r>
                <a:rPr kumimoji="0" lang="en-US" sz="3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p:txBody>
        </p:sp>
        <p:sp>
          <p:nvSpPr>
            <p:cNvPr id="260" name="TextBox 259">
              <a:extLst>
                <a:ext uri="{FF2B5EF4-FFF2-40B4-BE49-F238E27FC236}">
                  <a16:creationId xmlns:a16="http://schemas.microsoft.com/office/drawing/2014/main" id="{9AC33708-3B85-D00F-5261-A1E33F182CEA}"/>
                </a:ext>
              </a:extLst>
            </p:cNvPr>
            <p:cNvSpPr txBox="1"/>
            <p:nvPr/>
          </p:nvSpPr>
          <p:spPr>
            <a:xfrm>
              <a:off x="4984006" y="3355632"/>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500" b="0" dirty="0"/>
                <a:t>Fake Data Generator</a:t>
              </a:r>
            </a:p>
          </p:txBody>
        </p:sp>
      </p:grpSp>
      <p:grpSp>
        <p:nvGrpSpPr>
          <p:cNvPr id="271" name="Group 270">
            <a:extLst>
              <a:ext uri="{FF2B5EF4-FFF2-40B4-BE49-F238E27FC236}">
                <a16:creationId xmlns:a16="http://schemas.microsoft.com/office/drawing/2014/main" id="{B22DA8BB-0E92-2CA2-769F-4A19224A6801}"/>
              </a:ext>
            </a:extLst>
          </p:cNvPr>
          <p:cNvGrpSpPr/>
          <p:nvPr/>
        </p:nvGrpSpPr>
        <p:grpSpPr>
          <a:xfrm>
            <a:off x="7203840" y="5367383"/>
            <a:ext cx="1331603" cy="1154569"/>
            <a:chOff x="7369655" y="5336046"/>
            <a:chExt cx="1331603" cy="1154569"/>
          </a:xfrm>
        </p:grpSpPr>
        <p:sp>
          <p:nvSpPr>
            <p:cNvPr id="22" name="Google Shape;306;p17">
              <a:extLst>
                <a:ext uri="{FF2B5EF4-FFF2-40B4-BE49-F238E27FC236}">
                  <a16:creationId xmlns:a16="http://schemas.microsoft.com/office/drawing/2014/main" id="{DC85F8DB-B3DB-159B-628F-B0CB7A6EAD2A}"/>
                </a:ext>
              </a:extLst>
            </p:cNvPr>
            <p:cNvSpPr txBox="1"/>
            <p:nvPr/>
          </p:nvSpPr>
          <p:spPr>
            <a:xfrm>
              <a:off x="7414103" y="6085190"/>
              <a:ext cx="928261"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src.R</a:t>
              </a:r>
              <a:endParaRPr sz="1000" b="0" dirty="0">
                <a:solidFill>
                  <a:schemeClr val="dk2"/>
                </a:solidFill>
              </a:endParaRPr>
            </a:p>
          </p:txBody>
        </p:sp>
        <p:pic>
          <p:nvPicPr>
            <p:cNvPr id="261" name="Graphic 260" descr="Paper outline">
              <a:extLst>
                <a:ext uri="{FF2B5EF4-FFF2-40B4-BE49-F238E27FC236}">
                  <a16:creationId xmlns:a16="http://schemas.microsoft.com/office/drawing/2014/main" id="{9B88906F-B8F6-02E1-F5BA-259E1F8DEE3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369655" y="5336046"/>
              <a:ext cx="1045469" cy="1045469"/>
            </a:xfrm>
            <a:prstGeom prst="rect">
              <a:avLst/>
            </a:prstGeom>
          </p:spPr>
        </p:pic>
        <p:grpSp>
          <p:nvGrpSpPr>
            <p:cNvPr id="262" name="Group 261">
              <a:extLst>
                <a:ext uri="{FF2B5EF4-FFF2-40B4-BE49-F238E27FC236}">
                  <a16:creationId xmlns:a16="http://schemas.microsoft.com/office/drawing/2014/main" id="{27071E10-BE89-A204-9275-46DAB4CE4AC2}"/>
                </a:ext>
              </a:extLst>
            </p:cNvPr>
            <p:cNvGrpSpPr/>
            <p:nvPr/>
          </p:nvGrpSpPr>
          <p:grpSpPr>
            <a:xfrm>
              <a:off x="7541756" y="5372326"/>
              <a:ext cx="1159502" cy="954670"/>
              <a:chOff x="4984006" y="2613760"/>
              <a:chExt cx="1159502" cy="954670"/>
            </a:xfrm>
          </p:grpSpPr>
          <p:sp>
            <p:nvSpPr>
              <p:cNvPr id="263" name="TextBox 262">
                <a:extLst>
                  <a:ext uri="{FF2B5EF4-FFF2-40B4-BE49-F238E27FC236}">
                    <a16:creationId xmlns:a16="http://schemas.microsoft.com/office/drawing/2014/main" id="{69D85845-28D7-F623-5B9A-140F0141A5E3}"/>
                  </a:ext>
                </a:extLst>
              </p:cNvPr>
              <p:cNvSpPr txBox="1"/>
              <p:nvPr/>
            </p:nvSpPr>
            <p:spPr>
              <a:xfrm>
                <a:off x="4984006" y="2613760"/>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0" i="0" u="none" strike="noStrike" cap="none" spc="0" normalizeH="0" baseline="0" dirty="0">
                    <a:ln>
                      <a:noFill/>
                    </a:ln>
                    <a:solidFill>
                      <a:srgbClr val="4C4C4C"/>
                    </a:solidFill>
                    <a:effectLst/>
                    <a:uFillTx/>
                    <a:latin typeface="Source Sans Pro"/>
                    <a:ea typeface="Source Sans Pro"/>
                    <a:cs typeface="Source Sans Pro"/>
                    <a:sym typeface="Source Sans Pro"/>
                  </a:rPr>
                  <a:t>Downloaders</a:t>
                </a:r>
                <a:endParaRPr lang="en-US" sz="500" b="0" dirty="0"/>
              </a:p>
            </p:txBody>
          </p:sp>
          <p:sp>
            <p:nvSpPr>
              <p:cNvPr id="264" name="TextBox 263">
                <a:extLst>
                  <a:ext uri="{FF2B5EF4-FFF2-40B4-BE49-F238E27FC236}">
                    <a16:creationId xmlns:a16="http://schemas.microsoft.com/office/drawing/2014/main" id="{AC5B6956-8B1A-574D-5C71-AD15BECA9072}"/>
                  </a:ext>
                </a:extLst>
              </p:cNvPr>
              <p:cNvSpPr txBox="1"/>
              <p:nvPr/>
            </p:nvSpPr>
            <p:spPr>
              <a:xfrm>
                <a:off x="4986272" y="2674821"/>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b="0" dirty="0"/>
                  <a:t>f</a:t>
                </a:r>
                <a:r>
                  <a:rPr kumimoji="0" lang="en-US" sz="3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p:txBody>
          </p:sp>
          <p:sp>
            <p:nvSpPr>
              <p:cNvPr id="265" name="TextBox 264">
                <a:extLst>
                  <a:ext uri="{FF2B5EF4-FFF2-40B4-BE49-F238E27FC236}">
                    <a16:creationId xmlns:a16="http://schemas.microsoft.com/office/drawing/2014/main" id="{E8DDACAB-1BE2-4BD9-97F5-D8C93B59B981}"/>
                  </a:ext>
                </a:extLst>
              </p:cNvPr>
              <p:cNvSpPr txBox="1"/>
              <p:nvPr/>
            </p:nvSpPr>
            <p:spPr>
              <a:xfrm>
                <a:off x="4984006" y="2855766"/>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0" i="0" u="none" strike="noStrike" cap="none" spc="0" normalizeH="0" baseline="0" dirty="0">
                    <a:ln>
                      <a:noFill/>
                    </a:ln>
                    <a:solidFill>
                      <a:srgbClr val="4C4C4C"/>
                    </a:solidFill>
                    <a:effectLst/>
                    <a:uFillTx/>
                    <a:latin typeface="Source Sans Pro"/>
                    <a:ea typeface="Source Sans Pro"/>
                    <a:cs typeface="Source Sans Pro"/>
                    <a:sym typeface="Source Sans Pro"/>
                  </a:rPr>
                  <a:t>Parsers</a:t>
                </a:r>
                <a:endParaRPr lang="en-US" sz="500" b="0" dirty="0"/>
              </a:p>
            </p:txBody>
          </p:sp>
          <p:sp>
            <p:nvSpPr>
              <p:cNvPr id="266" name="TextBox 265">
                <a:extLst>
                  <a:ext uri="{FF2B5EF4-FFF2-40B4-BE49-F238E27FC236}">
                    <a16:creationId xmlns:a16="http://schemas.microsoft.com/office/drawing/2014/main" id="{DEF38FD9-1279-01EB-ED62-BA6A2470E034}"/>
                  </a:ext>
                </a:extLst>
              </p:cNvPr>
              <p:cNvSpPr txBox="1"/>
              <p:nvPr/>
            </p:nvSpPr>
            <p:spPr>
              <a:xfrm>
                <a:off x="4984006" y="3111851"/>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0" i="0" u="none" strike="noStrike" cap="none" spc="0" normalizeH="0" baseline="0" dirty="0">
                    <a:ln>
                      <a:noFill/>
                    </a:ln>
                    <a:solidFill>
                      <a:srgbClr val="4C4C4C"/>
                    </a:solidFill>
                    <a:effectLst/>
                    <a:uFillTx/>
                    <a:latin typeface="Source Sans Pro"/>
                    <a:ea typeface="Source Sans Pro"/>
                    <a:cs typeface="Source Sans Pro"/>
                    <a:sym typeface="Source Sans Pro"/>
                  </a:rPr>
                  <a:t>Transforms</a:t>
                </a:r>
                <a:endParaRPr lang="en-US" sz="500" b="0" dirty="0"/>
              </a:p>
            </p:txBody>
          </p:sp>
          <p:sp>
            <p:nvSpPr>
              <p:cNvPr id="267" name="TextBox 266">
                <a:extLst>
                  <a:ext uri="{FF2B5EF4-FFF2-40B4-BE49-F238E27FC236}">
                    <a16:creationId xmlns:a16="http://schemas.microsoft.com/office/drawing/2014/main" id="{E09F5673-630A-9082-3C7B-99425DCB5A26}"/>
                  </a:ext>
                </a:extLst>
              </p:cNvPr>
              <p:cNvSpPr txBox="1"/>
              <p:nvPr/>
            </p:nvSpPr>
            <p:spPr>
              <a:xfrm>
                <a:off x="4986272" y="2926948"/>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b="0" dirty="0"/>
                  <a:t>f</a:t>
                </a:r>
                <a:r>
                  <a:rPr kumimoji="0" lang="en-US" sz="3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p:txBody>
          </p:sp>
          <p:sp>
            <p:nvSpPr>
              <p:cNvPr id="268" name="TextBox 267">
                <a:extLst>
                  <a:ext uri="{FF2B5EF4-FFF2-40B4-BE49-F238E27FC236}">
                    <a16:creationId xmlns:a16="http://schemas.microsoft.com/office/drawing/2014/main" id="{36ACDC41-3DAD-6A8A-385C-88C3E10CBE35}"/>
                  </a:ext>
                </a:extLst>
              </p:cNvPr>
              <p:cNvSpPr txBox="1"/>
              <p:nvPr/>
            </p:nvSpPr>
            <p:spPr>
              <a:xfrm>
                <a:off x="4986272" y="3178756"/>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b="0" dirty="0"/>
                  <a:t>f</a:t>
                </a:r>
                <a:r>
                  <a:rPr kumimoji="0" lang="en-US" sz="3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p:txBody>
          </p:sp>
          <p:sp>
            <p:nvSpPr>
              <p:cNvPr id="269" name="TextBox 268">
                <a:extLst>
                  <a:ext uri="{FF2B5EF4-FFF2-40B4-BE49-F238E27FC236}">
                    <a16:creationId xmlns:a16="http://schemas.microsoft.com/office/drawing/2014/main" id="{AA53EE94-C592-D789-1834-B6330CE4E663}"/>
                  </a:ext>
                </a:extLst>
              </p:cNvPr>
              <p:cNvSpPr txBox="1"/>
              <p:nvPr/>
            </p:nvSpPr>
            <p:spPr>
              <a:xfrm>
                <a:off x="4984006" y="3355632"/>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500" b="0" dirty="0"/>
                  <a:t>Fake Data Generator</a:t>
                </a:r>
              </a:p>
            </p:txBody>
          </p:sp>
        </p:grpSp>
      </p:grpSp>
      <p:sp>
        <p:nvSpPr>
          <p:cNvPr id="270" name="Arrow: Bent 269">
            <a:extLst>
              <a:ext uri="{FF2B5EF4-FFF2-40B4-BE49-F238E27FC236}">
                <a16:creationId xmlns:a16="http://schemas.microsoft.com/office/drawing/2014/main" id="{916E9BD2-228F-B9FC-BAC1-038987AAAE79}"/>
              </a:ext>
            </a:extLst>
          </p:cNvPr>
          <p:cNvSpPr/>
          <p:nvPr/>
        </p:nvSpPr>
        <p:spPr>
          <a:xfrm rot="16200000" flipH="1">
            <a:off x="6003735" y="4919870"/>
            <a:ext cx="271357" cy="571242"/>
          </a:xfrm>
          <a:prstGeom prst="bentArrow">
            <a:avLst>
              <a:gd name="adj1" fmla="val 26652"/>
              <a:gd name="adj2" fmla="val 25000"/>
              <a:gd name="adj3" fmla="val 25000"/>
              <a:gd name="adj4" fmla="val 43750"/>
            </a:avLst>
          </a:prstGeom>
          <a:solidFill>
            <a:srgbClr val="4C4C4C"/>
          </a:solidFill>
          <a:ln w="12700" cap="flat">
            <a:solidFill>
              <a:srgbClr val="4C4C4C"/>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uFillTx/>
              <a:latin typeface="Source Sans Pro"/>
              <a:ea typeface="Source Sans Pro"/>
              <a:cs typeface="Source Sans Pro"/>
              <a:sym typeface="Source Sans Pro"/>
            </a:endParaRPr>
          </a:p>
        </p:txBody>
      </p:sp>
      <p:sp>
        <p:nvSpPr>
          <p:cNvPr id="272" name="Arrow: Bent 271">
            <a:extLst>
              <a:ext uri="{FF2B5EF4-FFF2-40B4-BE49-F238E27FC236}">
                <a16:creationId xmlns:a16="http://schemas.microsoft.com/office/drawing/2014/main" id="{A5F90FAA-7171-399A-024D-F1C9E188C885}"/>
              </a:ext>
            </a:extLst>
          </p:cNvPr>
          <p:cNvSpPr/>
          <p:nvPr/>
        </p:nvSpPr>
        <p:spPr>
          <a:xfrm flipH="1">
            <a:off x="7286293" y="5054375"/>
            <a:ext cx="515872" cy="295369"/>
          </a:xfrm>
          <a:prstGeom prst="bentArrow">
            <a:avLst>
              <a:gd name="adj1" fmla="val 26652"/>
              <a:gd name="adj2" fmla="val 25000"/>
              <a:gd name="adj3" fmla="val 25000"/>
              <a:gd name="adj4" fmla="val 43750"/>
            </a:avLst>
          </a:prstGeom>
          <a:solidFill>
            <a:srgbClr val="4C4C4C"/>
          </a:solidFill>
          <a:ln w="12700" cap="flat">
            <a:solidFill>
              <a:srgbClr val="4C4C4C"/>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uFillTx/>
              <a:latin typeface="Source Sans Pro"/>
              <a:ea typeface="Source Sans Pro"/>
              <a:cs typeface="Source Sans Pro"/>
              <a:sym typeface="Source Sans Pro"/>
            </a:endParaRPr>
          </a:p>
        </p:txBody>
      </p:sp>
      <p:sp>
        <p:nvSpPr>
          <p:cNvPr id="273" name="Arrow: Bent 272">
            <a:extLst>
              <a:ext uri="{FF2B5EF4-FFF2-40B4-BE49-F238E27FC236}">
                <a16:creationId xmlns:a16="http://schemas.microsoft.com/office/drawing/2014/main" id="{D26BE2D6-0D75-4276-2494-444B6227DD19}"/>
              </a:ext>
            </a:extLst>
          </p:cNvPr>
          <p:cNvSpPr/>
          <p:nvPr/>
        </p:nvSpPr>
        <p:spPr>
          <a:xfrm rot="10800000" flipH="1">
            <a:off x="5906087" y="6521443"/>
            <a:ext cx="271357" cy="571242"/>
          </a:xfrm>
          <a:prstGeom prst="bentArrow">
            <a:avLst>
              <a:gd name="adj1" fmla="val 26652"/>
              <a:gd name="adj2" fmla="val 25000"/>
              <a:gd name="adj3" fmla="val 25000"/>
              <a:gd name="adj4" fmla="val 43750"/>
            </a:avLst>
          </a:prstGeom>
          <a:solidFill>
            <a:srgbClr val="4C4C4C"/>
          </a:solidFill>
          <a:ln w="12700" cap="flat">
            <a:solidFill>
              <a:srgbClr val="4C4C4C"/>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uFillTx/>
              <a:latin typeface="Source Sans Pro"/>
              <a:ea typeface="Source Sans Pro"/>
              <a:cs typeface="Source Sans Pro"/>
              <a:sym typeface="Source Sans Pro"/>
            </a:endParaRPr>
          </a:p>
        </p:txBody>
      </p:sp>
      <p:sp>
        <p:nvSpPr>
          <p:cNvPr id="298" name="TextBox 297">
            <a:extLst>
              <a:ext uri="{FF2B5EF4-FFF2-40B4-BE49-F238E27FC236}">
                <a16:creationId xmlns:a16="http://schemas.microsoft.com/office/drawing/2014/main" id="{C49AAC17-4EAE-4335-6060-35B3A9A7F9F4}"/>
              </a:ext>
            </a:extLst>
          </p:cNvPr>
          <p:cNvSpPr txBox="1"/>
          <p:nvPr/>
        </p:nvSpPr>
        <p:spPr>
          <a:xfrm>
            <a:off x="5211579" y="2653795"/>
            <a:ext cx="956481" cy="154649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700" b="0" dirty="0"/>
              <a:t>f</a:t>
            </a:r>
            <a:r>
              <a:rPr kumimoji="0" lang="en-US" sz="700" b="0" i="0" u="none" strike="noStrike" cap="none" spc="0" normalizeH="0" baseline="0" dirty="0">
                <a:ln>
                  <a:noFill/>
                </a:ln>
                <a:solidFill>
                  <a:srgbClr val="4C4C4C"/>
                </a:solidFill>
                <a:effectLst/>
                <a:uFillTx/>
                <a:latin typeface="Source Sans Pro"/>
                <a:ea typeface="Source Sans Pro"/>
                <a:cs typeface="Source Sans Pro"/>
                <a:sym typeface="Source Sans Pro"/>
              </a:rPr>
              <a:t>unction()</a:t>
            </a:r>
          </a:p>
          <a:p>
            <a:pPr marL="0" marR="0" indent="0" algn="l" defTabSz="584200" rtl="0" fontAlgn="auto" latinLnBrk="0" hangingPunct="0">
              <a:lnSpc>
                <a:spcPct val="100000"/>
              </a:lnSpc>
              <a:spcBef>
                <a:spcPts val="200"/>
              </a:spcBef>
              <a:spcAft>
                <a:spcPts val="0"/>
              </a:spcAft>
              <a:buClrTx/>
              <a:buSzTx/>
              <a:buFontTx/>
              <a:buNone/>
              <a:tabLst/>
            </a:pPr>
            <a:r>
              <a:rPr kumimoji="0" lang="en-US" sz="700" b="0" i="0" u="none" strike="noStrike" cap="none" spc="0" normalizeH="0" baseline="0" dirty="0">
                <a:ln>
                  <a:noFill/>
                </a:ln>
                <a:solidFill>
                  <a:srgbClr val="4C4C4C"/>
                </a:solidFill>
                <a:effectLst/>
                <a:uFillTx/>
                <a:latin typeface="Source Sans Pro"/>
                <a:ea typeface="Source Sans Pro"/>
                <a:cs typeface="Source Sans Pro"/>
                <a:sym typeface="Source Sans Pro"/>
              </a:rPr>
              <a:t>try</a:t>
            </a:r>
          </a:p>
          <a:p>
            <a:pPr marL="0" marR="0" indent="0" algn="l" defTabSz="584200" rtl="0" fontAlgn="auto" latinLnBrk="0" hangingPunct="0">
              <a:lnSpc>
                <a:spcPct val="100000"/>
              </a:lnSpc>
              <a:spcBef>
                <a:spcPts val="200"/>
              </a:spcBef>
              <a:spcAft>
                <a:spcPts val="0"/>
              </a:spcAft>
              <a:buClrTx/>
              <a:buSzTx/>
              <a:buFontTx/>
              <a:buNone/>
              <a:tabLst/>
            </a:pPr>
            <a:r>
              <a:rPr kumimoji="0" lang="en-US" sz="700" b="0" i="0" u="none" strike="noStrike" cap="none" spc="0" normalizeH="0" baseline="0" dirty="0">
                <a:ln>
                  <a:noFill/>
                </a:ln>
                <a:solidFill>
                  <a:srgbClr val="4C4C4C"/>
                </a:solidFill>
                <a:effectLst/>
                <a:uFillTx/>
                <a:latin typeface="Source Sans Pro"/>
                <a:ea typeface="Source Sans Pro"/>
                <a:cs typeface="Source Sans Pro"/>
                <a:sym typeface="Source Sans Pro"/>
              </a:rPr>
              <a:t>…</a:t>
            </a:r>
          </a:p>
          <a:p>
            <a:pPr marL="0" marR="0" indent="0" algn="l" defTabSz="584200" rtl="0" fontAlgn="auto" latinLnBrk="0" hangingPunct="0">
              <a:lnSpc>
                <a:spcPct val="100000"/>
              </a:lnSpc>
              <a:spcBef>
                <a:spcPts val="200"/>
              </a:spcBef>
              <a:spcAft>
                <a:spcPts val="0"/>
              </a:spcAft>
              <a:buClrTx/>
              <a:buSzTx/>
              <a:buFontTx/>
              <a:buNone/>
              <a:tabLst/>
            </a:pPr>
            <a:r>
              <a:rPr lang="en-US" sz="700" b="0" dirty="0"/>
              <a:t>…</a:t>
            </a:r>
          </a:p>
          <a:p>
            <a:pPr marL="0" marR="0" indent="0" algn="l" defTabSz="584200" rtl="0" fontAlgn="auto" latinLnBrk="0" hangingPunct="0">
              <a:lnSpc>
                <a:spcPct val="100000"/>
              </a:lnSpc>
              <a:spcBef>
                <a:spcPts val="200"/>
              </a:spcBef>
              <a:spcAft>
                <a:spcPts val="0"/>
              </a:spcAft>
              <a:buClrTx/>
              <a:buSzTx/>
              <a:buFontTx/>
              <a:buNone/>
              <a:tabLst/>
            </a:pPr>
            <a:r>
              <a:rPr kumimoji="0" lang="en-US" sz="700" b="0" i="0" u="none" strike="noStrike" cap="none" spc="0" normalizeH="0" baseline="0" dirty="0">
                <a:ln>
                  <a:noFill/>
                </a:ln>
                <a:solidFill>
                  <a:srgbClr val="4C4C4C"/>
                </a:solidFill>
                <a:effectLst/>
                <a:uFillTx/>
                <a:latin typeface="Source Sans Pro"/>
                <a:ea typeface="Source Sans Pro"/>
                <a:cs typeface="Source Sans Pro"/>
                <a:sym typeface="Source Sans Pro"/>
              </a:rPr>
              <a:t>…</a:t>
            </a:r>
          </a:p>
          <a:p>
            <a:pPr marL="0" marR="0" indent="0" algn="l" defTabSz="584200" rtl="0" fontAlgn="auto" latinLnBrk="0" hangingPunct="0">
              <a:lnSpc>
                <a:spcPct val="100000"/>
              </a:lnSpc>
              <a:spcBef>
                <a:spcPts val="200"/>
              </a:spcBef>
              <a:spcAft>
                <a:spcPts val="0"/>
              </a:spcAft>
              <a:buClrTx/>
              <a:buSzTx/>
              <a:buFontTx/>
              <a:buNone/>
              <a:tabLst/>
            </a:pPr>
            <a:r>
              <a:rPr lang="en-US" sz="700" b="0" dirty="0"/>
              <a:t>…</a:t>
            </a:r>
            <a:endParaRPr kumimoji="0" lang="en-US" sz="7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r>
              <a:rPr lang="en-US" sz="700" b="0" dirty="0"/>
              <a:t>…</a:t>
            </a:r>
            <a:endParaRPr kumimoji="0" lang="en-US" sz="7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r>
              <a:rPr lang="en-US" sz="700" b="0" dirty="0"/>
              <a:t>catch</a:t>
            </a:r>
            <a:endParaRPr kumimoji="0" lang="en-US" sz="7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r>
              <a:rPr lang="en-US" sz="7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700" b="0" dirty="0"/>
              <a:t>…</a:t>
            </a:r>
          </a:p>
          <a:p>
            <a:pPr marL="0" marR="0" indent="0" algn="l" defTabSz="584200" rtl="0" fontAlgn="auto" latinLnBrk="0" hangingPunct="0">
              <a:lnSpc>
                <a:spcPct val="100000"/>
              </a:lnSpc>
              <a:spcBef>
                <a:spcPts val="200"/>
              </a:spcBef>
              <a:spcAft>
                <a:spcPts val="0"/>
              </a:spcAft>
              <a:buClrTx/>
              <a:buSzTx/>
              <a:buFontTx/>
              <a:buNone/>
              <a:tabLst/>
            </a:pPr>
            <a:endParaRPr lang="en-US" sz="500" b="0" dirty="0"/>
          </a:p>
        </p:txBody>
      </p:sp>
      <p:pic>
        <p:nvPicPr>
          <p:cNvPr id="496" name="Picture 495" descr="The image depicts a stylized hand gesture pointing downwards, likely indicating a direction or negative response.&#10;&#10;AI-generated content may be incorrect.">
            <a:extLst>
              <a:ext uri="{FF2B5EF4-FFF2-40B4-BE49-F238E27FC236}">
                <a16:creationId xmlns:a16="http://schemas.microsoft.com/office/drawing/2014/main" id="{C89529AA-57BD-8ED8-0D38-99DD2396587E}"/>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5835969" y="2826357"/>
            <a:ext cx="240850" cy="259748"/>
          </a:xfrm>
          <a:prstGeom prst="rect">
            <a:avLst/>
          </a:prstGeom>
        </p:spPr>
      </p:pic>
      <p:pic>
        <p:nvPicPr>
          <p:cNvPr id="505" name="Picture 504" descr="A simple black hand gesture icon, likely indicating approval or agreement.&#10;&#10;AI-generated content may be incorrect.">
            <a:extLst>
              <a:ext uri="{FF2B5EF4-FFF2-40B4-BE49-F238E27FC236}">
                <a16:creationId xmlns:a16="http://schemas.microsoft.com/office/drawing/2014/main" id="{E513C328-883C-8B41-09B4-028B87E324CB}"/>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flipH="1">
            <a:off x="5831729" y="3569191"/>
            <a:ext cx="242646" cy="261685"/>
          </a:xfrm>
          <a:prstGeom prst="rect">
            <a:avLst/>
          </a:prstGeom>
        </p:spPr>
      </p:pic>
      <p:cxnSp>
        <p:nvCxnSpPr>
          <p:cNvPr id="287" name="Straight Connector 286">
            <a:extLst>
              <a:ext uri="{FF2B5EF4-FFF2-40B4-BE49-F238E27FC236}">
                <a16:creationId xmlns:a16="http://schemas.microsoft.com/office/drawing/2014/main" id="{A988BFEF-3406-635B-585C-A203537CB0F5}"/>
              </a:ext>
            </a:extLst>
          </p:cNvPr>
          <p:cNvCxnSpPr>
            <a:cxnSpLocks/>
            <a:endCxn id="437" idx="0"/>
          </p:cNvCxnSpPr>
          <p:nvPr/>
        </p:nvCxnSpPr>
        <p:spPr>
          <a:xfrm>
            <a:off x="6286982" y="2291804"/>
            <a:ext cx="1674293" cy="554715"/>
          </a:xfrm>
          <a:prstGeom prst="line">
            <a:avLst/>
          </a:prstGeom>
          <a:ln w="127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88" name="Straight Connector 287">
            <a:extLst>
              <a:ext uri="{FF2B5EF4-FFF2-40B4-BE49-F238E27FC236}">
                <a16:creationId xmlns:a16="http://schemas.microsoft.com/office/drawing/2014/main" id="{0F75CE9E-7F43-7F21-70C9-71813B44F264}"/>
              </a:ext>
            </a:extLst>
          </p:cNvPr>
          <p:cNvCxnSpPr>
            <a:cxnSpLocks/>
            <a:stCxn id="300" idx="5"/>
            <a:endCxn id="437" idx="4"/>
          </p:cNvCxnSpPr>
          <p:nvPr/>
        </p:nvCxnSpPr>
        <p:spPr>
          <a:xfrm flipV="1">
            <a:off x="6646686" y="3244262"/>
            <a:ext cx="1314589" cy="831970"/>
          </a:xfrm>
          <a:prstGeom prst="line">
            <a:avLst/>
          </a:prstGeom>
          <a:ln w="127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99" name="TextBox 298">
            <a:extLst>
              <a:ext uri="{FF2B5EF4-FFF2-40B4-BE49-F238E27FC236}">
                <a16:creationId xmlns:a16="http://schemas.microsoft.com/office/drawing/2014/main" id="{A0841469-9368-0B02-C17B-03663DDAD938}"/>
              </a:ext>
            </a:extLst>
          </p:cNvPr>
          <p:cNvSpPr txBox="1"/>
          <p:nvPr/>
        </p:nvSpPr>
        <p:spPr>
          <a:xfrm>
            <a:off x="5196963" y="2342515"/>
            <a:ext cx="1538930" cy="5470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400" b="0" i="0" u="none" strike="noStrike" cap="none" spc="0" normalizeH="0" baseline="0" dirty="0">
                <a:ln>
                  <a:noFill/>
                </a:ln>
                <a:solidFill>
                  <a:srgbClr val="4C4C4C"/>
                </a:solidFill>
                <a:effectLst/>
                <a:uFillTx/>
                <a:latin typeface="Source Sans Pro"/>
                <a:ea typeface="Source Sans Pro"/>
                <a:cs typeface="Source Sans Pro"/>
                <a:sym typeface="Source Sans Pro"/>
              </a:rPr>
              <a:t>Parsers</a:t>
            </a:r>
            <a:endParaRPr lang="en-US" sz="1400" b="0" dirty="0"/>
          </a:p>
        </p:txBody>
      </p:sp>
      <p:sp>
        <p:nvSpPr>
          <p:cNvPr id="300" name="Oval 299">
            <a:extLst>
              <a:ext uri="{FF2B5EF4-FFF2-40B4-BE49-F238E27FC236}">
                <a16:creationId xmlns:a16="http://schemas.microsoft.com/office/drawing/2014/main" id="{7136D47A-64B5-EAC4-49DC-9D0D9CAA8E81}"/>
              </a:ext>
            </a:extLst>
          </p:cNvPr>
          <p:cNvSpPr/>
          <p:nvPr/>
        </p:nvSpPr>
        <p:spPr>
          <a:xfrm>
            <a:off x="4804635" y="2201024"/>
            <a:ext cx="2158097" cy="2196943"/>
          </a:xfrm>
          <a:prstGeom prst="ellipse">
            <a:avLst/>
          </a:prstGeom>
          <a:noFill/>
          <a:ln w="12700" cap="flat">
            <a:solidFill>
              <a:srgbClr val="4C4C4C"/>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sp>
        <p:nvSpPr>
          <p:cNvPr id="310" name="Rectangle: Rounded Corners 309">
            <a:extLst>
              <a:ext uri="{FF2B5EF4-FFF2-40B4-BE49-F238E27FC236}">
                <a16:creationId xmlns:a16="http://schemas.microsoft.com/office/drawing/2014/main" id="{1A12860E-6BF2-E45D-48BE-A4924388C263}"/>
              </a:ext>
            </a:extLst>
          </p:cNvPr>
          <p:cNvSpPr/>
          <p:nvPr/>
        </p:nvSpPr>
        <p:spPr>
          <a:xfrm>
            <a:off x="5248462" y="2877880"/>
            <a:ext cx="613085" cy="104979"/>
          </a:xfrm>
          <a:prstGeom prst="roundRect">
            <a:avLst/>
          </a:prstGeom>
          <a:noFill/>
          <a:ln w="635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11" name="Rectangle: Rounded Corners 310">
            <a:extLst>
              <a:ext uri="{FF2B5EF4-FFF2-40B4-BE49-F238E27FC236}">
                <a16:creationId xmlns:a16="http://schemas.microsoft.com/office/drawing/2014/main" id="{086D47A1-D258-96D8-BAEA-C35AFB6598F8}"/>
              </a:ext>
            </a:extLst>
          </p:cNvPr>
          <p:cNvSpPr/>
          <p:nvPr/>
        </p:nvSpPr>
        <p:spPr>
          <a:xfrm>
            <a:off x="5248462" y="3672983"/>
            <a:ext cx="613085" cy="104979"/>
          </a:xfrm>
          <a:prstGeom prst="roundRect">
            <a:avLst/>
          </a:prstGeom>
          <a:noFill/>
          <a:ln w="635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cxnSp>
        <p:nvCxnSpPr>
          <p:cNvPr id="314" name="Google Shape;445;p18">
            <a:extLst>
              <a:ext uri="{FF2B5EF4-FFF2-40B4-BE49-F238E27FC236}">
                <a16:creationId xmlns:a16="http://schemas.microsoft.com/office/drawing/2014/main" id="{2D2B8882-C4D8-CB7C-78E9-C4741DB176C9}"/>
              </a:ext>
            </a:extLst>
          </p:cNvPr>
          <p:cNvCxnSpPr>
            <a:cxnSpLocks/>
          </p:cNvCxnSpPr>
          <p:nvPr/>
        </p:nvCxnSpPr>
        <p:spPr>
          <a:xfrm>
            <a:off x="5369266" y="3204638"/>
            <a:ext cx="484526" cy="0"/>
          </a:xfrm>
          <a:prstGeom prst="straightConnector1">
            <a:avLst/>
          </a:prstGeom>
          <a:noFill/>
          <a:ln w="19050" cap="flat" cmpd="sng">
            <a:solidFill>
              <a:srgbClr val="FF0000"/>
            </a:solidFill>
            <a:prstDash val="solid"/>
            <a:round/>
            <a:headEnd type="none" w="med" len="med"/>
            <a:tailEnd type="triangle" w="med" len="med"/>
          </a:ln>
        </p:spPr>
      </p:cxnSp>
      <p:sp>
        <p:nvSpPr>
          <p:cNvPr id="317" name="Multiplication Sign 316">
            <a:extLst>
              <a:ext uri="{FF2B5EF4-FFF2-40B4-BE49-F238E27FC236}">
                <a16:creationId xmlns:a16="http://schemas.microsoft.com/office/drawing/2014/main" id="{94634B1C-42AC-122F-44F6-1A9FD9E9545B}"/>
              </a:ext>
            </a:extLst>
          </p:cNvPr>
          <p:cNvSpPr/>
          <p:nvPr/>
        </p:nvSpPr>
        <p:spPr>
          <a:xfrm>
            <a:off x="5888569" y="3120722"/>
            <a:ext cx="171622" cy="183433"/>
          </a:xfrm>
          <a:prstGeom prst="mathMultiply">
            <a:avLst>
              <a:gd name="adj1" fmla="val 7577"/>
            </a:avLst>
          </a:prstGeom>
          <a:solidFill>
            <a:srgbClr val="FF0000"/>
          </a:solidFill>
          <a:ln w="12700" cap="flat">
            <a:solidFill>
              <a:srgbClr val="FF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19" name="Rectangle: Rounded Corners 318">
            <a:extLst>
              <a:ext uri="{FF2B5EF4-FFF2-40B4-BE49-F238E27FC236}">
                <a16:creationId xmlns:a16="http://schemas.microsoft.com/office/drawing/2014/main" id="{AB74D7B7-6EBF-A240-DEF0-FF4036A41182}"/>
              </a:ext>
            </a:extLst>
          </p:cNvPr>
          <p:cNvSpPr/>
          <p:nvPr/>
        </p:nvSpPr>
        <p:spPr>
          <a:xfrm>
            <a:off x="5881426" y="3037681"/>
            <a:ext cx="179867" cy="584659"/>
          </a:xfrm>
          <a:prstGeom prst="roundRect">
            <a:avLst/>
          </a:prstGeom>
          <a:noFill/>
          <a:ln w="12700" cap="flat">
            <a:solidFill>
              <a:schemeClr val="accent1">
                <a:lumMod val="40000"/>
                <a:lumOff val="6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325" name="TextBox 324">
            <a:extLst>
              <a:ext uri="{FF2B5EF4-FFF2-40B4-BE49-F238E27FC236}">
                <a16:creationId xmlns:a16="http://schemas.microsoft.com/office/drawing/2014/main" id="{80105473-CC36-2BB3-3EBB-621A8C84F8D2}"/>
              </a:ext>
            </a:extLst>
          </p:cNvPr>
          <p:cNvSpPr txBox="1"/>
          <p:nvPr/>
        </p:nvSpPr>
        <p:spPr>
          <a:xfrm>
            <a:off x="6053559" y="2987032"/>
            <a:ext cx="840192"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800" b="0" dirty="0">
                <a:solidFill>
                  <a:schemeClr val="accent1">
                    <a:lumMod val="40000"/>
                    <a:lumOff val="60000"/>
                  </a:schemeClr>
                </a:solidFill>
              </a:rPr>
              <a:t>Return error + comprehensible explanation </a:t>
            </a:r>
          </a:p>
        </p:txBody>
      </p:sp>
      <p:cxnSp>
        <p:nvCxnSpPr>
          <p:cNvPr id="328" name="Google Shape;445;p18">
            <a:extLst>
              <a:ext uri="{FF2B5EF4-FFF2-40B4-BE49-F238E27FC236}">
                <a16:creationId xmlns:a16="http://schemas.microsoft.com/office/drawing/2014/main" id="{E8BAE915-DB73-6714-AE44-C9BBDF26629D}"/>
              </a:ext>
            </a:extLst>
          </p:cNvPr>
          <p:cNvCxnSpPr>
            <a:cxnSpLocks/>
          </p:cNvCxnSpPr>
          <p:nvPr/>
        </p:nvCxnSpPr>
        <p:spPr>
          <a:xfrm>
            <a:off x="10056387" y="1928697"/>
            <a:ext cx="0" cy="227228"/>
          </a:xfrm>
          <a:prstGeom prst="straightConnector1">
            <a:avLst/>
          </a:prstGeom>
          <a:noFill/>
          <a:ln w="28575" cap="flat" cmpd="sng">
            <a:solidFill>
              <a:srgbClr val="1B1311"/>
            </a:solidFill>
            <a:prstDash val="solid"/>
            <a:round/>
            <a:headEnd type="none" w="med" len="med"/>
            <a:tailEnd type="triangle" w="med" len="med"/>
          </a:ln>
        </p:spPr>
      </p:cxnSp>
      <p:cxnSp>
        <p:nvCxnSpPr>
          <p:cNvPr id="330" name="Google Shape;445;p18">
            <a:extLst>
              <a:ext uri="{FF2B5EF4-FFF2-40B4-BE49-F238E27FC236}">
                <a16:creationId xmlns:a16="http://schemas.microsoft.com/office/drawing/2014/main" id="{2D5D1519-4C1D-5280-B7C1-2C2EB0528682}"/>
              </a:ext>
            </a:extLst>
          </p:cNvPr>
          <p:cNvCxnSpPr>
            <a:cxnSpLocks/>
          </p:cNvCxnSpPr>
          <p:nvPr/>
        </p:nvCxnSpPr>
        <p:spPr>
          <a:xfrm>
            <a:off x="11113022" y="2608383"/>
            <a:ext cx="0" cy="219033"/>
          </a:xfrm>
          <a:prstGeom prst="straightConnector1">
            <a:avLst/>
          </a:prstGeom>
          <a:noFill/>
          <a:ln w="28575" cap="flat" cmpd="sng">
            <a:solidFill>
              <a:srgbClr val="1B1311"/>
            </a:solidFill>
            <a:prstDash val="solid"/>
            <a:round/>
            <a:headEnd type="none" w="med" len="med"/>
            <a:tailEnd type="triangle" w="med" len="med"/>
          </a:ln>
        </p:spPr>
      </p:cxnSp>
      <p:cxnSp>
        <p:nvCxnSpPr>
          <p:cNvPr id="331" name="Google Shape;445;p18">
            <a:extLst>
              <a:ext uri="{FF2B5EF4-FFF2-40B4-BE49-F238E27FC236}">
                <a16:creationId xmlns:a16="http://schemas.microsoft.com/office/drawing/2014/main" id="{7B999D8A-8C8C-A0CD-E13A-2D8EBA8E8B64}"/>
              </a:ext>
            </a:extLst>
          </p:cNvPr>
          <p:cNvCxnSpPr>
            <a:cxnSpLocks/>
          </p:cNvCxnSpPr>
          <p:nvPr/>
        </p:nvCxnSpPr>
        <p:spPr>
          <a:xfrm flipV="1">
            <a:off x="10351797" y="2386410"/>
            <a:ext cx="483203" cy="4431"/>
          </a:xfrm>
          <a:prstGeom prst="straightConnector1">
            <a:avLst/>
          </a:prstGeom>
          <a:noFill/>
          <a:ln w="28575" cap="flat" cmpd="sng">
            <a:solidFill>
              <a:srgbClr val="1B1311"/>
            </a:solidFill>
            <a:prstDash val="solid"/>
            <a:round/>
            <a:headEnd type="none" w="med" len="med"/>
            <a:tailEnd type="triangle" w="med" len="med"/>
          </a:ln>
        </p:spPr>
      </p:cxnSp>
      <p:sp>
        <p:nvSpPr>
          <p:cNvPr id="274" name="Arrow: Bent 273">
            <a:extLst>
              <a:ext uri="{FF2B5EF4-FFF2-40B4-BE49-F238E27FC236}">
                <a16:creationId xmlns:a16="http://schemas.microsoft.com/office/drawing/2014/main" id="{21C683DD-2050-AA9D-AC51-F98ACE312FA0}"/>
              </a:ext>
            </a:extLst>
          </p:cNvPr>
          <p:cNvSpPr/>
          <p:nvPr/>
        </p:nvSpPr>
        <p:spPr>
          <a:xfrm rot="5400000" flipH="1">
            <a:off x="7442035" y="6673837"/>
            <a:ext cx="515872" cy="295369"/>
          </a:xfrm>
          <a:prstGeom prst="bentArrow">
            <a:avLst>
              <a:gd name="adj1" fmla="val 26652"/>
              <a:gd name="adj2" fmla="val 25000"/>
              <a:gd name="adj3" fmla="val 25000"/>
              <a:gd name="adj4" fmla="val 43750"/>
            </a:avLst>
          </a:prstGeom>
          <a:solidFill>
            <a:srgbClr val="4C4C4C"/>
          </a:solidFill>
          <a:ln w="12700" cap="flat">
            <a:solidFill>
              <a:srgbClr val="4C4C4C"/>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uFillTx/>
              <a:latin typeface="Source Sans Pro"/>
              <a:ea typeface="Source Sans Pro"/>
              <a:cs typeface="Source Sans Pro"/>
              <a:sym typeface="Source Sans Pro"/>
            </a:endParaRPr>
          </a:p>
        </p:txBody>
      </p:sp>
      <p:pic>
        <p:nvPicPr>
          <p:cNvPr id="419" name="Graphic 418" descr="Paper outline">
            <a:extLst>
              <a:ext uri="{FF2B5EF4-FFF2-40B4-BE49-F238E27FC236}">
                <a16:creationId xmlns:a16="http://schemas.microsoft.com/office/drawing/2014/main" id="{542E2588-C852-0A5E-5B54-517BCB9286F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40816" y="2299114"/>
            <a:ext cx="1731153" cy="1731153"/>
          </a:xfrm>
          <a:prstGeom prst="rect">
            <a:avLst/>
          </a:prstGeom>
        </p:spPr>
      </p:pic>
      <p:sp>
        <p:nvSpPr>
          <p:cNvPr id="420" name="TextBox 419">
            <a:extLst>
              <a:ext uri="{FF2B5EF4-FFF2-40B4-BE49-F238E27FC236}">
                <a16:creationId xmlns:a16="http://schemas.microsoft.com/office/drawing/2014/main" id="{F5A591D1-A8EF-2389-F59C-B673B3CC4B2A}"/>
              </a:ext>
            </a:extLst>
          </p:cNvPr>
          <p:cNvSpPr txBox="1"/>
          <p:nvPr/>
        </p:nvSpPr>
        <p:spPr>
          <a:xfrm>
            <a:off x="7760988" y="2385621"/>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Downloaders</a:t>
            </a:r>
            <a:endParaRPr lang="en-US" sz="800" b="0" dirty="0"/>
          </a:p>
        </p:txBody>
      </p:sp>
      <p:sp>
        <p:nvSpPr>
          <p:cNvPr id="421" name="TextBox 420">
            <a:extLst>
              <a:ext uri="{FF2B5EF4-FFF2-40B4-BE49-F238E27FC236}">
                <a16:creationId xmlns:a16="http://schemas.microsoft.com/office/drawing/2014/main" id="{DBFEE192-A728-69C8-B0E7-6C792EFC506B}"/>
              </a:ext>
            </a:extLst>
          </p:cNvPr>
          <p:cNvSpPr txBox="1"/>
          <p:nvPr/>
        </p:nvSpPr>
        <p:spPr>
          <a:xfrm>
            <a:off x="7716193" y="2484775"/>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422" name="TextBox 421">
            <a:extLst>
              <a:ext uri="{FF2B5EF4-FFF2-40B4-BE49-F238E27FC236}">
                <a16:creationId xmlns:a16="http://schemas.microsoft.com/office/drawing/2014/main" id="{B256F029-065A-34D8-DE67-E12F7EF9A9E5}"/>
              </a:ext>
            </a:extLst>
          </p:cNvPr>
          <p:cNvSpPr txBox="1"/>
          <p:nvPr/>
        </p:nvSpPr>
        <p:spPr>
          <a:xfrm>
            <a:off x="7716775" y="2899705"/>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423" name="TextBox 422">
            <a:extLst>
              <a:ext uri="{FF2B5EF4-FFF2-40B4-BE49-F238E27FC236}">
                <a16:creationId xmlns:a16="http://schemas.microsoft.com/office/drawing/2014/main" id="{E7178E3C-EADD-7B73-D52B-4D8CB0E5C6E8}"/>
              </a:ext>
            </a:extLst>
          </p:cNvPr>
          <p:cNvSpPr txBox="1"/>
          <p:nvPr/>
        </p:nvSpPr>
        <p:spPr>
          <a:xfrm>
            <a:off x="7760988" y="2793907"/>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Parsers</a:t>
            </a:r>
            <a:endParaRPr lang="en-US" sz="800" b="0" dirty="0"/>
          </a:p>
        </p:txBody>
      </p:sp>
      <p:sp>
        <p:nvSpPr>
          <p:cNvPr id="424" name="TextBox 423">
            <a:extLst>
              <a:ext uri="{FF2B5EF4-FFF2-40B4-BE49-F238E27FC236}">
                <a16:creationId xmlns:a16="http://schemas.microsoft.com/office/drawing/2014/main" id="{C29BA15C-25C5-66FB-11EE-7E0E8F1A05D6}"/>
              </a:ext>
            </a:extLst>
          </p:cNvPr>
          <p:cNvSpPr txBox="1"/>
          <p:nvPr/>
        </p:nvSpPr>
        <p:spPr>
          <a:xfrm>
            <a:off x="7721757" y="3308637"/>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425" name="TextBox 424">
            <a:extLst>
              <a:ext uri="{FF2B5EF4-FFF2-40B4-BE49-F238E27FC236}">
                <a16:creationId xmlns:a16="http://schemas.microsoft.com/office/drawing/2014/main" id="{31F42329-3479-21CE-ABFA-7F235F6F7482}"/>
              </a:ext>
            </a:extLst>
          </p:cNvPr>
          <p:cNvSpPr txBox="1"/>
          <p:nvPr/>
        </p:nvSpPr>
        <p:spPr>
          <a:xfrm>
            <a:off x="7764889" y="3204638"/>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Transforms</a:t>
            </a:r>
            <a:endParaRPr lang="en-US" sz="800" b="0" dirty="0"/>
          </a:p>
        </p:txBody>
      </p:sp>
      <p:sp>
        <p:nvSpPr>
          <p:cNvPr id="426" name="Google Shape;306;p17">
            <a:extLst>
              <a:ext uri="{FF2B5EF4-FFF2-40B4-BE49-F238E27FC236}">
                <a16:creationId xmlns:a16="http://schemas.microsoft.com/office/drawing/2014/main" id="{367D5EDA-C815-7776-238F-CF1471075751}"/>
              </a:ext>
            </a:extLst>
          </p:cNvPr>
          <p:cNvSpPr txBox="1"/>
          <p:nvPr/>
        </p:nvSpPr>
        <p:spPr>
          <a:xfrm>
            <a:off x="7659448" y="3734093"/>
            <a:ext cx="1235078" cy="314173"/>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Mail.R</a:t>
            </a:r>
            <a:endParaRPr sz="1000" b="0" dirty="0">
              <a:solidFill>
                <a:schemeClr val="dk2"/>
              </a:solidFill>
            </a:endParaRPr>
          </a:p>
        </p:txBody>
      </p:sp>
      <p:sp>
        <p:nvSpPr>
          <p:cNvPr id="427" name="TextBox 426">
            <a:extLst>
              <a:ext uri="{FF2B5EF4-FFF2-40B4-BE49-F238E27FC236}">
                <a16:creationId xmlns:a16="http://schemas.microsoft.com/office/drawing/2014/main" id="{5012CAD2-E130-C3E5-483C-4E9D76E4D401}"/>
              </a:ext>
            </a:extLst>
          </p:cNvPr>
          <p:cNvSpPr txBox="1"/>
          <p:nvPr/>
        </p:nvSpPr>
        <p:spPr>
          <a:xfrm>
            <a:off x="7770453" y="3618415"/>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Fake Data Generator</a:t>
            </a:r>
            <a:endParaRPr lang="en-US" sz="800" b="0" dirty="0"/>
          </a:p>
        </p:txBody>
      </p:sp>
      <p:sp>
        <p:nvSpPr>
          <p:cNvPr id="437" name="Oval 436">
            <a:extLst>
              <a:ext uri="{FF2B5EF4-FFF2-40B4-BE49-F238E27FC236}">
                <a16:creationId xmlns:a16="http://schemas.microsoft.com/office/drawing/2014/main" id="{8738C355-78E8-763F-36BD-A9BAE583AFC4}"/>
              </a:ext>
            </a:extLst>
          </p:cNvPr>
          <p:cNvSpPr/>
          <p:nvPr/>
        </p:nvSpPr>
        <p:spPr>
          <a:xfrm>
            <a:off x="7747057" y="2846519"/>
            <a:ext cx="428435" cy="397743"/>
          </a:xfrm>
          <a:prstGeom prst="ellipse">
            <a:avLst/>
          </a:prstGeom>
          <a:noFill/>
          <a:ln w="12700" cap="flat">
            <a:solidFill>
              <a:srgbClr val="4C4C4C"/>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cxnSp>
        <p:nvCxnSpPr>
          <p:cNvPr id="445" name="Straight Connector 444">
            <a:extLst>
              <a:ext uri="{FF2B5EF4-FFF2-40B4-BE49-F238E27FC236}">
                <a16:creationId xmlns:a16="http://schemas.microsoft.com/office/drawing/2014/main" id="{F76166F4-A656-87D4-4346-2384A7BC1D59}"/>
              </a:ext>
            </a:extLst>
          </p:cNvPr>
          <p:cNvCxnSpPr>
            <a:cxnSpLocks/>
          </p:cNvCxnSpPr>
          <p:nvPr/>
        </p:nvCxnSpPr>
        <p:spPr>
          <a:xfrm flipV="1">
            <a:off x="7023748" y="3877379"/>
            <a:ext cx="778417" cy="857705"/>
          </a:xfrm>
          <a:prstGeom prst="line">
            <a:avLst/>
          </a:prstGeom>
          <a:ln w="127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47" name="Straight Connector 446">
            <a:extLst>
              <a:ext uri="{FF2B5EF4-FFF2-40B4-BE49-F238E27FC236}">
                <a16:creationId xmlns:a16="http://schemas.microsoft.com/office/drawing/2014/main" id="{34F546C5-E64E-14CB-4E56-CBDF5135C25A}"/>
              </a:ext>
            </a:extLst>
          </p:cNvPr>
          <p:cNvCxnSpPr>
            <a:cxnSpLocks/>
          </p:cNvCxnSpPr>
          <p:nvPr/>
        </p:nvCxnSpPr>
        <p:spPr>
          <a:xfrm flipV="1">
            <a:off x="7174039" y="3899585"/>
            <a:ext cx="1624382" cy="1625842"/>
          </a:xfrm>
          <a:prstGeom prst="line">
            <a:avLst/>
          </a:prstGeom>
          <a:ln w="127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519" name="Group 518">
            <a:extLst>
              <a:ext uri="{FF2B5EF4-FFF2-40B4-BE49-F238E27FC236}">
                <a16:creationId xmlns:a16="http://schemas.microsoft.com/office/drawing/2014/main" id="{818BABA7-CC27-810F-105A-50D81E7C0905}"/>
              </a:ext>
            </a:extLst>
          </p:cNvPr>
          <p:cNvGrpSpPr/>
          <p:nvPr/>
        </p:nvGrpSpPr>
        <p:grpSpPr>
          <a:xfrm>
            <a:off x="9825668" y="1494465"/>
            <a:ext cx="526129" cy="369657"/>
            <a:chOff x="11008619" y="1823977"/>
            <a:chExt cx="526129" cy="369657"/>
          </a:xfrm>
        </p:grpSpPr>
        <p:sp>
          <p:nvSpPr>
            <p:cNvPr id="516" name="Google Shape;236;p15">
              <a:extLst>
                <a:ext uri="{FF2B5EF4-FFF2-40B4-BE49-F238E27FC236}">
                  <a16:creationId xmlns:a16="http://schemas.microsoft.com/office/drawing/2014/main" id="{5C600612-25D5-1CED-97A1-4EE71101A598}"/>
                </a:ext>
              </a:extLst>
            </p:cNvPr>
            <p:cNvSpPr/>
            <p:nvPr/>
          </p:nvSpPr>
          <p:spPr>
            <a:xfrm>
              <a:off x="11088127" y="1905940"/>
              <a:ext cx="310026" cy="287694"/>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518" name="Google Shape;237;p15">
              <a:extLst>
                <a:ext uri="{FF2B5EF4-FFF2-40B4-BE49-F238E27FC236}">
                  <a16:creationId xmlns:a16="http://schemas.microsoft.com/office/drawing/2014/main" id="{77451121-1516-66A8-A8CC-CA3B961BB711}"/>
                </a:ext>
              </a:extLst>
            </p:cNvPr>
            <p:cNvSpPr txBox="1"/>
            <p:nvPr/>
          </p:nvSpPr>
          <p:spPr>
            <a:xfrm>
              <a:off x="11008619" y="1823977"/>
              <a:ext cx="526129" cy="263210"/>
            </a:xfrm>
            <a:prstGeom prst="rect">
              <a:avLst/>
            </a:prstGeom>
            <a:noFill/>
            <a:ln>
              <a:noFill/>
            </a:ln>
          </p:spPr>
          <p:txBody>
            <a:bodyPr spcFirstLastPara="1" wrap="square" lIns="127722" tIns="127722" rIns="127722" bIns="127722" anchor="t" anchorCtr="0">
              <a:noAutofit/>
            </a:bodyPr>
            <a:lstStyle/>
            <a:p>
              <a:pPr>
                <a:spcBef>
                  <a:spcPts val="0"/>
                </a:spcBef>
              </a:pPr>
              <a:r>
                <a:rPr lang="en" sz="1400" dirty="0">
                  <a:solidFill>
                    <a:schemeClr val="lt1"/>
                  </a:solidFill>
                </a:rPr>
                <a:t>PR</a:t>
              </a:r>
              <a:endParaRPr sz="1400" dirty="0">
                <a:solidFill>
                  <a:schemeClr val="lt1"/>
                </a:solidFill>
              </a:endParaRPr>
            </a:p>
          </p:txBody>
        </p:sp>
      </p:grpSp>
      <p:cxnSp>
        <p:nvCxnSpPr>
          <p:cNvPr id="524" name="Google Shape;445;p18">
            <a:extLst>
              <a:ext uri="{FF2B5EF4-FFF2-40B4-BE49-F238E27FC236}">
                <a16:creationId xmlns:a16="http://schemas.microsoft.com/office/drawing/2014/main" id="{E7A49B50-5319-31BD-D562-D94E7E2B45BF}"/>
              </a:ext>
            </a:extLst>
          </p:cNvPr>
          <p:cNvCxnSpPr>
            <a:cxnSpLocks/>
          </p:cNvCxnSpPr>
          <p:nvPr/>
        </p:nvCxnSpPr>
        <p:spPr>
          <a:xfrm flipV="1">
            <a:off x="11430242" y="2386410"/>
            <a:ext cx="460133" cy="4431"/>
          </a:xfrm>
          <a:prstGeom prst="straightConnector1">
            <a:avLst/>
          </a:prstGeom>
          <a:noFill/>
          <a:ln w="28575" cap="flat" cmpd="sng">
            <a:solidFill>
              <a:srgbClr val="1B1311"/>
            </a:solidFill>
            <a:prstDash val="solid"/>
            <a:round/>
            <a:headEnd type="none" w="med" len="med"/>
            <a:tailEnd type="triangle" w="med" len="med"/>
          </a:ln>
        </p:spPr>
      </p:cxnSp>
      <p:cxnSp>
        <p:nvCxnSpPr>
          <p:cNvPr id="527" name="Google Shape;445;p18">
            <a:extLst>
              <a:ext uri="{FF2B5EF4-FFF2-40B4-BE49-F238E27FC236}">
                <a16:creationId xmlns:a16="http://schemas.microsoft.com/office/drawing/2014/main" id="{7646066B-3701-4467-5617-BCCCF9B27879}"/>
              </a:ext>
            </a:extLst>
          </p:cNvPr>
          <p:cNvCxnSpPr>
            <a:cxnSpLocks/>
          </p:cNvCxnSpPr>
          <p:nvPr/>
        </p:nvCxnSpPr>
        <p:spPr>
          <a:xfrm>
            <a:off x="12445021" y="2397726"/>
            <a:ext cx="490920" cy="1367"/>
          </a:xfrm>
          <a:prstGeom prst="straightConnector1">
            <a:avLst/>
          </a:prstGeom>
          <a:noFill/>
          <a:ln w="28575" cap="flat" cmpd="sng">
            <a:solidFill>
              <a:srgbClr val="1B1311"/>
            </a:solidFill>
            <a:prstDash val="solid"/>
            <a:round/>
            <a:headEnd type="none" w="med" len="med"/>
            <a:tailEnd type="triangle" w="med" len="med"/>
          </a:ln>
        </p:spPr>
      </p:cxnSp>
      <p:sp>
        <p:nvSpPr>
          <p:cNvPr id="528" name="Create a visual hierarchy. Help users navigate the page with titles, subtitles, and subsubtitles">
            <a:extLst>
              <a:ext uri="{FF2B5EF4-FFF2-40B4-BE49-F238E27FC236}">
                <a16:creationId xmlns:a16="http://schemas.microsoft.com/office/drawing/2014/main" id="{61AE4441-34B1-78D3-F2AF-15040CE30538}"/>
              </a:ext>
            </a:extLst>
          </p:cNvPr>
          <p:cNvSpPr txBox="1"/>
          <p:nvPr/>
        </p:nvSpPr>
        <p:spPr>
          <a:xfrm>
            <a:off x="9221324" y="2243046"/>
            <a:ext cx="762040"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Codecov</a:t>
            </a:r>
          </a:p>
        </p:txBody>
      </p:sp>
      <p:grpSp>
        <p:nvGrpSpPr>
          <p:cNvPr id="539" name="Group 538">
            <a:extLst>
              <a:ext uri="{FF2B5EF4-FFF2-40B4-BE49-F238E27FC236}">
                <a16:creationId xmlns:a16="http://schemas.microsoft.com/office/drawing/2014/main" id="{D0F0F55D-F5A2-7364-5BF2-A49A69F0B565}"/>
              </a:ext>
            </a:extLst>
          </p:cNvPr>
          <p:cNvGrpSpPr/>
          <p:nvPr/>
        </p:nvGrpSpPr>
        <p:grpSpPr>
          <a:xfrm>
            <a:off x="10813516" y="2911364"/>
            <a:ext cx="606393" cy="556282"/>
            <a:chOff x="9489901" y="2748509"/>
            <a:chExt cx="606393" cy="556282"/>
          </a:xfrm>
        </p:grpSpPr>
        <p:sp>
          <p:nvSpPr>
            <p:cNvPr id="530" name="Multiplication Sign 529">
              <a:extLst>
                <a:ext uri="{FF2B5EF4-FFF2-40B4-BE49-F238E27FC236}">
                  <a16:creationId xmlns:a16="http://schemas.microsoft.com/office/drawing/2014/main" id="{0C965741-161B-BBB5-D51E-561682486752}"/>
                </a:ext>
              </a:extLst>
            </p:cNvPr>
            <p:cNvSpPr/>
            <p:nvPr/>
          </p:nvSpPr>
          <p:spPr>
            <a:xfrm>
              <a:off x="9489901" y="2748509"/>
              <a:ext cx="606393" cy="556282"/>
            </a:xfrm>
            <a:prstGeom prst="mathMultiply">
              <a:avLst>
                <a:gd name="adj1" fmla="val 0"/>
              </a:avLst>
            </a:prstGeom>
            <a:solidFill>
              <a:srgbClr val="FF0000"/>
            </a:solidFill>
            <a:ln w="12700" cap="flat">
              <a:solidFill>
                <a:srgbClr val="FF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32" name="Oval 531">
              <a:extLst>
                <a:ext uri="{FF2B5EF4-FFF2-40B4-BE49-F238E27FC236}">
                  <a16:creationId xmlns:a16="http://schemas.microsoft.com/office/drawing/2014/main" id="{83CF770E-8F04-0E6C-EBDD-94FC1148BB66}"/>
                </a:ext>
              </a:extLst>
            </p:cNvPr>
            <p:cNvSpPr/>
            <p:nvPr/>
          </p:nvSpPr>
          <p:spPr>
            <a:xfrm>
              <a:off x="9515298" y="2753967"/>
              <a:ext cx="545245" cy="550824"/>
            </a:xfrm>
            <a:prstGeom prst="ellipse">
              <a:avLst/>
            </a:prstGeom>
            <a:noFill/>
            <a:ln w="12700" cap="flat">
              <a:solidFill>
                <a:srgbClr val="FF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grpSp>
      <p:sp>
        <p:nvSpPr>
          <p:cNvPr id="535" name="Create a visual hierarchy. Help users navigate the page with titles, subtitles, and subsubtitles">
            <a:extLst>
              <a:ext uri="{FF2B5EF4-FFF2-40B4-BE49-F238E27FC236}">
                <a16:creationId xmlns:a16="http://schemas.microsoft.com/office/drawing/2014/main" id="{47720E57-0A98-ACBF-A318-00C0FBD72E8D}"/>
              </a:ext>
            </a:extLst>
          </p:cNvPr>
          <p:cNvSpPr txBox="1"/>
          <p:nvPr/>
        </p:nvSpPr>
        <p:spPr>
          <a:xfrm>
            <a:off x="10731983" y="3420447"/>
            <a:ext cx="1184050" cy="4810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Pull Request </a:t>
            </a:r>
          </a:p>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Denie</a:t>
            </a:r>
            <a:r>
              <a:rPr lang="en-US" b="0" dirty="0">
                <a:solidFill>
                  <a:srgbClr val="000000"/>
                </a:solidFill>
                <a:latin typeface="Source Sans Pro" panose="020B0503030403020204" pitchFamily="34" charset="0"/>
                <a:ea typeface="Source Sans Pro" panose="020B0503030403020204" pitchFamily="34" charset="0"/>
              </a:rPr>
              <a:t>d</a:t>
            </a:r>
            <a:endParaRPr lang="en-US" b="0" i="0" u="none" strike="noStrike" dirty="0">
              <a:solidFill>
                <a:srgbClr val="000000"/>
              </a:solidFill>
              <a:effectLst/>
              <a:latin typeface="Source Sans Pro" panose="020B0503030403020204" pitchFamily="34" charset="0"/>
              <a:ea typeface="Source Sans Pro" panose="020B0503030403020204" pitchFamily="34" charset="0"/>
            </a:endParaRPr>
          </a:p>
        </p:txBody>
      </p:sp>
      <p:cxnSp>
        <p:nvCxnSpPr>
          <p:cNvPr id="544" name="Google Shape;445;p18">
            <a:extLst>
              <a:ext uri="{FF2B5EF4-FFF2-40B4-BE49-F238E27FC236}">
                <a16:creationId xmlns:a16="http://schemas.microsoft.com/office/drawing/2014/main" id="{CB30E23F-249B-8E5F-507E-1E12DA1B3B10}"/>
              </a:ext>
            </a:extLst>
          </p:cNvPr>
          <p:cNvCxnSpPr>
            <a:cxnSpLocks/>
          </p:cNvCxnSpPr>
          <p:nvPr/>
        </p:nvCxnSpPr>
        <p:spPr>
          <a:xfrm flipH="1">
            <a:off x="10381784" y="3212438"/>
            <a:ext cx="323835" cy="0"/>
          </a:xfrm>
          <a:prstGeom prst="straightConnector1">
            <a:avLst/>
          </a:prstGeom>
          <a:noFill/>
          <a:ln w="28575" cap="flat" cmpd="sng">
            <a:solidFill>
              <a:srgbClr val="1B1311"/>
            </a:solidFill>
            <a:prstDash val="solid"/>
            <a:round/>
            <a:headEnd type="none" w="med" len="med"/>
            <a:tailEnd type="triangle" w="med" len="med"/>
          </a:ln>
        </p:spPr>
      </p:cxnSp>
      <p:cxnSp>
        <p:nvCxnSpPr>
          <p:cNvPr id="549" name="Google Shape;445;p18">
            <a:extLst>
              <a:ext uri="{FF2B5EF4-FFF2-40B4-BE49-F238E27FC236}">
                <a16:creationId xmlns:a16="http://schemas.microsoft.com/office/drawing/2014/main" id="{E91C87E4-1C30-5E43-ACA5-2CEC75945192}"/>
              </a:ext>
            </a:extLst>
          </p:cNvPr>
          <p:cNvCxnSpPr>
            <a:cxnSpLocks/>
          </p:cNvCxnSpPr>
          <p:nvPr/>
        </p:nvCxnSpPr>
        <p:spPr>
          <a:xfrm flipH="1">
            <a:off x="11507864" y="3224455"/>
            <a:ext cx="881273" cy="0"/>
          </a:xfrm>
          <a:prstGeom prst="straightConnector1">
            <a:avLst/>
          </a:prstGeom>
          <a:noFill/>
          <a:ln w="28575" cap="flat" cmpd="sng">
            <a:solidFill>
              <a:srgbClr val="1B1311"/>
            </a:solidFill>
            <a:prstDash val="solid"/>
            <a:round/>
            <a:headEnd type="none" w="med" len="med"/>
            <a:tailEnd type="triangle" w="med" len="med"/>
          </a:ln>
        </p:spPr>
      </p:cxnSp>
      <p:grpSp>
        <p:nvGrpSpPr>
          <p:cNvPr id="554" name="Group 553">
            <a:extLst>
              <a:ext uri="{FF2B5EF4-FFF2-40B4-BE49-F238E27FC236}">
                <a16:creationId xmlns:a16="http://schemas.microsoft.com/office/drawing/2014/main" id="{58CD7DB5-3703-B04A-421E-CCB06AA05011}"/>
              </a:ext>
            </a:extLst>
          </p:cNvPr>
          <p:cNvGrpSpPr/>
          <p:nvPr/>
        </p:nvGrpSpPr>
        <p:grpSpPr>
          <a:xfrm>
            <a:off x="12986924" y="2906506"/>
            <a:ext cx="526129" cy="369657"/>
            <a:chOff x="11008619" y="1823977"/>
            <a:chExt cx="526129" cy="369657"/>
          </a:xfrm>
        </p:grpSpPr>
        <p:sp>
          <p:nvSpPr>
            <p:cNvPr id="555" name="Google Shape;236;p15">
              <a:extLst>
                <a:ext uri="{FF2B5EF4-FFF2-40B4-BE49-F238E27FC236}">
                  <a16:creationId xmlns:a16="http://schemas.microsoft.com/office/drawing/2014/main" id="{B2982D7E-D645-05E7-49BE-53E4FFC90F5B}"/>
                </a:ext>
              </a:extLst>
            </p:cNvPr>
            <p:cNvSpPr/>
            <p:nvPr/>
          </p:nvSpPr>
          <p:spPr>
            <a:xfrm>
              <a:off x="11088127" y="1905940"/>
              <a:ext cx="310026" cy="287694"/>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556" name="Google Shape;237;p15">
              <a:extLst>
                <a:ext uri="{FF2B5EF4-FFF2-40B4-BE49-F238E27FC236}">
                  <a16:creationId xmlns:a16="http://schemas.microsoft.com/office/drawing/2014/main" id="{2D969334-72CE-473E-2234-E9BDF4B14AD1}"/>
                </a:ext>
              </a:extLst>
            </p:cNvPr>
            <p:cNvSpPr txBox="1"/>
            <p:nvPr/>
          </p:nvSpPr>
          <p:spPr>
            <a:xfrm>
              <a:off x="11008619" y="1823977"/>
              <a:ext cx="526129" cy="263210"/>
            </a:xfrm>
            <a:prstGeom prst="rect">
              <a:avLst/>
            </a:prstGeom>
            <a:noFill/>
            <a:ln>
              <a:noFill/>
            </a:ln>
          </p:spPr>
          <p:txBody>
            <a:bodyPr spcFirstLastPara="1" wrap="square" lIns="127722" tIns="127722" rIns="127722" bIns="127722" anchor="t" anchorCtr="0">
              <a:noAutofit/>
            </a:bodyPr>
            <a:lstStyle/>
            <a:p>
              <a:pPr>
                <a:spcBef>
                  <a:spcPts val="0"/>
                </a:spcBef>
              </a:pPr>
              <a:r>
                <a:rPr lang="en" sz="1400" dirty="0">
                  <a:solidFill>
                    <a:schemeClr val="lt1"/>
                  </a:solidFill>
                </a:rPr>
                <a:t>PR</a:t>
              </a:r>
              <a:endParaRPr sz="1400" dirty="0">
                <a:solidFill>
                  <a:schemeClr val="lt1"/>
                </a:solidFill>
              </a:endParaRPr>
            </a:p>
          </p:txBody>
        </p:sp>
      </p:grpSp>
      <p:cxnSp>
        <p:nvCxnSpPr>
          <p:cNvPr id="557" name="Google Shape;445;p18">
            <a:extLst>
              <a:ext uri="{FF2B5EF4-FFF2-40B4-BE49-F238E27FC236}">
                <a16:creationId xmlns:a16="http://schemas.microsoft.com/office/drawing/2014/main" id="{F430AE34-ED88-2F39-BB08-B13BDBB6EA3F}"/>
              </a:ext>
            </a:extLst>
          </p:cNvPr>
          <p:cNvCxnSpPr>
            <a:cxnSpLocks/>
          </p:cNvCxnSpPr>
          <p:nvPr/>
        </p:nvCxnSpPr>
        <p:spPr>
          <a:xfrm>
            <a:off x="13204781" y="2603030"/>
            <a:ext cx="0" cy="303476"/>
          </a:xfrm>
          <a:prstGeom prst="straightConnector1">
            <a:avLst/>
          </a:prstGeom>
          <a:noFill/>
          <a:ln w="28575" cap="flat" cmpd="sng">
            <a:solidFill>
              <a:srgbClr val="1B1311"/>
            </a:solidFill>
            <a:prstDash val="solid"/>
            <a:round/>
            <a:headEnd type="none" w="med" len="med"/>
            <a:tailEnd type="triangle" w="med" len="med"/>
          </a:ln>
        </p:spPr>
      </p:cxnSp>
      <p:sp>
        <p:nvSpPr>
          <p:cNvPr id="560" name="Create a visual hierarchy. Help users navigate the page with titles, subtitles, and subsubtitles">
            <a:extLst>
              <a:ext uri="{FF2B5EF4-FFF2-40B4-BE49-F238E27FC236}">
                <a16:creationId xmlns:a16="http://schemas.microsoft.com/office/drawing/2014/main" id="{B907FF12-7C81-F87F-04E7-A59AF022119B}"/>
              </a:ext>
            </a:extLst>
          </p:cNvPr>
          <p:cNvSpPr txBox="1"/>
          <p:nvPr/>
        </p:nvSpPr>
        <p:spPr>
          <a:xfrm>
            <a:off x="12745063" y="3301326"/>
            <a:ext cx="1184050" cy="4810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Pull Request </a:t>
            </a:r>
          </a:p>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Approved</a:t>
            </a:r>
          </a:p>
        </p:txBody>
      </p:sp>
      <p:sp>
        <p:nvSpPr>
          <p:cNvPr id="561" name="TextBox 560">
            <a:extLst>
              <a:ext uri="{FF2B5EF4-FFF2-40B4-BE49-F238E27FC236}">
                <a16:creationId xmlns:a16="http://schemas.microsoft.com/office/drawing/2014/main" id="{0A99F058-097E-D937-AFB1-04904374C13E}"/>
              </a:ext>
            </a:extLst>
          </p:cNvPr>
          <p:cNvSpPr txBox="1"/>
          <p:nvPr/>
        </p:nvSpPr>
        <p:spPr>
          <a:xfrm>
            <a:off x="12761562" y="2984266"/>
            <a:ext cx="31699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r>
              <a:rPr lang="en">
                <a:solidFill>
                  <a:srgbClr val="1F2328"/>
                </a:solidFill>
                <a:highlight>
                  <a:srgbClr val="FFFFFF"/>
                </a:highlight>
              </a:rPr>
              <a:t>✅</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574" name="Straight Connector 573">
            <a:extLst>
              <a:ext uri="{FF2B5EF4-FFF2-40B4-BE49-F238E27FC236}">
                <a16:creationId xmlns:a16="http://schemas.microsoft.com/office/drawing/2014/main" id="{10DB44B9-0AD4-418C-CC03-CC2E6EEE67AF}"/>
              </a:ext>
            </a:extLst>
          </p:cNvPr>
          <p:cNvCxnSpPr>
            <a:cxnSpLocks/>
          </p:cNvCxnSpPr>
          <p:nvPr/>
        </p:nvCxnSpPr>
        <p:spPr>
          <a:xfrm flipH="1">
            <a:off x="12362060" y="2547213"/>
            <a:ext cx="698769" cy="677242"/>
          </a:xfrm>
          <a:prstGeom prst="line">
            <a:avLst/>
          </a:prstGeom>
          <a:ln w="28575" cap="flat" cmpd="sng" algn="ctr">
            <a:solidFill>
              <a:schemeClr val="bg2">
                <a:lumMod val="1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582" name="Group 581">
            <a:extLst>
              <a:ext uri="{FF2B5EF4-FFF2-40B4-BE49-F238E27FC236}">
                <a16:creationId xmlns:a16="http://schemas.microsoft.com/office/drawing/2014/main" id="{11E9382B-43DA-1151-436F-9AD27D2FAC53}"/>
              </a:ext>
            </a:extLst>
          </p:cNvPr>
          <p:cNvGrpSpPr/>
          <p:nvPr/>
        </p:nvGrpSpPr>
        <p:grpSpPr>
          <a:xfrm>
            <a:off x="9846504" y="2994841"/>
            <a:ext cx="526129" cy="369657"/>
            <a:chOff x="11008619" y="1823977"/>
            <a:chExt cx="526129" cy="369657"/>
          </a:xfrm>
        </p:grpSpPr>
        <p:sp>
          <p:nvSpPr>
            <p:cNvPr id="583" name="Google Shape;236;p15">
              <a:extLst>
                <a:ext uri="{FF2B5EF4-FFF2-40B4-BE49-F238E27FC236}">
                  <a16:creationId xmlns:a16="http://schemas.microsoft.com/office/drawing/2014/main" id="{820A82EE-BD2F-B5BD-294E-8544A0FDFE5E}"/>
                </a:ext>
              </a:extLst>
            </p:cNvPr>
            <p:cNvSpPr/>
            <p:nvPr/>
          </p:nvSpPr>
          <p:spPr>
            <a:xfrm>
              <a:off x="11088127" y="1905940"/>
              <a:ext cx="310026" cy="287694"/>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584" name="Google Shape;237;p15">
              <a:extLst>
                <a:ext uri="{FF2B5EF4-FFF2-40B4-BE49-F238E27FC236}">
                  <a16:creationId xmlns:a16="http://schemas.microsoft.com/office/drawing/2014/main" id="{B62089F6-9992-4B78-77DD-7429463358B1}"/>
                </a:ext>
              </a:extLst>
            </p:cNvPr>
            <p:cNvSpPr txBox="1"/>
            <p:nvPr/>
          </p:nvSpPr>
          <p:spPr>
            <a:xfrm>
              <a:off x="11008619" y="1823977"/>
              <a:ext cx="526129" cy="263210"/>
            </a:xfrm>
            <a:prstGeom prst="rect">
              <a:avLst/>
            </a:prstGeom>
            <a:noFill/>
            <a:ln>
              <a:noFill/>
            </a:ln>
          </p:spPr>
          <p:txBody>
            <a:bodyPr spcFirstLastPara="1" wrap="square" lIns="127722" tIns="127722" rIns="127722" bIns="127722" anchor="t" anchorCtr="0">
              <a:noAutofit/>
            </a:bodyPr>
            <a:lstStyle/>
            <a:p>
              <a:pPr>
                <a:spcBef>
                  <a:spcPts val="0"/>
                </a:spcBef>
              </a:pPr>
              <a:r>
                <a:rPr lang="en" sz="1400" dirty="0">
                  <a:solidFill>
                    <a:schemeClr val="lt1"/>
                  </a:solidFill>
                </a:rPr>
                <a:t>PR</a:t>
              </a:r>
              <a:endParaRPr sz="1400" dirty="0">
                <a:solidFill>
                  <a:schemeClr val="lt1"/>
                </a:solidFill>
              </a:endParaRPr>
            </a:p>
          </p:txBody>
        </p:sp>
      </p:grpSp>
      <p:sp>
        <p:nvSpPr>
          <p:cNvPr id="588" name="Create a visual hierarchy. Help users navigate the page with titles, subtitles, and subsubtitles">
            <a:extLst>
              <a:ext uri="{FF2B5EF4-FFF2-40B4-BE49-F238E27FC236}">
                <a16:creationId xmlns:a16="http://schemas.microsoft.com/office/drawing/2014/main" id="{25817B57-B8A5-FBF3-30C4-9C32A0CAF054}"/>
              </a:ext>
            </a:extLst>
          </p:cNvPr>
          <p:cNvSpPr txBox="1"/>
          <p:nvPr/>
        </p:nvSpPr>
        <p:spPr>
          <a:xfrm>
            <a:off x="9594196" y="3361296"/>
            <a:ext cx="1184050"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New Commit</a:t>
            </a:r>
          </a:p>
        </p:txBody>
      </p:sp>
      <p:pic>
        <p:nvPicPr>
          <p:cNvPr id="1026" name="Picture 2" descr="Git Commit icon - Free Download PNG ...">
            <a:extLst>
              <a:ext uri="{FF2B5EF4-FFF2-40B4-BE49-F238E27FC236}">
                <a16:creationId xmlns:a16="http://schemas.microsoft.com/office/drawing/2014/main" id="{EB0AA90C-ACD3-F992-C2CA-C6BE40D6F5BB}"/>
              </a:ext>
            </a:extLst>
          </p:cNvPr>
          <p:cNvPicPr>
            <a:picLocks noChangeAspect="1" noChangeArrowheads="1"/>
          </p:cNvPicPr>
          <p:nvPr/>
        </p:nvPicPr>
        <p:blipFill rotWithShape="1">
          <a:blip r:embed="rId20" cstate="print">
            <a:extLst>
              <a:ext uri="{28A0092B-C50C-407E-A947-70E740481C1C}">
                <a14:useLocalDpi xmlns:a14="http://schemas.microsoft.com/office/drawing/2010/main" val="0"/>
              </a:ext>
            </a:extLst>
          </a:blip>
          <a:srcRect l="-9695" t="25407" r="-14066" b="28606"/>
          <a:stretch>
            <a:fillRect/>
          </a:stretch>
        </p:blipFill>
        <p:spPr bwMode="auto">
          <a:xfrm flipH="1">
            <a:off x="9938593" y="2948924"/>
            <a:ext cx="276609" cy="102778"/>
          </a:xfrm>
          <a:prstGeom prst="rect">
            <a:avLst/>
          </a:prstGeom>
          <a:noFill/>
          <a:extLst>
            <a:ext uri="{909E8E84-426E-40DD-AFC4-6F175D3DCCD1}">
              <a14:hiddenFill xmlns:a14="http://schemas.microsoft.com/office/drawing/2010/main">
                <a:solidFill>
                  <a:srgbClr val="FFFFFF"/>
                </a:solidFill>
              </a14:hiddenFill>
            </a:ext>
          </a:extLst>
        </p:spPr>
      </p:pic>
      <p:cxnSp>
        <p:nvCxnSpPr>
          <p:cNvPr id="589" name="Google Shape;445;p18">
            <a:extLst>
              <a:ext uri="{FF2B5EF4-FFF2-40B4-BE49-F238E27FC236}">
                <a16:creationId xmlns:a16="http://schemas.microsoft.com/office/drawing/2014/main" id="{7579F68F-525B-4825-121B-E795C09EE2A2}"/>
              </a:ext>
            </a:extLst>
          </p:cNvPr>
          <p:cNvCxnSpPr>
            <a:cxnSpLocks/>
          </p:cNvCxnSpPr>
          <p:nvPr/>
        </p:nvCxnSpPr>
        <p:spPr>
          <a:xfrm flipV="1">
            <a:off x="10075707" y="2608383"/>
            <a:ext cx="0" cy="296504"/>
          </a:xfrm>
          <a:prstGeom prst="straightConnector1">
            <a:avLst/>
          </a:prstGeom>
          <a:noFill/>
          <a:ln w="28575" cap="flat" cmpd="sng">
            <a:solidFill>
              <a:srgbClr val="1B1311"/>
            </a:solidFill>
            <a:prstDash val="solid"/>
            <a:round/>
            <a:headEnd type="none" w="med" len="med"/>
            <a:tailEnd type="triangle" w="med" len="med"/>
          </a:ln>
        </p:spPr>
      </p:cxnSp>
      <p:cxnSp>
        <p:nvCxnSpPr>
          <p:cNvPr id="593" name="Google Shape;445;p18">
            <a:extLst>
              <a:ext uri="{FF2B5EF4-FFF2-40B4-BE49-F238E27FC236}">
                <a16:creationId xmlns:a16="http://schemas.microsoft.com/office/drawing/2014/main" id="{22C0AB22-4FCA-264C-0C2D-DD0BA5813471}"/>
              </a:ext>
            </a:extLst>
          </p:cNvPr>
          <p:cNvCxnSpPr>
            <a:cxnSpLocks/>
          </p:cNvCxnSpPr>
          <p:nvPr/>
        </p:nvCxnSpPr>
        <p:spPr>
          <a:xfrm>
            <a:off x="10353463" y="2579763"/>
            <a:ext cx="435291" cy="404503"/>
          </a:xfrm>
          <a:prstGeom prst="straightConnector1">
            <a:avLst/>
          </a:prstGeom>
          <a:noFill/>
          <a:ln w="28575" cap="flat" cmpd="sng">
            <a:solidFill>
              <a:srgbClr val="1B1311"/>
            </a:solidFill>
            <a:prstDash val="solid"/>
            <a:round/>
            <a:headEnd type="none" w="med" len="med"/>
            <a:tailEnd type="triangle" w="med" len="med"/>
          </a:ln>
        </p:spPr>
      </p:cxnSp>
      <p:cxnSp>
        <p:nvCxnSpPr>
          <p:cNvPr id="600" name="Google Shape;445;p18">
            <a:extLst>
              <a:ext uri="{FF2B5EF4-FFF2-40B4-BE49-F238E27FC236}">
                <a16:creationId xmlns:a16="http://schemas.microsoft.com/office/drawing/2014/main" id="{89DC9F9E-23A1-6496-EDA3-08AD16BCA99F}"/>
              </a:ext>
            </a:extLst>
          </p:cNvPr>
          <p:cNvCxnSpPr>
            <a:cxnSpLocks/>
          </p:cNvCxnSpPr>
          <p:nvPr/>
        </p:nvCxnSpPr>
        <p:spPr>
          <a:xfrm flipH="1">
            <a:off x="11455900" y="2539228"/>
            <a:ext cx="475375" cy="453212"/>
          </a:xfrm>
          <a:prstGeom prst="straightConnector1">
            <a:avLst/>
          </a:prstGeom>
          <a:noFill/>
          <a:ln w="28575" cap="flat" cmpd="sng">
            <a:solidFill>
              <a:srgbClr val="1B1311"/>
            </a:solidFill>
            <a:prstDash val="solid"/>
            <a:round/>
            <a:headEnd type="none" w="med" len="med"/>
            <a:tailEnd type="triangle" w="med" len="med"/>
          </a:ln>
        </p:spPr>
      </p:cxnSp>
      <p:sp>
        <p:nvSpPr>
          <p:cNvPr id="2" name="Rectangle: Rounded Corners 1">
            <a:extLst>
              <a:ext uri="{FF2B5EF4-FFF2-40B4-BE49-F238E27FC236}">
                <a16:creationId xmlns:a16="http://schemas.microsoft.com/office/drawing/2014/main" id="{50034DC8-A527-CA3B-60DB-5817A99356B9}"/>
              </a:ext>
            </a:extLst>
          </p:cNvPr>
          <p:cNvSpPr/>
          <p:nvPr/>
        </p:nvSpPr>
        <p:spPr>
          <a:xfrm>
            <a:off x="5369266" y="4576662"/>
            <a:ext cx="2982645" cy="3609416"/>
          </a:xfrm>
          <a:prstGeom prst="roundRect">
            <a:avLst/>
          </a:prstGeom>
          <a:noFill/>
          <a:ln w="12700" cap="flat">
            <a:solidFill>
              <a:srgbClr val="4C4C4C"/>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Tree>
    <p:extLst>
      <p:ext uri="{BB962C8B-B14F-4D97-AF65-F5344CB8AC3E}">
        <p14:creationId xmlns:p14="http://schemas.microsoft.com/office/powerpoint/2010/main" val="152211301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28619-0294-D815-184D-A506BC361E53}"/>
            </a:ext>
          </a:extLst>
        </p:cNvPr>
        <p:cNvGrpSpPr/>
        <p:nvPr/>
      </p:nvGrpSpPr>
      <p:grpSpPr>
        <a:xfrm>
          <a:off x="0" y="0"/>
          <a:ext cx="0" cy="0"/>
          <a:chOff x="0" y="0"/>
          <a:chExt cx="0" cy="0"/>
        </a:xfrm>
      </p:grpSpPr>
      <p:grpSp>
        <p:nvGrpSpPr>
          <p:cNvPr id="536" name="Group 535">
            <a:extLst>
              <a:ext uri="{FF2B5EF4-FFF2-40B4-BE49-F238E27FC236}">
                <a16:creationId xmlns:a16="http://schemas.microsoft.com/office/drawing/2014/main" id="{12033172-9AEF-93BF-F29A-86C7C536BBBA}"/>
              </a:ext>
            </a:extLst>
          </p:cNvPr>
          <p:cNvGrpSpPr/>
          <p:nvPr/>
        </p:nvGrpSpPr>
        <p:grpSpPr>
          <a:xfrm>
            <a:off x="10886795" y="2947031"/>
            <a:ext cx="526129" cy="369657"/>
            <a:chOff x="11008619" y="1823977"/>
            <a:chExt cx="526129" cy="369657"/>
          </a:xfrm>
        </p:grpSpPr>
        <p:sp>
          <p:nvSpPr>
            <p:cNvPr id="537" name="Google Shape;236;p15">
              <a:extLst>
                <a:ext uri="{FF2B5EF4-FFF2-40B4-BE49-F238E27FC236}">
                  <a16:creationId xmlns:a16="http://schemas.microsoft.com/office/drawing/2014/main" id="{0D8A4C73-E366-9AFE-E406-172E1B134E03}"/>
                </a:ext>
              </a:extLst>
            </p:cNvPr>
            <p:cNvSpPr/>
            <p:nvPr/>
          </p:nvSpPr>
          <p:spPr>
            <a:xfrm>
              <a:off x="11088127" y="1905940"/>
              <a:ext cx="310026" cy="287694"/>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538" name="Google Shape;237;p15">
              <a:extLst>
                <a:ext uri="{FF2B5EF4-FFF2-40B4-BE49-F238E27FC236}">
                  <a16:creationId xmlns:a16="http://schemas.microsoft.com/office/drawing/2014/main" id="{86B9C4BD-B3E5-6AD4-A60E-202462AE6A96}"/>
                </a:ext>
              </a:extLst>
            </p:cNvPr>
            <p:cNvSpPr txBox="1"/>
            <p:nvPr/>
          </p:nvSpPr>
          <p:spPr>
            <a:xfrm>
              <a:off x="11008619" y="1823977"/>
              <a:ext cx="526129" cy="263210"/>
            </a:xfrm>
            <a:prstGeom prst="rect">
              <a:avLst/>
            </a:prstGeom>
            <a:noFill/>
            <a:ln>
              <a:noFill/>
            </a:ln>
          </p:spPr>
          <p:txBody>
            <a:bodyPr spcFirstLastPara="1" wrap="square" lIns="127722" tIns="127722" rIns="127722" bIns="127722" anchor="t" anchorCtr="0">
              <a:noAutofit/>
            </a:bodyPr>
            <a:lstStyle/>
            <a:p>
              <a:pPr>
                <a:spcBef>
                  <a:spcPts val="0"/>
                </a:spcBef>
              </a:pPr>
              <a:r>
                <a:rPr lang="en" sz="1400" dirty="0">
                  <a:solidFill>
                    <a:schemeClr val="lt1"/>
                  </a:solidFill>
                </a:rPr>
                <a:t>PR</a:t>
              </a:r>
              <a:endParaRPr sz="1400" dirty="0">
                <a:solidFill>
                  <a:schemeClr val="lt1"/>
                </a:solidFill>
              </a:endParaRPr>
            </a:p>
          </p:txBody>
        </p:sp>
      </p:grpSp>
      <p:pic>
        <p:nvPicPr>
          <p:cNvPr id="292" name="Image" descr="Image">
            <a:extLst>
              <a:ext uri="{FF2B5EF4-FFF2-40B4-BE49-F238E27FC236}">
                <a16:creationId xmlns:a16="http://schemas.microsoft.com/office/drawing/2014/main" id="{43FBFA69-7710-784C-DE46-02C2DC50D7E6}"/>
              </a:ext>
            </a:extLst>
          </p:cNvPr>
          <p:cNvPicPr>
            <a:picLocks noChangeAspect="1"/>
          </p:cNvPicPr>
          <p:nvPr/>
        </p:nvPicPr>
        <p:blipFill>
          <a:blip r:embed="rId4"/>
          <a:stretch>
            <a:fillRect/>
          </a:stretch>
        </p:blipFill>
        <p:spPr>
          <a:xfrm>
            <a:off x="8378343" y="-681525"/>
            <a:ext cx="5598432" cy="2990088"/>
          </a:xfrm>
          <a:prstGeom prst="rect">
            <a:avLst/>
          </a:prstGeom>
          <a:ln w="12700">
            <a:miter lim="400000"/>
          </a:ln>
        </p:spPr>
      </p:pic>
      <p:sp>
        <p:nvSpPr>
          <p:cNvPr id="312" name="Line">
            <a:extLst>
              <a:ext uri="{FF2B5EF4-FFF2-40B4-BE49-F238E27FC236}">
                <a16:creationId xmlns:a16="http://schemas.microsoft.com/office/drawing/2014/main" id="{0FF0E123-729B-0689-1231-84B73F6AEA87}"/>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4952ACCD-0818-7A09-95F7-14A0DAB8895B}"/>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26" name="Manipulate Variables">
            <a:extLst>
              <a:ext uri="{FF2B5EF4-FFF2-40B4-BE49-F238E27FC236}">
                <a16:creationId xmlns:a16="http://schemas.microsoft.com/office/drawing/2014/main" id="{72C93724-81A0-429D-F294-BA70E95D3303}"/>
              </a:ext>
            </a:extLst>
          </p:cNvPr>
          <p:cNvSpPr txBox="1"/>
          <p:nvPr/>
        </p:nvSpPr>
        <p:spPr>
          <a:xfrm>
            <a:off x="4764287" y="1447511"/>
            <a:ext cx="3290966"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Try Catch + Code Quality</a:t>
            </a:r>
          </a:p>
        </p:txBody>
      </p:sp>
      <p:sp>
        <p:nvSpPr>
          <p:cNvPr id="334" name="Three Column Layout: : CHEAT SHEET">
            <a:extLst>
              <a:ext uri="{FF2B5EF4-FFF2-40B4-BE49-F238E27FC236}">
                <a16:creationId xmlns:a16="http://schemas.microsoft.com/office/drawing/2014/main" id="{A20867FE-7B55-79DD-AF1B-701012AB60A6}"/>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Unit Tests </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41" name="Use headers, colors, and/or backgrounds to separate or group together sections.">
            <a:extLst>
              <a:ext uri="{FF2B5EF4-FFF2-40B4-BE49-F238E27FC236}">
                <a16:creationId xmlns:a16="http://schemas.microsoft.com/office/drawing/2014/main" id="{89C9385E-5399-806F-F5C1-DA5731353D7F}"/>
              </a:ext>
            </a:extLst>
          </p:cNvPr>
          <p:cNvSpPr txBox="1"/>
          <p:nvPr/>
        </p:nvSpPr>
        <p:spPr>
          <a:xfrm>
            <a:off x="275721" y="1869898"/>
            <a:ext cx="3949153" cy="22846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Kaiaulu has multiple measures in place to ensure that its codebase remains maintainable. These include:</a:t>
            </a:r>
          </a:p>
          <a:p>
            <a:pPr marL="171450" indent="-171450">
              <a:lnSpc>
                <a:spcPct val="90000"/>
              </a:lnSpc>
              <a:spcBef>
                <a:spcPts val="300"/>
              </a:spcBef>
              <a:buFont typeface="Arial" panose="020B0604020202020204" pitchFamily="34" charset="0"/>
              <a:buChar cha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Unit Tests</a:t>
            </a:r>
          </a:p>
          <a:p>
            <a:pPr marL="171450" indent="-171450">
              <a:lnSpc>
                <a:spcPct val="90000"/>
              </a:lnSpc>
              <a:spcBef>
                <a:spcPts val="300"/>
              </a:spcBef>
              <a:buFont typeface="Arial" panose="020B0604020202020204" pitchFamily="34" charset="0"/>
              <a:buChar cha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Codecov</a:t>
            </a:r>
          </a:p>
          <a:p>
            <a:pPr marL="171450" indent="-171450">
              <a:lnSpc>
                <a:spcPct val="90000"/>
              </a:lnSpc>
              <a:spcBef>
                <a:spcPts val="300"/>
              </a:spcBef>
              <a:buFont typeface="Arial" panose="020B0604020202020204" pitchFamily="34" charset="0"/>
              <a:buChar cha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GitHub Actions</a:t>
            </a:r>
          </a:p>
          <a:p>
            <a:pPr marL="171450" indent="-171450">
              <a:lnSpc>
                <a:spcPct val="90000"/>
              </a:lnSpc>
              <a:spcBef>
                <a:spcPts val="300"/>
              </a:spcBef>
              <a:buFont typeface="Arial" panose="020B0604020202020204" pitchFamily="34" charset="0"/>
              <a:buChar cha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Example Functions</a:t>
            </a:r>
          </a:p>
          <a:p>
            <a:pPr marL="171450" indent="-171450">
              <a:lnSpc>
                <a:spcPct val="90000"/>
              </a:lnSpc>
              <a:spcBef>
                <a:spcPts val="300"/>
              </a:spcBef>
              <a:buFont typeface="Arial" panose="020B0604020202020204" pitchFamily="34" charset="0"/>
              <a:buChar cha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Internal Try Catch Statements</a:t>
            </a:r>
          </a:p>
          <a:p>
            <a:pPr marL="171450" indent="-171450">
              <a:lnSpc>
                <a:spcPct val="90000"/>
              </a:lnSpc>
              <a:spcBef>
                <a:spcPts val="300"/>
              </a:spcBef>
              <a:buClr>
                <a:schemeClr val="accent4">
                  <a:hueOff val="384618"/>
                  <a:satOff val="3869"/>
                  <a:lumOff val="5802"/>
                </a:schemeClr>
              </a:buClr>
              <a:buFont typeface="Arial" panose="020B0604020202020204" pitchFamily="34" charset="0"/>
              <a:buChar char="•"/>
              <a:defRPr b="0">
                <a:solidFill>
                  <a:srgbClr val="000000"/>
                </a:solidFill>
                <a:latin typeface="+mn-lt"/>
                <a:ea typeface="+mn-ea"/>
                <a:cs typeface="+mn-cs"/>
                <a:sym typeface="Source Sans Pro Light"/>
              </a:defRPr>
            </a:pPr>
            <a:endParaRPr lang="en-US" b="0" dirty="0">
              <a:solidFill>
                <a:srgbClr val="000000"/>
              </a:solidFill>
              <a:latin typeface="Source Sans Pro" panose="020B0503030403020204" pitchFamily="34" charset="0"/>
              <a:ea typeface="Source Sans Pro" panose="020B0503030403020204" pitchFamily="34" charset="0"/>
            </a:endParaRPr>
          </a:p>
          <a:p>
            <a:pPr>
              <a:lnSpc>
                <a:spcPct val="90000"/>
              </a:lnSpc>
              <a:spcBef>
                <a:spcPts val="300"/>
              </a:spcBef>
              <a:buClr>
                <a:schemeClr val="tx1">
                  <a:lumMod val="50000"/>
                </a:schemeClr>
              </a:buClr>
              <a:defRPr b="0">
                <a:solidFill>
                  <a:srgbClr val="000000"/>
                </a:solidFill>
                <a:latin typeface="+mn-lt"/>
                <a:ea typeface="+mn-ea"/>
                <a:cs typeface="+mn-cs"/>
                <a:sym typeface="Source Sans Pro Light"/>
              </a:defRPr>
            </a:pPr>
            <a:endParaRPr lang="en-US" b="0" i="0" u="none" strike="noStrike" dirty="0">
              <a:solidFill>
                <a:schemeClr val="tx1">
                  <a:lumMod val="50000"/>
                </a:schemeClr>
              </a:solidFill>
              <a:effectLst/>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dirty="0">
              <a:solidFill>
                <a:srgbClr val="000000"/>
              </a:solidFill>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i="0" u="none" strike="noStrike" dirty="0">
              <a:solidFill>
                <a:srgbClr val="000000"/>
              </a:solidFill>
              <a:effectLst/>
              <a:latin typeface="Source Sans Pro" panose="020B0503030403020204" pitchFamily="34" charset="0"/>
              <a:ea typeface="Source Sans Pro" panose="020B0503030403020204" pitchFamily="34" charset="0"/>
            </a:endParaRPr>
          </a:p>
        </p:txBody>
      </p:sp>
      <p:sp>
        <p:nvSpPr>
          <p:cNvPr id="342" name="Create a visual hierarchy. Help users navigate the page with titles, subtitles, and subsubtitles">
            <a:extLst>
              <a:ext uri="{FF2B5EF4-FFF2-40B4-BE49-F238E27FC236}">
                <a16:creationId xmlns:a16="http://schemas.microsoft.com/office/drawing/2014/main" id="{F473A1C8-854B-5ADD-153D-868C3DE0442C}"/>
              </a:ext>
            </a:extLst>
          </p:cNvPr>
          <p:cNvSpPr txBox="1"/>
          <p:nvPr/>
        </p:nvSpPr>
        <p:spPr>
          <a:xfrm>
            <a:off x="9675754" y="671208"/>
            <a:ext cx="1028394" cy="2764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Pull Request</a:t>
            </a:r>
          </a:p>
        </p:txBody>
      </p:sp>
      <p:sp>
        <p:nvSpPr>
          <p:cNvPr id="382" name="Logistics">
            <a:extLst>
              <a:ext uri="{FF2B5EF4-FFF2-40B4-BE49-F238E27FC236}">
                <a16:creationId xmlns:a16="http://schemas.microsoft.com/office/drawing/2014/main" id="{16B47C83-21F7-40F6-EA25-821DCDBFFB66}"/>
              </a:ext>
            </a:extLst>
          </p:cNvPr>
          <p:cNvSpPr txBox="1"/>
          <p:nvPr/>
        </p:nvSpPr>
        <p:spPr>
          <a:xfrm>
            <a:off x="249457" y="5620358"/>
            <a:ext cx="1336904"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Unit Tests</a:t>
            </a:r>
          </a:p>
        </p:txBody>
      </p:sp>
      <p:sp>
        <p:nvSpPr>
          <p:cNvPr id="384" name="Layout Suggestions">
            <a:extLst>
              <a:ext uri="{FF2B5EF4-FFF2-40B4-BE49-F238E27FC236}">
                <a16:creationId xmlns:a16="http://schemas.microsoft.com/office/drawing/2014/main" id="{97B1E092-03EF-694D-0C2B-A2DB20D93B17}"/>
              </a:ext>
            </a:extLst>
          </p:cNvPr>
          <p:cNvSpPr txBox="1"/>
          <p:nvPr/>
        </p:nvSpPr>
        <p:spPr>
          <a:xfrm>
            <a:off x="275721" y="1453227"/>
            <a:ext cx="262128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C51F499D-D3D5-EF11-8A98-9F41088BD00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A0717C1C-9AE8-2F59-5D68-F9E86F50320A}"/>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6">
                  <a:extLst>
                    <a:ext uri="{A12FA001-AC4F-418D-AE19-62706E023703}">
                      <ahyp:hlinkClr xmlns:ahyp="http://schemas.microsoft.com/office/drawing/2018/hyperlinkcolor" val="tx"/>
                    </a:ext>
                  </a:extLst>
                </a:hlinkClick>
              </a:rPr>
              <a:t>CC BY SA</a:t>
            </a:r>
            <a:r>
              <a:rPr lang="en-US" sz="1000" b="0" dirty="0">
                <a:solidFill>
                  <a:schemeClr val="tx1"/>
                </a:solidFill>
              </a:rPr>
              <a:t> Ian Jaymes Iwata, Anthony Lau, Sean Sunoo</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2024-04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01" name="TextBox 500">
            <a:extLst>
              <a:ext uri="{FF2B5EF4-FFF2-40B4-BE49-F238E27FC236}">
                <a16:creationId xmlns:a16="http://schemas.microsoft.com/office/drawing/2014/main" id="{C44F808B-3F94-A41A-3277-DBB4C0E240E3}"/>
              </a:ext>
            </a:extLst>
          </p:cNvPr>
          <p:cNvSpPr txBox="1"/>
          <p:nvPr/>
        </p:nvSpPr>
        <p:spPr>
          <a:xfrm>
            <a:off x="220737" y="5973827"/>
            <a:ext cx="4184378" cy="348035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tx1">
                    <a:lumMod val="50000"/>
                  </a:schemeClr>
                </a:solidFill>
              </a:rPr>
              <a:t>Kaiaulu’s native R code takes the form of three main types of functions:</a:t>
            </a:r>
          </a:p>
          <a:p>
            <a:pPr marL="171450" indent="-171450">
              <a:buFont typeface="Arial" panose="020B0604020202020204" pitchFamily="34" charset="0"/>
              <a:buChar char="•"/>
            </a:pPr>
            <a:r>
              <a:rPr lang="en-US" b="0" dirty="0">
                <a:solidFill>
                  <a:schemeClr val="tx1">
                    <a:lumMod val="50000"/>
                  </a:schemeClr>
                </a:solidFill>
                <a:latin typeface="Source Sans Pro" panose="020B0503030403020204" pitchFamily="34" charset="0"/>
                <a:ea typeface="Source Sans Pro" panose="020B0503030403020204" pitchFamily="34" charset="0"/>
              </a:rPr>
              <a:t>Downloaders download raw data from a website</a:t>
            </a:r>
          </a:p>
          <a:p>
            <a:pPr marL="171450" lvl="7" indent="-171450">
              <a:buFont typeface="Arial" panose="020B0604020202020204" pitchFamily="34" charset="0"/>
              <a:buChar char="•"/>
            </a:pPr>
            <a:r>
              <a:rPr lang="en-US" b="0" dirty="0">
                <a:solidFill>
                  <a:schemeClr val="tx1">
                    <a:lumMod val="50000"/>
                  </a:schemeClr>
                </a:solidFill>
                <a:latin typeface="Source Sans Pro" panose="020B0503030403020204" pitchFamily="34" charset="0"/>
                <a:ea typeface="Source Sans Pro" panose="020B0503030403020204" pitchFamily="34" charset="0"/>
              </a:rPr>
              <a:t>Parsers change the downloaded raw data into parsed R tables</a:t>
            </a:r>
          </a:p>
          <a:p>
            <a:pPr marL="171450" lvl="2" indent="-171450">
              <a:buFont typeface="Arial" panose="020B0604020202020204" pitchFamily="34" charset="0"/>
              <a:buChar char="•"/>
            </a:pPr>
            <a:r>
              <a:rPr lang="en-US" b="0" dirty="0">
                <a:solidFill>
                  <a:schemeClr val="tx1">
                    <a:lumMod val="50000"/>
                  </a:schemeClr>
                </a:solidFill>
                <a:latin typeface="Source Sans Pro" panose="020B0503030403020204" pitchFamily="34" charset="0"/>
                <a:ea typeface="Source Sans Pro" panose="020B0503030403020204" pitchFamily="34" charset="0"/>
              </a:rPr>
              <a:t>Transforms change the parsed data into parsed node and edge lists, and then present the data in the form of a graph specified by the user</a:t>
            </a:r>
          </a:p>
          <a:p>
            <a:pPr lvl="2" indent="0"/>
            <a:r>
              <a:rPr lang="en-US" b="0" dirty="0">
                <a:solidFill>
                  <a:schemeClr val="tx1">
                    <a:lumMod val="50000"/>
                  </a:schemeClr>
                </a:solidFill>
                <a:latin typeface="Source Sans Pro" panose="020B0503030403020204" pitchFamily="34" charset="0"/>
                <a:ea typeface="Source Sans Pro" panose="020B0503030403020204" pitchFamily="34" charset="0"/>
              </a:rPr>
              <a:t>Each of these functions need to be tested for in different ways:</a:t>
            </a:r>
          </a:p>
          <a:p>
            <a:pPr marL="171450" lvl="2" indent="-171450">
              <a:buFont typeface="Arial" panose="020B0604020202020204" pitchFamily="34" charset="0"/>
              <a:buChar char="•"/>
            </a:pPr>
            <a:r>
              <a:rPr lang="en-US" b="0" dirty="0">
                <a:solidFill>
                  <a:schemeClr val="tx1">
                    <a:lumMod val="50000"/>
                  </a:schemeClr>
                </a:solidFill>
                <a:latin typeface="Source Sans Pro" panose="020B0503030403020204" pitchFamily="34" charset="0"/>
                <a:ea typeface="Source Sans Pro" panose="020B0503030403020204" pitchFamily="34" charset="0"/>
              </a:rPr>
              <a:t>Downloaders require a fake URL to be generated in order to be tested for</a:t>
            </a:r>
          </a:p>
          <a:p>
            <a:pPr marL="171450" lvl="2" indent="-171450">
              <a:buFont typeface="Arial" panose="020B0604020202020204" pitchFamily="34" charset="0"/>
              <a:buChar char="•"/>
            </a:pPr>
            <a:r>
              <a:rPr lang="en-US" b="0" dirty="0">
                <a:solidFill>
                  <a:schemeClr val="tx1">
                    <a:lumMod val="50000"/>
                  </a:schemeClr>
                </a:solidFill>
                <a:latin typeface="Source Sans Pro" panose="020B0503030403020204" pitchFamily="34" charset="0"/>
                <a:ea typeface="Source Sans Pro" panose="020B0503030403020204" pitchFamily="34" charset="0"/>
              </a:rPr>
              <a:t>Parsers require fake data, and are prone to receiving odd raw data from users, so they need to be thoroughly tested for in order to ensure their stability</a:t>
            </a:r>
          </a:p>
          <a:p>
            <a:pPr marL="171450" lvl="2" indent="-171450">
              <a:buFont typeface="Arial" panose="020B0604020202020204" pitchFamily="34" charset="0"/>
              <a:buChar char="•"/>
            </a:pPr>
            <a:r>
              <a:rPr lang="en-US" b="0" dirty="0">
                <a:solidFill>
                  <a:schemeClr val="tx1">
                    <a:lumMod val="50000"/>
                  </a:schemeClr>
                </a:solidFill>
                <a:latin typeface="Source Sans Pro" panose="020B0503030403020204" pitchFamily="34" charset="0"/>
                <a:ea typeface="Source Sans Pro" panose="020B0503030403020204" pitchFamily="34" charset="0"/>
              </a:rPr>
              <a:t>Transforms also require fake data, but the relationships between the nodes and edge tables should be tested for the most</a:t>
            </a:r>
          </a:p>
          <a:p>
            <a:pPr marL="171450" marR="0" indent="-171450" algn="l" defTabSz="584200" rtl="0" fontAlgn="auto" latinLnBrk="0" hangingPunct="0">
              <a:lnSpc>
                <a:spcPct val="100000"/>
              </a:lnSpc>
              <a:spcBef>
                <a:spcPts val="200"/>
              </a:spcBef>
              <a:spcAft>
                <a:spcPts val="0"/>
              </a:spcAft>
              <a:buClrTx/>
              <a:buSzTx/>
              <a:buFont typeface="Arial" panose="020B0604020202020204" pitchFamily="34" charset="0"/>
              <a:buChar char="•"/>
              <a:tabLst/>
            </a:pPr>
            <a:endParaRPr lang="en-US" b="0" dirty="0">
              <a:solidFill>
                <a:schemeClr val="tx1"/>
              </a:solidFill>
              <a:effectLst/>
              <a:latin typeface="Source Sans Pro" panose="020B0503030403020204" pitchFamily="34" charset="0"/>
              <a:ea typeface="Source Sans Pro" panose="020B0503030403020204" pitchFamily="34" charset="0"/>
            </a:endParaRPr>
          </a:p>
        </p:txBody>
      </p:sp>
      <p:sp>
        <p:nvSpPr>
          <p:cNvPr id="370" name="Basics">
            <a:extLst>
              <a:ext uri="{FF2B5EF4-FFF2-40B4-BE49-F238E27FC236}">
                <a16:creationId xmlns:a16="http://schemas.microsoft.com/office/drawing/2014/main" id="{254E1965-D90F-7CC2-0D90-87C6A98602D6}"/>
              </a:ext>
            </a:extLst>
          </p:cNvPr>
          <p:cNvSpPr txBox="1"/>
          <p:nvPr/>
        </p:nvSpPr>
        <p:spPr>
          <a:xfrm>
            <a:off x="280327" y="3592826"/>
            <a:ext cx="2766632"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Example Module</a:t>
            </a:r>
            <a:endParaRPr dirty="0"/>
          </a:p>
        </p:txBody>
      </p:sp>
      <p:sp>
        <p:nvSpPr>
          <p:cNvPr id="371" name="Line">
            <a:extLst>
              <a:ext uri="{FF2B5EF4-FFF2-40B4-BE49-F238E27FC236}">
                <a16:creationId xmlns:a16="http://schemas.microsoft.com/office/drawing/2014/main" id="{729C80E5-2B3C-214E-05B0-677242C01F0A}"/>
              </a:ext>
            </a:extLst>
          </p:cNvPr>
          <p:cNvSpPr/>
          <p:nvPr/>
        </p:nvSpPr>
        <p:spPr>
          <a:xfrm flipV="1">
            <a:off x="148894" y="1800587"/>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75" name="Line">
            <a:extLst>
              <a:ext uri="{FF2B5EF4-FFF2-40B4-BE49-F238E27FC236}">
                <a16:creationId xmlns:a16="http://schemas.microsoft.com/office/drawing/2014/main" id="{DE06D238-ED55-E4F4-2386-F42ACA202F65}"/>
              </a:ext>
            </a:extLst>
          </p:cNvPr>
          <p:cNvSpPr/>
          <p:nvPr/>
        </p:nvSpPr>
        <p:spPr>
          <a:xfrm flipV="1">
            <a:off x="4729312" y="1816647"/>
            <a:ext cx="4318858"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pic>
        <p:nvPicPr>
          <p:cNvPr id="3" name="Graphic 2" descr="Paper outline">
            <a:extLst>
              <a:ext uri="{FF2B5EF4-FFF2-40B4-BE49-F238E27FC236}">
                <a16:creationId xmlns:a16="http://schemas.microsoft.com/office/drawing/2014/main" id="{C3247CF9-7987-8B8B-9486-C2F478ECFDA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60000" y="8242768"/>
            <a:ext cx="1118249" cy="1118249"/>
          </a:xfrm>
          <a:prstGeom prst="rect">
            <a:avLst/>
          </a:prstGeom>
        </p:spPr>
      </p:pic>
      <p:pic>
        <p:nvPicPr>
          <p:cNvPr id="5" name="Graphic 4" descr="Paper outline">
            <a:extLst>
              <a:ext uri="{FF2B5EF4-FFF2-40B4-BE49-F238E27FC236}">
                <a16:creationId xmlns:a16="http://schemas.microsoft.com/office/drawing/2014/main" id="{C5977279-638D-8915-7237-9AB304C5F58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995421" y="6460679"/>
            <a:ext cx="1731153" cy="1731153"/>
          </a:xfrm>
          <a:prstGeom prst="rect">
            <a:avLst/>
          </a:prstGeom>
        </p:spPr>
      </p:pic>
      <p:sp>
        <p:nvSpPr>
          <p:cNvPr id="6" name="TextBox 5">
            <a:extLst>
              <a:ext uri="{FF2B5EF4-FFF2-40B4-BE49-F238E27FC236}">
                <a16:creationId xmlns:a16="http://schemas.microsoft.com/office/drawing/2014/main" id="{12B931C2-B15F-A44C-414C-EE2CEB1028DF}"/>
              </a:ext>
            </a:extLst>
          </p:cNvPr>
          <p:cNvSpPr txBox="1"/>
          <p:nvPr/>
        </p:nvSpPr>
        <p:spPr>
          <a:xfrm>
            <a:off x="6315593" y="6547186"/>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Downloaders</a:t>
            </a:r>
            <a:endParaRPr lang="en-US" sz="800" b="0" dirty="0"/>
          </a:p>
        </p:txBody>
      </p:sp>
      <p:sp>
        <p:nvSpPr>
          <p:cNvPr id="7" name="TextBox 6">
            <a:extLst>
              <a:ext uri="{FF2B5EF4-FFF2-40B4-BE49-F238E27FC236}">
                <a16:creationId xmlns:a16="http://schemas.microsoft.com/office/drawing/2014/main" id="{62EF8CE4-DD1D-BE20-E511-0498C610DCE4}"/>
              </a:ext>
            </a:extLst>
          </p:cNvPr>
          <p:cNvSpPr txBox="1"/>
          <p:nvPr/>
        </p:nvSpPr>
        <p:spPr>
          <a:xfrm>
            <a:off x="6319494" y="6646637"/>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9" name="TextBox 8">
            <a:extLst>
              <a:ext uri="{FF2B5EF4-FFF2-40B4-BE49-F238E27FC236}">
                <a16:creationId xmlns:a16="http://schemas.microsoft.com/office/drawing/2014/main" id="{D00A782A-7468-4F61-7137-275AD6E9A586}"/>
              </a:ext>
            </a:extLst>
          </p:cNvPr>
          <p:cNvSpPr txBox="1"/>
          <p:nvPr/>
        </p:nvSpPr>
        <p:spPr>
          <a:xfrm>
            <a:off x="6320076" y="7061567"/>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10" name="TextBox 9">
            <a:extLst>
              <a:ext uri="{FF2B5EF4-FFF2-40B4-BE49-F238E27FC236}">
                <a16:creationId xmlns:a16="http://schemas.microsoft.com/office/drawing/2014/main" id="{65F7E285-20B8-D24B-8CB9-86180CE762BE}"/>
              </a:ext>
            </a:extLst>
          </p:cNvPr>
          <p:cNvSpPr txBox="1"/>
          <p:nvPr/>
        </p:nvSpPr>
        <p:spPr>
          <a:xfrm>
            <a:off x="6315593" y="6955472"/>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Parsers</a:t>
            </a:r>
            <a:endParaRPr lang="en-US" sz="800" b="0" dirty="0"/>
          </a:p>
        </p:txBody>
      </p:sp>
      <p:sp>
        <p:nvSpPr>
          <p:cNvPr id="12" name="TextBox 11">
            <a:extLst>
              <a:ext uri="{FF2B5EF4-FFF2-40B4-BE49-F238E27FC236}">
                <a16:creationId xmlns:a16="http://schemas.microsoft.com/office/drawing/2014/main" id="{AD302DE8-D321-F96B-8006-2AB4204CAF5E}"/>
              </a:ext>
            </a:extLst>
          </p:cNvPr>
          <p:cNvSpPr txBox="1"/>
          <p:nvPr/>
        </p:nvSpPr>
        <p:spPr>
          <a:xfrm>
            <a:off x="6325058" y="7470499"/>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13" name="TextBox 12">
            <a:extLst>
              <a:ext uri="{FF2B5EF4-FFF2-40B4-BE49-F238E27FC236}">
                <a16:creationId xmlns:a16="http://schemas.microsoft.com/office/drawing/2014/main" id="{3DAF37D2-07F6-BCCF-D41A-B8F5787BE457}"/>
              </a:ext>
            </a:extLst>
          </p:cNvPr>
          <p:cNvSpPr txBox="1"/>
          <p:nvPr/>
        </p:nvSpPr>
        <p:spPr>
          <a:xfrm>
            <a:off x="6319494" y="7366203"/>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Transforms</a:t>
            </a:r>
            <a:endParaRPr lang="en-US" sz="800" b="0" dirty="0"/>
          </a:p>
        </p:txBody>
      </p:sp>
      <p:pic>
        <p:nvPicPr>
          <p:cNvPr id="15" name="Graphic 14" descr="Paper outline">
            <a:extLst>
              <a:ext uri="{FF2B5EF4-FFF2-40B4-BE49-F238E27FC236}">
                <a16:creationId xmlns:a16="http://schemas.microsoft.com/office/drawing/2014/main" id="{F268568C-6207-D95C-4A09-83FE84CFBDC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454573" y="8305274"/>
            <a:ext cx="1118249" cy="1118249"/>
          </a:xfrm>
          <a:prstGeom prst="rect">
            <a:avLst/>
          </a:prstGeom>
        </p:spPr>
      </p:pic>
      <p:sp>
        <p:nvSpPr>
          <p:cNvPr id="16" name="Google Shape;312;p17">
            <a:extLst>
              <a:ext uri="{FF2B5EF4-FFF2-40B4-BE49-F238E27FC236}">
                <a16:creationId xmlns:a16="http://schemas.microsoft.com/office/drawing/2014/main" id="{2A8A446C-F383-38F4-0E8E-2FF200058928}"/>
              </a:ext>
            </a:extLst>
          </p:cNvPr>
          <p:cNvSpPr txBox="1"/>
          <p:nvPr/>
        </p:nvSpPr>
        <p:spPr>
          <a:xfrm>
            <a:off x="4618483" y="9091827"/>
            <a:ext cx="2240541"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2400" b="0" dirty="0"/>
              <a:t>Example.R</a:t>
            </a:r>
            <a:endParaRPr sz="2400" b="0" dirty="0"/>
          </a:p>
        </p:txBody>
      </p:sp>
      <p:sp>
        <p:nvSpPr>
          <p:cNvPr id="17" name="Google Shape;318;p17">
            <a:extLst>
              <a:ext uri="{FF2B5EF4-FFF2-40B4-BE49-F238E27FC236}">
                <a16:creationId xmlns:a16="http://schemas.microsoft.com/office/drawing/2014/main" id="{8C54788F-C873-36EF-8AEE-D6CFD6E277E0}"/>
              </a:ext>
            </a:extLst>
          </p:cNvPr>
          <p:cNvSpPr txBox="1"/>
          <p:nvPr/>
        </p:nvSpPr>
        <p:spPr>
          <a:xfrm>
            <a:off x="7196065" y="9133404"/>
            <a:ext cx="1635264"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US" sz="2000" b="0" dirty="0"/>
              <a:t>Tests/**</a:t>
            </a:r>
            <a:endParaRPr sz="2000" b="0" dirty="0"/>
          </a:p>
        </p:txBody>
      </p:sp>
      <p:sp>
        <p:nvSpPr>
          <p:cNvPr id="18" name="TextBox 17">
            <a:extLst>
              <a:ext uri="{FF2B5EF4-FFF2-40B4-BE49-F238E27FC236}">
                <a16:creationId xmlns:a16="http://schemas.microsoft.com/office/drawing/2014/main" id="{AD189263-73AD-A94F-3A9A-F16FD8022A6B}"/>
              </a:ext>
            </a:extLst>
          </p:cNvPr>
          <p:cNvSpPr txBox="1"/>
          <p:nvPr/>
        </p:nvSpPr>
        <p:spPr>
          <a:xfrm>
            <a:off x="7675483" y="8680002"/>
            <a:ext cx="676428"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1000" b="0" dirty="0"/>
              <a:t>testthat</a:t>
            </a:r>
            <a:endParaRPr kumimoji="0" lang="en-US" sz="1000" b="0" i="0" u="none" strike="noStrike" cap="none" spc="0" normalizeH="0" baseline="0" dirty="0">
              <a:ln>
                <a:noFill/>
              </a:ln>
              <a:effectLst/>
              <a:uFillTx/>
              <a:latin typeface="Source Sans Pro"/>
              <a:ea typeface="Source Sans Pro"/>
              <a:cs typeface="Source Sans Pro"/>
              <a:sym typeface="Source Sans Pro"/>
            </a:endParaRPr>
          </a:p>
        </p:txBody>
      </p:sp>
      <p:sp>
        <p:nvSpPr>
          <p:cNvPr id="19" name="Google Shape;346;p17">
            <a:extLst>
              <a:ext uri="{FF2B5EF4-FFF2-40B4-BE49-F238E27FC236}">
                <a16:creationId xmlns:a16="http://schemas.microsoft.com/office/drawing/2014/main" id="{381CF800-FFFE-E4D3-FF70-949393687EE7}"/>
              </a:ext>
            </a:extLst>
          </p:cNvPr>
          <p:cNvSpPr/>
          <p:nvPr/>
        </p:nvSpPr>
        <p:spPr>
          <a:xfrm>
            <a:off x="7746170" y="8705660"/>
            <a:ext cx="549624" cy="255847"/>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spcBef>
                <a:spcPts val="0"/>
              </a:spcBef>
            </a:pPr>
            <a:endParaRPr sz="1833"/>
          </a:p>
        </p:txBody>
      </p:sp>
      <p:sp>
        <p:nvSpPr>
          <p:cNvPr id="20" name="Google Shape;317;p17">
            <a:extLst>
              <a:ext uri="{FF2B5EF4-FFF2-40B4-BE49-F238E27FC236}">
                <a16:creationId xmlns:a16="http://schemas.microsoft.com/office/drawing/2014/main" id="{46F74F09-3FB8-CCB6-ED98-1CFABF6DFDB8}"/>
              </a:ext>
            </a:extLst>
          </p:cNvPr>
          <p:cNvSpPr txBox="1"/>
          <p:nvPr/>
        </p:nvSpPr>
        <p:spPr>
          <a:xfrm>
            <a:off x="5061707" y="8396313"/>
            <a:ext cx="1320250" cy="541969"/>
          </a:xfrm>
          <a:prstGeom prst="rect">
            <a:avLst/>
          </a:prstGeom>
          <a:noFill/>
          <a:ln>
            <a:noFill/>
          </a:ln>
        </p:spPr>
        <p:txBody>
          <a:bodyPr spcFirstLastPara="1" wrap="square" lIns="295319" tIns="295319" rIns="295319" bIns="295319" anchor="t" anchorCtr="0">
            <a:noAutofit/>
          </a:bodyPr>
          <a:lstStyle/>
          <a:p>
            <a:pPr algn="ctr">
              <a:spcBef>
                <a:spcPts val="0"/>
              </a:spcBef>
            </a:pPr>
            <a:r>
              <a:rPr lang="en" sz="800" b="0" dirty="0"/>
              <a:t>Example Fake Data</a:t>
            </a:r>
            <a:endParaRPr sz="800" b="0" dirty="0"/>
          </a:p>
        </p:txBody>
      </p:sp>
      <p:sp>
        <p:nvSpPr>
          <p:cNvPr id="21" name="Google Shape;306;p17">
            <a:extLst>
              <a:ext uri="{FF2B5EF4-FFF2-40B4-BE49-F238E27FC236}">
                <a16:creationId xmlns:a16="http://schemas.microsoft.com/office/drawing/2014/main" id="{7C522509-B959-EF5E-D13A-FA0A6D466AAE}"/>
              </a:ext>
            </a:extLst>
          </p:cNvPr>
          <p:cNvSpPr txBox="1"/>
          <p:nvPr/>
        </p:nvSpPr>
        <p:spPr>
          <a:xfrm>
            <a:off x="6155869" y="7766727"/>
            <a:ext cx="1401619" cy="524556"/>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Git.R</a:t>
            </a:r>
            <a:endParaRPr sz="1000" b="0" dirty="0">
              <a:solidFill>
                <a:schemeClr val="dk2"/>
              </a:solidFill>
            </a:endParaRPr>
          </a:p>
        </p:txBody>
      </p:sp>
      <p:sp>
        <p:nvSpPr>
          <p:cNvPr id="23" name="Google Shape;306;p17">
            <a:extLst>
              <a:ext uri="{FF2B5EF4-FFF2-40B4-BE49-F238E27FC236}">
                <a16:creationId xmlns:a16="http://schemas.microsoft.com/office/drawing/2014/main" id="{77C099E5-FCF1-1DA0-9BBF-A1D48B2DFD34}"/>
              </a:ext>
            </a:extLst>
          </p:cNvPr>
          <p:cNvSpPr txBox="1"/>
          <p:nvPr/>
        </p:nvSpPr>
        <p:spPr>
          <a:xfrm>
            <a:off x="6327555" y="5344117"/>
            <a:ext cx="1006099"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Mail.R</a:t>
            </a:r>
            <a:endParaRPr sz="1000" b="0" dirty="0">
              <a:solidFill>
                <a:schemeClr val="dk2"/>
              </a:solidFill>
            </a:endParaRPr>
          </a:p>
        </p:txBody>
      </p:sp>
      <p:sp>
        <p:nvSpPr>
          <p:cNvPr id="24" name="Google Shape;306;p17">
            <a:extLst>
              <a:ext uri="{FF2B5EF4-FFF2-40B4-BE49-F238E27FC236}">
                <a16:creationId xmlns:a16="http://schemas.microsoft.com/office/drawing/2014/main" id="{951301AA-3085-C105-A6F3-E57B93FDDB35}"/>
              </a:ext>
            </a:extLst>
          </p:cNvPr>
          <p:cNvSpPr txBox="1"/>
          <p:nvPr/>
        </p:nvSpPr>
        <p:spPr>
          <a:xfrm>
            <a:off x="5486239" y="6106484"/>
            <a:ext cx="987526"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JIRA.R</a:t>
            </a:r>
            <a:endParaRPr sz="1000" b="0" dirty="0">
              <a:solidFill>
                <a:schemeClr val="dk2"/>
              </a:solidFill>
            </a:endParaRPr>
          </a:p>
        </p:txBody>
      </p:sp>
      <p:cxnSp>
        <p:nvCxnSpPr>
          <p:cNvPr id="25" name="Connector: Elbow 24">
            <a:extLst>
              <a:ext uri="{FF2B5EF4-FFF2-40B4-BE49-F238E27FC236}">
                <a16:creationId xmlns:a16="http://schemas.microsoft.com/office/drawing/2014/main" id="{5BFEA2D6-09EC-DCF6-7683-B66162C04C59}"/>
              </a:ext>
            </a:extLst>
          </p:cNvPr>
          <p:cNvCxnSpPr>
            <a:cxnSpLocks/>
          </p:cNvCxnSpPr>
          <p:nvPr/>
        </p:nvCxnSpPr>
        <p:spPr>
          <a:xfrm rot="16200000" flipH="1">
            <a:off x="6748995" y="6912035"/>
            <a:ext cx="1650573" cy="1223096"/>
          </a:xfrm>
          <a:prstGeom prst="bentConnector3">
            <a:avLst>
              <a:gd name="adj1" fmla="val 864"/>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6" name="Connector: Elbow 25">
            <a:extLst>
              <a:ext uri="{FF2B5EF4-FFF2-40B4-BE49-F238E27FC236}">
                <a16:creationId xmlns:a16="http://schemas.microsoft.com/office/drawing/2014/main" id="{488812AB-8041-38D9-7E5B-D03F50CC665B}"/>
              </a:ext>
            </a:extLst>
          </p:cNvPr>
          <p:cNvCxnSpPr>
            <a:cxnSpLocks/>
          </p:cNvCxnSpPr>
          <p:nvPr/>
        </p:nvCxnSpPr>
        <p:spPr>
          <a:xfrm>
            <a:off x="6714993" y="7092686"/>
            <a:ext cx="1301263" cy="1256183"/>
          </a:xfrm>
          <a:prstGeom prst="bentConnector3">
            <a:avLst>
              <a:gd name="adj1" fmla="val 998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27" name="Connector: Elbow 26">
            <a:extLst>
              <a:ext uri="{FF2B5EF4-FFF2-40B4-BE49-F238E27FC236}">
                <a16:creationId xmlns:a16="http://schemas.microsoft.com/office/drawing/2014/main" id="{74529B3C-5D47-0264-85FA-9E45C54CEE42}"/>
              </a:ext>
            </a:extLst>
          </p:cNvPr>
          <p:cNvCxnSpPr>
            <a:cxnSpLocks/>
          </p:cNvCxnSpPr>
          <p:nvPr/>
        </p:nvCxnSpPr>
        <p:spPr>
          <a:xfrm>
            <a:off x="6873798" y="7508017"/>
            <a:ext cx="973858" cy="840853"/>
          </a:xfrm>
          <a:prstGeom prst="bentConnector3">
            <a:avLst>
              <a:gd name="adj1" fmla="val 99805"/>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29" name="TextBox 28">
            <a:extLst>
              <a:ext uri="{FF2B5EF4-FFF2-40B4-BE49-F238E27FC236}">
                <a16:creationId xmlns:a16="http://schemas.microsoft.com/office/drawing/2014/main" id="{25CA4A86-E705-15FC-292F-8DB4FE7461B5}"/>
              </a:ext>
            </a:extLst>
          </p:cNvPr>
          <p:cNvSpPr txBox="1"/>
          <p:nvPr/>
        </p:nvSpPr>
        <p:spPr>
          <a:xfrm>
            <a:off x="6325058" y="7779980"/>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Fake Data Generator</a:t>
            </a:r>
            <a:endParaRPr lang="en-US" sz="800" b="0" dirty="0"/>
          </a:p>
        </p:txBody>
      </p:sp>
      <p:cxnSp>
        <p:nvCxnSpPr>
          <p:cNvPr id="30" name="Connector: Elbow 29">
            <a:extLst>
              <a:ext uri="{FF2B5EF4-FFF2-40B4-BE49-F238E27FC236}">
                <a16:creationId xmlns:a16="http://schemas.microsoft.com/office/drawing/2014/main" id="{F63BFC0C-9E5F-1CAB-121A-6802FFB760FE}"/>
              </a:ext>
            </a:extLst>
          </p:cNvPr>
          <p:cNvCxnSpPr>
            <a:cxnSpLocks/>
            <a:endCxn id="3" idx="0"/>
          </p:cNvCxnSpPr>
          <p:nvPr/>
        </p:nvCxnSpPr>
        <p:spPr>
          <a:xfrm rot="10800000" flipV="1">
            <a:off x="5719125" y="7921870"/>
            <a:ext cx="650776" cy="320897"/>
          </a:xfrm>
          <a:prstGeom prst="bentConnector2">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1" name="Google Shape;445;p18">
            <a:extLst>
              <a:ext uri="{FF2B5EF4-FFF2-40B4-BE49-F238E27FC236}">
                <a16:creationId xmlns:a16="http://schemas.microsoft.com/office/drawing/2014/main" id="{91626696-9398-D514-C80A-86C26229AD9B}"/>
              </a:ext>
            </a:extLst>
          </p:cNvPr>
          <p:cNvCxnSpPr>
            <a:cxnSpLocks/>
          </p:cNvCxnSpPr>
          <p:nvPr/>
        </p:nvCxnSpPr>
        <p:spPr>
          <a:xfrm>
            <a:off x="6118087" y="8824873"/>
            <a:ext cx="1475409" cy="0"/>
          </a:xfrm>
          <a:prstGeom prst="straightConnector1">
            <a:avLst/>
          </a:prstGeom>
          <a:noFill/>
          <a:ln w="28575" cap="flat" cmpd="sng">
            <a:solidFill>
              <a:srgbClr val="1B1311"/>
            </a:solidFill>
            <a:prstDash val="solid"/>
            <a:round/>
            <a:headEnd type="none" w="med" len="med"/>
            <a:tailEnd type="triangle" w="med" len="med"/>
          </a:ln>
        </p:spPr>
      </p:cxnSp>
      <p:pic>
        <p:nvPicPr>
          <p:cNvPr id="33" name="Graphic 32" descr="Paper outline">
            <a:extLst>
              <a:ext uri="{FF2B5EF4-FFF2-40B4-BE49-F238E27FC236}">
                <a16:creationId xmlns:a16="http://schemas.microsoft.com/office/drawing/2014/main" id="{CA605307-FBD9-9091-8C39-F36FB3C0397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51646" y="5331103"/>
            <a:ext cx="1045469" cy="1045469"/>
          </a:xfrm>
          <a:prstGeom prst="rect">
            <a:avLst/>
          </a:prstGeom>
        </p:spPr>
      </p:pic>
      <p:grpSp>
        <p:nvGrpSpPr>
          <p:cNvPr id="34" name="Group 33">
            <a:extLst>
              <a:ext uri="{FF2B5EF4-FFF2-40B4-BE49-F238E27FC236}">
                <a16:creationId xmlns:a16="http://schemas.microsoft.com/office/drawing/2014/main" id="{856DCAAC-D66B-41F4-3139-791F5E3FB6D2}"/>
              </a:ext>
            </a:extLst>
          </p:cNvPr>
          <p:cNvGrpSpPr/>
          <p:nvPr/>
        </p:nvGrpSpPr>
        <p:grpSpPr>
          <a:xfrm>
            <a:off x="5623747" y="5367383"/>
            <a:ext cx="1159502" cy="954670"/>
            <a:chOff x="4984006" y="2613760"/>
            <a:chExt cx="1159502" cy="954670"/>
          </a:xfrm>
        </p:grpSpPr>
        <p:sp>
          <p:nvSpPr>
            <p:cNvPr id="53" name="TextBox 52">
              <a:extLst>
                <a:ext uri="{FF2B5EF4-FFF2-40B4-BE49-F238E27FC236}">
                  <a16:creationId xmlns:a16="http://schemas.microsoft.com/office/drawing/2014/main" id="{30BF2F68-162D-7214-8E0F-74D4AAEDF065}"/>
                </a:ext>
              </a:extLst>
            </p:cNvPr>
            <p:cNvSpPr txBox="1"/>
            <p:nvPr/>
          </p:nvSpPr>
          <p:spPr>
            <a:xfrm>
              <a:off x="4984006" y="2613760"/>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0" i="0" u="none" strike="noStrike" cap="none" spc="0" normalizeH="0" baseline="0" dirty="0">
                  <a:ln>
                    <a:noFill/>
                  </a:ln>
                  <a:solidFill>
                    <a:srgbClr val="4C4C4C"/>
                  </a:solidFill>
                  <a:effectLst/>
                  <a:uFillTx/>
                  <a:latin typeface="Source Sans Pro"/>
                  <a:ea typeface="Source Sans Pro"/>
                  <a:cs typeface="Source Sans Pro"/>
                  <a:sym typeface="Source Sans Pro"/>
                </a:rPr>
                <a:t>Downloaders</a:t>
              </a:r>
              <a:endParaRPr lang="en-US" sz="500" b="0" dirty="0"/>
            </a:p>
          </p:txBody>
        </p:sp>
        <p:sp>
          <p:nvSpPr>
            <p:cNvPr id="54" name="TextBox 53">
              <a:extLst>
                <a:ext uri="{FF2B5EF4-FFF2-40B4-BE49-F238E27FC236}">
                  <a16:creationId xmlns:a16="http://schemas.microsoft.com/office/drawing/2014/main" id="{D0E366A9-C356-07FB-FE4F-E276E3802427}"/>
                </a:ext>
              </a:extLst>
            </p:cNvPr>
            <p:cNvSpPr txBox="1"/>
            <p:nvPr/>
          </p:nvSpPr>
          <p:spPr>
            <a:xfrm>
              <a:off x="4986272" y="2674821"/>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b="0" dirty="0"/>
                <a:t>f</a:t>
              </a:r>
              <a:r>
                <a:rPr kumimoji="0" lang="en-US" sz="3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p:txBody>
        </p:sp>
        <p:sp>
          <p:nvSpPr>
            <p:cNvPr id="55" name="TextBox 54">
              <a:extLst>
                <a:ext uri="{FF2B5EF4-FFF2-40B4-BE49-F238E27FC236}">
                  <a16:creationId xmlns:a16="http://schemas.microsoft.com/office/drawing/2014/main" id="{7E78D42D-873B-610F-D1CB-64F074CF9F12}"/>
                </a:ext>
              </a:extLst>
            </p:cNvPr>
            <p:cNvSpPr txBox="1"/>
            <p:nvPr/>
          </p:nvSpPr>
          <p:spPr>
            <a:xfrm>
              <a:off x="4984006" y="2855766"/>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0" i="0" u="none" strike="noStrike" cap="none" spc="0" normalizeH="0" baseline="0" dirty="0">
                  <a:ln>
                    <a:noFill/>
                  </a:ln>
                  <a:solidFill>
                    <a:srgbClr val="4C4C4C"/>
                  </a:solidFill>
                  <a:effectLst/>
                  <a:uFillTx/>
                  <a:latin typeface="Source Sans Pro"/>
                  <a:ea typeface="Source Sans Pro"/>
                  <a:cs typeface="Source Sans Pro"/>
                  <a:sym typeface="Source Sans Pro"/>
                </a:rPr>
                <a:t>Parsers</a:t>
              </a:r>
              <a:endParaRPr lang="en-US" sz="500" b="0" dirty="0"/>
            </a:p>
          </p:txBody>
        </p:sp>
        <p:sp>
          <p:nvSpPr>
            <p:cNvPr id="56" name="TextBox 55">
              <a:extLst>
                <a:ext uri="{FF2B5EF4-FFF2-40B4-BE49-F238E27FC236}">
                  <a16:creationId xmlns:a16="http://schemas.microsoft.com/office/drawing/2014/main" id="{1C95082E-B33E-B50B-82F5-815C7F92E571}"/>
                </a:ext>
              </a:extLst>
            </p:cNvPr>
            <p:cNvSpPr txBox="1"/>
            <p:nvPr/>
          </p:nvSpPr>
          <p:spPr>
            <a:xfrm>
              <a:off x="4984006" y="3111851"/>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0" i="0" u="none" strike="noStrike" cap="none" spc="0" normalizeH="0" baseline="0" dirty="0">
                  <a:ln>
                    <a:noFill/>
                  </a:ln>
                  <a:solidFill>
                    <a:srgbClr val="4C4C4C"/>
                  </a:solidFill>
                  <a:effectLst/>
                  <a:uFillTx/>
                  <a:latin typeface="Source Sans Pro"/>
                  <a:ea typeface="Source Sans Pro"/>
                  <a:cs typeface="Source Sans Pro"/>
                  <a:sym typeface="Source Sans Pro"/>
                </a:rPr>
                <a:t>Transforms</a:t>
              </a:r>
              <a:endParaRPr lang="en-US" sz="500" b="0" dirty="0"/>
            </a:p>
          </p:txBody>
        </p:sp>
        <p:sp>
          <p:nvSpPr>
            <p:cNvPr id="57" name="TextBox 56">
              <a:extLst>
                <a:ext uri="{FF2B5EF4-FFF2-40B4-BE49-F238E27FC236}">
                  <a16:creationId xmlns:a16="http://schemas.microsoft.com/office/drawing/2014/main" id="{C65AAFFA-3E0D-38D3-F264-81C5D0D4BB3A}"/>
                </a:ext>
              </a:extLst>
            </p:cNvPr>
            <p:cNvSpPr txBox="1"/>
            <p:nvPr/>
          </p:nvSpPr>
          <p:spPr>
            <a:xfrm>
              <a:off x="4986272" y="2926948"/>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b="0" dirty="0"/>
                <a:t>f</a:t>
              </a:r>
              <a:r>
                <a:rPr kumimoji="0" lang="en-US" sz="3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p:txBody>
        </p:sp>
        <p:sp>
          <p:nvSpPr>
            <p:cNvPr id="58" name="TextBox 57">
              <a:extLst>
                <a:ext uri="{FF2B5EF4-FFF2-40B4-BE49-F238E27FC236}">
                  <a16:creationId xmlns:a16="http://schemas.microsoft.com/office/drawing/2014/main" id="{0A006575-5B5C-4E54-6446-F9371F639C6D}"/>
                </a:ext>
              </a:extLst>
            </p:cNvPr>
            <p:cNvSpPr txBox="1"/>
            <p:nvPr/>
          </p:nvSpPr>
          <p:spPr>
            <a:xfrm>
              <a:off x="4986272" y="3178756"/>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b="0" dirty="0"/>
                <a:t>f</a:t>
              </a:r>
              <a:r>
                <a:rPr kumimoji="0" lang="en-US" sz="3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p:txBody>
        </p:sp>
        <p:sp>
          <p:nvSpPr>
            <p:cNvPr id="59" name="TextBox 58">
              <a:extLst>
                <a:ext uri="{FF2B5EF4-FFF2-40B4-BE49-F238E27FC236}">
                  <a16:creationId xmlns:a16="http://schemas.microsoft.com/office/drawing/2014/main" id="{BC38751A-4DA4-C392-C119-138B797D22B2}"/>
                </a:ext>
              </a:extLst>
            </p:cNvPr>
            <p:cNvSpPr txBox="1"/>
            <p:nvPr/>
          </p:nvSpPr>
          <p:spPr>
            <a:xfrm>
              <a:off x="4984006" y="3355632"/>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500" b="0" dirty="0"/>
                <a:t>Fake Data Generator</a:t>
              </a:r>
            </a:p>
          </p:txBody>
        </p:sp>
      </p:grpSp>
      <p:grpSp>
        <p:nvGrpSpPr>
          <p:cNvPr id="60" name="Group 59">
            <a:extLst>
              <a:ext uri="{FF2B5EF4-FFF2-40B4-BE49-F238E27FC236}">
                <a16:creationId xmlns:a16="http://schemas.microsoft.com/office/drawing/2014/main" id="{BEF1CCAB-0AC7-620C-07E9-A0861D2479B6}"/>
              </a:ext>
            </a:extLst>
          </p:cNvPr>
          <p:cNvGrpSpPr/>
          <p:nvPr/>
        </p:nvGrpSpPr>
        <p:grpSpPr>
          <a:xfrm>
            <a:off x="9554259" y="3866817"/>
            <a:ext cx="3848844" cy="6172184"/>
            <a:chOff x="9541159" y="2174444"/>
            <a:chExt cx="3848844" cy="6172184"/>
          </a:xfrm>
        </p:grpSpPr>
        <p:grpSp>
          <p:nvGrpSpPr>
            <p:cNvPr id="61" name="Group 60">
              <a:extLst>
                <a:ext uri="{FF2B5EF4-FFF2-40B4-BE49-F238E27FC236}">
                  <a16:creationId xmlns:a16="http://schemas.microsoft.com/office/drawing/2014/main" id="{134499A1-95A2-956B-87F2-55BDD52A82AF}"/>
                </a:ext>
              </a:extLst>
            </p:cNvPr>
            <p:cNvGrpSpPr/>
            <p:nvPr/>
          </p:nvGrpSpPr>
          <p:grpSpPr>
            <a:xfrm>
              <a:off x="9541159" y="2174444"/>
              <a:ext cx="3848844" cy="6172184"/>
              <a:chOff x="870417" y="3616023"/>
              <a:chExt cx="3848844" cy="6172184"/>
            </a:xfrm>
          </p:grpSpPr>
          <p:sp>
            <p:nvSpPr>
              <p:cNvPr id="449" name="Rectangle 448">
                <a:extLst>
                  <a:ext uri="{FF2B5EF4-FFF2-40B4-BE49-F238E27FC236}">
                    <a16:creationId xmlns:a16="http://schemas.microsoft.com/office/drawing/2014/main" id="{58B7DE93-7364-F424-20AB-A159A2F40C92}"/>
                  </a:ext>
                </a:extLst>
              </p:cNvPr>
              <p:cNvSpPr/>
              <p:nvPr/>
            </p:nvSpPr>
            <p:spPr>
              <a:xfrm>
                <a:off x="870417" y="3627271"/>
                <a:ext cx="3848844" cy="6160936"/>
              </a:xfrm>
              <a:prstGeom prst="rect">
                <a:avLst/>
              </a:prstGeom>
              <a:ln w="12700"/>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pic>
            <p:nvPicPr>
              <p:cNvPr id="450" name="Picture 449" descr="Account ">
                <a:extLst>
                  <a:ext uri="{FF2B5EF4-FFF2-40B4-BE49-F238E27FC236}">
                    <a16:creationId xmlns:a16="http://schemas.microsoft.com/office/drawing/2014/main" id="{B538DF57-CB92-6F6E-4939-F2F9D5B27ECD}"/>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41298" y="4156809"/>
                <a:ext cx="306136" cy="306136"/>
              </a:xfrm>
              <a:prstGeom prst="rect">
                <a:avLst/>
              </a:prstGeom>
              <a:noFill/>
              <a:extLst>
                <a:ext uri="{909E8E84-426E-40DD-AFC4-6F175D3DCCD1}">
                  <a14:hiddenFill xmlns:a14="http://schemas.microsoft.com/office/drawing/2010/main">
                    <a:solidFill>
                      <a:srgbClr val="FFFFFF"/>
                    </a:solidFill>
                  </a14:hiddenFill>
                </a:ext>
              </a:extLst>
            </p:spPr>
          </p:pic>
          <p:sp>
            <p:nvSpPr>
              <p:cNvPr id="451" name="TextBox 1284">
                <a:extLst>
                  <a:ext uri="{FF2B5EF4-FFF2-40B4-BE49-F238E27FC236}">
                    <a16:creationId xmlns:a16="http://schemas.microsoft.com/office/drawing/2014/main" id="{0348D454-FFB5-500D-8A1B-A6715331EF4A}"/>
                  </a:ext>
                </a:extLst>
              </p:cNvPr>
              <p:cNvSpPr txBox="1"/>
              <p:nvPr/>
            </p:nvSpPr>
            <p:spPr>
              <a:xfrm>
                <a:off x="991912" y="3616023"/>
                <a:ext cx="3720890" cy="261610"/>
              </a:xfrm>
              <a:prstGeom prst="rect">
                <a:avLst/>
              </a:prstGeom>
              <a:noFill/>
            </p:spPr>
            <p:txBody>
              <a:bodyPr wrap="none" rtlCol="0">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r>
                  <a:rPr lang="en-US" sz="800" dirty="0"/>
                  <a:t>Code          Issues          </a:t>
                </a:r>
                <a:r>
                  <a:rPr lang="en-US" sz="1100" b="1" dirty="0"/>
                  <a:t>Pull Requests          </a:t>
                </a:r>
                <a:r>
                  <a:rPr lang="en-US" sz="800" dirty="0"/>
                  <a:t>Actions          Wiki          Security  </a:t>
                </a:r>
              </a:p>
            </p:txBody>
          </p:sp>
          <p:cxnSp>
            <p:nvCxnSpPr>
              <p:cNvPr id="452" name="Straight Connector 451">
                <a:extLst>
                  <a:ext uri="{FF2B5EF4-FFF2-40B4-BE49-F238E27FC236}">
                    <a16:creationId xmlns:a16="http://schemas.microsoft.com/office/drawing/2014/main" id="{F7807CAF-25D4-3CE4-72FD-A914E4BF0BCD}"/>
                  </a:ext>
                </a:extLst>
              </p:cNvPr>
              <p:cNvCxnSpPr>
                <a:cxnSpLocks/>
              </p:cNvCxnSpPr>
              <p:nvPr/>
            </p:nvCxnSpPr>
            <p:spPr>
              <a:xfrm>
                <a:off x="870417" y="3877633"/>
                <a:ext cx="3842385" cy="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53" name="Use headers, colors, and/or backgrounds to separate or group together sections.">
                <a:extLst>
                  <a:ext uri="{FF2B5EF4-FFF2-40B4-BE49-F238E27FC236}">
                    <a16:creationId xmlns:a16="http://schemas.microsoft.com/office/drawing/2014/main" id="{D1494FC4-ADA5-0CB1-771A-809D9A05E7EC}"/>
                  </a:ext>
                </a:extLst>
              </p:cNvPr>
              <p:cNvSpPr txBox="1"/>
              <p:nvPr/>
            </p:nvSpPr>
            <p:spPr>
              <a:xfrm>
                <a:off x="1455985" y="3883746"/>
                <a:ext cx="1356960" cy="256245"/>
              </a:xfrm>
              <a:prstGeom prst="rect">
                <a:avLst/>
              </a:prstGeom>
              <a:ln w="12700">
                <a:miter lim="400000"/>
              </a:ln>
              <a:extLst>
                <a:ext uri="{C572A759-6A51-4108-AA02-DFA0A04FC94B}">
                  <ma14:wrappingTextBoxFlag xmlns:lc="http://schemas.openxmlformats.org/drawingml/2006/lockedCanvas" xmlns:ma14="http://schemas.microsoft.com/office/mac/drawingml/2011/main" xmlns:a14="http://schemas.microsoft.com/office/drawing/2010/main" xmlns:m="http://schemas.openxmlformats.org/officeDocument/2006/math" xmlns="" val="1"/>
                </a:ext>
              </a:extLst>
            </p:spPr>
            <p:txBody>
              <a:bodyPr wrap="square" lIns="54570" tIns="54570" rIns="54570" bIns="5457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a:lnSpc>
                    <a:spcPct val="90000"/>
                  </a:lnSpc>
                  <a:buSzPts val="3700"/>
                </a:pPr>
                <a:r>
                  <a:rPr lang="en-US" b="0" dirty="0">
                    <a:latin typeface="Source Sans Pro" panose="020B0503030403020204" pitchFamily="34" charset="0"/>
                    <a:ea typeface="Source Sans Pro" panose="020B0503030403020204" pitchFamily="34" charset="0"/>
                    <a:cs typeface="Arial" panose="020B0604020202020204" pitchFamily="34" charset="0"/>
                  </a:rPr>
                  <a:t>Pull Request #330</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9"/>
                </a:endParaRPr>
              </a:p>
              <a:p>
                <a:pPr lvl="0">
                  <a:lnSpc>
                    <a:spcPct val="90000"/>
                  </a:lnSpc>
                  <a:buSzPts val="3700"/>
                </a:pP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9"/>
                </a:endParaRPr>
              </a:p>
            </p:txBody>
          </p:sp>
          <p:pic>
            <p:nvPicPr>
              <p:cNvPr id="454" name="Google Shape;214;p15">
                <a:extLst>
                  <a:ext uri="{FF2B5EF4-FFF2-40B4-BE49-F238E27FC236}">
                    <a16:creationId xmlns:a16="http://schemas.microsoft.com/office/drawing/2014/main" id="{47395A4E-B659-E0BA-E2B1-59EE06B40102}"/>
                  </a:ext>
                </a:extLst>
              </p:cNvPr>
              <p:cNvPicPr preferRelativeResize="0"/>
              <p:nvPr/>
            </p:nvPicPr>
            <p:blipFill>
              <a:blip r:embed="rId10">
                <a:alphaModFix/>
              </a:blip>
              <a:stretch>
                <a:fillRect/>
              </a:stretch>
            </p:blipFill>
            <p:spPr>
              <a:xfrm>
                <a:off x="914022" y="4784929"/>
                <a:ext cx="476766" cy="456900"/>
              </a:xfrm>
              <a:prstGeom prst="rect">
                <a:avLst/>
              </a:prstGeom>
              <a:noFill/>
              <a:ln>
                <a:noFill/>
              </a:ln>
            </p:spPr>
          </p:pic>
          <p:sp>
            <p:nvSpPr>
              <p:cNvPr id="455" name="Google Shape;216;p15">
                <a:extLst>
                  <a:ext uri="{FF2B5EF4-FFF2-40B4-BE49-F238E27FC236}">
                    <a16:creationId xmlns:a16="http://schemas.microsoft.com/office/drawing/2014/main" id="{C5E96851-6F2A-7174-45E4-C04FCA4147BC}"/>
                  </a:ext>
                </a:extLst>
              </p:cNvPr>
              <p:cNvSpPr/>
              <p:nvPr/>
            </p:nvSpPr>
            <p:spPr>
              <a:xfrm>
                <a:off x="1469668" y="4973530"/>
                <a:ext cx="3025431" cy="652091"/>
              </a:xfrm>
              <a:prstGeom prst="rect">
                <a:avLst/>
              </a:prstGeom>
              <a:solidFill>
                <a:schemeClr val="lt1"/>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sp>
            <p:nvSpPr>
              <p:cNvPr id="456" name="Google Shape;215;p15">
                <a:extLst>
                  <a:ext uri="{FF2B5EF4-FFF2-40B4-BE49-F238E27FC236}">
                    <a16:creationId xmlns:a16="http://schemas.microsoft.com/office/drawing/2014/main" id="{6D33553D-49D2-1DD2-5E23-C08B7909BCF7}"/>
                  </a:ext>
                </a:extLst>
              </p:cNvPr>
              <p:cNvSpPr/>
              <p:nvPr/>
            </p:nvSpPr>
            <p:spPr>
              <a:xfrm>
                <a:off x="1467748" y="4759190"/>
                <a:ext cx="3025431" cy="232375"/>
              </a:xfrm>
              <a:prstGeom prst="rect">
                <a:avLst/>
              </a:prstGeom>
              <a:solidFill>
                <a:schemeClr val="lt2"/>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839" dirty="0"/>
              </a:p>
              <a:p>
                <a:pPr>
                  <a:spcBef>
                    <a:spcPts val="0"/>
                  </a:spcBef>
                </a:pPr>
                <a:endParaRPr sz="839" dirty="0"/>
              </a:p>
              <a:p>
                <a:pPr>
                  <a:spcBef>
                    <a:spcPts val="0"/>
                  </a:spcBef>
                </a:pPr>
                <a:r>
                  <a:rPr lang="en" sz="839" dirty="0">
                    <a:solidFill>
                      <a:schemeClr val="tx1">
                        <a:lumMod val="50000"/>
                      </a:schemeClr>
                    </a:solidFill>
                  </a:rPr>
                  <a:t>Codecov </a:t>
                </a:r>
                <a:r>
                  <a:rPr lang="en" sz="839" b="0" dirty="0">
                    <a:solidFill>
                      <a:schemeClr val="tx1">
                        <a:lumMod val="50000"/>
                      </a:schemeClr>
                    </a:solidFill>
                  </a:rPr>
                  <a:t>commented on Mar 27</a:t>
                </a:r>
                <a:endParaRPr sz="839" b="0" dirty="0">
                  <a:solidFill>
                    <a:schemeClr val="tx1">
                      <a:lumMod val="50000"/>
                    </a:schemeClr>
                  </a:solidFill>
                </a:endParaRPr>
              </a:p>
              <a:p>
                <a:pPr>
                  <a:spcBef>
                    <a:spcPts val="0"/>
                  </a:spcBef>
                </a:pPr>
                <a:endParaRPr sz="1956" dirty="0"/>
              </a:p>
            </p:txBody>
          </p:sp>
          <p:sp>
            <p:nvSpPr>
              <p:cNvPr id="457" name="Google Shape;217;p15">
                <a:extLst>
                  <a:ext uri="{FF2B5EF4-FFF2-40B4-BE49-F238E27FC236}">
                    <a16:creationId xmlns:a16="http://schemas.microsoft.com/office/drawing/2014/main" id="{32386D3D-C235-FB57-8176-5D01387433F0}"/>
                  </a:ext>
                </a:extLst>
              </p:cNvPr>
              <p:cNvSpPr txBox="1"/>
              <p:nvPr/>
            </p:nvSpPr>
            <p:spPr>
              <a:xfrm>
                <a:off x="1396836" y="4941265"/>
                <a:ext cx="2116583" cy="554125"/>
              </a:xfrm>
              <a:prstGeom prst="rect">
                <a:avLst/>
              </a:prstGeom>
              <a:noFill/>
              <a:ln>
                <a:noFill/>
              </a:ln>
            </p:spPr>
            <p:txBody>
              <a:bodyPr spcFirstLastPara="1" wrap="square" lIns="127722" tIns="127722" rIns="127722" bIns="127722" anchor="t" anchorCtr="0">
                <a:noAutofit/>
              </a:bodyPr>
              <a:lstStyle/>
              <a:p>
                <a:pPr>
                  <a:spcBef>
                    <a:spcPts val="0"/>
                  </a:spcBef>
                </a:pPr>
                <a:r>
                  <a:rPr lang="en" sz="839" dirty="0">
                    <a:solidFill>
                      <a:srgbClr val="1F2328"/>
                    </a:solidFill>
                    <a:highlight>
                      <a:srgbClr val="FFFFFF"/>
                    </a:highlight>
                  </a:rPr>
                  <a:t>❌ Patch coverage is…</a:t>
                </a:r>
                <a:endParaRPr sz="839" dirty="0">
                  <a:solidFill>
                    <a:srgbClr val="1F2328"/>
                  </a:solidFill>
                  <a:highlight>
                    <a:srgbClr val="FFFFFF"/>
                  </a:highlight>
                </a:endParaRPr>
              </a:p>
              <a:p>
                <a:pPr>
                  <a:spcBef>
                    <a:spcPts val="0"/>
                  </a:spcBef>
                </a:pPr>
                <a:r>
                  <a:rPr lang="en" sz="839" dirty="0">
                    <a:solidFill>
                      <a:srgbClr val="1F2328"/>
                    </a:solidFill>
                    <a:highlight>
                      <a:srgbClr val="FFFFFF"/>
                    </a:highlight>
                  </a:rPr>
                  <a:t>✅ Project coverage is…</a:t>
                </a:r>
                <a:endParaRPr sz="839" dirty="0">
                  <a:solidFill>
                    <a:srgbClr val="1F2328"/>
                  </a:solidFill>
                  <a:highlight>
                    <a:srgbClr val="FFFFFF"/>
                  </a:highlight>
                </a:endParaRPr>
              </a:p>
              <a:p>
                <a:pPr>
                  <a:spcBef>
                    <a:spcPts val="0"/>
                  </a:spcBef>
                </a:pPr>
                <a:r>
                  <a:rPr lang="en" sz="839" dirty="0">
                    <a:solidFill>
                      <a:srgbClr val="1F2328"/>
                    </a:solidFill>
                    <a:highlight>
                      <a:srgbClr val="FFFFFF"/>
                    </a:highlight>
                  </a:rPr>
                  <a:t>⚠️ Report is…</a:t>
                </a:r>
                <a:endParaRPr sz="839" dirty="0">
                  <a:solidFill>
                    <a:srgbClr val="1F2328"/>
                  </a:solidFill>
                  <a:highlight>
                    <a:srgbClr val="FFFFFF"/>
                  </a:highlight>
                </a:endParaRPr>
              </a:p>
            </p:txBody>
          </p:sp>
          <p:pic>
            <p:nvPicPr>
              <p:cNvPr id="458" name="Google Shape;227;p15">
                <a:extLst>
                  <a:ext uri="{FF2B5EF4-FFF2-40B4-BE49-F238E27FC236}">
                    <a16:creationId xmlns:a16="http://schemas.microsoft.com/office/drawing/2014/main" id="{BD102B5A-F59B-23F4-DAF0-077F2825D9F1}"/>
                  </a:ext>
                </a:extLst>
              </p:cNvPr>
              <p:cNvPicPr preferRelativeResize="0"/>
              <p:nvPr/>
            </p:nvPicPr>
            <p:blipFill>
              <a:blip r:embed="rId11">
                <a:alphaModFix/>
              </a:blip>
              <a:stretch>
                <a:fillRect/>
              </a:stretch>
            </p:blipFill>
            <p:spPr>
              <a:xfrm>
                <a:off x="955980" y="5812064"/>
                <a:ext cx="476772" cy="434075"/>
              </a:xfrm>
              <a:prstGeom prst="rect">
                <a:avLst/>
              </a:prstGeom>
              <a:noFill/>
              <a:ln>
                <a:noFill/>
              </a:ln>
            </p:spPr>
          </p:pic>
          <p:pic>
            <p:nvPicPr>
              <p:cNvPr id="459" name="Google Shape;206;p15">
                <a:extLst>
                  <a:ext uri="{FF2B5EF4-FFF2-40B4-BE49-F238E27FC236}">
                    <a16:creationId xmlns:a16="http://schemas.microsoft.com/office/drawing/2014/main" id="{D7367570-E733-97AB-F0C8-F70608728E28}"/>
                  </a:ext>
                </a:extLst>
              </p:cNvPr>
              <p:cNvPicPr preferRelativeResize="0"/>
              <p:nvPr/>
            </p:nvPicPr>
            <p:blipFill rotWithShape="1">
              <a:blip r:embed="rId12">
                <a:alphaModFix/>
              </a:blip>
              <a:srcRect r="56805" b="59527"/>
              <a:stretch/>
            </p:blipFill>
            <p:spPr>
              <a:xfrm>
                <a:off x="1474313" y="8180149"/>
                <a:ext cx="3020786" cy="737988"/>
              </a:xfrm>
              <a:prstGeom prst="rect">
                <a:avLst/>
              </a:prstGeom>
              <a:noFill/>
              <a:ln>
                <a:noFill/>
              </a:ln>
            </p:spPr>
          </p:pic>
          <p:pic>
            <p:nvPicPr>
              <p:cNvPr id="460" name="Google Shape;207;p15">
                <a:extLst>
                  <a:ext uri="{FF2B5EF4-FFF2-40B4-BE49-F238E27FC236}">
                    <a16:creationId xmlns:a16="http://schemas.microsoft.com/office/drawing/2014/main" id="{517F87D6-A69E-B438-6C4F-F072252F75D3}"/>
                  </a:ext>
                </a:extLst>
              </p:cNvPr>
              <p:cNvPicPr preferRelativeResize="0"/>
              <p:nvPr/>
            </p:nvPicPr>
            <p:blipFill rotWithShape="1">
              <a:blip r:embed="rId13">
                <a:alphaModFix/>
              </a:blip>
              <a:srcRect r="49675"/>
              <a:stretch/>
            </p:blipFill>
            <p:spPr>
              <a:xfrm>
                <a:off x="1466614" y="7582857"/>
                <a:ext cx="3053268" cy="585347"/>
              </a:xfrm>
              <a:prstGeom prst="rect">
                <a:avLst/>
              </a:prstGeom>
              <a:noFill/>
              <a:ln>
                <a:noFill/>
              </a:ln>
            </p:spPr>
          </p:pic>
          <p:pic>
            <p:nvPicPr>
              <p:cNvPr id="461" name="Google Shape;208;p15">
                <a:extLst>
                  <a:ext uri="{FF2B5EF4-FFF2-40B4-BE49-F238E27FC236}">
                    <a16:creationId xmlns:a16="http://schemas.microsoft.com/office/drawing/2014/main" id="{CB58A794-46EE-7250-F633-7AB1D29CECB5}"/>
                  </a:ext>
                </a:extLst>
              </p:cNvPr>
              <p:cNvPicPr preferRelativeResize="0"/>
              <p:nvPr/>
            </p:nvPicPr>
            <p:blipFill rotWithShape="1">
              <a:blip r:embed="rId12">
                <a:alphaModFix/>
              </a:blip>
              <a:srcRect r="51536" b="66346"/>
              <a:stretch/>
            </p:blipFill>
            <p:spPr>
              <a:xfrm>
                <a:off x="1478995" y="6325833"/>
                <a:ext cx="3018340" cy="1245849"/>
              </a:xfrm>
              <a:prstGeom prst="rect">
                <a:avLst/>
              </a:prstGeom>
              <a:noFill/>
              <a:ln>
                <a:noFill/>
              </a:ln>
            </p:spPr>
          </p:pic>
          <p:pic>
            <p:nvPicPr>
              <p:cNvPr id="462" name="Google Shape;226;p15">
                <a:extLst>
                  <a:ext uri="{FF2B5EF4-FFF2-40B4-BE49-F238E27FC236}">
                    <a16:creationId xmlns:a16="http://schemas.microsoft.com/office/drawing/2014/main" id="{EC28F590-70CF-889C-3C23-B4B83605BFA3}"/>
                  </a:ext>
                </a:extLst>
              </p:cNvPr>
              <p:cNvPicPr preferRelativeResize="0"/>
              <p:nvPr/>
            </p:nvPicPr>
            <p:blipFill>
              <a:blip r:embed="rId14">
                <a:alphaModFix/>
              </a:blip>
              <a:stretch>
                <a:fillRect/>
              </a:stretch>
            </p:blipFill>
            <p:spPr>
              <a:xfrm>
                <a:off x="1520465" y="5876512"/>
                <a:ext cx="418118" cy="397419"/>
              </a:xfrm>
              <a:prstGeom prst="rect">
                <a:avLst/>
              </a:prstGeom>
              <a:noFill/>
              <a:ln>
                <a:noFill/>
              </a:ln>
            </p:spPr>
          </p:pic>
          <p:sp>
            <p:nvSpPr>
              <p:cNvPr id="463" name="Google Shape;228;p15">
                <a:extLst>
                  <a:ext uri="{FF2B5EF4-FFF2-40B4-BE49-F238E27FC236}">
                    <a16:creationId xmlns:a16="http://schemas.microsoft.com/office/drawing/2014/main" id="{458338CA-05FF-5708-5A08-25CDAB0C86E4}"/>
                  </a:ext>
                </a:extLst>
              </p:cNvPr>
              <p:cNvSpPr txBox="1"/>
              <p:nvPr/>
            </p:nvSpPr>
            <p:spPr>
              <a:xfrm>
                <a:off x="1866920" y="5853986"/>
                <a:ext cx="1995583" cy="204417"/>
              </a:xfrm>
              <a:prstGeom prst="rect">
                <a:avLst/>
              </a:prstGeom>
              <a:noFill/>
              <a:ln>
                <a:noFill/>
              </a:ln>
            </p:spPr>
            <p:txBody>
              <a:bodyPr spcFirstLastPara="1" wrap="square" lIns="127722" tIns="127722" rIns="127722" bIns="127722" anchor="t" anchorCtr="0">
                <a:noAutofit/>
              </a:bodyPr>
              <a:lstStyle/>
              <a:p>
                <a:pPr>
                  <a:spcBef>
                    <a:spcPts val="0"/>
                  </a:spcBef>
                </a:pPr>
                <a:r>
                  <a:rPr lang="en" sz="1117" dirty="0">
                    <a:solidFill>
                      <a:schemeClr val="dk1"/>
                    </a:solidFill>
                  </a:rPr>
                  <a:t>Changes Reviewed</a:t>
                </a:r>
                <a:endParaRPr sz="1117" dirty="0">
                  <a:solidFill>
                    <a:schemeClr val="dk1"/>
                  </a:solidFill>
                </a:endParaRPr>
              </a:p>
            </p:txBody>
          </p:sp>
          <p:cxnSp>
            <p:nvCxnSpPr>
              <p:cNvPr id="464" name="Google Shape;229;p15">
                <a:extLst>
                  <a:ext uri="{FF2B5EF4-FFF2-40B4-BE49-F238E27FC236}">
                    <a16:creationId xmlns:a16="http://schemas.microsoft.com/office/drawing/2014/main" id="{BD8A8B42-E996-7C00-35EA-8AC4C2EBCB9E}"/>
                  </a:ext>
                </a:extLst>
              </p:cNvPr>
              <p:cNvCxnSpPr/>
              <p:nvPr/>
            </p:nvCxnSpPr>
            <p:spPr>
              <a:xfrm>
                <a:off x="1467748" y="6324819"/>
                <a:ext cx="3040125" cy="0"/>
              </a:xfrm>
              <a:prstGeom prst="straightConnector1">
                <a:avLst/>
              </a:prstGeom>
              <a:noFill/>
              <a:ln w="8700" cap="flat" cmpd="sng">
                <a:solidFill>
                  <a:schemeClr val="dk2"/>
                </a:solidFill>
                <a:prstDash val="solid"/>
                <a:round/>
                <a:headEnd type="none" w="med" len="med"/>
                <a:tailEnd type="none" w="med" len="med"/>
              </a:ln>
            </p:spPr>
          </p:cxnSp>
          <p:pic>
            <p:nvPicPr>
              <p:cNvPr id="465" name="Google Shape;230;p15">
                <a:extLst>
                  <a:ext uri="{FF2B5EF4-FFF2-40B4-BE49-F238E27FC236}">
                    <a16:creationId xmlns:a16="http://schemas.microsoft.com/office/drawing/2014/main" id="{E68C9E5D-3280-C44F-7EF5-BE80E5920D66}"/>
                  </a:ext>
                </a:extLst>
              </p:cNvPr>
              <p:cNvPicPr preferRelativeResize="0"/>
              <p:nvPr/>
            </p:nvPicPr>
            <p:blipFill>
              <a:blip r:embed="rId15">
                <a:alphaModFix/>
              </a:blip>
              <a:stretch>
                <a:fillRect/>
              </a:stretch>
            </p:blipFill>
            <p:spPr>
              <a:xfrm>
                <a:off x="1576377" y="6953035"/>
                <a:ext cx="233220" cy="273781"/>
              </a:xfrm>
              <a:prstGeom prst="rect">
                <a:avLst/>
              </a:prstGeom>
              <a:noFill/>
              <a:ln>
                <a:noFill/>
              </a:ln>
            </p:spPr>
          </p:pic>
          <p:pic>
            <p:nvPicPr>
              <p:cNvPr id="466" name="Google Shape;231;p15">
                <a:extLst>
                  <a:ext uri="{FF2B5EF4-FFF2-40B4-BE49-F238E27FC236}">
                    <a16:creationId xmlns:a16="http://schemas.microsoft.com/office/drawing/2014/main" id="{BCD1F9FC-782B-81F3-7AE5-8673E19F32D9}"/>
                  </a:ext>
                </a:extLst>
              </p:cNvPr>
              <p:cNvPicPr preferRelativeResize="0"/>
              <p:nvPr/>
            </p:nvPicPr>
            <p:blipFill>
              <a:blip r:embed="rId12">
                <a:alphaModFix/>
              </a:blip>
              <a:stretch>
                <a:fillRect/>
              </a:stretch>
            </p:blipFill>
            <p:spPr>
              <a:xfrm>
                <a:off x="1530785" y="6396970"/>
                <a:ext cx="288926" cy="211878"/>
              </a:xfrm>
              <a:prstGeom prst="rect">
                <a:avLst/>
              </a:prstGeom>
              <a:noFill/>
              <a:ln>
                <a:noFill/>
              </a:ln>
            </p:spPr>
          </p:pic>
          <p:pic>
            <p:nvPicPr>
              <p:cNvPr id="467" name="Google Shape;232;p15">
                <a:extLst>
                  <a:ext uri="{FF2B5EF4-FFF2-40B4-BE49-F238E27FC236}">
                    <a16:creationId xmlns:a16="http://schemas.microsoft.com/office/drawing/2014/main" id="{3C9D8A21-17D9-4287-A84F-07C0529459E3}"/>
                  </a:ext>
                </a:extLst>
              </p:cNvPr>
              <p:cNvPicPr preferRelativeResize="0"/>
              <p:nvPr/>
            </p:nvPicPr>
            <p:blipFill>
              <a:blip r:embed="rId16">
                <a:alphaModFix/>
              </a:blip>
              <a:stretch>
                <a:fillRect/>
              </a:stretch>
            </p:blipFill>
            <p:spPr>
              <a:xfrm>
                <a:off x="1523888" y="6653098"/>
                <a:ext cx="275348" cy="232624"/>
              </a:xfrm>
              <a:prstGeom prst="rect">
                <a:avLst/>
              </a:prstGeom>
              <a:noFill/>
              <a:ln>
                <a:noFill/>
              </a:ln>
            </p:spPr>
          </p:pic>
          <p:pic>
            <p:nvPicPr>
              <p:cNvPr id="468" name="Google Shape;233;p15">
                <a:extLst>
                  <a:ext uri="{FF2B5EF4-FFF2-40B4-BE49-F238E27FC236}">
                    <a16:creationId xmlns:a16="http://schemas.microsoft.com/office/drawing/2014/main" id="{8BBFC298-5F87-DD26-BA02-A3DC9557DCF2}"/>
                  </a:ext>
                </a:extLst>
              </p:cNvPr>
              <p:cNvPicPr preferRelativeResize="0"/>
              <p:nvPr/>
            </p:nvPicPr>
            <p:blipFill>
              <a:blip r:embed="rId17">
                <a:alphaModFix/>
              </a:blip>
              <a:stretch>
                <a:fillRect/>
              </a:stretch>
            </p:blipFill>
            <p:spPr>
              <a:xfrm>
                <a:off x="1546046" y="8251899"/>
                <a:ext cx="253223" cy="282442"/>
              </a:xfrm>
              <a:prstGeom prst="rect">
                <a:avLst/>
              </a:prstGeom>
              <a:noFill/>
              <a:ln>
                <a:noFill/>
              </a:ln>
            </p:spPr>
          </p:pic>
          <p:sp>
            <p:nvSpPr>
              <p:cNvPr id="469" name="Google Shape;234;p15">
                <a:extLst>
                  <a:ext uri="{FF2B5EF4-FFF2-40B4-BE49-F238E27FC236}">
                    <a16:creationId xmlns:a16="http://schemas.microsoft.com/office/drawing/2014/main" id="{ECE02B43-24C3-743F-4C2C-465D2C0FBD7C}"/>
                  </a:ext>
                </a:extLst>
              </p:cNvPr>
              <p:cNvSpPr/>
              <p:nvPr/>
            </p:nvSpPr>
            <p:spPr>
              <a:xfrm>
                <a:off x="1629407" y="8282439"/>
                <a:ext cx="2788500" cy="232375"/>
              </a:xfrm>
              <a:prstGeom prst="rect">
                <a:avLst/>
              </a:prstGeom>
              <a:noFill/>
              <a:ln>
                <a:noFill/>
              </a:ln>
            </p:spPr>
            <p:txBody>
              <a:bodyPr spcFirstLastPara="1" wrap="square" lIns="127722" tIns="127722" rIns="127722" bIns="127722" anchor="ctr" anchorCtr="0">
                <a:noAutofit/>
              </a:bodyPr>
              <a:lstStyle/>
              <a:p>
                <a:pPr>
                  <a:spcBef>
                    <a:spcPts val="0"/>
                  </a:spcBef>
                  <a:buClr>
                    <a:schemeClr val="dk1"/>
                  </a:buClr>
                  <a:buSzPts val="1006"/>
                </a:pPr>
                <a:r>
                  <a:rPr lang="en" sz="839">
                    <a:solidFill>
                      <a:schemeClr val="dk1"/>
                    </a:solidFill>
                  </a:rPr>
                  <a:t>   </a:t>
                </a:r>
                <a:r>
                  <a:rPr lang="en" sz="839">
                    <a:solidFill>
                      <a:srgbClr val="1F2328"/>
                    </a:solidFill>
                  </a:rPr>
                  <a:t>           test-coverage/test-coverage(4.4)</a:t>
                </a:r>
                <a:endParaRPr sz="1956"/>
              </a:p>
            </p:txBody>
          </p:sp>
          <p:sp>
            <p:nvSpPr>
              <p:cNvPr id="470" name="Google Shape;235;p15">
                <a:extLst>
                  <a:ext uri="{FF2B5EF4-FFF2-40B4-BE49-F238E27FC236}">
                    <a16:creationId xmlns:a16="http://schemas.microsoft.com/office/drawing/2014/main" id="{7D462FA6-222C-D882-9DFF-B16AAA3DF5D3}"/>
                  </a:ext>
                </a:extLst>
              </p:cNvPr>
              <p:cNvSpPr/>
              <p:nvPr/>
            </p:nvSpPr>
            <p:spPr>
              <a:xfrm>
                <a:off x="1629374" y="8621717"/>
                <a:ext cx="2788500" cy="232375"/>
              </a:xfrm>
              <a:prstGeom prst="rect">
                <a:avLst/>
              </a:prstGeom>
              <a:noFill/>
              <a:ln>
                <a:noFill/>
              </a:ln>
            </p:spPr>
            <p:txBody>
              <a:bodyPr spcFirstLastPara="1" wrap="square" lIns="127722" tIns="127722" rIns="127722" bIns="127722" anchor="ctr" anchorCtr="0">
                <a:noAutofit/>
              </a:bodyPr>
              <a:lstStyle/>
              <a:p>
                <a:pPr>
                  <a:spcBef>
                    <a:spcPts val="0"/>
                  </a:spcBef>
                </a:pPr>
                <a:r>
                  <a:rPr lang="en" sz="839"/>
                  <a:t>              R-CMD-check</a:t>
                </a:r>
                <a:endParaRPr sz="839"/>
              </a:p>
            </p:txBody>
          </p:sp>
          <p:sp>
            <p:nvSpPr>
              <p:cNvPr id="471" name="Google Shape;236;p15">
                <a:extLst>
                  <a:ext uri="{FF2B5EF4-FFF2-40B4-BE49-F238E27FC236}">
                    <a16:creationId xmlns:a16="http://schemas.microsoft.com/office/drawing/2014/main" id="{F523F863-CED5-FCD3-AEA2-21058BFB33B0}"/>
                  </a:ext>
                </a:extLst>
              </p:cNvPr>
              <p:cNvSpPr/>
              <p:nvPr/>
            </p:nvSpPr>
            <p:spPr>
              <a:xfrm>
                <a:off x="1830220" y="8318797"/>
                <a:ext cx="165458" cy="16270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bg2">
                      <a:lumMod val="10000"/>
                    </a:schemeClr>
                  </a:solidFill>
                </a:endParaRPr>
              </a:p>
            </p:txBody>
          </p:sp>
          <p:sp>
            <p:nvSpPr>
              <p:cNvPr id="472" name="Google Shape;237;p15">
                <a:extLst>
                  <a:ext uri="{FF2B5EF4-FFF2-40B4-BE49-F238E27FC236}">
                    <a16:creationId xmlns:a16="http://schemas.microsoft.com/office/drawing/2014/main" id="{EA6298BB-D87C-2A6B-9415-B550B818EDAD}"/>
                  </a:ext>
                </a:extLst>
              </p:cNvPr>
              <p:cNvSpPr txBox="1"/>
              <p:nvPr/>
            </p:nvSpPr>
            <p:spPr>
              <a:xfrm>
                <a:off x="1729524" y="8229908"/>
                <a:ext cx="416167" cy="232375"/>
              </a:xfrm>
              <a:prstGeom prst="rect">
                <a:avLst/>
              </a:prstGeom>
              <a:noFill/>
              <a:ln>
                <a:noFill/>
              </a:ln>
            </p:spPr>
            <p:txBody>
              <a:bodyPr spcFirstLastPara="1" wrap="square" lIns="127722" tIns="127722" rIns="127722" bIns="127722" anchor="t" anchorCtr="0">
                <a:noAutofit/>
              </a:bodyPr>
              <a:lstStyle/>
              <a:p>
                <a:pPr>
                  <a:spcBef>
                    <a:spcPts val="0"/>
                  </a:spcBef>
                </a:pPr>
                <a:r>
                  <a:rPr lang="en" sz="698" dirty="0">
                    <a:solidFill>
                      <a:schemeClr val="lt1"/>
                    </a:solidFill>
                  </a:rPr>
                  <a:t>GH</a:t>
                </a:r>
                <a:endParaRPr sz="698" dirty="0">
                  <a:solidFill>
                    <a:schemeClr val="lt1"/>
                  </a:solidFill>
                </a:endParaRPr>
              </a:p>
            </p:txBody>
          </p:sp>
          <p:sp>
            <p:nvSpPr>
              <p:cNvPr id="473" name="Google Shape;238;p15">
                <a:extLst>
                  <a:ext uri="{FF2B5EF4-FFF2-40B4-BE49-F238E27FC236}">
                    <a16:creationId xmlns:a16="http://schemas.microsoft.com/office/drawing/2014/main" id="{F75B6715-679E-8E53-69C1-82F6E5959789}"/>
                  </a:ext>
                </a:extLst>
              </p:cNvPr>
              <p:cNvSpPr/>
              <p:nvPr/>
            </p:nvSpPr>
            <p:spPr>
              <a:xfrm>
                <a:off x="1835613" y="8653245"/>
                <a:ext cx="165458" cy="16270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474" name="Google Shape;239;p15">
                <a:extLst>
                  <a:ext uri="{FF2B5EF4-FFF2-40B4-BE49-F238E27FC236}">
                    <a16:creationId xmlns:a16="http://schemas.microsoft.com/office/drawing/2014/main" id="{EE69E822-83E6-2F2B-8A14-9BBDFCD34C1B}"/>
                  </a:ext>
                </a:extLst>
              </p:cNvPr>
              <p:cNvSpPr txBox="1"/>
              <p:nvPr/>
            </p:nvSpPr>
            <p:spPr>
              <a:xfrm>
                <a:off x="1730499" y="8555049"/>
                <a:ext cx="416167" cy="232375"/>
              </a:xfrm>
              <a:prstGeom prst="rect">
                <a:avLst/>
              </a:prstGeom>
              <a:noFill/>
              <a:ln>
                <a:noFill/>
              </a:ln>
            </p:spPr>
            <p:txBody>
              <a:bodyPr spcFirstLastPara="1" wrap="square" lIns="127722" tIns="127722" rIns="127722" bIns="127722" anchor="t" anchorCtr="0">
                <a:noAutofit/>
              </a:bodyPr>
              <a:lstStyle/>
              <a:p>
                <a:pPr>
                  <a:spcBef>
                    <a:spcPts val="0"/>
                  </a:spcBef>
                </a:pPr>
                <a:r>
                  <a:rPr lang="en" sz="698" dirty="0">
                    <a:solidFill>
                      <a:schemeClr val="lt1"/>
                    </a:solidFill>
                  </a:rPr>
                  <a:t>GH</a:t>
                </a:r>
                <a:endParaRPr sz="698" dirty="0">
                  <a:solidFill>
                    <a:schemeClr val="lt1"/>
                  </a:solidFill>
                </a:endParaRPr>
              </a:p>
            </p:txBody>
          </p:sp>
          <p:sp>
            <p:nvSpPr>
              <p:cNvPr id="475" name="Google Shape;240;p15">
                <a:extLst>
                  <a:ext uri="{FF2B5EF4-FFF2-40B4-BE49-F238E27FC236}">
                    <a16:creationId xmlns:a16="http://schemas.microsoft.com/office/drawing/2014/main" id="{F45FB696-6084-FB37-FF3B-6767E3456443}"/>
                  </a:ext>
                </a:extLst>
              </p:cNvPr>
              <p:cNvSpPr txBox="1"/>
              <p:nvPr/>
            </p:nvSpPr>
            <p:spPr>
              <a:xfrm>
                <a:off x="1694050" y="6325762"/>
                <a:ext cx="970292"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a:solidFill>
                      <a:srgbClr val="999999"/>
                    </a:solidFill>
                  </a:rPr>
                  <a:t>1 approval</a:t>
                </a:r>
                <a:endParaRPr sz="978">
                  <a:solidFill>
                    <a:srgbClr val="999999"/>
                  </a:solidFill>
                </a:endParaRPr>
              </a:p>
              <a:p>
                <a:pPr>
                  <a:spcBef>
                    <a:spcPts val="0"/>
                  </a:spcBef>
                </a:pPr>
                <a:endParaRPr sz="978">
                  <a:solidFill>
                    <a:srgbClr val="999999"/>
                  </a:solidFill>
                </a:endParaRPr>
              </a:p>
              <a:p>
                <a:pPr>
                  <a:spcBef>
                    <a:spcPts val="0"/>
                  </a:spcBef>
                </a:pPr>
                <a:r>
                  <a:rPr lang="en" sz="978">
                    <a:solidFill>
                      <a:srgbClr val="999999"/>
                    </a:solidFill>
                  </a:rPr>
                  <a:t> </a:t>
                </a:r>
                <a:endParaRPr sz="978">
                  <a:solidFill>
                    <a:srgbClr val="999999"/>
                  </a:solidFill>
                </a:endParaRPr>
              </a:p>
            </p:txBody>
          </p:sp>
          <p:sp>
            <p:nvSpPr>
              <p:cNvPr id="476" name="Google Shape;241;p15">
                <a:extLst>
                  <a:ext uri="{FF2B5EF4-FFF2-40B4-BE49-F238E27FC236}">
                    <a16:creationId xmlns:a16="http://schemas.microsoft.com/office/drawing/2014/main" id="{7F738D23-DF01-652F-1B0D-A96D8426941C}"/>
                  </a:ext>
                </a:extLst>
              </p:cNvPr>
              <p:cNvSpPr txBox="1"/>
              <p:nvPr/>
            </p:nvSpPr>
            <p:spPr>
              <a:xfrm>
                <a:off x="1707043" y="6907723"/>
                <a:ext cx="1532667"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a:solidFill>
                      <a:srgbClr val="999999"/>
                    </a:solidFill>
                  </a:rPr>
                  <a:t>1 requested change</a:t>
                </a:r>
                <a:endParaRPr sz="978">
                  <a:solidFill>
                    <a:srgbClr val="999999"/>
                  </a:solidFill>
                </a:endParaRPr>
              </a:p>
            </p:txBody>
          </p:sp>
          <p:sp>
            <p:nvSpPr>
              <p:cNvPr id="477" name="Google Shape;242;p15">
                <a:extLst>
                  <a:ext uri="{FF2B5EF4-FFF2-40B4-BE49-F238E27FC236}">
                    <a16:creationId xmlns:a16="http://schemas.microsoft.com/office/drawing/2014/main" id="{C39DADAE-BFA0-577F-B9FE-D5068F50685E}"/>
                  </a:ext>
                </a:extLst>
              </p:cNvPr>
              <p:cNvSpPr txBox="1"/>
              <p:nvPr/>
            </p:nvSpPr>
            <p:spPr>
              <a:xfrm>
                <a:off x="1705960" y="6587163"/>
                <a:ext cx="2640000"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dirty="0">
                    <a:solidFill>
                      <a:schemeClr val="dk1"/>
                    </a:solidFill>
                  </a:rPr>
                  <a:t>Quality Reviewer    </a:t>
                </a:r>
                <a:r>
                  <a:rPr lang="en" sz="839" dirty="0">
                    <a:solidFill>
                      <a:schemeClr val="dk1"/>
                    </a:solidFill>
                  </a:rPr>
                  <a:t> </a:t>
                </a:r>
                <a:r>
                  <a:rPr lang="en" sz="839" dirty="0">
                    <a:solidFill>
                      <a:srgbClr val="999999"/>
                    </a:solidFill>
                  </a:rPr>
                  <a:t> Approved these changes</a:t>
                </a:r>
                <a:endParaRPr sz="839" dirty="0">
                  <a:solidFill>
                    <a:srgbClr val="999999"/>
                  </a:solidFill>
                </a:endParaRPr>
              </a:p>
              <a:p>
                <a:pPr>
                  <a:spcBef>
                    <a:spcPts val="0"/>
                  </a:spcBef>
                </a:pPr>
                <a:endParaRPr sz="978" dirty="0">
                  <a:solidFill>
                    <a:srgbClr val="999999"/>
                  </a:solidFill>
                </a:endParaRPr>
              </a:p>
              <a:p>
                <a:pPr>
                  <a:spcBef>
                    <a:spcPts val="0"/>
                  </a:spcBef>
                </a:pPr>
                <a:r>
                  <a:rPr lang="en" sz="978" dirty="0">
                    <a:solidFill>
                      <a:srgbClr val="999999"/>
                    </a:solidFill>
                  </a:rPr>
                  <a:t> </a:t>
                </a:r>
                <a:endParaRPr sz="978" dirty="0">
                  <a:solidFill>
                    <a:srgbClr val="999999"/>
                  </a:solidFill>
                </a:endParaRPr>
              </a:p>
            </p:txBody>
          </p:sp>
          <p:pic>
            <p:nvPicPr>
              <p:cNvPr id="478" name="Google Shape;243;p15">
                <a:extLst>
                  <a:ext uri="{FF2B5EF4-FFF2-40B4-BE49-F238E27FC236}">
                    <a16:creationId xmlns:a16="http://schemas.microsoft.com/office/drawing/2014/main" id="{B103DE34-2DDA-1C67-6D0C-8D74C8E9E65D}"/>
                  </a:ext>
                </a:extLst>
              </p:cNvPr>
              <p:cNvPicPr preferRelativeResize="0"/>
              <p:nvPr/>
            </p:nvPicPr>
            <p:blipFill>
              <a:blip r:embed="rId16">
                <a:alphaModFix/>
              </a:blip>
              <a:stretch>
                <a:fillRect/>
              </a:stretch>
            </p:blipFill>
            <p:spPr>
              <a:xfrm>
                <a:off x="1535831" y="7247141"/>
                <a:ext cx="275348" cy="232624"/>
              </a:xfrm>
              <a:prstGeom prst="rect">
                <a:avLst/>
              </a:prstGeom>
              <a:noFill/>
              <a:ln>
                <a:noFill/>
              </a:ln>
            </p:spPr>
          </p:pic>
          <p:sp>
            <p:nvSpPr>
              <p:cNvPr id="479" name="Google Shape;244;p15">
                <a:extLst>
                  <a:ext uri="{FF2B5EF4-FFF2-40B4-BE49-F238E27FC236}">
                    <a16:creationId xmlns:a16="http://schemas.microsoft.com/office/drawing/2014/main" id="{AD9AD4B2-E1ED-6A45-9598-CF45FE1EF2EE}"/>
                  </a:ext>
                </a:extLst>
              </p:cNvPr>
              <p:cNvSpPr txBox="1"/>
              <p:nvPr/>
            </p:nvSpPr>
            <p:spPr>
              <a:xfrm>
                <a:off x="1703969" y="7146562"/>
                <a:ext cx="2640000"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dirty="0">
                    <a:solidFill>
                      <a:schemeClr val="dk1"/>
                    </a:solidFill>
                  </a:rPr>
                  <a:t>Code Architect    </a:t>
                </a:r>
                <a:r>
                  <a:rPr lang="en" sz="839" dirty="0">
                    <a:solidFill>
                      <a:schemeClr val="dk1"/>
                    </a:solidFill>
                  </a:rPr>
                  <a:t> </a:t>
                </a:r>
                <a:r>
                  <a:rPr lang="en" sz="839" dirty="0">
                    <a:solidFill>
                      <a:srgbClr val="999999"/>
                    </a:solidFill>
                  </a:rPr>
                  <a:t>     Requested changes</a:t>
                </a:r>
                <a:endParaRPr sz="839" dirty="0">
                  <a:solidFill>
                    <a:srgbClr val="999999"/>
                  </a:solidFill>
                </a:endParaRPr>
              </a:p>
              <a:p>
                <a:pPr>
                  <a:spcBef>
                    <a:spcPts val="0"/>
                  </a:spcBef>
                </a:pPr>
                <a:endParaRPr sz="978" dirty="0">
                  <a:solidFill>
                    <a:srgbClr val="999999"/>
                  </a:solidFill>
                </a:endParaRPr>
              </a:p>
              <a:p>
                <a:pPr>
                  <a:spcBef>
                    <a:spcPts val="0"/>
                  </a:spcBef>
                </a:pPr>
                <a:r>
                  <a:rPr lang="en" sz="978" dirty="0">
                    <a:solidFill>
                      <a:srgbClr val="999999"/>
                    </a:solidFill>
                  </a:rPr>
                  <a:t> </a:t>
                </a:r>
                <a:endParaRPr sz="978" dirty="0">
                  <a:solidFill>
                    <a:srgbClr val="999999"/>
                  </a:solidFill>
                </a:endParaRPr>
              </a:p>
            </p:txBody>
          </p:sp>
          <p:cxnSp>
            <p:nvCxnSpPr>
              <p:cNvPr id="480" name="Google Shape;245;p15">
                <a:extLst>
                  <a:ext uri="{FF2B5EF4-FFF2-40B4-BE49-F238E27FC236}">
                    <a16:creationId xmlns:a16="http://schemas.microsoft.com/office/drawing/2014/main" id="{9ADA6738-477D-6AAE-5750-5790A8921C23}"/>
                  </a:ext>
                </a:extLst>
              </p:cNvPr>
              <p:cNvCxnSpPr/>
              <p:nvPr/>
            </p:nvCxnSpPr>
            <p:spPr>
              <a:xfrm>
                <a:off x="1477667" y="7575104"/>
                <a:ext cx="3040125" cy="0"/>
              </a:xfrm>
              <a:prstGeom prst="straightConnector1">
                <a:avLst/>
              </a:prstGeom>
              <a:noFill/>
              <a:ln w="8700" cap="flat" cmpd="sng">
                <a:solidFill>
                  <a:schemeClr val="dk2"/>
                </a:solidFill>
                <a:prstDash val="solid"/>
                <a:round/>
                <a:headEnd type="none" w="med" len="med"/>
                <a:tailEnd type="none" w="med" len="med"/>
              </a:ln>
            </p:spPr>
          </p:cxnSp>
          <p:pic>
            <p:nvPicPr>
              <p:cNvPr id="482" name="Google Shape;246;p15">
                <a:extLst>
                  <a:ext uri="{FF2B5EF4-FFF2-40B4-BE49-F238E27FC236}">
                    <a16:creationId xmlns:a16="http://schemas.microsoft.com/office/drawing/2014/main" id="{532A3481-2579-4D58-6731-66D1987F12D6}"/>
                  </a:ext>
                </a:extLst>
              </p:cNvPr>
              <p:cNvPicPr preferRelativeResize="0"/>
              <p:nvPr/>
            </p:nvPicPr>
            <p:blipFill>
              <a:blip r:embed="rId12">
                <a:alphaModFix/>
              </a:blip>
              <a:stretch>
                <a:fillRect/>
              </a:stretch>
            </p:blipFill>
            <p:spPr>
              <a:xfrm>
                <a:off x="1529318" y="8636978"/>
                <a:ext cx="288926" cy="211878"/>
              </a:xfrm>
              <a:prstGeom prst="rect">
                <a:avLst/>
              </a:prstGeom>
              <a:noFill/>
              <a:ln>
                <a:noFill/>
              </a:ln>
            </p:spPr>
          </p:pic>
          <p:cxnSp>
            <p:nvCxnSpPr>
              <p:cNvPr id="484" name="Google Shape;247;p15">
                <a:extLst>
                  <a:ext uri="{FF2B5EF4-FFF2-40B4-BE49-F238E27FC236}">
                    <a16:creationId xmlns:a16="http://schemas.microsoft.com/office/drawing/2014/main" id="{CF936DB6-7739-C0F1-15E4-F9C802ECEDD2}"/>
                  </a:ext>
                </a:extLst>
              </p:cNvPr>
              <p:cNvCxnSpPr/>
              <p:nvPr/>
            </p:nvCxnSpPr>
            <p:spPr>
              <a:xfrm>
                <a:off x="1458389" y="8163071"/>
                <a:ext cx="3040125" cy="0"/>
              </a:xfrm>
              <a:prstGeom prst="straightConnector1">
                <a:avLst/>
              </a:prstGeom>
              <a:noFill/>
              <a:ln w="8700" cap="flat" cmpd="sng">
                <a:solidFill>
                  <a:schemeClr val="dk2"/>
                </a:solidFill>
                <a:prstDash val="solid"/>
                <a:round/>
                <a:headEnd type="none" w="med" len="med"/>
                <a:tailEnd type="none" w="med" len="med"/>
              </a:ln>
            </p:spPr>
          </p:cxnSp>
          <p:pic>
            <p:nvPicPr>
              <p:cNvPr id="485" name="Google Shape;248;p15" title="download.png">
                <a:extLst>
                  <a:ext uri="{FF2B5EF4-FFF2-40B4-BE49-F238E27FC236}">
                    <a16:creationId xmlns:a16="http://schemas.microsoft.com/office/drawing/2014/main" id="{1EBCFFB0-BB3B-2021-3528-09C260150EE6}"/>
                  </a:ext>
                </a:extLst>
              </p:cNvPr>
              <p:cNvPicPr preferRelativeResize="0"/>
              <p:nvPr/>
            </p:nvPicPr>
            <p:blipFill>
              <a:blip r:embed="rId18">
                <a:alphaModFix/>
              </a:blip>
              <a:stretch>
                <a:fillRect/>
              </a:stretch>
            </p:blipFill>
            <p:spPr>
              <a:xfrm>
                <a:off x="1524726" y="8948407"/>
                <a:ext cx="344920" cy="344920"/>
              </a:xfrm>
              <a:prstGeom prst="rect">
                <a:avLst/>
              </a:prstGeom>
              <a:noFill/>
              <a:ln>
                <a:noFill/>
              </a:ln>
            </p:spPr>
          </p:pic>
          <p:sp>
            <p:nvSpPr>
              <p:cNvPr id="488" name="Google Shape;249;p15">
                <a:extLst>
                  <a:ext uri="{FF2B5EF4-FFF2-40B4-BE49-F238E27FC236}">
                    <a16:creationId xmlns:a16="http://schemas.microsoft.com/office/drawing/2014/main" id="{4B0BEC39-89B8-EF3D-6FC0-3D70522DC327}"/>
                  </a:ext>
                </a:extLst>
              </p:cNvPr>
              <p:cNvSpPr txBox="1"/>
              <p:nvPr/>
            </p:nvSpPr>
            <p:spPr>
              <a:xfrm>
                <a:off x="1798191" y="8820046"/>
                <a:ext cx="1821875" cy="348333"/>
              </a:xfrm>
              <a:prstGeom prst="rect">
                <a:avLst/>
              </a:prstGeom>
              <a:noFill/>
              <a:ln>
                <a:noFill/>
              </a:ln>
            </p:spPr>
            <p:txBody>
              <a:bodyPr spcFirstLastPara="1" wrap="square" lIns="127722" tIns="127722" rIns="127722" bIns="127722" anchor="t" anchorCtr="0">
                <a:noAutofit/>
              </a:bodyPr>
              <a:lstStyle/>
              <a:p>
                <a:pPr>
                  <a:spcBef>
                    <a:spcPts val="0"/>
                  </a:spcBef>
                </a:pPr>
                <a:r>
                  <a:rPr lang="en" sz="1257">
                    <a:solidFill>
                      <a:schemeClr val="dk1"/>
                    </a:solidFill>
                  </a:rPr>
                  <a:t>No conflicts with base branch</a:t>
                </a:r>
                <a:endParaRPr sz="1257">
                  <a:solidFill>
                    <a:schemeClr val="dk1"/>
                  </a:solidFill>
                </a:endParaRPr>
              </a:p>
              <a:p>
                <a:pPr>
                  <a:spcBef>
                    <a:spcPts val="0"/>
                  </a:spcBef>
                </a:pPr>
                <a:endParaRPr sz="1257">
                  <a:solidFill>
                    <a:schemeClr val="dk1"/>
                  </a:solidFill>
                </a:endParaRPr>
              </a:p>
            </p:txBody>
          </p:sp>
          <p:cxnSp>
            <p:nvCxnSpPr>
              <p:cNvPr id="489" name="Google Shape;250;p15">
                <a:extLst>
                  <a:ext uri="{FF2B5EF4-FFF2-40B4-BE49-F238E27FC236}">
                    <a16:creationId xmlns:a16="http://schemas.microsoft.com/office/drawing/2014/main" id="{7FABD803-40F8-B8D3-3B38-F0A2A9AD7950}"/>
                  </a:ext>
                </a:extLst>
              </p:cNvPr>
              <p:cNvCxnSpPr/>
              <p:nvPr/>
            </p:nvCxnSpPr>
            <p:spPr>
              <a:xfrm>
                <a:off x="1474802" y="8902850"/>
                <a:ext cx="3040125" cy="0"/>
              </a:xfrm>
              <a:prstGeom prst="straightConnector1">
                <a:avLst/>
              </a:prstGeom>
              <a:noFill/>
              <a:ln w="8700" cap="flat" cmpd="sng">
                <a:solidFill>
                  <a:schemeClr val="dk2"/>
                </a:solidFill>
                <a:prstDash val="solid"/>
                <a:round/>
                <a:headEnd type="none" w="med" len="med"/>
                <a:tailEnd type="none" w="med" len="med"/>
              </a:ln>
            </p:spPr>
          </p:cxnSp>
          <p:sp>
            <p:nvSpPr>
              <p:cNvPr id="492" name="Google Shape;216;p15">
                <a:extLst>
                  <a:ext uri="{FF2B5EF4-FFF2-40B4-BE49-F238E27FC236}">
                    <a16:creationId xmlns:a16="http://schemas.microsoft.com/office/drawing/2014/main" id="{D8B7CE3A-7E55-159E-CE72-F850E42BF5B3}"/>
                  </a:ext>
                </a:extLst>
              </p:cNvPr>
              <p:cNvSpPr/>
              <p:nvPr/>
            </p:nvSpPr>
            <p:spPr>
              <a:xfrm>
                <a:off x="1466614" y="5802822"/>
                <a:ext cx="3030718" cy="3579582"/>
              </a:xfrm>
              <a:prstGeom prst="rect">
                <a:avLst/>
              </a:prstGeom>
              <a:no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grpSp>
        <p:sp>
          <p:nvSpPr>
            <p:cNvPr id="62" name="Google Shape;215;p15">
              <a:extLst>
                <a:ext uri="{FF2B5EF4-FFF2-40B4-BE49-F238E27FC236}">
                  <a16:creationId xmlns:a16="http://schemas.microsoft.com/office/drawing/2014/main" id="{F973645E-ED51-7A2F-7DEB-2C2991FBCC34}"/>
                </a:ext>
              </a:extLst>
            </p:cNvPr>
            <p:cNvSpPr/>
            <p:nvPr/>
          </p:nvSpPr>
          <p:spPr>
            <a:xfrm>
              <a:off x="10139699" y="2716877"/>
              <a:ext cx="3024222" cy="232375"/>
            </a:xfrm>
            <a:prstGeom prst="rect">
              <a:avLst/>
            </a:prstGeom>
            <a:solidFill>
              <a:schemeClr val="lt2"/>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839" dirty="0"/>
            </a:p>
            <a:p>
              <a:pPr>
                <a:spcBef>
                  <a:spcPts val="0"/>
                </a:spcBef>
              </a:pPr>
              <a:endParaRPr sz="839" dirty="0"/>
            </a:p>
            <a:p>
              <a:pPr>
                <a:spcBef>
                  <a:spcPts val="0"/>
                </a:spcBef>
              </a:pPr>
              <a:r>
                <a:rPr lang="en" sz="839" dirty="0">
                  <a:solidFill>
                    <a:schemeClr val="tx1">
                      <a:lumMod val="50000"/>
                    </a:schemeClr>
                  </a:solidFill>
                </a:rPr>
                <a:t>Username </a:t>
              </a:r>
              <a:r>
                <a:rPr lang="en" sz="839" b="0" dirty="0">
                  <a:solidFill>
                    <a:schemeClr val="tx1">
                      <a:lumMod val="50000"/>
                    </a:schemeClr>
                  </a:solidFill>
                </a:rPr>
                <a:t>commented on Mar 15</a:t>
              </a:r>
              <a:endParaRPr sz="839" b="0" dirty="0">
                <a:solidFill>
                  <a:schemeClr val="tx1">
                    <a:lumMod val="50000"/>
                  </a:schemeClr>
                </a:solidFill>
              </a:endParaRPr>
            </a:p>
            <a:p>
              <a:pPr>
                <a:spcBef>
                  <a:spcPts val="0"/>
                </a:spcBef>
              </a:pPr>
              <a:endParaRPr sz="1956" dirty="0"/>
            </a:p>
          </p:txBody>
        </p:sp>
        <p:sp>
          <p:nvSpPr>
            <p:cNvPr id="63" name="Google Shape;216;p15">
              <a:extLst>
                <a:ext uri="{FF2B5EF4-FFF2-40B4-BE49-F238E27FC236}">
                  <a16:creationId xmlns:a16="http://schemas.microsoft.com/office/drawing/2014/main" id="{72F67B98-DEA5-148A-21D3-577630BD5189}"/>
                </a:ext>
              </a:extLst>
            </p:cNvPr>
            <p:cNvSpPr/>
            <p:nvPr/>
          </p:nvSpPr>
          <p:spPr>
            <a:xfrm>
              <a:off x="10139699" y="2949252"/>
              <a:ext cx="3024222" cy="227593"/>
            </a:xfrm>
            <a:prstGeom prst="rect">
              <a:avLst/>
            </a:prstGeom>
            <a:solidFill>
              <a:schemeClr val="lt1"/>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sp>
          <p:nvSpPr>
            <p:cNvPr id="448" name="TextBox 447">
              <a:extLst>
                <a:ext uri="{FF2B5EF4-FFF2-40B4-BE49-F238E27FC236}">
                  <a16:creationId xmlns:a16="http://schemas.microsoft.com/office/drawing/2014/main" id="{3E17A800-40EF-25D3-96A6-9BF3C9CACA4F}"/>
                </a:ext>
              </a:extLst>
            </p:cNvPr>
            <p:cNvSpPr txBox="1"/>
            <p:nvPr/>
          </p:nvSpPr>
          <p:spPr>
            <a:xfrm>
              <a:off x="10164572" y="2884290"/>
              <a:ext cx="40900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rPr>
                <a:t>…</a:t>
              </a:r>
            </a:p>
          </p:txBody>
        </p:sp>
      </p:grpSp>
      <p:sp>
        <p:nvSpPr>
          <p:cNvPr id="493" name="Line">
            <a:extLst>
              <a:ext uri="{FF2B5EF4-FFF2-40B4-BE49-F238E27FC236}">
                <a16:creationId xmlns:a16="http://schemas.microsoft.com/office/drawing/2014/main" id="{F4656B9D-D3C8-D40D-043E-C590B99B8B33}"/>
              </a:ext>
            </a:extLst>
          </p:cNvPr>
          <p:cNvSpPr/>
          <p:nvPr/>
        </p:nvSpPr>
        <p:spPr>
          <a:xfrm flipV="1">
            <a:off x="199162" y="5988715"/>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cxnSp>
        <p:nvCxnSpPr>
          <p:cNvPr id="495" name="Connector: Elbow 494">
            <a:extLst>
              <a:ext uri="{FF2B5EF4-FFF2-40B4-BE49-F238E27FC236}">
                <a16:creationId xmlns:a16="http://schemas.microsoft.com/office/drawing/2014/main" id="{726D0719-73DA-BDB1-60FB-4E64B1211DFB}"/>
              </a:ext>
            </a:extLst>
          </p:cNvPr>
          <p:cNvCxnSpPr>
            <a:cxnSpLocks/>
            <a:stCxn id="19" idx="3"/>
          </p:cNvCxnSpPr>
          <p:nvPr/>
        </p:nvCxnSpPr>
        <p:spPr>
          <a:xfrm flipV="1">
            <a:off x="8295794" y="8665051"/>
            <a:ext cx="1945191" cy="168533"/>
          </a:xfrm>
          <a:prstGeom prst="bentConnector3">
            <a:avLst>
              <a:gd name="adj1" fmla="val 500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498" name="Line">
            <a:extLst>
              <a:ext uri="{FF2B5EF4-FFF2-40B4-BE49-F238E27FC236}">
                <a16:creationId xmlns:a16="http://schemas.microsoft.com/office/drawing/2014/main" id="{304C7211-D296-AACC-D0DC-EF9557C830A7}"/>
              </a:ext>
            </a:extLst>
          </p:cNvPr>
          <p:cNvSpPr/>
          <p:nvPr/>
        </p:nvSpPr>
        <p:spPr>
          <a:xfrm flipV="1">
            <a:off x="213255" y="4030267"/>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99" name="Use headers, colors, and/or backgrounds to separate or group together sections.">
            <a:extLst>
              <a:ext uri="{FF2B5EF4-FFF2-40B4-BE49-F238E27FC236}">
                <a16:creationId xmlns:a16="http://schemas.microsoft.com/office/drawing/2014/main" id="{C2C56FB7-8356-EF97-AE27-2C7335EC8AF1}"/>
              </a:ext>
            </a:extLst>
          </p:cNvPr>
          <p:cNvSpPr txBox="1"/>
          <p:nvPr/>
        </p:nvSpPr>
        <p:spPr>
          <a:xfrm>
            <a:off x="238315" y="4062961"/>
            <a:ext cx="4251862" cy="1273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In order to create easily reproducible tests, Kaiaulu’s R function files contain Fake Data Generation functions. These functions can create fake data, which is utilized in </a:t>
            </a:r>
            <a:r>
              <a:rPr lang="en-US" b="0" dirty="0" err="1">
                <a:latin typeface="Source Sans Pro" panose="020B0503030403020204" pitchFamily="34" charset="0"/>
                <a:ea typeface="Source Sans Pro" panose="020B0503030403020204" pitchFamily="34" charset="0"/>
              </a:rPr>
              <a:t>Example.R</a:t>
            </a:r>
            <a:r>
              <a:rPr lang="en-US" b="0" dirty="0">
                <a:latin typeface="Source Sans Pro" panose="020B0503030403020204" pitchFamily="34" charset="0"/>
                <a:ea typeface="Source Sans Pro" panose="020B0503030403020204" pitchFamily="34" charset="0"/>
              </a:rPr>
              <a:t>. This file contains functions which use the fake data functions to easily reproduce raw data that creates odd behavior in Kaiaulu. This allows the data to be called by the unit tests, which ensure that users will not have to deal with that same erroneous case ever again. </a:t>
            </a:r>
          </a:p>
        </p:txBody>
      </p:sp>
      <p:sp>
        <p:nvSpPr>
          <p:cNvPr id="502" name="TextBox 501">
            <a:extLst>
              <a:ext uri="{FF2B5EF4-FFF2-40B4-BE49-F238E27FC236}">
                <a16:creationId xmlns:a16="http://schemas.microsoft.com/office/drawing/2014/main" id="{1A3F7FC9-1995-9670-7405-652805ABE552}"/>
              </a:ext>
            </a:extLst>
          </p:cNvPr>
          <p:cNvSpPr txBox="1"/>
          <p:nvPr/>
        </p:nvSpPr>
        <p:spPr>
          <a:xfrm>
            <a:off x="5881426" y="4615933"/>
            <a:ext cx="626156" cy="4436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2000" b="0" dirty="0"/>
              <a:t>R/**</a:t>
            </a:r>
          </a:p>
        </p:txBody>
      </p:sp>
      <p:sp>
        <p:nvSpPr>
          <p:cNvPr id="504" name="Create a visual hierarchy. Help users navigate the page with titles, subtitles, and subsubtitles">
            <a:extLst>
              <a:ext uri="{FF2B5EF4-FFF2-40B4-BE49-F238E27FC236}">
                <a16:creationId xmlns:a16="http://schemas.microsoft.com/office/drawing/2014/main" id="{34CD9276-52BC-5C61-1157-1DC002979582}"/>
              </a:ext>
            </a:extLst>
          </p:cNvPr>
          <p:cNvSpPr txBox="1"/>
          <p:nvPr/>
        </p:nvSpPr>
        <p:spPr>
          <a:xfrm>
            <a:off x="10406271" y="2026651"/>
            <a:ext cx="1138332" cy="2764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GitHub Actions</a:t>
            </a:r>
            <a:endParaRPr lang="en-US" dirty="0">
              <a:latin typeface="Source Sans Pro" panose="020B0503030403020204" pitchFamily="34" charset="0"/>
              <a:ea typeface="Source Sans Pro" panose="020B0503030403020204" pitchFamily="34" charset="0"/>
              <a:sym typeface="Source Sans Pro"/>
            </a:endParaRPr>
          </a:p>
        </p:txBody>
      </p:sp>
      <p:pic>
        <p:nvPicPr>
          <p:cNvPr id="50" name="Picture 49" descr="Account ">
            <a:extLst>
              <a:ext uri="{FF2B5EF4-FFF2-40B4-BE49-F238E27FC236}">
                <a16:creationId xmlns:a16="http://schemas.microsoft.com/office/drawing/2014/main" id="{464B0D4A-7A7D-806F-B3DD-DAC564BF1639}"/>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1999898" y="2246025"/>
            <a:ext cx="306136" cy="306136"/>
          </a:xfrm>
          <a:prstGeom prst="rect">
            <a:avLst/>
          </a:prstGeom>
          <a:noFill/>
          <a:extLst>
            <a:ext uri="{909E8E84-426E-40DD-AFC4-6F175D3DCCD1}">
              <a14:hiddenFill xmlns:a14="http://schemas.microsoft.com/office/drawing/2010/main">
                <a:solidFill>
                  <a:srgbClr val="FFFFFF"/>
                </a:solidFill>
              </a14:hiddenFill>
            </a:ext>
          </a:extLst>
        </p:spPr>
      </p:pic>
      <p:pic>
        <p:nvPicPr>
          <p:cNvPr id="481" name="Google Shape;214;p15">
            <a:extLst>
              <a:ext uri="{FF2B5EF4-FFF2-40B4-BE49-F238E27FC236}">
                <a16:creationId xmlns:a16="http://schemas.microsoft.com/office/drawing/2014/main" id="{1D9D33A7-BE26-C1EC-4A54-7669E917D09F}"/>
              </a:ext>
            </a:extLst>
          </p:cNvPr>
          <p:cNvPicPr preferRelativeResize="0"/>
          <p:nvPr/>
        </p:nvPicPr>
        <p:blipFill>
          <a:blip r:embed="rId10">
            <a:alphaModFix/>
          </a:blip>
          <a:stretch>
            <a:fillRect/>
          </a:stretch>
        </p:blipFill>
        <p:spPr>
          <a:xfrm>
            <a:off x="9818004" y="2157960"/>
            <a:ext cx="476766" cy="456900"/>
          </a:xfrm>
          <a:prstGeom prst="rect">
            <a:avLst/>
          </a:prstGeom>
          <a:noFill/>
          <a:ln>
            <a:noFill/>
          </a:ln>
        </p:spPr>
      </p:pic>
      <p:grpSp>
        <p:nvGrpSpPr>
          <p:cNvPr id="520" name="Group 519">
            <a:extLst>
              <a:ext uri="{FF2B5EF4-FFF2-40B4-BE49-F238E27FC236}">
                <a16:creationId xmlns:a16="http://schemas.microsoft.com/office/drawing/2014/main" id="{6D803E79-6940-ABAA-952C-4FEBD66C7211}"/>
              </a:ext>
            </a:extLst>
          </p:cNvPr>
          <p:cNvGrpSpPr/>
          <p:nvPr/>
        </p:nvGrpSpPr>
        <p:grpSpPr>
          <a:xfrm>
            <a:off x="10857071" y="2164854"/>
            <a:ext cx="526129" cy="375540"/>
            <a:chOff x="9482063" y="3370485"/>
            <a:chExt cx="526129" cy="375540"/>
          </a:xfrm>
        </p:grpSpPr>
        <p:sp>
          <p:nvSpPr>
            <p:cNvPr id="486" name="Google Shape;236;p15">
              <a:extLst>
                <a:ext uri="{FF2B5EF4-FFF2-40B4-BE49-F238E27FC236}">
                  <a16:creationId xmlns:a16="http://schemas.microsoft.com/office/drawing/2014/main" id="{9D1DB980-9376-1A0E-DB0A-CF80C3BEC32D}"/>
                </a:ext>
              </a:extLst>
            </p:cNvPr>
            <p:cNvSpPr/>
            <p:nvPr/>
          </p:nvSpPr>
          <p:spPr>
            <a:xfrm>
              <a:off x="9567136" y="3458331"/>
              <a:ext cx="310026" cy="287694"/>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483" name="Google Shape;237;p15">
              <a:extLst>
                <a:ext uri="{FF2B5EF4-FFF2-40B4-BE49-F238E27FC236}">
                  <a16:creationId xmlns:a16="http://schemas.microsoft.com/office/drawing/2014/main" id="{6EFA85A7-1360-3C75-71D5-615CF8B1A73A}"/>
                </a:ext>
              </a:extLst>
            </p:cNvPr>
            <p:cNvSpPr txBox="1"/>
            <p:nvPr/>
          </p:nvSpPr>
          <p:spPr>
            <a:xfrm>
              <a:off x="9482063" y="3370485"/>
              <a:ext cx="526129" cy="263210"/>
            </a:xfrm>
            <a:prstGeom prst="rect">
              <a:avLst/>
            </a:prstGeom>
            <a:noFill/>
            <a:ln>
              <a:noFill/>
            </a:ln>
          </p:spPr>
          <p:txBody>
            <a:bodyPr spcFirstLastPara="1" wrap="square" lIns="127722" tIns="127722" rIns="127722" bIns="127722" anchor="t" anchorCtr="0">
              <a:noAutofit/>
            </a:bodyPr>
            <a:lstStyle/>
            <a:p>
              <a:pPr>
                <a:spcBef>
                  <a:spcPts val="0"/>
                </a:spcBef>
              </a:pPr>
              <a:r>
                <a:rPr lang="en" sz="1400" dirty="0">
                  <a:solidFill>
                    <a:schemeClr val="lt1"/>
                  </a:solidFill>
                </a:rPr>
                <a:t>GH</a:t>
              </a:r>
              <a:endParaRPr sz="1400" dirty="0">
                <a:solidFill>
                  <a:schemeClr val="lt1"/>
                </a:solidFill>
              </a:endParaRPr>
            </a:p>
          </p:txBody>
        </p:sp>
      </p:grpSp>
      <p:pic>
        <p:nvPicPr>
          <p:cNvPr id="487" name="Picture 486" descr="Account ">
            <a:extLst>
              <a:ext uri="{FF2B5EF4-FFF2-40B4-BE49-F238E27FC236}">
                <a16:creationId xmlns:a16="http://schemas.microsoft.com/office/drawing/2014/main" id="{CA60C69F-A4EF-4812-DFCA-3ADA37FEDF9F}"/>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3036780" y="2237773"/>
            <a:ext cx="306136" cy="306136"/>
          </a:xfrm>
          <a:prstGeom prst="rect">
            <a:avLst/>
          </a:prstGeom>
          <a:noFill/>
          <a:extLst>
            <a:ext uri="{909E8E84-426E-40DD-AFC4-6F175D3DCCD1}">
              <a14:hiddenFill xmlns:a14="http://schemas.microsoft.com/office/drawing/2010/main">
                <a:solidFill>
                  <a:srgbClr val="FFFFFF"/>
                </a:solidFill>
              </a14:hiddenFill>
            </a:ext>
          </a:extLst>
        </p:spPr>
      </p:pic>
      <p:sp>
        <p:nvSpPr>
          <p:cNvPr id="490" name="Create a visual hierarchy. Help users navigate the page with titles, subtitles, and subsubtitles">
            <a:extLst>
              <a:ext uri="{FF2B5EF4-FFF2-40B4-BE49-F238E27FC236}">
                <a16:creationId xmlns:a16="http://schemas.microsoft.com/office/drawing/2014/main" id="{22A2EA64-D520-21B3-D6B3-EEFF86B3B727}"/>
              </a:ext>
            </a:extLst>
          </p:cNvPr>
          <p:cNvSpPr txBox="1"/>
          <p:nvPr/>
        </p:nvSpPr>
        <p:spPr>
          <a:xfrm>
            <a:off x="11507864" y="2024322"/>
            <a:ext cx="1241412" cy="2764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rPr>
              <a:t>Quality Manager</a:t>
            </a:r>
            <a:endParaRPr lang="en-US" dirty="0">
              <a:latin typeface="Source Sans Pro" panose="020B0503030403020204" pitchFamily="34" charset="0"/>
              <a:ea typeface="Source Sans Pro" panose="020B0503030403020204" pitchFamily="34" charset="0"/>
              <a:sym typeface="Source Sans Pro"/>
            </a:endParaRPr>
          </a:p>
        </p:txBody>
      </p:sp>
      <p:sp>
        <p:nvSpPr>
          <p:cNvPr id="491" name="Create a visual hierarchy. Help users navigate the page with titles, subtitles, and subsubtitles">
            <a:extLst>
              <a:ext uri="{FF2B5EF4-FFF2-40B4-BE49-F238E27FC236}">
                <a16:creationId xmlns:a16="http://schemas.microsoft.com/office/drawing/2014/main" id="{9198E20B-5D27-8EFD-2118-D743FC822666}"/>
              </a:ext>
            </a:extLst>
          </p:cNvPr>
          <p:cNvSpPr txBox="1"/>
          <p:nvPr/>
        </p:nvSpPr>
        <p:spPr>
          <a:xfrm>
            <a:off x="12705683" y="2029130"/>
            <a:ext cx="1200148" cy="2764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a:rPr>
              <a:t>Code Architect</a:t>
            </a:r>
            <a:endParaRPr lang="en-US" dirty="0">
              <a:latin typeface="Source Sans Pro" panose="020B0503030403020204" pitchFamily="34" charset="0"/>
              <a:ea typeface="Source Sans Pro" panose="020B0503030403020204" pitchFamily="34" charset="0"/>
              <a:sym typeface="Source Sans Pro"/>
            </a:endParaRPr>
          </a:p>
        </p:txBody>
      </p:sp>
      <p:pic>
        <p:nvPicPr>
          <p:cNvPr id="508" name="Graphic 507" descr="Paper outline">
            <a:extLst>
              <a:ext uri="{FF2B5EF4-FFF2-40B4-BE49-F238E27FC236}">
                <a16:creationId xmlns:a16="http://schemas.microsoft.com/office/drawing/2014/main" id="{80B86348-F97E-6C74-929A-BC74F27281B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20126" y="4594953"/>
            <a:ext cx="1045469" cy="1045469"/>
          </a:xfrm>
          <a:prstGeom prst="rect">
            <a:avLst/>
          </a:prstGeom>
        </p:spPr>
      </p:pic>
      <p:grpSp>
        <p:nvGrpSpPr>
          <p:cNvPr id="509" name="Group 508">
            <a:extLst>
              <a:ext uri="{FF2B5EF4-FFF2-40B4-BE49-F238E27FC236}">
                <a16:creationId xmlns:a16="http://schemas.microsoft.com/office/drawing/2014/main" id="{F4E9930C-EA75-33CE-EAB6-FC0F3377B842}"/>
              </a:ext>
            </a:extLst>
          </p:cNvPr>
          <p:cNvGrpSpPr/>
          <p:nvPr/>
        </p:nvGrpSpPr>
        <p:grpSpPr>
          <a:xfrm>
            <a:off x="6492227" y="4631233"/>
            <a:ext cx="1159502" cy="954670"/>
            <a:chOff x="4984006" y="2613760"/>
            <a:chExt cx="1159502" cy="954670"/>
          </a:xfrm>
        </p:grpSpPr>
        <p:sp>
          <p:nvSpPr>
            <p:cNvPr id="510" name="TextBox 509">
              <a:extLst>
                <a:ext uri="{FF2B5EF4-FFF2-40B4-BE49-F238E27FC236}">
                  <a16:creationId xmlns:a16="http://schemas.microsoft.com/office/drawing/2014/main" id="{566F2718-2A16-0D34-3E6C-C698CB06B95A}"/>
                </a:ext>
              </a:extLst>
            </p:cNvPr>
            <p:cNvSpPr txBox="1"/>
            <p:nvPr/>
          </p:nvSpPr>
          <p:spPr>
            <a:xfrm>
              <a:off x="4984006" y="2613760"/>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0" i="0" u="none" strike="noStrike" cap="none" spc="0" normalizeH="0" baseline="0" dirty="0">
                  <a:ln>
                    <a:noFill/>
                  </a:ln>
                  <a:solidFill>
                    <a:srgbClr val="4C4C4C"/>
                  </a:solidFill>
                  <a:effectLst/>
                  <a:uFillTx/>
                  <a:latin typeface="Source Sans Pro"/>
                  <a:ea typeface="Source Sans Pro"/>
                  <a:cs typeface="Source Sans Pro"/>
                  <a:sym typeface="Source Sans Pro"/>
                </a:rPr>
                <a:t>Downloaders</a:t>
              </a:r>
              <a:endParaRPr lang="en-US" sz="500" b="0" dirty="0"/>
            </a:p>
          </p:txBody>
        </p:sp>
        <p:sp>
          <p:nvSpPr>
            <p:cNvPr id="511" name="TextBox 510">
              <a:extLst>
                <a:ext uri="{FF2B5EF4-FFF2-40B4-BE49-F238E27FC236}">
                  <a16:creationId xmlns:a16="http://schemas.microsoft.com/office/drawing/2014/main" id="{B7B1B917-8B38-8824-45DD-730D14775A59}"/>
                </a:ext>
              </a:extLst>
            </p:cNvPr>
            <p:cNvSpPr txBox="1"/>
            <p:nvPr/>
          </p:nvSpPr>
          <p:spPr>
            <a:xfrm>
              <a:off x="4986272" y="2674821"/>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b="0" dirty="0"/>
                <a:t>f</a:t>
              </a:r>
              <a:r>
                <a:rPr kumimoji="0" lang="en-US" sz="3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p:txBody>
        </p:sp>
        <p:sp>
          <p:nvSpPr>
            <p:cNvPr id="256" name="TextBox 255">
              <a:extLst>
                <a:ext uri="{FF2B5EF4-FFF2-40B4-BE49-F238E27FC236}">
                  <a16:creationId xmlns:a16="http://schemas.microsoft.com/office/drawing/2014/main" id="{6A6CC17B-55AF-B390-7B8F-E8EC1F505007}"/>
                </a:ext>
              </a:extLst>
            </p:cNvPr>
            <p:cNvSpPr txBox="1"/>
            <p:nvPr/>
          </p:nvSpPr>
          <p:spPr>
            <a:xfrm>
              <a:off x="4984006" y="2855766"/>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0" i="0" u="none" strike="noStrike" cap="none" spc="0" normalizeH="0" baseline="0" dirty="0">
                  <a:ln>
                    <a:noFill/>
                  </a:ln>
                  <a:solidFill>
                    <a:srgbClr val="4C4C4C"/>
                  </a:solidFill>
                  <a:effectLst/>
                  <a:uFillTx/>
                  <a:latin typeface="Source Sans Pro"/>
                  <a:ea typeface="Source Sans Pro"/>
                  <a:cs typeface="Source Sans Pro"/>
                  <a:sym typeface="Source Sans Pro"/>
                </a:rPr>
                <a:t>Parsers</a:t>
              </a:r>
              <a:endParaRPr lang="en-US" sz="500" b="0" dirty="0"/>
            </a:p>
          </p:txBody>
        </p:sp>
        <p:sp>
          <p:nvSpPr>
            <p:cNvPr id="257" name="TextBox 256">
              <a:extLst>
                <a:ext uri="{FF2B5EF4-FFF2-40B4-BE49-F238E27FC236}">
                  <a16:creationId xmlns:a16="http://schemas.microsoft.com/office/drawing/2014/main" id="{5B558B3B-6B2A-BB88-0F85-2460C91EB374}"/>
                </a:ext>
              </a:extLst>
            </p:cNvPr>
            <p:cNvSpPr txBox="1"/>
            <p:nvPr/>
          </p:nvSpPr>
          <p:spPr>
            <a:xfrm>
              <a:off x="4984006" y="3111851"/>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0" i="0" u="none" strike="noStrike" cap="none" spc="0" normalizeH="0" baseline="0" dirty="0">
                  <a:ln>
                    <a:noFill/>
                  </a:ln>
                  <a:solidFill>
                    <a:srgbClr val="4C4C4C"/>
                  </a:solidFill>
                  <a:effectLst/>
                  <a:uFillTx/>
                  <a:latin typeface="Source Sans Pro"/>
                  <a:ea typeface="Source Sans Pro"/>
                  <a:cs typeface="Source Sans Pro"/>
                  <a:sym typeface="Source Sans Pro"/>
                </a:rPr>
                <a:t>Transforms</a:t>
              </a:r>
              <a:endParaRPr lang="en-US" sz="500" b="0" dirty="0"/>
            </a:p>
          </p:txBody>
        </p:sp>
        <p:sp>
          <p:nvSpPr>
            <p:cNvPr id="258" name="TextBox 257">
              <a:extLst>
                <a:ext uri="{FF2B5EF4-FFF2-40B4-BE49-F238E27FC236}">
                  <a16:creationId xmlns:a16="http://schemas.microsoft.com/office/drawing/2014/main" id="{2AD7B99C-957D-75ED-9D7C-9B8DC549789B}"/>
                </a:ext>
              </a:extLst>
            </p:cNvPr>
            <p:cNvSpPr txBox="1"/>
            <p:nvPr/>
          </p:nvSpPr>
          <p:spPr>
            <a:xfrm>
              <a:off x="4986272" y="2926948"/>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b="0" dirty="0"/>
                <a:t>f</a:t>
              </a:r>
              <a:r>
                <a:rPr kumimoji="0" lang="en-US" sz="3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p:txBody>
        </p:sp>
        <p:sp>
          <p:nvSpPr>
            <p:cNvPr id="259" name="TextBox 258">
              <a:extLst>
                <a:ext uri="{FF2B5EF4-FFF2-40B4-BE49-F238E27FC236}">
                  <a16:creationId xmlns:a16="http://schemas.microsoft.com/office/drawing/2014/main" id="{2BDC9ABD-97FB-0453-B248-37729313CC45}"/>
                </a:ext>
              </a:extLst>
            </p:cNvPr>
            <p:cNvSpPr txBox="1"/>
            <p:nvPr/>
          </p:nvSpPr>
          <p:spPr>
            <a:xfrm>
              <a:off x="4986272" y="3178756"/>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b="0" dirty="0"/>
                <a:t>f</a:t>
              </a:r>
              <a:r>
                <a:rPr kumimoji="0" lang="en-US" sz="3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p:txBody>
        </p:sp>
        <p:sp>
          <p:nvSpPr>
            <p:cNvPr id="260" name="TextBox 259">
              <a:extLst>
                <a:ext uri="{FF2B5EF4-FFF2-40B4-BE49-F238E27FC236}">
                  <a16:creationId xmlns:a16="http://schemas.microsoft.com/office/drawing/2014/main" id="{A792AB14-728B-4E74-568C-C5CB35CBA24C}"/>
                </a:ext>
              </a:extLst>
            </p:cNvPr>
            <p:cNvSpPr txBox="1"/>
            <p:nvPr/>
          </p:nvSpPr>
          <p:spPr>
            <a:xfrm>
              <a:off x="4984006" y="3355632"/>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500" b="0" dirty="0"/>
                <a:t>Fake Data Generator</a:t>
              </a:r>
            </a:p>
          </p:txBody>
        </p:sp>
      </p:grpSp>
      <p:grpSp>
        <p:nvGrpSpPr>
          <p:cNvPr id="271" name="Group 270">
            <a:extLst>
              <a:ext uri="{FF2B5EF4-FFF2-40B4-BE49-F238E27FC236}">
                <a16:creationId xmlns:a16="http://schemas.microsoft.com/office/drawing/2014/main" id="{0AAEF710-F0FB-9A42-5402-AE6F4C5DBFB4}"/>
              </a:ext>
            </a:extLst>
          </p:cNvPr>
          <p:cNvGrpSpPr/>
          <p:nvPr/>
        </p:nvGrpSpPr>
        <p:grpSpPr>
          <a:xfrm>
            <a:off x="7203840" y="5367383"/>
            <a:ext cx="1331603" cy="1154569"/>
            <a:chOff x="7369655" y="5336046"/>
            <a:chExt cx="1331603" cy="1154569"/>
          </a:xfrm>
        </p:grpSpPr>
        <p:sp>
          <p:nvSpPr>
            <p:cNvPr id="22" name="Google Shape;306;p17">
              <a:extLst>
                <a:ext uri="{FF2B5EF4-FFF2-40B4-BE49-F238E27FC236}">
                  <a16:creationId xmlns:a16="http://schemas.microsoft.com/office/drawing/2014/main" id="{6FFBA8BA-1033-C47D-AEAF-0CD00385E076}"/>
                </a:ext>
              </a:extLst>
            </p:cNvPr>
            <p:cNvSpPr txBox="1"/>
            <p:nvPr/>
          </p:nvSpPr>
          <p:spPr>
            <a:xfrm>
              <a:off x="7414103" y="6085190"/>
              <a:ext cx="928261"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src.R</a:t>
              </a:r>
              <a:endParaRPr sz="1000" b="0" dirty="0">
                <a:solidFill>
                  <a:schemeClr val="dk2"/>
                </a:solidFill>
              </a:endParaRPr>
            </a:p>
          </p:txBody>
        </p:sp>
        <p:pic>
          <p:nvPicPr>
            <p:cNvPr id="261" name="Graphic 260" descr="Paper outline">
              <a:extLst>
                <a:ext uri="{FF2B5EF4-FFF2-40B4-BE49-F238E27FC236}">
                  <a16:creationId xmlns:a16="http://schemas.microsoft.com/office/drawing/2014/main" id="{250AE499-35E7-5148-B9A7-0D8D3046E5D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369655" y="5336046"/>
              <a:ext cx="1045469" cy="1045469"/>
            </a:xfrm>
            <a:prstGeom prst="rect">
              <a:avLst/>
            </a:prstGeom>
          </p:spPr>
        </p:pic>
        <p:grpSp>
          <p:nvGrpSpPr>
            <p:cNvPr id="262" name="Group 261">
              <a:extLst>
                <a:ext uri="{FF2B5EF4-FFF2-40B4-BE49-F238E27FC236}">
                  <a16:creationId xmlns:a16="http://schemas.microsoft.com/office/drawing/2014/main" id="{5C47010A-5AF2-C535-9111-C8370EB6B36B}"/>
                </a:ext>
              </a:extLst>
            </p:cNvPr>
            <p:cNvGrpSpPr/>
            <p:nvPr/>
          </p:nvGrpSpPr>
          <p:grpSpPr>
            <a:xfrm>
              <a:off x="7541756" y="5372326"/>
              <a:ext cx="1159502" cy="954670"/>
              <a:chOff x="4984006" y="2613760"/>
              <a:chExt cx="1159502" cy="954670"/>
            </a:xfrm>
          </p:grpSpPr>
          <p:sp>
            <p:nvSpPr>
              <p:cNvPr id="263" name="TextBox 262">
                <a:extLst>
                  <a:ext uri="{FF2B5EF4-FFF2-40B4-BE49-F238E27FC236}">
                    <a16:creationId xmlns:a16="http://schemas.microsoft.com/office/drawing/2014/main" id="{2B79D7CB-6E9F-B7C8-BC5B-09ABF478B95F}"/>
                  </a:ext>
                </a:extLst>
              </p:cNvPr>
              <p:cNvSpPr txBox="1"/>
              <p:nvPr/>
            </p:nvSpPr>
            <p:spPr>
              <a:xfrm>
                <a:off x="4984006" y="2613760"/>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0" i="0" u="none" strike="noStrike" cap="none" spc="0" normalizeH="0" baseline="0" dirty="0">
                    <a:ln>
                      <a:noFill/>
                    </a:ln>
                    <a:solidFill>
                      <a:srgbClr val="4C4C4C"/>
                    </a:solidFill>
                    <a:effectLst/>
                    <a:uFillTx/>
                    <a:latin typeface="Source Sans Pro"/>
                    <a:ea typeface="Source Sans Pro"/>
                    <a:cs typeface="Source Sans Pro"/>
                    <a:sym typeface="Source Sans Pro"/>
                  </a:rPr>
                  <a:t>Downloaders</a:t>
                </a:r>
                <a:endParaRPr lang="en-US" sz="500" b="0" dirty="0"/>
              </a:p>
            </p:txBody>
          </p:sp>
          <p:sp>
            <p:nvSpPr>
              <p:cNvPr id="264" name="TextBox 263">
                <a:extLst>
                  <a:ext uri="{FF2B5EF4-FFF2-40B4-BE49-F238E27FC236}">
                    <a16:creationId xmlns:a16="http://schemas.microsoft.com/office/drawing/2014/main" id="{2F31FEED-8BEA-409B-6C8E-8B4E8DB0AEA4}"/>
                  </a:ext>
                </a:extLst>
              </p:cNvPr>
              <p:cNvSpPr txBox="1"/>
              <p:nvPr/>
            </p:nvSpPr>
            <p:spPr>
              <a:xfrm>
                <a:off x="4986272" y="2674821"/>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b="0" dirty="0"/>
                  <a:t>f</a:t>
                </a:r>
                <a:r>
                  <a:rPr kumimoji="0" lang="en-US" sz="3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p:txBody>
          </p:sp>
          <p:sp>
            <p:nvSpPr>
              <p:cNvPr id="265" name="TextBox 264">
                <a:extLst>
                  <a:ext uri="{FF2B5EF4-FFF2-40B4-BE49-F238E27FC236}">
                    <a16:creationId xmlns:a16="http://schemas.microsoft.com/office/drawing/2014/main" id="{43891138-77B1-B02B-5B90-BFB46C683FEC}"/>
                  </a:ext>
                </a:extLst>
              </p:cNvPr>
              <p:cNvSpPr txBox="1"/>
              <p:nvPr/>
            </p:nvSpPr>
            <p:spPr>
              <a:xfrm>
                <a:off x="4984006" y="2855766"/>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0" i="0" u="none" strike="noStrike" cap="none" spc="0" normalizeH="0" baseline="0" dirty="0">
                    <a:ln>
                      <a:noFill/>
                    </a:ln>
                    <a:solidFill>
                      <a:srgbClr val="4C4C4C"/>
                    </a:solidFill>
                    <a:effectLst/>
                    <a:uFillTx/>
                    <a:latin typeface="Source Sans Pro"/>
                    <a:ea typeface="Source Sans Pro"/>
                    <a:cs typeface="Source Sans Pro"/>
                    <a:sym typeface="Source Sans Pro"/>
                  </a:rPr>
                  <a:t>Parsers</a:t>
                </a:r>
                <a:endParaRPr lang="en-US" sz="500" b="0" dirty="0"/>
              </a:p>
            </p:txBody>
          </p:sp>
          <p:sp>
            <p:nvSpPr>
              <p:cNvPr id="266" name="TextBox 265">
                <a:extLst>
                  <a:ext uri="{FF2B5EF4-FFF2-40B4-BE49-F238E27FC236}">
                    <a16:creationId xmlns:a16="http://schemas.microsoft.com/office/drawing/2014/main" id="{92160C09-BA95-7023-FD97-14D3EEB5EC67}"/>
                  </a:ext>
                </a:extLst>
              </p:cNvPr>
              <p:cNvSpPr txBox="1"/>
              <p:nvPr/>
            </p:nvSpPr>
            <p:spPr>
              <a:xfrm>
                <a:off x="4984006" y="3111851"/>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500" b="0" i="0" u="none" strike="noStrike" cap="none" spc="0" normalizeH="0" baseline="0" dirty="0">
                    <a:ln>
                      <a:noFill/>
                    </a:ln>
                    <a:solidFill>
                      <a:srgbClr val="4C4C4C"/>
                    </a:solidFill>
                    <a:effectLst/>
                    <a:uFillTx/>
                    <a:latin typeface="Source Sans Pro"/>
                    <a:ea typeface="Source Sans Pro"/>
                    <a:cs typeface="Source Sans Pro"/>
                    <a:sym typeface="Source Sans Pro"/>
                  </a:rPr>
                  <a:t>Transforms</a:t>
                </a:r>
                <a:endParaRPr lang="en-US" sz="500" b="0" dirty="0"/>
              </a:p>
            </p:txBody>
          </p:sp>
          <p:sp>
            <p:nvSpPr>
              <p:cNvPr id="267" name="TextBox 266">
                <a:extLst>
                  <a:ext uri="{FF2B5EF4-FFF2-40B4-BE49-F238E27FC236}">
                    <a16:creationId xmlns:a16="http://schemas.microsoft.com/office/drawing/2014/main" id="{EA06C12E-2E75-F125-6794-BA05BB85CABF}"/>
                  </a:ext>
                </a:extLst>
              </p:cNvPr>
              <p:cNvSpPr txBox="1"/>
              <p:nvPr/>
            </p:nvSpPr>
            <p:spPr>
              <a:xfrm>
                <a:off x="4986272" y="2926948"/>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b="0" dirty="0"/>
                  <a:t>f</a:t>
                </a:r>
                <a:r>
                  <a:rPr kumimoji="0" lang="en-US" sz="3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p:txBody>
          </p:sp>
          <p:sp>
            <p:nvSpPr>
              <p:cNvPr id="268" name="TextBox 267">
                <a:extLst>
                  <a:ext uri="{FF2B5EF4-FFF2-40B4-BE49-F238E27FC236}">
                    <a16:creationId xmlns:a16="http://schemas.microsoft.com/office/drawing/2014/main" id="{8505DB9A-FC59-5C26-BCD2-09185BEDD3F3}"/>
                  </a:ext>
                </a:extLst>
              </p:cNvPr>
              <p:cNvSpPr txBox="1"/>
              <p:nvPr/>
            </p:nvSpPr>
            <p:spPr>
              <a:xfrm>
                <a:off x="4986272" y="3178756"/>
                <a:ext cx="581897" cy="3256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300" b="0" dirty="0"/>
                  <a:t>f</a:t>
                </a:r>
                <a:r>
                  <a:rPr kumimoji="0" lang="en-US" sz="3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300" b="0" dirty="0"/>
                  <a:t>function() …</a:t>
                </a:r>
              </a:p>
            </p:txBody>
          </p:sp>
          <p:sp>
            <p:nvSpPr>
              <p:cNvPr id="269" name="TextBox 268">
                <a:extLst>
                  <a:ext uri="{FF2B5EF4-FFF2-40B4-BE49-F238E27FC236}">
                    <a16:creationId xmlns:a16="http://schemas.microsoft.com/office/drawing/2014/main" id="{821CE3D7-9C48-6F18-65EB-CEAB8CF90B1B}"/>
                  </a:ext>
                </a:extLst>
              </p:cNvPr>
              <p:cNvSpPr txBox="1"/>
              <p:nvPr/>
            </p:nvSpPr>
            <p:spPr>
              <a:xfrm>
                <a:off x="4984006" y="3355632"/>
                <a:ext cx="1159502"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500" b="0" dirty="0"/>
                  <a:t>Fake Data Generator</a:t>
                </a:r>
              </a:p>
            </p:txBody>
          </p:sp>
        </p:grpSp>
      </p:grpSp>
      <p:cxnSp>
        <p:nvCxnSpPr>
          <p:cNvPr id="287" name="Straight Connector 286">
            <a:extLst>
              <a:ext uri="{FF2B5EF4-FFF2-40B4-BE49-F238E27FC236}">
                <a16:creationId xmlns:a16="http://schemas.microsoft.com/office/drawing/2014/main" id="{FD6DCE48-2ACC-4966-083F-F4A01013E409}"/>
              </a:ext>
            </a:extLst>
          </p:cNvPr>
          <p:cNvCxnSpPr>
            <a:cxnSpLocks/>
            <a:endCxn id="437" idx="0"/>
          </p:cNvCxnSpPr>
          <p:nvPr/>
        </p:nvCxnSpPr>
        <p:spPr>
          <a:xfrm>
            <a:off x="6286982" y="2291804"/>
            <a:ext cx="1674293" cy="554715"/>
          </a:xfrm>
          <a:prstGeom prst="line">
            <a:avLst/>
          </a:prstGeom>
          <a:ln w="127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88" name="Straight Connector 287">
            <a:extLst>
              <a:ext uri="{FF2B5EF4-FFF2-40B4-BE49-F238E27FC236}">
                <a16:creationId xmlns:a16="http://schemas.microsoft.com/office/drawing/2014/main" id="{E17C184B-B63A-7CC1-220C-9AEE65408380}"/>
              </a:ext>
            </a:extLst>
          </p:cNvPr>
          <p:cNvCxnSpPr>
            <a:cxnSpLocks/>
            <a:stCxn id="300" idx="5"/>
            <a:endCxn id="437" idx="4"/>
          </p:cNvCxnSpPr>
          <p:nvPr/>
        </p:nvCxnSpPr>
        <p:spPr>
          <a:xfrm flipV="1">
            <a:off x="6646686" y="3244262"/>
            <a:ext cx="1314589" cy="831970"/>
          </a:xfrm>
          <a:prstGeom prst="line">
            <a:avLst/>
          </a:prstGeom>
          <a:ln w="127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00" name="Oval 299">
            <a:extLst>
              <a:ext uri="{FF2B5EF4-FFF2-40B4-BE49-F238E27FC236}">
                <a16:creationId xmlns:a16="http://schemas.microsoft.com/office/drawing/2014/main" id="{5759EB14-C983-39EF-4845-EC682D3EFC6B}"/>
              </a:ext>
            </a:extLst>
          </p:cNvPr>
          <p:cNvSpPr/>
          <p:nvPr/>
        </p:nvSpPr>
        <p:spPr>
          <a:xfrm>
            <a:off x="4804635" y="2201024"/>
            <a:ext cx="2158097" cy="2196943"/>
          </a:xfrm>
          <a:prstGeom prst="ellipse">
            <a:avLst/>
          </a:prstGeom>
          <a:noFill/>
          <a:ln w="12700" cap="flat">
            <a:solidFill>
              <a:srgbClr val="4C4C4C"/>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cxnSp>
        <p:nvCxnSpPr>
          <p:cNvPr id="328" name="Google Shape;445;p18">
            <a:extLst>
              <a:ext uri="{FF2B5EF4-FFF2-40B4-BE49-F238E27FC236}">
                <a16:creationId xmlns:a16="http://schemas.microsoft.com/office/drawing/2014/main" id="{C252BECD-F4BC-B80C-BC3E-E2F84C61E070}"/>
              </a:ext>
            </a:extLst>
          </p:cNvPr>
          <p:cNvCxnSpPr>
            <a:cxnSpLocks/>
          </p:cNvCxnSpPr>
          <p:nvPr/>
        </p:nvCxnSpPr>
        <p:spPr>
          <a:xfrm>
            <a:off x="10056387" y="1928697"/>
            <a:ext cx="0" cy="227228"/>
          </a:xfrm>
          <a:prstGeom prst="straightConnector1">
            <a:avLst/>
          </a:prstGeom>
          <a:noFill/>
          <a:ln w="28575" cap="flat" cmpd="sng">
            <a:solidFill>
              <a:srgbClr val="1B1311"/>
            </a:solidFill>
            <a:prstDash val="solid"/>
            <a:round/>
            <a:headEnd type="none" w="med" len="med"/>
            <a:tailEnd type="triangle" w="med" len="med"/>
          </a:ln>
        </p:spPr>
      </p:cxnSp>
      <p:cxnSp>
        <p:nvCxnSpPr>
          <p:cNvPr id="330" name="Google Shape;445;p18">
            <a:extLst>
              <a:ext uri="{FF2B5EF4-FFF2-40B4-BE49-F238E27FC236}">
                <a16:creationId xmlns:a16="http://schemas.microsoft.com/office/drawing/2014/main" id="{91979E10-492B-78C1-2A15-4516D0EFF274}"/>
              </a:ext>
            </a:extLst>
          </p:cNvPr>
          <p:cNvCxnSpPr>
            <a:cxnSpLocks/>
          </p:cNvCxnSpPr>
          <p:nvPr/>
        </p:nvCxnSpPr>
        <p:spPr>
          <a:xfrm>
            <a:off x="11113022" y="2608383"/>
            <a:ext cx="0" cy="219033"/>
          </a:xfrm>
          <a:prstGeom prst="straightConnector1">
            <a:avLst/>
          </a:prstGeom>
          <a:noFill/>
          <a:ln w="28575" cap="flat" cmpd="sng">
            <a:solidFill>
              <a:srgbClr val="1B1311"/>
            </a:solidFill>
            <a:prstDash val="solid"/>
            <a:round/>
            <a:headEnd type="none" w="med" len="med"/>
            <a:tailEnd type="triangle" w="med" len="med"/>
          </a:ln>
        </p:spPr>
      </p:cxnSp>
      <p:cxnSp>
        <p:nvCxnSpPr>
          <p:cNvPr id="331" name="Google Shape;445;p18">
            <a:extLst>
              <a:ext uri="{FF2B5EF4-FFF2-40B4-BE49-F238E27FC236}">
                <a16:creationId xmlns:a16="http://schemas.microsoft.com/office/drawing/2014/main" id="{BF55C2FE-8A6E-C7C5-A619-BAB62839355D}"/>
              </a:ext>
            </a:extLst>
          </p:cNvPr>
          <p:cNvCxnSpPr>
            <a:cxnSpLocks/>
          </p:cNvCxnSpPr>
          <p:nvPr/>
        </p:nvCxnSpPr>
        <p:spPr>
          <a:xfrm flipV="1">
            <a:off x="10351797" y="2386410"/>
            <a:ext cx="483203" cy="4431"/>
          </a:xfrm>
          <a:prstGeom prst="straightConnector1">
            <a:avLst/>
          </a:prstGeom>
          <a:noFill/>
          <a:ln w="28575" cap="flat" cmpd="sng">
            <a:solidFill>
              <a:srgbClr val="1B1311"/>
            </a:solidFill>
            <a:prstDash val="solid"/>
            <a:round/>
            <a:headEnd type="none" w="med" len="med"/>
            <a:tailEnd type="triangle" w="med" len="med"/>
          </a:ln>
        </p:spPr>
      </p:cxnSp>
      <p:pic>
        <p:nvPicPr>
          <p:cNvPr id="419" name="Graphic 418" descr="Paper outline">
            <a:extLst>
              <a:ext uri="{FF2B5EF4-FFF2-40B4-BE49-F238E27FC236}">
                <a16:creationId xmlns:a16="http://schemas.microsoft.com/office/drawing/2014/main" id="{C59BA9E7-216F-C29B-EE37-6BF23FB074A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440816" y="2299114"/>
            <a:ext cx="1731153" cy="1731153"/>
          </a:xfrm>
          <a:prstGeom prst="rect">
            <a:avLst/>
          </a:prstGeom>
        </p:spPr>
      </p:pic>
      <p:sp>
        <p:nvSpPr>
          <p:cNvPr id="420" name="TextBox 419">
            <a:extLst>
              <a:ext uri="{FF2B5EF4-FFF2-40B4-BE49-F238E27FC236}">
                <a16:creationId xmlns:a16="http://schemas.microsoft.com/office/drawing/2014/main" id="{EED551A2-D615-71E8-42A2-B54855EE46CC}"/>
              </a:ext>
            </a:extLst>
          </p:cNvPr>
          <p:cNvSpPr txBox="1"/>
          <p:nvPr/>
        </p:nvSpPr>
        <p:spPr>
          <a:xfrm>
            <a:off x="7760988" y="2385621"/>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Downloaders</a:t>
            </a:r>
            <a:endParaRPr lang="en-US" sz="800" b="0" dirty="0"/>
          </a:p>
        </p:txBody>
      </p:sp>
      <p:sp>
        <p:nvSpPr>
          <p:cNvPr id="421" name="TextBox 420">
            <a:extLst>
              <a:ext uri="{FF2B5EF4-FFF2-40B4-BE49-F238E27FC236}">
                <a16:creationId xmlns:a16="http://schemas.microsoft.com/office/drawing/2014/main" id="{12033C96-4CF8-978D-49D7-799E81B2AFE5}"/>
              </a:ext>
            </a:extLst>
          </p:cNvPr>
          <p:cNvSpPr txBox="1"/>
          <p:nvPr/>
        </p:nvSpPr>
        <p:spPr>
          <a:xfrm>
            <a:off x="7716193" y="2484775"/>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422" name="TextBox 421">
            <a:extLst>
              <a:ext uri="{FF2B5EF4-FFF2-40B4-BE49-F238E27FC236}">
                <a16:creationId xmlns:a16="http://schemas.microsoft.com/office/drawing/2014/main" id="{8D441EEE-1A99-4CD4-D3F6-E4FF8CFBC3C7}"/>
              </a:ext>
            </a:extLst>
          </p:cNvPr>
          <p:cNvSpPr txBox="1"/>
          <p:nvPr/>
        </p:nvSpPr>
        <p:spPr>
          <a:xfrm>
            <a:off x="7716775" y="2899705"/>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dirty="0">
                <a:solidFill>
                  <a:srgbClr val="FF0000"/>
                </a:solidFill>
              </a:rPr>
              <a:t>function() </a:t>
            </a:r>
            <a:r>
              <a:rPr lang="en-US" sz="600" b="0" dirty="0"/>
              <a:t>…</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423" name="TextBox 422">
            <a:extLst>
              <a:ext uri="{FF2B5EF4-FFF2-40B4-BE49-F238E27FC236}">
                <a16:creationId xmlns:a16="http://schemas.microsoft.com/office/drawing/2014/main" id="{6A792694-398C-E408-2BD8-7A85CE05EF88}"/>
              </a:ext>
            </a:extLst>
          </p:cNvPr>
          <p:cNvSpPr txBox="1"/>
          <p:nvPr/>
        </p:nvSpPr>
        <p:spPr>
          <a:xfrm>
            <a:off x="7760988" y="2793907"/>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Parsers</a:t>
            </a:r>
            <a:endParaRPr lang="en-US" sz="800" b="0" dirty="0"/>
          </a:p>
        </p:txBody>
      </p:sp>
      <p:sp>
        <p:nvSpPr>
          <p:cNvPr id="424" name="TextBox 423">
            <a:extLst>
              <a:ext uri="{FF2B5EF4-FFF2-40B4-BE49-F238E27FC236}">
                <a16:creationId xmlns:a16="http://schemas.microsoft.com/office/drawing/2014/main" id="{B037459C-42C9-87B0-1CEB-21B2403F8362}"/>
              </a:ext>
            </a:extLst>
          </p:cNvPr>
          <p:cNvSpPr txBox="1"/>
          <p:nvPr/>
        </p:nvSpPr>
        <p:spPr>
          <a:xfrm>
            <a:off x="7721757" y="3308637"/>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425" name="TextBox 424">
            <a:extLst>
              <a:ext uri="{FF2B5EF4-FFF2-40B4-BE49-F238E27FC236}">
                <a16:creationId xmlns:a16="http://schemas.microsoft.com/office/drawing/2014/main" id="{28B54B5D-457A-22BC-1816-720D203A5CB6}"/>
              </a:ext>
            </a:extLst>
          </p:cNvPr>
          <p:cNvSpPr txBox="1"/>
          <p:nvPr/>
        </p:nvSpPr>
        <p:spPr>
          <a:xfrm>
            <a:off x="7764889" y="3204638"/>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Transforms</a:t>
            </a:r>
            <a:endParaRPr lang="en-US" sz="800" b="0" dirty="0"/>
          </a:p>
        </p:txBody>
      </p:sp>
      <p:sp>
        <p:nvSpPr>
          <p:cNvPr id="426" name="Google Shape;306;p17">
            <a:extLst>
              <a:ext uri="{FF2B5EF4-FFF2-40B4-BE49-F238E27FC236}">
                <a16:creationId xmlns:a16="http://schemas.microsoft.com/office/drawing/2014/main" id="{287DA435-E45B-06A3-1407-967B56AF6D46}"/>
              </a:ext>
            </a:extLst>
          </p:cNvPr>
          <p:cNvSpPr txBox="1"/>
          <p:nvPr/>
        </p:nvSpPr>
        <p:spPr>
          <a:xfrm>
            <a:off x="7659448" y="3734093"/>
            <a:ext cx="1235078" cy="314173"/>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Mail.R</a:t>
            </a:r>
            <a:endParaRPr sz="1000" b="0" dirty="0">
              <a:solidFill>
                <a:schemeClr val="dk2"/>
              </a:solidFill>
            </a:endParaRPr>
          </a:p>
        </p:txBody>
      </p:sp>
      <p:sp>
        <p:nvSpPr>
          <p:cNvPr id="427" name="TextBox 426">
            <a:extLst>
              <a:ext uri="{FF2B5EF4-FFF2-40B4-BE49-F238E27FC236}">
                <a16:creationId xmlns:a16="http://schemas.microsoft.com/office/drawing/2014/main" id="{5445D939-BAC1-DB88-A47F-F449FB2F7458}"/>
              </a:ext>
            </a:extLst>
          </p:cNvPr>
          <p:cNvSpPr txBox="1"/>
          <p:nvPr/>
        </p:nvSpPr>
        <p:spPr>
          <a:xfrm>
            <a:off x="7770453" y="3618415"/>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Fake Data Generator</a:t>
            </a:r>
            <a:endParaRPr lang="en-US" sz="800" b="0" dirty="0"/>
          </a:p>
        </p:txBody>
      </p:sp>
      <p:sp>
        <p:nvSpPr>
          <p:cNvPr id="437" name="Oval 436">
            <a:extLst>
              <a:ext uri="{FF2B5EF4-FFF2-40B4-BE49-F238E27FC236}">
                <a16:creationId xmlns:a16="http://schemas.microsoft.com/office/drawing/2014/main" id="{F4A4DC5A-53F1-367E-0AC1-A5904A271B83}"/>
              </a:ext>
            </a:extLst>
          </p:cNvPr>
          <p:cNvSpPr/>
          <p:nvPr/>
        </p:nvSpPr>
        <p:spPr>
          <a:xfrm>
            <a:off x="7747057" y="2846519"/>
            <a:ext cx="428435" cy="397743"/>
          </a:xfrm>
          <a:prstGeom prst="ellipse">
            <a:avLst/>
          </a:prstGeom>
          <a:noFill/>
          <a:ln w="12700" cap="flat">
            <a:solidFill>
              <a:srgbClr val="4C4C4C"/>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cxnSp>
        <p:nvCxnSpPr>
          <p:cNvPr id="445" name="Straight Connector 444">
            <a:extLst>
              <a:ext uri="{FF2B5EF4-FFF2-40B4-BE49-F238E27FC236}">
                <a16:creationId xmlns:a16="http://schemas.microsoft.com/office/drawing/2014/main" id="{0355C294-0A69-E2D6-CC30-E4BBC9DC5732}"/>
              </a:ext>
            </a:extLst>
          </p:cNvPr>
          <p:cNvCxnSpPr>
            <a:cxnSpLocks/>
          </p:cNvCxnSpPr>
          <p:nvPr/>
        </p:nvCxnSpPr>
        <p:spPr>
          <a:xfrm flipV="1">
            <a:off x="7023748" y="3877379"/>
            <a:ext cx="778417" cy="857705"/>
          </a:xfrm>
          <a:prstGeom prst="line">
            <a:avLst/>
          </a:prstGeom>
          <a:ln w="127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47" name="Straight Connector 446">
            <a:extLst>
              <a:ext uri="{FF2B5EF4-FFF2-40B4-BE49-F238E27FC236}">
                <a16:creationId xmlns:a16="http://schemas.microsoft.com/office/drawing/2014/main" id="{E27255EB-FB78-C14D-F3B0-3F72E13B3FA5}"/>
              </a:ext>
            </a:extLst>
          </p:cNvPr>
          <p:cNvCxnSpPr>
            <a:cxnSpLocks/>
          </p:cNvCxnSpPr>
          <p:nvPr/>
        </p:nvCxnSpPr>
        <p:spPr>
          <a:xfrm flipV="1">
            <a:off x="7174039" y="3899585"/>
            <a:ext cx="1624382" cy="1625842"/>
          </a:xfrm>
          <a:prstGeom prst="line">
            <a:avLst/>
          </a:prstGeom>
          <a:ln w="127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519" name="Group 518">
            <a:extLst>
              <a:ext uri="{FF2B5EF4-FFF2-40B4-BE49-F238E27FC236}">
                <a16:creationId xmlns:a16="http://schemas.microsoft.com/office/drawing/2014/main" id="{DD797748-FAA7-78BF-7944-1C4A1EDF0266}"/>
              </a:ext>
            </a:extLst>
          </p:cNvPr>
          <p:cNvGrpSpPr/>
          <p:nvPr/>
        </p:nvGrpSpPr>
        <p:grpSpPr>
          <a:xfrm>
            <a:off x="9829601" y="872315"/>
            <a:ext cx="526129" cy="387641"/>
            <a:chOff x="10994516" y="1805993"/>
            <a:chExt cx="526129" cy="387641"/>
          </a:xfrm>
        </p:grpSpPr>
        <p:sp>
          <p:nvSpPr>
            <p:cNvPr id="516" name="Google Shape;236;p15">
              <a:extLst>
                <a:ext uri="{FF2B5EF4-FFF2-40B4-BE49-F238E27FC236}">
                  <a16:creationId xmlns:a16="http://schemas.microsoft.com/office/drawing/2014/main" id="{F634A4BD-DE9C-2B45-0C77-F1E226315037}"/>
                </a:ext>
              </a:extLst>
            </p:cNvPr>
            <p:cNvSpPr/>
            <p:nvPr/>
          </p:nvSpPr>
          <p:spPr>
            <a:xfrm>
              <a:off x="11088127" y="1905940"/>
              <a:ext cx="310026" cy="287694"/>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518" name="Google Shape;237;p15">
              <a:extLst>
                <a:ext uri="{FF2B5EF4-FFF2-40B4-BE49-F238E27FC236}">
                  <a16:creationId xmlns:a16="http://schemas.microsoft.com/office/drawing/2014/main" id="{E4B8C3BD-08AA-8005-58F6-05834A28C57D}"/>
                </a:ext>
              </a:extLst>
            </p:cNvPr>
            <p:cNvSpPr txBox="1"/>
            <p:nvPr/>
          </p:nvSpPr>
          <p:spPr>
            <a:xfrm>
              <a:off x="10994516" y="1805993"/>
              <a:ext cx="526129" cy="263210"/>
            </a:xfrm>
            <a:prstGeom prst="rect">
              <a:avLst/>
            </a:prstGeom>
            <a:noFill/>
            <a:ln>
              <a:noFill/>
            </a:ln>
          </p:spPr>
          <p:txBody>
            <a:bodyPr spcFirstLastPara="1" wrap="square" lIns="127722" tIns="127722" rIns="127722" bIns="127722" anchor="t" anchorCtr="0">
              <a:noAutofit/>
            </a:bodyPr>
            <a:lstStyle/>
            <a:p>
              <a:pPr>
                <a:spcBef>
                  <a:spcPts val="0"/>
                </a:spcBef>
              </a:pPr>
              <a:r>
                <a:rPr lang="en" sz="1400" dirty="0">
                  <a:solidFill>
                    <a:schemeClr val="lt1"/>
                  </a:solidFill>
                </a:rPr>
                <a:t>PR</a:t>
              </a:r>
              <a:endParaRPr sz="1400" dirty="0">
                <a:solidFill>
                  <a:schemeClr val="lt1"/>
                </a:solidFill>
              </a:endParaRPr>
            </a:p>
          </p:txBody>
        </p:sp>
      </p:grpSp>
      <p:cxnSp>
        <p:nvCxnSpPr>
          <p:cNvPr id="524" name="Google Shape;445;p18">
            <a:extLst>
              <a:ext uri="{FF2B5EF4-FFF2-40B4-BE49-F238E27FC236}">
                <a16:creationId xmlns:a16="http://schemas.microsoft.com/office/drawing/2014/main" id="{5C4C0DA7-FEF6-8439-E7AC-FB8A7A8A9B58}"/>
              </a:ext>
            </a:extLst>
          </p:cNvPr>
          <p:cNvCxnSpPr>
            <a:cxnSpLocks/>
          </p:cNvCxnSpPr>
          <p:nvPr/>
        </p:nvCxnSpPr>
        <p:spPr>
          <a:xfrm flipV="1">
            <a:off x="11430242" y="2386410"/>
            <a:ext cx="460133" cy="4431"/>
          </a:xfrm>
          <a:prstGeom prst="straightConnector1">
            <a:avLst/>
          </a:prstGeom>
          <a:noFill/>
          <a:ln w="28575" cap="flat" cmpd="sng">
            <a:solidFill>
              <a:srgbClr val="1B1311"/>
            </a:solidFill>
            <a:prstDash val="solid"/>
            <a:round/>
            <a:headEnd type="none" w="med" len="med"/>
            <a:tailEnd type="triangle" w="med" len="med"/>
          </a:ln>
        </p:spPr>
      </p:cxnSp>
      <p:cxnSp>
        <p:nvCxnSpPr>
          <p:cNvPr id="527" name="Google Shape;445;p18">
            <a:extLst>
              <a:ext uri="{FF2B5EF4-FFF2-40B4-BE49-F238E27FC236}">
                <a16:creationId xmlns:a16="http://schemas.microsoft.com/office/drawing/2014/main" id="{7C5B8F45-38E4-201E-C65C-CCC7A9FCF1BB}"/>
              </a:ext>
            </a:extLst>
          </p:cNvPr>
          <p:cNvCxnSpPr>
            <a:cxnSpLocks/>
          </p:cNvCxnSpPr>
          <p:nvPr/>
        </p:nvCxnSpPr>
        <p:spPr>
          <a:xfrm>
            <a:off x="12445021" y="2397726"/>
            <a:ext cx="490920" cy="1367"/>
          </a:xfrm>
          <a:prstGeom prst="straightConnector1">
            <a:avLst/>
          </a:prstGeom>
          <a:noFill/>
          <a:ln w="28575" cap="flat" cmpd="sng">
            <a:solidFill>
              <a:srgbClr val="1B1311"/>
            </a:solidFill>
            <a:prstDash val="solid"/>
            <a:round/>
            <a:headEnd type="none" w="med" len="med"/>
            <a:tailEnd type="triangle" w="med" len="med"/>
          </a:ln>
        </p:spPr>
      </p:cxnSp>
      <p:sp>
        <p:nvSpPr>
          <p:cNvPr id="528" name="Create a visual hierarchy. Help users navigate the page with titles, subtitles, and subsubtitles">
            <a:extLst>
              <a:ext uri="{FF2B5EF4-FFF2-40B4-BE49-F238E27FC236}">
                <a16:creationId xmlns:a16="http://schemas.microsoft.com/office/drawing/2014/main" id="{B626EB73-6FB4-204F-B25E-A710E526E0B5}"/>
              </a:ext>
            </a:extLst>
          </p:cNvPr>
          <p:cNvSpPr txBox="1"/>
          <p:nvPr/>
        </p:nvSpPr>
        <p:spPr>
          <a:xfrm>
            <a:off x="9157434" y="2361267"/>
            <a:ext cx="762040" cy="2764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Codecov</a:t>
            </a:r>
          </a:p>
        </p:txBody>
      </p:sp>
      <p:grpSp>
        <p:nvGrpSpPr>
          <p:cNvPr id="539" name="Group 538">
            <a:extLst>
              <a:ext uri="{FF2B5EF4-FFF2-40B4-BE49-F238E27FC236}">
                <a16:creationId xmlns:a16="http://schemas.microsoft.com/office/drawing/2014/main" id="{62FE5FDA-6979-44B1-9C0E-4BADE14B5B24}"/>
              </a:ext>
            </a:extLst>
          </p:cNvPr>
          <p:cNvGrpSpPr/>
          <p:nvPr/>
        </p:nvGrpSpPr>
        <p:grpSpPr>
          <a:xfrm>
            <a:off x="10813516" y="2911364"/>
            <a:ext cx="606393" cy="556282"/>
            <a:chOff x="9489901" y="2748509"/>
            <a:chExt cx="606393" cy="556282"/>
          </a:xfrm>
        </p:grpSpPr>
        <p:sp>
          <p:nvSpPr>
            <p:cNvPr id="530" name="Multiplication Sign 529">
              <a:extLst>
                <a:ext uri="{FF2B5EF4-FFF2-40B4-BE49-F238E27FC236}">
                  <a16:creationId xmlns:a16="http://schemas.microsoft.com/office/drawing/2014/main" id="{96039FD3-FCF7-BEC1-17A3-47879279D87B}"/>
                </a:ext>
              </a:extLst>
            </p:cNvPr>
            <p:cNvSpPr/>
            <p:nvPr/>
          </p:nvSpPr>
          <p:spPr>
            <a:xfrm>
              <a:off x="9489901" y="2748509"/>
              <a:ext cx="606393" cy="556282"/>
            </a:xfrm>
            <a:prstGeom prst="mathMultiply">
              <a:avLst>
                <a:gd name="adj1" fmla="val 0"/>
              </a:avLst>
            </a:prstGeom>
            <a:solidFill>
              <a:srgbClr val="FF0000"/>
            </a:solidFill>
            <a:ln w="12700" cap="flat">
              <a:solidFill>
                <a:srgbClr val="FF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32" name="Oval 531">
              <a:extLst>
                <a:ext uri="{FF2B5EF4-FFF2-40B4-BE49-F238E27FC236}">
                  <a16:creationId xmlns:a16="http://schemas.microsoft.com/office/drawing/2014/main" id="{D913D28D-FB3F-9A5F-3B94-43CCF5734EB8}"/>
                </a:ext>
              </a:extLst>
            </p:cNvPr>
            <p:cNvSpPr/>
            <p:nvPr/>
          </p:nvSpPr>
          <p:spPr>
            <a:xfrm>
              <a:off x="9515298" y="2753967"/>
              <a:ext cx="545245" cy="550824"/>
            </a:xfrm>
            <a:prstGeom prst="ellipse">
              <a:avLst/>
            </a:prstGeom>
            <a:noFill/>
            <a:ln w="12700" cap="flat">
              <a:solidFill>
                <a:srgbClr val="FF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grpSp>
      <p:sp>
        <p:nvSpPr>
          <p:cNvPr id="535" name="Create a visual hierarchy. Help users navigate the page with titles, subtitles, and subsubtitles">
            <a:extLst>
              <a:ext uri="{FF2B5EF4-FFF2-40B4-BE49-F238E27FC236}">
                <a16:creationId xmlns:a16="http://schemas.microsoft.com/office/drawing/2014/main" id="{D9145723-8DC3-1FC9-56EF-144A8F5EBED5}"/>
              </a:ext>
            </a:extLst>
          </p:cNvPr>
          <p:cNvSpPr txBox="1"/>
          <p:nvPr/>
        </p:nvSpPr>
        <p:spPr>
          <a:xfrm>
            <a:off x="10731983" y="3420447"/>
            <a:ext cx="1184050" cy="4810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Pull Request </a:t>
            </a:r>
          </a:p>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Denie</a:t>
            </a:r>
            <a:r>
              <a:rPr lang="en-US" b="0" dirty="0">
                <a:solidFill>
                  <a:srgbClr val="000000"/>
                </a:solidFill>
                <a:latin typeface="Source Sans Pro" panose="020B0503030403020204" pitchFamily="34" charset="0"/>
                <a:ea typeface="Source Sans Pro" panose="020B0503030403020204" pitchFamily="34" charset="0"/>
              </a:rPr>
              <a:t>d</a:t>
            </a:r>
            <a:endParaRPr lang="en-US" b="0" i="0" u="none" strike="noStrike" dirty="0">
              <a:solidFill>
                <a:srgbClr val="000000"/>
              </a:solidFill>
              <a:effectLst/>
              <a:latin typeface="Source Sans Pro" panose="020B0503030403020204" pitchFamily="34" charset="0"/>
              <a:ea typeface="Source Sans Pro" panose="020B0503030403020204" pitchFamily="34" charset="0"/>
            </a:endParaRPr>
          </a:p>
        </p:txBody>
      </p:sp>
      <p:cxnSp>
        <p:nvCxnSpPr>
          <p:cNvPr id="544" name="Google Shape;445;p18">
            <a:extLst>
              <a:ext uri="{FF2B5EF4-FFF2-40B4-BE49-F238E27FC236}">
                <a16:creationId xmlns:a16="http://schemas.microsoft.com/office/drawing/2014/main" id="{B91732BB-B25C-E29D-D8BC-5BC0E5DFAD50}"/>
              </a:ext>
            </a:extLst>
          </p:cNvPr>
          <p:cNvCxnSpPr>
            <a:cxnSpLocks/>
          </p:cNvCxnSpPr>
          <p:nvPr/>
        </p:nvCxnSpPr>
        <p:spPr>
          <a:xfrm flipH="1" flipV="1">
            <a:off x="10177672" y="3244262"/>
            <a:ext cx="467356" cy="11656"/>
          </a:xfrm>
          <a:prstGeom prst="straightConnector1">
            <a:avLst/>
          </a:prstGeom>
          <a:noFill/>
          <a:ln w="28575" cap="flat" cmpd="sng">
            <a:solidFill>
              <a:srgbClr val="1B1311"/>
            </a:solidFill>
            <a:prstDash val="solid"/>
            <a:round/>
            <a:headEnd type="none" w="med" len="med"/>
            <a:tailEnd type="triangle" w="med" len="med"/>
          </a:ln>
        </p:spPr>
      </p:cxnSp>
      <p:cxnSp>
        <p:nvCxnSpPr>
          <p:cNvPr id="549" name="Google Shape;445;p18">
            <a:extLst>
              <a:ext uri="{FF2B5EF4-FFF2-40B4-BE49-F238E27FC236}">
                <a16:creationId xmlns:a16="http://schemas.microsoft.com/office/drawing/2014/main" id="{CF3373CA-CA8D-550B-07EE-83BA8A179076}"/>
              </a:ext>
            </a:extLst>
          </p:cNvPr>
          <p:cNvCxnSpPr>
            <a:cxnSpLocks/>
          </p:cNvCxnSpPr>
          <p:nvPr/>
        </p:nvCxnSpPr>
        <p:spPr>
          <a:xfrm flipH="1">
            <a:off x="11507864" y="3224455"/>
            <a:ext cx="881273" cy="0"/>
          </a:xfrm>
          <a:prstGeom prst="straightConnector1">
            <a:avLst/>
          </a:prstGeom>
          <a:noFill/>
          <a:ln w="28575" cap="flat" cmpd="sng">
            <a:solidFill>
              <a:srgbClr val="1B1311"/>
            </a:solidFill>
            <a:prstDash val="solid"/>
            <a:round/>
            <a:headEnd type="none" w="med" len="med"/>
            <a:tailEnd type="triangle" w="med" len="med"/>
          </a:ln>
        </p:spPr>
      </p:cxnSp>
      <p:grpSp>
        <p:nvGrpSpPr>
          <p:cNvPr id="554" name="Group 553">
            <a:extLst>
              <a:ext uri="{FF2B5EF4-FFF2-40B4-BE49-F238E27FC236}">
                <a16:creationId xmlns:a16="http://schemas.microsoft.com/office/drawing/2014/main" id="{253855BD-6241-BF73-B192-9C85D8801C76}"/>
              </a:ext>
            </a:extLst>
          </p:cNvPr>
          <p:cNvGrpSpPr/>
          <p:nvPr/>
        </p:nvGrpSpPr>
        <p:grpSpPr>
          <a:xfrm>
            <a:off x="12986924" y="2906506"/>
            <a:ext cx="526129" cy="369657"/>
            <a:chOff x="11008619" y="1823977"/>
            <a:chExt cx="526129" cy="369657"/>
          </a:xfrm>
        </p:grpSpPr>
        <p:sp>
          <p:nvSpPr>
            <p:cNvPr id="555" name="Google Shape;236;p15">
              <a:extLst>
                <a:ext uri="{FF2B5EF4-FFF2-40B4-BE49-F238E27FC236}">
                  <a16:creationId xmlns:a16="http://schemas.microsoft.com/office/drawing/2014/main" id="{9CE8C815-8BAD-CE62-3544-250B8758F3A4}"/>
                </a:ext>
              </a:extLst>
            </p:cNvPr>
            <p:cNvSpPr/>
            <p:nvPr/>
          </p:nvSpPr>
          <p:spPr>
            <a:xfrm>
              <a:off x="11088127" y="1905940"/>
              <a:ext cx="310026" cy="287694"/>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556" name="Google Shape;237;p15">
              <a:extLst>
                <a:ext uri="{FF2B5EF4-FFF2-40B4-BE49-F238E27FC236}">
                  <a16:creationId xmlns:a16="http://schemas.microsoft.com/office/drawing/2014/main" id="{DF0B1893-A60E-11A4-5B7B-9D695A636BB6}"/>
                </a:ext>
              </a:extLst>
            </p:cNvPr>
            <p:cNvSpPr txBox="1"/>
            <p:nvPr/>
          </p:nvSpPr>
          <p:spPr>
            <a:xfrm>
              <a:off x="11008619" y="1823977"/>
              <a:ext cx="526129" cy="263210"/>
            </a:xfrm>
            <a:prstGeom prst="rect">
              <a:avLst/>
            </a:prstGeom>
            <a:noFill/>
            <a:ln>
              <a:noFill/>
            </a:ln>
          </p:spPr>
          <p:txBody>
            <a:bodyPr spcFirstLastPara="1" wrap="square" lIns="127722" tIns="127722" rIns="127722" bIns="127722" anchor="t" anchorCtr="0">
              <a:noAutofit/>
            </a:bodyPr>
            <a:lstStyle/>
            <a:p>
              <a:pPr>
                <a:spcBef>
                  <a:spcPts val="0"/>
                </a:spcBef>
              </a:pPr>
              <a:r>
                <a:rPr lang="en" sz="1400" dirty="0">
                  <a:solidFill>
                    <a:schemeClr val="lt1"/>
                  </a:solidFill>
                </a:rPr>
                <a:t>PR</a:t>
              </a:r>
              <a:endParaRPr sz="1400" dirty="0">
                <a:solidFill>
                  <a:schemeClr val="lt1"/>
                </a:solidFill>
              </a:endParaRPr>
            </a:p>
          </p:txBody>
        </p:sp>
      </p:grpSp>
      <p:cxnSp>
        <p:nvCxnSpPr>
          <p:cNvPr id="557" name="Google Shape;445;p18">
            <a:extLst>
              <a:ext uri="{FF2B5EF4-FFF2-40B4-BE49-F238E27FC236}">
                <a16:creationId xmlns:a16="http://schemas.microsoft.com/office/drawing/2014/main" id="{15872AD9-BE11-456F-2C7B-D5CDC5BCD1CC}"/>
              </a:ext>
            </a:extLst>
          </p:cNvPr>
          <p:cNvCxnSpPr>
            <a:cxnSpLocks/>
          </p:cNvCxnSpPr>
          <p:nvPr/>
        </p:nvCxnSpPr>
        <p:spPr>
          <a:xfrm>
            <a:off x="13204781" y="2603030"/>
            <a:ext cx="0" cy="303476"/>
          </a:xfrm>
          <a:prstGeom prst="straightConnector1">
            <a:avLst/>
          </a:prstGeom>
          <a:noFill/>
          <a:ln w="28575" cap="flat" cmpd="sng">
            <a:solidFill>
              <a:srgbClr val="1B1311"/>
            </a:solidFill>
            <a:prstDash val="solid"/>
            <a:round/>
            <a:headEnd type="none" w="med" len="med"/>
            <a:tailEnd type="triangle" w="med" len="med"/>
          </a:ln>
        </p:spPr>
      </p:cxnSp>
      <p:sp>
        <p:nvSpPr>
          <p:cNvPr id="560" name="Create a visual hierarchy. Help users navigate the page with titles, subtitles, and subsubtitles">
            <a:extLst>
              <a:ext uri="{FF2B5EF4-FFF2-40B4-BE49-F238E27FC236}">
                <a16:creationId xmlns:a16="http://schemas.microsoft.com/office/drawing/2014/main" id="{0CE60770-7D7C-140B-6B40-67ACB455D47E}"/>
              </a:ext>
            </a:extLst>
          </p:cNvPr>
          <p:cNvSpPr txBox="1"/>
          <p:nvPr/>
        </p:nvSpPr>
        <p:spPr>
          <a:xfrm>
            <a:off x="12745063" y="3301326"/>
            <a:ext cx="1184050" cy="4810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Pull Request </a:t>
            </a:r>
          </a:p>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Approved</a:t>
            </a:r>
          </a:p>
        </p:txBody>
      </p:sp>
      <p:sp>
        <p:nvSpPr>
          <p:cNvPr id="561" name="TextBox 560">
            <a:extLst>
              <a:ext uri="{FF2B5EF4-FFF2-40B4-BE49-F238E27FC236}">
                <a16:creationId xmlns:a16="http://schemas.microsoft.com/office/drawing/2014/main" id="{A14FD218-2A8F-5A1E-B804-6392BC213681}"/>
              </a:ext>
            </a:extLst>
          </p:cNvPr>
          <p:cNvSpPr txBox="1"/>
          <p:nvPr/>
        </p:nvSpPr>
        <p:spPr>
          <a:xfrm>
            <a:off x="12761562" y="2984266"/>
            <a:ext cx="31699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r>
              <a:rPr lang="en">
                <a:solidFill>
                  <a:srgbClr val="1F2328"/>
                </a:solidFill>
                <a:highlight>
                  <a:srgbClr val="FFFFFF"/>
                </a:highlight>
              </a:rPr>
              <a:t>✅</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cxnSp>
        <p:nvCxnSpPr>
          <p:cNvPr id="574" name="Straight Connector 573">
            <a:extLst>
              <a:ext uri="{FF2B5EF4-FFF2-40B4-BE49-F238E27FC236}">
                <a16:creationId xmlns:a16="http://schemas.microsoft.com/office/drawing/2014/main" id="{271CA762-1CE3-9685-B98C-8D016DB839C9}"/>
              </a:ext>
            </a:extLst>
          </p:cNvPr>
          <p:cNvCxnSpPr>
            <a:cxnSpLocks/>
          </p:cNvCxnSpPr>
          <p:nvPr/>
        </p:nvCxnSpPr>
        <p:spPr>
          <a:xfrm flipH="1">
            <a:off x="12362060" y="2547213"/>
            <a:ext cx="698769" cy="677242"/>
          </a:xfrm>
          <a:prstGeom prst="line">
            <a:avLst/>
          </a:prstGeom>
          <a:ln w="28575" cap="flat" cmpd="sng" algn="ctr">
            <a:solidFill>
              <a:schemeClr val="bg2">
                <a:lumMod val="1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582" name="Group 581">
            <a:extLst>
              <a:ext uri="{FF2B5EF4-FFF2-40B4-BE49-F238E27FC236}">
                <a16:creationId xmlns:a16="http://schemas.microsoft.com/office/drawing/2014/main" id="{618F2D1A-6EBF-2072-E65F-E8DF3C25F4E7}"/>
              </a:ext>
            </a:extLst>
          </p:cNvPr>
          <p:cNvGrpSpPr/>
          <p:nvPr/>
        </p:nvGrpSpPr>
        <p:grpSpPr>
          <a:xfrm>
            <a:off x="9855655" y="1524300"/>
            <a:ext cx="526129" cy="369657"/>
            <a:chOff x="11008619" y="1823977"/>
            <a:chExt cx="526129" cy="369657"/>
          </a:xfrm>
        </p:grpSpPr>
        <p:sp>
          <p:nvSpPr>
            <p:cNvPr id="583" name="Google Shape;236;p15">
              <a:extLst>
                <a:ext uri="{FF2B5EF4-FFF2-40B4-BE49-F238E27FC236}">
                  <a16:creationId xmlns:a16="http://schemas.microsoft.com/office/drawing/2014/main" id="{8A66D4B7-EC40-FF3F-598F-60F4249E0ED2}"/>
                </a:ext>
              </a:extLst>
            </p:cNvPr>
            <p:cNvSpPr/>
            <p:nvPr/>
          </p:nvSpPr>
          <p:spPr>
            <a:xfrm>
              <a:off x="11088127" y="1905940"/>
              <a:ext cx="310026" cy="287694"/>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584" name="Google Shape;237;p15">
              <a:extLst>
                <a:ext uri="{FF2B5EF4-FFF2-40B4-BE49-F238E27FC236}">
                  <a16:creationId xmlns:a16="http://schemas.microsoft.com/office/drawing/2014/main" id="{7C94C5EE-677F-1630-6246-0923A8685716}"/>
                </a:ext>
              </a:extLst>
            </p:cNvPr>
            <p:cNvSpPr txBox="1"/>
            <p:nvPr/>
          </p:nvSpPr>
          <p:spPr>
            <a:xfrm>
              <a:off x="11008619" y="1823977"/>
              <a:ext cx="526129" cy="263210"/>
            </a:xfrm>
            <a:prstGeom prst="rect">
              <a:avLst/>
            </a:prstGeom>
            <a:noFill/>
            <a:ln>
              <a:noFill/>
            </a:ln>
          </p:spPr>
          <p:txBody>
            <a:bodyPr spcFirstLastPara="1" wrap="square" lIns="127722" tIns="127722" rIns="127722" bIns="127722" anchor="t" anchorCtr="0">
              <a:noAutofit/>
            </a:bodyPr>
            <a:lstStyle/>
            <a:p>
              <a:pPr>
                <a:spcBef>
                  <a:spcPts val="0"/>
                </a:spcBef>
              </a:pPr>
              <a:endParaRPr sz="1400" dirty="0">
                <a:solidFill>
                  <a:schemeClr val="lt1"/>
                </a:solidFill>
              </a:endParaRPr>
            </a:p>
          </p:txBody>
        </p:sp>
      </p:grpSp>
      <p:sp>
        <p:nvSpPr>
          <p:cNvPr id="588" name="Create a visual hierarchy. Help users navigate the page with titles, subtitles, and subsubtitles">
            <a:extLst>
              <a:ext uri="{FF2B5EF4-FFF2-40B4-BE49-F238E27FC236}">
                <a16:creationId xmlns:a16="http://schemas.microsoft.com/office/drawing/2014/main" id="{5E9F9166-A15F-5382-B3F0-ACD0A5E7678E}"/>
              </a:ext>
            </a:extLst>
          </p:cNvPr>
          <p:cNvSpPr txBox="1"/>
          <p:nvPr/>
        </p:nvSpPr>
        <p:spPr>
          <a:xfrm>
            <a:off x="9594196" y="3361296"/>
            <a:ext cx="1184050" cy="2764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New Commit</a:t>
            </a:r>
          </a:p>
        </p:txBody>
      </p:sp>
      <p:pic>
        <p:nvPicPr>
          <p:cNvPr id="1026" name="Picture 2" descr="Git Commit icon - Free Download PNG ...">
            <a:extLst>
              <a:ext uri="{FF2B5EF4-FFF2-40B4-BE49-F238E27FC236}">
                <a16:creationId xmlns:a16="http://schemas.microsoft.com/office/drawing/2014/main" id="{1F018E6A-882D-9942-7633-387AEC8DCFF7}"/>
              </a:ext>
            </a:extLst>
          </p:cNvPr>
          <p:cNvPicPr>
            <a:picLocks noChangeAspect="1" noChangeArrowheads="1"/>
          </p:cNvPicPr>
          <p:nvPr/>
        </p:nvPicPr>
        <p:blipFill rotWithShape="1">
          <a:blip r:embed="rId19" cstate="print">
            <a:extLst>
              <a:ext uri="{28A0092B-C50C-407E-A947-70E740481C1C}">
                <a14:useLocalDpi xmlns:a14="http://schemas.microsoft.com/office/drawing/2010/main" val="0"/>
              </a:ext>
            </a:extLst>
          </a:blip>
          <a:srcRect l="-9695" t="25407" r="-14066" b="28606"/>
          <a:stretch>
            <a:fillRect/>
          </a:stretch>
        </p:blipFill>
        <p:spPr bwMode="auto">
          <a:xfrm flipH="1">
            <a:off x="9971280" y="1715526"/>
            <a:ext cx="276609" cy="102778"/>
          </a:xfrm>
          <a:prstGeom prst="rect">
            <a:avLst/>
          </a:prstGeom>
          <a:noFill/>
          <a:extLst>
            <a:ext uri="{909E8E84-426E-40DD-AFC4-6F175D3DCCD1}">
              <a14:hiddenFill xmlns:a14="http://schemas.microsoft.com/office/drawing/2010/main">
                <a:solidFill>
                  <a:srgbClr val="FFFFFF"/>
                </a:solidFill>
              </a14:hiddenFill>
            </a:ext>
          </a:extLst>
        </p:spPr>
      </p:pic>
      <p:cxnSp>
        <p:nvCxnSpPr>
          <p:cNvPr id="589" name="Google Shape;445;p18">
            <a:extLst>
              <a:ext uri="{FF2B5EF4-FFF2-40B4-BE49-F238E27FC236}">
                <a16:creationId xmlns:a16="http://schemas.microsoft.com/office/drawing/2014/main" id="{DF226F12-5B3F-71AB-DFFE-10E771B0DAD3}"/>
              </a:ext>
            </a:extLst>
          </p:cNvPr>
          <p:cNvCxnSpPr>
            <a:cxnSpLocks/>
          </p:cNvCxnSpPr>
          <p:nvPr/>
        </p:nvCxnSpPr>
        <p:spPr>
          <a:xfrm flipV="1">
            <a:off x="9911741" y="2627185"/>
            <a:ext cx="11471" cy="357081"/>
          </a:xfrm>
          <a:prstGeom prst="straightConnector1">
            <a:avLst/>
          </a:prstGeom>
          <a:noFill/>
          <a:ln w="28575" cap="flat" cmpd="sng">
            <a:solidFill>
              <a:srgbClr val="1B1311"/>
            </a:solidFill>
            <a:prstDash val="solid"/>
            <a:round/>
            <a:headEnd type="none" w="med" len="med"/>
            <a:tailEnd type="triangle" w="med" len="med"/>
          </a:ln>
        </p:spPr>
      </p:cxnSp>
      <p:cxnSp>
        <p:nvCxnSpPr>
          <p:cNvPr id="593" name="Google Shape;445;p18">
            <a:extLst>
              <a:ext uri="{FF2B5EF4-FFF2-40B4-BE49-F238E27FC236}">
                <a16:creationId xmlns:a16="http://schemas.microsoft.com/office/drawing/2014/main" id="{85C61BB4-D92E-FD1A-8B4D-A3126D5B6D65}"/>
              </a:ext>
            </a:extLst>
          </p:cNvPr>
          <p:cNvCxnSpPr>
            <a:cxnSpLocks/>
          </p:cNvCxnSpPr>
          <p:nvPr/>
        </p:nvCxnSpPr>
        <p:spPr>
          <a:xfrm>
            <a:off x="10353463" y="2579763"/>
            <a:ext cx="435291" cy="404503"/>
          </a:xfrm>
          <a:prstGeom prst="straightConnector1">
            <a:avLst/>
          </a:prstGeom>
          <a:noFill/>
          <a:ln w="28575" cap="flat" cmpd="sng">
            <a:solidFill>
              <a:srgbClr val="1B1311"/>
            </a:solidFill>
            <a:prstDash val="solid"/>
            <a:round/>
            <a:headEnd type="none" w="med" len="med"/>
            <a:tailEnd type="triangle" w="med" len="med"/>
          </a:ln>
        </p:spPr>
      </p:cxnSp>
      <p:cxnSp>
        <p:nvCxnSpPr>
          <p:cNvPr id="600" name="Google Shape;445;p18">
            <a:extLst>
              <a:ext uri="{FF2B5EF4-FFF2-40B4-BE49-F238E27FC236}">
                <a16:creationId xmlns:a16="http://schemas.microsoft.com/office/drawing/2014/main" id="{E7A14D92-EA7F-874A-89F0-5F34C711AD31}"/>
              </a:ext>
            </a:extLst>
          </p:cNvPr>
          <p:cNvCxnSpPr>
            <a:cxnSpLocks/>
          </p:cNvCxnSpPr>
          <p:nvPr/>
        </p:nvCxnSpPr>
        <p:spPr>
          <a:xfrm flipH="1">
            <a:off x="11455900" y="2539228"/>
            <a:ext cx="475375" cy="453212"/>
          </a:xfrm>
          <a:prstGeom prst="straightConnector1">
            <a:avLst/>
          </a:prstGeom>
          <a:noFill/>
          <a:ln w="28575" cap="flat" cmpd="sng">
            <a:solidFill>
              <a:srgbClr val="1B1311"/>
            </a:solidFill>
            <a:prstDash val="solid"/>
            <a:round/>
            <a:headEnd type="none" w="med" len="med"/>
            <a:tailEnd type="triangle" w="med" len="med"/>
          </a:ln>
        </p:spPr>
      </p:cxnSp>
      <p:sp>
        <p:nvSpPr>
          <p:cNvPr id="2" name="Rectangle: Rounded Corners 1">
            <a:extLst>
              <a:ext uri="{FF2B5EF4-FFF2-40B4-BE49-F238E27FC236}">
                <a16:creationId xmlns:a16="http://schemas.microsoft.com/office/drawing/2014/main" id="{35267EC4-7F33-12FC-5119-C7F3D640F4C4}"/>
              </a:ext>
            </a:extLst>
          </p:cNvPr>
          <p:cNvSpPr/>
          <p:nvPr/>
        </p:nvSpPr>
        <p:spPr>
          <a:xfrm>
            <a:off x="5369266" y="4576662"/>
            <a:ext cx="2982645" cy="3609416"/>
          </a:xfrm>
          <a:prstGeom prst="roundRect">
            <a:avLst/>
          </a:prstGeom>
          <a:noFill/>
          <a:ln w="12700" cap="flat">
            <a:solidFill>
              <a:srgbClr val="4C4C4C"/>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4" name="Rectangle: Rounded Corners 3">
            <a:extLst>
              <a:ext uri="{FF2B5EF4-FFF2-40B4-BE49-F238E27FC236}">
                <a16:creationId xmlns:a16="http://schemas.microsoft.com/office/drawing/2014/main" id="{F86D4907-AFEF-A968-7D8E-7F200FAF9966}"/>
              </a:ext>
            </a:extLst>
          </p:cNvPr>
          <p:cNvSpPr/>
          <p:nvPr/>
        </p:nvSpPr>
        <p:spPr>
          <a:xfrm>
            <a:off x="7729339" y="3094564"/>
            <a:ext cx="613085" cy="104979"/>
          </a:xfrm>
          <a:prstGeom prst="roundRect">
            <a:avLst/>
          </a:prstGeom>
          <a:noFill/>
          <a:ln w="6350" cap="flat">
            <a:solidFill>
              <a:srgbClr val="FF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pic>
        <p:nvPicPr>
          <p:cNvPr id="11" name="Picture 2" descr="Fly Bug Icon Stock Illustrations ...">
            <a:extLst>
              <a:ext uri="{FF2B5EF4-FFF2-40B4-BE49-F238E27FC236}">
                <a16:creationId xmlns:a16="http://schemas.microsoft.com/office/drawing/2014/main" id="{ADFF589A-6C20-CFA5-8E84-79A4A84054D1}"/>
              </a:ext>
            </a:extLst>
          </p:cNvPr>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rot="14815143">
            <a:off x="7420297" y="2963924"/>
            <a:ext cx="260781" cy="260781"/>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6D75F6C-FAF4-6BDE-724B-99F903177803}"/>
              </a:ext>
            </a:extLst>
          </p:cNvPr>
          <p:cNvSpPr/>
          <p:nvPr/>
        </p:nvSpPr>
        <p:spPr>
          <a:xfrm>
            <a:off x="7413863" y="3013839"/>
            <a:ext cx="102866" cy="104979"/>
          </a:xfrm>
          <a:prstGeom prst="roundRect">
            <a:avLst/>
          </a:prstGeom>
          <a:solidFill>
            <a:srgbClr val="FF0000"/>
          </a:solidFill>
          <a:ln w="6350" cap="flat">
            <a:solidFill>
              <a:srgbClr val="FF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nvGrpSpPr>
          <p:cNvPr id="37" name="Group 36">
            <a:extLst>
              <a:ext uri="{FF2B5EF4-FFF2-40B4-BE49-F238E27FC236}">
                <a16:creationId xmlns:a16="http://schemas.microsoft.com/office/drawing/2014/main" id="{20D01B1D-082A-4509-1F34-DCA9840D39CB}"/>
              </a:ext>
            </a:extLst>
          </p:cNvPr>
          <p:cNvGrpSpPr/>
          <p:nvPr/>
        </p:nvGrpSpPr>
        <p:grpSpPr>
          <a:xfrm>
            <a:off x="9713348" y="2964533"/>
            <a:ext cx="526129" cy="369657"/>
            <a:chOff x="11008619" y="1823977"/>
            <a:chExt cx="526129" cy="369657"/>
          </a:xfrm>
        </p:grpSpPr>
        <p:sp>
          <p:nvSpPr>
            <p:cNvPr id="38" name="Google Shape;236;p15">
              <a:extLst>
                <a:ext uri="{FF2B5EF4-FFF2-40B4-BE49-F238E27FC236}">
                  <a16:creationId xmlns:a16="http://schemas.microsoft.com/office/drawing/2014/main" id="{68A0C11C-F67F-2ADE-068B-BAD569D9DEE6}"/>
                </a:ext>
              </a:extLst>
            </p:cNvPr>
            <p:cNvSpPr/>
            <p:nvPr/>
          </p:nvSpPr>
          <p:spPr>
            <a:xfrm>
              <a:off x="11088127" y="1905940"/>
              <a:ext cx="310026" cy="287694"/>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39" name="Google Shape;237;p15">
              <a:extLst>
                <a:ext uri="{FF2B5EF4-FFF2-40B4-BE49-F238E27FC236}">
                  <a16:creationId xmlns:a16="http://schemas.microsoft.com/office/drawing/2014/main" id="{AD0DE324-B7CE-2BD4-8728-BE2C16862DB2}"/>
                </a:ext>
              </a:extLst>
            </p:cNvPr>
            <p:cNvSpPr txBox="1"/>
            <p:nvPr/>
          </p:nvSpPr>
          <p:spPr>
            <a:xfrm>
              <a:off x="11008619" y="1823977"/>
              <a:ext cx="526129" cy="263210"/>
            </a:xfrm>
            <a:prstGeom prst="rect">
              <a:avLst/>
            </a:prstGeom>
            <a:noFill/>
            <a:ln>
              <a:noFill/>
            </a:ln>
          </p:spPr>
          <p:txBody>
            <a:bodyPr spcFirstLastPara="1" wrap="square" lIns="127722" tIns="127722" rIns="127722" bIns="127722" anchor="t" anchorCtr="0">
              <a:noAutofit/>
            </a:bodyPr>
            <a:lstStyle/>
            <a:p>
              <a:pPr>
                <a:spcBef>
                  <a:spcPts val="0"/>
                </a:spcBef>
              </a:pPr>
              <a:endParaRPr sz="1400" dirty="0">
                <a:solidFill>
                  <a:schemeClr val="lt1"/>
                </a:solidFill>
              </a:endParaRPr>
            </a:p>
          </p:txBody>
        </p:sp>
      </p:grpSp>
      <p:pic>
        <p:nvPicPr>
          <p:cNvPr id="40" name="Picture 2" descr="Git Commit icon - Free Download PNG ...">
            <a:extLst>
              <a:ext uri="{FF2B5EF4-FFF2-40B4-BE49-F238E27FC236}">
                <a16:creationId xmlns:a16="http://schemas.microsoft.com/office/drawing/2014/main" id="{44FCD74F-1399-4F9F-5D76-61E18041876D}"/>
              </a:ext>
            </a:extLst>
          </p:cNvPr>
          <p:cNvPicPr>
            <a:picLocks noChangeAspect="1" noChangeArrowheads="1"/>
          </p:cNvPicPr>
          <p:nvPr/>
        </p:nvPicPr>
        <p:blipFill rotWithShape="1">
          <a:blip r:embed="rId19" cstate="print">
            <a:extLst>
              <a:ext uri="{28A0092B-C50C-407E-A947-70E740481C1C}">
                <a14:useLocalDpi xmlns:a14="http://schemas.microsoft.com/office/drawing/2010/main" val="0"/>
              </a:ext>
            </a:extLst>
          </a:blip>
          <a:srcRect l="-9695" t="25407" r="-14066" b="28606"/>
          <a:stretch>
            <a:fillRect/>
          </a:stretch>
        </p:blipFill>
        <p:spPr bwMode="auto">
          <a:xfrm flipH="1">
            <a:off x="9828973" y="3155759"/>
            <a:ext cx="276609" cy="1027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2727488"/>
      </p:ext>
    </p:extLst>
  </p:cSld>
  <p:clrMapOvr>
    <a:masterClrMapping/>
  </p:clrMapOvr>
  <p:transition spd="med"/>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9E50A-D2A3-032F-6D31-36B81679A0D3}"/>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A6FE05AF-FB04-97C1-B46E-3FE1A37B5FD0}"/>
              </a:ext>
            </a:extLst>
          </p:cNvPr>
          <p:cNvPicPr>
            <a:picLocks noChangeAspect="1"/>
          </p:cNvPicPr>
          <p:nvPr/>
        </p:nvPicPr>
        <p:blipFill>
          <a:blip r:embed="rId4"/>
          <a:stretch>
            <a:fillRect/>
          </a:stretch>
        </p:blipFill>
        <p:spPr>
          <a:xfrm>
            <a:off x="11334957" y="-423791"/>
            <a:ext cx="5598432" cy="2990088"/>
          </a:xfrm>
          <a:prstGeom prst="rect">
            <a:avLst/>
          </a:prstGeom>
          <a:ln w="12700">
            <a:miter lim="400000"/>
          </a:ln>
        </p:spPr>
      </p:pic>
      <p:sp>
        <p:nvSpPr>
          <p:cNvPr id="312" name="Line">
            <a:extLst>
              <a:ext uri="{FF2B5EF4-FFF2-40B4-BE49-F238E27FC236}">
                <a16:creationId xmlns:a16="http://schemas.microsoft.com/office/drawing/2014/main" id="{94569C72-BC72-E727-2D16-17A032683B34}"/>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5B30ABA2-F7C5-902E-8665-1AB700939EF5}"/>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26" name="Manipulate Variables">
            <a:extLst>
              <a:ext uri="{FF2B5EF4-FFF2-40B4-BE49-F238E27FC236}">
                <a16:creationId xmlns:a16="http://schemas.microsoft.com/office/drawing/2014/main" id="{54C00CC4-4021-BDEB-07FC-CA0AA4EF3A7F}"/>
              </a:ext>
            </a:extLst>
          </p:cNvPr>
          <p:cNvSpPr txBox="1"/>
          <p:nvPr/>
        </p:nvSpPr>
        <p:spPr>
          <a:xfrm>
            <a:off x="4871168" y="5969168"/>
            <a:ext cx="3207609"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Code Review Work Flow</a:t>
            </a:r>
          </a:p>
        </p:txBody>
      </p:sp>
      <p:sp>
        <p:nvSpPr>
          <p:cNvPr id="334" name="Three Column Layout: : CHEAT SHEET">
            <a:extLst>
              <a:ext uri="{FF2B5EF4-FFF2-40B4-BE49-F238E27FC236}">
                <a16:creationId xmlns:a16="http://schemas.microsoft.com/office/drawing/2014/main" id="{074B7A01-1D81-FBD1-C30B-46479CF173CD}"/>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Unit Tests </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41" name="Use headers, colors, and/or backgrounds to separate or group together sections.">
            <a:extLst>
              <a:ext uri="{FF2B5EF4-FFF2-40B4-BE49-F238E27FC236}">
                <a16:creationId xmlns:a16="http://schemas.microsoft.com/office/drawing/2014/main" id="{866243D2-EE98-07BD-3D32-8337F3863B69}"/>
              </a:ext>
            </a:extLst>
          </p:cNvPr>
          <p:cNvSpPr txBox="1"/>
          <p:nvPr/>
        </p:nvSpPr>
        <p:spPr>
          <a:xfrm>
            <a:off x="275721" y="1869898"/>
            <a:ext cx="3949153" cy="20799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Kaiaulu has multiple measures in place to ensure that its codebase remains maintainable. These include: Unit Tests </a:t>
            </a:r>
          </a:p>
          <a:p>
            <a:pPr marL="171450" indent="-171450">
              <a:lnSpc>
                <a:spcPct val="90000"/>
              </a:lnSpc>
              <a:spcBef>
                <a:spcPts val="300"/>
              </a:spcBef>
              <a:buFont typeface="Arial" panose="020B0604020202020204" pitchFamily="34" charset="0"/>
              <a:buChar cha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Codecov</a:t>
            </a:r>
          </a:p>
          <a:p>
            <a:pPr marL="171450" indent="-171450">
              <a:lnSpc>
                <a:spcPct val="90000"/>
              </a:lnSpc>
              <a:spcBef>
                <a:spcPts val="300"/>
              </a:spcBef>
              <a:buFont typeface="Arial" panose="020B0604020202020204" pitchFamily="34" charset="0"/>
              <a:buChar cha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GitHub Actions</a:t>
            </a:r>
          </a:p>
          <a:p>
            <a:pPr marL="171450" indent="-171450">
              <a:lnSpc>
                <a:spcPct val="90000"/>
              </a:lnSpc>
              <a:spcBef>
                <a:spcPts val="300"/>
              </a:spcBef>
              <a:buFont typeface="Arial" panose="020B0604020202020204" pitchFamily="34" charset="0"/>
              <a:buChar cha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Example Functions</a:t>
            </a:r>
          </a:p>
          <a:p>
            <a:pPr marL="171450" indent="-171450">
              <a:lnSpc>
                <a:spcPct val="90000"/>
              </a:lnSpc>
              <a:spcBef>
                <a:spcPts val="300"/>
              </a:spcBef>
              <a:buFont typeface="Arial" panose="020B0604020202020204" pitchFamily="34" charset="0"/>
              <a:buChar cha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Internal Try Catch Statements</a:t>
            </a:r>
          </a:p>
          <a:p>
            <a:pPr marL="171450" indent="-171450">
              <a:lnSpc>
                <a:spcPct val="90000"/>
              </a:lnSpc>
              <a:spcBef>
                <a:spcPts val="300"/>
              </a:spcBef>
              <a:buClr>
                <a:schemeClr val="accent4">
                  <a:hueOff val="384618"/>
                  <a:satOff val="3869"/>
                  <a:lumOff val="5802"/>
                </a:schemeClr>
              </a:buClr>
              <a:buFont typeface="Arial" panose="020B0604020202020204" pitchFamily="34" charset="0"/>
              <a:buChar char="•"/>
              <a:defRPr b="0">
                <a:solidFill>
                  <a:srgbClr val="000000"/>
                </a:solidFill>
                <a:latin typeface="+mn-lt"/>
                <a:ea typeface="+mn-ea"/>
                <a:cs typeface="+mn-cs"/>
                <a:sym typeface="Source Sans Pro Light"/>
              </a:defRPr>
            </a:pPr>
            <a:endParaRPr lang="en-US" b="0" dirty="0">
              <a:solidFill>
                <a:srgbClr val="000000"/>
              </a:solidFill>
              <a:latin typeface="Source Sans Pro" panose="020B0503030403020204" pitchFamily="34" charset="0"/>
              <a:ea typeface="Source Sans Pro" panose="020B0503030403020204" pitchFamily="34" charset="0"/>
            </a:endParaRPr>
          </a:p>
          <a:p>
            <a:pPr>
              <a:lnSpc>
                <a:spcPct val="90000"/>
              </a:lnSpc>
              <a:spcBef>
                <a:spcPts val="300"/>
              </a:spcBef>
              <a:buClr>
                <a:schemeClr val="tx1">
                  <a:lumMod val="50000"/>
                </a:schemeClr>
              </a:buClr>
              <a:defRPr b="0">
                <a:solidFill>
                  <a:srgbClr val="000000"/>
                </a:solidFill>
                <a:latin typeface="+mn-lt"/>
                <a:ea typeface="+mn-ea"/>
                <a:cs typeface="+mn-cs"/>
                <a:sym typeface="Source Sans Pro Light"/>
              </a:defRPr>
            </a:pPr>
            <a:endParaRPr lang="en-US" b="0" i="0" u="none" strike="noStrike" dirty="0">
              <a:solidFill>
                <a:schemeClr val="tx1">
                  <a:lumMod val="50000"/>
                </a:schemeClr>
              </a:solidFill>
              <a:effectLst/>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dirty="0">
              <a:solidFill>
                <a:srgbClr val="000000"/>
              </a:solidFill>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i="0" u="none" strike="noStrike" dirty="0">
              <a:solidFill>
                <a:srgbClr val="000000"/>
              </a:solidFill>
              <a:effectLst/>
              <a:latin typeface="Source Sans Pro" panose="020B0503030403020204" pitchFamily="34" charset="0"/>
              <a:ea typeface="Source Sans Pro" panose="020B0503030403020204" pitchFamily="34" charset="0"/>
            </a:endParaRPr>
          </a:p>
        </p:txBody>
      </p:sp>
      <p:sp>
        <p:nvSpPr>
          <p:cNvPr id="382" name="Logistics">
            <a:extLst>
              <a:ext uri="{FF2B5EF4-FFF2-40B4-BE49-F238E27FC236}">
                <a16:creationId xmlns:a16="http://schemas.microsoft.com/office/drawing/2014/main" id="{B8A1D586-2522-8BF3-2E39-B833287815E9}"/>
              </a:ext>
            </a:extLst>
          </p:cNvPr>
          <p:cNvSpPr txBox="1"/>
          <p:nvPr/>
        </p:nvSpPr>
        <p:spPr>
          <a:xfrm>
            <a:off x="249457" y="5620358"/>
            <a:ext cx="1336904"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Unit Tests</a:t>
            </a:r>
          </a:p>
        </p:txBody>
      </p:sp>
      <p:sp>
        <p:nvSpPr>
          <p:cNvPr id="384" name="Layout Suggestions">
            <a:extLst>
              <a:ext uri="{FF2B5EF4-FFF2-40B4-BE49-F238E27FC236}">
                <a16:creationId xmlns:a16="http://schemas.microsoft.com/office/drawing/2014/main" id="{C29D47B2-8673-4802-4ED6-C69DD9074B09}"/>
              </a:ext>
            </a:extLst>
          </p:cNvPr>
          <p:cNvSpPr txBox="1"/>
          <p:nvPr/>
        </p:nvSpPr>
        <p:spPr>
          <a:xfrm>
            <a:off x="275721" y="1453227"/>
            <a:ext cx="26212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0784B316-6D8E-02D0-4350-DEFA8F2181A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1628626B-5765-EC85-43EA-A2AFA2CBE0DC}"/>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6">
                  <a:extLst>
                    <a:ext uri="{A12FA001-AC4F-418D-AE19-62706E023703}">
                      <ahyp:hlinkClr xmlns:ahyp="http://schemas.microsoft.com/office/drawing/2018/hyperlinkcolor" val="tx"/>
                    </a:ext>
                  </a:extLst>
                </a:hlinkClick>
              </a:rPr>
              <a:t>CC BY SA</a:t>
            </a:r>
            <a:r>
              <a:rPr lang="en-US" sz="1000" b="0" dirty="0">
                <a:solidFill>
                  <a:schemeClr val="tx1"/>
                </a:solidFill>
              </a:rPr>
              <a:t> Ian Jaymes Iwata, Anthony Lau, Sean Sunoo</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2024-04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370" name="Basics">
            <a:extLst>
              <a:ext uri="{FF2B5EF4-FFF2-40B4-BE49-F238E27FC236}">
                <a16:creationId xmlns:a16="http://schemas.microsoft.com/office/drawing/2014/main" id="{BC1ADBF3-97C6-B88B-8D39-55510222C455}"/>
              </a:ext>
            </a:extLst>
          </p:cNvPr>
          <p:cNvSpPr txBox="1"/>
          <p:nvPr/>
        </p:nvSpPr>
        <p:spPr>
          <a:xfrm>
            <a:off x="280327" y="3592826"/>
            <a:ext cx="276663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Example Module</a:t>
            </a:r>
            <a:endParaRPr dirty="0"/>
          </a:p>
        </p:txBody>
      </p:sp>
      <p:sp>
        <p:nvSpPr>
          <p:cNvPr id="371" name="Line">
            <a:extLst>
              <a:ext uri="{FF2B5EF4-FFF2-40B4-BE49-F238E27FC236}">
                <a16:creationId xmlns:a16="http://schemas.microsoft.com/office/drawing/2014/main" id="{0CFE2489-C3AD-BF17-1BE5-A870EE2ADF08}"/>
              </a:ext>
            </a:extLst>
          </p:cNvPr>
          <p:cNvSpPr/>
          <p:nvPr/>
        </p:nvSpPr>
        <p:spPr>
          <a:xfrm flipV="1">
            <a:off x="148894" y="1800587"/>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nvGrpSpPr>
          <p:cNvPr id="60" name="Group 59">
            <a:extLst>
              <a:ext uri="{FF2B5EF4-FFF2-40B4-BE49-F238E27FC236}">
                <a16:creationId xmlns:a16="http://schemas.microsoft.com/office/drawing/2014/main" id="{42B3E2E6-793A-9940-9F11-969B3E280182}"/>
              </a:ext>
            </a:extLst>
          </p:cNvPr>
          <p:cNvGrpSpPr/>
          <p:nvPr/>
        </p:nvGrpSpPr>
        <p:grpSpPr>
          <a:xfrm>
            <a:off x="9554259" y="3866817"/>
            <a:ext cx="3848844" cy="6172184"/>
            <a:chOff x="9541159" y="2174444"/>
            <a:chExt cx="3848844" cy="6172184"/>
          </a:xfrm>
        </p:grpSpPr>
        <p:grpSp>
          <p:nvGrpSpPr>
            <p:cNvPr id="61" name="Group 60">
              <a:extLst>
                <a:ext uri="{FF2B5EF4-FFF2-40B4-BE49-F238E27FC236}">
                  <a16:creationId xmlns:a16="http://schemas.microsoft.com/office/drawing/2014/main" id="{F41DFD7A-D629-EF9F-B532-99A92D154875}"/>
                </a:ext>
              </a:extLst>
            </p:cNvPr>
            <p:cNvGrpSpPr/>
            <p:nvPr/>
          </p:nvGrpSpPr>
          <p:grpSpPr>
            <a:xfrm>
              <a:off x="9541159" y="2174444"/>
              <a:ext cx="3848844" cy="6172184"/>
              <a:chOff x="870417" y="3616023"/>
              <a:chExt cx="3848844" cy="6172184"/>
            </a:xfrm>
          </p:grpSpPr>
          <p:sp>
            <p:nvSpPr>
              <p:cNvPr id="449" name="Rectangle 448">
                <a:extLst>
                  <a:ext uri="{FF2B5EF4-FFF2-40B4-BE49-F238E27FC236}">
                    <a16:creationId xmlns:a16="http://schemas.microsoft.com/office/drawing/2014/main" id="{631835B8-B466-0456-A6D4-EDF295DC411B}"/>
                  </a:ext>
                </a:extLst>
              </p:cNvPr>
              <p:cNvSpPr/>
              <p:nvPr/>
            </p:nvSpPr>
            <p:spPr>
              <a:xfrm>
                <a:off x="870417" y="3627271"/>
                <a:ext cx="3848844" cy="6160936"/>
              </a:xfrm>
              <a:prstGeom prst="rect">
                <a:avLst/>
              </a:prstGeom>
              <a:ln w="12700"/>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pic>
            <p:nvPicPr>
              <p:cNvPr id="450" name="Picture 449" descr="Account ">
                <a:extLst>
                  <a:ext uri="{FF2B5EF4-FFF2-40B4-BE49-F238E27FC236}">
                    <a16:creationId xmlns:a16="http://schemas.microsoft.com/office/drawing/2014/main" id="{26C6FE7C-2F88-E156-87D9-8F0994AD7EA8}"/>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41298" y="4156809"/>
                <a:ext cx="306136" cy="306136"/>
              </a:xfrm>
              <a:prstGeom prst="rect">
                <a:avLst/>
              </a:prstGeom>
              <a:noFill/>
              <a:extLst>
                <a:ext uri="{909E8E84-426E-40DD-AFC4-6F175D3DCCD1}">
                  <a14:hiddenFill xmlns:a14="http://schemas.microsoft.com/office/drawing/2010/main">
                    <a:solidFill>
                      <a:srgbClr val="FFFFFF"/>
                    </a:solidFill>
                  </a14:hiddenFill>
                </a:ext>
              </a:extLst>
            </p:spPr>
          </p:pic>
          <p:sp>
            <p:nvSpPr>
              <p:cNvPr id="451" name="TextBox 1284">
                <a:extLst>
                  <a:ext uri="{FF2B5EF4-FFF2-40B4-BE49-F238E27FC236}">
                    <a16:creationId xmlns:a16="http://schemas.microsoft.com/office/drawing/2014/main" id="{00A7C251-ED57-0940-E495-30FC0DD32FC9}"/>
                  </a:ext>
                </a:extLst>
              </p:cNvPr>
              <p:cNvSpPr txBox="1"/>
              <p:nvPr/>
            </p:nvSpPr>
            <p:spPr>
              <a:xfrm>
                <a:off x="991912" y="3616023"/>
                <a:ext cx="3720890" cy="261610"/>
              </a:xfrm>
              <a:prstGeom prst="rect">
                <a:avLst/>
              </a:prstGeom>
              <a:noFill/>
            </p:spPr>
            <p:txBody>
              <a:bodyPr wrap="none" rtlCol="0">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r>
                  <a:rPr lang="en-US" sz="800" dirty="0"/>
                  <a:t>Code          Issues          </a:t>
                </a:r>
                <a:r>
                  <a:rPr lang="en-US" sz="1100" b="1" dirty="0"/>
                  <a:t>Pull Requests          </a:t>
                </a:r>
                <a:r>
                  <a:rPr lang="en-US" sz="800" dirty="0"/>
                  <a:t>Actions          Wiki          Security  </a:t>
                </a:r>
              </a:p>
            </p:txBody>
          </p:sp>
          <p:cxnSp>
            <p:nvCxnSpPr>
              <p:cNvPr id="452" name="Straight Connector 451">
                <a:extLst>
                  <a:ext uri="{FF2B5EF4-FFF2-40B4-BE49-F238E27FC236}">
                    <a16:creationId xmlns:a16="http://schemas.microsoft.com/office/drawing/2014/main" id="{EA1D7185-1ED9-74F8-49C7-78AD1AC34829}"/>
                  </a:ext>
                </a:extLst>
              </p:cNvPr>
              <p:cNvCxnSpPr>
                <a:cxnSpLocks/>
              </p:cNvCxnSpPr>
              <p:nvPr/>
            </p:nvCxnSpPr>
            <p:spPr>
              <a:xfrm>
                <a:off x="870417" y="3877633"/>
                <a:ext cx="3842385" cy="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53" name="Use headers, colors, and/or backgrounds to separate or group together sections.">
                <a:extLst>
                  <a:ext uri="{FF2B5EF4-FFF2-40B4-BE49-F238E27FC236}">
                    <a16:creationId xmlns:a16="http://schemas.microsoft.com/office/drawing/2014/main" id="{76BE5EDD-04C2-A574-7781-23838428F469}"/>
                  </a:ext>
                </a:extLst>
              </p:cNvPr>
              <p:cNvSpPr txBox="1"/>
              <p:nvPr/>
            </p:nvSpPr>
            <p:spPr>
              <a:xfrm>
                <a:off x="1455985" y="3883746"/>
                <a:ext cx="1356960" cy="2562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lc="http://schemas.openxmlformats.org/drawingml/2006/lockedCanvas" val="1"/>
                </a:ext>
              </a:extLst>
            </p:spPr>
            <p:txBody>
              <a:bodyPr wrap="square" lIns="54570" tIns="54570" rIns="54570" bIns="5457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a:lnSpc>
                    <a:spcPct val="90000"/>
                  </a:lnSpc>
                  <a:buSzPts val="3700"/>
                </a:pPr>
                <a:r>
                  <a:rPr lang="en-US" b="0" dirty="0">
                    <a:latin typeface="Source Sans Pro" panose="020B0503030403020204" pitchFamily="34" charset="0"/>
                    <a:ea typeface="Source Sans Pro" panose="020B0503030403020204" pitchFamily="34" charset="0"/>
                    <a:cs typeface="Arial" panose="020B0604020202020204" pitchFamily="34" charset="0"/>
                  </a:rPr>
                  <a:t>Pull Request #330</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8"/>
                </a:endParaRPr>
              </a:p>
              <a:p>
                <a:pPr lvl="0">
                  <a:lnSpc>
                    <a:spcPct val="90000"/>
                  </a:lnSpc>
                  <a:buSzPts val="3700"/>
                </a:pP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8"/>
                </a:endParaRPr>
              </a:p>
            </p:txBody>
          </p:sp>
          <p:pic>
            <p:nvPicPr>
              <p:cNvPr id="454" name="Google Shape;214;p15">
                <a:extLst>
                  <a:ext uri="{FF2B5EF4-FFF2-40B4-BE49-F238E27FC236}">
                    <a16:creationId xmlns:a16="http://schemas.microsoft.com/office/drawing/2014/main" id="{C63B70E7-4213-9F3B-A7C9-A9DAED8D51B1}"/>
                  </a:ext>
                </a:extLst>
              </p:cNvPr>
              <p:cNvPicPr preferRelativeResize="0"/>
              <p:nvPr/>
            </p:nvPicPr>
            <p:blipFill>
              <a:blip r:embed="rId9">
                <a:alphaModFix/>
              </a:blip>
              <a:stretch>
                <a:fillRect/>
              </a:stretch>
            </p:blipFill>
            <p:spPr>
              <a:xfrm>
                <a:off x="914022" y="4784929"/>
                <a:ext cx="476766" cy="456900"/>
              </a:xfrm>
              <a:prstGeom prst="rect">
                <a:avLst/>
              </a:prstGeom>
              <a:noFill/>
              <a:ln>
                <a:noFill/>
              </a:ln>
            </p:spPr>
          </p:pic>
          <p:sp>
            <p:nvSpPr>
              <p:cNvPr id="455" name="Google Shape;216;p15">
                <a:extLst>
                  <a:ext uri="{FF2B5EF4-FFF2-40B4-BE49-F238E27FC236}">
                    <a16:creationId xmlns:a16="http://schemas.microsoft.com/office/drawing/2014/main" id="{12061496-15A8-21CD-8A4A-5FEB69CBC23F}"/>
                  </a:ext>
                </a:extLst>
              </p:cNvPr>
              <p:cNvSpPr/>
              <p:nvPr/>
            </p:nvSpPr>
            <p:spPr>
              <a:xfrm>
                <a:off x="1469668" y="4973530"/>
                <a:ext cx="3025431" cy="652091"/>
              </a:xfrm>
              <a:prstGeom prst="rect">
                <a:avLst/>
              </a:prstGeom>
              <a:solidFill>
                <a:schemeClr val="lt1"/>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sp>
            <p:nvSpPr>
              <p:cNvPr id="456" name="Google Shape;215;p15">
                <a:extLst>
                  <a:ext uri="{FF2B5EF4-FFF2-40B4-BE49-F238E27FC236}">
                    <a16:creationId xmlns:a16="http://schemas.microsoft.com/office/drawing/2014/main" id="{D82BD72B-0048-2123-5613-CAC9CFC7A3E4}"/>
                  </a:ext>
                </a:extLst>
              </p:cNvPr>
              <p:cNvSpPr/>
              <p:nvPr/>
            </p:nvSpPr>
            <p:spPr>
              <a:xfrm>
                <a:off x="1467748" y="4759190"/>
                <a:ext cx="3025431" cy="232375"/>
              </a:xfrm>
              <a:prstGeom prst="rect">
                <a:avLst/>
              </a:prstGeom>
              <a:solidFill>
                <a:schemeClr val="lt2"/>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839" dirty="0"/>
              </a:p>
              <a:p>
                <a:pPr>
                  <a:spcBef>
                    <a:spcPts val="0"/>
                  </a:spcBef>
                </a:pPr>
                <a:endParaRPr sz="839" dirty="0"/>
              </a:p>
              <a:p>
                <a:pPr>
                  <a:spcBef>
                    <a:spcPts val="0"/>
                  </a:spcBef>
                </a:pPr>
                <a:r>
                  <a:rPr lang="en" sz="839" dirty="0">
                    <a:solidFill>
                      <a:schemeClr val="tx1">
                        <a:lumMod val="50000"/>
                      </a:schemeClr>
                    </a:solidFill>
                  </a:rPr>
                  <a:t>Codecov </a:t>
                </a:r>
                <a:r>
                  <a:rPr lang="en" sz="839" b="0" dirty="0">
                    <a:solidFill>
                      <a:schemeClr val="tx1">
                        <a:lumMod val="50000"/>
                      </a:schemeClr>
                    </a:solidFill>
                  </a:rPr>
                  <a:t>commented on Mar 27</a:t>
                </a:r>
                <a:endParaRPr sz="839" b="0" dirty="0">
                  <a:solidFill>
                    <a:schemeClr val="tx1">
                      <a:lumMod val="50000"/>
                    </a:schemeClr>
                  </a:solidFill>
                </a:endParaRPr>
              </a:p>
              <a:p>
                <a:pPr>
                  <a:spcBef>
                    <a:spcPts val="0"/>
                  </a:spcBef>
                </a:pPr>
                <a:endParaRPr sz="1956" dirty="0"/>
              </a:p>
            </p:txBody>
          </p:sp>
          <p:sp>
            <p:nvSpPr>
              <p:cNvPr id="457" name="Google Shape;217;p15">
                <a:extLst>
                  <a:ext uri="{FF2B5EF4-FFF2-40B4-BE49-F238E27FC236}">
                    <a16:creationId xmlns:a16="http://schemas.microsoft.com/office/drawing/2014/main" id="{B15FA595-B6A2-D61D-9831-6CA93BCF8B97}"/>
                  </a:ext>
                </a:extLst>
              </p:cNvPr>
              <p:cNvSpPr txBox="1"/>
              <p:nvPr/>
            </p:nvSpPr>
            <p:spPr>
              <a:xfrm>
                <a:off x="1396836" y="4941265"/>
                <a:ext cx="2116583" cy="554125"/>
              </a:xfrm>
              <a:prstGeom prst="rect">
                <a:avLst/>
              </a:prstGeom>
              <a:noFill/>
              <a:ln>
                <a:noFill/>
              </a:ln>
            </p:spPr>
            <p:txBody>
              <a:bodyPr spcFirstLastPara="1" wrap="square" lIns="127722" tIns="127722" rIns="127722" bIns="127722" anchor="t" anchorCtr="0">
                <a:noAutofit/>
              </a:bodyPr>
              <a:lstStyle/>
              <a:p>
                <a:pPr>
                  <a:spcBef>
                    <a:spcPts val="0"/>
                  </a:spcBef>
                </a:pPr>
                <a:r>
                  <a:rPr lang="en" sz="839" dirty="0">
                    <a:solidFill>
                      <a:srgbClr val="1F2328"/>
                    </a:solidFill>
                    <a:highlight>
                      <a:srgbClr val="FFFFFF"/>
                    </a:highlight>
                  </a:rPr>
                  <a:t>❌ Patch coverage is…</a:t>
                </a:r>
                <a:endParaRPr sz="839" dirty="0">
                  <a:solidFill>
                    <a:srgbClr val="1F2328"/>
                  </a:solidFill>
                  <a:highlight>
                    <a:srgbClr val="FFFFFF"/>
                  </a:highlight>
                </a:endParaRPr>
              </a:p>
              <a:p>
                <a:pPr>
                  <a:spcBef>
                    <a:spcPts val="0"/>
                  </a:spcBef>
                </a:pPr>
                <a:r>
                  <a:rPr lang="en" sz="839" dirty="0">
                    <a:solidFill>
                      <a:srgbClr val="1F2328"/>
                    </a:solidFill>
                    <a:highlight>
                      <a:srgbClr val="FFFFFF"/>
                    </a:highlight>
                  </a:rPr>
                  <a:t>✅ Project coverage is…</a:t>
                </a:r>
                <a:endParaRPr sz="839" dirty="0">
                  <a:solidFill>
                    <a:srgbClr val="1F2328"/>
                  </a:solidFill>
                  <a:highlight>
                    <a:srgbClr val="FFFFFF"/>
                  </a:highlight>
                </a:endParaRPr>
              </a:p>
              <a:p>
                <a:pPr>
                  <a:spcBef>
                    <a:spcPts val="0"/>
                  </a:spcBef>
                </a:pPr>
                <a:r>
                  <a:rPr lang="en" sz="839" dirty="0">
                    <a:solidFill>
                      <a:srgbClr val="1F2328"/>
                    </a:solidFill>
                    <a:highlight>
                      <a:srgbClr val="FFFFFF"/>
                    </a:highlight>
                  </a:rPr>
                  <a:t>⚠️ Report is…</a:t>
                </a:r>
                <a:endParaRPr sz="839" dirty="0">
                  <a:solidFill>
                    <a:srgbClr val="1F2328"/>
                  </a:solidFill>
                  <a:highlight>
                    <a:srgbClr val="FFFFFF"/>
                  </a:highlight>
                </a:endParaRPr>
              </a:p>
            </p:txBody>
          </p:sp>
          <p:pic>
            <p:nvPicPr>
              <p:cNvPr id="458" name="Google Shape;227;p15">
                <a:extLst>
                  <a:ext uri="{FF2B5EF4-FFF2-40B4-BE49-F238E27FC236}">
                    <a16:creationId xmlns:a16="http://schemas.microsoft.com/office/drawing/2014/main" id="{EBEA5897-6D09-2F5B-C800-BF988A8D4E4B}"/>
                  </a:ext>
                </a:extLst>
              </p:cNvPr>
              <p:cNvPicPr preferRelativeResize="0"/>
              <p:nvPr/>
            </p:nvPicPr>
            <p:blipFill>
              <a:blip r:embed="rId10">
                <a:alphaModFix/>
              </a:blip>
              <a:stretch>
                <a:fillRect/>
              </a:stretch>
            </p:blipFill>
            <p:spPr>
              <a:xfrm>
                <a:off x="955980" y="5812064"/>
                <a:ext cx="476772" cy="434075"/>
              </a:xfrm>
              <a:prstGeom prst="rect">
                <a:avLst/>
              </a:prstGeom>
              <a:noFill/>
              <a:ln>
                <a:noFill/>
              </a:ln>
            </p:spPr>
          </p:pic>
          <p:pic>
            <p:nvPicPr>
              <p:cNvPr id="459" name="Google Shape;206;p15">
                <a:extLst>
                  <a:ext uri="{FF2B5EF4-FFF2-40B4-BE49-F238E27FC236}">
                    <a16:creationId xmlns:a16="http://schemas.microsoft.com/office/drawing/2014/main" id="{606A36D7-07FD-2D23-4A3D-1650A4346AB1}"/>
                  </a:ext>
                </a:extLst>
              </p:cNvPr>
              <p:cNvPicPr preferRelativeResize="0"/>
              <p:nvPr/>
            </p:nvPicPr>
            <p:blipFill rotWithShape="1">
              <a:blip r:embed="rId11">
                <a:alphaModFix/>
              </a:blip>
              <a:srcRect r="56805" b="59527"/>
              <a:stretch/>
            </p:blipFill>
            <p:spPr>
              <a:xfrm>
                <a:off x="1474313" y="8180149"/>
                <a:ext cx="3020786" cy="737988"/>
              </a:xfrm>
              <a:prstGeom prst="rect">
                <a:avLst/>
              </a:prstGeom>
              <a:noFill/>
              <a:ln>
                <a:noFill/>
              </a:ln>
            </p:spPr>
          </p:pic>
          <p:pic>
            <p:nvPicPr>
              <p:cNvPr id="460" name="Google Shape;207;p15">
                <a:extLst>
                  <a:ext uri="{FF2B5EF4-FFF2-40B4-BE49-F238E27FC236}">
                    <a16:creationId xmlns:a16="http://schemas.microsoft.com/office/drawing/2014/main" id="{809673CF-C180-088D-33DB-EB717F2592E6}"/>
                  </a:ext>
                </a:extLst>
              </p:cNvPr>
              <p:cNvPicPr preferRelativeResize="0"/>
              <p:nvPr/>
            </p:nvPicPr>
            <p:blipFill rotWithShape="1">
              <a:blip r:embed="rId12">
                <a:alphaModFix/>
              </a:blip>
              <a:srcRect r="49675"/>
              <a:stretch/>
            </p:blipFill>
            <p:spPr>
              <a:xfrm>
                <a:off x="1466614" y="7582857"/>
                <a:ext cx="3053268" cy="585347"/>
              </a:xfrm>
              <a:prstGeom prst="rect">
                <a:avLst/>
              </a:prstGeom>
              <a:noFill/>
              <a:ln>
                <a:noFill/>
              </a:ln>
            </p:spPr>
          </p:pic>
          <p:pic>
            <p:nvPicPr>
              <p:cNvPr id="461" name="Google Shape;208;p15">
                <a:extLst>
                  <a:ext uri="{FF2B5EF4-FFF2-40B4-BE49-F238E27FC236}">
                    <a16:creationId xmlns:a16="http://schemas.microsoft.com/office/drawing/2014/main" id="{505D2337-CC17-7DBC-0097-AC511BC5F73D}"/>
                  </a:ext>
                </a:extLst>
              </p:cNvPr>
              <p:cNvPicPr preferRelativeResize="0"/>
              <p:nvPr/>
            </p:nvPicPr>
            <p:blipFill rotWithShape="1">
              <a:blip r:embed="rId11">
                <a:alphaModFix/>
              </a:blip>
              <a:srcRect r="51536" b="66346"/>
              <a:stretch/>
            </p:blipFill>
            <p:spPr>
              <a:xfrm>
                <a:off x="1478995" y="6325833"/>
                <a:ext cx="3018340" cy="1245849"/>
              </a:xfrm>
              <a:prstGeom prst="rect">
                <a:avLst/>
              </a:prstGeom>
              <a:noFill/>
              <a:ln>
                <a:noFill/>
              </a:ln>
            </p:spPr>
          </p:pic>
          <p:pic>
            <p:nvPicPr>
              <p:cNvPr id="462" name="Google Shape;226;p15">
                <a:extLst>
                  <a:ext uri="{FF2B5EF4-FFF2-40B4-BE49-F238E27FC236}">
                    <a16:creationId xmlns:a16="http://schemas.microsoft.com/office/drawing/2014/main" id="{9346FDBA-7F5E-F9BC-6175-F5489B92FCFB}"/>
                  </a:ext>
                </a:extLst>
              </p:cNvPr>
              <p:cNvPicPr preferRelativeResize="0"/>
              <p:nvPr/>
            </p:nvPicPr>
            <p:blipFill>
              <a:blip r:embed="rId13">
                <a:alphaModFix/>
              </a:blip>
              <a:stretch>
                <a:fillRect/>
              </a:stretch>
            </p:blipFill>
            <p:spPr>
              <a:xfrm>
                <a:off x="1520465" y="5876512"/>
                <a:ext cx="418118" cy="397419"/>
              </a:xfrm>
              <a:prstGeom prst="rect">
                <a:avLst/>
              </a:prstGeom>
              <a:noFill/>
              <a:ln>
                <a:noFill/>
              </a:ln>
            </p:spPr>
          </p:pic>
          <p:sp>
            <p:nvSpPr>
              <p:cNvPr id="463" name="Google Shape;228;p15">
                <a:extLst>
                  <a:ext uri="{FF2B5EF4-FFF2-40B4-BE49-F238E27FC236}">
                    <a16:creationId xmlns:a16="http://schemas.microsoft.com/office/drawing/2014/main" id="{90CC3109-0E3B-8304-E2FE-1897C959968C}"/>
                  </a:ext>
                </a:extLst>
              </p:cNvPr>
              <p:cNvSpPr txBox="1"/>
              <p:nvPr/>
            </p:nvSpPr>
            <p:spPr>
              <a:xfrm>
                <a:off x="1866920" y="5853986"/>
                <a:ext cx="1995583" cy="204417"/>
              </a:xfrm>
              <a:prstGeom prst="rect">
                <a:avLst/>
              </a:prstGeom>
              <a:noFill/>
              <a:ln>
                <a:noFill/>
              </a:ln>
            </p:spPr>
            <p:txBody>
              <a:bodyPr spcFirstLastPara="1" wrap="square" lIns="127722" tIns="127722" rIns="127722" bIns="127722" anchor="t" anchorCtr="0">
                <a:noAutofit/>
              </a:bodyPr>
              <a:lstStyle/>
              <a:p>
                <a:pPr>
                  <a:spcBef>
                    <a:spcPts val="0"/>
                  </a:spcBef>
                </a:pPr>
                <a:r>
                  <a:rPr lang="en" sz="1117" dirty="0">
                    <a:solidFill>
                      <a:schemeClr val="dk1"/>
                    </a:solidFill>
                  </a:rPr>
                  <a:t>Changes Reviewed</a:t>
                </a:r>
                <a:endParaRPr sz="1117" dirty="0">
                  <a:solidFill>
                    <a:schemeClr val="dk1"/>
                  </a:solidFill>
                </a:endParaRPr>
              </a:p>
            </p:txBody>
          </p:sp>
          <p:cxnSp>
            <p:nvCxnSpPr>
              <p:cNvPr id="464" name="Google Shape;229;p15">
                <a:extLst>
                  <a:ext uri="{FF2B5EF4-FFF2-40B4-BE49-F238E27FC236}">
                    <a16:creationId xmlns:a16="http://schemas.microsoft.com/office/drawing/2014/main" id="{8315A61F-7DB5-0B65-6CB4-7DF09BEC763B}"/>
                  </a:ext>
                </a:extLst>
              </p:cNvPr>
              <p:cNvCxnSpPr/>
              <p:nvPr/>
            </p:nvCxnSpPr>
            <p:spPr>
              <a:xfrm>
                <a:off x="1467748" y="6324819"/>
                <a:ext cx="3040125" cy="0"/>
              </a:xfrm>
              <a:prstGeom prst="straightConnector1">
                <a:avLst/>
              </a:prstGeom>
              <a:noFill/>
              <a:ln w="8700" cap="flat" cmpd="sng">
                <a:solidFill>
                  <a:schemeClr val="dk2"/>
                </a:solidFill>
                <a:prstDash val="solid"/>
                <a:round/>
                <a:headEnd type="none" w="med" len="med"/>
                <a:tailEnd type="none" w="med" len="med"/>
              </a:ln>
            </p:spPr>
          </p:cxnSp>
          <p:pic>
            <p:nvPicPr>
              <p:cNvPr id="465" name="Google Shape;230;p15">
                <a:extLst>
                  <a:ext uri="{FF2B5EF4-FFF2-40B4-BE49-F238E27FC236}">
                    <a16:creationId xmlns:a16="http://schemas.microsoft.com/office/drawing/2014/main" id="{F2C8F05D-81CE-3F01-678C-AAC6BBF5BCCD}"/>
                  </a:ext>
                </a:extLst>
              </p:cNvPr>
              <p:cNvPicPr preferRelativeResize="0"/>
              <p:nvPr/>
            </p:nvPicPr>
            <p:blipFill>
              <a:blip r:embed="rId14">
                <a:alphaModFix/>
              </a:blip>
              <a:stretch>
                <a:fillRect/>
              </a:stretch>
            </p:blipFill>
            <p:spPr>
              <a:xfrm>
                <a:off x="1576377" y="6953035"/>
                <a:ext cx="233220" cy="273781"/>
              </a:xfrm>
              <a:prstGeom prst="rect">
                <a:avLst/>
              </a:prstGeom>
              <a:noFill/>
              <a:ln>
                <a:noFill/>
              </a:ln>
            </p:spPr>
          </p:pic>
          <p:pic>
            <p:nvPicPr>
              <p:cNvPr id="466" name="Google Shape;231;p15">
                <a:extLst>
                  <a:ext uri="{FF2B5EF4-FFF2-40B4-BE49-F238E27FC236}">
                    <a16:creationId xmlns:a16="http://schemas.microsoft.com/office/drawing/2014/main" id="{2B4B3EA0-FDFC-5CDD-A83C-930EE6172F2D}"/>
                  </a:ext>
                </a:extLst>
              </p:cNvPr>
              <p:cNvPicPr preferRelativeResize="0"/>
              <p:nvPr/>
            </p:nvPicPr>
            <p:blipFill>
              <a:blip r:embed="rId11">
                <a:alphaModFix/>
              </a:blip>
              <a:stretch>
                <a:fillRect/>
              </a:stretch>
            </p:blipFill>
            <p:spPr>
              <a:xfrm>
                <a:off x="1530785" y="6396970"/>
                <a:ext cx="288926" cy="211878"/>
              </a:xfrm>
              <a:prstGeom prst="rect">
                <a:avLst/>
              </a:prstGeom>
              <a:noFill/>
              <a:ln>
                <a:noFill/>
              </a:ln>
            </p:spPr>
          </p:pic>
          <p:pic>
            <p:nvPicPr>
              <p:cNvPr id="467" name="Google Shape;232;p15">
                <a:extLst>
                  <a:ext uri="{FF2B5EF4-FFF2-40B4-BE49-F238E27FC236}">
                    <a16:creationId xmlns:a16="http://schemas.microsoft.com/office/drawing/2014/main" id="{F9D8D0E4-5CB7-75C2-4260-49B987F8800B}"/>
                  </a:ext>
                </a:extLst>
              </p:cNvPr>
              <p:cNvPicPr preferRelativeResize="0"/>
              <p:nvPr/>
            </p:nvPicPr>
            <p:blipFill>
              <a:blip r:embed="rId15">
                <a:alphaModFix/>
              </a:blip>
              <a:stretch>
                <a:fillRect/>
              </a:stretch>
            </p:blipFill>
            <p:spPr>
              <a:xfrm>
                <a:off x="1523888" y="6653098"/>
                <a:ext cx="275348" cy="232624"/>
              </a:xfrm>
              <a:prstGeom prst="rect">
                <a:avLst/>
              </a:prstGeom>
              <a:noFill/>
              <a:ln>
                <a:noFill/>
              </a:ln>
            </p:spPr>
          </p:pic>
          <p:pic>
            <p:nvPicPr>
              <p:cNvPr id="468" name="Google Shape;233;p15">
                <a:extLst>
                  <a:ext uri="{FF2B5EF4-FFF2-40B4-BE49-F238E27FC236}">
                    <a16:creationId xmlns:a16="http://schemas.microsoft.com/office/drawing/2014/main" id="{8021F478-1F10-8119-F5DC-538003B3C142}"/>
                  </a:ext>
                </a:extLst>
              </p:cNvPr>
              <p:cNvPicPr preferRelativeResize="0"/>
              <p:nvPr/>
            </p:nvPicPr>
            <p:blipFill>
              <a:blip r:embed="rId16">
                <a:alphaModFix/>
              </a:blip>
              <a:stretch>
                <a:fillRect/>
              </a:stretch>
            </p:blipFill>
            <p:spPr>
              <a:xfrm>
                <a:off x="1546046" y="8251899"/>
                <a:ext cx="253223" cy="282442"/>
              </a:xfrm>
              <a:prstGeom prst="rect">
                <a:avLst/>
              </a:prstGeom>
              <a:noFill/>
              <a:ln>
                <a:noFill/>
              </a:ln>
            </p:spPr>
          </p:pic>
          <p:sp>
            <p:nvSpPr>
              <p:cNvPr id="469" name="Google Shape;234;p15">
                <a:extLst>
                  <a:ext uri="{FF2B5EF4-FFF2-40B4-BE49-F238E27FC236}">
                    <a16:creationId xmlns:a16="http://schemas.microsoft.com/office/drawing/2014/main" id="{E7B38E0C-16A6-90D3-F3AA-D78ADBC4D2B2}"/>
                  </a:ext>
                </a:extLst>
              </p:cNvPr>
              <p:cNvSpPr/>
              <p:nvPr/>
            </p:nvSpPr>
            <p:spPr>
              <a:xfrm>
                <a:off x="1629407" y="8282439"/>
                <a:ext cx="2788500" cy="232375"/>
              </a:xfrm>
              <a:prstGeom prst="rect">
                <a:avLst/>
              </a:prstGeom>
              <a:noFill/>
              <a:ln>
                <a:noFill/>
              </a:ln>
            </p:spPr>
            <p:txBody>
              <a:bodyPr spcFirstLastPara="1" wrap="square" lIns="127722" tIns="127722" rIns="127722" bIns="127722" anchor="ctr" anchorCtr="0">
                <a:noAutofit/>
              </a:bodyPr>
              <a:lstStyle/>
              <a:p>
                <a:pPr>
                  <a:spcBef>
                    <a:spcPts val="0"/>
                  </a:spcBef>
                  <a:buClr>
                    <a:schemeClr val="dk1"/>
                  </a:buClr>
                  <a:buSzPts val="1006"/>
                </a:pPr>
                <a:r>
                  <a:rPr lang="en" sz="839">
                    <a:solidFill>
                      <a:schemeClr val="dk1"/>
                    </a:solidFill>
                  </a:rPr>
                  <a:t>   </a:t>
                </a:r>
                <a:r>
                  <a:rPr lang="en" sz="839">
                    <a:solidFill>
                      <a:srgbClr val="1F2328"/>
                    </a:solidFill>
                  </a:rPr>
                  <a:t>           test-coverage/test-coverage(4.4)</a:t>
                </a:r>
                <a:endParaRPr sz="1956"/>
              </a:p>
            </p:txBody>
          </p:sp>
          <p:sp>
            <p:nvSpPr>
              <p:cNvPr id="470" name="Google Shape;235;p15">
                <a:extLst>
                  <a:ext uri="{FF2B5EF4-FFF2-40B4-BE49-F238E27FC236}">
                    <a16:creationId xmlns:a16="http://schemas.microsoft.com/office/drawing/2014/main" id="{121477E0-F42C-E987-1C5C-0C98220BB0BD}"/>
                  </a:ext>
                </a:extLst>
              </p:cNvPr>
              <p:cNvSpPr/>
              <p:nvPr/>
            </p:nvSpPr>
            <p:spPr>
              <a:xfrm>
                <a:off x="1629374" y="8621717"/>
                <a:ext cx="2788500" cy="232375"/>
              </a:xfrm>
              <a:prstGeom prst="rect">
                <a:avLst/>
              </a:prstGeom>
              <a:noFill/>
              <a:ln>
                <a:noFill/>
              </a:ln>
            </p:spPr>
            <p:txBody>
              <a:bodyPr spcFirstLastPara="1" wrap="square" lIns="127722" tIns="127722" rIns="127722" bIns="127722" anchor="ctr" anchorCtr="0">
                <a:noAutofit/>
              </a:bodyPr>
              <a:lstStyle/>
              <a:p>
                <a:pPr>
                  <a:spcBef>
                    <a:spcPts val="0"/>
                  </a:spcBef>
                </a:pPr>
                <a:r>
                  <a:rPr lang="en" sz="839"/>
                  <a:t>              R-CMD-check</a:t>
                </a:r>
                <a:endParaRPr sz="839"/>
              </a:p>
            </p:txBody>
          </p:sp>
          <p:sp>
            <p:nvSpPr>
              <p:cNvPr id="471" name="Google Shape;236;p15">
                <a:extLst>
                  <a:ext uri="{FF2B5EF4-FFF2-40B4-BE49-F238E27FC236}">
                    <a16:creationId xmlns:a16="http://schemas.microsoft.com/office/drawing/2014/main" id="{27091BD0-87EB-42F8-10B5-E7020928D000}"/>
                  </a:ext>
                </a:extLst>
              </p:cNvPr>
              <p:cNvSpPr/>
              <p:nvPr/>
            </p:nvSpPr>
            <p:spPr>
              <a:xfrm>
                <a:off x="1830220" y="8318797"/>
                <a:ext cx="165458" cy="16270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bg2">
                      <a:lumMod val="10000"/>
                    </a:schemeClr>
                  </a:solidFill>
                </a:endParaRPr>
              </a:p>
            </p:txBody>
          </p:sp>
          <p:sp>
            <p:nvSpPr>
              <p:cNvPr id="472" name="Google Shape;237;p15">
                <a:extLst>
                  <a:ext uri="{FF2B5EF4-FFF2-40B4-BE49-F238E27FC236}">
                    <a16:creationId xmlns:a16="http://schemas.microsoft.com/office/drawing/2014/main" id="{E5E81029-ED10-1039-A0B5-CE34664CC7EC}"/>
                  </a:ext>
                </a:extLst>
              </p:cNvPr>
              <p:cNvSpPr txBox="1"/>
              <p:nvPr/>
            </p:nvSpPr>
            <p:spPr>
              <a:xfrm>
                <a:off x="1729524" y="8229908"/>
                <a:ext cx="416167" cy="232375"/>
              </a:xfrm>
              <a:prstGeom prst="rect">
                <a:avLst/>
              </a:prstGeom>
              <a:noFill/>
              <a:ln>
                <a:noFill/>
              </a:ln>
            </p:spPr>
            <p:txBody>
              <a:bodyPr spcFirstLastPara="1" wrap="square" lIns="127722" tIns="127722" rIns="127722" bIns="127722" anchor="t" anchorCtr="0">
                <a:noAutofit/>
              </a:bodyPr>
              <a:lstStyle/>
              <a:p>
                <a:pPr>
                  <a:spcBef>
                    <a:spcPts val="0"/>
                  </a:spcBef>
                </a:pPr>
                <a:r>
                  <a:rPr lang="en" sz="698" dirty="0">
                    <a:solidFill>
                      <a:schemeClr val="lt1"/>
                    </a:solidFill>
                  </a:rPr>
                  <a:t>GH</a:t>
                </a:r>
                <a:endParaRPr sz="698" dirty="0">
                  <a:solidFill>
                    <a:schemeClr val="lt1"/>
                  </a:solidFill>
                </a:endParaRPr>
              </a:p>
            </p:txBody>
          </p:sp>
          <p:sp>
            <p:nvSpPr>
              <p:cNvPr id="473" name="Google Shape;238;p15">
                <a:extLst>
                  <a:ext uri="{FF2B5EF4-FFF2-40B4-BE49-F238E27FC236}">
                    <a16:creationId xmlns:a16="http://schemas.microsoft.com/office/drawing/2014/main" id="{A1C9F53B-D3A1-44E1-34CF-3330C92DA076}"/>
                  </a:ext>
                </a:extLst>
              </p:cNvPr>
              <p:cNvSpPr/>
              <p:nvPr/>
            </p:nvSpPr>
            <p:spPr>
              <a:xfrm>
                <a:off x="1835613" y="8653245"/>
                <a:ext cx="165458" cy="16270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474" name="Google Shape;239;p15">
                <a:extLst>
                  <a:ext uri="{FF2B5EF4-FFF2-40B4-BE49-F238E27FC236}">
                    <a16:creationId xmlns:a16="http://schemas.microsoft.com/office/drawing/2014/main" id="{A3043A41-2891-6734-D16E-31967757B055}"/>
                  </a:ext>
                </a:extLst>
              </p:cNvPr>
              <p:cNvSpPr txBox="1"/>
              <p:nvPr/>
            </p:nvSpPr>
            <p:spPr>
              <a:xfrm>
                <a:off x="1730499" y="8555049"/>
                <a:ext cx="416167" cy="232375"/>
              </a:xfrm>
              <a:prstGeom prst="rect">
                <a:avLst/>
              </a:prstGeom>
              <a:noFill/>
              <a:ln>
                <a:noFill/>
              </a:ln>
            </p:spPr>
            <p:txBody>
              <a:bodyPr spcFirstLastPara="1" wrap="square" lIns="127722" tIns="127722" rIns="127722" bIns="127722" anchor="t" anchorCtr="0">
                <a:noAutofit/>
              </a:bodyPr>
              <a:lstStyle/>
              <a:p>
                <a:pPr>
                  <a:spcBef>
                    <a:spcPts val="0"/>
                  </a:spcBef>
                </a:pPr>
                <a:r>
                  <a:rPr lang="en" sz="698" dirty="0">
                    <a:solidFill>
                      <a:schemeClr val="lt1"/>
                    </a:solidFill>
                  </a:rPr>
                  <a:t>GH</a:t>
                </a:r>
                <a:endParaRPr sz="698" dirty="0">
                  <a:solidFill>
                    <a:schemeClr val="lt1"/>
                  </a:solidFill>
                </a:endParaRPr>
              </a:p>
            </p:txBody>
          </p:sp>
          <p:sp>
            <p:nvSpPr>
              <p:cNvPr id="475" name="Google Shape;240;p15">
                <a:extLst>
                  <a:ext uri="{FF2B5EF4-FFF2-40B4-BE49-F238E27FC236}">
                    <a16:creationId xmlns:a16="http://schemas.microsoft.com/office/drawing/2014/main" id="{5B12758A-695B-8740-009B-32F047D107A8}"/>
                  </a:ext>
                </a:extLst>
              </p:cNvPr>
              <p:cNvSpPr txBox="1"/>
              <p:nvPr/>
            </p:nvSpPr>
            <p:spPr>
              <a:xfrm>
                <a:off x="1694050" y="6325762"/>
                <a:ext cx="970292"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a:solidFill>
                      <a:srgbClr val="999999"/>
                    </a:solidFill>
                  </a:rPr>
                  <a:t>1 approval</a:t>
                </a:r>
                <a:endParaRPr sz="978">
                  <a:solidFill>
                    <a:srgbClr val="999999"/>
                  </a:solidFill>
                </a:endParaRPr>
              </a:p>
              <a:p>
                <a:pPr>
                  <a:spcBef>
                    <a:spcPts val="0"/>
                  </a:spcBef>
                </a:pPr>
                <a:endParaRPr sz="978">
                  <a:solidFill>
                    <a:srgbClr val="999999"/>
                  </a:solidFill>
                </a:endParaRPr>
              </a:p>
              <a:p>
                <a:pPr>
                  <a:spcBef>
                    <a:spcPts val="0"/>
                  </a:spcBef>
                </a:pPr>
                <a:r>
                  <a:rPr lang="en" sz="978">
                    <a:solidFill>
                      <a:srgbClr val="999999"/>
                    </a:solidFill>
                  </a:rPr>
                  <a:t> </a:t>
                </a:r>
                <a:endParaRPr sz="978">
                  <a:solidFill>
                    <a:srgbClr val="999999"/>
                  </a:solidFill>
                </a:endParaRPr>
              </a:p>
            </p:txBody>
          </p:sp>
          <p:sp>
            <p:nvSpPr>
              <p:cNvPr id="476" name="Google Shape;241;p15">
                <a:extLst>
                  <a:ext uri="{FF2B5EF4-FFF2-40B4-BE49-F238E27FC236}">
                    <a16:creationId xmlns:a16="http://schemas.microsoft.com/office/drawing/2014/main" id="{405F16AE-D80A-C531-FA24-268F31076A8F}"/>
                  </a:ext>
                </a:extLst>
              </p:cNvPr>
              <p:cNvSpPr txBox="1"/>
              <p:nvPr/>
            </p:nvSpPr>
            <p:spPr>
              <a:xfrm>
                <a:off x="1707043" y="6907723"/>
                <a:ext cx="1532667"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a:solidFill>
                      <a:srgbClr val="999999"/>
                    </a:solidFill>
                  </a:rPr>
                  <a:t>1 requested change</a:t>
                </a:r>
                <a:endParaRPr sz="978">
                  <a:solidFill>
                    <a:srgbClr val="999999"/>
                  </a:solidFill>
                </a:endParaRPr>
              </a:p>
            </p:txBody>
          </p:sp>
          <p:sp>
            <p:nvSpPr>
              <p:cNvPr id="477" name="Google Shape;242;p15">
                <a:extLst>
                  <a:ext uri="{FF2B5EF4-FFF2-40B4-BE49-F238E27FC236}">
                    <a16:creationId xmlns:a16="http://schemas.microsoft.com/office/drawing/2014/main" id="{2866B405-0E31-DFA6-71CC-1D1EE6CBAC7A}"/>
                  </a:ext>
                </a:extLst>
              </p:cNvPr>
              <p:cNvSpPr txBox="1"/>
              <p:nvPr/>
            </p:nvSpPr>
            <p:spPr>
              <a:xfrm>
                <a:off x="1705960" y="6587163"/>
                <a:ext cx="2640000"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dirty="0">
                    <a:solidFill>
                      <a:schemeClr val="dk1"/>
                    </a:solidFill>
                  </a:rPr>
                  <a:t>Quality Reviewer    </a:t>
                </a:r>
                <a:r>
                  <a:rPr lang="en" sz="839" dirty="0">
                    <a:solidFill>
                      <a:schemeClr val="dk1"/>
                    </a:solidFill>
                  </a:rPr>
                  <a:t> </a:t>
                </a:r>
                <a:r>
                  <a:rPr lang="en" sz="839" dirty="0">
                    <a:solidFill>
                      <a:srgbClr val="999999"/>
                    </a:solidFill>
                  </a:rPr>
                  <a:t> Approved these changes</a:t>
                </a:r>
                <a:endParaRPr sz="839" dirty="0">
                  <a:solidFill>
                    <a:srgbClr val="999999"/>
                  </a:solidFill>
                </a:endParaRPr>
              </a:p>
              <a:p>
                <a:pPr>
                  <a:spcBef>
                    <a:spcPts val="0"/>
                  </a:spcBef>
                </a:pPr>
                <a:endParaRPr sz="978" dirty="0">
                  <a:solidFill>
                    <a:srgbClr val="999999"/>
                  </a:solidFill>
                </a:endParaRPr>
              </a:p>
              <a:p>
                <a:pPr>
                  <a:spcBef>
                    <a:spcPts val="0"/>
                  </a:spcBef>
                </a:pPr>
                <a:r>
                  <a:rPr lang="en" sz="978" dirty="0">
                    <a:solidFill>
                      <a:srgbClr val="999999"/>
                    </a:solidFill>
                  </a:rPr>
                  <a:t> </a:t>
                </a:r>
                <a:endParaRPr sz="978" dirty="0">
                  <a:solidFill>
                    <a:srgbClr val="999999"/>
                  </a:solidFill>
                </a:endParaRPr>
              </a:p>
            </p:txBody>
          </p:sp>
          <p:pic>
            <p:nvPicPr>
              <p:cNvPr id="478" name="Google Shape;243;p15">
                <a:extLst>
                  <a:ext uri="{FF2B5EF4-FFF2-40B4-BE49-F238E27FC236}">
                    <a16:creationId xmlns:a16="http://schemas.microsoft.com/office/drawing/2014/main" id="{FD673D7E-F0BC-76A3-2A3E-10A74BE19954}"/>
                  </a:ext>
                </a:extLst>
              </p:cNvPr>
              <p:cNvPicPr preferRelativeResize="0"/>
              <p:nvPr/>
            </p:nvPicPr>
            <p:blipFill>
              <a:blip r:embed="rId15">
                <a:alphaModFix/>
              </a:blip>
              <a:stretch>
                <a:fillRect/>
              </a:stretch>
            </p:blipFill>
            <p:spPr>
              <a:xfrm>
                <a:off x="1535831" y="7247141"/>
                <a:ext cx="275348" cy="232624"/>
              </a:xfrm>
              <a:prstGeom prst="rect">
                <a:avLst/>
              </a:prstGeom>
              <a:noFill/>
              <a:ln>
                <a:noFill/>
              </a:ln>
            </p:spPr>
          </p:pic>
          <p:sp>
            <p:nvSpPr>
              <p:cNvPr id="479" name="Google Shape;244;p15">
                <a:extLst>
                  <a:ext uri="{FF2B5EF4-FFF2-40B4-BE49-F238E27FC236}">
                    <a16:creationId xmlns:a16="http://schemas.microsoft.com/office/drawing/2014/main" id="{53E06286-4A48-4874-11A2-B95A6E63D977}"/>
                  </a:ext>
                </a:extLst>
              </p:cNvPr>
              <p:cNvSpPr txBox="1"/>
              <p:nvPr/>
            </p:nvSpPr>
            <p:spPr>
              <a:xfrm>
                <a:off x="1703969" y="7146562"/>
                <a:ext cx="2640000"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dirty="0">
                    <a:solidFill>
                      <a:schemeClr val="dk1"/>
                    </a:solidFill>
                  </a:rPr>
                  <a:t>Code Architect    </a:t>
                </a:r>
                <a:r>
                  <a:rPr lang="en" sz="839" dirty="0">
                    <a:solidFill>
                      <a:schemeClr val="dk1"/>
                    </a:solidFill>
                  </a:rPr>
                  <a:t> </a:t>
                </a:r>
                <a:r>
                  <a:rPr lang="en" sz="839" dirty="0">
                    <a:solidFill>
                      <a:srgbClr val="999999"/>
                    </a:solidFill>
                  </a:rPr>
                  <a:t>     Requested changes</a:t>
                </a:r>
                <a:endParaRPr sz="839" dirty="0">
                  <a:solidFill>
                    <a:srgbClr val="999999"/>
                  </a:solidFill>
                </a:endParaRPr>
              </a:p>
              <a:p>
                <a:pPr>
                  <a:spcBef>
                    <a:spcPts val="0"/>
                  </a:spcBef>
                </a:pPr>
                <a:endParaRPr sz="978" dirty="0">
                  <a:solidFill>
                    <a:srgbClr val="999999"/>
                  </a:solidFill>
                </a:endParaRPr>
              </a:p>
              <a:p>
                <a:pPr>
                  <a:spcBef>
                    <a:spcPts val="0"/>
                  </a:spcBef>
                </a:pPr>
                <a:r>
                  <a:rPr lang="en" sz="978" dirty="0">
                    <a:solidFill>
                      <a:srgbClr val="999999"/>
                    </a:solidFill>
                  </a:rPr>
                  <a:t> </a:t>
                </a:r>
                <a:endParaRPr sz="978" dirty="0">
                  <a:solidFill>
                    <a:srgbClr val="999999"/>
                  </a:solidFill>
                </a:endParaRPr>
              </a:p>
            </p:txBody>
          </p:sp>
          <p:cxnSp>
            <p:nvCxnSpPr>
              <p:cNvPr id="480" name="Google Shape;245;p15">
                <a:extLst>
                  <a:ext uri="{FF2B5EF4-FFF2-40B4-BE49-F238E27FC236}">
                    <a16:creationId xmlns:a16="http://schemas.microsoft.com/office/drawing/2014/main" id="{61761190-1EE1-E005-B77C-4299BB9B7006}"/>
                  </a:ext>
                </a:extLst>
              </p:cNvPr>
              <p:cNvCxnSpPr/>
              <p:nvPr/>
            </p:nvCxnSpPr>
            <p:spPr>
              <a:xfrm>
                <a:off x="1477667" y="7575104"/>
                <a:ext cx="3040125" cy="0"/>
              </a:xfrm>
              <a:prstGeom prst="straightConnector1">
                <a:avLst/>
              </a:prstGeom>
              <a:noFill/>
              <a:ln w="8700" cap="flat" cmpd="sng">
                <a:solidFill>
                  <a:schemeClr val="dk2"/>
                </a:solidFill>
                <a:prstDash val="solid"/>
                <a:round/>
                <a:headEnd type="none" w="med" len="med"/>
                <a:tailEnd type="none" w="med" len="med"/>
              </a:ln>
            </p:spPr>
          </p:cxnSp>
          <p:pic>
            <p:nvPicPr>
              <p:cNvPr id="482" name="Google Shape;246;p15">
                <a:extLst>
                  <a:ext uri="{FF2B5EF4-FFF2-40B4-BE49-F238E27FC236}">
                    <a16:creationId xmlns:a16="http://schemas.microsoft.com/office/drawing/2014/main" id="{60FDB78A-3FD6-44F3-5D7C-4DF55255826B}"/>
                  </a:ext>
                </a:extLst>
              </p:cNvPr>
              <p:cNvPicPr preferRelativeResize="0"/>
              <p:nvPr/>
            </p:nvPicPr>
            <p:blipFill>
              <a:blip r:embed="rId11">
                <a:alphaModFix/>
              </a:blip>
              <a:stretch>
                <a:fillRect/>
              </a:stretch>
            </p:blipFill>
            <p:spPr>
              <a:xfrm>
                <a:off x="1529318" y="8636978"/>
                <a:ext cx="288926" cy="211878"/>
              </a:xfrm>
              <a:prstGeom prst="rect">
                <a:avLst/>
              </a:prstGeom>
              <a:noFill/>
              <a:ln>
                <a:noFill/>
              </a:ln>
            </p:spPr>
          </p:pic>
          <p:cxnSp>
            <p:nvCxnSpPr>
              <p:cNvPr id="484" name="Google Shape;247;p15">
                <a:extLst>
                  <a:ext uri="{FF2B5EF4-FFF2-40B4-BE49-F238E27FC236}">
                    <a16:creationId xmlns:a16="http://schemas.microsoft.com/office/drawing/2014/main" id="{D12D02BD-A5D8-BE98-F5C4-DB26CC872CDC}"/>
                  </a:ext>
                </a:extLst>
              </p:cNvPr>
              <p:cNvCxnSpPr/>
              <p:nvPr/>
            </p:nvCxnSpPr>
            <p:spPr>
              <a:xfrm>
                <a:off x="1458389" y="8163071"/>
                <a:ext cx="3040125" cy="0"/>
              </a:xfrm>
              <a:prstGeom prst="straightConnector1">
                <a:avLst/>
              </a:prstGeom>
              <a:noFill/>
              <a:ln w="8700" cap="flat" cmpd="sng">
                <a:solidFill>
                  <a:schemeClr val="dk2"/>
                </a:solidFill>
                <a:prstDash val="solid"/>
                <a:round/>
                <a:headEnd type="none" w="med" len="med"/>
                <a:tailEnd type="none" w="med" len="med"/>
              </a:ln>
            </p:spPr>
          </p:cxnSp>
          <p:pic>
            <p:nvPicPr>
              <p:cNvPr id="485" name="Google Shape;248;p15" title="download.png">
                <a:extLst>
                  <a:ext uri="{FF2B5EF4-FFF2-40B4-BE49-F238E27FC236}">
                    <a16:creationId xmlns:a16="http://schemas.microsoft.com/office/drawing/2014/main" id="{9D04FB6D-9519-B295-BE54-8C1EDF94463C}"/>
                  </a:ext>
                </a:extLst>
              </p:cNvPr>
              <p:cNvPicPr preferRelativeResize="0"/>
              <p:nvPr/>
            </p:nvPicPr>
            <p:blipFill>
              <a:blip r:embed="rId17">
                <a:alphaModFix/>
              </a:blip>
              <a:stretch>
                <a:fillRect/>
              </a:stretch>
            </p:blipFill>
            <p:spPr>
              <a:xfrm>
                <a:off x="1524726" y="8948407"/>
                <a:ext cx="344920" cy="344920"/>
              </a:xfrm>
              <a:prstGeom prst="rect">
                <a:avLst/>
              </a:prstGeom>
              <a:noFill/>
              <a:ln>
                <a:noFill/>
              </a:ln>
            </p:spPr>
          </p:pic>
          <p:sp>
            <p:nvSpPr>
              <p:cNvPr id="488" name="Google Shape;249;p15">
                <a:extLst>
                  <a:ext uri="{FF2B5EF4-FFF2-40B4-BE49-F238E27FC236}">
                    <a16:creationId xmlns:a16="http://schemas.microsoft.com/office/drawing/2014/main" id="{D3119DD6-84E9-ECCD-2EE6-B022BE4C7656}"/>
                  </a:ext>
                </a:extLst>
              </p:cNvPr>
              <p:cNvSpPr txBox="1"/>
              <p:nvPr/>
            </p:nvSpPr>
            <p:spPr>
              <a:xfrm>
                <a:off x="1798191" y="8820046"/>
                <a:ext cx="1821875" cy="348333"/>
              </a:xfrm>
              <a:prstGeom prst="rect">
                <a:avLst/>
              </a:prstGeom>
              <a:noFill/>
              <a:ln>
                <a:noFill/>
              </a:ln>
            </p:spPr>
            <p:txBody>
              <a:bodyPr spcFirstLastPara="1" wrap="square" lIns="127722" tIns="127722" rIns="127722" bIns="127722" anchor="t" anchorCtr="0">
                <a:noAutofit/>
              </a:bodyPr>
              <a:lstStyle/>
              <a:p>
                <a:pPr>
                  <a:spcBef>
                    <a:spcPts val="0"/>
                  </a:spcBef>
                </a:pPr>
                <a:r>
                  <a:rPr lang="en" sz="1257">
                    <a:solidFill>
                      <a:schemeClr val="dk1"/>
                    </a:solidFill>
                  </a:rPr>
                  <a:t>No conflicts with base branch</a:t>
                </a:r>
                <a:endParaRPr sz="1257">
                  <a:solidFill>
                    <a:schemeClr val="dk1"/>
                  </a:solidFill>
                </a:endParaRPr>
              </a:p>
              <a:p>
                <a:pPr>
                  <a:spcBef>
                    <a:spcPts val="0"/>
                  </a:spcBef>
                </a:pPr>
                <a:endParaRPr sz="1257">
                  <a:solidFill>
                    <a:schemeClr val="dk1"/>
                  </a:solidFill>
                </a:endParaRPr>
              </a:p>
            </p:txBody>
          </p:sp>
          <p:cxnSp>
            <p:nvCxnSpPr>
              <p:cNvPr id="489" name="Google Shape;250;p15">
                <a:extLst>
                  <a:ext uri="{FF2B5EF4-FFF2-40B4-BE49-F238E27FC236}">
                    <a16:creationId xmlns:a16="http://schemas.microsoft.com/office/drawing/2014/main" id="{610EA1DE-80A5-9A87-CF63-D7E93D330D2A}"/>
                  </a:ext>
                </a:extLst>
              </p:cNvPr>
              <p:cNvCxnSpPr/>
              <p:nvPr/>
            </p:nvCxnSpPr>
            <p:spPr>
              <a:xfrm>
                <a:off x="1474802" y="8902850"/>
                <a:ext cx="3040125" cy="0"/>
              </a:xfrm>
              <a:prstGeom prst="straightConnector1">
                <a:avLst/>
              </a:prstGeom>
              <a:noFill/>
              <a:ln w="8700" cap="flat" cmpd="sng">
                <a:solidFill>
                  <a:schemeClr val="dk2"/>
                </a:solidFill>
                <a:prstDash val="solid"/>
                <a:round/>
                <a:headEnd type="none" w="med" len="med"/>
                <a:tailEnd type="none" w="med" len="med"/>
              </a:ln>
            </p:spPr>
          </p:cxnSp>
          <p:sp>
            <p:nvSpPr>
              <p:cNvPr id="492" name="Google Shape;216;p15">
                <a:extLst>
                  <a:ext uri="{FF2B5EF4-FFF2-40B4-BE49-F238E27FC236}">
                    <a16:creationId xmlns:a16="http://schemas.microsoft.com/office/drawing/2014/main" id="{8931BA04-C50A-7989-CF2A-3F10665049B6}"/>
                  </a:ext>
                </a:extLst>
              </p:cNvPr>
              <p:cNvSpPr/>
              <p:nvPr/>
            </p:nvSpPr>
            <p:spPr>
              <a:xfrm>
                <a:off x="1466614" y="5802822"/>
                <a:ext cx="3030718" cy="3579582"/>
              </a:xfrm>
              <a:prstGeom prst="rect">
                <a:avLst/>
              </a:prstGeom>
              <a:no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grpSp>
        <p:sp>
          <p:nvSpPr>
            <p:cNvPr id="62" name="Google Shape;215;p15">
              <a:extLst>
                <a:ext uri="{FF2B5EF4-FFF2-40B4-BE49-F238E27FC236}">
                  <a16:creationId xmlns:a16="http://schemas.microsoft.com/office/drawing/2014/main" id="{6F9DABC5-D93A-98AA-BE61-3A021DF78131}"/>
                </a:ext>
              </a:extLst>
            </p:cNvPr>
            <p:cNvSpPr/>
            <p:nvPr/>
          </p:nvSpPr>
          <p:spPr>
            <a:xfrm>
              <a:off x="10139699" y="2716877"/>
              <a:ext cx="3024222" cy="232375"/>
            </a:xfrm>
            <a:prstGeom prst="rect">
              <a:avLst/>
            </a:prstGeom>
            <a:solidFill>
              <a:schemeClr val="lt2"/>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839" dirty="0"/>
            </a:p>
            <a:p>
              <a:pPr>
                <a:spcBef>
                  <a:spcPts val="0"/>
                </a:spcBef>
              </a:pPr>
              <a:endParaRPr sz="839" dirty="0"/>
            </a:p>
            <a:p>
              <a:pPr>
                <a:spcBef>
                  <a:spcPts val="0"/>
                </a:spcBef>
              </a:pPr>
              <a:r>
                <a:rPr lang="en" sz="839" dirty="0">
                  <a:solidFill>
                    <a:schemeClr val="tx1">
                      <a:lumMod val="50000"/>
                    </a:schemeClr>
                  </a:solidFill>
                </a:rPr>
                <a:t>Username </a:t>
              </a:r>
              <a:r>
                <a:rPr lang="en" sz="839" b="0" dirty="0">
                  <a:solidFill>
                    <a:schemeClr val="tx1">
                      <a:lumMod val="50000"/>
                    </a:schemeClr>
                  </a:solidFill>
                </a:rPr>
                <a:t>commented on Mar 15</a:t>
              </a:r>
              <a:endParaRPr sz="839" b="0" dirty="0">
                <a:solidFill>
                  <a:schemeClr val="tx1">
                    <a:lumMod val="50000"/>
                  </a:schemeClr>
                </a:solidFill>
              </a:endParaRPr>
            </a:p>
            <a:p>
              <a:pPr>
                <a:spcBef>
                  <a:spcPts val="0"/>
                </a:spcBef>
              </a:pPr>
              <a:endParaRPr sz="1956" dirty="0"/>
            </a:p>
          </p:txBody>
        </p:sp>
        <p:sp>
          <p:nvSpPr>
            <p:cNvPr id="63" name="Google Shape;216;p15">
              <a:extLst>
                <a:ext uri="{FF2B5EF4-FFF2-40B4-BE49-F238E27FC236}">
                  <a16:creationId xmlns:a16="http://schemas.microsoft.com/office/drawing/2014/main" id="{137AFF29-02ED-EB24-04F5-1F58CAAA151D}"/>
                </a:ext>
              </a:extLst>
            </p:cNvPr>
            <p:cNvSpPr/>
            <p:nvPr/>
          </p:nvSpPr>
          <p:spPr>
            <a:xfrm>
              <a:off x="10139699" y="2949252"/>
              <a:ext cx="3024222" cy="227593"/>
            </a:xfrm>
            <a:prstGeom prst="rect">
              <a:avLst/>
            </a:prstGeom>
            <a:solidFill>
              <a:schemeClr val="lt1"/>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sp>
          <p:nvSpPr>
            <p:cNvPr id="448" name="TextBox 447">
              <a:extLst>
                <a:ext uri="{FF2B5EF4-FFF2-40B4-BE49-F238E27FC236}">
                  <a16:creationId xmlns:a16="http://schemas.microsoft.com/office/drawing/2014/main" id="{75E1EADB-5C9A-CA3B-61AA-137F33265CC9}"/>
                </a:ext>
              </a:extLst>
            </p:cNvPr>
            <p:cNvSpPr txBox="1"/>
            <p:nvPr/>
          </p:nvSpPr>
          <p:spPr>
            <a:xfrm>
              <a:off x="10164572" y="2884290"/>
              <a:ext cx="40900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rPr>
                <a:t>…</a:t>
              </a:r>
            </a:p>
          </p:txBody>
        </p:sp>
      </p:grpSp>
      <p:sp>
        <p:nvSpPr>
          <p:cNvPr id="498" name="Line">
            <a:extLst>
              <a:ext uri="{FF2B5EF4-FFF2-40B4-BE49-F238E27FC236}">
                <a16:creationId xmlns:a16="http://schemas.microsoft.com/office/drawing/2014/main" id="{1475FAB3-7B66-C24F-BB65-9B5E70214FB4}"/>
              </a:ext>
            </a:extLst>
          </p:cNvPr>
          <p:cNvSpPr/>
          <p:nvPr/>
        </p:nvSpPr>
        <p:spPr>
          <a:xfrm flipV="1">
            <a:off x="213255" y="4030267"/>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99" name="Use headers, colors, and/or backgrounds to separate or group together sections.">
            <a:extLst>
              <a:ext uri="{FF2B5EF4-FFF2-40B4-BE49-F238E27FC236}">
                <a16:creationId xmlns:a16="http://schemas.microsoft.com/office/drawing/2014/main" id="{C731E39E-16E8-51D2-4631-5A06E61D8D4D}"/>
              </a:ext>
            </a:extLst>
          </p:cNvPr>
          <p:cNvSpPr txBox="1"/>
          <p:nvPr/>
        </p:nvSpPr>
        <p:spPr>
          <a:xfrm>
            <a:off x="238315" y="4062961"/>
            <a:ext cx="4251862" cy="12736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In order to create easily reproducible tests, Kaiaulu’s R function files contain Fake Data Generation functions. These functions can create fake data, which is utilized in </a:t>
            </a:r>
            <a:r>
              <a:rPr lang="en-US" b="0" dirty="0" err="1">
                <a:latin typeface="Source Sans Pro" panose="020B0503030403020204" pitchFamily="34" charset="0"/>
                <a:ea typeface="Source Sans Pro" panose="020B0503030403020204" pitchFamily="34" charset="0"/>
              </a:rPr>
              <a:t>Example.R</a:t>
            </a:r>
            <a:r>
              <a:rPr lang="en-US" b="0" dirty="0">
                <a:latin typeface="Source Sans Pro" panose="020B0503030403020204" pitchFamily="34" charset="0"/>
                <a:ea typeface="Source Sans Pro" panose="020B0503030403020204" pitchFamily="34" charset="0"/>
              </a:rPr>
              <a:t>. This file contains functions which use the fake data functions to easily reproduce raw data that creates odd behavior in Kaiaulu. This allows the data to be called by the unit tests, which ensure that users will not have to deal with that same erroneous case ever again. </a:t>
            </a:r>
          </a:p>
        </p:txBody>
      </p:sp>
      <p:sp>
        <p:nvSpPr>
          <p:cNvPr id="491" name="Create a visual hierarchy. Help users navigate the page with titles, subtitles, and subsubtitles">
            <a:extLst>
              <a:ext uri="{FF2B5EF4-FFF2-40B4-BE49-F238E27FC236}">
                <a16:creationId xmlns:a16="http://schemas.microsoft.com/office/drawing/2014/main" id="{F2916622-9C9B-117F-E717-83EA7F04A604}"/>
              </a:ext>
            </a:extLst>
          </p:cNvPr>
          <p:cNvSpPr txBox="1"/>
          <p:nvPr/>
        </p:nvSpPr>
        <p:spPr>
          <a:xfrm>
            <a:off x="8264043" y="8100908"/>
            <a:ext cx="1200148"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a:rPr>
              <a:t>Code Architect</a:t>
            </a:r>
            <a:endParaRPr lang="en-US" dirty="0">
              <a:latin typeface="Source Sans Pro" panose="020B0503030403020204" pitchFamily="34" charset="0"/>
              <a:ea typeface="Source Sans Pro" panose="020B0503030403020204" pitchFamily="34" charset="0"/>
              <a:sym typeface="Source Sans Pro"/>
            </a:endParaRPr>
          </a:p>
        </p:txBody>
      </p:sp>
      <p:sp>
        <p:nvSpPr>
          <p:cNvPr id="375" name="Line">
            <a:extLst>
              <a:ext uri="{FF2B5EF4-FFF2-40B4-BE49-F238E27FC236}">
                <a16:creationId xmlns:a16="http://schemas.microsoft.com/office/drawing/2014/main" id="{D33F6E97-18F1-29F8-A5B9-C3FFBB6448B7}"/>
              </a:ext>
            </a:extLst>
          </p:cNvPr>
          <p:cNvSpPr/>
          <p:nvPr/>
        </p:nvSpPr>
        <p:spPr>
          <a:xfrm flipV="1">
            <a:off x="4836193" y="6338304"/>
            <a:ext cx="4318858"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42" name="Create a visual hierarchy. Help users navigate the page with titles, subtitles, and subsubtitles">
            <a:extLst>
              <a:ext uri="{FF2B5EF4-FFF2-40B4-BE49-F238E27FC236}">
                <a16:creationId xmlns:a16="http://schemas.microsoft.com/office/drawing/2014/main" id="{CB9D4A37-FCA5-1A52-47BB-426A1793C049}"/>
              </a:ext>
            </a:extLst>
          </p:cNvPr>
          <p:cNvSpPr txBox="1"/>
          <p:nvPr/>
        </p:nvSpPr>
        <p:spPr>
          <a:xfrm>
            <a:off x="5966355" y="7592221"/>
            <a:ext cx="1603122" cy="4426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Pull Request Created + Commit Pushed</a:t>
            </a:r>
          </a:p>
        </p:txBody>
      </p:sp>
      <p:sp>
        <p:nvSpPr>
          <p:cNvPr id="504" name="Create a visual hierarchy. Help users navigate the page with titles, subtitles, and subsubtitles">
            <a:extLst>
              <a:ext uri="{FF2B5EF4-FFF2-40B4-BE49-F238E27FC236}">
                <a16:creationId xmlns:a16="http://schemas.microsoft.com/office/drawing/2014/main" id="{3117ED2D-D206-32C5-1C31-7FD1FD2925C0}"/>
              </a:ext>
            </a:extLst>
          </p:cNvPr>
          <p:cNvSpPr txBox="1"/>
          <p:nvPr/>
        </p:nvSpPr>
        <p:spPr>
          <a:xfrm>
            <a:off x="5986391" y="8110685"/>
            <a:ext cx="1138332"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GitHub Actions</a:t>
            </a:r>
            <a:endParaRPr lang="en-US" dirty="0">
              <a:latin typeface="Source Sans Pro" panose="020B0503030403020204" pitchFamily="34" charset="0"/>
              <a:ea typeface="Source Sans Pro" panose="020B0503030403020204" pitchFamily="34" charset="0"/>
              <a:sym typeface="Source Sans Pro"/>
            </a:endParaRPr>
          </a:p>
        </p:txBody>
      </p:sp>
      <p:pic>
        <p:nvPicPr>
          <p:cNvPr id="50" name="Picture 49" descr="Account ">
            <a:extLst>
              <a:ext uri="{FF2B5EF4-FFF2-40B4-BE49-F238E27FC236}">
                <a16:creationId xmlns:a16="http://schemas.microsoft.com/office/drawing/2014/main" id="{E603AA57-816C-5A96-EC55-5E7E463227F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580018" y="8330059"/>
            <a:ext cx="306136" cy="306136"/>
          </a:xfrm>
          <a:prstGeom prst="rect">
            <a:avLst/>
          </a:prstGeom>
          <a:noFill/>
          <a:extLst>
            <a:ext uri="{909E8E84-426E-40DD-AFC4-6F175D3DCCD1}">
              <a14:hiddenFill xmlns:a14="http://schemas.microsoft.com/office/drawing/2010/main">
                <a:solidFill>
                  <a:srgbClr val="FFFFFF"/>
                </a:solidFill>
              </a14:hiddenFill>
            </a:ext>
          </a:extLst>
        </p:spPr>
      </p:pic>
      <p:pic>
        <p:nvPicPr>
          <p:cNvPr id="481" name="Google Shape;214;p15">
            <a:extLst>
              <a:ext uri="{FF2B5EF4-FFF2-40B4-BE49-F238E27FC236}">
                <a16:creationId xmlns:a16="http://schemas.microsoft.com/office/drawing/2014/main" id="{378FEC08-5939-1ACB-909D-780B15B10541}"/>
              </a:ext>
            </a:extLst>
          </p:cNvPr>
          <p:cNvPicPr preferRelativeResize="0"/>
          <p:nvPr/>
        </p:nvPicPr>
        <p:blipFill>
          <a:blip r:embed="rId9">
            <a:alphaModFix/>
          </a:blip>
          <a:srcRect l="10328" r="5548" b="12675"/>
          <a:stretch>
            <a:fillRect/>
          </a:stretch>
        </p:blipFill>
        <p:spPr>
          <a:xfrm>
            <a:off x="5442555" y="8281206"/>
            <a:ext cx="401071" cy="398991"/>
          </a:xfrm>
          <a:prstGeom prst="rect">
            <a:avLst/>
          </a:prstGeom>
          <a:noFill/>
          <a:ln>
            <a:noFill/>
          </a:ln>
        </p:spPr>
      </p:pic>
      <p:grpSp>
        <p:nvGrpSpPr>
          <p:cNvPr id="520" name="Group 519">
            <a:extLst>
              <a:ext uri="{FF2B5EF4-FFF2-40B4-BE49-F238E27FC236}">
                <a16:creationId xmlns:a16="http://schemas.microsoft.com/office/drawing/2014/main" id="{CBC1322B-7619-7404-519B-E3C625FF79C5}"/>
              </a:ext>
            </a:extLst>
          </p:cNvPr>
          <p:cNvGrpSpPr/>
          <p:nvPr/>
        </p:nvGrpSpPr>
        <p:grpSpPr>
          <a:xfrm>
            <a:off x="6430077" y="8245501"/>
            <a:ext cx="526129" cy="378927"/>
            <a:chOff x="9474949" y="3367098"/>
            <a:chExt cx="526129" cy="378927"/>
          </a:xfrm>
        </p:grpSpPr>
        <p:sp>
          <p:nvSpPr>
            <p:cNvPr id="486" name="Google Shape;236;p15">
              <a:extLst>
                <a:ext uri="{FF2B5EF4-FFF2-40B4-BE49-F238E27FC236}">
                  <a16:creationId xmlns:a16="http://schemas.microsoft.com/office/drawing/2014/main" id="{0353965C-AEA3-3353-2099-017522ECF6F0}"/>
                </a:ext>
              </a:extLst>
            </p:cNvPr>
            <p:cNvSpPr/>
            <p:nvPr/>
          </p:nvSpPr>
          <p:spPr>
            <a:xfrm>
              <a:off x="9567136" y="3458331"/>
              <a:ext cx="310026" cy="287694"/>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483" name="Google Shape;237;p15">
              <a:extLst>
                <a:ext uri="{FF2B5EF4-FFF2-40B4-BE49-F238E27FC236}">
                  <a16:creationId xmlns:a16="http://schemas.microsoft.com/office/drawing/2014/main" id="{ED49C5D6-B1A4-6A58-F600-0287FAA55575}"/>
                </a:ext>
              </a:extLst>
            </p:cNvPr>
            <p:cNvSpPr txBox="1"/>
            <p:nvPr/>
          </p:nvSpPr>
          <p:spPr>
            <a:xfrm>
              <a:off x="9474949" y="3367098"/>
              <a:ext cx="526129" cy="263210"/>
            </a:xfrm>
            <a:prstGeom prst="rect">
              <a:avLst/>
            </a:prstGeom>
            <a:noFill/>
            <a:ln>
              <a:noFill/>
            </a:ln>
          </p:spPr>
          <p:txBody>
            <a:bodyPr spcFirstLastPara="1" wrap="square" lIns="127722" tIns="127722" rIns="127722" bIns="127722" anchor="t" anchorCtr="0">
              <a:noAutofit/>
            </a:bodyPr>
            <a:lstStyle/>
            <a:p>
              <a:pPr>
                <a:spcBef>
                  <a:spcPts val="0"/>
                </a:spcBef>
              </a:pPr>
              <a:r>
                <a:rPr lang="en" sz="1400" dirty="0">
                  <a:solidFill>
                    <a:schemeClr val="lt1"/>
                  </a:solidFill>
                </a:rPr>
                <a:t>GH</a:t>
              </a:r>
              <a:endParaRPr sz="1400" dirty="0">
                <a:solidFill>
                  <a:schemeClr val="lt1"/>
                </a:solidFill>
              </a:endParaRPr>
            </a:p>
          </p:txBody>
        </p:sp>
      </p:grpSp>
      <p:pic>
        <p:nvPicPr>
          <p:cNvPr id="487" name="Picture 486" descr="Account ">
            <a:extLst>
              <a:ext uri="{FF2B5EF4-FFF2-40B4-BE49-F238E27FC236}">
                <a16:creationId xmlns:a16="http://schemas.microsoft.com/office/drawing/2014/main" id="{DC6664BD-ED39-359E-D18E-B1DF665CE422}"/>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616900" y="8321807"/>
            <a:ext cx="306136" cy="306136"/>
          </a:xfrm>
          <a:prstGeom prst="rect">
            <a:avLst/>
          </a:prstGeom>
          <a:noFill/>
          <a:extLst>
            <a:ext uri="{909E8E84-426E-40DD-AFC4-6F175D3DCCD1}">
              <a14:hiddenFill xmlns:a14="http://schemas.microsoft.com/office/drawing/2010/main">
                <a:solidFill>
                  <a:srgbClr val="FFFFFF"/>
                </a:solidFill>
              </a14:hiddenFill>
            </a:ext>
          </a:extLst>
        </p:spPr>
      </p:pic>
      <p:sp>
        <p:nvSpPr>
          <p:cNvPr id="490" name="Create a visual hierarchy. Help users navigate the page with titles, subtitles, and subsubtitles">
            <a:extLst>
              <a:ext uri="{FF2B5EF4-FFF2-40B4-BE49-F238E27FC236}">
                <a16:creationId xmlns:a16="http://schemas.microsoft.com/office/drawing/2014/main" id="{767E2CFD-CE6E-5812-DC9A-CB399603C7EA}"/>
              </a:ext>
            </a:extLst>
          </p:cNvPr>
          <p:cNvSpPr txBox="1"/>
          <p:nvPr/>
        </p:nvSpPr>
        <p:spPr>
          <a:xfrm>
            <a:off x="7087984" y="8108356"/>
            <a:ext cx="1241412"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rPr>
              <a:t>Quality Manager</a:t>
            </a:r>
            <a:endParaRPr lang="en-US" dirty="0">
              <a:latin typeface="Source Sans Pro" panose="020B0503030403020204" pitchFamily="34" charset="0"/>
              <a:ea typeface="Source Sans Pro" panose="020B0503030403020204" pitchFamily="34" charset="0"/>
              <a:sym typeface="Source Sans Pro"/>
            </a:endParaRPr>
          </a:p>
        </p:txBody>
      </p:sp>
      <p:cxnSp>
        <p:nvCxnSpPr>
          <p:cNvPr id="328" name="Google Shape;445;p18">
            <a:extLst>
              <a:ext uri="{FF2B5EF4-FFF2-40B4-BE49-F238E27FC236}">
                <a16:creationId xmlns:a16="http://schemas.microsoft.com/office/drawing/2014/main" id="{B23935FC-6A4C-C9A5-9A19-62393C271E08}"/>
              </a:ext>
            </a:extLst>
          </p:cNvPr>
          <p:cNvCxnSpPr>
            <a:cxnSpLocks/>
          </p:cNvCxnSpPr>
          <p:nvPr/>
        </p:nvCxnSpPr>
        <p:spPr>
          <a:xfrm>
            <a:off x="5636507" y="8012731"/>
            <a:ext cx="0" cy="227228"/>
          </a:xfrm>
          <a:prstGeom prst="straightConnector1">
            <a:avLst/>
          </a:prstGeom>
          <a:noFill/>
          <a:ln w="28575" cap="flat" cmpd="sng">
            <a:solidFill>
              <a:srgbClr val="1B1311"/>
            </a:solidFill>
            <a:prstDash val="solid"/>
            <a:round/>
            <a:headEnd type="none" w="med" len="med"/>
            <a:tailEnd type="triangle" w="med" len="med"/>
          </a:ln>
        </p:spPr>
      </p:cxnSp>
      <p:cxnSp>
        <p:nvCxnSpPr>
          <p:cNvPr id="330" name="Google Shape;445;p18">
            <a:extLst>
              <a:ext uri="{FF2B5EF4-FFF2-40B4-BE49-F238E27FC236}">
                <a16:creationId xmlns:a16="http://schemas.microsoft.com/office/drawing/2014/main" id="{D61ADC03-47F2-197B-CC97-7FFD51554151}"/>
              </a:ext>
            </a:extLst>
          </p:cNvPr>
          <p:cNvCxnSpPr>
            <a:cxnSpLocks/>
          </p:cNvCxnSpPr>
          <p:nvPr/>
        </p:nvCxnSpPr>
        <p:spPr>
          <a:xfrm>
            <a:off x="6693142" y="8692417"/>
            <a:ext cx="0" cy="219033"/>
          </a:xfrm>
          <a:prstGeom prst="straightConnector1">
            <a:avLst/>
          </a:prstGeom>
          <a:noFill/>
          <a:ln w="28575" cap="flat" cmpd="sng">
            <a:solidFill>
              <a:srgbClr val="1B1311"/>
            </a:solidFill>
            <a:prstDash val="solid"/>
            <a:round/>
            <a:headEnd type="none" w="med" len="med"/>
            <a:tailEnd type="triangle" w="med" len="med"/>
          </a:ln>
        </p:spPr>
      </p:cxnSp>
      <p:cxnSp>
        <p:nvCxnSpPr>
          <p:cNvPr id="331" name="Google Shape;445;p18">
            <a:extLst>
              <a:ext uri="{FF2B5EF4-FFF2-40B4-BE49-F238E27FC236}">
                <a16:creationId xmlns:a16="http://schemas.microsoft.com/office/drawing/2014/main" id="{284723FD-BDE3-8952-B59E-8921C76E640C}"/>
              </a:ext>
            </a:extLst>
          </p:cNvPr>
          <p:cNvCxnSpPr>
            <a:cxnSpLocks/>
          </p:cNvCxnSpPr>
          <p:nvPr/>
        </p:nvCxnSpPr>
        <p:spPr>
          <a:xfrm flipV="1">
            <a:off x="5931917" y="8470444"/>
            <a:ext cx="483203" cy="4431"/>
          </a:xfrm>
          <a:prstGeom prst="straightConnector1">
            <a:avLst/>
          </a:prstGeom>
          <a:noFill/>
          <a:ln w="28575" cap="flat" cmpd="sng">
            <a:solidFill>
              <a:srgbClr val="1B1311"/>
            </a:solidFill>
            <a:prstDash val="solid"/>
            <a:round/>
            <a:headEnd type="none" w="med" len="med"/>
            <a:tailEnd type="triangle" w="med" len="med"/>
          </a:ln>
        </p:spPr>
      </p:cxnSp>
      <p:cxnSp>
        <p:nvCxnSpPr>
          <p:cNvPr id="524" name="Google Shape;445;p18">
            <a:extLst>
              <a:ext uri="{FF2B5EF4-FFF2-40B4-BE49-F238E27FC236}">
                <a16:creationId xmlns:a16="http://schemas.microsoft.com/office/drawing/2014/main" id="{8398C26E-A671-7FAF-B494-1ECFA29D5D0E}"/>
              </a:ext>
            </a:extLst>
          </p:cNvPr>
          <p:cNvCxnSpPr>
            <a:cxnSpLocks/>
          </p:cNvCxnSpPr>
          <p:nvPr/>
        </p:nvCxnSpPr>
        <p:spPr>
          <a:xfrm flipV="1">
            <a:off x="7010362" y="8470444"/>
            <a:ext cx="460133" cy="4431"/>
          </a:xfrm>
          <a:prstGeom prst="straightConnector1">
            <a:avLst/>
          </a:prstGeom>
          <a:noFill/>
          <a:ln w="28575" cap="flat" cmpd="sng">
            <a:solidFill>
              <a:srgbClr val="1B1311"/>
            </a:solidFill>
            <a:prstDash val="solid"/>
            <a:round/>
            <a:headEnd type="none" w="med" len="med"/>
            <a:tailEnd type="triangle" w="med" len="med"/>
          </a:ln>
        </p:spPr>
      </p:cxnSp>
      <p:cxnSp>
        <p:nvCxnSpPr>
          <p:cNvPr id="527" name="Google Shape;445;p18">
            <a:extLst>
              <a:ext uri="{FF2B5EF4-FFF2-40B4-BE49-F238E27FC236}">
                <a16:creationId xmlns:a16="http://schemas.microsoft.com/office/drawing/2014/main" id="{4D2C2ACF-7156-9136-E06C-81DE6A77C0F9}"/>
              </a:ext>
            </a:extLst>
          </p:cNvPr>
          <p:cNvCxnSpPr>
            <a:cxnSpLocks/>
          </p:cNvCxnSpPr>
          <p:nvPr/>
        </p:nvCxnSpPr>
        <p:spPr>
          <a:xfrm>
            <a:off x="8025141" y="8481760"/>
            <a:ext cx="490920" cy="1367"/>
          </a:xfrm>
          <a:prstGeom prst="straightConnector1">
            <a:avLst/>
          </a:prstGeom>
          <a:noFill/>
          <a:ln w="28575" cap="flat" cmpd="sng">
            <a:solidFill>
              <a:srgbClr val="1B1311"/>
            </a:solidFill>
            <a:prstDash val="solid"/>
            <a:round/>
            <a:headEnd type="none" w="med" len="med"/>
            <a:tailEnd type="triangle" w="med" len="med"/>
          </a:ln>
        </p:spPr>
      </p:cxnSp>
      <p:sp>
        <p:nvSpPr>
          <p:cNvPr id="528" name="Create a visual hierarchy. Help users navigate the page with titles, subtitles, and subsubtitles">
            <a:extLst>
              <a:ext uri="{FF2B5EF4-FFF2-40B4-BE49-F238E27FC236}">
                <a16:creationId xmlns:a16="http://schemas.microsoft.com/office/drawing/2014/main" id="{C83E20EC-76E4-6E1F-3A39-B31C0AE2C173}"/>
              </a:ext>
            </a:extLst>
          </p:cNvPr>
          <p:cNvSpPr txBox="1"/>
          <p:nvPr/>
        </p:nvSpPr>
        <p:spPr>
          <a:xfrm>
            <a:off x="4754546" y="8371927"/>
            <a:ext cx="662786"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Codecov</a:t>
            </a:r>
          </a:p>
        </p:txBody>
      </p:sp>
      <p:sp>
        <p:nvSpPr>
          <p:cNvPr id="535" name="Create a visual hierarchy. Help users navigate the page with titles, subtitles, and subsubtitles">
            <a:extLst>
              <a:ext uri="{FF2B5EF4-FFF2-40B4-BE49-F238E27FC236}">
                <a16:creationId xmlns:a16="http://schemas.microsoft.com/office/drawing/2014/main" id="{FC0CA95A-E060-A3DD-0255-42A59FCB9294}"/>
              </a:ext>
            </a:extLst>
          </p:cNvPr>
          <p:cNvSpPr txBox="1"/>
          <p:nvPr/>
        </p:nvSpPr>
        <p:spPr>
          <a:xfrm>
            <a:off x="6345851" y="9458213"/>
            <a:ext cx="1184050" cy="4810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Pull Request </a:t>
            </a:r>
          </a:p>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Denie</a:t>
            </a:r>
            <a:r>
              <a:rPr lang="en-US" b="0" dirty="0">
                <a:solidFill>
                  <a:srgbClr val="000000"/>
                </a:solidFill>
                <a:latin typeface="Source Sans Pro" panose="020B0503030403020204" pitchFamily="34" charset="0"/>
                <a:ea typeface="Source Sans Pro" panose="020B0503030403020204" pitchFamily="34" charset="0"/>
              </a:rPr>
              <a:t>d</a:t>
            </a:r>
            <a:endParaRPr lang="en-US" b="0" i="0" u="none" strike="noStrike" dirty="0">
              <a:solidFill>
                <a:srgbClr val="000000"/>
              </a:solidFill>
              <a:effectLst/>
              <a:latin typeface="Source Sans Pro" panose="020B0503030403020204" pitchFamily="34" charset="0"/>
              <a:ea typeface="Source Sans Pro" panose="020B0503030403020204" pitchFamily="34" charset="0"/>
            </a:endParaRPr>
          </a:p>
        </p:txBody>
      </p:sp>
      <p:cxnSp>
        <p:nvCxnSpPr>
          <p:cNvPr id="544" name="Google Shape;445;p18">
            <a:extLst>
              <a:ext uri="{FF2B5EF4-FFF2-40B4-BE49-F238E27FC236}">
                <a16:creationId xmlns:a16="http://schemas.microsoft.com/office/drawing/2014/main" id="{B29A7050-8BE2-929E-BB87-8D19CB33A77E}"/>
              </a:ext>
            </a:extLst>
          </p:cNvPr>
          <p:cNvCxnSpPr>
            <a:cxnSpLocks/>
          </p:cNvCxnSpPr>
          <p:nvPr/>
        </p:nvCxnSpPr>
        <p:spPr>
          <a:xfrm flipH="1">
            <a:off x="5929791" y="9278751"/>
            <a:ext cx="428575" cy="0"/>
          </a:xfrm>
          <a:prstGeom prst="straightConnector1">
            <a:avLst/>
          </a:prstGeom>
          <a:noFill/>
          <a:ln w="28575" cap="flat" cmpd="sng">
            <a:solidFill>
              <a:srgbClr val="1B1311"/>
            </a:solidFill>
            <a:prstDash val="solid"/>
            <a:round/>
            <a:headEnd type="none" w="med" len="med"/>
            <a:tailEnd type="triangle" w="med" len="med"/>
          </a:ln>
        </p:spPr>
      </p:cxnSp>
      <p:cxnSp>
        <p:nvCxnSpPr>
          <p:cNvPr id="549" name="Google Shape;445;p18">
            <a:extLst>
              <a:ext uri="{FF2B5EF4-FFF2-40B4-BE49-F238E27FC236}">
                <a16:creationId xmlns:a16="http://schemas.microsoft.com/office/drawing/2014/main" id="{0526B194-0C46-3624-0C03-7B63466B58EA}"/>
              </a:ext>
            </a:extLst>
          </p:cNvPr>
          <p:cNvCxnSpPr>
            <a:cxnSpLocks/>
          </p:cNvCxnSpPr>
          <p:nvPr/>
        </p:nvCxnSpPr>
        <p:spPr>
          <a:xfrm flipH="1">
            <a:off x="7087984" y="9308489"/>
            <a:ext cx="881273" cy="0"/>
          </a:xfrm>
          <a:prstGeom prst="straightConnector1">
            <a:avLst/>
          </a:prstGeom>
          <a:noFill/>
          <a:ln w="28575" cap="flat" cmpd="sng">
            <a:solidFill>
              <a:srgbClr val="1B1311"/>
            </a:solidFill>
            <a:prstDash val="solid"/>
            <a:round/>
            <a:headEnd type="none" w="med" len="med"/>
            <a:tailEnd type="triangle" w="med" len="med"/>
          </a:ln>
        </p:spPr>
      </p:cxnSp>
      <p:cxnSp>
        <p:nvCxnSpPr>
          <p:cNvPr id="557" name="Google Shape;445;p18">
            <a:extLst>
              <a:ext uri="{FF2B5EF4-FFF2-40B4-BE49-F238E27FC236}">
                <a16:creationId xmlns:a16="http://schemas.microsoft.com/office/drawing/2014/main" id="{A291ED28-0390-E954-840D-A2863EA8B8C3}"/>
              </a:ext>
            </a:extLst>
          </p:cNvPr>
          <p:cNvCxnSpPr>
            <a:cxnSpLocks/>
          </p:cNvCxnSpPr>
          <p:nvPr/>
        </p:nvCxnSpPr>
        <p:spPr>
          <a:xfrm>
            <a:off x="8784901" y="8687064"/>
            <a:ext cx="0" cy="303476"/>
          </a:xfrm>
          <a:prstGeom prst="straightConnector1">
            <a:avLst/>
          </a:prstGeom>
          <a:noFill/>
          <a:ln w="28575" cap="flat" cmpd="sng">
            <a:solidFill>
              <a:srgbClr val="1B1311"/>
            </a:solidFill>
            <a:prstDash val="solid"/>
            <a:round/>
            <a:headEnd type="none" w="med" len="med"/>
            <a:tailEnd type="triangle" w="med" len="med"/>
          </a:ln>
        </p:spPr>
      </p:cxnSp>
      <p:sp>
        <p:nvSpPr>
          <p:cNvPr id="560" name="Create a visual hierarchy. Help users navigate the page with titles, subtitles, and subsubtitles">
            <a:extLst>
              <a:ext uri="{FF2B5EF4-FFF2-40B4-BE49-F238E27FC236}">
                <a16:creationId xmlns:a16="http://schemas.microsoft.com/office/drawing/2014/main" id="{86994634-5491-9057-85B1-317A39BF500C}"/>
              </a:ext>
            </a:extLst>
          </p:cNvPr>
          <p:cNvSpPr txBox="1"/>
          <p:nvPr/>
        </p:nvSpPr>
        <p:spPr>
          <a:xfrm>
            <a:off x="8177943" y="9423379"/>
            <a:ext cx="1184050" cy="4810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Pull Request </a:t>
            </a:r>
          </a:p>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Approved</a:t>
            </a:r>
          </a:p>
        </p:txBody>
      </p:sp>
      <p:cxnSp>
        <p:nvCxnSpPr>
          <p:cNvPr id="574" name="Straight Connector 573">
            <a:extLst>
              <a:ext uri="{FF2B5EF4-FFF2-40B4-BE49-F238E27FC236}">
                <a16:creationId xmlns:a16="http://schemas.microsoft.com/office/drawing/2014/main" id="{1D59B906-1DCF-9B4E-8D12-0C9687DD973A}"/>
              </a:ext>
            </a:extLst>
          </p:cNvPr>
          <p:cNvCxnSpPr>
            <a:cxnSpLocks/>
          </p:cNvCxnSpPr>
          <p:nvPr/>
        </p:nvCxnSpPr>
        <p:spPr>
          <a:xfrm flipH="1">
            <a:off x="7942180" y="8631247"/>
            <a:ext cx="698769" cy="677242"/>
          </a:xfrm>
          <a:prstGeom prst="line">
            <a:avLst/>
          </a:prstGeom>
          <a:ln w="28575" cap="flat" cmpd="sng" algn="ctr">
            <a:solidFill>
              <a:schemeClr val="bg2">
                <a:lumMod val="1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88" name="Create a visual hierarchy. Help users navigate the page with titles, subtitles, and subsubtitles">
            <a:extLst>
              <a:ext uri="{FF2B5EF4-FFF2-40B4-BE49-F238E27FC236}">
                <a16:creationId xmlns:a16="http://schemas.microsoft.com/office/drawing/2014/main" id="{FF52F2F8-1D5F-E2C3-5C62-7565F995A1DA}"/>
              </a:ext>
            </a:extLst>
          </p:cNvPr>
          <p:cNvSpPr txBox="1"/>
          <p:nvPr/>
        </p:nvSpPr>
        <p:spPr>
          <a:xfrm>
            <a:off x="5174316" y="9445330"/>
            <a:ext cx="1184050"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New Commit</a:t>
            </a:r>
          </a:p>
        </p:txBody>
      </p:sp>
      <p:cxnSp>
        <p:nvCxnSpPr>
          <p:cNvPr id="589" name="Google Shape;445;p18">
            <a:extLst>
              <a:ext uri="{FF2B5EF4-FFF2-40B4-BE49-F238E27FC236}">
                <a16:creationId xmlns:a16="http://schemas.microsoft.com/office/drawing/2014/main" id="{95C88E82-E935-2228-D830-3D3479B06DF2}"/>
              </a:ext>
            </a:extLst>
          </p:cNvPr>
          <p:cNvCxnSpPr>
            <a:cxnSpLocks/>
          </p:cNvCxnSpPr>
          <p:nvPr/>
        </p:nvCxnSpPr>
        <p:spPr>
          <a:xfrm flipV="1">
            <a:off x="5632994" y="8733946"/>
            <a:ext cx="0" cy="256594"/>
          </a:xfrm>
          <a:prstGeom prst="straightConnector1">
            <a:avLst/>
          </a:prstGeom>
          <a:noFill/>
          <a:ln w="28575" cap="flat" cmpd="sng">
            <a:solidFill>
              <a:srgbClr val="1B1311"/>
            </a:solidFill>
            <a:prstDash val="solid"/>
            <a:round/>
            <a:headEnd type="none" w="med" len="med"/>
            <a:tailEnd type="triangle" w="med" len="med"/>
          </a:ln>
        </p:spPr>
      </p:cxnSp>
      <p:cxnSp>
        <p:nvCxnSpPr>
          <p:cNvPr id="593" name="Google Shape;445;p18">
            <a:extLst>
              <a:ext uri="{FF2B5EF4-FFF2-40B4-BE49-F238E27FC236}">
                <a16:creationId xmlns:a16="http://schemas.microsoft.com/office/drawing/2014/main" id="{1E9A43F7-8F20-D02A-9AFD-4FCCAF419DDD}"/>
              </a:ext>
            </a:extLst>
          </p:cNvPr>
          <p:cNvCxnSpPr>
            <a:cxnSpLocks/>
          </p:cNvCxnSpPr>
          <p:nvPr/>
        </p:nvCxnSpPr>
        <p:spPr>
          <a:xfrm>
            <a:off x="5933583" y="8663797"/>
            <a:ext cx="435291" cy="404503"/>
          </a:xfrm>
          <a:prstGeom prst="straightConnector1">
            <a:avLst/>
          </a:prstGeom>
          <a:noFill/>
          <a:ln w="28575" cap="flat" cmpd="sng">
            <a:solidFill>
              <a:srgbClr val="1B1311"/>
            </a:solidFill>
            <a:prstDash val="solid"/>
            <a:round/>
            <a:headEnd type="none" w="med" len="med"/>
            <a:tailEnd type="triangle" w="med" len="med"/>
          </a:ln>
        </p:spPr>
      </p:cxnSp>
      <p:cxnSp>
        <p:nvCxnSpPr>
          <p:cNvPr id="600" name="Google Shape;445;p18">
            <a:extLst>
              <a:ext uri="{FF2B5EF4-FFF2-40B4-BE49-F238E27FC236}">
                <a16:creationId xmlns:a16="http://schemas.microsoft.com/office/drawing/2014/main" id="{617B4DA8-CA7B-6999-9A63-5CC02BDF4032}"/>
              </a:ext>
            </a:extLst>
          </p:cNvPr>
          <p:cNvCxnSpPr>
            <a:cxnSpLocks/>
          </p:cNvCxnSpPr>
          <p:nvPr/>
        </p:nvCxnSpPr>
        <p:spPr>
          <a:xfrm flipH="1">
            <a:off x="7036020" y="8623262"/>
            <a:ext cx="475375" cy="453212"/>
          </a:xfrm>
          <a:prstGeom prst="straightConnector1">
            <a:avLst/>
          </a:prstGeom>
          <a:noFill/>
          <a:ln w="28575" cap="flat" cmpd="sng">
            <a:solidFill>
              <a:srgbClr val="1B1311"/>
            </a:solidFill>
            <a:prstDash val="solid"/>
            <a:round/>
            <a:headEnd type="none" w="med" len="med"/>
            <a:tailEnd type="triangle" w="med" len="med"/>
          </a:ln>
        </p:spPr>
      </p:cxnSp>
      <p:sp>
        <p:nvSpPr>
          <p:cNvPr id="39" name="Google Shape;237;p15">
            <a:extLst>
              <a:ext uri="{FF2B5EF4-FFF2-40B4-BE49-F238E27FC236}">
                <a16:creationId xmlns:a16="http://schemas.microsoft.com/office/drawing/2014/main" id="{CE40E4C5-03D2-E2A0-B702-E82F70DDA1C3}"/>
              </a:ext>
            </a:extLst>
          </p:cNvPr>
          <p:cNvSpPr txBox="1"/>
          <p:nvPr/>
        </p:nvSpPr>
        <p:spPr>
          <a:xfrm>
            <a:off x="5293468" y="9048567"/>
            <a:ext cx="526129" cy="263210"/>
          </a:xfrm>
          <a:prstGeom prst="rect">
            <a:avLst/>
          </a:prstGeom>
          <a:noFill/>
          <a:ln>
            <a:noFill/>
          </a:ln>
        </p:spPr>
        <p:txBody>
          <a:bodyPr spcFirstLastPara="1" wrap="square" lIns="127722" tIns="127722" rIns="127722" bIns="127722" anchor="t" anchorCtr="0">
            <a:noAutofit/>
          </a:bodyPr>
          <a:lstStyle/>
          <a:p>
            <a:pPr>
              <a:spcBef>
                <a:spcPts val="0"/>
              </a:spcBef>
            </a:pPr>
            <a:endParaRPr sz="1400" dirty="0">
              <a:solidFill>
                <a:schemeClr val="lt1"/>
              </a:solidFill>
            </a:endParaRPr>
          </a:p>
        </p:txBody>
      </p:sp>
      <p:sp>
        <p:nvSpPr>
          <p:cNvPr id="36" name="Use headers, colors, and/or backgrounds to separate or group together sections.">
            <a:extLst>
              <a:ext uri="{FF2B5EF4-FFF2-40B4-BE49-F238E27FC236}">
                <a16:creationId xmlns:a16="http://schemas.microsoft.com/office/drawing/2014/main" id="{017776F9-C41C-629A-0E4A-2AF6F6D605AC}"/>
              </a:ext>
            </a:extLst>
          </p:cNvPr>
          <p:cNvSpPr txBox="1"/>
          <p:nvPr/>
        </p:nvSpPr>
        <p:spPr>
          <a:xfrm>
            <a:off x="9497689" y="2134756"/>
            <a:ext cx="4251862" cy="4810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Anchor: In practice, the process happens in the Pull Request. </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 Explain the full code review </a:t>
            </a:r>
            <a:r>
              <a:rPr lang="en-US" b="0" dirty="0" err="1">
                <a:latin typeface="Source Sans Pro" panose="020B0503030403020204" pitchFamily="34" charset="0"/>
                <a:ea typeface="Source Sans Pro" panose="020B0503030403020204" pitchFamily="34" charset="0"/>
              </a:rPr>
              <a:t>pipel</a:t>
            </a:r>
            <a:endParaRPr lang="en-US" b="0" dirty="0">
              <a:latin typeface="Source Sans Pro" panose="020B0503030403020204" pitchFamily="34" charset="0"/>
              <a:ea typeface="Source Sans Pro" panose="020B0503030403020204" pitchFamily="34" charset="0"/>
            </a:endParaRPr>
          </a:p>
        </p:txBody>
      </p:sp>
      <p:sp>
        <p:nvSpPr>
          <p:cNvPr id="41" name="Manipulate Variables">
            <a:extLst>
              <a:ext uri="{FF2B5EF4-FFF2-40B4-BE49-F238E27FC236}">
                <a16:creationId xmlns:a16="http://schemas.microsoft.com/office/drawing/2014/main" id="{ECF589FB-7A37-5AFB-4331-DE4562D59DC0}"/>
              </a:ext>
            </a:extLst>
          </p:cNvPr>
          <p:cNvSpPr txBox="1"/>
          <p:nvPr/>
        </p:nvSpPr>
        <p:spPr>
          <a:xfrm>
            <a:off x="9455692" y="1683236"/>
            <a:ext cx="317234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Pull Request Work Flow</a:t>
            </a:r>
          </a:p>
        </p:txBody>
      </p:sp>
      <p:sp>
        <p:nvSpPr>
          <p:cNvPr id="42" name="Line">
            <a:extLst>
              <a:ext uri="{FF2B5EF4-FFF2-40B4-BE49-F238E27FC236}">
                <a16:creationId xmlns:a16="http://schemas.microsoft.com/office/drawing/2014/main" id="{73706594-97DB-1BD7-303B-C57416B4622D}"/>
              </a:ext>
            </a:extLst>
          </p:cNvPr>
          <p:cNvSpPr/>
          <p:nvPr/>
        </p:nvSpPr>
        <p:spPr>
          <a:xfrm flipV="1">
            <a:off x="9464191" y="2032883"/>
            <a:ext cx="4318858"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5" name="Use headers, colors, and/or backgrounds to separate or group together sections.">
            <a:extLst>
              <a:ext uri="{FF2B5EF4-FFF2-40B4-BE49-F238E27FC236}">
                <a16:creationId xmlns:a16="http://schemas.microsoft.com/office/drawing/2014/main" id="{7D1D21CD-CC41-9291-BF3D-54A9D654B891}"/>
              </a:ext>
            </a:extLst>
          </p:cNvPr>
          <p:cNvSpPr txBox="1"/>
          <p:nvPr/>
        </p:nvSpPr>
        <p:spPr>
          <a:xfrm>
            <a:off x="4858072" y="6376664"/>
            <a:ext cx="4251862" cy="77500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In order to create easily reproducible tests, Kaiaulu’s R function files contain Fake Data Generation functions. These functions can create fake data, which is utilized in </a:t>
            </a:r>
            <a:r>
              <a:rPr lang="en-US" b="0" dirty="0" err="1">
                <a:latin typeface="Source Sans Pro" panose="020B0503030403020204" pitchFamily="34" charset="0"/>
                <a:ea typeface="Source Sans Pro" panose="020B0503030403020204" pitchFamily="34" charset="0"/>
              </a:rPr>
              <a:t>Example.R</a:t>
            </a:r>
            <a:r>
              <a:rPr lang="en-US" b="0" dirty="0">
                <a:latin typeface="Source Sans Pro" panose="020B0503030403020204" pitchFamily="34" charset="0"/>
                <a:ea typeface="Source Sans Pro" panose="020B0503030403020204" pitchFamily="34" charset="0"/>
              </a:rPr>
              <a:t>. This file </a:t>
            </a:r>
            <a:r>
              <a:rPr lang="en-US" b="0" dirty="0" err="1">
                <a:latin typeface="Source Sans Pro" panose="020B0503030403020204" pitchFamily="34" charset="0"/>
                <a:ea typeface="Source Sans Pro" panose="020B0503030403020204" pitchFamily="34" charset="0"/>
              </a:rPr>
              <a:t>conta</a:t>
            </a:r>
            <a:endParaRPr lang="en-US" b="0" dirty="0">
              <a:latin typeface="Source Sans Pro" panose="020B0503030403020204" pitchFamily="34" charset="0"/>
              <a:ea typeface="Source Sans Pro" panose="020B0503030403020204" pitchFamily="34" charset="0"/>
            </a:endParaRPr>
          </a:p>
        </p:txBody>
      </p:sp>
      <p:pic>
        <p:nvPicPr>
          <p:cNvPr id="46" name="Graphic 45" descr="Paper outline">
            <a:extLst>
              <a:ext uri="{FF2B5EF4-FFF2-40B4-BE49-F238E27FC236}">
                <a16:creationId xmlns:a16="http://schemas.microsoft.com/office/drawing/2014/main" id="{8B20F055-3FB6-2EB2-3E9E-2EADDEC64AD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50314" y="8364490"/>
            <a:ext cx="1118249" cy="1118249"/>
          </a:xfrm>
          <a:prstGeom prst="rect">
            <a:avLst/>
          </a:prstGeom>
        </p:spPr>
      </p:pic>
      <p:pic>
        <p:nvPicPr>
          <p:cNvPr id="47" name="Graphic 46" descr="Paper outline">
            <a:extLst>
              <a:ext uri="{FF2B5EF4-FFF2-40B4-BE49-F238E27FC236}">
                <a16:creationId xmlns:a16="http://schemas.microsoft.com/office/drawing/2014/main" id="{9AE5CBD8-8973-917A-0877-5A894BA08D5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985735" y="6582401"/>
            <a:ext cx="1731153" cy="1731153"/>
          </a:xfrm>
          <a:prstGeom prst="rect">
            <a:avLst/>
          </a:prstGeom>
        </p:spPr>
      </p:pic>
      <p:sp>
        <p:nvSpPr>
          <p:cNvPr id="48" name="TextBox 47">
            <a:extLst>
              <a:ext uri="{FF2B5EF4-FFF2-40B4-BE49-F238E27FC236}">
                <a16:creationId xmlns:a16="http://schemas.microsoft.com/office/drawing/2014/main" id="{C00D8BFD-9630-7FC8-1BB3-671F21CDAA0B}"/>
              </a:ext>
            </a:extLst>
          </p:cNvPr>
          <p:cNvSpPr txBox="1"/>
          <p:nvPr/>
        </p:nvSpPr>
        <p:spPr>
          <a:xfrm>
            <a:off x="2305907" y="6668908"/>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Downloaders</a:t>
            </a:r>
            <a:endParaRPr lang="en-US" sz="800" b="0" dirty="0"/>
          </a:p>
        </p:txBody>
      </p:sp>
      <p:sp>
        <p:nvSpPr>
          <p:cNvPr id="49" name="TextBox 48">
            <a:extLst>
              <a:ext uri="{FF2B5EF4-FFF2-40B4-BE49-F238E27FC236}">
                <a16:creationId xmlns:a16="http://schemas.microsoft.com/office/drawing/2014/main" id="{D16E8897-88AC-0CFE-6DC4-54137E8E2834}"/>
              </a:ext>
            </a:extLst>
          </p:cNvPr>
          <p:cNvSpPr txBox="1"/>
          <p:nvPr/>
        </p:nvSpPr>
        <p:spPr>
          <a:xfrm>
            <a:off x="2309808" y="6768359"/>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51" name="TextBox 50">
            <a:extLst>
              <a:ext uri="{FF2B5EF4-FFF2-40B4-BE49-F238E27FC236}">
                <a16:creationId xmlns:a16="http://schemas.microsoft.com/office/drawing/2014/main" id="{9EB9C1F6-73C5-8706-BF0D-4EB732320E93}"/>
              </a:ext>
            </a:extLst>
          </p:cNvPr>
          <p:cNvSpPr txBox="1"/>
          <p:nvPr/>
        </p:nvSpPr>
        <p:spPr>
          <a:xfrm>
            <a:off x="2310390" y="7183289"/>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52" name="TextBox 51">
            <a:extLst>
              <a:ext uri="{FF2B5EF4-FFF2-40B4-BE49-F238E27FC236}">
                <a16:creationId xmlns:a16="http://schemas.microsoft.com/office/drawing/2014/main" id="{6F47DC69-D448-4465-B534-B2974C6DA693}"/>
              </a:ext>
            </a:extLst>
          </p:cNvPr>
          <p:cNvSpPr txBox="1"/>
          <p:nvPr/>
        </p:nvSpPr>
        <p:spPr>
          <a:xfrm>
            <a:off x="2305907" y="7077194"/>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Parsers</a:t>
            </a:r>
            <a:endParaRPr lang="en-US" sz="800" b="0" dirty="0"/>
          </a:p>
        </p:txBody>
      </p:sp>
      <p:sp>
        <p:nvSpPr>
          <p:cNvPr id="494" name="TextBox 493">
            <a:extLst>
              <a:ext uri="{FF2B5EF4-FFF2-40B4-BE49-F238E27FC236}">
                <a16:creationId xmlns:a16="http://schemas.microsoft.com/office/drawing/2014/main" id="{AEE6C79A-CA12-511A-FC72-AC1EBB324A9A}"/>
              </a:ext>
            </a:extLst>
          </p:cNvPr>
          <p:cNvSpPr txBox="1"/>
          <p:nvPr/>
        </p:nvSpPr>
        <p:spPr>
          <a:xfrm>
            <a:off x="2315372" y="7592221"/>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496" name="TextBox 495">
            <a:extLst>
              <a:ext uri="{FF2B5EF4-FFF2-40B4-BE49-F238E27FC236}">
                <a16:creationId xmlns:a16="http://schemas.microsoft.com/office/drawing/2014/main" id="{83323CA3-EE47-F656-7225-6DCB0E4AA8DE}"/>
              </a:ext>
            </a:extLst>
          </p:cNvPr>
          <p:cNvSpPr txBox="1"/>
          <p:nvPr/>
        </p:nvSpPr>
        <p:spPr>
          <a:xfrm>
            <a:off x="2309808" y="7487925"/>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Transforms</a:t>
            </a:r>
            <a:endParaRPr lang="en-US" sz="800" b="0" dirty="0"/>
          </a:p>
        </p:txBody>
      </p:sp>
      <p:pic>
        <p:nvPicPr>
          <p:cNvPr id="497" name="Graphic 496" descr="Paper outline">
            <a:extLst>
              <a:ext uri="{FF2B5EF4-FFF2-40B4-BE49-F238E27FC236}">
                <a16:creationId xmlns:a16="http://schemas.microsoft.com/office/drawing/2014/main" id="{427ADD35-3032-7762-A28A-F167A3F2629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444887" y="8426996"/>
            <a:ext cx="1118249" cy="1118249"/>
          </a:xfrm>
          <a:prstGeom prst="rect">
            <a:avLst/>
          </a:prstGeom>
        </p:spPr>
      </p:pic>
      <p:sp>
        <p:nvSpPr>
          <p:cNvPr id="500" name="Google Shape;318;p17">
            <a:extLst>
              <a:ext uri="{FF2B5EF4-FFF2-40B4-BE49-F238E27FC236}">
                <a16:creationId xmlns:a16="http://schemas.microsoft.com/office/drawing/2014/main" id="{3D8A36F8-A07C-C5C7-3E59-2A46B9ECA08D}"/>
              </a:ext>
            </a:extLst>
          </p:cNvPr>
          <p:cNvSpPr txBox="1"/>
          <p:nvPr/>
        </p:nvSpPr>
        <p:spPr>
          <a:xfrm>
            <a:off x="3186379" y="9255126"/>
            <a:ext cx="1635264"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US" sz="1400" dirty="0"/>
              <a:t>Tests/**</a:t>
            </a:r>
            <a:endParaRPr sz="1400" dirty="0"/>
          </a:p>
        </p:txBody>
      </p:sp>
      <p:sp>
        <p:nvSpPr>
          <p:cNvPr id="503" name="TextBox 502">
            <a:extLst>
              <a:ext uri="{FF2B5EF4-FFF2-40B4-BE49-F238E27FC236}">
                <a16:creationId xmlns:a16="http://schemas.microsoft.com/office/drawing/2014/main" id="{C600C433-35D9-3035-8D22-E84E8B1913A2}"/>
              </a:ext>
            </a:extLst>
          </p:cNvPr>
          <p:cNvSpPr txBox="1"/>
          <p:nvPr/>
        </p:nvSpPr>
        <p:spPr>
          <a:xfrm>
            <a:off x="3665797" y="8801724"/>
            <a:ext cx="676428"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1000" b="0" dirty="0"/>
              <a:t>testthat</a:t>
            </a:r>
            <a:endParaRPr kumimoji="0" lang="en-US" sz="1000" b="0" i="0" u="none" strike="noStrike" cap="none" spc="0" normalizeH="0" baseline="0" dirty="0">
              <a:ln>
                <a:noFill/>
              </a:ln>
              <a:effectLst/>
              <a:uFillTx/>
              <a:latin typeface="Source Sans Pro"/>
              <a:ea typeface="Source Sans Pro"/>
              <a:cs typeface="Source Sans Pro"/>
              <a:sym typeface="Source Sans Pro"/>
            </a:endParaRPr>
          </a:p>
        </p:txBody>
      </p:sp>
      <p:sp>
        <p:nvSpPr>
          <p:cNvPr id="505" name="Google Shape;346;p17">
            <a:extLst>
              <a:ext uri="{FF2B5EF4-FFF2-40B4-BE49-F238E27FC236}">
                <a16:creationId xmlns:a16="http://schemas.microsoft.com/office/drawing/2014/main" id="{FE672F47-35A1-9392-D3C5-FA3044B6F76C}"/>
              </a:ext>
            </a:extLst>
          </p:cNvPr>
          <p:cNvSpPr/>
          <p:nvPr/>
        </p:nvSpPr>
        <p:spPr>
          <a:xfrm>
            <a:off x="3736484" y="8827382"/>
            <a:ext cx="549624" cy="255847"/>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spcBef>
                <a:spcPts val="0"/>
              </a:spcBef>
            </a:pPr>
            <a:endParaRPr sz="1833"/>
          </a:p>
        </p:txBody>
      </p:sp>
      <p:sp>
        <p:nvSpPr>
          <p:cNvPr id="506" name="Google Shape;317;p17">
            <a:extLst>
              <a:ext uri="{FF2B5EF4-FFF2-40B4-BE49-F238E27FC236}">
                <a16:creationId xmlns:a16="http://schemas.microsoft.com/office/drawing/2014/main" id="{5DC6D1D2-6B4B-072C-8EDF-62C313522E23}"/>
              </a:ext>
            </a:extLst>
          </p:cNvPr>
          <p:cNvSpPr txBox="1"/>
          <p:nvPr/>
        </p:nvSpPr>
        <p:spPr>
          <a:xfrm>
            <a:off x="1052021" y="8518035"/>
            <a:ext cx="1320250" cy="541969"/>
          </a:xfrm>
          <a:prstGeom prst="rect">
            <a:avLst/>
          </a:prstGeom>
          <a:noFill/>
          <a:ln>
            <a:noFill/>
          </a:ln>
        </p:spPr>
        <p:txBody>
          <a:bodyPr spcFirstLastPara="1" wrap="square" lIns="295319" tIns="295319" rIns="295319" bIns="295319" anchor="t" anchorCtr="0">
            <a:noAutofit/>
          </a:bodyPr>
          <a:lstStyle/>
          <a:p>
            <a:pPr algn="ctr">
              <a:spcBef>
                <a:spcPts val="0"/>
              </a:spcBef>
            </a:pPr>
            <a:r>
              <a:rPr lang="en" sz="800" b="0" dirty="0"/>
              <a:t>Example Fake Data</a:t>
            </a:r>
            <a:endParaRPr sz="800" b="0" dirty="0"/>
          </a:p>
        </p:txBody>
      </p:sp>
      <p:sp>
        <p:nvSpPr>
          <p:cNvPr id="507" name="Google Shape;306;p17">
            <a:extLst>
              <a:ext uri="{FF2B5EF4-FFF2-40B4-BE49-F238E27FC236}">
                <a16:creationId xmlns:a16="http://schemas.microsoft.com/office/drawing/2014/main" id="{7252F33B-517D-E0D9-6662-9CC7C2218D28}"/>
              </a:ext>
            </a:extLst>
          </p:cNvPr>
          <p:cNvSpPr txBox="1"/>
          <p:nvPr/>
        </p:nvSpPr>
        <p:spPr>
          <a:xfrm>
            <a:off x="2230781" y="7912742"/>
            <a:ext cx="1136939" cy="610729"/>
          </a:xfrm>
          <a:prstGeom prst="rect">
            <a:avLst/>
          </a:prstGeom>
          <a:noFill/>
          <a:ln>
            <a:noFill/>
          </a:ln>
        </p:spPr>
        <p:txBody>
          <a:bodyPr spcFirstLastPara="1" wrap="square" lIns="295319" tIns="295319" rIns="295319" bIns="295319" anchor="t" anchorCtr="0">
            <a:noAutofit/>
          </a:bodyPr>
          <a:lstStyle/>
          <a:p>
            <a:pPr algn="ctr">
              <a:spcBef>
                <a:spcPts val="0"/>
              </a:spcBef>
            </a:pPr>
            <a:r>
              <a:rPr lang="en" sz="1400" dirty="0">
                <a:solidFill>
                  <a:schemeClr val="dk2"/>
                </a:solidFill>
              </a:rPr>
              <a:t>Git.R</a:t>
            </a:r>
            <a:endParaRPr sz="1400" dirty="0">
              <a:solidFill>
                <a:schemeClr val="dk2"/>
              </a:solidFill>
            </a:endParaRPr>
          </a:p>
        </p:txBody>
      </p:sp>
      <p:sp>
        <p:nvSpPr>
          <p:cNvPr id="513" name="Google Shape;306;p17">
            <a:extLst>
              <a:ext uri="{FF2B5EF4-FFF2-40B4-BE49-F238E27FC236}">
                <a16:creationId xmlns:a16="http://schemas.microsoft.com/office/drawing/2014/main" id="{7B205A0E-8F94-BD98-16D7-B39519621D20}"/>
              </a:ext>
            </a:extLst>
          </p:cNvPr>
          <p:cNvSpPr txBox="1"/>
          <p:nvPr/>
        </p:nvSpPr>
        <p:spPr>
          <a:xfrm>
            <a:off x="269778" y="7612577"/>
            <a:ext cx="961423" cy="212651"/>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JIRA.R</a:t>
            </a:r>
            <a:endParaRPr sz="1000" b="0" dirty="0">
              <a:solidFill>
                <a:schemeClr val="dk2"/>
              </a:solidFill>
            </a:endParaRPr>
          </a:p>
        </p:txBody>
      </p:sp>
      <p:cxnSp>
        <p:nvCxnSpPr>
          <p:cNvPr id="514" name="Connector: Elbow 513">
            <a:extLst>
              <a:ext uri="{FF2B5EF4-FFF2-40B4-BE49-F238E27FC236}">
                <a16:creationId xmlns:a16="http://schemas.microsoft.com/office/drawing/2014/main" id="{3CD1F47C-778D-0E23-0007-BE440ADD7BAE}"/>
              </a:ext>
            </a:extLst>
          </p:cNvPr>
          <p:cNvCxnSpPr>
            <a:cxnSpLocks/>
          </p:cNvCxnSpPr>
          <p:nvPr/>
        </p:nvCxnSpPr>
        <p:spPr>
          <a:xfrm rot="16200000" flipH="1">
            <a:off x="2739309" y="7033757"/>
            <a:ext cx="1650573" cy="1223096"/>
          </a:xfrm>
          <a:prstGeom prst="bentConnector3">
            <a:avLst>
              <a:gd name="adj1" fmla="val 864"/>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15" name="Connector: Elbow 514">
            <a:extLst>
              <a:ext uri="{FF2B5EF4-FFF2-40B4-BE49-F238E27FC236}">
                <a16:creationId xmlns:a16="http://schemas.microsoft.com/office/drawing/2014/main" id="{57D45454-B54F-193A-C9E7-B493B45E78C5}"/>
              </a:ext>
            </a:extLst>
          </p:cNvPr>
          <p:cNvCxnSpPr>
            <a:cxnSpLocks/>
          </p:cNvCxnSpPr>
          <p:nvPr/>
        </p:nvCxnSpPr>
        <p:spPr>
          <a:xfrm>
            <a:off x="2705307" y="7214408"/>
            <a:ext cx="1301263" cy="1256183"/>
          </a:xfrm>
          <a:prstGeom prst="bentConnector3">
            <a:avLst>
              <a:gd name="adj1" fmla="val 998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17" name="Connector: Elbow 516">
            <a:extLst>
              <a:ext uri="{FF2B5EF4-FFF2-40B4-BE49-F238E27FC236}">
                <a16:creationId xmlns:a16="http://schemas.microsoft.com/office/drawing/2014/main" id="{5829E6DA-B008-1EF7-3ACE-E3D3DA360FF2}"/>
              </a:ext>
            </a:extLst>
          </p:cNvPr>
          <p:cNvCxnSpPr>
            <a:cxnSpLocks/>
          </p:cNvCxnSpPr>
          <p:nvPr/>
        </p:nvCxnSpPr>
        <p:spPr>
          <a:xfrm>
            <a:off x="2864112" y="7629739"/>
            <a:ext cx="973858" cy="840853"/>
          </a:xfrm>
          <a:prstGeom prst="bentConnector3">
            <a:avLst>
              <a:gd name="adj1" fmla="val 99805"/>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521" name="TextBox 520">
            <a:extLst>
              <a:ext uri="{FF2B5EF4-FFF2-40B4-BE49-F238E27FC236}">
                <a16:creationId xmlns:a16="http://schemas.microsoft.com/office/drawing/2014/main" id="{3C000C1A-ACDA-7E62-E7CF-8DB23A4F3A94}"/>
              </a:ext>
            </a:extLst>
          </p:cNvPr>
          <p:cNvSpPr txBox="1"/>
          <p:nvPr/>
        </p:nvSpPr>
        <p:spPr>
          <a:xfrm>
            <a:off x="2315372" y="7901702"/>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Fake Data Generator</a:t>
            </a:r>
            <a:endParaRPr lang="en-US" sz="800" b="0" dirty="0"/>
          </a:p>
        </p:txBody>
      </p:sp>
      <p:cxnSp>
        <p:nvCxnSpPr>
          <p:cNvPr id="522" name="Connector: Elbow 521">
            <a:extLst>
              <a:ext uri="{FF2B5EF4-FFF2-40B4-BE49-F238E27FC236}">
                <a16:creationId xmlns:a16="http://schemas.microsoft.com/office/drawing/2014/main" id="{AA0F1B9E-C1EB-EE73-9F29-796A5F4C1254}"/>
              </a:ext>
            </a:extLst>
          </p:cNvPr>
          <p:cNvCxnSpPr>
            <a:cxnSpLocks/>
            <a:endCxn id="46" idx="0"/>
          </p:cNvCxnSpPr>
          <p:nvPr/>
        </p:nvCxnSpPr>
        <p:spPr>
          <a:xfrm rot="10800000" flipV="1">
            <a:off x="1709439" y="8043592"/>
            <a:ext cx="650776" cy="320897"/>
          </a:xfrm>
          <a:prstGeom prst="bentConnector2">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23" name="Google Shape;445;p18">
            <a:extLst>
              <a:ext uri="{FF2B5EF4-FFF2-40B4-BE49-F238E27FC236}">
                <a16:creationId xmlns:a16="http://schemas.microsoft.com/office/drawing/2014/main" id="{FD8CE8BE-0377-1A18-7B17-F0765102E7A5}"/>
              </a:ext>
            </a:extLst>
          </p:cNvPr>
          <p:cNvCxnSpPr>
            <a:cxnSpLocks/>
          </p:cNvCxnSpPr>
          <p:nvPr/>
        </p:nvCxnSpPr>
        <p:spPr>
          <a:xfrm>
            <a:off x="2108401" y="8946595"/>
            <a:ext cx="1475409" cy="0"/>
          </a:xfrm>
          <a:prstGeom prst="straightConnector1">
            <a:avLst/>
          </a:prstGeom>
          <a:noFill/>
          <a:ln w="28575" cap="flat" cmpd="sng">
            <a:solidFill>
              <a:srgbClr val="1B1311"/>
            </a:solidFill>
            <a:prstDash val="solid"/>
            <a:round/>
            <a:headEnd type="none" w="med" len="med"/>
            <a:tailEnd type="triangle" w="med" len="med"/>
          </a:ln>
        </p:spPr>
      </p:cxnSp>
      <p:pic>
        <p:nvPicPr>
          <p:cNvPr id="575" name="Graphic 574" descr="Paper outline">
            <a:extLst>
              <a:ext uri="{FF2B5EF4-FFF2-40B4-BE49-F238E27FC236}">
                <a16:creationId xmlns:a16="http://schemas.microsoft.com/office/drawing/2014/main" id="{90AA7410-E741-41DC-B0B5-7A4D43017E5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54481" y="6799789"/>
            <a:ext cx="388976" cy="388976"/>
          </a:xfrm>
          <a:prstGeom prst="rect">
            <a:avLst/>
          </a:prstGeom>
        </p:spPr>
      </p:pic>
      <p:sp>
        <p:nvSpPr>
          <p:cNvPr id="576" name="Google Shape;306;p17">
            <a:extLst>
              <a:ext uri="{FF2B5EF4-FFF2-40B4-BE49-F238E27FC236}">
                <a16:creationId xmlns:a16="http://schemas.microsoft.com/office/drawing/2014/main" id="{634C806C-282B-3185-AB26-66E836707EB7}"/>
              </a:ext>
            </a:extLst>
          </p:cNvPr>
          <p:cNvSpPr txBox="1"/>
          <p:nvPr/>
        </p:nvSpPr>
        <p:spPr>
          <a:xfrm>
            <a:off x="277246" y="8365121"/>
            <a:ext cx="928261"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src.R</a:t>
            </a:r>
            <a:endParaRPr sz="1000" b="0" dirty="0">
              <a:solidFill>
                <a:schemeClr val="dk2"/>
              </a:solidFill>
            </a:endParaRPr>
          </a:p>
        </p:txBody>
      </p:sp>
      <p:pic>
        <p:nvPicPr>
          <p:cNvPr id="577" name="Graphic 576" descr="Paper outline">
            <a:extLst>
              <a:ext uri="{FF2B5EF4-FFF2-40B4-BE49-F238E27FC236}">
                <a16:creationId xmlns:a16="http://schemas.microsoft.com/office/drawing/2014/main" id="{974AA8D0-A24F-50DF-C8CF-19227653579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56002" y="6807149"/>
            <a:ext cx="388976" cy="388976"/>
          </a:xfrm>
          <a:prstGeom prst="rect">
            <a:avLst/>
          </a:prstGeom>
        </p:spPr>
      </p:pic>
      <p:pic>
        <p:nvPicPr>
          <p:cNvPr id="578" name="Graphic 577" descr="Paper outline">
            <a:extLst>
              <a:ext uri="{FF2B5EF4-FFF2-40B4-BE49-F238E27FC236}">
                <a16:creationId xmlns:a16="http://schemas.microsoft.com/office/drawing/2014/main" id="{5652FEF5-DA26-951A-4209-1E0DA2DFB61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56002" y="7369184"/>
            <a:ext cx="388976" cy="388976"/>
          </a:xfrm>
          <a:prstGeom prst="rect">
            <a:avLst/>
          </a:prstGeom>
        </p:spPr>
      </p:pic>
      <p:pic>
        <p:nvPicPr>
          <p:cNvPr id="579" name="Graphic 578" descr="Paper outline">
            <a:extLst>
              <a:ext uri="{FF2B5EF4-FFF2-40B4-BE49-F238E27FC236}">
                <a16:creationId xmlns:a16="http://schemas.microsoft.com/office/drawing/2014/main" id="{39D170D7-A2C6-EA16-AC67-9806BDE0FC0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46889" y="8228150"/>
            <a:ext cx="388976" cy="388976"/>
          </a:xfrm>
          <a:prstGeom prst="rect">
            <a:avLst/>
          </a:prstGeom>
        </p:spPr>
      </p:pic>
      <p:sp>
        <p:nvSpPr>
          <p:cNvPr id="580" name="Google Shape;306;p17">
            <a:extLst>
              <a:ext uri="{FF2B5EF4-FFF2-40B4-BE49-F238E27FC236}">
                <a16:creationId xmlns:a16="http://schemas.microsoft.com/office/drawing/2014/main" id="{CF4A529D-B91D-2180-4AB7-22CDFFFA5E5D}"/>
              </a:ext>
            </a:extLst>
          </p:cNvPr>
          <p:cNvSpPr txBox="1"/>
          <p:nvPr/>
        </p:nvSpPr>
        <p:spPr>
          <a:xfrm>
            <a:off x="775820" y="7023617"/>
            <a:ext cx="940079" cy="24014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Git.R</a:t>
            </a:r>
            <a:endParaRPr sz="1000" b="0" dirty="0">
              <a:solidFill>
                <a:schemeClr val="dk2"/>
              </a:solidFill>
            </a:endParaRPr>
          </a:p>
        </p:txBody>
      </p:sp>
      <p:sp>
        <p:nvSpPr>
          <p:cNvPr id="581" name="Google Shape;306;p17">
            <a:extLst>
              <a:ext uri="{FF2B5EF4-FFF2-40B4-BE49-F238E27FC236}">
                <a16:creationId xmlns:a16="http://schemas.microsoft.com/office/drawing/2014/main" id="{7902511A-8541-E12A-61CC-7AD74DCA6B7C}"/>
              </a:ext>
            </a:extLst>
          </p:cNvPr>
          <p:cNvSpPr txBox="1"/>
          <p:nvPr/>
        </p:nvSpPr>
        <p:spPr>
          <a:xfrm>
            <a:off x="256727" y="6953566"/>
            <a:ext cx="987526"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Mail.R</a:t>
            </a:r>
            <a:endParaRPr sz="1000" b="0" dirty="0">
              <a:solidFill>
                <a:schemeClr val="dk2"/>
              </a:solidFill>
            </a:endParaRPr>
          </a:p>
        </p:txBody>
      </p:sp>
      <p:sp>
        <p:nvSpPr>
          <p:cNvPr id="585" name="Oval 584">
            <a:extLst>
              <a:ext uri="{FF2B5EF4-FFF2-40B4-BE49-F238E27FC236}">
                <a16:creationId xmlns:a16="http://schemas.microsoft.com/office/drawing/2014/main" id="{FAB98699-5C25-C0BB-808D-4672496C56F3}"/>
              </a:ext>
            </a:extLst>
          </p:cNvPr>
          <p:cNvSpPr/>
          <p:nvPr/>
        </p:nvSpPr>
        <p:spPr>
          <a:xfrm>
            <a:off x="977071" y="6784343"/>
            <a:ext cx="550867" cy="525694"/>
          </a:xfrm>
          <a:prstGeom prst="ellipse">
            <a:avLst/>
          </a:prstGeom>
          <a:noFill/>
          <a:ln w="12700" cap="flat">
            <a:solidFill>
              <a:srgbClr val="4C4C4C"/>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sp>
        <p:nvSpPr>
          <p:cNvPr id="586" name="Oval 585">
            <a:extLst>
              <a:ext uri="{FF2B5EF4-FFF2-40B4-BE49-F238E27FC236}">
                <a16:creationId xmlns:a16="http://schemas.microsoft.com/office/drawing/2014/main" id="{E69B0CD7-381A-5470-BA49-BF655A55EF03}"/>
              </a:ext>
            </a:extLst>
          </p:cNvPr>
          <p:cNvSpPr/>
          <p:nvPr/>
        </p:nvSpPr>
        <p:spPr>
          <a:xfrm>
            <a:off x="1729966" y="6429895"/>
            <a:ext cx="2158097" cy="2196943"/>
          </a:xfrm>
          <a:prstGeom prst="ellipse">
            <a:avLst/>
          </a:prstGeom>
          <a:noFill/>
          <a:ln w="12700" cap="flat">
            <a:solidFill>
              <a:srgbClr val="4C4C4C"/>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cxnSp>
        <p:nvCxnSpPr>
          <p:cNvPr id="587" name="Straight Connector 586">
            <a:extLst>
              <a:ext uri="{FF2B5EF4-FFF2-40B4-BE49-F238E27FC236}">
                <a16:creationId xmlns:a16="http://schemas.microsoft.com/office/drawing/2014/main" id="{F194CAE3-D732-DB5A-3362-05A7492B4A89}"/>
              </a:ext>
            </a:extLst>
          </p:cNvPr>
          <p:cNvCxnSpPr>
            <a:cxnSpLocks/>
            <a:endCxn id="585" idx="3"/>
          </p:cNvCxnSpPr>
          <p:nvPr/>
        </p:nvCxnSpPr>
        <p:spPr>
          <a:xfrm flipH="1" flipV="1">
            <a:off x="1057744" y="7233051"/>
            <a:ext cx="756816" cy="744979"/>
          </a:xfrm>
          <a:prstGeom prst="line">
            <a:avLst/>
          </a:prstGeom>
          <a:ln w="127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91" name="Straight Connector 590">
            <a:extLst>
              <a:ext uri="{FF2B5EF4-FFF2-40B4-BE49-F238E27FC236}">
                <a16:creationId xmlns:a16="http://schemas.microsoft.com/office/drawing/2014/main" id="{2C7F26F5-1B99-D928-7E13-045F122A9867}"/>
              </a:ext>
            </a:extLst>
          </p:cNvPr>
          <p:cNvCxnSpPr>
            <a:cxnSpLocks/>
            <a:endCxn id="585" idx="0"/>
          </p:cNvCxnSpPr>
          <p:nvPr/>
        </p:nvCxnSpPr>
        <p:spPr>
          <a:xfrm flipH="1">
            <a:off x="1252505" y="6495129"/>
            <a:ext cx="1215870" cy="289214"/>
          </a:xfrm>
          <a:prstGeom prst="line">
            <a:avLst/>
          </a:prstGeom>
          <a:ln w="127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94" name="TextBox 593">
            <a:extLst>
              <a:ext uri="{FF2B5EF4-FFF2-40B4-BE49-F238E27FC236}">
                <a16:creationId xmlns:a16="http://schemas.microsoft.com/office/drawing/2014/main" id="{0695E4B3-32DA-BEC4-6120-FAB7EEF3A16F}"/>
              </a:ext>
            </a:extLst>
          </p:cNvPr>
          <p:cNvSpPr txBox="1"/>
          <p:nvPr/>
        </p:nvSpPr>
        <p:spPr>
          <a:xfrm>
            <a:off x="592029" y="7833656"/>
            <a:ext cx="536368" cy="5308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dirty="0"/>
              <a:t>.</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95" name="Google Shape;312;p17">
            <a:extLst>
              <a:ext uri="{FF2B5EF4-FFF2-40B4-BE49-F238E27FC236}">
                <a16:creationId xmlns:a16="http://schemas.microsoft.com/office/drawing/2014/main" id="{EBD79D38-756B-72FD-5221-8C3A36580AA7}"/>
              </a:ext>
            </a:extLst>
          </p:cNvPr>
          <p:cNvSpPr txBox="1"/>
          <p:nvPr/>
        </p:nvSpPr>
        <p:spPr>
          <a:xfrm>
            <a:off x="605262" y="9189616"/>
            <a:ext cx="2240541"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400" dirty="0"/>
              <a:t>Example.R</a:t>
            </a:r>
            <a:endParaRPr sz="1400" dirty="0"/>
          </a:p>
        </p:txBody>
      </p:sp>
      <p:sp>
        <p:nvSpPr>
          <p:cNvPr id="597" name="TextBox 596">
            <a:extLst>
              <a:ext uri="{FF2B5EF4-FFF2-40B4-BE49-F238E27FC236}">
                <a16:creationId xmlns:a16="http://schemas.microsoft.com/office/drawing/2014/main" id="{18C94ED2-F50C-4B56-3FE9-1A431AE2E92F}"/>
              </a:ext>
            </a:extLst>
          </p:cNvPr>
          <p:cNvSpPr txBox="1"/>
          <p:nvPr/>
        </p:nvSpPr>
        <p:spPr>
          <a:xfrm>
            <a:off x="590646" y="7732502"/>
            <a:ext cx="366168" cy="7411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dirty="0"/>
              <a:t>.</a:t>
            </a:r>
          </a:p>
          <a:p>
            <a:pPr marL="0" marR="0" indent="0" algn="l" defTabSz="584200" rtl="0" fontAlgn="auto" latinLnBrk="0" hangingPunct="0">
              <a:lnSpc>
                <a:spcPct val="100000"/>
              </a:lnSpc>
              <a:spcBef>
                <a:spcPts val="200"/>
              </a:spcBef>
              <a:spcAft>
                <a:spcPts val="0"/>
              </a:spcAft>
              <a:buClrTx/>
              <a:buSzTx/>
              <a:buFontTx/>
              <a:buNone/>
              <a:tabLst/>
            </a:pPr>
            <a:r>
              <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rPr>
              <a:t>.</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603" name="Use headers, colors, and/or backgrounds to separate or group together sections.">
            <a:extLst>
              <a:ext uri="{FF2B5EF4-FFF2-40B4-BE49-F238E27FC236}">
                <a16:creationId xmlns:a16="http://schemas.microsoft.com/office/drawing/2014/main" id="{AF73521A-5061-0ADB-77B3-6F8FFD50F560}"/>
              </a:ext>
            </a:extLst>
          </p:cNvPr>
          <p:cNvSpPr txBox="1"/>
          <p:nvPr/>
        </p:nvSpPr>
        <p:spPr>
          <a:xfrm>
            <a:off x="224958" y="5909428"/>
            <a:ext cx="4251862" cy="6088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 Anchor: Kaiaulu has many modules but under the hood, they are downloaders, parsers, and transforms and hey can be tested in the same manner. </a:t>
            </a:r>
          </a:p>
        </p:txBody>
      </p:sp>
      <p:sp>
        <p:nvSpPr>
          <p:cNvPr id="604" name="Use headers, colors, and/or backgrounds to separate or group together sections.">
            <a:extLst>
              <a:ext uri="{FF2B5EF4-FFF2-40B4-BE49-F238E27FC236}">
                <a16:creationId xmlns:a16="http://schemas.microsoft.com/office/drawing/2014/main" id="{2953A5B3-CED3-318B-D421-C901B1787CA3}"/>
              </a:ext>
            </a:extLst>
          </p:cNvPr>
          <p:cNvSpPr txBox="1"/>
          <p:nvPr/>
        </p:nvSpPr>
        <p:spPr>
          <a:xfrm>
            <a:off x="275721" y="9694732"/>
            <a:ext cx="4251862" cy="4426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Anchor: Fake Data Generator is used to construct example, and they example are used to test the parsers</a:t>
            </a:r>
          </a:p>
        </p:txBody>
      </p:sp>
      <p:grpSp>
        <p:nvGrpSpPr>
          <p:cNvPr id="619" name="Group 618">
            <a:extLst>
              <a:ext uri="{FF2B5EF4-FFF2-40B4-BE49-F238E27FC236}">
                <a16:creationId xmlns:a16="http://schemas.microsoft.com/office/drawing/2014/main" id="{B0DD357A-121C-7398-2BF0-79943C9D7673}"/>
              </a:ext>
            </a:extLst>
          </p:cNvPr>
          <p:cNvGrpSpPr/>
          <p:nvPr/>
        </p:nvGrpSpPr>
        <p:grpSpPr>
          <a:xfrm>
            <a:off x="4796524" y="1382716"/>
            <a:ext cx="4328541" cy="4839683"/>
            <a:chOff x="4817277" y="5482284"/>
            <a:chExt cx="4328541" cy="4839683"/>
          </a:xfrm>
        </p:grpSpPr>
        <p:sp>
          <p:nvSpPr>
            <p:cNvPr id="501" name="TextBox 500">
              <a:extLst>
                <a:ext uri="{FF2B5EF4-FFF2-40B4-BE49-F238E27FC236}">
                  <a16:creationId xmlns:a16="http://schemas.microsoft.com/office/drawing/2014/main" id="{7FF9D9D6-1A0B-0C2F-9C75-A4A3C3BD3935}"/>
                </a:ext>
              </a:extLst>
            </p:cNvPr>
            <p:cNvSpPr txBox="1"/>
            <p:nvPr/>
          </p:nvSpPr>
          <p:spPr>
            <a:xfrm>
              <a:off x="4961440" y="7605920"/>
              <a:ext cx="4184378" cy="271604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tx1">
                      <a:lumMod val="50000"/>
                    </a:schemeClr>
                  </a:solidFill>
                </a:rPr>
                <a:t>Kaiaulu’s native R code takes the form of three main types of functions:</a:t>
              </a:r>
            </a:p>
            <a:p>
              <a:pPr marL="171450" indent="-171450">
                <a:buFont typeface="Arial" panose="020B0604020202020204" pitchFamily="34" charset="0"/>
                <a:buChar char="•"/>
              </a:pPr>
              <a:r>
                <a:rPr lang="en-US" b="0" dirty="0">
                  <a:solidFill>
                    <a:schemeClr val="tx1">
                      <a:lumMod val="50000"/>
                    </a:schemeClr>
                  </a:solidFill>
                  <a:latin typeface="Source Sans Pro" panose="020B0503030403020204" pitchFamily="34" charset="0"/>
                  <a:ea typeface="Source Sans Pro" panose="020B0503030403020204" pitchFamily="34" charset="0"/>
                </a:rPr>
                <a:t>Downloaders download raw data from a website</a:t>
              </a:r>
            </a:p>
            <a:p>
              <a:pPr marL="171450" lvl="7" indent="-171450">
                <a:buFont typeface="Arial" panose="020B0604020202020204" pitchFamily="34" charset="0"/>
                <a:buChar char="•"/>
              </a:pPr>
              <a:r>
                <a:rPr lang="en-US" b="0" dirty="0">
                  <a:solidFill>
                    <a:schemeClr val="tx1">
                      <a:lumMod val="50000"/>
                    </a:schemeClr>
                  </a:solidFill>
                  <a:latin typeface="Source Sans Pro" panose="020B0503030403020204" pitchFamily="34" charset="0"/>
                  <a:ea typeface="Source Sans Pro" panose="020B0503030403020204" pitchFamily="34" charset="0"/>
                </a:rPr>
                <a:t>Parsers change the downloaded raw data into parsed R tables</a:t>
              </a:r>
            </a:p>
            <a:p>
              <a:pPr marL="171450" lvl="2" indent="-171450">
                <a:buFont typeface="Arial" panose="020B0604020202020204" pitchFamily="34" charset="0"/>
                <a:buChar char="•"/>
              </a:pPr>
              <a:r>
                <a:rPr lang="en-US" b="0" dirty="0">
                  <a:solidFill>
                    <a:schemeClr val="tx1">
                      <a:lumMod val="50000"/>
                    </a:schemeClr>
                  </a:solidFill>
                  <a:latin typeface="Source Sans Pro" panose="020B0503030403020204" pitchFamily="34" charset="0"/>
                  <a:ea typeface="Source Sans Pro" panose="020B0503030403020204" pitchFamily="34" charset="0"/>
                </a:rPr>
                <a:t>Transforms change the parsed data into parsed node and edge lists, and then present the data in the form of a graph specified by the user</a:t>
              </a:r>
            </a:p>
            <a:p>
              <a:pPr lvl="2" indent="0"/>
              <a:r>
                <a:rPr lang="en-US" b="0" dirty="0">
                  <a:solidFill>
                    <a:schemeClr val="tx1">
                      <a:lumMod val="50000"/>
                    </a:schemeClr>
                  </a:solidFill>
                  <a:latin typeface="Source Sans Pro" panose="020B0503030403020204" pitchFamily="34" charset="0"/>
                  <a:ea typeface="Source Sans Pro" panose="020B0503030403020204" pitchFamily="34" charset="0"/>
                </a:rPr>
                <a:t>Each of these functions need to be tested for in different ways:</a:t>
              </a:r>
            </a:p>
            <a:p>
              <a:pPr marL="171450" lvl="2" indent="-171450">
                <a:buFont typeface="Arial" panose="020B0604020202020204" pitchFamily="34" charset="0"/>
                <a:buChar char="•"/>
              </a:pPr>
              <a:r>
                <a:rPr lang="en-US" b="0" dirty="0">
                  <a:solidFill>
                    <a:schemeClr val="tx1">
                      <a:lumMod val="50000"/>
                    </a:schemeClr>
                  </a:solidFill>
                  <a:latin typeface="Source Sans Pro" panose="020B0503030403020204" pitchFamily="34" charset="0"/>
                  <a:ea typeface="Source Sans Pro" panose="020B0503030403020204" pitchFamily="34" charset="0"/>
                </a:rPr>
                <a:t>Downloaders require a fake URL to be generated in order to be tested for</a:t>
              </a:r>
            </a:p>
            <a:p>
              <a:pPr marL="171450" lvl="2" indent="-171450">
                <a:buFont typeface="Arial" panose="020B0604020202020204" pitchFamily="34" charset="0"/>
                <a:buChar char="•"/>
              </a:pPr>
              <a:r>
                <a:rPr lang="en-US" b="0" dirty="0">
                  <a:solidFill>
                    <a:schemeClr val="tx1">
                      <a:lumMod val="50000"/>
                    </a:schemeClr>
                  </a:solidFill>
                  <a:latin typeface="Source Sans Pro" panose="020B0503030403020204" pitchFamily="34" charset="0"/>
                  <a:ea typeface="Source Sans Pro" panose="020B0503030403020204" pitchFamily="34" charset="0"/>
                </a:rPr>
                <a:t>the nodes and edge tables should be tested for the most</a:t>
              </a:r>
            </a:p>
            <a:p>
              <a:pPr marL="171450" marR="0" indent="-171450" algn="l" defTabSz="584200" rtl="0" fontAlgn="auto" latinLnBrk="0" hangingPunct="0">
                <a:lnSpc>
                  <a:spcPct val="100000"/>
                </a:lnSpc>
                <a:spcBef>
                  <a:spcPts val="200"/>
                </a:spcBef>
                <a:spcAft>
                  <a:spcPts val="0"/>
                </a:spcAft>
                <a:buClrTx/>
                <a:buSzTx/>
                <a:buFont typeface="Arial" panose="020B0604020202020204" pitchFamily="34" charset="0"/>
                <a:buChar char="•"/>
                <a:tabLst/>
              </a:pPr>
              <a:endParaRPr lang="en-US" b="0" dirty="0">
                <a:solidFill>
                  <a:schemeClr val="tx1"/>
                </a:solidFill>
                <a:effectLst/>
                <a:latin typeface="Source Sans Pro" panose="020B0503030403020204" pitchFamily="34" charset="0"/>
                <a:ea typeface="Source Sans Pro" panose="020B0503030403020204" pitchFamily="34" charset="0"/>
              </a:endParaRPr>
            </a:p>
          </p:txBody>
        </p:sp>
        <p:sp>
          <p:nvSpPr>
            <p:cNvPr id="493" name="Line">
              <a:extLst>
                <a:ext uri="{FF2B5EF4-FFF2-40B4-BE49-F238E27FC236}">
                  <a16:creationId xmlns:a16="http://schemas.microsoft.com/office/drawing/2014/main" id="{7A9A3B7E-EDE2-02E6-F6A7-9F95CAE28034}"/>
                </a:ext>
              </a:extLst>
            </p:cNvPr>
            <p:cNvSpPr/>
            <p:nvPr/>
          </p:nvSpPr>
          <p:spPr>
            <a:xfrm flipV="1">
              <a:off x="4817277" y="5876415"/>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605" name="Manipulate Variables">
              <a:extLst>
                <a:ext uri="{FF2B5EF4-FFF2-40B4-BE49-F238E27FC236}">
                  <a16:creationId xmlns:a16="http://schemas.microsoft.com/office/drawing/2014/main" id="{5C009686-D105-9DC9-1FCF-31C12433727D}"/>
                </a:ext>
              </a:extLst>
            </p:cNvPr>
            <p:cNvSpPr txBox="1"/>
            <p:nvPr/>
          </p:nvSpPr>
          <p:spPr>
            <a:xfrm>
              <a:off x="4817277" y="5482284"/>
              <a:ext cx="375423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Failing Gracefully: Try Catch</a:t>
              </a:r>
            </a:p>
          </p:txBody>
        </p:sp>
        <p:pic>
          <p:nvPicPr>
            <p:cNvPr id="606" name="Picture 2" descr="Fly Bug Icon Stock Illustrations ...">
              <a:extLst>
                <a:ext uri="{FF2B5EF4-FFF2-40B4-BE49-F238E27FC236}">
                  <a16:creationId xmlns:a16="http://schemas.microsoft.com/office/drawing/2014/main" id="{BD726684-D42C-863D-68D7-52CC4C8548E3}"/>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rot="14815143">
              <a:off x="7434766" y="6369538"/>
              <a:ext cx="633996" cy="633996"/>
            </a:xfrm>
            <a:prstGeom prst="rect">
              <a:avLst/>
            </a:prstGeom>
            <a:noFill/>
            <a:extLst>
              <a:ext uri="{909E8E84-426E-40DD-AFC4-6F175D3DCCD1}">
                <a14:hiddenFill xmlns:a14="http://schemas.microsoft.com/office/drawing/2010/main">
                  <a:solidFill>
                    <a:srgbClr val="FFFFFF"/>
                  </a:solidFill>
                </a14:hiddenFill>
              </a:ext>
            </a:extLst>
          </p:spPr>
        </p:pic>
        <p:sp>
          <p:nvSpPr>
            <p:cNvPr id="607" name="Rectangle: Rounded Corners 606">
              <a:extLst>
                <a:ext uri="{FF2B5EF4-FFF2-40B4-BE49-F238E27FC236}">
                  <a16:creationId xmlns:a16="http://schemas.microsoft.com/office/drawing/2014/main" id="{74077ED3-A6EF-5B76-B872-09A82ECD21C5}"/>
                </a:ext>
              </a:extLst>
            </p:cNvPr>
            <p:cNvSpPr/>
            <p:nvPr/>
          </p:nvSpPr>
          <p:spPr>
            <a:xfrm>
              <a:off x="7425389" y="6498311"/>
              <a:ext cx="250082" cy="217549"/>
            </a:xfrm>
            <a:prstGeom prst="roundRect">
              <a:avLst/>
            </a:prstGeom>
            <a:solidFill>
              <a:schemeClr val="bg1"/>
            </a:solidFill>
            <a:ln w="6350" cap="flat">
              <a:solidFill>
                <a:srgbClr val="FF0000"/>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pic>
          <p:nvPicPr>
            <p:cNvPr id="611" name="Graphic 610" descr="Paper outline">
              <a:extLst>
                <a:ext uri="{FF2B5EF4-FFF2-40B4-BE49-F238E27FC236}">
                  <a16:creationId xmlns:a16="http://schemas.microsoft.com/office/drawing/2014/main" id="{5A0ABF36-99EA-F03E-0689-19C123DB4B7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028015" y="6212272"/>
              <a:ext cx="985647" cy="985647"/>
            </a:xfrm>
            <a:prstGeom prst="rect">
              <a:avLst/>
            </a:prstGeom>
          </p:spPr>
        </p:pic>
        <p:pic>
          <p:nvPicPr>
            <p:cNvPr id="612" name="Graphic 611" descr="Paper outline">
              <a:extLst>
                <a:ext uri="{FF2B5EF4-FFF2-40B4-BE49-F238E27FC236}">
                  <a16:creationId xmlns:a16="http://schemas.microsoft.com/office/drawing/2014/main" id="{1E66EFC0-0C3C-7EC8-6AC9-423E93E49E3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462893" y="6246670"/>
              <a:ext cx="985647" cy="985647"/>
            </a:xfrm>
            <a:prstGeom prst="rect">
              <a:avLst/>
            </a:prstGeom>
          </p:spPr>
        </p:pic>
        <p:pic>
          <p:nvPicPr>
            <p:cNvPr id="614" name="Google Shape;232;p15">
              <a:extLst>
                <a:ext uri="{FF2B5EF4-FFF2-40B4-BE49-F238E27FC236}">
                  <a16:creationId xmlns:a16="http://schemas.microsoft.com/office/drawing/2014/main" id="{A1313BAE-910A-6B0A-E92A-9EC117A62128}"/>
                </a:ext>
              </a:extLst>
            </p:cNvPr>
            <p:cNvPicPr preferRelativeResize="0"/>
            <p:nvPr/>
          </p:nvPicPr>
          <p:blipFill>
            <a:blip r:embed="rId15">
              <a:alphaModFix/>
            </a:blip>
            <a:stretch>
              <a:fillRect/>
            </a:stretch>
          </p:blipFill>
          <p:spPr>
            <a:xfrm>
              <a:off x="4971214" y="6511756"/>
              <a:ext cx="669411" cy="482068"/>
            </a:xfrm>
            <a:prstGeom prst="rect">
              <a:avLst/>
            </a:prstGeom>
            <a:noFill/>
            <a:ln>
              <a:noFill/>
            </a:ln>
          </p:spPr>
        </p:pic>
        <p:pic>
          <p:nvPicPr>
            <p:cNvPr id="615" name="Picture 2" descr="Fly Bug Icon Stock Illustrations ...">
              <a:extLst>
                <a:ext uri="{FF2B5EF4-FFF2-40B4-BE49-F238E27FC236}">
                  <a16:creationId xmlns:a16="http://schemas.microsoft.com/office/drawing/2014/main" id="{610B096E-8F0C-C659-EBEE-C8A665CEE0FE}"/>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rot="14815143">
              <a:off x="5819520" y="6330830"/>
              <a:ext cx="633996" cy="633996"/>
            </a:xfrm>
            <a:prstGeom prst="rect">
              <a:avLst/>
            </a:prstGeom>
            <a:noFill/>
            <a:extLst>
              <a:ext uri="{909E8E84-426E-40DD-AFC4-6F175D3DCCD1}">
                <a14:hiddenFill xmlns:a14="http://schemas.microsoft.com/office/drawing/2010/main">
                  <a:solidFill>
                    <a:srgbClr val="FFFFFF"/>
                  </a:solidFill>
                </a14:hiddenFill>
              </a:ext>
            </a:extLst>
          </p:spPr>
        </p:pic>
        <p:sp>
          <p:nvSpPr>
            <p:cNvPr id="616" name="Rectangle: Rounded Corners 615">
              <a:extLst>
                <a:ext uri="{FF2B5EF4-FFF2-40B4-BE49-F238E27FC236}">
                  <a16:creationId xmlns:a16="http://schemas.microsoft.com/office/drawing/2014/main" id="{39308A0F-C0AE-09DC-BB66-4BA6D34F41FE}"/>
                </a:ext>
              </a:extLst>
            </p:cNvPr>
            <p:cNvSpPr/>
            <p:nvPr/>
          </p:nvSpPr>
          <p:spPr>
            <a:xfrm>
              <a:off x="5820969" y="6465706"/>
              <a:ext cx="250082" cy="217549"/>
            </a:xfrm>
            <a:prstGeom prst="roundRect">
              <a:avLst/>
            </a:prstGeom>
            <a:solidFill>
              <a:srgbClr val="FF0000"/>
            </a:solidFill>
            <a:ln w="6350" cap="flat">
              <a:solidFill>
                <a:srgbClr val="FF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617" name="TextBox 616">
              <a:extLst>
                <a:ext uri="{FF2B5EF4-FFF2-40B4-BE49-F238E27FC236}">
                  <a16:creationId xmlns:a16="http://schemas.microsoft.com/office/drawing/2014/main" id="{A214B877-9EA1-B5AF-72DB-084BEC8D7689}"/>
                </a:ext>
              </a:extLst>
            </p:cNvPr>
            <p:cNvSpPr txBox="1"/>
            <p:nvPr/>
          </p:nvSpPr>
          <p:spPr>
            <a:xfrm>
              <a:off x="5895085" y="6917717"/>
              <a:ext cx="1156471" cy="2846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400" b="0" i="0" u="none" strike="noStrike" cap="none" spc="0" normalizeH="0" baseline="0" dirty="0">
                  <a:ln>
                    <a:noFill/>
                  </a:ln>
                  <a:solidFill>
                    <a:srgbClr val="4C4C4C"/>
                  </a:solidFill>
                  <a:effectLst/>
                  <a:uFillTx/>
                  <a:latin typeface="Source Sans Pro"/>
                  <a:ea typeface="Source Sans Pro"/>
                  <a:cs typeface="Source Sans Pro"/>
                  <a:sym typeface="Source Sans Pro"/>
                </a:rPr>
                <a:t>Incorrect Git Log </a:t>
              </a:r>
            </a:p>
            <a:p>
              <a:pPr marL="0" marR="0" indent="0" algn="l" defTabSz="584200" rtl="0" fontAlgn="auto" latinLnBrk="0" hangingPunct="0">
                <a:lnSpc>
                  <a:spcPct val="100000"/>
                </a:lnSpc>
                <a:spcBef>
                  <a:spcPts val="200"/>
                </a:spcBef>
                <a:spcAft>
                  <a:spcPts val="0"/>
                </a:spcAft>
                <a:buClrTx/>
                <a:buSzTx/>
                <a:buFontTx/>
                <a:buNone/>
                <a:tabLst/>
              </a:pPr>
              <a:r>
                <a:rPr kumimoji="0" lang="en-US" sz="400" b="0" i="0" u="none" strike="noStrike" cap="none" spc="0" normalizeH="0" baseline="0" dirty="0">
                  <a:ln>
                    <a:noFill/>
                  </a:ln>
                  <a:solidFill>
                    <a:srgbClr val="4C4C4C"/>
                  </a:solidFill>
                  <a:effectLst/>
                  <a:uFillTx/>
                  <a:latin typeface="Source Sans Pro"/>
                  <a:ea typeface="Source Sans Pro"/>
                  <a:cs typeface="Source Sans Pro"/>
                  <a:sym typeface="Source Sans Pro"/>
                </a:rPr>
                <a:t>Path specified</a:t>
              </a:r>
            </a:p>
          </p:txBody>
        </p:sp>
      </p:grpSp>
      <p:pic>
        <p:nvPicPr>
          <p:cNvPr id="3" name="Google Shape;227;p15">
            <a:extLst>
              <a:ext uri="{FF2B5EF4-FFF2-40B4-BE49-F238E27FC236}">
                <a16:creationId xmlns:a16="http://schemas.microsoft.com/office/drawing/2014/main" id="{A22C1105-565B-D1DB-6644-FE48CE41E8AD}"/>
              </a:ext>
            </a:extLst>
          </p:cNvPr>
          <p:cNvPicPr preferRelativeResize="0">
            <a:picLocks noChangeAspect="1"/>
          </p:cNvPicPr>
          <p:nvPr/>
        </p:nvPicPr>
        <p:blipFill>
          <a:blip r:embed="rId10">
            <a:alphaModFix/>
          </a:blip>
          <a:stretch>
            <a:fillRect/>
          </a:stretch>
        </p:blipFill>
        <p:spPr>
          <a:xfrm>
            <a:off x="6498830" y="9074476"/>
            <a:ext cx="398269" cy="362602"/>
          </a:xfrm>
          <a:prstGeom prst="rect">
            <a:avLst/>
          </a:prstGeom>
          <a:noFill/>
          <a:ln>
            <a:noFill/>
          </a:ln>
        </p:spPr>
      </p:pic>
      <p:sp>
        <p:nvSpPr>
          <p:cNvPr id="31" name="TextBox 30">
            <a:extLst>
              <a:ext uri="{FF2B5EF4-FFF2-40B4-BE49-F238E27FC236}">
                <a16:creationId xmlns:a16="http://schemas.microsoft.com/office/drawing/2014/main" id="{D295C349-2B6C-52B8-3295-E0D255A85128}"/>
              </a:ext>
            </a:extLst>
          </p:cNvPr>
          <p:cNvSpPr txBox="1"/>
          <p:nvPr/>
        </p:nvSpPr>
        <p:spPr>
          <a:xfrm>
            <a:off x="6492515" y="9235151"/>
            <a:ext cx="189461"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500" dirty="0"/>
              <a:t>❌</a:t>
            </a:r>
            <a:endParaRPr kumimoji="0" lang="en-US" sz="5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pic>
        <p:nvPicPr>
          <p:cNvPr id="33" name="Google Shape;227;p15">
            <a:extLst>
              <a:ext uri="{FF2B5EF4-FFF2-40B4-BE49-F238E27FC236}">
                <a16:creationId xmlns:a16="http://schemas.microsoft.com/office/drawing/2014/main" id="{DDFFA41B-8DEF-D18C-536A-FD7DA0373A71}"/>
              </a:ext>
            </a:extLst>
          </p:cNvPr>
          <p:cNvPicPr preferRelativeResize="0">
            <a:picLocks noChangeAspect="1"/>
          </p:cNvPicPr>
          <p:nvPr/>
        </p:nvPicPr>
        <p:blipFill>
          <a:blip r:embed="rId10">
            <a:alphaModFix/>
          </a:blip>
          <a:stretch>
            <a:fillRect/>
          </a:stretch>
        </p:blipFill>
        <p:spPr>
          <a:xfrm>
            <a:off x="8601660" y="9060777"/>
            <a:ext cx="398269" cy="362602"/>
          </a:xfrm>
          <a:prstGeom prst="rect">
            <a:avLst/>
          </a:prstGeom>
          <a:noFill/>
          <a:ln>
            <a:noFill/>
          </a:ln>
        </p:spPr>
      </p:pic>
      <p:sp>
        <p:nvSpPr>
          <p:cNvPr id="34" name="TextBox 33">
            <a:extLst>
              <a:ext uri="{FF2B5EF4-FFF2-40B4-BE49-F238E27FC236}">
                <a16:creationId xmlns:a16="http://schemas.microsoft.com/office/drawing/2014/main" id="{F91B1D94-F0D3-AC82-A2C0-A446D77F4B85}"/>
              </a:ext>
            </a:extLst>
          </p:cNvPr>
          <p:cNvSpPr txBox="1"/>
          <p:nvPr/>
        </p:nvSpPr>
        <p:spPr>
          <a:xfrm>
            <a:off x="8601660" y="9224280"/>
            <a:ext cx="189461"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500" dirty="0"/>
              <a:t>✅</a:t>
            </a:r>
            <a:endParaRPr kumimoji="0" lang="en-US" sz="5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502" name="Group 501">
            <a:extLst>
              <a:ext uri="{FF2B5EF4-FFF2-40B4-BE49-F238E27FC236}">
                <a16:creationId xmlns:a16="http://schemas.microsoft.com/office/drawing/2014/main" id="{DB15B6FC-77CD-CDFC-FFAA-1278ABA9A0A1}"/>
              </a:ext>
            </a:extLst>
          </p:cNvPr>
          <p:cNvGrpSpPr/>
          <p:nvPr/>
        </p:nvGrpSpPr>
        <p:grpSpPr>
          <a:xfrm>
            <a:off x="5491861" y="9109816"/>
            <a:ext cx="296516" cy="294538"/>
            <a:chOff x="5367466" y="9150431"/>
            <a:chExt cx="296516" cy="294538"/>
          </a:xfrm>
        </p:grpSpPr>
        <p:sp>
          <p:nvSpPr>
            <p:cNvPr id="53" name="Google Shape;236;p15">
              <a:extLst>
                <a:ext uri="{FF2B5EF4-FFF2-40B4-BE49-F238E27FC236}">
                  <a16:creationId xmlns:a16="http://schemas.microsoft.com/office/drawing/2014/main" id="{16556768-6A69-152F-06BA-70F4D53D00CF}"/>
                </a:ext>
              </a:extLst>
            </p:cNvPr>
            <p:cNvSpPr>
              <a:spLocks noChangeAspect="1"/>
            </p:cNvSpPr>
            <p:nvPr/>
          </p:nvSpPr>
          <p:spPr>
            <a:xfrm>
              <a:off x="5367466" y="9150431"/>
              <a:ext cx="296516" cy="29453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cxnSp>
          <p:nvCxnSpPr>
            <p:cNvPr id="54" name="Straight Connector 53">
              <a:extLst>
                <a:ext uri="{FF2B5EF4-FFF2-40B4-BE49-F238E27FC236}">
                  <a16:creationId xmlns:a16="http://schemas.microsoft.com/office/drawing/2014/main" id="{D1202AE4-23E6-FADE-0E47-A0F0A3F7BB12}"/>
                </a:ext>
              </a:extLst>
            </p:cNvPr>
            <p:cNvCxnSpPr>
              <a:cxnSpLocks/>
            </p:cNvCxnSpPr>
            <p:nvPr/>
          </p:nvCxnSpPr>
          <p:spPr>
            <a:xfrm flipH="1">
              <a:off x="5438395" y="9302560"/>
              <a:ext cx="154656" cy="0"/>
            </a:xfrm>
            <a:prstGeom prst="line">
              <a:avLst/>
            </a:prstGeom>
            <a:ln w="12700" cap="rnd"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5" name="Oval 54">
              <a:extLst>
                <a:ext uri="{FF2B5EF4-FFF2-40B4-BE49-F238E27FC236}">
                  <a16:creationId xmlns:a16="http://schemas.microsoft.com/office/drawing/2014/main" id="{28DE4029-2EE4-E5CF-D76B-9842103AA771}"/>
                </a:ext>
              </a:extLst>
            </p:cNvPr>
            <p:cNvSpPr>
              <a:spLocks noChangeAspect="1"/>
            </p:cNvSpPr>
            <p:nvPr/>
          </p:nvSpPr>
          <p:spPr>
            <a:xfrm>
              <a:off x="5482180" y="9269602"/>
              <a:ext cx="67087" cy="65915"/>
            </a:xfrm>
            <a:prstGeom prst="ellipse">
              <a:avLst/>
            </a:prstGeom>
            <a:solidFill>
              <a:schemeClr val="bg2">
                <a:lumMod val="10000"/>
              </a:schemeClr>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grpSp>
      <p:grpSp>
        <p:nvGrpSpPr>
          <p:cNvPr id="495" name="Group 494">
            <a:extLst>
              <a:ext uri="{FF2B5EF4-FFF2-40B4-BE49-F238E27FC236}">
                <a16:creationId xmlns:a16="http://schemas.microsoft.com/office/drawing/2014/main" id="{CF6733E1-22C0-44BF-1C96-A639884CA600}"/>
              </a:ext>
            </a:extLst>
          </p:cNvPr>
          <p:cNvGrpSpPr/>
          <p:nvPr/>
        </p:nvGrpSpPr>
        <p:grpSpPr>
          <a:xfrm>
            <a:off x="5653606" y="7661921"/>
            <a:ext cx="296516" cy="294538"/>
            <a:chOff x="5470343" y="7664480"/>
            <a:chExt cx="296516" cy="294538"/>
          </a:xfrm>
        </p:grpSpPr>
        <p:sp>
          <p:nvSpPr>
            <p:cNvPr id="57" name="Google Shape;236;p15">
              <a:extLst>
                <a:ext uri="{FF2B5EF4-FFF2-40B4-BE49-F238E27FC236}">
                  <a16:creationId xmlns:a16="http://schemas.microsoft.com/office/drawing/2014/main" id="{A1A8DE10-9E35-96EA-1E17-7DD4EC2A30E0}"/>
                </a:ext>
              </a:extLst>
            </p:cNvPr>
            <p:cNvSpPr>
              <a:spLocks noChangeAspect="1"/>
            </p:cNvSpPr>
            <p:nvPr/>
          </p:nvSpPr>
          <p:spPr>
            <a:xfrm>
              <a:off x="5470343" y="7664480"/>
              <a:ext cx="296516" cy="29453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cxnSp>
          <p:nvCxnSpPr>
            <p:cNvPr id="58" name="Straight Connector 57">
              <a:extLst>
                <a:ext uri="{FF2B5EF4-FFF2-40B4-BE49-F238E27FC236}">
                  <a16:creationId xmlns:a16="http://schemas.microsoft.com/office/drawing/2014/main" id="{C78A4D44-9E70-4D04-F5A8-9B5C82BA469D}"/>
                </a:ext>
              </a:extLst>
            </p:cNvPr>
            <p:cNvCxnSpPr>
              <a:cxnSpLocks/>
            </p:cNvCxnSpPr>
            <p:nvPr/>
          </p:nvCxnSpPr>
          <p:spPr>
            <a:xfrm flipH="1">
              <a:off x="5541272" y="7816609"/>
              <a:ext cx="154656" cy="0"/>
            </a:xfrm>
            <a:prstGeom prst="line">
              <a:avLst/>
            </a:prstGeom>
            <a:ln w="12700" cap="rnd"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9" name="Oval 58">
              <a:extLst>
                <a:ext uri="{FF2B5EF4-FFF2-40B4-BE49-F238E27FC236}">
                  <a16:creationId xmlns:a16="http://schemas.microsoft.com/office/drawing/2014/main" id="{B516000C-FECC-09C9-0FCD-A6F2DCF9D0EC}"/>
                </a:ext>
              </a:extLst>
            </p:cNvPr>
            <p:cNvSpPr>
              <a:spLocks noChangeAspect="1"/>
            </p:cNvSpPr>
            <p:nvPr/>
          </p:nvSpPr>
          <p:spPr>
            <a:xfrm>
              <a:off x="5585057" y="7783651"/>
              <a:ext cx="67087" cy="65915"/>
            </a:xfrm>
            <a:prstGeom prst="ellipse">
              <a:avLst/>
            </a:prstGeom>
            <a:solidFill>
              <a:schemeClr val="bg2">
                <a:lumMod val="10000"/>
              </a:schemeClr>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grpSp>
      <p:pic>
        <p:nvPicPr>
          <p:cNvPr id="509" name="Google Shape;227;p15">
            <a:extLst>
              <a:ext uri="{FF2B5EF4-FFF2-40B4-BE49-F238E27FC236}">
                <a16:creationId xmlns:a16="http://schemas.microsoft.com/office/drawing/2014/main" id="{B535FB99-D3D2-AA93-FE2A-8A6AFCAC3947}"/>
              </a:ext>
            </a:extLst>
          </p:cNvPr>
          <p:cNvPicPr preferRelativeResize="0">
            <a:picLocks noChangeAspect="1"/>
          </p:cNvPicPr>
          <p:nvPr/>
        </p:nvPicPr>
        <p:blipFill>
          <a:blip r:embed="rId10">
            <a:alphaModFix/>
          </a:blip>
          <a:stretch>
            <a:fillRect/>
          </a:stretch>
        </p:blipFill>
        <p:spPr>
          <a:xfrm>
            <a:off x="5244821" y="7624472"/>
            <a:ext cx="398269" cy="362602"/>
          </a:xfrm>
          <a:prstGeom prst="rect">
            <a:avLst/>
          </a:prstGeom>
          <a:noFill/>
          <a:ln>
            <a:noFill/>
          </a:ln>
        </p:spPr>
      </p:pic>
    </p:spTree>
    <p:extLst>
      <p:ext uri="{BB962C8B-B14F-4D97-AF65-F5344CB8AC3E}">
        <p14:creationId xmlns:p14="http://schemas.microsoft.com/office/powerpoint/2010/main" val="3291216818"/>
      </p:ext>
    </p:extLst>
  </p:cSld>
  <p:clrMapOvr>
    <a:masterClrMapping/>
  </p:clrMapOvr>
  <p:transition spd="med"/>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EE6D0-4911-03E6-803C-E28C9BF15486}"/>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8328FCFD-A04A-BDCB-FFCF-A124D2E6F50F}"/>
              </a:ext>
            </a:extLst>
          </p:cNvPr>
          <p:cNvPicPr>
            <a:picLocks noChangeAspect="1"/>
          </p:cNvPicPr>
          <p:nvPr/>
        </p:nvPicPr>
        <p:blipFill>
          <a:blip r:embed="rId3"/>
          <a:stretch>
            <a:fillRect/>
          </a:stretch>
        </p:blipFill>
        <p:spPr>
          <a:xfrm>
            <a:off x="8374634" y="-696057"/>
            <a:ext cx="5598432" cy="2990088"/>
          </a:xfrm>
          <a:prstGeom prst="rect">
            <a:avLst/>
          </a:prstGeom>
          <a:ln w="12700">
            <a:miter lim="400000"/>
          </a:ln>
        </p:spPr>
      </p:pic>
      <p:sp>
        <p:nvSpPr>
          <p:cNvPr id="312" name="Line">
            <a:extLst>
              <a:ext uri="{FF2B5EF4-FFF2-40B4-BE49-F238E27FC236}">
                <a16:creationId xmlns:a16="http://schemas.microsoft.com/office/drawing/2014/main" id="{2CE8224A-D2ED-6D27-AFE2-82560393557A}"/>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D1AAF5B0-E3F7-882D-BEBD-A8C82233E1E0}"/>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26" name="Manipulate Variables">
            <a:extLst>
              <a:ext uri="{FF2B5EF4-FFF2-40B4-BE49-F238E27FC236}">
                <a16:creationId xmlns:a16="http://schemas.microsoft.com/office/drawing/2014/main" id="{F428371F-E2D4-168F-773A-7C98989FE6F7}"/>
              </a:ext>
            </a:extLst>
          </p:cNvPr>
          <p:cNvSpPr txBox="1"/>
          <p:nvPr/>
        </p:nvSpPr>
        <p:spPr>
          <a:xfrm>
            <a:off x="4798294" y="5278967"/>
            <a:ext cx="3048912"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Code Review Workflow</a:t>
            </a:r>
          </a:p>
        </p:txBody>
      </p:sp>
      <p:sp>
        <p:nvSpPr>
          <p:cNvPr id="334" name="Three Column Layout: : CHEAT SHEET">
            <a:extLst>
              <a:ext uri="{FF2B5EF4-FFF2-40B4-BE49-F238E27FC236}">
                <a16:creationId xmlns:a16="http://schemas.microsoft.com/office/drawing/2014/main" id="{E5D827B5-4829-07F8-9364-FA549CC9AAA9}"/>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Unit Tests </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41" name="Use headers, colors, and/or backgrounds to separate or group together sections.">
            <a:extLst>
              <a:ext uri="{FF2B5EF4-FFF2-40B4-BE49-F238E27FC236}">
                <a16:creationId xmlns:a16="http://schemas.microsoft.com/office/drawing/2014/main" id="{0215868B-5212-D84B-412C-1D8E3F1DEDC1}"/>
              </a:ext>
            </a:extLst>
          </p:cNvPr>
          <p:cNvSpPr txBox="1"/>
          <p:nvPr/>
        </p:nvSpPr>
        <p:spPr>
          <a:xfrm>
            <a:off x="275721" y="1869898"/>
            <a:ext cx="3949153" cy="25524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Kaiaulu has multiple measures in place to ensure that its codebase remains maintainable. Unit tests catch if changes to the code or third-party tools breaks functionality as well as clarify setup issues for users. Example functions create fake data for the unit tests to be tested with. Internal try catch statements let functions fail gracefully. Codecov makes use of a bot that can automatically deny Pull Requests if tested code coverage requirements are not met. GitHub Actions run the unit tests as well as other checks for every commit to a Pull Request and will deny it from merging if any tests fail. </a:t>
            </a:r>
            <a:endParaRPr lang="en-US" b="0" dirty="0">
              <a:solidFill>
                <a:srgbClr val="000000"/>
              </a:solidFill>
              <a:latin typeface="Source Sans Pro" panose="020B0503030403020204" pitchFamily="34" charset="0"/>
              <a:ea typeface="Source Sans Pro" panose="020B0503030403020204" pitchFamily="34" charset="0"/>
            </a:endParaRPr>
          </a:p>
          <a:p>
            <a:pPr>
              <a:lnSpc>
                <a:spcPct val="90000"/>
              </a:lnSpc>
              <a:spcBef>
                <a:spcPts val="300"/>
              </a:spcBef>
              <a:buClr>
                <a:schemeClr val="tx1">
                  <a:lumMod val="50000"/>
                </a:schemeClr>
              </a:buClr>
              <a:defRPr b="0">
                <a:solidFill>
                  <a:srgbClr val="000000"/>
                </a:solidFill>
                <a:latin typeface="+mn-lt"/>
                <a:ea typeface="+mn-ea"/>
                <a:cs typeface="+mn-cs"/>
                <a:sym typeface="Source Sans Pro Light"/>
              </a:defRPr>
            </a:pPr>
            <a:endParaRPr lang="en-US" b="0" i="0" u="none" strike="noStrike" dirty="0">
              <a:solidFill>
                <a:schemeClr val="tx1">
                  <a:lumMod val="50000"/>
                </a:schemeClr>
              </a:solidFill>
              <a:effectLst/>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dirty="0">
              <a:solidFill>
                <a:srgbClr val="000000"/>
              </a:solidFill>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i="0" u="none" strike="noStrike" dirty="0">
              <a:solidFill>
                <a:srgbClr val="000000"/>
              </a:solidFill>
              <a:effectLst/>
              <a:latin typeface="Source Sans Pro" panose="020B0503030403020204" pitchFamily="34" charset="0"/>
              <a:ea typeface="Source Sans Pro" panose="020B0503030403020204" pitchFamily="34" charset="0"/>
            </a:endParaRPr>
          </a:p>
        </p:txBody>
      </p:sp>
      <p:sp>
        <p:nvSpPr>
          <p:cNvPr id="382" name="Logistics">
            <a:extLst>
              <a:ext uri="{FF2B5EF4-FFF2-40B4-BE49-F238E27FC236}">
                <a16:creationId xmlns:a16="http://schemas.microsoft.com/office/drawing/2014/main" id="{037F1654-0897-1F55-9851-EEA1274CA025}"/>
              </a:ext>
            </a:extLst>
          </p:cNvPr>
          <p:cNvSpPr txBox="1"/>
          <p:nvPr/>
        </p:nvSpPr>
        <p:spPr>
          <a:xfrm>
            <a:off x="249457" y="5620358"/>
            <a:ext cx="1336904"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Unit Tests</a:t>
            </a:r>
          </a:p>
        </p:txBody>
      </p:sp>
      <p:sp>
        <p:nvSpPr>
          <p:cNvPr id="384" name="Layout Suggestions">
            <a:extLst>
              <a:ext uri="{FF2B5EF4-FFF2-40B4-BE49-F238E27FC236}">
                <a16:creationId xmlns:a16="http://schemas.microsoft.com/office/drawing/2014/main" id="{60407F50-DD3D-9607-9888-4B8CCF6CB942}"/>
              </a:ext>
            </a:extLst>
          </p:cNvPr>
          <p:cNvSpPr txBox="1"/>
          <p:nvPr/>
        </p:nvSpPr>
        <p:spPr>
          <a:xfrm>
            <a:off x="275721" y="1453227"/>
            <a:ext cx="262128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564D5777-8EE1-1D30-3824-BF2EEF64C5F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5D64A6A8-3657-4ADE-0863-D3E572088B5D}"/>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5">
                  <a:extLst>
                    <a:ext uri="{A12FA001-AC4F-418D-AE19-62706E023703}">
                      <ahyp:hlinkClr xmlns:ahyp="http://schemas.microsoft.com/office/drawing/2018/hyperlinkcolor" val="tx"/>
                    </a:ext>
                  </a:extLst>
                </a:hlinkClick>
              </a:rPr>
              <a:t>CC BY SA</a:t>
            </a:r>
            <a:r>
              <a:rPr lang="en-US" sz="1000" b="0" dirty="0">
                <a:solidFill>
                  <a:schemeClr val="tx1"/>
                </a:solidFill>
              </a:rPr>
              <a:t> Ian Jaymes Iwata, Anthony Lau, Sean Sunoo</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2024-04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370" name="Basics">
            <a:extLst>
              <a:ext uri="{FF2B5EF4-FFF2-40B4-BE49-F238E27FC236}">
                <a16:creationId xmlns:a16="http://schemas.microsoft.com/office/drawing/2014/main" id="{FA9C9C80-F81F-0A21-86E7-D39F8A2A48EB}"/>
              </a:ext>
            </a:extLst>
          </p:cNvPr>
          <p:cNvSpPr txBox="1"/>
          <p:nvPr/>
        </p:nvSpPr>
        <p:spPr>
          <a:xfrm>
            <a:off x="224958" y="3772627"/>
            <a:ext cx="2766632"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Example Module</a:t>
            </a:r>
            <a:endParaRPr dirty="0"/>
          </a:p>
        </p:txBody>
      </p:sp>
      <p:sp>
        <p:nvSpPr>
          <p:cNvPr id="371" name="Line">
            <a:extLst>
              <a:ext uri="{FF2B5EF4-FFF2-40B4-BE49-F238E27FC236}">
                <a16:creationId xmlns:a16="http://schemas.microsoft.com/office/drawing/2014/main" id="{2B67E57F-5AB8-83D8-C0D6-D61800CDC0E3}"/>
              </a:ext>
            </a:extLst>
          </p:cNvPr>
          <p:cNvSpPr/>
          <p:nvPr/>
        </p:nvSpPr>
        <p:spPr>
          <a:xfrm flipV="1">
            <a:off x="148894" y="1800587"/>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grpSp>
        <p:nvGrpSpPr>
          <p:cNvPr id="60" name="Group 59">
            <a:extLst>
              <a:ext uri="{FF2B5EF4-FFF2-40B4-BE49-F238E27FC236}">
                <a16:creationId xmlns:a16="http://schemas.microsoft.com/office/drawing/2014/main" id="{1AED1EC2-7083-D283-DEF7-AF7968A169B2}"/>
              </a:ext>
            </a:extLst>
          </p:cNvPr>
          <p:cNvGrpSpPr/>
          <p:nvPr/>
        </p:nvGrpSpPr>
        <p:grpSpPr>
          <a:xfrm>
            <a:off x="9554259" y="3866817"/>
            <a:ext cx="3848844" cy="6172184"/>
            <a:chOff x="9541159" y="2174444"/>
            <a:chExt cx="3848844" cy="6172184"/>
          </a:xfrm>
        </p:grpSpPr>
        <p:grpSp>
          <p:nvGrpSpPr>
            <p:cNvPr id="61" name="Group 60">
              <a:extLst>
                <a:ext uri="{FF2B5EF4-FFF2-40B4-BE49-F238E27FC236}">
                  <a16:creationId xmlns:a16="http://schemas.microsoft.com/office/drawing/2014/main" id="{C8B4E05B-1DD4-10B5-A075-B2D90C5783CC}"/>
                </a:ext>
              </a:extLst>
            </p:cNvPr>
            <p:cNvGrpSpPr/>
            <p:nvPr/>
          </p:nvGrpSpPr>
          <p:grpSpPr>
            <a:xfrm>
              <a:off x="9541159" y="2174444"/>
              <a:ext cx="3848844" cy="6172184"/>
              <a:chOff x="870417" y="3616023"/>
              <a:chExt cx="3848844" cy="6172184"/>
            </a:xfrm>
          </p:grpSpPr>
          <p:sp>
            <p:nvSpPr>
              <p:cNvPr id="449" name="Rectangle 448">
                <a:extLst>
                  <a:ext uri="{FF2B5EF4-FFF2-40B4-BE49-F238E27FC236}">
                    <a16:creationId xmlns:a16="http://schemas.microsoft.com/office/drawing/2014/main" id="{9D8C210E-C629-03D7-C93E-C6A96B429994}"/>
                  </a:ext>
                </a:extLst>
              </p:cNvPr>
              <p:cNvSpPr/>
              <p:nvPr/>
            </p:nvSpPr>
            <p:spPr>
              <a:xfrm>
                <a:off x="870417" y="3627271"/>
                <a:ext cx="3848844" cy="6160936"/>
              </a:xfrm>
              <a:prstGeom prst="rect">
                <a:avLst/>
              </a:prstGeom>
              <a:ln w="12700"/>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pic>
            <p:nvPicPr>
              <p:cNvPr id="450" name="Picture 449" descr="Account ">
                <a:extLst>
                  <a:ext uri="{FF2B5EF4-FFF2-40B4-BE49-F238E27FC236}">
                    <a16:creationId xmlns:a16="http://schemas.microsoft.com/office/drawing/2014/main" id="{35CA588A-0C3D-7877-4878-B5536ACB6AC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41298" y="4156809"/>
                <a:ext cx="306136" cy="306136"/>
              </a:xfrm>
              <a:prstGeom prst="rect">
                <a:avLst/>
              </a:prstGeom>
              <a:noFill/>
              <a:extLst>
                <a:ext uri="{909E8E84-426E-40DD-AFC4-6F175D3DCCD1}">
                  <a14:hiddenFill xmlns:a14="http://schemas.microsoft.com/office/drawing/2010/main">
                    <a:solidFill>
                      <a:srgbClr val="FFFFFF"/>
                    </a:solidFill>
                  </a14:hiddenFill>
                </a:ext>
              </a:extLst>
            </p:spPr>
          </p:pic>
          <p:sp>
            <p:nvSpPr>
              <p:cNvPr id="451" name="TextBox 1284">
                <a:extLst>
                  <a:ext uri="{FF2B5EF4-FFF2-40B4-BE49-F238E27FC236}">
                    <a16:creationId xmlns:a16="http://schemas.microsoft.com/office/drawing/2014/main" id="{888C896F-7F0A-5FB3-A78D-366C764F1BA9}"/>
                  </a:ext>
                </a:extLst>
              </p:cNvPr>
              <p:cNvSpPr txBox="1"/>
              <p:nvPr/>
            </p:nvSpPr>
            <p:spPr>
              <a:xfrm>
                <a:off x="991912" y="3616023"/>
                <a:ext cx="3720890" cy="261610"/>
              </a:xfrm>
              <a:prstGeom prst="rect">
                <a:avLst/>
              </a:prstGeom>
              <a:noFill/>
            </p:spPr>
            <p:txBody>
              <a:bodyPr wrap="none" rtlCol="0">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r>
                  <a:rPr lang="en-US" sz="800" dirty="0"/>
                  <a:t>Code          Issues          </a:t>
                </a:r>
                <a:r>
                  <a:rPr lang="en-US" sz="1100" b="1" dirty="0"/>
                  <a:t>Pull Requests          </a:t>
                </a:r>
                <a:r>
                  <a:rPr lang="en-US" sz="800" dirty="0"/>
                  <a:t>Actions          Wiki          Security  </a:t>
                </a:r>
              </a:p>
            </p:txBody>
          </p:sp>
          <p:cxnSp>
            <p:nvCxnSpPr>
              <p:cNvPr id="452" name="Straight Connector 451">
                <a:extLst>
                  <a:ext uri="{FF2B5EF4-FFF2-40B4-BE49-F238E27FC236}">
                    <a16:creationId xmlns:a16="http://schemas.microsoft.com/office/drawing/2014/main" id="{07B8DC9D-2C79-A7E5-A246-D172DC5E3D49}"/>
                  </a:ext>
                </a:extLst>
              </p:cNvPr>
              <p:cNvCxnSpPr>
                <a:cxnSpLocks/>
              </p:cNvCxnSpPr>
              <p:nvPr/>
            </p:nvCxnSpPr>
            <p:spPr>
              <a:xfrm>
                <a:off x="870417" y="3877633"/>
                <a:ext cx="3842385" cy="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53" name="Use headers, colors, and/or backgrounds to separate or group together sections.">
                <a:extLst>
                  <a:ext uri="{FF2B5EF4-FFF2-40B4-BE49-F238E27FC236}">
                    <a16:creationId xmlns:a16="http://schemas.microsoft.com/office/drawing/2014/main" id="{0AE2C395-C70D-9F4D-C3BE-1F0E7C6B7F59}"/>
                  </a:ext>
                </a:extLst>
              </p:cNvPr>
              <p:cNvSpPr txBox="1"/>
              <p:nvPr/>
            </p:nvSpPr>
            <p:spPr>
              <a:xfrm>
                <a:off x="1455985" y="3883746"/>
                <a:ext cx="1356960" cy="256245"/>
              </a:xfrm>
              <a:prstGeom prst="rect">
                <a:avLst/>
              </a:prstGeom>
              <a:ln w="12700">
                <a:miter lim="400000"/>
              </a:ln>
              <a:extLst>
                <a:ext uri="{C572A759-6A51-4108-AA02-DFA0A04FC94B}">
                  <ma14:wrappingTextBoxFlag xmlns:lc="http://schemas.openxmlformats.org/drawingml/2006/lockedCanvas" xmlns:ma14="http://schemas.microsoft.com/office/mac/drawingml/2011/main" xmlns:a14="http://schemas.microsoft.com/office/drawing/2010/main" xmlns:m="http://schemas.openxmlformats.org/officeDocument/2006/math" xmlns="" val="1"/>
                </a:ext>
              </a:extLst>
            </p:spPr>
            <p:txBody>
              <a:bodyPr wrap="square" lIns="54570" tIns="54570" rIns="54570" bIns="5457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a:lnSpc>
                    <a:spcPct val="90000"/>
                  </a:lnSpc>
                  <a:buSzPts val="3700"/>
                </a:pPr>
                <a:r>
                  <a:rPr lang="en-US" b="0" dirty="0">
                    <a:latin typeface="Source Sans Pro" panose="020B0503030403020204" pitchFamily="34" charset="0"/>
                    <a:ea typeface="Source Sans Pro" panose="020B0503030403020204" pitchFamily="34" charset="0"/>
                    <a:cs typeface="Arial" panose="020B0604020202020204" pitchFamily="34" charset="0"/>
                  </a:rPr>
                  <a:t>Pull Request #330</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7"/>
                </a:endParaRPr>
              </a:p>
              <a:p>
                <a:pPr lvl="0">
                  <a:lnSpc>
                    <a:spcPct val="90000"/>
                  </a:lnSpc>
                  <a:buSzPts val="3700"/>
                </a:pP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7"/>
                </a:endParaRPr>
              </a:p>
            </p:txBody>
          </p:sp>
          <p:pic>
            <p:nvPicPr>
              <p:cNvPr id="454" name="Google Shape;214;p15">
                <a:extLst>
                  <a:ext uri="{FF2B5EF4-FFF2-40B4-BE49-F238E27FC236}">
                    <a16:creationId xmlns:a16="http://schemas.microsoft.com/office/drawing/2014/main" id="{AEDDD6E8-8249-8DFC-CC42-090264F1CFA9}"/>
                  </a:ext>
                </a:extLst>
              </p:cNvPr>
              <p:cNvPicPr preferRelativeResize="0"/>
              <p:nvPr/>
            </p:nvPicPr>
            <p:blipFill>
              <a:blip r:embed="rId8">
                <a:alphaModFix/>
              </a:blip>
              <a:stretch>
                <a:fillRect/>
              </a:stretch>
            </p:blipFill>
            <p:spPr>
              <a:xfrm>
                <a:off x="914022" y="4784929"/>
                <a:ext cx="476766" cy="456900"/>
              </a:xfrm>
              <a:prstGeom prst="rect">
                <a:avLst/>
              </a:prstGeom>
              <a:noFill/>
              <a:ln>
                <a:noFill/>
              </a:ln>
            </p:spPr>
          </p:pic>
          <p:sp>
            <p:nvSpPr>
              <p:cNvPr id="455" name="Google Shape;216;p15">
                <a:extLst>
                  <a:ext uri="{FF2B5EF4-FFF2-40B4-BE49-F238E27FC236}">
                    <a16:creationId xmlns:a16="http://schemas.microsoft.com/office/drawing/2014/main" id="{3DD534E4-7263-C5E7-914B-1E1C1B8687F6}"/>
                  </a:ext>
                </a:extLst>
              </p:cNvPr>
              <p:cNvSpPr/>
              <p:nvPr/>
            </p:nvSpPr>
            <p:spPr>
              <a:xfrm>
                <a:off x="1469668" y="4973530"/>
                <a:ext cx="3025431" cy="652091"/>
              </a:xfrm>
              <a:prstGeom prst="rect">
                <a:avLst/>
              </a:prstGeom>
              <a:solidFill>
                <a:schemeClr val="lt1"/>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sp>
            <p:nvSpPr>
              <p:cNvPr id="456" name="Google Shape;215;p15">
                <a:extLst>
                  <a:ext uri="{FF2B5EF4-FFF2-40B4-BE49-F238E27FC236}">
                    <a16:creationId xmlns:a16="http://schemas.microsoft.com/office/drawing/2014/main" id="{643E3CBD-72F3-DA2A-2BBE-51ABA9B9C6D7}"/>
                  </a:ext>
                </a:extLst>
              </p:cNvPr>
              <p:cNvSpPr/>
              <p:nvPr/>
            </p:nvSpPr>
            <p:spPr>
              <a:xfrm>
                <a:off x="1467748" y="4759190"/>
                <a:ext cx="3025431" cy="232375"/>
              </a:xfrm>
              <a:prstGeom prst="rect">
                <a:avLst/>
              </a:prstGeom>
              <a:solidFill>
                <a:schemeClr val="lt2"/>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839" dirty="0"/>
              </a:p>
              <a:p>
                <a:pPr>
                  <a:spcBef>
                    <a:spcPts val="0"/>
                  </a:spcBef>
                </a:pPr>
                <a:endParaRPr sz="839" dirty="0"/>
              </a:p>
              <a:p>
                <a:pPr>
                  <a:spcBef>
                    <a:spcPts val="0"/>
                  </a:spcBef>
                </a:pPr>
                <a:r>
                  <a:rPr lang="en" sz="839" dirty="0">
                    <a:solidFill>
                      <a:schemeClr val="tx1">
                        <a:lumMod val="50000"/>
                      </a:schemeClr>
                    </a:solidFill>
                  </a:rPr>
                  <a:t>Codecov </a:t>
                </a:r>
                <a:r>
                  <a:rPr lang="en" sz="839" b="0" dirty="0">
                    <a:solidFill>
                      <a:schemeClr val="tx1">
                        <a:lumMod val="50000"/>
                      </a:schemeClr>
                    </a:solidFill>
                  </a:rPr>
                  <a:t>commented on Mar 27</a:t>
                </a:r>
                <a:endParaRPr sz="839" b="0" dirty="0">
                  <a:solidFill>
                    <a:schemeClr val="tx1">
                      <a:lumMod val="50000"/>
                    </a:schemeClr>
                  </a:solidFill>
                </a:endParaRPr>
              </a:p>
              <a:p>
                <a:pPr>
                  <a:spcBef>
                    <a:spcPts val="0"/>
                  </a:spcBef>
                </a:pPr>
                <a:endParaRPr sz="1956" dirty="0"/>
              </a:p>
            </p:txBody>
          </p:sp>
          <p:sp>
            <p:nvSpPr>
              <p:cNvPr id="457" name="Google Shape;217;p15">
                <a:extLst>
                  <a:ext uri="{FF2B5EF4-FFF2-40B4-BE49-F238E27FC236}">
                    <a16:creationId xmlns:a16="http://schemas.microsoft.com/office/drawing/2014/main" id="{742C345A-ED14-1005-342C-2821F0823E39}"/>
                  </a:ext>
                </a:extLst>
              </p:cNvPr>
              <p:cNvSpPr txBox="1"/>
              <p:nvPr/>
            </p:nvSpPr>
            <p:spPr>
              <a:xfrm>
                <a:off x="1396836" y="4941265"/>
                <a:ext cx="2116583" cy="554125"/>
              </a:xfrm>
              <a:prstGeom prst="rect">
                <a:avLst/>
              </a:prstGeom>
              <a:noFill/>
              <a:ln>
                <a:noFill/>
              </a:ln>
            </p:spPr>
            <p:txBody>
              <a:bodyPr spcFirstLastPara="1" wrap="square" lIns="127722" tIns="127722" rIns="127722" bIns="127722" anchor="t" anchorCtr="0">
                <a:noAutofit/>
              </a:bodyPr>
              <a:lstStyle/>
              <a:p>
                <a:pPr>
                  <a:spcBef>
                    <a:spcPts val="0"/>
                  </a:spcBef>
                </a:pPr>
                <a:r>
                  <a:rPr lang="en" sz="839" dirty="0">
                    <a:solidFill>
                      <a:srgbClr val="1F2328"/>
                    </a:solidFill>
                    <a:highlight>
                      <a:srgbClr val="FFFFFF"/>
                    </a:highlight>
                  </a:rPr>
                  <a:t>❌ Patch coverage is…</a:t>
                </a:r>
                <a:endParaRPr sz="839" dirty="0">
                  <a:solidFill>
                    <a:srgbClr val="1F2328"/>
                  </a:solidFill>
                  <a:highlight>
                    <a:srgbClr val="FFFFFF"/>
                  </a:highlight>
                </a:endParaRPr>
              </a:p>
              <a:p>
                <a:pPr>
                  <a:spcBef>
                    <a:spcPts val="0"/>
                  </a:spcBef>
                </a:pPr>
                <a:r>
                  <a:rPr lang="en" sz="839" dirty="0">
                    <a:solidFill>
                      <a:srgbClr val="1F2328"/>
                    </a:solidFill>
                    <a:highlight>
                      <a:srgbClr val="FFFFFF"/>
                    </a:highlight>
                  </a:rPr>
                  <a:t>✅ Project coverage is…</a:t>
                </a:r>
                <a:endParaRPr sz="839" dirty="0">
                  <a:solidFill>
                    <a:srgbClr val="1F2328"/>
                  </a:solidFill>
                  <a:highlight>
                    <a:srgbClr val="FFFFFF"/>
                  </a:highlight>
                </a:endParaRPr>
              </a:p>
              <a:p>
                <a:pPr>
                  <a:spcBef>
                    <a:spcPts val="0"/>
                  </a:spcBef>
                </a:pPr>
                <a:r>
                  <a:rPr lang="en" sz="839" dirty="0">
                    <a:solidFill>
                      <a:srgbClr val="1F2328"/>
                    </a:solidFill>
                    <a:highlight>
                      <a:srgbClr val="FFFFFF"/>
                    </a:highlight>
                  </a:rPr>
                  <a:t>⚠️ Report is…</a:t>
                </a:r>
                <a:endParaRPr sz="839" dirty="0">
                  <a:solidFill>
                    <a:srgbClr val="1F2328"/>
                  </a:solidFill>
                  <a:highlight>
                    <a:srgbClr val="FFFFFF"/>
                  </a:highlight>
                </a:endParaRPr>
              </a:p>
            </p:txBody>
          </p:sp>
          <p:pic>
            <p:nvPicPr>
              <p:cNvPr id="458" name="Google Shape;227;p15">
                <a:extLst>
                  <a:ext uri="{FF2B5EF4-FFF2-40B4-BE49-F238E27FC236}">
                    <a16:creationId xmlns:a16="http://schemas.microsoft.com/office/drawing/2014/main" id="{BC562170-17EF-6B4B-5528-A6EEE2EEDA07}"/>
                  </a:ext>
                </a:extLst>
              </p:cNvPr>
              <p:cNvPicPr preferRelativeResize="0"/>
              <p:nvPr/>
            </p:nvPicPr>
            <p:blipFill>
              <a:blip r:embed="rId9">
                <a:alphaModFix/>
              </a:blip>
              <a:stretch>
                <a:fillRect/>
              </a:stretch>
            </p:blipFill>
            <p:spPr>
              <a:xfrm>
                <a:off x="955980" y="5812064"/>
                <a:ext cx="476772" cy="434075"/>
              </a:xfrm>
              <a:prstGeom prst="rect">
                <a:avLst/>
              </a:prstGeom>
              <a:noFill/>
              <a:ln>
                <a:noFill/>
              </a:ln>
            </p:spPr>
          </p:pic>
          <p:pic>
            <p:nvPicPr>
              <p:cNvPr id="459" name="Google Shape;206;p15">
                <a:extLst>
                  <a:ext uri="{FF2B5EF4-FFF2-40B4-BE49-F238E27FC236}">
                    <a16:creationId xmlns:a16="http://schemas.microsoft.com/office/drawing/2014/main" id="{D390407E-C0BE-32D6-79B8-4F084C7C016B}"/>
                  </a:ext>
                </a:extLst>
              </p:cNvPr>
              <p:cNvPicPr preferRelativeResize="0"/>
              <p:nvPr/>
            </p:nvPicPr>
            <p:blipFill rotWithShape="1">
              <a:blip r:embed="rId10">
                <a:alphaModFix/>
              </a:blip>
              <a:srcRect r="56805" b="59527"/>
              <a:stretch/>
            </p:blipFill>
            <p:spPr>
              <a:xfrm>
                <a:off x="1474313" y="8180149"/>
                <a:ext cx="3020786" cy="737988"/>
              </a:xfrm>
              <a:prstGeom prst="rect">
                <a:avLst/>
              </a:prstGeom>
              <a:noFill/>
              <a:ln>
                <a:noFill/>
              </a:ln>
            </p:spPr>
          </p:pic>
          <p:pic>
            <p:nvPicPr>
              <p:cNvPr id="460" name="Google Shape;207;p15">
                <a:extLst>
                  <a:ext uri="{FF2B5EF4-FFF2-40B4-BE49-F238E27FC236}">
                    <a16:creationId xmlns:a16="http://schemas.microsoft.com/office/drawing/2014/main" id="{77C3553F-D5C5-32D8-C65A-E749D00347FB}"/>
                  </a:ext>
                </a:extLst>
              </p:cNvPr>
              <p:cNvPicPr preferRelativeResize="0"/>
              <p:nvPr/>
            </p:nvPicPr>
            <p:blipFill rotWithShape="1">
              <a:blip r:embed="rId11">
                <a:alphaModFix/>
              </a:blip>
              <a:srcRect r="49675"/>
              <a:stretch/>
            </p:blipFill>
            <p:spPr>
              <a:xfrm>
                <a:off x="1466614" y="7582857"/>
                <a:ext cx="3053268" cy="585347"/>
              </a:xfrm>
              <a:prstGeom prst="rect">
                <a:avLst/>
              </a:prstGeom>
              <a:noFill/>
              <a:ln>
                <a:noFill/>
              </a:ln>
            </p:spPr>
          </p:pic>
          <p:pic>
            <p:nvPicPr>
              <p:cNvPr id="461" name="Google Shape;208;p15">
                <a:extLst>
                  <a:ext uri="{FF2B5EF4-FFF2-40B4-BE49-F238E27FC236}">
                    <a16:creationId xmlns:a16="http://schemas.microsoft.com/office/drawing/2014/main" id="{943AFFDD-DD21-FC5D-19B8-671C39190FF3}"/>
                  </a:ext>
                </a:extLst>
              </p:cNvPr>
              <p:cNvPicPr preferRelativeResize="0"/>
              <p:nvPr/>
            </p:nvPicPr>
            <p:blipFill rotWithShape="1">
              <a:blip r:embed="rId10">
                <a:alphaModFix/>
              </a:blip>
              <a:srcRect r="51536" b="66346"/>
              <a:stretch/>
            </p:blipFill>
            <p:spPr>
              <a:xfrm>
                <a:off x="1478995" y="6325833"/>
                <a:ext cx="3018340" cy="1245849"/>
              </a:xfrm>
              <a:prstGeom prst="rect">
                <a:avLst/>
              </a:prstGeom>
              <a:noFill/>
              <a:ln>
                <a:noFill/>
              </a:ln>
            </p:spPr>
          </p:pic>
          <p:pic>
            <p:nvPicPr>
              <p:cNvPr id="462" name="Google Shape;226;p15">
                <a:extLst>
                  <a:ext uri="{FF2B5EF4-FFF2-40B4-BE49-F238E27FC236}">
                    <a16:creationId xmlns:a16="http://schemas.microsoft.com/office/drawing/2014/main" id="{A72A89D8-9B67-F530-1F23-3325B5AF7D2E}"/>
                  </a:ext>
                </a:extLst>
              </p:cNvPr>
              <p:cNvPicPr preferRelativeResize="0"/>
              <p:nvPr/>
            </p:nvPicPr>
            <p:blipFill>
              <a:blip r:embed="rId12">
                <a:alphaModFix/>
              </a:blip>
              <a:stretch>
                <a:fillRect/>
              </a:stretch>
            </p:blipFill>
            <p:spPr>
              <a:xfrm>
                <a:off x="1520465" y="5876512"/>
                <a:ext cx="418118" cy="397419"/>
              </a:xfrm>
              <a:prstGeom prst="rect">
                <a:avLst/>
              </a:prstGeom>
              <a:noFill/>
              <a:ln>
                <a:noFill/>
              </a:ln>
            </p:spPr>
          </p:pic>
          <p:sp>
            <p:nvSpPr>
              <p:cNvPr id="463" name="Google Shape;228;p15">
                <a:extLst>
                  <a:ext uri="{FF2B5EF4-FFF2-40B4-BE49-F238E27FC236}">
                    <a16:creationId xmlns:a16="http://schemas.microsoft.com/office/drawing/2014/main" id="{5EBA171B-2681-012A-4F5B-D840CE13E4F7}"/>
                  </a:ext>
                </a:extLst>
              </p:cNvPr>
              <p:cNvSpPr txBox="1"/>
              <p:nvPr/>
            </p:nvSpPr>
            <p:spPr>
              <a:xfrm>
                <a:off x="1866920" y="5853986"/>
                <a:ext cx="1995583" cy="204417"/>
              </a:xfrm>
              <a:prstGeom prst="rect">
                <a:avLst/>
              </a:prstGeom>
              <a:noFill/>
              <a:ln>
                <a:noFill/>
              </a:ln>
            </p:spPr>
            <p:txBody>
              <a:bodyPr spcFirstLastPara="1" wrap="square" lIns="127722" tIns="127722" rIns="127722" bIns="127722" anchor="t" anchorCtr="0">
                <a:noAutofit/>
              </a:bodyPr>
              <a:lstStyle/>
              <a:p>
                <a:pPr>
                  <a:spcBef>
                    <a:spcPts val="0"/>
                  </a:spcBef>
                </a:pPr>
                <a:r>
                  <a:rPr lang="en" sz="1117" dirty="0">
                    <a:solidFill>
                      <a:schemeClr val="dk1"/>
                    </a:solidFill>
                  </a:rPr>
                  <a:t>Changes Reviewed</a:t>
                </a:r>
                <a:endParaRPr sz="1117" dirty="0">
                  <a:solidFill>
                    <a:schemeClr val="dk1"/>
                  </a:solidFill>
                </a:endParaRPr>
              </a:p>
            </p:txBody>
          </p:sp>
          <p:cxnSp>
            <p:nvCxnSpPr>
              <p:cNvPr id="464" name="Google Shape;229;p15">
                <a:extLst>
                  <a:ext uri="{FF2B5EF4-FFF2-40B4-BE49-F238E27FC236}">
                    <a16:creationId xmlns:a16="http://schemas.microsoft.com/office/drawing/2014/main" id="{4E17DBB8-08A7-6C58-88A2-B09BAA0F140B}"/>
                  </a:ext>
                </a:extLst>
              </p:cNvPr>
              <p:cNvCxnSpPr/>
              <p:nvPr/>
            </p:nvCxnSpPr>
            <p:spPr>
              <a:xfrm>
                <a:off x="1467748" y="6324819"/>
                <a:ext cx="3040125" cy="0"/>
              </a:xfrm>
              <a:prstGeom prst="straightConnector1">
                <a:avLst/>
              </a:prstGeom>
              <a:noFill/>
              <a:ln w="8700" cap="flat" cmpd="sng">
                <a:solidFill>
                  <a:schemeClr val="dk2"/>
                </a:solidFill>
                <a:prstDash val="solid"/>
                <a:round/>
                <a:headEnd type="none" w="med" len="med"/>
                <a:tailEnd type="none" w="med" len="med"/>
              </a:ln>
            </p:spPr>
          </p:cxnSp>
          <p:pic>
            <p:nvPicPr>
              <p:cNvPr id="465" name="Google Shape;230;p15">
                <a:extLst>
                  <a:ext uri="{FF2B5EF4-FFF2-40B4-BE49-F238E27FC236}">
                    <a16:creationId xmlns:a16="http://schemas.microsoft.com/office/drawing/2014/main" id="{F24B8827-250D-43DC-DA3C-E9468131C0E1}"/>
                  </a:ext>
                </a:extLst>
              </p:cNvPr>
              <p:cNvPicPr preferRelativeResize="0"/>
              <p:nvPr/>
            </p:nvPicPr>
            <p:blipFill>
              <a:blip r:embed="rId13">
                <a:alphaModFix/>
              </a:blip>
              <a:stretch>
                <a:fillRect/>
              </a:stretch>
            </p:blipFill>
            <p:spPr>
              <a:xfrm>
                <a:off x="1576377" y="6953035"/>
                <a:ext cx="233220" cy="273781"/>
              </a:xfrm>
              <a:prstGeom prst="rect">
                <a:avLst/>
              </a:prstGeom>
              <a:noFill/>
              <a:ln>
                <a:noFill/>
              </a:ln>
            </p:spPr>
          </p:pic>
          <p:pic>
            <p:nvPicPr>
              <p:cNvPr id="466" name="Google Shape;231;p15">
                <a:extLst>
                  <a:ext uri="{FF2B5EF4-FFF2-40B4-BE49-F238E27FC236}">
                    <a16:creationId xmlns:a16="http://schemas.microsoft.com/office/drawing/2014/main" id="{67CC0B59-51DA-E726-4BA2-5C1D9C5C6A66}"/>
                  </a:ext>
                </a:extLst>
              </p:cNvPr>
              <p:cNvPicPr preferRelativeResize="0"/>
              <p:nvPr/>
            </p:nvPicPr>
            <p:blipFill>
              <a:blip r:embed="rId10">
                <a:alphaModFix/>
              </a:blip>
              <a:stretch>
                <a:fillRect/>
              </a:stretch>
            </p:blipFill>
            <p:spPr>
              <a:xfrm>
                <a:off x="1530785" y="6396970"/>
                <a:ext cx="288926" cy="211878"/>
              </a:xfrm>
              <a:prstGeom prst="rect">
                <a:avLst/>
              </a:prstGeom>
              <a:noFill/>
              <a:ln>
                <a:noFill/>
              </a:ln>
            </p:spPr>
          </p:pic>
          <p:pic>
            <p:nvPicPr>
              <p:cNvPr id="467" name="Google Shape;232;p15">
                <a:extLst>
                  <a:ext uri="{FF2B5EF4-FFF2-40B4-BE49-F238E27FC236}">
                    <a16:creationId xmlns:a16="http://schemas.microsoft.com/office/drawing/2014/main" id="{6636D785-766B-2972-275F-1D431E21A734}"/>
                  </a:ext>
                </a:extLst>
              </p:cNvPr>
              <p:cNvPicPr preferRelativeResize="0"/>
              <p:nvPr/>
            </p:nvPicPr>
            <p:blipFill>
              <a:blip r:embed="rId14">
                <a:alphaModFix/>
              </a:blip>
              <a:stretch>
                <a:fillRect/>
              </a:stretch>
            </p:blipFill>
            <p:spPr>
              <a:xfrm>
                <a:off x="1523888" y="6653098"/>
                <a:ext cx="275348" cy="232624"/>
              </a:xfrm>
              <a:prstGeom prst="rect">
                <a:avLst/>
              </a:prstGeom>
              <a:noFill/>
              <a:ln>
                <a:noFill/>
              </a:ln>
            </p:spPr>
          </p:pic>
          <p:pic>
            <p:nvPicPr>
              <p:cNvPr id="468" name="Google Shape;233;p15">
                <a:extLst>
                  <a:ext uri="{FF2B5EF4-FFF2-40B4-BE49-F238E27FC236}">
                    <a16:creationId xmlns:a16="http://schemas.microsoft.com/office/drawing/2014/main" id="{D33A4E03-2063-3A9A-95B1-D2287A5C05DE}"/>
                  </a:ext>
                </a:extLst>
              </p:cNvPr>
              <p:cNvPicPr preferRelativeResize="0"/>
              <p:nvPr/>
            </p:nvPicPr>
            <p:blipFill>
              <a:blip r:embed="rId15">
                <a:alphaModFix/>
              </a:blip>
              <a:stretch>
                <a:fillRect/>
              </a:stretch>
            </p:blipFill>
            <p:spPr>
              <a:xfrm>
                <a:off x="1546046" y="8251899"/>
                <a:ext cx="253223" cy="282442"/>
              </a:xfrm>
              <a:prstGeom prst="rect">
                <a:avLst/>
              </a:prstGeom>
              <a:noFill/>
              <a:ln>
                <a:noFill/>
              </a:ln>
            </p:spPr>
          </p:pic>
          <p:sp>
            <p:nvSpPr>
              <p:cNvPr id="469" name="Google Shape;234;p15">
                <a:extLst>
                  <a:ext uri="{FF2B5EF4-FFF2-40B4-BE49-F238E27FC236}">
                    <a16:creationId xmlns:a16="http://schemas.microsoft.com/office/drawing/2014/main" id="{8109438C-35BD-E056-62B8-2B1F4CE972C2}"/>
                  </a:ext>
                </a:extLst>
              </p:cNvPr>
              <p:cNvSpPr/>
              <p:nvPr/>
            </p:nvSpPr>
            <p:spPr>
              <a:xfrm>
                <a:off x="1629407" y="8282439"/>
                <a:ext cx="2788500" cy="232375"/>
              </a:xfrm>
              <a:prstGeom prst="rect">
                <a:avLst/>
              </a:prstGeom>
              <a:noFill/>
              <a:ln>
                <a:noFill/>
              </a:ln>
            </p:spPr>
            <p:txBody>
              <a:bodyPr spcFirstLastPara="1" wrap="square" lIns="127722" tIns="127722" rIns="127722" bIns="127722" anchor="ctr" anchorCtr="0">
                <a:noAutofit/>
              </a:bodyPr>
              <a:lstStyle/>
              <a:p>
                <a:pPr>
                  <a:spcBef>
                    <a:spcPts val="0"/>
                  </a:spcBef>
                  <a:buClr>
                    <a:schemeClr val="dk1"/>
                  </a:buClr>
                  <a:buSzPts val="1006"/>
                </a:pPr>
                <a:r>
                  <a:rPr lang="en" sz="839">
                    <a:solidFill>
                      <a:schemeClr val="dk1"/>
                    </a:solidFill>
                  </a:rPr>
                  <a:t>   </a:t>
                </a:r>
                <a:r>
                  <a:rPr lang="en" sz="839">
                    <a:solidFill>
                      <a:srgbClr val="1F2328"/>
                    </a:solidFill>
                  </a:rPr>
                  <a:t>           test-coverage/test-coverage(4.4)</a:t>
                </a:r>
                <a:endParaRPr sz="1956"/>
              </a:p>
            </p:txBody>
          </p:sp>
          <p:sp>
            <p:nvSpPr>
              <p:cNvPr id="470" name="Google Shape;235;p15">
                <a:extLst>
                  <a:ext uri="{FF2B5EF4-FFF2-40B4-BE49-F238E27FC236}">
                    <a16:creationId xmlns:a16="http://schemas.microsoft.com/office/drawing/2014/main" id="{1EB01A9D-01EB-CE40-A495-446803B061EB}"/>
                  </a:ext>
                </a:extLst>
              </p:cNvPr>
              <p:cNvSpPr/>
              <p:nvPr/>
            </p:nvSpPr>
            <p:spPr>
              <a:xfrm>
                <a:off x="1629374" y="8621717"/>
                <a:ext cx="2788500" cy="232375"/>
              </a:xfrm>
              <a:prstGeom prst="rect">
                <a:avLst/>
              </a:prstGeom>
              <a:noFill/>
              <a:ln>
                <a:noFill/>
              </a:ln>
            </p:spPr>
            <p:txBody>
              <a:bodyPr spcFirstLastPara="1" wrap="square" lIns="127722" tIns="127722" rIns="127722" bIns="127722" anchor="ctr" anchorCtr="0">
                <a:noAutofit/>
              </a:bodyPr>
              <a:lstStyle/>
              <a:p>
                <a:pPr>
                  <a:spcBef>
                    <a:spcPts val="0"/>
                  </a:spcBef>
                </a:pPr>
                <a:r>
                  <a:rPr lang="en" sz="839"/>
                  <a:t>              R-CMD-check</a:t>
                </a:r>
                <a:endParaRPr sz="839"/>
              </a:p>
            </p:txBody>
          </p:sp>
          <p:sp>
            <p:nvSpPr>
              <p:cNvPr id="471" name="Google Shape;236;p15">
                <a:extLst>
                  <a:ext uri="{FF2B5EF4-FFF2-40B4-BE49-F238E27FC236}">
                    <a16:creationId xmlns:a16="http://schemas.microsoft.com/office/drawing/2014/main" id="{0EE844F1-2F6D-19A0-147E-35F2AB0B18D2}"/>
                  </a:ext>
                </a:extLst>
              </p:cNvPr>
              <p:cNvSpPr/>
              <p:nvPr/>
            </p:nvSpPr>
            <p:spPr>
              <a:xfrm>
                <a:off x="1830220" y="8318797"/>
                <a:ext cx="165458" cy="16270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bg2">
                      <a:lumMod val="10000"/>
                    </a:schemeClr>
                  </a:solidFill>
                </a:endParaRPr>
              </a:p>
            </p:txBody>
          </p:sp>
          <p:sp>
            <p:nvSpPr>
              <p:cNvPr id="472" name="Google Shape;237;p15">
                <a:extLst>
                  <a:ext uri="{FF2B5EF4-FFF2-40B4-BE49-F238E27FC236}">
                    <a16:creationId xmlns:a16="http://schemas.microsoft.com/office/drawing/2014/main" id="{9463478C-4519-60D8-E4E5-7C8CF1C64D3B}"/>
                  </a:ext>
                </a:extLst>
              </p:cNvPr>
              <p:cNvSpPr txBox="1"/>
              <p:nvPr/>
            </p:nvSpPr>
            <p:spPr>
              <a:xfrm>
                <a:off x="1729524" y="8229908"/>
                <a:ext cx="416167" cy="232375"/>
              </a:xfrm>
              <a:prstGeom prst="rect">
                <a:avLst/>
              </a:prstGeom>
              <a:noFill/>
              <a:ln>
                <a:noFill/>
              </a:ln>
            </p:spPr>
            <p:txBody>
              <a:bodyPr spcFirstLastPara="1" wrap="square" lIns="127722" tIns="127722" rIns="127722" bIns="127722" anchor="t" anchorCtr="0">
                <a:noAutofit/>
              </a:bodyPr>
              <a:lstStyle/>
              <a:p>
                <a:pPr>
                  <a:spcBef>
                    <a:spcPts val="0"/>
                  </a:spcBef>
                </a:pPr>
                <a:r>
                  <a:rPr lang="en" sz="698" dirty="0">
                    <a:solidFill>
                      <a:schemeClr val="lt1"/>
                    </a:solidFill>
                  </a:rPr>
                  <a:t>GH</a:t>
                </a:r>
                <a:endParaRPr sz="698" dirty="0">
                  <a:solidFill>
                    <a:schemeClr val="lt1"/>
                  </a:solidFill>
                </a:endParaRPr>
              </a:p>
            </p:txBody>
          </p:sp>
          <p:sp>
            <p:nvSpPr>
              <p:cNvPr id="473" name="Google Shape;238;p15">
                <a:extLst>
                  <a:ext uri="{FF2B5EF4-FFF2-40B4-BE49-F238E27FC236}">
                    <a16:creationId xmlns:a16="http://schemas.microsoft.com/office/drawing/2014/main" id="{C01A90AB-937A-F768-C5CE-D84C48A078DC}"/>
                  </a:ext>
                </a:extLst>
              </p:cNvPr>
              <p:cNvSpPr/>
              <p:nvPr/>
            </p:nvSpPr>
            <p:spPr>
              <a:xfrm>
                <a:off x="1835613" y="8653245"/>
                <a:ext cx="165458" cy="16270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474" name="Google Shape;239;p15">
                <a:extLst>
                  <a:ext uri="{FF2B5EF4-FFF2-40B4-BE49-F238E27FC236}">
                    <a16:creationId xmlns:a16="http://schemas.microsoft.com/office/drawing/2014/main" id="{1A8D784F-6F1E-A2F5-2370-518DA58C166B}"/>
                  </a:ext>
                </a:extLst>
              </p:cNvPr>
              <p:cNvSpPr txBox="1"/>
              <p:nvPr/>
            </p:nvSpPr>
            <p:spPr>
              <a:xfrm>
                <a:off x="1730499" y="8555049"/>
                <a:ext cx="416167" cy="232375"/>
              </a:xfrm>
              <a:prstGeom prst="rect">
                <a:avLst/>
              </a:prstGeom>
              <a:noFill/>
              <a:ln>
                <a:noFill/>
              </a:ln>
            </p:spPr>
            <p:txBody>
              <a:bodyPr spcFirstLastPara="1" wrap="square" lIns="127722" tIns="127722" rIns="127722" bIns="127722" anchor="t" anchorCtr="0">
                <a:noAutofit/>
              </a:bodyPr>
              <a:lstStyle/>
              <a:p>
                <a:pPr>
                  <a:spcBef>
                    <a:spcPts val="0"/>
                  </a:spcBef>
                </a:pPr>
                <a:r>
                  <a:rPr lang="en" sz="698" dirty="0">
                    <a:solidFill>
                      <a:schemeClr val="lt1"/>
                    </a:solidFill>
                  </a:rPr>
                  <a:t>GH</a:t>
                </a:r>
                <a:endParaRPr sz="698" dirty="0">
                  <a:solidFill>
                    <a:schemeClr val="lt1"/>
                  </a:solidFill>
                </a:endParaRPr>
              </a:p>
            </p:txBody>
          </p:sp>
          <p:sp>
            <p:nvSpPr>
              <p:cNvPr id="475" name="Google Shape;240;p15">
                <a:extLst>
                  <a:ext uri="{FF2B5EF4-FFF2-40B4-BE49-F238E27FC236}">
                    <a16:creationId xmlns:a16="http://schemas.microsoft.com/office/drawing/2014/main" id="{1067FCD3-249F-AFC9-FB8B-7D160377E043}"/>
                  </a:ext>
                </a:extLst>
              </p:cNvPr>
              <p:cNvSpPr txBox="1"/>
              <p:nvPr/>
            </p:nvSpPr>
            <p:spPr>
              <a:xfrm>
                <a:off x="1694050" y="6325762"/>
                <a:ext cx="970292"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a:solidFill>
                      <a:srgbClr val="999999"/>
                    </a:solidFill>
                  </a:rPr>
                  <a:t>1 approval</a:t>
                </a:r>
                <a:endParaRPr sz="978">
                  <a:solidFill>
                    <a:srgbClr val="999999"/>
                  </a:solidFill>
                </a:endParaRPr>
              </a:p>
              <a:p>
                <a:pPr>
                  <a:spcBef>
                    <a:spcPts val="0"/>
                  </a:spcBef>
                </a:pPr>
                <a:endParaRPr sz="978">
                  <a:solidFill>
                    <a:srgbClr val="999999"/>
                  </a:solidFill>
                </a:endParaRPr>
              </a:p>
              <a:p>
                <a:pPr>
                  <a:spcBef>
                    <a:spcPts val="0"/>
                  </a:spcBef>
                </a:pPr>
                <a:r>
                  <a:rPr lang="en" sz="978">
                    <a:solidFill>
                      <a:srgbClr val="999999"/>
                    </a:solidFill>
                  </a:rPr>
                  <a:t> </a:t>
                </a:r>
                <a:endParaRPr sz="978">
                  <a:solidFill>
                    <a:srgbClr val="999999"/>
                  </a:solidFill>
                </a:endParaRPr>
              </a:p>
            </p:txBody>
          </p:sp>
          <p:sp>
            <p:nvSpPr>
              <p:cNvPr id="476" name="Google Shape;241;p15">
                <a:extLst>
                  <a:ext uri="{FF2B5EF4-FFF2-40B4-BE49-F238E27FC236}">
                    <a16:creationId xmlns:a16="http://schemas.microsoft.com/office/drawing/2014/main" id="{CDDAF32F-5C5A-EC99-6ED0-8D06F0CBD6B1}"/>
                  </a:ext>
                </a:extLst>
              </p:cNvPr>
              <p:cNvSpPr txBox="1"/>
              <p:nvPr/>
            </p:nvSpPr>
            <p:spPr>
              <a:xfrm>
                <a:off x="1707043" y="6907723"/>
                <a:ext cx="1532667"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a:solidFill>
                      <a:srgbClr val="999999"/>
                    </a:solidFill>
                  </a:rPr>
                  <a:t>1 requested change</a:t>
                </a:r>
                <a:endParaRPr sz="978">
                  <a:solidFill>
                    <a:srgbClr val="999999"/>
                  </a:solidFill>
                </a:endParaRPr>
              </a:p>
            </p:txBody>
          </p:sp>
          <p:sp>
            <p:nvSpPr>
              <p:cNvPr id="477" name="Google Shape;242;p15">
                <a:extLst>
                  <a:ext uri="{FF2B5EF4-FFF2-40B4-BE49-F238E27FC236}">
                    <a16:creationId xmlns:a16="http://schemas.microsoft.com/office/drawing/2014/main" id="{A9713065-5FC5-BF85-9193-124991F1AE96}"/>
                  </a:ext>
                </a:extLst>
              </p:cNvPr>
              <p:cNvSpPr txBox="1"/>
              <p:nvPr/>
            </p:nvSpPr>
            <p:spPr>
              <a:xfrm>
                <a:off x="1705960" y="6587163"/>
                <a:ext cx="2640000"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dirty="0">
                    <a:solidFill>
                      <a:schemeClr val="dk1"/>
                    </a:solidFill>
                  </a:rPr>
                  <a:t>Quality Reviewer    </a:t>
                </a:r>
                <a:r>
                  <a:rPr lang="en" sz="839" dirty="0">
                    <a:solidFill>
                      <a:schemeClr val="dk1"/>
                    </a:solidFill>
                  </a:rPr>
                  <a:t> </a:t>
                </a:r>
                <a:r>
                  <a:rPr lang="en" sz="839" dirty="0">
                    <a:solidFill>
                      <a:srgbClr val="999999"/>
                    </a:solidFill>
                  </a:rPr>
                  <a:t> Approved these changes</a:t>
                </a:r>
                <a:endParaRPr sz="839" dirty="0">
                  <a:solidFill>
                    <a:srgbClr val="999999"/>
                  </a:solidFill>
                </a:endParaRPr>
              </a:p>
              <a:p>
                <a:pPr>
                  <a:spcBef>
                    <a:spcPts val="0"/>
                  </a:spcBef>
                </a:pPr>
                <a:endParaRPr sz="978" dirty="0">
                  <a:solidFill>
                    <a:srgbClr val="999999"/>
                  </a:solidFill>
                </a:endParaRPr>
              </a:p>
              <a:p>
                <a:pPr>
                  <a:spcBef>
                    <a:spcPts val="0"/>
                  </a:spcBef>
                </a:pPr>
                <a:r>
                  <a:rPr lang="en" sz="978" dirty="0">
                    <a:solidFill>
                      <a:srgbClr val="999999"/>
                    </a:solidFill>
                  </a:rPr>
                  <a:t> </a:t>
                </a:r>
                <a:endParaRPr sz="978" dirty="0">
                  <a:solidFill>
                    <a:srgbClr val="999999"/>
                  </a:solidFill>
                </a:endParaRPr>
              </a:p>
            </p:txBody>
          </p:sp>
          <p:pic>
            <p:nvPicPr>
              <p:cNvPr id="478" name="Google Shape;243;p15">
                <a:extLst>
                  <a:ext uri="{FF2B5EF4-FFF2-40B4-BE49-F238E27FC236}">
                    <a16:creationId xmlns:a16="http://schemas.microsoft.com/office/drawing/2014/main" id="{2B28E909-FA15-076E-BAB0-0FAAD54C5316}"/>
                  </a:ext>
                </a:extLst>
              </p:cNvPr>
              <p:cNvPicPr preferRelativeResize="0"/>
              <p:nvPr/>
            </p:nvPicPr>
            <p:blipFill>
              <a:blip r:embed="rId14">
                <a:alphaModFix/>
              </a:blip>
              <a:stretch>
                <a:fillRect/>
              </a:stretch>
            </p:blipFill>
            <p:spPr>
              <a:xfrm>
                <a:off x="1535831" y="7247141"/>
                <a:ext cx="275348" cy="232624"/>
              </a:xfrm>
              <a:prstGeom prst="rect">
                <a:avLst/>
              </a:prstGeom>
              <a:noFill/>
              <a:ln>
                <a:noFill/>
              </a:ln>
            </p:spPr>
          </p:pic>
          <p:sp>
            <p:nvSpPr>
              <p:cNvPr id="479" name="Google Shape;244;p15">
                <a:extLst>
                  <a:ext uri="{FF2B5EF4-FFF2-40B4-BE49-F238E27FC236}">
                    <a16:creationId xmlns:a16="http://schemas.microsoft.com/office/drawing/2014/main" id="{1690B609-C7AD-C963-4EB6-C20CD147239E}"/>
                  </a:ext>
                </a:extLst>
              </p:cNvPr>
              <p:cNvSpPr txBox="1"/>
              <p:nvPr/>
            </p:nvSpPr>
            <p:spPr>
              <a:xfrm>
                <a:off x="1703969" y="7146562"/>
                <a:ext cx="2640000"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dirty="0">
                    <a:solidFill>
                      <a:schemeClr val="dk1"/>
                    </a:solidFill>
                  </a:rPr>
                  <a:t>Code Architect    </a:t>
                </a:r>
                <a:r>
                  <a:rPr lang="en" sz="839" dirty="0">
                    <a:solidFill>
                      <a:schemeClr val="dk1"/>
                    </a:solidFill>
                  </a:rPr>
                  <a:t> </a:t>
                </a:r>
                <a:r>
                  <a:rPr lang="en" sz="839" dirty="0">
                    <a:solidFill>
                      <a:srgbClr val="999999"/>
                    </a:solidFill>
                  </a:rPr>
                  <a:t>     Requested changes</a:t>
                </a:r>
                <a:endParaRPr sz="839" dirty="0">
                  <a:solidFill>
                    <a:srgbClr val="999999"/>
                  </a:solidFill>
                </a:endParaRPr>
              </a:p>
              <a:p>
                <a:pPr>
                  <a:spcBef>
                    <a:spcPts val="0"/>
                  </a:spcBef>
                </a:pPr>
                <a:endParaRPr sz="978" dirty="0">
                  <a:solidFill>
                    <a:srgbClr val="999999"/>
                  </a:solidFill>
                </a:endParaRPr>
              </a:p>
              <a:p>
                <a:pPr>
                  <a:spcBef>
                    <a:spcPts val="0"/>
                  </a:spcBef>
                </a:pPr>
                <a:r>
                  <a:rPr lang="en" sz="978" dirty="0">
                    <a:solidFill>
                      <a:srgbClr val="999999"/>
                    </a:solidFill>
                  </a:rPr>
                  <a:t> </a:t>
                </a:r>
                <a:endParaRPr sz="978" dirty="0">
                  <a:solidFill>
                    <a:srgbClr val="999999"/>
                  </a:solidFill>
                </a:endParaRPr>
              </a:p>
            </p:txBody>
          </p:sp>
          <p:cxnSp>
            <p:nvCxnSpPr>
              <p:cNvPr id="480" name="Google Shape;245;p15">
                <a:extLst>
                  <a:ext uri="{FF2B5EF4-FFF2-40B4-BE49-F238E27FC236}">
                    <a16:creationId xmlns:a16="http://schemas.microsoft.com/office/drawing/2014/main" id="{A6B03D59-5FF4-06D1-B4C7-6F9017394A9E}"/>
                  </a:ext>
                </a:extLst>
              </p:cNvPr>
              <p:cNvCxnSpPr/>
              <p:nvPr/>
            </p:nvCxnSpPr>
            <p:spPr>
              <a:xfrm>
                <a:off x="1477667" y="7575104"/>
                <a:ext cx="3040125" cy="0"/>
              </a:xfrm>
              <a:prstGeom prst="straightConnector1">
                <a:avLst/>
              </a:prstGeom>
              <a:noFill/>
              <a:ln w="8700" cap="flat" cmpd="sng">
                <a:solidFill>
                  <a:schemeClr val="dk2"/>
                </a:solidFill>
                <a:prstDash val="solid"/>
                <a:round/>
                <a:headEnd type="none" w="med" len="med"/>
                <a:tailEnd type="none" w="med" len="med"/>
              </a:ln>
            </p:spPr>
          </p:cxnSp>
          <p:pic>
            <p:nvPicPr>
              <p:cNvPr id="482" name="Google Shape;246;p15">
                <a:extLst>
                  <a:ext uri="{FF2B5EF4-FFF2-40B4-BE49-F238E27FC236}">
                    <a16:creationId xmlns:a16="http://schemas.microsoft.com/office/drawing/2014/main" id="{38E89DA3-1F7B-4C28-61DF-A8EE7D037410}"/>
                  </a:ext>
                </a:extLst>
              </p:cNvPr>
              <p:cNvPicPr preferRelativeResize="0"/>
              <p:nvPr/>
            </p:nvPicPr>
            <p:blipFill>
              <a:blip r:embed="rId10">
                <a:alphaModFix/>
              </a:blip>
              <a:stretch>
                <a:fillRect/>
              </a:stretch>
            </p:blipFill>
            <p:spPr>
              <a:xfrm>
                <a:off x="1529318" y="8636978"/>
                <a:ext cx="288926" cy="211878"/>
              </a:xfrm>
              <a:prstGeom prst="rect">
                <a:avLst/>
              </a:prstGeom>
              <a:noFill/>
              <a:ln>
                <a:noFill/>
              </a:ln>
            </p:spPr>
          </p:pic>
          <p:cxnSp>
            <p:nvCxnSpPr>
              <p:cNvPr id="484" name="Google Shape;247;p15">
                <a:extLst>
                  <a:ext uri="{FF2B5EF4-FFF2-40B4-BE49-F238E27FC236}">
                    <a16:creationId xmlns:a16="http://schemas.microsoft.com/office/drawing/2014/main" id="{F724D94F-1EF2-227C-5E04-05EA58D4F16B}"/>
                  </a:ext>
                </a:extLst>
              </p:cNvPr>
              <p:cNvCxnSpPr/>
              <p:nvPr/>
            </p:nvCxnSpPr>
            <p:spPr>
              <a:xfrm>
                <a:off x="1458389" y="8163071"/>
                <a:ext cx="3040125" cy="0"/>
              </a:xfrm>
              <a:prstGeom prst="straightConnector1">
                <a:avLst/>
              </a:prstGeom>
              <a:noFill/>
              <a:ln w="8700" cap="flat" cmpd="sng">
                <a:solidFill>
                  <a:schemeClr val="dk2"/>
                </a:solidFill>
                <a:prstDash val="solid"/>
                <a:round/>
                <a:headEnd type="none" w="med" len="med"/>
                <a:tailEnd type="none" w="med" len="med"/>
              </a:ln>
            </p:spPr>
          </p:cxnSp>
          <p:pic>
            <p:nvPicPr>
              <p:cNvPr id="485" name="Google Shape;248;p15" title="download.png">
                <a:extLst>
                  <a:ext uri="{FF2B5EF4-FFF2-40B4-BE49-F238E27FC236}">
                    <a16:creationId xmlns:a16="http://schemas.microsoft.com/office/drawing/2014/main" id="{4BA6C001-1F72-DF77-2D14-905140D4C661}"/>
                  </a:ext>
                </a:extLst>
              </p:cNvPr>
              <p:cNvPicPr preferRelativeResize="0"/>
              <p:nvPr/>
            </p:nvPicPr>
            <p:blipFill>
              <a:blip r:embed="rId16">
                <a:alphaModFix/>
              </a:blip>
              <a:stretch>
                <a:fillRect/>
              </a:stretch>
            </p:blipFill>
            <p:spPr>
              <a:xfrm>
                <a:off x="1524726" y="8948407"/>
                <a:ext cx="344920" cy="344920"/>
              </a:xfrm>
              <a:prstGeom prst="rect">
                <a:avLst/>
              </a:prstGeom>
              <a:noFill/>
              <a:ln>
                <a:noFill/>
              </a:ln>
            </p:spPr>
          </p:pic>
          <p:sp>
            <p:nvSpPr>
              <p:cNvPr id="488" name="Google Shape;249;p15">
                <a:extLst>
                  <a:ext uri="{FF2B5EF4-FFF2-40B4-BE49-F238E27FC236}">
                    <a16:creationId xmlns:a16="http://schemas.microsoft.com/office/drawing/2014/main" id="{516642A6-100E-7F91-95E2-0102F38E03A8}"/>
                  </a:ext>
                </a:extLst>
              </p:cNvPr>
              <p:cNvSpPr txBox="1"/>
              <p:nvPr/>
            </p:nvSpPr>
            <p:spPr>
              <a:xfrm>
                <a:off x="1798191" y="8820046"/>
                <a:ext cx="1821875" cy="348333"/>
              </a:xfrm>
              <a:prstGeom prst="rect">
                <a:avLst/>
              </a:prstGeom>
              <a:noFill/>
              <a:ln>
                <a:noFill/>
              </a:ln>
            </p:spPr>
            <p:txBody>
              <a:bodyPr spcFirstLastPara="1" wrap="square" lIns="127722" tIns="127722" rIns="127722" bIns="127722" anchor="t" anchorCtr="0">
                <a:noAutofit/>
              </a:bodyPr>
              <a:lstStyle/>
              <a:p>
                <a:pPr>
                  <a:spcBef>
                    <a:spcPts val="0"/>
                  </a:spcBef>
                </a:pPr>
                <a:r>
                  <a:rPr lang="en" sz="1257">
                    <a:solidFill>
                      <a:schemeClr val="dk1"/>
                    </a:solidFill>
                  </a:rPr>
                  <a:t>No conflicts with base branch</a:t>
                </a:r>
                <a:endParaRPr sz="1257">
                  <a:solidFill>
                    <a:schemeClr val="dk1"/>
                  </a:solidFill>
                </a:endParaRPr>
              </a:p>
              <a:p>
                <a:pPr>
                  <a:spcBef>
                    <a:spcPts val="0"/>
                  </a:spcBef>
                </a:pPr>
                <a:endParaRPr sz="1257">
                  <a:solidFill>
                    <a:schemeClr val="dk1"/>
                  </a:solidFill>
                </a:endParaRPr>
              </a:p>
            </p:txBody>
          </p:sp>
          <p:cxnSp>
            <p:nvCxnSpPr>
              <p:cNvPr id="489" name="Google Shape;250;p15">
                <a:extLst>
                  <a:ext uri="{FF2B5EF4-FFF2-40B4-BE49-F238E27FC236}">
                    <a16:creationId xmlns:a16="http://schemas.microsoft.com/office/drawing/2014/main" id="{BA2F22F1-E3F9-0812-B114-50D2E65C86B7}"/>
                  </a:ext>
                </a:extLst>
              </p:cNvPr>
              <p:cNvCxnSpPr/>
              <p:nvPr/>
            </p:nvCxnSpPr>
            <p:spPr>
              <a:xfrm>
                <a:off x="1474802" y="8902850"/>
                <a:ext cx="3040125" cy="0"/>
              </a:xfrm>
              <a:prstGeom prst="straightConnector1">
                <a:avLst/>
              </a:prstGeom>
              <a:noFill/>
              <a:ln w="8700" cap="flat" cmpd="sng">
                <a:solidFill>
                  <a:schemeClr val="dk2"/>
                </a:solidFill>
                <a:prstDash val="solid"/>
                <a:round/>
                <a:headEnd type="none" w="med" len="med"/>
                <a:tailEnd type="none" w="med" len="med"/>
              </a:ln>
            </p:spPr>
          </p:cxnSp>
          <p:sp>
            <p:nvSpPr>
              <p:cNvPr id="492" name="Google Shape;216;p15">
                <a:extLst>
                  <a:ext uri="{FF2B5EF4-FFF2-40B4-BE49-F238E27FC236}">
                    <a16:creationId xmlns:a16="http://schemas.microsoft.com/office/drawing/2014/main" id="{67F6D86F-BC91-E3F8-62A7-24E9E9CC3732}"/>
                  </a:ext>
                </a:extLst>
              </p:cNvPr>
              <p:cNvSpPr/>
              <p:nvPr/>
            </p:nvSpPr>
            <p:spPr>
              <a:xfrm>
                <a:off x="1466614" y="5802822"/>
                <a:ext cx="3030718" cy="3579582"/>
              </a:xfrm>
              <a:prstGeom prst="rect">
                <a:avLst/>
              </a:prstGeom>
              <a:no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grpSp>
        <p:sp>
          <p:nvSpPr>
            <p:cNvPr id="62" name="Google Shape;215;p15">
              <a:extLst>
                <a:ext uri="{FF2B5EF4-FFF2-40B4-BE49-F238E27FC236}">
                  <a16:creationId xmlns:a16="http://schemas.microsoft.com/office/drawing/2014/main" id="{252B48AE-FF68-B436-0B0C-98F22A404600}"/>
                </a:ext>
              </a:extLst>
            </p:cNvPr>
            <p:cNvSpPr/>
            <p:nvPr/>
          </p:nvSpPr>
          <p:spPr>
            <a:xfrm>
              <a:off x="10139699" y="2716877"/>
              <a:ext cx="3024222" cy="232375"/>
            </a:xfrm>
            <a:prstGeom prst="rect">
              <a:avLst/>
            </a:prstGeom>
            <a:solidFill>
              <a:schemeClr val="lt2"/>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839" dirty="0"/>
            </a:p>
            <a:p>
              <a:pPr>
                <a:spcBef>
                  <a:spcPts val="0"/>
                </a:spcBef>
              </a:pPr>
              <a:endParaRPr sz="839" dirty="0"/>
            </a:p>
            <a:p>
              <a:pPr>
                <a:spcBef>
                  <a:spcPts val="0"/>
                </a:spcBef>
              </a:pPr>
              <a:r>
                <a:rPr lang="en" sz="839" dirty="0">
                  <a:solidFill>
                    <a:schemeClr val="tx1">
                      <a:lumMod val="50000"/>
                    </a:schemeClr>
                  </a:solidFill>
                </a:rPr>
                <a:t>Username </a:t>
              </a:r>
              <a:r>
                <a:rPr lang="en" sz="839" b="0" dirty="0">
                  <a:solidFill>
                    <a:schemeClr val="tx1">
                      <a:lumMod val="50000"/>
                    </a:schemeClr>
                  </a:solidFill>
                </a:rPr>
                <a:t>commented on Mar 15</a:t>
              </a:r>
              <a:endParaRPr sz="839" b="0" dirty="0">
                <a:solidFill>
                  <a:schemeClr val="tx1">
                    <a:lumMod val="50000"/>
                  </a:schemeClr>
                </a:solidFill>
              </a:endParaRPr>
            </a:p>
            <a:p>
              <a:pPr>
                <a:spcBef>
                  <a:spcPts val="0"/>
                </a:spcBef>
              </a:pPr>
              <a:endParaRPr sz="1956" dirty="0"/>
            </a:p>
          </p:txBody>
        </p:sp>
        <p:sp>
          <p:nvSpPr>
            <p:cNvPr id="63" name="Google Shape;216;p15">
              <a:extLst>
                <a:ext uri="{FF2B5EF4-FFF2-40B4-BE49-F238E27FC236}">
                  <a16:creationId xmlns:a16="http://schemas.microsoft.com/office/drawing/2014/main" id="{FF085016-CF44-E732-1FAE-DC880CEF25FE}"/>
                </a:ext>
              </a:extLst>
            </p:cNvPr>
            <p:cNvSpPr/>
            <p:nvPr/>
          </p:nvSpPr>
          <p:spPr>
            <a:xfrm>
              <a:off x="10139699" y="2949252"/>
              <a:ext cx="3024222" cy="227593"/>
            </a:xfrm>
            <a:prstGeom prst="rect">
              <a:avLst/>
            </a:prstGeom>
            <a:solidFill>
              <a:schemeClr val="lt1"/>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sp>
          <p:nvSpPr>
            <p:cNvPr id="448" name="TextBox 447">
              <a:extLst>
                <a:ext uri="{FF2B5EF4-FFF2-40B4-BE49-F238E27FC236}">
                  <a16:creationId xmlns:a16="http://schemas.microsoft.com/office/drawing/2014/main" id="{00429237-8C16-9128-8961-9170D760D2BA}"/>
                </a:ext>
              </a:extLst>
            </p:cNvPr>
            <p:cNvSpPr txBox="1"/>
            <p:nvPr/>
          </p:nvSpPr>
          <p:spPr>
            <a:xfrm>
              <a:off x="10164572" y="2884290"/>
              <a:ext cx="40900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rPr>
                <a:t>…</a:t>
              </a:r>
            </a:p>
          </p:txBody>
        </p:sp>
      </p:grpSp>
      <p:sp>
        <p:nvSpPr>
          <p:cNvPr id="498" name="Line">
            <a:extLst>
              <a:ext uri="{FF2B5EF4-FFF2-40B4-BE49-F238E27FC236}">
                <a16:creationId xmlns:a16="http://schemas.microsoft.com/office/drawing/2014/main" id="{C712D2BD-5B23-F1E6-CE1D-1F0A1B1A487B}"/>
              </a:ext>
            </a:extLst>
          </p:cNvPr>
          <p:cNvSpPr/>
          <p:nvPr/>
        </p:nvSpPr>
        <p:spPr>
          <a:xfrm flipV="1">
            <a:off x="213255" y="4096705"/>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99" name="Use headers, colors, and/or backgrounds to separate or group together sections.">
            <a:extLst>
              <a:ext uri="{FF2B5EF4-FFF2-40B4-BE49-F238E27FC236}">
                <a16:creationId xmlns:a16="http://schemas.microsoft.com/office/drawing/2014/main" id="{8090D36D-7BD1-F0A9-FB6A-D9120A6EF934}"/>
              </a:ext>
            </a:extLst>
          </p:cNvPr>
          <p:cNvSpPr txBox="1"/>
          <p:nvPr/>
        </p:nvSpPr>
        <p:spPr>
          <a:xfrm>
            <a:off x="238315" y="4149510"/>
            <a:ext cx="4251862" cy="1273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In order to create easily reproducible tests, Kaiaulu’s R function files contain Fake Data Generation functions. These functions can create fake data, which is utilized in </a:t>
            </a:r>
            <a:r>
              <a:rPr lang="en-US" b="0" dirty="0" err="1">
                <a:latin typeface="Source Sans Pro" panose="020B0503030403020204" pitchFamily="34" charset="0"/>
                <a:ea typeface="Source Sans Pro" panose="020B0503030403020204" pitchFamily="34" charset="0"/>
              </a:rPr>
              <a:t>Example.R</a:t>
            </a:r>
            <a:r>
              <a:rPr lang="en-US" b="0" dirty="0">
                <a:latin typeface="Source Sans Pro" panose="020B0503030403020204" pitchFamily="34" charset="0"/>
                <a:ea typeface="Source Sans Pro" panose="020B0503030403020204" pitchFamily="34" charset="0"/>
              </a:rPr>
              <a:t>. This file contains functions which use the fake data functions to easily reproduce raw data that creates odd behavior in Kaiaulu. This allows the data to be called by the unit tests, which ensure that users will not have to deal with that same erroneous case ever again. </a:t>
            </a:r>
          </a:p>
        </p:txBody>
      </p:sp>
      <p:sp>
        <p:nvSpPr>
          <p:cNvPr id="491" name="Create a visual hierarchy. Help users navigate the page with titles, subtitles, and subsubtitles">
            <a:extLst>
              <a:ext uri="{FF2B5EF4-FFF2-40B4-BE49-F238E27FC236}">
                <a16:creationId xmlns:a16="http://schemas.microsoft.com/office/drawing/2014/main" id="{796335CA-8A15-58F7-0479-4ED3F31E85B9}"/>
              </a:ext>
            </a:extLst>
          </p:cNvPr>
          <p:cNvSpPr txBox="1"/>
          <p:nvPr/>
        </p:nvSpPr>
        <p:spPr>
          <a:xfrm>
            <a:off x="8264043" y="8100908"/>
            <a:ext cx="1200148" cy="2764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a:rPr>
              <a:t>Code Architect</a:t>
            </a:r>
            <a:endParaRPr lang="en-US" dirty="0">
              <a:latin typeface="Source Sans Pro" panose="020B0503030403020204" pitchFamily="34" charset="0"/>
              <a:ea typeface="Source Sans Pro" panose="020B0503030403020204" pitchFamily="34" charset="0"/>
              <a:sym typeface="Source Sans Pro"/>
            </a:endParaRPr>
          </a:p>
        </p:txBody>
      </p:sp>
      <p:sp>
        <p:nvSpPr>
          <p:cNvPr id="375" name="Line">
            <a:extLst>
              <a:ext uri="{FF2B5EF4-FFF2-40B4-BE49-F238E27FC236}">
                <a16:creationId xmlns:a16="http://schemas.microsoft.com/office/drawing/2014/main" id="{AF5C40F8-132F-52CD-425B-F16CD516E8FE}"/>
              </a:ext>
            </a:extLst>
          </p:cNvPr>
          <p:cNvSpPr/>
          <p:nvPr/>
        </p:nvSpPr>
        <p:spPr>
          <a:xfrm flipV="1">
            <a:off x="4761327" y="5618996"/>
            <a:ext cx="4318858"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42" name="Create a visual hierarchy. Help users navigate the page with titles, subtitles, and subsubtitles">
            <a:extLst>
              <a:ext uri="{FF2B5EF4-FFF2-40B4-BE49-F238E27FC236}">
                <a16:creationId xmlns:a16="http://schemas.microsoft.com/office/drawing/2014/main" id="{AD79D640-017A-1EDF-C132-B4294AD357B8}"/>
              </a:ext>
            </a:extLst>
          </p:cNvPr>
          <p:cNvSpPr txBox="1"/>
          <p:nvPr/>
        </p:nvSpPr>
        <p:spPr>
          <a:xfrm>
            <a:off x="5966355" y="7592221"/>
            <a:ext cx="1603122"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Pull Request Created + Commit Pushed</a:t>
            </a:r>
          </a:p>
        </p:txBody>
      </p:sp>
      <p:sp>
        <p:nvSpPr>
          <p:cNvPr id="504" name="Create a visual hierarchy. Help users navigate the page with titles, subtitles, and subsubtitles">
            <a:extLst>
              <a:ext uri="{FF2B5EF4-FFF2-40B4-BE49-F238E27FC236}">
                <a16:creationId xmlns:a16="http://schemas.microsoft.com/office/drawing/2014/main" id="{D1B65B63-DF16-9359-50A5-2AB339558FB7}"/>
              </a:ext>
            </a:extLst>
          </p:cNvPr>
          <p:cNvSpPr txBox="1"/>
          <p:nvPr/>
        </p:nvSpPr>
        <p:spPr>
          <a:xfrm>
            <a:off x="5986391" y="8110685"/>
            <a:ext cx="1138332" cy="2764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GitHub Actions</a:t>
            </a:r>
            <a:endParaRPr lang="en-US" dirty="0">
              <a:latin typeface="Source Sans Pro" panose="020B0503030403020204" pitchFamily="34" charset="0"/>
              <a:ea typeface="Source Sans Pro" panose="020B0503030403020204" pitchFamily="34" charset="0"/>
              <a:sym typeface="Source Sans Pro"/>
            </a:endParaRPr>
          </a:p>
        </p:txBody>
      </p:sp>
      <p:pic>
        <p:nvPicPr>
          <p:cNvPr id="50" name="Picture 49" descr="Account ">
            <a:extLst>
              <a:ext uri="{FF2B5EF4-FFF2-40B4-BE49-F238E27FC236}">
                <a16:creationId xmlns:a16="http://schemas.microsoft.com/office/drawing/2014/main" id="{DE41A1E3-9CEA-C196-E384-0C9300ED14D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580018" y="8330059"/>
            <a:ext cx="306136" cy="306136"/>
          </a:xfrm>
          <a:prstGeom prst="rect">
            <a:avLst/>
          </a:prstGeom>
          <a:noFill/>
          <a:extLst>
            <a:ext uri="{909E8E84-426E-40DD-AFC4-6F175D3DCCD1}">
              <a14:hiddenFill xmlns:a14="http://schemas.microsoft.com/office/drawing/2010/main">
                <a:solidFill>
                  <a:srgbClr val="FFFFFF"/>
                </a:solidFill>
              </a14:hiddenFill>
            </a:ext>
          </a:extLst>
        </p:spPr>
      </p:pic>
      <p:pic>
        <p:nvPicPr>
          <p:cNvPr id="481" name="Google Shape;214;p15">
            <a:extLst>
              <a:ext uri="{FF2B5EF4-FFF2-40B4-BE49-F238E27FC236}">
                <a16:creationId xmlns:a16="http://schemas.microsoft.com/office/drawing/2014/main" id="{C7CD075F-3C08-EB0E-7B3F-630687C18886}"/>
              </a:ext>
            </a:extLst>
          </p:cNvPr>
          <p:cNvPicPr preferRelativeResize="0"/>
          <p:nvPr/>
        </p:nvPicPr>
        <p:blipFill>
          <a:blip r:embed="rId8">
            <a:alphaModFix/>
          </a:blip>
          <a:srcRect l="10328" r="5548" b="12675"/>
          <a:stretch>
            <a:fillRect/>
          </a:stretch>
        </p:blipFill>
        <p:spPr>
          <a:xfrm>
            <a:off x="5442555" y="8281206"/>
            <a:ext cx="401071" cy="398991"/>
          </a:xfrm>
          <a:prstGeom prst="rect">
            <a:avLst/>
          </a:prstGeom>
          <a:noFill/>
          <a:ln>
            <a:noFill/>
          </a:ln>
        </p:spPr>
      </p:pic>
      <p:grpSp>
        <p:nvGrpSpPr>
          <p:cNvPr id="520" name="Group 519">
            <a:extLst>
              <a:ext uri="{FF2B5EF4-FFF2-40B4-BE49-F238E27FC236}">
                <a16:creationId xmlns:a16="http://schemas.microsoft.com/office/drawing/2014/main" id="{CDCE3ED9-2472-7B60-C6EA-D08C8C886970}"/>
              </a:ext>
            </a:extLst>
          </p:cNvPr>
          <p:cNvGrpSpPr/>
          <p:nvPr/>
        </p:nvGrpSpPr>
        <p:grpSpPr>
          <a:xfrm>
            <a:off x="6430077" y="8245501"/>
            <a:ext cx="526129" cy="378927"/>
            <a:chOff x="9474949" y="3367098"/>
            <a:chExt cx="526129" cy="378927"/>
          </a:xfrm>
        </p:grpSpPr>
        <p:sp>
          <p:nvSpPr>
            <p:cNvPr id="486" name="Google Shape;236;p15">
              <a:extLst>
                <a:ext uri="{FF2B5EF4-FFF2-40B4-BE49-F238E27FC236}">
                  <a16:creationId xmlns:a16="http://schemas.microsoft.com/office/drawing/2014/main" id="{DB3BF182-3EED-D0AD-6F83-E2849647C94C}"/>
                </a:ext>
              </a:extLst>
            </p:cNvPr>
            <p:cNvSpPr/>
            <p:nvPr/>
          </p:nvSpPr>
          <p:spPr>
            <a:xfrm>
              <a:off x="9567136" y="3458331"/>
              <a:ext cx="310026" cy="287694"/>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483" name="Google Shape;237;p15">
              <a:extLst>
                <a:ext uri="{FF2B5EF4-FFF2-40B4-BE49-F238E27FC236}">
                  <a16:creationId xmlns:a16="http://schemas.microsoft.com/office/drawing/2014/main" id="{4FB244A8-8536-EBB2-FFC4-B5C8BF107133}"/>
                </a:ext>
              </a:extLst>
            </p:cNvPr>
            <p:cNvSpPr txBox="1"/>
            <p:nvPr/>
          </p:nvSpPr>
          <p:spPr>
            <a:xfrm>
              <a:off x="9474949" y="3367098"/>
              <a:ext cx="526129" cy="263210"/>
            </a:xfrm>
            <a:prstGeom prst="rect">
              <a:avLst/>
            </a:prstGeom>
            <a:noFill/>
            <a:ln>
              <a:noFill/>
            </a:ln>
          </p:spPr>
          <p:txBody>
            <a:bodyPr spcFirstLastPara="1" wrap="square" lIns="127722" tIns="127722" rIns="127722" bIns="127722" anchor="t" anchorCtr="0">
              <a:noAutofit/>
            </a:bodyPr>
            <a:lstStyle/>
            <a:p>
              <a:pPr>
                <a:spcBef>
                  <a:spcPts val="0"/>
                </a:spcBef>
              </a:pPr>
              <a:r>
                <a:rPr lang="en" sz="1400" dirty="0">
                  <a:solidFill>
                    <a:schemeClr val="lt1"/>
                  </a:solidFill>
                </a:rPr>
                <a:t>GH</a:t>
              </a:r>
              <a:endParaRPr sz="1400" dirty="0">
                <a:solidFill>
                  <a:schemeClr val="lt1"/>
                </a:solidFill>
              </a:endParaRPr>
            </a:p>
          </p:txBody>
        </p:sp>
      </p:grpSp>
      <p:pic>
        <p:nvPicPr>
          <p:cNvPr id="487" name="Picture 486" descr="Account ">
            <a:extLst>
              <a:ext uri="{FF2B5EF4-FFF2-40B4-BE49-F238E27FC236}">
                <a16:creationId xmlns:a16="http://schemas.microsoft.com/office/drawing/2014/main" id="{401D428E-D6F2-6808-D885-98763FD5370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616900" y="8321807"/>
            <a:ext cx="306136" cy="306136"/>
          </a:xfrm>
          <a:prstGeom prst="rect">
            <a:avLst/>
          </a:prstGeom>
          <a:noFill/>
          <a:extLst>
            <a:ext uri="{909E8E84-426E-40DD-AFC4-6F175D3DCCD1}">
              <a14:hiddenFill xmlns:a14="http://schemas.microsoft.com/office/drawing/2010/main">
                <a:solidFill>
                  <a:srgbClr val="FFFFFF"/>
                </a:solidFill>
              </a14:hiddenFill>
            </a:ext>
          </a:extLst>
        </p:spPr>
      </p:pic>
      <p:sp>
        <p:nvSpPr>
          <p:cNvPr id="490" name="Create a visual hierarchy. Help users navigate the page with titles, subtitles, and subsubtitles">
            <a:extLst>
              <a:ext uri="{FF2B5EF4-FFF2-40B4-BE49-F238E27FC236}">
                <a16:creationId xmlns:a16="http://schemas.microsoft.com/office/drawing/2014/main" id="{CC97FDD3-2C5A-9BDF-5C68-F547C58A4985}"/>
              </a:ext>
            </a:extLst>
          </p:cNvPr>
          <p:cNvSpPr txBox="1"/>
          <p:nvPr/>
        </p:nvSpPr>
        <p:spPr>
          <a:xfrm>
            <a:off x="7087984" y="8108356"/>
            <a:ext cx="1241412" cy="2764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rPr>
              <a:t>Quality Reviewer</a:t>
            </a:r>
            <a:endParaRPr lang="en-US" dirty="0">
              <a:latin typeface="Source Sans Pro" panose="020B0503030403020204" pitchFamily="34" charset="0"/>
              <a:ea typeface="Source Sans Pro" panose="020B0503030403020204" pitchFamily="34" charset="0"/>
              <a:sym typeface="Source Sans Pro"/>
            </a:endParaRPr>
          </a:p>
        </p:txBody>
      </p:sp>
      <p:cxnSp>
        <p:nvCxnSpPr>
          <p:cNvPr id="328" name="Google Shape;445;p18">
            <a:extLst>
              <a:ext uri="{FF2B5EF4-FFF2-40B4-BE49-F238E27FC236}">
                <a16:creationId xmlns:a16="http://schemas.microsoft.com/office/drawing/2014/main" id="{DD7DADAE-7E13-727F-34F3-1F9A7407654F}"/>
              </a:ext>
            </a:extLst>
          </p:cNvPr>
          <p:cNvCxnSpPr>
            <a:cxnSpLocks/>
          </p:cNvCxnSpPr>
          <p:nvPr/>
        </p:nvCxnSpPr>
        <p:spPr>
          <a:xfrm>
            <a:off x="5636507" y="8012731"/>
            <a:ext cx="0" cy="227228"/>
          </a:xfrm>
          <a:prstGeom prst="straightConnector1">
            <a:avLst/>
          </a:prstGeom>
          <a:noFill/>
          <a:ln w="28575" cap="flat" cmpd="sng">
            <a:solidFill>
              <a:srgbClr val="1B1311"/>
            </a:solidFill>
            <a:prstDash val="solid"/>
            <a:round/>
            <a:headEnd type="none" w="med" len="med"/>
            <a:tailEnd type="triangle" w="med" len="med"/>
          </a:ln>
        </p:spPr>
      </p:cxnSp>
      <p:cxnSp>
        <p:nvCxnSpPr>
          <p:cNvPr id="330" name="Google Shape;445;p18">
            <a:extLst>
              <a:ext uri="{FF2B5EF4-FFF2-40B4-BE49-F238E27FC236}">
                <a16:creationId xmlns:a16="http://schemas.microsoft.com/office/drawing/2014/main" id="{A758435B-459D-8499-8C08-5CBEA900E2D8}"/>
              </a:ext>
            </a:extLst>
          </p:cNvPr>
          <p:cNvCxnSpPr>
            <a:cxnSpLocks/>
          </p:cNvCxnSpPr>
          <p:nvPr/>
        </p:nvCxnSpPr>
        <p:spPr>
          <a:xfrm>
            <a:off x="6693142" y="8692417"/>
            <a:ext cx="0" cy="219033"/>
          </a:xfrm>
          <a:prstGeom prst="straightConnector1">
            <a:avLst/>
          </a:prstGeom>
          <a:noFill/>
          <a:ln w="28575" cap="flat" cmpd="sng">
            <a:solidFill>
              <a:srgbClr val="1B1311"/>
            </a:solidFill>
            <a:prstDash val="solid"/>
            <a:round/>
            <a:headEnd type="none" w="med" len="med"/>
            <a:tailEnd type="triangle" w="med" len="med"/>
          </a:ln>
        </p:spPr>
      </p:cxnSp>
      <p:cxnSp>
        <p:nvCxnSpPr>
          <p:cNvPr id="331" name="Google Shape;445;p18">
            <a:extLst>
              <a:ext uri="{FF2B5EF4-FFF2-40B4-BE49-F238E27FC236}">
                <a16:creationId xmlns:a16="http://schemas.microsoft.com/office/drawing/2014/main" id="{9FDED1E7-6BDE-1328-5000-A8921A6206EA}"/>
              </a:ext>
            </a:extLst>
          </p:cNvPr>
          <p:cNvCxnSpPr>
            <a:cxnSpLocks/>
          </p:cNvCxnSpPr>
          <p:nvPr/>
        </p:nvCxnSpPr>
        <p:spPr>
          <a:xfrm flipV="1">
            <a:off x="5931917" y="8470444"/>
            <a:ext cx="483203" cy="4431"/>
          </a:xfrm>
          <a:prstGeom prst="straightConnector1">
            <a:avLst/>
          </a:prstGeom>
          <a:noFill/>
          <a:ln w="28575" cap="flat" cmpd="sng">
            <a:solidFill>
              <a:srgbClr val="1B1311"/>
            </a:solidFill>
            <a:prstDash val="solid"/>
            <a:round/>
            <a:headEnd type="none" w="med" len="med"/>
            <a:tailEnd type="triangle" w="med" len="med"/>
          </a:ln>
        </p:spPr>
      </p:cxnSp>
      <p:cxnSp>
        <p:nvCxnSpPr>
          <p:cNvPr id="524" name="Google Shape;445;p18">
            <a:extLst>
              <a:ext uri="{FF2B5EF4-FFF2-40B4-BE49-F238E27FC236}">
                <a16:creationId xmlns:a16="http://schemas.microsoft.com/office/drawing/2014/main" id="{B85F453C-1C55-A754-4B78-385477B00431}"/>
              </a:ext>
            </a:extLst>
          </p:cNvPr>
          <p:cNvCxnSpPr>
            <a:cxnSpLocks/>
          </p:cNvCxnSpPr>
          <p:nvPr/>
        </p:nvCxnSpPr>
        <p:spPr>
          <a:xfrm flipV="1">
            <a:off x="7010362" y="8470444"/>
            <a:ext cx="460133" cy="4431"/>
          </a:xfrm>
          <a:prstGeom prst="straightConnector1">
            <a:avLst/>
          </a:prstGeom>
          <a:noFill/>
          <a:ln w="28575" cap="flat" cmpd="sng">
            <a:solidFill>
              <a:srgbClr val="1B1311"/>
            </a:solidFill>
            <a:prstDash val="solid"/>
            <a:round/>
            <a:headEnd type="none" w="med" len="med"/>
            <a:tailEnd type="triangle" w="med" len="med"/>
          </a:ln>
        </p:spPr>
      </p:cxnSp>
      <p:cxnSp>
        <p:nvCxnSpPr>
          <p:cNvPr id="527" name="Google Shape;445;p18">
            <a:extLst>
              <a:ext uri="{FF2B5EF4-FFF2-40B4-BE49-F238E27FC236}">
                <a16:creationId xmlns:a16="http://schemas.microsoft.com/office/drawing/2014/main" id="{BEED0EE4-D6BC-FFCB-E788-1A05794BCBAF}"/>
              </a:ext>
            </a:extLst>
          </p:cNvPr>
          <p:cNvCxnSpPr>
            <a:cxnSpLocks/>
          </p:cNvCxnSpPr>
          <p:nvPr/>
        </p:nvCxnSpPr>
        <p:spPr>
          <a:xfrm>
            <a:off x="8025141" y="8481760"/>
            <a:ext cx="490920" cy="1367"/>
          </a:xfrm>
          <a:prstGeom prst="straightConnector1">
            <a:avLst/>
          </a:prstGeom>
          <a:noFill/>
          <a:ln w="28575" cap="flat" cmpd="sng">
            <a:solidFill>
              <a:srgbClr val="1B1311"/>
            </a:solidFill>
            <a:prstDash val="solid"/>
            <a:round/>
            <a:headEnd type="none" w="med" len="med"/>
            <a:tailEnd type="triangle" w="med" len="med"/>
          </a:ln>
        </p:spPr>
      </p:cxnSp>
      <p:sp>
        <p:nvSpPr>
          <p:cNvPr id="528" name="Create a visual hierarchy. Help users navigate the page with titles, subtitles, and subsubtitles">
            <a:extLst>
              <a:ext uri="{FF2B5EF4-FFF2-40B4-BE49-F238E27FC236}">
                <a16:creationId xmlns:a16="http://schemas.microsoft.com/office/drawing/2014/main" id="{DFAE6EA8-0F98-51F9-A669-89DB71049917}"/>
              </a:ext>
            </a:extLst>
          </p:cNvPr>
          <p:cNvSpPr txBox="1"/>
          <p:nvPr/>
        </p:nvSpPr>
        <p:spPr>
          <a:xfrm>
            <a:off x="4754545" y="8371927"/>
            <a:ext cx="788917" cy="2764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Codecov</a:t>
            </a:r>
          </a:p>
        </p:txBody>
      </p:sp>
      <p:sp>
        <p:nvSpPr>
          <p:cNvPr id="535" name="Create a visual hierarchy. Help users navigate the page with titles, subtitles, and subsubtitles">
            <a:extLst>
              <a:ext uri="{FF2B5EF4-FFF2-40B4-BE49-F238E27FC236}">
                <a16:creationId xmlns:a16="http://schemas.microsoft.com/office/drawing/2014/main" id="{A55D5581-06F8-E66A-10D0-0A343DD27E21}"/>
              </a:ext>
            </a:extLst>
          </p:cNvPr>
          <p:cNvSpPr txBox="1"/>
          <p:nvPr/>
        </p:nvSpPr>
        <p:spPr>
          <a:xfrm>
            <a:off x="6345851" y="9458213"/>
            <a:ext cx="1184050" cy="4810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Pull Request </a:t>
            </a:r>
          </a:p>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Denie</a:t>
            </a:r>
            <a:r>
              <a:rPr lang="en-US" b="0" dirty="0">
                <a:solidFill>
                  <a:srgbClr val="000000"/>
                </a:solidFill>
                <a:latin typeface="Source Sans Pro" panose="020B0503030403020204" pitchFamily="34" charset="0"/>
                <a:ea typeface="Source Sans Pro" panose="020B0503030403020204" pitchFamily="34" charset="0"/>
              </a:rPr>
              <a:t>d</a:t>
            </a:r>
            <a:endParaRPr lang="en-US" b="0" i="0" u="none" strike="noStrike" dirty="0">
              <a:solidFill>
                <a:srgbClr val="000000"/>
              </a:solidFill>
              <a:effectLst/>
              <a:latin typeface="Source Sans Pro" panose="020B0503030403020204" pitchFamily="34" charset="0"/>
              <a:ea typeface="Source Sans Pro" panose="020B0503030403020204" pitchFamily="34" charset="0"/>
            </a:endParaRPr>
          </a:p>
        </p:txBody>
      </p:sp>
      <p:cxnSp>
        <p:nvCxnSpPr>
          <p:cNvPr id="544" name="Google Shape;445;p18">
            <a:extLst>
              <a:ext uri="{FF2B5EF4-FFF2-40B4-BE49-F238E27FC236}">
                <a16:creationId xmlns:a16="http://schemas.microsoft.com/office/drawing/2014/main" id="{F693198B-03C5-369B-3798-062B38E41234}"/>
              </a:ext>
            </a:extLst>
          </p:cNvPr>
          <p:cNvCxnSpPr>
            <a:cxnSpLocks/>
          </p:cNvCxnSpPr>
          <p:nvPr/>
        </p:nvCxnSpPr>
        <p:spPr>
          <a:xfrm flipH="1">
            <a:off x="5929791" y="9278751"/>
            <a:ext cx="428575" cy="0"/>
          </a:xfrm>
          <a:prstGeom prst="straightConnector1">
            <a:avLst/>
          </a:prstGeom>
          <a:noFill/>
          <a:ln w="28575" cap="flat" cmpd="sng">
            <a:solidFill>
              <a:srgbClr val="1B1311"/>
            </a:solidFill>
            <a:prstDash val="solid"/>
            <a:round/>
            <a:headEnd type="none" w="med" len="med"/>
            <a:tailEnd type="triangle" w="med" len="med"/>
          </a:ln>
        </p:spPr>
      </p:cxnSp>
      <p:cxnSp>
        <p:nvCxnSpPr>
          <p:cNvPr id="549" name="Google Shape;445;p18">
            <a:extLst>
              <a:ext uri="{FF2B5EF4-FFF2-40B4-BE49-F238E27FC236}">
                <a16:creationId xmlns:a16="http://schemas.microsoft.com/office/drawing/2014/main" id="{2B9ED6A9-90D6-9198-5A5E-D38487212B23}"/>
              </a:ext>
            </a:extLst>
          </p:cNvPr>
          <p:cNvCxnSpPr>
            <a:cxnSpLocks/>
          </p:cNvCxnSpPr>
          <p:nvPr/>
        </p:nvCxnSpPr>
        <p:spPr>
          <a:xfrm flipH="1">
            <a:off x="7087984" y="9308489"/>
            <a:ext cx="881273" cy="0"/>
          </a:xfrm>
          <a:prstGeom prst="straightConnector1">
            <a:avLst/>
          </a:prstGeom>
          <a:noFill/>
          <a:ln w="28575" cap="flat" cmpd="sng">
            <a:solidFill>
              <a:srgbClr val="1B1311"/>
            </a:solidFill>
            <a:prstDash val="solid"/>
            <a:round/>
            <a:headEnd type="none" w="med" len="med"/>
            <a:tailEnd type="triangle" w="med" len="med"/>
          </a:ln>
        </p:spPr>
      </p:cxnSp>
      <p:cxnSp>
        <p:nvCxnSpPr>
          <p:cNvPr id="557" name="Google Shape;445;p18">
            <a:extLst>
              <a:ext uri="{FF2B5EF4-FFF2-40B4-BE49-F238E27FC236}">
                <a16:creationId xmlns:a16="http://schemas.microsoft.com/office/drawing/2014/main" id="{C416E4B4-D8B5-697F-DFA4-5D44D06810FA}"/>
              </a:ext>
            </a:extLst>
          </p:cNvPr>
          <p:cNvCxnSpPr>
            <a:cxnSpLocks/>
          </p:cNvCxnSpPr>
          <p:nvPr/>
        </p:nvCxnSpPr>
        <p:spPr>
          <a:xfrm>
            <a:off x="8784901" y="8687064"/>
            <a:ext cx="0" cy="303476"/>
          </a:xfrm>
          <a:prstGeom prst="straightConnector1">
            <a:avLst/>
          </a:prstGeom>
          <a:noFill/>
          <a:ln w="28575" cap="flat" cmpd="sng">
            <a:solidFill>
              <a:srgbClr val="1B1311"/>
            </a:solidFill>
            <a:prstDash val="solid"/>
            <a:round/>
            <a:headEnd type="none" w="med" len="med"/>
            <a:tailEnd type="triangle" w="med" len="med"/>
          </a:ln>
        </p:spPr>
      </p:cxnSp>
      <p:sp>
        <p:nvSpPr>
          <p:cNvPr id="560" name="Create a visual hierarchy. Help users navigate the page with titles, subtitles, and subsubtitles">
            <a:extLst>
              <a:ext uri="{FF2B5EF4-FFF2-40B4-BE49-F238E27FC236}">
                <a16:creationId xmlns:a16="http://schemas.microsoft.com/office/drawing/2014/main" id="{5C7B05ED-837E-7B86-BD63-C8C99A0751BB}"/>
              </a:ext>
            </a:extLst>
          </p:cNvPr>
          <p:cNvSpPr txBox="1"/>
          <p:nvPr/>
        </p:nvSpPr>
        <p:spPr>
          <a:xfrm>
            <a:off x="8177943" y="9423379"/>
            <a:ext cx="1184050" cy="4810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Pull Request </a:t>
            </a:r>
          </a:p>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Approved</a:t>
            </a:r>
          </a:p>
        </p:txBody>
      </p:sp>
      <p:cxnSp>
        <p:nvCxnSpPr>
          <p:cNvPr id="574" name="Straight Connector 573">
            <a:extLst>
              <a:ext uri="{FF2B5EF4-FFF2-40B4-BE49-F238E27FC236}">
                <a16:creationId xmlns:a16="http://schemas.microsoft.com/office/drawing/2014/main" id="{BDD3BDFB-F25E-8B8B-126A-8DF59173B9FB}"/>
              </a:ext>
            </a:extLst>
          </p:cNvPr>
          <p:cNvCxnSpPr>
            <a:cxnSpLocks/>
          </p:cNvCxnSpPr>
          <p:nvPr/>
        </p:nvCxnSpPr>
        <p:spPr>
          <a:xfrm flipH="1">
            <a:off x="7942180" y="8631247"/>
            <a:ext cx="698769" cy="677242"/>
          </a:xfrm>
          <a:prstGeom prst="line">
            <a:avLst/>
          </a:prstGeom>
          <a:ln w="28575" cap="flat" cmpd="sng" algn="ctr">
            <a:solidFill>
              <a:schemeClr val="bg2">
                <a:lumMod val="1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88" name="Create a visual hierarchy. Help users navigate the page with titles, subtitles, and subsubtitles">
            <a:extLst>
              <a:ext uri="{FF2B5EF4-FFF2-40B4-BE49-F238E27FC236}">
                <a16:creationId xmlns:a16="http://schemas.microsoft.com/office/drawing/2014/main" id="{6FE7B11F-B1B5-D813-F29D-4A738BA2249D}"/>
              </a:ext>
            </a:extLst>
          </p:cNvPr>
          <p:cNvSpPr txBox="1"/>
          <p:nvPr/>
        </p:nvSpPr>
        <p:spPr>
          <a:xfrm>
            <a:off x="5174316" y="9445330"/>
            <a:ext cx="1184050" cy="2764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New Commit</a:t>
            </a:r>
          </a:p>
        </p:txBody>
      </p:sp>
      <p:cxnSp>
        <p:nvCxnSpPr>
          <p:cNvPr id="589" name="Google Shape;445;p18">
            <a:extLst>
              <a:ext uri="{FF2B5EF4-FFF2-40B4-BE49-F238E27FC236}">
                <a16:creationId xmlns:a16="http://schemas.microsoft.com/office/drawing/2014/main" id="{912E5DC3-9704-E5F3-11E1-2D4D896DFBD1}"/>
              </a:ext>
            </a:extLst>
          </p:cNvPr>
          <p:cNvCxnSpPr>
            <a:cxnSpLocks/>
          </p:cNvCxnSpPr>
          <p:nvPr/>
        </p:nvCxnSpPr>
        <p:spPr>
          <a:xfrm flipV="1">
            <a:off x="5632994" y="8733946"/>
            <a:ext cx="0" cy="256594"/>
          </a:xfrm>
          <a:prstGeom prst="straightConnector1">
            <a:avLst/>
          </a:prstGeom>
          <a:noFill/>
          <a:ln w="28575" cap="flat" cmpd="sng">
            <a:solidFill>
              <a:srgbClr val="1B1311"/>
            </a:solidFill>
            <a:prstDash val="solid"/>
            <a:round/>
            <a:headEnd type="none" w="med" len="med"/>
            <a:tailEnd type="triangle" w="med" len="med"/>
          </a:ln>
        </p:spPr>
      </p:cxnSp>
      <p:cxnSp>
        <p:nvCxnSpPr>
          <p:cNvPr id="593" name="Google Shape;445;p18">
            <a:extLst>
              <a:ext uri="{FF2B5EF4-FFF2-40B4-BE49-F238E27FC236}">
                <a16:creationId xmlns:a16="http://schemas.microsoft.com/office/drawing/2014/main" id="{6EC24039-23AB-45F2-6C14-AE42BDDC26C0}"/>
              </a:ext>
            </a:extLst>
          </p:cNvPr>
          <p:cNvCxnSpPr>
            <a:cxnSpLocks/>
          </p:cNvCxnSpPr>
          <p:nvPr/>
        </p:nvCxnSpPr>
        <p:spPr>
          <a:xfrm>
            <a:off x="5933583" y="8663797"/>
            <a:ext cx="435291" cy="404503"/>
          </a:xfrm>
          <a:prstGeom prst="straightConnector1">
            <a:avLst/>
          </a:prstGeom>
          <a:noFill/>
          <a:ln w="28575" cap="flat" cmpd="sng">
            <a:solidFill>
              <a:srgbClr val="1B1311"/>
            </a:solidFill>
            <a:prstDash val="solid"/>
            <a:round/>
            <a:headEnd type="none" w="med" len="med"/>
            <a:tailEnd type="triangle" w="med" len="med"/>
          </a:ln>
        </p:spPr>
      </p:cxnSp>
      <p:cxnSp>
        <p:nvCxnSpPr>
          <p:cNvPr id="600" name="Google Shape;445;p18">
            <a:extLst>
              <a:ext uri="{FF2B5EF4-FFF2-40B4-BE49-F238E27FC236}">
                <a16:creationId xmlns:a16="http://schemas.microsoft.com/office/drawing/2014/main" id="{41B760ED-AE64-F818-712D-FF544D82B0AF}"/>
              </a:ext>
            </a:extLst>
          </p:cNvPr>
          <p:cNvCxnSpPr>
            <a:cxnSpLocks/>
          </p:cNvCxnSpPr>
          <p:nvPr/>
        </p:nvCxnSpPr>
        <p:spPr>
          <a:xfrm flipH="1">
            <a:off x="7036020" y="8623262"/>
            <a:ext cx="475375" cy="453212"/>
          </a:xfrm>
          <a:prstGeom prst="straightConnector1">
            <a:avLst/>
          </a:prstGeom>
          <a:noFill/>
          <a:ln w="28575" cap="flat" cmpd="sng">
            <a:solidFill>
              <a:srgbClr val="1B1311"/>
            </a:solidFill>
            <a:prstDash val="solid"/>
            <a:round/>
            <a:headEnd type="none" w="med" len="med"/>
            <a:tailEnd type="triangle" w="med" len="med"/>
          </a:ln>
        </p:spPr>
      </p:cxnSp>
      <p:sp>
        <p:nvSpPr>
          <p:cNvPr id="39" name="Google Shape;237;p15">
            <a:extLst>
              <a:ext uri="{FF2B5EF4-FFF2-40B4-BE49-F238E27FC236}">
                <a16:creationId xmlns:a16="http://schemas.microsoft.com/office/drawing/2014/main" id="{7E95A260-CFC8-6807-A0BA-6B7E1F5DC4A3}"/>
              </a:ext>
            </a:extLst>
          </p:cNvPr>
          <p:cNvSpPr txBox="1"/>
          <p:nvPr/>
        </p:nvSpPr>
        <p:spPr>
          <a:xfrm>
            <a:off x="5293468" y="9048567"/>
            <a:ext cx="526129" cy="263210"/>
          </a:xfrm>
          <a:prstGeom prst="rect">
            <a:avLst/>
          </a:prstGeom>
          <a:noFill/>
          <a:ln>
            <a:noFill/>
          </a:ln>
        </p:spPr>
        <p:txBody>
          <a:bodyPr spcFirstLastPara="1" wrap="square" lIns="127722" tIns="127722" rIns="127722" bIns="127722" anchor="t" anchorCtr="0">
            <a:noAutofit/>
          </a:bodyPr>
          <a:lstStyle/>
          <a:p>
            <a:pPr>
              <a:spcBef>
                <a:spcPts val="0"/>
              </a:spcBef>
            </a:pPr>
            <a:endParaRPr sz="1400" dirty="0">
              <a:solidFill>
                <a:schemeClr val="lt1"/>
              </a:solidFill>
            </a:endParaRPr>
          </a:p>
        </p:txBody>
      </p:sp>
      <p:sp>
        <p:nvSpPr>
          <p:cNvPr id="36" name="Use headers, colors, and/or backgrounds to separate or group together sections.">
            <a:extLst>
              <a:ext uri="{FF2B5EF4-FFF2-40B4-BE49-F238E27FC236}">
                <a16:creationId xmlns:a16="http://schemas.microsoft.com/office/drawing/2014/main" id="{285BB26C-48FA-4497-73CC-21F3F89A9C2C}"/>
              </a:ext>
            </a:extLst>
          </p:cNvPr>
          <p:cNvSpPr txBox="1"/>
          <p:nvPr/>
        </p:nvSpPr>
        <p:spPr>
          <a:xfrm>
            <a:off x="9497689" y="2221757"/>
            <a:ext cx="4251862" cy="1606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In practice, the process happens in the Pull Request. If necessary, the Codecov bot comment on the request and report its patch and project coverage, as well as deny the PR if it deems them too low. The users assigned to the project’s Quality Reviewer and Code Architect can then either approve or request changes to the commit files. Github Actions is run immediately upon a commit but appears at the bottom of the Pull Request itself, and can inform the user specifically of which tests failed when running the commit code. </a:t>
            </a:r>
          </a:p>
        </p:txBody>
      </p:sp>
      <p:sp>
        <p:nvSpPr>
          <p:cNvPr id="41" name="Manipulate Variables">
            <a:extLst>
              <a:ext uri="{FF2B5EF4-FFF2-40B4-BE49-F238E27FC236}">
                <a16:creationId xmlns:a16="http://schemas.microsoft.com/office/drawing/2014/main" id="{4CE8FE39-3BE4-3134-9664-3D45DBF05C72}"/>
              </a:ext>
            </a:extLst>
          </p:cNvPr>
          <p:cNvSpPr txBox="1"/>
          <p:nvPr/>
        </p:nvSpPr>
        <p:spPr>
          <a:xfrm>
            <a:off x="9455692" y="1776507"/>
            <a:ext cx="3004027"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Pull Request Workflow</a:t>
            </a:r>
          </a:p>
        </p:txBody>
      </p:sp>
      <p:sp>
        <p:nvSpPr>
          <p:cNvPr id="42" name="Line">
            <a:extLst>
              <a:ext uri="{FF2B5EF4-FFF2-40B4-BE49-F238E27FC236}">
                <a16:creationId xmlns:a16="http://schemas.microsoft.com/office/drawing/2014/main" id="{458A2AC9-41CD-F281-3B33-C6358FA26098}"/>
              </a:ext>
            </a:extLst>
          </p:cNvPr>
          <p:cNvSpPr/>
          <p:nvPr/>
        </p:nvSpPr>
        <p:spPr>
          <a:xfrm flipV="1">
            <a:off x="9464191" y="2140504"/>
            <a:ext cx="4318858"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5" name="Use headers, colors, and/or backgrounds to separate or group together sections.">
            <a:extLst>
              <a:ext uri="{FF2B5EF4-FFF2-40B4-BE49-F238E27FC236}">
                <a16:creationId xmlns:a16="http://schemas.microsoft.com/office/drawing/2014/main" id="{5B72C5E3-84D1-ECE9-772B-DF866F9E6353}"/>
              </a:ext>
            </a:extLst>
          </p:cNvPr>
          <p:cNvSpPr txBox="1"/>
          <p:nvPr/>
        </p:nvSpPr>
        <p:spPr>
          <a:xfrm>
            <a:off x="4798294" y="5723592"/>
            <a:ext cx="4251862" cy="17721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Any new code to be merged into Kaiaulu must follow a process with many checks. Codecov executes immediately when a commit is pushed to a Pull Request, and it immediately deny it based on code test coverage. Github Actions works the same way and can deny the commit if any tests from the testthat folder fail. The Quality Reviewer is a user role that runs the committed code on their own machine, ensuring that code is not reliant on the hosts’ personal setup. Lastly, the Code Architect is another user role that checks to see that the committed code matches the conventions of other similar files in Kaiaulu.</a:t>
            </a:r>
          </a:p>
        </p:txBody>
      </p:sp>
      <p:pic>
        <p:nvPicPr>
          <p:cNvPr id="46" name="Graphic 45" descr="Paper outline">
            <a:extLst>
              <a:ext uri="{FF2B5EF4-FFF2-40B4-BE49-F238E27FC236}">
                <a16:creationId xmlns:a16="http://schemas.microsoft.com/office/drawing/2014/main" id="{7AD91B80-470B-23BD-69F8-60F9853A772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150314" y="8364490"/>
            <a:ext cx="1118249" cy="1118249"/>
          </a:xfrm>
          <a:prstGeom prst="rect">
            <a:avLst/>
          </a:prstGeom>
        </p:spPr>
      </p:pic>
      <p:pic>
        <p:nvPicPr>
          <p:cNvPr id="47" name="Graphic 46" descr="Paper outline">
            <a:extLst>
              <a:ext uri="{FF2B5EF4-FFF2-40B4-BE49-F238E27FC236}">
                <a16:creationId xmlns:a16="http://schemas.microsoft.com/office/drawing/2014/main" id="{A968079F-5A77-0A9A-8E9E-E5831F776A4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985735" y="6582401"/>
            <a:ext cx="1731153" cy="1731153"/>
          </a:xfrm>
          <a:prstGeom prst="rect">
            <a:avLst/>
          </a:prstGeom>
        </p:spPr>
      </p:pic>
      <p:sp>
        <p:nvSpPr>
          <p:cNvPr id="48" name="TextBox 47">
            <a:extLst>
              <a:ext uri="{FF2B5EF4-FFF2-40B4-BE49-F238E27FC236}">
                <a16:creationId xmlns:a16="http://schemas.microsoft.com/office/drawing/2014/main" id="{EE74A22B-6091-2D8C-77F4-C1994608D31D}"/>
              </a:ext>
            </a:extLst>
          </p:cNvPr>
          <p:cNvSpPr txBox="1"/>
          <p:nvPr/>
        </p:nvSpPr>
        <p:spPr>
          <a:xfrm>
            <a:off x="2305907" y="6668908"/>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Downloaders</a:t>
            </a:r>
            <a:endParaRPr lang="en-US" sz="800" b="0" dirty="0"/>
          </a:p>
        </p:txBody>
      </p:sp>
      <p:sp>
        <p:nvSpPr>
          <p:cNvPr id="49" name="TextBox 48">
            <a:extLst>
              <a:ext uri="{FF2B5EF4-FFF2-40B4-BE49-F238E27FC236}">
                <a16:creationId xmlns:a16="http://schemas.microsoft.com/office/drawing/2014/main" id="{BF38B9BE-AF24-BA79-527A-70711124B700}"/>
              </a:ext>
            </a:extLst>
          </p:cNvPr>
          <p:cNvSpPr txBox="1"/>
          <p:nvPr/>
        </p:nvSpPr>
        <p:spPr>
          <a:xfrm>
            <a:off x="2309808" y="6768359"/>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51" name="TextBox 50">
            <a:extLst>
              <a:ext uri="{FF2B5EF4-FFF2-40B4-BE49-F238E27FC236}">
                <a16:creationId xmlns:a16="http://schemas.microsoft.com/office/drawing/2014/main" id="{85852609-383A-5896-7F94-3531C19B5E2A}"/>
              </a:ext>
            </a:extLst>
          </p:cNvPr>
          <p:cNvSpPr txBox="1"/>
          <p:nvPr/>
        </p:nvSpPr>
        <p:spPr>
          <a:xfrm>
            <a:off x="2310390" y="7183289"/>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52" name="TextBox 51">
            <a:extLst>
              <a:ext uri="{FF2B5EF4-FFF2-40B4-BE49-F238E27FC236}">
                <a16:creationId xmlns:a16="http://schemas.microsoft.com/office/drawing/2014/main" id="{AB412888-AEBC-9CF6-655D-4F38A73BDA2C}"/>
              </a:ext>
            </a:extLst>
          </p:cNvPr>
          <p:cNvSpPr txBox="1"/>
          <p:nvPr/>
        </p:nvSpPr>
        <p:spPr>
          <a:xfrm>
            <a:off x="2305907" y="7077194"/>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Parsers</a:t>
            </a:r>
            <a:endParaRPr lang="en-US" sz="800" b="0" dirty="0"/>
          </a:p>
        </p:txBody>
      </p:sp>
      <p:sp>
        <p:nvSpPr>
          <p:cNvPr id="494" name="TextBox 493">
            <a:extLst>
              <a:ext uri="{FF2B5EF4-FFF2-40B4-BE49-F238E27FC236}">
                <a16:creationId xmlns:a16="http://schemas.microsoft.com/office/drawing/2014/main" id="{14D06457-7E0C-90C9-91A4-28589A9B7CF6}"/>
              </a:ext>
            </a:extLst>
          </p:cNvPr>
          <p:cNvSpPr txBox="1"/>
          <p:nvPr/>
        </p:nvSpPr>
        <p:spPr>
          <a:xfrm>
            <a:off x="2315372" y="7592221"/>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496" name="TextBox 495">
            <a:extLst>
              <a:ext uri="{FF2B5EF4-FFF2-40B4-BE49-F238E27FC236}">
                <a16:creationId xmlns:a16="http://schemas.microsoft.com/office/drawing/2014/main" id="{C5BE3ED4-4C1F-91C9-A1DD-61F779D58048}"/>
              </a:ext>
            </a:extLst>
          </p:cNvPr>
          <p:cNvSpPr txBox="1"/>
          <p:nvPr/>
        </p:nvSpPr>
        <p:spPr>
          <a:xfrm>
            <a:off x="2309808" y="7487925"/>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Transforms</a:t>
            </a:r>
            <a:endParaRPr lang="en-US" sz="800" b="0" dirty="0"/>
          </a:p>
        </p:txBody>
      </p:sp>
      <p:pic>
        <p:nvPicPr>
          <p:cNvPr id="497" name="Graphic 496" descr="Paper outline">
            <a:extLst>
              <a:ext uri="{FF2B5EF4-FFF2-40B4-BE49-F238E27FC236}">
                <a16:creationId xmlns:a16="http://schemas.microsoft.com/office/drawing/2014/main" id="{FEFFF379-25C3-4519-6A2E-CE7AFADA26E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444887" y="8426996"/>
            <a:ext cx="1118249" cy="1118249"/>
          </a:xfrm>
          <a:prstGeom prst="rect">
            <a:avLst/>
          </a:prstGeom>
        </p:spPr>
      </p:pic>
      <p:sp>
        <p:nvSpPr>
          <p:cNvPr id="500" name="Google Shape;318;p17">
            <a:extLst>
              <a:ext uri="{FF2B5EF4-FFF2-40B4-BE49-F238E27FC236}">
                <a16:creationId xmlns:a16="http://schemas.microsoft.com/office/drawing/2014/main" id="{AD574683-3576-2F4F-5672-1EFC73B65A0E}"/>
              </a:ext>
            </a:extLst>
          </p:cNvPr>
          <p:cNvSpPr txBox="1"/>
          <p:nvPr/>
        </p:nvSpPr>
        <p:spPr>
          <a:xfrm>
            <a:off x="3186379" y="9255126"/>
            <a:ext cx="1635264"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US" sz="1400" dirty="0"/>
              <a:t>Tests/**</a:t>
            </a:r>
            <a:endParaRPr sz="1400" dirty="0"/>
          </a:p>
        </p:txBody>
      </p:sp>
      <p:sp>
        <p:nvSpPr>
          <p:cNvPr id="503" name="TextBox 502">
            <a:extLst>
              <a:ext uri="{FF2B5EF4-FFF2-40B4-BE49-F238E27FC236}">
                <a16:creationId xmlns:a16="http://schemas.microsoft.com/office/drawing/2014/main" id="{18C1500F-85E0-15AA-737E-203EF6CD9B60}"/>
              </a:ext>
            </a:extLst>
          </p:cNvPr>
          <p:cNvSpPr txBox="1"/>
          <p:nvPr/>
        </p:nvSpPr>
        <p:spPr>
          <a:xfrm>
            <a:off x="3665797" y="8801724"/>
            <a:ext cx="676428"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1000" b="0" dirty="0"/>
              <a:t>testthat</a:t>
            </a:r>
            <a:endParaRPr kumimoji="0" lang="en-US" sz="1000" b="0" i="0" u="none" strike="noStrike" cap="none" spc="0" normalizeH="0" baseline="0" dirty="0">
              <a:ln>
                <a:noFill/>
              </a:ln>
              <a:effectLst/>
              <a:uFillTx/>
              <a:latin typeface="Source Sans Pro"/>
              <a:ea typeface="Source Sans Pro"/>
              <a:cs typeface="Source Sans Pro"/>
              <a:sym typeface="Source Sans Pro"/>
            </a:endParaRPr>
          </a:p>
        </p:txBody>
      </p:sp>
      <p:sp>
        <p:nvSpPr>
          <p:cNvPr id="505" name="Google Shape;346;p17">
            <a:extLst>
              <a:ext uri="{FF2B5EF4-FFF2-40B4-BE49-F238E27FC236}">
                <a16:creationId xmlns:a16="http://schemas.microsoft.com/office/drawing/2014/main" id="{EB545B8A-DF80-0085-73A5-46002688242D}"/>
              </a:ext>
            </a:extLst>
          </p:cNvPr>
          <p:cNvSpPr/>
          <p:nvPr/>
        </p:nvSpPr>
        <p:spPr>
          <a:xfrm>
            <a:off x="3736484" y="8827382"/>
            <a:ext cx="549624" cy="255847"/>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spcBef>
                <a:spcPts val="0"/>
              </a:spcBef>
            </a:pPr>
            <a:endParaRPr sz="1833"/>
          </a:p>
        </p:txBody>
      </p:sp>
      <p:sp>
        <p:nvSpPr>
          <p:cNvPr id="506" name="Google Shape;317;p17">
            <a:extLst>
              <a:ext uri="{FF2B5EF4-FFF2-40B4-BE49-F238E27FC236}">
                <a16:creationId xmlns:a16="http://schemas.microsoft.com/office/drawing/2014/main" id="{0968F860-1C6F-A60C-265D-1EB00BC80A34}"/>
              </a:ext>
            </a:extLst>
          </p:cNvPr>
          <p:cNvSpPr txBox="1"/>
          <p:nvPr/>
        </p:nvSpPr>
        <p:spPr>
          <a:xfrm>
            <a:off x="1052021" y="8518035"/>
            <a:ext cx="1320250" cy="541969"/>
          </a:xfrm>
          <a:prstGeom prst="rect">
            <a:avLst/>
          </a:prstGeom>
          <a:noFill/>
          <a:ln>
            <a:noFill/>
          </a:ln>
        </p:spPr>
        <p:txBody>
          <a:bodyPr spcFirstLastPara="1" wrap="square" lIns="295319" tIns="295319" rIns="295319" bIns="295319" anchor="t" anchorCtr="0">
            <a:noAutofit/>
          </a:bodyPr>
          <a:lstStyle/>
          <a:p>
            <a:pPr algn="ctr">
              <a:spcBef>
                <a:spcPts val="0"/>
              </a:spcBef>
            </a:pPr>
            <a:r>
              <a:rPr lang="en" sz="800" b="0" dirty="0"/>
              <a:t>Example Fake Data</a:t>
            </a:r>
            <a:endParaRPr sz="800" b="0" dirty="0"/>
          </a:p>
        </p:txBody>
      </p:sp>
      <p:sp>
        <p:nvSpPr>
          <p:cNvPr id="507" name="Google Shape;306;p17">
            <a:extLst>
              <a:ext uri="{FF2B5EF4-FFF2-40B4-BE49-F238E27FC236}">
                <a16:creationId xmlns:a16="http://schemas.microsoft.com/office/drawing/2014/main" id="{C0D3094F-C28C-78EA-A2F5-ED6A717C69CB}"/>
              </a:ext>
            </a:extLst>
          </p:cNvPr>
          <p:cNvSpPr txBox="1"/>
          <p:nvPr/>
        </p:nvSpPr>
        <p:spPr>
          <a:xfrm>
            <a:off x="2230781" y="7912742"/>
            <a:ext cx="1136939" cy="610729"/>
          </a:xfrm>
          <a:prstGeom prst="rect">
            <a:avLst/>
          </a:prstGeom>
          <a:noFill/>
          <a:ln>
            <a:noFill/>
          </a:ln>
        </p:spPr>
        <p:txBody>
          <a:bodyPr spcFirstLastPara="1" wrap="square" lIns="295319" tIns="295319" rIns="295319" bIns="295319" anchor="t" anchorCtr="0">
            <a:noAutofit/>
          </a:bodyPr>
          <a:lstStyle/>
          <a:p>
            <a:pPr algn="ctr">
              <a:spcBef>
                <a:spcPts val="0"/>
              </a:spcBef>
            </a:pPr>
            <a:r>
              <a:rPr lang="en" sz="1400" dirty="0">
                <a:solidFill>
                  <a:schemeClr val="dk2"/>
                </a:solidFill>
              </a:rPr>
              <a:t>Git.R</a:t>
            </a:r>
            <a:endParaRPr sz="1400" dirty="0">
              <a:solidFill>
                <a:schemeClr val="dk2"/>
              </a:solidFill>
            </a:endParaRPr>
          </a:p>
        </p:txBody>
      </p:sp>
      <p:sp>
        <p:nvSpPr>
          <p:cNvPr id="513" name="Google Shape;306;p17">
            <a:extLst>
              <a:ext uri="{FF2B5EF4-FFF2-40B4-BE49-F238E27FC236}">
                <a16:creationId xmlns:a16="http://schemas.microsoft.com/office/drawing/2014/main" id="{EF5657EC-4167-EFF9-9A9A-0E441D7B6179}"/>
              </a:ext>
            </a:extLst>
          </p:cNvPr>
          <p:cNvSpPr txBox="1"/>
          <p:nvPr/>
        </p:nvSpPr>
        <p:spPr>
          <a:xfrm>
            <a:off x="269778" y="7612577"/>
            <a:ext cx="961423" cy="212651"/>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JIRA.R</a:t>
            </a:r>
            <a:endParaRPr sz="1000" b="0" dirty="0">
              <a:solidFill>
                <a:schemeClr val="dk2"/>
              </a:solidFill>
            </a:endParaRPr>
          </a:p>
        </p:txBody>
      </p:sp>
      <p:cxnSp>
        <p:nvCxnSpPr>
          <p:cNvPr id="514" name="Connector: Elbow 513">
            <a:extLst>
              <a:ext uri="{FF2B5EF4-FFF2-40B4-BE49-F238E27FC236}">
                <a16:creationId xmlns:a16="http://schemas.microsoft.com/office/drawing/2014/main" id="{0CF58371-5A66-0AF7-BBA9-235EAC2411E3}"/>
              </a:ext>
            </a:extLst>
          </p:cNvPr>
          <p:cNvCxnSpPr>
            <a:cxnSpLocks/>
          </p:cNvCxnSpPr>
          <p:nvPr/>
        </p:nvCxnSpPr>
        <p:spPr>
          <a:xfrm rot="16200000" flipH="1">
            <a:off x="2739309" y="7033757"/>
            <a:ext cx="1650573" cy="1223096"/>
          </a:xfrm>
          <a:prstGeom prst="bentConnector3">
            <a:avLst>
              <a:gd name="adj1" fmla="val 864"/>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15" name="Connector: Elbow 514">
            <a:extLst>
              <a:ext uri="{FF2B5EF4-FFF2-40B4-BE49-F238E27FC236}">
                <a16:creationId xmlns:a16="http://schemas.microsoft.com/office/drawing/2014/main" id="{38A753ED-F312-7A89-35C1-31EF7F4243B6}"/>
              </a:ext>
            </a:extLst>
          </p:cNvPr>
          <p:cNvCxnSpPr>
            <a:cxnSpLocks/>
          </p:cNvCxnSpPr>
          <p:nvPr/>
        </p:nvCxnSpPr>
        <p:spPr>
          <a:xfrm>
            <a:off x="2705307" y="7214408"/>
            <a:ext cx="1301263" cy="1256183"/>
          </a:xfrm>
          <a:prstGeom prst="bentConnector3">
            <a:avLst>
              <a:gd name="adj1" fmla="val 998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17" name="Connector: Elbow 516">
            <a:extLst>
              <a:ext uri="{FF2B5EF4-FFF2-40B4-BE49-F238E27FC236}">
                <a16:creationId xmlns:a16="http://schemas.microsoft.com/office/drawing/2014/main" id="{9A207743-9B88-00AE-556C-86E075DAF015}"/>
              </a:ext>
            </a:extLst>
          </p:cNvPr>
          <p:cNvCxnSpPr>
            <a:cxnSpLocks/>
          </p:cNvCxnSpPr>
          <p:nvPr/>
        </p:nvCxnSpPr>
        <p:spPr>
          <a:xfrm>
            <a:off x="2864112" y="7629739"/>
            <a:ext cx="973858" cy="840853"/>
          </a:xfrm>
          <a:prstGeom prst="bentConnector3">
            <a:avLst>
              <a:gd name="adj1" fmla="val 99805"/>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521" name="TextBox 520">
            <a:extLst>
              <a:ext uri="{FF2B5EF4-FFF2-40B4-BE49-F238E27FC236}">
                <a16:creationId xmlns:a16="http://schemas.microsoft.com/office/drawing/2014/main" id="{1E1E0110-3D9D-5E4A-B545-3134A80C297E}"/>
              </a:ext>
            </a:extLst>
          </p:cNvPr>
          <p:cNvSpPr txBox="1"/>
          <p:nvPr/>
        </p:nvSpPr>
        <p:spPr>
          <a:xfrm>
            <a:off x="2315372" y="7901702"/>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Fake Data Generator</a:t>
            </a:r>
            <a:endParaRPr lang="en-US" sz="800" b="0" dirty="0"/>
          </a:p>
        </p:txBody>
      </p:sp>
      <p:cxnSp>
        <p:nvCxnSpPr>
          <p:cNvPr id="522" name="Connector: Elbow 521">
            <a:extLst>
              <a:ext uri="{FF2B5EF4-FFF2-40B4-BE49-F238E27FC236}">
                <a16:creationId xmlns:a16="http://schemas.microsoft.com/office/drawing/2014/main" id="{C9E85332-1CEF-87FD-A60C-6DCF6A9DA565}"/>
              </a:ext>
            </a:extLst>
          </p:cNvPr>
          <p:cNvCxnSpPr>
            <a:cxnSpLocks/>
            <a:endCxn id="46" idx="0"/>
          </p:cNvCxnSpPr>
          <p:nvPr/>
        </p:nvCxnSpPr>
        <p:spPr>
          <a:xfrm rot="10800000" flipV="1">
            <a:off x="1709439" y="8043592"/>
            <a:ext cx="650776" cy="320897"/>
          </a:xfrm>
          <a:prstGeom prst="bentConnector2">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23" name="Google Shape;445;p18">
            <a:extLst>
              <a:ext uri="{FF2B5EF4-FFF2-40B4-BE49-F238E27FC236}">
                <a16:creationId xmlns:a16="http://schemas.microsoft.com/office/drawing/2014/main" id="{0B14C9A8-10DA-E9A2-BBE6-56757A845E1C}"/>
              </a:ext>
            </a:extLst>
          </p:cNvPr>
          <p:cNvCxnSpPr>
            <a:cxnSpLocks/>
          </p:cNvCxnSpPr>
          <p:nvPr/>
        </p:nvCxnSpPr>
        <p:spPr>
          <a:xfrm>
            <a:off x="2108401" y="8946595"/>
            <a:ext cx="1475409" cy="0"/>
          </a:xfrm>
          <a:prstGeom prst="straightConnector1">
            <a:avLst/>
          </a:prstGeom>
          <a:noFill/>
          <a:ln w="28575" cap="flat" cmpd="sng">
            <a:solidFill>
              <a:srgbClr val="1B1311"/>
            </a:solidFill>
            <a:prstDash val="solid"/>
            <a:round/>
            <a:headEnd type="none" w="med" len="med"/>
            <a:tailEnd type="triangle" w="med" len="med"/>
          </a:ln>
        </p:spPr>
      </p:cxnSp>
      <p:pic>
        <p:nvPicPr>
          <p:cNvPr id="575" name="Graphic 574" descr="Paper outline">
            <a:extLst>
              <a:ext uri="{FF2B5EF4-FFF2-40B4-BE49-F238E27FC236}">
                <a16:creationId xmlns:a16="http://schemas.microsoft.com/office/drawing/2014/main" id="{39A66520-6A3A-8FB9-4398-D92B479F27A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54481" y="6799789"/>
            <a:ext cx="388976" cy="388976"/>
          </a:xfrm>
          <a:prstGeom prst="rect">
            <a:avLst/>
          </a:prstGeom>
        </p:spPr>
      </p:pic>
      <p:sp>
        <p:nvSpPr>
          <p:cNvPr id="576" name="Google Shape;306;p17">
            <a:extLst>
              <a:ext uri="{FF2B5EF4-FFF2-40B4-BE49-F238E27FC236}">
                <a16:creationId xmlns:a16="http://schemas.microsoft.com/office/drawing/2014/main" id="{BBB92665-E176-841A-6652-3A06383919F2}"/>
              </a:ext>
            </a:extLst>
          </p:cNvPr>
          <p:cNvSpPr txBox="1"/>
          <p:nvPr/>
        </p:nvSpPr>
        <p:spPr>
          <a:xfrm>
            <a:off x="277246" y="8365121"/>
            <a:ext cx="928261"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src.R</a:t>
            </a:r>
            <a:endParaRPr sz="1000" b="0" dirty="0">
              <a:solidFill>
                <a:schemeClr val="dk2"/>
              </a:solidFill>
            </a:endParaRPr>
          </a:p>
        </p:txBody>
      </p:sp>
      <p:pic>
        <p:nvPicPr>
          <p:cNvPr id="577" name="Graphic 576" descr="Paper outline">
            <a:extLst>
              <a:ext uri="{FF2B5EF4-FFF2-40B4-BE49-F238E27FC236}">
                <a16:creationId xmlns:a16="http://schemas.microsoft.com/office/drawing/2014/main" id="{B3A699FE-1B71-1340-4660-CBB4EEEB31A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56002" y="6807149"/>
            <a:ext cx="388976" cy="388976"/>
          </a:xfrm>
          <a:prstGeom prst="rect">
            <a:avLst/>
          </a:prstGeom>
        </p:spPr>
      </p:pic>
      <p:pic>
        <p:nvPicPr>
          <p:cNvPr id="578" name="Graphic 577" descr="Paper outline">
            <a:extLst>
              <a:ext uri="{FF2B5EF4-FFF2-40B4-BE49-F238E27FC236}">
                <a16:creationId xmlns:a16="http://schemas.microsoft.com/office/drawing/2014/main" id="{D6771EDF-9C2D-8AEC-9BB2-290B586F8DD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56002" y="7369184"/>
            <a:ext cx="388976" cy="388976"/>
          </a:xfrm>
          <a:prstGeom prst="rect">
            <a:avLst/>
          </a:prstGeom>
        </p:spPr>
      </p:pic>
      <p:pic>
        <p:nvPicPr>
          <p:cNvPr id="579" name="Graphic 578" descr="Paper outline">
            <a:extLst>
              <a:ext uri="{FF2B5EF4-FFF2-40B4-BE49-F238E27FC236}">
                <a16:creationId xmlns:a16="http://schemas.microsoft.com/office/drawing/2014/main" id="{F3A23BAA-AEB3-D10A-AA2C-D25C227BCB1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46889" y="8228150"/>
            <a:ext cx="388976" cy="388976"/>
          </a:xfrm>
          <a:prstGeom prst="rect">
            <a:avLst/>
          </a:prstGeom>
        </p:spPr>
      </p:pic>
      <p:sp>
        <p:nvSpPr>
          <p:cNvPr id="580" name="Google Shape;306;p17">
            <a:extLst>
              <a:ext uri="{FF2B5EF4-FFF2-40B4-BE49-F238E27FC236}">
                <a16:creationId xmlns:a16="http://schemas.microsoft.com/office/drawing/2014/main" id="{5EBF9313-26A8-A071-A6BE-736973B10735}"/>
              </a:ext>
            </a:extLst>
          </p:cNvPr>
          <p:cNvSpPr txBox="1"/>
          <p:nvPr/>
        </p:nvSpPr>
        <p:spPr>
          <a:xfrm>
            <a:off x="775820" y="7023617"/>
            <a:ext cx="940079" cy="24014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Git.R</a:t>
            </a:r>
            <a:endParaRPr sz="1000" b="0" dirty="0">
              <a:solidFill>
                <a:schemeClr val="dk2"/>
              </a:solidFill>
            </a:endParaRPr>
          </a:p>
        </p:txBody>
      </p:sp>
      <p:sp>
        <p:nvSpPr>
          <p:cNvPr id="581" name="Google Shape;306;p17">
            <a:extLst>
              <a:ext uri="{FF2B5EF4-FFF2-40B4-BE49-F238E27FC236}">
                <a16:creationId xmlns:a16="http://schemas.microsoft.com/office/drawing/2014/main" id="{787FD518-05DB-55AF-05AC-1F2AF34C91F4}"/>
              </a:ext>
            </a:extLst>
          </p:cNvPr>
          <p:cNvSpPr txBox="1"/>
          <p:nvPr/>
        </p:nvSpPr>
        <p:spPr>
          <a:xfrm>
            <a:off x="256727" y="6953566"/>
            <a:ext cx="987526"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Mail.R</a:t>
            </a:r>
            <a:endParaRPr sz="1000" b="0" dirty="0">
              <a:solidFill>
                <a:schemeClr val="dk2"/>
              </a:solidFill>
            </a:endParaRPr>
          </a:p>
        </p:txBody>
      </p:sp>
      <p:sp>
        <p:nvSpPr>
          <p:cNvPr id="585" name="Oval 584">
            <a:extLst>
              <a:ext uri="{FF2B5EF4-FFF2-40B4-BE49-F238E27FC236}">
                <a16:creationId xmlns:a16="http://schemas.microsoft.com/office/drawing/2014/main" id="{73673F2E-7F2C-043F-1E22-527F456A9DD1}"/>
              </a:ext>
            </a:extLst>
          </p:cNvPr>
          <p:cNvSpPr/>
          <p:nvPr/>
        </p:nvSpPr>
        <p:spPr>
          <a:xfrm>
            <a:off x="977071" y="6784343"/>
            <a:ext cx="550867" cy="525694"/>
          </a:xfrm>
          <a:prstGeom prst="ellipse">
            <a:avLst/>
          </a:prstGeom>
          <a:noFill/>
          <a:ln w="12700" cap="flat">
            <a:solidFill>
              <a:srgbClr val="4C4C4C"/>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sp>
        <p:nvSpPr>
          <p:cNvPr id="586" name="Oval 585">
            <a:extLst>
              <a:ext uri="{FF2B5EF4-FFF2-40B4-BE49-F238E27FC236}">
                <a16:creationId xmlns:a16="http://schemas.microsoft.com/office/drawing/2014/main" id="{6230E50F-7EE9-7CC4-4E6A-883CE4FA11FC}"/>
              </a:ext>
            </a:extLst>
          </p:cNvPr>
          <p:cNvSpPr/>
          <p:nvPr/>
        </p:nvSpPr>
        <p:spPr>
          <a:xfrm>
            <a:off x="1729966" y="6429895"/>
            <a:ext cx="2158097" cy="2196943"/>
          </a:xfrm>
          <a:prstGeom prst="ellipse">
            <a:avLst/>
          </a:prstGeom>
          <a:noFill/>
          <a:ln w="12700" cap="flat">
            <a:solidFill>
              <a:srgbClr val="4C4C4C"/>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cxnSp>
        <p:nvCxnSpPr>
          <p:cNvPr id="587" name="Straight Connector 586">
            <a:extLst>
              <a:ext uri="{FF2B5EF4-FFF2-40B4-BE49-F238E27FC236}">
                <a16:creationId xmlns:a16="http://schemas.microsoft.com/office/drawing/2014/main" id="{FFC9477D-2C20-8584-82B2-2DE3AB48CF04}"/>
              </a:ext>
            </a:extLst>
          </p:cNvPr>
          <p:cNvCxnSpPr>
            <a:cxnSpLocks/>
            <a:endCxn id="585" idx="3"/>
          </p:cNvCxnSpPr>
          <p:nvPr/>
        </p:nvCxnSpPr>
        <p:spPr>
          <a:xfrm flipH="1" flipV="1">
            <a:off x="1057744" y="7233051"/>
            <a:ext cx="756816" cy="744979"/>
          </a:xfrm>
          <a:prstGeom prst="line">
            <a:avLst/>
          </a:prstGeom>
          <a:ln w="127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91" name="Straight Connector 590">
            <a:extLst>
              <a:ext uri="{FF2B5EF4-FFF2-40B4-BE49-F238E27FC236}">
                <a16:creationId xmlns:a16="http://schemas.microsoft.com/office/drawing/2014/main" id="{01175A18-2158-24F1-02E3-2BECCC17E2A6}"/>
              </a:ext>
            </a:extLst>
          </p:cNvPr>
          <p:cNvCxnSpPr>
            <a:cxnSpLocks/>
            <a:endCxn id="585" idx="0"/>
          </p:cNvCxnSpPr>
          <p:nvPr/>
        </p:nvCxnSpPr>
        <p:spPr>
          <a:xfrm flipH="1">
            <a:off x="1252505" y="6495129"/>
            <a:ext cx="1215870" cy="289214"/>
          </a:xfrm>
          <a:prstGeom prst="line">
            <a:avLst/>
          </a:prstGeom>
          <a:ln w="127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94" name="TextBox 593">
            <a:extLst>
              <a:ext uri="{FF2B5EF4-FFF2-40B4-BE49-F238E27FC236}">
                <a16:creationId xmlns:a16="http://schemas.microsoft.com/office/drawing/2014/main" id="{A27629FD-6F76-B822-82D8-822A386D727E}"/>
              </a:ext>
            </a:extLst>
          </p:cNvPr>
          <p:cNvSpPr txBox="1"/>
          <p:nvPr/>
        </p:nvSpPr>
        <p:spPr>
          <a:xfrm>
            <a:off x="592029" y="7833656"/>
            <a:ext cx="536368" cy="5308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dirty="0"/>
              <a:t>.</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95" name="Google Shape;312;p17">
            <a:extLst>
              <a:ext uri="{FF2B5EF4-FFF2-40B4-BE49-F238E27FC236}">
                <a16:creationId xmlns:a16="http://schemas.microsoft.com/office/drawing/2014/main" id="{7A4D519B-1A1F-EE1F-79A2-BE1867B0C77D}"/>
              </a:ext>
            </a:extLst>
          </p:cNvPr>
          <p:cNvSpPr txBox="1"/>
          <p:nvPr/>
        </p:nvSpPr>
        <p:spPr>
          <a:xfrm>
            <a:off x="605262" y="9189616"/>
            <a:ext cx="2240541"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400" dirty="0"/>
              <a:t>Example.R</a:t>
            </a:r>
            <a:endParaRPr sz="1400" dirty="0"/>
          </a:p>
        </p:txBody>
      </p:sp>
      <p:sp>
        <p:nvSpPr>
          <p:cNvPr id="597" name="TextBox 596">
            <a:extLst>
              <a:ext uri="{FF2B5EF4-FFF2-40B4-BE49-F238E27FC236}">
                <a16:creationId xmlns:a16="http://schemas.microsoft.com/office/drawing/2014/main" id="{41F4DA77-B045-60A2-B640-803724DB520D}"/>
              </a:ext>
            </a:extLst>
          </p:cNvPr>
          <p:cNvSpPr txBox="1"/>
          <p:nvPr/>
        </p:nvSpPr>
        <p:spPr>
          <a:xfrm>
            <a:off x="590646" y="7732502"/>
            <a:ext cx="366168" cy="7411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dirty="0"/>
              <a:t>.</a:t>
            </a:r>
          </a:p>
          <a:p>
            <a:pPr marL="0" marR="0" indent="0" algn="l" defTabSz="584200" rtl="0" fontAlgn="auto" latinLnBrk="0" hangingPunct="0">
              <a:lnSpc>
                <a:spcPct val="100000"/>
              </a:lnSpc>
              <a:spcBef>
                <a:spcPts val="200"/>
              </a:spcBef>
              <a:spcAft>
                <a:spcPts val="0"/>
              </a:spcAft>
              <a:buClrTx/>
              <a:buSzTx/>
              <a:buFontTx/>
              <a:buNone/>
              <a:tabLst/>
            </a:pPr>
            <a:r>
              <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rPr>
              <a:t>.</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603" name="Use headers, colors, and/or backgrounds to separate or group together sections.">
            <a:extLst>
              <a:ext uri="{FF2B5EF4-FFF2-40B4-BE49-F238E27FC236}">
                <a16:creationId xmlns:a16="http://schemas.microsoft.com/office/drawing/2014/main" id="{1855F52E-43E8-CE5A-B54F-F4CC69D987ED}"/>
              </a:ext>
            </a:extLst>
          </p:cNvPr>
          <p:cNvSpPr txBox="1"/>
          <p:nvPr/>
        </p:nvSpPr>
        <p:spPr>
          <a:xfrm>
            <a:off x="170343" y="5941268"/>
            <a:ext cx="4251862" cy="6088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Kaiaulu has many modules but under the hood, they are downloaders, parsers, and transforms and they can be tested in the same repeatable manner. </a:t>
            </a:r>
          </a:p>
        </p:txBody>
      </p:sp>
      <p:sp>
        <p:nvSpPr>
          <p:cNvPr id="604" name="Use headers, colors, and/or backgrounds to separate or group together sections.">
            <a:extLst>
              <a:ext uri="{FF2B5EF4-FFF2-40B4-BE49-F238E27FC236}">
                <a16:creationId xmlns:a16="http://schemas.microsoft.com/office/drawing/2014/main" id="{83FAACF3-C315-4200-0B3F-147780255B1A}"/>
              </a:ext>
            </a:extLst>
          </p:cNvPr>
          <p:cNvSpPr txBox="1"/>
          <p:nvPr/>
        </p:nvSpPr>
        <p:spPr>
          <a:xfrm>
            <a:off x="136886" y="9717987"/>
            <a:ext cx="4251862"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The Fake Data Generator is used to construct example, and the examples are used to test the parsers, which take raw data. </a:t>
            </a:r>
          </a:p>
        </p:txBody>
      </p:sp>
      <p:sp>
        <p:nvSpPr>
          <p:cNvPr id="501" name="TextBox 500">
            <a:extLst>
              <a:ext uri="{FF2B5EF4-FFF2-40B4-BE49-F238E27FC236}">
                <a16:creationId xmlns:a16="http://schemas.microsoft.com/office/drawing/2014/main" id="{38CC7A06-CA5C-8038-AAF2-D6A4829565E9}"/>
              </a:ext>
            </a:extLst>
          </p:cNvPr>
          <p:cNvSpPr txBox="1"/>
          <p:nvPr/>
        </p:nvSpPr>
        <p:spPr>
          <a:xfrm>
            <a:off x="4855122" y="2991679"/>
            <a:ext cx="4184378" cy="21928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tx1">
                    <a:lumMod val="50000"/>
                  </a:schemeClr>
                </a:solidFill>
              </a:rPr>
              <a:t>Try catch statements inside the code allow errors that propagate through files to be caught gracefully. Without them, an error that began in one file could travel through multiple others through function calls before finally being thrown in a completely unrelated file. In the context of Kaiaulu, this could occur if there was an uncaught error in a parser function, which moved to a transform function, which eventually threw an error in an .Rmd file the user was trying to run. Without a try catch statement, the user may think their error came from the .Rmd file itself. </a:t>
            </a:r>
            <a:endParaRPr lang="en-US" b="0" dirty="0">
              <a:solidFill>
                <a:schemeClr val="tx1">
                  <a:lumMod val="50000"/>
                </a:schemeClr>
              </a:solidFill>
              <a:latin typeface="Source Sans Pro" panose="020B0503030403020204" pitchFamily="34" charset="0"/>
              <a:ea typeface="Source Sans Pro" panose="020B0503030403020204" pitchFamily="34" charset="0"/>
            </a:endParaRPr>
          </a:p>
          <a:p>
            <a:pPr marL="171450" marR="0" indent="-171450" algn="l" defTabSz="584200" rtl="0" fontAlgn="auto" latinLnBrk="0" hangingPunct="0">
              <a:lnSpc>
                <a:spcPct val="100000"/>
              </a:lnSpc>
              <a:spcBef>
                <a:spcPts val="200"/>
              </a:spcBef>
              <a:spcAft>
                <a:spcPts val="0"/>
              </a:spcAft>
              <a:buClrTx/>
              <a:buSzTx/>
              <a:buFont typeface="Arial" panose="020B0604020202020204" pitchFamily="34" charset="0"/>
              <a:buChar char="•"/>
              <a:tabLst/>
            </a:pPr>
            <a:endParaRPr lang="en-US" b="0" dirty="0">
              <a:solidFill>
                <a:schemeClr val="tx1"/>
              </a:solidFill>
              <a:effectLst/>
              <a:latin typeface="Source Sans Pro" panose="020B0503030403020204" pitchFamily="34" charset="0"/>
              <a:ea typeface="Source Sans Pro" panose="020B0503030403020204" pitchFamily="34" charset="0"/>
            </a:endParaRPr>
          </a:p>
        </p:txBody>
      </p:sp>
      <p:sp>
        <p:nvSpPr>
          <p:cNvPr id="493" name="Line">
            <a:extLst>
              <a:ext uri="{FF2B5EF4-FFF2-40B4-BE49-F238E27FC236}">
                <a16:creationId xmlns:a16="http://schemas.microsoft.com/office/drawing/2014/main" id="{11D8AE66-BD31-F9CB-F470-AFAC14D7AE25}"/>
              </a:ext>
            </a:extLst>
          </p:cNvPr>
          <p:cNvSpPr/>
          <p:nvPr/>
        </p:nvSpPr>
        <p:spPr>
          <a:xfrm flipV="1">
            <a:off x="4798294" y="1791563"/>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605" name="Manipulate Variables">
            <a:extLst>
              <a:ext uri="{FF2B5EF4-FFF2-40B4-BE49-F238E27FC236}">
                <a16:creationId xmlns:a16="http://schemas.microsoft.com/office/drawing/2014/main" id="{340147E1-CD1B-C012-1D8C-BF2A88F43CA8}"/>
              </a:ext>
            </a:extLst>
          </p:cNvPr>
          <p:cNvSpPr txBox="1"/>
          <p:nvPr/>
        </p:nvSpPr>
        <p:spPr>
          <a:xfrm>
            <a:off x="4798294" y="1397432"/>
            <a:ext cx="375423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Failing Gracefully: Try Catch</a:t>
            </a:r>
          </a:p>
        </p:txBody>
      </p:sp>
      <p:pic>
        <p:nvPicPr>
          <p:cNvPr id="3" name="Google Shape;227;p15">
            <a:extLst>
              <a:ext uri="{FF2B5EF4-FFF2-40B4-BE49-F238E27FC236}">
                <a16:creationId xmlns:a16="http://schemas.microsoft.com/office/drawing/2014/main" id="{AB48AA51-C255-0790-140E-516A73FADE3B}"/>
              </a:ext>
            </a:extLst>
          </p:cNvPr>
          <p:cNvPicPr preferRelativeResize="0">
            <a:picLocks noChangeAspect="1"/>
          </p:cNvPicPr>
          <p:nvPr/>
        </p:nvPicPr>
        <p:blipFill>
          <a:blip r:embed="rId9">
            <a:alphaModFix/>
          </a:blip>
          <a:stretch>
            <a:fillRect/>
          </a:stretch>
        </p:blipFill>
        <p:spPr>
          <a:xfrm>
            <a:off x="6498830" y="9074476"/>
            <a:ext cx="398269" cy="362602"/>
          </a:xfrm>
          <a:prstGeom prst="rect">
            <a:avLst/>
          </a:prstGeom>
          <a:noFill/>
          <a:ln>
            <a:noFill/>
          </a:ln>
        </p:spPr>
      </p:pic>
      <p:sp>
        <p:nvSpPr>
          <p:cNvPr id="31" name="TextBox 30">
            <a:extLst>
              <a:ext uri="{FF2B5EF4-FFF2-40B4-BE49-F238E27FC236}">
                <a16:creationId xmlns:a16="http://schemas.microsoft.com/office/drawing/2014/main" id="{10FEDAC3-220F-C6A1-9237-70F7E3E76ED7}"/>
              </a:ext>
            </a:extLst>
          </p:cNvPr>
          <p:cNvSpPr txBox="1"/>
          <p:nvPr/>
        </p:nvSpPr>
        <p:spPr>
          <a:xfrm>
            <a:off x="6492515" y="9235151"/>
            <a:ext cx="189461"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500" dirty="0"/>
              <a:t>❌</a:t>
            </a:r>
            <a:endParaRPr kumimoji="0" lang="en-US" sz="5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pic>
        <p:nvPicPr>
          <p:cNvPr id="33" name="Google Shape;227;p15">
            <a:extLst>
              <a:ext uri="{FF2B5EF4-FFF2-40B4-BE49-F238E27FC236}">
                <a16:creationId xmlns:a16="http://schemas.microsoft.com/office/drawing/2014/main" id="{2679C3A4-7ECE-92E8-755B-2A42696EE7BA}"/>
              </a:ext>
            </a:extLst>
          </p:cNvPr>
          <p:cNvPicPr preferRelativeResize="0">
            <a:picLocks noChangeAspect="1"/>
          </p:cNvPicPr>
          <p:nvPr/>
        </p:nvPicPr>
        <p:blipFill>
          <a:blip r:embed="rId9">
            <a:alphaModFix/>
          </a:blip>
          <a:stretch>
            <a:fillRect/>
          </a:stretch>
        </p:blipFill>
        <p:spPr>
          <a:xfrm>
            <a:off x="8601660" y="9060777"/>
            <a:ext cx="398269" cy="362602"/>
          </a:xfrm>
          <a:prstGeom prst="rect">
            <a:avLst/>
          </a:prstGeom>
          <a:noFill/>
          <a:ln>
            <a:noFill/>
          </a:ln>
        </p:spPr>
      </p:pic>
      <p:sp>
        <p:nvSpPr>
          <p:cNvPr id="34" name="TextBox 33">
            <a:extLst>
              <a:ext uri="{FF2B5EF4-FFF2-40B4-BE49-F238E27FC236}">
                <a16:creationId xmlns:a16="http://schemas.microsoft.com/office/drawing/2014/main" id="{43A1C165-1C78-D80F-810B-0EE8B5B29178}"/>
              </a:ext>
            </a:extLst>
          </p:cNvPr>
          <p:cNvSpPr txBox="1"/>
          <p:nvPr/>
        </p:nvSpPr>
        <p:spPr>
          <a:xfrm>
            <a:off x="8601660" y="9224280"/>
            <a:ext cx="189461"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500" dirty="0"/>
              <a:t>✅</a:t>
            </a:r>
            <a:endParaRPr kumimoji="0" lang="en-US" sz="5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502" name="Group 501">
            <a:extLst>
              <a:ext uri="{FF2B5EF4-FFF2-40B4-BE49-F238E27FC236}">
                <a16:creationId xmlns:a16="http://schemas.microsoft.com/office/drawing/2014/main" id="{464B3689-D009-6850-8286-96443C582F51}"/>
              </a:ext>
            </a:extLst>
          </p:cNvPr>
          <p:cNvGrpSpPr/>
          <p:nvPr/>
        </p:nvGrpSpPr>
        <p:grpSpPr>
          <a:xfrm>
            <a:off x="5491861" y="9109816"/>
            <a:ext cx="296516" cy="294538"/>
            <a:chOff x="5367466" y="9150431"/>
            <a:chExt cx="296516" cy="294538"/>
          </a:xfrm>
        </p:grpSpPr>
        <p:sp>
          <p:nvSpPr>
            <p:cNvPr id="53" name="Google Shape;236;p15">
              <a:extLst>
                <a:ext uri="{FF2B5EF4-FFF2-40B4-BE49-F238E27FC236}">
                  <a16:creationId xmlns:a16="http://schemas.microsoft.com/office/drawing/2014/main" id="{83609565-6437-879D-88C7-F634753F2E7E}"/>
                </a:ext>
              </a:extLst>
            </p:cNvPr>
            <p:cNvSpPr>
              <a:spLocks noChangeAspect="1"/>
            </p:cNvSpPr>
            <p:nvPr/>
          </p:nvSpPr>
          <p:spPr>
            <a:xfrm>
              <a:off x="5367466" y="9150431"/>
              <a:ext cx="296516" cy="29453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cxnSp>
          <p:nvCxnSpPr>
            <p:cNvPr id="54" name="Straight Connector 53">
              <a:extLst>
                <a:ext uri="{FF2B5EF4-FFF2-40B4-BE49-F238E27FC236}">
                  <a16:creationId xmlns:a16="http://schemas.microsoft.com/office/drawing/2014/main" id="{57A5169A-DD24-2736-094C-00A30AB972C3}"/>
                </a:ext>
              </a:extLst>
            </p:cNvPr>
            <p:cNvCxnSpPr>
              <a:cxnSpLocks/>
            </p:cNvCxnSpPr>
            <p:nvPr/>
          </p:nvCxnSpPr>
          <p:spPr>
            <a:xfrm flipH="1">
              <a:off x="5438395" y="9302560"/>
              <a:ext cx="154656" cy="0"/>
            </a:xfrm>
            <a:prstGeom prst="line">
              <a:avLst/>
            </a:prstGeom>
            <a:ln w="12700" cap="rnd"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5" name="Oval 54">
              <a:extLst>
                <a:ext uri="{FF2B5EF4-FFF2-40B4-BE49-F238E27FC236}">
                  <a16:creationId xmlns:a16="http://schemas.microsoft.com/office/drawing/2014/main" id="{7B0ED6D9-387A-CEF1-BB79-0233CECA6E20}"/>
                </a:ext>
              </a:extLst>
            </p:cNvPr>
            <p:cNvSpPr>
              <a:spLocks noChangeAspect="1"/>
            </p:cNvSpPr>
            <p:nvPr/>
          </p:nvSpPr>
          <p:spPr>
            <a:xfrm>
              <a:off x="5482180" y="9269602"/>
              <a:ext cx="67087" cy="65915"/>
            </a:xfrm>
            <a:prstGeom prst="ellipse">
              <a:avLst/>
            </a:prstGeom>
            <a:solidFill>
              <a:schemeClr val="bg2">
                <a:lumMod val="10000"/>
              </a:schemeClr>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grpSp>
      <p:grpSp>
        <p:nvGrpSpPr>
          <p:cNvPr id="495" name="Group 494">
            <a:extLst>
              <a:ext uri="{FF2B5EF4-FFF2-40B4-BE49-F238E27FC236}">
                <a16:creationId xmlns:a16="http://schemas.microsoft.com/office/drawing/2014/main" id="{BAB361F1-0C59-0A1C-E440-D6F67D761593}"/>
              </a:ext>
            </a:extLst>
          </p:cNvPr>
          <p:cNvGrpSpPr/>
          <p:nvPr/>
        </p:nvGrpSpPr>
        <p:grpSpPr>
          <a:xfrm>
            <a:off x="5653606" y="7661921"/>
            <a:ext cx="296516" cy="294538"/>
            <a:chOff x="5470343" y="7664480"/>
            <a:chExt cx="296516" cy="294538"/>
          </a:xfrm>
        </p:grpSpPr>
        <p:sp>
          <p:nvSpPr>
            <p:cNvPr id="57" name="Google Shape;236;p15">
              <a:extLst>
                <a:ext uri="{FF2B5EF4-FFF2-40B4-BE49-F238E27FC236}">
                  <a16:creationId xmlns:a16="http://schemas.microsoft.com/office/drawing/2014/main" id="{24BF6280-34FA-0A70-E70B-47B53A1080A8}"/>
                </a:ext>
              </a:extLst>
            </p:cNvPr>
            <p:cNvSpPr>
              <a:spLocks noChangeAspect="1"/>
            </p:cNvSpPr>
            <p:nvPr/>
          </p:nvSpPr>
          <p:spPr>
            <a:xfrm>
              <a:off x="5470343" y="7664480"/>
              <a:ext cx="296516" cy="29453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cxnSp>
          <p:nvCxnSpPr>
            <p:cNvPr id="58" name="Straight Connector 57">
              <a:extLst>
                <a:ext uri="{FF2B5EF4-FFF2-40B4-BE49-F238E27FC236}">
                  <a16:creationId xmlns:a16="http://schemas.microsoft.com/office/drawing/2014/main" id="{B832FAB8-AE2C-6A13-C2D0-873EC2F42FA9}"/>
                </a:ext>
              </a:extLst>
            </p:cNvPr>
            <p:cNvCxnSpPr>
              <a:cxnSpLocks/>
            </p:cNvCxnSpPr>
            <p:nvPr/>
          </p:nvCxnSpPr>
          <p:spPr>
            <a:xfrm flipH="1">
              <a:off x="5541272" y="7816609"/>
              <a:ext cx="154656" cy="0"/>
            </a:xfrm>
            <a:prstGeom prst="line">
              <a:avLst/>
            </a:prstGeom>
            <a:ln w="12700" cap="rnd"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9" name="Oval 58">
              <a:extLst>
                <a:ext uri="{FF2B5EF4-FFF2-40B4-BE49-F238E27FC236}">
                  <a16:creationId xmlns:a16="http://schemas.microsoft.com/office/drawing/2014/main" id="{D0DD7F7A-C2BC-4117-F457-5B7ACAC86AB2}"/>
                </a:ext>
              </a:extLst>
            </p:cNvPr>
            <p:cNvSpPr>
              <a:spLocks noChangeAspect="1"/>
            </p:cNvSpPr>
            <p:nvPr/>
          </p:nvSpPr>
          <p:spPr>
            <a:xfrm>
              <a:off x="5585057" y="7783651"/>
              <a:ext cx="67087" cy="65915"/>
            </a:xfrm>
            <a:prstGeom prst="ellipse">
              <a:avLst/>
            </a:prstGeom>
            <a:solidFill>
              <a:schemeClr val="bg2">
                <a:lumMod val="10000"/>
              </a:schemeClr>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grpSp>
      <p:pic>
        <p:nvPicPr>
          <p:cNvPr id="509" name="Google Shape;227;p15">
            <a:extLst>
              <a:ext uri="{FF2B5EF4-FFF2-40B4-BE49-F238E27FC236}">
                <a16:creationId xmlns:a16="http://schemas.microsoft.com/office/drawing/2014/main" id="{B5E50F9F-B737-A713-AAEB-522AC88EE319}"/>
              </a:ext>
            </a:extLst>
          </p:cNvPr>
          <p:cNvPicPr preferRelativeResize="0">
            <a:picLocks noChangeAspect="1"/>
          </p:cNvPicPr>
          <p:nvPr/>
        </p:nvPicPr>
        <p:blipFill>
          <a:blip r:embed="rId9">
            <a:alphaModFix/>
          </a:blip>
          <a:stretch>
            <a:fillRect/>
          </a:stretch>
        </p:blipFill>
        <p:spPr>
          <a:xfrm>
            <a:off x="5244821" y="7624472"/>
            <a:ext cx="398269" cy="362602"/>
          </a:xfrm>
          <a:prstGeom prst="rect">
            <a:avLst/>
          </a:prstGeom>
          <a:noFill/>
          <a:ln>
            <a:noFill/>
          </a:ln>
        </p:spPr>
      </p:pic>
      <p:sp>
        <p:nvSpPr>
          <p:cNvPr id="582" name="Freeform: Shape 581">
            <a:extLst>
              <a:ext uri="{FF2B5EF4-FFF2-40B4-BE49-F238E27FC236}">
                <a16:creationId xmlns:a16="http://schemas.microsoft.com/office/drawing/2014/main" id="{1F751F2B-0B2F-D5CF-8794-C4B84FEA9E28}"/>
              </a:ext>
            </a:extLst>
          </p:cNvPr>
          <p:cNvSpPr/>
          <p:nvPr/>
        </p:nvSpPr>
        <p:spPr>
          <a:xfrm>
            <a:off x="6446411" y="3298282"/>
            <a:ext cx="723267" cy="309363"/>
          </a:xfrm>
          <a:custGeom>
            <a:avLst/>
            <a:gdLst>
              <a:gd name="csX0" fmla="*/ 723267 w 723267"/>
              <a:gd name="csY0" fmla="*/ 309363 h 309363"/>
              <a:gd name="csX1" fmla="*/ 327968 w 723267"/>
              <a:gd name="csY1" fmla="*/ 92166 h 309363"/>
              <a:gd name="csX2" fmla="*/ 228057 w 723267"/>
              <a:gd name="csY2" fmla="*/ 233344 h 309363"/>
              <a:gd name="csX3" fmla="*/ 401815 w 723267"/>
              <a:gd name="csY3" fmla="*/ 281127 h 309363"/>
              <a:gd name="csX4" fmla="*/ 393127 w 723267"/>
              <a:gd name="csY4" fmla="*/ 155153 h 309363"/>
              <a:gd name="csX5" fmla="*/ 173758 w 723267"/>
              <a:gd name="csY5" fmla="*/ 5287 h 309363"/>
              <a:gd name="csX6" fmla="*/ 76019 w 723267"/>
              <a:gd name="csY6" fmla="*/ 40038 h 309363"/>
              <a:gd name="csX7" fmla="*/ 0 w 723267"/>
              <a:gd name="csY7" fmla="*/ 100853 h 3093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23267" h="309363">
                <a:moveTo>
                  <a:pt x="723267" y="309363"/>
                </a:moveTo>
                <a:cubicBezTo>
                  <a:pt x="566885" y="207099"/>
                  <a:pt x="410503" y="104836"/>
                  <a:pt x="327968" y="92166"/>
                </a:cubicBezTo>
                <a:cubicBezTo>
                  <a:pt x="245433" y="79496"/>
                  <a:pt x="215749" y="201850"/>
                  <a:pt x="228057" y="233344"/>
                </a:cubicBezTo>
                <a:cubicBezTo>
                  <a:pt x="240365" y="264837"/>
                  <a:pt x="374303" y="294159"/>
                  <a:pt x="401815" y="281127"/>
                </a:cubicBezTo>
                <a:cubicBezTo>
                  <a:pt x="429327" y="268095"/>
                  <a:pt x="431136" y="201126"/>
                  <a:pt x="393127" y="155153"/>
                </a:cubicBezTo>
                <a:cubicBezTo>
                  <a:pt x="355117" y="109180"/>
                  <a:pt x="226609" y="24473"/>
                  <a:pt x="173758" y="5287"/>
                </a:cubicBezTo>
                <a:cubicBezTo>
                  <a:pt x="120907" y="-13899"/>
                  <a:pt x="104979" y="24110"/>
                  <a:pt x="76019" y="40038"/>
                </a:cubicBezTo>
                <a:cubicBezTo>
                  <a:pt x="47059" y="55966"/>
                  <a:pt x="23529" y="78409"/>
                  <a:pt x="0" y="100853"/>
                </a:cubicBezTo>
              </a:path>
            </a:pathLst>
          </a:custGeom>
          <a:no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tlCol="0" anchor="ctr"/>
          <a:lstStyle/>
          <a:p>
            <a:pPr algn="ctr"/>
            <a:endParaRPr lang="en-US"/>
          </a:p>
        </p:txBody>
      </p:sp>
      <p:grpSp>
        <p:nvGrpSpPr>
          <p:cNvPr id="598" name="Group 597">
            <a:extLst>
              <a:ext uri="{FF2B5EF4-FFF2-40B4-BE49-F238E27FC236}">
                <a16:creationId xmlns:a16="http://schemas.microsoft.com/office/drawing/2014/main" id="{29EB4423-0839-0DFA-9A09-BDFECC4C16B9}"/>
              </a:ext>
            </a:extLst>
          </p:cNvPr>
          <p:cNvGrpSpPr/>
          <p:nvPr/>
        </p:nvGrpSpPr>
        <p:grpSpPr>
          <a:xfrm>
            <a:off x="4950916" y="1959959"/>
            <a:ext cx="3798831" cy="1087824"/>
            <a:chOff x="4950934" y="1934001"/>
            <a:chExt cx="3798831" cy="1087824"/>
          </a:xfrm>
        </p:grpSpPr>
        <p:sp>
          <p:nvSpPr>
            <p:cNvPr id="607" name="Rectangle: Rounded Corners 606">
              <a:extLst>
                <a:ext uri="{FF2B5EF4-FFF2-40B4-BE49-F238E27FC236}">
                  <a16:creationId xmlns:a16="http://schemas.microsoft.com/office/drawing/2014/main" id="{448EA3E7-14FB-BC75-45FC-CC7B4C875425}"/>
                </a:ext>
              </a:extLst>
            </p:cNvPr>
            <p:cNvSpPr>
              <a:spLocks noChangeAspect="1"/>
            </p:cNvSpPr>
            <p:nvPr/>
          </p:nvSpPr>
          <p:spPr>
            <a:xfrm>
              <a:off x="7122430" y="2237356"/>
              <a:ext cx="209840" cy="211365"/>
            </a:xfrm>
            <a:prstGeom prst="roundRect">
              <a:avLst/>
            </a:prstGeom>
            <a:solidFill>
              <a:schemeClr val="bg1"/>
            </a:solidFill>
            <a:ln w="6350" cap="flat">
              <a:solidFill>
                <a:srgbClr val="FF0000"/>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pic>
          <p:nvPicPr>
            <p:cNvPr id="611" name="Graphic 610" descr="Paper outline">
              <a:extLst>
                <a:ext uri="{FF2B5EF4-FFF2-40B4-BE49-F238E27FC236}">
                  <a16:creationId xmlns:a16="http://schemas.microsoft.com/office/drawing/2014/main" id="{8938EB8D-74E5-95D4-0411-EC08CFF20DD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764118" y="1934001"/>
              <a:ext cx="985647" cy="985647"/>
            </a:xfrm>
            <a:prstGeom prst="rect">
              <a:avLst/>
            </a:prstGeom>
          </p:spPr>
        </p:pic>
        <p:pic>
          <p:nvPicPr>
            <p:cNvPr id="612" name="Graphic 611" descr="Paper outline">
              <a:extLst>
                <a:ext uri="{FF2B5EF4-FFF2-40B4-BE49-F238E27FC236}">
                  <a16:creationId xmlns:a16="http://schemas.microsoft.com/office/drawing/2014/main" id="{01646249-38C0-A7F3-87FB-4758CA94E91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198996" y="1968399"/>
              <a:ext cx="985647" cy="985647"/>
            </a:xfrm>
            <a:prstGeom prst="rect">
              <a:avLst/>
            </a:prstGeom>
          </p:spPr>
        </p:pic>
        <p:sp>
          <p:nvSpPr>
            <p:cNvPr id="616" name="Rectangle: Rounded Corners 615">
              <a:extLst>
                <a:ext uri="{FF2B5EF4-FFF2-40B4-BE49-F238E27FC236}">
                  <a16:creationId xmlns:a16="http://schemas.microsoft.com/office/drawing/2014/main" id="{45B21861-5664-4985-518E-89EB94709BAB}"/>
                </a:ext>
              </a:extLst>
            </p:cNvPr>
            <p:cNvSpPr>
              <a:spLocks noChangeAspect="1"/>
            </p:cNvSpPr>
            <p:nvPr/>
          </p:nvSpPr>
          <p:spPr>
            <a:xfrm>
              <a:off x="5543463" y="2199523"/>
              <a:ext cx="210312" cy="210312"/>
            </a:xfrm>
            <a:prstGeom prst="roundRect">
              <a:avLst/>
            </a:prstGeom>
            <a:solidFill>
              <a:srgbClr val="FF0000"/>
            </a:solidFill>
            <a:ln w="6350" cap="flat">
              <a:solidFill>
                <a:srgbClr val="FF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617" name="TextBox 616">
              <a:extLst>
                <a:ext uri="{FF2B5EF4-FFF2-40B4-BE49-F238E27FC236}">
                  <a16:creationId xmlns:a16="http://schemas.microsoft.com/office/drawing/2014/main" id="{7E020F15-0513-BD0A-6A1A-6A7BA1B39DAE}"/>
                </a:ext>
              </a:extLst>
            </p:cNvPr>
            <p:cNvSpPr txBox="1"/>
            <p:nvPr/>
          </p:nvSpPr>
          <p:spPr>
            <a:xfrm>
              <a:off x="5427661" y="2614102"/>
              <a:ext cx="1156471" cy="4077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Incorrect Git Log </a:t>
              </a:r>
            </a:p>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Path specified</a:t>
              </a:r>
            </a:p>
          </p:txBody>
        </p:sp>
        <p:pic>
          <p:nvPicPr>
            <p:cNvPr id="2" name="Picture 1" descr="Account ">
              <a:extLst>
                <a:ext uri="{FF2B5EF4-FFF2-40B4-BE49-F238E27FC236}">
                  <a16:creationId xmlns:a16="http://schemas.microsoft.com/office/drawing/2014/main" id="{F9A32C47-7EB1-E61F-CBDA-B9EF4B774F0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50934" y="2244779"/>
              <a:ext cx="437146" cy="437146"/>
            </a:xfrm>
            <a:prstGeom prst="rect">
              <a:avLst/>
            </a:prstGeom>
            <a:noFill/>
            <a:extLst>
              <a:ext uri="{909E8E84-426E-40DD-AFC4-6F175D3DCCD1}">
                <a14:hiddenFill xmlns:a14="http://schemas.microsoft.com/office/drawing/2010/main">
                  <a:solidFill>
                    <a:srgbClr val="FFFFFF"/>
                  </a:solidFill>
                </a14:hiddenFill>
              </a:ext>
            </a:extLst>
          </p:spPr>
        </p:pic>
        <p:sp>
          <p:nvSpPr>
            <p:cNvPr id="590" name="Freeform: Shape 589">
              <a:extLst>
                <a:ext uri="{FF2B5EF4-FFF2-40B4-BE49-F238E27FC236}">
                  <a16:creationId xmlns:a16="http://schemas.microsoft.com/office/drawing/2014/main" id="{19704FA6-6D0F-379E-DF3E-B68565887508}"/>
                </a:ext>
              </a:extLst>
            </p:cNvPr>
            <p:cNvSpPr>
              <a:spLocks noChangeAspect="1"/>
            </p:cNvSpPr>
            <p:nvPr/>
          </p:nvSpPr>
          <p:spPr>
            <a:xfrm>
              <a:off x="7350904" y="2353437"/>
              <a:ext cx="503898" cy="318580"/>
            </a:xfrm>
            <a:custGeom>
              <a:avLst/>
              <a:gdLst>
                <a:gd name="csX0" fmla="*/ 503898 w 503898"/>
                <a:gd name="csY0" fmla="*/ 314936 h 318580"/>
                <a:gd name="csX1" fmla="*/ 356204 w 503898"/>
                <a:gd name="csY1" fmla="*/ 45611 h 318580"/>
                <a:gd name="csX2" fmla="*/ 121631 w 503898"/>
                <a:gd name="csY2" fmla="*/ 108598 h 318580"/>
                <a:gd name="csX3" fmla="*/ 134663 w 503898"/>
                <a:gd name="csY3" fmla="*/ 297560 h 318580"/>
                <a:gd name="csX4" fmla="*/ 323624 w 503898"/>
                <a:gd name="csY4" fmla="*/ 293216 h 318580"/>
                <a:gd name="csX5" fmla="*/ 345344 w 503898"/>
                <a:gd name="csY5" fmla="*/ 112942 h 318580"/>
                <a:gd name="csX6" fmla="*/ 0 w 503898"/>
                <a:gd name="csY6" fmla="*/ 0 h 318580"/>
                <a:gd name="csX7" fmla="*/ 0 w 503898"/>
                <a:gd name="csY7" fmla="*/ 0 h 3185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03898" h="318580" extrusionOk="0">
                  <a:moveTo>
                    <a:pt x="503898" y="314936"/>
                  </a:moveTo>
                  <a:cubicBezTo>
                    <a:pt x="453006" y="191978"/>
                    <a:pt x="414467" y="82046"/>
                    <a:pt x="356204" y="45611"/>
                  </a:cubicBezTo>
                  <a:cubicBezTo>
                    <a:pt x="295391" y="11831"/>
                    <a:pt x="155867" y="66692"/>
                    <a:pt x="121631" y="108598"/>
                  </a:cubicBezTo>
                  <a:cubicBezTo>
                    <a:pt x="81145" y="154068"/>
                    <a:pt x="99822" y="273283"/>
                    <a:pt x="134663" y="297560"/>
                  </a:cubicBezTo>
                  <a:cubicBezTo>
                    <a:pt x="164724" y="326358"/>
                    <a:pt x="291600" y="325462"/>
                    <a:pt x="323624" y="293216"/>
                  </a:cubicBezTo>
                  <a:cubicBezTo>
                    <a:pt x="364880" y="263175"/>
                    <a:pt x="404818" y="150415"/>
                    <a:pt x="345344" y="112942"/>
                  </a:cubicBezTo>
                  <a:cubicBezTo>
                    <a:pt x="291407" y="64073"/>
                    <a:pt x="-1" y="1"/>
                    <a:pt x="0" y="0"/>
                  </a:cubicBezTo>
                  <a:lnTo>
                    <a:pt x="0" y="0"/>
                  </a:lnTo>
                </a:path>
              </a:pathLst>
            </a:custGeom>
            <a:noFill/>
            <a:ln w="12700" cap="rnd">
              <a:solidFill>
                <a:schemeClr val="bg2">
                  <a:lumMod val="10000"/>
                </a:schemeClr>
              </a:solidFill>
              <a:prstDash val="dash"/>
              <a:miter lim="400000"/>
              <a:extLst>
                <a:ext uri="{C807C97D-BFC1-408E-A445-0C87EB9F89A2}">
                  <ask:lineSketchStyleProps xmlns:ask="http://schemas.microsoft.com/office/drawing/2018/sketchyshapes" sd="1219033472">
                    <a:custGeom>
                      <a:avLst/>
                      <a:gdLst>
                        <a:gd name="csX0" fmla="*/ 503898 w 503898"/>
                        <a:gd name="csY0" fmla="*/ 314936 h 318580"/>
                        <a:gd name="csX1" fmla="*/ 356204 w 503898"/>
                        <a:gd name="csY1" fmla="*/ 45611 h 318580"/>
                        <a:gd name="csX2" fmla="*/ 121631 w 503898"/>
                        <a:gd name="csY2" fmla="*/ 108598 h 318580"/>
                        <a:gd name="csX3" fmla="*/ 134663 w 503898"/>
                        <a:gd name="csY3" fmla="*/ 297560 h 318580"/>
                        <a:gd name="csX4" fmla="*/ 323624 w 503898"/>
                        <a:gd name="csY4" fmla="*/ 293216 h 318580"/>
                        <a:gd name="csX5" fmla="*/ 345344 w 503898"/>
                        <a:gd name="csY5" fmla="*/ 112942 h 318580"/>
                        <a:gd name="csX6" fmla="*/ 0 w 503898"/>
                        <a:gd name="csY6" fmla="*/ 0 h 318580"/>
                        <a:gd name="csX7" fmla="*/ 0 w 503898"/>
                        <a:gd name="csY7" fmla="*/ 0 h 3185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03898" h="318580">
                          <a:moveTo>
                            <a:pt x="503898" y="314936"/>
                          </a:moveTo>
                          <a:cubicBezTo>
                            <a:pt x="461906" y="197468"/>
                            <a:pt x="419915" y="80001"/>
                            <a:pt x="356204" y="45611"/>
                          </a:cubicBezTo>
                          <a:cubicBezTo>
                            <a:pt x="292493" y="11221"/>
                            <a:pt x="158554" y="66607"/>
                            <a:pt x="121631" y="108598"/>
                          </a:cubicBezTo>
                          <a:cubicBezTo>
                            <a:pt x="84708" y="150589"/>
                            <a:pt x="100997" y="266790"/>
                            <a:pt x="134663" y="297560"/>
                          </a:cubicBezTo>
                          <a:cubicBezTo>
                            <a:pt x="168329" y="328330"/>
                            <a:pt x="288511" y="323986"/>
                            <a:pt x="323624" y="293216"/>
                          </a:cubicBezTo>
                          <a:cubicBezTo>
                            <a:pt x="358737" y="262446"/>
                            <a:pt x="399281" y="161811"/>
                            <a:pt x="345344" y="112942"/>
                          </a:cubicBezTo>
                          <a:cubicBezTo>
                            <a:pt x="291407" y="64073"/>
                            <a:pt x="0" y="0"/>
                            <a:pt x="0" y="0"/>
                          </a:cubicBezTo>
                          <a:lnTo>
                            <a:pt x="0" y="0"/>
                          </a:lnTo>
                        </a:path>
                      </a:pathLst>
                    </a:custGeom>
                    <ask:type>
                      <ask:lineSketchCurved/>
                    </ask:type>
                  </ask:lineSketchStyleProps>
                </a:ext>
              </a:extLst>
            </a:ln>
            <a:effectLst/>
            <a:sp3d/>
          </p:spPr>
          <p:style>
            <a:lnRef idx="0">
              <a:scrgbClr r="0" g="0" b="0"/>
            </a:lnRef>
            <a:fillRef idx="0">
              <a:scrgbClr r="0" g="0" b="0"/>
            </a:fillRef>
            <a:effectRef idx="0">
              <a:scrgbClr r="0" g="0" b="0"/>
            </a:effectRef>
            <a:fontRef idx="none"/>
          </p:style>
          <p:txBody>
            <a:bodyPr rtlCol="0" anchor="ctr"/>
            <a:lstStyle/>
            <a:p>
              <a:pPr algn="ctr"/>
              <a:endParaRPr lang="en-US"/>
            </a:p>
          </p:txBody>
        </p:sp>
        <p:sp>
          <p:nvSpPr>
            <p:cNvPr id="592" name="Freeform: Shape 591">
              <a:extLst>
                <a:ext uri="{FF2B5EF4-FFF2-40B4-BE49-F238E27FC236}">
                  <a16:creationId xmlns:a16="http://schemas.microsoft.com/office/drawing/2014/main" id="{382614B7-F71D-5AE8-4A36-FD11F206139C}"/>
                </a:ext>
              </a:extLst>
            </p:cNvPr>
            <p:cNvSpPr>
              <a:spLocks noChangeAspect="1"/>
            </p:cNvSpPr>
            <p:nvPr/>
          </p:nvSpPr>
          <p:spPr>
            <a:xfrm>
              <a:off x="5773452" y="2306777"/>
              <a:ext cx="503898" cy="318580"/>
            </a:xfrm>
            <a:custGeom>
              <a:avLst/>
              <a:gdLst>
                <a:gd name="csX0" fmla="*/ 503898 w 503898"/>
                <a:gd name="csY0" fmla="*/ 314936 h 318580"/>
                <a:gd name="csX1" fmla="*/ 356204 w 503898"/>
                <a:gd name="csY1" fmla="*/ 45611 h 318580"/>
                <a:gd name="csX2" fmla="*/ 121631 w 503898"/>
                <a:gd name="csY2" fmla="*/ 108598 h 318580"/>
                <a:gd name="csX3" fmla="*/ 134663 w 503898"/>
                <a:gd name="csY3" fmla="*/ 297560 h 318580"/>
                <a:gd name="csX4" fmla="*/ 323624 w 503898"/>
                <a:gd name="csY4" fmla="*/ 293216 h 318580"/>
                <a:gd name="csX5" fmla="*/ 345344 w 503898"/>
                <a:gd name="csY5" fmla="*/ 112942 h 318580"/>
                <a:gd name="csX6" fmla="*/ 0 w 503898"/>
                <a:gd name="csY6" fmla="*/ 0 h 318580"/>
                <a:gd name="csX7" fmla="*/ 0 w 503898"/>
                <a:gd name="csY7" fmla="*/ 0 h 3185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03898" h="318580" extrusionOk="0">
                  <a:moveTo>
                    <a:pt x="503898" y="314936"/>
                  </a:moveTo>
                  <a:cubicBezTo>
                    <a:pt x="453006" y="191978"/>
                    <a:pt x="414467" y="82046"/>
                    <a:pt x="356204" y="45611"/>
                  </a:cubicBezTo>
                  <a:cubicBezTo>
                    <a:pt x="295391" y="11831"/>
                    <a:pt x="155867" y="66692"/>
                    <a:pt x="121631" y="108598"/>
                  </a:cubicBezTo>
                  <a:cubicBezTo>
                    <a:pt x="81145" y="154068"/>
                    <a:pt x="99822" y="273283"/>
                    <a:pt x="134663" y="297560"/>
                  </a:cubicBezTo>
                  <a:cubicBezTo>
                    <a:pt x="164724" y="326358"/>
                    <a:pt x="291600" y="325462"/>
                    <a:pt x="323624" y="293216"/>
                  </a:cubicBezTo>
                  <a:cubicBezTo>
                    <a:pt x="364880" y="263175"/>
                    <a:pt x="404818" y="150415"/>
                    <a:pt x="345344" y="112942"/>
                  </a:cubicBezTo>
                  <a:cubicBezTo>
                    <a:pt x="291407" y="64073"/>
                    <a:pt x="-1" y="1"/>
                    <a:pt x="0" y="0"/>
                  </a:cubicBezTo>
                  <a:lnTo>
                    <a:pt x="0" y="0"/>
                  </a:lnTo>
                </a:path>
              </a:pathLst>
            </a:custGeom>
            <a:noFill/>
            <a:ln w="12700" cap="rnd">
              <a:solidFill>
                <a:schemeClr val="bg2">
                  <a:lumMod val="10000"/>
                </a:schemeClr>
              </a:solidFill>
              <a:prstDash val="dash"/>
              <a:miter lim="400000"/>
              <a:extLst>
                <a:ext uri="{C807C97D-BFC1-408E-A445-0C87EB9F89A2}">
                  <ask:lineSketchStyleProps xmlns:ask="http://schemas.microsoft.com/office/drawing/2018/sketchyshapes" sd="1219033472">
                    <a:custGeom>
                      <a:avLst/>
                      <a:gdLst>
                        <a:gd name="csX0" fmla="*/ 503898 w 503898"/>
                        <a:gd name="csY0" fmla="*/ 314936 h 318580"/>
                        <a:gd name="csX1" fmla="*/ 356204 w 503898"/>
                        <a:gd name="csY1" fmla="*/ 45611 h 318580"/>
                        <a:gd name="csX2" fmla="*/ 121631 w 503898"/>
                        <a:gd name="csY2" fmla="*/ 108598 h 318580"/>
                        <a:gd name="csX3" fmla="*/ 134663 w 503898"/>
                        <a:gd name="csY3" fmla="*/ 297560 h 318580"/>
                        <a:gd name="csX4" fmla="*/ 323624 w 503898"/>
                        <a:gd name="csY4" fmla="*/ 293216 h 318580"/>
                        <a:gd name="csX5" fmla="*/ 345344 w 503898"/>
                        <a:gd name="csY5" fmla="*/ 112942 h 318580"/>
                        <a:gd name="csX6" fmla="*/ 0 w 503898"/>
                        <a:gd name="csY6" fmla="*/ 0 h 318580"/>
                        <a:gd name="csX7" fmla="*/ 0 w 503898"/>
                        <a:gd name="csY7" fmla="*/ 0 h 3185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03898" h="318580">
                          <a:moveTo>
                            <a:pt x="503898" y="314936"/>
                          </a:moveTo>
                          <a:cubicBezTo>
                            <a:pt x="461906" y="197468"/>
                            <a:pt x="419915" y="80001"/>
                            <a:pt x="356204" y="45611"/>
                          </a:cubicBezTo>
                          <a:cubicBezTo>
                            <a:pt x="292493" y="11221"/>
                            <a:pt x="158554" y="66607"/>
                            <a:pt x="121631" y="108598"/>
                          </a:cubicBezTo>
                          <a:cubicBezTo>
                            <a:pt x="84708" y="150589"/>
                            <a:pt x="100997" y="266790"/>
                            <a:pt x="134663" y="297560"/>
                          </a:cubicBezTo>
                          <a:cubicBezTo>
                            <a:pt x="168329" y="328330"/>
                            <a:pt x="288511" y="323986"/>
                            <a:pt x="323624" y="293216"/>
                          </a:cubicBezTo>
                          <a:cubicBezTo>
                            <a:pt x="358737" y="262446"/>
                            <a:pt x="399281" y="161811"/>
                            <a:pt x="345344" y="112942"/>
                          </a:cubicBezTo>
                          <a:cubicBezTo>
                            <a:pt x="291407" y="64073"/>
                            <a:pt x="0" y="0"/>
                            <a:pt x="0" y="0"/>
                          </a:cubicBezTo>
                          <a:lnTo>
                            <a:pt x="0" y="0"/>
                          </a:lnTo>
                        </a:path>
                      </a:pathLst>
                    </a:custGeom>
                    <ask:type>
                      <ask:lineSketchCurved/>
                    </ask:type>
                  </ask:lineSketchStyleProps>
                </a:ext>
              </a:extLst>
            </a:ln>
            <a:effectLst/>
            <a:sp3d/>
          </p:spPr>
          <p:style>
            <a:lnRef idx="0">
              <a:scrgbClr r="0" g="0" b="0"/>
            </a:lnRef>
            <a:fillRef idx="0">
              <a:scrgbClr r="0" g="0" b="0"/>
            </a:fillRef>
            <a:effectRef idx="0">
              <a:scrgbClr r="0" g="0" b="0"/>
            </a:effectRef>
            <a:fontRef idx="none"/>
          </p:style>
          <p:txBody>
            <a:bodyPr rtlCol="0" anchor="ctr"/>
            <a:lstStyle/>
            <a:p>
              <a:pPr algn="ctr"/>
              <a:endParaRPr lang="en-US"/>
            </a:p>
          </p:txBody>
        </p:sp>
      </p:grpSp>
      <p:sp>
        <p:nvSpPr>
          <p:cNvPr id="596" name="Line">
            <a:extLst>
              <a:ext uri="{FF2B5EF4-FFF2-40B4-BE49-F238E27FC236}">
                <a16:creationId xmlns:a16="http://schemas.microsoft.com/office/drawing/2014/main" id="{E5E89098-4880-0171-A097-96B320E891B2}"/>
              </a:ext>
            </a:extLst>
          </p:cNvPr>
          <p:cNvSpPr/>
          <p:nvPr/>
        </p:nvSpPr>
        <p:spPr>
          <a:xfrm flipV="1">
            <a:off x="148894" y="5950313"/>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Tree>
    <p:extLst>
      <p:ext uri="{BB962C8B-B14F-4D97-AF65-F5344CB8AC3E}">
        <p14:creationId xmlns:p14="http://schemas.microsoft.com/office/powerpoint/2010/main" val="636354356"/>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BAC99-750B-89BC-B71A-1866BEA16029}"/>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23171ADA-8523-0EAA-826F-2DE88309B132}"/>
              </a:ext>
            </a:extLst>
          </p:cNvPr>
          <p:cNvPicPr>
            <a:picLocks noChangeAspect="1"/>
          </p:cNvPicPr>
          <p:nvPr/>
        </p:nvPicPr>
        <p:blipFill>
          <a:blip r:embed="rId3"/>
          <a:stretch>
            <a:fillRect/>
          </a:stretch>
        </p:blipFill>
        <p:spPr>
          <a:xfrm>
            <a:off x="8374634" y="-696057"/>
            <a:ext cx="5598432" cy="2990088"/>
          </a:xfrm>
          <a:prstGeom prst="rect">
            <a:avLst/>
          </a:prstGeom>
          <a:ln w="12700">
            <a:miter lim="400000"/>
          </a:ln>
        </p:spPr>
      </p:pic>
      <p:sp>
        <p:nvSpPr>
          <p:cNvPr id="312" name="Line">
            <a:extLst>
              <a:ext uri="{FF2B5EF4-FFF2-40B4-BE49-F238E27FC236}">
                <a16:creationId xmlns:a16="http://schemas.microsoft.com/office/drawing/2014/main" id="{6481C351-AD14-421D-383B-FB38864C5C09}"/>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858D7609-F82A-2D78-13F2-564BBF38650C}"/>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26" name="Manipulate Variables">
            <a:extLst>
              <a:ext uri="{FF2B5EF4-FFF2-40B4-BE49-F238E27FC236}">
                <a16:creationId xmlns:a16="http://schemas.microsoft.com/office/drawing/2014/main" id="{3FAA85B4-72E4-07B9-9A96-CC0011708D61}"/>
              </a:ext>
            </a:extLst>
          </p:cNvPr>
          <p:cNvSpPr txBox="1"/>
          <p:nvPr/>
        </p:nvSpPr>
        <p:spPr>
          <a:xfrm>
            <a:off x="4704209" y="4849308"/>
            <a:ext cx="304891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Code Review Workflow</a:t>
            </a:r>
          </a:p>
        </p:txBody>
      </p:sp>
      <p:sp>
        <p:nvSpPr>
          <p:cNvPr id="334" name="Three Column Layout: : CHEAT SHEET">
            <a:extLst>
              <a:ext uri="{FF2B5EF4-FFF2-40B4-BE49-F238E27FC236}">
                <a16:creationId xmlns:a16="http://schemas.microsoft.com/office/drawing/2014/main" id="{9C68C7CB-EDE3-830E-B4CC-04C2C6384841}"/>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Unit Tests </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41" name="Use headers, colors, and/or backgrounds to separate or group together sections.">
            <a:extLst>
              <a:ext uri="{FF2B5EF4-FFF2-40B4-BE49-F238E27FC236}">
                <a16:creationId xmlns:a16="http://schemas.microsoft.com/office/drawing/2014/main" id="{000C142F-BCB2-58A4-3D4F-ECC7E1CFB122}"/>
              </a:ext>
            </a:extLst>
          </p:cNvPr>
          <p:cNvSpPr txBox="1"/>
          <p:nvPr/>
        </p:nvSpPr>
        <p:spPr>
          <a:xfrm>
            <a:off x="286820" y="1693814"/>
            <a:ext cx="3949153" cy="13505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Kaiaulu has multiple measures in place to ensure that its codebase remains maintainable. </a:t>
            </a:r>
          </a:p>
          <a:p>
            <a:pPr>
              <a:lnSpc>
                <a:spcPct val="90000"/>
              </a:lnSpc>
              <a:spcBef>
                <a:spcPts val="300"/>
              </a:spcBef>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Try catch statements and tests let functions fail gracefully and ensure functions work as intended. </a:t>
            </a:r>
          </a:p>
          <a:p>
            <a:pPr>
              <a:lnSpc>
                <a:spcPct val="90000"/>
              </a:lnSpc>
              <a:spcBef>
                <a:spcPts val="300"/>
              </a:spcBef>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Codecov and GitHub Actions run the unit tests as well as other checks for every commit to a Pull Request and will deny it from merging if any tests fail. </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382" name="Logistics">
            <a:extLst>
              <a:ext uri="{FF2B5EF4-FFF2-40B4-BE49-F238E27FC236}">
                <a16:creationId xmlns:a16="http://schemas.microsoft.com/office/drawing/2014/main" id="{981F8332-F92D-7243-537C-59D5081F7373}"/>
              </a:ext>
            </a:extLst>
          </p:cNvPr>
          <p:cNvSpPr txBox="1"/>
          <p:nvPr/>
        </p:nvSpPr>
        <p:spPr>
          <a:xfrm>
            <a:off x="280408" y="5393325"/>
            <a:ext cx="215283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Test Framework</a:t>
            </a:r>
          </a:p>
        </p:txBody>
      </p:sp>
      <p:sp>
        <p:nvSpPr>
          <p:cNvPr id="384" name="Layout Suggestions">
            <a:extLst>
              <a:ext uri="{FF2B5EF4-FFF2-40B4-BE49-F238E27FC236}">
                <a16:creationId xmlns:a16="http://schemas.microsoft.com/office/drawing/2014/main" id="{DAAFD83D-3CC5-E69C-0AAA-610C90D05B0F}"/>
              </a:ext>
            </a:extLst>
          </p:cNvPr>
          <p:cNvSpPr txBox="1"/>
          <p:nvPr/>
        </p:nvSpPr>
        <p:spPr>
          <a:xfrm>
            <a:off x="312428" y="1280437"/>
            <a:ext cx="26212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240F7D21-AF5F-82EA-772F-8553622D059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3DD337D6-A311-5660-E221-108893B85266}"/>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5">
                  <a:extLst>
                    <a:ext uri="{A12FA001-AC4F-418D-AE19-62706E023703}">
                      <ahyp:hlinkClr xmlns:ahyp="http://schemas.microsoft.com/office/drawing/2018/hyperlinkcolor" val="tx"/>
                    </a:ext>
                  </a:extLst>
                </a:hlinkClick>
              </a:rPr>
              <a:t>CC BY SA</a:t>
            </a:r>
            <a:r>
              <a:rPr lang="en-US" sz="1000" b="0" dirty="0">
                <a:solidFill>
                  <a:schemeClr val="tx1"/>
                </a:solidFill>
              </a:rPr>
              <a:t> Ian Jaymes Iwata, Anthony Lau, Sean Sunoo</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2024-04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370" name="Basics">
            <a:extLst>
              <a:ext uri="{FF2B5EF4-FFF2-40B4-BE49-F238E27FC236}">
                <a16:creationId xmlns:a16="http://schemas.microsoft.com/office/drawing/2014/main" id="{29AB571A-BA3A-9E6C-426C-041CD0ADE9EB}"/>
              </a:ext>
            </a:extLst>
          </p:cNvPr>
          <p:cNvSpPr txBox="1"/>
          <p:nvPr/>
        </p:nvSpPr>
        <p:spPr>
          <a:xfrm>
            <a:off x="4746055" y="1555179"/>
            <a:ext cx="276663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Examples</a:t>
            </a:r>
            <a:endParaRPr dirty="0"/>
          </a:p>
        </p:txBody>
      </p:sp>
      <p:sp>
        <p:nvSpPr>
          <p:cNvPr id="371" name="Line">
            <a:extLst>
              <a:ext uri="{FF2B5EF4-FFF2-40B4-BE49-F238E27FC236}">
                <a16:creationId xmlns:a16="http://schemas.microsoft.com/office/drawing/2014/main" id="{22D495F4-98CA-837C-1B16-A3B8EC8CBFBA}"/>
              </a:ext>
            </a:extLst>
          </p:cNvPr>
          <p:cNvSpPr/>
          <p:nvPr/>
        </p:nvSpPr>
        <p:spPr>
          <a:xfrm flipV="1">
            <a:off x="213254" y="1620466"/>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grpSp>
        <p:nvGrpSpPr>
          <p:cNvPr id="61" name="Group 60">
            <a:extLst>
              <a:ext uri="{FF2B5EF4-FFF2-40B4-BE49-F238E27FC236}">
                <a16:creationId xmlns:a16="http://schemas.microsoft.com/office/drawing/2014/main" id="{4D7E5AB3-C491-54AC-9270-283DFD1F3F87}"/>
              </a:ext>
            </a:extLst>
          </p:cNvPr>
          <p:cNvGrpSpPr/>
          <p:nvPr/>
        </p:nvGrpSpPr>
        <p:grpSpPr>
          <a:xfrm>
            <a:off x="9554259" y="3866817"/>
            <a:ext cx="3848844" cy="6172184"/>
            <a:chOff x="870417" y="3616023"/>
            <a:chExt cx="3848844" cy="6172184"/>
          </a:xfrm>
        </p:grpSpPr>
        <p:sp>
          <p:nvSpPr>
            <p:cNvPr id="449" name="Rectangle 448">
              <a:extLst>
                <a:ext uri="{FF2B5EF4-FFF2-40B4-BE49-F238E27FC236}">
                  <a16:creationId xmlns:a16="http://schemas.microsoft.com/office/drawing/2014/main" id="{B827A8ED-CEFF-8A0D-B3EF-43E11155F631}"/>
                </a:ext>
              </a:extLst>
            </p:cNvPr>
            <p:cNvSpPr/>
            <p:nvPr/>
          </p:nvSpPr>
          <p:spPr>
            <a:xfrm>
              <a:off x="870417" y="3627271"/>
              <a:ext cx="3848844" cy="6160936"/>
            </a:xfrm>
            <a:prstGeom prst="rect">
              <a:avLst/>
            </a:prstGeom>
            <a:ln w="12700"/>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pic>
          <p:nvPicPr>
            <p:cNvPr id="450" name="Picture 449" descr="Account ">
              <a:extLst>
                <a:ext uri="{FF2B5EF4-FFF2-40B4-BE49-F238E27FC236}">
                  <a16:creationId xmlns:a16="http://schemas.microsoft.com/office/drawing/2014/main" id="{5371E013-6692-7642-0BA0-D4B32BDA05AD}"/>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91912" y="4195042"/>
              <a:ext cx="306136" cy="306136"/>
            </a:xfrm>
            <a:prstGeom prst="rect">
              <a:avLst/>
            </a:prstGeom>
            <a:noFill/>
            <a:extLst>
              <a:ext uri="{909E8E84-426E-40DD-AFC4-6F175D3DCCD1}">
                <a14:hiddenFill xmlns:a14="http://schemas.microsoft.com/office/drawing/2010/main">
                  <a:solidFill>
                    <a:srgbClr val="FFFFFF"/>
                  </a:solidFill>
                </a14:hiddenFill>
              </a:ext>
            </a:extLst>
          </p:spPr>
        </p:pic>
        <p:sp>
          <p:nvSpPr>
            <p:cNvPr id="451" name="TextBox 1284">
              <a:extLst>
                <a:ext uri="{FF2B5EF4-FFF2-40B4-BE49-F238E27FC236}">
                  <a16:creationId xmlns:a16="http://schemas.microsoft.com/office/drawing/2014/main" id="{8D9624B9-07CD-C2AC-8A33-763B64B73E7D}"/>
                </a:ext>
              </a:extLst>
            </p:cNvPr>
            <p:cNvSpPr txBox="1"/>
            <p:nvPr/>
          </p:nvSpPr>
          <p:spPr>
            <a:xfrm>
              <a:off x="991912" y="3616023"/>
              <a:ext cx="3720890" cy="261610"/>
            </a:xfrm>
            <a:prstGeom prst="rect">
              <a:avLst/>
            </a:prstGeom>
            <a:noFill/>
          </p:spPr>
          <p:txBody>
            <a:bodyPr wrap="none" rtlCol="0">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r>
                <a:rPr lang="en-US" sz="800" dirty="0"/>
                <a:t>Code          Issues          </a:t>
              </a:r>
              <a:r>
                <a:rPr lang="en-US" sz="1100" b="1" dirty="0"/>
                <a:t>Pull Requests          </a:t>
              </a:r>
              <a:r>
                <a:rPr lang="en-US" sz="800" dirty="0"/>
                <a:t>Actions          Wiki          Security  </a:t>
              </a:r>
            </a:p>
          </p:txBody>
        </p:sp>
        <p:cxnSp>
          <p:nvCxnSpPr>
            <p:cNvPr id="452" name="Straight Connector 451">
              <a:extLst>
                <a:ext uri="{FF2B5EF4-FFF2-40B4-BE49-F238E27FC236}">
                  <a16:creationId xmlns:a16="http://schemas.microsoft.com/office/drawing/2014/main" id="{91FAD9D7-7F65-6662-EE57-7ABC58C5E9DE}"/>
                </a:ext>
              </a:extLst>
            </p:cNvPr>
            <p:cNvCxnSpPr>
              <a:cxnSpLocks/>
            </p:cNvCxnSpPr>
            <p:nvPr/>
          </p:nvCxnSpPr>
          <p:spPr>
            <a:xfrm>
              <a:off x="870417" y="3877633"/>
              <a:ext cx="3842385" cy="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53" name="Use headers, colors, and/or backgrounds to separate or group together sections.">
              <a:extLst>
                <a:ext uri="{FF2B5EF4-FFF2-40B4-BE49-F238E27FC236}">
                  <a16:creationId xmlns:a16="http://schemas.microsoft.com/office/drawing/2014/main" id="{51603BA4-D662-9ABD-F9AF-27CC84BBA0CA}"/>
                </a:ext>
              </a:extLst>
            </p:cNvPr>
            <p:cNvSpPr txBox="1"/>
            <p:nvPr/>
          </p:nvSpPr>
          <p:spPr>
            <a:xfrm>
              <a:off x="1455985" y="3883746"/>
              <a:ext cx="1356960" cy="2562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lc="http://schemas.openxmlformats.org/drawingml/2006/lockedCanvas" val="1"/>
              </a:ext>
            </a:extLst>
          </p:spPr>
          <p:txBody>
            <a:bodyPr wrap="square" lIns="54570" tIns="54570" rIns="54570" bIns="5457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a:lnSpc>
                  <a:spcPct val="90000"/>
                </a:lnSpc>
                <a:buSzPts val="3700"/>
              </a:pPr>
              <a:r>
                <a:rPr lang="en-US" b="0" dirty="0">
                  <a:latin typeface="Source Sans Pro" panose="020B0503030403020204" pitchFamily="34" charset="0"/>
                  <a:ea typeface="Source Sans Pro" panose="020B0503030403020204" pitchFamily="34" charset="0"/>
                  <a:cs typeface="Arial" panose="020B0604020202020204" pitchFamily="34" charset="0"/>
                </a:rPr>
                <a:t>Pull Request #330</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7"/>
              </a:endParaRPr>
            </a:p>
            <a:p>
              <a:pPr lvl="0">
                <a:lnSpc>
                  <a:spcPct val="90000"/>
                </a:lnSpc>
                <a:buSzPts val="3700"/>
              </a:pP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7"/>
              </a:endParaRPr>
            </a:p>
          </p:txBody>
        </p:sp>
        <p:pic>
          <p:nvPicPr>
            <p:cNvPr id="454" name="Google Shape;214;p15">
              <a:extLst>
                <a:ext uri="{FF2B5EF4-FFF2-40B4-BE49-F238E27FC236}">
                  <a16:creationId xmlns:a16="http://schemas.microsoft.com/office/drawing/2014/main" id="{21D40BFB-C984-F1B6-ADCE-79B995C91277}"/>
                </a:ext>
              </a:extLst>
            </p:cNvPr>
            <p:cNvPicPr preferRelativeResize="0"/>
            <p:nvPr/>
          </p:nvPicPr>
          <p:blipFill>
            <a:blip r:embed="rId8">
              <a:alphaModFix/>
            </a:blip>
            <a:stretch>
              <a:fillRect/>
            </a:stretch>
          </p:blipFill>
          <p:spPr>
            <a:xfrm>
              <a:off x="914022" y="4784929"/>
              <a:ext cx="476766" cy="456900"/>
            </a:xfrm>
            <a:prstGeom prst="rect">
              <a:avLst/>
            </a:prstGeom>
            <a:noFill/>
            <a:ln>
              <a:noFill/>
            </a:ln>
          </p:spPr>
        </p:pic>
        <p:sp>
          <p:nvSpPr>
            <p:cNvPr id="455" name="Google Shape;216;p15">
              <a:extLst>
                <a:ext uri="{FF2B5EF4-FFF2-40B4-BE49-F238E27FC236}">
                  <a16:creationId xmlns:a16="http://schemas.microsoft.com/office/drawing/2014/main" id="{67835AF9-44E1-3DB0-4B1A-CC2E02D9ECCD}"/>
                </a:ext>
              </a:extLst>
            </p:cNvPr>
            <p:cNvSpPr/>
            <p:nvPr/>
          </p:nvSpPr>
          <p:spPr>
            <a:xfrm>
              <a:off x="1469668" y="4973530"/>
              <a:ext cx="3025431" cy="652091"/>
            </a:xfrm>
            <a:prstGeom prst="rect">
              <a:avLst/>
            </a:prstGeom>
            <a:solidFill>
              <a:schemeClr val="lt1"/>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sp>
          <p:nvSpPr>
            <p:cNvPr id="456" name="Google Shape;215;p15">
              <a:extLst>
                <a:ext uri="{FF2B5EF4-FFF2-40B4-BE49-F238E27FC236}">
                  <a16:creationId xmlns:a16="http://schemas.microsoft.com/office/drawing/2014/main" id="{AE775899-B6CF-7BEE-BACD-368990FB12F4}"/>
                </a:ext>
              </a:extLst>
            </p:cNvPr>
            <p:cNvSpPr/>
            <p:nvPr/>
          </p:nvSpPr>
          <p:spPr>
            <a:xfrm>
              <a:off x="1467748" y="4759190"/>
              <a:ext cx="3025431" cy="232375"/>
            </a:xfrm>
            <a:prstGeom prst="rect">
              <a:avLst/>
            </a:prstGeom>
            <a:solidFill>
              <a:schemeClr val="lt2"/>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839" dirty="0"/>
            </a:p>
            <a:p>
              <a:pPr>
                <a:spcBef>
                  <a:spcPts val="0"/>
                </a:spcBef>
              </a:pPr>
              <a:endParaRPr sz="839" dirty="0"/>
            </a:p>
            <a:p>
              <a:pPr>
                <a:spcBef>
                  <a:spcPts val="0"/>
                </a:spcBef>
              </a:pPr>
              <a:r>
                <a:rPr lang="en" sz="839" dirty="0">
                  <a:solidFill>
                    <a:schemeClr val="tx1">
                      <a:lumMod val="50000"/>
                    </a:schemeClr>
                  </a:solidFill>
                </a:rPr>
                <a:t>Codecov </a:t>
              </a:r>
              <a:r>
                <a:rPr lang="en" sz="839" b="0" dirty="0">
                  <a:solidFill>
                    <a:schemeClr val="tx1">
                      <a:lumMod val="50000"/>
                    </a:schemeClr>
                  </a:solidFill>
                </a:rPr>
                <a:t>commented on Mar 27</a:t>
              </a:r>
              <a:endParaRPr sz="839" b="0" dirty="0">
                <a:solidFill>
                  <a:schemeClr val="tx1">
                    <a:lumMod val="50000"/>
                  </a:schemeClr>
                </a:solidFill>
              </a:endParaRPr>
            </a:p>
            <a:p>
              <a:pPr>
                <a:spcBef>
                  <a:spcPts val="0"/>
                </a:spcBef>
              </a:pPr>
              <a:endParaRPr sz="1956" dirty="0"/>
            </a:p>
          </p:txBody>
        </p:sp>
        <p:sp>
          <p:nvSpPr>
            <p:cNvPr id="457" name="Google Shape;217;p15">
              <a:extLst>
                <a:ext uri="{FF2B5EF4-FFF2-40B4-BE49-F238E27FC236}">
                  <a16:creationId xmlns:a16="http://schemas.microsoft.com/office/drawing/2014/main" id="{9AC62F5C-5ED2-C734-0A47-B9D4A216568E}"/>
                </a:ext>
              </a:extLst>
            </p:cNvPr>
            <p:cNvSpPr txBox="1"/>
            <p:nvPr/>
          </p:nvSpPr>
          <p:spPr>
            <a:xfrm>
              <a:off x="1396836" y="4941265"/>
              <a:ext cx="2116583" cy="554125"/>
            </a:xfrm>
            <a:prstGeom prst="rect">
              <a:avLst/>
            </a:prstGeom>
            <a:noFill/>
            <a:ln>
              <a:noFill/>
            </a:ln>
          </p:spPr>
          <p:txBody>
            <a:bodyPr spcFirstLastPara="1" wrap="square" lIns="127722" tIns="127722" rIns="127722" bIns="127722" anchor="t" anchorCtr="0">
              <a:noAutofit/>
            </a:bodyPr>
            <a:lstStyle/>
            <a:p>
              <a:pPr>
                <a:spcBef>
                  <a:spcPts val="0"/>
                </a:spcBef>
              </a:pPr>
              <a:r>
                <a:rPr lang="en" sz="839" dirty="0">
                  <a:solidFill>
                    <a:srgbClr val="1F2328"/>
                  </a:solidFill>
                  <a:highlight>
                    <a:srgbClr val="FFFFFF"/>
                  </a:highlight>
                </a:rPr>
                <a:t>❌ Patch coverage is…</a:t>
              </a:r>
              <a:endParaRPr sz="839" dirty="0">
                <a:solidFill>
                  <a:srgbClr val="1F2328"/>
                </a:solidFill>
                <a:highlight>
                  <a:srgbClr val="FFFFFF"/>
                </a:highlight>
              </a:endParaRPr>
            </a:p>
            <a:p>
              <a:pPr>
                <a:spcBef>
                  <a:spcPts val="0"/>
                </a:spcBef>
              </a:pPr>
              <a:r>
                <a:rPr lang="en" sz="839" dirty="0">
                  <a:solidFill>
                    <a:srgbClr val="1F2328"/>
                  </a:solidFill>
                  <a:highlight>
                    <a:srgbClr val="FFFFFF"/>
                  </a:highlight>
                </a:rPr>
                <a:t>✅ Project coverage is…</a:t>
              </a:r>
              <a:endParaRPr sz="839" dirty="0">
                <a:solidFill>
                  <a:srgbClr val="1F2328"/>
                </a:solidFill>
                <a:highlight>
                  <a:srgbClr val="FFFFFF"/>
                </a:highlight>
              </a:endParaRPr>
            </a:p>
            <a:p>
              <a:pPr>
                <a:spcBef>
                  <a:spcPts val="0"/>
                </a:spcBef>
              </a:pPr>
              <a:r>
                <a:rPr lang="en" sz="839" dirty="0">
                  <a:solidFill>
                    <a:srgbClr val="1F2328"/>
                  </a:solidFill>
                  <a:highlight>
                    <a:srgbClr val="FFFFFF"/>
                  </a:highlight>
                </a:rPr>
                <a:t>⚠️ Report is…</a:t>
              </a:r>
              <a:endParaRPr sz="839" dirty="0">
                <a:solidFill>
                  <a:srgbClr val="1F2328"/>
                </a:solidFill>
                <a:highlight>
                  <a:srgbClr val="FFFFFF"/>
                </a:highlight>
              </a:endParaRPr>
            </a:p>
          </p:txBody>
        </p:sp>
        <p:pic>
          <p:nvPicPr>
            <p:cNvPr id="458" name="Google Shape;227;p15">
              <a:extLst>
                <a:ext uri="{FF2B5EF4-FFF2-40B4-BE49-F238E27FC236}">
                  <a16:creationId xmlns:a16="http://schemas.microsoft.com/office/drawing/2014/main" id="{B4CA95B1-DC4A-112B-2AA3-A46EA47E81F8}"/>
                </a:ext>
              </a:extLst>
            </p:cNvPr>
            <p:cNvPicPr preferRelativeResize="0"/>
            <p:nvPr/>
          </p:nvPicPr>
          <p:blipFill>
            <a:blip r:embed="rId9">
              <a:alphaModFix/>
            </a:blip>
            <a:srcRect l="9422" t="6057" r="10362" b="6496"/>
            <a:stretch>
              <a:fillRect/>
            </a:stretch>
          </p:blipFill>
          <p:spPr>
            <a:xfrm>
              <a:off x="991912" y="5826679"/>
              <a:ext cx="382451" cy="379585"/>
            </a:xfrm>
            <a:prstGeom prst="rect">
              <a:avLst/>
            </a:prstGeom>
            <a:noFill/>
            <a:ln>
              <a:noFill/>
            </a:ln>
          </p:spPr>
        </p:pic>
        <p:pic>
          <p:nvPicPr>
            <p:cNvPr id="459" name="Google Shape;206;p15">
              <a:extLst>
                <a:ext uri="{FF2B5EF4-FFF2-40B4-BE49-F238E27FC236}">
                  <a16:creationId xmlns:a16="http://schemas.microsoft.com/office/drawing/2014/main" id="{65F59208-8D47-F4CE-47F1-AE64B49EB242}"/>
                </a:ext>
              </a:extLst>
            </p:cNvPr>
            <p:cNvPicPr preferRelativeResize="0"/>
            <p:nvPr/>
          </p:nvPicPr>
          <p:blipFill rotWithShape="1">
            <a:blip r:embed="rId10">
              <a:alphaModFix/>
            </a:blip>
            <a:srcRect r="56805" b="59527"/>
            <a:stretch/>
          </p:blipFill>
          <p:spPr>
            <a:xfrm>
              <a:off x="1474313" y="8180149"/>
              <a:ext cx="3020786" cy="737988"/>
            </a:xfrm>
            <a:prstGeom prst="rect">
              <a:avLst/>
            </a:prstGeom>
            <a:noFill/>
            <a:ln>
              <a:noFill/>
            </a:ln>
          </p:spPr>
        </p:pic>
        <p:pic>
          <p:nvPicPr>
            <p:cNvPr id="461" name="Google Shape;208;p15">
              <a:extLst>
                <a:ext uri="{FF2B5EF4-FFF2-40B4-BE49-F238E27FC236}">
                  <a16:creationId xmlns:a16="http://schemas.microsoft.com/office/drawing/2014/main" id="{B74FD9C8-85E5-6FFF-F7B8-8FC9DC4F80F9}"/>
                </a:ext>
              </a:extLst>
            </p:cNvPr>
            <p:cNvPicPr preferRelativeResize="0"/>
            <p:nvPr/>
          </p:nvPicPr>
          <p:blipFill rotWithShape="1">
            <a:blip r:embed="rId10">
              <a:alphaModFix/>
            </a:blip>
            <a:srcRect r="51536" b="66346"/>
            <a:stretch/>
          </p:blipFill>
          <p:spPr>
            <a:xfrm>
              <a:off x="1478995" y="6325833"/>
              <a:ext cx="3018340" cy="1245849"/>
            </a:xfrm>
            <a:prstGeom prst="rect">
              <a:avLst/>
            </a:prstGeom>
            <a:noFill/>
            <a:ln>
              <a:noFill/>
            </a:ln>
          </p:spPr>
        </p:pic>
        <p:pic>
          <p:nvPicPr>
            <p:cNvPr id="462" name="Google Shape;226;p15">
              <a:extLst>
                <a:ext uri="{FF2B5EF4-FFF2-40B4-BE49-F238E27FC236}">
                  <a16:creationId xmlns:a16="http://schemas.microsoft.com/office/drawing/2014/main" id="{158DC646-FD31-6CCD-26A6-2044B00EA1B4}"/>
                </a:ext>
              </a:extLst>
            </p:cNvPr>
            <p:cNvPicPr preferRelativeResize="0"/>
            <p:nvPr/>
          </p:nvPicPr>
          <p:blipFill>
            <a:blip r:embed="rId11">
              <a:alphaModFix/>
            </a:blip>
            <a:stretch>
              <a:fillRect/>
            </a:stretch>
          </p:blipFill>
          <p:spPr>
            <a:xfrm>
              <a:off x="1520465" y="5876512"/>
              <a:ext cx="418118" cy="397419"/>
            </a:xfrm>
            <a:prstGeom prst="rect">
              <a:avLst/>
            </a:prstGeom>
            <a:noFill/>
            <a:ln>
              <a:noFill/>
            </a:ln>
          </p:spPr>
        </p:pic>
        <p:sp>
          <p:nvSpPr>
            <p:cNvPr id="463" name="Google Shape;228;p15">
              <a:extLst>
                <a:ext uri="{FF2B5EF4-FFF2-40B4-BE49-F238E27FC236}">
                  <a16:creationId xmlns:a16="http://schemas.microsoft.com/office/drawing/2014/main" id="{FBB30E48-0494-CDF6-DB1F-6732A1E4C06B}"/>
                </a:ext>
              </a:extLst>
            </p:cNvPr>
            <p:cNvSpPr txBox="1"/>
            <p:nvPr/>
          </p:nvSpPr>
          <p:spPr>
            <a:xfrm>
              <a:off x="1866920" y="5853986"/>
              <a:ext cx="1995583" cy="204417"/>
            </a:xfrm>
            <a:prstGeom prst="rect">
              <a:avLst/>
            </a:prstGeom>
            <a:noFill/>
            <a:ln>
              <a:noFill/>
            </a:ln>
          </p:spPr>
          <p:txBody>
            <a:bodyPr spcFirstLastPara="1" wrap="square" lIns="127722" tIns="127722" rIns="127722" bIns="127722" anchor="t" anchorCtr="0">
              <a:noAutofit/>
            </a:bodyPr>
            <a:lstStyle/>
            <a:p>
              <a:pPr>
                <a:spcBef>
                  <a:spcPts val="0"/>
                </a:spcBef>
              </a:pPr>
              <a:r>
                <a:rPr lang="en" sz="1117" dirty="0">
                  <a:solidFill>
                    <a:schemeClr val="dk1"/>
                  </a:solidFill>
                </a:rPr>
                <a:t>Changes Reviewed</a:t>
              </a:r>
              <a:endParaRPr sz="1117" dirty="0">
                <a:solidFill>
                  <a:schemeClr val="dk1"/>
                </a:solidFill>
              </a:endParaRPr>
            </a:p>
          </p:txBody>
        </p:sp>
        <p:cxnSp>
          <p:nvCxnSpPr>
            <p:cNvPr id="464" name="Google Shape;229;p15">
              <a:extLst>
                <a:ext uri="{FF2B5EF4-FFF2-40B4-BE49-F238E27FC236}">
                  <a16:creationId xmlns:a16="http://schemas.microsoft.com/office/drawing/2014/main" id="{BE628643-F7D1-34F0-0A3E-F68919E19260}"/>
                </a:ext>
              </a:extLst>
            </p:cNvPr>
            <p:cNvCxnSpPr/>
            <p:nvPr/>
          </p:nvCxnSpPr>
          <p:spPr>
            <a:xfrm>
              <a:off x="1467748" y="6324819"/>
              <a:ext cx="3040125" cy="0"/>
            </a:xfrm>
            <a:prstGeom prst="straightConnector1">
              <a:avLst/>
            </a:prstGeom>
            <a:noFill/>
            <a:ln w="8700" cap="flat" cmpd="sng">
              <a:solidFill>
                <a:schemeClr val="dk2"/>
              </a:solidFill>
              <a:prstDash val="solid"/>
              <a:round/>
              <a:headEnd type="none" w="med" len="med"/>
              <a:tailEnd type="none" w="med" len="med"/>
            </a:ln>
          </p:spPr>
        </p:cxnSp>
        <p:pic>
          <p:nvPicPr>
            <p:cNvPr id="465" name="Google Shape;230;p15">
              <a:extLst>
                <a:ext uri="{FF2B5EF4-FFF2-40B4-BE49-F238E27FC236}">
                  <a16:creationId xmlns:a16="http://schemas.microsoft.com/office/drawing/2014/main" id="{F9CAFA89-363E-D2D6-3AC9-4CE703705B26}"/>
                </a:ext>
              </a:extLst>
            </p:cNvPr>
            <p:cNvPicPr preferRelativeResize="0"/>
            <p:nvPr/>
          </p:nvPicPr>
          <p:blipFill>
            <a:blip r:embed="rId12">
              <a:alphaModFix/>
            </a:blip>
            <a:stretch>
              <a:fillRect/>
            </a:stretch>
          </p:blipFill>
          <p:spPr>
            <a:xfrm>
              <a:off x="1576377" y="6953035"/>
              <a:ext cx="233220" cy="273781"/>
            </a:xfrm>
            <a:prstGeom prst="rect">
              <a:avLst/>
            </a:prstGeom>
            <a:noFill/>
            <a:ln>
              <a:noFill/>
            </a:ln>
          </p:spPr>
        </p:pic>
        <p:pic>
          <p:nvPicPr>
            <p:cNvPr id="466" name="Google Shape;231;p15">
              <a:extLst>
                <a:ext uri="{FF2B5EF4-FFF2-40B4-BE49-F238E27FC236}">
                  <a16:creationId xmlns:a16="http://schemas.microsoft.com/office/drawing/2014/main" id="{D846B4C2-2A7C-C4BB-7027-5930041D1FF5}"/>
                </a:ext>
              </a:extLst>
            </p:cNvPr>
            <p:cNvPicPr preferRelativeResize="0"/>
            <p:nvPr/>
          </p:nvPicPr>
          <p:blipFill>
            <a:blip r:embed="rId10">
              <a:alphaModFix/>
            </a:blip>
            <a:stretch>
              <a:fillRect/>
            </a:stretch>
          </p:blipFill>
          <p:spPr>
            <a:xfrm>
              <a:off x="1530785" y="6396970"/>
              <a:ext cx="288926" cy="211878"/>
            </a:xfrm>
            <a:prstGeom prst="rect">
              <a:avLst/>
            </a:prstGeom>
            <a:noFill/>
            <a:ln>
              <a:noFill/>
            </a:ln>
          </p:spPr>
        </p:pic>
        <p:pic>
          <p:nvPicPr>
            <p:cNvPr id="467" name="Google Shape;232;p15">
              <a:extLst>
                <a:ext uri="{FF2B5EF4-FFF2-40B4-BE49-F238E27FC236}">
                  <a16:creationId xmlns:a16="http://schemas.microsoft.com/office/drawing/2014/main" id="{29328E85-71F9-B265-46E4-B66F640ADC17}"/>
                </a:ext>
              </a:extLst>
            </p:cNvPr>
            <p:cNvPicPr preferRelativeResize="0"/>
            <p:nvPr/>
          </p:nvPicPr>
          <p:blipFill>
            <a:blip r:embed="rId13">
              <a:alphaModFix/>
            </a:blip>
            <a:stretch>
              <a:fillRect/>
            </a:stretch>
          </p:blipFill>
          <p:spPr>
            <a:xfrm>
              <a:off x="1523888" y="6653098"/>
              <a:ext cx="275348" cy="232624"/>
            </a:xfrm>
            <a:prstGeom prst="rect">
              <a:avLst/>
            </a:prstGeom>
            <a:noFill/>
            <a:ln>
              <a:noFill/>
            </a:ln>
          </p:spPr>
        </p:pic>
        <p:pic>
          <p:nvPicPr>
            <p:cNvPr id="468" name="Google Shape;233;p15">
              <a:extLst>
                <a:ext uri="{FF2B5EF4-FFF2-40B4-BE49-F238E27FC236}">
                  <a16:creationId xmlns:a16="http://schemas.microsoft.com/office/drawing/2014/main" id="{E91D6EA2-ACEB-8C67-DF36-BDEA16E7CCA0}"/>
                </a:ext>
              </a:extLst>
            </p:cNvPr>
            <p:cNvPicPr preferRelativeResize="0"/>
            <p:nvPr/>
          </p:nvPicPr>
          <p:blipFill>
            <a:blip r:embed="rId14">
              <a:alphaModFix/>
            </a:blip>
            <a:stretch>
              <a:fillRect/>
            </a:stretch>
          </p:blipFill>
          <p:spPr>
            <a:xfrm>
              <a:off x="1546046" y="8251899"/>
              <a:ext cx="253223" cy="282442"/>
            </a:xfrm>
            <a:prstGeom prst="rect">
              <a:avLst/>
            </a:prstGeom>
            <a:noFill/>
            <a:ln>
              <a:noFill/>
            </a:ln>
          </p:spPr>
        </p:pic>
        <p:sp>
          <p:nvSpPr>
            <p:cNvPr id="469" name="Google Shape;234;p15">
              <a:extLst>
                <a:ext uri="{FF2B5EF4-FFF2-40B4-BE49-F238E27FC236}">
                  <a16:creationId xmlns:a16="http://schemas.microsoft.com/office/drawing/2014/main" id="{9194D049-4EE6-107F-EB94-22F09ACE2887}"/>
                </a:ext>
              </a:extLst>
            </p:cNvPr>
            <p:cNvSpPr/>
            <p:nvPr/>
          </p:nvSpPr>
          <p:spPr>
            <a:xfrm>
              <a:off x="1629407" y="8282439"/>
              <a:ext cx="2788500" cy="232375"/>
            </a:xfrm>
            <a:prstGeom prst="rect">
              <a:avLst/>
            </a:prstGeom>
            <a:noFill/>
            <a:ln>
              <a:noFill/>
            </a:ln>
          </p:spPr>
          <p:txBody>
            <a:bodyPr spcFirstLastPara="1" wrap="square" lIns="127722" tIns="127722" rIns="127722" bIns="127722" anchor="ctr" anchorCtr="0">
              <a:noAutofit/>
            </a:bodyPr>
            <a:lstStyle/>
            <a:p>
              <a:pPr>
                <a:spcBef>
                  <a:spcPts val="0"/>
                </a:spcBef>
                <a:buClr>
                  <a:schemeClr val="dk1"/>
                </a:buClr>
                <a:buSzPts val="1006"/>
              </a:pPr>
              <a:r>
                <a:rPr lang="en" sz="839">
                  <a:solidFill>
                    <a:schemeClr val="dk1"/>
                  </a:solidFill>
                </a:rPr>
                <a:t>   </a:t>
              </a:r>
              <a:r>
                <a:rPr lang="en" sz="839">
                  <a:solidFill>
                    <a:srgbClr val="1F2328"/>
                  </a:solidFill>
                </a:rPr>
                <a:t>           test-coverage/test-coverage(4.4)</a:t>
              </a:r>
              <a:endParaRPr sz="1956"/>
            </a:p>
          </p:txBody>
        </p:sp>
        <p:sp>
          <p:nvSpPr>
            <p:cNvPr id="470" name="Google Shape;235;p15">
              <a:extLst>
                <a:ext uri="{FF2B5EF4-FFF2-40B4-BE49-F238E27FC236}">
                  <a16:creationId xmlns:a16="http://schemas.microsoft.com/office/drawing/2014/main" id="{5540BBA1-0DA6-5666-0542-2ACFE4518524}"/>
                </a:ext>
              </a:extLst>
            </p:cNvPr>
            <p:cNvSpPr/>
            <p:nvPr/>
          </p:nvSpPr>
          <p:spPr>
            <a:xfrm>
              <a:off x="1629374" y="8621717"/>
              <a:ext cx="2788500" cy="232375"/>
            </a:xfrm>
            <a:prstGeom prst="rect">
              <a:avLst/>
            </a:prstGeom>
            <a:noFill/>
            <a:ln>
              <a:noFill/>
            </a:ln>
          </p:spPr>
          <p:txBody>
            <a:bodyPr spcFirstLastPara="1" wrap="square" lIns="127722" tIns="127722" rIns="127722" bIns="127722" anchor="ctr" anchorCtr="0">
              <a:noAutofit/>
            </a:bodyPr>
            <a:lstStyle/>
            <a:p>
              <a:pPr>
                <a:spcBef>
                  <a:spcPts val="0"/>
                </a:spcBef>
              </a:pPr>
              <a:r>
                <a:rPr lang="en" sz="839"/>
                <a:t>              R-CMD-check</a:t>
              </a:r>
              <a:endParaRPr sz="839"/>
            </a:p>
          </p:txBody>
        </p:sp>
        <p:sp>
          <p:nvSpPr>
            <p:cNvPr id="471" name="Google Shape;236;p15">
              <a:extLst>
                <a:ext uri="{FF2B5EF4-FFF2-40B4-BE49-F238E27FC236}">
                  <a16:creationId xmlns:a16="http://schemas.microsoft.com/office/drawing/2014/main" id="{0395377E-800D-64F9-C14B-5B7CFAA24C48}"/>
                </a:ext>
              </a:extLst>
            </p:cNvPr>
            <p:cNvSpPr/>
            <p:nvPr/>
          </p:nvSpPr>
          <p:spPr>
            <a:xfrm>
              <a:off x="1830220" y="8318797"/>
              <a:ext cx="165458" cy="16270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bg2">
                    <a:lumMod val="10000"/>
                  </a:schemeClr>
                </a:solidFill>
              </a:endParaRPr>
            </a:p>
          </p:txBody>
        </p:sp>
        <p:sp>
          <p:nvSpPr>
            <p:cNvPr id="472" name="Google Shape;237;p15">
              <a:extLst>
                <a:ext uri="{FF2B5EF4-FFF2-40B4-BE49-F238E27FC236}">
                  <a16:creationId xmlns:a16="http://schemas.microsoft.com/office/drawing/2014/main" id="{110BEF8D-2ACE-ADEA-A1D8-8EA43F72DC78}"/>
                </a:ext>
              </a:extLst>
            </p:cNvPr>
            <p:cNvSpPr txBox="1"/>
            <p:nvPr/>
          </p:nvSpPr>
          <p:spPr>
            <a:xfrm>
              <a:off x="1729524" y="8229908"/>
              <a:ext cx="416167" cy="232375"/>
            </a:xfrm>
            <a:prstGeom prst="rect">
              <a:avLst/>
            </a:prstGeom>
            <a:noFill/>
            <a:ln>
              <a:noFill/>
            </a:ln>
          </p:spPr>
          <p:txBody>
            <a:bodyPr spcFirstLastPara="1" wrap="square" lIns="127722" tIns="127722" rIns="127722" bIns="127722" anchor="t" anchorCtr="0">
              <a:noAutofit/>
            </a:bodyPr>
            <a:lstStyle/>
            <a:p>
              <a:pPr>
                <a:spcBef>
                  <a:spcPts val="0"/>
                </a:spcBef>
              </a:pPr>
              <a:r>
                <a:rPr lang="en" sz="698" dirty="0">
                  <a:solidFill>
                    <a:schemeClr val="lt1"/>
                  </a:solidFill>
                </a:rPr>
                <a:t>GH</a:t>
              </a:r>
              <a:endParaRPr sz="698" dirty="0">
                <a:solidFill>
                  <a:schemeClr val="lt1"/>
                </a:solidFill>
              </a:endParaRPr>
            </a:p>
          </p:txBody>
        </p:sp>
        <p:sp>
          <p:nvSpPr>
            <p:cNvPr id="473" name="Google Shape;238;p15">
              <a:extLst>
                <a:ext uri="{FF2B5EF4-FFF2-40B4-BE49-F238E27FC236}">
                  <a16:creationId xmlns:a16="http://schemas.microsoft.com/office/drawing/2014/main" id="{F9F521E3-E83D-2EB2-9639-26C2D2C2410A}"/>
                </a:ext>
              </a:extLst>
            </p:cNvPr>
            <p:cNvSpPr/>
            <p:nvPr/>
          </p:nvSpPr>
          <p:spPr>
            <a:xfrm>
              <a:off x="1835613" y="8653245"/>
              <a:ext cx="165458" cy="16270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474" name="Google Shape;239;p15">
              <a:extLst>
                <a:ext uri="{FF2B5EF4-FFF2-40B4-BE49-F238E27FC236}">
                  <a16:creationId xmlns:a16="http://schemas.microsoft.com/office/drawing/2014/main" id="{4F6C9399-0D22-1F28-9566-CFFDBE694B1C}"/>
                </a:ext>
              </a:extLst>
            </p:cNvPr>
            <p:cNvSpPr txBox="1"/>
            <p:nvPr/>
          </p:nvSpPr>
          <p:spPr>
            <a:xfrm>
              <a:off x="1730499" y="8555049"/>
              <a:ext cx="416167" cy="232375"/>
            </a:xfrm>
            <a:prstGeom prst="rect">
              <a:avLst/>
            </a:prstGeom>
            <a:noFill/>
            <a:ln>
              <a:noFill/>
            </a:ln>
          </p:spPr>
          <p:txBody>
            <a:bodyPr spcFirstLastPara="1" wrap="square" lIns="127722" tIns="127722" rIns="127722" bIns="127722" anchor="t" anchorCtr="0">
              <a:noAutofit/>
            </a:bodyPr>
            <a:lstStyle/>
            <a:p>
              <a:pPr>
                <a:spcBef>
                  <a:spcPts val="0"/>
                </a:spcBef>
              </a:pPr>
              <a:r>
                <a:rPr lang="en" sz="698" dirty="0">
                  <a:solidFill>
                    <a:schemeClr val="lt1"/>
                  </a:solidFill>
                </a:rPr>
                <a:t>GH</a:t>
              </a:r>
              <a:endParaRPr sz="698" dirty="0">
                <a:solidFill>
                  <a:schemeClr val="lt1"/>
                </a:solidFill>
              </a:endParaRPr>
            </a:p>
          </p:txBody>
        </p:sp>
        <p:sp>
          <p:nvSpPr>
            <p:cNvPr id="475" name="Google Shape;240;p15">
              <a:extLst>
                <a:ext uri="{FF2B5EF4-FFF2-40B4-BE49-F238E27FC236}">
                  <a16:creationId xmlns:a16="http://schemas.microsoft.com/office/drawing/2014/main" id="{8C67FED0-5E25-06B5-2F92-36B88FC5F817}"/>
                </a:ext>
              </a:extLst>
            </p:cNvPr>
            <p:cNvSpPr txBox="1"/>
            <p:nvPr/>
          </p:nvSpPr>
          <p:spPr>
            <a:xfrm>
              <a:off x="1694050" y="6325762"/>
              <a:ext cx="970292"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a:solidFill>
                    <a:srgbClr val="999999"/>
                  </a:solidFill>
                </a:rPr>
                <a:t>1 approval</a:t>
              </a:r>
              <a:endParaRPr sz="978">
                <a:solidFill>
                  <a:srgbClr val="999999"/>
                </a:solidFill>
              </a:endParaRPr>
            </a:p>
            <a:p>
              <a:pPr>
                <a:spcBef>
                  <a:spcPts val="0"/>
                </a:spcBef>
              </a:pPr>
              <a:endParaRPr sz="978">
                <a:solidFill>
                  <a:srgbClr val="999999"/>
                </a:solidFill>
              </a:endParaRPr>
            </a:p>
            <a:p>
              <a:pPr>
                <a:spcBef>
                  <a:spcPts val="0"/>
                </a:spcBef>
              </a:pPr>
              <a:r>
                <a:rPr lang="en" sz="978">
                  <a:solidFill>
                    <a:srgbClr val="999999"/>
                  </a:solidFill>
                </a:rPr>
                <a:t> </a:t>
              </a:r>
              <a:endParaRPr sz="978">
                <a:solidFill>
                  <a:srgbClr val="999999"/>
                </a:solidFill>
              </a:endParaRPr>
            </a:p>
          </p:txBody>
        </p:sp>
        <p:sp>
          <p:nvSpPr>
            <p:cNvPr id="476" name="Google Shape;241;p15">
              <a:extLst>
                <a:ext uri="{FF2B5EF4-FFF2-40B4-BE49-F238E27FC236}">
                  <a16:creationId xmlns:a16="http://schemas.microsoft.com/office/drawing/2014/main" id="{2944B2BE-F7FC-21CB-6C27-18B73695C038}"/>
                </a:ext>
              </a:extLst>
            </p:cNvPr>
            <p:cNvSpPr txBox="1"/>
            <p:nvPr/>
          </p:nvSpPr>
          <p:spPr>
            <a:xfrm>
              <a:off x="1707043" y="6907723"/>
              <a:ext cx="1532667"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a:solidFill>
                    <a:srgbClr val="999999"/>
                  </a:solidFill>
                </a:rPr>
                <a:t>1 requested change</a:t>
              </a:r>
              <a:endParaRPr sz="978">
                <a:solidFill>
                  <a:srgbClr val="999999"/>
                </a:solidFill>
              </a:endParaRPr>
            </a:p>
          </p:txBody>
        </p:sp>
        <p:sp>
          <p:nvSpPr>
            <p:cNvPr id="477" name="Google Shape;242;p15">
              <a:extLst>
                <a:ext uri="{FF2B5EF4-FFF2-40B4-BE49-F238E27FC236}">
                  <a16:creationId xmlns:a16="http://schemas.microsoft.com/office/drawing/2014/main" id="{C6DDAF7B-69A0-95D6-64A8-1C3823349F99}"/>
                </a:ext>
              </a:extLst>
            </p:cNvPr>
            <p:cNvSpPr txBox="1"/>
            <p:nvPr/>
          </p:nvSpPr>
          <p:spPr>
            <a:xfrm>
              <a:off x="1705960" y="6587163"/>
              <a:ext cx="2640000"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dirty="0">
                  <a:solidFill>
                    <a:schemeClr val="dk1"/>
                  </a:solidFill>
                </a:rPr>
                <a:t>Quality Reviewer    </a:t>
              </a:r>
              <a:r>
                <a:rPr lang="en" sz="839" dirty="0">
                  <a:solidFill>
                    <a:schemeClr val="dk1"/>
                  </a:solidFill>
                </a:rPr>
                <a:t> </a:t>
              </a:r>
              <a:r>
                <a:rPr lang="en" sz="839" dirty="0">
                  <a:solidFill>
                    <a:srgbClr val="999999"/>
                  </a:solidFill>
                </a:rPr>
                <a:t> Approved these changes</a:t>
              </a:r>
              <a:endParaRPr sz="839" dirty="0">
                <a:solidFill>
                  <a:srgbClr val="999999"/>
                </a:solidFill>
              </a:endParaRPr>
            </a:p>
            <a:p>
              <a:pPr>
                <a:spcBef>
                  <a:spcPts val="0"/>
                </a:spcBef>
              </a:pPr>
              <a:endParaRPr sz="978" dirty="0">
                <a:solidFill>
                  <a:srgbClr val="999999"/>
                </a:solidFill>
              </a:endParaRPr>
            </a:p>
            <a:p>
              <a:pPr>
                <a:spcBef>
                  <a:spcPts val="0"/>
                </a:spcBef>
              </a:pPr>
              <a:r>
                <a:rPr lang="en" sz="978" dirty="0">
                  <a:solidFill>
                    <a:srgbClr val="999999"/>
                  </a:solidFill>
                </a:rPr>
                <a:t> </a:t>
              </a:r>
              <a:endParaRPr sz="978" dirty="0">
                <a:solidFill>
                  <a:srgbClr val="999999"/>
                </a:solidFill>
              </a:endParaRPr>
            </a:p>
          </p:txBody>
        </p:sp>
        <p:pic>
          <p:nvPicPr>
            <p:cNvPr id="478" name="Google Shape;243;p15">
              <a:extLst>
                <a:ext uri="{FF2B5EF4-FFF2-40B4-BE49-F238E27FC236}">
                  <a16:creationId xmlns:a16="http://schemas.microsoft.com/office/drawing/2014/main" id="{9FFD2058-6075-B827-05ED-FD4B29848499}"/>
                </a:ext>
              </a:extLst>
            </p:cNvPr>
            <p:cNvPicPr preferRelativeResize="0"/>
            <p:nvPr/>
          </p:nvPicPr>
          <p:blipFill>
            <a:blip r:embed="rId13">
              <a:alphaModFix/>
            </a:blip>
            <a:stretch>
              <a:fillRect/>
            </a:stretch>
          </p:blipFill>
          <p:spPr>
            <a:xfrm>
              <a:off x="1535831" y="7247141"/>
              <a:ext cx="275348" cy="232624"/>
            </a:xfrm>
            <a:prstGeom prst="rect">
              <a:avLst/>
            </a:prstGeom>
            <a:noFill/>
            <a:ln>
              <a:noFill/>
            </a:ln>
          </p:spPr>
        </p:pic>
        <p:sp>
          <p:nvSpPr>
            <p:cNvPr id="479" name="Google Shape;244;p15">
              <a:extLst>
                <a:ext uri="{FF2B5EF4-FFF2-40B4-BE49-F238E27FC236}">
                  <a16:creationId xmlns:a16="http://schemas.microsoft.com/office/drawing/2014/main" id="{760CF1DF-AA24-A39A-5E9D-A6FE08578A8F}"/>
                </a:ext>
              </a:extLst>
            </p:cNvPr>
            <p:cNvSpPr txBox="1"/>
            <p:nvPr/>
          </p:nvSpPr>
          <p:spPr>
            <a:xfrm>
              <a:off x="1703969" y="7146562"/>
              <a:ext cx="2640000"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dirty="0">
                  <a:solidFill>
                    <a:schemeClr val="dk1"/>
                  </a:solidFill>
                </a:rPr>
                <a:t>Code Architect    </a:t>
              </a:r>
              <a:r>
                <a:rPr lang="en" sz="839" dirty="0">
                  <a:solidFill>
                    <a:schemeClr val="dk1"/>
                  </a:solidFill>
                </a:rPr>
                <a:t> </a:t>
              </a:r>
              <a:r>
                <a:rPr lang="en" sz="839" dirty="0">
                  <a:solidFill>
                    <a:srgbClr val="999999"/>
                  </a:solidFill>
                </a:rPr>
                <a:t>     Requested changes</a:t>
              </a:r>
              <a:endParaRPr sz="839" dirty="0">
                <a:solidFill>
                  <a:srgbClr val="999999"/>
                </a:solidFill>
              </a:endParaRPr>
            </a:p>
            <a:p>
              <a:pPr>
                <a:spcBef>
                  <a:spcPts val="0"/>
                </a:spcBef>
              </a:pPr>
              <a:endParaRPr sz="978" dirty="0">
                <a:solidFill>
                  <a:srgbClr val="999999"/>
                </a:solidFill>
              </a:endParaRPr>
            </a:p>
            <a:p>
              <a:pPr>
                <a:spcBef>
                  <a:spcPts val="0"/>
                </a:spcBef>
              </a:pPr>
              <a:r>
                <a:rPr lang="en" sz="978" dirty="0">
                  <a:solidFill>
                    <a:srgbClr val="999999"/>
                  </a:solidFill>
                </a:rPr>
                <a:t> </a:t>
              </a:r>
              <a:endParaRPr sz="978" dirty="0">
                <a:solidFill>
                  <a:srgbClr val="999999"/>
                </a:solidFill>
              </a:endParaRPr>
            </a:p>
          </p:txBody>
        </p:sp>
        <p:cxnSp>
          <p:nvCxnSpPr>
            <p:cNvPr id="480" name="Google Shape;245;p15">
              <a:extLst>
                <a:ext uri="{FF2B5EF4-FFF2-40B4-BE49-F238E27FC236}">
                  <a16:creationId xmlns:a16="http://schemas.microsoft.com/office/drawing/2014/main" id="{8C304EE6-FF96-EAC4-5D9C-5691935D8836}"/>
                </a:ext>
              </a:extLst>
            </p:cNvPr>
            <p:cNvCxnSpPr/>
            <p:nvPr/>
          </p:nvCxnSpPr>
          <p:spPr>
            <a:xfrm>
              <a:off x="1477667" y="7575104"/>
              <a:ext cx="3040125" cy="0"/>
            </a:xfrm>
            <a:prstGeom prst="straightConnector1">
              <a:avLst/>
            </a:prstGeom>
            <a:noFill/>
            <a:ln w="8700" cap="flat" cmpd="sng">
              <a:solidFill>
                <a:schemeClr val="dk2"/>
              </a:solidFill>
              <a:prstDash val="solid"/>
              <a:round/>
              <a:headEnd type="none" w="med" len="med"/>
              <a:tailEnd type="none" w="med" len="med"/>
            </a:ln>
          </p:spPr>
        </p:cxnSp>
        <p:pic>
          <p:nvPicPr>
            <p:cNvPr id="482" name="Google Shape;246;p15">
              <a:extLst>
                <a:ext uri="{FF2B5EF4-FFF2-40B4-BE49-F238E27FC236}">
                  <a16:creationId xmlns:a16="http://schemas.microsoft.com/office/drawing/2014/main" id="{AF1E91D9-4718-5E8F-2E1B-FB0A48CD8557}"/>
                </a:ext>
              </a:extLst>
            </p:cNvPr>
            <p:cNvPicPr preferRelativeResize="0"/>
            <p:nvPr/>
          </p:nvPicPr>
          <p:blipFill>
            <a:blip r:embed="rId10">
              <a:alphaModFix/>
            </a:blip>
            <a:stretch>
              <a:fillRect/>
            </a:stretch>
          </p:blipFill>
          <p:spPr>
            <a:xfrm>
              <a:off x="1529318" y="8636978"/>
              <a:ext cx="288926" cy="211878"/>
            </a:xfrm>
            <a:prstGeom prst="rect">
              <a:avLst/>
            </a:prstGeom>
            <a:noFill/>
            <a:ln>
              <a:noFill/>
            </a:ln>
          </p:spPr>
        </p:pic>
        <p:cxnSp>
          <p:nvCxnSpPr>
            <p:cNvPr id="484" name="Google Shape;247;p15">
              <a:extLst>
                <a:ext uri="{FF2B5EF4-FFF2-40B4-BE49-F238E27FC236}">
                  <a16:creationId xmlns:a16="http://schemas.microsoft.com/office/drawing/2014/main" id="{756B996F-63FD-F560-EC73-C82876E87FEF}"/>
                </a:ext>
              </a:extLst>
            </p:cNvPr>
            <p:cNvCxnSpPr/>
            <p:nvPr/>
          </p:nvCxnSpPr>
          <p:spPr>
            <a:xfrm>
              <a:off x="1458389" y="8163071"/>
              <a:ext cx="3040125" cy="0"/>
            </a:xfrm>
            <a:prstGeom prst="straightConnector1">
              <a:avLst/>
            </a:prstGeom>
            <a:noFill/>
            <a:ln w="8700" cap="flat" cmpd="sng">
              <a:solidFill>
                <a:schemeClr val="dk2"/>
              </a:solidFill>
              <a:prstDash val="solid"/>
              <a:round/>
              <a:headEnd type="none" w="med" len="med"/>
              <a:tailEnd type="none" w="med" len="med"/>
            </a:ln>
          </p:spPr>
        </p:cxnSp>
        <p:pic>
          <p:nvPicPr>
            <p:cNvPr id="485" name="Google Shape;248;p15" title="download.png">
              <a:extLst>
                <a:ext uri="{FF2B5EF4-FFF2-40B4-BE49-F238E27FC236}">
                  <a16:creationId xmlns:a16="http://schemas.microsoft.com/office/drawing/2014/main" id="{809192AB-096A-21CE-7E76-75A6F11177D8}"/>
                </a:ext>
              </a:extLst>
            </p:cNvPr>
            <p:cNvPicPr preferRelativeResize="0"/>
            <p:nvPr/>
          </p:nvPicPr>
          <p:blipFill>
            <a:blip r:embed="rId15">
              <a:alphaModFix/>
            </a:blip>
            <a:stretch>
              <a:fillRect/>
            </a:stretch>
          </p:blipFill>
          <p:spPr>
            <a:xfrm>
              <a:off x="1524726" y="8948407"/>
              <a:ext cx="344920" cy="344920"/>
            </a:xfrm>
            <a:prstGeom prst="rect">
              <a:avLst/>
            </a:prstGeom>
            <a:noFill/>
            <a:ln>
              <a:noFill/>
            </a:ln>
          </p:spPr>
        </p:pic>
        <p:sp>
          <p:nvSpPr>
            <p:cNvPr id="488" name="Google Shape;249;p15">
              <a:extLst>
                <a:ext uri="{FF2B5EF4-FFF2-40B4-BE49-F238E27FC236}">
                  <a16:creationId xmlns:a16="http://schemas.microsoft.com/office/drawing/2014/main" id="{816E631F-D442-C689-854B-4EFC74FC905D}"/>
                </a:ext>
              </a:extLst>
            </p:cNvPr>
            <p:cNvSpPr txBox="1"/>
            <p:nvPr/>
          </p:nvSpPr>
          <p:spPr>
            <a:xfrm>
              <a:off x="1798191" y="8820046"/>
              <a:ext cx="1821875" cy="348333"/>
            </a:xfrm>
            <a:prstGeom prst="rect">
              <a:avLst/>
            </a:prstGeom>
            <a:noFill/>
            <a:ln>
              <a:noFill/>
            </a:ln>
          </p:spPr>
          <p:txBody>
            <a:bodyPr spcFirstLastPara="1" wrap="square" lIns="127722" tIns="127722" rIns="127722" bIns="127722" anchor="t" anchorCtr="0">
              <a:noAutofit/>
            </a:bodyPr>
            <a:lstStyle/>
            <a:p>
              <a:pPr>
                <a:spcBef>
                  <a:spcPts val="0"/>
                </a:spcBef>
              </a:pPr>
              <a:r>
                <a:rPr lang="en" sz="1257">
                  <a:solidFill>
                    <a:schemeClr val="dk1"/>
                  </a:solidFill>
                </a:rPr>
                <a:t>No conflicts with base branch</a:t>
              </a:r>
              <a:endParaRPr sz="1257">
                <a:solidFill>
                  <a:schemeClr val="dk1"/>
                </a:solidFill>
              </a:endParaRPr>
            </a:p>
            <a:p>
              <a:pPr>
                <a:spcBef>
                  <a:spcPts val="0"/>
                </a:spcBef>
              </a:pPr>
              <a:endParaRPr sz="1257">
                <a:solidFill>
                  <a:schemeClr val="dk1"/>
                </a:solidFill>
              </a:endParaRPr>
            </a:p>
          </p:txBody>
        </p:sp>
        <p:cxnSp>
          <p:nvCxnSpPr>
            <p:cNvPr id="489" name="Google Shape;250;p15">
              <a:extLst>
                <a:ext uri="{FF2B5EF4-FFF2-40B4-BE49-F238E27FC236}">
                  <a16:creationId xmlns:a16="http://schemas.microsoft.com/office/drawing/2014/main" id="{95F15F4B-9526-96C2-E822-03BC91E48197}"/>
                </a:ext>
              </a:extLst>
            </p:cNvPr>
            <p:cNvCxnSpPr/>
            <p:nvPr/>
          </p:nvCxnSpPr>
          <p:spPr>
            <a:xfrm>
              <a:off x="1474802" y="8902850"/>
              <a:ext cx="3040125" cy="0"/>
            </a:xfrm>
            <a:prstGeom prst="straightConnector1">
              <a:avLst/>
            </a:prstGeom>
            <a:noFill/>
            <a:ln w="8700" cap="flat" cmpd="sng">
              <a:solidFill>
                <a:schemeClr val="dk2"/>
              </a:solidFill>
              <a:prstDash val="solid"/>
              <a:round/>
              <a:headEnd type="none" w="med" len="med"/>
              <a:tailEnd type="none" w="med" len="med"/>
            </a:ln>
          </p:spPr>
        </p:cxnSp>
        <p:sp>
          <p:nvSpPr>
            <p:cNvPr id="492" name="Google Shape;216;p15">
              <a:extLst>
                <a:ext uri="{FF2B5EF4-FFF2-40B4-BE49-F238E27FC236}">
                  <a16:creationId xmlns:a16="http://schemas.microsoft.com/office/drawing/2014/main" id="{C3CF1B04-0142-CB53-D48A-728C7FB11DC4}"/>
                </a:ext>
              </a:extLst>
            </p:cNvPr>
            <p:cNvSpPr/>
            <p:nvPr/>
          </p:nvSpPr>
          <p:spPr>
            <a:xfrm>
              <a:off x="1466614" y="5802822"/>
              <a:ext cx="3030718" cy="3579582"/>
            </a:xfrm>
            <a:prstGeom prst="rect">
              <a:avLst/>
            </a:prstGeom>
            <a:no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grpSp>
      <p:sp>
        <p:nvSpPr>
          <p:cNvPr id="62" name="Google Shape;215;p15">
            <a:extLst>
              <a:ext uri="{FF2B5EF4-FFF2-40B4-BE49-F238E27FC236}">
                <a16:creationId xmlns:a16="http://schemas.microsoft.com/office/drawing/2014/main" id="{9F5CC9B0-941F-04FF-BCEC-A5B8904562CB}"/>
              </a:ext>
            </a:extLst>
          </p:cNvPr>
          <p:cNvSpPr/>
          <p:nvPr/>
        </p:nvSpPr>
        <p:spPr>
          <a:xfrm>
            <a:off x="10152799" y="4409250"/>
            <a:ext cx="3024222" cy="232375"/>
          </a:xfrm>
          <a:prstGeom prst="rect">
            <a:avLst/>
          </a:prstGeom>
          <a:solidFill>
            <a:schemeClr val="lt2"/>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839" dirty="0"/>
          </a:p>
          <a:p>
            <a:pPr>
              <a:spcBef>
                <a:spcPts val="0"/>
              </a:spcBef>
            </a:pPr>
            <a:endParaRPr sz="839" dirty="0"/>
          </a:p>
          <a:p>
            <a:pPr>
              <a:spcBef>
                <a:spcPts val="0"/>
              </a:spcBef>
            </a:pPr>
            <a:r>
              <a:rPr lang="en" sz="839" dirty="0">
                <a:solidFill>
                  <a:schemeClr val="tx1">
                    <a:lumMod val="50000"/>
                  </a:schemeClr>
                </a:solidFill>
              </a:rPr>
              <a:t>Username </a:t>
            </a:r>
            <a:r>
              <a:rPr lang="en" sz="839" b="0" dirty="0">
                <a:solidFill>
                  <a:schemeClr val="tx1">
                    <a:lumMod val="50000"/>
                  </a:schemeClr>
                </a:solidFill>
              </a:rPr>
              <a:t>commented on Mar 15</a:t>
            </a:r>
            <a:endParaRPr sz="839" b="0" dirty="0">
              <a:solidFill>
                <a:schemeClr val="tx1">
                  <a:lumMod val="50000"/>
                </a:schemeClr>
              </a:solidFill>
            </a:endParaRPr>
          </a:p>
          <a:p>
            <a:pPr>
              <a:spcBef>
                <a:spcPts val="0"/>
              </a:spcBef>
            </a:pPr>
            <a:endParaRPr sz="1956" dirty="0"/>
          </a:p>
        </p:txBody>
      </p:sp>
      <p:sp>
        <p:nvSpPr>
          <p:cNvPr id="63" name="Google Shape;216;p15">
            <a:extLst>
              <a:ext uri="{FF2B5EF4-FFF2-40B4-BE49-F238E27FC236}">
                <a16:creationId xmlns:a16="http://schemas.microsoft.com/office/drawing/2014/main" id="{21F332C9-0D0C-75E4-0398-7441FD1D026B}"/>
              </a:ext>
            </a:extLst>
          </p:cNvPr>
          <p:cNvSpPr/>
          <p:nvPr/>
        </p:nvSpPr>
        <p:spPr>
          <a:xfrm>
            <a:off x="10152799" y="4641625"/>
            <a:ext cx="3024222" cy="227593"/>
          </a:xfrm>
          <a:prstGeom prst="rect">
            <a:avLst/>
          </a:prstGeom>
          <a:solidFill>
            <a:schemeClr val="lt1"/>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sp>
        <p:nvSpPr>
          <p:cNvPr id="448" name="TextBox 447">
            <a:extLst>
              <a:ext uri="{FF2B5EF4-FFF2-40B4-BE49-F238E27FC236}">
                <a16:creationId xmlns:a16="http://schemas.microsoft.com/office/drawing/2014/main" id="{DF0B20EE-A03D-9209-8F53-152CD62650EA}"/>
              </a:ext>
            </a:extLst>
          </p:cNvPr>
          <p:cNvSpPr txBox="1"/>
          <p:nvPr/>
        </p:nvSpPr>
        <p:spPr>
          <a:xfrm>
            <a:off x="10177672" y="4576663"/>
            <a:ext cx="40900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rPr>
              <a:t>…</a:t>
            </a:r>
          </a:p>
        </p:txBody>
      </p:sp>
      <p:sp>
        <p:nvSpPr>
          <p:cNvPr id="499" name="Use headers, colors, and/or backgrounds to separate or group together sections.">
            <a:extLst>
              <a:ext uri="{FF2B5EF4-FFF2-40B4-BE49-F238E27FC236}">
                <a16:creationId xmlns:a16="http://schemas.microsoft.com/office/drawing/2014/main" id="{BC053D15-FEA8-868E-879B-01CF045A3F7C}"/>
              </a:ext>
            </a:extLst>
          </p:cNvPr>
          <p:cNvSpPr txBox="1"/>
          <p:nvPr/>
        </p:nvSpPr>
        <p:spPr>
          <a:xfrm>
            <a:off x="4839861" y="1886203"/>
            <a:ext cx="4251862" cy="6088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Kaiaulu’s Example.R is used to create fake examples. This allows the data to be called by the unit tests, which ensure that users will not have to deal with that same erroneous case ever again. </a:t>
            </a:r>
          </a:p>
        </p:txBody>
      </p:sp>
      <p:sp>
        <p:nvSpPr>
          <p:cNvPr id="375" name="Line">
            <a:extLst>
              <a:ext uri="{FF2B5EF4-FFF2-40B4-BE49-F238E27FC236}">
                <a16:creationId xmlns:a16="http://schemas.microsoft.com/office/drawing/2014/main" id="{7534A431-4F0D-EDD3-01CA-E269056C5DA4}"/>
              </a:ext>
            </a:extLst>
          </p:cNvPr>
          <p:cNvSpPr/>
          <p:nvPr/>
        </p:nvSpPr>
        <p:spPr>
          <a:xfrm flipV="1">
            <a:off x="4691639" y="5224324"/>
            <a:ext cx="4318858"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6" name="Use headers, colors, and/or backgrounds to separate or group together sections.">
            <a:extLst>
              <a:ext uri="{FF2B5EF4-FFF2-40B4-BE49-F238E27FC236}">
                <a16:creationId xmlns:a16="http://schemas.microsoft.com/office/drawing/2014/main" id="{3DA73385-87C9-7237-811C-69CDBC73E86C}"/>
              </a:ext>
            </a:extLst>
          </p:cNvPr>
          <p:cNvSpPr txBox="1"/>
          <p:nvPr/>
        </p:nvSpPr>
        <p:spPr>
          <a:xfrm>
            <a:off x="9497689" y="2183873"/>
            <a:ext cx="4251862" cy="16829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In practice, the workflow process happens in the Pull Request. Codecov has a bot comment on the request and report its patch and project coverage, as well as deny the PR if it deems them too low. </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The users assigned to the project’s Quality Reviewer and Code Architect can then either approve or request changes to the commit files. </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GitHub Actions can inform the user specifically of which tests failed when running the commit code. </a:t>
            </a:r>
          </a:p>
        </p:txBody>
      </p:sp>
      <p:sp>
        <p:nvSpPr>
          <p:cNvPr id="41" name="Manipulate Variables">
            <a:extLst>
              <a:ext uri="{FF2B5EF4-FFF2-40B4-BE49-F238E27FC236}">
                <a16:creationId xmlns:a16="http://schemas.microsoft.com/office/drawing/2014/main" id="{C18270A8-0EA1-A16B-C0F8-7BCFED4893C5}"/>
              </a:ext>
            </a:extLst>
          </p:cNvPr>
          <p:cNvSpPr txBox="1"/>
          <p:nvPr/>
        </p:nvSpPr>
        <p:spPr>
          <a:xfrm>
            <a:off x="9455692" y="1776507"/>
            <a:ext cx="3004027"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Pull Request Workflow</a:t>
            </a:r>
          </a:p>
        </p:txBody>
      </p:sp>
      <p:sp>
        <p:nvSpPr>
          <p:cNvPr id="42" name="Line">
            <a:extLst>
              <a:ext uri="{FF2B5EF4-FFF2-40B4-BE49-F238E27FC236}">
                <a16:creationId xmlns:a16="http://schemas.microsoft.com/office/drawing/2014/main" id="{C12B9762-7CF0-1351-64DF-4988EEC41FBB}"/>
              </a:ext>
            </a:extLst>
          </p:cNvPr>
          <p:cNvSpPr/>
          <p:nvPr/>
        </p:nvSpPr>
        <p:spPr>
          <a:xfrm flipV="1">
            <a:off x="9464191" y="2140504"/>
            <a:ext cx="4318858"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5" name="Use headers, colors, and/or backgrounds to separate or group together sections.">
            <a:extLst>
              <a:ext uri="{FF2B5EF4-FFF2-40B4-BE49-F238E27FC236}">
                <a16:creationId xmlns:a16="http://schemas.microsoft.com/office/drawing/2014/main" id="{B65795FF-1E8B-1C9E-CF4A-02013E27083D}"/>
              </a:ext>
            </a:extLst>
          </p:cNvPr>
          <p:cNvSpPr txBox="1"/>
          <p:nvPr/>
        </p:nvSpPr>
        <p:spPr>
          <a:xfrm>
            <a:off x="4746055" y="5314704"/>
            <a:ext cx="4251862" cy="20922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The Kaiaulu code review workflow follows a multiple step process. </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Codecov will deny a commit based on code test coverage. </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GitHub Actions will deny a commit if any tests from the testthat folder fail. </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The Quality Reviewer is a user role that runs the committed code on their own machine, ensuring that code is not reliant on the hosts’ personal setup. </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Lastly, the Code Architect is another user role that checks to see that the committed code matches the conventions of other similar files in Kaiaulu.</a:t>
            </a:r>
          </a:p>
        </p:txBody>
      </p:sp>
      <p:sp>
        <p:nvSpPr>
          <p:cNvPr id="604" name="Use headers, colors, and/or backgrounds to separate or group together sections.">
            <a:extLst>
              <a:ext uri="{FF2B5EF4-FFF2-40B4-BE49-F238E27FC236}">
                <a16:creationId xmlns:a16="http://schemas.microsoft.com/office/drawing/2014/main" id="{B7D17C01-92AB-3A6F-90DE-B1325AD4A737}"/>
              </a:ext>
            </a:extLst>
          </p:cNvPr>
          <p:cNvSpPr txBox="1"/>
          <p:nvPr/>
        </p:nvSpPr>
        <p:spPr>
          <a:xfrm>
            <a:off x="198947" y="9387814"/>
            <a:ext cx="4251862" cy="4426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The Fake Data Generator is used to construct examples, and the examples are used to test the parsers, which take raw data. </a:t>
            </a:r>
          </a:p>
        </p:txBody>
      </p:sp>
      <p:sp>
        <p:nvSpPr>
          <p:cNvPr id="501" name="TextBox 500">
            <a:extLst>
              <a:ext uri="{FF2B5EF4-FFF2-40B4-BE49-F238E27FC236}">
                <a16:creationId xmlns:a16="http://schemas.microsoft.com/office/drawing/2014/main" id="{47E79A42-49C7-B9D7-D5C7-7330103105B8}"/>
              </a:ext>
            </a:extLst>
          </p:cNvPr>
          <p:cNvSpPr txBox="1"/>
          <p:nvPr/>
        </p:nvSpPr>
        <p:spPr>
          <a:xfrm>
            <a:off x="269268" y="3447605"/>
            <a:ext cx="4184378"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rPr>
              <a:t>Try catch statements allow errors that propagate through files to be caught gracefully. </a:t>
            </a:r>
            <a:endParaRPr lang="en-US" b="0" dirty="0">
              <a:solidFill>
                <a:schemeClr val="bg2">
                  <a:lumMod val="10000"/>
                </a:schemeClr>
              </a:solidFill>
              <a:effectLst/>
              <a:latin typeface="Source Sans Pro" panose="020B0503030403020204" pitchFamily="34" charset="0"/>
              <a:ea typeface="Source Sans Pro" panose="020B0503030403020204" pitchFamily="34" charset="0"/>
            </a:endParaRPr>
          </a:p>
        </p:txBody>
      </p:sp>
      <p:sp>
        <p:nvSpPr>
          <p:cNvPr id="493" name="Line">
            <a:extLst>
              <a:ext uri="{FF2B5EF4-FFF2-40B4-BE49-F238E27FC236}">
                <a16:creationId xmlns:a16="http://schemas.microsoft.com/office/drawing/2014/main" id="{B0F94A01-D83B-F8F7-A344-12D993D24865}"/>
              </a:ext>
            </a:extLst>
          </p:cNvPr>
          <p:cNvSpPr/>
          <p:nvPr/>
        </p:nvSpPr>
        <p:spPr>
          <a:xfrm flipV="1">
            <a:off x="222498" y="3427629"/>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605" name="Manipulate Variables">
            <a:extLst>
              <a:ext uri="{FF2B5EF4-FFF2-40B4-BE49-F238E27FC236}">
                <a16:creationId xmlns:a16="http://schemas.microsoft.com/office/drawing/2014/main" id="{3309FB29-2D24-A5DE-5FB6-176813F67DA9}"/>
              </a:ext>
            </a:extLst>
          </p:cNvPr>
          <p:cNvSpPr txBox="1"/>
          <p:nvPr/>
        </p:nvSpPr>
        <p:spPr>
          <a:xfrm>
            <a:off x="275721" y="3107576"/>
            <a:ext cx="375423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Failing Gracefully: Try Catch</a:t>
            </a:r>
          </a:p>
        </p:txBody>
      </p:sp>
      <p:grpSp>
        <p:nvGrpSpPr>
          <p:cNvPr id="5" name="Group 4">
            <a:extLst>
              <a:ext uri="{FF2B5EF4-FFF2-40B4-BE49-F238E27FC236}">
                <a16:creationId xmlns:a16="http://schemas.microsoft.com/office/drawing/2014/main" id="{CAD36C72-F0B6-B77F-74D1-D036C15506D5}"/>
              </a:ext>
            </a:extLst>
          </p:cNvPr>
          <p:cNvGrpSpPr>
            <a:grpSpLocks noChangeAspect="1"/>
          </p:cNvGrpSpPr>
          <p:nvPr/>
        </p:nvGrpSpPr>
        <p:grpSpPr>
          <a:xfrm>
            <a:off x="4558951" y="7583633"/>
            <a:ext cx="4903143" cy="2443499"/>
            <a:chOff x="4754545" y="7592221"/>
            <a:chExt cx="4709646" cy="2347069"/>
          </a:xfrm>
        </p:grpSpPr>
        <p:sp>
          <p:nvSpPr>
            <p:cNvPr id="491" name="Create a visual hierarchy. Help users navigate the page with titles, subtitles, and subsubtitles">
              <a:extLst>
                <a:ext uri="{FF2B5EF4-FFF2-40B4-BE49-F238E27FC236}">
                  <a16:creationId xmlns:a16="http://schemas.microsoft.com/office/drawing/2014/main" id="{B2258CA3-B195-929B-D053-E60FB05F36CB}"/>
                </a:ext>
              </a:extLst>
            </p:cNvPr>
            <p:cNvSpPr txBox="1"/>
            <p:nvPr/>
          </p:nvSpPr>
          <p:spPr>
            <a:xfrm>
              <a:off x="8264043" y="8100908"/>
              <a:ext cx="1200148"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a:rPr>
                <a:t>Code Architect</a:t>
              </a:r>
              <a:endParaRPr lang="en-US" dirty="0">
                <a:latin typeface="Source Sans Pro" panose="020B0503030403020204" pitchFamily="34" charset="0"/>
                <a:ea typeface="Source Sans Pro" panose="020B0503030403020204" pitchFamily="34" charset="0"/>
                <a:sym typeface="Source Sans Pro"/>
              </a:endParaRPr>
            </a:p>
          </p:txBody>
        </p:sp>
        <p:sp>
          <p:nvSpPr>
            <p:cNvPr id="342" name="Create a visual hierarchy. Help users navigate the page with titles, subtitles, and subsubtitles">
              <a:extLst>
                <a:ext uri="{FF2B5EF4-FFF2-40B4-BE49-F238E27FC236}">
                  <a16:creationId xmlns:a16="http://schemas.microsoft.com/office/drawing/2014/main" id="{C5E10CA7-17E1-5C95-6DB6-EDA05988311C}"/>
                </a:ext>
              </a:extLst>
            </p:cNvPr>
            <p:cNvSpPr txBox="1"/>
            <p:nvPr/>
          </p:nvSpPr>
          <p:spPr>
            <a:xfrm>
              <a:off x="5966355" y="7592221"/>
              <a:ext cx="1603122" cy="4426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Pull Request Created + Commit Pushed</a:t>
              </a:r>
            </a:p>
          </p:txBody>
        </p:sp>
        <p:sp>
          <p:nvSpPr>
            <p:cNvPr id="504" name="Create a visual hierarchy. Help users navigate the page with titles, subtitles, and subsubtitles">
              <a:extLst>
                <a:ext uri="{FF2B5EF4-FFF2-40B4-BE49-F238E27FC236}">
                  <a16:creationId xmlns:a16="http://schemas.microsoft.com/office/drawing/2014/main" id="{04DABAB6-F994-BA78-090E-940342CE823F}"/>
                </a:ext>
              </a:extLst>
            </p:cNvPr>
            <p:cNvSpPr txBox="1"/>
            <p:nvPr/>
          </p:nvSpPr>
          <p:spPr>
            <a:xfrm>
              <a:off x="5986391" y="8110685"/>
              <a:ext cx="1138332"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GitHub Actions</a:t>
              </a:r>
              <a:endParaRPr lang="en-US" dirty="0">
                <a:latin typeface="Source Sans Pro" panose="020B0503030403020204" pitchFamily="34" charset="0"/>
                <a:ea typeface="Source Sans Pro" panose="020B0503030403020204" pitchFamily="34" charset="0"/>
                <a:sym typeface="Source Sans Pro"/>
              </a:endParaRPr>
            </a:p>
          </p:txBody>
        </p:sp>
        <p:pic>
          <p:nvPicPr>
            <p:cNvPr id="50" name="Picture 49" descr="Account ">
              <a:extLst>
                <a:ext uri="{FF2B5EF4-FFF2-40B4-BE49-F238E27FC236}">
                  <a16:creationId xmlns:a16="http://schemas.microsoft.com/office/drawing/2014/main" id="{01E85DDF-A4FF-16E2-667A-928ED2D84ED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580018" y="8330059"/>
              <a:ext cx="306136" cy="306136"/>
            </a:xfrm>
            <a:prstGeom prst="rect">
              <a:avLst/>
            </a:prstGeom>
            <a:noFill/>
            <a:extLst>
              <a:ext uri="{909E8E84-426E-40DD-AFC4-6F175D3DCCD1}">
                <a14:hiddenFill xmlns:a14="http://schemas.microsoft.com/office/drawing/2010/main">
                  <a:solidFill>
                    <a:srgbClr val="FFFFFF"/>
                  </a:solidFill>
                </a14:hiddenFill>
              </a:ext>
            </a:extLst>
          </p:spPr>
        </p:pic>
        <p:pic>
          <p:nvPicPr>
            <p:cNvPr id="481" name="Google Shape;214;p15">
              <a:extLst>
                <a:ext uri="{FF2B5EF4-FFF2-40B4-BE49-F238E27FC236}">
                  <a16:creationId xmlns:a16="http://schemas.microsoft.com/office/drawing/2014/main" id="{FFFCC0D9-28E7-8EB7-53C8-D2AD5E77D39C}"/>
                </a:ext>
              </a:extLst>
            </p:cNvPr>
            <p:cNvPicPr preferRelativeResize="0"/>
            <p:nvPr/>
          </p:nvPicPr>
          <p:blipFill>
            <a:blip r:embed="rId8">
              <a:alphaModFix/>
            </a:blip>
            <a:srcRect l="10328" r="5548" b="12675"/>
            <a:stretch>
              <a:fillRect/>
            </a:stretch>
          </p:blipFill>
          <p:spPr>
            <a:xfrm>
              <a:off x="5442555" y="8281206"/>
              <a:ext cx="401071" cy="398991"/>
            </a:xfrm>
            <a:prstGeom prst="rect">
              <a:avLst/>
            </a:prstGeom>
            <a:noFill/>
            <a:ln>
              <a:noFill/>
            </a:ln>
          </p:spPr>
        </p:pic>
        <p:grpSp>
          <p:nvGrpSpPr>
            <p:cNvPr id="520" name="Group 519">
              <a:extLst>
                <a:ext uri="{FF2B5EF4-FFF2-40B4-BE49-F238E27FC236}">
                  <a16:creationId xmlns:a16="http://schemas.microsoft.com/office/drawing/2014/main" id="{AC0F0893-A148-E6CC-CE67-D031782F3223}"/>
                </a:ext>
              </a:extLst>
            </p:cNvPr>
            <p:cNvGrpSpPr/>
            <p:nvPr/>
          </p:nvGrpSpPr>
          <p:grpSpPr>
            <a:xfrm>
              <a:off x="6430077" y="8245501"/>
              <a:ext cx="526129" cy="378927"/>
              <a:chOff x="9474949" y="3367098"/>
              <a:chExt cx="526129" cy="378927"/>
            </a:xfrm>
          </p:grpSpPr>
          <p:sp>
            <p:nvSpPr>
              <p:cNvPr id="486" name="Google Shape;236;p15">
                <a:extLst>
                  <a:ext uri="{FF2B5EF4-FFF2-40B4-BE49-F238E27FC236}">
                    <a16:creationId xmlns:a16="http://schemas.microsoft.com/office/drawing/2014/main" id="{2B4F4E08-5D6A-6A98-2ECB-0052B501C259}"/>
                  </a:ext>
                </a:extLst>
              </p:cNvPr>
              <p:cNvSpPr/>
              <p:nvPr/>
            </p:nvSpPr>
            <p:spPr>
              <a:xfrm>
                <a:off x="9567136" y="3458331"/>
                <a:ext cx="310026" cy="287694"/>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483" name="Google Shape;237;p15">
                <a:extLst>
                  <a:ext uri="{FF2B5EF4-FFF2-40B4-BE49-F238E27FC236}">
                    <a16:creationId xmlns:a16="http://schemas.microsoft.com/office/drawing/2014/main" id="{3C536B0F-8784-2DBE-7DA1-FB63EFBD4A68}"/>
                  </a:ext>
                </a:extLst>
              </p:cNvPr>
              <p:cNvSpPr txBox="1"/>
              <p:nvPr/>
            </p:nvSpPr>
            <p:spPr>
              <a:xfrm>
                <a:off x="9474949" y="3367098"/>
                <a:ext cx="526129" cy="263210"/>
              </a:xfrm>
              <a:prstGeom prst="rect">
                <a:avLst/>
              </a:prstGeom>
              <a:noFill/>
              <a:ln>
                <a:noFill/>
              </a:ln>
            </p:spPr>
            <p:txBody>
              <a:bodyPr spcFirstLastPara="1" wrap="square" lIns="127722" tIns="127722" rIns="127722" bIns="127722" anchor="t" anchorCtr="0">
                <a:noAutofit/>
              </a:bodyPr>
              <a:lstStyle/>
              <a:p>
                <a:pPr>
                  <a:spcBef>
                    <a:spcPts val="0"/>
                  </a:spcBef>
                </a:pPr>
                <a:r>
                  <a:rPr lang="en" sz="1400" dirty="0">
                    <a:solidFill>
                      <a:schemeClr val="lt1"/>
                    </a:solidFill>
                  </a:rPr>
                  <a:t>GH</a:t>
                </a:r>
                <a:endParaRPr sz="1400" dirty="0">
                  <a:solidFill>
                    <a:schemeClr val="lt1"/>
                  </a:solidFill>
                </a:endParaRPr>
              </a:p>
            </p:txBody>
          </p:sp>
        </p:grpSp>
        <p:pic>
          <p:nvPicPr>
            <p:cNvPr id="487" name="Picture 486" descr="Account ">
              <a:extLst>
                <a:ext uri="{FF2B5EF4-FFF2-40B4-BE49-F238E27FC236}">
                  <a16:creationId xmlns:a16="http://schemas.microsoft.com/office/drawing/2014/main" id="{8736FD4E-952A-1055-A9FC-4B513A81676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616900" y="8321807"/>
              <a:ext cx="306136" cy="306136"/>
            </a:xfrm>
            <a:prstGeom prst="rect">
              <a:avLst/>
            </a:prstGeom>
            <a:noFill/>
            <a:extLst>
              <a:ext uri="{909E8E84-426E-40DD-AFC4-6F175D3DCCD1}">
                <a14:hiddenFill xmlns:a14="http://schemas.microsoft.com/office/drawing/2010/main">
                  <a:solidFill>
                    <a:srgbClr val="FFFFFF"/>
                  </a:solidFill>
                </a14:hiddenFill>
              </a:ext>
            </a:extLst>
          </p:spPr>
        </p:pic>
        <p:sp>
          <p:nvSpPr>
            <p:cNvPr id="490" name="Create a visual hierarchy. Help users navigate the page with titles, subtitles, and subsubtitles">
              <a:extLst>
                <a:ext uri="{FF2B5EF4-FFF2-40B4-BE49-F238E27FC236}">
                  <a16:creationId xmlns:a16="http://schemas.microsoft.com/office/drawing/2014/main" id="{394D73F1-2DB5-7F40-5495-FF2EC261774D}"/>
                </a:ext>
              </a:extLst>
            </p:cNvPr>
            <p:cNvSpPr txBox="1"/>
            <p:nvPr/>
          </p:nvSpPr>
          <p:spPr>
            <a:xfrm>
              <a:off x="7087984" y="8108356"/>
              <a:ext cx="1241412"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rPr>
                <a:t>Quality Reviewer</a:t>
              </a:r>
              <a:endParaRPr lang="en-US" dirty="0">
                <a:latin typeface="Source Sans Pro" panose="020B0503030403020204" pitchFamily="34" charset="0"/>
                <a:ea typeface="Source Sans Pro" panose="020B0503030403020204" pitchFamily="34" charset="0"/>
                <a:sym typeface="Source Sans Pro"/>
              </a:endParaRPr>
            </a:p>
          </p:txBody>
        </p:sp>
        <p:cxnSp>
          <p:nvCxnSpPr>
            <p:cNvPr id="328" name="Google Shape;445;p18">
              <a:extLst>
                <a:ext uri="{FF2B5EF4-FFF2-40B4-BE49-F238E27FC236}">
                  <a16:creationId xmlns:a16="http://schemas.microsoft.com/office/drawing/2014/main" id="{8BFB2755-1C58-8C9B-478B-A302A5D54DEE}"/>
                </a:ext>
              </a:extLst>
            </p:cNvPr>
            <p:cNvCxnSpPr>
              <a:cxnSpLocks/>
            </p:cNvCxnSpPr>
            <p:nvPr/>
          </p:nvCxnSpPr>
          <p:spPr>
            <a:xfrm>
              <a:off x="5636507" y="8012731"/>
              <a:ext cx="0" cy="227228"/>
            </a:xfrm>
            <a:prstGeom prst="straightConnector1">
              <a:avLst/>
            </a:prstGeom>
            <a:noFill/>
            <a:ln w="28575" cap="flat" cmpd="sng">
              <a:solidFill>
                <a:srgbClr val="1B1311"/>
              </a:solidFill>
              <a:prstDash val="solid"/>
              <a:round/>
              <a:headEnd type="none" w="med" len="med"/>
              <a:tailEnd type="triangle" w="med" len="med"/>
            </a:ln>
          </p:spPr>
        </p:cxnSp>
        <p:cxnSp>
          <p:nvCxnSpPr>
            <p:cNvPr id="330" name="Google Shape;445;p18">
              <a:extLst>
                <a:ext uri="{FF2B5EF4-FFF2-40B4-BE49-F238E27FC236}">
                  <a16:creationId xmlns:a16="http://schemas.microsoft.com/office/drawing/2014/main" id="{F1EC8D7D-3F31-F935-F31D-7F6BDE60B2A1}"/>
                </a:ext>
              </a:extLst>
            </p:cNvPr>
            <p:cNvCxnSpPr>
              <a:cxnSpLocks/>
            </p:cNvCxnSpPr>
            <p:nvPr/>
          </p:nvCxnSpPr>
          <p:spPr>
            <a:xfrm>
              <a:off x="6693142" y="8692417"/>
              <a:ext cx="0" cy="219033"/>
            </a:xfrm>
            <a:prstGeom prst="straightConnector1">
              <a:avLst/>
            </a:prstGeom>
            <a:noFill/>
            <a:ln w="28575" cap="flat" cmpd="sng">
              <a:solidFill>
                <a:srgbClr val="1B1311"/>
              </a:solidFill>
              <a:prstDash val="solid"/>
              <a:round/>
              <a:headEnd type="none" w="med" len="med"/>
              <a:tailEnd type="triangle" w="med" len="med"/>
            </a:ln>
          </p:spPr>
        </p:cxnSp>
        <p:cxnSp>
          <p:nvCxnSpPr>
            <p:cNvPr id="331" name="Google Shape;445;p18">
              <a:extLst>
                <a:ext uri="{FF2B5EF4-FFF2-40B4-BE49-F238E27FC236}">
                  <a16:creationId xmlns:a16="http://schemas.microsoft.com/office/drawing/2014/main" id="{D1159FC5-6742-AED5-0CC5-B8D33B467771}"/>
                </a:ext>
              </a:extLst>
            </p:cNvPr>
            <p:cNvCxnSpPr>
              <a:cxnSpLocks/>
            </p:cNvCxnSpPr>
            <p:nvPr/>
          </p:nvCxnSpPr>
          <p:spPr>
            <a:xfrm flipV="1">
              <a:off x="5931917" y="8470444"/>
              <a:ext cx="483203" cy="4431"/>
            </a:xfrm>
            <a:prstGeom prst="straightConnector1">
              <a:avLst/>
            </a:prstGeom>
            <a:noFill/>
            <a:ln w="28575" cap="flat" cmpd="sng">
              <a:solidFill>
                <a:srgbClr val="1B1311"/>
              </a:solidFill>
              <a:prstDash val="solid"/>
              <a:round/>
              <a:headEnd type="none" w="med" len="med"/>
              <a:tailEnd type="triangle" w="med" len="med"/>
            </a:ln>
          </p:spPr>
        </p:cxnSp>
        <p:cxnSp>
          <p:nvCxnSpPr>
            <p:cNvPr id="524" name="Google Shape;445;p18">
              <a:extLst>
                <a:ext uri="{FF2B5EF4-FFF2-40B4-BE49-F238E27FC236}">
                  <a16:creationId xmlns:a16="http://schemas.microsoft.com/office/drawing/2014/main" id="{C9D1F0A9-E165-5D74-357C-F2678087FC5B}"/>
                </a:ext>
              </a:extLst>
            </p:cNvPr>
            <p:cNvCxnSpPr>
              <a:cxnSpLocks/>
            </p:cNvCxnSpPr>
            <p:nvPr/>
          </p:nvCxnSpPr>
          <p:spPr>
            <a:xfrm flipV="1">
              <a:off x="7010362" y="8470444"/>
              <a:ext cx="460133" cy="4431"/>
            </a:xfrm>
            <a:prstGeom prst="straightConnector1">
              <a:avLst/>
            </a:prstGeom>
            <a:noFill/>
            <a:ln w="28575" cap="flat" cmpd="sng">
              <a:solidFill>
                <a:srgbClr val="1B1311"/>
              </a:solidFill>
              <a:prstDash val="solid"/>
              <a:round/>
              <a:headEnd type="none" w="med" len="med"/>
              <a:tailEnd type="triangle" w="med" len="med"/>
            </a:ln>
          </p:spPr>
        </p:cxnSp>
        <p:cxnSp>
          <p:nvCxnSpPr>
            <p:cNvPr id="527" name="Google Shape;445;p18">
              <a:extLst>
                <a:ext uri="{FF2B5EF4-FFF2-40B4-BE49-F238E27FC236}">
                  <a16:creationId xmlns:a16="http://schemas.microsoft.com/office/drawing/2014/main" id="{3BC8D0BF-B2BD-9589-B5A4-1E68B95C3C24}"/>
                </a:ext>
              </a:extLst>
            </p:cNvPr>
            <p:cNvCxnSpPr>
              <a:cxnSpLocks/>
            </p:cNvCxnSpPr>
            <p:nvPr/>
          </p:nvCxnSpPr>
          <p:spPr>
            <a:xfrm>
              <a:off x="8025141" y="8481760"/>
              <a:ext cx="490920" cy="1367"/>
            </a:xfrm>
            <a:prstGeom prst="straightConnector1">
              <a:avLst/>
            </a:prstGeom>
            <a:noFill/>
            <a:ln w="28575" cap="flat" cmpd="sng">
              <a:solidFill>
                <a:srgbClr val="1B1311"/>
              </a:solidFill>
              <a:prstDash val="solid"/>
              <a:round/>
              <a:headEnd type="none" w="med" len="med"/>
              <a:tailEnd type="triangle" w="med" len="med"/>
            </a:ln>
          </p:spPr>
        </p:cxnSp>
        <p:sp>
          <p:nvSpPr>
            <p:cNvPr id="528" name="Create a visual hierarchy. Help users navigate the page with titles, subtitles, and subsubtitles">
              <a:extLst>
                <a:ext uri="{FF2B5EF4-FFF2-40B4-BE49-F238E27FC236}">
                  <a16:creationId xmlns:a16="http://schemas.microsoft.com/office/drawing/2014/main" id="{0209C895-35D2-3C31-4417-DE1C04EE50F3}"/>
                </a:ext>
              </a:extLst>
            </p:cNvPr>
            <p:cNvSpPr txBox="1"/>
            <p:nvPr/>
          </p:nvSpPr>
          <p:spPr>
            <a:xfrm>
              <a:off x="4754545" y="8371927"/>
              <a:ext cx="788917"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Codecov</a:t>
              </a:r>
            </a:p>
          </p:txBody>
        </p:sp>
        <p:sp>
          <p:nvSpPr>
            <p:cNvPr id="535" name="Create a visual hierarchy. Help users navigate the page with titles, subtitles, and subsubtitles">
              <a:extLst>
                <a:ext uri="{FF2B5EF4-FFF2-40B4-BE49-F238E27FC236}">
                  <a16:creationId xmlns:a16="http://schemas.microsoft.com/office/drawing/2014/main" id="{B8E3A636-A2D2-CD0D-4EE7-A2739474B4ED}"/>
                </a:ext>
              </a:extLst>
            </p:cNvPr>
            <p:cNvSpPr txBox="1"/>
            <p:nvPr/>
          </p:nvSpPr>
          <p:spPr>
            <a:xfrm>
              <a:off x="6345851" y="9458213"/>
              <a:ext cx="1184050" cy="4810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Pull Request </a:t>
              </a:r>
            </a:p>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Denie</a:t>
              </a:r>
              <a:r>
                <a:rPr lang="en-US" b="0" dirty="0">
                  <a:solidFill>
                    <a:srgbClr val="000000"/>
                  </a:solidFill>
                  <a:latin typeface="Source Sans Pro" panose="020B0503030403020204" pitchFamily="34" charset="0"/>
                  <a:ea typeface="Source Sans Pro" panose="020B0503030403020204" pitchFamily="34" charset="0"/>
                </a:rPr>
                <a:t>d</a:t>
              </a:r>
              <a:endParaRPr lang="en-US" b="0" i="0" u="none" strike="noStrike" dirty="0">
                <a:solidFill>
                  <a:srgbClr val="000000"/>
                </a:solidFill>
                <a:effectLst/>
                <a:latin typeface="Source Sans Pro" panose="020B0503030403020204" pitchFamily="34" charset="0"/>
                <a:ea typeface="Source Sans Pro" panose="020B0503030403020204" pitchFamily="34" charset="0"/>
              </a:endParaRPr>
            </a:p>
          </p:txBody>
        </p:sp>
        <p:cxnSp>
          <p:nvCxnSpPr>
            <p:cNvPr id="544" name="Google Shape;445;p18">
              <a:extLst>
                <a:ext uri="{FF2B5EF4-FFF2-40B4-BE49-F238E27FC236}">
                  <a16:creationId xmlns:a16="http://schemas.microsoft.com/office/drawing/2014/main" id="{6460C796-2D1B-7738-80EF-632E866FE684}"/>
                </a:ext>
              </a:extLst>
            </p:cNvPr>
            <p:cNvCxnSpPr>
              <a:cxnSpLocks/>
            </p:cNvCxnSpPr>
            <p:nvPr/>
          </p:nvCxnSpPr>
          <p:spPr>
            <a:xfrm flipH="1">
              <a:off x="5929791" y="9278751"/>
              <a:ext cx="428575" cy="0"/>
            </a:xfrm>
            <a:prstGeom prst="straightConnector1">
              <a:avLst/>
            </a:prstGeom>
            <a:noFill/>
            <a:ln w="28575" cap="flat" cmpd="sng">
              <a:solidFill>
                <a:srgbClr val="1B1311"/>
              </a:solidFill>
              <a:prstDash val="solid"/>
              <a:round/>
              <a:headEnd type="none" w="med" len="med"/>
              <a:tailEnd type="triangle" w="med" len="med"/>
            </a:ln>
          </p:spPr>
        </p:cxnSp>
        <p:cxnSp>
          <p:nvCxnSpPr>
            <p:cNvPr id="549" name="Google Shape;445;p18">
              <a:extLst>
                <a:ext uri="{FF2B5EF4-FFF2-40B4-BE49-F238E27FC236}">
                  <a16:creationId xmlns:a16="http://schemas.microsoft.com/office/drawing/2014/main" id="{65B4F4A7-36E1-4C09-550F-ECDEA6F652EA}"/>
                </a:ext>
              </a:extLst>
            </p:cNvPr>
            <p:cNvCxnSpPr>
              <a:cxnSpLocks/>
            </p:cNvCxnSpPr>
            <p:nvPr/>
          </p:nvCxnSpPr>
          <p:spPr>
            <a:xfrm flipH="1">
              <a:off x="7087984" y="9308489"/>
              <a:ext cx="881273" cy="0"/>
            </a:xfrm>
            <a:prstGeom prst="straightConnector1">
              <a:avLst/>
            </a:prstGeom>
            <a:noFill/>
            <a:ln w="28575" cap="flat" cmpd="sng">
              <a:solidFill>
                <a:srgbClr val="1B1311"/>
              </a:solidFill>
              <a:prstDash val="solid"/>
              <a:round/>
              <a:headEnd type="none" w="med" len="med"/>
              <a:tailEnd type="triangle" w="med" len="med"/>
            </a:ln>
          </p:spPr>
        </p:cxnSp>
        <p:cxnSp>
          <p:nvCxnSpPr>
            <p:cNvPr id="557" name="Google Shape;445;p18">
              <a:extLst>
                <a:ext uri="{FF2B5EF4-FFF2-40B4-BE49-F238E27FC236}">
                  <a16:creationId xmlns:a16="http://schemas.microsoft.com/office/drawing/2014/main" id="{43AA8869-1CAC-7295-57E5-2CF8C136904C}"/>
                </a:ext>
              </a:extLst>
            </p:cNvPr>
            <p:cNvCxnSpPr>
              <a:cxnSpLocks/>
            </p:cNvCxnSpPr>
            <p:nvPr/>
          </p:nvCxnSpPr>
          <p:spPr>
            <a:xfrm>
              <a:off x="8784901" y="8687064"/>
              <a:ext cx="0" cy="303476"/>
            </a:xfrm>
            <a:prstGeom prst="straightConnector1">
              <a:avLst/>
            </a:prstGeom>
            <a:noFill/>
            <a:ln w="28575" cap="flat" cmpd="sng">
              <a:solidFill>
                <a:srgbClr val="1B1311"/>
              </a:solidFill>
              <a:prstDash val="solid"/>
              <a:round/>
              <a:headEnd type="none" w="med" len="med"/>
              <a:tailEnd type="triangle" w="med" len="med"/>
            </a:ln>
          </p:spPr>
        </p:cxnSp>
        <p:sp>
          <p:nvSpPr>
            <p:cNvPr id="560" name="Create a visual hierarchy. Help users navigate the page with titles, subtitles, and subsubtitles">
              <a:extLst>
                <a:ext uri="{FF2B5EF4-FFF2-40B4-BE49-F238E27FC236}">
                  <a16:creationId xmlns:a16="http://schemas.microsoft.com/office/drawing/2014/main" id="{1AF3FE56-131D-CB02-9413-8DAA1AA3CF6A}"/>
                </a:ext>
              </a:extLst>
            </p:cNvPr>
            <p:cNvSpPr txBox="1"/>
            <p:nvPr/>
          </p:nvSpPr>
          <p:spPr>
            <a:xfrm>
              <a:off x="8177943" y="9423379"/>
              <a:ext cx="1184050" cy="4810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Pull Request </a:t>
              </a:r>
            </a:p>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Approved</a:t>
              </a:r>
            </a:p>
          </p:txBody>
        </p:sp>
        <p:cxnSp>
          <p:nvCxnSpPr>
            <p:cNvPr id="574" name="Straight Connector 573">
              <a:extLst>
                <a:ext uri="{FF2B5EF4-FFF2-40B4-BE49-F238E27FC236}">
                  <a16:creationId xmlns:a16="http://schemas.microsoft.com/office/drawing/2014/main" id="{E69D76B5-6A8D-4281-CE25-C5408E559CA6}"/>
                </a:ext>
              </a:extLst>
            </p:cNvPr>
            <p:cNvCxnSpPr>
              <a:cxnSpLocks/>
            </p:cNvCxnSpPr>
            <p:nvPr/>
          </p:nvCxnSpPr>
          <p:spPr>
            <a:xfrm flipH="1">
              <a:off x="7942180" y="8631247"/>
              <a:ext cx="698769" cy="677242"/>
            </a:xfrm>
            <a:prstGeom prst="line">
              <a:avLst/>
            </a:prstGeom>
            <a:ln w="28575" cap="flat" cmpd="sng" algn="ctr">
              <a:solidFill>
                <a:schemeClr val="bg2">
                  <a:lumMod val="1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88" name="Create a visual hierarchy. Help users navigate the page with titles, subtitles, and subsubtitles">
              <a:extLst>
                <a:ext uri="{FF2B5EF4-FFF2-40B4-BE49-F238E27FC236}">
                  <a16:creationId xmlns:a16="http://schemas.microsoft.com/office/drawing/2014/main" id="{A8937608-B3B2-28E6-3080-BD806767BCB5}"/>
                </a:ext>
              </a:extLst>
            </p:cNvPr>
            <p:cNvSpPr txBox="1"/>
            <p:nvPr/>
          </p:nvSpPr>
          <p:spPr>
            <a:xfrm>
              <a:off x="5174316" y="9445330"/>
              <a:ext cx="1184050"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New Commit</a:t>
              </a:r>
            </a:p>
          </p:txBody>
        </p:sp>
        <p:cxnSp>
          <p:nvCxnSpPr>
            <p:cNvPr id="589" name="Google Shape;445;p18">
              <a:extLst>
                <a:ext uri="{FF2B5EF4-FFF2-40B4-BE49-F238E27FC236}">
                  <a16:creationId xmlns:a16="http://schemas.microsoft.com/office/drawing/2014/main" id="{91D073A6-8A2E-86AA-FFF6-713155141DCA}"/>
                </a:ext>
              </a:extLst>
            </p:cNvPr>
            <p:cNvCxnSpPr>
              <a:cxnSpLocks/>
            </p:cNvCxnSpPr>
            <p:nvPr/>
          </p:nvCxnSpPr>
          <p:spPr>
            <a:xfrm flipV="1">
              <a:off x="5632994" y="8733946"/>
              <a:ext cx="0" cy="256594"/>
            </a:xfrm>
            <a:prstGeom prst="straightConnector1">
              <a:avLst/>
            </a:prstGeom>
            <a:noFill/>
            <a:ln w="28575" cap="flat" cmpd="sng">
              <a:solidFill>
                <a:srgbClr val="1B1311"/>
              </a:solidFill>
              <a:prstDash val="solid"/>
              <a:round/>
              <a:headEnd type="none" w="med" len="med"/>
              <a:tailEnd type="triangle" w="med" len="med"/>
            </a:ln>
          </p:spPr>
        </p:cxnSp>
        <p:cxnSp>
          <p:nvCxnSpPr>
            <p:cNvPr id="593" name="Google Shape;445;p18">
              <a:extLst>
                <a:ext uri="{FF2B5EF4-FFF2-40B4-BE49-F238E27FC236}">
                  <a16:creationId xmlns:a16="http://schemas.microsoft.com/office/drawing/2014/main" id="{067BD687-2979-FA8F-84BC-1459E31C107D}"/>
                </a:ext>
              </a:extLst>
            </p:cNvPr>
            <p:cNvCxnSpPr>
              <a:cxnSpLocks/>
            </p:cNvCxnSpPr>
            <p:nvPr/>
          </p:nvCxnSpPr>
          <p:spPr>
            <a:xfrm>
              <a:off x="5933583" y="8663797"/>
              <a:ext cx="435291" cy="404503"/>
            </a:xfrm>
            <a:prstGeom prst="straightConnector1">
              <a:avLst/>
            </a:prstGeom>
            <a:noFill/>
            <a:ln w="28575" cap="flat" cmpd="sng">
              <a:solidFill>
                <a:srgbClr val="1B1311"/>
              </a:solidFill>
              <a:prstDash val="solid"/>
              <a:round/>
              <a:headEnd type="none" w="med" len="med"/>
              <a:tailEnd type="triangle" w="med" len="med"/>
            </a:ln>
          </p:spPr>
        </p:cxnSp>
        <p:cxnSp>
          <p:nvCxnSpPr>
            <p:cNvPr id="600" name="Google Shape;445;p18">
              <a:extLst>
                <a:ext uri="{FF2B5EF4-FFF2-40B4-BE49-F238E27FC236}">
                  <a16:creationId xmlns:a16="http://schemas.microsoft.com/office/drawing/2014/main" id="{E0624BE5-21C7-4AED-D8E0-7B57886078DD}"/>
                </a:ext>
              </a:extLst>
            </p:cNvPr>
            <p:cNvCxnSpPr>
              <a:cxnSpLocks/>
            </p:cNvCxnSpPr>
            <p:nvPr/>
          </p:nvCxnSpPr>
          <p:spPr>
            <a:xfrm flipH="1">
              <a:off x="7036020" y="8623262"/>
              <a:ext cx="475375" cy="453212"/>
            </a:xfrm>
            <a:prstGeom prst="straightConnector1">
              <a:avLst/>
            </a:prstGeom>
            <a:noFill/>
            <a:ln w="28575" cap="flat" cmpd="sng">
              <a:solidFill>
                <a:srgbClr val="1B1311"/>
              </a:solidFill>
              <a:prstDash val="solid"/>
              <a:round/>
              <a:headEnd type="none" w="med" len="med"/>
              <a:tailEnd type="triangle" w="med" len="med"/>
            </a:ln>
          </p:spPr>
        </p:cxnSp>
        <p:sp>
          <p:nvSpPr>
            <p:cNvPr id="39" name="Google Shape;237;p15">
              <a:extLst>
                <a:ext uri="{FF2B5EF4-FFF2-40B4-BE49-F238E27FC236}">
                  <a16:creationId xmlns:a16="http://schemas.microsoft.com/office/drawing/2014/main" id="{6CF569A5-3FC0-77C6-C62C-D30C9D6BB373}"/>
                </a:ext>
              </a:extLst>
            </p:cNvPr>
            <p:cNvSpPr txBox="1"/>
            <p:nvPr/>
          </p:nvSpPr>
          <p:spPr>
            <a:xfrm>
              <a:off x="5293468" y="9048567"/>
              <a:ext cx="526129" cy="263210"/>
            </a:xfrm>
            <a:prstGeom prst="rect">
              <a:avLst/>
            </a:prstGeom>
            <a:noFill/>
            <a:ln>
              <a:noFill/>
            </a:ln>
          </p:spPr>
          <p:txBody>
            <a:bodyPr spcFirstLastPara="1" wrap="square" lIns="127722" tIns="127722" rIns="127722" bIns="127722" anchor="t" anchorCtr="0">
              <a:noAutofit/>
            </a:bodyPr>
            <a:lstStyle/>
            <a:p>
              <a:pPr>
                <a:spcBef>
                  <a:spcPts val="0"/>
                </a:spcBef>
              </a:pPr>
              <a:endParaRPr sz="1400" dirty="0">
                <a:solidFill>
                  <a:schemeClr val="lt1"/>
                </a:solidFill>
              </a:endParaRPr>
            </a:p>
          </p:txBody>
        </p:sp>
        <p:pic>
          <p:nvPicPr>
            <p:cNvPr id="3" name="Google Shape;227;p15">
              <a:extLst>
                <a:ext uri="{FF2B5EF4-FFF2-40B4-BE49-F238E27FC236}">
                  <a16:creationId xmlns:a16="http://schemas.microsoft.com/office/drawing/2014/main" id="{8517F6F5-55D8-A9EF-8998-17CCF6BED104}"/>
                </a:ext>
              </a:extLst>
            </p:cNvPr>
            <p:cNvPicPr preferRelativeResize="0">
              <a:picLocks noChangeAspect="1"/>
            </p:cNvPicPr>
            <p:nvPr/>
          </p:nvPicPr>
          <p:blipFill>
            <a:blip r:embed="rId9">
              <a:alphaModFix/>
            </a:blip>
            <a:stretch>
              <a:fillRect/>
            </a:stretch>
          </p:blipFill>
          <p:spPr>
            <a:xfrm>
              <a:off x="6498830" y="9074476"/>
              <a:ext cx="398269" cy="362602"/>
            </a:xfrm>
            <a:prstGeom prst="rect">
              <a:avLst/>
            </a:prstGeom>
            <a:noFill/>
            <a:ln>
              <a:noFill/>
            </a:ln>
          </p:spPr>
        </p:pic>
        <p:sp>
          <p:nvSpPr>
            <p:cNvPr id="31" name="TextBox 30">
              <a:extLst>
                <a:ext uri="{FF2B5EF4-FFF2-40B4-BE49-F238E27FC236}">
                  <a16:creationId xmlns:a16="http://schemas.microsoft.com/office/drawing/2014/main" id="{17023F75-3387-CCB7-73CB-0BB101DD4D6C}"/>
                </a:ext>
              </a:extLst>
            </p:cNvPr>
            <p:cNvSpPr txBox="1"/>
            <p:nvPr/>
          </p:nvSpPr>
          <p:spPr>
            <a:xfrm>
              <a:off x="6492515" y="9235151"/>
              <a:ext cx="189461"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500" dirty="0"/>
                <a:t>❌</a:t>
              </a:r>
              <a:endParaRPr kumimoji="0" lang="en-US" sz="5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pic>
          <p:nvPicPr>
            <p:cNvPr id="33" name="Google Shape;227;p15">
              <a:extLst>
                <a:ext uri="{FF2B5EF4-FFF2-40B4-BE49-F238E27FC236}">
                  <a16:creationId xmlns:a16="http://schemas.microsoft.com/office/drawing/2014/main" id="{D23CC1FE-EFCF-F89C-FA0B-29609BDE29B7}"/>
                </a:ext>
              </a:extLst>
            </p:cNvPr>
            <p:cNvPicPr preferRelativeResize="0">
              <a:picLocks noChangeAspect="1"/>
            </p:cNvPicPr>
            <p:nvPr/>
          </p:nvPicPr>
          <p:blipFill>
            <a:blip r:embed="rId9">
              <a:alphaModFix/>
            </a:blip>
            <a:stretch>
              <a:fillRect/>
            </a:stretch>
          </p:blipFill>
          <p:spPr>
            <a:xfrm>
              <a:off x="8601660" y="9060777"/>
              <a:ext cx="398269" cy="362602"/>
            </a:xfrm>
            <a:prstGeom prst="rect">
              <a:avLst/>
            </a:prstGeom>
            <a:noFill/>
            <a:ln>
              <a:noFill/>
            </a:ln>
          </p:spPr>
        </p:pic>
        <p:sp>
          <p:nvSpPr>
            <p:cNvPr id="34" name="TextBox 33">
              <a:extLst>
                <a:ext uri="{FF2B5EF4-FFF2-40B4-BE49-F238E27FC236}">
                  <a16:creationId xmlns:a16="http://schemas.microsoft.com/office/drawing/2014/main" id="{E47AE6A6-203C-AF56-24A7-CFB883442506}"/>
                </a:ext>
              </a:extLst>
            </p:cNvPr>
            <p:cNvSpPr txBox="1"/>
            <p:nvPr/>
          </p:nvSpPr>
          <p:spPr>
            <a:xfrm>
              <a:off x="8601660" y="9224280"/>
              <a:ext cx="189461"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500" dirty="0"/>
                <a:t>✅</a:t>
              </a:r>
              <a:endParaRPr kumimoji="0" lang="en-US" sz="5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502" name="Group 501">
              <a:extLst>
                <a:ext uri="{FF2B5EF4-FFF2-40B4-BE49-F238E27FC236}">
                  <a16:creationId xmlns:a16="http://schemas.microsoft.com/office/drawing/2014/main" id="{1199693B-6916-7166-B33C-E581BAE6A249}"/>
                </a:ext>
              </a:extLst>
            </p:cNvPr>
            <p:cNvGrpSpPr/>
            <p:nvPr/>
          </p:nvGrpSpPr>
          <p:grpSpPr>
            <a:xfrm>
              <a:off x="5491861" y="9109816"/>
              <a:ext cx="296516" cy="294538"/>
              <a:chOff x="5367466" y="9150431"/>
              <a:chExt cx="296516" cy="294538"/>
            </a:xfrm>
          </p:grpSpPr>
          <p:sp>
            <p:nvSpPr>
              <p:cNvPr id="53" name="Google Shape;236;p15">
                <a:extLst>
                  <a:ext uri="{FF2B5EF4-FFF2-40B4-BE49-F238E27FC236}">
                    <a16:creationId xmlns:a16="http://schemas.microsoft.com/office/drawing/2014/main" id="{7148E548-EE7D-D23B-3E8B-6A3F4163B3CC}"/>
                  </a:ext>
                </a:extLst>
              </p:cNvPr>
              <p:cNvSpPr>
                <a:spLocks noChangeAspect="1"/>
              </p:cNvSpPr>
              <p:nvPr/>
            </p:nvSpPr>
            <p:spPr>
              <a:xfrm>
                <a:off x="5367466" y="9150431"/>
                <a:ext cx="296516" cy="29453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cxnSp>
            <p:nvCxnSpPr>
              <p:cNvPr id="54" name="Straight Connector 53">
                <a:extLst>
                  <a:ext uri="{FF2B5EF4-FFF2-40B4-BE49-F238E27FC236}">
                    <a16:creationId xmlns:a16="http://schemas.microsoft.com/office/drawing/2014/main" id="{801B14C6-1E56-D5BC-58B8-77DB2C7E3864}"/>
                  </a:ext>
                </a:extLst>
              </p:cNvPr>
              <p:cNvCxnSpPr>
                <a:cxnSpLocks/>
              </p:cNvCxnSpPr>
              <p:nvPr/>
            </p:nvCxnSpPr>
            <p:spPr>
              <a:xfrm flipH="1">
                <a:off x="5438395" y="9302560"/>
                <a:ext cx="154656" cy="0"/>
              </a:xfrm>
              <a:prstGeom prst="line">
                <a:avLst/>
              </a:prstGeom>
              <a:ln w="12700" cap="rnd"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5" name="Oval 54">
                <a:extLst>
                  <a:ext uri="{FF2B5EF4-FFF2-40B4-BE49-F238E27FC236}">
                    <a16:creationId xmlns:a16="http://schemas.microsoft.com/office/drawing/2014/main" id="{6B27FEC5-D838-F1E8-BA12-DD45164DA0CB}"/>
                  </a:ext>
                </a:extLst>
              </p:cNvPr>
              <p:cNvSpPr>
                <a:spLocks noChangeAspect="1"/>
              </p:cNvSpPr>
              <p:nvPr/>
            </p:nvSpPr>
            <p:spPr>
              <a:xfrm>
                <a:off x="5482180" y="9269602"/>
                <a:ext cx="67087" cy="65915"/>
              </a:xfrm>
              <a:prstGeom prst="ellipse">
                <a:avLst/>
              </a:prstGeom>
              <a:solidFill>
                <a:schemeClr val="bg2">
                  <a:lumMod val="10000"/>
                </a:schemeClr>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grpSp>
        <p:grpSp>
          <p:nvGrpSpPr>
            <p:cNvPr id="495" name="Group 494">
              <a:extLst>
                <a:ext uri="{FF2B5EF4-FFF2-40B4-BE49-F238E27FC236}">
                  <a16:creationId xmlns:a16="http://schemas.microsoft.com/office/drawing/2014/main" id="{001A5651-F06B-F4B6-E496-9EEE8C4B8052}"/>
                </a:ext>
              </a:extLst>
            </p:cNvPr>
            <p:cNvGrpSpPr/>
            <p:nvPr/>
          </p:nvGrpSpPr>
          <p:grpSpPr>
            <a:xfrm>
              <a:off x="5653606" y="7661921"/>
              <a:ext cx="296516" cy="294538"/>
              <a:chOff x="5470343" y="7664480"/>
              <a:chExt cx="296516" cy="294538"/>
            </a:xfrm>
          </p:grpSpPr>
          <p:sp>
            <p:nvSpPr>
              <p:cNvPr id="57" name="Google Shape;236;p15">
                <a:extLst>
                  <a:ext uri="{FF2B5EF4-FFF2-40B4-BE49-F238E27FC236}">
                    <a16:creationId xmlns:a16="http://schemas.microsoft.com/office/drawing/2014/main" id="{0DCA21F2-C996-35BC-AC9E-0165116B8BB5}"/>
                  </a:ext>
                </a:extLst>
              </p:cNvPr>
              <p:cNvSpPr>
                <a:spLocks noChangeAspect="1"/>
              </p:cNvSpPr>
              <p:nvPr/>
            </p:nvSpPr>
            <p:spPr>
              <a:xfrm>
                <a:off x="5470343" y="7664480"/>
                <a:ext cx="296516" cy="29453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cxnSp>
            <p:nvCxnSpPr>
              <p:cNvPr id="58" name="Straight Connector 57">
                <a:extLst>
                  <a:ext uri="{FF2B5EF4-FFF2-40B4-BE49-F238E27FC236}">
                    <a16:creationId xmlns:a16="http://schemas.microsoft.com/office/drawing/2014/main" id="{18A3D2EC-467F-B290-A6F7-52AF9FBC99D3}"/>
                  </a:ext>
                </a:extLst>
              </p:cNvPr>
              <p:cNvCxnSpPr>
                <a:cxnSpLocks/>
              </p:cNvCxnSpPr>
              <p:nvPr/>
            </p:nvCxnSpPr>
            <p:spPr>
              <a:xfrm flipH="1">
                <a:off x="5541272" y="7816609"/>
                <a:ext cx="154656" cy="0"/>
              </a:xfrm>
              <a:prstGeom prst="line">
                <a:avLst/>
              </a:prstGeom>
              <a:ln w="12700" cap="rnd"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9" name="Oval 58">
                <a:extLst>
                  <a:ext uri="{FF2B5EF4-FFF2-40B4-BE49-F238E27FC236}">
                    <a16:creationId xmlns:a16="http://schemas.microsoft.com/office/drawing/2014/main" id="{6EBBADE4-A821-FC50-88B1-600B6DDFC061}"/>
                  </a:ext>
                </a:extLst>
              </p:cNvPr>
              <p:cNvSpPr>
                <a:spLocks noChangeAspect="1"/>
              </p:cNvSpPr>
              <p:nvPr/>
            </p:nvSpPr>
            <p:spPr>
              <a:xfrm>
                <a:off x="5585057" y="7783651"/>
                <a:ext cx="67087" cy="65915"/>
              </a:xfrm>
              <a:prstGeom prst="ellipse">
                <a:avLst/>
              </a:prstGeom>
              <a:solidFill>
                <a:schemeClr val="bg2">
                  <a:lumMod val="10000"/>
                </a:schemeClr>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grpSp>
        <p:pic>
          <p:nvPicPr>
            <p:cNvPr id="509" name="Google Shape;227;p15">
              <a:extLst>
                <a:ext uri="{FF2B5EF4-FFF2-40B4-BE49-F238E27FC236}">
                  <a16:creationId xmlns:a16="http://schemas.microsoft.com/office/drawing/2014/main" id="{86B5BE1D-29D3-8411-918B-06CA3FFCC573}"/>
                </a:ext>
              </a:extLst>
            </p:cNvPr>
            <p:cNvPicPr preferRelativeResize="0">
              <a:picLocks noChangeAspect="1"/>
            </p:cNvPicPr>
            <p:nvPr/>
          </p:nvPicPr>
          <p:blipFill>
            <a:blip r:embed="rId9">
              <a:alphaModFix/>
            </a:blip>
            <a:stretch>
              <a:fillRect/>
            </a:stretch>
          </p:blipFill>
          <p:spPr>
            <a:xfrm>
              <a:off x="5244821" y="7624472"/>
              <a:ext cx="398269" cy="362602"/>
            </a:xfrm>
            <a:prstGeom prst="rect">
              <a:avLst/>
            </a:prstGeom>
            <a:noFill/>
            <a:ln>
              <a:noFill/>
            </a:ln>
          </p:spPr>
        </p:pic>
      </p:grpSp>
      <p:sp>
        <p:nvSpPr>
          <p:cNvPr id="582" name="Freeform: Shape 581">
            <a:extLst>
              <a:ext uri="{FF2B5EF4-FFF2-40B4-BE49-F238E27FC236}">
                <a16:creationId xmlns:a16="http://schemas.microsoft.com/office/drawing/2014/main" id="{AAD41079-72B7-E3DD-122F-F47587569408}"/>
              </a:ext>
            </a:extLst>
          </p:cNvPr>
          <p:cNvSpPr/>
          <p:nvPr/>
        </p:nvSpPr>
        <p:spPr>
          <a:xfrm>
            <a:off x="2169035" y="4334661"/>
            <a:ext cx="577524" cy="221931"/>
          </a:xfrm>
          <a:custGeom>
            <a:avLst/>
            <a:gdLst>
              <a:gd name="csX0" fmla="*/ 723267 w 723267"/>
              <a:gd name="csY0" fmla="*/ 309363 h 309363"/>
              <a:gd name="csX1" fmla="*/ 327968 w 723267"/>
              <a:gd name="csY1" fmla="*/ 92166 h 309363"/>
              <a:gd name="csX2" fmla="*/ 228057 w 723267"/>
              <a:gd name="csY2" fmla="*/ 233344 h 309363"/>
              <a:gd name="csX3" fmla="*/ 401815 w 723267"/>
              <a:gd name="csY3" fmla="*/ 281127 h 309363"/>
              <a:gd name="csX4" fmla="*/ 393127 w 723267"/>
              <a:gd name="csY4" fmla="*/ 155153 h 309363"/>
              <a:gd name="csX5" fmla="*/ 173758 w 723267"/>
              <a:gd name="csY5" fmla="*/ 5287 h 309363"/>
              <a:gd name="csX6" fmla="*/ 76019 w 723267"/>
              <a:gd name="csY6" fmla="*/ 40038 h 309363"/>
              <a:gd name="csX7" fmla="*/ 0 w 723267"/>
              <a:gd name="csY7" fmla="*/ 100853 h 3093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23267" h="309363">
                <a:moveTo>
                  <a:pt x="723267" y="309363"/>
                </a:moveTo>
                <a:cubicBezTo>
                  <a:pt x="566885" y="207099"/>
                  <a:pt x="410503" y="104836"/>
                  <a:pt x="327968" y="92166"/>
                </a:cubicBezTo>
                <a:cubicBezTo>
                  <a:pt x="245433" y="79496"/>
                  <a:pt x="215749" y="201850"/>
                  <a:pt x="228057" y="233344"/>
                </a:cubicBezTo>
                <a:cubicBezTo>
                  <a:pt x="240365" y="264837"/>
                  <a:pt x="374303" y="294159"/>
                  <a:pt x="401815" y="281127"/>
                </a:cubicBezTo>
                <a:cubicBezTo>
                  <a:pt x="429327" y="268095"/>
                  <a:pt x="431136" y="201126"/>
                  <a:pt x="393127" y="155153"/>
                </a:cubicBezTo>
                <a:cubicBezTo>
                  <a:pt x="355117" y="109180"/>
                  <a:pt x="226609" y="24473"/>
                  <a:pt x="173758" y="5287"/>
                </a:cubicBezTo>
                <a:cubicBezTo>
                  <a:pt x="120907" y="-13899"/>
                  <a:pt x="104979" y="24110"/>
                  <a:pt x="76019" y="40038"/>
                </a:cubicBezTo>
                <a:cubicBezTo>
                  <a:pt x="47059" y="55966"/>
                  <a:pt x="23529" y="78409"/>
                  <a:pt x="0" y="100853"/>
                </a:cubicBezTo>
              </a:path>
            </a:pathLst>
          </a:custGeom>
          <a:no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tlCol="0" anchor="ctr"/>
          <a:lstStyle/>
          <a:p>
            <a:pPr algn="ctr"/>
            <a:endParaRPr lang="en-US"/>
          </a:p>
        </p:txBody>
      </p:sp>
      <p:grpSp>
        <p:nvGrpSpPr>
          <p:cNvPr id="598" name="Group 597">
            <a:extLst>
              <a:ext uri="{FF2B5EF4-FFF2-40B4-BE49-F238E27FC236}">
                <a16:creationId xmlns:a16="http://schemas.microsoft.com/office/drawing/2014/main" id="{14B721F1-D497-6FBA-5C41-0E101A1F1ACF}"/>
              </a:ext>
            </a:extLst>
          </p:cNvPr>
          <p:cNvGrpSpPr>
            <a:grpSpLocks noChangeAspect="1"/>
          </p:cNvGrpSpPr>
          <p:nvPr/>
        </p:nvGrpSpPr>
        <p:grpSpPr>
          <a:xfrm>
            <a:off x="870724" y="3879546"/>
            <a:ext cx="2689275" cy="882365"/>
            <a:chOff x="4950934" y="1968399"/>
            <a:chExt cx="3846889" cy="1262183"/>
          </a:xfrm>
        </p:grpSpPr>
        <p:sp>
          <p:nvSpPr>
            <p:cNvPr id="607" name="Rectangle: Rounded Corners 606">
              <a:extLst>
                <a:ext uri="{FF2B5EF4-FFF2-40B4-BE49-F238E27FC236}">
                  <a16:creationId xmlns:a16="http://schemas.microsoft.com/office/drawing/2014/main" id="{186D03ED-BC92-5DFD-AAD1-263D6461E95A}"/>
                </a:ext>
              </a:extLst>
            </p:cNvPr>
            <p:cNvSpPr>
              <a:spLocks noChangeAspect="1"/>
            </p:cNvSpPr>
            <p:nvPr/>
          </p:nvSpPr>
          <p:spPr>
            <a:xfrm>
              <a:off x="7122430" y="2237356"/>
              <a:ext cx="209840" cy="211365"/>
            </a:xfrm>
            <a:prstGeom prst="roundRect">
              <a:avLst/>
            </a:prstGeom>
            <a:solidFill>
              <a:schemeClr val="bg1"/>
            </a:solidFill>
            <a:ln w="6350" cap="flat">
              <a:solidFill>
                <a:srgbClr val="FF0000"/>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pic>
          <p:nvPicPr>
            <p:cNvPr id="611" name="Graphic 610" descr="Paper outline">
              <a:extLst>
                <a:ext uri="{FF2B5EF4-FFF2-40B4-BE49-F238E27FC236}">
                  <a16:creationId xmlns:a16="http://schemas.microsoft.com/office/drawing/2014/main" id="{428D1934-2B28-CF91-2872-326EF1DEE53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812176" y="1986019"/>
              <a:ext cx="985647" cy="985647"/>
            </a:xfrm>
            <a:prstGeom prst="rect">
              <a:avLst/>
            </a:prstGeom>
          </p:spPr>
        </p:pic>
        <p:pic>
          <p:nvPicPr>
            <p:cNvPr id="612" name="Graphic 611" descr="Paper outline">
              <a:extLst>
                <a:ext uri="{FF2B5EF4-FFF2-40B4-BE49-F238E27FC236}">
                  <a16:creationId xmlns:a16="http://schemas.microsoft.com/office/drawing/2014/main" id="{635B2047-A443-77B0-CB74-09AB0BE2874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198996" y="1968399"/>
              <a:ext cx="985647" cy="985647"/>
            </a:xfrm>
            <a:prstGeom prst="rect">
              <a:avLst/>
            </a:prstGeom>
          </p:spPr>
        </p:pic>
        <p:sp>
          <p:nvSpPr>
            <p:cNvPr id="616" name="Rectangle: Rounded Corners 615">
              <a:extLst>
                <a:ext uri="{FF2B5EF4-FFF2-40B4-BE49-F238E27FC236}">
                  <a16:creationId xmlns:a16="http://schemas.microsoft.com/office/drawing/2014/main" id="{E895D08F-79E9-47A4-2B85-7685F30A47DB}"/>
                </a:ext>
              </a:extLst>
            </p:cNvPr>
            <p:cNvSpPr>
              <a:spLocks noChangeAspect="1"/>
            </p:cNvSpPr>
            <p:nvPr/>
          </p:nvSpPr>
          <p:spPr>
            <a:xfrm>
              <a:off x="5543463" y="2199523"/>
              <a:ext cx="210312" cy="210312"/>
            </a:xfrm>
            <a:prstGeom prst="roundRect">
              <a:avLst/>
            </a:prstGeom>
            <a:solidFill>
              <a:srgbClr val="FF0000"/>
            </a:solidFill>
            <a:ln w="6350" cap="flat">
              <a:solidFill>
                <a:srgbClr val="FF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617" name="TextBox 616">
              <a:extLst>
                <a:ext uri="{FF2B5EF4-FFF2-40B4-BE49-F238E27FC236}">
                  <a16:creationId xmlns:a16="http://schemas.microsoft.com/office/drawing/2014/main" id="{FA6A3F34-790F-308B-984D-A134C82E14AA}"/>
                </a:ext>
              </a:extLst>
            </p:cNvPr>
            <p:cNvSpPr txBox="1"/>
            <p:nvPr/>
          </p:nvSpPr>
          <p:spPr>
            <a:xfrm>
              <a:off x="5190527" y="2647353"/>
              <a:ext cx="1380450" cy="5832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Incorrect Git Log </a:t>
              </a:r>
            </a:p>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Path specified</a:t>
              </a:r>
            </a:p>
          </p:txBody>
        </p:sp>
        <p:pic>
          <p:nvPicPr>
            <p:cNvPr id="2" name="Picture 1" descr="Account ">
              <a:extLst>
                <a:ext uri="{FF2B5EF4-FFF2-40B4-BE49-F238E27FC236}">
                  <a16:creationId xmlns:a16="http://schemas.microsoft.com/office/drawing/2014/main" id="{4B3E6E37-D13E-613F-EA13-18C1F257E32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50934" y="2244779"/>
              <a:ext cx="437146" cy="437146"/>
            </a:xfrm>
            <a:prstGeom prst="rect">
              <a:avLst/>
            </a:prstGeom>
            <a:noFill/>
            <a:extLst>
              <a:ext uri="{909E8E84-426E-40DD-AFC4-6F175D3DCCD1}">
                <a14:hiddenFill xmlns:a14="http://schemas.microsoft.com/office/drawing/2010/main">
                  <a:solidFill>
                    <a:srgbClr val="FFFFFF"/>
                  </a:solidFill>
                </a14:hiddenFill>
              </a:ext>
            </a:extLst>
          </p:spPr>
        </p:pic>
        <p:sp>
          <p:nvSpPr>
            <p:cNvPr id="590" name="Freeform: Shape 589">
              <a:extLst>
                <a:ext uri="{FF2B5EF4-FFF2-40B4-BE49-F238E27FC236}">
                  <a16:creationId xmlns:a16="http://schemas.microsoft.com/office/drawing/2014/main" id="{D7383A74-95CB-103E-94F5-806EC01C9D3A}"/>
                </a:ext>
              </a:extLst>
            </p:cNvPr>
            <p:cNvSpPr>
              <a:spLocks noChangeAspect="1"/>
            </p:cNvSpPr>
            <p:nvPr/>
          </p:nvSpPr>
          <p:spPr>
            <a:xfrm>
              <a:off x="7350904" y="2353437"/>
              <a:ext cx="503898" cy="318580"/>
            </a:xfrm>
            <a:custGeom>
              <a:avLst/>
              <a:gdLst>
                <a:gd name="csX0" fmla="*/ 503898 w 503898"/>
                <a:gd name="csY0" fmla="*/ 314936 h 318580"/>
                <a:gd name="csX1" fmla="*/ 356204 w 503898"/>
                <a:gd name="csY1" fmla="*/ 45611 h 318580"/>
                <a:gd name="csX2" fmla="*/ 121631 w 503898"/>
                <a:gd name="csY2" fmla="*/ 108598 h 318580"/>
                <a:gd name="csX3" fmla="*/ 134663 w 503898"/>
                <a:gd name="csY3" fmla="*/ 297560 h 318580"/>
                <a:gd name="csX4" fmla="*/ 323624 w 503898"/>
                <a:gd name="csY4" fmla="*/ 293216 h 318580"/>
                <a:gd name="csX5" fmla="*/ 345344 w 503898"/>
                <a:gd name="csY5" fmla="*/ 112942 h 318580"/>
                <a:gd name="csX6" fmla="*/ 0 w 503898"/>
                <a:gd name="csY6" fmla="*/ 0 h 318580"/>
                <a:gd name="csX7" fmla="*/ 0 w 503898"/>
                <a:gd name="csY7" fmla="*/ 0 h 3185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03898" h="318580" extrusionOk="0">
                  <a:moveTo>
                    <a:pt x="503898" y="314936"/>
                  </a:moveTo>
                  <a:cubicBezTo>
                    <a:pt x="453006" y="191978"/>
                    <a:pt x="414467" y="82046"/>
                    <a:pt x="356204" y="45611"/>
                  </a:cubicBezTo>
                  <a:cubicBezTo>
                    <a:pt x="295391" y="11831"/>
                    <a:pt x="155867" y="66692"/>
                    <a:pt x="121631" y="108598"/>
                  </a:cubicBezTo>
                  <a:cubicBezTo>
                    <a:pt x="81145" y="154068"/>
                    <a:pt x="99822" y="273283"/>
                    <a:pt x="134663" y="297560"/>
                  </a:cubicBezTo>
                  <a:cubicBezTo>
                    <a:pt x="164724" y="326358"/>
                    <a:pt x="291600" y="325462"/>
                    <a:pt x="323624" y="293216"/>
                  </a:cubicBezTo>
                  <a:cubicBezTo>
                    <a:pt x="364880" y="263175"/>
                    <a:pt x="404818" y="150415"/>
                    <a:pt x="345344" y="112942"/>
                  </a:cubicBezTo>
                  <a:cubicBezTo>
                    <a:pt x="291407" y="64073"/>
                    <a:pt x="-1" y="1"/>
                    <a:pt x="0" y="0"/>
                  </a:cubicBezTo>
                  <a:lnTo>
                    <a:pt x="0" y="0"/>
                  </a:lnTo>
                </a:path>
              </a:pathLst>
            </a:custGeom>
            <a:noFill/>
            <a:ln w="12700" cap="rnd">
              <a:solidFill>
                <a:schemeClr val="bg2">
                  <a:lumMod val="10000"/>
                </a:schemeClr>
              </a:solidFill>
              <a:prstDash val="dash"/>
              <a:miter lim="400000"/>
              <a:extLst>
                <a:ext uri="{C807C97D-BFC1-408E-A445-0C87EB9F89A2}">
                  <ask:lineSketchStyleProps xmlns:ask="http://schemas.microsoft.com/office/drawing/2018/sketchyshapes" sd="1219033472">
                    <a:custGeom>
                      <a:avLst/>
                      <a:gdLst>
                        <a:gd name="csX0" fmla="*/ 503898 w 503898"/>
                        <a:gd name="csY0" fmla="*/ 314936 h 318580"/>
                        <a:gd name="csX1" fmla="*/ 356204 w 503898"/>
                        <a:gd name="csY1" fmla="*/ 45611 h 318580"/>
                        <a:gd name="csX2" fmla="*/ 121631 w 503898"/>
                        <a:gd name="csY2" fmla="*/ 108598 h 318580"/>
                        <a:gd name="csX3" fmla="*/ 134663 w 503898"/>
                        <a:gd name="csY3" fmla="*/ 297560 h 318580"/>
                        <a:gd name="csX4" fmla="*/ 323624 w 503898"/>
                        <a:gd name="csY4" fmla="*/ 293216 h 318580"/>
                        <a:gd name="csX5" fmla="*/ 345344 w 503898"/>
                        <a:gd name="csY5" fmla="*/ 112942 h 318580"/>
                        <a:gd name="csX6" fmla="*/ 0 w 503898"/>
                        <a:gd name="csY6" fmla="*/ 0 h 318580"/>
                        <a:gd name="csX7" fmla="*/ 0 w 503898"/>
                        <a:gd name="csY7" fmla="*/ 0 h 3185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03898" h="318580">
                          <a:moveTo>
                            <a:pt x="503898" y="314936"/>
                          </a:moveTo>
                          <a:cubicBezTo>
                            <a:pt x="461906" y="197468"/>
                            <a:pt x="419915" y="80001"/>
                            <a:pt x="356204" y="45611"/>
                          </a:cubicBezTo>
                          <a:cubicBezTo>
                            <a:pt x="292493" y="11221"/>
                            <a:pt x="158554" y="66607"/>
                            <a:pt x="121631" y="108598"/>
                          </a:cubicBezTo>
                          <a:cubicBezTo>
                            <a:pt x="84708" y="150589"/>
                            <a:pt x="100997" y="266790"/>
                            <a:pt x="134663" y="297560"/>
                          </a:cubicBezTo>
                          <a:cubicBezTo>
                            <a:pt x="168329" y="328330"/>
                            <a:pt x="288511" y="323986"/>
                            <a:pt x="323624" y="293216"/>
                          </a:cubicBezTo>
                          <a:cubicBezTo>
                            <a:pt x="358737" y="262446"/>
                            <a:pt x="399281" y="161811"/>
                            <a:pt x="345344" y="112942"/>
                          </a:cubicBezTo>
                          <a:cubicBezTo>
                            <a:pt x="291407" y="64073"/>
                            <a:pt x="0" y="0"/>
                            <a:pt x="0" y="0"/>
                          </a:cubicBezTo>
                          <a:lnTo>
                            <a:pt x="0" y="0"/>
                          </a:lnTo>
                        </a:path>
                      </a:pathLst>
                    </a:custGeom>
                    <ask:type>
                      <ask:lineSketchCurved/>
                    </ask:type>
                  </ask:lineSketchStyleProps>
                </a:ext>
              </a:extLst>
            </a:ln>
            <a:effectLst/>
            <a:sp3d/>
          </p:spPr>
          <p:style>
            <a:lnRef idx="0">
              <a:scrgbClr r="0" g="0" b="0"/>
            </a:lnRef>
            <a:fillRef idx="0">
              <a:scrgbClr r="0" g="0" b="0"/>
            </a:fillRef>
            <a:effectRef idx="0">
              <a:scrgbClr r="0" g="0" b="0"/>
            </a:effectRef>
            <a:fontRef idx="none"/>
          </p:style>
          <p:txBody>
            <a:bodyPr rtlCol="0" anchor="ctr"/>
            <a:lstStyle/>
            <a:p>
              <a:pPr algn="ctr"/>
              <a:endParaRPr lang="en-US"/>
            </a:p>
          </p:txBody>
        </p:sp>
        <p:sp>
          <p:nvSpPr>
            <p:cNvPr id="592" name="Freeform: Shape 591">
              <a:extLst>
                <a:ext uri="{FF2B5EF4-FFF2-40B4-BE49-F238E27FC236}">
                  <a16:creationId xmlns:a16="http://schemas.microsoft.com/office/drawing/2014/main" id="{50E4B1C2-7560-CCFA-5D6F-3433033C488B}"/>
                </a:ext>
              </a:extLst>
            </p:cNvPr>
            <p:cNvSpPr>
              <a:spLocks noChangeAspect="1"/>
            </p:cNvSpPr>
            <p:nvPr/>
          </p:nvSpPr>
          <p:spPr>
            <a:xfrm>
              <a:off x="5773452" y="2306777"/>
              <a:ext cx="503898" cy="318580"/>
            </a:xfrm>
            <a:custGeom>
              <a:avLst/>
              <a:gdLst>
                <a:gd name="csX0" fmla="*/ 503898 w 503898"/>
                <a:gd name="csY0" fmla="*/ 314936 h 318580"/>
                <a:gd name="csX1" fmla="*/ 356204 w 503898"/>
                <a:gd name="csY1" fmla="*/ 45611 h 318580"/>
                <a:gd name="csX2" fmla="*/ 121631 w 503898"/>
                <a:gd name="csY2" fmla="*/ 108598 h 318580"/>
                <a:gd name="csX3" fmla="*/ 134663 w 503898"/>
                <a:gd name="csY3" fmla="*/ 297560 h 318580"/>
                <a:gd name="csX4" fmla="*/ 323624 w 503898"/>
                <a:gd name="csY4" fmla="*/ 293216 h 318580"/>
                <a:gd name="csX5" fmla="*/ 345344 w 503898"/>
                <a:gd name="csY5" fmla="*/ 112942 h 318580"/>
                <a:gd name="csX6" fmla="*/ 0 w 503898"/>
                <a:gd name="csY6" fmla="*/ 0 h 318580"/>
                <a:gd name="csX7" fmla="*/ 0 w 503898"/>
                <a:gd name="csY7" fmla="*/ 0 h 3185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03898" h="318580" extrusionOk="0">
                  <a:moveTo>
                    <a:pt x="503898" y="314936"/>
                  </a:moveTo>
                  <a:cubicBezTo>
                    <a:pt x="453006" y="191978"/>
                    <a:pt x="414467" y="82046"/>
                    <a:pt x="356204" y="45611"/>
                  </a:cubicBezTo>
                  <a:cubicBezTo>
                    <a:pt x="295391" y="11831"/>
                    <a:pt x="155867" y="66692"/>
                    <a:pt x="121631" y="108598"/>
                  </a:cubicBezTo>
                  <a:cubicBezTo>
                    <a:pt x="81145" y="154068"/>
                    <a:pt x="99822" y="273283"/>
                    <a:pt x="134663" y="297560"/>
                  </a:cubicBezTo>
                  <a:cubicBezTo>
                    <a:pt x="164724" y="326358"/>
                    <a:pt x="291600" y="325462"/>
                    <a:pt x="323624" y="293216"/>
                  </a:cubicBezTo>
                  <a:cubicBezTo>
                    <a:pt x="364880" y="263175"/>
                    <a:pt x="404818" y="150415"/>
                    <a:pt x="345344" y="112942"/>
                  </a:cubicBezTo>
                  <a:cubicBezTo>
                    <a:pt x="291407" y="64073"/>
                    <a:pt x="-1" y="1"/>
                    <a:pt x="0" y="0"/>
                  </a:cubicBezTo>
                  <a:lnTo>
                    <a:pt x="0" y="0"/>
                  </a:lnTo>
                </a:path>
              </a:pathLst>
            </a:custGeom>
            <a:noFill/>
            <a:ln w="12700" cap="rnd">
              <a:solidFill>
                <a:schemeClr val="bg2">
                  <a:lumMod val="10000"/>
                </a:schemeClr>
              </a:solidFill>
              <a:prstDash val="dash"/>
              <a:miter lim="400000"/>
              <a:extLst>
                <a:ext uri="{C807C97D-BFC1-408E-A445-0C87EB9F89A2}">
                  <ask:lineSketchStyleProps xmlns:ask="http://schemas.microsoft.com/office/drawing/2018/sketchyshapes" sd="1219033472">
                    <a:custGeom>
                      <a:avLst/>
                      <a:gdLst>
                        <a:gd name="csX0" fmla="*/ 503898 w 503898"/>
                        <a:gd name="csY0" fmla="*/ 314936 h 318580"/>
                        <a:gd name="csX1" fmla="*/ 356204 w 503898"/>
                        <a:gd name="csY1" fmla="*/ 45611 h 318580"/>
                        <a:gd name="csX2" fmla="*/ 121631 w 503898"/>
                        <a:gd name="csY2" fmla="*/ 108598 h 318580"/>
                        <a:gd name="csX3" fmla="*/ 134663 w 503898"/>
                        <a:gd name="csY3" fmla="*/ 297560 h 318580"/>
                        <a:gd name="csX4" fmla="*/ 323624 w 503898"/>
                        <a:gd name="csY4" fmla="*/ 293216 h 318580"/>
                        <a:gd name="csX5" fmla="*/ 345344 w 503898"/>
                        <a:gd name="csY5" fmla="*/ 112942 h 318580"/>
                        <a:gd name="csX6" fmla="*/ 0 w 503898"/>
                        <a:gd name="csY6" fmla="*/ 0 h 318580"/>
                        <a:gd name="csX7" fmla="*/ 0 w 503898"/>
                        <a:gd name="csY7" fmla="*/ 0 h 3185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03898" h="318580">
                          <a:moveTo>
                            <a:pt x="503898" y="314936"/>
                          </a:moveTo>
                          <a:cubicBezTo>
                            <a:pt x="461906" y="197468"/>
                            <a:pt x="419915" y="80001"/>
                            <a:pt x="356204" y="45611"/>
                          </a:cubicBezTo>
                          <a:cubicBezTo>
                            <a:pt x="292493" y="11221"/>
                            <a:pt x="158554" y="66607"/>
                            <a:pt x="121631" y="108598"/>
                          </a:cubicBezTo>
                          <a:cubicBezTo>
                            <a:pt x="84708" y="150589"/>
                            <a:pt x="100997" y="266790"/>
                            <a:pt x="134663" y="297560"/>
                          </a:cubicBezTo>
                          <a:cubicBezTo>
                            <a:pt x="168329" y="328330"/>
                            <a:pt x="288511" y="323986"/>
                            <a:pt x="323624" y="293216"/>
                          </a:cubicBezTo>
                          <a:cubicBezTo>
                            <a:pt x="358737" y="262446"/>
                            <a:pt x="399281" y="161811"/>
                            <a:pt x="345344" y="112942"/>
                          </a:cubicBezTo>
                          <a:cubicBezTo>
                            <a:pt x="291407" y="64073"/>
                            <a:pt x="0" y="0"/>
                            <a:pt x="0" y="0"/>
                          </a:cubicBezTo>
                          <a:lnTo>
                            <a:pt x="0" y="0"/>
                          </a:lnTo>
                        </a:path>
                      </a:pathLst>
                    </a:custGeom>
                    <ask:type>
                      <ask:lineSketchCurved/>
                    </ask:type>
                  </ask:lineSketchStyleProps>
                </a:ext>
              </a:extLst>
            </a:ln>
            <a:effectLst/>
            <a:sp3d/>
          </p:spPr>
          <p:style>
            <a:lnRef idx="0">
              <a:scrgbClr r="0" g="0" b="0"/>
            </a:lnRef>
            <a:fillRef idx="0">
              <a:scrgbClr r="0" g="0" b="0"/>
            </a:fillRef>
            <a:effectRef idx="0">
              <a:scrgbClr r="0" g="0" b="0"/>
            </a:effectRef>
            <a:fontRef idx="none"/>
          </p:style>
          <p:txBody>
            <a:bodyPr rtlCol="0" anchor="ctr"/>
            <a:lstStyle/>
            <a:p>
              <a:pPr algn="ctr"/>
              <a:endParaRPr lang="en-US"/>
            </a:p>
          </p:txBody>
        </p:sp>
      </p:grpSp>
      <p:sp>
        <p:nvSpPr>
          <p:cNvPr id="596" name="Line">
            <a:extLst>
              <a:ext uri="{FF2B5EF4-FFF2-40B4-BE49-F238E27FC236}">
                <a16:creationId xmlns:a16="http://schemas.microsoft.com/office/drawing/2014/main" id="{2F1C4491-07BE-D69A-E34B-422E8705B2D7}"/>
              </a:ext>
            </a:extLst>
          </p:cNvPr>
          <p:cNvSpPr/>
          <p:nvPr/>
        </p:nvSpPr>
        <p:spPr>
          <a:xfrm flipV="1">
            <a:off x="211240" y="5723280"/>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 name="TextBox 3">
            <a:extLst>
              <a:ext uri="{FF2B5EF4-FFF2-40B4-BE49-F238E27FC236}">
                <a16:creationId xmlns:a16="http://schemas.microsoft.com/office/drawing/2014/main" id="{EBE32964-FBBC-6D92-6AB5-1579C4509DCB}"/>
              </a:ext>
            </a:extLst>
          </p:cNvPr>
          <p:cNvSpPr txBox="1"/>
          <p:nvPr/>
        </p:nvSpPr>
        <p:spPr>
          <a:xfrm>
            <a:off x="232689" y="4708739"/>
            <a:ext cx="4184378"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tx1">
                    <a:lumMod val="50000"/>
                  </a:schemeClr>
                </a:solidFill>
              </a:rPr>
              <a:t>A common example in Kaiaulu is an invalid Git Log Path specified in a parser, which moves to a transform, and eventually throws an error in an .Rmd file. </a:t>
            </a:r>
            <a:endParaRPr lang="en-US" b="0" dirty="0">
              <a:solidFill>
                <a:schemeClr val="tx1"/>
              </a:solidFill>
              <a:effectLst/>
              <a:latin typeface="Source Sans Pro" panose="020B0503030403020204" pitchFamily="34" charset="0"/>
              <a:ea typeface="Source Sans Pro" panose="020B0503030403020204" pitchFamily="34" charset="0"/>
            </a:endParaRPr>
          </a:p>
        </p:txBody>
      </p:sp>
      <p:grpSp>
        <p:nvGrpSpPr>
          <p:cNvPr id="10" name="Group 9">
            <a:extLst>
              <a:ext uri="{FF2B5EF4-FFF2-40B4-BE49-F238E27FC236}">
                <a16:creationId xmlns:a16="http://schemas.microsoft.com/office/drawing/2014/main" id="{308DFFFF-F378-8739-12CC-FD1A1A82BA98}"/>
              </a:ext>
            </a:extLst>
          </p:cNvPr>
          <p:cNvGrpSpPr/>
          <p:nvPr/>
        </p:nvGrpSpPr>
        <p:grpSpPr>
          <a:xfrm>
            <a:off x="95890" y="5745473"/>
            <a:ext cx="4572201" cy="3628080"/>
            <a:chOff x="-4831889" y="3519441"/>
            <a:chExt cx="4572201" cy="3628080"/>
          </a:xfrm>
        </p:grpSpPr>
        <p:pic>
          <p:nvPicPr>
            <p:cNvPr id="46" name="Graphic 45" descr="Paper outline">
              <a:extLst>
                <a:ext uri="{FF2B5EF4-FFF2-40B4-BE49-F238E27FC236}">
                  <a16:creationId xmlns:a16="http://schemas.microsoft.com/office/drawing/2014/main" id="{6C86C4F9-4B64-A877-42F5-9CE3296A289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938302" y="5804147"/>
              <a:ext cx="1118249" cy="1118249"/>
            </a:xfrm>
            <a:prstGeom prst="rect">
              <a:avLst/>
            </a:prstGeom>
          </p:spPr>
        </p:pic>
        <p:pic>
          <p:nvPicPr>
            <p:cNvPr id="47" name="Graphic 46" descr="Paper outline">
              <a:extLst>
                <a:ext uri="{FF2B5EF4-FFF2-40B4-BE49-F238E27FC236}">
                  <a16:creationId xmlns:a16="http://schemas.microsoft.com/office/drawing/2014/main" id="{8987A9E6-A2F5-AA5A-B958-137B4663174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102881" y="4022058"/>
              <a:ext cx="1731153" cy="1731153"/>
            </a:xfrm>
            <a:prstGeom prst="rect">
              <a:avLst/>
            </a:prstGeom>
          </p:spPr>
        </p:pic>
        <p:sp>
          <p:nvSpPr>
            <p:cNvPr id="48" name="TextBox 47">
              <a:extLst>
                <a:ext uri="{FF2B5EF4-FFF2-40B4-BE49-F238E27FC236}">
                  <a16:creationId xmlns:a16="http://schemas.microsoft.com/office/drawing/2014/main" id="{A8CE51C4-B0F7-67EE-F352-48EB98E77857}"/>
                </a:ext>
              </a:extLst>
            </p:cNvPr>
            <p:cNvSpPr txBox="1"/>
            <p:nvPr/>
          </p:nvSpPr>
          <p:spPr>
            <a:xfrm>
              <a:off x="-2782709" y="4108565"/>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Downloaders</a:t>
              </a:r>
              <a:endParaRPr lang="en-US" sz="800" b="0" dirty="0"/>
            </a:p>
          </p:txBody>
        </p:sp>
        <p:sp>
          <p:nvSpPr>
            <p:cNvPr id="49" name="TextBox 48">
              <a:extLst>
                <a:ext uri="{FF2B5EF4-FFF2-40B4-BE49-F238E27FC236}">
                  <a16:creationId xmlns:a16="http://schemas.microsoft.com/office/drawing/2014/main" id="{D5A5C44B-A441-06D5-D64D-DFC2AAC3576E}"/>
                </a:ext>
              </a:extLst>
            </p:cNvPr>
            <p:cNvSpPr txBox="1"/>
            <p:nvPr/>
          </p:nvSpPr>
          <p:spPr>
            <a:xfrm>
              <a:off x="-2778808" y="4208016"/>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51" name="TextBox 50">
              <a:extLst>
                <a:ext uri="{FF2B5EF4-FFF2-40B4-BE49-F238E27FC236}">
                  <a16:creationId xmlns:a16="http://schemas.microsoft.com/office/drawing/2014/main" id="{EFDE0B2F-A84D-8DB4-4283-3C7CD9F2582D}"/>
                </a:ext>
              </a:extLst>
            </p:cNvPr>
            <p:cNvSpPr txBox="1"/>
            <p:nvPr/>
          </p:nvSpPr>
          <p:spPr>
            <a:xfrm>
              <a:off x="-2778226" y="4622946"/>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52" name="TextBox 51">
              <a:extLst>
                <a:ext uri="{FF2B5EF4-FFF2-40B4-BE49-F238E27FC236}">
                  <a16:creationId xmlns:a16="http://schemas.microsoft.com/office/drawing/2014/main" id="{5B5C30C9-2846-683C-C82F-9ABB97606CFA}"/>
                </a:ext>
              </a:extLst>
            </p:cNvPr>
            <p:cNvSpPr txBox="1"/>
            <p:nvPr/>
          </p:nvSpPr>
          <p:spPr>
            <a:xfrm>
              <a:off x="-2782709" y="4516851"/>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Parsers</a:t>
              </a:r>
              <a:endParaRPr lang="en-US" sz="800" b="0" dirty="0"/>
            </a:p>
          </p:txBody>
        </p:sp>
        <p:sp>
          <p:nvSpPr>
            <p:cNvPr id="494" name="TextBox 493">
              <a:extLst>
                <a:ext uri="{FF2B5EF4-FFF2-40B4-BE49-F238E27FC236}">
                  <a16:creationId xmlns:a16="http://schemas.microsoft.com/office/drawing/2014/main" id="{F71EAB3E-D0B4-58FF-E5D2-17CE0E045C36}"/>
                </a:ext>
              </a:extLst>
            </p:cNvPr>
            <p:cNvSpPr txBox="1"/>
            <p:nvPr/>
          </p:nvSpPr>
          <p:spPr>
            <a:xfrm>
              <a:off x="-2773244" y="5031878"/>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496" name="TextBox 495">
              <a:extLst>
                <a:ext uri="{FF2B5EF4-FFF2-40B4-BE49-F238E27FC236}">
                  <a16:creationId xmlns:a16="http://schemas.microsoft.com/office/drawing/2014/main" id="{154CE9FB-1715-C713-8111-1E66613B8FC6}"/>
                </a:ext>
              </a:extLst>
            </p:cNvPr>
            <p:cNvSpPr txBox="1"/>
            <p:nvPr/>
          </p:nvSpPr>
          <p:spPr>
            <a:xfrm>
              <a:off x="-2778808" y="4927582"/>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Transforms</a:t>
              </a:r>
              <a:endParaRPr lang="en-US" sz="800" b="0" dirty="0"/>
            </a:p>
          </p:txBody>
        </p:sp>
        <p:pic>
          <p:nvPicPr>
            <p:cNvPr id="497" name="Graphic 496" descr="Paper outline">
              <a:extLst>
                <a:ext uri="{FF2B5EF4-FFF2-40B4-BE49-F238E27FC236}">
                  <a16:creationId xmlns:a16="http://schemas.microsoft.com/office/drawing/2014/main" id="{A1809D06-A611-2630-DEBB-E34648CAB0E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643729" y="5866653"/>
              <a:ext cx="1118249" cy="1118249"/>
            </a:xfrm>
            <a:prstGeom prst="rect">
              <a:avLst/>
            </a:prstGeom>
          </p:spPr>
        </p:pic>
        <p:sp>
          <p:nvSpPr>
            <p:cNvPr id="500" name="Google Shape;318;p17">
              <a:extLst>
                <a:ext uri="{FF2B5EF4-FFF2-40B4-BE49-F238E27FC236}">
                  <a16:creationId xmlns:a16="http://schemas.microsoft.com/office/drawing/2014/main" id="{99C52722-0632-C37E-318F-733690DC364B}"/>
                </a:ext>
              </a:extLst>
            </p:cNvPr>
            <p:cNvSpPr txBox="1"/>
            <p:nvPr/>
          </p:nvSpPr>
          <p:spPr>
            <a:xfrm>
              <a:off x="-1894952" y="6673880"/>
              <a:ext cx="1635264"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US" sz="1400" dirty="0"/>
                <a:t>Tests/**</a:t>
              </a:r>
              <a:endParaRPr sz="1400" dirty="0"/>
            </a:p>
          </p:txBody>
        </p:sp>
        <p:sp>
          <p:nvSpPr>
            <p:cNvPr id="503" name="TextBox 502">
              <a:extLst>
                <a:ext uri="{FF2B5EF4-FFF2-40B4-BE49-F238E27FC236}">
                  <a16:creationId xmlns:a16="http://schemas.microsoft.com/office/drawing/2014/main" id="{41ADA81B-2BFE-2342-40A2-B1713D017061}"/>
                </a:ext>
              </a:extLst>
            </p:cNvPr>
            <p:cNvSpPr txBox="1"/>
            <p:nvPr/>
          </p:nvSpPr>
          <p:spPr>
            <a:xfrm>
              <a:off x="-1422819" y="6241381"/>
              <a:ext cx="676428"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1000" b="0" dirty="0"/>
                <a:t>testthat</a:t>
              </a:r>
              <a:endParaRPr kumimoji="0" lang="en-US" sz="1000" b="0" i="0" u="none" strike="noStrike" cap="none" spc="0" normalizeH="0" baseline="0" dirty="0">
                <a:ln>
                  <a:noFill/>
                </a:ln>
                <a:effectLst/>
                <a:uFillTx/>
                <a:latin typeface="Source Sans Pro"/>
                <a:ea typeface="Source Sans Pro"/>
                <a:cs typeface="Source Sans Pro"/>
                <a:sym typeface="Source Sans Pro"/>
              </a:endParaRPr>
            </a:p>
          </p:txBody>
        </p:sp>
        <p:sp>
          <p:nvSpPr>
            <p:cNvPr id="505" name="Google Shape;346;p17">
              <a:extLst>
                <a:ext uri="{FF2B5EF4-FFF2-40B4-BE49-F238E27FC236}">
                  <a16:creationId xmlns:a16="http://schemas.microsoft.com/office/drawing/2014/main" id="{31EE49AF-287D-D3D5-E0D1-7D488BB6ECC9}"/>
                </a:ext>
              </a:extLst>
            </p:cNvPr>
            <p:cNvSpPr/>
            <p:nvPr/>
          </p:nvSpPr>
          <p:spPr>
            <a:xfrm>
              <a:off x="-1352132" y="6267039"/>
              <a:ext cx="549624" cy="255847"/>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spcBef>
                  <a:spcPts val="0"/>
                </a:spcBef>
              </a:pPr>
              <a:endParaRPr sz="1833"/>
            </a:p>
          </p:txBody>
        </p:sp>
        <p:sp>
          <p:nvSpPr>
            <p:cNvPr id="506" name="Google Shape;317;p17">
              <a:extLst>
                <a:ext uri="{FF2B5EF4-FFF2-40B4-BE49-F238E27FC236}">
                  <a16:creationId xmlns:a16="http://schemas.microsoft.com/office/drawing/2014/main" id="{750A1CF8-309C-689A-22F2-79A645877591}"/>
                </a:ext>
              </a:extLst>
            </p:cNvPr>
            <p:cNvSpPr txBox="1"/>
            <p:nvPr/>
          </p:nvSpPr>
          <p:spPr>
            <a:xfrm>
              <a:off x="-4036595" y="5957692"/>
              <a:ext cx="1320250" cy="541969"/>
            </a:xfrm>
            <a:prstGeom prst="rect">
              <a:avLst/>
            </a:prstGeom>
            <a:noFill/>
            <a:ln>
              <a:noFill/>
            </a:ln>
          </p:spPr>
          <p:txBody>
            <a:bodyPr spcFirstLastPara="1" wrap="square" lIns="295319" tIns="295319" rIns="295319" bIns="295319" anchor="t" anchorCtr="0">
              <a:noAutofit/>
            </a:bodyPr>
            <a:lstStyle/>
            <a:p>
              <a:pPr algn="ctr">
                <a:spcBef>
                  <a:spcPts val="0"/>
                </a:spcBef>
              </a:pPr>
              <a:r>
                <a:rPr lang="en" sz="800" b="0" dirty="0"/>
                <a:t>Example Fake Data</a:t>
              </a:r>
              <a:endParaRPr sz="800" b="0" dirty="0"/>
            </a:p>
          </p:txBody>
        </p:sp>
        <p:sp>
          <p:nvSpPr>
            <p:cNvPr id="507" name="Google Shape;306;p17">
              <a:extLst>
                <a:ext uri="{FF2B5EF4-FFF2-40B4-BE49-F238E27FC236}">
                  <a16:creationId xmlns:a16="http://schemas.microsoft.com/office/drawing/2014/main" id="{A076CF23-292C-380C-C6DE-6520D5BE022F}"/>
                </a:ext>
              </a:extLst>
            </p:cNvPr>
            <p:cNvSpPr txBox="1"/>
            <p:nvPr/>
          </p:nvSpPr>
          <p:spPr>
            <a:xfrm>
              <a:off x="-2857835" y="5352399"/>
              <a:ext cx="1136939" cy="610729"/>
            </a:xfrm>
            <a:prstGeom prst="rect">
              <a:avLst/>
            </a:prstGeom>
            <a:noFill/>
            <a:ln>
              <a:noFill/>
            </a:ln>
          </p:spPr>
          <p:txBody>
            <a:bodyPr spcFirstLastPara="1" wrap="square" lIns="295319" tIns="295319" rIns="295319" bIns="295319" anchor="t" anchorCtr="0">
              <a:noAutofit/>
            </a:bodyPr>
            <a:lstStyle/>
            <a:p>
              <a:pPr algn="ctr">
                <a:spcBef>
                  <a:spcPts val="0"/>
                </a:spcBef>
              </a:pPr>
              <a:r>
                <a:rPr lang="en" sz="1400" dirty="0">
                  <a:solidFill>
                    <a:schemeClr val="dk2"/>
                  </a:solidFill>
                </a:rPr>
                <a:t>Git.R</a:t>
              </a:r>
              <a:endParaRPr sz="1400" dirty="0">
                <a:solidFill>
                  <a:schemeClr val="dk2"/>
                </a:solidFill>
              </a:endParaRPr>
            </a:p>
          </p:txBody>
        </p:sp>
        <p:sp>
          <p:nvSpPr>
            <p:cNvPr id="513" name="Google Shape;306;p17">
              <a:extLst>
                <a:ext uri="{FF2B5EF4-FFF2-40B4-BE49-F238E27FC236}">
                  <a16:creationId xmlns:a16="http://schemas.microsoft.com/office/drawing/2014/main" id="{5E86204A-789A-76C7-A485-6E726A461C6B}"/>
                </a:ext>
              </a:extLst>
            </p:cNvPr>
            <p:cNvSpPr txBox="1"/>
            <p:nvPr/>
          </p:nvSpPr>
          <p:spPr>
            <a:xfrm>
              <a:off x="-4818838" y="5052234"/>
              <a:ext cx="961423" cy="212651"/>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JIRA.R</a:t>
              </a:r>
              <a:endParaRPr sz="1000" b="0" dirty="0">
                <a:solidFill>
                  <a:schemeClr val="dk2"/>
                </a:solidFill>
              </a:endParaRPr>
            </a:p>
          </p:txBody>
        </p:sp>
        <p:cxnSp>
          <p:nvCxnSpPr>
            <p:cNvPr id="514" name="Connector: Elbow 513">
              <a:extLst>
                <a:ext uri="{FF2B5EF4-FFF2-40B4-BE49-F238E27FC236}">
                  <a16:creationId xmlns:a16="http://schemas.microsoft.com/office/drawing/2014/main" id="{EB3874A4-56E0-85B8-0850-4D305F4DEDA7}"/>
                </a:ext>
              </a:extLst>
            </p:cNvPr>
            <p:cNvCxnSpPr>
              <a:cxnSpLocks/>
            </p:cNvCxnSpPr>
            <p:nvPr/>
          </p:nvCxnSpPr>
          <p:spPr>
            <a:xfrm rot="16200000" flipH="1">
              <a:off x="-2349307" y="4473414"/>
              <a:ext cx="1650573" cy="1223096"/>
            </a:xfrm>
            <a:prstGeom prst="bentConnector3">
              <a:avLst>
                <a:gd name="adj1" fmla="val 864"/>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15" name="Connector: Elbow 514">
              <a:extLst>
                <a:ext uri="{FF2B5EF4-FFF2-40B4-BE49-F238E27FC236}">
                  <a16:creationId xmlns:a16="http://schemas.microsoft.com/office/drawing/2014/main" id="{A9E9974F-FE46-D733-4F1E-07AE926DDF2F}"/>
                </a:ext>
              </a:extLst>
            </p:cNvPr>
            <p:cNvCxnSpPr>
              <a:cxnSpLocks/>
            </p:cNvCxnSpPr>
            <p:nvPr/>
          </p:nvCxnSpPr>
          <p:spPr>
            <a:xfrm>
              <a:off x="-2383309" y="4654065"/>
              <a:ext cx="1301263" cy="1256183"/>
            </a:xfrm>
            <a:prstGeom prst="bentConnector3">
              <a:avLst>
                <a:gd name="adj1" fmla="val 998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17" name="Connector: Elbow 516">
              <a:extLst>
                <a:ext uri="{FF2B5EF4-FFF2-40B4-BE49-F238E27FC236}">
                  <a16:creationId xmlns:a16="http://schemas.microsoft.com/office/drawing/2014/main" id="{92A8B7A1-AAFE-5AB6-2B1E-181AE9B8A750}"/>
                </a:ext>
              </a:extLst>
            </p:cNvPr>
            <p:cNvCxnSpPr>
              <a:cxnSpLocks/>
            </p:cNvCxnSpPr>
            <p:nvPr/>
          </p:nvCxnSpPr>
          <p:spPr>
            <a:xfrm>
              <a:off x="-2224504" y="5069396"/>
              <a:ext cx="973858" cy="840853"/>
            </a:xfrm>
            <a:prstGeom prst="bentConnector3">
              <a:avLst>
                <a:gd name="adj1" fmla="val 99805"/>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521" name="TextBox 520">
              <a:extLst>
                <a:ext uri="{FF2B5EF4-FFF2-40B4-BE49-F238E27FC236}">
                  <a16:creationId xmlns:a16="http://schemas.microsoft.com/office/drawing/2014/main" id="{3997A748-6D9C-0AC8-69C2-812D9FAC7D94}"/>
                </a:ext>
              </a:extLst>
            </p:cNvPr>
            <p:cNvSpPr txBox="1"/>
            <p:nvPr/>
          </p:nvSpPr>
          <p:spPr>
            <a:xfrm>
              <a:off x="-2773244" y="5341359"/>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Fake Data Generator</a:t>
              </a:r>
              <a:endParaRPr lang="en-US" sz="800" b="0" dirty="0"/>
            </a:p>
          </p:txBody>
        </p:sp>
        <p:cxnSp>
          <p:nvCxnSpPr>
            <p:cNvPr id="522" name="Connector: Elbow 521">
              <a:extLst>
                <a:ext uri="{FF2B5EF4-FFF2-40B4-BE49-F238E27FC236}">
                  <a16:creationId xmlns:a16="http://schemas.microsoft.com/office/drawing/2014/main" id="{004596BE-716E-E7FA-A7E5-CA9A5DBA8B3E}"/>
                </a:ext>
              </a:extLst>
            </p:cNvPr>
            <p:cNvCxnSpPr>
              <a:cxnSpLocks/>
              <a:endCxn id="46" idx="0"/>
            </p:cNvCxnSpPr>
            <p:nvPr/>
          </p:nvCxnSpPr>
          <p:spPr>
            <a:xfrm rot="10800000" flipV="1">
              <a:off x="-3379177" y="5483249"/>
              <a:ext cx="650776" cy="320897"/>
            </a:xfrm>
            <a:prstGeom prst="bentConnector2">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23" name="Google Shape;445;p18">
              <a:extLst>
                <a:ext uri="{FF2B5EF4-FFF2-40B4-BE49-F238E27FC236}">
                  <a16:creationId xmlns:a16="http://schemas.microsoft.com/office/drawing/2014/main" id="{F59DF07C-AEDF-9DBE-6974-C0141C4D4C3B}"/>
                </a:ext>
              </a:extLst>
            </p:cNvPr>
            <p:cNvCxnSpPr>
              <a:cxnSpLocks/>
            </p:cNvCxnSpPr>
            <p:nvPr/>
          </p:nvCxnSpPr>
          <p:spPr>
            <a:xfrm>
              <a:off x="-2980215" y="6386252"/>
              <a:ext cx="1475409" cy="0"/>
            </a:xfrm>
            <a:prstGeom prst="straightConnector1">
              <a:avLst/>
            </a:prstGeom>
            <a:noFill/>
            <a:ln w="28575" cap="flat" cmpd="sng">
              <a:solidFill>
                <a:srgbClr val="1B1311"/>
              </a:solidFill>
              <a:prstDash val="solid"/>
              <a:round/>
              <a:headEnd type="none" w="med" len="med"/>
              <a:tailEnd type="triangle" w="med" len="med"/>
            </a:ln>
          </p:spPr>
        </p:cxnSp>
        <p:pic>
          <p:nvPicPr>
            <p:cNvPr id="575" name="Graphic 574" descr="Paper outline">
              <a:extLst>
                <a:ext uri="{FF2B5EF4-FFF2-40B4-BE49-F238E27FC236}">
                  <a16:creationId xmlns:a16="http://schemas.microsoft.com/office/drawing/2014/main" id="{8C5E7779-08A7-E473-87BC-6A6452913B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034135" y="4239446"/>
              <a:ext cx="388976" cy="388976"/>
            </a:xfrm>
            <a:prstGeom prst="rect">
              <a:avLst/>
            </a:prstGeom>
          </p:spPr>
        </p:pic>
        <p:sp>
          <p:nvSpPr>
            <p:cNvPr id="576" name="Google Shape;306;p17">
              <a:extLst>
                <a:ext uri="{FF2B5EF4-FFF2-40B4-BE49-F238E27FC236}">
                  <a16:creationId xmlns:a16="http://schemas.microsoft.com/office/drawing/2014/main" id="{2EB61961-901E-F875-A28A-D7B0C2E107E4}"/>
                </a:ext>
              </a:extLst>
            </p:cNvPr>
            <p:cNvSpPr txBox="1"/>
            <p:nvPr/>
          </p:nvSpPr>
          <p:spPr>
            <a:xfrm>
              <a:off x="-4811370" y="5804778"/>
              <a:ext cx="928261"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src.R</a:t>
              </a:r>
              <a:endParaRPr sz="1000" b="0" dirty="0">
                <a:solidFill>
                  <a:schemeClr val="dk2"/>
                </a:solidFill>
              </a:endParaRPr>
            </a:p>
          </p:txBody>
        </p:sp>
        <p:pic>
          <p:nvPicPr>
            <p:cNvPr id="577" name="Graphic 576" descr="Paper outline">
              <a:extLst>
                <a:ext uri="{FF2B5EF4-FFF2-40B4-BE49-F238E27FC236}">
                  <a16:creationId xmlns:a16="http://schemas.microsoft.com/office/drawing/2014/main" id="{D8C3CEFA-0B1D-775C-6D3B-7DC2690241E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532614" y="4246806"/>
              <a:ext cx="388976" cy="388976"/>
            </a:xfrm>
            <a:prstGeom prst="rect">
              <a:avLst/>
            </a:prstGeom>
          </p:spPr>
        </p:pic>
        <p:pic>
          <p:nvPicPr>
            <p:cNvPr id="578" name="Graphic 577" descr="Paper outline">
              <a:extLst>
                <a:ext uri="{FF2B5EF4-FFF2-40B4-BE49-F238E27FC236}">
                  <a16:creationId xmlns:a16="http://schemas.microsoft.com/office/drawing/2014/main" id="{B7A48CD4-F43A-EF0F-D7F8-D0A53EE6E17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532614" y="4808841"/>
              <a:ext cx="388976" cy="388976"/>
            </a:xfrm>
            <a:prstGeom prst="rect">
              <a:avLst/>
            </a:prstGeom>
          </p:spPr>
        </p:pic>
        <p:pic>
          <p:nvPicPr>
            <p:cNvPr id="579" name="Graphic 578" descr="Paper outline">
              <a:extLst>
                <a:ext uri="{FF2B5EF4-FFF2-40B4-BE49-F238E27FC236}">
                  <a16:creationId xmlns:a16="http://schemas.microsoft.com/office/drawing/2014/main" id="{DCC4B2FB-8006-1121-AE63-B18DC54C5BD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541727" y="5667807"/>
              <a:ext cx="388976" cy="388976"/>
            </a:xfrm>
            <a:prstGeom prst="rect">
              <a:avLst/>
            </a:prstGeom>
          </p:spPr>
        </p:pic>
        <p:sp>
          <p:nvSpPr>
            <p:cNvPr id="580" name="Google Shape;306;p17">
              <a:extLst>
                <a:ext uri="{FF2B5EF4-FFF2-40B4-BE49-F238E27FC236}">
                  <a16:creationId xmlns:a16="http://schemas.microsoft.com/office/drawing/2014/main" id="{09D6DE40-D1C6-5FF7-B8DB-74C7380E799F}"/>
                </a:ext>
              </a:extLst>
            </p:cNvPr>
            <p:cNvSpPr txBox="1"/>
            <p:nvPr/>
          </p:nvSpPr>
          <p:spPr>
            <a:xfrm>
              <a:off x="-4312796" y="4463274"/>
              <a:ext cx="940079" cy="24014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Git.R</a:t>
              </a:r>
              <a:endParaRPr sz="1000" b="0" dirty="0">
                <a:solidFill>
                  <a:schemeClr val="dk2"/>
                </a:solidFill>
              </a:endParaRPr>
            </a:p>
          </p:txBody>
        </p:sp>
        <p:sp>
          <p:nvSpPr>
            <p:cNvPr id="581" name="Google Shape;306;p17">
              <a:extLst>
                <a:ext uri="{FF2B5EF4-FFF2-40B4-BE49-F238E27FC236}">
                  <a16:creationId xmlns:a16="http://schemas.microsoft.com/office/drawing/2014/main" id="{80B4C94F-0E7F-43B6-4914-F122D97FE7AD}"/>
                </a:ext>
              </a:extLst>
            </p:cNvPr>
            <p:cNvSpPr txBox="1"/>
            <p:nvPr/>
          </p:nvSpPr>
          <p:spPr>
            <a:xfrm>
              <a:off x="-4831889" y="4393223"/>
              <a:ext cx="987526"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Mail.R</a:t>
              </a:r>
              <a:endParaRPr sz="1000" b="0" dirty="0">
                <a:solidFill>
                  <a:schemeClr val="dk2"/>
                </a:solidFill>
              </a:endParaRPr>
            </a:p>
          </p:txBody>
        </p:sp>
        <p:sp>
          <p:nvSpPr>
            <p:cNvPr id="585" name="Oval 584">
              <a:extLst>
                <a:ext uri="{FF2B5EF4-FFF2-40B4-BE49-F238E27FC236}">
                  <a16:creationId xmlns:a16="http://schemas.microsoft.com/office/drawing/2014/main" id="{D27CB4B6-1151-CD12-EF78-3CC0BD493517}"/>
                </a:ext>
              </a:extLst>
            </p:cNvPr>
            <p:cNvSpPr/>
            <p:nvPr/>
          </p:nvSpPr>
          <p:spPr>
            <a:xfrm>
              <a:off x="-4111545" y="4224000"/>
              <a:ext cx="550867" cy="525694"/>
            </a:xfrm>
            <a:prstGeom prst="ellipse">
              <a:avLst/>
            </a:prstGeom>
            <a:noFill/>
            <a:ln w="12700" cap="flat">
              <a:solidFill>
                <a:srgbClr val="4C4C4C"/>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sp>
          <p:nvSpPr>
            <p:cNvPr id="586" name="Oval 585">
              <a:extLst>
                <a:ext uri="{FF2B5EF4-FFF2-40B4-BE49-F238E27FC236}">
                  <a16:creationId xmlns:a16="http://schemas.microsoft.com/office/drawing/2014/main" id="{A99D4352-715F-1000-2AC6-E7FAB10B022F}"/>
                </a:ext>
              </a:extLst>
            </p:cNvPr>
            <p:cNvSpPr/>
            <p:nvPr/>
          </p:nvSpPr>
          <p:spPr>
            <a:xfrm>
              <a:off x="-3358650" y="3869552"/>
              <a:ext cx="2158097" cy="2196943"/>
            </a:xfrm>
            <a:prstGeom prst="ellipse">
              <a:avLst/>
            </a:prstGeom>
            <a:noFill/>
            <a:ln w="12700" cap="flat">
              <a:solidFill>
                <a:srgbClr val="4C4C4C"/>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cxnSp>
          <p:nvCxnSpPr>
            <p:cNvPr id="587" name="Straight Connector 586">
              <a:extLst>
                <a:ext uri="{FF2B5EF4-FFF2-40B4-BE49-F238E27FC236}">
                  <a16:creationId xmlns:a16="http://schemas.microsoft.com/office/drawing/2014/main" id="{65531748-C775-B460-209B-4FD2E1D2C76D}"/>
                </a:ext>
              </a:extLst>
            </p:cNvPr>
            <p:cNvCxnSpPr>
              <a:cxnSpLocks/>
              <a:endCxn id="585" idx="3"/>
            </p:cNvCxnSpPr>
            <p:nvPr/>
          </p:nvCxnSpPr>
          <p:spPr>
            <a:xfrm flipH="1" flipV="1">
              <a:off x="-4030872" y="4672708"/>
              <a:ext cx="756816" cy="744979"/>
            </a:xfrm>
            <a:prstGeom prst="line">
              <a:avLst/>
            </a:prstGeom>
            <a:ln w="127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91" name="Straight Connector 590">
              <a:extLst>
                <a:ext uri="{FF2B5EF4-FFF2-40B4-BE49-F238E27FC236}">
                  <a16:creationId xmlns:a16="http://schemas.microsoft.com/office/drawing/2014/main" id="{04DCCF75-E7C1-648F-E8A9-AEDEAC773A0D}"/>
                </a:ext>
              </a:extLst>
            </p:cNvPr>
            <p:cNvCxnSpPr>
              <a:cxnSpLocks/>
              <a:endCxn id="585" idx="0"/>
            </p:cNvCxnSpPr>
            <p:nvPr/>
          </p:nvCxnSpPr>
          <p:spPr>
            <a:xfrm flipH="1">
              <a:off x="-3836111" y="3934786"/>
              <a:ext cx="1215870" cy="289214"/>
            </a:xfrm>
            <a:prstGeom prst="line">
              <a:avLst/>
            </a:prstGeom>
            <a:ln w="127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94" name="TextBox 593">
              <a:extLst>
                <a:ext uri="{FF2B5EF4-FFF2-40B4-BE49-F238E27FC236}">
                  <a16:creationId xmlns:a16="http://schemas.microsoft.com/office/drawing/2014/main" id="{0ADE1896-B7DB-CE02-10D1-7AD8E0423491}"/>
                </a:ext>
              </a:extLst>
            </p:cNvPr>
            <p:cNvSpPr txBox="1"/>
            <p:nvPr/>
          </p:nvSpPr>
          <p:spPr>
            <a:xfrm>
              <a:off x="-4496587" y="5273313"/>
              <a:ext cx="536368" cy="5308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dirty="0"/>
                <a:t>.</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95" name="Google Shape;312;p17">
              <a:extLst>
                <a:ext uri="{FF2B5EF4-FFF2-40B4-BE49-F238E27FC236}">
                  <a16:creationId xmlns:a16="http://schemas.microsoft.com/office/drawing/2014/main" id="{140C919A-FA05-5EC3-FB2D-BF3910100808}"/>
                </a:ext>
              </a:extLst>
            </p:cNvPr>
            <p:cNvSpPr txBox="1"/>
            <p:nvPr/>
          </p:nvSpPr>
          <p:spPr>
            <a:xfrm>
              <a:off x="-4483354" y="6629273"/>
              <a:ext cx="2240541"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400" dirty="0"/>
                <a:t>Example.R</a:t>
              </a:r>
              <a:endParaRPr sz="1400" dirty="0"/>
            </a:p>
          </p:txBody>
        </p:sp>
        <p:sp>
          <p:nvSpPr>
            <p:cNvPr id="597" name="TextBox 596">
              <a:extLst>
                <a:ext uri="{FF2B5EF4-FFF2-40B4-BE49-F238E27FC236}">
                  <a16:creationId xmlns:a16="http://schemas.microsoft.com/office/drawing/2014/main" id="{84AEA336-2327-A8F7-D679-99E0D058A701}"/>
                </a:ext>
              </a:extLst>
            </p:cNvPr>
            <p:cNvSpPr txBox="1"/>
            <p:nvPr/>
          </p:nvSpPr>
          <p:spPr>
            <a:xfrm>
              <a:off x="-4497970" y="5172159"/>
              <a:ext cx="366168" cy="7411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dirty="0"/>
                <a:t>.</a:t>
              </a:r>
            </a:p>
            <a:p>
              <a:pPr marL="0" marR="0" indent="0" algn="l" defTabSz="584200" rtl="0" fontAlgn="auto" latinLnBrk="0" hangingPunct="0">
                <a:lnSpc>
                  <a:spcPct val="100000"/>
                </a:lnSpc>
                <a:spcBef>
                  <a:spcPts val="200"/>
                </a:spcBef>
                <a:spcAft>
                  <a:spcPts val="0"/>
                </a:spcAft>
                <a:buClrTx/>
                <a:buSzTx/>
                <a:buFontTx/>
                <a:buNone/>
                <a:tabLst/>
              </a:pPr>
              <a:r>
                <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rPr>
                <a:t>.</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6" name="Rectangle 5">
              <a:extLst>
                <a:ext uri="{FF2B5EF4-FFF2-40B4-BE49-F238E27FC236}">
                  <a16:creationId xmlns:a16="http://schemas.microsoft.com/office/drawing/2014/main" id="{BF5BB936-A138-80B9-F822-230FD71C19FE}"/>
                </a:ext>
              </a:extLst>
            </p:cNvPr>
            <p:cNvSpPr/>
            <p:nvPr/>
          </p:nvSpPr>
          <p:spPr>
            <a:xfrm>
              <a:off x="-4650604" y="3569331"/>
              <a:ext cx="4067130" cy="3578190"/>
            </a:xfrm>
            <a:prstGeom prst="rect">
              <a:avLst/>
            </a:prstGeom>
            <a:noFill/>
            <a:ln w="12700" cap="flat">
              <a:solidFill>
                <a:schemeClr val="bg2">
                  <a:lumMod val="10000"/>
                </a:schemeClr>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 name="Google Shape;236;p15">
              <a:extLst>
                <a:ext uri="{FF2B5EF4-FFF2-40B4-BE49-F238E27FC236}">
                  <a16:creationId xmlns:a16="http://schemas.microsoft.com/office/drawing/2014/main" id="{097A3BEE-DC9D-E42F-5449-FFB83DD3AF57}"/>
                </a:ext>
              </a:extLst>
            </p:cNvPr>
            <p:cNvSpPr/>
            <p:nvPr/>
          </p:nvSpPr>
          <p:spPr>
            <a:xfrm>
              <a:off x="-4607492" y="3602726"/>
              <a:ext cx="322763" cy="299514"/>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9" name="Google Shape;237;p15">
              <a:extLst>
                <a:ext uri="{FF2B5EF4-FFF2-40B4-BE49-F238E27FC236}">
                  <a16:creationId xmlns:a16="http://schemas.microsoft.com/office/drawing/2014/main" id="{FE16E515-BE94-AE31-5EE5-F2C9ADA27C1F}"/>
                </a:ext>
              </a:extLst>
            </p:cNvPr>
            <p:cNvSpPr txBox="1"/>
            <p:nvPr/>
          </p:nvSpPr>
          <p:spPr>
            <a:xfrm>
              <a:off x="-4683519" y="3519441"/>
              <a:ext cx="547745" cy="274024"/>
            </a:xfrm>
            <a:prstGeom prst="rect">
              <a:avLst/>
            </a:prstGeom>
            <a:noFill/>
            <a:ln>
              <a:noFill/>
            </a:ln>
          </p:spPr>
          <p:txBody>
            <a:bodyPr spcFirstLastPara="1" wrap="square" lIns="127722" tIns="127722" rIns="127722" bIns="127722" anchor="t" anchorCtr="0">
              <a:noAutofit/>
            </a:bodyPr>
            <a:lstStyle/>
            <a:p>
              <a:pPr>
                <a:spcBef>
                  <a:spcPts val="0"/>
                </a:spcBef>
              </a:pPr>
              <a:r>
                <a:rPr lang="en" sz="1400" dirty="0">
                  <a:solidFill>
                    <a:schemeClr val="lt1"/>
                  </a:solidFill>
                </a:rPr>
                <a:t>GH</a:t>
              </a:r>
              <a:endParaRPr sz="1400" dirty="0">
                <a:solidFill>
                  <a:schemeClr val="lt1"/>
                </a:solidFill>
              </a:endParaRPr>
            </a:p>
          </p:txBody>
        </p:sp>
      </p:grpSp>
      <p:sp>
        <p:nvSpPr>
          <p:cNvPr id="11" name="Basics">
            <a:extLst>
              <a:ext uri="{FF2B5EF4-FFF2-40B4-BE49-F238E27FC236}">
                <a16:creationId xmlns:a16="http://schemas.microsoft.com/office/drawing/2014/main" id="{9BB9F00C-0892-02DB-16F3-3223B55D098F}"/>
              </a:ext>
            </a:extLst>
          </p:cNvPr>
          <p:cNvSpPr txBox="1"/>
          <p:nvPr/>
        </p:nvSpPr>
        <p:spPr>
          <a:xfrm>
            <a:off x="4722904" y="3707988"/>
            <a:ext cx="276663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Tests</a:t>
            </a:r>
            <a:endParaRPr dirty="0"/>
          </a:p>
        </p:txBody>
      </p:sp>
      <p:sp>
        <p:nvSpPr>
          <p:cNvPr id="12" name="Basics">
            <a:extLst>
              <a:ext uri="{FF2B5EF4-FFF2-40B4-BE49-F238E27FC236}">
                <a16:creationId xmlns:a16="http://schemas.microsoft.com/office/drawing/2014/main" id="{8C32DC51-3E2F-2D7F-FA89-FCB555A44D3C}"/>
              </a:ext>
            </a:extLst>
          </p:cNvPr>
          <p:cNvSpPr txBox="1"/>
          <p:nvPr/>
        </p:nvSpPr>
        <p:spPr>
          <a:xfrm>
            <a:off x="4733877" y="2601949"/>
            <a:ext cx="276663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Fake Data Generator</a:t>
            </a:r>
            <a:endParaRPr dirty="0"/>
          </a:p>
        </p:txBody>
      </p:sp>
      <p:sp>
        <p:nvSpPr>
          <p:cNvPr id="13" name="Use headers, colors, and/or backgrounds to separate or group together sections.">
            <a:extLst>
              <a:ext uri="{FF2B5EF4-FFF2-40B4-BE49-F238E27FC236}">
                <a16:creationId xmlns:a16="http://schemas.microsoft.com/office/drawing/2014/main" id="{8E44E055-483E-AA15-E77F-305CB77FB121}"/>
              </a:ext>
            </a:extLst>
          </p:cNvPr>
          <p:cNvSpPr txBox="1"/>
          <p:nvPr/>
        </p:nvSpPr>
        <p:spPr>
          <a:xfrm>
            <a:off x="4878339" y="4053587"/>
            <a:ext cx="4251862" cy="6088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Tests for Kaiaulu are made using R’s testthat framework. Since Kaiaulu is built upon many functions that have the same type of functionality, tests can be written in a repeatable fashion.</a:t>
            </a:r>
          </a:p>
        </p:txBody>
      </p:sp>
      <p:sp>
        <p:nvSpPr>
          <p:cNvPr id="14" name="Use headers, colors, and/or backgrounds to separate or group together sections.">
            <a:extLst>
              <a:ext uri="{FF2B5EF4-FFF2-40B4-BE49-F238E27FC236}">
                <a16:creationId xmlns:a16="http://schemas.microsoft.com/office/drawing/2014/main" id="{CE27EC83-932D-0075-B482-0D7469B97E96}"/>
              </a:ext>
            </a:extLst>
          </p:cNvPr>
          <p:cNvSpPr txBox="1"/>
          <p:nvPr/>
        </p:nvSpPr>
        <p:spPr>
          <a:xfrm>
            <a:off x="4862329" y="2947912"/>
            <a:ext cx="4251862" cy="6088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Fake Data Generation functions are at the bottom of each R file. These functions are called in Example.R to create the fake data necessary for testing their respective file functions.</a:t>
            </a:r>
          </a:p>
        </p:txBody>
      </p:sp>
      <p:pic>
        <p:nvPicPr>
          <p:cNvPr id="16" name="Picture 15" descr="The image depicts a simple, clean design featuring two intertwined, colorless circles.&#10;&#10;AI-generated content may be incorrect.">
            <a:extLst>
              <a:ext uri="{FF2B5EF4-FFF2-40B4-BE49-F238E27FC236}">
                <a16:creationId xmlns:a16="http://schemas.microsoft.com/office/drawing/2014/main" id="{D794ECC7-5A43-9FAF-BFB1-FF7F4E6F3410}"/>
              </a:ext>
            </a:extLst>
          </p:cNvPr>
          <p:cNvPicPr>
            <a:picLocks noChangeAspect="1"/>
          </p:cNvPicPr>
          <p:nvPr/>
        </p:nvPicPr>
        <p:blipFill>
          <a:blip r:embed="rId17"/>
          <a:srcRect l="3050" r="4779"/>
          <a:stretch>
            <a:fillRect/>
          </a:stretch>
        </p:blipFill>
        <p:spPr>
          <a:xfrm>
            <a:off x="10212730" y="7933337"/>
            <a:ext cx="341640" cy="348057"/>
          </a:xfrm>
          <a:prstGeom prst="rect">
            <a:avLst/>
          </a:prstGeom>
        </p:spPr>
      </p:pic>
      <p:sp>
        <p:nvSpPr>
          <p:cNvPr id="17" name="Use headers, colors, and/or backgrounds to separate or group together sections.">
            <a:extLst>
              <a:ext uri="{FF2B5EF4-FFF2-40B4-BE49-F238E27FC236}">
                <a16:creationId xmlns:a16="http://schemas.microsoft.com/office/drawing/2014/main" id="{11FF4379-3CE4-17EA-C400-C00205BF0ACD}"/>
              </a:ext>
            </a:extLst>
          </p:cNvPr>
          <p:cNvSpPr txBox="1"/>
          <p:nvPr/>
        </p:nvSpPr>
        <p:spPr>
          <a:xfrm>
            <a:off x="10553488" y="7879773"/>
            <a:ext cx="2703651" cy="2902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300" dirty="0">
                <a:latin typeface="Source Sans Pro" panose="020B0503030403020204" pitchFamily="34" charset="0"/>
                <a:ea typeface="Source Sans Pro" panose="020B0503030403020204" pitchFamily="34" charset="0"/>
              </a:rPr>
              <a:t>Some checks were not successful</a:t>
            </a:r>
          </a:p>
        </p:txBody>
      </p:sp>
      <p:sp>
        <p:nvSpPr>
          <p:cNvPr id="18" name="Google Shape;244;p15">
            <a:extLst>
              <a:ext uri="{FF2B5EF4-FFF2-40B4-BE49-F238E27FC236}">
                <a16:creationId xmlns:a16="http://schemas.microsoft.com/office/drawing/2014/main" id="{8C2EE6C0-A93A-12DD-0A04-EF3BE68FC7A8}"/>
              </a:ext>
            </a:extLst>
          </p:cNvPr>
          <p:cNvSpPr txBox="1"/>
          <p:nvPr/>
        </p:nvSpPr>
        <p:spPr>
          <a:xfrm>
            <a:off x="10483111" y="7996936"/>
            <a:ext cx="2232410" cy="321094"/>
          </a:xfrm>
          <a:prstGeom prst="rect">
            <a:avLst/>
          </a:prstGeom>
          <a:noFill/>
          <a:ln>
            <a:noFill/>
          </a:ln>
        </p:spPr>
        <p:txBody>
          <a:bodyPr spcFirstLastPara="1" wrap="square" lIns="127722" tIns="127722" rIns="127722" bIns="127722" anchor="t" anchorCtr="0">
            <a:noAutofit/>
          </a:bodyPr>
          <a:lstStyle/>
          <a:p>
            <a:pPr>
              <a:spcBef>
                <a:spcPts val="0"/>
              </a:spcBef>
            </a:pPr>
            <a:r>
              <a:rPr lang="en-US" dirty="0">
                <a:solidFill>
                  <a:srgbClr val="999999"/>
                </a:solidFill>
              </a:rPr>
              <a:t>1 failing, 1 successful checks</a:t>
            </a:r>
            <a:endParaRPr dirty="0">
              <a:solidFill>
                <a:srgbClr val="999999"/>
              </a:solidFill>
            </a:endParaRPr>
          </a:p>
          <a:p>
            <a:pPr>
              <a:spcBef>
                <a:spcPts val="0"/>
              </a:spcBef>
            </a:pPr>
            <a:endParaRPr sz="978" dirty="0">
              <a:solidFill>
                <a:srgbClr val="999999"/>
              </a:solidFill>
            </a:endParaRPr>
          </a:p>
          <a:p>
            <a:pPr>
              <a:spcBef>
                <a:spcPts val="0"/>
              </a:spcBef>
            </a:pPr>
            <a:r>
              <a:rPr lang="en" sz="978" dirty="0">
                <a:solidFill>
                  <a:srgbClr val="999999"/>
                </a:solidFill>
              </a:rPr>
              <a:t> </a:t>
            </a:r>
            <a:endParaRPr sz="978" dirty="0">
              <a:solidFill>
                <a:srgbClr val="999999"/>
              </a:solidFill>
            </a:endParaRPr>
          </a:p>
        </p:txBody>
      </p:sp>
    </p:spTree>
    <p:extLst>
      <p:ext uri="{BB962C8B-B14F-4D97-AF65-F5344CB8AC3E}">
        <p14:creationId xmlns:p14="http://schemas.microsoft.com/office/powerpoint/2010/main" val="1718534006"/>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6FE28-9A28-D863-A03D-272DE11F4135}"/>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659670BE-8D6B-8F76-ADB2-631BDD64E6BE}"/>
              </a:ext>
            </a:extLst>
          </p:cNvPr>
          <p:cNvPicPr>
            <a:picLocks noChangeAspect="1"/>
          </p:cNvPicPr>
          <p:nvPr/>
        </p:nvPicPr>
        <p:blipFill>
          <a:blip r:embed="rId3"/>
          <a:stretch>
            <a:fillRect/>
          </a:stretch>
        </p:blipFill>
        <p:spPr>
          <a:xfrm>
            <a:off x="8374634" y="-696057"/>
            <a:ext cx="5598432" cy="2990088"/>
          </a:xfrm>
          <a:prstGeom prst="rect">
            <a:avLst/>
          </a:prstGeom>
          <a:ln w="12700">
            <a:miter lim="400000"/>
          </a:ln>
        </p:spPr>
      </p:pic>
      <p:sp>
        <p:nvSpPr>
          <p:cNvPr id="312" name="Line">
            <a:extLst>
              <a:ext uri="{FF2B5EF4-FFF2-40B4-BE49-F238E27FC236}">
                <a16:creationId xmlns:a16="http://schemas.microsoft.com/office/drawing/2014/main" id="{0191E76D-F6EC-C1C8-6ADE-389BCAF25424}"/>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6CB84295-AFE0-2DAC-2D79-700EACF7447D}"/>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26" name="Manipulate Variables">
            <a:extLst>
              <a:ext uri="{FF2B5EF4-FFF2-40B4-BE49-F238E27FC236}">
                <a16:creationId xmlns:a16="http://schemas.microsoft.com/office/drawing/2014/main" id="{C13942D0-3A83-9CD5-642A-506480903C27}"/>
              </a:ext>
            </a:extLst>
          </p:cNvPr>
          <p:cNvSpPr txBox="1"/>
          <p:nvPr/>
        </p:nvSpPr>
        <p:spPr>
          <a:xfrm>
            <a:off x="4741690" y="1253059"/>
            <a:ext cx="3048912"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Code Review Workflow</a:t>
            </a:r>
          </a:p>
        </p:txBody>
      </p:sp>
      <p:sp>
        <p:nvSpPr>
          <p:cNvPr id="334" name="Three Column Layout: : CHEAT SHEET">
            <a:extLst>
              <a:ext uri="{FF2B5EF4-FFF2-40B4-BE49-F238E27FC236}">
                <a16:creationId xmlns:a16="http://schemas.microsoft.com/office/drawing/2014/main" id="{CE638F47-4151-6DF7-3DB2-722D7C1D4BC2}"/>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Unit Tests </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41" name="Use headers, colors, and/or backgrounds to separate or group together sections.">
            <a:extLst>
              <a:ext uri="{FF2B5EF4-FFF2-40B4-BE49-F238E27FC236}">
                <a16:creationId xmlns:a16="http://schemas.microsoft.com/office/drawing/2014/main" id="{ACEB3602-E519-AAF7-C2F8-7C0310887AE1}"/>
              </a:ext>
            </a:extLst>
          </p:cNvPr>
          <p:cNvSpPr txBox="1"/>
          <p:nvPr/>
        </p:nvSpPr>
        <p:spPr>
          <a:xfrm>
            <a:off x="286820" y="1693814"/>
            <a:ext cx="3949153" cy="13505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Kaiaulu has multiple measures in place to ensure that its codebase remains maintainable. </a:t>
            </a:r>
          </a:p>
          <a:p>
            <a:pPr>
              <a:lnSpc>
                <a:spcPct val="90000"/>
              </a:lnSpc>
              <a:spcBef>
                <a:spcPts val="300"/>
              </a:spcBef>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Try catch statements and tests let functions fail gracefully and ensure functions work as intended. </a:t>
            </a:r>
          </a:p>
          <a:p>
            <a:pPr>
              <a:lnSpc>
                <a:spcPct val="90000"/>
              </a:lnSpc>
              <a:spcBef>
                <a:spcPts val="300"/>
              </a:spcBef>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Codecov and GitHub Actions run the unit tests as well as other checks for every commit to a Pull Request and will deny it from merging if any tests fail. </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382" name="Logistics">
            <a:extLst>
              <a:ext uri="{FF2B5EF4-FFF2-40B4-BE49-F238E27FC236}">
                <a16:creationId xmlns:a16="http://schemas.microsoft.com/office/drawing/2014/main" id="{71869564-EB94-CCBD-B01B-63FF372E0D56}"/>
              </a:ext>
            </a:extLst>
          </p:cNvPr>
          <p:cNvSpPr txBox="1"/>
          <p:nvPr/>
        </p:nvSpPr>
        <p:spPr>
          <a:xfrm>
            <a:off x="280408" y="5393325"/>
            <a:ext cx="215283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Test Framework</a:t>
            </a:r>
          </a:p>
        </p:txBody>
      </p:sp>
      <p:sp>
        <p:nvSpPr>
          <p:cNvPr id="384" name="Layout Suggestions">
            <a:extLst>
              <a:ext uri="{FF2B5EF4-FFF2-40B4-BE49-F238E27FC236}">
                <a16:creationId xmlns:a16="http://schemas.microsoft.com/office/drawing/2014/main" id="{C65E2BE8-6F0C-10D5-437C-4F74A39E49CF}"/>
              </a:ext>
            </a:extLst>
          </p:cNvPr>
          <p:cNvSpPr txBox="1"/>
          <p:nvPr/>
        </p:nvSpPr>
        <p:spPr>
          <a:xfrm>
            <a:off x="312428" y="1280437"/>
            <a:ext cx="262128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36E85E38-D5FF-DE3E-ECED-1467706AD78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FB5BFF18-9519-62A9-FB08-4747D073176B}"/>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5">
                  <a:extLst>
                    <a:ext uri="{A12FA001-AC4F-418D-AE19-62706E023703}">
                      <ahyp:hlinkClr xmlns:ahyp="http://schemas.microsoft.com/office/drawing/2018/hyperlinkcolor" val="tx"/>
                    </a:ext>
                  </a:extLst>
                </a:hlinkClick>
              </a:rPr>
              <a:t>CC BY SA</a:t>
            </a:r>
            <a:r>
              <a:rPr lang="en-US" sz="1000" b="0" dirty="0">
                <a:solidFill>
                  <a:schemeClr val="tx1"/>
                </a:solidFill>
              </a:rPr>
              <a:t> Ian Jaymes Iwata, Anthony Lau, Sean Sunoo</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2024-04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370" name="Basics">
            <a:extLst>
              <a:ext uri="{FF2B5EF4-FFF2-40B4-BE49-F238E27FC236}">
                <a16:creationId xmlns:a16="http://schemas.microsoft.com/office/drawing/2014/main" id="{1D839725-DDB2-20D4-AD6E-40F08D3614BC}"/>
              </a:ext>
            </a:extLst>
          </p:cNvPr>
          <p:cNvSpPr txBox="1"/>
          <p:nvPr/>
        </p:nvSpPr>
        <p:spPr>
          <a:xfrm>
            <a:off x="4791917" y="6564696"/>
            <a:ext cx="2766632"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Examples</a:t>
            </a:r>
            <a:endParaRPr dirty="0"/>
          </a:p>
        </p:txBody>
      </p:sp>
      <p:sp>
        <p:nvSpPr>
          <p:cNvPr id="371" name="Line">
            <a:extLst>
              <a:ext uri="{FF2B5EF4-FFF2-40B4-BE49-F238E27FC236}">
                <a16:creationId xmlns:a16="http://schemas.microsoft.com/office/drawing/2014/main" id="{989A2A7F-B8F2-2FFC-DB87-8C7EC5D238A6}"/>
              </a:ext>
            </a:extLst>
          </p:cNvPr>
          <p:cNvSpPr/>
          <p:nvPr/>
        </p:nvSpPr>
        <p:spPr>
          <a:xfrm flipV="1">
            <a:off x="213254" y="1620466"/>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grpSp>
        <p:nvGrpSpPr>
          <p:cNvPr id="61" name="Group 60">
            <a:extLst>
              <a:ext uri="{FF2B5EF4-FFF2-40B4-BE49-F238E27FC236}">
                <a16:creationId xmlns:a16="http://schemas.microsoft.com/office/drawing/2014/main" id="{70EC8F1A-E373-774E-F19F-9BBF3C5F379D}"/>
              </a:ext>
            </a:extLst>
          </p:cNvPr>
          <p:cNvGrpSpPr/>
          <p:nvPr/>
        </p:nvGrpSpPr>
        <p:grpSpPr>
          <a:xfrm>
            <a:off x="9554259" y="3866817"/>
            <a:ext cx="3848844" cy="6172184"/>
            <a:chOff x="870417" y="3616023"/>
            <a:chExt cx="3848844" cy="6172184"/>
          </a:xfrm>
        </p:grpSpPr>
        <p:sp>
          <p:nvSpPr>
            <p:cNvPr id="449" name="Rectangle 448">
              <a:extLst>
                <a:ext uri="{FF2B5EF4-FFF2-40B4-BE49-F238E27FC236}">
                  <a16:creationId xmlns:a16="http://schemas.microsoft.com/office/drawing/2014/main" id="{85FCEBDA-7AEA-F895-B33F-C3D4D70EED6C}"/>
                </a:ext>
              </a:extLst>
            </p:cNvPr>
            <p:cNvSpPr/>
            <p:nvPr/>
          </p:nvSpPr>
          <p:spPr>
            <a:xfrm>
              <a:off x="870417" y="3627271"/>
              <a:ext cx="3848844" cy="6160936"/>
            </a:xfrm>
            <a:prstGeom prst="rect">
              <a:avLst/>
            </a:prstGeom>
            <a:ln w="12700"/>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pic>
          <p:nvPicPr>
            <p:cNvPr id="450" name="Picture 449" descr="Account ">
              <a:extLst>
                <a:ext uri="{FF2B5EF4-FFF2-40B4-BE49-F238E27FC236}">
                  <a16:creationId xmlns:a16="http://schemas.microsoft.com/office/drawing/2014/main" id="{F84170BB-32F1-E2D3-C084-E50298979AB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91912" y="4195042"/>
              <a:ext cx="306136" cy="306136"/>
            </a:xfrm>
            <a:prstGeom prst="rect">
              <a:avLst/>
            </a:prstGeom>
            <a:noFill/>
            <a:extLst>
              <a:ext uri="{909E8E84-426E-40DD-AFC4-6F175D3DCCD1}">
                <a14:hiddenFill xmlns:a14="http://schemas.microsoft.com/office/drawing/2010/main">
                  <a:solidFill>
                    <a:srgbClr val="FFFFFF"/>
                  </a:solidFill>
                </a14:hiddenFill>
              </a:ext>
            </a:extLst>
          </p:spPr>
        </p:pic>
        <p:sp>
          <p:nvSpPr>
            <p:cNvPr id="451" name="TextBox 1284">
              <a:extLst>
                <a:ext uri="{FF2B5EF4-FFF2-40B4-BE49-F238E27FC236}">
                  <a16:creationId xmlns:a16="http://schemas.microsoft.com/office/drawing/2014/main" id="{5E8F4F09-9F84-A2C4-4856-6E5E57784873}"/>
                </a:ext>
              </a:extLst>
            </p:cNvPr>
            <p:cNvSpPr txBox="1"/>
            <p:nvPr/>
          </p:nvSpPr>
          <p:spPr>
            <a:xfrm>
              <a:off x="991912" y="3616023"/>
              <a:ext cx="3720890" cy="261610"/>
            </a:xfrm>
            <a:prstGeom prst="rect">
              <a:avLst/>
            </a:prstGeom>
            <a:noFill/>
          </p:spPr>
          <p:txBody>
            <a:bodyPr wrap="none" rtlCol="0">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r>
                <a:rPr lang="en-US" sz="800" dirty="0"/>
                <a:t>Code          Issues          </a:t>
              </a:r>
              <a:r>
                <a:rPr lang="en-US" sz="1100" b="1" dirty="0"/>
                <a:t>Pull Requests          </a:t>
              </a:r>
              <a:r>
                <a:rPr lang="en-US" sz="800" dirty="0"/>
                <a:t>Actions          Wiki          Security  </a:t>
              </a:r>
            </a:p>
          </p:txBody>
        </p:sp>
        <p:cxnSp>
          <p:nvCxnSpPr>
            <p:cNvPr id="452" name="Straight Connector 451">
              <a:extLst>
                <a:ext uri="{FF2B5EF4-FFF2-40B4-BE49-F238E27FC236}">
                  <a16:creationId xmlns:a16="http://schemas.microsoft.com/office/drawing/2014/main" id="{DC98540E-0634-F6AC-D652-4DD35B8AD1A4}"/>
                </a:ext>
              </a:extLst>
            </p:cNvPr>
            <p:cNvCxnSpPr>
              <a:cxnSpLocks/>
            </p:cNvCxnSpPr>
            <p:nvPr/>
          </p:nvCxnSpPr>
          <p:spPr>
            <a:xfrm>
              <a:off x="870417" y="3877633"/>
              <a:ext cx="3842385" cy="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53" name="Use headers, colors, and/or backgrounds to separate or group together sections.">
              <a:extLst>
                <a:ext uri="{FF2B5EF4-FFF2-40B4-BE49-F238E27FC236}">
                  <a16:creationId xmlns:a16="http://schemas.microsoft.com/office/drawing/2014/main" id="{789BFE54-622F-686A-A8F0-73705852481F}"/>
                </a:ext>
              </a:extLst>
            </p:cNvPr>
            <p:cNvSpPr txBox="1"/>
            <p:nvPr/>
          </p:nvSpPr>
          <p:spPr>
            <a:xfrm>
              <a:off x="1455985" y="3883746"/>
              <a:ext cx="1356960" cy="256245"/>
            </a:xfrm>
            <a:prstGeom prst="rect">
              <a:avLst/>
            </a:prstGeom>
            <a:ln w="12700">
              <a:miter lim="400000"/>
            </a:ln>
            <a:extLst>
              <a:ext uri="{C572A759-6A51-4108-AA02-DFA0A04FC94B}">
                <ma14:wrappingTextBoxFlag xmlns:lc="http://schemas.openxmlformats.org/drawingml/2006/lockedCanvas" xmlns:ma14="http://schemas.microsoft.com/office/mac/drawingml/2011/main" xmlns:a14="http://schemas.microsoft.com/office/drawing/2010/main" xmlns:m="http://schemas.openxmlformats.org/officeDocument/2006/math" xmlns="" val="1"/>
              </a:ext>
            </a:extLst>
          </p:spPr>
          <p:txBody>
            <a:bodyPr wrap="square" lIns="54570" tIns="54570" rIns="54570" bIns="5457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a:lnSpc>
                  <a:spcPct val="90000"/>
                </a:lnSpc>
                <a:buSzPts val="3700"/>
              </a:pPr>
              <a:r>
                <a:rPr lang="en-US" b="0" dirty="0">
                  <a:latin typeface="Source Sans Pro" panose="020B0503030403020204" pitchFamily="34" charset="0"/>
                  <a:ea typeface="Source Sans Pro" panose="020B0503030403020204" pitchFamily="34" charset="0"/>
                  <a:cs typeface="Arial" panose="020B0604020202020204" pitchFamily="34" charset="0"/>
                </a:rPr>
                <a:t>Pull Request #330</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7"/>
              </a:endParaRPr>
            </a:p>
            <a:p>
              <a:pPr lvl="0">
                <a:lnSpc>
                  <a:spcPct val="90000"/>
                </a:lnSpc>
                <a:buSzPts val="3700"/>
              </a:pP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7"/>
              </a:endParaRPr>
            </a:p>
          </p:txBody>
        </p:sp>
        <p:pic>
          <p:nvPicPr>
            <p:cNvPr id="454" name="Google Shape;214;p15">
              <a:extLst>
                <a:ext uri="{FF2B5EF4-FFF2-40B4-BE49-F238E27FC236}">
                  <a16:creationId xmlns:a16="http://schemas.microsoft.com/office/drawing/2014/main" id="{98C36989-06A7-2F05-6BB3-07CD33E63F06}"/>
                </a:ext>
              </a:extLst>
            </p:cNvPr>
            <p:cNvPicPr preferRelativeResize="0"/>
            <p:nvPr/>
          </p:nvPicPr>
          <p:blipFill>
            <a:blip r:embed="rId8">
              <a:alphaModFix/>
            </a:blip>
            <a:stretch>
              <a:fillRect/>
            </a:stretch>
          </p:blipFill>
          <p:spPr>
            <a:xfrm>
              <a:off x="914022" y="4784929"/>
              <a:ext cx="476766" cy="456900"/>
            </a:xfrm>
            <a:prstGeom prst="rect">
              <a:avLst/>
            </a:prstGeom>
            <a:noFill/>
            <a:ln>
              <a:noFill/>
            </a:ln>
          </p:spPr>
        </p:pic>
        <p:sp>
          <p:nvSpPr>
            <p:cNvPr id="455" name="Google Shape;216;p15">
              <a:extLst>
                <a:ext uri="{FF2B5EF4-FFF2-40B4-BE49-F238E27FC236}">
                  <a16:creationId xmlns:a16="http://schemas.microsoft.com/office/drawing/2014/main" id="{2C6652A6-21B8-9A17-F7D5-62B93941B707}"/>
                </a:ext>
              </a:extLst>
            </p:cNvPr>
            <p:cNvSpPr/>
            <p:nvPr/>
          </p:nvSpPr>
          <p:spPr>
            <a:xfrm>
              <a:off x="1469668" y="4973530"/>
              <a:ext cx="3025431" cy="652091"/>
            </a:xfrm>
            <a:prstGeom prst="rect">
              <a:avLst/>
            </a:prstGeom>
            <a:solidFill>
              <a:schemeClr val="lt1"/>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sp>
          <p:nvSpPr>
            <p:cNvPr id="456" name="Google Shape;215;p15">
              <a:extLst>
                <a:ext uri="{FF2B5EF4-FFF2-40B4-BE49-F238E27FC236}">
                  <a16:creationId xmlns:a16="http://schemas.microsoft.com/office/drawing/2014/main" id="{51B02A4D-5CB9-7B76-98C0-64F73311CF53}"/>
                </a:ext>
              </a:extLst>
            </p:cNvPr>
            <p:cNvSpPr/>
            <p:nvPr/>
          </p:nvSpPr>
          <p:spPr>
            <a:xfrm>
              <a:off x="1467748" y="4759190"/>
              <a:ext cx="3025431" cy="232375"/>
            </a:xfrm>
            <a:prstGeom prst="rect">
              <a:avLst/>
            </a:prstGeom>
            <a:solidFill>
              <a:schemeClr val="lt2"/>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839" dirty="0"/>
            </a:p>
            <a:p>
              <a:pPr>
                <a:spcBef>
                  <a:spcPts val="0"/>
                </a:spcBef>
              </a:pPr>
              <a:endParaRPr sz="839" dirty="0"/>
            </a:p>
            <a:p>
              <a:pPr>
                <a:spcBef>
                  <a:spcPts val="0"/>
                </a:spcBef>
              </a:pPr>
              <a:r>
                <a:rPr lang="en" sz="839" dirty="0">
                  <a:solidFill>
                    <a:schemeClr val="tx1">
                      <a:lumMod val="50000"/>
                    </a:schemeClr>
                  </a:solidFill>
                </a:rPr>
                <a:t>Codecov </a:t>
              </a:r>
              <a:r>
                <a:rPr lang="en" sz="839" b="0" dirty="0">
                  <a:solidFill>
                    <a:schemeClr val="tx1">
                      <a:lumMod val="50000"/>
                    </a:schemeClr>
                  </a:solidFill>
                </a:rPr>
                <a:t>commented on Mar 27</a:t>
              </a:r>
              <a:endParaRPr sz="839" b="0" dirty="0">
                <a:solidFill>
                  <a:schemeClr val="tx1">
                    <a:lumMod val="50000"/>
                  </a:schemeClr>
                </a:solidFill>
              </a:endParaRPr>
            </a:p>
            <a:p>
              <a:pPr>
                <a:spcBef>
                  <a:spcPts val="0"/>
                </a:spcBef>
              </a:pPr>
              <a:endParaRPr sz="1956" dirty="0"/>
            </a:p>
          </p:txBody>
        </p:sp>
        <p:sp>
          <p:nvSpPr>
            <p:cNvPr id="457" name="Google Shape;217;p15">
              <a:extLst>
                <a:ext uri="{FF2B5EF4-FFF2-40B4-BE49-F238E27FC236}">
                  <a16:creationId xmlns:a16="http://schemas.microsoft.com/office/drawing/2014/main" id="{C30BD4D1-8D11-54BC-1091-7824C60EE47F}"/>
                </a:ext>
              </a:extLst>
            </p:cNvPr>
            <p:cNvSpPr txBox="1"/>
            <p:nvPr/>
          </p:nvSpPr>
          <p:spPr>
            <a:xfrm>
              <a:off x="1396836" y="4941265"/>
              <a:ext cx="2116583" cy="554125"/>
            </a:xfrm>
            <a:prstGeom prst="rect">
              <a:avLst/>
            </a:prstGeom>
            <a:noFill/>
            <a:ln>
              <a:noFill/>
            </a:ln>
          </p:spPr>
          <p:txBody>
            <a:bodyPr spcFirstLastPara="1" wrap="square" lIns="127722" tIns="127722" rIns="127722" bIns="127722" anchor="t" anchorCtr="0">
              <a:noAutofit/>
            </a:bodyPr>
            <a:lstStyle/>
            <a:p>
              <a:pPr>
                <a:spcBef>
                  <a:spcPts val="0"/>
                </a:spcBef>
              </a:pPr>
              <a:r>
                <a:rPr lang="en" sz="839" dirty="0">
                  <a:solidFill>
                    <a:srgbClr val="1F2328"/>
                  </a:solidFill>
                  <a:highlight>
                    <a:srgbClr val="FFFFFF"/>
                  </a:highlight>
                </a:rPr>
                <a:t>❌ Patch coverage is…</a:t>
              </a:r>
              <a:endParaRPr sz="839" dirty="0">
                <a:solidFill>
                  <a:srgbClr val="1F2328"/>
                </a:solidFill>
                <a:highlight>
                  <a:srgbClr val="FFFFFF"/>
                </a:highlight>
              </a:endParaRPr>
            </a:p>
            <a:p>
              <a:pPr>
                <a:spcBef>
                  <a:spcPts val="0"/>
                </a:spcBef>
              </a:pPr>
              <a:r>
                <a:rPr lang="en" sz="839" dirty="0">
                  <a:solidFill>
                    <a:srgbClr val="1F2328"/>
                  </a:solidFill>
                  <a:highlight>
                    <a:srgbClr val="FFFFFF"/>
                  </a:highlight>
                </a:rPr>
                <a:t>✅ Project coverage is…</a:t>
              </a:r>
              <a:endParaRPr sz="839" dirty="0">
                <a:solidFill>
                  <a:srgbClr val="1F2328"/>
                </a:solidFill>
                <a:highlight>
                  <a:srgbClr val="FFFFFF"/>
                </a:highlight>
              </a:endParaRPr>
            </a:p>
            <a:p>
              <a:pPr>
                <a:spcBef>
                  <a:spcPts val="0"/>
                </a:spcBef>
              </a:pPr>
              <a:r>
                <a:rPr lang="en" sz="839" dirty="0">
                  <a:solidFill>
                    <a:srgbClr val="1F2328"/>
                  </a:solidFill>
                  <a:highlight>
                    <a:srgbClr val="FFFFFF"/>
                  </a:highlight>
                </a:rPr>
                <a:t>⚠️ Report is…</a:t>
              </a:r>
              <a:endParaRPr sz="839" dirty="0">
                <a:solidFill>
                  <a:srgbClr val="1F2328"/>
                </a:solidFill>
                <a:highlight>
                  <a:srgbClr val="FFFFFF"/>
                </a:highlight>
              </a:endParaRPr>
            </a:p>
          </p:txBody>
        </p:sp>
        <p:pic>
          <p:nvPicPr>
            <p:cNvPr id="458" name="Google Shape;227;p15">
              <a:extLst>
                <a:ext uri="{FF2B5EF4-FFF2-40B4-BE49-F238E27FC236}">
                  <a16:creationId xmlns:a16="http://schemas.microsoft.com/office/drawing/2014/main" id="{2979012F-508D-A89B-462A-175C390BCF08}"/>
                </a:ext>
              </a:extLst>
            </p:cNvPr>
            <p:cNvPicPr preferRelativeResize="0"/>
            <p:nvPr/>
          </p:nvPicPr>
          <p:blipFill>
            <a:blip r:embed="rId9">
              <a:alphaModFix/>
            </a:blip>
            <a:srcRect l="9422" t="6057" r="10362" b="6496"/>
            <a:stretch>
              <a:fillRect/>
            </a:stretch>
          </p:blipFill>
          <p:spPr>
            <a:xfrm>
              <a:off x="991912" y="5826679"/>
              <a:ext cx="382451" cy="379585"/>
            </a:xfrm>
            <a:prstGeom prst="rect">
              <a:avLst/>
            </a:prstGeom>
            <a:noFill/>
            <a:ln>
              <a:noFill/>
            </a:ln>
          </p:spPr>
        </p:pic>
        <p:pic>
          <p:nvPicPr>
            <p:cNvPr id="459" name="Google Shape;206;p15">
              <a:extLst>
                <a:ext uri="{FF2B5EF4-FFF2-40B4-BE49-F238E27FC236}">
                  <a16:creationId xmlns:a16="http://schemas.microsoft.com/office/drawing/2014/main" id="{BB0E2B40-3DA9-7216-A637-9AAFF7477DBE}"/>
                </a:ext>
              </a:extLst>
            </p:cNvPr>
            <p:cNvPicPr preferRelativeResize="0"/>
            <p:nvPr/>
          </p:nvPicPr>
          <p:blipFill rotWithShape="1">
            <a:blip r:embed="rId10">
              <a:alphaModFix/>
            </a:blip>
            <a:srcRect r="56805" b="59527"/>
            <a:stretch/>
          </p:blipFill>
          <p:spPr>
            <a:xfrm>
              <a:off x="1474313" y="8180149"/>
              <a:ext cx="3020786" cy="737988"/>
            </a:xfrm>
            <a:prstGeom prst="rect">
              <a:avLst/>
            </a:prstGeom>
            <a:noFill/>
            <a:ln>
              <a:noFill/>
            </a:ln>
          </p:spPr>
        </p:pic>
        <p:pic>
          <p:nvPicPr>
            <p:cNvPr id="461" name="Google Shape;208;p15">
              <a:extLst>
                <a:ext uri="{FF2B5EF4-FFF2-40B4-BE49-F238E27FC236}">
                  <a16:creationId xmlns:a16="http://schemas.microsoft.com/office/drawing/2014/main" id="{5471C6EF-B983-218A-8CF4-FCF6FE085437}"/>
                </a:ext>
              </a:extLst>
            </p:cNvPr>
            <p:cNvPicPr preferRelativeResize="0"/>
            <p:nvPr/>
          </p:nvPicPr>
          <p:blipFill rotWithShape="1">
            <a:blip r:embed="rId10">
              <a:alphaModFix/>
            </a:blip>
            <a:srcRect r="51536" b="66346"/>
            <a:stretch/>
          </p:blipFill>
          <p:spPr>
            <a:xfrm>
              <a:off x="1478995" y="6325833"/>
              <a:ext cx="3018340" cy="1245849"/>
            </a:xfrm>
            <a:prstGeom prst="rect">
              <a:avLst/>
            </a:prstGeom>
            <a:noFill/>
            <a:ln>
              <a:noFill/>
            </a:ln>
          </p:spPr>
        </p:pic>
        <p:pic>
          <p:nvPicPr>
            <p:cNvPr id="462" name="Google Shape;226;p15">
              <a:extLst>
                <a:ext uri="{FF2B5EF4-FFF2-40B4-BE49-F238E27FC236}">
                  <a16:creationId xmlns:a16="http://schemas.microsoft.com/office/drawing/2014/main" id="{28FD728E-E064-586E-707B-88C1143ED72B}"/>
                </a:ext>
              </a:extLst>
            </p:cNvPr>
            <p:cNvPicPr preferRelativeResize="0"/>
            <p:nvPr/>
          </p:nvPicPr>
          <p:blipFill>
            <a:blip r:embed="rId11">
              <a:alphaModFix/>
            </a:blip>
            <a:stretch>
              <a:fillRect/>
            </a:stretch>
          </p:blipFill>
          <p:spPr>
            <a:xfrm>
              <a:off x="1520465" y="5876512"/>
              <a:ext cx="418118" cy="397419"/>
            </a:xfrm>
            <a:prstGeom prst="rect">
              <a:avLst/>
            </a:prstGeom>
            <a:noFill/>
            <a:ln>
              <a:noFill/>
            </a:ln>
          </p:spPr>
        </p:pic>
        <p:sp>
          <p:nvSpPr>
            <p:cNvPr id="463" name="Google Shape;228;p15">
              <a:extLst>
                <a:ext uri="{FF2B5EF4-FFF2-40B4-BE49-F238E27FC236}">
                  <a16:creationId xmlns:a16="http://schemas.microsoft.com/office/drawing/2014/main" id="{F42E8AE0-C523-4560-735B-9C620A7C4CE7}"/>
                </a:ext>
              </a:extLst>
            </p:cNvPr>
            <p:cNvSpPr txBox="1"/>
            <p:nvPr/>
          </p:nvSpPr>
          <p:spPr>
            <a:xfrm>
              <a:off x="1866920" y="5853986"/>
              <a:ext cx="1995583" cy="204417"/>
            </a:xfrm>
            <a:prstGeom prst="rect">
              <a:avLst/>
            </a:prstGeom>
            <a:noFill/>
            <a:ln>
              <a:noFill/>
            </a:ln>
          </p:spPr>
          <p:txBody>
            <a:bodyPr spcFirstLastPara="1" wrap="square" lIns="127722" tIns="127722" rIns="127722" bIns="127722" anchor="t" anchorCtr="0">
              <a:noAutofit/>
            </a:bodyPr>
            <a:lstStyle/>
            <a:p>
              <a:pPr>
                <a:spcBef>
                  <a:spcPts val="0"/>
                </a:spcBef>
              </a:pPr>
              <a:r>
                <a:rPr lang="en" sz="1117" dirty="0">
                  <a:solidFill>
                    <a:schemeClr val="dk1"/>
                  </a:solidFill>
                </a:rPr>
                <a:t>Changes Reviewed</a:t>
              </a:r>
              <a:endParaRPr sz="1117" dirty="0">
                <a:solidFill>
                  <a:schemeClr val="dk1"/>
                </a:solidFill>
              </a:endParaRPr>
            </a:p>
          </p:txBody>
        </p:sp>
        <p:cxnSp>
          <p:nvCxnSpPr>
            <p:cNvPr id="464" name="Google Shape;229;p15">
              <a:extLst>
                <a:ext uri="{FF2B5EF4-FFF2-40B4-BE49-F238E27FC236}">
                  <a16:creationId xmlns:a16="http://schemas.microsoft.com/office/drawing/2014/main" id="{347C5806-8081-7B05-3F2D-638645B46EEB}"/>
                </a:ext>
              </a:extLst>
            </p:cNvPr>
            <p:cNvCxnSpPr/>
            <p:nvPr/>
          </p:nvCxnSpPr>
          <p:spPr>
            <a:xfrm>
              <a:off x="1467748" y="6324819"/>
              <a:ext cx="3040125" cy="0"/>
            </a:xfrm>
            <a:prstGeom prst="straightConnector1">
              <a:avLst/>
            </a:prstGeom>
            <a:noFill/>
            <a:ln w="8700" cap="flat" cmpd="sng">
              <a:solidFill>
                <a:schemeClr val="dk2"/>
              </a:solidFill>
              <a:prstDash val="solid"/>
              <a:round/>
              <a:headEnd type="none" w="med" len="med"/>
              <a:tailEnd type="none" w="med" len="med"/>
            </a:ln>
          </p:spPr>
        </p:cxnSp>
        <p:pic>
          <p:nvPicPr>
            <p:cNvPr id="465" name="Google Shape;230;p15">
              <a:extLst>
                <a:ext uri="{FF2B5EF4-FFF2-40B4-BE49-F238E27FC236}">
                  <a16:creationId xmlns:a16="http://schemas.microsoft.com/office/drawing/2014/main" id="{1862FA6E-D46B-8CE0-6E2C-DFAAD14238CA}"/>
                </a:ext>
              </a:extLst>
            </p:cNvPr>
            <p:cNvPicPr preferRelativeResize="0"/>
            <p:nvPr/>
          </p:nvPicPr>
          <p:blipFill>
            <a:blip r:embed="rId12">
              <a:alphaModFix/>
            </a:blip>
            <a:stretch>
              <a:fillRect/>
            </a:stretch>
          </p:blipFill>
          <p:spPr>
            <a:xfrm>
              <a:off x="1576377" y="6953035"/>
              <a:ext cx="233220" cy="273781"/>
            </a:xfrm>
            <a:prstGeom prst="rect">
              <a:avLst/>
            </a:prstGeom>
            <a:noFill/>
            <a:ln>
              <a:noFill/>
            </a:ln>
          </p:spPr>
        </p:pic>
        <p:pic>
          <p:nvPicPr>
            <p:cNvPr id="466" name="Google Shape;231;p15">
              <a:extLst>
                <a:ext uri="{FF2B5EF4-FFF2-40B4-BE49-F238E27FC236}">
                  <a16:creationId xmlns:a16="http://schemas.microsoft.com/office/drawing/2014/main" id="{E0A76414-5693-8AEB-B81D-164818DECE84}"/>
                </a:ext>
              </a:extLst>
            </p:cNvPr>
            <p:cNvPicPr preferRelativeResize="0"/>
            <p:nvPr/>
          </p:nvPicPr>
          <p:blipFill>
            <a:blip r:embed="rId10">
              <a:alphaModFix/>
            </a:blip>
            <a:stretch>
              <a:fillRect/>
            </a:stretch>
          </p:blipFill>
          <p:spPr>
            <a:xfrm>
              <a:off x="1530785" y="6396970"/>
              <a:ext cx="288926" cy="211878"/>
            </a:xfrm>
            <a:prstGeom prst="rect">
              <a:avLst/>
            </a:prstGeom>
            <a:noFill/>
            <a:ln>
              <a:noFill/>
            </a:ln>
          </p:spPr>
        </p:pic>
        <p:pic>
          <p:nvPicPr>
            <p:cNvPr id="467" name="Google Shape;232;p15">
              <a:extLst>
                <a:ext uri="{FF2B5EF4-FFF2-40B4-BE49-F238E27FC236}">
                  <a16:creationId xmlns:a16="http://schemas.microsoft.com/office/drawing/2014/main" id="{4188B300-4305-8B4E-B360-DA517ADA822F}"/>
                </a:ext>
              </a:extLst>
            </p:cNvPr>
            <p:cNvPicPr preferRelativeResize="0"/>
            <p:nvPr/>
          </p:nvPicPr>
          <p:blipFill>
            <a:blip r:embed="rId13">
              <a:alphaModFix/>
            </a:blip>
            <a:stretch>
              <a:fillRect/>
            </a:stretch>
          </p:blipFill>
          <p:spPr>
            <a:xfrm>
              <a:off x="1523888" y="6653098"/>
              <a:ext cx="275348" cy="232624"/>
            </a:xfrm>
            <a:prstGeom prst="rect">
              <a:avLst/>
            </a:prstGeom>
            <a:noFill/>
            <a:ln>
              <a:noFill/>
            </a:ln>
          </p:spPr>
        </p:pic>
        <p:pic>
          <p:nvPicPr>
            <p:cNvPr id="468" name="Google Shape;233;p15">
              <a:extLst>
                <a:ext uri="{FF2B5EF4-FFF2-40B4-BE49-F238E27FC236}">
                  <a16:creationId xmlns:a16="http://schemas.microsoft.com/office/drawing/2014/main" id="{96702B7A-4E96-CE36-4D37-BF411019AAE9}"/>
                </a:ext>
              </a:extLst>
            </p:cNvPr>
            <p:cNvPicPr preferRelativeResize="0"/>
            <p:nvPr/>
          </p:nvPicPr>
          <p:blipFill>
            <a:blip r:embed="rId14">
              <a:alphaModFix/>
            </a:blip>
            <a:stretch>
              <a:fillRect/>
            </a:stretch>
          </p:blipFill>
          <p:spPr>
            <a:xfrm>
              <a:off x="1546046" y="8251899"/>
              <a:ext cx="253223" cy="282442"/>
            </a:xfrm>
            <a:prstGeom prst="rect">
              <a:avLst/>
            </a:prstGeom>
            <a:noFill/>
            <a:ln>
              <a:noFill/>
            </a:ln>
          </p:spPr>
        </p:pic>
        <p:sp>
          <p:nvSpPr>
            <p:cNvPr id="469" name="Google Shape;234;p15">
              <a:extLst>
                <a:ext uri="{FF2B5EF4-FFF2-40B4-BE49-F238E27FC236}">
                  <a16:creationId xmlns:a16="http://schemas.microsoft.com/office/drawing/2014/main" id="{2AB966E9-08BD-133A-6CC5-332512B15872}"/>
                </a:ext>
              </a:extLst>
            </p:cNvPr>
            <p:cNvSpPr/>
            <p:nvPr/>
          </p:nvSpPr>
          <p:spPr>
            <a:xfrm>
              <a:off x="1629407" y="8282439"/>
              <a:ext cx="2788500" cy="232375"/>
            </a:xfrm>
            <a:prstGeom prst="rect">
              <a:avLst/>
            </a:prstGeom>
            <a:noFill/>
            <a:ln>
              <a:noFill/>
            </a:ln>
          </p:spPr>
          <p:txBody>
            <a:bodyPr spcFirstLastPara="1" wrap="square" lIns="127722" tIns="127722" rIns="127722" bIns="127722" anchor="ctr" anchorCtr="0">
              <a:noAutofit/>
            </a:bodyPr>
            <a:lstStyle/>
            <a:p>
              <a:pPr>
                <a:spcBef>
                  <a:spcPts val="0"/>
                </a:spcBef>
                <a:buClr>
                  <a:schemeClr val="dk1"/>
                </a:buClr>
                <a:buSzPts val="1006"/>
              </a:pPr>
              <a:r>
                <a:rPr lang="en" sz="839">
                  <a:solidFill>
                    <a:schemeClr val="dk1"/>
                  </a:solidFill>
                </a:rPr>
                <a:t>   </a:t>
              </a:r>
              <a:r>
                <a:rPr lang="en" sz="839">
                  <a:solidFill>
                    <a:srgbClr val="1F2328"/>
                  </a:solidFill>
                </a:rPr>
                <a:t>           test-coverage/test-coverage(4.4)</a:t>
              </a:r>
              <a:endParaRPr sz="1956"/>
            </a:p>
          </p:txBody>
        </p:sp>
        <p:sp>
          <p:nvSpPr>
            <p:cNvPr id="470" name="Google Shape;235;p15">
              <a:extLst>
                <a:ext uri="{FF2B5EF4-FFF2-40B4-BE49-F238E27FC236}">
                  <a16:creationId xmlns:a16="http://schemas.microsoft.com/office/drawing/2014/main" id="{9035A938-DB29-ACAA-6D68-E917F84FD66F}"/>
                </a:ext>
              </a:extLst>
            </p:cNvPr>
            <p:cNvSpPr/>
            <p:nvPr/>
          </p:nvSpPr>
          <p:spPr>
            <a:xfrm>
              <a:off x="1629374" y="8621717"/>
              <a:ext cx="2788500" cy="232375"/>
            </a:xfrm>
            <a:prstGeom prst="rect">
              <a:avLst/>
            </a:prstGeom>
            <a:noFill/>
            <a:ln>
              <a:noFill/>
            </a:ln>
          </p:spPr>
          <p:txBody>
            <a:bodyPr spcFirstLastPara="1" wrap="square" lIns="127722" tIns="127722" rIns="127722" bIns="127722" anchor="ctr" anchorCtr="0">
              <a:noAutofit/>
            </a:bodyPr>
            <a:lstStyle/>
            <a:p>
              <a:pPr>
                <a:spcBef>
                  <a:spcPts val="0"/>
                </a:spcBef>
              </a:pPr>
              <a:r>
                <a:rPr lang="en" sz="839"/>
                <a:t>              R-CMD-check</a:t>
              </a:r>
              <a:endParaRPr sz="839"/>
            </a:p>
          </p:txBody>
        </p:sp>
        <p:sp>
          <p:nvSpPr>
            <p:cNvPr id="471" name="Google Shape;236;p15">
              <a:extLst>
                <a:ext uri="{FF2B5EF4-FFF2-40B4-BE49-F238E27FC236}">
                  <a16:creationId xmlns:a16="http://schemas.microsoft.com/office/drawing/2014/main" id="{9BD4BB98-0F02-E810-C858-B0F1618BF4F1}"/>
                </a:ext>
              </a:extLst>
            </p:cNvPr>
            <p:cNvSpPr/>
            <p:nvPr/>
          </p:nvSpPr>
          <p:spPr>
            <a:xfrm>
              <a:off x="1830220" y="8318797"/>
              <a:ext cx="165458" cy="16270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bg2">
                    <a:lumMod val="10000"/>
                  </a:schemeClr>
                </a:solidFill>
              </a:endParaRPr>
            </a:p>
          </p:txBody>
        </p:sp>
        <p:sp>
          <p:nvSpPr>
            <p:cNvPr id="472" name="Google Shape;237;p15">
              <a:extLst>
                <a:ext uri="{FF2B5EF4-FFF2-40B4-BE49-F238E27FC236}">
                  <a16:creationId xmlns:a16="http://schemas.microsoft.com/office/drawing/2014/main" id="{31C93ADF-0B18-BA9C-784D-C111B702CD20}"/>
                </a:ext>
              </a:extLst>
            </p:cNvPr>
            <p:cNvSpPr txBox="1"/>
            <p:nvPr/>
          </p:nvSpPr>
          <p:spPr>
            <a:xfrm>
              <a:off x="1729524" y="8229908"/>
              <a:ext cx="416167" cy="232375"/>
            </a:xfrm>
            <a:prstGeom prst="rect">
              <a:avLst/>
            </a:prstGeom>
            <a:noFill/>
            <a:ln>
              <a:noFill/>
            </a:ln>
          </p:spPr>
          <p:txBody>
            <a:bodyPr spcFirstLastPara="1" wrap="square" lIns="127722" tIns="127722" rIns="127722" bIns="127722" anchor="t" anchorCtr="0">
              <a:noAutofit/>
            </a:bodyPr>
            <a:lstStyle/>
            <a:p>
              <a:pPr>
                <a:spcBef>
                  <a:spcPts val="0"/>
                </a:spcBef>
              </a:pPr>
              <a:r>
                <a:rPr lang="en" sz="698" dirty="0">
                  <a:solidFill>
                    <a:schemeClr val="lt1"/>
                  </a:solidFill>
                </a:rPr>
                <a:t>GH</a:t>
              </a:r>
              <a:endParaRPr sz="698" dirty="0">
                <a:solidFill>
                  <a:schemeClr val="lt1"/>
                </a:solidFill>
              </a:endParaRPr>
            </a:p>
          </p:txBody>
        </p:sp>
        <p:sp>
          <p:nvSpPr>
            <p:cNvPr id="473" name="Google Shape;238;p15">
              <a:extLst>
                <a:ext uri="{FF2B5EF4-FFF2-40B4-BE49-F238E27FC236}">
                  <a16:creationId xmlns:a16="http://schemas.microsoft.com/office/drawing/2014/main" id="{C6C47071-F999-BE62-7E22-239C58B0F589}"/>
                </a:ext>
              </a:extLst>
            </p:cNvPr>
            <p:cNvSpPr/>
            <p:nvPr/>
          </p:nvSpPr>
          <p:spPr>
            <a:xfrm>
              <a:off x="1835613" y="8653245"/>
              <a:ext cx="165458" cy="16270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474" name="Google Shape;239;p15">
              <a:extLst>
                <a:ext uri="{FF2B5EF4-FFF2-40B4-BE49-F238E27FC236}">
                  <a16:creationId xmlns:a16="http://schemas.microsoft.com/office/drawing/2014/main" id="{19B0CC23-3CFE-BB6E-2801-A108E0E0BE16}"/>
                </a:ext>
              </a:extLst>
            </p:cNvPr>
            <p:cNvSpPr txBox="1"/>
            <p:nvPr/>
          </p:nvSpPr>
          <p:spPr>
            <a:xfrm>
              <a:off x="1730499" y="8555049"/>
              <a:ext cx="416167" cy="232375"/>
            </a:xfrm>
            <a:prstGeom prst="rect">
              <a:avLst/>
            </a:prstGeom>
            <a:noFill/>
            <a:ln>
              <a:noFill/>
            </a:ln>
          </p:spPr>
          <p:txBody>
            <a:bodyPr spcFirstLastPara="1" wrap="square" lIns="127722" tIns="127722" rIns="127722" bIns="127722" anchor="t" anchorCtr="0">
              <a:noAutofit/>
            </a:bodyPr>
            <a:lstStyle/>
            <a:p>
              <a:pPr>
                <a:spcBef>
                  <a:spcPts val="0"/>
                </a:spcBef>
              </a:pPr>
              <a:r>
                <a:rPr lang="en" sz="698" dirty="0">
                  <a:solidFill>
                    <a:schemeClr val="lt1"/>
                  </a:solidFill>
                </a:rPr>
                <a:t>GH</a:t>
              </a:r>
              <a:endParaRPr sz="698" dirty="0">
                <a:solidFill>
                  <a:schemeClr val="lt1"/>
                </a:solidFill>
              </a:endParaRPr>
            </a:p>
          </p:txBody>
        </p:sp>
        <p:sp>
          <p:nvSpPr>
            <p:cNvPr id="475" name="Google Shape;240;p15">
              <a:extLst>
                <a:ext uri="{FF2B5EF4-FFF2-40B4-BE49-F238E27FC236}">
                  <a16:creationId xmlns:a16="http://schemas.microsoft.com/office/drawing/2014/main" id="{EABD0D45-9001-2EAA-3D34-728A627E2589}"/>
                </a:ext>
              </a:extLst>
            </p:cNvPr>
            <p:cNvSpPr txBox="1"/>
            <p:nvPr/>
          </p:nvSpPr>
          <p:spPr>
            <a:xfrm>
              <a:off x="1694050" y="6325762"/>
              <a:ext cx="970292"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a:solidFill>
                    <a:srgbClr val="999999"/>
                  </a:solidFill>
                </a:rPr>
                <a:t>1 approval</a:t>
              </a:r>
              <a:endParaRPr sz="978">
                <a:solidFill>
                  <a:srgbClr val="999999"/>
                </a:solidFill>
              </a:endParaRPr>
            </a:p>
            <a:p>
              <a:pPr>
                <a:spcBef>
                  <a:spcPts val="0"/>
                </a:spcBef>
              </a:pPr>
              <a:endParaRPr sz="978">
                <a:solidFill>
                  <a:srgbClr val="999999"/>
                </a:solidFill>
              </a:endParaRPr>
            </a:p>
            <a:p>
              <a:pPr>
                <a:spcBef>
                  <a:spcPts val="0"/>
                </a:spcBef>
              </a:pPr>
              <a:r>
                <a:rPr lang="en" sz="978">
                  <a:solidFill>
                    <a:srgbClr val="999999"/>
                  </a:solidFill>
                </a:rPr>
                <a:t> </a:t>
              </a:r>
              <a:endParaRPr sz="978">
                <a:solidFill>
                  <a:srgbClr val="999999"/>
                </a:solidFill>
              </a:endParaRPr>
            </a:p>
          </p:txBody>
        </p:sp>
        <p:sp>
          <p:nvSpPr>
            <p:cNvPr id="476" name="Google Shape;241;p15">
              <a:extLst>
                <a:ext uri="{FF2B5EF4-FFF2-40B4-BE49-F238E27FC236}">
                  <a16:creationId xmlns:a16="http://schemas.microsoft.com/office/drawing/2014/main" id="{77C0B0A7-FFAD-083C-DBF8-D952ACF6431E}"/>
                </a:ext>
              </a:extLst>
            </p:cNvPr>
            <p:cNvSpPr txBox="1"/>
            <p:nvPr/>
          </p:nvSpPr>
          <p:spPr>
            <a:xfrm>
              <a:off x="1707043" y="6907723"/>
              <a:ext cx="1532667"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a:solidFill>
                    <a:srgbClr val="999999"/>
                  </a:solidFill>
                </a:rPr>
                <a:t>1 requested change</a:t>
              </a:r>
              <a:endParaRPr sz="978">
                <a:solidFill>
                  <a:srgbClr val="999999"/>
                </a:solidFill>
              </a:endParaRPr>
            </a:p>
          </p:txBody>
        </p:sp>
        <p:sp>
          <p:nvSpPr>
            <p:cNvPr id="477" name="Google Shape;242;p15">
              <a:extLst>
                <a:ext uri="{FF2B5EF4-FFF2-40B4-BE49-F238E27FC236}">
                  <a16:creationId xmlns:a16="http://schemas.microsoft.com/office/drawing/2014/main" id="{5B124EE2-B648-3864-6322-1AAF6DFB98CB}"/>
                </a:ext>
              </a:extLst>
            </p:cNvPr>
            <p:cNvSpPr txBox="1"/>
            <p:nvPr/>
          </p:nvSpPr>
          <p:spPr>
            <a:xfrm>
              <a:off x="1705960" y="6587163"/>
              <a:ext cx="2640000"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dirty="0">
                  <a:solidFill>
                    <a:schemeClr val="dk1"/>
                  </a:solidFill>
                </a:rPr>
                <a:t>Quality Reviewer    </a:t>
              </a:r>
              <a:r>
                <a:rPr lang="en" sz="839" dirty="0">
                  <a:solidFill>
                    <a:schemeClr val="dk1"/>
                  </a:solidFill>
                </a:rPr>
                <a:t> </a:t>
              </a:r>
              <a:r>
                <a:rPr lang="en" sz="839" dirty="0">
                  <a:solidFill>
                    <a:srgbClr val="999999"/>
                  </a:solidFill>
                </a:rPr>
                <a:t> Approved these changes</a:t>
              </a:r>
              <a:endParaRPr sz="839" dirty="0">
                <a:solidFill>
                  <a:srgbClr val="999999"/>
                </a:solidFill>
              </a:endParaRPr>
            </a:p>
            <a:p>
              <a:pPr>
                <a:spcBef>
                  <a:spcPts val="0"/>
                </a:spcBef>
              </a:pPr>
              <a:endParaRPr sz="978" dirty="0">
                <a:solidFill>
                  <a:srgbClr val="999999"/>
                </a:solidFill>
              </a:endParaRPr>
            </a:p>
            <a:p>
              <a:pPr>
                <a:spcBef>
                  <a:spcPts val="0"/>
                </a:spcBef>
              </a:pPr>
              <a:r>
                <a:rPr lang="en" sz="978" dirty="0">
                  <a:solidFill>
                    <a:srgbClr val="999999"/>
                  </a:solidFill>
                </a:rPr>
                <a:t> </a:t>
              </a:r>
              <a:endParaRPr sz="978" dirty="0">
                <a:solidFill>
                  <a:srgbClr val="999999"/>
                </a:solidFill>
              </a:endParaRPr>
            </a:p>
          </p:txBody>
        </p:sp>
        <p:pic>
          <p:nvPicPr>
            <p:cNvPr id="478" name="Google Shape;243;p15">
              <a:extLst>
                <a:ext uri="{FF2B5EF4-FFF2-40B4-BE49-F238E27FC236}">
                  <a16:creationId xmlns:a16="http://schemas.microsoft.com/office/drawing/2014/main" id="{4AD4AAE9-0BA0-4901-2DCD-C83882398D7E}"/>
                </a:ext>
              </a:extLst>
            </p:cNvPr>
            <p:cNvPicPr preferRelativeResize="0"/>
            <p:nvPr/>
          </p:nvPicPr>
          <p:blipFill>
            <a:blip r:embed="rId13">
              <a:alphaModFix/>
            </a:blip>
            <a:stretch>
              <a:fillRect/>
            </a:stretch>
          </p:blipFill>
          <p:spPr>
            <a:xfrm>
              <a:off x="1535831" y="7247141"/>
              <a:ext cx="275348" cy="232624"/>
            </a:xfrm>
            <a:prstGeom prst="rect">
              <a:avLst/>
            </a:prstGeom>
            <a:noFill/>
            <a:ln>
              <a:noFill/>
            </a:ln>
          </p:spPr>
        </p:pic>
        <p:sp>
          <p:nvSpPr>
            <p:cNvPr id="479" name="Google Shape;244;p15">
              <a:extLst>
                <a:ext uri="{FF2B5EF4-FFF2-40B4-BE49-F238E27FC236}">
                  <a16:creationId xmlns:a16="http://schemas.microsoft.com/office/drawing/2014/main" id="{D6BAEE20-2283-AB0C-F55C-97F380260E16}"/>
                </a:ext>
              </a:extLst>
            </p:cNvPr>
            <p:cNvSpPr txBox="1"/>
            <p:nvPr/>
          </p:nvSpPr>
          <p:spPr>
            <a:xfrm>
              <a:off x="1703969" y="7146562"/>
              <a:ext cx="2640000"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dirty="0">
                  <a:solidFill>
                    <a:schemeClr val="dk1"/>
                  </a:solidFill>
                </a:rPr>
                <a:t>Code Architect    </a:t>
              </a:r>
              <a:r>
                <a:rPr lang="en" sz="839" dirty="0">
                  <a:solidFill>
                    <a:schemeClr val="dk1"/>
                  </a:solidFill>
                </a:rPr>
                <a:t> </a:t>
              </a:r>
              <a:r>
                <a:rPr lang="en" sz="839" dirty="0">
                  <a:solidFill>
                    <a:srgbClr val="999999"/>
                  </a:solidFill>
                </a:rPr>
                <a:t>     Requested changes</a:t>
              </a:r>
              <a:endParaRPr sz="839" dirty="0">
                <a:solidFill>
                  <a:srgbClr val="999999"/>
                </a:solidFill>
              </a:endParaRPr>
            </a:p>
            <a:p>
              <a:pPr>
                <a:spcBef>
                  <a:spcPts val="0"/>
                </a:spcBef>
              </a:pPr>
              <a:endParaRPr sz="978" dirty="0">
                <a:solidFill>
                  <a:srgbClr val="999999"/>
                </a:solidFill>
              </a:endParaRPr>
            </a:p>
            <a:p>
              <a:pPr>
                <a:spcBef>
                  <a:spcPts val="0"/>
                </a:spcBef>
              </a:pPr>
              <a:r>
                <a:rPr lang="en" sz="978" dirty="0">
                  <a:solidFill>
                    <a:srgbClr val="999999"/>
                  </a:solidFill>
                </a:rPr>
                <a:t> </a:t>
              </a:r>
              <a:endParaRPr sz="978" dirty="0">
                <a:solidFill>
                  <a:srgbClr val="999999"/>
                </a:solidFill>
              </a:endParaRPr>
            </a:p>
          </p:txBody>
        </p:sp>
        <p:cxnSp>
          <p:nvCxnSpPr>
            <p:cNvPr id="480" name="Google Shape;245;p15">
              <a:extLst>
                <a:ext uri="{FF2B5EF4-FFF2-40B4-BE49-F238E27FC236}">
                  <a16:creationId xmlns:a16="http://schemas.microsoft.com/office/drawing/2014/main" id="{34790687-68AF-E65A-E11A-17F9730BE4ED}"/>
                </a:ext>
              </a:extLst>
            </p:cNvPr>
            <p:cNvCxnSpPr/>
            <p:nvPr/>
          </p:nvCxnSpPr>
          <p:spPr>
            <a:xfrm>
              <a:off x="1477667" y="7575104"/>
              <a:ext cx="3040125" cy="0"/>
            </a:xfrm>
            <a:prstGeom prst="straightConnector1">
              <a:avLst/>
            </a:prstGeom>
            <a:noFill/>
            <a:ln w="8700" cap="flat" cmpd="sng">
              <a:solidFill>
                <a:schemeClr val="dk2"/>
              </a:solidFill>
              <a:prstDash val="solid"/>
              <a:round/>
              <a:headEnd type="none" w="med" len="med"/>
              <a:tailEnd type="none" w="med" len="med"/>
            </a:ln>
          </p:spPr>
        </p:cxnSp>
        <p:pic>
          <p:nvPicPr>
            <p:cNvPr id="482" name="Google Shape;246;p15">
              <a:extLst>
                <a:ext uri="{FF2B5EF4-FFF2-40B4-BE49-F238E27FC236}">
                  <a16:creationId xmlns:a16="http://schemas.microsoft.com/office/drawing/2014/main" id="{046E0DCE-9485-267C-9948-7CAF3CBFEC3A}"/>
                </a:ext>
              </a:extLst>
            </p:cNvPr>
            <p:cNvPicPr preferRelativeResize="0"/>
            <p:nvPr/>
          </p:nvPicPr>
          <p:blipFill>
            <a:blip r:embed="rId10">
              <a:alphaModFix/>
            </a:blip>
            <a:stretch>
              <a:fillRect/>
            </a:stretch>
          </p:blipFill>
          <p:spPr>
            <a:xfrm>
              <a:off x="1529318" y="8636978"/>
              <a:ext cx="288926" cy="211878"/>
            </a:xfrm>
            <a:prstGeom prst="rect">
              <a:avLst/>
            </a:prstGeom>
            <a:noFill/>
            <a:ln>
              <a:noFill/>
            </a:ln>
          </p:spPr>
        </p:pic>
        <p:cxnSp>
          <p:nvCxnSpPr>
            <p:cNvPr id="484" name="Google Shape;247;p15">
              <a:extLst>
                <a:ext uri="{FF2B5EF4-FFF2-40B4-BE49-F238E27FC236}">
                  <a16:creationId xmlns:a16="http://schemas.microsoft.com/office/drawing/2014/main" id="{3FE00AA8-663E-8C7C-4B7C-D9D7DB689386}"/>
                </a:ext>
              </a:extLst>
            </p:cNvPr>
            <p:cNvCxnSpPr/>
            <p:nvPr/>
          </p:nvCxnSpPr>
          <p:spPr>
            <a:xfrm>
              <a:off x="1458389" y="8163071"/>
              <a:ext cx="3040125" cy="0"/>
            </a:xfrm>
            <a:prstGeom prst="straightConnector1">
              <a:avLst/>
            </a:prstGeom>
            <a:noFill/>
            <a:ln w="8700" cap="flat" cmpd="sng">
              <a:solidFill>
                <a:schemeClr val="dk2"/>
              </a:solidFill>
              <a:prstDash val="solid"/>
              <a:round/>
              <a:headEnd type="none" w="med" len="med"/>
              <a:tailEnd type="none" w="med" len="med"/>
            </a:ln>
          </p:spPr>
        </p:cxnSp>
        <p:pic>
          <p:nvPicPr>
            <p:cNvPr id="485" name="Google Shape;248;p15" title="download.png">
              <a:extLst>
                <a:ext uri="{FF2B5EF4-FFF2-40B4-BE49-F238E27FC236}">
                  <a16:creationId xmlns:a16="http://schemas.microsoft.com/office/drawing/2014/main" id="{04B09D78-C0E0-2731-2A57-3FC929997D45}"/>
                </a:ext>
              </a:extLst>
            </p:cNvPr>
            <p:cNvPicPr preferRelativeResize="0"/>
            <p:nvPr/>
          </p:nvPicPr>
          <p:blipFill>
            <a:blip r:embed="rId15">
              <a:alphaModFix/>
            </a:blip>
            <a:stretch>
              <a:fillRect/>
            </a:stretch>
          </p:blipFill>
          <p:spPr>
            <a:xfrm>
              <a:off x="1524726" y="8948407"/>
              <a:ext cx="344920" cy="344920"/>
            </a:xfrm>
            <a:prstGeom prst="rect">
              <a:avLst/>
            </a:prstGeom>
            <a:noFill/>
            <a:ln>
              <a:noFill/>
            </a:ln>
          </p:spPr>
        </p:pic>
        <p:sp>
          <p:nvSpPr>
            <p:cNvPr id="488" name="Google Shape;249;p15">
              <a:extLst>
                <a:ext uri="{FF2B5EF4-FFF2-40B4-BE49-F238E27FC236}">
                  <a16:creationId xmlns:a16="http://schemas.microsoft.com/office/drawing/2014/main" id="{C9B2E54D-0241-A456-663E-570CD15EA099}"/>
                </a:ext>
              </a:extLst>
            </p:cNvPr>
            <p:cNvSpPr txBox="1"/>
            <p:nvPr/>
          </p:nvSpPr>
          <p:spPr>
            <a:xfrm>
              <a:off x="1798191" y="8820046"/>
              <a:ext cx="1821875" cy="348333"/>
            </a:xfrm>
            <a:prstGeom prst="rect">
              <a:avLst/>
            </a:prstGeom>
            <a:noFill/>
            <a:ln>
              <a:noFill/>
            </a:ln>
          </p:spPr>
          <p:txBody>
            <a:bodyPr spcFirstLastPara="1" wrap="square" lIns="127722" tIns="127722" rIns="127722" bIns="127722" anchor="t" anchorCtr="0">
              <a:noAutofit/>
            </a:bodyPr>
            <a:lstStyle/>
            <a:p>
              <a:pPr>
                <a:spcBef>
                  <a:spcPts val="0"/>
                </a:spcBef>
              </a:pPr>
              <a:r>
                <a:rPr lang="en" sz="1257">
                  <a:solidFill>
                    <a:schemeClr val="dk1"/>
                  </a:solidFill>
                </a:rPr>
                <a:t>No conflicts with base branch</a:t>
              </a:r>
              <a:endParaRPr sz="1257">
                <a:solidFill>
                  <a:schemeClr val="dk1"/>
                </a:solidFill>
              </a:endParaRPr>
            </a:p>
            <a:p>
              <a:pPr>
                <a:spcBef>
                  <a:spcPts val="0"/>
                </a:spcBef>
              </a:pPr>
              <a:endParaRPr sz="1257">
                <a:solidFill>
                  <a:schemeClr val="dk1"/>
                </a:solidFill>
              </a:endParaRPr>
            </a:p>
          </p:txBody>
        </p:sp>
        <p:cxnSp>
          <p:nvCxnSpPr>
            <p:cNvPr id="489" name="Google Shape;250;p15">
              <a:extLst>
                <a:ext uri="{FF2B5EF4-FFF2-40B4-BE49-F238E27FC236}">
                  <a16:creationId xmlns:a16="http://schemas.microsoft.com/office/drawing/2014/main" id="{908FC348-508F-304F-630B-136D47F97240}"/>
                </a:ext>
              </a:extLst>
            </p:cNvPr>
            <p:cNvCxnSpPr/>
            <p:nvPr/>
          </p:nvCxnSpPr>
          <p:spPr>
            <a:xfrm>
              <a:off x="1474802" y="8902850"/>
              <a:ext cx="3040125" cy="0"/>
            </a:xfrm>
            <a:prstGeom prst="straightConnector1">
              <a:avLst/>
            </a:prstGeom>
            <a:noFill/>
            <a:ln w="8700" cap="flat" cmpd="sng">
              <a:solidFill>
                <a:schemeClr val="dk2"/>
              </a:solidFill>
              <a:prstDash val="solid"/>
              <a:round/>
              <a:headEnd type="none" w="med" len="med"/>
              <a:tailEnd type="none" w="med" len="med"/>
            </a:ln>
          </p:spPr>
        </p:cxnSp>
        <p:sp>
          <p:nvSpPr>
            <p:cNvPr id="492" name="Google Shape;216;p15">
              <a:extLst>
                <a:ext uri="{FF2B5EF4-FFF2-40B4-BE49-F238E27FC236}">
                  <a16:creationId xmlns:a16="http://schemas.microsoft.com/office/drawing/2014/main" id="{BEF5223E-EBA9-310D-4BFB-D358F5BB3C6B}"/>
                </a:ext>
              </a:extLst>
            </p:cNvPr>
            <p:cNvSpPr/>
            <p:nvPr/>
          </p:nvSpPr>
          <p:spPr>
            <a:xfrm>
              <a:off x="1466614" y="5802822"/>
              <a:ext cx="3030718" cy="3579582"/>
            </a:xfrm>
            <a:prstGeom prst="rect">
              <a:avLst/>
            </a:prstGeom>
            <a:no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grpSp>
      <p:sp>
        <p:nvSpPr>
          <p:cNvPr id="62" name="Google Shape;215;p15">
            <a:extLst>
              <a:ext uri="{FF2B5EF4-FFF2-40B4-BE49-F238E27FC236}">
                <a16:creationId xmlns:a16="http://schemas.microsoft.com/office/drawing/2014/main" id="{46DBF5B7-1C67-04CB-4E37-3B6964E9D98D}"/>
              </a:ext>
            </a:extLst>
          </p:cNvPr>
          <p:cNvSpPr/>
          <p:nvPr/>
        </p:nvSpPr>
        <p:spPr>
          <a:xfrm>
            <a:off x="10152799" y="4409250"/>
            <a:ext cx="3024222" cy="232375"/>
          </a:xfrm>
          <a:prstGeom prst="rect">
            <a:avLst/>
          </a:prstGeom>
          <a:solidFill>
            <a:schemeClr val="lt2"/>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839" dirty="0"/>
          </a:p>
          <a:p>
            <a:pPr>
              <a:spcBef>
                <a:spcPts val="0"/>
              </a:spcBef>
            </a:pPr>
            <a:endParaRPr sz="839" dirty="0"/>
          </a:p>
          <a:p>
            <a:pPr>
              <a:spcBef>
                <a:spcPts val="0"/>
              </a:spcBef>
            </a:pPr>
            <a:r>
              <a:rPr lang="en" sz="839" dirty="0">
                <a:solidFill>
                  <a:schemeClr val="tx1">
                    <a:lumMod val="50000"/>
                  </a:schemeClr>
                </a:solidFill>
              </a:rPr>
              <a:t>Username </a:t>
            </a:r>
            <a:r>
              <a:rPr lang="en" sz="839" b="0" dirty="0">
                <a:solidFill>
                  <a:schemeClr val="tx1">
                    <a:lumMod val="50000"/>
                  </a:schemeClr>
                </a:solidFill>
              </a:rPr>
              <a:t>commented on Mar 15</a:t>
            </a:r>
            <a:endParaRPr sz="839" b="0" dirty="0">
              <a:solidFill>
                <a:schemeClr val="tx1">
                  <a:lumMod val="50000"/>
                </a:schemeClr>
              </a:solidFill>
            </a:endParaRPr>
          </a:p>
          <a:p>
            <a:pPr>
              <a:spcBef>
                <a:spcPts val="0"/>
              </a:spcBef>
            </a:pPr>
            <a:endParaRPr sz="1956" dirty="0"/>
          </a:p>
        </p:txBody>
      </p:sp>
      <p:sp>
        <p:nvSpPr>
          <p:cNvPr id="63" name="Google Shape;216;p15">
            <a:extLst>
              <a:ext uri="{FF2B5EF4-FFF2-40B4-BE49-F238E27FC236}">
                <a16:creationId xmlns:a16="http://schemas.microsoft.com/office/drawing/2014/main" id="{7EBC5D66-340F-6061-2943-12C287D1587F}"/>
              </a:ext>
            </a:extLst>
          </p:cNvPr>
          <p:cNvSpPr/>
          <p:nvPr/>
        </p:nvSpPr>
        <p:spPr>
          <a:xfrm>
            <a:off x="10152799" y="4641625"/>
            <a:ext cx="3024222" cy="227593"/>
          </a:xfrm>
          <a:prstGeom prst="rect">
            <a:avLst/>
          </a:prstGeom>
          <a:solidFill>
            <a:schemeClr val="lt1"/>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sp>
        <p:nvSpPr>
          <p:cNvPr id="448" name="TextBox 447">
            <a:extLst>
              <a:ext uri="{FF2B5EF4-FFF2-40B4-BE49-F238E27FC236}">
                <a16:creationId xmlns:a16="http://schemas.microsoft.com/office/drawing/2014/main" id="{9F1C9A7F-950B-A1FA-3B0B-5C69EA878CC2}"/>
              </a:ext>
            </a:extLst>
          </p:cNvPr>
          <p:cNvSpPr txBox="1"/>
          <p:nvPr/>
        </p:nvSpPr>
        <p:spPr>
          <a:xfrm>
            <a:off x="10177672" y="4576663"/>
            <a:ext cx="40900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rPr>
              <a:t>…</a:t>
            </a:r>
          </a:p>
        </p:txBody>
      </p:sp>
      <p:sp>
        <p:nvSpPr>
          <p:cNvPr id="499" name="Use headers, colors, and/or backgrounds to separate or group together sections.">
            <a:extLst>
              <a:ext uri="{FF2B5EF4-FFF2-40B4-BE49-F238E27FC236}">
                <a16:creationId xmlns:a16="http://schemas.microsoft.com/office/drawing/2014/main" id="{0348E5E3-53FB-ED80-F1F5-EA9D3BA96937}"/>
              </a:ext>
            </a:extLst>
          </p:cNvPr>
          <p:cNvSpPr txBox="1"/>
          <p:nvPr/>
        </p:nvSpPr>
        <p:spPr>
          <a:xfrm>
            <a:off x="4854191" y="6871092"/>
            <a:ext cx="4251862" cy="6088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Kaiaulu’s Example.R is used to create fake examples. This allows the data to be called by the unit tests, which ensure that users will not have to deal with that same erroneous case ever again. </a:t>
            </a:r>
          </a:p>
        </p:txBody>
      </p:sp>
      <p:sp>
        <p:nvSpPr>
          <p:cNvPr id="375" name="Line">
            <a:extLst>
              <a:ext uri="{FF2B5EF4-FFF2-40B4-BE49-F238E27FC236}">
                <a16:creationId xmlns:a16="http://schemas.microsoft.com/office/drawing/2014/main" id="{AE77E012-F79E-43F1-3B7D-59335A788767}"/>
              </a:ext>
            </a:extLst>
          </p:cNvPr>
          <p:cNvSpPr/>
          <p:nvPr/>
        </p:nvSpPr>
        <p:spPr>
          <a:xfrm flipV="1">
            <a:off x="4729120" y="1628075"/>
            <a:ext cx="4318858"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6" name="Use headers, colors, and/or backgrounds to separate or group together sections.">
            <a:extLst>
              <a:ext uri="{FF2B5EF4-FFF2-40B4-BE49-F238E27FC236}">
                <a16:creationId xmlns:a16="http://schemas.microsoft.com/office/drawing/2014/main" id="{F5623F01-8ECB-7473-52C3-BA7288F950EB}"/>
              </a:ext>
            </a:extLst>
          </p:cNvPr>
          <p:cNvSpPr txBox="1"/>
          <p:nvPr/>
        </p:nvSpPr>
        <p:spPr>
          <a:xfrm>
            <a:off x="9497689" y="2183873"/>
            <a:ext cx="4251862" cy="16829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In practice, the workflow process happens in the Pull Request. Codecov has a bot comment on the request and report its patch and project coverage, as well as deny the PR if it deems them too low. </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The users assigned to the project’s Quality Reviewer and Code Architect can then either approve or request changes to the commit files. </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GitHub Actions can inform the user specifically of which tests failed when running the commit code. </a:t>
            </a:r>
          </a:p>
        </p:txBody>
      </p:sp>
      <p:sp>
        <p:nvSpPr>
          <p:cNvPr id="41" name="Manipulate Variables">
            <a:extLst>
              <a:ext uri="{FF2B5EF4-FFF2-40B4-BE49-F238E27FC236}">
                <a16:creationId xmlns:a16="http://schemas.microsoft.com/office/drawing/2014/main" id="{C3C8E218-E06C-7247-03BE-66085B1DEB97}"/>
              </a:ext>
            </a:extLst>
          </p:cNvPr>
          <p:cNvSpPr txBox="1"/>
          <p:nvPr/>
        </p:nvSpPr>
        <p:spPr>
          <a:xfrm>
            <a:off x="9455692" y="1776507"/>
            <a:ext cx="3004027"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Pull Request Workflow</a:t>
            </a:r>
          </a:p>
        </p:txBody>
      </p:sp>
      <p:sp>
        <p:nvSpPr>
          <p:cNvPr id="42" name="Line">
            <a:extLst>
              <a:ext uri="{FF2B5EF4-FFF2-40B4-BE49-F238E27FC236}">
                <a16:creationId xmlns:a16="http://schemas.microsoft.com/office/drawing/2014/main" id="{C09F7763-3AFE-8A71-2E1D-A76A2B90041D}"/>
              </a:ext>
            </a:extLst>
          </p:cNvPr>
          <p:cNvSpPr/>
          <p:nvPr/>
        </p:nvSpPr>
        <p:spPr>
          <a:xfrm flipV="1">
            <a:off x="9464191" y="2140504"/>
            <a:ext cx="4318858"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5" name="Use headers, colors, and/or backgrounds to separate or group together sections.">
            <a:extLst>
              <a:ext uri="{FF2B5EF4-FFF2-40B4-BE49-F238E27FC236}">
                <a16:creationId xmlns:a16="http://schemas.microsoft.com/office/drawing/2014/main" id="{E219C00C-7F97-0E15-E7A9-4F1ABC2A5DAB}"/>
              </a:ext>
            </a:extLst>
          </p:cNvPr>
          <p:cNvSpPr txBox="1"/>
          <p:nvPr/>
        </p:nvSpPr>
        <p:spPr>
          <a:xfrm>
            <a:off x="4783536" y="1718455"/>
            <a:ext cx="4251862" cy="20922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The Kaiaulu code review workflow follows a multiple step process. </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Codecov will deny a commit based on code test coverage. </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GitHub Actions will deny a commit if any tests from the testthat folder fail. </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The Quality Reviewer is a user role that runs the committed code on their own machine, ensuring that code is not reliant on the hosts’ personal setup. </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Lastly, the Code Architect is another user role that checks to see that the committed code matches the conventions of other similar files in Kaiaulu.</a:t>
            </a:r>
          </a:p>
        </p:txBody>
      </p:sp>
      <p:sp>
        <p:nvSpPr>
          <p:cNvPr id="604" name="Use headers, colors, and/or backgrounds to separate or group together sections.">
            <a:extLst>
              <a:ext uri="{FF2B5EF4-FFF2-40B4-BE49-F238E27FC236}">
                <a16:creationId xmlns:a16="http://schemas.microsoft.com/office/drawing/2014/main" id="{9A014E32-4C3E-208E-D84B-8D631E76226D}"/>
              </a:ext>
            </a:extLst>
          </p:cNvPr>
          <p:cNvSpPr txBox="1"/>
          <p:nvPr/>
        </p:nvSpPr>
        <p:spPr>
          <a:xfrm>
            <a:off x="198947" y="9387814"/>
            <a:ext cx="4251862"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The Fake Data Generator is used to construct examples, and the examples are used to test the parsers, which take raw data. </a:t>
            </a:r>
          </a:p>
        </p:txBody>
      </p:sp>
      <p:sp>
        <p:nvSpPr>
          <p:cNvPr id="501" name="TextBox 500">
            <a:extLst>
              <a:ext uri="{FF2B5EF4-FFF2-40B4-BE49-F238E27FC236}">
                <a16:creationId xmlns:a16="http://schemas.microsoft.com/office/drawing/2014/main" id="{BED8873B-E250-5D9F-6CF4-BE9F252E092E}"/>
              </a:ext>
            </a:extLst>
          </p:cNvPr>
          <p:cNvSpPr txBox="1"/>
          <p:nvPr/>
        </p:nvSpPr>
        <p:spPr>
          <a:xfrm>
            <a:off x="269268" y="3447605"/>
            <a:ext cx="4184378"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rPr>
              <a:t>Try catch statements allow errors that propagate through files to be caught gracefully. </a:t>
            </a:r>
            <a:endParaRPr lang="en-US" b="0" dirty="0">
              <a:solidFill>
                <a:schemeClr val="bg2">
                  <a:lumMod val="10000"/>
                </a:schemeClr>
              </a:solidFill>
              <a:effectLst/>
              <a:latin typeface="Source Sans Pro" panose="020B0503030403020204" pitchFamily="34" charset="0"/>
              <a:ea typeface="Source Sans Pro" panose="020B0503030403020204" pitchFamily="34" charset="0"/>
            </a:endParaRPr>
          </a:p>
        </p:txBody>
      </p:sp>
      <p:sp>
        <p:nvSpPr>
          <p:cNvPr id="493" name="Line">
            <a:extLst>
              <a:ext uri="{FF2B5EF4-FFF2-40B4-BE49-F238E27FC236}">
                <a16:creationId xmlns:a16="http://schemas.microsoft.com/office/drawing/2014/main" id="{4815055F-6503-B3CE-E7B3-78BB8D69756D}"/>
              </a:ext>
            </a:extLst>
          </p:cNvPr>
          <p:cNvSpPr/>
          <p:nvPr/>
        </p:nvSpPr>
        <p:spPr>
          <a:xfrm flipV="1">
            <a:off x="222498" y="3427629"/>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605" name="Manipulate Variables">
            <a:extLst>
              <a:ext uri="{FF2B5EF4-FFF2-40B4-BE49-F238E27FC236}">
                <a16:creationId xmlns:a16="http://schemas.microsoft.com/office/drawing/2014/main" id="{A5BB6053-7113-8A62-56EE-2172EB85E544}"/>
              </a:ext>
            </a:extLst>
          </p:cNvPr>
          <p:cNvSpPr txBox="1"/>
          <p:nvPr/>
        </p:nvSpPr>
        <p:spPr>
          <a:xfrm>
            <a:off x="275721" y="3107576"/>
            <a:ext cx="375423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Failing Gracefully: Try Catch</a:t>
            </a:r>
          </a:p>
        </p:txBody>
      </p:sp>
      <p:grpSp>
        <p:nvGrpSpPr>
          <p:cNvPr id="5" name="Group 4">
            <a:extLst>
              <a:ext uri="{FF2B5EF4-FFF2-40B4-BE49-F238E27FC236}">
                <a16:creationId xmlns:a16="http://schemas.microsoft.com/office/drawing/2014/main" id="{4EC93FC6-6720-364F-AB0A-EA9FB865D906}"/>
              </a:ext>
            </a:extLst>
          </p:cNvPr>
          <p:cNvGrpSpPr>
            <a:grpSpLocks noChangeAspect="1"/>
          </p:cNvGrpSpPr>
          <p:nvPr/>
        </p:nvGrpSpPr>
        <p:grpSpPr>
          <a:xfrm>
            <a:off x="4596432" y="3987384"/>
            <a:ext cx="4903143" cy="2443499"/>
            <a:chOff x="4754545" y="7592221"/>
            <a:chExt cx="4709646" cy="2347069"/>
          </a:xfrm>
        </p:grpSpPr>
        <p:sp>
          <p:nvSpPr>
            <p:cNvPr id="491" name="Create a visual hierarchy. Help users navigate the page with titles, subtitles, and subsubtitles">
              <a:extLst>
                <a:ext uri="{FF2B5EF4-FFF2-40B4-BE49-F238E27FC236}">
                  <a16:creationId xmlns:a16="http://schemas.microsoft.com/office/drawing/2014/main" id="{E4A4F595-F4D3-0693-3E33-0BE2CA0870F6}"/>
                </a:ext>
              </a:extLst>
            </p:cNvPr>
            <p:cNvSpPr txBox="1"/>
            <p:nvPr/>
          </p:nvSpPr>
          <p:spPr>
            <a:xfrm>
              <a:off x="8264043" y="8100908"/>
              <a:ext cx="1200148" cy="2764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a:rPr>
                <a:t>Code Architect</a:t>
              </a:r>
              <a:endParaRPr lang="en-US" dirty="0">
                <a:latin typeface="Source Sans Pro" panose="020B0503030403020204" pitchFamily="34" charset="0"/>
                <a:ea typeface="Source Sans Pro" panose="020B0503030403020204" pitchFamily="34" charset="0"/>
                <a:sym typeface="Source Sans Pro"/>
              </a:endParaRPr>
            </a:p>
          </p:txBody>
        </p:sp>
        <p:sp>
          <p:nvSpPr>
            <p:cNvPr id="342" name="Create a visual hierarchy. Help users navigate the page with titles, subtitles, and subsubtitles">
              <a:extLst>
                <a:ext uri="{FF2B5EF4-FFF2-40B4-BE49-F238E27FC236}">
                  <a16:creationId xmlns:a16="http://schemas.microsoft.com/office/drawing/2014/main" id="{F32DFF77-6D86-4743-DC94-BC464FECD14C}"/>
                </a:ext>
              </a:extLst>
            </p:cNvPr>
            <p:cNvSpPr txBox="1"/>
            <p:nvPr/>
          </p:nvSpPr>
          <p:spPr>
            <a:xfrm>
              <a:off x="5966355" y="7592221"/>
              <a:ext cx="1603122"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Pull Request Created + Commit Pushed</a:t>
              </a:r>
            </a:p>
          </p:txBody>
        </p:sp>
        <p:sp>
          <p:nvSpPr>
            <p:cNvPr id="504" name="Create a visual hierarchy. Help users navigate the page with titles, subtitles, and subsubtitles">
              <a:extLst>
                <a:ext uri="{FF2B5EF4-FFF2-40B4-BE49-F238E27FC236}">
                  <a16:creationId xmlns:a16="http://schemas.microsoft.com/office/drawing/2014/main" id="{089BB7DD-A302-BCE8-F1B7-C91E4BE73014}"/>
                </a:ext>
              </a:extLst>
            </p:cNvPr>
            <p:cNvSpPr txBox="1"/>
            <p:nvPr/>
          </p:nvSpPr>
          <p:spPr>
            <a:xfrm>
              <a:off x="5986391" y="8110685"/>
              <a:ext cx="1138332" cy="2764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GitHub Actions</a:t>
              </a:r>
              <a:endParaRPr lang="en-US" dirty="0">
                <a:latin typeface="Source Sans Pro" panose="020B0503030403020204" pitchFamily="34" charset="0"/>
                <a:ea typeface="Source Sans Pro" panose="020B0503030403020204" pitchFamily="34" charset="0"/>
                <a:sym typeface="Source Sans Pro"/>
              </a:endParaRPr>
            </a:p>
          </p:txBody>
        </p:sp>
        <p:pic>
          <p:nvPicPr>
            <p:cNvPr id="50" name="Picture 49" descr="Account ">
              <a:extLst>
                <a:ext uri="{FF2B5EF4-FFF2-40B4-BE49-F238E27FC236}">
                  <a16:creationId xmlns:a16="http://schemas.microsoft.com/office/drawing/2014/main" id="{737C9295-47EC-5AE2-74E2-F30B0638B59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580018" y="8330059"/>
              <a:ext cx="306136" cy="306136"/>
            </a:xfrm>
            <a:prstGeom prst="rect">
              <a:avLst/>
            </a:prstGeom>
            <a:noFill/>
            <a:extLst>
              <a:ext uri="{909E8E84-426E-40DD-AFC4-6F175D3DCCD1}">
                <a14:hiddenFill xmlns:a14="http://schemas.microsoft.com/office/drawing/2010/main">
                  <a:solidFill>
                    <a:srgbClr val="FFFFFF"/>
                  </a:solidFill>
                </a14:hiddenFill>
              </a:ext>
            </a:extLst>
          </p:spPr>
        </p:pic>
        <p:pic>
          <p:nvPicPr>
            <p:cNvPr id="481" name="Google Shape;214;p15">
              <a:extLst>
                <a:ext uri="{FF2B5EF4-FFF2-40B4-BE49-F238E27FC236}">
                  <a16:creationId xmlns:a16="http://schemas.microsoft.com/office/drawing/2014/main" id="{0AF732BF-0E0E-E2E8-62C3-3EA5C22882BA}"/>
                </a:ext>
              </a:extLst>
            </p:cNvPr>
            <p:cNvPicPr preferRelativeResize="0"/>
            <p:nvPr/>
          </p:nvPicPr>
          <p:blipFill>
            <a:blip r:embed="rId8">
              <a:alphaModFix/>
            </a:blip>
            <a:srcRect l="10328" r="5548" b="12675"/>
            <a:stretch>
              <a:fillRect/>
            </a:stretch>
          </p:blipFill>
          <p:spPr>
            <a:xfrm>
              <a:off x="5442555" y="8281206"/>
              <a:ext cx="401071" cy="398991"/>
            </a:xfrm>
            <a:prstGeom prst="rect">
              <a:avLst/>
            </a:prstGeom>
            <a:noFill/>
            <a:ln>
              <a:noFill/>
            </a:ln>
          </p:spPr>
        </p:pic>
        <p:grpSp>
          <p:nvGrpSpPr>
            <p:cNvPr id="520" name="Group 519">
              <a:extLst>
                <a:ext uri="{FF2B5EF4-FFF2-40B4-BE49-F238E27FC236}">
                  <a16:creationId xmlns:a16="http://schemas.microsoft.com/office/drawing/2014/main" id="{8686D30C-CD75-DAFA-F40D-9FDA2F8401C4}"/>
                </a:ext>
              </a:extLst>
            </p:cNvPr>
            <p:cNvGrpSpPr/>
            <p:nvPr/>
          </p:nvGrpSpPr>
          <p:grpSpPr>
            <a:xfrm>
              <a:off x="6430077" y="8245501"/>
              <a:ext cx="526129" cy="378927"/>
              <a:chOff x="9474949" y="3367098"/>
              <a:chExt cx="526129" cy="378927"/>
            </a:xfrm>
          </p:grpSpPr>
          <p:sp>
            <p:nvSpPr>
              <p:cNvPr id="486" name="Google Shape;236;p15">
                <a:extLst>
                  <a:ext uri="{FF2B5EF4-FFF2-40B4-BE49-F238E27FC236}">
                    <a16:creationId xmlns:a16="http://schemas.microsoft.com/office/drawing/2014/main" id="{29499A3D-DE86-8209-5D55-0C47EB9ED389}"/>
                  </a:ext>
                </a:extLst>
              </p:cNvPr>
              <p:cNvSpPr/>
              <p:nvPr/>
            </p:nvSpPr>
            <p:spPr>
              <a:xfrm>
                <a:off x="9567136" y="3458331"/>
                <a:ext cx="310026" cy="287694"/>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483" name="Google Shape;237;p15">
                <a:extLst>
                  <a:ext uri="{FF2B5EF4-FFF2-40B4-BE49-F238E27FC236}">
                    <a16:creationId xmlns:a16="http://schemas.microsoft.com/office/drawing/2014/main" id="{8CCD533A-19FC-E789-A1EA-7D29480E0CB1}"/>
                  </a:ext>
                </a:extLst>
              </p:cNvPr>
              <p:cNvSpPr txBox="1"/>
              <p:nvPr/>
            </p:nvSpPr>
            <p:spPr>
              <a:xfrm>
                <a:off x="9474949" y="3367098"/>
                <a:ext cx="526129" cy="263210"/>
              </a:xfrm>
              <a:prstGeom prst="rect">
                <a:avLst/>
              </a:prstGeom>
              <a:noFill/>
              <a:ln>
                <a:noFill/>
              </a:ln>
            </p:spPr>
            <p:txBody>
              <a:bodyPr spcFirstLastPara="1" wrap="square" lIns="127722" tIns="127722" rIns="127722" bIns="127722" anchor="t" anchorCtr="0">
                <a:noAutofit/>
              </a:bodyPr>
              <a:lstStyle/>
              <a:p>
                <a:pPr>
                  <a:spcBef>
                    <a:spcPts val="0"/>
                  </a:spcBef>
                </a:pPr>
                <a:r>
                  <a:rPr lang="en" sz="1400" dirty="0">
                    <a:solidFill>
                      <a:schemeClr val="lt1"/>
                    </a:solidFill>
                  </a:rPr>
                  <a:t>GH</a:t>
                </a:r>
                <a:endParaRPr sz="1400" dirty="0">
                  <a:solidFill>
                    <a:schemeClr val="lt1"/>
                  </a:solidFill>
                </a:endParaRPr>
              </a:p>
            </p:txBody>
          </p:sp>
        </p:grpSp>
        <p:pic>
          <p:nvPicPr>
            <p:cNvPr id="487" name="Picture 486" descr="Account ">
              <a:extLst>
                <a:ext uri="{FF2B5EF4-FFF2-40B4-BE49-F238E27FC236}">
                  <a16:creationId xmlns:a16="http://schemas.microsoft.com/office/drawing/2014/main" id="{8656226C-C86E-48DF-853A-E08DEC2AA41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616900" y="8321807"/>
              <a:ext cx="306136" cy="306136"/>
            </a:xfrm>
            <a:prstGeom prst="rect">
              <a:avLst/>
            </a:prstGeom>
            <a:noFill/>
            <a:extLst>
              <a:ext uri="{909E8E84-426E-40DD-AFC4-6F175D3DCCD1}">
                <a14:hiddenFill xmlns:a14="http://schemas.microsoft.com/office/drawing/2010/main">
                  <a:solidFill>
                    <a:srgbClr val="FFFFFF"/>
                  </a:solidFill>
                </a14:hiddenFill>
              </a:ext>
            </a:extLst>
          </p:spPr>
        </p:pic>
        <p:sp>
          <p:nvSpPr>
            <p:cNvPr id="490" name="Create a visual hierarchy. Help users navigate the page with titles, subtitles, and subsubtitles">
              <a:extLst>
                <a:ext uri="{FF2B5EF4-FFF2-40B4-BE49-F238E27FC236}">
                  <a16:creationId xmlns:a16="http://schemas.microsoft.com/office/drawing/2014/main" id="{B1A456DB-783E-B1AA-52A5-EFA16E44F3C1}"/>
                </a:ext>
              </a:extLst>
            </p:cNvPr>
            <p:cNvSpPr txBox="1"/>
            <p:nvPr/>
          </p:nvSpPr>
          <p:spPr>
            <a:xfrm>
              <a:off x="7087984" y="8108356"/>
              <a:ext cx="1241412" cy="2764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rPr>
                <a:t>Quality Reviewer</a:t>
              </a:r>
              <a:endParaRPr lang="en-US" dirty="0">
                <a:latin typeface="Source Sans Pro" panose="020B0503030403020204" pitchFamily="34" charset="0"/>
                <a:ea typeface="Source Sans Pro" panose="020B0503030403020204" pitchFamily="34" charset="0"/>
                <a:sym typeface="Source Sans Pro"/>
              </a:endParaRPr>
            </a:p>
          </p:txBody>
        </p:sp>
        <p:cxnSp>
          <p:nvCxnSpPr>
            <p:cNvPr id="328" name="Google Shape;445;p18">
              <a:extLst>
                <a:ext uri="{FF2B5EF4-FFF2-40B4-BE49-F238E27FC236}">
                  <a16:creationId xmlns:a16="http://schemas.microsoft.com/office/drawing/2014/main" id="{081DEF6E-A016-BFE6-FAB8-C00943409E4D}"/>
                </a:ext>
              </a:extLst>
            </p:cNvPr>
            <p:cNvCxnSpPr>
              <a:cxnSpLocks/>
            </p:cNvCxnSpPr>
            <p:nvPr/>
          </p:nvCxnSpPr>
          <p:spPr>
            <a:xfrm>
              <a:off x="5636507" y="8012731"/>
              <a:ext cx="0" cy="227228"/>
            </a:xfrm>
            <a:prstGeom prst="straightConnector1">
              <a:avLst/>
            </a:prstGeom>
            <a:noFill/>
            <a:ln w="28575" cap="flat" cmpd="sng">
              <a:solidFill>
                <a:srgbClr val="1B1311"/>
              </a:solidFill>
              <a:prstDash val="solid"/>
              <a:round/>
              <a:headEnd type="none" w="med" len="med"/>
              <a:tailEnd type="triangle" w="med" len="med"/>
            </a:ln>
          </p:spPr>
        </p:cxnSp>
        <p:cxnSp>
          <p:nvCxnSpPr>
            <p:cNvPr id="330" name="Google Shape;445;p18">
              <a:extLst>
                <a:ext uri="{FF2B5EF4-FFF2-40B4-BE49-F238E27FC236}">
                  <a16:creationId xmlns:a16="http://schemas.microsoft.com/office/drawing/2014/main" id="{E5A65B78-9BA7-5ACD-FAC1-FF6D0432DC5E}"/>
                </a:ext>
              </a:extLst>
            </p:cNvPr>
            <p:cNvCxnSpPr>
              <a:cxnSpLocks/>
            </p:cNvCxnSpPr>
            <p:nvPr/>
          </p:nvCxnSpPr>
          <p:spPr>
            <a:xfrm>
              <a:off x="6693142" y="8692417"/>
              <a:ext cx="0" cy="219033"/>
            </a:xfrm>
            <a:prstGeom prst="straightConnector1">
              <a:avLst/>
            </a:prstGeom>
            <a:noFill/>
            <a:ln w="28575" cap="flat" cmpd="sng">
              <a:solidFill>
                <a:srgbClr val="1B1311"/>
              </a:solidFill>
              <a:prstDash val="solid"/>
              <a:round/>
              <a:headEnd type="none" w="med" len="med"/>
              <a:tailEnd type="triangle" w="med" len="med"/>
            </a:ln>
          </p:spPr>
        </p:cxnSp>
        <p:cxnSp>
          <p:nvCxnSpPr>
            <p:cNvPr id="331" name="Google Shape;445;p18">
              <a:extLst>
                <a:ext uri="{FF2B5EF4-FFF2-40B4-BE49-F238E27FC236}">
                  <a16:creationId xmlns:a16="http://schemas.microsoft.com/office/drawing/2014/main" id="{0ADEBC8B-51A1-A0D4-9B6F-88ADAC0E5281}"/>
                </a:ext>
              </a:extLst>
            </p:cNvPr>
            <p:cNvCxnSpPr>
              <a:cxnSpLocks/>
            </p:cNvCxnSpPr>
            <p:nvPr/>
          </p:nvCxnSpPr>
          <p:spPr>
            <a:xfrm flipV="1">
              <a:off x="5931917" y="8470444"/>
              <a:ext cx="483203" cy="4431"/>
            </a:xfrm>
            <a:prstGeom prst="straightConnector1">
              <a:avLst/>
            </a:prstGeom>
            <a:noFill/>
            <a:ln w="28575" cap="flat" cmpd="sng">
              <a:solidFill>
                <a:srgbClr val="1B1311"/>
              </a:solidFill>
              <a:prstDash val="solid"/>
              <a:round/>
              <a:headEnd type="none" w="med" len="med"/>
              <a:tailEnd type="triangle" w="med" len="med"/>
            </a:ln>
          </p:spPr>
        </p:cxnSp>
        <p:cxnSp>
          <p:nvCxnSpPr>
            <p:cNvPr id="524" name="Google Shape;445;p18">
              <a:extLst>
                <a:ext uri="{FF2B5EF4-FFF2-40B4-BE49-F238E27FC236}">
                  <a16:creationId xmlns:a16="http://schemas.microsoft.com/office/drawing/2014/main" id="{E32FBF38-22BC-0ABB-B637-5A432C7F8004}"/>
                </a:ext>
              </a:extLst>
            </p:cNvPr>
            <p:cNvCxnSpPr>
              <a:cxnSpLocks/>
            </p:cNvCxnSpPr>
            <p:nvPr/>
          </p:nvCxnSpPr>
          <p:spPr>
            <a:xfrm flipV="1">
              <a:off x="7010362" y="8470444"/>
              <a:ext cx="460133" cy="4431"/>
            </a:xfrm>
            <a:prstGeom prst="straightConnector1">
              <a:avLst/>
            </a:prstGeom>
            <a:noFill/>
            <a:ln w="28575" cap="flat" cmpd="sng">
              <a:solidFill>
                <a:srgbClr val="1B1311"/>
              </a:solidFill>
              <a:prstDash val="solid"/>
              <a:round/>
              <a:headEnd type="none" w="med" len="med"/>
              <a:tailEnd type="triangle" w="med" len="med"/>
            </a:ln>
          </p:spPr>
        </p:cxnSp>
        <p:cxnSp>
          <p:nvCxnSpPr>
            <p:cNvPr id="527" name="Google Shape;445;p18">
              <a:extLst>
                <a:ext uri="{FF2B5EF4-FFF2-40B4-BE49-F238E27FC236}">
                  <a16:creationId xmlns:a16="http://schemas.microsoft.com/office/drawing/2014/main" id="{CF847F5C-B22F-0826-D71C-5CD9F3A5485D}"/>
                </a:ext>
              </a:extLst>
            </p:cNvPr>
            <p:cNvCxnSpPr>
              <a:cxnSpLocks/>
            </p:cNvCxnSpPr>
            <p:nvPr/>
          </p:nvCxnSpPr>
          <p:spPr>
            <a:xfrm>
              <a:off x="8025141" y="8481760"/>
              <a:ext cx="490920" cy="1367"/>
            </a:xfrm>
            <a:prstGeom prst="straightConnector1">
              <a:avLst/>
            </a:prstGeom>
            <a:noFill/>
            <a:ln w="28575" cap="flat" cmpd="sng">
              <a:solidFill>
                <a:srgbClr val="1B1311"/>
              </a:solidFill>
              <a:prstDash val="solid"/>
              <a:round/>
              <a:headEnd type="none" w="med" len="med"/>
              <a:tailEnd type="triangle" w="med" len="med"/>
            </a:ln>
          </p:spPr>
        </p:cxnSp>
        <p:sp>
          <p:nvSpPr>
            <p:cNvPr id="528" name="Create a visual hierarchy. Help users navigate the page with titles, subtitles, and subsubtitles">
              <a:extLst>
                <a:ext uri="{FF2B5EF4-FFF2-40B4-BE49-F238E27FC236}">
                  <a16:creationId xmlns:a16="http://schemas.microsoft.com/office/drawing/2014/main" id="{5E8F6AD0-E884-D6A1-C3F1-BA09F2C5B2FD}"/>
                </a:ext>
              </a:extLst>
            </p:cNvPr>
            <p:cNvSpPr txBox="1"/>
            <p:nvPr/>
          </p:nvSpPr>
          <p:spPr>
            <a:xfrm>
              <a:off x="4754545" y="8371927"/>
              <a:ext cx="788917" cy="2764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Codecov</a:t>
              </a:r>
            </a:p>
          </p:txBody>
        </p:sp>
        <p:sp>
          <p:nvSpPr>
            <p:cNvPr id="535" name="Create a visual hierarchy. Help users navigate the page with titles, subtitles, and subsubtitles">
              <a:extLst>
                <a:ext uri="{FF2B5EF4-FFF2-40B4-BE49-F238E27FC236}">
                  <a16:creationId xmlns:a16="http://schemas.microsoft.com/office/drawing/2014/main" id="{280D4C62-33F1-5AA7-7175-BFAEDC167999}"/>
                </a:ext>
              </a:extLst>
            </p:cNvPr>
            <p:cNvSpPr txBox="1"/>
            <p:nvPr/>
          </p:nvSpPr>
          <p:spPr>
            <a:xfrm>
              <a:off x="6345851" y="9458213"/>
              <a:ext cx="1184050" cy="4810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Pull Request </a:t>
              </a:r>
            </a:p>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Denie</a:t>
              </a:r>
              <a:r>
                <a:rPr lang="en-US" b="0" dirty="0">
                  <a:solidFill>
                    <a:srgbClr val="000000"/>
                  </a:solidFill>
                  <a:latin typeface="Source Sans Pro" panose="020B0503030403020204" pitchFamily="34" charset="0"/>
                  <a:ea typeface="Source Sans Pro" panose="020B0503030403020204" pitchFamily="34" charset="0"/>
                </a:rPr>
                <a:t>d</a:t>
              </a:r>
              <a:endParaRPr lang="en-US" b="0" i="0" u="none" strike="noStrike" dirty="0">
                <a:solidFill>
                  <a:srgbClr val="000000"/>
                </a:solidFill>
                <a:effectLst/>
                <a:latin typeface="Source Sans Pro" panose="020B0503030403020204" pitchFamily="34" charset="0"/>
                <a:ea typeface="Source Sans Pro" panose="020B0503030403020204" pitchFamily="34" charset="0"/>
              </a:endParaRPr>
            </a:p>
          </p:txBody>
        </p:sp>
        <p:cxnSp>
          <p:nvCxnSpPr>
            <p:cNvPr id="544" name="Google Shape;445;p18">
              <a:extLst>
                <a:ext uri="{FF2B5EF4-FFF2-40B4-BE49-F238E27FC236}">
                  <a16:creationId xmlns:a16="http://schemas.microsoft.com/office/drawing/2014/main" id="{545397CE-DD42-2C34-93B6-CF8652226FBE}"/>
                </a:ext>
              </a:extLst>
            </p:cNvPr>
            <p:cNvCxnSpPr>
              <a:cxnSpLocks/>
            </p:cNvCxnSpPr>
            <p:nvPr/>
          </p:nvCxnSpPr>
          <p:spPr>
            <a:xfrm flipH="1">
              <a:off x="5929791" y="9278751"/>
              <a:ext cx="428575" cy="0"/>
            </a:xfrm>
            <a:prstGeom prst="straightConnector1">
              <a:avLst/>
            </a:prstGeom>
            <a:noFill/>
            <a:ln w="28575" cap="flat" cmpd="sng">
              <a:solidFill>
                <a:srgbClr val="1B1311"/>
              </a:solidFill>
              <a:prstDash val="solid"/>
              <a:round/>
              <a:headEnd type="none" w="med" len="med"/>
              <a:tailEnd type="triangle" w="med" len="med"/>
            </a:ln>
          </p:spPr>
        </p:cxnSp>
        <p:cxnSp>
          <p:nvCxnSpPr>
            <p:cNvPr id="549" name="Google Shape;445;p18">
              <a:extLst>
                <a:ext uri="{FF2B5EF4-FFF2-40B4-BE49-F238E27FC236}">
                  <a16:creationId xmlns:a16="http://schemas.microsoft.com/office/drawing/2014/main" id="{DA512EC0-0435-8FE7-86A9-1570C4805063}"/>
                </a:ext>
              </a:extLst>
            </p:cNvPr>
            <p:cNvCxnSpPr>
              <a:cxnSpLocks/>
            </p:cNvCxnSpPr>
            <p:nvPr/>
          </p:nvCxnSpPr>
          <p:spPr>
            <a:xfrm flipH="1">
              <a:off x="7087984" y="9308489"/>
              <a:ext cx="881273" cy="0"/>
            </a:xfrm>
            <a:prstGeom prst="straightConnector1">
              <a:avLst/>
            </a:prstGeom>
            <a:noFill/>
            <a:ln w="28575" cap="flat" cmpd="sng">
              <a:solidFill>
                <a:srgbClr val="1B1311"/>
              </a:solidFill>
              <a:prstDash val="solid"/>
              <a:round/>
              <a:headEnd type="none" w="med" len="med"/>
              <a:tailEnd type="triangle" w="med" len="med"/>
            </a:ln>
          </p:spPr>
        </p:cxnSp>
        <p:cxnSp>
          <p:nvCxnSpPr>
            <p:cNvPr id="557" name="Google Shape;445;p18">
              <a:extLst>
                <a:ext uri="{FF2B5EF4-FFF2-40B4-BE49-F238E27FC236}">
                  <a16:creationId xmlns:a16="http://schemas.microsoft.com/office/drawing/2014/main" id="{20E354EA-B19E-1FEF-CD1B-835D46945A01}"/>
                </a:ext>
              </a:extLst>
            </p:cNvPr>
            <p:cNvCxnSpPr>
              <a:cxnSpLocks/>
            </p:cNvCxnSpPr>
            <p:nvPr/>
          </p:nvCxnSpPr>
          <p:spPr>
            <a:xfrm>
              <a:off x="8784901" y="8687064"/>
              <a:ext cx="0" cy="303476"/>
            </a:xfrm>
            <a:prstGeom prst="straightConnector1">
              <a:avLst/>
            </a:prstGeom>
            <a:noFill/>
            <a:ln w="28575" cap="flat" cmpd="sng">
              <a:solidFill>
                <a:srgbClr val="1B1311"/>
              </a:solidFill>
              <a:prstDash val="solid"/>
              <a:round/>
              <a:headEnd type="none" w="med" len="med"/>
              <a:tailEnd type="triangle" w="med" len="med"/>
            </a:ln>
          </p:spPr>
        </p:cxnSp>
        <p:sp>
          <p:nvSpPr>
            <p:cNvPr id="560" name="Create a visual hierarchy. Help users navigate the page with titles, subtitles, and subsubtitles">
              <a:extLst>
                <a:ext uri="{FF2B5EF4-FFF2-40B4-BE49-F238E27FC236}">
                  <a16:creationId xmlns:a16="http://schemas.microsoft.com/office/drawing/2014/main" id="{C3E8F9E4-9168-DAF0-EBE0-5274A14592B4}"/>
                </a:ext>
              </a:extLst>
            </p:cNvPr>
            <p:cNvSpPr txBox="1"/>
            <p:nvPr/>
          </p:nvSpPr>
          <p:spPr>
            <a:xfrm>
              <a:off x="8177943" y="9423379"/>
              <a:ext cx="1184050" cy="4810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Pull Request </a:t>
              </a:r>
            </a:p>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Approved</a:t>
              </a:r>
            </a:p>
          </p:txBody>
        </p:sp>
        <p:cxnSp>
          <p:nvCxnSpPr>
            <p:cNvPr id="574" name="Straight Connector 573">
              <a:extLst>
                <a:ext uri="{FF2B5EF4-FFF2-40B4-BE49-F238E27FC236}">
                  <a16:creationId xmlns:a16="http://schemas.microsoft.com/office/drawing/2014/main" id="{EFACE1DB-BAAC-5083-6145-AF59A5C150CE}"/>
                </a:ext>
              </a:extLst>
            </p:cNvPr>
            <p:cNvCxnSpPr>
              <a:cxnSpLocks/>
            </p:cNvCxnSpPr>
            <p:nvPr/>
          </p:nvCxnSpPr>
          <p:spPr>
            <a:xfrm flipH="1">
              <a:off x="7942180" y="8631247"/>
              <a:ext cx="698769" cy="677242"/>
            </a:xfrm>
            <a:prstGeom prst="line">
              <a:avLst/>
            </a:prstGeom>
            <a:ln w="28575" cap="flat" cmpd="sng" algn="ctr">
              <a:solidFill>
                <a:schemeClr val="bg2">
                  <a:lumMod val="1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88" name="Create a visual hierarchy. Help users navigate the page with titles, subtitles, and subsubtitles">
              <a:extLst>
                <a:ext uri="{FF2B5EF4-FFF2-40B4-BE49-F238E27FC236}">
                  <a16:creationId xmlns:a16="http://schemas.microsoft.com/office/drawing/2014/main" id="{865704A2-E019-ABB8-0B55-24171B8A55E0}"/>
                </a:ext>
              </a:extLst>
            </p:cNvPr>
            <p:cNvSpPr txBox="1"/>
            <p:nvPr/>
          </p:nvSpPr>
          <p:spPr>
            <a:xfrm>
              <a:off x="5174316" y="9445330"/>
              <a:ext cx="1184050" cy="2764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New Commit</a:t>
              </a:r>
            </a:p>
          </p:txBody>
        </p:sp>
        <p:cxnSp>
          <p:nvCxnSpPr>
            <p:cNvPr id="589" name="Google Shape;445;p18">
              <a:extLst>
                <a:ext uri="{FF2B5EF4-FFF2-40B4-BE49-F238E27FC236}">
                  <a16:creationId xmlns:a16="http://schemas.microsoft.com/office/drawing/2014/main" id="{249FFE09-F3F4-DD58-78AC-5F6ED55CE99F}"/>
                </a:ext>
              </a:extLst>
            </p:cNvPr>
            <p:cNvCxnSpPr>
              <a:cxnSpLocks/>
            </p:cNvCxnSpPr>
            <p:nvPr/>
          </p:nvCxnSpPr>
          <p:spPr>
            <a:xfrm flipV="1">
              <a:off x="5632994" y="8733946"/>
              <a:ext cx="0" cy="256594"/>
            </a:xfrm>
            <a:prstGeom prst="straightConnector1">
              <a:avLst/>
            </a:prstGeom>
            <a:noFill/>
            <a:ln w="28575" cap="flat" cmpd="sng">
              <a:solidFill>
                <a:srgbClr val="1B1311"/>
              </a:solidFill>
              <a:prstDash val="solid"/>
              <a:round/>
              <a:headEnd type="none" w="med" len="med"/>
              <a:tailEnd type="triangle" w="med" len="med"/>
            </a:ln>
          </p:spPr>
        </p:cxnSp>
        <p:cxnSp>
          <p:nvCxnSpPr>
            <p:cNvPr id="593" name="Google Shape;445;p18">
              <a:extLst>
                <a:ext uri="{FF2B5EF4-FFF2-40B4-BE49-F238E27FC236}">
                  <a16:creationId xmlns:a16="http://schemas.microsoft.com/office/drawing/2014/main" id="{3BC36ADC-F76D-6965-809D-EC638E3400C6}"/>
                </a:ext>
              </a:extLst>
            </p:cNvPr>
            <p:cNvCxnSpPr>
              <a:cxnSpLocks/>
            </p:cNvCxnSpPr>
            <p:nvPr/>
          </p:nvCxnSpPr>
          <p:spPr>
            <a:xfrm>
              <a:off x="5933583" y="8663797"/>
              <a:ext cx="435291" cy="404503"/>
            </a:xfrm>
            <a:prstGeom prst="straightConnector1">
              <a:avLst/>
            </a:prstGeom>
            <a:noFill/>
            <a:ln w="28575" cap="flat" cmpd="sng">
              <a:solidFill>
                <a:srgbClr val="1B1311"/>
              </a:solidFill>
              <a:prstDash val="solid"/>
              <a:round/>
              <a:headEnd type="none" w="med" len="med"/>
              <a:tailEnd type="triangle" w="med" len="med"/>
            </a:ln>
          </p:spPr>
        </p:cxnSp>
        <p:cxnSp>
          <p:nvCxnSpPr>
            <p:cNvPr id="600" name="Google Shape;445;p18">
              <a:extLst>
                <a:ext uri="{FF2B5EF4-FFF2-40B4-BE49-F238E27FC236}">
                  <a16:creationId xmlns:a16="http://schemas.microsoft.com/office/drawing/2014/main" id="{4C6ED10C-B50E-A9B8-6AF9-3C19B0C11C4B}"/>
                </a:ext>
              </a:extLst>
            </p:cNvPr>
            <p:cNvCxnSpPr>
              <a:cxnSpLocks/>
            </p:cNvCxnSpPr>
            <p:nvPr/>
          </p:nvCxnSpPr>
          <p:spPr>
            <a:xfrm flipH="1">
              <a:off x="7036020" y="8623262"/>
              <a:ext cx="475375" cy="453212"/>
            </a:xfrm>
            <a:prstGeom prst="straightConnector1">
              <a:avLst/>
            </a:prstGeom>
            <a:noFill/>
            <a:ln w="28575" cap="flat" cmpd="sng">
              <a:solidFill>
                <a:srgbClr val="1B1311"/>
              </a:solidFill>
              <a:prstDash val="solid"/>
              <a:round/>
              <a:headEnd type="none" w="med" len="med"/>
              <a:tailEnd type="triangle" w="med" len="med"/>
            </a:ln>
          </p:spPr>
        </p:cxnSp>
        <p:sp>
          <p:nvSpPr>
            <p:cNvPr id="39" name="Google Shape;237;p15">
              <a:extLst>
                <a:ext uri="{FF2B5EF4-FFF2-40B4-BE49-F238E27FC236}">
                  <a16:creationId xmlns:a16="http://schemas.microsoft.com/office/drawing/2014/main" id="{8D69746C-E91A-2350-EB39-55B58482CB02}"/>
                </a:ext>
              </a:extLst>
            </p:cNvPr>
            <p:cNvSpPr txBox="1"/>
            <p:nvPr/>
          </p:nvSpPr>
          <p:spPr>
            <a:xfrm>
              <a:off x="5293468" y="9048567"/>
              <a:ext cx="526129" cy="263210"/>
            </a:xfrm>
            <a:prstGeom prst="rect">
              <a:avLst/>
            </a:prstGeom>
            <a:noFill/>
            <a:ln>
              <a:noFill/>
            </a:ln>
          </p:spPr>
          <p:txBody>
            <a:bodyPr spcFirstLastPara="1" wrap="square" lIns="127722" tIns="127722" rIns="127722" bIns="127722" anchor="t" anchorCtr="0">
              <a:noAutofit/>
            </a:bodyPr>
            <a:lstStyle/>
            <a:p>
              <a:pPr>
                <a:spcBef>
                  <a:spcPts val="0"/>
                </a:spcBef>
              </a:pPr>
              <a:endParaRPr sz="1400" dirty="0">
                <a:solidFill>
                  <a:schemeClr val="lt1"/>
                </a:solidFill>
              </a:endParaRPr>
            </a:p>
          </p:txBody>
        </p:sp>
        <p:pic>
          <p:nvPicPr>
            <p:cNvPr id="3" name="Google Shape;227;p15">
              <a:extLst>
                <a:ext uri="{FF2B5EF4-FFF2-40B4-BE49-F238E27FC236}">
                  <a16:creationId xmlns:a16="http://schemas.microsoft.com/office/drawing/2014/main" id="{BC27538B-7E96-D31E-4C82-0F42687571A3}"/>
                </a:ext>
              </a:extLst>
            </p:cNvPr>
            <p:cNvPicPr preferRelativeResize="0">
              <a:picLocks noChangeAspect="1"/>
            </p:cNvPicPr>
            <p:nvPr/>
          </p:nvPicPr>
          <p:blipFill>
            <a:blip r:embed="rId9">
              <a:alphaModFix/>
            </a:blip>
            <a:stretch>
              <a:fillRect/>
            </a:stretch>
          </p:blipFill>
          <p:spPr>
            <a:xfrm>
              <a:off x="6498830" y="9074476"/>
              <a:ext cx="398269" cy="362602"/>
            </a:xfrm>
            <a:prstGeom prst="rect">
              <a:avLst/>
            </a:prstGeom>
            <a:noFill/>
            <a:ln>
              <a:noFill/>
            </a:ln>
          </p:spPr>
        </p:pic>
        <p:sp>
          <p:nvSpPr>
            <p:cNvPr id="31" name="TextBox 30">
              <a:extLst>
                <a:ext uri="{FF2B5EF4-FFF2-40B4-BE49-F238E27FC236}">
                  <a16:creationId xmlns:a16="http://schemas.microsoft.com/office/drawing/2014/main" id="{F3F8717C-3025-A210-CB47-3D6B430280C8}"/>
                </a:ext>
              </a:extLst>
            </p:cNvPr>
            <p:cNvSpPr txBox="1"/>
            <p:nvPr/>
          </p:nvSpPr>
          <p:spPr>
            <a:xfrm>
              <a:off x="6492515" y="9235151"/>
              <a:ext cx="189461"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500" dirty="0"/>
                <a:t>❌</a:t>
              </a:r>
              <a:endParaRPr kumimoji="0" lang="en-US" sz="5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pic>
          <p:nvPicPr>
            <p:cNvPr id="33" name="Google Shape;227;p15">
              <a:extLst>
                <a:ext uri="{FF2B5EF4-FFF2-40B4-BE49-F238E27FC236}">
                  <a16:creationId xmlns:a16="http://schemas.microsoft.com/office/drawing/2014/main" id="{D4C8A2B4-C196-B176-2994-D0B24CD3B444}"/>
                </a:ext>
              </a:extLst>
            </p:cNvPr>
            <p:cNvPicPr preferRelativeResize="0">
              <a:picLocks noChangeAspect="1"/>
            </p:cNvPicPr>
            <p:nvPr/>
          </p:nvPicPr>
          <p:blipFill>
            <a:blip r:embed="rId9">
              <a:alphaModFix/>
            </a:blip>
            <a:stretch>
              <a:fillRect/>
            </a:stretch>
          </p:blipFill>
          <p:spPr>
            <a:xfrm>
              <a:off x="8601660" y="9060777"/>
              <a:ext cx="398269" cy="362602"/>
            </a:xfrm>
            <a:prstGeom prst="rect">
              <a:avLst/>
            </a:prstGeom>
            <a:noFill/>
            <a:ln>
              <a:noFill/>
            </a:ln>
          </p:spPr>
        </p:pic>
        <p:sp>
          <p:nvSpPr>
            <p:cNvPr id="34" name="TextBox 33">
              <a:extLst>
                <a:ext uri="{FF2B5EF4-FFF2-40B4-BE49-F238E27FC236}">
                  <a16:creationId xmlns:a16="http://schemas.microsoft.com/office/drawing/2014/main" id="{4B57F9E3-E4BD-477A-75E2-513D18F82E44}"/>
                </a:ext>
              </a:extLst>
            </p:cNvPr>
            <p:cNvSpPr txBox="1"/>
            <p:nvPr/>
          </p:nvSpPr>
          <p:spPr>
            <a:xfrm>
              <a:off x="8601660" y="9224280"/>
              <a:ext cx="189461" cy="2127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sz="500" dirty="0"/>
                <a:t>✅</a:t>
              </a:r>
              <a:endParaRPr kumimoji="0" lang="en-US" sz="5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502" name="Group 501">
              <a:extLst>
                <a:ext uri="{FF2B5EF4-FFF2-40B4-BE49-F238E27FC236}">
                  <a16:creationId xmlns:a16="http://schemas.microsoft.com/office/drawing/2014/main" id="{B02E166A-33F2-A304-CB82-0263BD5E90E1}"/>
                </a:ext>
              </a:extLst>
            </p:cNvPr>
            <p:cNvGrpSpPr/>
            <p:nvPr/>
          </p:nvGrpSpPr>
          <p:grpSpPr>
            <a:xfrm>
              <a:off x="5491861" y="9109816"/>
              <a:ext cx="296516" cy="294538"/>
              <a:chOff x="5367466" y="9150431"/>
              <a:chExt cx="296516" cy="294538"/>
            </a:xfrm>
          </p:grpSpPr>
          <p:sp>
            <p:nvSpPr>
              <p:cNvPr id="53" name="Google Shape;236;p15">
                <a:extLst>
                  <a:ext uri="{FF2B5EF4-FFF2-40B4-BE49-F238E27FC236}">
                    <a16:creationId xmlns:a16="http://schemas.microsoft.com/office/drawing/2014/main" id="{14D87022-132C-E632-C92D-9C242D17C78A}"/>
                  </a:ext>
                </a:extLst>
              </p:cNvPr>
              <p:cNvSpPr>
                <a:spLocks noChangeAspect="1"/>
              </p:cNvSpPr>
              <p:nvPr/>
            </p:nvSpPr>
            <p:spPr>
              <a:xfrm>
                <a:off x="5367466" y="9150431"/>
                <a:ext cx="296516" cy="29453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cxnSp>
            <p:nvCxnSpPr>
              <p:cNvPr id="54" name="Straight Connector 53">
                <a:extLst>
                  <a:ext uri="{FF2B5EF4-FFF2-40B4-BE49-F238E27FC236}">
                    <a16:creationId xmlns:a16="http://schemas.microsoft.com/office/drawing/2014/main" id="{E01833EB-6A95-10D8-FF8A-E13A419F7770}"/>
                  </a:ext>
                </a:extLst>
              </p:cNvPr>
              <p:cNvCxnSpPr>
                <a:cxnSpLocks/>
              </p:cNvCxnSpPr>
              <p:nvPr/>
            </p:nvCxnSpPr>
            <p:spPr>
              <a:xfrm flipH="1">
                <a:off x="5438395" y="9302560"/>
                <a:ext cx="154656" cy="0"/>
              </a:xfrm>
              <a:prstGeom prst="line">
                <a:avLst/>
              </a:prstGeom>
              <a:ln w="12700" cap="rnd"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5" name="Oval 54">
                <a:extLst>
                  <a:ext uri="{FF2B5EF4-FFF2-40B4-BE49-F238E27FC236}">
                    <a16:creationId xmlns:a16="http://schemas.microsoft.com/office/drawing/2014/main" id="{AEB71BAE-DE9C-1B6C-7C96-A07A4AD7244B}"/>
                  </a:ext>
                </a:extLst>
              </p:cNvPr>
              <p:cNvSpPr>
                <a:spLocks noChangeAspect="1"/>
              </p:cNvSpPr>
              <p:nvPr/>
            </p:nvSpPr>
            <p:spPr>
              <a:xfrm>
                <a:off x="5482180" y="9269602"/>
                <a:ext cx="67087" cy="65915"/>
              </a:xfrm>
              <a:prstGeom prst="ellipse">
                <a:avLst/>
              </a:prstGeom>
              <a:solidFill>
                <a:schemeClr val="bg2">
                  <a:lumMod val="10000"/>
                </a:schemeClr>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grpSp>
        <p:grpSp>
          <p:nvGrpSpPr>
            <p:cNvPr id="495" name="Group 494">
              <a:extLst>
                <a:ext uri="{FF2B5EF4-FFF2-40B4-BE49-F238E27FC236}">
                  <a16:creationId xmlns:a16="http://schemas.microsoft.com/office/drawing/2014/main" id="{773CDE2C-B343-1D9D-7061-EB3AB3A3B98F}"/>
                </a:ext>
              </a:extLst>
            </p:cNvPr>
            <p:cNvGrpSpPr/>
            <p:nvPr/>
          </p:nvGrpSpPr>
          <p:grpSpPr>
            <a:xfrm>
              <a:off x="5653606" y="7661921"/>
              <a:ext cx="296516" cy="294538"/>
              <a:chOff x="5470343" y="7664480"/>
              <a:chExt cx="296516" cy="294538"/>
            </a:xfrm>
          </p:grpSpPr>
          <p:sp>
            <p:nvSpPr>
              <p:cNvPr id="57" name="Google Shape;236;p15">
                <a:extLst>
                  <a:ext uri="{FF2B5EF4-FFF2-40B4-BE49-F238E27FC236}">
                    <a16:creationId xmlns:a16="http://schemas.microsoft.com/office/drawing/2014/main" id="{AE676DA0-8701-F240-9B93-5B2F584C0509}"/>
                  </a:ext>
                </a:extLst>
              </p:cNvPr>
              <p:cNvSpPr>
                <a:spLocks noChangeAspect="1"/>
              </p:cNvSpPr>
              <p:nvPr/>
            </p:nvSpPr>
            <p:spPr>
              <a:xfrm>
                <a:off x="5470343" y="7664480"/>
                <a:ext cx="296516" cy="29453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cxnSp>
            <p:nvCxnSpPr>
              <p:cNvPr id="58" name="Straight Connector 57">
                <a:extLst>
                  <a:ext uri="{FF2B5EF4-FFF2-40B4-BE49-F238E27FC236}">
                    <a16:creationId xmlns:a16="http://schemas.microsoft.com/office/drawing/2014/main" id="{DC821637-E120-40C5-293E-E4102510C7D2}"/>
                  </a:ext>
                </a:extLst>
              </p:cNvPr>
              <p:cNvCxnSpPr>
                <a:cxnSpLocks/>
              </p:cNvCxnSpPr>
              <p:nvPr/>
            </p:nvCxnSpPr>
            <p:spPr>
              <a:xfrm flipH="1">
                <a:off x="5541272" y="7816609"/>
                <a:ext cx="154656" cy="0"/>
              </a:xfrm>
              <a:prstGeom prst="line">
                <a:avLst/>
              </a:prstGeom>
              <a:ln w="12700" cap="rnd"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9" name="Oval 58">
                <a:extLst>
                  <a:ext uri="{FF2B5EF4-FFF2-40B4-BE49-F238E27FC236}">
                    <a16:creationId xmlns:a16="http://schemas.microsoft.com/office/drawing/2014/main" id="{1F134311-BB36-E2DC-FA8D-82D0C6B1B27E}"/>
                  </a:ext>
                </a:extLst>
              </p:cNvPr>
              <p:cNvSpPr>
                <a:spLocks noChangeAspect="1"/>
              </p:cNvSpPr>
              <p:nvPr/>
            </p:nvSpPr>
            <p:spPr>
              <a:xfrm>
                <a:off x="5585057" y="7783651"/>
                <a:ext cx="67087" cy="65915"/>
              </a:xfrm>
              <a:prstGeom prst="ellipse">
                <a:avLst/>
              </a:prstGeom>
              <a:solidFill>
                <a:schemeClr val="bg2">
                  <a:lumMod val="10000"/>
                </a:schemeClr>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grpSp>
        <p:pic>
          <p:nvPicPr>
            <p:cNvPr id="509" name="Google Shape;227;p15">
              <a:extLst>
                <a:ext uri="{FF2B5EF4-FFF2-40B4-BE49-F238E27FC236}">
                  <a16:creationId xmlns:a16="http://schemas.microsoft.com/office/drawing/2014/main" id="{7F9C4F18-A4C8-BED2-162E-80A0CA5245E1}"/>
                </a:ext>
              </a:extLst>
            </p:cNvPr>
            <p:cNvPicPr preferRelativeResize="0">
              <a:picLocks noChangeAspect="1"/>
            </p:cNvPicPr>
            <p:nvPr/>
          </p:nvPicPr>
          <p:blipFill>
            <a:blip r:embed="rId9">
              <a:alphaModFix/>
            </a:blip>
            <a:stretch>
              <a:fillRect/>
            </a:stretch>
          </p:blipFill>
          <p:spPr>
            <a:xfrm>
              <a:off x="5244821" y="7624472"/>
              <a:ext cx="398269" cy="362602"/>
            </a:xfrm>
            <a:prstGeom prst="rect">
              <a:avLst/>
            </a:prstGeom>
            <a:noFill/>
            <a:ln>
              <a:noFill/>
            </a:ln>
          </p:spPr>
        </p:pic>
      </p:grpSp>
      <p:sp>
        <p:nvSpPr>
          <p:cNvPr id="582" name="Freeform: Shape 581">
            <a:extLst>
              <a:ext uri="{FF2B5EF4-FFF2-40B4-BE49-F238E27FC236}">
                <a16:creationId xmlns:a16="http://schemas.microsoft.com/office/drawing/2014/main" id="{90A5E747-6264-6E4C-FEF4-1266C4C6A6A7}"/>
              </a:ext>
            </a:extLst>
          </p:cNvPr>
          <p:cNvSpPr/>
          <p:nvPr/>
        </p:nvSpPr>
        <p:spPr>
          <a:xfrm>
            <a:off x="2169035" y="4334661"/>
            <a:ext cx="577524" cy="221931"/>
          </a:xfrm>
          <a:custGeom>
            <a:avLst/>
            <a:gdLst>
              <a:gd name="csX0" fmla="*/ 723267 w 723267"/>
              <a:gd name="csY0" fmla="*/ 309363 h 309363"/>
              <a:gd name="csX1" fmla="*/ 327968 w 723267"/>
              <a:gd name="csY1" fmla="*/ 92166 h 309363"/>
              <a:gd name="csX2" fmla="*/ 228057 w 723267"/>
              <a:gd name="csY2" fmla="*/ 233344 h 309363"/>
              <a:gd name="csX3" fmla="*/ 401815 w 723267"/>
              <a:gd name="csY3" fmla="*/ 281127 h 309363"/>
              <a:gd name="csX4" fmla="*/ 393127 w 723267"/>
              <a:gd name="csY4" fmla="*/ 155153 h 309363"/>
              <a:gd name="csX5" fmla="*/ 173758 w 723267"/>
              <a:gd name="csY5" fmla="*/ 5287 h 309363"/>
              <a:gd name="csX6" fmla="*/ 76019 w 723267"/>
              <a:gd name="csY6" fmla="*/ 40038 h 309363"/>
              <a:gd name="csX7" fmla="*/ 0 w 723267"/>
              <a:gd name="csY7" fmla="*/ 100853 h 3093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23267" h="309363">
                <a:moveTo>
                  <a:pt x="723267" y="309363"/>
                </a:moveTo>
                <a:cubicBezTo>
                  <a:pt x="566885" y="207099"/>
                  <a:pt x="410503" y="104836"/>
                  <a:pt x="327968" y="92166"/>
                </a:cubicBezTo>
                <a:cubicBezTo>
                  <a:pt x="245433" y="79496"/>
                  <a:pt x="215749" y="201850"/>
                  <a:pt x="228057" y="233344"/>
                </a:cubicBezTo>
                <a:cubicBezTo>
                  <a:pt x="240365" y="264837"/>
                  <a:pt x="374303" y="294159"/>
                  <a:pt x="401815" y="281127"/>
                </a:cubicBezTo>
                <a:cubicBezTo>
                  <a:pt x="429327" y="268095"/>
                  <a:pt x="431136" y="201126"/>
                  <a:pt x="393127" y="155153"/>
                </a:cubicBezTo>
                <a:cubicBezTo>
                  <a:pt x="355117" y="109180"/>
                  <a:pt x="226609" y="24473"/>
                  <a:pt x="173758" y="5287"/>
                </a:cubicBezTo>
                <a:cubicBezTo>
                  <a:pt x="120907" y="-13899"/>
                  <a:pt x="104979" y="24110"/>
                  <a:pt x="76019" y="40038"/>
                </a:cubicBezTo>
                <a:cubicBezTo>
                  <a:pt x="47059" y="55966"/>
                  <a:pt x="23529" y="78409"/>
                  <a:pt x="0" y="100853"/>
                </a:cubicBezTo>
              </a:path>
            </a:pathLst>
          </a:custGeom>
          <a:no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tlCol="0" anchor="ctr"/>
          <a:lstStyle/>
          <a:p>
            <a:pPr algn="ctr"/>
            <a:endParaRPr lang="en-US"/>
          </a:p>
        </p:txBody>
      </p:sp>
      <p:grpSp>
        <p:nvGrpSpPr>
          <p:cNvPr id="598" name="Group 597">
            <a:extLst>
              <a:ext uri="{FF2B5EF4-FFF2-40B4-BE49-F238E27FC236}">
                <a16:creationId xmlns:a16="http://schemas.microsoft.com/office/drawing/2014/main" id="{15C84B01-18F4-6BA1-C1EB-576F0042ABAC}"/>
              </a:ext>
            </a:extLst>
          </p:cNvPr>
          <p:cNvGrpSpPr>
            <a:grpSpLocks noChangeAspect="1"/>
          </p:cNvGrpSpPr>
          <p:nvPr/>
        </p:nvGrpSpPr>
        <p:grpSpPr>
          <a:xfrm>
            <a:off x="870724" y="3879546"/>
            <a:ext cx="2689275" cy="882365"/>
            <a:chOff x="4950934" y="1968399"/>
            <a:chExt cx="3846889" cy="1262183"/>
          </a:xfrm>
        </p:grpSpPr>
        <p:sp>
          <p:nvSpPr>
            <p:cNvPr id="607" name="Rectangle: Rounded Corners 606">
              <a:extLst>
                <a:ext uri="{FF2B5EF4-FFF2-40B4-BE49-F238E27FC236}">
                  <a16:creationId xmlns:a16="http://schemas.microsoft.com/office/drawing/2014/main" id="{11FF5A3F-234F-D26C-9E90-BBF2D3D5A4BA}"/>
                </a:ext>
              </a:extLst>
            </p:cNvPr>
            <p:cNvSpPr>
              <a:spLocks noChangeAspect="1"/>
            </p:cNvSpPr>
            <p:nvPr/>
          </p:nvSpPr>
          <p:spPr>
            <a:xfrm>
              <a:off x="7122430" y="2237356"/>
              <a:ext cx="209840" cy="211365"/>
            </a:xfrm>
            <a:prstGeom prst="roundRect">
              <a:avLst/>
            </a:prstGeom>
            <a:solidFill>
              <a:schemeClr val="bg1"/>
            </a:solidFill>
            <a:ln w="6350" cap="flat">
              <a:solidFill>
                <a:srgbClr val="FF0000"/>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pic>
          <p:nvPicPr>
            <p:cNvPr id="611" name="Graphic 610" descr="Paper outline">
              <a:extLst>
                <a:ext uri="{FF2B5EF4-FFF2-40B4-BE49-F238E27FC236}">
                  <a16:creationId xmlns:a16="http://schemas.microsoft.com/office/drawing/2014/main" id="{1ADB8D7D-B939-EE07-9255-F7F701CC706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812176" y="1986019"/>
              <a:ext cx="985647" cy="985647"/>
            </a:xfrm>
            <a:prstGeom prst="rect">
              <a:avLst/>
            </a:prstGeom>
          </p:spPr>
        </p:pic>
        <p:pic>
          <p:nvPicPr>
            <p:cNvPr id="612" name="Graphic 611" descr="Paper outline">
              <a:extLst>
                <a:ext uri="{FF2B5EF4-FFF2-40B4-BE49-F238E27FC236}">
                  <a16:creationId xmlns:a16="http://schemas.microsoft.com/office/drawing/2014/main" id="{52D35351-8C50-0093-9417-3F88009E29A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198996" y="1968399"/>
              <a:ext cx="985647" cy="985647"/>
            </a:xfrm>
            <a:prstGeom prst="rect">
              <a:avLst/>
            </a:prstGeom>
          </p:spPr>
        </p:pic>
        <p:sp>
          <p:nvSpPr>
            <p:cNvPr id="616" name="Rectangle: Rounded Corners 615">
              <a:extLst>
                <a:ext uri="{FF2B5EF4-FFF2-40B4-BE49-F238E27FC236}">
                  <a16:creationId xmlns:a16="http://schemas.microsoft.com/office/drawing/2014/main" id="{657589FD-2D03-8A47-FA41-E79B05E72017}"/>
                </a:ext>
              </a:extLst>
            </p:cNvPr>
            <p:cNvSpPr>
              <a:spLocks noChangeAspect="1"/>
            </p:cNvSpPr>
            <p:nvPr/>
          </p:nvSpPr>
          <p:spPr>
            <a:xfrm>
              <a:off x="5543463" y="2199523"/>
              <a:ext cx="210312" cy="210312"/>
            </a:xfrm>
            <a:prstGeom prst="roundRect">
              <a:avLst/>
            </a:prstGeom>
            <a:solidFill>
              <a:srgbClr val="FF0000"/>
            </a:solidFill>
            <a:ln w="6350" cap="flat">
              <a:solidFill>
                <a:srgbClr val="FF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617" name="TextBox 616">
              <a:extLst>
                <a:ext uri="{FF2B5EF4-FFF2-40B4-BE49-F238E27FC236}">
                  <a16:creationId xmlns:a16="http://schemas.microsoft.com/office/drawing/2014/main" id="{992A6BEF-3D93-C106-D12E-4A18F5B6BB0C}"/>
                </a:ext>
              </a:extLst>
            </p:cNvPr>
            <p:cNvSpPr txBox="1"/>
            <p:nvPr/>
          </p:nvSpPr>
          <p:spPr>
            <a:xfrm>
              <a:off x="5190527" y="2647353"/>
              <a:ext cx="1380450" cy="5832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Incorrect Git Log </a:t>
              </a:r>
            </a:p>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Path specified</a:t>
              </a:r>
            </a:p>
          </p:txBody>
        </p:sp>
        <p:pic>
          <p:nvPicPr>
            <p:cNvPr id="2" name="Picture 1" descr="Account ">
              <a:extLst>
                <a:ext uri="{FF2B5EF4-FFF2-40B4-BE49-F238E27FC236}">
                  <a16:creationId xmlns:a16="http://schemas.microsoft.com/office/drawing/2014/main" id="{C7969AC0-9D0D-ECE3-A969-0BC1886305CD}"/>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50934" y="2244779"/>
              <a:ext cx="437146" cy="437146"/>
            </a:xfrm>
            <a:prstGeom prst="rect">
              <a:avLst/>
            </a:prstGeom>
            <a:noFill/>
            <a:extLst>
              <a:ext uri="{909E8E84-426E-40DD-AFC4-6F175D3DCCD1}">
                <a14:hiddenFill xmlns:a14="http://schemas.microsoft.com/office/drawing/2010/main">
                  <a:solidFill>
                    <a:srgbClr val="FFFFFF"/>
                  </a:solidFill>
                </a14:hiddenFill>
              </a:ext>
            </a:extLst>
          </p:spPr>
        </p:pic>
        <p:sp>
          <p:nvSpPr>
            <p:cNvPr id="590" name="Freeform: Shape 589">
              <a:extLst>
                <a:ext uri="{FF2B5EF4-FFF2-40B4-BE49-F238E27FC236}">
                  <a16:creationId xmlns:a16="http://schemas.microsoft.com/office/drawing/2014/main" id="{71E8B6D7-2700-C8FF-4BD1-891180BC0B0D}"/>
                </a:ext>
              </a:extLst>
            </p:cNvPr>
            <p:cNvSpPr>
              <a:spLocks noChangeAspect="1"/>
            </p:cNvSpPr>
            <p:nvPr/>
          </p:nvSpPr>
          <p:spPr>
            <a:xfrm>
              <a:off x="7350904" y="2353437"/>
              <a:ext cx="503898" cy="318580"/>
            </a:xfrm>
            <a:custGeom>
              <a:avLst/>
              <a:gdLst>
                <a:gd name="csX0" fmla="*/ 503898 w 503898"/>
                <a:gd name="csY0" fmla="*/ 314936 h 318580"/>
                <a:gd name="csX1" fmla="*/ 356204 w 503898"/>
                <a:gd name="csY1" fmla="*/ 45611 h 318580"/>
                <a:gd name="csX2" fmla="*/ 121631 w 503898"/>
                <a:gd name="csY2" fmla="*/ 108598 h 318580"/>
                <a:gd name="csX3" fmla="*/ 134663 w 503898"/>
                <a:gd name="csY3" fmla="*/ 297560 h 318580"/>
                <a:gd name="csX4" fmla="*/ 323624 w 503898"/>
                <a:gd name="csY4" fmla="*/ 293216 h 318580"/>
                <a:gd name="csX5" fmla="*/ 345344 w 503898"/>
                <a:gd name="csY5" fmla="*/ 112942 h 318580"/>
                <a:gd name="csX6" fmla="*/ 0 w 503898"/>
                <a:gd name="csY6" fmla="*/ 0 h 318580"/>
                <a:gd name="csX7" fmla="*/ 0 w 503898"/>
                <a:gd name="csY7" fmla="*/ 0 h 3185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03898" h="318580" extrusionOk="0">
                  <a:moveTo>
                    <a:pt x="503898" y="314936"/>
                  </a:moveTo>
                  <a:cubicBezTo>
                    <a:pt x="453006" y="191978"/>
                    <a:pt x="414467" y="82046"/>
                    <a:pt x="356204" y="45611"/>
                  </a:cubicBezTo>
                  <a:cubicBezTo>
                    <a:pt x="295391" y="11831"/>
                    <a:pt x="155867" y="66692"/>
                    <a:pt x="121631" y="108598"/>
                  </a:cubicBezTo>
                  <a:cubicBezTo>
                    <a:pt x="81145" y="154068"/>
                    <a:pt x="99822" y="273283"/>
                    <a:pt x="134663" y="297560"/>
                  </a:cubicBezTo>
                  <a:cubicBezTo>
                    <a:pt x="164724" y="326358"/>
                    <a:pt x="291600" y="325462"/>
                    <a:pt x="323624" y="293216"/>
                  </a:cubicBezTo>
                  <a:cubicBezTo>
                    <a:pt x="364880" y="263175"/>
                    <a:pt x="404818" y="150415"/>
                    <a:pt x="345344" y="112942"/>
                  </a:cubicBezTo>
                  <a:cubicBezTo>
                    <a:pt x="291407" y="64073"/>
                    <a:pt x="-1" y="1"/>
                    <a:pt x="0" y="0"/>
                  </a:cubicBezTo>
                  <a:lnTo>
                    <a:pt x="0" y="0"/>
                  </a:lnTo>
                </a:path>
              </a:pathLst>
            </a:custGeom>
            <a:noFill/>
            <a:ln w="12700" cap="rnd">
              <a:solidFill>
                <a:schemeClr val="bg2">
                  <a:lumMod val="10000"/>
                </a:schemeClr>
              </a:solidFill>
              <a:prstDash val="dash"/>
              <a:miter lim="400000"/>
              <a:extLst>
                <a:ext uri="{C807C97D-BFC1-408E-A445-0C87EB9F89A2}">
                  <ask:lineSketchStyleProps xmlns:ask="http://schemas.microsoft.com/office/drawing/2018/sketchyshapes" sd="1219033472">
                    <a:custGeom>
                      <a:avLst/>
                      <a:gdLst>
                        <a:gd name="csX0" fmla="*/ 503898 w 503898"/>
                        <a:gd name="csY0" fmla="*/ 314936 h 318580"/>
                        <a:gd name="csX1" fmla="*/ 356204 w 503898"/>
                        <a:gd name="csY1" fmla="*/ 45611 h 318580"/>
                        <a:gd name="csX2" fmla="*/ 121631 w 503898"/>
                        <a:gd name="csY2" fmla="*/ 108598 h 318580"/>
                        <a:gd name="csX3" fmla="*/ 134663 w 503898"/>
                        <a:gd name="csY3" fmla="*/ 297560 h 318580"/>
                        <a:gd name="csX4" fmla="*/ 323624 w 503898"/>
                        <a:gd name="csY4" fmla="*/ 293216 h 318580"/>
                        <a:gd name="csX5" fmla="*/ 345344 w 503898"/>
                        <a:gd name="csY5" fmla="*/ 112942 h 318580"/>
                        <a:gd name="csX6" fmla="*/ 0 w 503898"/>
                        <a:gd name="csY6" fmla="*/ 0 h 318580"/>
                        <a:gd name="csX7" fmla="*/ 0 w 503898"/>
                        <a:gd name="csY7" fmla="*/ 0 h 3185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03898" h="318580">
                          <a:moveTo>
                            <a:pt x="503898" y="314936"/>
                          </a:moveTo>
                          <a:cubicBezTo>
                            <a:pt x="461906" y="197468"/>
                            <a:pt x="419915" y="80001"/>
                            <a:pt x="356204" y="45611"/>
                          </a:cubicBezTo>
                          <a:cubicBezTo>
                            <a:pt x="292493" y="11221"/>
                            <a:pt x="158554" y="66607"/>
                            <a:pt x="121631" y="108598"/>
                          </a:cubicBezTo>
                          <a:cubicBezTo>
                            <a:pt x="84708" y="150589"/>
                            <a:pt x="100997" y="266790"/>
                            <a:pt x="134663" y="297560"/>
                          </a:cubicBezTo>
                          <a:cubicBezTo>
                            <a:pt x="168329" y="328330"/>
                            <a:pt x="288511" y="323986"/>
                            <a:pt x="323624" y="293216"/>
                          </a:cubicBezTo>
                          <a:cubicBezTo>
                            <a:pt x="358737" y="262446"/>
                            <a:pt x="399281" y="161811"/>
                            <a:pt x="345344" y="112942"/>
                          </a:cubicBezTo>
                          <a:cubicBezTo>
                            <a:pt x="291407" y="64073"/>
                            <a:pt x="0" y="0"/>
                            <a:pt x="0" y="0"/>
                          </a:cubicBezTo>
                          <a:lnTo>
                            <a:pt x="0" y="0"/>
                          </a:lnTo>
                        </a:path>
                      </a:pathLst>
                    </a:custGeom>
                    <ask:type>
                      <ask:lineSketchCurved/>
                    </ask:type>
                  </ask:lineSketchStyleProps>
                </a:ext>
              </a:extLst>
            </a:ln>
            <a:effectLst/>
            <a:sp3d/>
          </p:spPr>
          <p:style>
            <a:lnRef idx="0">
              <a:scrgbClr r="0" g="0" b="0"/>
            </a:lnRef>
            <a:fillRef idx="0">
              <a:scrgbClr r="0" g="0" b="0"/>
            </a:fillRef>
            <a:effectRef idx="0">
              <a:scrgbClr r="0" g="0" b="0"/>
            </a:effectRef>
            <a:fontRef idx="none"/>
          </p:style>
          <p:txBody>
            <a:bodyPr rtlCol="0" anchor="ctr"/>
            <a:lstStyle/>
            <a:p>
              <a:pPr algn="ctr"/>
              <a:endParaRPr lang="en-US"/>
            </a:p>
          </p:txBody>
        </p:sp>
        <p:sp>
          <p:nvSpPr>
            <p:cNvPr id="592" name="Freeform: Shape 591">
              <a:extLst>
                <a:ext uri="{FF2B5EF4-FFF2-40B4-BE49-F238E27FC236}">
                  <a16:creationId xmlns:a16="http://schemas.microsoft.com/office/drawing/2014/main" id="{0200913E-2D14-717C-9626-38E3E00669B0}"/>
                </a:ext>
              </a:extLst>
            </p:cNvPr>
            <p:cNvSpPr>
              <a:spLocks noChangeAspect="1"/>
            </p:cNvSpPr>
            <p:nvPr/>
          </p:nvSpPr>
          <p:spPr>
            <a:xfrm>
              <a:off x="5773452" y="2306777"/>
              <a:ext cx="503898" cy="318580"/>
            </a:xfrm>
            <a:custGeom>
              <a:avLst/>
              <a:gdLst>
                <a:gd name="csX0" fmla="*/ 503898 w 503898"/>
                <a:gd name="csY0" fmla="*/ 314936 h 318580"/>
                <a:gd name="csX1" fmla="*/ 356204 w 503898"/>
                <a:gd name="csY1" fmla="*/ 45611 h 318580"/>
                <a:gd name="csX2" fmla="*/ 121631 w 503898"/>
                <a:gd name="csY2" fmla="*/ 108598 h 318580"/>
                <a:gd name="csX3" fmla="*/ 134663 w 503898"/>
                <a:gd name="csY3" fmla="*/ 297560 h 318580"/>
                <a:gd name="csX4" fmla="*/ 323624 w 503898"/>
                <a:gd name="csY4" fmla="*/ 293216 h 318580"/>
                <a:gd name="csX5" fmla="*/ 345344 w 503898"/>
                <a:gd name="csY5" fmla="*/ 112942 h 318580"/>
                <a:gd name="csX6" fmla="*/ 0 w 503898"/>
                <a:gd name="csY6" fmla="*/ 0 h 318580"/>
                <a:gd name="csX7" fmla="*/ 0 w 503898"/>
                <a:gd name="csY7" fmla="*/ 0 h 3185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03898" h="318580" extrusionOk="0">
                  <a:moveTo>
                    <a:pt x="503898" y="314936"/>
                  </a:moveTo>
                  <a:cubicBezTo>
                    <a:pt x="453006" y="191978"/>
                    <a:pt x="414467" y="82046"/>
                    <a:pt x="356204" y="45611"/>
                  </a:cubicBezTo>
                  <a:cubicBezTo>
                    <a:pt x="295391" y="11831"/>
                    <a:pt x="155867" y="66692"/>
                    <a:pt x="121631" y="108598"/>
                  </a:cubicBezTo>
                  <a:cubicBezTo>
                    <a:pt x="81145" y="154068"/>
                    <a:pt x="99822" y="273283"/>
                    <a:pt x="134663" y="297560"/>
                  </a:cubicBezTo>
                  <a:cubicBezTo>
                    <a:pt x="164724" y="326358"/>
                    <a:pt x="291600" y="325462"/>
                    <a:pt x="323624" y="293216"/>
                  </a:cubicBezTo>
                  <a:cubicBezTo>
                    <a:pt x="364880" y="263175"/>
                    <a:pt x="404818" y="150415"/>
                    <a:pt x="345344" y="112942"/>
                  </a:cubicBezTo>
                  <a:cubicBezTo>
                    <a:pt x="291407" y="64073"/>
                    <a:pt x="-1" y="1"/>
                    <a:pt x="0" y="0"/>
                  </a:cubicBezTo>
                  <a:lnTo>
                    <a:pt x="0" y="0"/>
                  </a:lnTo>
                </a:path>
              </a:pathLst>
            </a:custGeom>
            <a:noFill/>
            <a:ln w="12700" cap="rnd">
              <a:solidFill>
                <a:schemeClr val="bg2">
                  <a:lumMod val="10000"/>
                </a:schemeClr>
              </a:solidFill>
              <a:prstDash val="dash"/>
              <a:miter lim="400000"/>
              <a:extLst>
                <a:ext uri="{C807C97D-BFC1-408E-A445-0C87EB9F89A2}">
                  <ask:lineSketchStyleProps xmlns:ask="http://schemas.microsoft.com/office/drawing/2018/sketchyshapes" sd="1219033472">
                    <a:custGeom>
                      <a:avLst/>
                      <a:gdLst>
                        <a:gd name="csX0" fmla="*/ 503898 w 503898"/>
                        <a:gd name="csY0" fmla="*/ 314936 h 318580"/>
                        <a:gd name="csX1" fmla="*/ 356204 w 503898"/>
                        <a:gd name="csY1" fmla="*/ 45611 h 318580"/>
                        <a:gd name="csX2" fmla="*/ 121631 w 503898"/>
                        <a:gd name="csY2" fmla="*/ 108598 h 318580"/>
                        <a:gd name="csX3" fmla="*/ 134663 w 503898"/>
                        <a:gd name="csY3" fmla="*/ 297560 h 318580"/>
                        <a:gd name="csX4" fmla="*/ 323624 w 503898"/>
                        <a:gd name="csY4" fmla="*/ 293216 h 318580"/>
                        <a:gd name="csX5" fmla="*/ 345344 w 503898"/>
                        <a:gd name="csY5" fmla="*/ 112942 h 318580"/>
                        <a:gd name="csX6" fmla="*/ 0 w 503898"/>
                        <a:gd name="csY6" fmla="*/ 0 h 318580"/>
                        <a:gd name="csX7" fmla="*/ 0 w 503898"/>
                        <a:gd name="csY7" fmla="*/ 0 h 3185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03898" h="318580">
                          <a:moveTo>
                            <a:pt x="503898" y="314936"/>
                          </a:moveTo>
                          <a:cubicBezTo>
                            <a:pt x="461906" y="197468"/>
                            <a:pt x="419915" y="80001"/>
                            <a:pt x="356204" y="45611"/>
                          </a:cubicBezTo>
                          <a:cubicBezTo>
                            <a:pt x="292493" y="11221"/>
                            <a:pt x="158554" y="66607"/>
                            <a:pt x="121631" y="108598"/>
                          </a:cubicBezTo>
                          <a:cubicBezTo>
                            <a:pt x="84708" y="150589"/>
                            <a:pt x="100997" y="266790"/>
                            <a:pt x="134663" y="297560"/>
                          </a:cubicBezTo>
                          <a:cubicBezTo>
                            <a:pt x="168329" y="328330"/>
                            <a:pt x="288511" y="323986"/>
                            <a:pt x="323624" y="293216"/>
                          </a:cubicBezTo>
                          <a:cubicBezTo>
                            <a:pt x="358737" y="262446"/>
                            <a:pt x="399281" y="161811"/>
                            <a:pt x="345344" y="112942"/>
                          </a:cubicBezTo>
                          <a:cubicBezTo>
                            <a:pt x="291407" y="64073"/>
                            <a:pt x="0" y="0"/>
                            <a:pt x="0" y="0"/>
                          </a:cubicBezTo>
                          <a:lnTo>
                            <a:pt x="0" y="0"/>
                          </a:lnTo>
                        </a:path>
                      </a:pathLst>
                    </a:custGeom>
                    <ask:type>
                      <ask:lineSketchCurved/>
                    </ask:type>
                  </ask:lineSketchStyleProps>
                </a:ext>
              </a:extLst>
            </a:ln>
            <a:effectLst/>
            <a:sp3d/>
          </p:spPr>
          <p:style>
            <a:lnRef idx="0">
              <a:scrgbClr r="0" g="0" b="0"/>
            </a:lnRef>
            <a:fillRef idx="0">
              <a:scrgbClr r="0" g="0" b="0"/>
            </a:fillRef>
            <a:effectRef idx="0">
              <a:scrgbClr r="0" g="0" b="0"/>
            </a:effectRef>
            <a:fontRef idx="none"/>
          </p:style>
          <p:txBody>
            <a:bodyPr rtlCol="0" anchor="ctr"/>
            <a:lstStyle/>
            <a:p>
              <a:pPr algn="ctr"/>
              <a:endParaRPr lang="en-US"/>
            </a:p>
          </p:txBody>
        </p:sp>
      </p:grpSp>
      <p:sp>
        <p:nvSpPr>
          <p:cNvPr id="596" name="Line">
            <a:extLst>
              <a:ext uri="{FF2B5EF4-FFF2-40B4-BE49-F238E27FC236}">
                <a16:creationId xmlns:a16="http://schemas.microsoft.com/office/drawing/2014/main" id="{621052BB-7F73-E421-E3FA-292040005204}"/>
              </a:ext>
            </a:extLst>
          </p:cNvPr>
          <p:cNvSpPr/>
          <p:nvPr/>
        </p:nvSpPr>
        <p:spPr>
          <a:xfrm flipV="1">
            <a:off x="211240" y="5723280"/>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 name="TextBox 3">
            <a:extLst>
              <a:ext uri="{FF2B5EF4-FFF2-40B4-BE49-F238E27FC236}">
                <a16:creationId xmlns:a16="http://schemas.microsoft.com/office/drawing/2014/main" id="{20CAA744-ABCB-3450-D7BB-63A42581FEAB}"/>
              </a:ext>
            </a:extLst>
          </p:cNvPr>
          <p:cNvSpPr txBox="1"/>
          <p:nvPr/>
        </p:nvSpPr>
        <p:spPr>
          <a:xfrm>
            <a:off x="232689" y="4708739"/>
            <a:ext cx="4184378"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tx1">
                    <a:lumMod val="50000"/>
                  </a:schemeClr>
                </a:solidFill>
              </a:rPr>
              <a:t>A common example in Kaiaulu is an invalid Git Log Path specified in a parser, which moves to a transform, and eventually throws an error in an .Rmd file. </a:t>
            </a:r>
            <a:endParaRPr lang="en-US" b="0" dirty="0">
              <a:solidFill>
                <a:schemeClr val="tx1"/>
              </a:solidFill>
              <a:effectLst/>
              <a:latin typeface="Source Sans Pro" panose="020B0503030403020204" pitchFamily="34" charset="0"/>
              <a:ea typeface="Source Sans Pro" panose="020B0503030403020204" pitchFamily="34" charset="0"/>
            </a:endParaRPr>
          </a:p>
        </p:txBody>
      </p:sp>
      <p:grpSp>
        <p:nvGrpSpPr>
          <p:cNvPr id="10" name="Group 9">
            <a:extLst>
              <a:ext uri="{FF2B5EF4-FFF2-40B4-BE49-F238E27FC236}">
                <a16:creationId xmlns:a16="http://schemas.microsoft.com/office/drawing/2014/main" id="{150BA52C-02C5-81E1-C5C3-EAF3B2BD8BCD}"/>
              </a:ext>
            </a:extLst>
          </p:cNvPr>
          <p:cNvGrpSpPr/>
          <p:nvPr/>
        </p:nvGrpSpPr>
        <p:grpSpPr>
          <a:xfrm>
            <a:off x="95890" y="5745473"/>
            <a:ext cx="4572201" cy="3628080"/>
            <a:chOff x="-4831889" y="3519441"/>
            <a:chExt cx="4572201" cy="3628080"/>
          </a:xfrm>
        </p:grpSpPr>
        <p:pic>
          <p:nvPicPr>
            <p:cNvPr id="46" name="Graphic 45" descr="Paper outline">
              <a:extLst>
                <a:ext uri="{FF2B5EF4-FFF2-40B4-BE49-F238E27FC236}">
                  <a16:creationId xmlns:a16="http://schemas.microsoft.com/office/drawing/2014/main" id="{41AC7C59-91AF-AD0F-E026-02A87380CD4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938302" y="5804147"/>
              <a:ext cx="1118249" cy="1118249"/>
            </a:xfrm>
            <a:prstGeom prst="rect">
              <a:avLst/>
            </a:prstGeom>
          </p:spPr>
        </p:pic>
        <p:pic>
          <p:nvPicPr>
            <p:cNvPr id="47" name="Graphic 46" descr="Paper outline">
              <a:extLst>
                <a:ext uri="{FF2B5EF4-FFF2-40B4-BE49-F238E27FC236}">
                  <a16:creationId xmlns:a16="http://schemas.microsoft.com/office/drawing/2014/main" id="{BF23E17F-1190-2312-28DD-275720DBE96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102881" y="4022058"/>
              <a:ext cx="1731153" cy="1731153"/>
            </a:xfrm>
            <a:prstGeom prst="rect">
              <a:avLst/>
            </a:prstGeom>
          </p:spPr>
        </p:pic>
        <p:sp>
          <p:nvSpPr>
            <p:cNvPr id="48" name="TextBox 47">
              <a:extLst>
                <a:ext uri="{FF2B5EF4-FFF2-40B4-BE49-F238E27FC236}">
                  <a16:creationId xmlns:a16="http://schemas.microsoft.com/office/drawing/2014/main" id="{51B2506F-75A8-305A-A03B-EDD9B7296597}"/>
                </a:ext>
              </a:extLst>
            </p:cNvPr>
            <p:cNvSpPr txBox="1"/>
            <p:nvPr/>
          </p:nvSpPr>
          <p:spPr>
            <a:xfrm>
              <a:off x="-2782709" y="4108565"/>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Downloaders</a:t>
              </a:r>
              <a:endParaRPr lang="en-US" sz="800" b="0" dirty="0"/>
            </a:p>
          </p:txBody>
        </p:sp>
        <p:sp>
          <p:nvSpPr>
            <p:cNvPr id="49" name="TextBox 48">
              <a:extLst>
                <a:ext uri="{FF2B5EF4-FFF2-40B4-BE49-F238E27FC236}">
                  <a16:creationId xmlns:a16="http://schemas.microsoft.com/office/drawing/2014/main" id="{F3F9BA83-6106-541F-C7CE-D622BF971B4B}"/>
                </a:ext>
              </a:extLst>
            </p:cNvPr>
            <p:cNvSpPr txBox="1"/>
            <p:nvPr/>
          </p:nvSpPr>
          <p:spPr>
            <a:xfrm>
              <a:off x="-2778808" y="4208016"/>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51" name="TextBox 50">
              <a:extLst>
                <a:ext uri="{FF2B5EF4-FFF2-40B4-BE49-F238E27FC236}">
                  <a16:creationId xmlns:a16="http://schemas.microsoft.com/office/drawing/2014/main" id="{C572EB56-5C78-72B0-5CF4-4EEF167FA304}"/>
                </a:ext>
              </a:extLst>
            </p:cNvPr>
            <p:cNvSpPr txBox="1"/>
            <p:nvPr/>
          </p:nvSpPr>
          <p:spPr>
            <a:xfrm>
              <a:off x="-2778226" y="4622946"/>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52" name="TextBox 51">
              <a:extLst>
                <a:ext uri="{FF2B5EF4-FFF2-40B4-BE49-F238E27FC236}">
                  <a16:creationId xmlns:a16="http://schemas.microsoft.com/office/drawing/2014/main" id="{392EC460-2037-D250-A9AD-56AEAE463B43}"/>
                </a:ext>
              </a:extLst>
            </p:cNvPr>
            <p:cNvSpPr txBox="1"/>
            <p:nvPr/>
          </p:nvSpPr>
          <p:spPr>
            <a:xfrm>
              <a:off x="-2782709" y="4516851"/>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Parsers</a:t>
              </a:r>
              <a:endParaRPr lang="en-US" sz="800" b="0" dirty="0"/>
            </a:p>
          </p:txBody>
        </p:sp>
        <p:sp>
          <p:nvSpPr>
            <p:cNvPr id="494" name="TextBox 493">
              <a:extLst>
                <a:ext uri="{FF2B5EF4-FFF2-40B4-BE49-F238E27FC236}">
                  <a16:creationId xmlns:a16="http://schemas.microsoft.com/office/drawing/2014/main" id="{1D5B9F2F-CFC5-038F-C572-82FD586A3871}"/>
                </a:ext>
              </a:extLst>
            </p:cNvPr>
            <p:cNvSpPr txBox="1"/>
            <p:nvPr/>
          </p:nvSpPr>
          <p:spPr>
            <a:xfrm>
              <a:off x="-2773244" y="5031878"/>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496" name="TextBox 495">
              <a:extLst>
                <a:ext uri="{FF2B5EF4-FFF2-40B4-BE49-F238E27FC236}">
                  <a16:creationId xmlns:a16="http://schemas.microsoft.com/office/drawing/2014/main" id="{EE97F97C-09F1-5EE8-BACF-AA30DADFE4AC}"/>
                </a:ext>
              </a:extLst>
            </p:cNvPr>
            <p:cNvSpPr txBox="1"/>
            <p:nvPr/>
          </p:nvSpPr>
          <p:spPr>
            <a:xfrm>
              <a:off x="-2778808" y="4927582"/>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Transforms</a:t>
              </a:r>
              <a:endParaRPr lang="en-US" sz="800" b="0" dirty="0"/>
            </a:p>
          </p:txBody>
        </p:sp>
        <p:pic>
          <p:nvPicPr>
            <p:cNvPr id="497" name="Graphic 496" descr="Paper outline">
              <a:extLst>
                <a:ext uri="{FF2B5EF4-FFF2-40B4-BE49-F238E27FC236}">
                  <a16:creationId xmlns:a16="http://schemas.microsoft.com/office/drawing/2014/main" id="{6B0A31DB-B64E-EAC8-A613-81CE68F1B5C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643729" y="5866653"/>
              <a:ext cx="1118249" cy="1118249"/>
            </a:xfrm>
            <a:prstGeom prst="rect">
              <a:avLst/>
            </a:prstGeom>
          </p:spPr>
        </p:pic>
        <p:sp>
          <p:nvSpPr>
            <p:cNvPr id="500" name="Google Shape;318;p17">
              <a:extLst>
                <a:ext uri="{FF2B5EF4-FFF2-40B4-BE49-F238E27FC236}">
                  <a16:creationId xmlns:a16="http://schemas.microsoft.com/office/drawing/2014/main" id="{515218FA-FC73-2893-49DC-7CCB2ED93467}"/>
                </a:ext>
              </a:extLst>
            </p:cNvPr>
            <p:cNvSpPr txBox="1"/>
            <p:nvPr/>
          </p:nvSpPr>
          <p:spPr>
            <a:xfrm>
              <a:off x="-1894952" y="6673880"/>
              <a:ext cx="1635264"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US" sz="1400" dirty="0"/>
                <a:t>Tests/**</a:t>
              </a:r>
              <a:endParaRPr sz="1400" dirty="0"/>
            </a:p>
          </p:txBody>
        </p:sp>
        <p:sp>
          <p:nvSpPr>
            <p:cNvPr id="503" name="TextBox 502">
              <a:extLst>
                <a:ext uri="{FF2B5EF4-FFF2-40B4-BE49-F238E27FC236}">
                  <a16:creationId xmlns:a16="http://schemas.microsoft.com/office/drawing/2014/main" id="{B6BB0AA8-9B45-923C-7371-1366B2B90987}"/>
                </a:ext>
              </a:extLst>
            </p:cNvPr>
            <p:cNvSpPr txBox="1"/>
            <p:nvPr/>
          </p:nvSpPr>
          <p:spPr>
            <a:xfrm>
              <a:off x="-1422819" y="6241381"/>
              <a:ext cx="676428"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1000" b="0" dirty="0"/>
                <a:t>testthat</a:t>
              </a:r>
              <a:endParaRPr kumimoji="0" lang="en-US" sz="1000" b="0" i="0" u="none" strike="noStrike" cap="none" spc="0" normalizeH="0" baseline="0" dirty="0">
                <a:ln>
                  <a:noFill/>
                </a:ln>
                <a:effectLst/>
                <a:uFillTx/>
                <a:latin typeface="Source Sans Pro"/>
                <a:ea typeface="Source Sans Pro"/>
                <a:cs typeface="Source Sans Pro"/>
                <a:sym typeface="Source Sans Pro"/>
              </a:endParaRPr>
            </a:p>
          </p:txBody>
        </p:sp>
        <p:sp>
          <p:nvSpPr>
            <p:cNvPr id="505" name="Google Shape;346;p17">
              <a:extLst>
                <a:ext uri="{FF2B5EF4-FFF2-40B4-BE49-F238E27FC236}">
                  <a16:creationId xmlns:a16="http://schemas.microsoft.com/office/drawing/2014/main" id="{2905C4A9-81C6-7738-942E-6D46510871F3}"/>
                </a:ext>
              </a:extLst>
            </p:cNvPr>
            <p:cNvSpPr/>
            <p:nvPr/>
          </p:nvSpPr>
          <p:spPr>
            <a:xfrm>
              <a:off x="-1352132" y="6267039"/>
              <a:ext cx="549624" cy="255847"/>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spcBef>
                  <a:spcPts val="0"/>
                </a:spcBef>
              </a:pPr>
              <a:endParaRPr sz="1833"/>
            </a:p>
          </p:txBody>
        </p:sp>
        <p:sp>
          <p:nvSpPr>
            <p:cNvPr id="506" name="Google Shape;317;p17">
              <a:extLst>
                <a:ext uri="{FF2B5EF4-FFF2-40B4-BE49-F238E27FC236}">
                  <a16:creationId xmlns:a16="http://schemas.microsoft.com/office/drawing/2014/main" id="{F9734CF2-A8DD-55FB-0FD2-CCB90635AD0E}"/>
                </a:ext>
              </a:extLst>
            </p:cNvPr>
            <p:cNvSpPr txBox="1"/>
            <p:nvPr/>
          </p:nvSpPr>
          <p:spPr>
            <a:xfrm>
              <a:off x="-4036595" y="5957692"/>
              <a:ext cx="1320250" cy="541969"/>
            </a:xfrm>
            <a:prstGeom prst="rect">
              <a:avLst/>
            </a:prstGeom>
            <a:noFill/>
            <a:ln>
              <a:noFill/>
            </a:ln>
          </p:spPr>
          <p:txBody>
            <a:bodyPr spcFirstLastPara="1" wrap="square" lIns="295319" tIns="295319" rIns="295319" bIns="295319" anchor="t" anchorCtr="0">
              <a:noAutofit/>
            </a:bodyPr>
            <a:lstStyle/>
            <a:p>
              <a:pPr algn="ctr">
                <a:spcBef>
                  <a:spcPts val="0"/>
                </a:spcBef>
              </a:pPr>
              <a:r>
                <a:rPr lang="en" sz="800" b="0" dirty="0"/>
                <a:t>Example Fake Data</a:t>
              </a:r>
              <a:endParaRPr sz="800" b="0" dirty="0"/>
            </a:p>
          </p:txBody>
        </p:sp>
        <p:sp>
          <p:nvSpPr>
            <p:cNvPr id="507" name="Google Shape;306;p17">
              <a:extLst>
                <a:ext uri="{FF2B5EF4-FFF2-40B4-BE49-F238E27FC236}">
                  <a16:creationId xmlns:a16="http://schemas.microsoft.com/office/drawing/2014/main" id="{68ECEC80-CD73-B181-B916-85461F354F02}"/>
                </a:ext>
              </a:extLst>
            </p:cNvPr>
            <p:cNvSpPr txBox="1"/>
            <p:nvPr/>
          </p:nvSpPr>
          <p:spPr>
            <a:xfrm>
              <a:off x="-2857835" y="5352399"/>
              <a:ext cx="1136939" cy="610729"/>
            </a:xfrm>
            <a:prstGeom prst="rect">
              <a:avLst/>
            </a:prstGeom>
            <a:noFill/>
            <a:ln>
              <a:noFill/>
            </a:ln>
          </p:spPr>
          <p:txBody>
            <a:bodyPr spcFirstLastPara="1" wrap="square" lIns="295319" tIns="295319" rIns="295319" bIns="295319" anchor="t" anchorCtr="0">
              <a:noAutofit/>
            </a:bodyPr>
            <a:lstStyle/>
            <a:p>
              <a:pPr algn="ctr">
                <a:spcBef>
                  <a:spcPts val="0"/>
                </a:spcBef>
              </a:pPr>
              <a:r>
                <a:rPr lang="en" sz="1400" dirty="0">
                  <a:solidFill>
                    <a:schemeClr val="dk2"/>
                  </a:solidFill>
                </a:rPr>
                <a:t>Git.R</a:t>
              </a:r>
              <a:endParaRPr sz="1400" dirty="0">
                <a:solidFill>
                  <a:schemeClr val="dk2"/>
                </a:solidFill>
              </a:endParaRPr>
            </a:p>
          </p:txBody>
        </p:sp>
        <p:sp>
          <p:nvSpPr>
            <p:cNvPr id="513" name="Google Shape;306;p17">
              <a:extLst>
                <a:ext uri="{FF2B5EF4-FFF2-40B4-BE49-F238E27FC236}">
                  <a16:creationId xmlns:a16="http://schemas.microsoft.com/office/drawing/2014/main" id="{577A5199-6756-BA16-4088-64BDA1F768FC}"/>
                </a:ext>
              </a:extLst>
            </p:cNvPr>
            <p:cNvSpPr txBox="1"/>
            <p:nvPr/>
          </p:nvSpPr>
          <p:spPr>
            <a:xfrm>
              <a:off x="-4818838" y="5052234"/>
              <a:ext cx="961423" cy="212651"/>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JIRA.R</a:t>
              </a:r>
              <a:endParaRPr sz="1000" b="0" dirty="0">
                <a:solidFill>
                  <a:schemeClr val="dk2"/>
                </a:solidFill>
              </a:endParaRPr>
            </a:p>
          </p:txBody>
        </p:sp>
        <p:cxnSp>
          <p:nvCxnSpPr>
            <p:cNvPr id="514" name="Connector: Elbow 513">
              <a:extLst>
                <a:ext uri="{FF2B5EF4-FFF2-40B4-BE49-F238E27FC236}">
                  <a16:creationId xmlns:a16="http://schemas.microsoft.com/office/drawing/2014/main" id="{9EB39BAB-C1FF-96E5-B379-320E4E7CAE17}"/>
                </a:ext>
              </a:extLst>
            </p:cNvPr>
            <p:cNvCxnSpPr>
              <a:cxnSpLocks/>
            </p:cNvCxnSpPr>
            <p:nvPr/>
          </p:nvCxnSpPr>
          <p:spPr>
            <a:xfrm rot="16200000" flipH="1">
              <a:off x="-2349307" y="4473414"/>
              <a:ext cx="1650573" cy="1223096"/>
            </a:xfrm>
            <a:prstGeom prst="bentConnector3">
              <a:avLst>
                <a:gd name="adj1" fmla="val 864"/>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15" name="Connector: Elbow 514">
              <a:extLst>
                <a:ext uri="{FF2B5EF4-FFF2-40B4-BE49-F238E27FC236}">
                  <a16:creationId xmlns:a16="http://schemas.microsoft.com/office/drawing/2014/main" id="{B1151F6F-2F2A-220C-AA0B-BEEDCF63547E}"/>
                </a:ext>
              </a:extLst>
            </p:cNvPr>
            <p:cNvCxnSpPr>
              <a:cxnSpLocks/>
            </p:cNvCxnSpPr>
            <p:nvPr/>
          </p:nvCxnSpPr>
          <p:spPr>
            <a:xfrm>
              <a:off x="-2383309" y="4654065"/>
              <a:ext cx="1301263" cy="1256183"/>
            </a:xfrm>
            <a:prstGeom prst="bentConnector3">
              <a:avLst>
                <a:gd name="adj1" fmla="val 998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17" name="Connector: Elbow 516">
              <a:extLst>
                <a:ext uri="{FF2B5EF4-FFF2-40B4-BE49-F238E27FC236}">
                  <a16:creationId xmlns:a16="http://schemas.microsoft.com/office/drawing/2014/main" id="{C3D7119D-C91A-A75C-48FB-450603D01A68}"/>
                </a:ext>
              </a:extLst>
            </p:cNvPr>
            <p:cNvCxnSpPr>
              <a:cxnSpLocks/>
            </p:cNvCxnSpPr>
            <p:nvPr/>
          </p:nvCxnSpPr>
          <p:spPr>
            <a:xfrm>
              <a:off x="-2224504" y="5069396"/>
              <a:ext cx="973858" cy="840853"/>
            </a:xfrm>
            <a:prstGeom prst="bentConnector3">
              <a:avLst>
                <a:gd name="adj1" fmla="val 99805"/>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521" name="TextBox 520">
              <a:extLst>
                <a:ext uri="{FF2B5EF4-FFF2-40B4-BE49-F238E27FC236}">
                  <a16:creationId xmlns:a16="http://schemas.microsoft.com/office/drawing/2014/main" id="{D99079CA-C526-F9C1-A966-8DC25F12C171}"/>
                </a:ext>
              </a:extLst>
            </p:cNvPr>
            <p:cNvSpPr txBox="1"/>
            <p:nvPr/>
          </p:nvSpPr>
          <p:spPr>
            <a:xfrm>
              <a:off x="-2773244" y="5341359"/>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Fake Data Generator</a:t>
              </a:r>
              <a:endParaRPr lang="en-US" sz="800" b="0" dirty="0"/>
            </a:p>
          </p:txBody>
        </p:sp>
        <p:cxnSp>
          <p:nvCxnSpPr>
            <p:cNvPr id="522" name="Connector: Elbow 521">
              <a:extLst>
                <a:ext uri="{FF2B5EF4-FFF2-40B4-BE49-F238E27FC236}">
                  <a16:creationId xmlns:a16="http://schemas.microsoft.com/office/drawing/2014/main" id="{F2EB51AE-B383-5B24-68F7-D3D2FB86807E}"/>
                </a:ext>
              </a:extLst>
            </p:cNvPr>
            <p:cNvCxnSpPr>
              <a:cxnSpLocks/>
              <a:endCxn id="46" idx="0"/>
            </p:cNvCxnSpPr>
            <p:nvPr/>
          </p:nvCxnSpPr>
          <p:spPr>
            <a:xfrm rot="10800000" flipV="1">
              <a:off x="-3379177" y="5483249"/>
              <a:ext cx="650776" cy="320897"/>
            </a:xfrm>
            <a:prstGeom prst="bentConnector2">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23" name="Google Shape;445;p18">
              <a:extLst>
                <a:ext uri="{FF2B5EF4-FFF2-40B4-BE49-F238E27FC236}">
                  <a16:creationId xmlns:a16="http://schemas.microsoft.com/office/drawing/2014/main" id="{30CF68E2-BC21-D9B8-DCE0-B78C71A858D1}"/>
                </a:ext>
              </a:extLst>
            </p:cNvPr>
            <p:cNvCxnSpPr>
              <a:cxnSpLocks/>
            </p:cNvCxnSpPr>
            <p:nvPr/>
          </p:nvCxnSpPr>
          <p:spPr>
            <a:xfrm>
              <a:off x="-2980215" y="6386252"/>
              <a:ext cx="1475409" cy="0"/>
            </a:xfrm>
            <a:prstGeom prst="straightConnector1">
              <a:avLst/>
            </a:prstGeom>
            <a:noFill/>
            <a:ln w="28575" cap="flat" cmpd="sng">
              <a:solidFill>
                <a:srgbClr val="1B1311"/>
              </a:solidFill>
              <a:prstDash val="solid"/>
              <a:round/>
              <a:headEnd type="none" w="med" len="med"/>
              <a:tailEnd type="triangle" w="med" len="med"/>
            </a:ln>
          </p:spPr>
        </p:cxnSp>
        <p:pic>
          <p:nvPicPr>
            <p:cNvPr id="575" name="Graphic 574" descr="Paper outline">
              <a:extLst>
                <a:ext uri="{FF2B5EF4-FFF2-40B4-BE49-F238E27FC236}">
                  <a16:creationId xmlns:a16="http://schemas.microsoft.com/office/drawing/2014/main" id="{243F8E48-5469-AB34-63BA-A30A2ACBFF7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034135" y="4239446"/>
              <a:ext cx="388976" cy="388976"/>
            </a:xfrm>
            <a:prstGeom prst="rect">
              <a:avLst/>
            </a:prstGeom>
          </p:spPr>
        </p:pic>
        <p:sp>
          <p:nvSpPr>
            <p:cNvPr id="576" name="Google Shape;306;p17">
              <a:extLst>
                <a:ext uri="{FF2B5EF4-FFF2-40B4-BE49-F238E27FC236}">
                  <a16:creationId xmlns:a16="http://schemas.microsoft.com/office/drawing/2014/main" id="{695F78E7-E1D7-39CD-7F9C-2E708CB55FE6}"/>
                </a:ext>
              </a:extLst>
            </p:cNvPr>
            <p:cNvSpPr txBox="1"/>
            <p:nvPr/>
          </p:nvSpPr>
          <p:spPr>
            <a:xfrm>
              <a:off x="-4811370" y="5804778"/>
              <a:ext cx="928261"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src.R</a:t>
              </a:r>
              <a:endParaRPr sz="1000" b="0" dirty="0">
                <a:solidFill>
                  <a:schemeClr val="dk2"/>
                </a:solidFill>
              </a:endParaRPr>
            </a:p>
          </p:txBody>
        </p:sp>
        <p:pic>
          <p:nvPicPr>
            <p:cNvPr id="577" name="Graphic 576" descr="Paper outline">
              <a:extLst>
                <a:ext uri="{FF2B5EF4-FFF2-40B4-BE49-F238E27FC236}">
                  <a16:creationId xmlns:a16="http://schemas.microsoft.com/office/drawing/2014/main" id="{7A04E600-68E8-EAAB-8B7F-260C99AF62D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532614" y="4246806"/>
              <a:ext cx="388976" cy="388976"/>
            </a:xfrm>
            <a:prstGeom prst="rect">
              <a:avLst/>
            </a:prstGeom>
          </p:spPr>
        </p:pic>
        <p:pic>
          <p:nvPicPr>
            <p:cNvPr id="578" name="Graphic 577" descr="Paper outline">
              <a:extLst>
                <a:ext uri="{FF2B5EF4-FFF2-40B4-BE49-F238E27FC236}">
                  <a16:creationId xmlns:a16="http://schemas.microsoft.com/office/drawing/2014/main" id="{F4728C3F-3805-8C3F-A1E6-D87BDC74DD1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532614" y="4808841"/>
              <a:ext cx="388976" cy="388976"/>
            </a:xfrm>
            <a:prstGeom prst="rect">
              <a:avLst/>
            </a:prstGeom>
          </p:spPr>
        </p:pic>
        <p:pic>
          <p:nvPicPr>
            <p:cNvPr id="579" name="Graphic 578" descr="Paper outline">
              <a:extLst>
                <a:ext uri="{FF2B5EF4-FFF2-40B4-BE49-F238E27FC236}">
                  <a16:creationId xmlns:a16="http://schemas.microsoft.com/office/drawing/2014/main" id="{B0764E7C-9C23-64B5-C40A-B133A51944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541727" y="5667807"/>
              <a:ext cx="388976" cy="388976"/>
            </a:xfrm>
            <a:prstGeom prst="rect">
              <a:avLst/>
            </a:prstGeom>
          </p:spPr>
        </p:pic>
        <p:sp>
          <p:nvSpPr>
            <p:cNvPr id="580" name="Google Shape;306;p17">
              <a:extLst>
                <a:ext uri="{FF2B5EF4-FFF2-40B4-BE49-F238E27FC236}">
                  <a16:creationId xmlns:a16="http://schemas.microsoft.com/office/drawing/2014/main" id="{18D61F66-EA60-B204-CE34-35F44541464C}"/>
                </a:ext>
              </a:extLst>
            </p:cNvPr>
            <p:cNvSpPr txBox="1"/>
            <p:nvPr/>
          </p:nvSpPr>
          <p:spPr>
            <a:xfrm>
              <a:off x="-4312796" y="4463274"/>
              <a:ext cx="940079" cy="24014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Git.R</a:t>
              </a:r>
              <a:endParaRPr sz="1000" b="0" dirty="0">
                <a:solidFill>
                  <a:schemeClr val="dk2"/>
                </a:solidFill>
              </a:endParaRPr>
            </a:p>
          </p:txBody>
        </p:sp>
        <p:sp>
          <p:nvSpPr>
            <p:cNvPr id="581" name="Google Shape;306;p17">
              <a:extLst>
                <a:ext uri="{FF2B5EF4-FFF2-40B4-BE49-F238E27FC236}">
                  <a16:creationId xmlns:a16="http://schemas.microsoft.com/office/drawing/2014/main" id="{243C7173-DECE-1CBD-7494-71693DFC7358}"/>
                </a:ext>
              </a:extLst>
            </p:cNvPr>
            <p:cNvSpPr txBox="1"/>
            <p:nvPr/>
          </p:nvSpPr>
          <p:spPr>
            <a:xfrm>
              <a:off x="-4831889" y="4393223"/>
              <a:ext cx="987526"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Mail.R</a:t>
              </a:r>
              <a:endParaRPr sz="1000" b="0" dirty="0">
                <a:solidFill>
                  <a:schemeClr val="dk2"/>
                </a:solidFill>
              </a:endParaRPr>
            </a:p>
          </p:txBody>
        </p:sp>
        <p:sp>
          <p:nvSpPr>
            <p:cNvPr id="585" name="Oval 584">
              <a:extLst>
                <a:ext uri="{FF2B5EF4-FFF2-40B4-BE49-F238E27FC236}">
                  <a16:creationId xmlns:a16="http://schemas.microsoft.com/office/drawing/2014/main" id="{8969CF44-C281-7FD6-AA1A-E9B0B9F0ED96}"/>
                </a:ext>
              </a:extLst>
            </p:cNvPr>
            <p:cNvSpPr/>
            <p:nvPr/>
          </p:nvSpPr>
          <p:spPr>
            <a:xfrm>
              <a:off x="-4111545" y="4224000"/>
              <a:ext cx="550867" cy="525694"/>
            </a:xfrm>
            <a:prstGeom prst="ellipse">
              <a:avLst/>
            </a:prstGeom>
            <a:noFill/>
            <a:ln w="12700" cap="flat">
              <a:solidFill>
                <a:srgbClr val="4C4C4C"/>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sp>
          <p:nvSpPr>
            <p:cNvPr id="586" name="Oval 585">
              <a:extLst>
                <a:ext uri="{FF2B5EF4-FFF2-40B4-BE49-F238E27FC236}">
                  <a16:creationId xmlns:a16="http://schemas.microsoft.com/office/drawing/2014/main" id="{C3FF25E8-E4CB-C0E4-2053-31F0A565E34F}"/>
                </a:ext>
              </a:extLst>
            </p:cNvPr>
            <p:cNvSpPr/>
            <p:nvPr/>
          </p:nvSpPr>
          <p:spPr>
            <a:xfrm>
              <a:off x="-3358650" y="3869552"/>
              <a:ext cx="2158097" cy="2196943"/>
            </a:xfrm>
            <a:prstGeom prst="ellipse">
              <a:avLst/>
            </a:prstGeom>
            <a:noFill/>
            <a:ln w="12700" cap="flat">
              <a:solidFill>
                <a:srgbClr val="4C4C4C"/>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cxnSp>
          <p:nvCxnSpPr>
            <p:cNvPr id="587" name="Straight Connector 586">
              <a:extLst>
                <a:ext uri="{FF2B5EF4-FFF2-40B4-BE49-F238E27FC236}">
                  <a16:creationId xmlns:a16="http://schemas.microsoft.com/office/drawing/2014/main" id="{A808A26E-81D4-E7CC-3D7B-567CD8D9B8BF}"/>
                </a:ext>
              </a:extLst>
            </p:cNvPr>
            <p:cNvCxnSpPr>
              <a:cxnSpLocks/>
              <a:endCxn id="585" idx="3"/>
            </p:cNvCxnSpPr>
            <p:nvPr/>
          </p:nvCxnSpPr>
          <p:spPr>
            <a:xfrm flipH="1" flipV="1">
              <a:off x="-4030872" y="4672708"/>
              <a:ext cx="756816" cy="744979"/>
            </a:xfrm>
            <a:prstGeom prst="line">
              <a:avLst/>
            </a:prstGeom>
            <a:ln w="127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91" name="Straight Connector 590">
              <a:extLst>
                <a:ext uri="{FF2B5EF4-FFF2-40B4-BE49-F238E27FC236}">
                  <a16:creationId xmlns:a16="http://schemas.microsoft.com/office/drawing/2014/main" id="{24B6A047-0271-3A69-0251-C3F4A500F8E3}"/>
                </a:ext>
              </a:extLst>
            </p:cNvPr>
            <p:cNvCxnSpPr>
              <a:cxnSpLocks/>
              <a:endCxn id="585" idx="0"/>
            </p:cNvCxnSpPr>
            <p:nvPr/>
          </p:nvCxnSpPr>
          <p:spPr>
            <a:xfrm flipH="1">
              <a:off x="-3836111" y="3934786"/>
              <a:ext cx="1215870" cy="289214"/>
            </a:xfrm>
            <a:prstGeom prst="line">
              <a:avLst/>
            </a:prstGeom>
            <a:ln w="127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94" name="TextBox 593">
              <a:extLst>
                <a:ext uri="{FF2B5EF4-FFF2-40B4-BE49-F238E27FC236}">
                  <a16:creationId xmlns:a16="http://schemas.microsoft.com/office/drawing/2014/main" id="{44092E23-A6A7-3AD6-E669-FA5DC2575711}"/>
                </a:ext>
              </a:extLst>
            </p:cNvPr>
            <p:cNvSpPr txBox="1"/>
            <p:nvPr/>
          </p:nvSpPr>
          <p:spPr>
            <a:xfrm>
              <a:off x="-4496587" y="5273313"/>
              <a:ext cx="536368" cy="5308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dirty="0"/>
                <a:t>.</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95" name="Google Shape;312;p17">
              <a:extLst>
                <a:ext uri="{FF2B5EF4-FFF2-40B4-BE49-F238E27FC236}">
                  <a16:creationId xmlns:a16="http://schemas.microsoft.com/office/drawing/2014/main" id="{ACA5ED1C-80C0-5A15-3F2D-4831AE2CD844}"/>
                </a:ext>
              </a:extLst>
            </p:cNvPr>
            <p:cNvSpPr txBox="1"/>
            <p:nvPr/>
          </p:nvSpPr>
          <p:spPr>
            <a:xfrm>
              <a:off x="-4483354" y="6629273"/>
              <a:ext cx="2240541"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400" dirty="0"/>
                <a:t>Example.R</a:t>
              </a:r>
              <a:endParaRPr sz="1400" dirty="0"/>
            </a:p>
          </p:txBody>
        </p:sp>
        <p:sp>
          <p:nvSpPr>
            <p:cNvPr id="597" name="TextBox 596">
              <a:extLst>
                <a:ext uri="{FF2B5EF4-FFF2-40B4-BE49-F238E27FC236}">
                  <a16:creationId xmlns:a16="http://schemas.microsoft.com/office/drawing/2014/main" id="{3C383636-4128-283D-BE2C-8AF03FC42382}"/>
                </a:ext>
              </a:extLst>
            </p:cNvPr>
            <p:cNvSpPr txBox="1"/>
            <p:nvPr/>
          </p:nvSpPr>
          <p:spPr>
            <a:xfrm>
              <a:off x="-4497970" y="5172159"/>
              <a:ext cx="366168" cy="7411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dirty="0"/>
                <a:t>.</a:t>
              </a:r>
            </a:p>
            <a:p>
              <a:pPr marL="0" marR="0" indent="0" algn="l" defTabSz="584200" rtl="0" fontAlgn="auto" latinLnBrk="0" hangingPunct="0">
                <a:lnSpc>
                  <a:spcPct val="100000"/>
                </a:lnSpc>
                <a:spcBef>
                  <a:spcPts val="200"/>
                </a:spcBef>
                <a:spcAft>
                  <a:spcPts val="0"/>
                </a:spcAft>
                <a:buClrTx/>
                <a:buSzTx/>
                <a:buFontTx/>
                <a:buNone/>
                <a:tabLst/>
              </a:pPr>
              <a:r>
                <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rPr>
                <a:t>.</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6" name="Rectangle 5">
              <a:extLst>
                <a:ext uri="{FF2B5EF4-FFF2-40B4-BE49-F238E27FC236}">
                  <a16:creationId xmlns:a16="http://schemas.microsoft.com/office/drawing/2014/main" id="{24838209-5A00-BCC1-E444-154B08A465F4}"/>
                </a:ext>
              </a:extLst>
            </p:cNvPr>
            <p:cNvSpPr/>
            <p:nvPr/>
          </p:nvSpPr>
          <p:spPr>
            <a:xfrm>
              <a:off x="-4650604" y="3569331"/>
              <a:ext cx="4067130" cy="3578190"/>
            </a:xfrm>
            <a:prstGeom prst="rect">
              <a:avLst/>
            </a:prstGeom>
            <a:noFill/>
            <a:ln w="12700" cap="flat">
              <a:solidFill>
                <a:schemeClr val="bg2">
                  <a:lumMod val="10000"/>
                </a:schemeClr>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 name="Google Shape;236;p15">
              <a:extLst>
                <a:ext uri="{FF2B5EF4-FFF2-40B4-BE49-F238E27FC236}">
                  <a16:creationId xmlns:a16="http://schemas.microsoft.com/office/drawing/2014/main" id="{CF9904A2-F0B2-49C5-8D39-7A33D00DA1DC}"/>
                </a:ext>
              </a:extLst>
            </p:cNvPr>
            <p:cNvSpPr/>
            <p:nvPr/>
          </p:nvSpPr>
          <p:spPr>
            <a:xfrm>
              <a:off x="-4607492" y="3602726"/>
              <a:ext cx="322763" cy="299514"/>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9" name="Google Shape;237;p15">
              <a:extLst>
                <a:ext uri="{FF2B5EF4-FFF2-40B4-BE49-F238E27FC236}">
                  <a16:creationId xmlns:a16="http://schemas.microsoft.com/office/drawing/2014/main" id="{968D02F8-2044-DD71-618F-D94A920B299B}"/>
                </a:ext>
              </a:extLst>
            </p:cNvPr>
            <p:cNvSpPr txBox="1"/>
            <p:nvPr/>
          </p:nvSpPr>
          <p:spPr>
            <a:xfrm>
              <a:off x="-4683519" y="3519441"/>
              <a:ext cx="547745" cy="274024"/>
            </a:xfrm>
            <a:prstGeom prst="rect">
              <a:avLst/>
            </a:prstGeom>
            <a:noFill/>
            <a:ln>
              <a:noFill/>
            </a:ln>
          </p:spPr>
          <p:txBody>
            <a:bodyPr spcFirstLastPara="1" wrap="square" lIns="127722" tIns="127722" rIns="127722" bIns="127722" anchor="t" anchorCtr="0">
              <a:noAutofit/>
            </a:bodyPr>
            <a:lstStyle/>
            <a:p>
              <a:pPr>
                <a:spcBef>
                  <a:spcPts val="0"/>
                </a:spcBef>
              </a:pPr>
              <a:r>
                <a:rPr lang="en" sz="1400" dirty="0">
                  <a:solidFill>
                    <a:schemeClr val="lt1"/>
                  </a:solidFill>
                </a:rPr>
                <a:t>GH</a:t>
              </a:r>
              <a:endParaRPr sz="1400" dirty="0">
                <a:solidFill>
                  <a:schemeClr val="lt1"/>
                </a:solidFill>
              </a:endParaRPr>
            </a:p>
          </p:txBody>
        </p:sp>
      </p:grpSp>
      <p:sp>
        <p:nvSpPr>
          <p:cNvPr id="11" name="Basics">
            <a:extLst>
              <a:ext uri="{FF2B5EF4-FFF2-40B4-BE49-F238E27FC236}">
                <a16:creationId xmlns:a16="http://schemas.microsoft.com/office/drawing/2014/main" id="{032AAE17-76E1-B3C2-D60F-0BEB97DBECA8}"/>
              </a:ext>
            </a:extLst>
          </p:cNvPr>
          <p:cNvSpPr txBox="1"/>
          <p:nvPr/>
        </p:nvSpPr>
        <p:spPr>
          <a:xfrm>
            <a:off x="4788741" y="8701569"/>
            <a:ext cx="2766632"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Tests</a:t>
            </a:r>
            <a:endParaRPr dirty="0"/>
          </a:p>
        </p:txBody>
      </p:sp>
      <p:sp>
        <p:nvSpPr>
          <p:cNvPr id="12" name="Basics">
            <a:extLst>
              <a:ext uri="{FF2B5EF4-FFF2-40B4-BE49-F238E27FC236}">
                <a16:creationId xmlns:a16="http://schemas.microsoft.com/office/drawing/2014/main" id="{BB7400BE-F2A5-6D75-6EE4-5E8B0C50B9C2}"/>
              </a:ext>
            </a:extLst>
          </p:cNvPr>
          <p:cNvSpPr txBox="1"/>
          <p:nvPr/>
        </p:nvSpPr>
        <p:spPr>
          <a:xfrm>
            <a:off x="4783536" y="7586838"/>
            <a:ext cx="2766632"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Fake Data Generator</a:t>
            </a:r>
            <a:endParaRPr dirty="0"/>
          </a:p>
        </p:txBody>
      </p:sp>
      <p:sp>
        <p:nvSpPr>
          <p:cNvPr id="13" name="Use headers, colors, and/or backgrounds to separate or group together sections.">
            <a:extLst>
              <a:ext uri="{FF2B5EF4-FFF2-40B4-BE49-F238E27FC236}">
                <a16:creationId xmlns:a16="http://schemas.microsoft.com/office/drawing/2014/main" id="{F31E60EC-FBA7-BFDD-3493-819197F302EC}"/>
              </a:ext>
            </a:extLst>
          </p:cNvPr>
          <p:cNvSpPr txBox="1"/>
          <p:nvPr/>
        </p:nvSpPr>
        <p:spPr>
          <a:xfrm>
            <a:off x="4892669" y="9038476"/>
            <a:ext cx="4251862" cy="6088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Tests for Kaiaulu are made using R’s testthat framework. Since Kaiaulu is built upon many functions that have the same type of functionality, tests can be written in a repeatable fashion.</a:t>
            </a:r>
          </a:p>
        </p:txBody>
      </p:sp>
      <p:sp>
        <p:nvSpPr>
          <p:cNvPr id="14" name="Use headers, colors, and/or backgrounds to separate or group together sections.">
            <a:extLst>
              <a:ext uri="{FF2B5EF4-FFF2-40B4-BE49-F238E27FC236}">
                <a16:creationId xmlns:a16="http://schemas.microsoft.com/office/drawing/2014/main" id="{FD9E00A6-33DC-C855-8F23-FA0B2A0897E0}"/>
              </a:ext>
            </a:extLst>
          </p:cNvPr>
          <p:cNvSpPr txBox="1"/>
          <p:nvPr/>
        </p:nvSpPr>
        <p:spPr>
          <a:xfrm>
            <a:off x="4876659" y="7932801"/>
            <a:ext cx="4251862" cy="6088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Fake Data Generation functions are at the bottom of each R file. These functions are called in Example.R to create the fake data necessary for testing their respective file functions.</a:t>
            </a:r>
          </a:p>
        </p:txBody>
      </p:sp>
      <p:pic>
        <p:nvPicPr>
          <p:cNvPr id="16" name="Picture 15" descr="The image depicts a simple, clean design featuring two intertwined, colorless circles.&#10;&#10;AI-generated content may be incorrect.">
            <a:extLst>
              <a:ext uri="{FF2B5EF4-FFF2-40B4-BE49-F238E27FC236}">
                <a16:creationId xmlns:a16="http://schemas.microsoft.com/office/drawing/2014/main" id="{2B6EB727-D03F-E78F-4B3C-6B1D40E02184}"/>
              </a:ext>
            </a:extLst>
          </p:cNvPr>
          <p:cNvPicPr>
            <a:picLocks noChangeAspect="1"/>
          </p:cNvPicPr>
          <p:nvPr/>
        </p:nvPicPr>
        <p:blipFill>
          <a:blip r:embed="rId17"/>
          <a:srcRect l="3050" r="4779"/>
          <a:stretch>
            <a:fillRect/>
          </a:stretch>
        </p:blipFill>
        <p:spPr>
          <a:xfrm>
            <a:off x="10212730" y="7933337"/>
            <a:ext cx="341640" cy="348057"/>
          </a:xfrm>
          <a:prstGeom prst="rect">
            <a:avLst/>
          </a:prstGeom>
        </p:spPr>
      </p:pic>
      <p:sp>
        <p:nvSpPr>
          <p:cNvPr id="17" name="Use headers, colors, and/or backgrounds to separate or group together sections.">
            <a:extLst>
              <a:ext uri="{FF2B5EF4-FFF2-40B4-BE49-F238E27FC236}">
                <a16:creationId xmlns:a16="http://schemas.microsoft.com/office/drawing/2014/main" id="{25C42984-A6B9-EE06-4335-FBC01650364F}"/>
              </a:ext>
            </a:extLst>
          </p:cNvPr>
          <p:cNvSpPr txBox="1"/>
          <p:nvPr/>
        </p:nvSpPr>
        <p:spPr>
          <a:xfrm>
            <a:off x="10553488" y="7879773"/>
            <a:ext cx="2703651" cy="2902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300" dirty="0">
                <a:latin typeface="Source Sans Pro" panose="020B0503030403020204" pitchFamily="34" charset="0"/>
                <a:ea typeface="Source Sans Pro" panose="020B0503030403020204" pitchFamily="34" charset="0"/>
              </a:rPr>
              <a:t>Some checks were not successful</a:t>
            </a:r>
          </a:p>
        </p:txBody>
      </p:sp>
      <p:sp>
        <p:nvSpPr>
          <p:cNvPr id="18" name="Google Shape;244;p15">
            <a:extLst>
              <a:ext uri="{FF2B5EF4-FFF2-40B4-BE49-F238E27FC236}">
                <a16:creationId xmlns:a16="http://schemas.microsoft.com/office/drawing/2014/main" id="{2677C117-44C9-B8AC-BFB5-D07FB4D23B13}"/>
              </a:ext>
            </a:extLst>
          </p:cNvPr>
          <p:cNvSpPr txBox="1"/>
          <p:nvPr/>
        </p:nvSpPr>
        <p:spPr>
          <a:xfrm>
            <a:off x="10483111" y="7996936"/>
            <a:ext cx="2232410" cy="321094"/>
          </a:xfrm>
          <a:prstGeom prst="rect">
            <a:avLst/>
          </a:prstGeom>
          <a:noFill/>
          <a:ln>
            <a:noFill/>
          </a:ln>
        </p:spPr>
        <p:txBody>
          <a:bodyPr spcFirstLastPara="1" wrap="square" lIns="127722" tIns="127722" rIns="127722" bIns="127722" anchor="t" anchorCtr="0">
            <a:noAutofit/>
          </a:bodyPr>
          <a:lstStyle/>
          <a:p>
            <a:pPr>
              <a:spcBef>
                <a:spcPts val="0"/>
              </a:spcBef>
            </a:pPr>
            <a:r>
              <a:rPr lang="en-US" dirty="0">
                <a:solidFill>
                  <a:srgbClr val="999999"/>
                </a:solidFill>
              </a:rPr>
              <a:t>1 failing, 1 successful checks</a:t>
            </a:r>
            <a:endParaRPr dirty="0">
              <a:solidFill>
                <a:srgbClr val="999999"/>
              </a:solidFill>
            </a:endParaRPr>
          </a:p>
          <a:p>
            <a:pPr>
              <a:spcBef>
                <a:spcPts val="0"/>
              </a:spcBef>
            </a:pPr>
            <a:endParaRPr sz="978" dirty="0">
              <a:solidFill>
                <a:srgbClr val="999999"/>
              </a:solidFill>
            </a:endParaRPr>
          </a:p>
          <a:p>
            <a:pPr>
              <a:spcBef>
                <a:spcPts val="0"/>
              </a:spcBef>
            </a:pPr>
            <a:r>
              <a:rPr lang="en" sz="978" dirty="0">
                <a:solidFill>
                  <a:srgbClr val="999999"/>
                </a:solidFill>
              </a:rPr>
              <a:t> </a:t>
            </a:r>
            <a:endParaRPr sz="978" dirty="0">
              <a:solidFill>
                <a:srgbClr val="999999"/>
              </a:solidFill>
            </a:endParaRPr>
          </a:p>
        </p:txBody>
      </p:sp>
      <p:cxnSp>
        <p:nvCxnSpPr>
          <p:cNvPr id="21" name="Connector: Elbow 20">
            <a:extLst>
              <a:ext uri="{FF2B5EF4-FFF2-40B4-BE49-F238E27FC236}">
                <a16:creationId xmlns:a16="http://schemas.microsoft.com/office/drawing/2014/main" id="{2753A72C-3E8B-381F-B895-C29B08E32883}"/>
              </a:ext>
            </a:extLst>
          </p:cNvPr>
          <p:cNvCxnSpPr>
            <a:cxnSpLocks/>
          </p:cNvCxnSpPr>
          <p:nvPr/>
        </p:nvCxnSpPr>
        <p:spPr>
          <a:xfrm>
            <a:off x="4348995" y="6394618"/>
            <a:ext cx="416080" cy="315465"/>
          </a:xfrm>
          <a:prstGeom prst="bentConnector3">
            <a:avLst/>
          </a:prstGeom>
          <a:ln w="12700" cap="flat" cmpd="sng" algn="ctr">
            <a:solidFill>
              <a:schemeClr val="bg2">
                <a:lumMod val="1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2" name="Connector: Elbow 21">
            <a:extLst>
              <a:ext uri="{FF2B5EF4-FFF2-40B4-BE49-F238E27FC236}">
                <a16:creationId xmlns:a16="http://schemas.microsoft.com/office/drawing/2014/main" id="{A027071E-DB52-CC7A-E210-7B9DC7DAB730}"/>
              </a:ext>
            </a:extLst>
          </p:cNvPr>
          <p:cNvCxnSpPr/>
          <p:nvPr/>
        </p:nvCxnSpPr>
        <p:spPr>
          <a:xfrm>
            <a:off x="4344826" y="7398191"/>
            <a:ext cx="416080" cy="315465"/>
          </a:xfrm>
          <a:prstGeom prst="bentConnector3">
            <a:avLst/>
          </a:prstGeom>
          <a:ln w="12700" cap="flat" cmpd="sng" algn="ctr">
            <a:solidFill>
              <a:schemeClr val="bg2">
                <a:lumMod val="1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3" name="Connector: Elbow 22">
            <a:extLst>
              <a:ext uri="{FF2B5EF4-FFF2-40B4-BE49-F238E27FC236}">
                <a16:creationId xmlns:a16="http://schemas.microsoft.com/office/drawing/2014/main" id="{0FF4B67A-3ED1-3F93-03B7-16755BF64C25}"/>
              </a:ext>
            </a:extLst>
          </p:cNvPr>
          <p:cNvCxnSpPr/>
          <p:nvPr/>
        </p:nvCxnSpPr>
        <p:spPr>
          <a:xfrm>
            <a:off x="4359732" y="8510452"/>
            <a:ext cx="416080" cy="315465"/>
          </a:xfrm>
          <a:prstGeom prst="bentConnector3">
            <a:avLst/>
          </a:prstGeom>
          <a:ln w="12700" cap="flat" cmpd="sng" algn="ctr">
            <a:solidFill>
              <a:schemeClr val="bg2">
                <a:lumMod val="1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21929942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62DB8-1232-242A-CC0E-FD4BB9BABEE6}"/>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DFE197C5-BE91-50CE-3B3A-FC56B8B5A410}"/>
              </a:ext>
            </a:extLst>
          </p:cNvPr>
          <p:cNvPicPr>
            <a:picLocks noChangeAspect="1"/>
          </p:cNvPicPr>
          <p:nvPr/>
        </p:nvPicPr>
        <p:blipFill>
          <a:blip r:embed="rId3"/>
          <a:stretch>
            <a:fillRect/>
          </a:stretch>
        </p:blipFill>
        <p:spPr>
          <a:xfrm>
            <a:off x="8374634" y="-696057"/>
            <a:ext cx="5598432" cy="2990088"/>
          </a:xfrm>
          <a:prstGeom prst="rect">
            <a:avLst/>
          </a:prstGeom>
          <a:ln w="12700">
            <a:miter lim="400000"/>
          </a:ln>
        </p:spPr>
      </p:pic>
      <p:sp>
        <p:nvSpPr>
          <p:cNvPr id="312" name="Line">
            <a:extLst>
              <a:ext uri="{FF2B5EF4-FFF2-40B4-BE49-F238E27FC236}">
                <a16:creationId xmlns:a16="http://schemas.microsoft.com/office/drawing/2014/main" id="{47586CA1-E881-7DEF-BB0C-239F23AFA41C}"/>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06898289-AC5E-5F5C-4C25-E28C2EB618C0}"/>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26" name="Manipulate Variables">
            <a:extLst>
              <a:ext uri="{FF2B5EF4-FFF2-40B4-BE49-F238E27FC236}">
                <a16:creationId xmlns:a16="http://schemas.microsoft.com/office/drawing/2014/main" id="{6ED272A5-ABCF-45DD-13BE-08821A93646B}"/>
              </a:ext>
            </a:extLst>
          </p:cNvPr>
          <p:cNvSpPr txBox="1"/>
          <p:nvPr/>
        </p:nvSpPr>
        <p:spPr>
          <a:xfrm>
            <a:off x="4645160" y="3855127"/>
            <a:ext cx="3048912"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Code Review Workflow</a:t>
            </a:r>
          </a:p>
        </p:txBody>
      </p:sp>
      <p:sp>
        <p:nvSpPr>
          <p:cNvPr id="334" name="Three Column Layout: : CHEAT SHEET">
            <a:extLst>
              <a:ext uri="{FF2B5EF4-FFF2-40B4-BE49-F238E27FC236}">
                <a16:creationId xmlns:a16="http://schemas.microsoft.com/office/drawing/2014/main" id="{5DCCFC1B-A3E8-F87E-A3E0-B5A866282B55}"/>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Unit Tests </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41" name="Use headers, colors, and/or backgrounds to separate or group together sections.">
            <a:extLst>
              <a:ext uri="{FF2B5EF4-FFF2-40B4-BE49-F238E27FC236}">
                <a16:creationId xmlns:a16="http://schemas.microsoft.com/office/drawing/2014/main" id="{A2F6C718-3009-8594-0E94-B5AF83BFBA26}"/>
              </a:ext>
            </a:extLst>
          </p:cNvPr>
          <p:cNvSpPr txBox="1"/>
          <p:nvPr/>
        </p:nvSpPr>
        <p:spPr>
          <a:xfrm>
            <a:off x="209328" y="1835513"/>
            <a:ext cx="3949153" cy="13505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Kaiaulu has multiple measures in place to ensure that its codebase remains maintainable. </a:t>
            </a:r>
          </a:p>
          <a:p>
            <a:pPr>
              <a:lnSpc>
                <a:spcPct val="90000"/>
              </a:lnSpc>
              <a:spcBef>
                <a:spcPts val="300"/>
              </a:spcBef>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Try catch statements and tests let functions fail gracefully and ensure functions work as intended. </a:t>
            </a:r>
          </a:p>
          <a:p>
            <a:pPr>
              <a:lnSpc>
                <a:spcPct val="90000"/>
              </a:lnSpc>
              <a:spcBef>
                <a:spcPts val="300"/>
              </a:spcBef>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Codecov and GitHub Actions run the tests as well as other checks for every commit to a Pull Request and will a merge if any tests fail or code coverage conditions are not met.</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382" name="Logistics">
            <a:extLst>
              <a:ext uri="{FF2B5EF4-FFF2-40B4-BE49-F238E27FC236}">
                <a16:creationId xmlns:a16="http://schemas.microsoft.com/office/drawing/2014/main" id="{C23C1073-DD25-B9BE-8B23-E9B4EA131013}"/>
              </a:ext>
            </a:extLst>
          </p:cNvPr>
          <p:cNvSpPr txBox="1"/>
          <p:nvPr/>
        </p:nvSpPr>
        <p:spPr>
          <a:xfrm>
            <a:off x="214630" y="5722887"/>
            <a:ext cx="215283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Test Framework</a:t>
            </a:r>
          </a:p>
        </p:txBody>
      </p:sp>
      <p:sp>
        <p:nvSpPr>
          <p:cNvPr id="384" name="Layout Suggestions">
            <a:extLst>
              <a:ext uri="{FF2B5EF4-FFF2-40B4-BE49-F238E27FC236}">
                <a16:creationId xmlns:a16="http://schemas.microsoft.com/office/drawing/2014/main" id="{9A96E2DA-C91D-D71C-7619-F5CA850BB7EF}"/>
              </a:ext>
            </a:extLst>
          </p:cNvPr>
          <p:cNvSpPr txBox="1"/>
          <p:nvPr/>
        </p:nvSpPr>
        <p:spPr>
          <a:xfrm>
            <a:off x="213255" y="1519045"/>
            <a:ext cx="262128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93FD7488-FF85-2ECE-D959-33D644DCEB7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6D31BC7D-A895-BF05-70B2-4E1B0D858AA5}"/>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5">
                  <a:extLst>
                    <a:ext uri="{A12FA001-AC4F-418D-AE19-62706E023703}">
                      <ahyp:hlinkClr xmlns:ahyp="http://schemas.microsoft.com/office/drawing/2018/hyperlinkcolor" val="tx"/>
                    </a:ext>
                  </a:extLst>
                </a:hlinkClick>
              </a:rPr>
              <a:t>CC BY SA</a:t>
            </a:r>
            <a:r>
              <a:rPr lang="en-US" sz="1000" b="0" dirty="0">
                <a:solidFill>
                  <a:schemeClr val="tx1"/>
                </a:solidFill>
              </a:rPr>
              <a:t> Colby Fuke</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371" name="Line">
            <a:extLst>
              <a:ext uri="{FF2B5EF4-FFF2-40B4-BE49-F238E27FC236}">
                <a16:creationId xmlns:a16="http://schemas.microsoft.com/office/drawing/2014/main" id="{959278E3-1AE1-5CB4-9180-0D3DB3047AA9}"/>
              </a:ext>
            </a:extLst>
          </p:cNvPr>
          <p:cNvSpPr/>
          <p:nvPr/>
        </p:nvSpPr>
        <p:spPr>
          <a:xfrm flipV="1">
            <a:off x="146932" y="1835513"/>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grpSp>
        <p:nvGrpSpPr>
          <p:cNvPr id="61" name="Group 60">
            <a:extLst>
              <a:ext uri="{FF2B5EF4-FFF2-40B4-BE49-F238E27FC236}">
                <a16:creationId xmlns:a16="http://schemas.microsoft.com/office/drawing/2014/main" id="{F9C48B02-7EAE-5651-C73B-0F5F997A5FAD}"/>
              </a:ext>
            </a:extLst>
          </p:cNvPr>
          <p:cNvGrpSpPr/>
          <p:nvPr/>
        </p:nvGrpSpPr>
        <p:grpSpPr>
          <a:xfrm>
            <a:off x="9554259" y="3866817"/>
            <a:ext cx="3848844" cy="6172184"/>
            <a:chOff x="870417" y="3616023"/>
            <a:chExt cx="3848844" cy="6172184"/>
          </a:xfrm>
        </p:grpSpPr>
        <p:sp>
          <p:nvSpPr>
            <p:cNvPr id="449" name="Rectangle 448">
              <a:extLst>
                <a:ext uri="{FF2B5EF4-FFF2-40B4-BE49-F238E27FC236}">
                  <a16:creationId xmlns:a16="http://schemas.microsoft.com/office/drawing/2014/main" id="{0B147455-3870-3EA9-D2C6-177B48D0DFB9}"/>
                </a:ext>
              </a:extLst>
            </p:cNvPr>
            <p:cNvSpPr/>
            <p:nvPr/>
          </p:nvSpPr>
          <p:spPr>
            <a:xfrm>
              <a:off x="870417" y="3627271"/>
              <a:ext cx="3848844" cy="6160936"/>
            </a:xfrm>
            <a:prstGeom prst="rect">
              <a:avLst/>
            </a:prstGeom>
            <a:ln w="12700"/>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pic>
          <p:nvPicPr>
            <p:cNvPr id="450" name="Picture 449" descr="Account ">
              <a:extLst>
                <a:ext uri="{FF2B5EF4-FFF2-40B4-BE49-F238E27FC236}">
                  <a16:creationId xmlns:a16="http://schemas.microsoft.com/office/drawing/2014/main" id="{2C7C09E6-BC6E-BA61-1B8D-B829F8031B77}"/>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91912" y="4195042"/>
              <a:ext cx="306136" cy="306136"/>
            </a:xfrm>
            <a:prstGeom prst="rect">
              <a:avLst/>
            </a:prstGeom>
            <a:noFill/>
            <a:extLst>
              <a:ext uri="{909E8E84-426E-40DD-AFC4-6F175D3DCCD1}">
                <a14:hiddenFill xmlns:a14="http://schemas.microsoft.com/office/drawing/2010/main">
                  <a:solidFill>
                    <a:srgbClr val="FFFFFF"/>
                  </a:solidFill>
                </a14:hiddenFill>
              </a:ext>
            </a:extLst>
          </p:spPr>
        </p:pic>
        <p:sp>
          <p:nvSpPr>
            <p:cNvPr id="451" name="TextBox 1284">
              <a:extLst>
                <a:ext uri="{FF2B5EF4-FFF2-40B4-BE49-F238E27FC236}">
                  <a16:creationId xmlns:a16="http://schemas.microsoft.com/office/drawing/2014/main" id="{036011A7-1C1D-A090-F007-B4AABD27EA53}"/>
                </a:ext>
              </a:extLst>
            </p:cNvPr>
            <p:cNvSpPr txBox="1"/>
            <p:nvPr/>
          </p:nvSpPr>
          <p:spPr>
            <a:xfrm>
              <a:off x="991912" y="3616023"/>
              <a:ext cx="3720890" cy="261610"/>
            </a:xfrm>
            <a:prstGeom prst="rect">
              <a:avLst/>
            </a:prstGeom>
            <a:noFill/>
          </p:spPr>
          <p:txBody>
            <a:bodyPr wrap="none" rtlCol="0">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r>
                <a:rPr lang="en-US" sz="800" dirty="0"/>
                <a:t>Code          Issues          </a:t>
              </a:r>
              <a:r>
                <a:rPr lang="en-US" sz="1100" b="1" dirty="0"/>
                <a:t>Pull Requests          </a:t>
              </a:r>
              <a:r>
                <a:rPr lang="en-US" sz="800" dirty="0"/>
                <a:t>Actions          Wiki          Security  </a:t>
              </a:r>
            </a:p>
          </p:txBody>
        </p:sp>
        <p:cxnSp>
          <p:nvCxnSpPr>
            <p:cNvPr id="452" name="Straight Connector 451">
              <a:extLst>
                <a:ext uri="{FF2B5EF4-FFF2-40B4-BE49-F238E27FC236}">
                  <a16:creationId xmlns:a16="http://schemas.microsoft.com/office/drawing/2014/main" id="{0D1D067E-2B3F-498E-CF87-8264B11A7601}"/>
                </a:ext>
              </a:extLst>
            </p:cNvPr>
            <p:cNvCxnSpPr>
              <a:cxnSpLocks/>
            </p:cNvCxnSpPr>
            <p:nvPr/>
          </p:nvCxnSpPr>
          <p:spPr>
            <a:xfrm>
              <a:off x="870417" y="3877633"/>
              <a:ext cx="3842385" cy="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53" name="Use headers, colors, and/or backgrounds to separate or group together sections.">
              <a:extLst>
                <a:ext uri="{FF2B5EF4-FFF2-40B4-BE49-F238E27FC236}">
                  <a16:creationId xmlns:a16="http://schemas.microsoft.com/office/drawing/2014/main" id="{716634ED-2D56-1BFE-FD7B-7F7051A543CC}"/>
                </a:ext>
              </a:extLst>
            </p:cNvPr>
            <p:cNvSpPr txBox="1"/>
            <p:nvPr/>
          </p:nvSpPr>
          <p:spPr>
            <a:xfrm>
              <a:off x="1455985" y="3883746"/>
              <a:ext cx="1356960" cy="256245"/>
            </a:xfrm>
            <a:prstGeom prst="rect">
              <a:avLst/>
            </a:prstGeom>
            <a:ln w="12700">
              <a:miter lim="400000"/>
            </a:ln>
            <a:extLst>
              <a:ext uri="{C572A759-6A51-4108-AA02-DFA0A04FC94B}">
                <ma14:wrappingTextBoxFlag xmlns:lc="http://schemas.openxmlformats.org/drawingml/2006/lockedCanvas" xmlns:ma14="http://schemas.microsoft.com/office/mac/drawingml/2011/main" xmlns:a14="http://schemas.microsoft.com/office/drawing/2010/main" xmlns:m="http://schemas.openxmlformats.org/officeDocument/2006/math" xmlns="" val="1"/>
              </a:ext>
            </a:extLst>
          </p:spPr>
          <p:txBody>
            <a:bodyPr wrap="square" lIns="54570" tIns="54570" rIns="54570" bIns="5457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a:lnSpc>
                  <a:spcPct val="90000"/>
                </a:lnSpc>
                <a:buSzPts val="3700"/>
              </a:pPr>
              <a:r>
                <a:rPr lang="en-US" b="0" dirty="0">
                  <a:latin typeface="Source Sans Pro" panose="020B0503030403020204" pitchFamily="34" charset="0"/>
                  <a:ea typeface="Source Sans Pro" panose="020B0503030403020204" pitchFamily="34" charset="0"/>
                  <a:cs typeface="Arial" panose="020B0604020202020204" pitchFamily="34" charset="0"/>
                </a:rPr>
                <a:t>Pull Request #330</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7"/>
              </a:endParaRPr>
            </a:p>
            <a:p>
              <a:pPr lvl="0">
                <a:lnSpc>
                  <a:spcPct val="90000"/>
                </a:lnSpc>
                <a:buSzPts val="3700"/>
              </a:pP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7"/>
              </a:endParaRPr>
            </a:p>
          </p:txBody>
        </p:sp>
        <p:pic>
          <p:nvPicPr>
            <p:cNvPr id="454" name="Google Shape;214;p15">
              <a:extLst>
                <a:ext uri="{FF2B5EF4-FFF2-40B4-BE49-F238E27FC236}">
                  <a16:creationId xmlns:a16="http://schemas.microsoft.com/office/drawing/2014/main" id="{EA3273B9-EC01-578B-4A26-615978B6C48B}"/>
                </a:ext>
              </a:extLst>
            </p:cNvPr>
            <p:cNvPicPr preferRelativeResize="0"/>
            <p:nvPr/>
          </p:nvPicPr>
          <p:blipFill>
            <a:blip r:embed="rId8">
              <a:alphaModFix/>
            </a:blip>
            <a:stretch>
              <a:fillRect/>
            </a:stretch>
          </p:blipFill>
          <p:spPr>
            <a:xfrm>
              <a:off x="914022" y="4784929"/>
              <a:ext cx="476766" cy="456900"/>
            </a:xfrm>
            <a:prstGeom prst="rect">
              <a:avLst/>
            </a:prstGeom>
            <a:noFill/>
            <a:ln>
              <a:noFill/>
            </a:ln>
          </p:spPr>
        </p:pic>
        <p:sp>
          <p:nvSpPr>
            <p:cNvPr id="455" name="Google Shape;216;p15">
              <a:extLst>
                <a:ext uri="{FF2B5EF4-FFF2-40B4-BE49-F238E27FC236}">
                  <a16:creationId xmlns:a16="http://schemas.microsoft.com/office/drawing/2014/main" id="{9462B93F-7D0D-2620-73CF-F64D64CCFFAD}"/>
                </a:ext>
              </a:extLst>
            </p:cNvPr>
            <p:cNvSpPr/>
            <p:nvPr/>
          </p:nvSpPr>
          <p:spPr>
            <a:xfrm>
              <a:off x="1469668" y="4973530"/>
              <a:ext cx="3025431" cy="652091"/>
            </a:xfrm>
            <a:prstGeom prst="rect">
              <a:avLst/>
            </a:prstGeom>
            <a:solidFill>
              <a:schemeClr val="lt1"/>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sp>
          <p:nvSpPr>
            <p:cNvPr id="456" name="Google Shape;215;p15">
              <a:extLst>
                <a:ext uri="{FF2B5EF4-FFF2-40B4-BE49-F238E27FC236}">
                  <a16:creationId xmlns:a16="http://schemas.microsoft.com/office/drawing/2014/main" id="{3C624BAA-AF4C-CD95-10D0-C148F6F1A642}"/>
                </a:ext>
              </a:extLst>
            </p:cNvPr>
            <p:cNvSpPr/>
            <p:nvPr/>
          </p:nvSpPr>
          <p:spPr>
            <a:xfrm>
              <a:off x="1467748" y="4759190"/>
              <a:ext cx="3025431" cy="232375"/>
            </a:xfrm>
            <a:prstGeom prst="rect">
              <a:avLst/>
            </a:prstGeom>
            <a:solidFill>
              <a:schemeClr val="lt2"/>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839" dirty="0"/>
            </a:p>
            <a:p>
              <a:pPr>
                <a:spcBef>
                  <a:spcPts val="0"/>
                </a:spcBef>
              </a:pPr>
              <a:endParaRPr sz="839" dirty="0"/>
            </a:p>
            <a:p>
              <a:pPr>
                <a:spcBef>
                  <a:spcPts val="0"/>
                </a:spcBef>
              </a:pPr>
              <a:r>
                <a:rPr lang="en" sz="839" dirty="0">
                  <a:solidFill>
                    <a:schemeClr val="tx1">
                      <a:lumMod val="50000"/>
                    </a:schemeClr>
                  </a:solidFill>
                </a:rPr>
                <a:t>Codecov </a:t>
              </a:r>
              <a:r>
                <a:rPr lang="en" sz="839" b="0" dirty="0">
                  <a:solidFill>
                    <a:schemeClr val="tx1">
                      <a:lumMod val="50000"/>
                    </a:schemeClr>
                  </a:solidFill>
                </a:rPr>
                <a:t>commented on Mar 27</a:t>
              </a:r>
              <a:endParaRPr sz="839" b="0" dirty="0">
                <a:solidFill>
                  <a:schemeClr val="tx1">
                    <a:lumMod val="50000"/>
                  </a:schemeClr>
                </a:solidFill>
              </a:endParaRPr>
            </a:p>
            <a:p>
              <a:pPr>
                <a:spcBef>
                  <a:spcPts val="0"/>
                </a:spcBef>
              </a:pPr>
              <a:endParaRPr sz="1956" dirty="0"/>
            </a:p>
          </p:txBody>
        </p:sp>
        <p:sp>
          <p:nvSpPr>
            <p:cNvPr id="457" name="Google Shape;217;p15">
              <a:extLst>
                <a:ext uri="{FF2B5EF4-FFF2-40B4-BE49-F238E27FC236}">
                  <a16:creationId xmlns:a16="http://schemas.microsoft.com/office/drawing/2014/main" id="{43E33071-82A2-6972-5E83-F1446222557F}"/>
                </a:ext>
              </a:extLst>
            </p:cNvPr>
            <p:cNvSpPr txBox="1"/>
            <p:nvPr/>
          </p:nvSpPr>
          <p:spPr>
            <a:xfrm>
              <a:off x="1396836" y="4941265"/>
              <a:ext cx="2116583" cy="554125"/>
            </a:xfrm>
            <a:prstGeom prst="rect">
              <a:avLst/>
            </a:prstGeom>
            <a:noFill/>
            <a:ln>
              <a:noFill/>
            </a:ln>
          </p:spPr>
          <p:txBody>
            <a:bodyPr spcFirstLastPara="1" wrap="square" lIns="127722" tIns="127722" rIns="127722" bIns="127722" anchor="t" anchorCtr="0">
              <a:noAutofit/>
            </a:bodyPr>
            <a:lstStyle/>
            <a:p>
              <a:pPr>
                <a:spcBef>
                  <a:spcPts val="0"/>
                </a:spcBef>
              </a:pPr>
              <a:r>
                <a:rPr lang="en" sz="839" dirty="0">
                  <a:solidFill>
                    <a:srgbClr val="1F2328"/>
                  </a:solidFill>
                  <a:highlight>
                    <a:srgbClr val="FFFFFF"/>
                  </a:highlight>
                </a:rPr>
                <a:t>❌ Patch coverage is…</a:t>
              </a:r>
              <a:endParaRPr sz="839" dirty="0">
                <a:solidFill>
                  <a:srgbClr val="1F2328"/>
                </a:solidFill>
                <a:highlight>
                  <a:srgbClr val="FFFFFF"/>
                </a:highlight>
              </a:endParaRPr>
            </a:p>
            <a:p>
              <a:pPr>
                <a:spcBef>
                  <a:spcPts val="0"/>
                </a:spcBef>
              </a:pPr>
              <a:r>
                <a:rPr lang="en" sz="839" dirty="0">
                  <a:solidFill>
                    <a:srgbClr val="1F2328"/>
                  </a:solidFill>
                  <a:highlight>
                    <a:srgbClr val="FFFFFF"/>
                  </a:highlight>
                </a:rPr>
                <a:t>✅ Project coverage is…</a:t>
              </a:r>
              <a:endParaRPr sz="839" dirty="0">
                <a:solidFill>
                  <a:srgbClr val="1F2328"/>
                </a:solidFill>
                <a:highlight>
                  <a:srgbClr val="FFFFFF"/>
                </a:highlight>
              </a:endParaRPr>
            </a:p>
            <a:p>
              <a:pPr>
                <a:spcBef>
                  <a:spcPts val="0"/>
                </a:spcBef>
              </a:pPr>
              <a:r>
                <a:rPr lang="en" sz="839" dirty="0">
                  <a:solidFill>
                    <a:srgbClr val="1F2328"/>
                  </a:solidFill>
                  <a:highlight>
                    <a:srgbClr val="FFFFFF"/>
                  </a:highlight>
                </a:rPr>
                <a:t>⚠️ Report is…</a:t>
              </a:r>
              <a:endParaRPr sz="839" dirty="0">
                <a:solidFill>
                  <a:srgbClr val="1F2328"/>
                </a:solidFill>
                <a:highlight>
                  <a:srgbClr val="FFFFFF"/>
                </a:highlight>
              </a:endParaRPr>
            </a:p>
          </p:txBody>
        </p:sp>
        <p:pic>
          <p:nvPicPr>
            <p:cNvPr id="458" name="Google Shape;227;p15">
              <a:extLst>
                <a:ext uri="{FF2B5EF4-FFF2-40B4-BE49-F238E27FC236}">
                  <a16:creationId xmlns:a16="http://schemas.microsoft.com/office/drawing/2014/main" id="{0F205EBD-454F-5B50-82FA-6C61B57EA183}"/>
                </a:ext>
              </a:extLst>
            </p:cNvPr>
            <p:cNvPicPr preferRelativeResize="0"/>
            <p:nvPr/>
          </p:nvPicPr>
          <p:blipFill>
            <a:blip r:embed="rId9">
              <a:alphaModFix/>
            </a:blip>
            <a:srcRect l="9422" t="6057" r="10362" b="6496"/>
            <a:stretch>
              <a:fillRect/>
            </a:stretch>
          </p:blipFill>
          <p:spPr>
            <a:xfrm>
              <a:off x="991912" y="5826679"/>
              <a:ext cx="382451" cy="379585"/>
            </a:xfrm>
            <a:prstGeom prst="rect">
              <a:avLst/>
            </a:prstGeom>
            <a:noFill/>
            <a:ln>
              <a:noFill/>
            </a:ln>
          </p:spPr>
        </p:pic>
        <p:pic>
          <p:nvPicPr>
            <p:cNvPr id="459" name="Google Shape;206;p15">
              <a:extLst>
                <a:ext uri="{FF2B5EF4-FFF2-40B4-BE49-F238E27FC236}">
                  <a16:creationId xmlns:a16="http://schemas.microsoft.com/office/drawing/2014/main" id="{E1B62A31-BC7C-B28D-391C-D3DFE417F3D6}"/>
                </a:ext>
              </a:extLst>
            </p:cNvPr>
            <p:cNvPicPr preferRelativeResize="0"/>
            <p:nvPr/>
          </p:nvPicPr>
          <p:blipFill rotWithShape="1">
            <a:blip r:embed="rId10">
              <a:alphaModFix/>
            </a:blip>
            <a:srcRect r="56805" b="59527"/>
            <a:stretch/>
          </p:blipFill>
          <p:spPr>
            <a:xfrm>
              <a:off x="1474313" y="8180149"/>
              <a:ext cx="3020786" cy="737988"/>
            </a:xfrm>
            <a:prstGeom prst="rect">
              <a:avLst/>
            </a:prstGeom>
            <a:noFill/>
            <a:ln>
              <a:noFill/>
            </a:ln>
          </p:spPr>
        </p:pic>
        <p:pic>
          <p:nvPicPr>
            <p:cNvPr id="461" name="Google Shape;208;p15">
              <a:extLst>
                <a:ext uri="{FF2B5EF4-FFF2-40B4-BE49-F238E27FC236}">
                  <a16:creationId xmlns:a16="http://schemas.microsoft.com/office/drawing/2014/main" id="{E835CEDA-2B5F-1BCA-66EC-963004E5C784}"/>
                </a:ext>
              </a:extLst>
            </p:cNvPr>
            <p:cNvPicPr preferRelativeResize="0"/>
            <p:nvPr/>
          </p:nvPicPr>
          <p:blipFill rotWithShape="1">
            <a:blip r:embed="rId10">
              <a:alphaModFix/>
            </a:blip>
            <a:srcRect r="51536" b="66346"/>
            <a:stretch/>
          </p:blipFill>
          <p:spPr>
            <a:xfrm>
              <a:off x="1478995" y="6325833"/>
              <a:ext cx="3018340" cy="1245849"/>
            </a:xfrm>
            <a:prstGeom prst="rect">
              <a:avLst/>
            </a:prstGeom>
            <a:noFill/>
            <a:ln>
              <a:noFill/>
            </a:ln>
          </p:spPr>
        </p:pic>
        <p:pic>
          <p:nvPicPr>
            <p:cNvPr id="462" name="Google Shape;226;p15">
              <a:extLst>
                <a:ext uri="{FF2B5EF4-FFF2-40B4-BE49-F238E27FC236}">
                  <a16:creationId xmlns:a16="http://schemas.microsoft.com/office/drawing/2014/main" id="{56E857D1-E689-94F2-94D1-524FA5E7F970}"/>
                </a:ext>
              </a:extLst>
            </p:cNvPr>
            <p:cNvPicPr preferRelativeResize="0"/>
            <p:nvPr/>
          </p:nvPicPr>
          <p:blipFill>
            <a:blip r:embed="rId11">
              <a:alphaModFix/>
            </a:blip>
            <a:stretch>
              <a:fillRect/>
            </a:stretch>
          </p:blipFill>
          <p:spPr>
            <a:xfrm>
              <a:off x="1520465" y="5876512"/>
              <a:ext cx="418118" cy="397419"/>
            </a:xfrm>
            <a:prstGeom prst="rect">
              <a:avLst/>
            </a:prstGeom>
            <a:noFill/>
            <a:ln>
              <a:noFill/>
            </a:ln>
          </p:spPr>
        </p:pic>
        <p:sp>
          <p:nvSpPr>
            <p:cNvPr id="463" name="Google Shape;228;p15">
              <a:extLst>
                <a:ext uri="{FF2B5EF4-FFF2-40B4-BE49-F238E27FC236}">
                  <a16:creationId xmlns:a16="http://schemas.microsoft.com/office/drawing/2014/main" id="{C2CA8A56-2118-36E2-7946-0F1893E153D9}"/>
                </a:ext>
              </a:extLst>
            </p:cNvPr>
            <p:cNvSpPr txBox="1"/>
            <p:nvPr/>
          </p:nvSpPr>
          <p:spPr>
            <a:xfrm>
              <a:off x="1866920" y="5853986"/>
              <a:ext cx="1995583" cy="204417"/>
            </a:xfrm>
            <a:prstGeom prst="rect">
              <a:avLst/>
            </a:prstGeom>
            <a:noFill/>
            <a:ln>
              <a:noFill/>
            </a:ln>
          </p:spPr>
          <p:txBody>
            <a:bodyPr spcFirstLastPara="1" wrap="square" lIns="127722" tIns="127722" rIns="127722" bIns="127722" anchor="t" anchorCtr="0">
              <a:noAutofit/>
            </a:bodyPr>
            <a:lstStyle/>
            <a:p>
              <a:pPr>
                <a:spcBef>
                  <a:spcPts val="0"/>
                </a:spcBef>
              </a:pPr>
              <a:r>
                <a:rPr lang="en" sz="1117" dirty="0">
                  <a:solidFill>
                    <a:schemeClr val="dk1"/>
                  </a:solidFill>
                </a:rPr>
                <a:t>Changes Reviewed</a:t>
              </a:r>
              <a:endParaRPr sz="1117" dirty="0">
                <a:solidFill>
                  <a:schemeClr val="dk1"/>
                </a:solidFill>
              </a:endParaRPr>
            </a:p>
          </p:txBody>
        </p:sp>
        <p:cxnSp>
          <p:nvCxnSpPr>
            <p:cNvPr id="464" name="Google Shape;229;p15">
              <a:extLst>
                <a:ext uri="{FF2B5EF4-FFF2-40B4-BE49-F238E27FC236}">
                  <a16:creationId xmlns:a16="http://schemas.microsoft.com/office/drawing/2014/main" id="{35096524-4349-6FD7-3306-462F6AEB7D8C}"/>
                </a:ext>
              </a:extLst>
            </p:cNvPr>
            <p:cNvCxnSpPr/>
            <p:nvPr/>
          </p:nvCxnSpPr>
          <p:spPr>
            <a:xfrm>
              <a:off x="1467748" y="6324819"/>
              <a:ext cx="3040125" cy="0"/>
            </a:xfrm>
            <a:prstGeom prst="straightConnector1">
              <a:avLst/>
            </a:prstGeom>
            <a:noFill/>
            <a:ln w="8700" cap="flat" cmpd="sng">
              <a:solidFill>
                <a:schemeClr val="dk2"/>
              </a:solidFill>
              <a:prstDash val="solid"/>
              <a:round/>
              <a:headEnd type="none" w="med" len="med"/>
              <a:tailEnd type="none" w="med" len="med"/>
            </a:ln>
          </p:spPr>
        </p:cxnSp>
        <p:pic>
          <p:nvPicPr>
            <p:cNvPr id="465" name="Google Shape;230;p15">
              <a:extLst>
                <a:ext uri="{FF2B5EF4-FFF2-40B4-BE49-F238E27FC236}">
                  <a16:creationId xmlns:a16="http://schemas.microsoft.com/office/drawing/2014/main" id="{F1B30110-998E-08BC-30FE-851DE05B24C4}"/>
                </a:ext>
              </a:extLst>
            </p:cNvPr>
            <p:cNvPicPr preferRelativeResize="0"/>
            <p:nvPr/>
          </p:nvPicPr>
          <p:blipFill>
            <a:blip r:embed="rId12">
              <a:alphaModFix/>
            </a:blip>
            <a:stretch>
              <a:fillRect/>
            </a:stretch>
          </p:blipFill>
          <p:spPr>
            <a:xfrm>
              <a:off x="1576377" y="6953035"/>
              <a:ext cx="233220" cy="273781"/>
            </a:xfrm>
            <a:prstGeom prst="rect">
              <a:avLst/>
            </a:prstGeom>
            <a:noFill/>
            <a:ln>
              <a:noFill/>
            </a:ln>
          </p:spPr>
        </p:pic>
        <p:pic>
          <p:nvPicPr>
            <p:cNvPr id="466" name="Google Shape;231;p15">
              <a:extLst>
                <a:ext uri="{FF2B5EF4-FFF2-40B4-BE49-F238E27FC236}">
                  <a16:creationId xmlns:a16="http://schemas.microsoft.com/office/drawing/2014/main" id="{D61768C8-8ACE-82FC-4015-D95163D4E174}"/>
                </a:ext>
              </a:extLst>
            </p:cNvPr>
            <p:cNvPicPr preferRelativeResize="0"/>
            <p:nvPr/>
          </p:nvPicPr>
          <p:blipFill>
            <a:blip r:embed="rId10">
              <a:alphaModFix/>
            </a:blip>
            <a:stretch>
              <a:fillRect/>
            </a:stretch>
          </p:blipFill>
          <p:spPr>
            <a:xfrm>
              <a:off x="1530785" y="6396970"/>
              <a:ext cx="288926" cy="211878"/>
            </a:xfrm>
            <a:prstGeom prst="rect">
              <a:avLst/>
            </a:prstGeom>
            <a:noFill/>
            <a:ln>
              <a:noFill/>
            </a:ln>
          </p:spPr>
        </p:pic>
        <p:pic>
          <p:nvPicPr>
            <p:cNvPr id="467" name="Google Shape;232;p15">
              <a:extLst>
                <a:ext uri="{FF2B5EF4-FFF2-40B4-BE49-F238E27FC236}">
                  <a16:creationId xmlns:a16="http://schemas.microsoft.com/office/drawing/2014/main" id="{32B57E4B-4987-54AC-F163-3D2660E190EA}"/>
                </a:ext>
              </a:extLst>
            </p:cNvPr>
            <p:cNvPicPr preferRelativeResize="0"/>
            <p:nvPr/>
          </p:nvPicPr>
          <p:blipFill>
            <a:blip r:embed="rId13">
              <a:alphaModFix/>
            </a:blip>
            <a:stretch>
              <a:fillRect/>
            </a:stretch>
          </p:blipFill>
          <p:spPr>
            <a:xfrm>
              <a:off x="1523888" y="6653098"/>
              <a:ext cx="275348" cy="232624"/>
            </a:xfrm>
            <a:prstGeom prst="rect">
              <a:avLst/>
            </a:prstGeom>
            <a:noFill/>
            <a:ln>
              <a:noFill/>
            </a:ln>
          </p:spPr>
        </p:pic>
        <p:sp>
          <p:nvSpPr>
            <p:cNvPr id="469" name="Google Shape;234;p15">
              <a:extLst>
                <a:ext uri="{FF2B5EF4-FFF2-40B4-BE49-F238E27FC236}">
                  <a16:creationId xmlns:a16="http://schemas.microsoft.com/office/drawing/2014/main" id="{2CC50921-DC30-17D6-AA71-AA70121A6213}"/>
                </a:ext>
              </a:extLst>
            </p:cNvPr>
            <p:cNvSpPr/>
            <p:nvPr/>
          </p:nvSpPr>
          <p:spPr>
            <a:xfrm>
              <a:off x="1629407" y="8282439"/>
              <a:ext cx="2788500" cy="232375"/>
            </a:xfrm>
            <a:prstGeom prst="rect">
              <a:avLst/>
            </a:prstGeom>
            <a:noFill/>
            <a:ln>
              <a:noFill/>
            </a:ln>
          </p:spPr>
          <p:txBody>
            <a:bodyPr spcFirstLastPara="1" wrap="square" lIns="127722" tIns="127722" rIns="127722" bIns="127722" anchor="ctr" anchorCtr="0">
              <a:noAutofit/>
            </a:bodyPr>
            <a:lstStyle/>
            <a:p>
              <a:pPr>
                <a:spcBef>
                  <a:spcPts val="0"/>
                </a:spcBef>
                <a:buClr>
                  <a:schemeClr val="dk1"/>
                </a:buClr>
                <a:buSzPts val="1006"/>
              </a:pPr>
              <a:r>
                <a:rPr lang="en" sz="839" dirty="0">
                  <a:solidFill>
                    <a:schemeClr val="dk1"/>
                  </a:solidFill>
                </a:rPr>
                <a:t>   </a:t>
              </a:r>
              <a:r>
                <a:rPr lang="en" sz="839" dirty="0">
                  <a:solidFill>
                    <a:srgbClr val="1F2328"/>
                  </a:solidFill>
                </a:rPr>
                <a:t>           test-coverage/test-coverage(4.4)</a:t>
              </a:r>
              <a:endParaRPr sz="1956" dirty="0"/>
            </a:p>
          </p:txBody>
        </p:sp>
        <p:sp>
          <p:nvSpPr>
            <p:cNvPr id="470" name="Google Shape;235;p15">
              <a:extLst>
                <a:ext uri="{FF2B5EF4-FFF2-40B4-BE49-F238E27FC236}">
                  <a16:creationId xmlns:a16="http://schemas.microsoft.com/office/drawing/2014/main" id="{E3A8E6DA-B768-8D10-0EF9-13BD928B24C2}"/>
                </a:ext>
              </a:extLst>
            </p:cNvPr>
            <p:cNvSpPr/>
            <p:nvPr/>
          </p:nvSpPr>
          <p:spPr>
            <a:xfrm>
              <a:off x="1629374" y="8621717"/>
              <a:ext cx="2788500" cy="232375"/>
            </a:xfrm>
            <a:prstGeom prst="rect">
              <a:avLst/>
            </a:prstGeom>
            <a:noFill/>
            <a:ln>
              <a:noFill/>
            </a:ln>
          </p:spPr>
          <p:txBody>
            <a:bodyPr spcFirstLastPara="1" wrap="square" lIns="127722" tIns="127722" rIns="127722" bIns="127722" anchor="ctr" anchorCtr="0">
              <a:noAutofit/>
            </a:bodyPr>
            <a:lstStyle/>
            <a:p>
              <a:pPr>
                <a:spcBef>
                  <a:spcPts val="0"/>
                </a:spcBef>
              </a:pPr>
              <a:r>
                <a:rPr lang="en" sz="839"/>
                <a:t>              R-CMD-check</a:t>
              </a:r>
              <a:endParaRPr sz="839"/>
            </a:p>
          </p:txBody>
        </p:sp>
        <p:sp>
          <p:nvSpPr>
            <p:cNvPr id="471" name="Google Shape;236;p15">
              <a:extLst>
                <a:ext uri="{FF2B5EF4-FFF2-40B4-BE49-F238E27FC236}">
                  <a16:creationId xmlns:a16="http://schemas.microsoft.com/office/drawing/2014/main" id="{EB9C2F35-99CC-21B6-B313-AAFDD74B8053}"/>
                </a:ext>
              </a:extLst>
            </p:cNvPr>
            <p:cNvSpPr/>
            <p:nvPr/>
          </p:nvSpPr>
          <p:spPr>
            <a:xfrm>
              <a:off x="1830220" y="8318797"/>
              <a:ext cx="165458" cy="16270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bg2">
                    <a:lumMod val="10000"/>
                  </a:schemeClr>
                </a:solidFill>
              </a:endParaRPr>
            </a:p>
          </p:txBody>
        </p:sp>
        <p:sp>
          <p:nvSpPr>
            <p:cNvPr id="472" name="Google Shape;237;p15">
              <a:extLst>
                <a:ext uri="{FF2B5EF4-FFF2-40B4-BE49-F238E27FC236}">
                  <a16:creationId xmlns:a16="http://schemas.microsoft.com/office/drawing/2014/main" id="{9EDED0D4-B304-16E6-9526-FE254E200E63}"/>
                </a:ext>
              </a:extLst>
            </p:cNvPr>
            <p:cNvSpPr txBox="1"/>
            <p:nvPr/>
          </p:nvSpPr>
          <p:spPr>
            <a:xfrm>
              <a:off x="1729524" y="8229908"/>
              <a:ext cx="416167" cy="232375"/>
            </a:xfrm>
            <a:prstGeom prst="rect">
              <a:avLst/>
            </a:prstGeom>
            <a:noFill/>
            <a:ln>
              <a:noFill/>
            </a:ln>
          </p:spPr>
          <p:txBody>
            <a:bodyPr spcFirstLastPara="1" wrap="square" lIns="127722" tIns="127722" rIns="127722" bIns="127722" anchor="t" anchorCtr="0">
              <a:noAutofit/>
            </a:bodyPr>
            <a:lstStyle/>
            <a:p>
              <a:pPr>
                <a:spcBef>
                  <a:spcPts val="0"/>
                </a:spcBef>
              </a:pPr>
              <a:r>
                <a:rPr lang="en" sz="698" dirty="0">
                  <a:solidFill>
                    <a:schemeClr val="lt1"/>
                  </a:solidFill>
                </a:rPr>
                <a:t>GH</a:t>
              </a:r>
              <a:endParaRPr sz="698" dirty="0">
                <a:solidFill>
                  <a:schemeClr val="lt1"/>
                </a:solidFill>
              </a:endParaRPr>
            </a:p>
          </p:txBody>
        </p:sp>
        <p:sp>
          <p:nvSpPr>
            <p:cNvPr id="473" name="Google Shape;238;p15">
              <a:extLst>
                <a:ext uri="{FF2B5EF4-FFF2-40B4-BE49-F238E27FC236}">
                  <a16:creationId xmlns:a16="http://schemas.microsoft.com/office/drawing/2014/main" id="{3ABC89FF-54BA-B128-0542-FCCBA2D95D12}"/>
                </a:ext>
              </a:extLst>
            </p:cNvPr>
            <p:cNvSpPr/>
            <p:nvPr/>
          </p:nvSpPr>
          <p:spPr>
            <a:xfrm>
              <a:off x="1835613" y="8653245"/>
              <a:ext cx="165458" cy="16270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474" name="Google Shape;239;p15">
              <a:extLst>
                <a:ext uri="{FF2B5EF4-FFF2-40B4-BE49-F238E27FC236}">
                  <a16:creationId xmlns:a16="http://schemas.microsoft.com/office/drawing/2014/main" id="{5A496C0D-BF5C-9899-8304-F6D9732416AC}"/>
                </a:ext>
              </a:extLst>
            </p:cNvPr>
            <p:cNvSpPr txBox="1"/>
            <p:nvPr/>
          </p:nvSpPr>
          <p:spPr>
            <a:xfrm>
              <a:off x="1730499" y="8555049"/>
              <a:ext cx="416167" cy="232375"/>
            </a:xfrm>
            <a:prstGeom prst="rect">
              <a:avLst/>
            </a:prstGeom>
            <a:noFill/>
            <a:ln>
              <a:noFill/>
            </a:ln>
          </p:spPr>
          <p:txBody>
            <a:bodyPr spcFirstLastPara="1" wrap="square" lIns="127722" tIns="127722" rIns="127722" bIns="127722" anchor="t" anchorCtr="0">
              <a:noAutofit/>
            </a:bodyPr>
            <a:lstStyle/>
            <a:p>
              <a:pPr>
                <a:spcBef>
                  <a:spcPts val="0"/>
                </a:spcBef>
              </a:pPr>
              <a:r>
                <a:rPr lang="en" sz="698" dirty="0">
                  <a:solidFill>
                    <a:schemeClr val="lt1"/>
                  </a:solidFill>
                </a:rPr>
                <a:t>GH</a:t>
              </a:r>
              <a:endParaRPr sz="698" dirty="0">
                <a:solidFill>
                  <a:schemeClr val="lt1"/>
                </a:solidFill>
              </a:endParaRPr>
            </a:p>
          </p:txBody>
        </p:sp>
        <p:sp>
          <p:nvSpPr>
            <p:cNvPr id="475" name="Google Shape;240;p15">
              <a:extLst>
                <a:ext uri="{FF2B5EF4-FFF2-40B4-BE49-F238E27FC236}">
                  <a16:creationId xmlns:a16="http://schemas.microsoft.com/office/drawing/2014/main" id="{54CD17AB-090B-C267-14FE-625270E59C57}"/>
                </a:ext>
              </a:extLst>
            </p:cNvPr>
            <p:cNvSpPr txBox="1"/>
            <p:nvPr/>
          </p:nvSpPr>
          <p:spPr>
            <a:xfrm>
              <a:off x="1694050" y="6325762"/>
              <a:ext cx="970292"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a:solidFill>
                    <a:srgbClr val="999999"/>
                  </a:solidFill>
                </a:rPr>
                <a:t>1 approval</a:t>
              </a:r>
              <a:endParaRPr sz="978">
                <a:solidFill>
                  <a:srgbClr val="999999"/>
                </a:solidFill>
              </a:endParaRPr>
            </a:p>
            <a:p>
              <a:pPr>
                <a:spcBef>
                  <a:spcPts val="0"/>
                </a:spcBef>
              </a:pPr>
              <a:endParaRPr sz="978">
                <a:solidFill>
                  <a:srgbClr val="999999"/>
                </a:solidFill>
              </a:endParaRPr>
            </a:p>
            <a:p>
              <a:pPr>
                <a:spcBef>
                  <a:spcPts val="0"/>
                </a:spcBef>
              </a:pPr>
              <a:r>
                <a:rPr lang="en" sz="978">
                  <a:solidFill>
                    <a:srgbClr val="999999"/>
                  </a:solidFill>
                </a:rPr>
                <a:t> </a:t>
              </a:r>
              <a:endParaRPr sz="978">
                <a:solidFill>
                  <a:srgbClr val="999999"/>
                </a:solidFill>
              </a:endParaRPr>
            </a:p>
          </p:txBody>
        </p:sp>
        <p:sp>
          <p:nvSpPr>
            <p:cNvPr id="476" name="Google Shape;241;p15">
              <a:extLst>
                <a:ext uri="{FF2B5EF4-FFF2-40B4-BE49-F238E27FC236}">
                  <a16:creationId xmlns:a16="http://schemas.microsoft.com/office/drawing/2014/main" id="{EF8DC859-2845-2EF8-53A9-2478AB42DF5B}"/>
                </a:ext>
              </a:extLst>
            </p:cNvPr>
            <p:cNvSpPr txBox="1"/>
            <p:nvPr/>
          </p:nvSpPr>
          <p:spPr>
            <a:xfrm>
              <a:off x="1707043" y="6907723"/>
              <a:ext cx="1532667"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a:solidFill>
                    <a:srgbClr val="999999"/>
                  </a:solidFill>
                </a:rPr>
                <a:t>1 requested change</a:t>
              </a:r>
              <a:endParaRPr sz="978">
                <a:solidFill>
                  <a:srgbClr val="999999"/>
                </a:solidFill>
              </a:endParaRPr>
            </a:p>
          </p:txBody>
        </p:sp>
        <p:sp>
          <p:nvSpPr>
            <p:cNvPr id="477" name="Google Shape;242;p15">
              <a:extLst>
                <a:ext uri="{FF2B5EF4-FFF2-40B4-BE49-F238E27FC236}">
                  <a16:creationId xmlns:a16="http://schemas.microsoft.com/office/drawing/2014/main" id="{130D214A-BFB4-3C79-CA9F-10A329FD4469}"/>
                </a:ext>
              </a:extLst>
            </p:cNvPr>
            <p:cNvSpPr txBox="1"/>
            <p:nvPr/>
          </p:nvSpPr>
          <p:spPr>
            <a:xfrm>
              <a:off x="1705960" y="6587163"/>
              <a:ext cx="2640000"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dirty="0">
                  <a:solidFill>
                    <a:schemeClr val="dk1"/>
                  </a:solidFill>
                </a:rPr>
                <a:t>Quality Reviewer    </a:t>
              </a:r>
              <a:r>
                <a:rPr lang="en" sz="839" dirty="0">
                  <a:solidFill>
                    <a:schemeClr val="dk1"/>
                  </a:solidFill>
                </a:rPr>
                <a:t> </a:t>
              </a:r>
              <a:r>
                <a:rPr lang="en" sz="839" dirty="0">
                  <a:solidFill>
                    <a:srgbClr val="999999"/>
                  </a:solidFill>
                </a:rPr>
                <a:t> Approved these changes</a:t>
              </a:r>
              <a:endParaRPr sz="839" dirty="0">
                <a:solidFill>
                  <a:srgbClr val="999999"/>
                </a:solidFill>
              </a:endParaRPr>
            </a:p>
            <a:p>
              <a:pPr>
                <a:spcBef>
                  <a:spcPts val="0"/>
                </a:spcBef>
              </a:pPr>
              <a:endParaRPr sz="978" dirty="0">
                <a:solidFill>
                  <a:srgbClr val="999999"/>
                </a:solidFill>
              </a:endParaRPr>
            </a:p>
            <a:p>
              <a:pPr>
                <a:spcBef>
                  <a:spcPts val="0"/>
                </a:spcBef>
              </a:pPr>
              <a:r>
                <a:rPr lang="en" sz="978" dirty="0">
                  <a:solidFill>
                    <a:srgbClr val="999999"/>
                  </a:solidFill>
                </a:rPr>
                <a:t> </a:t>
              </a:r>
              <a:endParaRPr sz="978" dirty="0">
                <a:solidFill>
                  <a:srgbClr val="999999"/>
                </a:solidFill>
              </a:endParaRPr>
            </a:p>
          </p:txBody>
        </p:sp>
        <p:pic>
          <p:nvPicPr>
            <p:cNvPr id="478" name="Google Shape;243;p15">
              <a:extLst>
                <a:ext uri="{FF2B5EF4-FFF2-40B4-BE49-F238E27FC236}">
                  <a16:creationId xmlns:a16="http://schemas.microsoft.com/office/drawing/2014/main" id="{6CCB742A-16F1-E2A9-FE03-1660F8DA9CC5}"/>
                </a:ext>
              </a:extLst>
            </p:cNvPr>
            <p:cNvPicPr preferRelativeResize="0"/>
            <p:nvPr/>
          </p:nvPicPr>
          <p:blipFill>
            <a:blip r:embed="rId13">
              <a:alphaModFix/>
            </a:blip>
            <a:stretch>
              <a:fillRect/>
            </a:stretch>
          </p:blipFill>
          <p:spPr>
            <a:xfrm>
              <a:off x="1535831" y="7247141"/>
              <a:ext cx="275348" cy="232624"/>
            </a:xfrm>
            <a:prstGeom prst="rect">
              <a:avLst/>
            </a:prstGeom>
            <a:noFill/>
            <a:ln>
              <a:noFill/>
            </a:ln>
          </p:spPr>
        </p:pic>
        <p:sp>
          <p:nvSpPr>
            <p:cNvPr id="479" name="Google Shape;244;p15">
              <a:extLst>
                <a:ext uri="{FF2B5EF4-FFF2-40B4-BE49-F238E27FC236}">
                  <a16:creationId xmlns:a16="http://schemas.microsoft.com/office/drawing/2014/main" id="{23BF72CA-1658-8D7A-1295-A3F84E82F5F6}"/>
                </a:ext>
              </a:extLst>
            </p:cNvPr>
            <p:cNvSpPr txBox="1"/>
            <p:nvPr/>
          </p:nvSpPr>
          <p:spPr>
            <a:xfrm>
              <a:off x="1703969" y="7146562"/>
              <a:ext cx="2640000"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dirty="0">
                  <a:solidFill>
                    <a:schemeClr val="dk1"/>
                  </a:solidFill>
                </a:rPr>
                <a:t>Code Architect    </a:t>
              </a:r>
              <a:r>
                <a:rPr lang="en" sz="839" dirty="0">
                  <a:solidFill>
                    <a:schemeClr val="dk1"/>
                  </a:solidFill>
                </a:rPr>
                <a:t> </a:t>
              </a:r>
              <a:r>
                <a:rPr lang="en" sz="839" dirty="0">
                  <a:solidFill>
                    <a:srgbClr val="999999"/>
                  </a:solidFill>
                </a:rPr>
                <a:t>     Requested changes</a:t>
              </a:r>
              <a:endParaRPr sz="839" dirty="0">
                <a:solidFill>
                  <a:srgbClr val="999999"/>
                </a:solidFill>
              </a:endParaRPr>
            </a:p>
            <a:p>
              <a:pPr>
                <a:spcBef>
                  <a:spcPts val="0"/>
                </a:spcBef>
              </a:pPr>
              <a:endParaRPr sz="978" dirty="0">
                <a:solidFill>
                  <a:srgbClr val="999999"/>
                </a:solidFill>
              </a:endParaRPr>
            </a:p>
            <a:p>
              <a:pPr>
                <a:spcBef>
                  <a:spcPts val="0"/>
                </a:spcBef>
              </a:pPr>
              <a:r>
                <a:rPr lang="en" sz="978" dirty="0">
                  <a:solidFill>
                    <a:srgbClr val="999999"/>
                  </a:solidFill>
                </a:rPr>
                <a:t> </a:t>
              </a:r>
              <a:endParaRPr sz="978" dirty="0">
                <a:solidFill>
                  <a:srgbClr val="999999"/>
                </a:solidFill>
              </a:endParaRPr>
            </a:p>
          </p:txBody>
        </p:sp>
        <p:cxnSp>
          <p:nvCxnSpPr>
            <p:cNvPr id="480" name="Google Shape;245;p15">
              <a:extLst>
                <a:ext uri="{FF2B5EF4-FFF2-40B4-BE49-F238E27FC236}">
                  <a16:creationId xmlns:a16="http://schemas.microsoft.com/office/drawing/2014/main" id="{92F06079-8B2D-7F68-579C-611DC577DDAA}"/>
                </a:ext>
              </a:extLst>
            </p:cNvPr>
            <p:cNvCxnSpPr/>
            <p:nvPr/>
          </p:nvCxnSpPr>
          <p:spPr>
            <a:xfrm>
              <a:off x="1477667" y="7575104"/>
              <a:ext cx="3040125" cy="0"/>
            </a:xfrm>
            <a:prstGeom prst="straightConnector1">
              <a:avLst/>
            </a:prstGeom>
            <a:noFill/>
            <a:ln w="8700" cap="flat" cmpd="sng">
              <a:solidFill>
                <a:schemeClr val="dk2"/>
              </a:solidFill>
              <a:prstDash val="solid"/>
              <a:round/>
              <a:headEnd type="none" w="med" len="med"/>
              <a:tailEnd type="none" w="med" len="med"/>
            </a:ln>
          </p:spPr>
        </p:cxnSp>
        <p:pic>
          <p:nvPicPr>
            <p:cNvPr id="482" name="Google Shape;246;p15">
              <a:extLst>
                <a:ext uri="{FF2B5EF4-FFF2-40B4-BE49-F238E27FC236}">
                  <a16:creationId xmlns:a16="http://schemas.microsoft.com/office/drawing/2014/main" id="{D8F159A3-E5FD-6745-84E1-C66DE8B8D38D}"/>
                </a:ext>
              </a:extLst>
            </p:cNvPr>
            <p:cNvPicPr preferRelativeResize="0"/>
            <p:nvPr/>
          </p:nvPicPr>
          <p:blipFill>
            <a:blip r:embed="rId10">
              <a:alphaModFix/>
            </a:blip>
            <a:stretch>
              <a:fillRect/>
            </a:stretch>
          </p:blipFill>
          <p:spPr>
            <a:xfrm>
              <a:off x="1529318" y="8636978"/>
              <a:ext cx="288926" cy="211878"/>
            </a:xfrm>
            <a:prstGeom prst="rect">
              <a:avLst/>
            </a:prstGeom>
            <a:noFill/>
            <a:ln>
              <a:noFill/>
            </a:ln>
          </p:spPr>
        </p:pic>
        <p:cxnSp>
          <p:nvCxnSpPr>
            <p:cNvPr id="484" name="Google Shape;247;p15">
              <a:extLst>
                <a:ext uri="{FF2B5EF4-FFF2-40B4-BE49-F238E27FC236}">
                  <a16:creationId xmlns:a16="http://schemas.microsoft.com/office/drawing/2014/main" id="{E21423AD-0A18-B4B1-D6C4-415DBC66A165}"/>
                </a:ext>
              </a:extLst>
            </p:cNvPr>
            <p:cNvCxnSpPr/>
            <p:nvPr/>
          </p:nvCxnSpPr>
          <p:spPr>
            <a:xfrm>
              <a:off x="1458389" y="8163071"/>
              <a:ext cx="3040125" cy="0"/>
            </a:xfrm>
            <a:prstGeom prst="straightConnector1">
              <a:avLst/>
            </a:prstGeom>
            <a:noFill/>
            <a:ln w="8700" cap="flat" cmpd="sng">
              <a:solidFill>
                <a:schemeClr val="dk2"/>
              </a:solidFill>
              <a:prstDash val="solid"/>
              <a:round/>
              <a:headEnd type="none" w="med" len="med"/>
              <a:tailEnd type="none" w="med" len="med"/>
            </a:ln>
          </p:spPr>
        </p:cxnSp>
        <p:pic>
          <p:nvPicPr>
            <p:cNvPr id="485" name="Google Shape;248;p15" title="download.png">
              <a:extLst>
                <a:ext uri="{FF2B5EF4-FFF2-40B4-BE49-F238E27FC236}">
                  <a16:creationId xmlns:a16="http://schemas.microsoft.com/office/drawing/2014/main" id="{3D87ED46-82F0-67AB-EDDC-01633AD64FE7}"/>
                </a:ext>
              </a:extLst>
            </p:cNvPr>
            <p:cNvPicPr preferRelativeResize="0"/>
            <p:nvPr/>
          </p:nvPicPr>
          <p:blipFill>
            <a:blip r:embed="rId14">
              <a:alphaModFix/>
            </a:blip>
            <a:stretch>
              <a:fillRect/>
            </a:stretch>
          </p:blipFill>
          <p:spPr>
            <a:xfrm>
              <a:off x="1524726" y="8948407"/>
              <a:ext cx="344920" cy="344920"/>
            </a:xfrm>
            <a:prstGeom prst="rect">
              <a:avLst/>
            </a:prstGeom>
            <a:noFill/>
            <a:ln>
              <a:noFill/>
            </a:ln>
          </p:spPr>
        </p:pic>
        <p:sp>
          <p:nvSpPr>
            <p:cNvPr id="488" name="Google Shape;249;p15">
              <a:extLst>
                <a:ext uri="{FF2B5EF4-FFF2-40B4-BE49-F238E27FC236}">
                  <a16:creationId xmlns:a16="http://schemas.microsoft.com/office/drawing/2014/main" id="{81516506-25BB-9F14-20FE-B13842AD6027}"/>
                </a:ext>
              </a:extLst>
            </p:cNvPr>
            <p:cNvSpPr txBox="1"/>
            <p:nvPr/>
          </p:nvSpPr>
          <p:spPr>
            <a:xfrm>
              <a:off x="1798191" y="8820046"/>
              <a:ext cx="1821875" cy="348333"/>
            </a:xfrm>
            <a:prstGeom prst="rect">
              <a:avLst/>
            </a:prstGeom>
            <a:noFill/>
            <a:ln>
              <a:noFill/>
            </a:ln>
          </p:spPr>
          <p:txBody>
            <a:bodyPr spcFirstLastPara="1" wrap="square" lIns="127722" tIns="127722" rIns="127722" bIns="127722" anchor="t" anchorCtr="0">
              <a:noAutofit/>
            </a:bodyPr>
            <a:lstStyle/>
            <a:p>
              <a:pPr>
                <a:spcBef>
                  <a:spcPts val="0"/>
                </a:spcBef>
              </a:pPr>
              <a:r>
                <a:rPr lang="en" sz="1257">
                  <a:solidFill>
                    <a:schemeClr val="dk1"/>
                  </a:solidFill>
                </a:rPr>
                <a:t>No conflicts with base branch</a:t>
              </a:r>
              <a:endParaRPr sz="1257">
                <a:solidFill>
                  <a:schemeClr val="dk1"/>
                </a:solidFill>
              </a:endParaRPr>
            </a:p>
            <a:p>
              <a:pPr>
                <a:spcBef>
                  <a:spcPts val="0"/>
                </a:spcBef>
              </a:pPr>
              <a:endParaRPr sz="1257">
                <a:solidFill>
                  <a:schemeClr val="dk1"/>
                </a:solidFill>
              </a:endParaRPr>
            </a:p>
          </p:txBody>
        </p:sp>
        <p:cxnSp>
          <p:nvCxnSpPr>
            <p:cNvPr id="489" name="Google Shape;250;p15">
              <a:extLst>
                <a:ext uri="{FF2B5EF4-FFF2-40B4-BE49-F238E27FC236}">
                  <a16:creationId xmlns:a16="http://schemas.microsoft.com/office/drawing/2014/main" id="{B0729A1D-B4B7-82B1-5BF8-5B4ADC4BBEB4}"/>
                </a:ext>
              </a:extLst>
            </p:cNvPr>
            <p:cNvCxnSpPr/>
            <p:nvPr/>
          </p:nvCxnSpPr>
          <p:spPr>
            <a:xfrm>
              <a:off x="1474802" y="8902850"/>
              <a:ext cx="3040125" cy="0"/>
            </a:xfrm>
            <a:prstGeom prst="straightConnector1">
              <a:avLst/>
            </a:prstGeom>
            <a:noFill/>
            <a:ln w="8700" cap="flat" cmpd="sng">
              <a:solidFill>
                <a:schemeClr val="dk2"/>
              </a:solidFill>
              <a:prstDash val="solid"/>
              <a:round/>
              <a:headEnd type="none" w="med" len="med"/>
              <a:tailEnd type="none" w="med" len="med"/>
            </a:ln>
          </p:spPr>
        </p:cxnSp>
        <p:sp>
          <p:nvSpPr>
            <p:cNvPr id="492" name="Google Shape;216;p15">
              <a:extLst>
                <a:ext uri="{FF2B5EF4-FFF2-40B4-BE49-F238E27FC236}">
                  <a16:creationId xmlns:a16="http://schemas.microsoft.com/office/drawing/2014/main" id="{71B734AD-C151-9DDC-3E3D-2CA0ED3184D8}"/>
                </a:ext>
              </a:extLst>
            </p:cNvPr>
            <p:cNvSpPr/>
            <p:nvPr/>
          </p:nvSpPr>
          <p:spPr>
            <a:xfrm>
              <a:off x="1466614" y="5802822"/>
              <a:ext cx="3030718" cy="3579582"/>
            </a:xfrm>
            <a:prstGeom prst="rect">
              <a:avLst/>
            </a:prstGeom>
            <a:no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grpSp>
      <p:sp>
        <p:nvSpPr>
          <p:cNvPr id="62" name="Google Shape;215;p15">
            <a:extLst>
              <a:ext uri="{FF2B5EF4-FFF2-40B4-BE49-F238E27FC236}">
                <a16:creationId xmlns:a16="http://schemas.microsoft.com/office/drawing/2014/main" id="{E42728EF-C4F2-97D9-DAC2-E5A973A2ED32}"/>
              </a:ext>
            </a:extLst>
          </p:cNvPr>
          <p:cNvSpPr/>
          <p:nvPr/>
        </p:nvSpPr>
        <p:spPr>
          <a:xfrm>
            <a:off x="10152799" y="4409250"/>
            <a:ext cx="3024222" cy="232375"/>
          </a:xfrm>
          <a:prstGeom prst="rect">
            <a:avLst/>
          </a:prstGeom>
          <a:solidFill>
            <a:schemeClr val="lt2"/>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839" dirty="0"/>
          </a:p>
          <a:p>
            <a:pPr>
              <a:spcBef>
                <a:spcPts val="0"/>
              </a:spcBef>
            </a:pPr>
            <a:endParaRPr sz="839" dirty="0"/>
          </a:p>
          <a:p>
            <a:pPr>
              <a:spcBef>
                <a:spcPts val="0"/>
              </a:spcBef>
            </a:pPr>
            <a:r>
              <a:rPr lang="en" sz="839" dirty="0">
                <a:solidFill>
                  <a:schemeClr val="tx1">
                    <a:lumMod val="50000"/>
                  </a:schemeClr>
                </a:solidFill>
              </a:rPr>
              <a:t>Username </a:t>
            </a:r>
            <a:r>
              <a:rPr lang="en" sz="839" b="0" dirty="0">
                <a:solidFill>
                  <a:schemeClr val="tx1">
                    <a:lumMod val="50000"/>
                  </a:schemeClr>
                </a:solidFill>
              </a:rPr>
              <a:t>commented on Mar 15</a:t>
            </a:r>
            <a:endParaRPr sz="839" b="0" dirty="0">
              <a:solidFill>
                <a:schemeClr val="tx1">
                  <a:lumMod val="50000"/>
                </a:schemeClr>
              </a:solidFill>
            </a:endParaRPr>
          </a:p>
          <a:p>
            <a:pPr>
              <a:spcBef>
                <a:spcPts val="0"/>
              </a:spcBef>
            </a:pPr>
            <a:endParaRPr sz="1956" dirty="0"/>
          </a:p>
        </p:txBody>
      </p:sp>
      <p:sp>
        <p:nvSpPr>
          <p:cNvPr id="63" name="Google Shape;216;p15">
            <a:extLst>
              <a:ext uri="{FF2B5EF4-FFF2-40B4-BE49-F238E27FC236}">
                <a16:creationId xmlns:a16="http://schemas.microsoft.com/office/drawing/2014/main" id="{2F2A5C98-05F7-F72E-2DE5-7019C7A31CDC}"/>
              </a:ext>
            </a:extLst>
          </p:cNvPr>
          <p:cNvSpPr/>
          <p:nvPr/>
        </p:nvSpPr>
        <p:spPr>
          <a:xfrm>
            <a:off x="10152799" y="4641625"/>
            <a:ext cx="3024222" cy="227593"/>
          </a:xfrm>
          <a:prstGeom prst="rect">
            <a:avLst/>
          </a:prstGeom>
          <a:solidFill>
            <a:schemeClr val="lt1"/>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sp>
        <p:nvSpPr>
          <p:cNvPr id="448" name="TextBox 447">
            <a:extLst>
              <a:ext uri="{FF2B5EF4-FFF2-40B4-BE49-F238E27FC236}">
                <a16:creationId xmlns:a16="http://schemas.microsoft.com/office/drawing/2014/main" id="{6DA8678B-7C66-8CB6-06F7-F945E9FB4D52}"/>
              </a:ext>
            </a:extLst>
          </p:cNvPr>
          <p:cNvSpPr txBox="1"/>
          <p:nvPr/>
        </p:nvSpPr>
        <p:spPr>
          <a:xfrm>
            <a:off x="10177672" y="4576663"/>
            <a:ext cx="40900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rPr>
              <a:t>…</a:t>
            </a:r>
          </a:p>
        </p:txBody>
      </p:sp>
      <p:sp>
        <p:nvSpPr>
          <p:cNvPr id="499" name="Use headers, colors, and/or backgrounds to separate or group together sections.">
            <a:extLst>
              <a:ext uri="{FF2B5EF4-FFF2-40B4-BE49-F238E27FC236}">
                <a16:creationId xmlns:a16="http://schemas.microsoft.com/office/drawing/2014/main" id="{C247EC96-DB7B-4417-F9BB-702E9FD68B63}"/>
              </a:ext>
            </a:extLst>
          </p:cNvPr>
          <p:cNvSpPr txBox="1"/>
          <p:nvPr/>
        </p:nvSpPr>
        <p:spPr>
          <a:xfrm>
            <a:off x="4697117" y="1826486"/>
            <a:ext cx="4251862"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Kaiaulu’s Example.R is used to create fake data examples. These mimic real raw data cases. </a:t>
            </a:r>
          </a:p>
        </p:txBody>
      </p:sp>
      <p:sp>
        <p:nvSpPr>
          <p:cNvPr id="375" name="Line">
            <a:extLst>
              <a:ext uri="{FF2B5EF4-FFF2-40B4-BE49-F238E27FC236}">
                <a16:creationId xmlns:a16="http://schemas.microsoft.com/office/drawing/2014/main" id="{F2171949-8645-E3CF-65C7-B552EA203234}"/>
              </a:ext>
            </a:extLst>
          </p:cNvPr>
          <p:cNvSpPr/>
          <p:nvPr/>
        </p:nvSpPr>
        <p:spPr>
          <a:xfrm flipV="1">
            <a:off x="4572574" y="4201729"/>
            <a:ext cx="4318858"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6" name="Use headers, colors, and/or backgrounds to separate or group together sections.">
            <a:extLst>
              <a:ext uri="{FF2B5EF4-FFF2-40B4-BE49-F238E27FC236}">
                <a16:creationId xmlns:a16="http://schemas.microsoft.com/office/drawing/2014/main" id="{36D96E14-0D1A-C77D-5238-10A87F2A6C9F}"/>
              </a:ext>
            </a:extLst>
          </p:cNvPr>
          <p:cNvSpPr txBox="1"/>
          <p:nvPr/>
        </p:nvSpPr>
        <p:spPr>
          <a:xfrm>
            <a:off x="9487615" y="1986968"/>
            <a:ext cx="4251862" cy="16829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In practice, the workflow process happens in the Pull Request. Codecov has a bot comment on the request and report its patch and project coverage, as well as deny the PR if it deems them too low. </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The users assigned to the project’s Quality Reviewer and Code Architect can then either approve or request changes to the commit files. </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GitHub Actions can inform the user specifically of which tests failed when running the commit code. </a:t>
            </a:r>
          </a:p>
        </p:txBody>
      </p:sp>
      <p:sp>
        <p:nvSpPr>
          <p:cNvPr id="41" name="Manipulate Variables">
            <a:extLst>
              <a:ext uri="{FF2B5EF4-FFF2-40B4-BE49-F238E27FC236}">
                <a16:creationId xmlns:a16="http://schemas.microsoft.com/office/drawing/2014/main" id="{6B2AD9D1-0DC0-9F46-FA2F-C203CA8593FC}"/>
              </a:ext>
            </a:extLst>
          </p:cNvPr>
          <p:cNvSpPr txBox="1"/>
          <p:nvPr/>
        </p:nvSpPr>
        <p:spPr>
          <a:xfrm>
            <a:off x="9421011" y="1557249"/>
            <a:ext cx="3004027"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Pull Request Workflow</a:t>
            </a:r>
          </a:p>
        </p:txBody>
      </p:sp>
      <p:sp>
        <p:nvSpPr>
          <p:cNvPr id="42" name="Line">
            <a:extLst>
              <a:ext uri="{FF2B5EF4-FFF2-40B4-BE49-F238E27FC236}">
                <a16:creationId xmlns:a16="http://schemas.microsoft.com/office/drawing/2014/main" id="{9E324235-9BAB-2DCF-48B4-1844F406C862}"/>
              </a:ext>
            </a:extLst>
          </p:cNvPr>
          <p:cNvSpPr/>
          <p:nvPr/>
        </p:nvSpPr>
        <p:spPr>
          <a:xfrm flipV="1">
            <a:off x="9430693" y="1897278"/>
            <a:ext cx="4318858"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5" name="Use headers, colors, and/or backgrounds to separate or group together sections.">
            <a:extLst>
              <a:ext uri="{FF2B5EF4-FFF2-40B4-BE49-F238E27FC236}">
                <a16:creationId xmlns:a16="http://schemas.microsoft.com/office/drawing/2014/main" id="{7AB663E4-EEB5-EE73-1A4D-5B44F224F3A9}"/>
              </a:ext>
            </a:extLst>
          </p:cNvPr>
          <p:cNvSpPr txBox="1"/>
          <p:nvPr/>
        </p:nvSpPr>
        <p:spPr>
          <a:xfrm>
            <a:off x="4666444" y="4206322"/>
            <a:ext cx="4251862"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Light"/>
              </a:rPr>
              <a:t>The Kaiaulu code review workflow follows a multiple step process. </a:t>
            </a:r>
          </a:p>
        </p:txBody>
      </p:sp>
      <p:sp>
        <p:nvSpPr>
          <p:cNvPr id="501" name="TextBox 500">
            <a:extLst>
              <a:ext uri="{FF2B5EF4-FFF2-40B4-BE49-F238E27FC236}">
                <a16:creationId xmlns:a16="http://schemas.microsoft.com/office/drawing/2014/main" id="{39D47EA3-FAF5-CF7C-27B8-7CD36E884956}"/>
              </a:ext>
            </a:extLst>
          </p:cNvPr>
          <p:cNvSpPr txBox="1"/>
          <p:nvPr/>
        </p:nvSpPr>
        <p:spPr>
          <a:xfrm>
            <a:off x="191776" y="3672442"/>
            <a:ext cx="4184378"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rPr>
              <a:t>Try catch statements allow errors that propagate through files to be caught gracefully. </a:t>
            </a:r>
            <a:endParaRPr lang="en-US" b="0" dirty="0">
              <a:solidFill>
                <a:schemeClr val="bg2">
                  <a:lumMod val="10000"/>
                </a:schemeClr>
              </a:solidFill>
              <a:effectLst/>
              <a:latin typeface="Source Sans Pro" panose="020B0503030403020204" pitchFamily="34" charset="0"/>
              <a:ea typeface="Source Sans Pro" panose="020B0503030403020204" pitchFamily="34" charset="0"/>
            </a:endParaRPr>
          </a:p>
        </p:txBody>
      </p:sp>
      <p:sp>
        <p:nvSpPr>
          <p:cNvPr id="493" name="Line">
            <a:extLst>
              <a:ext uri="{FF2B5EF4-FFF2-40B4-BE49-F238E27FC236}">
                <a16:creationId xmlns:a16="http://schemas.microsoft.com/office/drawing/2014/main" id="{B2F54027-6579-2DC3-5047-BDCCE56E2B28}"/>
              </a:ext>
            </a:extLst>
          </p:cNvPr>
          <p:cNvSpPr/>
          <p:nvPr/>
        </p:nvSpPr>
        <p:spPr>
          <a:xfrm flipV="1">
            <a:off x="145006" y="3696906"/>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605" name="Manipulate Variables">
            <a:extLst>
              <a:ext uri="{FF2B5EF4-FFF2-40B4-BE49-F238E27FC236}">
                <a16:creationId xmlns:a16="http://schemas.microsoft.com/office/drawing/2014/main" id="{65F6C9B7-8197-A819-F6C1-E5329836C1C5}"/>
              </a:ext>
            </a:extLst>
          </p:cNvPr>
          <p:cNvSpPr txBox="1"/>
          <p:nvPr/>
        </p:nvSpPr>
        <p:spPr>
          <a:xfrm>
            <a:off x="198229" y="3332413"/>
            <a:ext cx="375423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Failing Gracefully: Try Catch</a:t>
            </a:r>
          </a:p>
        </p:txBody>
      </p:sp>
      <p:grpSp>
        <p:nvGrpSpPr>
          <p:cNvPr id="5" name="Group 4">
            <a:extLst>
              <a:ext uri="{FF2B5EF4-FFF2-40B4-BE49-F238E27FC236}">
                <a16:creationId xmlns:a16="http://schemas.microsoft.com/office/drawing/2014/main" id="{6B3BC7E0-E1FD-BA2A-5C76-801BCEE58102}"/>
              </a:ext>
            </a:extLst>
          </p:cNvPr>
          <p:cNvGrpSpPr>
            <a:grpSpLocks noChangeAspect="1"/>
          </p:cNvGrpSpPr>
          <p:nvPr/>
        </p:nvGrpSpPr>
        <p:grpSpPr>
          <a:xfrm>
            <a:off x="4445694" y="4710784"/>
            <a:ext cx="4998104" cy="2204924"/>
            <a:chOff x="4754545" y="7592221"/>
            <a:chExt cx="4800860" cy="2117909"/>
          </a:xfrm>
        </p:grpSpPr>
        <p:sp>
          <p:nvSpPr>
            <p:cNvPr id="491" name="Create a visual hierarchy. Help users navigate the page with titles, subtitles, and subsubtitles">
              <a:extLst>
                <a:ext uri="{FF2B5EF4-FFF2-40B4-BE49-F238E27FC236}">
                  <a16:creationId xmlns:a16="http://schemas.microsoft.com/office/drawing/2014/main" id="{668FB087-4DCB-32BB-9AAB-36DE4C51A5EB}"/>
                </a:ext>
              </a:extLst>
            </p:cNvPr>
            <p:cNvSpPr txBox="1"/>
            <p:nvPr/>
          </p:nvSpPr>
          <p:spPr>
            <a:xfrm>
              <a:off x="8264043" y="8100908"/>
              <a:ext cx="1200148" cy="2764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a:rPr>
                <a:t>Code Architect</a:t>
              </a:r>
              <a:endParaRPr lang="en-US" dirty="0">
                <a:latin typeface="Source Sans Pro" panose="020B0503030403020204" pitchFamily="34" charset="0"/>
                <a:ea typeface="Source Sans Pro" panose="020B0503030403020204" pitchFamily="34" charset="0"/>
                <a:sym typeface="Source Sans Pro"/>
              </a:endParaRPr>
            </a:p>
          </p:txBody>
        </p:sp>
        <p:sp>
          <p:nvSpPr>
            <p:cNvPr id="342" name="Create a visual hierarchy. Help users navigate the page with titles, subtitles, and subsubtitles">
              <a:extLst>
                <a:ext uri="{FF2B5EF4-FFF2-40B4-BE49-F238E27FC236}">
                  <a16:creationId xmlns:a16="http://schemas.microsoft.com/office/drawing/2014/main" id="{E3C453F0-57B0-F1AA-8EAF-B7BE361515F6}"/>
                </a:ext>
              </a:extLst>
            </p:cNvPr>
            <p:cNvSpPr txBox="1"/>
            <p:nvPr/>
          </p:nvSpPr>
          <p:spPr>
            <a:xfrm>
              <a:off x="5966355" y="7592221"/>
              <a:ext cx="1603122"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Pull Request Created + Commit Pushed</a:t>
              </a:r>
            </a:p>
          </p:txBody>
        </p:sp>
        <p:sp>
          <p:nvSpPr>
            <p:cNvPr id="504" name="Create a visual hierarchy. Help users navigate the page with titles, subtitles, and subsubtitles">
              <a:extLst>
                <a:ext uri="{FF2B5EF4-FFF2-40B4-BE49-F238E27FC236}">
                  <a16:creationId xmlns:a16="http://schemas.microsoft.com/office/drawing/2014/main" id="{07BACE9A-F6A6-FB11-E2CE-F6941A237FF3}"/>
                </a:ext>
              </a:extLst>
            </p:cNvPr>
            <p:cNvSpPr txBox="1"/>
            <p:nvPr/>
          </p:nvSpPr>
          <p:spPr>
            <a:xfrm>
              <a:off x="5986391" y="8110685"/>
              <a:ext cx="1138332" cy="2764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GitHub Actions</a:t>
              </a:r>
              <a:endParaRPr lang="en-US" dirty="0">
                <a:latin typeface="Source Sans Pro" panose="020B0503030403020204" pitchFamily="34" charset="0"/>
                <a:ea typeface="Source Sans Pro" panose="020B0503030403020204" pitchFamily="34" charset="0"/>
                <a:sym typeface="Source Sans Pro"/>
              </a:endParaRPr>
            </a:p>
          </p:txBody>
        </p:sp>
        <p:pic>
          <p:nvPicPr>
            <p:cNvPr id="50" name="Picture 49" descr="Account ">
              <a:extLst>
                <a:ext uri="{FF2B5EF4-FFF2-40B4-BE49-F238E27FC236}">
                  <a16:creationId xmlns:a16="http://schemas.microsoft.com/office/drawing/2014/main" id="{17DDE2B1-B5A4-C4E2-879F-60ED77ADD09D}"/>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580018" y="8330059"/>
              <a:ext cx="306136" cy="306136"/>
            </a:xfrm>
            <a:prstGeom prst="rect">
              <a:avLst/>
            </a:prstGeom>
            <a:noFill/>
            <a:extLst>
              <a:ext uri="{909E8E84-426E-40DD-AFC4-6F175D3DCCD1}">
                <a14:hiddenFill xmlns:a14="http://schemas.microsoft.com/office/drawing/2010/main">
                  <a:solidFill>
                    <a:srgbClr val="FFFFFF"/>
                  </a:solidFill>
                </a14:hiddenFill>
              </a:ext>
            </a:extLst>
          </p:spPr>
        </p:pic>
        <p:pic>
          <p:nvPicPr>
            <p:cNvPr id="481" name="Google Shape;214;p15">
              <a:extLst>
                <a:ext uri="{FF2B5EF4-FFF2-40B4-BE49-F238E27FC236}">
                  <a16:creationId xmlns:a16="http://schemas.microsoft.com/office/drawing/2014/main" id="{3D178377-BF2C-D124-B7C3-4D06EC6C13F0}"/>
                </a:ext>
              </a:extLst>
            </p:cNvPr>
            <p:cNvPicPr preferRelativeResize="0"/>
            <p:nvPr/>
          </p:nvPicPr>
          <p:blipFill>
            <a:blip r:embed="rId8">
              <a:alphaModFix/>
            </a:blip>
            <a:srcRect l="10328" r="5548" b="12675"/>
            <a:stretch>
              <a:fillRect/>
            </a:stretch>
          </p:blipFill>
          <p:spPr>
            <a:xfrm>
              <a:off x="5442555" y="8281206"/>
              <a:ext cx="401071" cy="398991"/>
            </a:xfrm>
            <a:prstGeom prst="rect">
              <a:avLst/>
            </a:prstGeom>
            <a:noFill/>
            <a:ln>
              <a:noFill/>
            </a:ln>
          </p:spPr>
        </p:pic>
        <p:grpSp>
          <p:nvGrpSpPr>
            <p:cNvPr id="520" name="Group 519">
              <a:extLst>
                <a:ext uri="{FF2B5EF4-FFF2-40B4-BE49-F238E27FC236}">
                  <a16:creationId xmlns:a16="http://schemas.microsoft.com/office/drawing/2014/main" id="{0C11BDF7-0F1A-0AB1-5F47-3192EF60BA3B}"/>
                </a:ext>
              </a:extLst>
            </p:cNvPr>
            <p:cNvGrpSpPr/>
            <p:nvPr/>
          </p:nvGrpSpPr>
          <p:grpSpPr>
            <a:xfrm>
              <a:off x="6430077" y="8245501"/>
              <a:ext cx="526129" cy="378927"/>
              <a:chOff x="9474949" y="3367098"/>
              <a:chExt cx="526129" cy="378927"/>
            </a:xfrm>
          </p:grpSpPr>
          <p:sp>
            <p:nvSpPr>
              <p:cNvPr id="486" name="Google Shape;236;p15">
                <a:extLst>
                  <a:ext uri="{FF2B5EF4-FFF2-40B4-BE49-F238E27FC236}">
                    <a16:creationId xmlns:a16="http://schemas.microsoft.com/office/drawing/2014/main" id="{DF91B556-EE11-ACDC-DDB9-4647202E2030}"/>
                  </a:ext>
                </a:extLst>
              </p:cNvPr>
              <p:cNvSpPr/>
              <p:nvPr/>
            </p:nvSpPr>
            <p:spPr>
              <a:xfrm>
                <a:off x="9567136" y="3458331"/>
                <a:ext cx="310026" cy="287694"/>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483" name="Google Shape;237;p15">
                <a:extLst>
                  <a:ext uri="{FF2B5EF4-FFF2-40B4-BE49-F238E27FC236}">
                    <a16:creationId xmlns:a16="http://schemas.microsoft.com/office/drawing/2014/main" id="{9FEBF409-E7D7-D89B-86D0-875924D94D9D}"/>
                  </a:ext>
                </a:extLst>
              </p:cNvPr>
              <p:cNvSpPr txBox="1"/>
              <p:nvPr/>
            </p:nvSpPr>
            <p:spPr>
              <a:xfrm>
                <a:off x="9474949" y="3367098"/>
                <a:ext cx="526129" cy="263210"/>
              </a:xfrm>
              <a:prstGeom prst="rect">
                <a:avLst/>
              </a:prstGeom>
              <a:noFill/>
              <a:ln>
                <a:noFill/>
              </a:ln>
            </p:spPr>
            <p:txBody>
              <a:bodyPr spcFirstLastPara="1" wrap="square" lIns="127722" tIns="127722" rIns="127722" bIns="127722" anchor="t" anchorCtr="0">
                <a:noAutofit/>
              </a:bodyPr>
              <a:lstStyle/>
              <a:p>
                <a:pPr>
                  <a:spcBef>
                    <a:spcPts val="0"/>
                  </a:spcBef>
                </a:pPr>
                <a:r>
                  <a:rPr lang="en" sz="1400" dirty="0">
                    <a:solidFill>
                      <a:schemeClr val="lt1"/>
                    </a:solidFill>
                  </a:rPr>
                  <a:t>GH</a:t>
                </a:r>
                <a:endParaRPr sz="1400" dirty="0">
                  <a:solidFill>
                    <a:schemeClr val="lt1"/>
                  </a:solidFill>
                </a:endParaRPr>
              </a:p>
            </p:txBody>
          </p:sp>
        </p:grpSp>
        <p:pic>
          <p:nvPicPr>
            <p:cNvPr id="487" name="Picture 486" descr="Account ">
              <a:extLst>
                <a:ext uri="{FF2B5EF4-FFF2-40B4-BE49-F238E27FC236}">
                  <a16:creationId xmlns:a16="http://schemas.microsoft.com/office/drawing/2014/main" id="{F1EDBEED-BC7B-263C-7D25-F0421DC18D1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616900" y="8321807"/>
              <a:ext cx="306136" cy="306136"/>
            </a:xfrm>
            <a:prstGeom prst="rect">
              <a:avLst/>
            </a:prstGeom>
            <a:noFill/>
            <a:extLst>
              <a:ext uri="{909E8E84-426E-40DD-AFC4-6F175D3DCCD1}">
                <a14:hiddenFill xmlns:a14="http://schemas.microsoft.com/office/drawing/2010/main">
                  <a:solidFill>
                    <a:srgbClr val="FFFFFF"/>
                  </a:solidFill>
                </a14:hiddenFill>
              </a:ext>
            </a:extLst>
          </p:spPr>
        </p:pic>
        <p:sp>
          <p:nvSpPr>
            <p:cNvPr id="490" name="Create a visual hierarchy. Help users navigate the page with titles, subtitles, and subsubtitles">
              <a:extLst>
                <a:ext uri="{FF2B5EF4-FFF2-40B4-BE49-F238E27FC236}">
                  <a16:creationId xmlns:a16="http://schemas.microsoft.com/office/drawing/2014/main" id="{753E2BE6-C274-BF3F-5AFC-8B36E46038D7}"/>
                </a:ext>
              </a:extLst>
            </p:cNvPr>
            <p:cNvSpPr txBox="1"/>
            <p:nvPr/>
          </p:nvSpPr>
          <p:spPr>
            <a:xfrm>
              <a:off x="7087984" y="8108356"/>
              <a:ext cx="1241412" cy="2764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rPr>
                <a:t>Quality Reviewer</a:t>
              </a:r>
              <a:endParaRPr lang="en-US" dirty="0">
                <a:latin typeface="Source Sans Pro" panose="020B0503030403020204" pitchFamily="34" charset="0"/>
                <a:ea typeface="Source Sans Pro" panose="020B0503030403020204" pitchFamily="34" charset="0"/>
                <a:sym typeface="Source Sans Pro"/>
              </a:endParaRPr>
            </a:p>
          </p:txBody>
        </p:sp>
        <p:cxnSp>
          <p:nvCxnSpPr>
            <p:cNvPr id="328" name="Google Shape;445;p18">
              <a:extLst>
                <a:ext uri="{FF2B5EF4-FFF2-40B4-BE49-F238E27FC236}">
                  <a16:creationId xmlns:a16="http://schemas.microsoft.com/office/drawing/2014/main" id="{D38B10C7-9E4A-DE31-2A9B-B31D89842443}"/>
                </a:ext>
              </a:extLst>
            </p:cNvPr>
            <p:cNvCxnSpPr>
              <a:cxnSpLocks/>
            </p:cNvCxnSpPr>
            <p:nvPr/>
          </p:nvCxnSpPr>
          <p:spPr>
            <a:xfrm>
              <a:off x="5636507" y="8012731"/>
              <a:ext cx="0" cy="227228"/>
            </a:xfrm>
            <a:prstGeom prst="straightConnector1">
              <a:avLst/>
            </a:prstGeom>
            <a:noFill/>
            <a:ln w="28575" cap="flat" cmpd="sng">
              <a:solidFill>
                <a:srgbClr val="1B1311"/>
              </a:solidFill>
              <a:prstDash val="solid"/>
              <a:round/>
              <a:headEnd type="none" w="med" len="med"/>
              <a:tailEnd type="triangle" w="med" len="med"/>
            </a:ln>
          </p:spPr>
        </p:cxnSp>
        <p:cxnSp>
          <p:nvCxnSpPr>
            <p:cNvPr id="330" name="Google Shape;445;p18">
              <a:extLst>
                <a:ext uri="{FF2B5EF4-FFF2-40B4-BE49-F238E27FC236}">
                  <a16:creationId xmlns:a16="http://schemas.microsoft.com/office/drawing/2014/main" id="{67862C4F-6E2B-408F-45D8-9EB54A7A729A}"/>
                </a:ext>
              </a:extLst>
            </p:cNvPr>
            <p:cNvCxnSpPr>
              <a:cxnSpLocks/>
            </p:cNvCxnSpPr>
            <p:nvPr/>
          </p:nvCxnSpPr>
          <p:spPr>
            <a:xfrm>
              <a:off x="6693142" y="8692417"/>
              <a:ext cx="0" cy="219033"/>
            </a:xfrm>
            <a:prstGeom prst="straightConnector1">
              <a:avLst/>
            </a:prstGeom>
            <a:noFill/>
            <a:ln w="28575" cap="flat" cmpd="sng">
              <a:solidFill>
                <a:srgbClr val="1B1311"/>
              </a:solidFill>
              <a:prstDash val="solid"/>
              <a:round/>
              <a:headEnd type="none" w="med" len="med"/>
              <a:tailEnd type="triangle" w="med" len="med"/>
            </a:ln>
          </p:spPr>
        </p:cxnSp>
        <p:cxnSp>
          <p:nvCxnSpPr>
            <p:cNvPr id="331" name="Google Shape;445;p18">
              <a:extLst>
                <a:ext uri="{FF2B5EF4-FFF2-40B4-BE49-F238E27FC236}">
                  <a16:creationId xmlns:a16="http://schemas.microsoft.com/office/drawing/2014/main" id="{1F9E27B4-F830-B529-7AEE-70E13E8F71F6}"/>
                </a:ext>
              </a:extLst>
            </p:cNvPr>
            <p:cNvCxnSpPr>
              <a:cxnSpLocks/>
            </p:cNvCxnSpPr>
            <p:nvPr/>
          </p:nvCxnSpPr>
          <p:spPr>
            <a:xfrm flipV="1">
              <a:off x="5931917" y="8470444"/>
              <a:ext cx="483203" cy="4431"/>
            </a:xfrm>
            <a:prstGeom prst="straightConnector1">
              <a:avLst/>
            </a:prstGeom>
            <a:noFill/>
            <a:ln w="28575" cap="flat" cmpd="sng">
              <a:solidFill>
                <a:srgbClr val="1B1311"/>
              </a:solidFill>
              <a:prstDash val="solid"/>
              <a:round/>
              <a:headEnd type="none" w="med" len="med"/>
              <a:tailEnd type="triangle" w="med" len="med"/>
            </a:ln>
          </p:spPr>
        </p:cxnSp>
        <p:cxnSp>
          <p:nvCxnSpPr>
            <p:cNvPr id="524" name="Google Shape;445;p18">
              <a:extLst>
                <a:ext uri="{FF2B5EF4-FFF2-40B4-BE49-F238E27FC236}">
                  <a16:creationId xmlns:a16="http://schemas.microsoft.com/office/drawing/2014/main" id="{06BBF281-CAEA-F91E-1D79-63B94A9BAAB2}"/>
                </a:ext>
              </a:extLst>
            </p:cNvPr>
            <p:cNvCxnSpPr>
              <a:cxnSpLocks/>
            </p:cNvCxnSpPr>
            <p:nvPr/>
          </p:nvCxnSpPr>
          <p:spPr>
            <a:xfrm flipV="1">
              <a:off x="7010362" y="8470444"/>
              <a:ext cx="460133" cy="4431"/>
            </a:xfrm>
            <a:prstGeom prst="straightConnector1">
              <a:avLst/>
            </a:prstGeom>
            <a:noFill/>
            <a:ln w="28575" cap="flat" cmpd="sng">
              <a:solidFill>
                <a:srgbClr val="1B1311"/>
              </a:solidFill>
              <a:prstDash val="solid"/>
              <a:round/>
              <a:headEnd type="none" w="med" len="med"/>
              <a:tailEnd type="triangle" w="med" len="med"/>
            </a:ln>
          </p:spPr>
        </p:cxnSp>
        <p:cxnSp>
          <p:nvCxnSpPr>
            <p:cNvPr id="527" name="Google Shape;445;p18">
              <a:extLst>
                <a:ext uri="{FF2B5EF4-FFF2-40B4-BE49-F238E27FC236}">
                  <a16:creationId xmlns:a16="http://schemas.microsoft.com/office/drawing/2014/main" id="{04B80E30-A83A-DBA7-EF27-E6C0B8E1806C}"/>
                </a:ext>
              </a:extLst>
            </p:cNvPr>
            <p:cNvCxnSpPr>
              <a:cxnSpLocks/>
            </p:cNvCxnSpPr>
            <p:nvPr/>
          </p:nvCxnSpPr>
          <p:spPr>
            <a:xfrm>
              <a:off x="8025141" y="8481760"/>
              <a:ext cx="490920" cy="1367"/>
            </a:xfrm>
            <a:prstGeom prst="straightConnector1">
              <a:avLst/>
            </a:prstGeom>
            <a:noFill/>
            <a:ln w="28575" cap="flat" cmpd="sng">
              <a:solidFill>
                <a:srgbClr val="1B1311"/>
              </a:solidFill>
              <a:prstDash val="solid"/>
              <a:round/>
              <a:headEnd type="none" w="med" len="med"/>
              <a:tailEnd type="triangle" w="med" len="med"/>
            </a:ln>
          </p:spPr>
        </p:cxnSp>
        <p:sp>
          <p:nvSpPr>
            <p:cNvPr id="528" name="Create a visual hierarchy. Help users navigate the page with titles, subtitles, and subsubtitles">
              <a:extLst>
                <a:ext uri="{FF2B5EF4-FFF2-40B4-BE49-F238E27FC236}">
                  <a16:creationId xmlns:a16="http://schemas.microsoft.com/office/drawing/2014/main" id="{C9AE90E7-F95F-FE77-C533-E8458F94912B}"/>
                </a:ext>
              </a:extLst>
            </p:cNvPr>
            <p:cNvSpPr txBox="1"/>
            <p:nvPr/>
          </p:nvSpPr>
          <p:spPr>
            <a:xfrm>
              <a:off x="4754545" y="8371927"/>
              <a:ext cx="788917" cy="2764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Codecov</a:t>
              </a:r>
            </a:p>
          </p:txBody>
        </p:sp>
        <p:sp>
          <p:nvSpPr>
            <p:cNvPr id="535" name="Create a visual hierarchy. Help users navigate the page with titles, subtitles, and subsubtitles">
              <a:extLst>
                <a:ext uri="{FF2B5EF4-FFF2-40B4-BE49-F238E27FC236}">
                  <a16:creationId xmlns:a16="http://schemas.microsoft.com/office/drawing/2014/main" id="{11DB4DDA-7A0D-6345-90C4-37F3E425CED5}"/>
                </a:ext>
              </a:extLst>
            </p:cNvPr>
            <p:cNvSpPr txBox="1"/>
            <p:nvPr/>
          </p:nvSpPr>
          <p:spPr>
            <a:xfrm>
              <a:off x="6166694" y="9433894"/>
              <a:ext cx="1480131" cy="2654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Pull Request Denie</a:t>
              </a:r>
              <a:r>
                <a:rPr lang="en-US" b="0" dirty="0">
                  <a:solidFill>
                    <a:srgbClr val="000000"/>
                  </a:solidFill>
                  <a:latin typeface="Source Sans Pro" panose="020B0503030403020204" pitchFamily="34" charset="0"/>
                  <a:ea typeface="Source Sans Pro" panose="020B0503030403020204" pitchFamily="34" charset="0"/>
                </a:rPr>
                <a:t>d</a:t>
              </a:r>
              <a:endParaRPr lang="en-US" b="0" i="0" u="none" strike="noStrike" dirty="0">
                <a:solidFill>
                  <a:srgbClr val="000000"/>
                </a:solidFill>
                <a:effectLst/>
                <a:latin typeface="Source Sans Pro" panose="020B0503030403020204" pitchFamily="34" charset="0"/>
                <a:ea typeface="Source Sans Pro" panose="020B0503030403020204" pitchFamily="34" charset="0"/>
              </a:endParaRPr>
            </a:p>
          </p:txBody>
        </p:sp>
        <p:cxnSp>
          <p:nvCxnSpPr>
            <p:cNvPr id="544" name="Google Shape;445;p18">
              <a:extLst>
                <a:ext uri="{FF2B5EF4-FFF2-40B4-BE49-F238E27FC236}">
                  <a16:creationId xmlns:a16="http://schemas.microsoft.com/office/drawing/2014/main" id="{E24A58CE-9F96-F36A-5D71-2483CE2125D7}"/>
                </a:ext>
              </a:extLst>
            </p:cNvPr>
            <p:cNvCxnSpPr>
              <a:cxnSpLocks/>
            </p:cNvCxnSpPr>
            <p:nvPr/>
          </p:nvCxnSpPr>
          <p:spPr>
            <a:xfrm flipH="1">
              <a:off x="5929791" y="9278751"/>
              <a:ext cx="428575" cy="0"/>
            </a:xfrm>
            <a:prstGeom prst="straightConnector1">
              <a:avLst/>
            </a:prstGeom>
            <a:noFill/>
            <a:ln w="28575" cap="flat" cmpd="sng">
              <a:solidFill>
                <a:srgbClr val="1B1311"/>
              </a:solidFill>
              <a:prstDash val="solid"/>
              <a:round/>
              <a:headEnd type="none" w="med" len="med"/>
              <a:tailEnd type="triangle" w="med" len="med"/>
            </a:ln>
          </p:spPr>
        </p:cxnSp>
        <p:cxnSp>
          <p:nvCxnSpPr>
            <p:cNvPr id="549" name="Google Shape;445;p18">
              <a:extLst>
                <a:ext uri="{FF2B5EF4-FFF2-40B4-BE49-F238E27FC236}">
                  <a16:creationId xmlns:a16="http://schemas.microsoft.com/office/drawing/2014/main" id="{6F2117AB-5F71-8B94-B9C4-B1FD14BCEA81}"/>
                </a:ext>
              </a:extLst>
            </p:cNvPr>
            <p:cNvCxnSpPr>
              <a:cxnSpLocks/>
            </p:cNvCxnSpPr>
            <p:nvPr/>
          </p:nvCxnSpPr>
          <p:spPr>
            <a:xfrm flipH="1">
              <a:off x="7087984" y="9308489"/>
              <a:ext cx="881273" cy="0"/>
            </a:xfrm>
            <a:prstGeom prst="straightConnector1">
              <a:avLst/>
            </a:prstGeom>
            <a:noFill/>
            <a:ln w="28575" cap="flat" cmpd="sng">
              <a:solidFill>
                <a:srgbClr val="1B1311"/>
              </a:solidFill>
              <a:prstDash val="solid"/>
              <a:round/>
              <a:headEnd type="none" w="med" len="med"/>
              <a:tailEnd type="triangle" w="med" len="med"/>
            </a:ln>
          </p:spPr>
        </p:cxnSp>
        <p:cxnSp>
          <p:nvCxnSpPr>
            <p:cNvPr id="557" name="Google Shape;445;p18">
              <a:extLst>
                <a:ext uri="{FF2B5EF4-FFF2-40B4-BE49-F238E27FC236}">
                  <a16:creationId xmlns:a16="http://schemas.microsoft.com/office/drawing/2014/main" id="{798EE421-4220-64B4-FFB6-F3906E328B73}"/>
                </a:ext>
              </a:extLst>
            </p:cNvPr>
            <p:cNvCxnSpPr>
              <a:cxnSpLocks/>
            </p:cNvCxnSpPr>
            <p:nvPr/>
          </p:nvCxnSpPr>
          <p:spPr>
            <a:xfrm>
              <a:off x="8784901" y="8687064"/>
              <a:ext cx="0" cy="303476"/>
            </a:xfrm>
            <a:prstGeom prst="straightConnector1">
              <a:avLst/>
            </a:prstGeom>
            <a:noFill/>
            <a:ln w="28575" cap="flat" cmpd="sng">
              <a:solidFill>
                <a:srgbClr val="1B1311"/>
              </a:solidFill>
              <a:prstDash val="solid"/>
              <a:round/>
              <a:headEnd type="none" w="med" len="med"/>
              <a:tailEnd type="triangle" w="med" len="med"/>
            </a:ln>
          </p:spPr>
        </p:cxnSp>
        <p:sp>
          <p:nvSpPr>
            <p:cNvPr id="560" name="Create a visual hierarchy. Help users navigate the page with titles, subtitles, and subsubtitles">
              <a:extLst>
                <a:ext uri="{FF2B5EF4-FFF2-40B4-BE49-F238E27FC236}">
                  <a16:creationId xmlns:a16="http://schemas.microsoft.com/office/drawing/2014/main" id="{FEB11CF4-B107-ADA5-ED09-634CD0A26DE2}"/>
                </a:ext>
              </a:extLst>
            </p:cNvPr>
            <p:cNvSpPr txBox="1"/>
            <p:nvPr/>
          </p:nvSpPr>
          <p:spPr>
            <a:xfrm>
              <a:off x="7916469" y="9402787"/>
              <a:ext cx="1638936" cy="2654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Pull Request Approved</a:t>
              </a:r>
            </a:p>
          </p:txBody>
        </p:sp>
        <p:cxnSp>
          <p:nvCxnSpPr>
            <p:cNvPr id="574" name="Straight Connector 573">
              <a:extLst>
                <a:ext uri="{FF2B5EF4-FFF2-40B4-BE49-F238E27FC236}">
                  <a16:creationId xmlns:a16="http://schemas.microsoft.com/office/drawing/2014/main" id="{949B18BC-DF94-0E50-97E2-322FAFF348AD}"/>
                </a:ext>
              </a:extLst>
            </p:cNvPr>
            <p:cNvCxnSpPr>
              <a:cxnSpLocks/>
            </p:cNvCxnSpPr>
            <p:nvPr/>
          </p:nvCxnSpPr>
          <p:spPr>
            <a:xfrm flipH="1">
              <a:off x="7942180" y="8631247"/>
              <a:ext cx="698769" cy="677242"/>
            </a:xfrm>
            <a:prstGeom prst="line">
              <a:avLst/>
            </a:prstGeom>
            <a:ln w="28575" cap="flat" cmpd="sng" algn="ctr">
              <a:solidFill>
                <a:schemeClr val="bg2">
                  <a:lumMod val="1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88" name="Create a visual hierarchy. Help users navigate the page with titles, subtitles, and subsubtitles">
              <a:extLst>
                <a:ext uri="{FF2B5EF4-FFF2-40B4-BE49-F238E27FC236}">
                  <a16:creationId xmlns:a16="http://schemas.microsoft.com/office/drawing/2014/main" id="{524BF4BB-DA40-21FB-8939-5A8118515293}"/>
                </a:ext>
              </a:extLst>
            </p:cNvPr>
            <p:cNvSpPr txBox="1"/>
            <p:nvPr/>
          </p:nvSpPr>
          <p:spPr>
            <a:xfrm>
              <a:off x="5174316" y="9433725"/>
              <a:ext cx="1184050" cy="2764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New Commit</a:t>
              </a:r>
            </a:p>
          </p:txBody>
        </p:sp>
        <p:cxnSp>
          <p:nvCxnSpPr>
            <p:cNvPr id="589" name="Google Shape;445;p18">
              <a:extLst>
                <a:ext uri="{FF2B5EF4-FFF2-40B4-BE49-F238E27FC236}">
                  <a16:creationId xmlns:a16="http://schemas.microsoft.com/office/drawing/2014/main" id="{8713B70A-83E7-B69B-2279-E89A26577BEC}"/>
                </a:ext>
              </a:extLst>
            </p:cNvPr>
            <p:cNvCxnSpPr>
              <a:cxnSpLocks/>
            </p:cNvCxnSpPr>
            <p:nvPr/>
          </p:nvCxnSpPr>
          <p:spPr>
            <a:xfrm flipV="1">
              <a:off x="5632994" y="8733946"/>
              <a:ext cx="0" cy="256594"/>
            </a:xfrm>
            <a:prstGeom prst="straightConnector1">
              <a:avLst/>
            </a:prstGeom>
            <a:noFill/>
            <a:ln w="28575" cap="flat" cmpd="sng">
              <a:solidFill>
                <a:srgbClr val="1B1311"/>
              </a:solidFill>
              <a:prstDash val="solid"/>
              <a:round/>
              <a:headEnd type="none" w="med" len="med"/>
              <a:tailEnd type="triangle" w="med" len="med"/>
            </a:ln>
          </p:spPr>
        </p:cxnSp>
        <p:cxnSp>
          <p:nvCxnSpPr>
            <p:cNvPr id="593" name="Google Shape;445;p18">
              <a:extLst>
                <a:ext uri="{FF2B5EF4-FFF2-40B4-BE49-F238E27FC236}">
                  <a16:creationId xmlns:a16="http://schemas.microsoft.com/office/drawing/2014/main" id="{A63A6DED-C6CD-40F1-BB9A-7E7BEB88F1D5}"/>
                </a:ext>
              </a:extLst>
            </p:cNvPr>
            <p:cNvCxnSpPr>
              <a:cxnSpLocks/>
            </p:cNvCxnSpPr>
            <p:nvPr/>
          </p:nvCxnSpPr>
          <p:spPr>
            <a:xfrm>
              <a:off x="5933583" y="8663797"/>
              <a:ext cx="435291" cy="404503"/>
            </a:xfrm>
            <a:prstGeom prst="straightConnector1">
              <a:avLst/>
            </a:prstGeom>
            <a:noFill/>
            <a:ln w="28575" cap="flat" cmpd="sng">
              <a:solidFill>
                <a:srgbClr val="1B1311"/>
              </a:solidFill>
              <a:prstDash val="solid"/>
              <a:round/>
              <a:headEnd type="none" w="med" len="med"/>
              <a:tailEnd type="triangle" w="med" len="med"/>
            </a:ln>
          </p:spPr>
        </p:cxnSp>
        <p:cxnSp>
          <p:nvCxnSpPr>
            <p:cNvPr id="600" name="Google Shape;445;p18">
              <a:extLst>
                <a:ext uri="{FF2B5EF4-FFF2-40B4-BE49-F238E27FC236}">
                  <a16:creationId xmlns:a16="http://schemas.microsoft.com/office/drawing/2014/main" id="{90CF86F4-9937-E436-5413-E4F145E238C4}"/>
                </a:ext>
              </a:extLst>
            </p:cNvPr>
            <p:cNvCxnSpPr>
              <a:cxnSpLocks/>
            </p:cNvCxnSpPr>
            <p:nvPr/>
          </p:nvCxnSpPr>
          <p:spPr>
            <a:xfrm flipH="1">
              <a:off x="7036020" y="8623262"/>
              <a:ext cx="475375" cy="453212"/>
            </a:xfrm>
            <a:prstGeom prst="straightConnector1">
              <a:avLst/>
            </a:prstGeom>
            <a:noFill/>
            <a:ln w="28575" cap="flat" cmpd="sng">
              <a:solidFill>
                <a:srgbClr val="1B1311"/>
              </a:solidFill>
              <a:prstDash val="solid"/>
              <a:round/>
              <a:headEnd type="none" w="med" len="med"/>
              <a:tailEnd type="triangle" w="med" len="med"/>
            </a:ln>
          </p:spPr>
        </p:cxnSp>
        <p:sp>
          <p:nvSpPr>
            <p:cNvPr id="39" name="Google Shape;237;p15">
              <a:extLst>
                <a:ext uri="{FF2B5EF4-FFF2-40B4-BE49-F238E27FC236}">
                  <a16:creationId xmlns:a16="http://schemas.microsoft.com/office/drawing/2014/main" id="{860081F2-4C9F-930B-E60B-E40C16DFF5C4}"/>
                </a:ext>
              </a:extLst>
            </p:cNvPr>
            <p:cNvSpPr txBox="1"/>
            <p:nvPr/>
          </p:nvSpPr>
          <p:spPr>
            <a:xfrm>
              <a:off x="5293468" y="9048567"/>
              <a:ext cx="526129" cy="263210"/>
            </a:xfrm>
            <a:prstGeom prst="rect">
              <a:avLst/>
            </a:prstGeom>
            <a:noFill/>
            <a:ln>
              <a:noFill/>
            </a:ln>
          </p:spPr>
          <p:txBody>
            <a:bodyPr spcFirstLastPara="1" wrap="square" lIns="127722" tIns="127722" rIns="127722" bIns="127722" anchor="t" anchorCtr="0">
              <a:noAutofit/>
            </a:bodyPr>
            <a:lstStyle/>
            <a:p>
              <a:pPr>
                <a:spcBef>
                  <a:spcPts val="0"/>
                </a:spcBef>
              </a:pPr>
              <a:endParaRPr sz="1400" dirty="0">
                <a:solidFill>
                  <a:schemeClr val="lt1"/>
                </a:solidFill>
              </a:endParaRPr>
            </a:p>
          </p:txBody>
        </p:sp>
        <p:pic>
          <p:nvPicPr>
            <p:cNvPr id="3" name="Google Shape;227;p15">
              <a:extLst>
                <a:ext uri="{FF2B5EF4-FFF2-40B4-BE49-F238E27FC236}">
                  <a16:creationId xmlns:a16="http://schemas.microsoft.com/office/drawing/2014/main" id="{B13CE4C7-9178-AF3C-98E3-DB9FA88B4B41}"/>
                </a:ext>
              </a:extLst>
            </p:cNvPr>
            <p:cNvPicPr preferRelativeResize="0">
              <a:picLocks noChangeAspect="1"/>
            </p:cNvPicPr>
            <p:nvPr/>
          </p:nvPicPr>
          <p:blipFill>
            <a:blip r:embed="rId9">
              <a:alphaModFix/>
            </a:blip>
            <a:stretch>
              <a:fillRect/>
            </a:stretch>
          </p:blipFill>
          <p:spPr>
            <a:xfrm>
              <a:off x="6498830" y="9074476"/>
              <a:ext cx="398269" cy="362602"/>
            </a:xfrm>
            <a:prstGeom prst="rect">
              <a:avLst/>
            </a:prstGeom>
            <a:noFill/>
            <a:ln>
              <a:noFill/>
            </a:ln>
          </p:spPr>
        </p:pic>
        <p:pic>
          <p:nvPicPr>
            <p:cNvPr id="33" name="Google Shape;227;p15">
              <a:extLst>
                <a:ext uri="{FF2B5EF4-FFF2-40B4-BE49-F238E27FC236}">
                  <a16:creationId xmlns:a16="http://schemas.microsoft.com/office/drawing/2014/main" id="{BE640D1B-9247-0C2E-D861-57843D2E0559}"/>
                </a:ext>
              </a:extLst>
            </p:cNvPr>
            <p:cNvPicPr preferRelativeResize="0">
              <a:picLocks noChangeAspect="1"/>
            </p:cNvPicPr>
            <p:nvPr/>
          </p:nvPicPr>
          <p:blipFill>
            <a:blip r:embed="rId9">
              <a:alphaModFix/>
            </a:blip>
            <a:stretch>
              <a:fillRect/>
            </a:stretch>
          </p:blipFill>
          <p:spPr>
            <a:xfrm>
              <a:off x="8601660" y="9060777"/>
              <a:ext cx="398269" cy="362602"/>
            </a:xfrm>
            <a:prstGeom prst="rect">
              <a:avLst/>
            </a:prstGeom>
            <a:noFill/>
            <a:ln>
              <a:noFill/>
            </a:ln>
          </p:spPr>
        </p:pic>
        <p:sp>
          <p:nvSpPr>
            <p:cNvPr id="34" name="TextBox 33">
              <a:extLst>
                <a:ext uri="{FF2B5EF4-FFF2-40B4-BE49-F238E27FC236}">
                  <a16:creationId xmlns:a16="http://schemas.microsoft.com/office/drawing/2014/main" id="{67B6E1C1-5EFC-BE73-9081-CF85B9A618B0}"/>
                </a:ext>
              </a:extLst>
            </p:cNvPr>
            <p:cNvSpPr txBox="1"/>
            <p:nvPr/>
          </p:nvSpPr>
          <p:spPr>
            <a:xfrm>
              <a:off x="8457812" y="9199424"/>
              <a:ext cx="189461" cy="3078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dirty="0"/>
                <a:t>✅</a:t>
              </a:r>
              <a:endParaRPr kumimoji="0" lang="en-US"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502" name="Group 501">
              <a:extLst>
                <a:ext uri="{FF2B5EF4-FFF2-40B4-BE49-F238E27FC236}">
                  <a16:creationId xmlns:a16="http://schemas.microsoft.com/office/drawing/2014/main" id="{B20E0693-5855-2C67-47ED-A5160D66945C}"/>
                </a:ext>
              </a:extLst>
            </p:cNvPr>
            <p:cNvGrpSpPr/>
            <p:nvPr/>
          </p:nvGrpSpPr>
          <p:grpSpPr>
            <a:xfrm>
              <a:off x="5491861" y="9109816"/>
              <a:ext cx="296516" cy="294538"/>
              <a:chOff x="5367466" y="9150431"/>
              <a:chExt cx="296516" cy="294538"/>
            </a:xfrm>
          </p:grpSpPr>
          <p:sp>
            <p:nvSpPr>
              <p:cNvPr id="53" name="Google Shape;236;p15">
                <a:extLst>
                  <a:ext uri="{FF2B5EF4-FFF2-40B4-BE49-F238E27FC236}">
                    <a16:creationId xmlns:a16="http://schemas.microsoft.com/office/drawing/2014/main" id="{3BE590FE-3A6F-A23D-AA81-D799C08BEB8F}"/>
                  </a:ext>
                </a:extLst>
              </p:cNvPr>
              <p:cNvSpPr>
                <a:spLocks noChangeAspect="1"/>
              </p:cNvSpPr>
              <p:nvPr/>
            </p:nvSpPr>
            <p:spPr>
              <a:xfrm>
                <a:off x="5367466" y="9150431"/>
                <a:ext cx="296516" cy="29453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cxnSp>
            <p:nvCxnSpPr>
              <p:cNvPr id="54" name="Straight Connector 53">
                <a:extLst>
                  <a:ext uri="{FF2B5EF4-FFF2-40B4-BE49-F238E27FC236}">
                    <a16:creationId xmlns:a16="http://schemas.microsoft.com/office/drawing/2014/main" id="{535A210E-7DF9-0BE1-6F62-58379788DD08}"/>
                  </a:ext>
                </a:extLst>
              </p:cNvPr>
              <p:cNvCxnSpPr>
                <a:cxnSpLocks/>
              </p:cNvCxnSpPr>
              <p:nvPr/>
            </p:nvCxnSpPr>
            <p:spPr>
              <a:xfrm flipH="1">
                <a:off x="5438395" y="9302560"/>
                <a:ext cx="154656" cy="0"/>
              </a:xfrm>
              <a:prstGeom prst="line">
                <a:avLst/>
              </a:prstGeom>
              <a:ln w="12700" cap="rnd"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5" name="Oval 54">
                <a:extLst>
                  <a:ext uri="{FF2B5EF4-FFF2-40B4-BE49-F238E27FC236}">
                    <a16:creationId xmlns:a16="http://schemas.microsoft.com/office/drawing/2014/main" id="{20FBF561-53EC-68F3-48B3-8FB0DFF21885}"/>
                  </a:ext>
                </a:extLst>
              </p:cNvPr>
              <p:cNvSpPr>
                <a:spLocks noChangeAspect="1"/>
              </p:cNvSpPr>
              <p:nvPr/>
            </p:nvSpPr>
            <p:spPr>
              <a:xfrm>
                <a:off x="5482180" y="9269602"/>
                <a:ext cx="67087" cy="65915"/>
              </a:xfrm>
              <a:prstGeom prst="ellipse">
                <a:avLst/>
              </a:prstGeom>
              <a:solidFill>
                <a:schemeClr val="bg2">
                  <a:lumMod val="10000"/>
                </a:schemeClr>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grpSp>
        <p:grpSp>
          <p:nvGrpSpPr>
            <p:cNvPr id="495" name="Group 494">
              <a:extLst>
                <a:ext uri="{FF2B5EF4-FFF2-40B4-BE49-F238E27FC236}">
                  <a16:creationId xmlns:a16="http://schemas.microsoft.com/office/drawing/2014/main" id="{9951ABEA-4686-C2B9-37B9-82EBD902DC16}"/>
                </a:ext>
              </a:extLst>
            </p:cNvPr>
            <p:cNvGrpSpPr/>
            <p:nvPr/>
          </p:nvGrpSpPr>
          <p:grpSpPr>
            <a:xfrm>
              <a:off x="5653606" y="7661921"/>
              <a:ext cx="296516" cy="294538"/>
              <a:chOff x="5470343" y="7664480"/>
              <a:chExt cx="296516" cy="294538"/>
            </a:xfrm>
          </p:grpSpPr>
          <p:sp>
            <p:nvSpPr>
              <p:cNvPr id="57" name="Google Shape;236;p15">
                <a:extLst>
                  <a:ext uri="{FF2B5EF4-FFF2-40B4-BE49-F238E27FC236}">
                    <a16:creationId xmlns:a16="http://schemas.microsoft.com/office/drawing/2014/main" id="{C82164D2-B0AF-6CAA-F277-72D5ECA2B730}"/>
                  </a:ext>
                </a:extLst>
              </p:cNvPr>
              <p:cNvSpPr>
                <a:spLocks noChangeAspect="1"/>
              </p:cNvSpPr>
              <p:nvPr/>
            </p:nvSpPr>
            <p:spPr>
              <a:xfrm>
                <a:off x="5470343" y="7664480"/>
                <a:ext cx="296516" cy="29453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cxnSp>
            <p:nvCxnSpPr>
              <p:cNvPr id="58" name="Straight Connector 57">
                <a:extLst>
                  <a:ext uri="{FF2B5EF4-FFF2-40B4-BE49-F238E27FC236}">
                    <a16:creationId xmlns:a16="http://schemas.microsoft.com/office/drawing/2014/main" id="{C11C163F-BADD-3EAA-8D4A-F421E62666F6}"/>
                  </a:ext>
                </a:extLst>
              </p:cNvPr>
              <p:cNvCxnSpPr>
                <a:cxnSpLocks/>
              </p:cNvCxnSpPr>
              <p:nvPr/>
            </p:nvCxnSpPr>
            <p:spPr>
              <a:xfrm flipH="1">
                <a:off x="5541272" y="7816609"/>
                <a:ext cx="154656" cy="0"/>
              </a:xfrm>
              <a:prstGeom prst="line">
                <a:avLst/>
              </a:prstGeom>
              <a:ln w="12700" cap="rnd"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9" name="Oval 58">
                <a:extLst>
                  <a:ext uri="{FF2B5EF4-FFF2-40B4-BE49-F238E27FC236}">
                    <a16:creationId xmlns:a16="http://schemas.microsoft.com/office/drawing/2014/main" id="{DF46EC70-A065-D091-76C6-4A9827C64677}"/>
                  </a:ext>
                </a:extLst>
              </p:cNvPr>
              <p:cNvSpPr>
                <a:spLocks noChangeAspect="1"/>
              </p:cNvSpPr>
              <p:nvPr/>
            </p:nvSpPr>
            <p:spPr>
              <a:xfrm>
                <a:off x="5585057" y="7783651"/>
                <a:ext cx="67087" cy="65915"/>
              </a:xfrm>
              <a:prstGeom prst="ellipse">
                <a:avLst/>
              </a:prstGeom>
              <a:solidFill>
                <a:schemeClr val="bg2">
                  <a:lumMod val="10000"/>
                </a:schemeClr>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grpSp>
        <p:pic>
          <p:nvPicPr>
            <p:cNvPr id="509" name="Google Shape;227;p15">
              <a:extLst>
                <a:ext uri="{FF2B5EF4-FFF2-40B4-BE49-F238E27FC236}">
                  <a16:creationId xmlns:a16="http://schemas.microsoft.com/office/drawing/2014/main" id="{CD7A0FA7-BC98-54B4-D9B6-03B77E9FEA88}"/>
                </a:ext>
              </a:extLst>
            </p:cNvPr>
            <p:cNvPicPr preferRelativeResize="0">
              <a:picLocks noChangeAspect="1"/>
            </p:cNvPicPr>
            <p:nvPr/>
          </p:nvPicPr>
          <p:blipFill>
            <a:blip r:embed="rId9">
              <a:alphaModFix/>
            </a:blip>
            <a:stretch>
              <a:fillRect/>
            </a:stretch>
          </p:blipFill>
          <p:spPr>
            <a:xfrm>
              <a:off x="5244821" y="7624472"/>
              <a:ext cx="398269" cy="362602"/>
            </a:xfrm>
            <a:prstGeom prst="rect">
              <a:avLst/>
            </a:prstGeom>
            <a:noFill/>
            <a:ln>
              <a:noFill/>
            </a:ln>
          </p:spPr>
        </p:pic>
      </p:grpSp>
      <p:sp>
        <p:nvSpPr>
          <p:cNvPr id="582" name="Freeform: Shape 581">
            <a:extLst>
              <a:ext uri="{FF2B5EF4-FFF2-40B4-BE49-F238E27FC236}">
                <a16:creationId xmlns:a16="http://schemas.microsoft.com/office/drawing/2014/main" id="{FD440B2B-CC6A-5506-A04A-3566B451C41E}"/>
              </a:ext>
            </a:extLst>
          </p:cNvPr>
          <p:cNvSpPr/>
          <p:nvPr/>
        </p:nvSpPr>
        <p:spPr>
          <a:xfrm>
            <a:off x="2091543" y="4559498"/>
            <a:ext cx="577524" cy="221931"/>
          </a:xfrm>
          <a:custGeom>
            <a:avLst/>
            <a:gdLst>
              <a:gd name="csX0" fmla="*/ 723267 w 723267"/>
              <a:gd name="csY0" fmla="*/ 309363 h 309363"/>
              <a:gd name="csX1" fmla="*/ 327968 w 723267"/>
              <a:gd name="csY1" fmla="*/ 92166 h 309363"/>
              <a:gd name="csX2" fmla="*/ 228057 w 723267"/>
              <a:gd name="csY2" fmla="*/ 233344 h 309363"/>
              <a:gd name="csX3" fmla="*/ 401815 w 723267"/>
              <a:gd name="csY3" fmla="*/ 281127 h 309363"/>
              <a:gd name="csX4" fmla="*/ 393127 w 723267"/>
              <a:gd name="csY4" fmla="*/ 155153 h 309363"/>
              <a:gd name="csX5" fmla="*/ 173758 w 723267"/>
              <a:gd name="csY5" fmla="*/ 5287 h 309363"/>
              <a:gd name="csX6" fmla="*/ 76019 w 723267"/>
              <a:gd name="csY6" fmla="*/ 40038 h 309363"/>
              <a:gd name="csX7" fmla="*/ 0 w 723267"/>
              <a:gd name="csY7" fmla="*/ 100853 h 3093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23267" h="309363">
                <a:moveTo>
                  <a:pt x="723267" y="309363"/>
                </a:moveTo>
                <a:cubicBezTo>
                  <a:pt x="566885" y="207099"/>
                  <a:pt x="410503" y="104836"/>
                  <a:pt x="327968" y="92166"/>
                </a:cubicBezTo>
                <a:cubicBezTo>
                  <a:pt x="245433" y="79496"/>
                  <a:pt x="215749" y="201850"/>
                  <a:pt x="228057" y="233344"/>
                </a:cubicBezTo>
                <a:cubicBezTo>
                  <a:pt x="240365" y="264837"/>
                  <a:pt x="374303" y="294159"/>
                  <a:pt x="401815" y="281127"/>
                </a:cubicBezTo>
                <a:cubicBezTo>
                  <a:pt x="429327" y="268095"/>
                  <a:pt x="431136" y="201126"/>
                  <a:pt x="393127" y="155153"/>
                </a:cubicBezTo>
                <a:cubicBezTo>
                  <a:pt x="355117" y="109180"/>
                  <a:pt x="226609" y="24473"/>
                  <a:pt x="173758" y="5287"/>
                </a:cubicBezTo>
                <a:cubicBezTo>
                  <a:pt x="120907" y="-13899"/>
                  <a:pt x="104979" y="24110"/>
                  <a:pt x="76019" y="40038"/>
                </a:cubicBezTo>
                <a:cubicBezTo>
                  <a:pt x="47059" y="55966"/>
                  <a:pt x="23529" y="78409"/>
                  <a:pt x="0" y="100853"/>
                </a:cubicBezTo>
              </a:path>
            </a:pathLst>
          </a:custGeom>
          <a:no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tlCol="0" anchor="ctr"/>
          <a:lstStyle/>
          <a:p>
            <a:pPr algn="ctr"/>
            <a:endParaRPr lang="en-US"/>
          </a:p>
        </p:txBody>
      </p:sp>
      <p:grpSp>
        <p:nvGrpSpPr>
          <p:cNvPr id="598" name="Group 597">
            <a:extLst>
              <a:ext uri="{FF2B5EF4-FFF2-40B4-BE49-F238E27FC236}">
                <a16:creationId xmlns:a16="http://schemas.microsoft.com/office/drawing/2014/main" id="{46F89FD0-358A-048E-A966-96278CFE0DC2}"/>
              </a:ext>
            </a:extLst>
          </p:cNvPr>
          <p:cNvGrpSpPr>
            <a:grpSpLocks noChangeAspect="1"/>
          </p:cNvGrpSpPr>
          <p:nvPr/>
        </p:nvGrpSpPr>
        <p:grpSpPr>
          <a:xfrm>
            <a:off x="793232" y="4104383"/>
            <a:ext cx="2689275" cy="882365"/>
            <a:chOff x="4950934" y="1968399"/>
            <a:chExt cx="3846889" cy="1262183"/>
          </a:xfrm>
        </p:grpSpPr>
        <p:sp>
          <p:nvSpPr>
            <p:cNvPr id="607" name="Rectangle: Rounded Corners 606">
              <a:extLst>
                <a:ext uri="{FF2B5EF4-FFF2-40B4-BE49-F238E27FC236}">
                  <a16:creationId xmlns:a16="http://schemas.microsoft.com/office/drawing/2014/main" id="{D49F2B5B-79B1-25C4-8F9C-663B81515009}"/>
                </a:ext>
              </a:extLst>
            </p:cNvPr>
            <p:cNvSpPr>
              <a:spLocks noChangeAspect="1"/>
            </p:cNvSpPr>
            <p:nvPr/>
          </p:nvSpPr>
          <p:spPr>
            <a:xfrm>
              <a:off x="7122430" y="2237356"/>
              <a:ext cx="209840" cy="211365"/>
            </a:xfrm>
            <a:prstGeom prst="roundRect">
              <a:avLst/>
            </a:prstGeom>
            <a:solidFill>
              <a:schemeClr val="bg1"/>
            </a:solidFill>
            <a:ln w="6350" cap="flat">
              <a:solidFill>
                <a:schemeClr val="bg2">
                  <a:lumMod val="10000"/>
                </a:schemeClr>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pic>
          <p:nvPicPr>
            <p:cNvPr id="611" name="Graphic 610" descr="Paper outline">
              <a:extLst>
                <a:ext uri="{FF2B5EF4-FFF2-40B4-BE49-F238E27FC236}">
                  <a16:creationId xmlns:a16="http://schemas.microsoft.com/office/drawing/2014/main" id="{D08680FE-835D-EBDE-303C-1EC65B3DF32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812176" y="1986019"/>
              <a:ext cx="985647" cy="985647"/>
            </a:xfrm>
            <a:prstGeom prst="rect">
              <a:avLst/>
            </a:prstGeom>
          </p:spPr>
        </p:pic>
        <p:pic>
          <p:nvPicPr>
            <p:cNvPr id="612" name="Graphic 611" descr="Paper outline">
              <a:extLst>
                <a:ext uri="{FF2B5EF4-FFF2-40B4-BE49-F238E27FC236}">
                  <a16:creationId xmlns:a16="http://schemas.microsoft.com/office/drawing/2014/main" id="{9C2DF2D4-4732-CDB9-5E09-C4B114716D1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198996" y="1968399"/>
              <a:ext cx="985647" cy="985647"/>
            </a:xfrm>
            <a:prstGeom prst="rect">
              <a:avLst/>
            </a:prstGeom>
          </p:spPr>
        </p:pic>
        <p:sp>
          <p:nvSpPr>
            <p:cNvPr id="616" name="Rectangle: Rounded Corners 615">
              <a:extLst>
                <a:ext uri="{FF2B5EF4-FFF2-40B4-BE49-F238E27FC236}">
                  <a16:creationId xmlns:a16="http://schemas.microsoft.com/office/drawing/2014/main" id="{29EC5BEE-6A5D-F4D4-C1CB-5B817F55566E}"/>
                </a:ext>
              </a:extLst>
            </p:cNvPr>
            <p:cNvSpPr>
              <a:spLocks noChangeAspect="1"/>
            </p:cNvSpPr>
            <p:nvPr/>
          </p:nvSpPr>
          <p:spPr>
            <a:xfrm>
              <a:off x="5543463" y="2199523"/>
              <a:ext cx="210312" cy="210312"/>
            </a:xfrm>
            <a:prstGeom prst="roundRect">
              <a:avLst/>
            </a:prstGeom>
            <a:solidFill>
              <a:schemeClr val="bg2">
                <a:lumMod val="10000"/>
              </a:schemeClr>
            </a:solidFill>
            <a:ln w="635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617" name="TextBox 616">
              <a:extLst>
                <a:ext uri="{FF2B5EF4-FFF2-40B4-BE49-F238E27FC236}">
                  <a16:creationId xmlns:a16="http://schemas.microsoft.com/office/drawing/2014/main" id="{062715FB-384F-5C1C-6AED-6C34691261C7}"/>
                </a:ext>
              </a:extLst>
            </p:cNvPr>
            <p:cNvSpPr txBox="1"/>
            <p:nvPr/>
          </p:nvSpPr>
          <p:spPr>
            <a:xfrm>
              <a:off x="5190527" y="2647353"/>
              <a:ext cx="1380450" cy="5832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Incorrect Git Log </a:t>
              </a:r>
            </a:p>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Path specified</a:t>
              </a:r>
            </a:p>
          </p:txBody>
        </p:sp>
        <p:pic>
          <p:nvPicPr>
            <p:cNvPr id="2" name="Picture 1" descr="Account ">
              <a:extLst>
                <a:ext uri="{FF2B5EF4-FFF2-40B4-BE49-F238E27FC236}">
                  <a16:creationId xmlns:a16="http://schemas.microsoft.com/office/drawing/2014/main" id="{5AA4BD8E-1252-36F1-AE99-96583CB3525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50934" y="2244779"/>
              <a:ext cx="437146" cy="437146"/>
            </a:xfrm>
            <a:prstGeom prst="rect">
              <a:avLst/>
            </a:prstGeom>
            <a:noFill/>
            <a:extLst>
              <a:ext uri="{909E8E84-426E-40DD-AFC4-6F175D3DCCD1}">
                <a14:hiddenFill xmlns:a14="http://schemas.microsoft.com/office/drawing/2010/main">
                  <a:solidFill>
                    <a:srgbClr val="FFFFFF"/>
                  </a:solidFill>
                </a14:hiddenFill>
              </a:ext>
            </a:extLst>
          </p:spPr>
        </p:pic>
        <p:sp>
          <p:nvSpPr>
            <p:cNvPr id="590" name="Freeform: Shape 589">
              <a:extLst>
                <a:ext uri="{FF2B5EF4-FFF2-40B4-BE49-F238E27FC236}">
                  <a16:creationId xmlns:a16="http://schemas.microsoft.com/office/drawing/2014/main" id="{7D72A36A-E421-A72E-7F73-652C438E315E}"/>
                </a:ext>
              </a:extLst>
            </p:cNvPr>
            <p:cNvSpPr>
              <a:spLocks noChangeAspect="1"/>
            </p:cNvSpPr>
            <p:nvPr/>
          </p:nvSpPr>
          <p:spPr>
            <a:xfrm>
              <a:off x="7350904" y="2353437"/>
              <a:ext cx="503898" cy="318580"/>
            </a:xfrm>
            <a:custGeom>
              <a:avLst/>
              <a:gdLst>
                <a:gd name="csX0" fmla="*/ 503898 w 503898"/>
                <a:gd name="csY0" fmla="*/ 314936 h 318580"/>
                <a:gd name="csX1" fmla="*/ 356204 w 503898"/>
                <a:gd name="csY1" fmla="*/ 45611 h 318580"/>
                <a:gd name="csX2" fmla="*/ 121631 w 503898"/>
                <a:gd name="csY2" fmla="*/ 108598 h 318580"/>
                <a:gd name="csX3" fmla="*/ 134663 w 503898"/>
                <a:gd name="csY3" fmla="*/ 297560 h 318580"/>
                <a:gd name="csX4" fmla="*/ 323624 w 503898"/>
                <a:gd name="csY4" fmla="*/ 293216 h 318580"/>
                <a:gd name="csX5" fmla="*/ 345344 w 503898"/>
                <a:gd name="csY5" fmla="*/ 112942 h 318580"/>
                <a:gd name="csX6" fmla="*/ 0 w 503898"/>
                <a:gd name="csY6" fmla="*/ 0 h 318580"/>
                <a:gd name="csX7" fmla="*/ 0 w 503898"/>
                <a:gd name="csY7" fmla="*/ 0 h 3185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03898" h="318580" extrusionOk="0">
                  <a:moveTo>
                    <a:pt x="503898" y="314936"/>
                  </a:moveTo>
                  <a:cubicBezTo>
                    <a:pt x="453006" y="191978"/>
                    <a:pt x="414467" y="82046"/>
                    <a:pt x="356204" y="45611"/>
                  </a:cubicBezTo>
                  <a:cubicBezTo>
                    <a:pt x="295391" y="11831"/>
                    <a:pt x="155867" y="66692"/>
                    <a:pt x="121631" y="108598"/>
                  </a:cubicBezTo>
                  <a:cubicBezTo>
                    <a:pt x="81145" y="154068"/>
                    <a:pt x="99822" y="273283"/>
                    <a:pt x="134663" y="297560"/>
                  </a:cubicBezTo>
                  <a:cubicBezTo>
                    <a:pt x="164724" y="326358"/>
                    <a:pt x="291600" y="325462"/>
                    <a:pt x="323624" y="293216"/>
                  </a:cubicBezTo>
                  <a:cubicBezTo>
                    <a:pt x="364880" y="263175"/>
                    <a:pt x="404818" y="150415"/>
                    <a:pt x="345344" y="112942"/>
                  </a:cubicBezTo>
                  <a:cubicBezTo>
                    <a:pt x="291407" y="64073"/>
                    <a:pt x="-1" y="1"/>
                    <a:pt x="0" y="0"/>
                  </a:cubicBezTo>
                  <a:lnTo>
                    <a:pt x="0" y="0"/>
                  </a:lnTo>
                </a:path>
              </a:pathLst>
            </a:custGeom>
            <a:noFill/>
            <a:ln w="12700" cap="rnd">
              <a:solidFill>
                <a:schemeClr val="bg2">
                  <a:lumMod val="10000"/>
                </a:schemeClr>
              </a:solidFill>
              <a:prstDash val="dash"/>
              <a:miter lim="400000"/>
              <a:extLst>
                <a:ext uri="{C807C97D-BFC1-408E-A445-0C87EB9F89A2}">
                  <ask:lineSketchStyleProps xmlns:ask="http://schemas.microsoft.com/office/drawing/2018/sketchyshapes" sd="1219033472">
                    <a:custGeom>
                      <a:avLst/>
                      <a:gdLst>
                        <a:gd name="csX0" fmla="*/ 503898 w 503898"/>
                        <a:gd name="csY0" fmla="*/ 314936 h 318580"/>
                        <a:gd name="csX1" fmla="*/ 356204 w 503898"/>
                        <a:gd name="csY1" fmla="*/ 45611 h 318580"/>
                        <a:gd name="csX2" fmla="*/ 121631 w 503898"/>
                        <a:gd name="csY2" fmla="*/ 108598 h 318580"/>
                        <a:gd name="csX3" fmla="*/ 134663 w 503898"/>
                        <a:gd name="csY3" fmla="*/ 297560 h 318580"/>
                        <a:gd name="csX4" fmla="*/ 323624 w 503898"/>
                        <a:gd name="csY4" fmla="*/ 293216 h 318580"/>
                        <a:gd name="csX5" fmla="*/ 345344 w 503898"/>
                        <a:gd name="csY5" fmla="*/ 112942 h 318580"/>
                        <a:gd name="csX6" fmla="*/ 0 w 503898"/>
                        <a:gd name="csY6" fmla="*/ 0 h 318580"/>
                        <a:gd name="csX7" fmla="*/ 0 w 503898"/>
                        <a:gd name="csY7" fmla="*/ 0 h 3185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03898" h="318580">
                          <a:moveTo>
                            <a:pt x="503898" y="314936"/>
                          </a:moveTo>
                          <a:cubicBezTo>
                            <a:pt x="461906" y="197468"/>
                            <a:pt x="419915" y="80001"/>
                            <a:pt x="356204" y="45611"/>
                          </a:cubicBezTo>
                          <a:cubicBezTo>
                            <a:pt x="292493" y="11221"/>
                            <a:pt x="158554" y="66607"/>
                            <a:pt x="121631" y="108598"/>
                          </a:cubicBezTo>
                          <a:cubicBezTo>
                            <a:pt x="84708" y="150589"/>
                            <a:pt x="100997" y="266790"/>
                            <a:pt x="134663" y="297560"/>
                          </a:cubicBezTo>
                          <a:cubicBezTo>
                            <a:pt x="168329" y="328330"/>
                            <a:pt x="288511" y="323986"/>
                            <a:pt x="323624" y="293216"/>
                          </a:cubicBezTo>
                          <a:cubicBezTo>
                            <a:pt x="358737" y="262446"/>
                            <a:pt x="399281" y="161811"/>
                            <a:pt x="345344" y="112942"/>
                          </a:cubicBezTo>
                          <a:cubicBezTo>
                            <a:pt x="291407" y="64073"/>
                            <a:pt x="0" y="0"/>
                            <a:pt x="0" y="0"/>
                          </a:cubicBezTo>
                          <a:lnTo>
                            <a:pt x="0" y="0"/>
                          </a:lnTo>
                        </a:path>
                      </a:pathLst>
                    </a:custGeom>
                    <ask:type>
                      <ask:lineSketchCurved/>
                    </ask:type>
                  </ask:lineSketchStyleProps>
                </a:ext>
              </a:extLst>
            </a:ln>
            <a:effectLst/>
            <a:sp3d/>
          </p:spPr>
          <p:style>
            <a:lnRef idx="0">
              <a:scrgbClr r="0" g="0" b="0"/>
            </a:lnRef>
            <a:fillRef idx="0">
              <a:scrgbClr r="0" g="0" b="0"/>
            </a:fillRef>
            <a:effectRef idx="0">
              <a:scrgbClr r="0" g="0" b="0"/>
            </a:effectRef>
            <a:fontRef idx="none"/>
          </p:style>
          <p:txBody>
            <a:bodyPr rtlCol="0" anchor="ctr"/>
            <a:lstStyle/>
            <a:p>
              <a:pPr algn="ctr"/>
              <a:endParaRPr lang="en-US"/>
            </a:p>
          </p:txBody>
        </p:sp>
        <p:sp>
          <p:nvSpPr>
            <p:cNvPr id="592" name="Freeform: Shape 591">
              <a:extLst>
                <a:ext uri="{FF2B5EF4-FFF2-40B4-BE49-F238E27FC236}">
                  <a16:creationId xmlns:a16="http://schemas.microsoft.com/office/drawing/2014/main" id="{23E19E60-5BD3-FBC4-5269-1E659EAF6864}"/>
                </a:ext>
              </a:extLst>
            </p:cNvPr>
            <p:cNvSpPr>
              <a:spLocks noChangeAspect="1"/>
            </p:cNvSpPr>
            <p:nvPr/>
          </p:nvSpPr>
          <p:spPr>
            <a:xfrm>
              <a:off x="5773452" y="2306777"/>
              <a:ext cx="503898" cy="318580"/>
            </a:xfrm>
            <a:custGeom>
              <a:avLst/>
              <a:gdLst>
                <a:gd name="csX0" fmla="*/ 503898 w 503898"/>
                <a:gd name="csY0" fmla="*/ 314936 h 318580"/>
                <a:gd name="csX1" fmla="*/ 356204 w 503898"/>
                <a:gd name="csY1" fmla="*/ 45611 h 318580"/>
                <a:gd name="csX2" fmla="*/ 121631 w 503898"/>
                <a:gd name="csY2" fmla="*/ 108598 h 318580"/>
                <a:gd name="csX3" fmla="*/ 134663 w 503898"/>
                <a:gd name="csY3" fmla="*/ 297560 h 318580"/>
                <a:gd name="csX4" fmla="*/ 323624 w 503898"/>
                <a:gd name="csY4" fmla="*/ 293216 h 318580"/>
                <a:gd name="csX5" fmla="*/ 345344 w 503898"/>
                <a:gd name="csY5" fmla="*/ 112942 h 318580"/>
                <a:gd name="csX6" fmla="*/ 0 w 503898"/>
                <a:gd name="csY6" fmla="*/ 0 h 318580"/>
                <a:gd name="csX7" fmla="*/ 0 w 503898"/>
                <a:gd name="csY7" fmla="*/ 0 h 3185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03898" h="318580" extrusionOk="0">
                  <a:moveTo>
                    <a:pt x="503898" y="314936"/>
                  </a:moveTo>
                  <a:cubicBezTo>
                    <a:pt x="453006" y="191978"/>
                    <a:pt x="414467" y="82046"/>
                    <a:pt x="356204" y="45611"/>
                  </a:cubicBezTo>
                  <a:cubicBezTo>
                    <a:pt x="295391" y="11831"/>
                    <a:pt x="155867" y="66692"/>
                    <a:pt x="121631" y="108598"/>
                  </a:cubicBezTo>
                  <a:cubicBezTo>
                    <a:pt x="81145" y="154068"/>
                    <a:pt x="99822" y="273283"/>
                    <a:pt x="134663" y="297560"/>
                  </a:cubicBezTo>
                  <a:cubicBezTo>
                    <a:pt x="164724" y="326358"/>
                    <a:pt x="291600" y="325462"/>
                    <a:pt x="323624" y="293216"/>
                  </a:cubicBezTo>
                  <a:cubicBezTo>
                    <a:pt x="364880" y="263175"/>
                    <a:pt x="404818" y="150415"/>
                    <a:pt x="345344" y="112942"/>
                  </a:cubicBezTo>
                  <a:cubicBezTo>
                    <a:pt x="291407" y="64073"/>
                    <a:pt x="-1" y="1"/>
                    <a:pt x="0" y="0"/>
                  </a:cubicBezTo>
                  <a:lnTo>
                    <a:pt x="0" y="0"/>
                  </a:lnTo>
                </a:path>
              </a:pathLst>
            </a:custGeom>
            <a:noFill/>
            <a:ln w="12700" cap="rnd">
              <a:solidFill>
                <a:schemeClr val="bg2">
                  <a:lumMod val="10000"/>
                </a:schemeClr>
              </a:solidFill>
              <a:prstDash val="dash"/>
              <a:miter lim="400000"/>
              <a:extLst>
                <a:ext uri="{C807C97D-BFC1-408E-A445-0C87EB9F89A2}">
                  <ask:lineSketchStyleProps xmlns:ask="http://schemas.microsoft.com/office/drawing/2018/sketchyshapes" sd="1219033472">
                    <a:custGeom>
                      <a:avLst/>
                      <a:gdLst>
                        <a:gd name="csX0" fmla="*/ 503898 w 503898"/>
                        <a:gd name="csY0" fmla="*/ 314936 h 318580"/>
                        <a:gd name="csX1" fmla="*/ 356204 w 503898"/>
                        <a:gd name="csY1" fmla="*/ 45611 h 318580"/>
                        <a:gd name="csX2" fmla="*/ 121631 w 503898"/>
                        <a:gd name="csY2" fmla="*/ 108598 h 318580"/>
                        <a:gd name="csX3" fmla="*/ 134663 w 503898"/>
                        <a:gd name="csY3" fmla="*/ 297560 h 318580"/>
                        <a:gd name="csX4" fmla="*/ 323624 w 503898"/>
                        <a:gd name="csY4" fmla="*/ 293216 h 318580"/>
                        <a:gd name="csX5" fmla="*/ 345344 w 503898"/>
                        <a:gd name="csY5" fmla="*/ 112942 h 318580"/>
                        <a:gd name="csX6" fmla="*/ 0 w 503898"/>
                        <a:gd name="csY6" fmla="*/ 0 h 318580"/>
                        <a:gd name="csX7" fmla="*/ 0 w 503898"/>
                        <a:gd name="csY7" fmla="*/ 0 h 3185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03898" h="318580">
                          <a:moveTo>
                            <a:pt x="503898" y="314936"/>
                          </a:moveTo>
                          <a:cubicBezTo>
                            <a:pt x="461906" y="197468"/>
                            <a:pt x="419915" y="80001"/>
                            <a:pt x="356204" y="45611"/>
                          </a:cubicBezTo>
                          <a:cubicBezTo>
                            <a:pt x="292493" y="11221"/>
                            <a:pt x="158554" y="66607"/>
                            <a:pt x="121631" y="108598"/>
                          </a:cubicBezTo>
                          <a:cubicBezTo>
                            <a:pt x="84708" y="150589"/>
                            <a:pt x="100997" y="266790"/>
                            <a:pt x="134663" y="297560"/>
                          </a:cubicBezTo>
                          <a:cubicBezTo>
                            <a:pt x="168329" y="328330"/>
                            <a:pt x="288511" y="323986"/>
                            <a:pt x="323624" y="293216"/>
                          </a:cubicBezTo>
                          <a:cubicBezTo>
                            <a:pt x="358737" y="262446"/>
                            <a:pt x="399281" y="161811"/>
                            <a:pt x="345344" y="112942"/>
                          </a:cubicBezTo>
                          <a:cubicBezTo>
                            <a:pt x="291407" y="64073"/>
                            <a:pt x="0" y="0"/>
                            <a:pt x="0" y="0"/>
                          </a:cubicBezTo>
                          <a:lnTo>
                            <a:pt x="0" y="0"/>
                          </a:lnTo>
                        </a:path>
                      </a:pathLst>
                    </a:custGeom>
                    <ask:type>
                      <ask:lineSketchCurved/>
                    </ask:type>
                  </ask:lineSketchStyleProps>
                </a:ext>
              </a:extLst>
            </a:ln>
            <a:effectLst/>
            <a:sp3d/>
          </p:spPr>
          <p:style>
            <a:lnRef idx="0">
              <a:scrgbClr r="0" g="0" b="0"/>
            </a:lnRef>
            <a:fillRef idx="0">
              <a:scrgbClr r="0" g="0" b="0"/>
            </a:fillRef>
            <a:effectRef idx="0">
              <a:scrgbClr r="0" g="0" b="0"/>
            </a:effectRef>
            <a:fontRef idx="none"/>
          </p:style>
          <p:txBody>
            <a:bodyPr rtlCol="0" anchor="ctr"/>
            <a:lstStyle/>
            <a:p>
              <a:pPr algn="ctr"/>
              <a:endParaRPr lang="en-US"/>
            </a:p>
          </p:txBody>
        </p:sp>
      </p:grpSp>
      <p:sp>
        <p:nvSpPr>
          <p:cNvPr id="596" name="Line">
            <a:extLst>
              <a:ext uri="{FF2B5EF4-FFF2-40B4-BE49-F238E27FC236}">
                <a16:creationId xmlns:a16="http://schemas.microsoft.com/office/drawing/2014/main" id="{197124A3-4BEB-D75B-B843-82E037B618E6}"/>
              </a:ext>
            </a:extLst>
          </p:cNvPr>
          <p:cNvSpPr/>
          <p:nvPr/>
        </p:nvSpPr>
        <p:spPr>
          <a:xfrm flipV="1">
            <a:off x="203261" y="6039020"/>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 name="TextBox 3">
            <a:extLst>
              <a:ext uri="{FF2B5EF4-FFF2-40B4-BE49-F238E27FC236}">
                <a16:creationId xmlns:a16="http://schemas.microsoft.com/office/drawing/2014/main" id="{31E09925-C397-0C04-DBA8-DEC60BB33B65}"/>
              </a:ext>
            </a:extLst>
          </p:cNvPr>
          <p:cNvSpPr txBox="1"/>
          <p:nvPr/>
        </p:nvSpPr>
        <p:spPr>
          <a:xfrm>
            <a:off x="198229" y="4876625"/>
            <a:ext cx="4184378"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tx1">
                    <a:lumMod val="50000"/>
                  </a:schemeClr>
                </a:solidFill>
              </a:rPr>
              <a:t>A common example in Kaiaulu is an invalid Git Log Path specified in a parser, which moves to a transform, and eventually throws an error in an .Rmd file. </a:t>
            </a:r>
            <a:endParaRPr lang="en-US" b="0" dirty="0">
              <a:solidFill>
                <a:schemeClr val="tx1"/>
              </a:solidFill>
              <a:effectLst/>
              <a:latin typeface="Source Sans Pro" panose="020B0503030403020204" pitchFamily="34" charset="0"/>
              <a:ea typeface="Source Sans Pro" panose="020B0503030403020204" pitchFamily="34" charset="0"/>
            </a:endParaRPr>
          </a:p>
        </p:txBody>
      </p:sp>
      <p:grpSp>
        <p:nvGrpSpPr>
          <p:cNvPr id="60" name="Group 59">
            <a:extLst>
              <a:ext uri="{FF2B5EF4-FFF2-40B4-BE49-F238E27FC236}">
                <a16:creationId xmlns:a16="http://schemas.microsoft.com/office/drawing/2014/main" id="{DA944C03-54E7-CB97-99C4-60A1BFAC396C}"/>
              </a:ext>
            </a:extLst>
          </p:cNvPr>
          <p:cNvGrpSpPr/>
          <p:nvPr/>
        </p:nvGrpSpPr>
        <p:grpSpPr>
          <a:xfrm>
            <a:off x="147267" y="6043688"/>
            <a:ext cx="4625034" cy="3456118"/>
            <a:chOff x="4579241" y="1386286"/>
            <a:chExt cx="4625034" cy="3456118"/>
          </a:xfrm>
        </p:grpSpPr>
        <p:sp>
          <p:nvSpPr>
            <p:cNvPr id="500" name="Google Shape;318;p17">
              <a:extLst>
                <a:ext uri="{FF2B5EF4-FFF2-40B4-BE49-F238E27FC236}">
                  <a16:creationId xmlns:a16="http://schemas.microsoft.com/office/drawing/2014/main" id="{76216AF5-B4B3-7CEB-AB19-A37774F753D0}"/>
                </a:ext>
              </a:extLst>
            </p:cNvPr>
            <p:cNvSpPr txBox="1"/>
            <p:nvPr/>
          </p:nvSpPr>
          <p:spPr>
            <a:xfrm>
              <a:off x="7569011" y="4385763"/>
              <a:ext cx="1635264"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US" sz="1400" dirty="0"/>
                <a:t>Tests/**</a:t>
              </a:r>
              <a:endParaRPr sz="1400" dirty="0"/>
            </a:p>
          </p:txBody>
        </p:sp>
        <p:pic>
          <p:nvPicPr>
            <p:cNvPr id="46" name="Graphic 45" descr="Paper outline">
              <a:extLst>
                <a:ext uri="{FF2B5EF4-FFF2-40B4-BE49-F238E27FC236}">
                  <a16:creationId xmlns:a16="http://schemas.microsoft.com/office/drawing/2014/main" id="{2BED0E61-51C6-39E1-AC6A-329731404B7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472828" y="3511751"/>
              <a:ext cx="1118249" cy="1118249"/>
            </a:xfrm>
            <a:prstGeom prst="rect">
              <a:avLst/>
            </a:prstGeom>
          </p:spPr>
        </p:pic>
        <p:pic>
          <p:nvPicPr>
            <p:cNvPr id="47" name="Graphic 46" descr="Paper outline">
              <a:extLst>
                <a:ext uri="{FF2B5EF4-FFF2-40B4-BE49-F238E27FC236}">
                  <a16:creationId xmlns:a16="http://schemas.microsoft.com/office/drawing/2014/main" id="{75170E85-6EE4-EC3A-1873-7649C2C7331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308249" y="1729662"/>
              <a:ext cx="1731153" cy="1731153"/>
            </a:xfrm>
            <a:prstGeom prst="rect">
              <a:avLst/>
            </a:prstGeom>
          </p:spPr>
        </p:pic>
        <p:sp>
          <p:nvSpPr>
            <p:cNvPr id="48" name="TextBox 47">
              <a:extLst>
                <a:ext uri="{FF2B5EF4-FFF2-40B4-BE49-F238E27FC236}">
                  <a16:creationId xmlns:a16="http://schemas.microsoft.com/office/drawing/2014/main" id="{B7382313-0878-899C-BD35-2EAF0C9C5DC8}"/>
                </a:ext>
              </a:extLst>
            </p:cNvPr>
            <p:cNvSpPr txBox="1"/>
            <p:nvPr/>
          </p:nvSpPr>
          <p:spPr>
            <a:xfrm>
              <a:off x="6628421" y="1816169"/>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Downloaders</a:t>
              </a:r>
              <a:endParaRPr lang="en-US" sz="800" b="0" dirty="0"/>
            </a:p>
          </p:txBody>
        </p:sp>
        <p:sp>
          <p:nvSpPr>
            <p:cNvPr id="49" name="TextBox 48">
              <a:extLst>
                <a:ext uri="{FF2B5EF4-FFF2-40B4-BE49-F238E27FC236}">
                  <a16:creationId xmlns:a16="http://schemas.microsoft.com/office/drawing/2014/main" id="{158F7EBA-49CB-1E0D-A66D-8C37EF2E84A5}"/>
                </a:ext>
              </a:extLst>
            </p:cNvPr>
            <p:cNvSpPr txBox="1"/>
            <p:nvPr/>
          </p:nvSpPr>
          <p:spPr>
            <a:xfrm>
              <a:off x="6632322" y="1915620"/>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51" name="TextBox 50">
              <a:extLst>
                <a:ext uri="{FF2B5EF4-FFF2-40B4-BE49-F238E27FC236}">
                  <a16:creationId xmlns:a16="http://schemas.microsoft.com/office/drawing/2014/main" id="{17AB849F-7CD4-DA7F-D0BC-86F7F5517F5B}"/>
                </a:ext>
              </a:extLst>
            </p:cNvPr>
            <p:cNvSpPr txBox="1"/>
            <p:nvPr/>
          </p:nvSpPr>
          <p:spPr>
            <a:xfrm>
              <a:off x="6632904" y="2330550"/>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52" name="TextBox 51">
              <a:extLst>
                <a:ext uri="{FF2B5EF4-FFF2-40B4-BE49-F238E27FC236}">
                  <a16:creationId xmlns:a16="http://schemas.microsoft.com/office/drawing/2014/main" id="{DBEE51A3-D39E-B7A7-FD55-97CBAADFC475}"/>
                </a:ext>
              </a:extLst>
            </p:cNvPr>
            <p:cNvSpPr txBox="1"/>
            <p:nvPr/>
          </p:nvSpPr>
          <p:spPr>
            <a:xfrm>
              <a:off x="6628421" y="2224455"/>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Parsers</a:t>
              </a:r>
              <a:endParaRPr lang="en-US" sz="800" b="0" dirty="0"/>
            </a:p>
          </p:txBody>
        </p:sp>
        <p:sp>
          <p:nvSpPr>
            <p:cNvPr id="494" name="TextBox 493">
              <a:extLst>
                <a:ext uri="{FF2B5EF4-FFF2-40B4-BE49-F238E27FC236}">
                  <a16:creationId xmlns:a16="http://schemas.microsoft.com/office/drawing/2014/main" id="{920915EA-AC14-CCDD-BA2E-BA4C8CB88D11}"/>
                </a:ext>
              </a:extLst>
            </p:cNvPr>
            <p:cNvSpPr txBox="1"/>
            <p:nvPr/>
          </p:nvSpPr>
          <p:spPr>
            <a:xfrm>
              <a:off x="6637886" y="2739482"/>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496" name="TextBox 495">
              <a:extLst>
                <a:ext uri="{FF2B5EF4-FFF2-40B4-BE49-F238E27FC236}">
                  <a16:creationId xmlns:a16="http://schemas.microsoft.com/office/drawing/2014/main" id="{B518117F-20BA-1B61-D800-0C8537F2525A}"/>
                </a:ext>
              </a:extLst>
            </p:cNvPr>
            <p:cNvSpPr txBox="1"/>
            <p:nvPr/>
          </p:nvSpPr>
          <p:spPr>
            <a:xfrm>
              <a:off x="6632322" y="2635186"/>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Transforms</a:t>
              </a:r>
              <a:endParaRPr lang="en-US" sz="800" b="0" dirty="0"/>
            </a:p>
          </p:txBody>
        </p:sp>
        <p:pic>
          <p:nvPicPr>
            <p:cNvPr id="497" name="Graphic 496" descr="Paper outline">
              <a:extLst>
                <a:ext uri="{FF2B5EF4-FFF2-40B4-BE49-F238E27FC236}">
                  <a16:creationId xmlns:a16="http://schemas.microsoft.com/office/drawing/2014/main" id="{74433E32-9F03-4D89-F4AE-4FDD98E95B5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767401" y="3574257"/>
              <a:ext cx="1118249" cy="1118249"/>
            </a:xfrm>
            <a:prstGeom prst="rect">
              <a:avLst/>
            </a:prstGeom>
          </p:spPr>
        </p:pic>
        <p:sp>
          <p:nvSpPr>
            <p:cNvPr id="503" name="TextBox 502">
              <a:extLst>
                <a:ext uri="{FF2B5EF4-FFF2-40B4-BE49-F238E27FC236}">
                  <a16:creationId xmlns:a16="http://schemas.microsoft.com/office/drawing/2014/main" id="{BF76071D-787A-9CC8-AE92-503CC0D21261}"/>
                </a:ext>
              </a:extLst>
            </p:cNvPr>
            <p:cNvSpPr txBox="1"/>
            <p:nvPr/>
          </p:nvSpPr>
          <p:spPr>
            <a:xfrm>
              <a:off x="7988311" y="3948985"/>
              <a:ext cx="676428"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1000" b="0" dirty="0"/>
                <a:t>testthat</a:t>
              </a:r>
              <a:endParaRPr kumimoji="0" lang="en-US" sz="1000" b="0" i="0" u="none" strike="noStrike" cap="none" spc="0" normalizeH="0" baseline="0" dirty="0">
                <a:ln>
                  <a:noFill/>
                </a:ln>
                <a:effectLst/>
                <a:uFillTx/>
                <a:latin typeface="Source Sans Pro"/>
                <a:ea typeface="Source Sans Pro"/>
                <a:cs typeface="Source Sans Pro"/>
                <a:sym typeface="Source Sans Pro"/>
              </a:endParaRPr>
            </a:p>
          </p:txBody>
        </p:sp>
        <p:sp>
          <p:nvSpPr>
            <p:cNvPr id="505" name="Google Shape;346;p17">
              <a:extLst>
                <a:ext uri="{FF2B5EF4-FFF2-40B4-BE49-F238E27FC236}">
                  <a16:creationId xmlns:a16="http://schemas.microsoft.com/office/drawing/2014/main" id="{E817379D-D756-3A04-F853-ADC3FEAC82EC}"/>
                </a:ext>
              </a:extLst>
            </p:cNvPr>
            <p:cNvSpPr/>
            <p:nvPr/>
          </p:nvSpPr>
          <p:spPr>
            <a:xfrm>
              <a:off x="8058998" y="3974643"/>
              <a:ext cx="549624" cy="255847"/>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spcBef>
                  <a:spcPts val="0"/>
                </a:spcBef>
              </a:pPr>
              <a:endParaRPr sz="1833"/>
            </a:p>
          </p:txBody>
        </p:sp>
        <p:sp>
          <p:nvSpPr>
            <p:cNvPr id="506" name="Google Shape;317;p17">
              <a:extLst>
                <a:ext uri="{FF2B5EF4-FFF2-40B4-BE49-F238E27FC236}">
                  <a16:creationId xmlns:a16="http://schemas.microsoft.com/office/drawing/2014/main" id="{20E2C45B-B5BE-0F11-A6F1-4E37F4FD8012}"/>
                </a:ext>
              </a:extLst>
            </p:cNvPr>
            <p:cNvSpPr txBox="1"/>
            <p:nvPr/>
          </p:nvSpPr>
          <p:spPr>
            <a:xfrm>
              <a:off x="5374535" y="3665296"/>
              <a:ext cx="1320250" cy="541969"/>
            </a:xfrm>
            <a:prstGeom prst="rect">
              <a:avLst/>
            </a:prstGeom>
            <a:noFill/>
            <a:ln>
              <a:noFill/>
            </a:ln>
          </p:spPr>
          <p:txBody>
            <a:bodyPr spcFirstLastPara="1" wrap="square" lIns="295319" tIns="295319" rIns="295319" bIns="295319" anchor="t" anchorCtr="0">
              <a:noAutofit/>
            </a:bodyPr>
            <a:lstStyle/>
            <a:p>
              <a:pPr algn="ctr">
                <a:spcBef>
                  <a:spcPts val="0"/>
                </a:spcBef>
              </a:pPr>
              <a:r>
                <a:rPr lang="en" sz="800" b="0" dirty="0"/>
                <a:t>Example Fake Data</a:t>
              </a:r>
              <a:endParaRPr sz="800" b="0" dirty="0"/>
            </a:p>
          </p:txBody>
        </p:sp>
        <p:sp>
          <p:nvSpPr>
            <p:cNvPr id="507" name="Google Shape;306;p17">
              <a:extLst>
                <a:ext uri="{FF2B5EF4-FFF2-40B4-BE49-F238E27FC236}">
                  <a16:creationId xmlns:a16="http://schemas.microsoft.com/office/drawing/2014/main" id="{1DCC9B6D-5675-CBF4-0CE2-F7A5A6C7293D}"/>
                </a:ext>
              </a:extLst>
            </p:cNvPr>
            <p:cNvSpPr txBox="1"/>
            <p:nvPr/>
          </p:nvSpPr>
          <p:spPr>
            <a:xfrm>
              <a:off x="6553295" y="3060003"/>
              <a:ext cx="1136939" cy="610729"/>
            </a:xfrm>
            <a:prstGeom prst="rect">
              <a:avLst/>
            </a:prstGeom>
            <a:noFill/>
            <a:ln>
              <a:noFill/>
            </a:ln>
          </p:spPr>
          <p:txBody>
            <a:bodyPr spcFirstLastPara="1" wrap="square" lIns="295319" tIns="295319" rIns="295319" bIns="295319" anchor="t" anchorCtr="0">
              <a:noAutofit/>
            </a:bodyPr>
            <a:lstStyle/>
            <a:p>
              <a:pPr algn="ctr">
                <a:spcBef>
                  <a:spcPts val="0"/>
                </a:spcBef>
              </a:pPr>
              <a:r>
                <a:rPr lang="en" sz="1400" dirty="0">
                  <a:solidFill>
                    <a:schemeClr val="dk2"/>
                  </a:solidFill>
                </a:rPr>
                <a:t>Git.R</a:t>
              </a:r>
              <a:endParaRPr sz="1400" dirty="0">
                <a:solidFill>
                  <a:schemeClr val="dk2"/>
                </a:solidFill>
              </a:endParaRPr>
            </a:p>
          </p:txBody>
        </p:sp>
        <p:sp>
          <p:nvSpPr>
            <p:cNvPr id="513" name="Google Shape;306;p17">
              <a:extLst>
                <a:ext uri="{FF2B5EF4-FFF2-40B4-BE49-F238E27FC236}">
                  <a16:creationId xmlns:a16="http://schemas.microsoft.com/office/drawing/2014/main" id="{7AE7A631-A29A-5C04-9B4D-7BC27A7D72F1}"/>
                </a:ext>
              </a:extLst>
            </p:cNvPr>
            <p:cNvSpPr txBox="1"/>
            <p:nvPr/>
          </p:nvSpPr>
          <p:spPr>
            <a:xfrm>
              <a:off x="4592292" y="2759838"/>
              <a:ext cx="961423" cy="212651"/>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JIRA.R</a:t>
              </a:r>
              <a:endParaRPr sz="1000" b="0" dirty="0">
                <a:solidFill>
                  <a:schemeClr val="dk2"/>
                </a:solidFill>
              </a:endParaRPr>
            </a:p>
          </p:txBody>
        </p:sp>
        <p:cxnSp>
          <p:nvCxnSpPr>
            <p:cNvPr id="514" name="Connector: Elbow 513">
              <a:extLst>
                <a:ext uri="{FF2B5EF4-FFF2-40B4-BE49-F238E27FC236}">
                  <a16:creationId xmlns:a16="http://schemas.microsoft.com/office/drawing/2014/main" id="{46C02597-55C2-7D8E-C418-22495AC33677}"/>
                </a:ext>
              </a:extLst>
            </p:cNvPr>
            <p:cNvCxnSpPr>
              <a:cxnSpLocks/>
            </p:cNvCxnSpPr>
            <p:nvPr/>
          </p:nvCxnSpPr>
          <p:spPr>
            <a:xfrm rot="16200000" flipH="1">
              <a:off x="7061823" y="2181018"/>
              <a:ext cx="1650573" cy="1223096"/>
            </a:xfrm>
            <a:prstGeom prst="bentConnector3">
              <a:avLst>
                <a:gd name="adj1" fmla="val 864"/>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15" name="Connector: Elbow 514">
              <a:extLst>
                <a:ext uri="{FF2B5EF4-FFF2-40B4-BE49-F238E27FC236}">
                  <a16:creationId xmlns:a16="http://schemas.microsoft.com/office/drawing/2014/main" id="{A54229B3-DC58-B72A-DFAA-9695FEA5ACA9}"/>
                </a:ext>
              </a:extLst>
            </p:cNvPr>
            <p:cNvCxnSpPr>
              <a:cxnSpLocks/>
            </p:cNvCxnSpPr>
            <p:nvPr/>
          </p:nvCxnSpPr>
          <p:spPr>
            <a:xfrm>
              <a:off x="7027821" y="2361669"/>
              <a:ext cx="1301263" cy="1256183"/>
            </a:xfrm>
            <a:prstGeom prst="bentConnector3">
              <a:avLst>
                <a:gd name="adj1" fmla="val 998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17" name="Connector: Elbow 516">
              <a:extLst>
                <a:ext uri="{FF2B5EF4-FFF2-40B4-BE49-F238E27FC236}">
                  <a16:creationId xmlns:a16="http://schemas.microsoft.com/office/drawing/2014/main" id="{3F8653B5-4F08-EA04-E8A8-E92515687E89}"/>
                </a:ext>
              </a:extLst>
            </p:cNvPr>
            <p:cNvCxnSpPr>
              <a:cxnSpLocks/>
            </p:cNvCxnSpPr>
            <p:nvPr/>
          </p:nvCxnSpPr>
          <p:spPr>
            <a:xfrm>
              <a:off x="7186626" y="2777000"/>
              <a:ext cx="973858" cy="840853"/>
            </a:xfrm>
            <a:prstGeom prst="bentConnector3">
              <a:avLst>
                <a:gd name="adj1" fmla="val 99805"/>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521" name="TextBox 520">
              <a:extLst>
                <a:ext uri="{FF2B5EF4-FFF2-40B4-BE49-F238E27FC236}">
                  <a16:creationId xmlns:a16="http://schemas.microsoft.com/office/drawing/2014/main" id="{CCF42624-FCD9-447F-3474-F67020C8210B}"/>
                </a:ext>
              </a:extLst>
            </p:cNvPr>
            <p:cNvSpPr txBox="1"/>
            <p:nvPr/>
          </p:nvSpPr>
          <p:spPr>
            <a:xfrm>
              <a:off x="6637886" y="3048963"/>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Fake Data Generator</a:t>
              </a:r>
              <a:endParaRPr lang="en-US" sz="800" b="0" dirty="0"/>
            </a:p>
          </p:txBody>
        </p:sp>
        <p:cxnSp>
          <p:nvCxnSpPr>
            <p:cNvPr id="522" name="Connector: Elbow 521">
              <a:extLst>
                <a:ext uri="{FF2B5EF4-FFF2-40B4-BE49-F238E27FC236}">
                  <a16:creationId xmlns:a16="http://schemas.microsoft.com/office/drawing/2014/main" id="{95ACC809-9660-33DC-DD7A-ECB86EF87845}"/>
                </a:ext>
              </a:extLst>
            </p:cNvPr>
            <p:cNvCxnSpPr>
              <a:cxnSpLocks/>
              <a:endCxn id="46" idx="0"/>
            </p:cNvCxnSpPr>
            <p:nvPr/>
          </p:nvCxnSpPr>
          <p:spPr>
            <a:xfrm rot="10800000" flipV="1">
              <a:off x="6031953" y="3190853"/>
              <a:ext cx="650776" cy="320897"/>
            </a:xfrm>
            <a:prstGeom prst="bentConnector2">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23" name="Google Shape;445;p18">
              <a:extLst>
                <a:ext uri="{FF2B5EF4-FFF2-40B4-BE49-F238E27FC236}">
                  <a16:creationId xmlns:a16="http://schemas.microsoft.com/office/drawing/2014/main" id="{184CFE68-8229-CA37-E31A-C97F8CA9F547}"/>
                </a:ext>
              </a:extLst>
            </p:cNvPr>
            <p:cNvCxnSpPr>
              <a:cxnSpLocks/>
            </p:cNvCxnSpPr>
            <p:nvPr/>
          </p:nvCxnSpPr>
          <p:spPr>
            <a:xfrm>
              <a:off x="6430915" y="4093856"/>
              <a:ext cx="1475409" cy="0"/>
            </a:xfrm>
            <a:prstGeom prst="straightConnector1">
              <a:avLst/>
            </a:prstGeom>
            <a:noFill/>
            <a:ln w="28575" cap="flat" cmpd="sng">
              <a:solidFill>
                <a:srgbClr val="1B1311"/>
              </a:solidFill>
              <a:prstDash val="solid"/>
              <a:round/>
              <a:headEnd type="none" w="med" len="med"/>
              <a:tailEnd type="triangle" w="med" len="med"/>
            </a:ln>
          </p:spPr>
        </p:cxnSp>
        <p:pic>
          <p:nvPicPr>
            <p:cNvPr id="575" name="Graphic 574" descr="Paper outline">
              <a:extLst>
                <a:ext uri="{FF2B5EF4-FFF2-40B4-BE49-F238E27FC236}">
                  <a16:creationId xmlns:a16="http://schemas.microsoft.com/office/drawing/2014/main" id="{8667D74B-CE9F-7F3D-97E6-F64E5EA5D43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376995" y="1947050"/>
              <a:ext cx="388976" cy="388976"/>
            </a:xfrm>
            <a:prstGeom prst="rect">
              <a:avLst/>
            </a:prstGeom>
          </p:spPr>
        </p:pic>
        <p:sp>
          <p:nvSpPr>
            <p:cNvPr id="576" name="Google Shape;306;p17">
              <a:extLst>
                <a:ext uri="{FF2B5EF4-FFF2-40B4-BE49-F238E27FC236}">
                  <a16:creationId xmlns:a16="http://schemas.microsoft.com/office/drawing/2014/main" id="{F56DC802-7050-A45C-9100-BC37EE70BA73}"/>
                </a:ext>
              </a:extLst>
            </p:cNvPr>
            <p:cNvSpPr txBox="1"/>
            <p:nvPr/>
          </p:nvSpPr>
          <p:spPr>
            <a:xfrm>
              <a:off x="4599760" y="3512382"/>
              <a:ext cx="928261"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src.R</a:t>
              </a:r>
              <a:endParaRPr sz="1000" b="0" dirty="0">
                <a:solidFill>
                  <a:schemeClr val="dk2"/>
                </a:solidFill>
              </a:endParaRPr>
            </a:p>
          </p:txBody>
        </p:sp>
        <p:pic>
          <p:nvPicPr>
            <p:cNvPr id="577" name="Graphic 576" descr="Paper outline">
              <a:extLst>
                <a:ext uri="{FF2B5EF4-FFF2-40B4-BE49-F238E27FC236}">
                  <a16:creationId xmlns:a16="http://schemas.microsoft.com/office/drawing/2014/main" id="{96CC865A-ED37-6C74-F500-BD65F886E6F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878516" y="1954410"/>
              <a:ext cx="388976" cy="388976"/>
            </a:xfrm>
            <a:prstGeom prst="rect">
              <a:avLst/>
            </a:prstGeom>
          </p:spPr>
        </p:pic>
        <p:pic>
          <p:nvPicPr>
            <p:cNvPr id="578" name="Graphic 577" descr="Paper outline">
              <a:extLst>
                <a:ext uri="{FF2B5EF4-FFF2-40B4-BE49-F238E27FC236}">
                  <a16:creationId xmlns:a16="http://schemas.microsoft.com/office/drawing/2014/main" id="{9DE60FBB-D0C8-64E5-6F31-269476D9B2D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878516" y="2516445"/>
              <a:ext cx="388976" cy="388976"/>
            </a:xfrm>
            <a:prstGeom prst="rect">
              <a:avLst/>
            </a:prstGeom>
          </p:spPr>
        </p:pic>
        <p:pic>
          <p:nvPicPr>
            <p:cNvPr id="579" name="Graphic 578" descr="Paper outline">
              <a:extLst>
                <a:ext uri="{FF2B5EF4-FFF2-40B4-BE49-F238E27FC236}">
                  <a16:creationId xmlns:a16="http://schemas.microsoft.com/office/drawing/2014/main" id="{091CCB6F-F814-8438-54B7-B045CF90862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869403" y="3375411"/>
              <a:ext cx="388976" cy="388976"/>
            </a:xfrm>
            <a:prstGeom prst="rect">
              <a:avLst/>
            </a:prstGeom>
          </p:spPr>
        </p:pic>
        <p:sp>
          <p:nvSpPr>
            <p:cNvPr id="580" name="Google Shape;306;p17">
              <a:extLst>
                <a:ext uri="{FF2B5EF4-FFF2-40B4-BE49-F238E27FC236}">
                  <a16:creationId xmlns:a16="http://schemas.microsoft.com/office/drawing/2014/main" id="{D6FA46B9-2C47-21F5-7F9C-82FB7693EF2D}"/>
                </a:ext>
              </a:extLst>
            </p:cNvPr>
            <p:cNvSpPr txBox="1"/>
            <p:nvPr/>
          </p:nvSpPr>
          <p:spPr>
            <a:xfrm>
              <a:off x="5098334" y="2170878"/>
              <a:ext cx="940079" cy="24014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Git.R</a:t>
              </a:r>
              <a:endParaRPr sz="1000" b="0" dirty="0">
                <a:solidFill>
                  <a:schemeClr val="dk2"/>
                </a:solidFill>
              </a:endParaRPr>
            </a:p>
          </p:txBody>
        </p:sp>
        <p:sp>
          <p:nvSpPr>
            <p:cNvPr id="581" name="Google Shape;306;p17">
              <a:extLst>
                <a:ext uri="{FF2B5EF4-FFF2-40B4-BE49-F238E27FC236}">
                  <a16:creationId xmlns:a16="http://schemas.microsoft.com/office/drawing/2014/main" id="{D76673A2-41DB-BC4A-1630-CD6D27378540}"/>
                </a:ext>
              </a:extLst>
            </p:cNvPr>
            <p:cNvSpPr txBox="1"/>
            <p:nvPr/>
          </p:nvSpPr>
          <p:spPr>
            <a:xfrm>
              <a:off x="4579241" y="2100827"/>
              <a:ext cx="987526"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Mail.R</a:t>
              </a:r>
              <a:endParaRPr sz="1000" b="0" dirty="0">
                <a:solidFill>
                  <a:schemeClr val="dk2"/>
                </a:solidFill>
              </a:endParaRPr>
            </a:p>
          </p:txBody>
        </p:sp>
        <p:sp>
          <p:nvSpPr>
            <p:cNvPr id="585" name="Oval 584">
              <a:extLst>
                <a:ext uri="{FF2B5EF4-FFF2-40B4-BE49-F238E27FC236}">
                  <a16:creationId xmlns:a16="http://schemas.microsoft.com/office/drawing/2014/main" id="{96D3CBDC-C07E-99EA-E1DC-90C24208BE3E}"/>
                </a:ext>
              </a:extLst>
            </p:cNvPr>
            <p:cNvSpPr/>
            <p:nvPr/>
          </p:nvSpPr>
          <p:spPr>
            <a:xfrm>
              <a:off x="5299585" y="1931604"/>
              <a:ext cx="550867" cy="525694"/>
            </a:xfrm>
            <a:prstGeom prst="ellipse">
              <a:avLst/>
            </a:prstGeom>
            <a:noFill/>
            <a:ln w="12700" cap="flat">
              <a:solidFill>
                <a:srgbClr val="4C4C4C"/>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sp>
          <p:nvSpPr>
            <p:cNvPr id="586" name="Oval 585">
              <a:extLst>
                <a:ext uri="{FF2B5EF4-FFF2-40B4-BE49-F238E27FC236}">
                  <a16:creationId xmlns:a16="http://schemas.microsoft.com/office/drawing/2014/main" id="{D9EA13C9-4792-3A00-CA73-71A827E39899}"/>
                </a:ext>
              </a:extLst>
            </p:cNvPr>
            <p:cNvSpPr/>
            <p:nvPr/>
          </p:nvSpPr>
          <p:spPr>
            <a:xfrm>
              <a:off x="6052480" y="1577156"/>
              <a:ext cx="2158097" cy="2196943"/>
            </a:xfrm>
            <a:prstGeom prst="ellipse">
              <a:avLst/>
            </a:prstGeom>
            <a:noFill/>
            <a:ln w="12700" cap="flat">
              <a:solidFill>
                <a:srgbClr val="4C4C4C"/>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cxnSp>
          <p:nvCxnSpPr>
            <p:cNvPr id="587" name="Straight Connector 586">
              <a:extLst>
                <a:ext uri="{FF2B5EF4-FFF2-40B4-BE49-F238E27FC236}">
                  <a16:creationId xmlns:a16="http://schemas.microsoft.com/office/drawing/2014/main" id="{EFBC8D00-0AE2-EF28-CA0F-C76B8F14720F}"/>
                </a:ext>
              </a:extLst>
            </p:cNvPr>
            <p:cNvCxnSpPr>
              <a:cxnSpLocks/>
              <a:endCxn id="585" idx="3"/>
            </p:cNvCxnSpPr>
            <p:nvPr/>
          </p:nvCxnSpPr>
          <p:spPr>
            <a:xfrm flipH="1" flipV="1">
              <a:off x="5380258" y="2380312"/>
              <a:ext cx="756816" cy="744979"/>
            </a:xfrm>
            <a:prstGeom prst="line">
              <a:avLst/>
            </a:prstGeom>
            <a:ln w="127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91" name="Straight Connector 590">
              <a:extLst>
                <a:ext uri="{FF2B5EF4-FFF2-40B4-BE49-F238E27FC236}">
                  <a16:creationId xmlns:a16="http://schemas.microsoft.com/office/drawing/2014/main" id="{95AB4D52-F4FF-C291-D757-FEA202E10AD0}"/>
                </a:ext>
              </a:extLst>
            </p:cNvPr>
            <p:cNvCxnSpPr>
              <a:cxnSpLocks/>
              <a:endCxn id="585" idx="0"/>
            </p:cNvCxnSpPr>
            <p:nvPr/>
          </p:nvCxnSpPr>
          <p:spPr>
            <a:xfrm flipH="1">
              <a:off x="5575019" y="1642390"/>
              <a:ext cx="1215870" cy="289214"/>
            </a:xfrm>
            <a:prstGeom prst="line">
              <a:avLst/>
            </a:prstGeom>
            <a:ln w="127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94" name="TextBox 593">
              <a:extLst>
                <a:ext uri="{FF2B5EF4-FFF2-40B4-BE49-F238E27FC236}">
                  <a16:creationId xmlns:a16="http://schemas.microsoft.com/office/drawing/2014/main" id="{24F7E18E-A266-9475-0EE5-772F799391E3}"/>
                </a:ext>
              </a:extLst>
            </p:cNvPr>
            <p:cNvSpPr txBox="1"/>
            <p:nvPr/>
          </p:nvSpPr>
          <p:spPr>
            <a:xfrm>
              <a:off x="4914543" y="2980917"/>
              <a:ext cx="536368" cy="5308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dirty="0"/>
                <a:t>.</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95" name="Google Shape;312;p17">
              <a:extLst>
                <a:ext uri="{FF2B5EF4-FFF2-40B4-BE49-F238E27FC236}">
                  <a16:creationId xmlns:a16="http://schemas.microsoft.com/office/drawing/2014/main" id="{728A2870-05A3-1BA3-FA1D-BDCD8BD1F794}"/>
                </a:ext>
              </a:extLst>
            </p:cNvPr>
            <p:cNvSpPr txBox="1"/>
            <p:nvPr/>
          </p:nvSpPr>
          <p:spPr>
            <a:xfrm>
              <a:off x="4927776" y="4336877"/>
              <a:ext cx="2240541"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400" dirty="0"/>
                <a:t>Example.R</a:t>
              </a:r>
              <a:endParaRPr sz="1400" dirty="0"/>
            </a:p>
          </p:txBody>
        </p:sp>
        <p:sp>
          <p:nvSpPr>
            <p:cNvPr id="597" name="TextBox 596">
              <a:extLst>
                <a:ext uri="{FF2B5EF4-FFF2-40B4-BE49-F238E27FC236}">
                  <a16:creationId xmlns:a16="http://schemas.microsoft.com/office/drawing/2014/main" id="{9E33B9C5-C6CF-BC4E-B29D-2D2C5C7AB061}"/>
                </a:ext>
              </a:extLst>
            </p:cNvPr>
            <p:cNvSpPr txBox="1"/>
            <p:nvPr/>
          </p:nvSpPr>
          <p:spPr>
            <a:xfrm>
              <a:off x="4913160" y="2879763"/>
              <a:ext cx="366168" cy="7411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dirty="0"/>
                <a:t>.</a:t>
              </a:r>
            </a:p>
            <a:p>
              <a:pPr marL="0" marR="0" indent="0" algn="l" defTabSz="584200" rtl="0" fontAlgn="auto" latinLnBrk="0" hangingPunct="0">
                <a:lnSpc>
                  <a:spcPct val="100000"/>
                </a:lnSpc>
                <a:spcBef>
                  <a:spcPts val="200"/>
                </a:spcBef>
                <a:spcAft>
                  <a:spcPts val="0"/>
                </a:spcAft>
                <a:buClrTx/>
                <a:buSzTx/>
                <a:buFontTx/>
                <a:buNone/>
                <a:tabLst/>
              </a:pPr>
              <a:r>
                <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rPr>
                <a:t>.</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6" name="Rectangle 5">
              <a:extLst>
                <a:ext uri="{FF2B5EF4-FFF2-40B4-BE49-F238E27FC236}">
                  <a16:creationId xmlns:a16="http://schemas.microsoft.com/office/drawing/2014/main" id="{1143459A-7104-DDD0-F887-6F226DD80A46}"/>
                </a:ext>
              </a:extLst>
            </p:cNvPr>
            <p:cNvSpPr/>
            <p:nvPr/>
          </p:nvSpPr>
          <p:spPr>
            <a:xfrm>
              <a:off x="4687649" y="1449980"/>
              <a:ext cx="4067130" cy="3392424"/>
            </a:xfrm>
            <a:prstGeom prst="rect">
              <a:avLst/>
            </a:prstGeom>
            <a:noFill/>
            <a:ln w="12700" cap="flat">
              <a:solidFill>
                <a:schemeClr val="bg2">
                  <a:lumMod val="10000"/>
                </a:schemeClr>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 name="Google Shape;236;p15">
              <a:extLst>
                <a:ext uri="{FF2B5EF4-FFF2-40B4-BE49-F238E27FC236}">
                  <a16:creationId xmlns:a16="http://schemas.microsoft.com/office/drawing/2014/main" id="{F1DAC198-4B40-233D-BB01-B310CEE5648F}"/>
                </a:ext>
              </a:extLst>
            </p:cNvPr>
            <p:cNvSpPr/>
            <p:nvPr/>
          </p:nvSpPr>
          <p:spPr>
            <a:xfrm>
              <a:off x="4717134" y="1477850"/>
              <a:ext cx="322763" cy="299514"/>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9" name="Google Shape;237;p15">
              <a:extLst>
                <a:ext uri="{FF2B5EF4-FFF2-40B4-BE49-F238E27FC236}">
                  <a16:creationId xmlns:a16="http://schemas.microsoft.com/office/drawing/2014/main" id="{795C9E42-E45F-771E-4BE8-28F3DC94F469}"/>
                </a:ext>
              </a:extLst>
            </p:cNvPr>
            <p:cNvSpPr txBox="1"/>
            <p:nvPr/>
          </p:nvSpPr>
          <p:spPr>
            <a:xfrm>
              <a:off x="4649821" y="1386286"/>
              <a:ext cx="547745" cy="274024"/>
            </a:xfrm>
            <a:prstGeom prst="rect">
              <a:avLst/>
            </a:prstGeom>
            <a:noFill/>
            <a:ln>
              <a:noFill/>
            </a:ln>
          </p:spPr>
          <p:txBody>
            <a:bodyPr spcFirstLastPara="1" wrap="square" lIns="127722" tIns="127722" rIns="127722" bIns="127722" anchor="t" anchorCtr="0">
              <a:noAutofit/>
            </a:bodyPr>
            <a:lstStyle/>
            <a:p>
              <a:pPr>
                <a:spcBef>
                  <a:spcPts val="0"/>
                </a:spcBef>
              </a:pPr>
              <a:r>
                <a:rPr lang="en" sz="1400" dirty="0">
                  <a:solidFill>
                    <a:schemeClr val="lt1"/>
                  </a:solidFill>
                </a:rPr>
                <a:t>GH</a:t>
              </a:r>
              <a:endParaRPr sz="1400" dirty="0">
                <a:solidFill>
                  <a:schemeClr val="lt1"/>
                </a:solidFill>
              </a:endParaRPr>
            </a:p>
          </p:txBody>
        </p:sp>
      </p:grpSp>
      <p:sp>
        <p:nvSpPr>
          <p:cNvPr id="13" name="Use headers, colors, and/or backgrounds to separate or group together sections.">
            <a:extLst>
              <a:ext uri="{FF2B5EF4-FFF2-40B4-BE49-F238E27FC236}">
                <a16:creationId xmlns:a16="http://schemas.microsoft.com/office/drawing/2014/main" id="{C51E998E-F008-0B67-7A3E-286075F060E4}"/>
              </a:ext>
            </a:extLst>
          </p:cNvPr>
          <p:cNvSpPr txBox="1"/>
          <p:nvPr/>
        </p:nvSpPr>
        <p:spPr>
          <a:xfrm>
            <a:off x="4705325" y="3231443"/>
            <a:ext cx="4251862"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Tests for Kaiaulu are made using R’s testthat framework. Fake examples are used for parser tests, which parse fake data.</a:t>
            </a:r>
          </a:p>
        </p:txBody>
      </p:sp>
      <p:sp>
        <p:nvSpPr>
          <p:cNvPr id="14" name="Use headers, colors, and/or backgrounds to separate or group together sections.">
            <a:extLst>
              <a:ext uri="{FF2B5EF4-FFF2-40B4-BE49-F238E27FC236}">
                <a16:creationId xmlns:a16="http://schemas.microsoft.com/office/drawing/2014/main" id="{7BEE8AF2-ED31-D9B7-0A3A-A94A93E6F88C}"/>
              </a:ext>
            </a:extLst>
          </p:cNvPr>
          <p:cNvSpPr txBox="1"/>
          <p:nvPr/>
        </p:nvSpPr>
        <p:spPr>
          <a:xfrm>
            <a:off x="4703078" y="2524315"/>
            <a:ext cx="4251862"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Fake Data Generation functions are at the bottom of each R file. They are called in Example.R to create the fake data cases. </a:t>
            </a:r>
          </a:p>
        </p:txBody>
      </p:sp>
      <p:pic>
        <p:nvPicPr>
          <p:cNvPr id="16" name="Picture 15" descr="The image depicts a simple, clean design featuring two intertwined, colorless circles.&#10;&#10;AI-generated content may be incorrect.">
            <a:extLst>
              <a:ext uri="{FF2B5EF4-FFF2-40B4-BE49-F238E27FC236}">
                <a16:creationId xmlns:a16="http://schemas.microsoft.com/office/drawing/2014/main" id="{D5D7E382-6749-F82D-C2A7-DB48F3F05970}"/>
              </a:ext>
            </a:extLst>
          </p:cNvPr>
          <p:cNvPicPr>
            <a:picLocks noChangeAspect="1"/>
          </p:cNvPicPr>
          <p:nvPr/>
        </p:nvPicPr>
        <p:blipFill>
          <a:blip r:embed="rId16"/>
          <a:srcRect l="3050" r="4779"/>
          <a:stretch>
            <a:fillRect/>
          </a:stretch>
        </p:blipFill>
        <p:spPr>
          <a:xfrm>
            <a:off x="10212730" y="7933337"/>
            <a:ext cx="341640" cy="348057"/>
          </a:xfrm>
          <a:prstGeom prst="rect">
            <a:avLst/>
          </a:prstGeom>
        </p:spPr>
      </p:pic>
      <p:sp>
        <p:nvSpPr>
          <p:cNvPr id="17" name="Use headers, colors, and/or backgrounds to separate or group together sections.">
            <a:extLst>
              <a:ext uri="{FF2B5EF4-FFF2-40B4-BE49-F238E27FC236}">
                <a16:creationId xmlns:a16="http://schemas.microsoft.com/office/drawing/2014/main" id="{176B4A9A-07BF-BEDB-3100-90F58C182119}"/>
              </a:ext>
            </a:extLst>
          </p:cNvPr>
          <p:cNvSpPr txBox="1"/>
          <p:nvPr/>
        </p:nvSpPr>
        <p:spPr>
          <a:xfrm>
            <a:off x="10553488" y="7879773"/>
            <a:ext cx="2703651" cy="2902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300" dirty="0">
                <a:latin typeface="Source Sans Pro" panose="020B0503030403020204" pitchFamily="34" charset="0"/>
                <a:ea typeface="Source Sans Pro" panose="020B0503030403020204" pitchFamily="34" charset="0"/>
              </a:rPr>
              <a:t>Some checks were not successful</a:t>
            </a:r>
          </a:p>
        </p:txBody>
      </p:sp>
      <p:sp>
        <p:nvSpPr>
          <p:cNvPr id="18" name="Google Shape;244;p15">
            <a:extLst>
              <a:ext uri="{FF2B5EF4-FFF2-40B4-BE49-F238E27FC236}">
                <a16:creationId xmlns:a16="http://schemas.microsoft.com/office/drawing/2014/main" id="{A14615BE-A334-763E-8122-9E3948388E40}"/>
              </a:ext>
            </a:extLst>
          </p:cNvPr>
          <p:cNvSpPr txBox="1"/>
          <p:nvPr/>
        </p:nvSpPr>
        <p:spPr>
          <a:xfrm>
            <a:off x="10483111" y="7996936"/>
            <a:ext cx="2232410" cy="321094"/>
          </a:xfrm>
          <a:prstGeom prst="rect">
            <a:avLst/>
          </a:prstGeom>
          <a:noFill/>
          <a:ln>
            <a:noFill/>
          </a:ln>
        </p:spPr>
        <p:txBody>
          <a:bodyPr spcFirstLastPara="1" wrap="square" lIns="127722" tIns="127722" rIns="127722" bIns="127722" anchor="t" anchorCtr="0">
            <a:noAutofit/>
          </a:bodyPr>
          <a:lstStyle/>
          <a:p>
            <a:pPr>
              <a:spcBef>
                <a:spcPts val="0"/>
              </a:spcBef>
            </a:pPr>
            <a:r>
              <a:rPr lang="en-US" dirty="0">
                <a:solidFill>
                  <a:srgbClr val="999999"/>
                </a:solidFill>
              </a:rPr>
              <a:t>1 failing, 1 successful checks</a:t>
            </a:r>
            <a:endParaRPr dirty="0">
              <a:solidFill>
                <a:srgbClr val="999999"/>
              </a:solidFill>
            </a:endParaRPr>
          </a:p>
          <a:p>
            <a:pPr>
              <a:spcBef>
                <a:spcPts val="0"/>
              </a:spcBef>
            </a:pPr>
            <a:endParaRPr sz="978" dirty="0">
              <a:solidFill>
                <a:srgbClr val="999999"/>
              </a:solidFill>
            </a:endParaRPr>
          </a:p>
          <a:p>
            <a:pPr>
              <a:spcBef>
                <a:spcPts val="0"/>
              </a:spcBef>
            </a:pPr>
            <a:r>
              <a:rPr lang="en" sz="978" dirty="0">
                <a:solidFill>
                  <a:srgbClr val="999999"/>
                </a:solidFill>
              </a:rPr>
              <a:t> </a:t>
            </a:r>
            <a:endParaRPr sz="978" dirty="0">
              <a:solidFill>
                <a:srgbClr val="999999"/>
              </a:solidFill>
            </a:endParaRPr>
          </a:p>
        </p:txBody>
      </p:sp>
      <p:sp>
        <p:nvSpPr>
          <p:cNvPr id="15" name="FONTS">
            <a:extLst>
              <a:ext uri="{FF2B5EF4-FFF2-40B4-BE49-F238E27FC236}">
                <a16:creationId xmlns:a16="http://schemas.microsoft.com/office/drawing/2014/main" id="{3340D659-D76F-1D29-D334-FFA27D5DFCDC}"/>
              </a:ext>
            </a:extLst>
          </p:cNvPr>
          <p:cNvSpPr txBox="1"/>
          <p:nvPr/>
        </p:nvSpPr>
        <p:spPr>
          <a:xfrm>
            <a:off x="4540206" y="1544753"/>
            <a:ext cx="1051051" cy="3026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r>
              <a:rPr lang="en-US" sz="1800" b="0" dirty="0"/>
              <a:t>Examples</a:t>
            </a:r>
            <a:endParaRPr sz="1800" b="0" dirty="0"/>
          </a:p>
        </p:txBody>
      </p:sp>
      <p:sp>
        <p:nvSpPr>
          <p:cNvPr id="19" name="FONTS">
            <a:extLst>
              <a:ext uri="{FF2B5EF4-FFF2-40B4-BE49-F238E27FC236}">
                <a16:creationId xmlns:a16="http://schemas.microsoft.com/office/drawing/2014/main" id="{F33020D1-D4E4-D3AF-D84D-BA720A8EC4B4}"/>
              </a:ext>
            </a:extLst>
          </p:cNvPr>
          <p:cNvSpPr txBox="1"/>
          <p:nvPr/>
        </p:nvSpPr>
        <p:spPr>
          <a:xfrm>
            <a:off x="4540206" y="2250885"/>
            <a:ext cx="2901855" cy="3026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r>
              <a:rPr lang="en-US" sz="1800" b="0" dirty="0"/>
              <a:t>Fake Data Generator</a:t>
            </a:r>
            <a:endParaRPr sz="1800" b="0" dirty="0"/>
          </a:p>
        </p:txBody>
      </p:sp>
      <p:sp>
        <p:nvSpPr>
          <p:cNvPr id="20" name="FONTS">
            <a:extLst>
              <a:ext uri="{FF2B5EF4-FFF2-40B4-BE49-F238E27FC236}">
                <a16:creationId xmlns:a16="http://schemas.microsoft.com/office/drawing/2014/main" id="{4E5BEFC6-DA4C-E7BA-30FD-7943E9DCD430}"/>
              </a:ext>
            </a:extLst>
          </p:cNvPr>
          <p:cNvSpPr txBox="1"/>
          <p:nvPr/>
        </p:nvSpPr>
        <p:spPr>
          <a:xfrm>
            <a:off x="4517488" y="2936506"/>
            <a:ext cx="1950490" cy="3026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r>
              <a:rPr lang="en-US" sz="1800" b="0" dirty="0"/>
              <a:t>Tests</a:t>
            </a:r>
            <a:endParaRPr sz="1800" b="0" dirty="0"/>
          </a:p>
        </p:txBody>
      </p:sp>
      <p:sp>
        <p:nvSpPr>
          <p:cNvPr id="498" name="FONTS">
            <a:extLst>
              <a:ext uri="{FF2B5EF4-FFF2-40B4-BE49-F238E27FC236}">
                <a16:creationId xmlns:a16="http://schemas.microsoft.com/office/drawing/2014/main" id="{DAD9EAC2-4831-0F60-9746-77DCB29BB85D}"/>
              </a:ext>
            </a:extLst>
          </p:cNvPr>
          <p:cNvSpPr txBox="1"/>
          <p:nvPr/>
        </p:nvSpPr>
        <p:spPr>
          <a:xfrm>
            <a:off x="4641523" y="7660876"/>
            <a:ext cx="1570137" cy="3026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r>
              <a:rPr lang="en-US" sz="1800" b="0" dirty="0"/>
              <a:t>GitHub Actions</a:t>
            </a:r>
            <a:endParaRPr sz="1800" b="0" dirty="0"/>
          </a:p>
        </p:txBody>
      </p:sp>
      <p:sp>
        <p:nvSpPr>
          <p:cNvPr id="508" name="FONTS">
            <a:extLst>
              <a:ext uri="{FF2B5EF4-FFF2-40B4-BE49-F238E27FC236}">
                <a16:creationId xmlns:a16="http://schemas.microsoft.com/office/drawing/2014/main" id="{44025CA4-EFF4-F1F5-17F2-1BF84CE5CE65}"/>
              </a:ext>
            </a:extLst>
          </p:cNvPr>
          <p:cNvSpPr txBox="1"/>
          <p:nvPr/>
        </p:nvSpPr>
        <p:spPr>
          <a:xfrm>
            <a:off x="4651141" y="8302794"/>
            <a:ext cx="1738418" cy="3026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r>
              <a:rPr lang="en-US" sz="1800" b="0" dirty="0"/>
              <a:t>Quality Reviewer</a:t>
            </a:r>
            <a:endParaRPr sz="1800" b="0" dirty="0"/>
          </a:p>
        </p:txBody>
      </p:sp>
      <p:sp>
        <p:nvSpPr>
          <p:cNvPr id="510" name="FONTS">
            <a:extLst>
              <a:ext uri="{FF2B5EF4-FFF2-40B4-BE49-F238E27FC236}">
                <a16:creationId xmlns:a16="http://schemas.microsoft.com/office/drawing/2014/main" id="{7476A94C-8D47-91CD-28DF-5BCD065B084D}"/>
              </a:ext>
            </a:extLst>
          </p:cNvPr>
          <p:cNvSpPr txBox="1"/>
          <p:nvPr/>
        </p:nvSpPr>
        <p:spPr>
          <a:xfrm>
            <a:off x="4651415" y="9165396"/>
            <a:ext cx="1738418" cy="3026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r>
              <a:rPr lang="en-US" sz="1800" b="0" dirty="0"/>
              <a:t>Code Architect</a:t>
            </a:r>
            <a:endParaRPr sz="1800" b="0" dirty="0"/>
          </a:p>
        </p:txBody>
      </p:sp>
      <p:sp>
        <p:nvSpPr>
          <p:cNvPr id="511" name="Google Shape;234;p15">
            <a:extLst>
              <a:ext uri="{FF2B5EF4-FFF2-40B4-BE49-F238E27FC236}">
                <a16:creationId xmlns:a16="http://schemas.microsoft.com/office/drawing/2014/main" id="{433E38D3-0907-5D10-F159-603F070EAE38}"/>
              </a:ext>
            </a:extLst>
          </p:cNvPr>
          <p:cNvSpPr/>
          <p:nvPr/>
        </p:nvSpPr>
        <p:spPr>
          <a:xfrm>
            <a:off x="237460" y="6121474"/>
            <a:ext cx="2788500" cy="232375"/>
          </a:xfrm>
          <a:prstGeom prst="rect">
            <a:avLst/>
          </a:prstGeom>
          <a:noFill/>
          <a:ln>
            <a:noFill/>
          </a:ln>
        </p:spPr>
        <p:txBody>
          <a:bodyPr spcFirstLastPara="1" wrap="square" lIns="127722" tIns="127722" rIns="127722" bIns="127722" anchor="ctr" anchorCtr="0">
            <a:noAutofit/>
          </a:bodyPr>
          <a:lstStyle/>
          <a:p>
            <a:pPr>
              <a:spcBef>
                <a:spcPts val="0"/>
              </a:spcBef>
              <a:buClr>
                <a:schemeClr val="dk1"/>
              </a:buClr>
              <a:buSzPts val="1006"/>
            </a:pPr>
            <a:r>
              <a:rPr lang="en" sz="839" dirty="0">
                <a:solidFill>
                  <a:schemeClr val="dk1"/>
                </a:solidFill>
              </a:rPr>
              <a:t>   </a:t>
            </a:r>
            <a:r>
              <a:rPr lang="en" sz="839" dirty="0">
                <a:solidFill>
                  <a:srgbClr val="1F2328"/>
                </a:solidFill>
              </a:rPr>
              <a:t>           test-coverage/test-coverage(4.4)</a:t>
            </a:r>
            <a:endParaRPr sz="1956" dirty="0"/>
          </a:p>
        </p:txBody>
      </p:sp>
      <p:sp>
        <p:nvSpPr>
          <p:cNvPr id="512" name="FONTS">
            <a:extLst>
              <a:ext uri="{FF2B5EF4-FFF2-40B4-BE49-F238E27FC236}">
                <a16:creationId xmlns:a16="http://schemas.microsoft.com/office/drawing/2014/main" id="{6CED6D06-FB08-2BE1-843F-5151572A71EC}"/>
              </a:ext>
            </a:extLst>
          </p:cNvPr>
          <p:cNvSpPr txBox="1"/>
          <p:nvPr/>
        </p:nvSpPr>
        <p:spPr>
          <a:xfrm>
            <a:off x="4639814" y="7074828"/>
            <a:ext cx="1570137" cy="3026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r>
              <a:rPr lang="en-US" sz="1800" b="0" dirty="0"/>
              <a:t>Codecov</a:t>
            </a:r>
            <a:endParaRPr sz="1800" b="0" dirty="0"/>
          </a:p>
        </p:txBody>
      </p:sp>
      <p:sp>
        <p:nvSpPr>
          <p:cNvPr id="518" name="Use headers, colors, and/or backgrounds to separate or group together sections.">
            <a:extLst>
              <a:ext uri="{FF2B5EF4-FFF2-40B4-BE49-F238E27FC236}">
                <a16:creationId xmlns:a16="http://schemas.microsoft.com/office/drawing/2014/main" id="{7ECDCC0D-A332-0D34-4665-F05912FBA93B}"/>
              </a:ext>
            </a:extLst>
          </p:cNvPr>
          <p:cNvSpPr txBox="1"/>
          <p:nvPr/>
        </p:nvSpPr>
        <p:spPr>
          <a:xfrm>
            <a:off x="226361" y="9481655"/>
            <a:ext cx="4251862"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The Fake Data Generator is used to construct examples, and the examples are used to test the parsers, which take raw data. </a:t>
            </a:r>
          </a:p>
        </p:txBody>
      </p:sp>
      <p:sp>
        <p:nvSpPr>
          <p:cNvPr id="519" name="Use headers, colors, and/or backgrounds to separate or group together sections.">
            <a:extLst>
              <a:ext uri="{FF2B5EF4-FFF2-40B4-BE49-F238E27FC236}">
                <a16:creationId xmlns:a16="http://schemas.microsoft.com/office/drawing/2014/main" id="{249506F6-CD93-88F6-73E4-D37668B93657}"/>
              </a:ext>
            </a:extLst>
          </p:cNvPr>
          <p:cNvSpPr txBox="1"/>
          <p:nvPr/>
        </p:nvSpPr>
        <p:spPr>
          <a:xfrm>
            <a:off x="4729523" y="7331083"/>
            <a:ext cx="4251862" cy="2764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Light"/>
              </a:rPr>
              <a:t>Codecov will deny a commit based on code test coverage. </a:t>
            </a:r>
          </a:p>
        </p:txBody>
      </p:sp>
      <p:grpSp>
        <p:nvGrpSpPr>
          <p:cNvPr id="529" name="Group 528">
            <a:extLst>
              <a:ext uri="{FF2B5EF4-FFF2-40B4-BE49-F238E27FC236}">
                <a16:creationId xmlns:a16="http://schemas.microsoft.com/office/drawing/2014/main" id="{5BA8B517-99AF-31AA-567A-B329F7A7BE48}"/>
              </a:ext>
            </a:extLst>
          </p:cNvPr>
          <p:cNvGrpSpPr/>
          <p:nvPr/>
        </p:nvGrpSpPr>
        <p:grpSpPr>
          <a:xfrm>
            <a:off x="6194824" y="6474863"/>
            <a:ext cx="192024" cy="192024"/>
            <a:chOff x="7959012" y="7822476"/>
            <a:chExt cx="192024" cy="192024"/>
          </a:xfrm>
        </p:grpSpPr>
        <p:sp>
          <p:nvSpPr>
            <p:cNvPr id="525" name="Oval 524">
              <a:extLst>
                <a:ext uri="{FF2B5EF4-FFF2-40B4-BE49-F238E27FC236}">
                  <a16:creationId xmlns:a16="http://schemas.microsoft.com/office/drawing/2014/main" id="{82655EEF-87B5-739B-F7D4-CE04D27DAF97}"/>
                </a:ext>
              </a:extLst>
            </p:cNvPr>
            <p:cNvSpPr/>
            <p:nvPr/>
          </p:nvSpPr>
          <p:spPr>
            <a:xfrm>
              <a:off x="7959012" y="7822476"/>
              <a:ext cx="192024" cy="192024"/>
            </a:xfrm>
            <a:prstGeom prst="ellipse">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26" name="Cross 525">
              <a:extLst>
                <a:ext uri="{FF2B5EF4-FFF2-40B4-BE49-F238E27FC236}">
                  <a16:creationId xmlns:a16="http://schemas.microsoft.com/office/drawing/2014/main" id="{0B4AA685-CECE-377B-E2C6-015B944BF316}"/>
                </a:ext>
              </a:extLst>
            </p:cNvPr>
            <p:cNvSpPr/>
            <p:nvPr/>
          </p:nvSpPr>
          <p:spPr>
            <a:xfrm rot="2700000">
              <a:off x="7984905" y="7849609"/>
              <a:ext cx="141979" cy="137931"/>
            </a:xfrm>
            <a:prstGeom prst="plus">
              <a:avLst>
                <a:gd name="adj" fmla="val 41232"/>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530" name="Group 529">
            <a:extLst>
              <a:ext uri="{FF2B5EF4-FFF2-40B4-BE49-F238E27FC236}">
                <a16:creationId xmlns:a16="http://schemas.microsoft.com/office/drawing/2014/main" id="{BB3EBEDF-DFB2-C3F1-F9AF-ABF45F4B0200}"/>
              </a:ext>
            </a:extLst>
          </p:cNvPr>
          <p:cNvGrpSpPr/>
          <p:nvPr/>
        </p:nvGrpSpPr>
        <p:grpSpPr>
          <a:xfrm>
            <a:off x="10260219" y="8582099"/>
            <a:ext cx="192024" cy="192024"/>
            <a:chOff x="7959012" y="7822476"/>
            <a:chExt cx="192024" cy="192024"/>
          </a:xfrm>
        </p:grpSpPr>
        <p:sp>
          <p:nvSpPr>
            <p:cNvPr id="531" name="Oval 530">
              <a:extLst>
                <a:ext uri="{FF2B5EF4-FFF2-40B4-BE49-F238E27FC236}">
                  <a16:creationId xmlns:a16="http://schemas.microsoft.com/office/drawing/2014/main" id="{29B55D5B-D4D8-7382-7326-B2CA90EC7E21}"/>
                </a:ext>
              </a:extLst>
            </p:cNvPr>
            <p:cNvSpPr/>
            <p:nvPr/>
          </p:nvSpPr>
          <p:spPr>
            <a:xfrm>
              <a:off x="7959012" y="7822476"/>
              <a:ext cx="192024" cy="192024"/>
            </a:xfrm>
            <a:prstGeom prst="ellipse">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32" name="Cross 531">
              <a:extLst>
                <a:ext uri="{FF2B5EF4-FFF2-40B4-BE49-F238E27FC236}">
                  <a16:creationId xmlns:a16="http://schemas.microsoft.com/office/drawing/2014/main" id="{F682062C-355F-568A-5332-48341F361D7C}"/>
                </a:ext>
              </a:extLst>
            </p:cNvPr>
            <p:cNvSpPr/>
            <p:nvPr/>
          </p:nvSpPr>
          <p:spPr>
            <a:xfrm rot="2700000">
              <a:off x="7984905" y="7849609"/>
              <a:ext cx="141979" cy="137931"/>
            </a:xfrm>
            <a:prstGeom prst="plus">
              <a:avLst>
                <a:gd name="adj" fmla="val 41232"/>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sp>
        <p:nvSpPr>
          <p:cNvPr id="533" name="Use headers, colors, and/or backgrounds to separate or group together sections.">
            <a:extLst>
              <a:ext uri="{FF2B5EF4-FFF2-40B4-BE49-F238E27FC236}">
                <a16:creationId xmlns:a16="http://schemas.microsoft.com/office/drawing/2014/main" id="{93B0C3E6-0F4B-C683-09D8-6BB4BC1D5AFB}"/>
              </a:ext>
            </a:extLst>
          </p:cNvPr>
          <p:cNvSpPr txBox="1"/>
          <p:nvPr/>
        </p:nvSpPr>
        <p:spPr>
          <a:xfrm>
            <a:off x="4728275" y="7917596"/>
            <a:ext cx="4251862"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Light"/>
              </a:rPr>
              <a:t>GitHub Actions will deny a commit if any tests from the testthat folder fail. </a:t>
            </a:r>
          </a:p>
        </p:txBody>
      </p:sp>
      <p:sp>
        <p:nvSpPr>
          <p:cNvPr id="534" name="Use headers, colors, and/or backgrounds to separate or group together sections.">
            <a:extLst>
              <a:ext uri="{FF2B5EF4-FFF2-40B4-BE49-F238E27FC236}">
                <a16:creationId xmlns:a16="http://schemas.microsoft.com/office/drawing/2014/main" id="{DB74533E-1D1E-F88D-4F0F-1D901C3D90B0}"/>
              </a:ext>
            </a:extLst>
          </p:cNvPr>
          <p:cNvSpPr txBox="1"/>
          <p:nvPr/>
        </p:nvSpPr>
        <p:spPr>
          <a:xfrm>
            <a:off x="4715896" y="8553932"/>
            <a:ext cx="4251862" cy="6088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Light"/>
              </a:rPr>
              <a:t>The Quality Reviewer is a user role that runs the committed code on their own machine, ensuring that code is not reliant on the hosts’ personal setup. </a:t>
            </a:r>
          </a:p>
        </p:txBody>
      </p:sp>
      <p:sp>
        <p:nvSpPr>
          <p:cNvPr id="536" name="Use headers, colors, and/or backgrounds to separate or group together sections.">
            <a:extLst>
              <a:ext uri="{FF2B5EF4-FFF2-40B4-BE49-F238E27FC236}">
                <a16:creationId xmlns:a16="http://schemas.microsoft.com/office/drawing/2014/main" id="{BD248A3D-67F6-BCE3-7F04-DF2B8ACE65AA}"/>
              </a:ext>
            </a:extLst>
          </p:cNvPr>
          <p:cNvSpPr txBox="1"/>
          <p:nvPr/>
        </p:nvSpPr>
        <p:spPr>
          <a:xfrm>
            <a:off x="4722403" y="9422582"/>
            <a:ext cx="4251862" cy="6088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Light"/>
              </a:rPr>
              <a:t>The Code Architect is a user role that checks to see that the committed code matches the conventions of other similar files in Kaiaulu.</a:t>
            </a:r>
          </a:p>
        </p:txBody>
      </p:sp>
    </p:spTree>
    <p:extLst>
      <p:ext uri="{BB962C8B-B14F-4D97-AF65-F5344CB8AC3E}">
        <p14:creationId xmlns:p14="http://schemas.microsoft.com/office/powerpoint/2010/main" val="791966680"/>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AAE7D-8F3C-9808-C4A3-E37069E5F841}"/>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FD8428AC-CE4A-C883-679D-657EB8E82878}"/>
              </a:ext>
            </a:extLst>
          </p:cNvPr>
          <p:cNvPicPr>
            <a:picLocks noChangeAspect="1"/>
          </p:cNvPicPr>
          <p:nvPr/>
        </p:nvPicPr>
        <p:blipFill>
          <a:blip r:embed="rId3"/>
          <a:stretch>
            <a:fillRect/>
          </a:stretch>
        </p:blipFill>
        <p:spPr>
          <a:xfrm>
            <a:off x="8374634" y="-696057"/>
            <a:ext cx="5598432" cy="2990088"/>
          </a:xfrm>
          <a:prstGeom prst="rect">
            <a:avLst/>
          </a:prstGeom>
          <a:ln w="12700">
            <a:miter lim="400000"/>
          </a:ln>
        </p:spPr>
      </p:pic>
      <p:sp>
        <p:nvSpPr>
          <p:cNvPr id="312" name="Line">
            <a:extLst>
              <a:ext uri="{FF2B5EF4-FFF2-40B4-BE49-F238E27FC236}">
                <a16:creationId xmlns:a16="http://schemas.microsoft.com/office/drawing/2014/main" id="{EEDF6B24-C438-4709-D0DF-2391965FEB1D}"/>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3C1F12E8-92AA-A0C9-2FA7-E77C03109AC0}"/>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26" name="Manipulate Variables">
            <a:extLst>
              <a:ext uri="{FF2B5EF4-FFF2-40B4-BE49-F238E27FC236}">
                <a16:creationId xmlns:a16="http://schemas.microsoft.com/office/drawing/2014/main" id="{598E0C36-8462-C057-15A8-B4801CB08097}"/>
              </a:ext>
            </a:extLst>
          </p:cNvPr>
          <p:cNvSpPr txBox="1"/>
          <p:nvPr/>
        </p:nvSpPr>
        <p:spPr>
          <a:xfrm>
            <a:off x="4645160" y="3855127"/>
            <a:ext cx="3048912"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Code Review Workflow</a:t>
            </a:r>
          </a:p>
        </p:txBody>
      </p:sp>
      <p:sp>
        <p:nvSpPr>
          <p:cNvPr id="334" name="Three Column Layout: : CHEAT SHEET">
            <a:extLst>
              <a:ext uri="{FF2B5EF4-FFF2-40B4-BE49-F238E27FC236}">
                <a16:creationId xmlns:a16="http://schemas.microsoft.com/office/drawing/2014/main" id="{5D3E0D4F-4385-E613-C006-004D8A148A2B}"/>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Unit Tests </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41" name="Use headers, colors, and/or backgrounds to separate or group together sections.">
            <a:extLst>
              <a:ext uri="{FF2B5EF4-FFF2-40B4-BE49-F238E27FC236}">
                <a16:creationId xmlns:a16="http://schemas.microsoft.com/office/drawing/2014/main" id="{44979DD1-A197-C9B1-8C64-296BD9EC6939}"/>
              </a:ext>
            </a:extLst>
          </p:cNvPr>
          <p:cNvSpPr txBox="1"/>
          <p:nvPr/>
        </p:nvSpPr>
        <p:spPr>
          <a:xfrm>
            <a:off x="209328" y="1835513"/>
            <a:ext cx="3949153" cy="13505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Kaiaulu has multiple measures in place to ensure that its codebase remains maintainable. </a:t>
            </a:r>
          </a:p>
          <a:p>
            <a:pPr>
              <a:lnSpc>
                <a:spcPct val="90000"/>
              </a:lnSpc>
              <a:spcBef>
                <a:spcPts val="300"/>
              </a:spcBef>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Try-catch </a:t>
            </a:r>
            <a:r>
              <a:rPr lang="en-US" dirty="0">
                <a:latin typeface="Source Sans Pro" panose="020B0503030403020204" pitchFamily="34" charset="0"/>
                <a:ea typeface="Source Sans Pro" panose="020B0503030403020204" pitchFamily="34" charset="0"/>
              </a:rPr>
              <a:t>statements</a:t>
            </a:r>
            <a:r>
              <a:rPr lang="en-US" b="0" dirty="0">
                <a:latin typeface="Source Sans Pro" panose="020B0503030403020204" pitchFamily="34" charset="0"/>
                <a:ea typeface="Source Sans Pro" panose="020B0503030403020204" pitchFamily="34" charset="0"/>
              </a:rPr>
              <a:t> and tests let functions fail gracefully and ensure functions work as intended. </a:t>
            </a:r>
          </a:p>
          <a:p>
            <a:pPr>
              <a:lnSpc>
                <a:spcPct val="90000"/>
              </a:lnSpc>
              <a:spcBef>
                <a:spcPts val="300"/>
              </a:spcBef>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Codecov and GitHub Actions run tests and other checks for every commit in a Pull Request, checking whether any tests fail, docs are missing, or other conditions are not met.</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382" name="Logistics">
            <a:extLst>
              <a:ext uri="{FF2B5EF4-FFF2-40B4-BE49-F238E27FC236}">
                <a16:creationId xmlns:a16="http://schemas.microsoft.com/office/drawing/2014/main" id="{2DD6BF28-5D56-2578-380D-0AA46053C8C2}"/>
              </a:ext>
            </a:extLst>
          </p:cNvPr>
          <p:cNvSpPr txBox="1"/>
          <p:nvPr/>
        </p:nvSpPr>
        <p:spPr>
          <a:xfrm>
            <a:off x="214630" y="5722887"/>
            <a:ext cx="215283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Test Framework</a:t>
            </a:r>
          </a:p>
        </p:txBody>
      </p:sp>
      <p:sp>
        <p:nvSpPr>
          <p:cNvPr id="384" name="Layout Suggestions">
            <a:extLst>
              <a:ext uri="{FF2B5EF4-FFF2-40B4-BE49-F238E27FC236}">
                <a16:creationId xmlns:a16="http://schemas.microsoft.com/office/drawing/2014/main" id="{24034196-EB1E-16E6-172B-DACE9A1ED618}"/>
              </a:ext>
            </a:extLst>
          </p:cNvPr>
          <p:cNvSpPr txBox="1"/>
          <p:nvPr/>
        </p:nvSpPr>
        <p:spPr>
          <a:xfrm>
            <a:off x="213255" y="1519045"/>
            <a:ext cx="2621281"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B0C6C8CF-CCCA-608E-6ADC-D202B5B9519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22700A13-13BF-61D1-D269-F8556C65F569}"/>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5">
                  <a:extLst>
                    <a:ext uri="{A12FA001-AC4F-418D-AE19-62706E023703}">
                      <ahyp:hlinkClr xmlns:ahyp="http://schemas.microsoft.com/office/drawing/2018/hyperlinkcolor" val="tx"/>
                    </a:ext>
                  </a:extLst>
                </a:hlinkClick>
              </a:rPr>
              <a:t>CC BY SA</a:t>
            </a:r>
            <a:r>
              <a:rPr lang="en-US" sz="1000" b="0" dirty="0">
                <a:solidFill>
                  <a:schemeClr val="tx1"/>
                </a:solidFill>
              </a:rPr>
              <a:t> Colby Fuke</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371" name="Line">
            <a:extLst>
              <a:ext uri="{FF2B5EF4-FFF2-40B4-BE49-F238E27FC236}">
                <a16:creationId xmlns:a16="http://schemas.microsoft.com/office/drawing/2014/main" id="{150CE295-59B2-2DCA-B083-5F676071FDA9}"/>
              </a:ext>
            </a:extLst>
          </p:cNvPr>
          <p:cNvSpPr/>
          <p:nvPr/>
        </p:nvSpPr>
        <p:spPr>
          <a:xfrm flipV="1">
            <a:off x="146932" y="1835513"/>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grpSp>
        <p:nvGrpSpPr>
          <p:cNvPr id="61" name="Group 60">
            <a:extLst>
              <a:ext uri="{FF2B5EF4-FFF2-40B4-BE49-F238E27FC236}">
                <a16:creationId xmlns:a16="http://schemas.microsoft.com/office/drawing/2014/main" id="{A61F9C02-50EA-804E-85C1-150863B95FF5}"/>
              </a:ext>
            </a:extLst>
          </p:cNvPr>
          <p:cNvGrpSpPr/>
          <p:nvPr/>
        </p:nvGrpSpPr>
        <p:grpSpPr>
          <a:xfrm>
            <a:off x="9554259" y="3866817"/>
            <a:ext cx="3848844" cy="6172184"/>
            <a:chOff x="870417" y="3616023"/>
            <a:chExt cx="3848844" cy="6172184"/>
          </a:xfrm>
        </p:grpSpPr>
        <p:sp>
          <p:nvSpPr>
            <p:cNvPr id="449" name="Rectangle 448">
              <a:extLst>
                <a:ext uri="{FF2B5EF4-FFF2-40B4-BE49-F238E27FC236}">
                  <a16:creationId xmlns:a16="http://schemas.microsoft.com/office/drawing/2014/main" id="{4D2403C8-727B-E8C3-704E-6E3979C70797}"/>
                </a:ext>
              </a:extLst>
            </p:cNvPr>
            <p:cNvSpPr/>
            <p:nvPr/>
          </p:nvSpPr>
          <p:spPr>
            <a:xfrm>
              <a:off x="870417" y="3627271"/>
              <a:ext cx="3848844" cy="6160936"/>
            </a:xfrm>
            <a:prstGeom prst="rect">
              <a:avLst/>
            </a:prstGeom>
            <a:ln w="12700"/>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pic>
          <p:nvPicPr>
            <p:cNvPr id="450" name="Picture 449" descr="Account ">
              <a:extLst>
                <a:ext uri="{FF2B5EF4-FFF2-40B4-BE49-F238E27FC236}">
                  <a16:creationId xmlns:a16="http://schemas.microsoft.com/office/drawing/2014/main" id="{798EB5E9-32B7-7FDE-BBBC-769D70B306A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91912" y="4195042"/>
              <a:ext cx="306136" cy="306136"/>
            </a:xfrm>
            <a:prstGeom prst="rect">
              <a:avLst/>
            </a:prstGeom>
            <a:noFill/>
            <a:extLst>
              <a:ext uri="{909E8E84-426E-40DD-AFC4-6F175D3DCCD1}">
                <a14:hiddenFill xmlns:a14="http://schemas.microsoft.com/office/drawing/2010/main">
                  <a:solidFill>
                    <a:srgbClr val="FFFFFF"/>
                  </a:solidFill>
                </a14:hiddenFill>
              </a:ext>
            </a:extLst>
          </p:spPr>
        </p:pic>
        <p:sp>
          <p:nvSpPr>
            <p:cNvPr id="451" name="TextBox 1284">
              <a:extLst>
                <a:ext uri="{FF2B5EF4-FFF2-40B4-BE49-F238E27FC236}">
                  <a16:creationId xmlns:a16="http://schemas.microsoft.com/office/drawing/2014/main" id="{C913E350-1105-57A7-A993-D943F8EC7FCA}"/>
                </a:ext>
              </a:extLst>
            </p:cNvPr>
            <p:cNvSpPr txBox="1"/>
            <p:nvPr/>
          </p:nvSpPr>
          <p:spPr>
            <a:xfrm>
              <a:off x="991912" y="3616023"/>
              <a:ext cx="3720890" cy="261610"/>
            </a:xfrm>
            <a:prstGeom prst="rect">
              <a:avLst/>
            </a:prstGeom>
            <a:noFill/>
          </p:spPr>
          <p:txBody>
            <a:bodyPr wrap="none" rtlCol="0">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r>
                <a:rPr lang="en-US" sz="800" dirty="0"/>
                <a:t>Code          Issues          </a:t>
              </a:r>
              <a:r>
                <a:rPr lang="en-US" sz="1100" b="1" dirty="0"/>
                <a:t>Pull Requests          </a:t>
              </a:r>
              <a:r>
                <a:rPr lang="en-US" sz="800" dirty="0"/>
                <a:t>Actions          Wiki          Security  </a:t>
              </a:r>
            </a:p>
          </p:txBody>
        </p:sp>
        <p:cxnSp>
          <p:nvCxnSpPr>
            <p:cNvPr id="452" name="Straight Connector 451">
              <a:extLst>
                <a:ext uri="{FF2B5EF4-FFF2-40B4-BE49-F238E27FC236}">
                  <a16:creationId xmlns:a16="http://schemas.microsoft.com/office/drawing/2014/main" id="{3D773B09-2696-EDD6-7090-08C3CA9E43C6}"/>
                </a:ext>
              </a:extLst>
            </p:cNvPr>
            <p:cNvCxnSpPr>
              <a:cxnSpLocks/>
            </p:cNvCxnSpPr>
            <p:nvPr/>
          </p:nvCxnSpPr>
          <p:spPr>
            <a:xfrm>
              <a:off x="870417" y="3877633"/>
              <a:ext cx="3842385" cy="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53" name="Use headers, colors, and/or backgrounds to separate or group together sections.">
              <a:extLst>
                <a:ext uri="{FF2B5EF4-FFF2-40B4-BE49-F238E27FC236}">
                  <a16:creationId xmlns:a16="http://schemas.microsoft.com/office/drawing/2014/main" id="{349B0969-EB4C-D579-E2ED-FA1D57C237C0}"/>
                </a:ext>
              </a:extLst>
            </p:cNvPr>
            <p:cNvSpPr txBox="1"/>
            <p:nvPr/>
          </p:nvSpPr>
          <p:spPr>
            <a:xfrm>
              <a:off x="1455985" y="3883746"/>
              <a:ext cx="1356960" cy="256245"/>
            </a:xfrm>
            <a:prstGeom prst="rect">
              <a:avLst/>
            </a:prstGeom>
            <a:ln w="12700">
              <a:miter lim="400000"/>
            </a:ln>
            <a:extLst>
              <a:ext uri="{C572A759-6A51-4108-AA02-DFA0A04FC94B}">
                <ma14:wrappingTextBoxFlag xmlns:lc="http://schemas.openxmlformats.org/drawingml/2006/lockedCanvas" xmlns:ma14="http://schemas.microsoft.com/office/mac/drawingml/2011/main" xmlns:a14="http://schemas.microsoft.com/office/drawing/2010/main" xmlns:m="http://schemas.openxmlformats.org/officeDocument/2006/math" xmlns="" val="1"/>
              </a:ext>
            </a:extLst>
          </p:spPr>
          <p:txBody>
            <a:bodyPr wrap="square" lIns="54570" tIns="54570" rIns="54570" bIns="5457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a:lnSpc>
                  <a:spcPct val="90000"/>
                </a:lnSpc>
                <a:buSzPts val="3700"/>
              </a:pPr>
              <a:r>
                <a:rPr lang="en-US" b="0" dirty="0">
                  <a:latin typeface="Source Sans Pro" panose="020B0503030403020204" pitchFamily="34" charset="0"/>
                  <a:ea typeface="Source Sans Pro" panose="020B0503030403020204" pitchFamily="34" charset="0"/>
                  <a:cs typeface="Arial" panose="020B0604020202020204" pitchFamily="34" charset="0"/>
                </a:rPr>
                <a:t>Pull Request #330</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7"/>
              </a:endParaRPr>
            </a:p>
            <a:p>
              <a:pPr lvl="0">
                <a:lnSpc>
                  <a:spcPct val="90000"/>
                </a:lnSpc>
                <a:buSzPts val="3700"/>
              </a:pP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7"/>
              </a:endParaRPr>
            </a:p>
          </p:txBody>
        </p:sp>
        <p:pic>
          <p:nvPicPr>
            <p:cNvPr id="454" name="Google Shape;214;p15">
              <a:extLst>
                <a:ext uri="{FF2B5EF4-FFF2-40B4-BE49-F238E27FC236}">
                  <a16:creationId xmlns:a16="http://schemas.microsoft.com/office/drawing/2014/main" id="{8B3ED93D-8D1B-67CD-F74E-4D21F28515A7}"/>
                </a:ext>
              </a:extLst>
            </p:cNvPr>
            <p:cNvPicPr preferRelativeResize="0"/>
            <p:nvPr/>
          </p:nvPicPr>
          <p:blipFill>
            <a:blip r:embed="rId8">
              <a:alphaModFix/>
            </a:blip>
            <a:stretch>
              <a:fillRect/>
            </a:stretch>
          </p:blipFill>
          <p:spPr>
            <a:xfrm>
              <a:off x="914022" y="4784929"/>
              <a:ext cx="476766" cy="456900"/>
            </a:xfrm>
            <a:prstGeom prst="rect">
              <a:avLst/>
            </a:prstGeom>
            <a:noFill/>
            <a:ln>
              <a:noFill/>
            </a:ln>
          </p:spPr>
        </p:pic>
        <p:sp>
          <p:nvSpPr>
            <p:cNvPr id="455" name="Google Shape;216;p15">
              <a:extLst>
                <a:ext uri="{FF2B5EF4-FFF2-40B4-BE49-F238E27FC236}">
                  <a16:creationId xmlns:a16="http://schemas.microsoft.com/office/drawing/2014/main" id="{303128D0-84D8-FEB6-4194-42AFF8310ECE}"/>
                </a:ext>
              </a:extLst>
            </p:cNvPr>
            <p:cNvSpPr/>
            <p:nvPr/>
          </p:nvSpPr>
          <p:spPr>
            <a:xfrm>
              <a:off x="1469668" y="4973530"/>
              <a:ext cx="3025431" cy="652091"/>
            </a:xfrm>
            <a:prstGeom prst="rect">
              <a:avLst/>
            </a:prstGeom>
            <a:solidFill>
              <a:schemeClr val="lt1"/>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sp>
          <p:nvSpPr>
            <p:cNvPr id="456" name="Google Shape;215;p15">
              <a:extLst>
                <a:ext uri="{FF2B5EF4-FFF2-40B4-BE49-F238E27FC236}">
                  <a16:creationId xmlns:a16="http://schemas.microsoft.com/office/drawing/2014/main" id="{34EC5497-CE89-273B-A635-438E8D86660A}"/>
                </a:ext>
              </a:extLst>
            </p:cNvPr>
            <p:cNvSpPr/>
            <p:nvPr/>
          </p:nvSpPr>
          <p:spPr>
            <a:xfrm>
              <a:off x="1467748" y="4759190"/>
              <a:ext cx="3025431" cy="232375"/>
            </a:xfrm>
            <a:prstGeom prst="rect">
              <a:avLst/>
            </a:prstGeom>
            <a:solidFill>
              <a:schemeClr val="lt2"/>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839" dirty="0"/>
            </a:p>
            <a:p>
              <a:pPr>
                <a:spcBef>
                  <a:spcPts val="0"/>
                </a:spcBef>
              </a:pPr>
              <a:endParaRPr sz="839" dirty="0"/>
            </a:p>
            <a:p>
              <a:pPr>
                <a:spcBef>
                  <a:spcPts val="0"/>
                </a:spcBef>
              </a:pPr>
              <a:r>
                <a:rPr lang="en" sz="839" dirty="0">
                  <a:solidFill>
                    <a:schemeClr val="tx1">
                      <a:lumMod val="50000"/>
                    </a:schemeClr>
                  </a:solidFill>
                </a:rPr>
                <a:t>Codecov </a:t>
              </a:r>
              <a:r>
                <a:rPr lang="en" sz="839" b="0" dirty="0">
                  <a:solidFill>
                    <a:schemeClr val="tx1">
                      <a:lumMod val="50000"/>
                    </a:schemeClr>
                  </a:solidFill>
                </a:rPr>
                <a:t>commented on Mar 27</a:t>
              </a:r>
              <a:endParaRPr sz="839" b="0" dirty="0">
                <a:solidFill>
                  <a:schemeClr val="tx1">
                    <a:lumMod val="50000"/>
                  </a:schemeClr>
                </a:solidFill>
              </a:endParaRPr>
            </a:p>
            <a:p>
              <a:pPr>
                <a:spcBef>
                  <a:spcPts val="0"/>
                </a:spcBef>
              </a:pPr>
              <a:endParaRPr sz="1956" dirty="0"/>
            </a:p>
          </p:txBody>
        </p:sp>
        <p:sp>
          <p:nvSpPr>
            <p:cNvPr id="457" name="Google Shape;217;p15">
              <a:extLst>
                <a:ext uri="{FF2B5EF4-FFF2-40B4-BE49-F238E27FC236}">
                  <a16:creationId xmlns:a16="http://schemas.microsoft.com/office/drawing/2014/main" id="{407A0FC2-3CE2-1E49-C68B-41E37F51DCEE}"/>
                </a:ext>
              </a:extLst>
            </p:cNvPr>
            <p:cNvSpPr txBox="1"/>
            <p:nvPr/>
          </p:nvSpPr>
          <p:spPr>
            <a:xfrm>
              <a:off x="1396836" y="4941265"/>
              <a:ext cx="2116583" cy="554125"/>
            </a:xfrm>
            <a:prstGeom prst="rect">
              <a:avLst/>
            </a:prstGeom>
            <a:noFill/>
            <a:ln>
              <a:noFill/>
            </a:ln>
          </p:spPr>
          <p:txBody>
            <a:bodyPr spcFirstLastPara="1" wrap="square" lIns="127722" tIns="127722" rIns="127722" bIns="127722" anchor="t" anchorCtr="0">
              <a:noAutofit/>
            </a:bodyPr>
            <a:lstStyle/>
            <a:p>
              <a:pPr>
                <a:spcBef>
                  <a:spcPts val="0"/>
                </a:spcBef>
              </a:pPr>
              <a:r>
                <a:rPr lang="en" sz="839" dirty="0">
                  <a:solidFill>
                    <a:srgbClr val="1F2328"/>
                  </a:solidFill>
                  <a:highlight>
                    <a:srgbClr val="FFFFFF"/>
                  </a:highlight>
                </a:rPr>
                <a:t>❌ Patch coverage is…</a:t>
              </a:r>
              <a:endParaRPr sz="839" dirty="0">
                <a:solidFill>
                  <a:srgbClr val="1F2328"/>
                </a:solidFill>
                <a:highlight>
                  <a:srgbClr val="FFFFFF"/>
                </a:highlight>
              </a:endParaRPr>
            </a:p>
            <a:p>
              <a:pPr>
                <a:spcBef>
                  <a:spcPts val="0"/>
                </a:spcBef>
              </a:pPr>
              <a:r>
                <a:rPr lang="en" sz="839" dirty="0">
                  <a:solidFill>
                    <a:srgbClr val="1F2328"/>
                  </a:solidFill>
                  <a:highlight>
                    <a:srgbClr val="FFFFFF"/>
                  </a:highlight>
                </a:rPr>
                <a:t>✅ Project coverage is…</a:t>
              </a:r>
              <a:endParaRPr sz="839" dirty="0">
                <a:solidFill>
                  <a:srgbClr val="1F2328"/>
                </a:solidFill>
                <a:highlight>
                  <a:srgbClr val="FFFFFF"/>
                </a:highlight>
              </a:endParaRPr>
            </a:p>
            <a:p>
              <a:pPr>
                <a:spcBef>
                  <a:spcPts val="0"/>
                </a:spcBef>
              </a:pPr>
              <a:r>
                <a:rPr lang="en" sz="839" dirty="0">
                  <a:solidFill>
                    <a:srgbClr val="1F2328"/>
                  </a:solidFill>
                  <a:highlight>
                    <a:srgbClr val="FFFFFF"/>
                  </a:highlight>
                </a:rPr>
                <a:t>⚠️ Report is…</a:t>
              </a:r>
              <a:endParaRPr sz="839" dirty="0">
                <a:solidFill>
                  <a:srgbClr val="1F2328"/>
                </a:solidFill>
                <a:highlight>
                  <a:srgbClr val="FFFFFF"/>
                </a:highlight>
              </a:endParaRPr>
            </a:p>
          </p:txBody>
        </p:sp>
        <p:pic>
          <p:nvPicPr>
            <p:cNvPr id="458" name="Google Shape;227;p15">
              <a:extLst>
                <a:ext uri="{FF2B5EF4-FFF2-40B4-BE49-F238E27FC236}">
                  <a16:creationId xmlns:a16="http://schemas.microsoft.com/office/drawing/2014/main" id="{3C2B461B-0CFF-2331-797D-AEE6404F0327}"/>
                </a:ext>
              </a:extLst>
            </p:cNvPr>
            <p:cNvPicPr preferRelativeResize="0"/>
            <p:nvPr/>
          </p:nvPicPr>
          <p:blipFill>
            <a:blip r:embed="rId9">
              <a:alphaModFix/>
            </a:blip>
            <a:srcRect l="9422" t="6057" r="10362" b="6496"/>
            <a:stretch>
              <a:fillRect/>
            </a:stretch>
          </p:blipFill>
          <p:spPr>
            <a:xfrm>
              <a:off x="991912" y="5826679"/>
              <a:ext cx="382451" cy="379585"/>
            </a:xfrm>
            <a:prstGeom prst="rect">
              <a:avLst/>
            </a:prstGeom>
            <a:noFill/>
            <a:ln>
              <a:noFill/>
            </a:ln>
          </p:spPr>
        </p:pic>
        <p:pic>
          <p:nvPicPr>
            <p:cNvPr id="459" name="Google Shape;206;p15">
              <a:extLst>
                <a:ext uri="{FF2B5EF4-FFF2-40B4-BE49-F238E27FC236}">
                  <a16:creationId xmlns:a16="http://schemas.microsoft.com/office/drawing/2014/main" id="{8A221C0E-798B-9AFE-40AE-8DA00B67314F}"/>
                </a:ext>
              </a:extLst>
            </p:cNvPr>
            <p:cNvPicPr preferRelativeResize="0"/>
            <p:nvPr/>
          </p:nvPicPr>
          <p:blipFill rotWithShape="1">
            <a:blip r:embed="rId10">
              <a:alphaModFix/>
            </a:blip>
            <a:srcRect r="56805" b="59527"/>
            <a:stretch/>
          </p:blipFill>
          <p:spPr>
            <a:xfrm>
              <a:off x="1474313" y="8180149"/>
              <a:ext cx="3020786" cy="737988"/>
            </a:xfrm>
            <a:prstGeom prst="rect">
              <a:avLst/>
            </a:prstGeom>
            <a:noFill/>
            <a:ln>
              <a:noFill/>
            </a:ln>
          </p:spPr>
        </p:pic>
        <p:pic>
          <p:nvPicPr>
            <p:cNvPr id="461" name="Google Shape;208;p15">
              <a:extLst>
                <a:ext uri="{FF2B5EF4-FFF2-40B4-BE49-F238E27FC236}">
                  <a16:creationId xmlns:a16="http://schemas.microsoft.com/office/drawing/2014/main" id="{17931912-6EEC-F5FE-704D-26E51D7558EF}"/>
                </a:ext>
              </a:extLst>
            </p:cNvPr>
            <p:cNvPicPr preferRelativeResize="0"/>
            <p:nvPr/>
          </p:nvPicPr>
          <p:blipFill rotWithShape="1">
            <a:blip r:embed="rId10">
              <a:alphaModFix/>
            </a:blip>
            <a:srcRect r="51536" b="66346"/>
            <a:stretch/>
          </p:blipFill>
          <p:spPr>
            <a:xfrm>
              <a:off x="1478995" y="6325833"/>
              <a:ext cx="3018340" cy="1245849"/>
            </a:xfrm>
            <a:prstGeom prst="rect">
              <a:avLst/>
            </a:prstGeom>
            <a:noFill/>
            <a:ln>
              <a:noFill/>
            </a:ln>
          </p:spPr>
        </p:pic>
        <p:pic>
          <p:nvPicPr>
            <p:cNvPr id="462" name="Google Shape;226;p15">
              <a:extLst>
                <a:ext uri="{FF2B5EF4-FFF2-40B4-BE49-F238E27FC236}">
                  <a16:creationId xmlns:a16="http://schemas.microsoft.com/office/drawing/2014/main" id="{7637A0E5-6FA9-5CF2-115C-4FB1228AE7AB}"/>
                </a:ext>
              </a:extLst>
            </p:cNvPr>
            <p:cNvPicPr preferRelativeResize="0"/>
            <p:nvPr/>
          </p:nvPicPr>
          <p:blipFill>
            <a:blip r:embed="rId11">
              <a:alphaModFix/>
            </a:blip>
            <a:stretch>
              <a:fillRect/>
            </a:stretch>
          </p:blipFill>
          <p:spPr>
            <a:xfrm>
              <a:off x="1520465" y="5876512"/>
              <a:ext cx="418118" cy="397419"/>
            </a:xfrm>
            <a:prstGeom prst="rect">
              <a:avLst/>
            </a:prstGeom>
            <a:noFill/>
            <a:ln>
              <a:noFill/>
            </a:ln>
          </p:spPr>
        </p:pic>
        <p:sp>
          <p:nvSpPr>
            <p:cNvPr id="463" name="Google Shape;228;p15">
              <a:extLst>
                <a:ext uri="{FF2B5EF4-FFF2-40B4-BE49-F238E27FC236}">
                  <a16:creationId xmlns:a16="http://schemas.microsoft.com/office/drawing/2014/main" id="{10EC3576-63A9-9406-C19D-0DAD25E9FE9B}"/>
                </a:ext>
              </a:extLst>
            </p:cNvPr>
            <p:cNvSpPr txBox="1"/>
            <p:nvPr/>
          </p:nvSpPr>
          <p:spPr>
            <a:xfrm>
              <a:off x="1866920" y="5853986"/>
              <a:ext cx="1995583" cy="204417"/>
            </a:xfrm>
            <a:prstGeom prst="rect">
              <a:avLst/>
            </a:prstGeom>
            <a:noFill/>
            <a:ln>
              <a:noFill/>
            </a:ln>
          </p:spPr>
          <p:txBody>
            <a:bodyPr spcFirstLastPara="1" wrap="square" lIns="127722" tIns="127722" rIns="127722" bIns="127722" anchor="t" anchorCtr="0">
              <a:noAutofit/>
            </a:bodyPr>
            <a:lstStyle/>
            <a:p>
              <a:pPr>
                <a:spcBef>
                  <a:spcPts val="0"/>
                </a:spcBef>
              </a:pPr>
              <a:r>
                <a:rPr lang="en" sz="1117" dirty="0">
                  <a:solidFill>
                    <a:schemeClr val="dk1"/>
                  </a:solidFill>
                </a:rPr>
                <a:t>Changes Reviewed</a:t>
              </a:r>
              <a:endParaRPr sz="1117" dirty="0">
                <a:solidFill>
                  <a:schemeClr val="dk1"/>
                </a:solidFill>
              </a:endParaRPr>
            </a:p>
          </p:txBody>
        </p:sp>
        <p:cxnSp>
          <p:nvCxnSpPr>
            <p:cNvPr id="464" name="Google Shape;229;p15">
              <a:extLst>
                <a:ext uri="{FF2B5EF4-FFF2-40B4-BE49-F238E27FC236}">
                  <a16:creationId xmlns:a16="http://schemas.microsoft.com/office/drawing/2014/main" id="{CB419302-D9F8-F2A4-21D6-B21FBC400CD5}"/>
                </a:ext>
              </a:extLst>
            </p:cNvPr>
            <p:cNvCxnSpPr/>
            <p:nvPr/>
          </p:nvCxnSpPr>
          <p:spPr>
            <a:xfrm>
              <a:off x="1467748" y="6324819"/>
              <a:ext cx="3040125" cy="0"/>
            </a:xfrm>
            <a:prstGeom prst="straightConnector1">
              <a:avLst/>
            </a:prstGeom>
            <a:noFill/>
            <a:ln w="8700" cap="flat" cmpd="sng">
              <a:solidFill>
                <a:schemeClr val="dk2"/>
              </a:solidFill>
              <a:prstDash val="solid"/>
              <a:round/>
              <a:headEnd type="none" w="med" len="med"/>
              <a:tailEnd type="none" w="med" len="med"/>
            </a:ln>
          </p:spPr>
        </p:cxnSp>
        <p:pic>
          <p:nvPicPr>
            <p:cNvPr id="465" name="Google Shape;230;p15">
              <a:extLst>
                <a:ext uri="{FF2B5EF4-FFF2-40B4-BE49-F238E27FC236}">
                  <a16:creationId xmlns:a16="http://schemas.microsoft.com/office/drawing/2014/main" id="{B66B3D11-828E-CEF8-B853-93579B277246}"/>
                </a:ext>
              </a:extLst>
            </p:cNvPr>
            <p:cNvPicPr preferRelativeResize="0"/>
            <p:nvPr/>
          </p:nvPicPr>
          <p:blipFill>
            <a:blip r:embed="rId12">
              <a:alphaModFix/>
            </a:blip>
            <a:stretch>
              <a:fillRect/>
            </a:stretch>
          </p:blipFill>
          <p:spPr>
            <a:xfrm>
              <a:off x="1576377" y="6953035"/>
              <a:ext cx="233220" cy="273781"/>
            </a:xfrm>
            <a:prstGeom prst="rect">
              <a:avLst/>
            </a:prstGeom>
            <a:noFill/>
            <a:ln>
              <a:noFill/>
            </a:ln>
          </p:spPr>
        </p:pic>
        <p:pic>
          <p:nvPicPr>
            <p:cNvPr id="466" name="Google Shape;231;p15">
              <a:extLst>
                <a:ext uri="{FF2B5EF4-FFF2-40B4-BE49-F238E27FC236}">
                  <a16:creationId xmlns:a16="http://schemas.microsoft.com/office/drawing/2014/main" id="{1DD6DBBA-AFE3-8249-1776-8DB25287DF70}"/>
                </a:ext>
              </a:extLst>
            </p:cNvPr>
            <p:cNvPicPr preferRelativeResize="0"/>
            <p:nvPr/>
          </p:nvPicPr>
          <p:blipFill>
            <a:blip r:embed="rId10">
              <a:alphaModFix/>
            </a:blip>
            <a:stretch>
              <a:fillRect/>
            </a:stretch>
          </p:blipFill>
          <p:spPr>
            <a:xfrm>
              <a:off x="1530785" y="6396970"/>
              <a:ext cx="288926" cy="211878"/>
            </a:xfrm>
            <a:prstGeom prst="rect">
              <a:avLst/>
            </a:prstGeom>
            <a:noFill/>
            <a:ln>
              <a:noFill/>
            </a:ln>
          </p:spPr>
        </p:pic>
        <p:pic>
          <p:nvPicPr>
            <p:cNvPr id="467" name="Google Shape;232;p15">
              <a:extLst>
                <a:ext uri="{FF2B5EF4-FFF2-40B4-BE49-F238E27FC236}">
                  <a16:creationId xmlns:a16="http://schemas.microsoft.com/office/drawing/2014/main" id="{2704B425-85FF-F672-87CA-13DF9DA46D5B}"/>
                </a:ext>
              </a:extLst>
            </p:cNvPr>
            <p:cNvPicPr preferRelativeResize="0"/>
            <p:nvPr/>
          </p:nvPicPr>
          <p:blipFill>
            <a:blip r:embed="rId13">
              <a:alphaModFix/>
            </a:blip>
            <a:stretch>
              <a:fillRect/>
            </a:stretch>
          </p:blipFill>
          <p:spPr>
            <a:xfrm>
              <a:off x="1523888" y="6653098"/>
              <a:ext cx="275348" cy="232624"/>
            </a:xfrm>
            <a:prstGeom prst="rect">
              <a:avLst/>
            </a:prstGeom>
            <a:noFill/>
            <a:ln>
              <a:noFill/>
            </a:ln>
          </p:spPr>
        </p:pic>
        <p:sp>
          <p:nvSpPr>
            <p:cNvPr id="469" name="Google Shape;234;p15">
              <a:extLst>
                <a:ext uri="{FF2B5EF4-FFF2-40B4-BE49-F238E27FC236}">
                  <a16:creationId xmlns:a16="http://schemas.microsoft.com/office/drawing/2014/main" id="{1418CF2E-1E67-E4ED-F3FC-4A27C6947D17}"/>
                </a:ext>
              </a:extLst>
            </p:cNvPr>
            <p:cNvSpPr/>
            <p:nvPr/>
          </p:nvSpPr>
          <p:spPr>
            <a:xfrm>
              <a:off x="1629407" y="8282439"/>
              <a:ext cx="2788500" cy="232375"/>
            </a:xfrm>
            <a:prstGeom prst="rect">
              <a:avLst/>
            </a:prstGeom>
            <a:noFill/>
            <a:ln>
              <a:noFill/>
            </a:ln>
          </p:spPr>
          <p:txBody>
            <a:bodyPr spcFirstLastPara="1" wrap="square" lIns="127722" tIns="127722" rIns="127722" bIns="127722" anchor="ctr" anchorCtr="0">
              <a:noAutofit/>
            </a:bodyPr>
            <a:lstStyle/>
            <a:p>
              <a:pPr>
                <a:spcBef>
                  <a:spcPts val="0"/>
                </a:spcBef>
                <a:buClr>
                  <a:schemeClr val="dk1"/>
                </a:buClr>
                <a:buSzPts val="1006"/>
              </a:pPr>
              <a:r>
                <a:rPr lang="en" sz="839" dirty="0">
                  <a:solidFill>
                    <a:schemeClr val="dk1"/>
                  </a:solidFill>
                </a:rPr>
                <a:t>   </a:t>
              </a:r>
              <a:r>
                <a:rPr lang="en" sz="839" dirty="0">
                  <a:solidFill>
                    <a:srgbClr val="1F2328"/>
                  </a:solidFill>
                </a:rPr>
                <a:t>           test-coverage/test-coverage(4.4)</a:t>
              </a:r>
              <a:endParaRPr sz="1956" dirty="0"/>
            </a:p>
          </p:txBody>
        </p:sp>
        <p:sp>
          <p:nvSpPr>
            <p:cNvPr id="470" name="Google Shape;235;p15">
              <a:extLst>
                <a:ext uri="{FF2B5EF4-FFF2-40B4-BE49-F238E27FC236}">
                  <a16:creationId xmlns:a16="http://schemas.microsoft.com/office/drawing/2014/main" id="{6B3C18E7-9602-8926-3EB8-730473C12E99}"/>
                </a:ext>
              </a:extLst>
            </p:cNvPr>
            <p:cNvSpPr/>
            <p:nvPr/>
          </p:nvSpPr>
          <p:spPr>
            <a:xfrm>
              <a:off x="1629374" y="8621717"/>
              <a:ext cx="2788500" cy="232375"/>
            </a:xfrm>
            <a:prstGeom prst="rect">
              <a:avLst/>
            </a:prstGeom>
            <a:noFill/>
            <a:ln>
              <a:noFill/>
            </a:ln>
          </p:spPr>
          <p:txBody>
            <a:bodyPr spcFirstLastPara="1" wrap="square" lIns="127722" tIns="127722" rIns="127722" bIns="127722" anchor="ctr" anchorCtr="0">
              <a:noAutofit/>
            </a:bodyPr>
            <a:lstStyle/>
            <a:p>
              <a:pPr>
                <a:spcBef>
                  <a:spcPts val="0"/>
                </a:spcBef>
              </a:pPr>
              <a:r>
                <a:rPr lang="en" sz="839"/>
                <a:t>              R-CMD-check</a:t>
              </a:r>
              <a:endParaRPr sz="839"/>
            </a:p>
          </p:txBody>
        </p:sp>
        <p:sp>
          <p:nvSpPr>
            <p:cNvPr id="471" name="Google Shape;236;p15">
              <a:extLst>
                <a:ext uri="{FF2B5EF4-FFF2-40B4-BE49-F238E27FC236}">
                  <a16:creationId xmlns:a16="http://schemas.microsoft.com/office/drawing/2014/main" id="{132ACE08-5324-8085-444F-9400AB64C491}"/>
                </a:ext>
              </a:extLst>
            </p:cNvPr>
            <p:cNvSpPr/>
            <p:nvPr/>
          </p:nvSpPr>
          <p:spPr>
            <a:xfrm>
              <a:off x="1830220" y="8318797"/>
              <a:ext cx="165458" cy="16270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bg2">
                    <a:lumMod val="10000"/>
                  </a:schemeClr>
                </a:solidFill>
              </a:endParaRPr>
            </a:p>
          </p:txBody>
        </p:sp>
        <p:sp>
          <p:nvSpPr>
            <p:cNvPr id="472" name="Google Shape;237;p15">
              <a:extLst>
                <a:ext uri="{FF2B5EF4-FFF2-40B4-BE49-F238E27FC236}">
                  <a16:creationId xmlns:a16="http://schemas.microsoft.com/office/drawing/2014/main" id="{DAA11475-3800-D0C0-D028-11267151275A}"/>
                </a:ext>
              </a:extLst>
            </p:cNvPr>
            <p:cNvSpPr txBox="1"/>
            <p:nvPr/>
          </p:nvSpPr>
          <p:spPr>
            <a:xfrm>
              <a:off x="1729524" y="8229908"/>
              <a:ext cx="416167" cy="232375"/>
            </a:xfrm>
            <a:prstGeom prst="rect">
              <a:avLst/>
            </a:prstGeom>
            <a:noFill/>
            <a:ln>
              <a:noFill/>
            </a:ln>
          </p:spPr>
          <p:txBody>
            <a:bodyPr spcFirstLastPara="1" wrap="square" lIns="127722" tIns="127722" rIns="127722" bIns="127722" anchor="t" anchorCtr="0">
              <a:noAutofit/>
            </a:bodyPr>
            <a:lstStyle/>
            <a:p>
              <a:pPr>
                <a:spcBef>
                  <a:spcPts val="0"/>
                </a:spcBef>
              </a:pPr>
              <a:r>
                <a:rPr lang="en" sz="698" dirty="0">
                  <a:solidFill>
                    <a:schemeClr val="lt1"/>
                  </a:solidFill>
                </a:rPr>
                <a:t>GH</a:t>
              </a:r>
              <a:endParaRPr sz="698" dirty="0">
                <a:solidFill>
                  <a:schemeClr val="lt1"/>
                </a:solidFill>
              </a:endParaRPr>
            </a:p>
          </p:txBody>
        </p:sp>
        <p:sp>
          <p:nvSpPr>
            <p:cNvPr id="473" name="Google Shape;238;p15">
              <a:extLst>
                <a:ext uri="{FF2B5EF4-FFF2-40B4-BE49-F238E27FC236}">
                  <a16:creationId xmlns:a16="http://schemas.microsoft.com/office/drawing/2014/main" id="{5034AEFA-D02B-C4F7-E3E0-1EAD29B5CF6F}"/>
                </a:ext>
              </a:extLst>
            </p:cNvPr>
            <p:cNvSpPr/>
            <p:nvPr/>
          </p:nvSpPr>
          <p:spPr>
            <a:xfrm>
              <a:off x="1835613" y="8653245"/>
              <a:ext cx="165458" cy="16270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474" name="Google Shape;239;p15">
              <a:extLst>
                <a:ext uri="{FF2B5EF4-FFF2-40B4-BE49-F238E27FC236}">
                  <a16:creationId xmlns:a16="http://schemas.microsoft.com/office/drawing/2014/main" id="{8E358169-C980-E34A-E655-C60DB39C0021}"/>
                </a:ext>
              </a:extLst>
            </p:cNvPr>
            <p:cNvSpPr txBox="1"/>
            <p:nvPr/>
          </p:nvSpPr>
          <p:spPr>
            <a:xfrm>
              <a:off x="1730499" y="8555049"/>
              <a:ext cx="416167" cy="232375"/>
            </a:xfrm>
            <a:prstGeom prst="rect">
              <a:avLst/>
            </a:prstGeom>
            <a:noFill/>
            <a:ln>
              <a:noFill/>
            </a:ln>
          </p:spPr>
          <p:txBody>
            <a:bodyPr spcFirstLastPara="1" wrap="square" lIns="127722" tIns="127722" rIns="127722" bIns="127722" anchor="t" anchorCtr="0">
              <a:noAutofit/>
            </a:bodyPr>
            <a:lstStyle/>
            <a:p>
              <a:pPr>
                <a:spcBef>
                  <a:spcPts val="0"/>
                </a:spcBef>
              </a:pPr>
              <a:r>
                <a:rPr lang="en" sz="698" dirty="0">
                  <a:solidFill>
                    <a:schemeClr val="lt1"/>
                  </a:solidFill>
                </a:rPr>
                <a:t>GH</a:t>
              </a:r>
              <a:endParaRPr sz="698" dirty="0">
                <a:solidFill>
                  <a:schemeClr val="lt1"/>
                </a:solidFill>
              </a:endParaRPr>
            </a:p>
          </p:txBody>
        </p:sp>
        <p:sp>
          <p:nvSpPr>
            <p:cNvPr id="475" name="Google Shape;240;p15">
              <a:extLst>
                <a:ext uri="{FF2B5EF4-FFF2-40B4-BE49-F238E27FC236}">
                  <a16:creationId xmlns:a16="http://schemas.microsoft.com/office/drawing/2014/main" id="{816D0531-BAEF-381A-1832-E115321EFF9B}"/>
                </a:ext>
              </a:extLst>
            </p:cNvPr>
            <p:cNvSpPr txBox="1"/>
            <p:nvPr/>
          </p:nvSpPr>
          <p:spPr>
            <a:xfrm>
              <a:off x="1694050" y="6325762"/>
              <a:ext cx="970292"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a:solidFill>
                    <a:srgbClr val="999999"/>
                  </a:solidFill>
                </a:rPr>
                <a:t>1 approval</a:t>
              </a:r>
              <a:endParaRPr sz="978">
                <a:solidFill>
                  <a:srgbClr val="999999"/>
                </a:solidFill>
              </a:endParaRPr>
            </a:p>
            <a:p>
              <a:pPr>
                <a:spcBef>
                  <a:spcPts val="0"/>
                </a:spcBef>
              </a:pPr>
              <a:endParaRPr sz="978">
                <a:solidFill>
                  <a:srgbClr val="999999"/>
                </a:solidFill>
              </a:endParaRPr>
            </a:p>
            <a:p>
              <a:pPr>
                <a:spcBef>
                  <a:spcPts val="0"/>
                </a:spcBef>
              </a:pPr>
              <a:r>
                <a:rPr lang="en" sz="978">
                  <a:solidFill>
                    <a:srgbClr val="999999"/>
                  </a:solidFill>
                </a:rPr>
                <a:t> </a:t>
              </a:r>
              <a:endParaRPr sz="978">
                <a:solidFill>
                  <a:srgbClr val="999999"/>
                </a:solidFill>
              </a:endParaRPr>
            </a:p>
          </p:txBody>
        </p:sp>
        <p:sp>
          <p:nvSpPr>
            <p:cNvPr id="476" name="Google Shape;241;p15">
              <a:extLst>
                <a:ext uri="{FF2B5EF4-FFF2-40B4-BE49-F238E27FC236}">
                  <a16:creationId xmlns:a16="http://schemas.microsoft.com/office/drawing/2014/main" id="{D8750366-B030-C9D1-D4CB-106B90B0BD98}"/>
                </a:ext>
              </a:extLst>
            </p:cNvPr>
            <p:cNvSpPr txBox="1"/>
            <p:nvPr/>
          </p:nvSpPr>
          <p:spPr>
            <a:xfrm>
              <a:off x="1707043" y="6907723"/>
              <a:ext cx="1532667"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a:solidFill>
                    <a:srgbClr val="999999"/>
                  </a:solidFill>
                </a:rPr>
                <a:t>1 requested change</a:t>
              </a:r>
              <a:endParaRPr sz="978">
                <a:solidFill>
                  <a:srgbClr val="999999"/>
                </a:solidFill>
              </a:endParaRPr>
            </a:p>
          </p:txBody>
        </p:sp>
        <p:sp>
          <p:nvSpPr>
            <p:cNvPr id="477" name="Google Shape;242;p15">
              <a:extLst>
                <a:ext uri="{FF2B5EF4-FFF2-40B4-BE49-F238E27FC236}">
                  <a16:creationId xmlns:a16="http://schemas.microsoft.com/office/drawing/2014/main" id="{1365B159-7C6B-4E85-8EFC-AE691C1DD4A6}"/>
                </a:ext>
              </a:extLst>
            </p:cNvPr>
            <p:cNvSpPr txBox="1"/>
            <p:nvPr/>
          </p:nvSpPr>
          <p:spPr>
            <a:xfrm>
              <a:off x="1705960" y="6587163"/>
              <a:ext cx="2640000"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dirty="0">
                  <a:solidFill>
                    <a:schemeClr val="dk1"/>
                  </a:solidFill>
                </a:rPr>
                <a:t>Quality Reviewer    </a:t>
              </a:r>
              <a:r>
                <a:rPr lang="en" sz="839" dirty="0">
                  <a:solidFill>
                    <a:schemeClr val="dk1"/>
                  </a:solidFill>
                </a:rPr>
                <a:t> </a:t>
              </a:r>
              <a:r>
                <a:rPr lang="en" sz="839" dirty="0">
                  <a:solidFill>
                    <a:srgbClr val="999999"/>
                  </a:solidFill>
                </a:rPr>
                <a:t> Approved these changes</a:t>
              </a:r>
              <a:endParaRPr sz="839" dirty="0">
                <a:solidFill>
                  <a:srgbClr val="999999"/>
                </a:solidFill>
              </a:endParaRPr>
            </a:p>
            <a:p>
              <a:pPr>
                <a:spcBef>
                  <a:spcPts val="0"/>
                </a:spcBef>
              </a:pPr>
              <a:endParaRPr sz="978" dirty="0">
                <a:solidFill>
                  <a:srgbClr val="999999"/>
                </a:solidFill>
              </a:endParaRPr>
            </a:p>
            <a:p>
              <a:pPr>
                <a:spcBef>
                  <a:spcPts val="0"/>
                </a:spcBef>
              </a:pPr>
              <a:r>
                <a:rPr lang="en" sz="978" dirty="0">
                  <a:solidFill>
                    <a:srgbClr val="999999"/>
                  </a:solidFill>
                </a:rPr>
                <a:t> </a:t>
              </a:r>
              <a:endParaRPr sz="978" dirty="0">
                <a:solidFill>
                  <a:srgbClr val="999999"/>
                </a:solidFill>
              </a:endParaRPr>
            </a:p>
          </p:txBody>
        </p:sp>
        <p:pic>
          <p:nvPicPr>
            <p:cNvPr id="478" name="Google Shape;243;p15">
              <a:extLst>
                <a:ext uri="{FF2B5EF4-FFF2-40B4-BE49-F238E27FC236}">
                  <a16:creationId xmlns:a16="http://schemas.microsoft.com/office/drawing/2014/main" id="{D9F034A8-EE11-C0AF-24BD-91C7A9A551F7}"/>
                </a:ext>
              </a:extLst>
            </p:cNvPr>
            <p:cNvPicPr preferRelativeResize="0"/>
            <p:nvPr/>
          </p:nvPicPr>
          <p:blipFill>
            <a:blip r:embed="rId13">
              <a:alphaModFix/>
            </a:blip>
            <a:stretch>
              <a:fillRect/>
            </a:stretch>
          </p:blipFill>
          <p:spPr>
            <a:xfrm>
              <a:off x="1535831" y="7247141"/>
              <a:ext cx="275348" cy="232624"/>
            </a:xfrm>
            <a:prstGeom prst="rect">
              <a:avLst/>
            </a:prstGeom>
            <a:noFill/>
            <a:ln>
              <a:noFill/>
            </a:ln>
          </p:spPr>
        </p:pic>
        <p:sp>
          <p:nvSpPr>
            <p:cNvPr id="479" name="Google Shape;244;p15">
              <a:extLst>
                <a:ext uri="{FF2B5EF4-FFF2-40B4-BE49-F238E27FC236}">
                  <a16:creationId xmlns:a16="http://schemas.microsoft.com/office/drawing/2014/main" id="{C1A9BBE8-C40B-AB27-A06C-12292EBE1C52}"/>
                </a:ext>
              </a:extLst>
            </p:cNvPr>
            <p:cNvSpPr txBox="1"/>
            <p:nvPr/>
          </p:nvSpPr>
          <p:spPr>
            <a:xfrm>
              <a:off x="1703969" y="7146562"/>
              <a:ext cx="2640000"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dirty="0">
                  <a:solidFill>
                    <a:schemeClr val="dk1"/>
                  </a:solidFill>
                </a:rPr>
                <a:t>Code Architect    </a:t>
              </a:r>
              <a:r>
                <a:rPr lang="en" sz="839" dirty="0">
                  <a:solidFill>
                    <a:schemeClr val="dk1"/>
                  </a:solidFill>
                </a:rPr>
                <a:t> </a:t>
              </a:r>
              <a:r>
                <a:rPr lang="en" sz="839" dirty="0">
                  <a:solidFill>
                    <a:srgbClr val="999999"/>
                  </a:solidFill>
                </a:rPr>
                <a:t>     Requested changes</a:t>
              </a:r>
              <a:endParaRPr sz="839" dirty="0">
                <a:solidFill>
                  <a:srgbClr val="999999"/>
                </a:solidFill>
              </a:endParaRPr>
            </a:p>
            <a:p>
              <a:pPr>
                <a:spcBef>
                  <a:spcPts val="0"/>
                </a:spcBef>
              </a:pPr>
              <a:endParaRPr sz="978" dirty="0">
                <a:solidFill>
                  <a:srgbClr val="999999"/>
                </a:solidFill>
              </a:endParaRPr>
            </a:p>
            <a:p>
              <a:pPr>
                <a:spcBef>
                  <a:spcPts val="0"/>
                </a:spcBef>
              </a:pPr>
              <a:r>
                <a:rPr lang="en" sz="978" dirty="0">
                  <a:solidFill>
                    <a:srgbClr val="999999"/>
                  </a:solidFill>
                </a:rPr>
                <a:t> </a:t>
              </a:r>
              <a:endParaRPr sz="978" dirty="0">
                <a:solidFill>
                  <a:srgbClr val="999999"/>
                </a:solidFill>
              </a:endParaRPr>
            </a:p>
          </p:txBody>
        </p:sp>
        <p:cxnSp>
          <p:nvCxnSpPr>
            <p:cNvPr id="480" name="Google Shape;245;p15">
              <a:extLst>
                <a:ext uri="{FF2B5EF4-FFF2-40B4-BE49-F238E27FC236}">
                  <a16:creationId xmlns:a16="http://schemas.microsoft.com/office/drawing/2014/main" id="{03366766-699A-A834-49B0-B53BE4706914}"/>
                </a:ext>
              </a:extLst>
            </p:cNvPr>
            <p:cNvCxnSpPr/>
            <p:nvPr/>
          </p:nvCxnSpPr>
          <p:spPr>
            <a:xfrm>
              <a:off x="1477667" y="7575104"/>
              <a:ext cx="3040125" cy="0"/>
            </a:xfrm>
            <a:prstGeom prst="straightConnector1">
              <a:avLst/>
            </a:prstGeom>
            <a:noFill/>
            <a:ln w="8700" cap="flat" cmpd="sng">
              <a:solidFill>
                <a:schemeClr val="dk2"/>
              </a:solidFill>
              <a:prstDash val="solid"/>
              <a:round/>
              <a:headEnd type="none" w="med" len="med"/>
              <a:tailEnd type="none" w="med" len="med"/>
            </a:ln>
          </p:spPr>
        </p:cxnSp>
        <p:pic>
          <p:nvPicPr>
            <p:cNvPr id="482" name="Google Shape;246;p15">
              <a:extLst>
                <a:ext uri="{FF2B5EF4-FFF2-40B4-BE49-F238E27FC236}">
                  <a16:creationId xmlns:a16="http://schemas.microsoft.com/office/drawing/2014/main" id="{C8E3AFE0-233A-D37F-376E-10142000BC59}"/>
                </a:ext>
              </a:extLst>
            </p:cNvPr>
            <p:cNvPicPr preferRelativeResize="0"/>
            <p:nvPr/>
          </p:nvPicPr>
          <p:blipFill>
            <a:blip r:embed="rId10">
              <a:alphaModFix/>
            </a:blip>
            <a:stretch>
              <a:fillRect/>
            </a:stretch>
          </p:blipFill>
          <p:spPr>
            <a:xfrm>
              <a:off x="1529318" y="8636978"/>
              <a:ext cx="288926" cy="211878"/>
            </a:xfrm>
            <a:prstGeom prst="rect">
              <a:avLst/>
            </a:prstGeom>
            <a:noFill/>
            <a:ln>
              <a:noFill/>
            </a:ln>
          </p:spPr>
        </p:pic>
        <p:cxnSp>
          <p:nvCxnSpPr>
            <p:cNvPr id="484" name="Google Shape;247;p15">
              <a:extLst>
                <a:ext uri="{FF2B5EF4-FFF2-40B4-BE49-F238E27FC236}">
                  <a16:creationId xmlns:a16="http://schemas.microsoft.com/office/drawing/2014/main" id="{973CC5AA-4C31-7F5F-F629-8162CDEECDED}"/>
                </a:ext>
              </a:extLst>
            </p:cNvPr>
            <p:cNvCxnSpPr/>
            <p:nvPr/>
          </p:nvCxnSpPr>
          <p:spPr>
            <a:xfrm>
              <a:off x="1458389" y="8163071"/>
              <a:ext cx="3040125" cy="0"/>
            </a:xfrm>
            <a:prstGeom prst="straightConnector1">
              <a:avLst/>
            </a:prstGeom>
            <a:noFill/>
            <a:ln w="8700" cap="flat" cmpd="sng">
              <a:solidFill>
                <a:schemeClr val="dk2"/>
              </a:solidFill>
              <a:prstDash val="solid"/>
              <a:round/>
              <a:headEnd type="none" w="med" len="med"/>
              <a:tailEnd type="none" w="med" len="med"/>
            </a:ln>
          </p:spPr>
        </p:cxnSp>
        <p:pic>
          <p:nvPicPr>
            <p:cNvPr id="485" name="Google Shape;248;p15" title="download.png">
              <a:extLst>
                <a:ext uri="{FF2B5EF4-FFF2-40B4-BE49-F238E27FC236}">
                  <a16:creationId xmlns:a16="http://schemas.microsoft.com/office/drawing/2014/main" id="{379FE370-19AF-5C47-DD71-00D4F5C929D7}"/>
                </a:ext>
              </a:extLst>
            </p:cNvPr>
            <p:cNvPicPr preferRelativeResize="0"/>
            <p:nvPr/>
          </p:nvPicPr>
          <p:blipFill>
            <a:blip r:embed="rId14">
              <a:alphaModFix/>
            </a:blip>
            <a:stretch>
              <a:fillRect/>
            </a:stretch>
          </p:blipFill>
          <p:spPr>
            <a:xfrm>
              <a:off x="1524726" y="8948407"/>
              <a:ext cx="344920" cy="344920"/>
            </a:xfrm>
            <a:prstGeom prst="rect">
              <a:avLst/>
            </a:prstGeom>
            <a:noFill/>
            <a:ln>
              <a:noFill/>
            </a:ln>
          </p:spPr>
        </p:pic>
        <p:sp>
          <p:nvSpPr>
            <p:cNvPr id="488" name="Google Shape;249;p15">
              <a:extLst>
                <a:ext uri="{FF2B5EF4-FFF2-40B4-BE49-F238E27FC236}">
                  <a16:creationId xmlns:a16="http://schemas.microsoft.com/office/drawing/2014/main" id="{E0D54032-EF32-99FA-2E23-C59749A2E0B0}"/>
                </a:ext>
              </a:extLst>
            </p:cNvPr>
            <p:cNvSpPr txBox="1"/>
            <p:nvPr/>
          </p:nvSpPr>
          <p:spPr>
            <a:xfrm>
              <a:off x="1798191" y="8820046"/>
              <a:ext cx="1821875" cy="348333"/>
            </a:xfrm>
            <a:prstGeom prst="rect">
              <a:avLst/>
            </a:prstGeom>
            <a:noFill/>
            <a:ln>
              <a:noFill/>
            </a:ln>
          </p:spPr>
          <p:txBody>
            <a:bodyPr spcFirstLastPara="1" wrap="square" lIns="127722" tIns="127722" rIns="127722" bIns="127722" anchor="t" anchorCtr="0">
              <a:noAutofit/>
            </a:bodyPr>
            <a:lstStyle/>
            <a:p>
              <a:pPr>
                <a:spcBef>
                  <a:spcPts val="0"/>
                </a:spcBef>
              </a:pPr>
              <a:r>
                <a:rPr lang="en" sz="1257">
                  <a:solidFill>
                    <a:schemeClr val="dk1"/>
                  </a:solidFill>
                </a:rPr>
                <a:t>No conflicts with base branch</a:t>
              </a:r>
              <a:endParaRPr sz="1257">
                <a:solidFill>
                  <a:schemeClr val="dk1"/>
                </a:solidFill>
              </a:endParaRPr>
            </a:p>
            <a:p>
              <a:pPr>
                <a:spcBef>
                  <a:spcPts val="0"/>
                </a:spcBef>
              </a:pPr>
              <a:endParaRPr sz="1257">
                <a:solidFill>
                  <a:schemeClr val="dk1"/>
                </a:solidFill>
              </a:endParaRPr>
            </a:p>
          </p:txBody>
        </p:sp>
        <p:cxnSp>
          <p:nvCxnSpPr>
            <p:cNvPr id="489" name="Google Shape;250;p15">
              <a:extLst>
                <a:ext uri="{FF2B5EF4-FFF2-40B4-BE49-F238E27FC236}">
                  <a16:creationId xmlns:a16="http://schemas.microsoft.com/office/drawing/2014/main" id="{371D962B-40D7-9B60-D8EA-D9B0981B7A6B}"/>
                </a:ext>
              </a:extLst>
            </p:cNvPr>
            <p:cNvCxnSpPr/>
            <p:nvPr/>
          </p:nvCxnSpPr>
          <p:spPr>
            <a:xfrm>
              <a:off x="1474802" y="8902850"/>
              <a:ext cx="3040125" cy="0"/>
            </a:xfrm>
            <a:prstGeom prst="straightConnector1">
              <a:avLst/>
            </a:prstGeom>
            <a:noFill/>
            <a:ln w="8700" cap="flat" cmpd="sng">
              <a:solidFill>
                <a:schemeClr val="dk2"/>
              </a:solidFill>
              <a:prstDash val="solid"/>
              <a:round/>
              <a:headEnd type="none" w="med" len="med"/>
              <a:tailEnd type="none" w="med" len="med"/>
            </a:ln>
          </p:spPr>
        </p:cxnSp>
        <p:sp>
          <p:nvSpPr>
            <p:cNvPr id="492" name="Google Shape;216;p15">
              <a:extLst>
                <a:ext uri="{FF2B5EF4-FFF2-40B4-BE49-F238E27FC236}">
                  <a16:creationId xmlns:a16="http://schemas.microsoft.com/office/drawing/2014/main" id="{8BCE0DBD-07BA-C4E0-86D6-72BF136E12BD}"/>
                </a:ext>
              </a:extLst>
            </p:cNvPr>
            <p:cNvSpPr/>
            <p:nvPr/>
          </p:nvSpPr>
          <p:spPr>
            <a:xfrm>
              <a:off x="1466614" y="5802822"/>
              <a:ext cx="3030718" cy="3579582"/>
            </a:xfrm>
            <a:prstGeom prst="rect">
              <a:avLst/>
            </a:prstGeom>
            <a:no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grpSp>
      <p:sp>
        <p:nvSpPr>
          <p:cNvPr id="62" name="Google Shape;215;p15">
            <a:extLst>
              <a:ext uri="{FF2B5EF4-FFF2-40B4-BE49-F238E27FC236}">
                <a16:creationId xmlns:a16="http://schemas.microsoft.com/office/drawing/2014/main" id="{A9B8F1D4-BF8E-540A-5E46-ED6E284A7E34}"/>
              </a:ext>
            </a:extLst>
          </p:cNvPr>
          <p:cNvSpPr/>
          <p:nvPr/>
        </p:nvSpPr>
        <p:spPr>
          <a:xfrm>
            <a:off x="10152799" y="4409250"/>
            <a:ext cx="3024222" cy="232375"/>
          </a:xfrm>
          <a:prstGeom prst="rect">
            <a:avLst/>
          </a:prstGeom>
          <a:solidFill>
            <a:schemeClr val="lt2"/>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839" dirty="0"/>
          </a:p>
          <a:p>
            <a:pPr>
              <a:spcBef>
                <a:spcPts val="0"/>
              </a:spcBef>
            </a:pPr>
            <a:endParaRPr sz="839" dirty="0"/>
          </a:p>
          <a:p>
            <a:pPr>
              <a:spcBef>
                <a:spcPts val="0"/>
              </a:spcBef>
            </a:pPr>
            <a:r>
              <a:rPr lang="en" sz="839" dirty="0">
                <a:solidFill>
                  <a:schemeClr val="tx1">
                    <a:lumMod val="50000"/>
                  </a:schemeClr>
                </a:solidFill>
              </a:rPr>
              <a:t>Username </a:t>
            </a:r>
            <a:r>
              <a:rPr lang="en" sz="839" b="0" dirty="0">
                <a:solidFill>
                  <a:schemeClr val="tx1">
                    <a:lumMod val="50000"/>
                  </a:schemeClr>
                </a:solidFill>
              </a:rPr>
              <a:t>commented on Mar 15</a:t>
            </a:r>
            <a:endParaRPr sz="839" b="0" dirty="0">
              <a:solidFill>
                <a:schemeClr val="tx1">
                  <a:lumMod val="50000"/>
                </a:schemeClr>
              </a:solidFill>
            </a:endParaRPr>
          </a:p>
          <a:p>
            <a:pPr>
              <a:spcBef>
                <a:spcPts val="0"/>
              </a:spcBef>
            </a:pPr>
            <a:endParaRPr sz="1956" dirty="0"/>
          </a:p>
        </p:txBody>
      </p:sp>
      <p:sp>
        <p:nvSpPr>
          <p:cNvPr id="63" name="Google Shape;216;p15">
            <a:extLst>
              <a:ext uri="{FF2B5EF4-FFF2-40B4-BE49-F238E27FC236}">
                <a16:creationId xmlns:a16="http://schemas.microsoft.com/office/drawing/2014/main" id="{ACEFB3FA-9674-9FD4-F937-037D17855EF4}"/>
              </a:ext>
            </a:extLst>
          </p:cNvPr>
          <p:cNvSpPr/>
          <p:nvPr/>
        </p:nvSpPr>
        <p:spPr>
          <a:xfrm>
            <a:off x="10152799" y="4641625"/>
            <a:ext cx="3024222" cy="227593"/>
          </a:xfrm>
          <a:prstGeom prst="rect">
            <a:avLst/>
          </a:prstGeom>
          <a:solidFill>
            <a:schemeClr val="lt1"/>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sp>
        <p:nvSpPr>
          <p:cNvPr id="448" name="TextBox 447">
            <a:extLst>
              <a:ext uri="{FF2B5EF4-FFF2-40B4-BE49-F238E27FC236}">
                <a16:creationId xmlns:a16="http://schemas.microsoft.com/office/drawing/2014/main" id="{33993EAA-1056-6D44-648A-6DC872F12239}"/>
              </a:ext>
            </a:extLst>
          </p:cNvPr>
          <p:cNvSpPr txBox="1"/>
          <p:nvPr/>
        </p:nvSpPr>
        <p:spPr>
          <a:xfrm>
            <a:off x="10177672" y="4576663"/>
            <a:ext cx="40900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rPr>
              <a:t>…</a:t>
            </a:r>
          </a:p>
        </p:txBody>
      </p:sp>
      <p:sp>
        <p:nvSpPr>
          <p:cNvPr id="499" name="Use headers, colors, and/or backgrounds to separate or group together sections.">
            <a:extLst>
              <a:ext uri="{FF2B5EF4-FFF2-40B4-BE49-F238E27FC236}">
                <a16:creationId xmlns:a16="http://schemas.microsoft.com/office/drawing/2014/main" id="{DC3250D1-751D-264B-8E7A-655B2B663D23}"/>
              </a:ext>
            </a:extLst>
          </p:cNvPr>
          <p:cNvSpPr txBox="1"/>
          <p:nvPr/>
        </p:nvSpPr>
        <p:spPr>
          <a:xfrm>
            <a:off x="4697117" y="1826486"/>
            <a:ext cx="4251862"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Light"/>
              </a:rPr>
              <a:t>Fake Data Generation functions are at the bottom of each R/ file. They are called in </a:t>
            </a:r>
            <a:r>
              <a:rPr lang="en-US" b="0" dirty="0" err="1">
                <a:solidFill>
                  <a:srgbClr val="000000"/>
                </a:solidFill>
                <a:latin typeface="Source Sans Pro" panose="020B0503030403020204" pitchFamily="34" charset="0"/>
                <a:ea typeface="Source Sans Pro" panose="020B0503030403020204" pitchFamily="34" charset="0"/>
                <a:sym typeface="Source Sans Pro Light"/>
              </a:rPr>
              <a:t>Example.R</a:t>
            </a:r>
            <a:r>
              <a:rPr lang="en-US" b="0" dirty="0">
                <a:solidFill>
                  <a:srgbClr val="000000"/>
                </a:solidFill>
                <a:latin typeface="Source Sans Pro" panose="020B0503030403020204" pitchFamily="34" charset="0"/>
                <a:ea typeface="Source Sans Pro" panose="020B0503030403020204" pitchFamily="34" charset="0"/>
                <a:sym typeface="Source Sans Pro Light"/>
              </a:rPr>
              <a:t> to create the fake data cases. </a:t>
            </a:r>
          </a:p>
        </p:txBody>
      </p:sp>
      <p:sp>
        <p:nvSpPr>
          <p:cNvPr id="375" name="Line">
            <a:extLst>
              <a:ext uri="{FF2B5EF4-FFF2-40B4-BE49-F238E27FC236}">
                <a16:creationId xmlns:a16="http://schemas.microsoft.com/office/drawing/2014/main" id="{6C672C10-2AFE-EFA0-6A4E-70EC22FDB726}"/>
              </a:ext>
            </a:extLst>
          </p:cNvPr>
          <p:cNvSpPr/>
          <p:nvPr/>
        </p:nvSpPr>
        <p:spPr>
          <a:xfrm flipV="1">
            <a:off x="4572574" y="4201729"/>
            <a:ext cx="4318858"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36" name="Use headers, colors, and/or backgrounds to separate or group together sections.">
            <a:extLst>
              <a:ext uri="{FF2B5EF4-FFF2-40B4-BE49-F238E27FC236}">
                <a16:creationId xmlns:a16="http://schemas.microsoft.com/office/drawing/2014/main" id="{1DAD8F69-DA0B-3C72-55C0-D1D0B0484286}"/>
              </a:ext>
            </a:extLst>
          </p:cNvPr>
          <p:cNvSpPr txBox="1"/>
          <p:nvPr/>
        </p:nvSpPr>
        <p:spPr>
          <a:xfrm>
            <a:off x="9487615" y="1986968"/>
            <a:ext cx="4251862" cy="20538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In practice, the Code Review Workflow happens in the Pull Request. </a:t>
            </a:r>
            <a:r>
              <a:rPr lang="en-US" b="0" dirty="0" err="1">
                <a:latin typeface="Source Sans Pro" panose="020B0503030403020204" pitchFamily="34" charset="0"/>
                <a:ea typeface="Source Sans Pro" panose="020B0503030403020204" pitchFamily="34" charset="0"/>
              </a:rPr>
              <a:t>Codecov</a:t>
            </a:r>
            <a:r>
              <a:rPr lang="en-US" b="0" dirty="0">
                <a:latin typeface="Source Sans Pro" panose="020B0503030403020204" pitchFamily="34" charset="0"/>
                <a:ea typeface="Source Sans Pro" panose="020B0503030403020204" pitchFamily="34" charset="0"/>
              </a:rPr>
              <a:t> is represented by a bot comment on the pull request.</a:t>
            </a:r>
            <a:br>
              <a:rPr lang="en-US" b="0" dirty="0">
                <a:latin typeface="Source Sans Pro" panose="020B0503030403020204" pitchFamily="34" charset="0"/>
                <a:ea typeface="Source Sans Pro" panose="020B0503030403020204" pitchFamily="34" charset="0"/>
              </a:rPr>
            </a:br>
            <a:endParaRPr lang="en-US" b="0" dirty="0">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GitHub Actions (R-CMD-Check, test-coverage) respectively assess whether the docs are presented for the added API and whether the tests pass. </a:t>
            </a:r>
            <a:br>
              <a:rPr lang="en-US" b="0" dirty="0">
                <a:latin typeface="Source Sans Pro" panose="020B0503030403020204" pitchFamily="34" charset="0"/>
                <a:ea typeface="Source Sans Pro" panose="020B0503030403020204" pitchFamily="34" charset="0"/>
              </a:rPr>
            </a:br>
            <a:endParaRPr lang="en-US" b="0" dirty="0">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Light"/>
              </a:rPr>
              <a:t>The Quality Reviewer and Code Architect then perform full code review.</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dirty="0">
              <a:latin typeface="Source Sans Pro" panose="020B0503030403020204" pitchFamily="34" charset="0"/>
              <a:ea typeface="Source Sans Pro" panose="020B0503030403020204" pitchFamily="34" charset="0"/>
            </a:endParaRPr>
          </a:p>
        </p:txBody>
      </p:sp>
      <p:sp>
        <p:nvSpPr>
          <p:cNvPr id="41" name="Manipulate Variables">
            <a:extLst>
              <a:ext uri="{FF2B5EF4-FFF2-40B4-BE49-F238E27FC236}">
                <a16:creationId xmlns:a16="http://schemas.microsoft.com/office/drawing/2014/main" id="{B0A5DC2C-B989-CE41-B0D1-59B28BE81686}"/>
              </a:ext>
            </a:extLst>
          </p:cNvPr>
          <p:cNvSpPr txBox="1"/>
          <p:nvPr/>
        </p:nvSpPr>
        <p:spPr>
          <a:xfrm>
            <a:off x="9421011" y="1557249"/>
            <a:ext cx="3004027"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Pull Request Workflow</a:t>
            </a:r>
          </a:p>
        </p:txBody>
      </p:sp>
      <p:sp>
        <p:nvSpPr>
          <p:cNvPr id="42" name="Line">
            <a:extLst>
              <a:ext uri="{FF2B5EF4-FFF2-40B4-BE49-F238E27FC236}">
                <a16:creationId xmlns:a16="http://schemas.microsoft.com/office/drawing/2014/main" id="{9D0715FB-FD06-1F53-E8F4-7E688E329497}"/>
              </a:ext>
            </a:extLst>
          </p:cNvPr>
          <p:cNvSpPr/>
          <p:nvPr/>
        </p:nvSpPr>
        <p:spPr>
          <a:xfrm flipV="1">
            <a:off x="9430693" y="1897278"/>
            <a:ext cx="4318858"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45" name="Use headers, colors, and/or backgrounds to separate or group together sections.">
            <a:extLst>
              <a:ext uri="{FF2B5EF4-FFF2-40B4-BE49-F238E27FC236}">
                <a16:creationId xmlns:a16="http://schemas.microsoft.com/office/drawing/2014/main" id="{95E35AF0-A3E7-839A-91C5-BF839B26C8E5}"/>
              </a:ext>
            </a:extLst>
          </p:cNvPr>
          <p:cNvSpPr txBox="1"/>
          <p:nvPr/>
        </p:nvSpPr>
        <p:spPr>
          <a:xfrm>
            <a:off x="4666444" y="4206322"/>
            <a:ext cx="4251862"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Light"/>
              </a:rPr>
              <a:t>The Kaiaulu code review workflow follows a multiple step process. </a:t>
            </a:r>
          </a:p>
        </p:txBody>
      </p:sp>
      <p:sp>
        <p:nvSpPr>
          <p:cNvPr id="501" name="TextBox 500">
            <a:extLst>
              <a:ext uri="{FF2B5EF4-FFF2-40B4-BE49-F238E27FC236}">
                <a16:creationId xmlns:a16="http://schemas.microsoft.com/office/drawing/2014/main" id="{5433F3D7-6D84-4869-6DCC-F90CA049F436}"/>
              </a:ext>
            </a:extLst>
          </p:cNvPr>
          <p:cNvSpPr txBox="1"/>
          <p:nvPr/>
        </p:nvSpPr>
        <p:spPr>
          <a:xfrm>
            <a:off x="191776" y="3672442"/>
            <a:ext cx="4184378"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rPr>
              <a:t>Try catch statements allow errors that propagate through files to be caught gracefully. </a:t>
            </a:r>
            <a:endParaRPr lang="en-US" b="0" dirty="0">
              <a:solidFill>
                <a:schemeClr val="bg2">
                  <a:lumMod val="10000"/>
                </a:schemeClr>
              </a:solidFill>
              <a:effectLst/>
              <a:latin typeface="Source Sans Pro" panose="020B0503030403020204" pitchFamily="34" charset="0"/>
              <a:ea typeface="Source Sans Pro" panose="020B0503030403020204" pitchFamily="34" charset="0"/>
            </a:endParaRPr>
          </a:p>
        </p:txBody>
      </p:sp>
      <p:sp>
        <p:nvSpPr>
          <p:cNvPr id="493" name="Line">
            <a:extLst>
              <a:ext uri="{FF2B5EF4-FFF2-40B4-BE49-F238E27FC236}">
                <a16:creationId xmlns:a16="http://schemas.microsoft.com/office/drawing/2014/main" id="{7909E111-7ED7-5B19-A6CE-83CE1201CC7C}"/>
              </a:ext>
            </a:extLst>
          </p:cNvPr>
          <p:cNvSpPr/>
          <p:nvPr/>
        </p:nvSpPr>
        <p:spPr>
          <a:xfrm flipV="1">
            <a:off x="145006" y="3696906"/>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605" name="Manipulate Variables">
            <a:extLst>
              <a:ext uri="{FF2B5EF4-FFF2-40B4-BE49-F238E27FC236}">
                <a16:creationId xmlns:a16="http://schemas.microsoft.com/office/drawing/2014/main" id="{E9A0ECDB-A881-2393-4C43-B0EDBCB58C79}"/>
              </a:ext>
            </a:extLst>
          </p:cNvPr>
          <p:cNvSpPr txBox="1"/>
          <p:nvPr/>
        </p:nvSpPr>
        <p:spPr>
          <a:xfrm>
            <a:off x="198229" y="3332413"/>
            <a:ext cx="3754233" cy="340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Failing Gracefully: Try Catch</a:t>
            </a:r>
          </a:p>
        </p:txBody>
      </p:sp>
      <p:grpSp>
        <p:nvGrpSpPr>
          <p:cNvPr id="5" name="Group 4">
            <a:extLst>
              <a:ext uri="{FF2B5EF4-FFF2-40B4-BE49-F238E27FC236}">
                <a16:creationId xmlns:a16="http://schemas.microsoft.com/office/drawing/2014/main" id="{06CF5328-735E-3CB8-68A0-CD32B2C10573}"/>
              </a:ext>
            </a:extLst>
          </p:cNvPr>
          <p:cNvGrpSpPr>
            <a:grpSpLocks noChangeAspect="1"/>
          </p:cNvGrpSpPr>
          <p:nvPr/>
        </p:nvGrpSpPr>
        <p:grpSpPr>
          <a:xfrm>
            <a:off x="4445694" y="4710784"/>
            <a:ext cx="4998104" cy="2204924"/>
            <a:chOff x="4754545" y="7592221"/>
            <a:chExt cx="4800860" cy="2117909"/>
          </a:xfrm>
        </p:grpSpPr>
        <p:sp>
          <p:nvSpPr>
            <p:cNvPr id="491" name="Create a visual hierarchy. Help users navigate the page with titles, subtitles, and subsubtitles">
              <a:extLst>
                <a:ext uri="{FF2B5EF4-FFF2-40B4-BE49-F238E27FC236}">
                  <a16:creationId xmlns:a16="http://schemas.microsoft.com/office/drawing/2014/main" id="{3322C15B-F71B-8B38-2DB7-ECA8C0DC3D6D}"/>
                </a:ext>
              </a:extLst>
            </p:cNvPr>
            <p:cNvSpPr txBox="1"/>
            <p:nvPr/>
          </p:nvSpPr>
          <p:spPr>
            <a:xfrm>
              <a:off x="8264043" y="8100908"/>
              <a:ext cx="1200148" cy="2764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a:rPr>
                <a:t>Code Architect</a:t>
              </a:r>
              <a:endParaRPr lang="en-US" dirty="0">
                <a:latin typeface="Source Sans Pro" panose="020B0503030403020204" pitchFamily="34" charset="0"/>
                <a:ea typeface="Source Sans Pro" panose="020B0503030403020204" pitchFamily="34" charset="0"/>
                <a:sym typeface="Source Sans Pro"/>
              </a:endParaRPr>
            </a:p>
          </p:txBody>
        </p:sp>
        <p:sp>
          <p:nvSpPr>
            <p:cNvPr id="342" name="Create a visual hierarchy. Help users navigate the page with titles, subtitles, and subsubtitles">
              <a:extLst>
                <a:ext uri="{FF2B5EF4-FFF2-40B4-BE49-F238E27FC236}">
                  <a16:creationId xmlns:a16="http://schemas.microsoft.com/office/drawing/2014/main" id="{347B1523-009F-85A5-BF7F-E3DC32C3B73D}"/>
                </a:ext>
              </a:extLst>
            </p:cNvPr>
            <p:cNvSpPr txBox="1"/>
            <p:nvPr/>
          </p:nvSpPr>
          <p:spPr>
            <a:xfrm>
              <a:off x="5966355" y="7592221"/>
              <a:ext cx="1603122"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Pull Request Created + Commit Pushed</a:t>
              </a:r>
            </a:p>
          </p:txBody>
        </p:sp>
        <p:sp>
          <p:nvSpPr>
            <p:cNvPr id="504" name="Create a visual hierarchy. Help users navigate the page with titles, subtitles, and subsubtitles">
              <a:extLst>
                <a:ext uri="{FF2B5EF4-FFF2-40B4-BE49-F238E27FC236}">
                  <a16:creationId xmlns:a16="http://schemas.microsoft.com/office/drawing/2014/main" id="{092782BD-B48B-EF14-DD93-AE4323D2EC27}"/>
                </a:ext>
              </a:extLst>
            </p:cNvPr>
            <p:cNvSpPr txBox="1"/>
            <p:nvPr/>
          </p:nvSpPr>
          <p:spPr>
            <a:xfrm>
              <a:off x="5986391" y="8110685"/>
              <a:ext cx="1138332" cy="2764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GitHub Actions</a:t>
              </a:r>
              <a:endParaRPr lang="en-US" dirty="0">
                <a:latin typeface="Source Sans Pro" panose="020B0503030403020204" pitchFamily="34" charset="0"/>
                <a:ea typeface="Source Sans Pro" panose="020B0503030403020204" pitchFamily="34" charset="0"/>
                <a:sym typeface="Source Sans Pro"/>
              </a:endParaRPr>
            </a:p>
          </p:txBody>
        </p:sp>
        <p:pic>
          <p:nvPicPr>
            <p:cNvPr id="50" name="Picture 49" descr="Account ">
              <a:extLst>
                <a:ext uri="{FF2B5EF4-FFF2-40B4-BE49-F238E27FC236}">
                  <a16:creationId xmlns:a16="http://schemas.microsoft.com/office/drawing/2014/main" id="{02AB3E6E-7E46-144F-4D6C-AE422DCA22A7}"/>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580018" y="8330059"/>
              <a:ext cx="306136" cy="306136"/>
            </a:xfrm>
            <a:prstGeom prst="rect">
              <a:avLst/>
            </a:prstGeom>
            <a:noFill/>
            <a:extLst>
              <a:ext uri="{909E8E84-426E-40DD-AFC4-6F175D3DCCD1}">
                <a14:hiddenFill xmlns:a14="http://schemas.microsoft.com/office/drawing/2010/main">
                  <a:solidFill>
                    <a:srgbClr val="FFFFFF"/>
                  </a:solidFill>
                </a14:hiddenFill>
              </a:ext>
            </a:extLst>
          </p:spPr>
        </p:pic>
        <p:pic>
          <p:nvPicPr>
            <p:cNvPr id="481" name="Google Shape;214;p15">
              <a:extLst>
                <a:ext uri="{FF2B5EF4-FFF2-40B4-BE49-F238E27FC236}">
                  <a16:creationId xmlns:a16="http://schemas.microsoft.com/office/drawing/2014/main" id="{1CAF2A4F-F6ED-FFCA-E8ED-FE329F918605}"/>
                </a:ext>
              </a:extLst>
            </p:cNvPr>
            <p:cNvPicPr preferRelativeResize="0"/>
            <p:nvPr/>
          </p:nvPicPr>
          <p:blipFill>
            <a:blip r:embed="rId8">
              <a:alphaModFix/>
            </a:blip>
            <a:srcRect l="10328" r="5548" b="12675"/>
            <a:stretch>
              <a:fillRect/>
            </a:stretch>
          </p:blipFill>
          <p:spPr>
            <a:xfrm>
              <a:off x="5442555" y="8273887"/>
              <a:ext cx="401071" cy="398991"/>
            </a:xfrm>
            <a:prstGeom prst="rect">
              <a:avLst/>
            </a:prstGeom>
            <a:noFill/>
            <a:ln>
              <a:noFill/>
            </a:ln>
          </p:spPr>
        </p:pic>
        <p:grpSp>
          <p:nvGrpSpPr>
            <p:cNvPr id="520" name="Group 519">
              <a:extLst>
                <a:ext uri="{FF2B5EF4-FFF2-40B4-BE49-F238E27FC236}">
                  <a16:creationId xmlns:a16="http://schemas.microsoft.com/office/drawing/2014/main" id="{F5F7C9B8-52FE-163E-16DA-2CFC080D9A85}"/>
                </a:ext>
              </a:extLst>
            </p:cNvPr>
            <p:cNvGrpSpPr/>
            <p:nvPr/>
          </p:nvGrpSpPr>
          <p:grpSpPr>
            <a:xfrm>
              <a:off x="6430077" y="8245501"/>
              <a:ext cx="526129" cy="378927"/>
              <a:chOff x="9474949" y="3367098"/>
              <a:chExt cx="526129" cy="378927"/>
            </a:xfrm>
          </p:grpSpPr>
          <p:sp>
            <p:nvSpPr>
              <p:cNvPr id="486" name="Google Shape;236;p15">
                <a:extLst>
                  <a:ext uri="{FF2B5EF4-FFF2-40B4-BE49-F238E27FC236}">
                    <a16:creationId xmlns:a16="http://schemas.microsoft.com/office/drawing/2014/main" id="{C62A6B39-AA8B-D30F-5E0E-5E18F7A00FDC}"/>
                  </a:ext>
                </a:extLst>
              </p:cNvPr>
              <p:cNvSpPr/>
              <p:nvPr/>
            </p:nvSpPr>
            <p:spPr>
              <a:xfrm>
                <a:off x="9567136" y="3458331"/>
                <a:ext cx="310026" cy="287694"/>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483" name="Google Shape;237;p15">
                <a:extLst>
                  <a:ext uri="{FF2B5EF4-FFF2-40B4-BE49-F238E27FC236}">
                    <a16:creationId xmlns:a16="http://schemas.microsoft.com/office/drawing/2014/main" id="{E4D2C150-F8A9-7F78-AFFF-EEF7541A606B}"/>
                  </a:ext>
                </a:extLst>
              </p:cNvPr>
              <p:cNvSpPr txBox="1"/>
              <p:nvPr/>
            </p:nvSpPr>
            <p:spPr>
              <a:xfrm>
                <a:off x="9474949" y="3367098"/>
                <a:ext cx="526129" cy="263210"/>
              </a:xfrm>
              <a:prstGeom prst="rect">
                <a:avLst/>
              </a:prstGeom>
              <a:noFill/>
              <a:ln>
                <a:noFill/>
              </a:ln>
            </p:spPr>
            <p:txBody>
              <a:bodyPr spcFirstLastPara="1" wrap="square" lIns="127722" tIns="127722" rIns="127722" bIns="127722" anchor="t" anchorCtr="0">
                <a:noAutofit/>
              </a:bodyPr>
              <a:lstStyle/>
              <a:p>
                <a:pPr>
                  <a:spcBef>
                    <a:spcPts val="0"/>
                  </a:spcBef>
                </a:pPr>
                <a:r>
                  <a:rPr lang="en" sz="1400" dirty="0">
                    <a:solidFill>
                      <a:schemeClr val="lt1"/>
                    </a:solidFill>
                  </a:rPr>
                  <a:t>GH</a:t>
                </a:r>
                <a:endParaRPr sz="1400" dirty="0">
                  <a:solidFill>
                    <a:schemeClr val="lt1"/>
                  </a:solidFill>
                </a:endParaRPr>
              </a:p>
            </p:txBody>
          </p:sp>
        </p:grpSp>
        <p:pic>
          <p:nvPicPr>
            <p:cNvPr id="487" name="Picture 486" descr="Account ">
              <a:extLst>
                <a:ext uri="{FF2B5EF4-FFF2-40B4-BE49-F238E27FC236}">
                  <a16:creationId xmlns:a16="http://schemas.microsoft.com/office/drawing/2014/main" id="{D8A53B75-72A5-A847-DF8A-F502A24DF63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616900" y="8321807"/>
              <a:ext cx="306136" cy="306136"/>
            </a:xfrm>
            <a:prstGeom prst="rect">
              <a:avLst/>
            </a:prstGeom>
            <a:noFill/>
            <a:extLst>
              <a:ext uri="{909E8E84-426E-40DD-AFC4-6F175D3DCCD1}">
                <a14:hiddenFill xmlns:a14="http://schemas.microsoft.com/office/drawing/2010/main">
                  <a:solidFill>
                    <a:srgbClr val="FFFFFF"/>
                  </a:solidFill>
                </a14:hiddenFill>
              </a:ext>
            </a:extLst>
          </p:spPr>
        </p:pic>
        <p:sp>
          <p:nvSpPr>
            <p:cNvPr id="490" name="Create a visual hierarchy. Help users navigate the page with titles, subtitles, and subsubtitles">
              <a:extLst>
                <a:ext uri="{FF2B5EF4-FFF2-40B4-BE49-F238E27FC236}">
                  <a16:creationId xmlns:a16="http://schemas.microsoft.com/office/drawing/2014/main" id="{5626D027-100A-DC4A-311B-EB3F0C69DAE9}"/>
                </a:ext>
              </a:extLst>
            </p:cNvPr>
            <p:cNvSpPr txBox="1"/>
            <p:nvPr/>
          </p:nvSpPr>
          <p:spPr>
            <a:xfrm>
              <a:off x="7087984" y="8108356"/>
              <a:ext cx="1241412" cy="2764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rPr>
                <a:t>Quality Reviewer</a:t>
              </a:r>
              <a:endParaRPr lang="en-US" dirty="0">
                <a:latin typeface="Source Sans Pro" panose="020B0503030403020204" pitchFamily="34" charset="0"/>
                <a:ea typeface="Source Sans Pro" panose="020B0503030403020204" pitchFamily="34" charset="0"/>
                <a:sym typeface="Source Sans Pro"/>
              </a:endParaRPr>
            </a:p>
          </p:txBody>
        </p:sp>
        <p:cxnSp>
          <p:nvCxnSpPr>
            <p:cNvPr id="328" name="Google Shape;445;p18">
              <a:extLst>
                <a:ext uri="{FF2B5EF4-FFF2-40B4-BE49-F238E27FC236}">
                  <a16:creationId xmlns:a16="http://schemas.microsoft.com/office/drawing/2014/main" id="{4CF62BE7-C1DC-4BD4-EE85-8025D6F9D5F5}"/>
                </a:ext>
              </a:extLst>
            </p:cNvPr>
            <p:cNvCxnSpPr>
              <a:cxnSpLocks/>
            </p:cNvCxnSpPr>
            <p:nvPr/>
          </p:nvCxnSpPr>
          <p:spPr>
            <a:xfrm>
              <a:off x="5636507" y="8012731"/>
              <a:ext cx="0" cy="227228"/>
            </a:xfrm>
            <a:prstGeom prst="straightConnector1">
              <a:avLst/>
            </a:prstGeom>
            <a:noFill/>
            <a:ln w="28575" cap="flat" cmpd="sng">
              <a:solidFill>
                <a:srgbClr val="1B1311"/>
              </a:solidFill>
              <a:prstDash val="solid"/>
              <a:round/>
              <a:headEnd type="none" w="med" len="med"/>
              <a:tailEnd type="triangle" w="med" len="med"/>
            </a:ln>
          </p:spPr>
        </p:cxnSp>
        <p:cxnSp>
          <p:nvCxnSpPr>
            <p:cNvPr id="330" name="Google Shape;445;p18">
              <a:extLst>
                <a:ext uri="{FF2B5EF4-FFF2-40B4-BE49-F238E27FC236}">
                  <a16:creationId xmlns:a16="http://schemas.microsoft.com/office/drawing/2014/main" id="{50170197-11CC-426B-55F0-6F07F880AFBD}"/>
                </a:ext>
              </a:extLst>
            </p:cNvPr>
            <p:cNvCxnSpPr>
              <a:cxnSpLocks/>
            </p:cNvCxnSpPr>
            <p:nvPr/>
          </p:nvCxnSpPr>
          <p:spPr>
            <a:xfrm>
              <a:off x="6693142" y="8692417"/>
              <a:ext cx="0" cy="219033"/>
            </a:xfrm>
            <a:prstGeom prst="straightConnector1">
              <a:avLst/>
            </a:prstGeom>
            <a:noFill/>
            <a:ln w="28575" cap="flat" cmpd="sng">
              <a:solidFill>
                <a:srgbClr val="1B1311"/>
              </a:solidFill>
              <a:prstDash val="solid"/>
              <a:round/>
              <a:headEnd type="none" w="med" len="med"/>
              <a:tailEnd type="triangle" w="med" len="med"/>
            </a:ln>
          </p:spPr>
        </p:cxnSp>
        <p:cxnSp>
          <p:nvCxnSpPr>
            <p:cNvPr id="331" name="Google Shape;445;p18">
              <a:extLst>
                <a:ext uri="{FF2B5EF4-FFF2-40B4-BE49-F238E27FC236}">
                  <a16:creationId xmlns:a16="http://schemas.microsoft.com/office/drawing/2014/main" id="{4530C8A5-2162-32C4-7594-764C992B8581}"/>
                </a:ext>
              </a:extLst>
            </p:cNvPr>
            <p:cNvCxnSpPr>
              <a:cxnSpLocks/>
            </p:cNvCxnSpPr>
            <p:nvPr/>
          </p:nvCxnSpPr>
          <p:spPr>
            <a:xfrm flipV="1">
              <a:off x="5931917" y="8470444"/>
              <a:ext cx="483203" cy="4431"/>
            </a:xfrm>
            <a:prstGeom prst="straightConnector1">
              <a:avLst/>
            </a:prstGeom>
            <a:noFill/>
            <a:ln w="28575" cap="flat" cmpd="sng">
              <a:solidFill>
                <a:srgbClr val="1B1311"/>
              </a:solidFill>
              <a:prstDash val="solid"/>
              <a:round/>
              <a:headEnd type="none" w="med" len="med"/>
              <a:tailEnd type="triangle" w="med" len="med"/>
            </a:ln>
          </p:spPr>
        </p:cxnSp>
        <p:cxnSp>
          <p:nvCxnSpPr>
            <p:cNvPr id="524" name="Google Shape;445;p18">
              <a:extLst>
                <a:ext uri="{FF2B5EF4-FFF2-40B4-BE49-F238E27FC236}">
                  <a16:creationId xmlns:a16="http://schemas.microsoft.com/office/drawing/2014/main" id="{CE21775A-65DF-1EE1-EC94-98817EC9302F}"/>
                </a:ext>
              </a:extLst>
            </p:cNvPr>
            <p:cNvCxnSpPr>
              <a:cxnSpLocks/>
            </p:cNvCxnSpPr>
            <p:nvPr/>
          </p:nvCxnSpPr>
          <p:spPr>
            <a:xfrm flipV="1">
              <a:off x="7010362" y="8470444"/>
              <a:ext cx="460133" cy="4431"/>
            </a:xfrm>
            <a:prstGeom prst="straightConnector1">
              <a:avLst/>
            </a:prstGeom>
            <a:noFill/>
            <a:ln w="28575" cap="flat" cmpd="sng">
              <a:solidFill>
                <a:srgbClr val="1B1311"/>
              </a:solidFill>
              <a:prstDash val="solid"/>
              <a:round/>
              <a:headEnd type="none" w="med" len="med"/>
              <a:tailEnd type="triangle" w="med" len="med"/>
            </a:ln>
          </p:spPr>
        </p:cxnSp>
        <p:cxnSp>
          <p:nvCxnSpPr>
            <p:cNvPr id="527" name="Google Shape;445;p18">
              <a:extLst>
                <a:ext uri="{FF2B5EF4-FFF2-40B4-BE49-F238E27FC236}">
                  <a16:creationId xmlns:a16="http://schemas.microsoft.com/office/drawing/2014/main" id="{25ED0AE2-04CD-71D0-BD0B-31B4BA4409D9}"/>
                </a:ext>
              </a:extLst>
            </p:cNvPr>
            <p:cNvCxnSpPr>
              <a:cxnSpLocks/>
            </p:cNvCxnSpPr>
            <p:nvPr/>
          </p:nvCxnSpPr>
          <p:spPr>
            <a:xfrm>
              <a:off x="8025141" y="8481760"/>
              <a:ext cx="490920" cy="1367"/>
            </a:xfrm>
            <a:prstGeom prst="straightConnector1">
              <a:avLst/>
            </a:prstGeom>
            <a:noFill/>
            <a:ln w="28575" cap="flat" cmpd="sng">
              <a:solidFill>
                <a:srgbClr val="1B1311"/>
              </a:solidFill>
              <a:prstDash val="solid"/>
              <a:round/>
              <a:headEnd type="none" w="med" len="med"/>
              <a:tailEnd type="triangle" w="med" len="med"/>
            </a:ln>
          </p:spPr>
        </p:cxnSp>
        <p:sp>
          <p:nvSpPr>
            <p:cNvPr id="528" name="Create a visual hierarchy. Help users navigate the page with titles, subtitles, and subsubtitles">
              <a:extLst>
                <a:ext uri="{FF2B5EF4-FFF2-40B4-BE49-F238E27FC236}">
                  <a16:creationId xmlns:a16="http://schemas.microsoft.com/office/drawing/2014/main" id="{4700A916-377D-3B36-B647-D45C337658EB}"/>
                </a:ext>
              </a:extLst>
            </p:cNvPr>
            <p:cNvSpPr txBox="1"/>
            <p:nvPr/>
          </p:nvSpPr>
          <p:spPr>
            <a:xfrm>
              <a:off x="4754545" y="8371927"/>
              <a:ext cx="788917" cy="2764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Codecov</a:t>
              </a:r>
            </a:p>
          </p:txBody>
        </p:sp>
        <p:sp>
          <p:nvSpPr>
            <p:cNvPr id="535" name="Create a visual hierarchy. Help users navigate the page with titles, subtitles, and subsubtitles">
              <a:extLst>
                <a:ext uri="{FF2B5EF4-FFF2-40B4-BE49-F238E27FC236}">
                  <a16:creationId xmlns:a16="http://schemas.microsoft.com/office/drawing/2014/main" id="{3BFD438B-6809-C6FC-AEA1-644391DE0442}"/>
                </a:ext>
              </a:extLst>
            </p:cNvPr>
            <p:cNvSpPr txBox="1"/>
            <p:nvPr/>
          </p:nvSpPr>
          <p:spPr>
            <a:xfrm>
              <a:off x="6166694" y="9433894"/>
              <a:ext cx="1480131" cy="2654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Pull Request Denie</a:t>
              </a:r>
              <a:r>
                <a:rPr lang="en-US" b="0" dirty="0">
                  <a:solidFill>
                    <a:srgbClr val="000000"/>
                  </a:solidFill>
                  <a:latin typeface="Source Sans Pro" panose="020B0503030403020204" pitchFamily="34" charset="0"/>
                  <a:ea typeface="Source Sans Pro" panose="020B0503030403020204" pitchFamily="34" charset="0"/>
                </a:rPr>
                <a:t>d</a:t>
              </a:r>
              <a:endParaRPr lang="en-US" b="0" i="0" u="none" strike="noStrike" dirty="0">
                <a:solidFill>
                  <a:srgbClr val="000000"/>
                </a:solidFill>
                <a:effectLst/>
                <a:latin typeface="Source Sans Pro" panose="020B0503030403020204" pitchFamily="34" charset="0"/>
                <a:ea typeface="Source Sans Pro" panose="020B0503030403020204" pitchFamily="34" charset="0"/>
              </a:endParaRPr>
            </a:p>
          </p:txBody>
        </p:sp>
        <p:cxnSp>
          <p:nvCxnSpPr>
            <p:cNvPr id="544" name="Google Shape;445;p18">
              <a:extLst>
                <a:ext uri="{FF2B5EF4-FFF2-40B4-BE49-F238E27FC236}">
                  <a16:creationId xmlns:a16="http://schemas.microsoft.com/office/drawing/2014/main" id="{7178D508-422E-2AE3-9273-CBE6F02DD11A}"/>
                </a:ext>
              </a:extLst>
            </p:cNvPr>
            <p:cNvCxnSpPr>
              <a:cxnSpLocks/>
            </p:cNvCxnSpPr>
            <p:nvPr/>
          </p:nvCxnSpPr>
          <p:spPr>
            <a:xfrm flipH="1">
              <a:off x="5929791" y="9278751"/>
              <a:ext cx="428575" cy="0"/>
            </a:xfrm>
            <a:prstGeom prst="straightConnector1">
              <a:avLst/>
            </a:prstGeom>
            <a:noFill/>
            <a:ln w="28575" cap="flat" cmpd="sng">
              <a:solidFill>
                <a:srgbClr val="1B1311"/>
              </a:solidFill>
              <a:prstDash val="solid"/>
              <a:round/>
              <a:headEnd type="none" w="med" len="med"/>
              <a:tailEnd type="triangle" w="med" len="med"/>
            </a:ln>
          </p:spPr>
        </p:cxnSp>
        <p:cxnSp>
          <p:nvCxnSpPr>
            <p:cNvPr id="549" name="Google Shape;445;p18">
              <a:extLst>
                <a:ext uri="{FF2B5EF4-FFF2-40B4-BE49-F238E27FC236}">
                  <a16:creationId xmlns:a16="http://schemas.microsoft.com/office/drawing/2014/main" id="{A199C84B-165A-3BDB-3029-1400CB7FC365}"/>
                </a:ext>
              </a:extLst>
            </p:cNvPr>
            <p:cNvCxnSpPr>
              <a:cxnSpLocks/>
            </p:cNvCxnSpPr>
            <p:nvPr/>
          </p:nvCxnSpPr>
          <p:spPr>
            <a:xfrm flipH="1">
              <a:off x="7087984" y="9308489"/>
              <a:ext cx="881273" cy="0"/>
            </a:xfrm>
            <a:prstGeom prst="straightConnector1">
              <a:avLst/>
            </a:prstGeom>
            <a:noFill/>
            <a:ln w="28575" cap="flat" cmpd="sng">
              <a:solidFill>
                <a:srgbClr val="1B1311"/>
              </a:solidFill>
              <a:prstDash val="solid"/>
              <a:round/>
              <a:headEnd type="none" w="med" len="med"/>
              <a:tailEnd type="triangle" w="med" len="med"/>
            </a:ln>
          </p:spPr>
        </p:cxnSp>
        <p:cxnSp>
          <p:nvCxnSpPr>
            <p:cNvPr id="557" name="Google Shape;445;p18">
              <a:extLst>
                <a:ext uri="{FF2B5EF4-FFF2-40B4-BE49-F238E27FC236}">
                  <a16:creationId xmlns:a16="http://schemas.microsoft.com/office/drawing/2014/main" id="{5F516FE7-C946-3670-25BE-497B25DE073B}"/>
                </a:ext>
              </a:extLst>
            </p:cNvPr>
            <p:cNvCxnSpPr>
              <a:cxnSpLocks/>
            </p:cNvCxnSpPr>
            <p:nvPr/>
          </p:nvCxnSpPr>
          <p:spPr>
            <a:xfrm>
              <a:off x="8784901" y="8687064"/>
              <a:ext cx="0" cy="303476"/>
            </a:xfrm>
            <a:prstGeom prst="straightConnector1">
              <a:avLst/>
            </a:prstGeom>
            <a:noFill/>
            <a:ln w="28575" cap="flat" cmpd="sng">
              <a:solidFill>
                <a:srgbClr val="1B1311"/>
              </a:solidFill>
              <a:prstDash val="solid"/>
              <a:round/>
              <a:headEnd type="none" w="med" len="med"/>
              <a:tailEnd type="triangle" w="med" len="med"/>
            </a:ln>
          </p:spPr>
        </p:cxnSp>
        <p:sp>
          <p:nvSpPr>
            <p:cNvPr id="560" name="Create a visual hierarchy. Help users navigate the page with titles, subtitles, and subsubtitles">
              <a:extLst>
                <a:ext uri="{FF2B5EF4-FFF2-40B4-BE49-F238E27FC236}">
                  <a16:creationId xmlns:a16="http://schemas.microsoft.com/office/drawing/2014/main" id="{88DC912C-9901-B1C4-B343-A6086294B344}"/>
                </a:ext>
              </a:extLst>
            </p:cNvPr>
            <p:cNvSpPr txBox="1"/>
            <p:nvPr/>
          </p:nvSpPr>
          <p:spPr>
            <a:xfrm>
              <a:off x="7916469" y="9402787"/>
              <a:ext cx="1638936" cy="2654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Pull Request Approved</a:t>
              </a:r>
            </a:p>
          </p:txBody>
        </p:sp>
        <p:cxnSp>
          <p:nvCxnSpPr>
            <p:cNvPr id="574" name="Straight Connector 573">
              <a:extLst>
                <a:ext uri="{FF2B5EF4-FFF2-40B4-BE49-F238E27FC236}">
                  <a16:creationId xmlns:a16="http://schemas.microsoft.com/office/drawing/2014/main" id="{32DA70E1-457B-92A0-39DF-DED5C2390100}"/>
                </a:ext>
              </a:extLst>
            </p:cNvPr>
            <p:cNvCxnSpPr>
              <a:cxnSpLocks/>
            </p:cNvCxnSpPr>
            <p:nvPr/>
          </p:nvCxnSpPr>
          <p:spPr>
            <a:xfrm flipH="1">
              <a:off x="7942180" y="8631247"/>
              <a:ext cx="698769" cy="677242"/>
            </a:xfrm>
            <a:prstGeom prst="line">
              <a:avLst/>
            </a:prstGeom>
            <a:ln w="28575" cap="flat" cmpd="sng" algn="ctr">
              <a:solidFill>
                <a:schemeClr val="bg2">
                  <a:lumMod val="1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88" name="Create a visual hierarchy. Help users navigate the page with titles, subtitles, and subsubtitles">
              <a:extLst>
                <a:ext uri="{FF2B5EF4-FFF2-40B4-BE49-F238E27FC236}">
                  <a16:creationId xmlns:a16="http://schemas.microsoft.com/office/drawing/2014/main" id="{425285E9-0936-73C5-323B-0774E30A2877}"/>
                </a:ext>
              </a:extLst>
            </p:cNvPr>
            <p:cNvSpPr txBox="1"/>
            <p:nvPr/>
          </p:nvSpPr>
          <p:spPr>
            <a:xfrm>
              <a:off x="5174316" y="9433725"/>
              <a:ext cx="1184050" cy="2764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New Commit</a:t>
              </a:r>
            </a:p>
          </p:txBody>
        </p:sp>
        <p:cxnSp>
          <p:nvCxnSpPr>
            <p:cNvPr id="589" name="Google Shape;445;p18">
              <a:extLst>
                <a:ext uri="{FF2B5EF4-FFF2-40B4-BE49-F238E27FC236}">
                  <a16:creationId xmlns:a16="http://schemas.microsoft.com/office/drawing/2014/main" id="{623DA044-D225-CBC5-0151-CF9B1A2F638D}"/>
                </a:ext>
              </a:extLst>
            </p:cNvPr>
            <p:cNvCxnSpPr>
              <a:cxnSpLocks/>
            </p:cNvCxnSpPr>
            <p:nvPr/>
          </p:nvCxnSpPr>
          <p:spPr>
            <a:xfrm flipV="1">
              <a:off x="5632994" y="8733946"/>
              <a:ext cx="0" cy="256594"/>
            </a:xfrm>
            <a:prstGeom prst="straightConnector1">
              <a:avLst/>
            </a:prstGeom>
            <a:noFill/>
            <a:ln w="28575" cap="flat" cmpd="sng">
              <a:solidFill>
                <a:srgbClr val="1B1311"/>
              </a:solidFill>
              <a:prstDash val="solid"/>
              <a:round/>
              <a:headEnd type="none" w="med" len="med"/>
              <a:tailEnd type="triangle" w="med" len="med"/>
            </a:ln>
          </p:spPr>
        </p:cxnSp>
        <p:cxnSp>
          <p:nvCxnSpPr>
            <p:cNvPr id="593" name="Google Shape;445;p18">
              <a:extLst>
                <a:ext uri="{FF2B5EF4-FFF2-40B4-BE49-F238E27FC236}">
                  <a16:creationId xmlns:a16="http://schemas.microsoft.com/office/drawing/2014/main" id="{867B7549-5C32-3703-6712-83936490801B}"/>
                </a:ext>
              </a:extLst>
            </p:cNvPr>
            <p:cNvCxnSpPr>
              <a:cxnSpLocks/>
            </p:cNvCxnSpPr>
            <p:nvPr/>
          </p:nvCxnSpPr>
          <p:spPr>
            <a:xfrm>
              <a:off x="5933583" y="8663797"/>
              <a:ext cx="435291" cy="404503"/>
            </a:xfrm>
            <a:prstGeom prst="straightConnector1">
              <a:avLst/>
            </a:prstGeom>
            <a:noFill/>
            <a:ln w="28575" cap="flat" cmpd="sng">
              <a:solidFill>
                <a:srgbClr val="1B1311"/>
              </a:solidFill>
              <a:prstDash val="solid"/>
              <a:round/>
              <a:headEnd type="none" w="med" len="med"/>
              <a:tailEnd type="triangle" w="med" len="med"/>
            </a:ln>
          </p:spPr>
        </p:cxnSp>
        <p:cxnSp>
          <p:nvCxnSpPr>
            <p:cNvPr id="600" name="Google Shape;445;p18">
              <a:extLst>
                <a:ext uri="{FF2B5EF4-FFF2-40B4-BE49-F238E27FC236}">
                  <a16:creationId xmlns:a16="http://schemas.microsoft.com/office/drawing/2014/main" id="{1513515C-37FC-3D31-327C-25BAF95541AD}"/>
                </a:ext>
              </a:extLst>
            </p:cNvPr>
            <p:cNvCxnSpPr>
              <a:cxnSpLocks/>
            </p:cNvCxnSpPr>
            <p:nvPr/>
          </p:nvCxnSpPr>
          <p:spPr>
            <a:xfrm flipH="1">
              <a:off x="7036020" y="8623262"/>
              <a:ext cx="475375" cy="453212"/>
            </a:xfrm>
            <a:prstGeom prst="straightConnector1">
              <a:avLst/>
            </a:prstGeom>
            <a:noFill/>
            <a:ln w="28575" cap="flat" cmpd="sng">
              <a:solidFill>
                <a:srgbClr val="1B1311"/>
              </a:solidFill>
              <a:prstDash val="solid"/>
              <a:round/>
              <a:headEnd type="none" w="med" len="med"/>
              <a:tailEnd type="triangle" w="med" len="med"/>
            </a:ln>
          </p:spPr>
        </p:cxnSp>
        <p:sp>
          <p:nvSpPr>
            <p:cNvPr id="39" name="Google Shape;237;p15">
              <a:extLst>
                <a:ext uri="{FF2B5EF4-FFF2-40B4-BE49-F238E27FC236}">
                  <a16:creationId xmlns:a16="http://schemas.microsoft.com/office/drawing/2014/main" id="{28C1AF7D-F191-6C88-AEA9-987455ED31F7}"/>
                </a:ext>
              </a:extLst>
            </p:cNvPr>
            <p:cNvSpPr txBox="1"/>
            <p:nvPr/>
          </p:nvSpPr>
          <p:spPr>
            <a:xfrm>
              <a:off x="5293468" y="9048567"/>
              <a:ext cx="526129" cy="263210"/>
            </a:xfrm>
            <a:prstGeom prst="rect">
              <a:avLst/>
            </a:prstGeom>
            <a:noFill/>
            <a:ln>
              <a:noFill/>
            </a:ln>
          </p:spPr>
          <p:txBody>
            <a:bodyPr spcFirstLastPara="1" wrap="square" lIns="127722" tIns="127722" rIns="127722" bIns="127722" anchor="t" anchorCtr="0">
              <a:noAutofit/>
            </a:bodyPr>
            <a:lstStyle/>
            <a:p>
              <a:pPr>
                <a:spcBef>
                  <a:spcPts val="0"/>
                </a:spcBef>
              </a:pPr>
              <a:endParaRPr sz="1400" dirty="0">
                <a:solidFill>
                  <a:schemeClr val="lt1"/>
                </a:solidFill>
              </a:endParaRPr>
            </a:p>
          </p:txBody>
        </p:sp>
        <p:pic>
          <p:nvPicPr>
            <p:cNvPr id="3" name="Google Shape;227;p15">
              <a:extLst>
                <a:ext uri="{FF2B5EF4-FFF2-40B4-BE49-F238E27FC236}">
                  <a16:creationId xmlns:a16="http://schemas.microsoft.com/office/drawing/2014/main" id="{0BB782F1-328F-84EB-DF86-FF262E555C76}"/>
                </a:ext>
              </a:extLst>
            </p:cNvPr>
            <p:cNvPicPr preferRelativeResize="0">
              <a:picLocks noChangeAspect="1"/>
            </p:cNvPicPr>
            <p:nvPr/>
          </p:nvPicPr>
          <p:blipFill>
            <a:blip r:embed="rId9">
              <a:alphaModFix/>
            </a:blip>
            <a:stretch>
              <a:fillRect/>
            </a:stretch>
          </p:blipFill>
          <p:spPr>
            <a:xfrm>
              <a:off x="6498830" y="9074476"/>
              <a:ext cx="398269" cy="362602"/>
            </a:xfrm>
            <a:prstGeom prst="rect">
              <a:avLst/>
            </a:prstGeom>
            <a:noFill/>
            <a:ln>
              <a:noFill/>
            </a:ln>
          </p:spPr>
        </p:pic>
        <p:pic>
          <p:nvPicPr>
            <p:cNvPr id="33" name="Google Shape;227;p15">
              <a:extLst>
                <a:ext uri="{FF2B5EF4-FFF2-40B4-BE49-F238E27FC236}">
                  <a16:creationId xmlns:a16="http://schemas.microsoft.com/office/drawing/2014/main" id="{EF5C4AC7-8C79-0DC8-AF29-1BD6C578D6F2}"/>
                </a:ext>
              </a:extLst>
            </p:cNvPr>
            <p:cNvPicPr preferRelativeResize="0">
              <a:picLocks noChangeAspect="1"/>
            </p:cNvPicPr>
            <p:nvPr/>
          </p:nvPicPr>
          <p:blipFill>
            <a:blip r:embed="rId9">
              <a:alphaModFix/>
            </a:blip>
            <a:stretch>
              <a:fillRect/>
            </a:stretch>
          </p:blipFill>
          <p:spPr>
            <a:xfrm>
              <a:off x="8601660" y="9060777"/>
              <a:ext cx="398269" cy="362602"/>
            </a:xfrm>
            <a:prstGeom prst="rect">
              <a:avLst/>
            </a:prstGeom>
            <a:noFill/>
            <a:ln>
              <a:noFill/>
            </a:ln>
          </p:spPr>
        </p:pic>
        <p:sp>
          <p:nvSpPr>
            <p:cNvPr id="34" name="TextBox 33">
              <a:extLst>
                <a:ext uri="{FF2B5EF4-FFF2-40B4-BE49-F238E27FC236}">
                  <a16:creationId xmlns:a16="http://schemas.microsoft.com/office/drawing/2014/main" id="{1F4F4968-08B0-7FAB-7905-09EEE2C79C0C}"/>
                </a:ext>
              </a:extLst>
            </p:cNvPr>
            <p:cNvSpPr txBox="1"/>
            <p:nvPr/>
          </p:nvSpPr>
          <p:spPr>
            <a:xfrm>
              <a:off x="8457812" y="9199424"/>
              <a:ext cx="189461" cy="3078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dirty="0"/>
                <a:t>✅</a:t>
              </a:r>
              <a:endParaRPr kumimoji="0" lang="en-US"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502" name="Group 501">
              <a:extLst>
                <a:ext uri="{FF2B5EF4-FFF2-40B4-BE49-F238E27FC236}">
                  <a16:creationId xmlns:a16="http://schemas.microsoft.com/office/drawing/2014/main" id="{CB77CAD6-0BDC-B0EB-87C0-E217F19FAF86}"/>
                </a:ext>
              </a:extLst>
            </p:cNvPr>
            <p:cNvGrpSpPr/>
            <p:nvPr/>
          </p:nvGrpSpPr>
          <p:grpSpPr>
            <a:xfrm>
              <a:off x="5491861" y="9109816"/>
              <a:ext cx="296516" cy="294538"/>
              <a:chOff x="5367466" y="9150431"/>
              <a:chExt cx="296516" cy="294538"/>
            </a:xfrm>
          </p:grpSpPr>
          <p:sp>
            <p:nvSpPr>
              <p:cNvPr id="53" name="Google Shape;236;p15">
                <a:extLst>
                  <a:ext uri="{FF2B5EF4-FFF2-40B4-BE49-F238E27FC236}">
                    <a16:creationId xmlns:a16="http://schemas.microsoft.com/office/drawing/2014/main" id="{9D061666-B359-A9E1-D87A-4F514670D251}"/>
                  </a:ext>
                </a:extLst>
              </p:cNvPr>
              <p:cNvSpPr>
                <a:spLocks noChangeAspect="1"/>
              </p:cNvSpPr>
              <p:nvPr/>
            </p:nvSpPr>
            <p:spPr>
              <a:xfrm>
                <a:off x="5367466" y="9150431"/>
                <a:ext cx="296516" cy="29453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cxnSp>
            <p:nvCxnSpPr>
              <p:cNvPr id="54" name="Straight Connector 53">
                <a:extLst>
                  <a:ext uri="{FF2B5EF4-FFF2-40B4-BE49-F238E27FC236}">
                    <a16:creationId xmlns:a16="http://schemas.microsoft.com/office/drawing/2014/main" id="{CCFA4B43-CC46-78D8-5F35-B386510767E2}"/>
                  </a:ext>
                </a:extLst>
              </p:cNvPr>
              <p:cNvCxnSpPr>
                <a:cxnSpLocks/>
              </p:cNvCxnSpPr>
              <p:nvPr/>
            </p:nvCxnSpPr>
            <p:spPr>
              <a:xfrm flipH="1">
                <a:off x="5438395" y="9302560"/>
                <a:ext cx="154656" cy="0"/>
              </a:xfrm>
              <a:prstGeom prst="line">
                <a:avLst/>
              </a:prstGeom>
              <a:ln w="12700" cap="rnd"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5" name="Oval 54">
                <a:extLst>
                  <a:ext uri="{FF2B5EF4-FFF2-40B4-BE49-F238E27FC236}">
                    <a16:creationId xmlns:a16="http://schemas.microsoft.com/office/drawing/2014/main" id="{14E0E66F-D69A-F267-2796-F5F3D59C34D4}"/>
                  </a:ext>
                </a:extLst>
              </p:cNvPr>
              <p:cNvSpPr>
                <a:spLocks noChangeAspect="1"/>
              </p:cNvSpPr>
              <p:nvPr/>
            </p:nvSpPr>
            <p:spPr>
              <a:xfrm>
                <a:off x="5482180" y="9269602"/>
                <a:ext cx="67087" cy="65915"/>
              </a:xfrm>
              <a:prstGeom prst="ellipse">
                <a:avLst/>
              </a:prstGeom>
              <a:solidFill>
                <a:schemeClr val="bg2">
                  <a:lumMod val="10000"/>
                </a:schemeClr>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grpSp>
        <p:grpSp>
          <p:nvGrpSpPr>
            <p:cNvPr id="495" name="Group 494">
              <a:extLst>
                <a:ext uri="{FF2B5EF4-FFF2-40B4-BE49-F238E27FC236}">
                  <a16:creationId xmlns:a16="http://schemas.microsoft.com/office/drawing/2014/main" id="{05359DC0-F605-61B2-3038-F2395285549F}"/>
                </a:ext>
              </a:extLst>
            </p:cNvPr>
            <p:cNvGrpSpPr/>
            <p:nvPr/>
          </p:nvGrpSpPr>
          <p:grpSpPr>
            <a:xfrm>
              <a:off x="5653606" y="7661921"/>
              <a:ext cx="296516" cy="294538"/>
              <a:chOff x="5470343" y="7664480"/>
              <a:chExt cx="296516" cy="294538"/>
            </a:xfrm>
          </p:grpSpPr>
          <p:sp>
            <p:nvSpPr>
              <p:cNvPr id="57" name="Google Shape;236;p15">
                <a:extLst>
                  <a:ext uri="{FF2B5EF4-FFF2-40B4-BE49-F238E27FC236}">
                    <a16:creationId xmlns:a16="http://schemas.microsoft.com/office/drawing/2014/main" id="{FF4FB151-2B8E-6EF4-57D1-DDCDF1E71066}"/>
                  </a:ext>
                </a:extLst>
              </p:cNvPr>
              <p:cNvSpPr>
                <a:spLocks noChangeAspect="1"/>
              </p:cNvSpPr>
              <p:nvPr/>
            </p:nvSpPr>
            <p:spPr>
              <a:xfrm>
                <a:off x="5470343" y="7664480"/>
                <a:ext cx="296516" cy="29453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cxnSp>
            <p:nvCxnSpPr>
              <p:cNvPr id="58" name="Straight Connector 57">
                <a:extLst>
                  <a:ext uri="{FF2B5EF4-FFF2-40B4-BE49-F238E27FC236}">
                    <a16:creationId xmlns:a16="http://schemas.microsoft.com/office/drawing/2014/main" id="{47CF549C-27F9-2EFC-649D-79E4C010BDD5}"/>
                  </a:ext>
                </a:extLst>
              </p:cNvPr>
              <p:cNvCxnSpPr>
                <a:cxnSpLocks/>
              </p:cNvCxnSpPr>
              <p:nvPr/>
            </p:nvCxnSpPr>
            <p:spPr>
              <a:xfrm flipH="1">
                <a:off x="5541272" y="7816609"/>
                <a:ext cx="154656" cy="0"/>
              </a:xfrm>
              <a:prstGeom prst="line">
                <a:avLst/>
              </a:prstGeom>
              <a:ln w="12700" cap="rnd"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9" name="Oval 58">
                <a:extLst>
                  <a:ext uri="{FF2B5EF4-FFF2-40B4-BE49-F238E27FC236}">
                    <a16:creationId xmlns:a16="http://schemas.microsoft.com/office/drawing/2014/main" id="{55580500-68B0-DE10-454C-CB6D2F1E00E4}"/>
                  </a:ext>
                </a:extLst>
              </p:cNvPr>
              <p:cNvSpPr>
                <a:spLocks noChangeAspect="1"/>
              </p:cNvSpPr>
              <p:nvPr/>
            </p:nvSpPr>
            <p:spPr>
              <a:xfrm>
                <a:off x="5585057" y="7783651"/>
                <a:ext cx="67087" cy="65915"/>
              </a:xfrm>
              <a:prstGeom prst="ellipse">
                <a:avLst/>
              </a:prstGeom>
              <a:solidFill>
                <a:schemeClr val="bg2">
                  <a:lumMod val="10000"/>
                </a:schemeClr>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grpSp>
        <p:pic>
          <p:nvPicPr>
            <p:cNvPr id="509" name="Google Shape;227;p15">
              <a:extLst>
                <a:ext uri="{FF2B5EF4-FFF2-40B4-BE49-F238E27FC236}">
                  <a16:creationId xmlns:a16="http://schemas.microsoft.com/office/drawing/2014/main" id="{E32A4348-CCE1-8C35-65D8-EEF9DAAF82C7}"/>
                </a:ext>
              </a:extLst>
            </p:cNvPr>
            <p:cNvPicPr preferRelativeResize="0">
              <a:picLocks noChangeAspect="1"/>
            </p:cNvPicPr>
            <p:nvPr/>
          </p:nvPicPr>
          <p:blipFill>
            <a:blip r:embed="rId9">
              <a:alphaModFix/>
            </a:blip>
            <a:stretch>
              <a:fillRect/>
            </a:stretch>
          </p:blipFill>
          <p:spPr>
            <a:xfrm>
              <a:off x="5244821" y="7624472"/>
              <a:ext cx="398269" cy="362602"/>
            </a:xfrm>
            <a:prstGeom prst="rect">
              <a:avLst/>
            </a:prstGeom>
            <a:noFill/>
            <a:ln>
              <a:noFill/>
            </a:ln>
          </p:spPr>
        </p:pic>
      </p:grpSp>
      <p:sp>
        <p:nvSpPr>
          <p:cNvPr id="582" name="Freeform: Shape 581">
            <a:extLst>
              <a:ext uri="{FF2B5EF4-FFF2-40B4-BE49-F238E27FC236}">
                <a16:creationId xmlns:a16="http://schemas.microsoft.com/office/drawing/2014/main" id="{D0F767D9-A4BE-C861-67EB-92D488409D6A}"/>
              </a:ext>
            </a:extLst>
          </p:cNvPr>
          <p:cNvSpPr/>
          <p:nvPr/>
        </p:nvSpPr>
        <p:spPr>
          <a:xfrm>
            <a:off x="2091543" y="4559498"/>
            <a:ext cx="577524" cy="221931"/>
          </a:xfrm>
          <a:custGeom>
            <a:avLst/>
            <a:gdLst>
              <a:gd name="csX0" fmla="*/ 723267 w 723267"/>
              <a:gd name="csY0" fmla="*/ 309363 h 309363"/>
              <a:gd name="csX1" fmla="*/ 327968 w 723267"/>
              <a:gd name="csY1" fmla="*/ 92166 h 309363"/>
              <a:gd name="csX2" fmla="*/ 228057 w 723267"/>
              <a:gd name="csY2" fmla="*/ 233344 h 309363"/>
              <a:gd name="csX3" fmla="*/ 401815 w 723267"/>
              <a:gd name="csY3" fmla="*/ 281127 h 309363"/>
              <a:gd name="csX4" fmla="*/ 393127 w 723267"/>
              <a:gd name="csY4" fmla="*/ 155153 h 309363"/>
              <a:gd name="csX5" fmla="*/ 173758 w 723267"/>
              <a:gd name="csY5" fmla="*/ 5287 h 309363"/>
              <a:gd name="csX6" fmla="*/ 76019 w 723267"/>
              <a:gd name="csY6" fmla="*/ 40038 h 309363"/>
              <a:gd name="csX7" fmla="*/ 0 w 723267"/>
              <a:gd name="csY7" fmla="*/ 100853 h 3093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23267" h="309363">
                <a:moveTo>
                  <a:pt x="723267" y="309363"/>
                </a:moveTo>
                <a:cubicBezTo>
                  <a:pt x="566885" y="207099"/>
                  <a:pt x="410503" y="104836"/>
                  <a:pt x="327968" y="92166"/>
                </a:cubicBezTo>
                <a:cubicBezTo>
                  <a:pt x="245433" y="79496"/>
                  <a:pt x="215749" y="201850"/>
                  <a:pt x="228057" y="233344"/>
                </a:cubicBezTo>
                <a:cubicBezTo>
                  <a:pt x="240365" y="264837"/>
                  <a:pt x="374303" y="294159"/>
                  <a:pt x="401815" y="281127"/>
                </a:cubicBezTo>
                <a:cubicBezTo>
                  <a:pt x="429327" y="268095"/>
                  <a:pt x="431136" y="201126"/>
                  <a:pt x="393127" y="155153"/>
                </a:cubicBezTo>
                <a:cubicBezTo>
                  <a:pt x="355117" y="109180"/>
                  <a:pt x="226609" y="24473"/>
                  <a:pt x="173758" y="5287"/>
                </a:cubicBezTo>
                <a:cubicBezTo>
                  <a:pt x="120907" y="-13899"/>
                  <a:pt x="104979" y="24110"/>
                  <a:pt x="76019" y="40038"/>
                </a:cubicBezTo>
                <a:cubicBezTo>
                  <a:pt x="47059" y="55966"/>
                  <a:pt x="23529" y="78409"/>
                  <a:pt x="0" y="100853"/>
                </a:cubicBezTo>
              </a:path>
            </a:pathLst>
          </a:custGeom>
          <a:no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tlCol="0" anchor="ctr"/>
          <a:lstStyle/>
          <a:p>
            <a:pPr algn="ctr"/>
            <a:endParaRPr lang="en-US"/>
          </a:p>
        </p:txBody>
      </p:sp>
      <p:grpSp>
        <p:nvGrpSpPr>
          <p:cNvPr id="598" name="Group 597">
            <a:extLst>
              <a:ext uri="{FF2B5EF4-FFF2-40B4-BE49-F238E27FC236}">
                <a16:creationId xmlns:a16="http://schemas.microsoft.com/office/drawing/2014/main" id="{FD3C4A6F-8961-C86B-DF32-9060D154A4E7}"/>
              </a:ext>
            </a:extLst>
          </p:cNvPr>
          <p:cNvGrpSpPr>
            <a:grpSpLocks noChangeAspect="1"/>
          </p:cNvGrpSpPr>
          <p:nvPr/>
        </p:nvGrpSpPr>
        <p:grpSpPr>
          <a:xfrm>
            <a:off x="793232" y="4104383"/>
            <a:ext cx="2689275" cy="882365"/>
            <a:chOff x="4950934" y="1968399"/>
            <a:chExt cx="3846889" cy="1262183"/>
          </a:xfrm>
        </p:grpSpPr>
        <p:sp>
          <p:nvSpPr>
            <p:cNvPr id="607" name="Rectangle: Rounded Corners 606">
              <a:extLst>
                <a:ext uri="{FF2B5EF4-FFF2-40B4-BE49-F238E27FC236}">
                  <a16:creationId xmlns:a16="http://schemas.microsoft.com/office/drawing/2014/main" id="{B5C37F81-111B-A97E-70A9-40E77F7DAD48}"/>
                </a:ext>
              </a:extLst>
            </p:cNvPr>
            <p:cNvSpPr>
              <a:spLocks noChangeAspect="1"/>
            </p:cNvSpPr>
            <p:nvPr/>
          </p:nvSpPr>
          <p:spPr>
            <a:xfrm>
              <a:off x="7122430" y="2237356"/>
              <a:ext cx="209841" cy="211365"/>
            </a:xfrm>
            <a:prstGeom prst="roundRect">
              <a:avLst/>
            </a:prstGeom>
            <a:solidFill>
              <a:schemeClr val="bg1"/>
            </a:solidFill>
            <a:ln w="6350" cap="flat">
              <a:solidFill>
                <a:schemeClr val="bg2">
                  <a:lumMod val="10000"/>
                </a:schemeClr>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pic>
          <p:nvPicPr>
            <p:cNvPr id="611" name="Graphic 610" descr="Paper outline">
              <a:extLst>
                <a:ext uri="{FF2B5EF4-FFF2-40B4-BE49-F238E27FC236}">
                  <a16:creationId xmlns:a16="http://schemas.microsoft.com/office/drawing/2014/main" id="{31731058-073E-40A2-2B11-F718DE7CE26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812176" y="1986019"/>
              <a:ext cx="985647" cy="985647"/>
            </a:xfrm>
            <a:prstGeom prst="rect">
              <a:avLst/>
            </a:prstGeom>
          </p:spPr>
        </p:pic>
        <p:pic>
          <p:nvPicPr>
            <p:cNvPr id="612" name="Graphic 611" descr="Paper outline">
              <a:extLst>
                <a:ext uri="{FF2B5EF4-FFF2-40B4-BE49-F238E27FC236}">
                  <a16:creationId xmlns:a16="http://schemas.microsoft.com/office/drawing/2014/main" id="{99C48453-BEBD-22F7-2BAC-46B8529DEE4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198996" y="1968399"/>
              <a:ext cx="985647" cy="985647"/>
            </a:xfrm>
            <a:prstGeom prst="rect">
              <a:avLst/>
            </a:prstGeom>
          </p:spPr>
        </p:pic>
        <p:sp>
          <p:nvSpPr>
            <p:cNvPr id="616" name="Rectangle: Rounded Corners 615">
              <a:extLst>
                <a:ext uri="{FF2B5EF4-FFF2-40B4-BE49-F238E27FC236}">
                  <a16:creationId xmlns:a16="http://schemas.microsoft.com/office/drawing/2014/main" id="{EDD8B7A7-8E82-1A2F-F8CA-6A0E516E9894}"/>
                </a:ext>
              </a:extLst>
            </p:cNvPr>
            <p:cNvSpPr>
              <a:spLocks noChangeAspect="1"/>
            </p:cNvSpPr>
            <p:nvPr/>
          </p:nvSpPr>
          <p:spPr>
            <a:xfrm>
              <a:off x="5543463" y="2199522"/>
              <a:ext cx="210311" cy="210313"/>
            </a:xfrm>
            <a:prstGeom prst="roundRect">
              <a:avLst/>
            </a:prstGeom>
            <a:solidFill>
              <a:schemeClr val="bg2">
                <a:lumMod val="10000"/>
              </a:schemeClr>
            </a:solidFill>
            <a:ln w="635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617" name="TextBox 616">
              <a:extLst>
                <a:ext uri="{FF2B5EF4-FFF2-40B4-BE49-F238E27FC236}">
                  <a16:creationId xmlns:a16="http://schemas.microsoft.com/office/drawing/2014/main" id="{D7447620-7052-4B0D-89DA-2DBADF76B094}"/>
                </a:ext>
              </a:extLst>
            </p:cNvPr>
            <p:cNvSpPr txBox="1"/>
            <p:nvPr/>
          </p:nvSpPr>
          <p:spPr>
            <a:xfrm>
              <a:off x="5190527" y="2647353"/>
              <a:ext cx="1380450" cy="5832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Incorrect Git Log </a:t>
              </a:r>
            </a:p>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Path specified</a:t>
              </a:r>
            </a:p>
          </p:txBody>
        </p:sp>
        <p:pic>
          <p:nvPicPr>
            <p:cNvPr id="2" name="Picture 1" descr="Account ">
              <a:extLst>
                <a:ext uri="{FF2B5EF4-FFF2-40B4-BE49-F238E27FC236}">
                  <a16:creationId xmlns:a16="http://schemas.microsoft.com/office/drawing/2014/main" id="{BD7C5129-C15E-15CD-AA10-EC602668375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50934" y="2244779"/>
              <a:ext cx="437146" cy="437146"/>
            </a:xfrm>
            <a:prstGeom prst="rect">
              <a:avLst/>
            </a:prstGeom>
            <a:noFill/>
            <a:extLst>
              <a:ext uri="{909E8E84-426E-40DD-AFC4-6F175D3DCCD1}">
                <a14:hiddenFill xmlns:a14="http://schemas.microsoft.com/office/drawing/2010/main">
                  <a:solidFill>
                    <a:srgbClr val="FFFFFF"/>
                  </a:solidFill>
                </a14:hiddenFill>
              </a:ext>
            </a:extLst>
          </p:spPr>
        </p:pic>
        <p:sp>
          <p:nvSpPr>
            <p:cNvPr id="590" name="Freeform: Shape 589">
              <a:extLst>
                <a:ext uri="{FF2B5EF4-FFF2-40B4-BE49-F238E27FC236}">
                  <a16:creationId xmlns:a16="http://schemas.microsoft.com/office/drawing/2014/main" id="{927A8632-0B7B-0C17-560F-764092145542}"/>
                </a:ext>
              </a:extLst>
            </p:cNvPr>
            <p:cNvSpPr>
              <a:spLocks noChangeAspect="1"/>
            </p:cNvSpPr>
            <p:nvPr/>
          </p:nvSpPr>
          <p:spPr>
            <a:xfrm>
              <a:off x="7350904" y="2353437"/>
              <a:ext cx="503898" cy="318580"/>
            </a:xfrm>
            <a:custGeom>
              <a:avLst/>
              <a:gdLst>
                <a:gd name="csX0" fmla="*/ 503898 w 503898"/>
                <a:gd name="csY0" fmla="*/ 314936 h 318580"/>
                <a:gd name="csX1" fmla="*/ 356204 w 503898"/>
                <a:gd name="csY1" fmla="*/ 45611 h 318580"/>
                <a:gd name="csX2" fmla="*/ 121631 w 503898"/>
                <a:gd name="csY2" fmla="*/ 108598 h 318580"/>
                <a:gd name="csX3" fmla="*/ 134663 w 503898"/>
                <a:gd name="csY3" fmla="*/ 297560 h 318580"/>
                <a:gd name="csX4" fmla="*/ 323624 w 503898"/>
                <a:gd name="csY4" fmla="*/ 293216 h 318580"/>
                <a:gd name="csX5" fmla="*/ 345344 w 503898"/>
                <a:gd name="csY5" fmla="*/ 112942 h 318580"/>
                <a:gd name="csX6" fmla="*/ 0 w 503898"/>
                <a:gd name="csY6" fmla="*/ 0 h 318580"/>
                <a:gd name="csX7" fmla="*/ 0 w 503898"/>
                <a:gd name="csY7" fmla="*/ 0 h 3185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03898" h="318580" extrusionOk="0">
                  <a:moveTo>
                    <a:pt x="503898" y="314936"/>
                  </a:moveTo>
                  <a:cubicBezTo>
                    <a:pt x="453006" y="191978"/>
                    <a:pt x="414467" y="82046"/>
                    <a:pt x="356204" y="45611"/>
                  </a:cubicBezTo>
                  <a:cubicBezTo>
                    <a:pt x="295391" y="11831"/>
                    <a:pt x="155867" y="66692"/>
                    <a:pt x="121631" y="108598"/>
                  </a:cubicBezTo>
                  <a:cubicBezTo>
                    <a:pt x="81145" y="154068"/>
                    <a:pt x="99822" y="273283"/>
                    <a:pt x="134663" y="297560"/>
                  </a:cubicBezTo>
                  <a:cubicBezTo>
                    <a:pt x="164724" y="326358"/>
                    <a:pt x="291600" y="325462"/>
                    <a:pt x="323624" y="293216"/>
                  </a:cubicBezTo>
                  <a:cubicBezTo>
                    <a:pt x="364880" y="263175"/>
                    <a:pt x="404818" y="150415"/>
                    <a:pt x="345344" y="112942"/>
                  </a:cubicBezTo>
                  <a:cubicBezTo>
                    <a:pt x="291407" y="64073"/>
                    <a:pt x="-1" y="1"/>
                    <a:pt x="0" y="0"/>
                  </a:cubicBezTo>
                  <a:lnTo>
                    <a:pt x="0" y="0"/>
                  </a:lnTo>
                </a:path>
              </a:pathLst>
            </a:custGeom>
            <a:noFill/>
            <a:ln w="12700" cap="rnd">
              <a:solidFill>
                <a:schemeClr val="bg2">
                  <a:lumMod val="10000"/>
                </a:schemeClr>
              </a:solidFill>
              <a:prstDash val="dash"/>
              <a:miter lim="400000"/>
              <a:extLst>
                <a:ext uri="{C807C97D-BFC1-408E-A445-0C87EB9F89A2}">
                  <ask:lineSketchStyleProps xmlns:ask="http://schemas.microsoft.com/office/drawing/2018/sketchyshapes" sd="1219033472">
                    <a:custGeom>
                      <a:avLst/>
                      <a:gdLst>
                        <a:gd name="csX0" fmla="*/ 503898 w 503898"/>
                        <a:gd name="csY0" fmla="*/ 314936 h 318580"/>
                        <a:gd name="csX1" fmla="*/ 356204 w 503898"/>
                        <a:gd name="csY1" fmla="*/ 45611 h 318580"/>
                        <a:gd name="csX2" fmla="*/ 121631 w 503898"/>
                        <a:gd name="csY2" fmla="*/ 108598 h 318580"/>
                        <a:gd name="csX3" fmla="*/ 134663 w 503898"/>
                        <a:gd name="csY3" fmla="*/ 297560 h 318580"/>
                        <a:gd name="csX4" fmla="*/ 323624 w 503898"/>
                        <a:gd name="csY4" fmla="*/ 293216 h 318580"/>
                        <a:gd name="csX5" fmla="*/ 345344 w 503898"/>
                        <a:gd name="csY5" fmla="*/ 112942 h 318580"/>
                        <a:gd name="csX6" fmla="*/ 0 w 503898"/>
                        <a:gd name="csY6" fmla="*/ 0 h 318580"/>
                        <a:gd name="csX7" fmla="*/ 0 w 503898"/>
                        <a:gd name="csY7" fmla="*/ 0 h 3185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03898" h="318580">
                          <a:moveTo>
                            <a:pt x="503898" y="314936"/>
                          </a:moveTo>
                          <a:cubicBezTo>
                            <a:pt x="461906" y="197468"/>
                            <a:pt x="419915" y="80001"/>
                            <a:pt x="356204" y="45611"/>
                          </a:cubicBezTo>
                          <a:cubicBezTo>
                            <a:pt x="292493" y="11221"/>
                            <a:pt x="158554" y="66607"/>
                            <a:pt x="121631" y="108598"/>
                          </a:cubicBezTo>
                          <a:cubicBezTo>
                            <a:pt x="84708" y="150589"/>
                            <a:pt x="100997" y="266790"/>
                            <a:pt x="134663" y="297560"/>
                          </a:cubicBezTo>
                          <a:cubicBezTo>
                            <a:pt x="168329" y="328330"/>
                            <a:pt x="288511" y="323986"/>
                            <a:pt x="323624" y="293216"/>
                          </a:cubicBezTo>
                          <a:cubicBezTo>
                            <a:pt x="358737" y="262446"/>
                            <a:pt x="399281" y="161811"/>
                            <a:pt x="345344" y="112942"/>
                          </a:cubicBezTo>
                          <a:cubicBezTo>
                            <a:pt x="291407" y="64073"/>
                            <a:pt x="0" y="0"/>
                            <a:pt x="0" y="0"/>
                          </a:cubicBezTo>
                          <a:lnTo>
                            <a:pt x="0" y="0"/>
                          </a:lnTo>
                        </a:path>
                      </a:pathLst>
                    </a:custGeom>
                    <ask:type>
                      <ask:lineSketchCurved/>
                    </ask:type>
                  </ask:lineSketchStyleProps>
                </a:ext>
              </a:extLst>
            </a:ln>
            <a:effectLst/>
            <a:sp3d/>
          </p:spPr>
          <p:style>
            <a:lnRef idx="0">
              <a:scrgbClr r="0" g="0" b="0"/>
            </a:lnRef>
            <a:fillRef idx="0">
              <a:scrgbClr r="0" g="0" b="0"/>
            </a:fillRef>
            <a:effectRef idx="0">
              <a:scrgbClr r="0" g="0" b="0"/>
            </a:effectRef>
            <a:fontRef idx="none"/>
          </p:style>
          <p:txBody>
            <a:bodyPr rtlCol="0" anchor="ctr"/>
            <a:lstStyle/>
            <a:p>
              <a:pPr algn="ctr"/>
              <a:endParaRPr lang="en-US"/>
            </a:p>
          </p:txBody>
        </p:sp>
        <p:sp>
          <p:nvSpPr>
            <p:cNvPr id="592" name="Freeform: Shape 591">
              <a:extLst>
                <a:ext uri="{FF2B5EF4-FFF2-40B4-BE49-F238E27FC236}">
                  <a16:creationId xmlns:a16="http://schemas.microsoft.com/office/drawing/2014/main" id="{EB4C72C6-5B2C-9553-9846-441049FDFE98}"/>
                </a:ext>
              </a:extLst>
            </p:cNvPr>
            <p:cNvSpPr>
              <a:spLocks noChangeAspect="1"/>
            </p:cNvSpPr>
            <p:nvPr/>
          </p:nvSpPr>
          <p:spPr>
            <a:xfrm>
              <a:off x="5773452" y="2306777"/>
              <a:ext cx="503898" cy="318580"/>
            </a:xfrm>
            <a:custGeom>
              <a:avLst/>
              <a:gdLst>
                <a:gd name="csX0" fmla="*/ 503898 w 503898"/>
                <a:gd name="csY0" fmla="*/ 314936 h 318580"/>
                <a:gd name="csX1" fmla="*/ 356204 w 503898"/>
                <a:gd name="csY1" fmla="*/ 45611 h 318580"/>
                <a:gd name="csX2" fmla="*/ 121631 w 503898"/>
                <a:gd name="csY2" fmla="*/ 108598 h 318580"/>
                <a:gd name="csX3" fmla="*/ 134663 w 503898"/>
                <a:gd name="csY3" fmla="*/ 297560 h 318580"/>
                <a:gd name="csX4" fmla="*/ 323624 w 503898"/>
                <a:gd name="csY4" fmla="*/ 293216 h 318580"/>
                <a:gd name="csX5" fmla="*/ 345344 w 503898"/>
                <a:gd name="csY5" fmla="*/ 112942 h 318580"/>
                <a:gd name="csX6" fmla="*/ 0 w 503898"/>
                <a:gd name="csY6" fmla="*/ 0 h 318580"/>
                <a:gd name="csX7" fmla="*/ 0 w 503898"/>
                <a:gd name="csY7" fmla="*/ 0 h 3185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03898" h="318580" extrusionOk="0">
                  <a:moveTo>
                    <a:pt x="503898" y="314936"/>
                  </a:moveTo>
                  <a:cubicBezTo>
                    <a:pt x="453006" y="191978"/>
                    <a:pt x="414467" y="82046"/>
                    <a:pt x="356204" y="45611"/>
                  </a:cubicBezTo>
                  <a:cubicBezTo>
                    <a:pt x="295391" y="11831"/>
                    <a:pt x="155867" y="66692"/>
                    <a:pt x="121631" y="108598"/>
                  </a:cubicBezTo>
                  <a:cubicBezTo>
                    <a:pt x="81145" y="154068"/>
                    <a:pt x="99822" y="273283"/>
                    <a:pt x="134663" y="297560"/>
                  </a:cubicBezTo>
                  <a:cubicBezTo>
                    <a:pt x="164724" y="326358"/>
                    <a:pt x="291600" y="325462"/>
                    <a:pt x="323624" y="293216"/>
                  </a:cubicBezTo>
                  <a:cubicBezTo>
                    <a:pt x="364880" y="263175"/>
                    <a:pt x="404818" y="150415"/>
                    <a:pt x="345344" y="112942"/>
                  </a:cubicBezTo>
                  <a:cubicBezTo>
                    <a:pt x="291407" y="64073"/>
                    <a:pt x="-1" y="1"/>
                    <a:pt x="0" y="0"/>
                  </a:cubicBezTo>
                  <a:lnTo>
                    <a:pt x="0" y="0"/>
                  </a:lnTo>
                </a:path>
              </a:pathLst>
            </a:custGeom>
            <a:noFill/>
            <a:ln w="12700" cap="rnd">
              <a:solidFill>
                <a:schemeClr val="bg2">
                  <a:lumMod val="10000"/>
                </a:schemeClr>
              </a:solidFill>
              <a:prstDash val="dash"/>
              <a:miter lim="400000"/>
              <a:extLst>
                <a:ext uri="{C807C97D-BFC1-408E-A445-0C87EB9F89A2}">
                  <ask:lineSketchStyleProps xmlns:ask="http://schemas.microsoft.com/office/drawing/2018/sketchyshapes" sd="1219033472">
                    <a:custGeom>
                      <a:avLst/>
                      <a:gdLst>
                        <a:gd name="csX0" fmla="*/ 503898 w 503898"/>
                        <a:gd name="csY0" fmla="*/ 314936 h 318580"/>
                        <a:gd name="csX1" fmla="*/ 356204 w 503898"/>
                        <a:gd name="csY1" fmla="*/ 45611 h 318580"/>
                        <a:gd name="csX2" fmla="*/ 121631 w 503898"/>
                        <a:gd name="csY2" fmla="*/ 108598 h 318580"/>
                        <a:gd name="csX3" fmla="*/ 134663 w 503898"/>
                        <a:gd name="csY3" fmla="*/ 297560 h 318580"/>
                        <a:gd name="csX4" fmla="*/ 323624 w 503898"/>
                        <a:gd name="csY4" fmla="*/ 293216 h 318580"/>
                        <a:gd name="csX5" fmla="*/ 345344 w 503898"/>
                        <a:gd name="csY5" fmla="*/ 112942 h 318580"/>
                        <a:gd name="csX6" fmla="*/ 0 w 503898"/>
                        <a:gd name="csY6" fmla="*/ 0 h 318580"/>
                        <a:gd name="csX7" fmla="*/ 0 w 503898"/>
                        <a:gd name="csY7" fmla="*/ 0 h 3185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03898" h="318580">
                          <a:moveTo>
                            <a:pt x="503898" y="314936"/>
                          </a:moveTo>
                          <a:cubicBezTo>
                            <a:pt x="461906" y="197468"/>
                            <a:pt x="419915" y="80001"/>
                            <a:pt x="356204" y="45611"/>
                          </a:cubicBezTo>
                          <a:cubicBezTo>
                            <a:pt x="292493" y="11221"/>
                            <a:pt x="158554" y="66607"/>
                            <a:pt x="121631" y="108598"/>
                          </a:cubicBezTo>
                          <a:cubicBezTo>
                            <a:pt x="84708" y="150589"/>
                            <a:pt x="100997" y="266790"/>
                            <a:pt x="134663" y="297560"/>
                          </a:cubicBezTo>
                          <a:cubicBezTo>
                            <a:pt x="168329" y="328330"/>
                            <a:pt x="288511" y="323986"/>
                            <a:pt x="323624" y="293216"/>
                          </a:cubicBezTo>
                          <a:cubicBezTo>
                            <a:pt x="358737" y="262446"/>
                            <a:pt x="399281" y="161811"/>
                            <a:pt x="345344" y="112942"/>
                          </a:cubicBezTo>
                          <a:cubicBezTo>
                            <a:pt x="291407" y="64073"/>
                            <a:pt x="0" y="0"/>
                            <a:pt x="0" y="0"/>
                          </a:cubicBezTo>
                          <a:lnTo>
                            <a:pt x="0" y="0"/>
                          </a:lnTo>
                        </a:path>
                      </a:pathLst>
                    </a:custGeom>
                    <ask:type>
                      <ask:lineSketchCurved/>
                    </ask:type>
                  </ask:lineSketchStyleProps>
                </a:ext>
              </a:extLst>
            </a:ln>
            <a:effectLst/>
            <a:sp3d/>
          </p:spPr>
          <p:style>
            <a:lnRef idx="0">
              <a:scrgbClr r="0" g="0" b="0"/>
            </a:lnRef>
            <a:fillRef idx="0">
              <a:scrgbClr r="0" g="0" b="0"/>
            </a:fillRef>
            <a:effectRef idx="0">
              <a:scrgbClr r="0" g="0" b="0"/>
            </a:effectRef>
            <a:fontRef idx="none"/>
          </p:style>
          <p:txBody>
            <a:bodyPr rtlCol="0" anchor="ctr"/>
            <a:lstStyle/>
            <a:p>
              <a:pPr algn="ctr"/>
              <a:endParaRPr lang="en-US"/>
            </a:p>
          </p:txBody>
        </p:sp>
      </p:grpSp>
      <p:sp>
        <p:nvSpPr>
          <p:cNvPr id="596" name="Line">
            <a:extLst>
              <a:ext uri="{FF2B5EF4-FFF2-40B4-BE49-F238E27FC236}">
                <a16:creationId xmlns:a16="http://schemas.microsoft.com/office/drawing/2014/main" id="{E747D230-86A2-9B20-994F-622C1DF3F8B0}"/>
              </a:ext>
            </a:extLst>
          </p:cNvPr>
          <p:cNvSpPr/>
          <p:nvPr/>
        </p:nvSpPr>
        <p:spPr>
          <a:xfrm flipV="1">
            <a:off x="203261" y="6039020"/>
            <a:ext cx="4175493" cy="0"/>
          </a:xfrm>
          <a:prstGeom prst="line">
            <a:avLst/>
          </a:prstGeom>
          <a:ln w="12700">
            <a:solidFill>
              <a:schemeClr val="tx1"/>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4" name="TextBox 3">
            <a:extLst>
              <a:ext uri="{FF2B5EF4-FFF2-40B4-BE49-F238E27FC236}">
                <a16:creationId xmlns:a16="http://schemas.microsoft.com/office/drawing/2014/main" id="{A7D19129-D740-3832-A699-8A60B83AD5B4}"/>
              </a:ext>
            </a:extLst>
          </p:cNvPr>
          <p:cNvSpPr txBox="1"/>
          <p:nvPr/>
        </p:nvSpPr>
        <p:spPr>
          <a:xfrm>
            <a:off x="198229" y="4876625"/>
            <a:ext cx="4184378"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tx1">
                    <a:lumMod val="50000"/>
                  </a:schemeClr>
                </a:solidFill>
              </a:rPr>
              <a:t>A common example in Kaiaulu is an invalid Git Log Path specified in a parser, which eventually throws an error in an .</a:t>
            </a:r>
            <a:r>
              <a:rPr lang="en-US" b="0" dirty="0" err="1">
                <a:solidFill>
                  <a:schemeClr val="tx1">
                    <a:lumMod val="50000"/>
                  </a:schemeClr>
                </a:solidFill>
              </a:rPr>
              <a:t>Rmd</a:t>
            </a:r>
            <a:r>
              <a:rPr lang="en-US" b="0" dirty="0">
                <a:solidFill>
                  <a:schemeClr val="tx1">
                    <a:lumMod val="50000"/>
                  </a:schemeClr>
                </a:solidFill>
              </a:rPr>
              <a:t> file. </a:t>
            </a:r>
            <a:endParaRPr lang="en-US" b="0" dirty="0">
              <a:solidFill>
                <a:schemeClr val="tx1"/>
              </a:solidFill>
              <a:effectLst/>
              <a:latin typeface="Source Sans Pro" panose="020B0503030403020204" pitchFamily="34" charset="0"/>
              <a:ea typeface="Source Sans Pro" panose="020B0503030403020204" pitchFamily="34" charset="0"/>
            </a:endParaRPr>
          </a:p>
        </p:txBody>
      </p:sp>
      <p:grpSp>
        <p:nvGrpSpPr>
          <p:cNvPr id="60" name="Group 59">
            <a:extLst>
              <a:ext uri="{FF2B5EF4-FFF2-40B4-BE49-F238E27FC236}">
                <a16:creationId xmlns:a16="http://schemas.microsoft.com/office/drawing/2014/main" id="{16ABECB2-171E-063C-F40C-844460E220DB}"/>
              </a:ext>
            </a:extLst>
          </p:cNvPr>
          <p:cNvGrpSpPr/>
          <p:nvPr/>
        </p:nvGrpSpPr>
        <p:grpSpPr>
          <a:xfrm>
            <a:off x="147267" y="6043688"/>
            <a:ext cx="4625034" cy="3456118"/>
            <a:chOff x="4579241" y="1386286"/>
            <a:chExt cx="4625034" cy="3456118"/>
          </a:xfrm>
        </p:grpSpPr>
        <p:sp>
          <p:nvSpPr>
            <p:cNvPr id="500" name="Google Shape;318;p17">
              <a:extLst>
                <a:ext uri="{FF2B5EF4-FFF2-40B4-BE49-F238E27FC236}">
                  <a16:creationId xmlns:a16="http://schemas.microsoft.com/office/drawing/2014/main" id="{67F4C300-2396-2ABC-E79A-994ABDFA0A6A}"/>
                </a:ext>
              </a:extLst>
            </p:cNvPr>
            <p:cNvSpPr txBox="1"/>
            <p:nvPr/>
          </p:nvSpPr>
          <p:spPr>
            <a:xfrm>
              <a:off x="7569011" y="4385763"/>
              <a:ext cx="1635264"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US" sz="1400" dirty="0"/>
                <a:t>Tests/**</a:t>
              </a:r>
              <a:endParaRPr sz="1400" dirty="0"/>
            </a:p>
          </p:txBody>
        </p:sp>
        <p:pic>
          <p:nvPicPr>
            <p:cNvPr id="46" name="Graphic 45" descr="Paper outline">
              <a:extLst>
                <a:ext uri="{FF2B5EF4-FFF2-40B4-BE49-F238E27FC236}">
                  <a16:creationId xmlns:a16="http://schemas.microsoft.com/office/drawing/2014/main" id="{101569C2-7929-9A93-CBF6-C301F4833D1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472828" y="3511751"/>
              <a:ext cx="1118249" cy="1118249"/>
            </a:xfrm>
            <a:prstGeom prst="rect">
              <a:avLst/>
            </a:prstGeom>
          </p:spPr>
        </p:pic>
        <p:pic>
          <p:nvPicPr>
            <p:cNvPr id="47" name="Graphic 46" descr="Paper outline">
              <a:extLst>
                <a:ext uri="{FF2B5EF4-FFF2-40B4-BE49-F238E27FC236}">
                  <a16:creationId xmlns:a16="http://schemas.microsoft.com/office/drawing/2014/main" id="{991B86A3-9637-2F03-0DE4-AF300A2709D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308249" y="1729662"/>
              <a:ext cx="1731153" cy="1731153"/>
            </a:xfrm>
            <a:prstGeom prst="rect">
              <a:avLst/>
            </a:prstGeom>
          </p:spPr>
        </p:pic>
        <p:sp>
          <p:nvSpPr>
            <p:cNvPr id="48" name="TextBox 47">
              <a:extLst>
                <a:ext uri="{FF2B5EF4-FFF2-40B4-BE49-F238E27FC236}">
                  <a16:creationId xmlns:a16="http://schemas.microsoft.com/office/drawing/2014/main" id="{470A5B23-2D45-FABA-84FE-28CA9BF3E050}"/>
                </a:ext>
              </a:extLst>
            </p:cNvPr>
            <p:cNvSpPr txBox="1"/>
            <p:nvPr/>
          </p:nvSpPr>
          <p:spPr>
            <a:xfrm>
              <a:off x="6628421" y="1816169"/>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Downloaders</a:t>
              </a:r>
              <a:endParaRPr lang="en-US" sz="800" b="0" dirty="0"/>
            </a:p>
          </p:txBody>
        </p:sp>
        <p:sp>
          <p:nvSpPr>
            <p:cNvPr id="49" name="TextBox 48">
              <a:extLst>
                <a:ext uri="{FF2B5EF4-FFF2-40B4-BE49-F238E27FC236}">
                  <a16:creationId xmlns:a16="http://schemas.microsoft.com/office/drawing/2014/main" id="{A30848A4-FCF1-7D73-657B-81210A39237F}"/>
                </a:ext>
              </a:extLst>
            </p:cNvPr>
            <p:cNvSpPr txBox="1"/>
            <p:nvPr/>
          </p:nvSpPr>
          <p:spPr>
            <a:xfrm>
              <a:off x="6632322" y="1915620"/>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51" name="TextBox 50">
              <a:extLst>
                <a:ext uri="{FF2B5EF4-FFF2-40B4-BE49-F238E27FC236}">
                  <a16:creationId xmlns:a16="http://schemas.microsoft.com/office/drawing/2014/main" id="{1BBFF061-A3DE-3646-10F9-57E916E58381}"/>
                </a:ext>
              </a:extLst>
            </p:cNvPr>
            <p:cNvSpPr txBox="1"/>
            <p:nvPr/>
          </p:nvSpPr>
          <p:spPr>
            <a:xfrm>
              <a:off x="6632904" y="2330550"/>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52" name="TextBox 51">
              <a:extLst>
                <a:ext uri="{FF2B5EF4-FFF2-40B4-BE49-F238E27FC236}">
                  <a16:creationId xmlns:a16="http://schemas.microsoft.com/office/drawing/2014/main" id="{C5D10D25-08C2-EACF-BBA1-9999DF6AD8A0}"/>
                </a:ext>
              </a:extLst>
            </p:cNvPr>
            <p:cNvSpPr txBox="1"/>
            <p:nvPr/>
          </p:nvSpPr>
          <p:spPr>
            <a:xfrm>
              <a:off x="6628421" y="2224455"/>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Parsers</a:t>
              </a:r>
              <a:endParaRPr lang="en-US" sz="800" b="0" dirty="0"/>
            </a:p>
          </p:txBody>
        </p:sp>
        <p:sp>
          <p:nvSpPr>
            <p:cNvPr id="494" name="TextBox 493">
              <a:extLst>
                <a:ext uri="{FF2B5EF4-FFF2-40B4-BE49-F238E27FC236}">
                  <a16:creationId xmlns:a16="http://schemas.microsoft.com/office/drawing/2014/main" id="{4F17B851-EEAA-E74A-7764-590707E005A4}"/>
                </a:ext>
              </a:extLst>
            </p:cNvPr>
            <p:cNvSpPr txBox="1"/>
            <p:nvPr/>
          </p:nvSpPr>
          <p:spPr>
            <a:xfrm>
              <a:off x="6637886" y="2739482"/>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496" name="TextBox 495">
              <a:extLst>
                <a:ext uri="{FF2B5EF4-FFF2-40B4-BE49-F238E27FC236}">
                  <a16:creationId xmlns:a16="http://schemas.microsoft.com/office/drawing/2014/main" id="{D226DC85-F503-95A0-AEB0-F14BD69BDB72}"/>
                </a:ext>
              </a:extLst>
            </p:cNvPr>
            <p:cNvSpPr txBox="1"/>
            <p:nvPr/>
          </p:nvSpPr>
          <p:spPr>
            <a:xfrm>
              <a:off x="6632322" y="2635186"/>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Transforms</a:t>
              </a:r>
              <a:endParaRPr lang="en-US" sz="800" b="0" dirty="0"/>
            </a:p>
          </p:txBody>
        </p:sp>
        <p:pic>
          <p:nvPicPr>
            <p:cNvPr id="497" name="Graphic 496" descr="Paper outline">
              <a:extLst>
                <a:ext uri="{FF2B5EF4-FFF2-40B4-BE49-F238E27FC236}">
                  <a16:creationId xmlns:a16="http://schemas.microsoft.com/office/drawing/2014/main" id="{569B5E68-9A4D-6F59-CEC8-1D98FDE9DAB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767401" y="3574257"/>
              <a:ext cx="1118249" cy="1118249"/>
            </a:xfrm>
            <a:prstGeom prst="rect">
              <a:avLst/>
            </a:prstGeom>
          </p:spPr>
        </p:pic>
        <p:sp>
          <p:nvSpPr>
            <p:cNvPr id="503" name="TextBox 502">
              <a:extLst>
                <a:ext uri="{FF2B5EF4-FFF2-40B4-BE49-F238E27FC236}">
                  <a16:creationId xmlns:a16="http://schemas.microsoft.com/office/drawing/2014/main" id="{BB695D4A-F966-581F-1AD7-1A56907BB9ED}"/>
                </a:ext>
              </a:extLst>
            </p:cNvPr>
            <p:cNvSpPr txBox="1"/>
            <p:nvPr/>
          </p:nvSpPr>
          <p:spPr>
            <a:xfrm>
              <a:off x="7988311" y="3948985"/>
              <a:ext cx="676428"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1000" b="0" dirty="0"/>
                <a:t>testthat</a:t>
              </a:r>
              <a:endParaRPr kumimoji="0" lang="en-US" sz="1000" b="0" i="0" u="none" strike="noStrike" cap="none" spc="0" normalizeH="0" baseline="0" dirty="0">
                <a:ln>
                  <a:noFill/>
                </a:ln>
                <a:effectLst/>
                <a:uFillTx/>
                <a:latin typeface="Source Sans Pro"/>
                <a:ea typeface="Source Sans Pro"/>
                <a:cs typeface="Source Sans Pro"/>
                <a:sym typeface="Source Sans Pro"/>
              </a:endParaRPr>
            </a:p>
          </p:txBody>
        </p:sp>
        <p:sp>
          <p:nvSpPr>
            <p:cNvPr id="505" name="Google Shape;346;p17">
              <a:extLst>
                <a:ext uri="{FF2B5EF4-FFF2-40B4-BE49-F238E27FC236}">
                  <a16:creationId xmlns:a16="http://schemas.microsoft.com/office/drawing/2014/main" id="{E5CAFF66-2810-F2CC-6627-BA9D03D37C33}"/>
                </a:ext>
              </a:extLst>
            </p:cNvPr>
            <p:cNvSpPr/>
            <p:nvPr/>
          </p:nvSpPr>
          <p:spPr>
            <a:xfrm>
              <a:off x="8058998" y="3974643"/>
              <a:ext cx="549624" cy="255847"/>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spcBef>
                  <a:spcPts val="0"/>
                </a:spcBef>
              </a:pPr>
              <a:endParaRPr sz="1833"/>
            </a:p>
          </p:txBody>
        </p:sp>
        <p:sp>
          <p:nvSpPr>
            <p:cNvPr id="506" name="Google Shape;317;p17">
              <a:extLst>
                <a:ext uri="{FF2B5EF4-FFF2-40B4-BE49-F238E27FC236}">
                  <a16:creationId xmlns:a16="http://schemas.microsoft.com/office/drawing/2014/main" id="{540C1E65-01BC-E5EA-582A-6050CD96C18E}"/>
                </a:ext>
              </a:extLst>
            </p:cNvPr>
            <p:cNvSpPr txBox="1"/>
            <p:nvPr/>
          </p:nvSpPr>
          <p:spPr>
            <a:xfrm>
              <a:off x="5374535" y="3665296"/>
              <a:ext cx="1320250" cy="541969"/>
            </a:xfrm>
            <a:prstGeom prst="rect">
              <a:avLst/>
            </a:prstGeom>
            <a:noFill/>
            <a:ln>
              <a:noFill/>
            </a:ln>
          </p:spPr>
          <p:txBody>
            <a:bodyPr spcFirstLastPara="1" wrap="square" lIns="295319" tIns="295319" rIns="295319" bIns="295319" anchor="t" anchorCtr="0">
              <a:noAutofit/>
            </a:bodyPr>
            <a:lstStyle/>
            <a:p>
              <a:pPr algn="ctr">
                <a:spcBef>
                  <a:spcPts val="0"/>
                </a:spcBef>
              </a:pPr>
              <a:r>
                <a:rPr lang="en" sz="800" b="0" dirty="0"/>
                <a:t>Example Fake Data</a:t>
              </a:r>
              <a:endParaRPr sz="800" b="0" dirty="0"/>
            </a:p>
          </p:txBody>
        </p:sp>
        <p:sp>
          <p:nvSpPr>
            <p:cNvPr id="507" name="Google Shape;306;p17">
              <a:extLst>
                <a:ext uri="{FF2B5EF4-FFF2-40B4-BE49-F238E27FC236}">
                  <a16:creationId xmlns:a16="http://schemas.microsoft.com/office/drawing/2014/main" id="{3FAF5C66-8F92-F203-0D8E-12872629975C}"/>
                </a:ext>
              </a:extLst>
            </p:cNvPr>
            <p:cNvSpPr txBox="1"/>
            <p:nvPr/>
          </p:nvSpPr>
          <p:spPr>
            <a:xfrm>
              <a:off x="6553295" y="3060003"/>
              <a:ext cx="1136939" cy="610729"/>
            </a:xfrm>
            <a:prstGeom prst="rect">
              <a:avLst/>
            </a:prstGeom>
            <a:noFill/>
            <a:ln>
              <a:noFill/>
            </a:ln>
          </p:spPr>
          <p:txBody>
            <a:bodyPr spcFirstLastPara="1" wrap="square" lIns="295319" tIns="295319" rIns="295319" bIns="295319" anchor="t" anchorCtr="0">
              <a:noAutofit/>
            </a:bodyPr>
            <a:lstStyle/>
            <a:p>
              <a:pPr algn="ctr">
                <a:spcBef>
                  <a:spcPts val="0"/>
                </a:spcBef>
              </a:pPr>
              <a:r>
                <a:rPr lang="en" sz="1400" dirty="0">
                  <a:solidFill>
                    <a:schemeClr val="dk2"/>
                  </a:solidFill>
                </a:rPr>
                <a:t>Git.R</a:t>
              </a:r>
              <a:endParaRPr sz="1400" dirty="0">
                <a:solidFill>
                  <a:schemeClr val="dk2"/>
                </a:solidFill>
              </a:endParaRPr>
            </a:p>
          </p:txBody>
        </p:sp>
        <p:sp>
          <p:nvSpPr>
            <p:cNvPr id="513" name="Google Shape;306;p17">
              <a:extLst>
                <a:ext uri="{FF2B5EF4-FFF2-40B4-BE49-F238E27FC236}">
                  <a16:creationId xmlns:a16="http://schemas.microsoft.com/office/drawing/2014/main" id="{78C74989-5BC1-73B0-1C9C-98687C0B86CB}"/>
                </a:ext>
              </a:extLst>
            </p:cNvPr>
            <p:cNvSpPr txBox="1"/>
            <p:nvPr/>
          </p:nvSpPr>
          <p:spPr>
            <a:xfrm>
              <a:off x="4592292" y="2759838"/>
              <a:ext cx="961423" cy="212651"/>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JIRA.R</a:t>
              </a:r>
              <a:endParaRPr sz="1000" b="0" dirty="0">
                <a:solidFill>
                  <a:schemeClr val="dk2"/>
                </a:solidFill>
              </a:endParaRPr>
            </a:p>
          </p:txBody>
        </p:sp>
        <p:cxnSp>
          <p:nvCxnSpPr>
            <p:cNvPr id="514" name="Connector: Elbow 513">
              <a:extLst>
                <a:ext uri="{FF2B5EF4-FFF2-40B4-BE49-F238E27FC236}">
                  <a16:creationId xmlns:a16="http://schemas.microsoft.com/office/drawing/2014/main" id="{96511297-38FA-B999-075A-0E94DBD9845E}"/>
                </a:ext>
              </a:extLst>
            </p:cNvPr>
            <p:cNvCxnSpPr>
              <a:cxnSpLocks/>
            </p:cNvCxnSpPr>
            <p:nvPr/>
          </p:nvCxnSpPr>
          <p:spPr>
            <a:xfrm rot="16200000" flipH="1">
              <a:off x="7061823" y="2181018"/>
              <a:ext cx="1650573" cy="1223096"/>
            </a:xfrm>
            <a:prstGeom prst="bentConnector3">
              <a:avLst>
                <a:gd name="adj1" fmla="val 864"/>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15" name="Connector: Elbow 514">
              <a:extLst>
                <a:ext uri="{FF2B5EF4-FFF2-40B4-BE49-F238E27FC236}">
                  <a16:creationId xmlns:a16="http://schemas.microsoft.com/office/drawing/2014/main" id="{58F00ADA-9188-40A5-F58F-D71FCECB16A8}"/>
                </a:ext>
              </a:extLst>
            </p:cNvPr>
            <p:cNvCxnSpPr>
              <a:cxnSpLocks/>
            </p:cNvCxnSpPr>
            <p:nvPr/>
          </p:nvCxnSpPr>
          <p:spPr>
            <a:xfrm>
              <a:off x="7027821" y="2361669"/>
              <a:ext cx="1301263" cy="1256183"/>
            </a:xfrm>
            <a:prstGeom prst="bentConnector3">
              <a:avLst>
                <a:gd name="adj1" fmla="val 998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17" name="Connector: Elbow 516">
              <a:extLst>
                <a:ext uri="{FF2B5EF4-FFF2-40B4-BE49-F238E27FC236}">
                  <a16:creationId xmlns:a16="http://schemas.microsoft.com/office/drawing/2014/main" id="{E0A6D7DE-7114-4E9F-7E49-A8CF3F8E6A22}"/>
                </a:ext>
              </a:extLst>
            </p:cNvPr>
            <p:cNvCxnSpPr>
              <a:cxnSpLocks/>
            </p:cNvCxnSpPr>
            <p:nvPr/>
          </p:nvCxnSpPr>
          <p:spPr>
            <a:xfrm>
              <a:off x="7186626" y="2777000"/>
              <a:ext cx="973858" cy="840853"/>
            </a:xfrm>
            <a:prstGeom prst="bentConnector3">
              <a:avLst>
                <a:gd name="adj1" fmla="val 99805"/>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521" name="TextBox 520">
              <a:extLst>
                <a:ext uri="{FF2B5EF4-FFF2-40B4-BE49-F238E27FC236}">
                  <a16:creationId xmlns:a16="http://schemas.microsoft.com/office/drawing/2014/main" id="{998256BA-B91B-1125-893C-B5838583F131}"/>
                </a:ext>
              </a:extLst>
            </p:cNvPr>
            <p:cNvSpPr txBox="1"/>
            <p:nvPr/>
          </p:nvSpPr>
          <p:spPr>
            <a:xfrm>
              <a:off x="6637886" y="3048963"/>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i="0" u="none" strike="noStrike" cap="none" spc="0" normalizeH="0" baseline="0" dirty="0">
                  <a:ln>
                    <a:noFill/>
                  </a:ln>
                  <a:solidFill>
                    <a:srgbClr val="4C4C4C"/>
                  </a:solidFill>
                  <a:effectLst/>
                  <a:uFillTx/>
                  <a:latin typeface="Source Sans Pro"/>
                  <a:ea typeface="Source Sans Pro"/>
                  <a:cs typeface="Source Sans Pro"/>
                  <a:sym typeface="Source Sans Pro"/>
                </a:rPr>
                <a:t>Fake Data Generator</a:t>
              </a:r>
              <a:endParaRPr lang="en-US" sz="800" dirty="0"/>
            </a:p>
          </p:txBody>
        </p:sp>
        <p:cxnSp>
          <p:nvCxnSpPr>
            <p:cNvPr id="522" name="Connector: Elbow 521">
              <a:extLst>
                <a:ext uri="{FF2B5EF4-FFF2-40B4-BE49-F238E27FC236}">
                  <a16:creationId xmlns:a16="http://schemas.microsoft.com/office/drawing/2014/main" id="{231586E7-790D-8AF5-EDD9-A376AD8AD9D1}"/>
                </a:ext>
              </a:extLst>
            </p:cNvPr>
            <p:cNvCxnSpPr>
              <a:cxnSpLocks/>
              <a:endCxn id="46" idx="0"/>
            </p:cNvCxnSpPr>
            <p:nvPr/>
          </p:nvCxnSpPr>
          <p:spPr>
            <a:xfrm rot="10800000" flipV="1">
              <a:off x="6031953" y="3190853"/>
              <a:ext cx="650776" cy="320897"/>
            </a:xfrm>
            <a:prstGeom prst="bentConnector2">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23" name="Google Shape;445;p18">
              <a:extLst>
                <a:ext uri="{FF2B5EF4-FFF2-40B4-BE49-F238E27FC236}">
                  <a16:creationId xmlns:a16="http://schemas.microsoft.com/office/drawing/2014/main" id="{E7CFACB5-63D8-31A1-A545-F63D3FEFD870}"/>
                </a:ext>
              </a:extLst>
            </p:cNvPr>
            <p:cNvCxnSpPr>
              <a:cxnSpLocks/>
            </p:cNvCxnSpPr>
            <p:nvPr/>
          </p:nvCxnSpPr>
          <p:spPr>
            <a:xfrm>
              <a:off x="6430915" y="4093856"/>
              <a:ext cx="1475409" cy="0"/>
            </a:xfrm>
            <a:prstGeom prst="straightConnector1">
              <a:avLst/>
            </a:prstGeom>
            <a:noFill/>
            <a:ln w="28575" cap="flat" cmpd="sng">
              <a:solidFill>
                <a:srgbClr val="1B1311"/>
              </a:solidFill>
              <a:prstDash val="solid"/>
              <a:round/>
              <a:headEnd type="none" w="med" len="med"/>
              <a:tailEnd type="triangle" w="med" len="med"/>
            </a:ln>
          </p:spPr>
        </p:cxnSp>
        <p:pic>
          <p:nvPicPr>
            <p:cNvPr id="575" name="Graphic 574" descr="Paper outline">
              <a:extLst>
                <a:ext uri="{FF2B5EF4-FFF2-40B4-BE49-F238E27FC236}">
                  <a16:creationId xmlns:a16="http://schemas.microsoft.com/office/drawing/2014/main" id="{CCB7A78A-8833-1EE0-3BE0-80941C2D0B4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376995" y="1947050"/>
              <a:ext cx="388976" cy="388976"/>
            </a:xfrm>
            <a:prstGeom prst="rect">
              <a:avLst/>
            </a:prstGeom>
          </p:spPr>
        </p:pic>
        <p:sp>
          <p:nvSpPr>
            <p:cNvPr id="576" name="Google Shape;306;p17">
              <a:extLst>
                <a:ext uri="{FF2B5EF4-FFF2-40B4-BE49-F238E27FC236}">
                  <a16:creationId xmlns:a16="http://schemas.microsoft.com/office/drawing/2014/main" id="{86901BF5-9656-E6F0-6883-0E29FB44C16B}"/>
                </a:ext>
              </a:extLst>
            </p:cNvPr>
            <p:cNvSpPr txBox="1"/>
            <p:nvPr/>
          </p:nvSpPr>
          <p:spPr>
            <a:xfrm>
              <a:off x="4599760" y="3512382"/>
              <a:ext cx="928261"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src.R</a:t>
              </a:r>
              <a:endParaRPr sz="1000" b="0" dirty="0">
                <a:solidFill>
                  <a:schemeClr val="dk2"/>
                </a:solidFill>
              </a:endParaRPr>
            </a:p>
          </p:txBody>
        </p:sp>
        <p:pic>
          <p:nvPicPr>
            <p:cNvPr id="577" name="Graphic 576" descr="Paper outline">
              <a:extLst>
                <a:ext uri="{FF2B5EF4-FFF2-40B4-BE49-F238E27FC236}">
                  <a16:creationId xmlns:a16="http://schemas.microsoft.com/office/drawing/2014/main" id="{6AFFD50B-5479-16B5-2685-8427FFF2BD5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878516" y="1954410"/>
              <a:ext cx="388976" cy="388976"/>
            </a:xfrm>
            <a:prstGeom prst="rect">
              <a:avLst/>
            </a:prstGeom>
          </p:spPr>
        </p:pic>
        <p:pic>
          <p:nvPicPr>
            <p:cNvPr id="578" name="Graphic 577" descr="Paper outline">
              <a:extLst>
                <a:ext uri="{FF2B5EF4-FFF2-40B4-BE49-F238E27FC236}">
                  <a16:creationId xmlns:a16="http://schemas.microsoft.com/office/drawing/2014/main" id="{686EACF6-0896-5C18-0E32-B7147B08169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878516" y="2516445"/>
              <a:ext cx="388976" cy="388976"/>
            </a:xfrm>
            <a:prstGeom prst="rect">
              <a:avLst/>
            </a:prstGeom>
          </p:spPr>
        </p:pic>
        <p:pic>
          <p:nvPicPr>
            <p:cNvPr id="579" name="Graphic 578" descr="Paper outline">
              <a:extLst>
                <a:ext uri="{FF2B5EF4-FFF2-40B4-BE49-F238E27FC236}">
                  <a16:creationId xmlns:a16="http://schemas.microsoft.com/office/drawing/2014/main" id="{8B991BE3-DE7B-524B-9FFC-DB80BC984AD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869403" y="3375411"/>
              <a:ext cx="388976" cy="388976"/>
            </a:xfrm>
            <a:prstGeom prst="rect">
              <a:avLst/>
            </a:prstGeom>
          </p:spPr>
        </p:pic>
        <p:sp>
          <p:nvSpPr>
            <p:cNvPr id="580" name="Google Shape;306;p17">
              <a:extLst>
                <a:ext uri="{FF2B5EF4-FFF2-40B4-BE49-F238E27FC236}">
                  <a16:creationId xmlns:a16="http://schemas.microsoft.com/office/drawing/2014/main" id="{7338D1C6-77DA-171E-90AA-5E9ACBB13308}"/>
                </a:ext>
              </a:extLst>
            </p:cNvPr>
            <p:cNvSpPr txBox="1"/>
            <p:nvPr/>
          </p:nvSpPr>
          <p:spPr>
            <a:xfrm>
              <a:off x="5098334" y="2170878"/>
              <a:ext cx="940079" cy="24014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Git.R</a:t>
              </a:r>
              <a:endParaRPr sz="1000" b="0" dirty="0">
                <a:solidFill>
                  <a:schemeClr val="dk2"/>
                </a:solidFill>
              </a:endParaRPr>
            </a:p>
          </p:txBody>
        </p:sp>
        <p:sp>
          <p:nvSpPr>
            <p:cNvPr id="581" name="Google Shape;306;p17">
              <a:extLst>
                <a:ext uri="{FF2B5EF4-FFF2-40B4-BE49-F238E27FC236}">
                  <a16:creationId xmlns:a16="http://schemas.microsoft.com/office/drawing/2014/main" id="{0EE8CF54-55BB-EBE3-67FD-91DEFBB7C525}"/>
                </a:ext>
              </a:extLst>
            </p:cNvPr>
            <p:cNvSpPr txBox="1"/>
            <p:nvPr/>
          </p:nvSpPr>
          <p:spPr>
            <a:xfrm>
              <a:off x="4579241" y="2100827"/>
              <a:ext cx="987526"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Mail.R</a:t>
              </a:r>
              <a:endParaRPr sz="1000" b="0" dirty="0">
                <a:solidFill>
                  <a:schemeClr val="dk2"/>
                </a:solidFill>
              </a:endParaRPr>
            </a:p>
          </p:txBody>
        </p:sp>
        <p:sp>
          <p:nvSpPr>
            <p:cNvPr id="585" name="Oval 584">
              <a:extLst>
                <a:ext uri="{FF2B5EF4-FFF2-40B4-BE49-F238E27FC236}">
                  <a16:creationId xmlns:a16="http://schemas.microsoft.com/office/drawing/2014/main" id="{571CD306-590F-55FC-BAAF-4AC1500028E7}"/>
                </a:ext>
              </a:extLst>
            </p:cNvPr>
            <p:cNvSpPr/>
            <p:nvPr/>
          </p:nvSpPr>
          <p:spPr>
            <a:xfrm>
              <a:off x="5299585" y="1931604"/>
              <a:ext cx="550867" cy="525694"/>
            </a:xfrm>
            <a:prstGeom prst="ellipse">
              <a:avLst/>
            </a:prstGeom>
            <a:noFill/>
            <a:ln w="12700" cap="flat">
              <a:solidFill>
                <a:srgbClr val="4C4C4C"/>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sp>
          <p:nvSpPr>
            <p:cNvPr id="586" name="Oval 585">
              <a:extLst>
                <a:ext uri="{FF2B5EF4-FFF2-40B4-BE49-F238E27FC236}">
                  <a16:creationId xmlns:a16="http://schemas.microsoft.com/office/drawing/2014/main" id="{AC15FB5D-CC60-B8F0-A58A-80BA96558288}"/>
                </a:ext>
              </a:extLst>
            </p:cNvPr>
            <p:cNvSpPr/>
            <p:nvPr/>
          </p:nvSpPr>
          <p:spPr>
            <a:xfrm>
              <a:off x="6052480" y="1577156"/>
              <a:ext cx="2158097" cy="2196943"/>
            </a:xfrm>
            <a:prstGeom prst="ellipse">
              <a:avLst/>
            </a:prstGeom>
            <a:noFill/>
            <a:ln w="12700" cap="flat">
              <a:solidFill>
                <a:srgbClr val="4C4C4C"/>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cxnSp>
          <p:nvCxnSpPr>
            <p:cNvPr id="587" name="Straight Connector 586">
              <a:extLst>
                <a:ext uri="{FF2B5EF4-FFF2-40B4-BE49-F238E27FC236}">
                  <a16:creationId xmlns:a16="http://schemas.microsoft.com/office/drawing/2014/main" id="{FB35593A-1B44-82C2-7B1C-86C1B8CA6937}"/>
                </a:ext>
              </a:extLst>
            </p:cNvPr>
            <p:cNvCxnSpPr>
              <a:cxnSpLocks/>
              <a:endCxn id="585" idx="3"/>
            </p:cNvCxnSpPr>
            <p:nvPr/>
          </p:nvCxnSpPr>
          <p:spPr>
            <a:xfrm flipH="1" flipV="1">
              <a:off x="5380258" y="2380312"/>
              <a:ext cx="756816" cy="744979"/>
            </a:xfrm>
            <a:prstGeom prst="line">
              <a:avLst/>
            </a:prstGeom>
            <a:ln w="127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91" name="Straight Connector 590">
              <a:extLst>
                <a:ext uri="{FF2B5EF4-FFF2-40B4-BE49-F238E27FC236}">
                  <a16:creationId xmlns:a16="http://schemas.microsoft.com/office/drawing/2014/main" id="{57878055-9F6F-D482-159F-F5B75A330DE7}"/>
                </a:ext>
              </a:extLst>
            </p:cNvPr>
            <p:cNvCxnSpPr>
              <a:cxnSpLocks/>
              <a:endCxn id="585" idx="0"/>
            </p:cNvCxnSpPr>
            <p:nvPr/>
          </p:nvCxnSpPr>
          <p:spPr>
            <a:xfrm flipH="1">
              <a:off x="5575019" y="1642390"/>
              <a:ext cx="1215870" cy="289214"/>
            </a:xfrm>
            <a:prstGeom prst="line">
              <a:avLst/>
            </a:prstGeom>
            <a:ln w="127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94" name="TextBox 593">
              <a:extLst>
                <a:ext uri="{FF2B5EF4-FFF2-40B4-BE49-F238E27FC236}">
                  <a16:creationId xmlns:a16="http://schemas.microsoft.com/office/drawing/2014/main" id="{E85A1E2E-A948-F286-E349-E796259420DB}"/>
                </a:ext>
              </a:extLst>
            </p:cNvPr>
            <p:cNvSpPr txBox="1"/>
            <p:nvPr/>
          </p:nvSpPr>
          <p:spPr>
            <a:xfrm>
              <a:off x="4914543" y="2980917"/>
              <a:ext cx="536368" cy="5308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dirty="0"/>
                <a:t>.</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95" name="Google Shape;312;p17">
              <a:extLst>
                <a:ext uri="{FF2B5EF4-FFF2-40B4-BE49-F238E27FC236}">
                  <a16:creationId xmlns:a16="http://schemas.microsoft.com/office/drawing/2014/main" id="{FD584F8E-5C1E-D2D4-297A-8E2F7D3F01D4}"/>
                </a:ext>
              </a:extLst>
            </p:cNvPr>
            <p:cNvSpPr txBox="1"/>
            <p:nvPr/>
          </p:nvSpPr>
          <p:spPr>
            <a:xfrm>
              <a:off x="4927776" y="4336877"/>
              <a:ext cx="2240541"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400" dirty="0"/>
                <a:t>Example.R</a:t>
              </a:r>
              <a:endParaRPr sz="1400" dirty="0"/>
            </a:p>
          </p:txBody>
        </p:sp>
        <p:sp>
          <p:nvSpPr>
            <p:cNvPr id="597" name="TextBox 596">
              <a:extLst>
                <a:ext uri="{FF2B5EF4-FFF2-40B4-BE49-F238E27FC236}">
                  <a16:creationId xmlns:a16="http://schemas.microsoft.com/office/drawing/2014/main" id="{CF4D49C4-5CD0-ACC8-5B13-2480D8CBA5D5}"/>
                </a:ext>
              </a:extLst>
            </p:cNvPr>
            <p:cNvSpPr txBox="1"/>
            <p:nvPr/>
          </p:nvSpPr>
          <p:spPr>
            <a:xfrm>
              <a:off x="4913160" y="2879763"/>
              <a:ext cx="366168" cy="7411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dirty="0"/>
                <a:t>.</a:t>
              </a:r>
            </a:p>
            <a:p>
              <a:pPr marL="0" marR="0" indent="0" algn="l" defTabSz="584200" rtl="0" fontAlgn="auto" latinLnBrk="0" hangingPunct="0">
                <a:lnSpc>
                  <a:spcPct val="100000"/>
                </a:lnSpc>
                <a:spcBef>
                  <a:spcPts val="200"/>
                </a:spcBef>
                <a:spcAft>
                  <a:spcPts val="0"/>
                </a:spcAft>
                <a:buClrTx/>
                <a:buSzTx/>
                <a:buFontTx/>
                <a:buNone/>
                <a:tabLst/>
              </a:pPr>
              <a:r>
                <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rPr>
                <a:t>.</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6" name="Rectangle 5">
              <a:extLst>
                <a:ext uri="{FF2B5EF4-FFF2-40B4-BE49-F238E27FC236}">
                  <a16:creationId xmlns:a16="http://schemas.microsoft.com/office/drawing/2014/main" id="{A8F650AA-B9EB-0804-E3C2-9CCC49E6639B}"/>
                </a:ext>
              </a:extLst>
            </p:cNvPr>
            <p:cNvSpPr/>
            <p:nvPr/>
          </p:nvSpPr>
          <p:spPr>
            <a:xfrm>
              <a:off x="4687649" y="1449980"/>
              <a:ext cx="4067130" cy="3392424"/>
            </a:xfrm>
            <a:prstGeom prst="rect">
              <a:avLst/>
            </a:prstGeom>
            <a:noFill/>
            <a:ln w="12700" cap="flat">
              <a:solidFill>
                <a:schemeClr val="bg2">
                  <a:lumMod val="10000"/>
                </a:schemeClr>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 name="Google Shape;236;p15">
              <a:extLst>
                <a:ext uri="{FF2B5EF4-FFF2-40B4-BE49-F238E27FC236}">
                  <a16:creationId xmlns:a16="http://schemas.microsoft.com/office/drawing/2014/main" id="{23A4B659-8DFE-3C95-4613-6CC4547885BB}"/>
                </a:ext>
              </a:extLst>
            </p:cNvPr>
            <p:cNvSpPr/>
            <p:nvPr/>
          </p:nvSpPr>
          <p:spPr>
            <a:xfrm>
              <a:off x="4717134" y="1477850"/>
              <a:ext cx="322763" cy="299514"/>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9" name="Google Shape;237;p15">
              <a:extLst>
                <a:ext uri="{FF2B5EF4-FFF2-40B4-BE49-F238E27FC236}">
                  <a16:creationId xmlns:a16="http://schemas.microsoft.com/office/drawing/2014/main" id="{407A2EE4-8855-D244-60A2-D2AC7DED147C}"/>
                </a:ext>
              </a:extLst>
            </p:cNvPr>
            <p:cNvSpPr txBox="1"/>
            <p:nvPr/>
          </p:nvSpPr>
          <p:spPr>
            <a:xfrm>
              <a:off x="4649821" y="1386286"/>
              <a:ext cx="547745" cy="274024"/>
            </a:xfrm>
            <a:prstGeom prst="rect">
              <a:avLst/>
            </a:prstGeom>
            <a:noFill/>
            <a:ln>
              <a:noFill/>
            </a:ln>
          </p:spPr>
          <p:txBody>
            <a:bodyPr spcFirstLastPara="1" wrap="square" lIns="127722" tIns="127722" rIns="127722" bIns="127722" anchor="t" anchorCtr="0">
              <a:noAutofit/>
            </a:bodyPr>
            <a:lstStyle/>
            <a:p>
              <a:pPr>
                <a:spcBef>
                  <a:spcPts val="0"/>
                </a:spcBef>
              </a:pPr>
              <a:r>
                <a:rPr lang="en" sz="1400" dirty="0">
                  <a:solidFill>
                    <a:schemeClr val="lt1"/>
                  </a:solidFill>
                </a:rPr>
                <a:t>GH</a:t>
              </a:r>
              <a:endParaRPr sz="1400" dirty="0">
                <a:solidFill>
                  <a:schemeClr val="lt1"/>
                </a:solidFill>
              </a:endParaRPr>
            </a:p>
          </p:txBody>
        </p:sp>
      </p:grpSp>
      <p:sp>
        <p:nvSpPr>
          <p:cNvPr id="13" name="Use headers, colors, and/or backgrounds to separate or group together sections.">
            <a:extLst>
              <a:ext uri="{FF2B5EF4-FFF2-40B4-BE49-F238E27FC236}">
                <a16:creationId xmlns:a16="http://schemas.microsoft.com/office/drawing/2014/main" id="{03B78D8C-889E-763D-9E15-94A4328BC354}"/>
              </a:ext>
            </a:extLst>
          </p:cNvPr>
          <p:cNvSpPr txBox="1"/>
          <p:nvPr/>
        </p:nvSpPr>
        <p:spPr>
          <a:xfrm>
            <a:off x="4705325" y="3231443"/>
            <a:ext cx="4251862"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Tests for Kaiaulu are made using R’s testthat framework. Fake examples are used for parser tests, which parse fake data.</a:t>
            </a:r>
          </a:p>
        </p:txBody>
      </p:sp>
      <p:sp>
        <p:nvSpPr>
          <p:cNvPr id="14" name="Use headers, colors, and/or backgrounds to separate or group together sections.">
            <a:extLst>
              <a:ext uri="{FF2B5EF4-FFF2-40B4-BE49-F238E27FC236}">
                <a16:creationId xmlns:a16="http://schemas.microsoft.com/office/drawing/2014/main" id="{7FAAF6C4-EC7E-270F-3E7E-6C2800027B1B}"/>
              </a:ext>
            </a:extLst>
          </p:cNvPr>
          <p:cNvSpPr txBox="1"/>
          <p:nvPr/>
        </p:nvSpPr>
        <p:spPr>
          <a:xfrm>
            <a:off x="4703078" y="2524315"/>
            <a:ext cx="4251862"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Light"/>
              </a:rPr>
              <a:t>Kaiaulu’s </a:t>
            </a:r>
            <a:r>
              <a:rPr lang="en-US" b="0" dirty="0" err="1">
                <a:solidFill>
                  <a:srgbClr val="000000"/>
                </a:solidFill>
                <a:latin typeface="Source Sans Pro" panose="020B0503030403020204" pitchFamily="34" charset="0"/>
                <a:ea typeface="Source Sans Pro" panose="020B0503030403020204" pitchFamily="34" charset="0"/>
                <a:sym typeface="Source Sans Pro Light"/>
              </a:rPr>
              <a:t>Example.R</a:t>
            </a:r>
            <a:r>
              <a:rPr lang="en-US" b="0" dirty="0">
                <a:solidFill>
                  <a:srgbClr val="000000"/>
                </a:solidFill>
                <a:latin typeface="Source Sans Pro" panose="020B0503030403020204" pitchFamily="34" charset="0"/>
                <a:ea typeface="Source Sans Pro" panose="020B0503030403020204" pitchFamily="34" charset="0"/>
                <a:sym typeface="Source Sans Pro Light"/>
              </a:rPr>
              <a:t> is used to create fake data examples. These mimic real raw data unexpected cases. </a:t>
            </a:r>
          </a:p>
        </p:txBody>
      </p:sp>
      <p:pic>
        <p:nvPicPr>
          <p:cNvPr id="16" name="Picture 15" descr="The image depicts a simple, clean design featuring two intertwined, colorless circles.&#10;&#10;AI-generated content may be incorrect.">
            <a:extLst>
              <a:ext uri="{FF2B5EF4-FFF2-40B4-BE49-F238E27FC236}">
                <a16:creationId xmlns:a16="http://schemas.microsoft.com/office/drawing/2014/main" id="{36B0ABF3-C00F-3D32-F9C8-5EADA1395F26}"/>
              </a:ext>
            </a:extLst>
          </p:cNvPr>
          <p:cNvPicPr>
            <a:picLocks noChangeAspect="1"/>
          </p:cNvPicPr>
          <p:nvPr/>
        </p:nvPicPr>
        <p:blipFill>
          <a:blip r:embed="rId16"/>
          <a:srcRect l="3050" r="4779"/>
          <a:stretch>
            <a:fillRect/>
          </a:stretch>
        </p:blipFill>
        <p:spPr>
          <a:xfrm>
            <a:off x="10212730" y="7933337"/>
            <a:ext cx="341640" cy="348057"/>
          </a:xfrm>
          <a:prstGeom prst="rect">
            <a:avLst/>
          </a:prstGeom>
        </p:spPr>
      </p:pic>
      <p:sp>
        <p:nvSpPr>
          <p:cNvPr id="17" name="Use headers, colors, and/or backgrounds to separate or group together sections.">
            <a:extLst>
              <a:ext uri="{FF2B5EF4-FFF2-40B4-BE49-F238E27FC236}">
                <a16:creationId xmlns:a16="http://schemas.microsoft.com/office/drawing/2014/main" id="{7FF75C57-B748-BCFA-55A6-3141CE1437D3}"/>
              </a:ext>
            </a:extLst>
          </p:cNvPr>
          <p:cNvSpPr txBox="1"/>
          <p:nvPr/>
        </p:nvSpPr>
        <p:spPr>
          <a:xfrm>
            <a:off x="10553488" y="7879773"/>
            <a:ext cx="2703651" cy="2902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300" dirty="0">
                <a:latin typeface="Source Sans Pro" panose="020B0503030403020204" pitchFamily="34" charset="0"/>
                <a:ea typeface="Source Sans Pro" panose="020B0503030403020204" pitchFamily="34" charset="0"/>
              </a:rPr>
              <a:t>Some checks were not successful</a:t>
            </a:r>
          </a:p>
        </p:txBody>
      </p:sp>
      <p:sp>
        <p:nvSpPr>
          <p:cNvPr id="18" name="Google Shape;244;p15">
            <a:extLst>
              <a:ext uri="{FF2B5EF4-FFF2-40B4-BE49-F238E27FC236}">
                <a16:creationId xmlns:a16="http://schemas.microsoft.com/office/drawing/2014/main" id="{DD874A66-CE7B-73CA-78B8-2AA863E9E56D}"/>
              </a:ext>
            </a:extLst>
          </p:cNvPr>
          <p:cNvSpPr txBox="1"/>
          <p:nvPr/>
        </p:nvSpPr>
        <p:spPr>
          <a:xfrm>
            <a:off x="10483111" y="7996936"/>
            <a:ext cx="2232410" cy="321094"/>
          </a:xfrm>
          <a:prstGeom prst="rect">
            <a:avLst/>
          </a:prstGeom>
          <a:noFill/>
          <a:ln>
            <a:noFill/>
          </a:ln>
        </p:spPr>
        <p:txBody>
          <a:bodyPr spcFirstLastPara="1" wrap="square" lIns="127722" tIns="127722" rIns="127722" bIns="127722" anchor="t" anchorCtr="0">
            <a:noAutofit/>
          </a:bodyPr>
          <a:lstStyle/>
          <a:p>
            <a:pPr>
              <a:spcBef>
                <a:spcPts val="0"/>
              </a:spcBef>
            </a:pPr>
            <a:r>
              <a:rPr lang="en-US" dirty="0">
                <a:solidFill>
                  <a:srgbClr val="999999"/>
                </a:solidFill>
              </a:rPr>
              <a:t>1 failing, 1 successful checks</a:t>
            </a:r>
            <a:endParaRPr dirty="0">
              <a:solidFill>
                <a:srgbClr val="999999"/>
              </a:solidFill>
            </a:endParaRPr>
          </a:p>
          <a:p>
            <a:pPr>
              <a:spcBef>
                <a:spcPts val="0"/>
              </a:spcBef>
            </a:pPr>
            <a:endParaRPr sz="978" dirty="0">
              <a:solidFill>
                <a:srgbClr val="999999"/>
              </a:solidFill>
            </a:endParaRPr>
          </a:p>
          <a:p>
            <a:pPr>
              <a:spcBef>
                <a:spcPts val="0"/>
              </a:spcBef>
            </a:pPr>
            <a:r>
              <a:rPr lang="en" sz="978" dirty="0">
                <a:solidFill>
                  <a:srgbClr val="999999"/>
                </a:solidFill>
              </a:rPr>
              <a:t> </a:t>
            </a:r>
            <a:endParaRPr sz="978" dirty="0">
              <a:solidFill>
                <a:srgbClr val="999999"/>
              </a:solidFill>
            </a:endParaRPr>
          </a:p>
        </p:txBody>
      </p:sp>
      <p:sp>
        <p:nvSpPr>
          <p:cNvPr id="15" name="FONTS">
            <a:extLst>
              <a:ext uri="{FF2B5EF4-FFF2-40B4-BE49-F238E27FC236}">
                <a16:creationId xmlns:a16="http://schemas.microsoft.com/office/drawing/2014/main" id="{84B812F5-EDB2-60B3-C5E6-20BD218E9002}"/>
              </a:ext>
            </a:extLst>
          </p:cNvPr>
          <p:cNvSpPr txBox="1"/>
          <p:nvPr/>
        </p:nvSpPr>
        <p:spPr>
          <a:xfrm>
            <a:off x="4540206" y="1544753"/>
            <a:ext cx="3457951" cy="3026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r>
              <a:rPr lang="en-US" sz="1800" b="0" dirty="0"/>
              <a:t>Fake Data Generator</a:t>
            </a:r>
          </a:p>
        </p:txBody>
      </p:sp>
      <p:sp>
        <p:nvSpPr>
          <p:cNvPr id="19" name="FONTS">
            <a:extLst>
              <a:ext uri="{FF2B5EF4-FFF2-40B4-BE49-F238E27FC236}">
                <a16:creationId xmlns:a16="http://schemas.microsoft.com/office/drawing/2014/main" id="{A23A6990-7638-6EE7-B23B-A48AFB753EF3}"/>
              </a:ext>
            </a:extLst>
          </p:cNvPr>
          <p:cNvSpPr txBox="1"/>
          <p:nvPr/>
        </p:nvSpPr>
        <p:spPr>
          <a:xfrm>
            <a:off x="4540206" y="2250885"/>
            <a:ext cx="2901855" cy="3026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r>
              <a:rPr lang="en-US" sz="1800" b="0" dirty="0"/>
              <a:t>Examples</a:t>
            </a:r>
            <a:endParaRPr sz="1800" b="0" dirty="0"/>
          </a:p>
        </p:txBody>
      </p:sp>
      <p:sp>
        <p:nvSpPr>
          <p:cNvPr id="20" name="FONTS">
            <a:extLst>
              <a:ext uri="{FF2B5EF4-FFF2-40B4-BE49-F238E27FC236}">
                <a16:creationId xmlns:a16="http://schemas.microsoft.com/office/drawing/2014/main" id="{953CF844-9904-6629-9A4A-D87CDAB09E69}"/>
              </a:ext>
            </a:extLst>
          </p:cNvPr>
          <p:cNvSpPr txBox="1"/>
          <p:nvPr/>
        </p:nvSpPr>
        <p:spPr>
          <a:xfrm>
            <a:off x="4517488" y="2936506"/>
            <a:ext cx="1950490" cy="3026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r>
              <a:rPr lang="en-US" sz="1800" b="0" dirty="0"/>
              <a:t>Tests</a:t>
            </a:r>
            <a:endParaRPr sz="1800" b="0" dirty="0"/>
          </a:p>
        </p:txBody>
      </p:sp>
      <p:sp>
        <p:nvSpPr>
          <p:cNvPr id="498" name="FONTS">
            <a:extLst>
              <a:ext uri="{FF2B5EF4-FFF2-40B4-BE49-F238E27FC236}">
                <a16:creationId xmlns:a16="http://schemas.microsoft.com/office/drawing/2014/main" id="{03F3C5C6-A99C-9D58-66AC-69BC075E974A}"/>
              </a:ext>
            </a:extLst>
          </p:cNvPr>
          <p:cNvSpPr txBox="1"/>
          <p:nvPr/>
        </p:nvSpPr>
        <p:spPr>
          <a:xfrm>
            <a:off x="4641523" y="7660876"/>
            <a:ext cx="1570137" cy="3026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r>
              <a:rPr lang="en-US" sz="1800" b="0" dirty="0"/>
              <a:t>GitHub Actions</a:t>
            </a:r>
            <a:endParaRPr sz="1800" b="0" dirty="0"/>
          </a:p>
        </p:txBody>
      </p:sp>
      <p:sp>
        <p:nvSpPr>
          <p:cNvPr id="508" name="FONTS">
            <a:extLst>
              <a:ext uri="{FF2B5EF4-FFF2-40B4-BE49-F238E27FC236}">
                <a16:creationId xmlns:a16="http://schemas.microsoft.com/office/drawing/2014/main" id="{74A02E33-876F-6FEE-7F9D-58EF3334E603}"/>
              </a:ext>
            </a:extLst>
          </p:cNvPr>
          <p:cNvSpPr txBox="1"/>
          <p:nvPr/>
        </p:nvSpPr>
        <p:spPr>
          <a:xfrm>
            <a:off x="4651141" y="8302794"/>
            <a:ext cx="1738418" cy="3026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r>
              <a:rPr lang="en-US" sz="1800" b="0" dirty="0"/>
              <a:t>Quality Reviewer</a:t>
            </a:r>
            <a:endParaRPr sz="1800" b="0" dirty="0"/>
          </a:p>
        </p:txBody>
      </p:sp>
      <p:sp>
        <p:nvSpPr>
          <p:cNvPr id="510" name="FONTS">
            <a:extLst>
              <a:ext uri="{FF2B5EF4-FFF2-40B4-BE49-F238E27FC236}">
                <a16:creationId xmlns:a16="http://schemas.microsoft.com/office/drawing/2014/main" id="{BBC2761C-B3CC-D75E-ED06-F6B2215D46C7}"/>
              </a:ext>
            </a:extLst>
          </p:cNvPr>
          <p:cNvSpPr txBox="1"/>
          <p:nvPr/>
        </p:nvSpPr>
        <p:spPr>
          <a:xfrm>
            <a:off x="4651415" y="9165396"/>
            <a:ext cx="1738418" cy="3026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r>
              <a:rPr lang="en-US" sz="1800" b="0" dirty="0"/>
              <a:t>Code Architect</a:t>
            </a:r>
            <a:endParaRPr sz="1800" b="0" dirty="0"/>
          </a:p>
        </p:txBody>
      </p:sp>
      <p:sp>
        <p:nvSpPr>
          <p:cNvPr id="511" name="Google Shape;234;p15">
            <a:extLst>
              <a:ext uri="{FF2B5EF4-FFF2-40B4-BE49-F238E27FC236}">
                <a16:creationId xmlns:a16="http://schemas.microsoft.com/office/drawing/2014/main" id="{6453C036-486C-BA89-9DBC-846B85D60523}"/>
              </a:ext>
            </a:extLst>
          </p:cNvPr>
          <p:cNvSpPr/>
          <p:nvPr/>
        </p:nvSpPr>
        <p:spPr>
          <a:xfrm>
            <a:off x="237460" y="6121474"/>
            <a:ext cx="2788500" cy="232375"/>
          </a:xfrm>
          <a:prstGeom prst="rect">
            <a:avLst/>
          </a:prstGeom>
          <a:noFill/>
          <a:ln>
            <a:noFill/>
          </a:ln>
        </p:spPr>
        <p:txBody>
          <a:bodyPr spcFirstLastPara="1" wrap="square" lIns="127722" tIns="127722" rIns="127722" bIns="127722" anchor="ctr" anchorCtr="0">
            <a:noAutofit/>
          </a:bodyPr>
          <a:lstStyle/>
          <a:p>
            <a:pPr>
              <a:spcBef>
                <a:spcPts val="0"/>
              </a:spcBef>
              <a:buClr>
                <a:schemeClr val="dk1"/>
              </a:buClr>
              <a:buSzPts val="1006"/>
            </a:pPr>
            <a:r>
              <a:rPr lang="en" sz="839" dirty="0">
                <a:solidFill>
                  <a:schemeClr val="dk1"/>
                </a:solidFill>
              </a:rPr>
              <a:t>   </a:t>
            </a:r>
            <a:r>
              <a:rPr lang="en" sz="839" dirty="0">
                <a:solidFill>
                  <a:srgbClr val="1F2328"/>
                </a:solidFill>
              </a:rPr>
              <a:t>           test-coverage/test-coverage(4.4)</a:t>
            </a:r>
            <a:endParaRPr sz="1956" dirty="0"/>
          </a:p>
        </p:txBody>
      </p:sp>
      <p:sp>
        <p:nvSpPr>
          <p:cNvPr id="512" name="FONTS">
            <a:extLst>
              <a:ext uri="{FF2B5EF4-FFF2-40B4-BE49-F238E27FC236}">
                <a16:creationId xmlns:a16="http://schemas.microsoft.com/office/drawing/2014/main" id="{3E69F107-DEBD-E44A-6394-D87C9E7E766A}"/>
              </a:ext>
            </a:extLst>
          </p:cNvPr>
          <p:cNvSpPr txBox="1"/>
          <p:nvPr/>
        </p:nvSpPr>
        <p:spPr>
          <a:xfrm>
            <a:off x="4639814" y="7074828"/>
            <a:ext cx="1570137" cy="3026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anchor="ctr">
            <a:spAutoFit/>
          </a:bodyPr>
          <a:lstStyle/>
          <a:p>
            <a:pPr lvl="1" indent="0"/>
            <a:r>
              <a:rPr lang="en-US" sz="1800" b="0" dirty="0"/>
              <a:t>Codecov</a:t>
            </a:r>
            <a:endParaRPr sz="1800" b="0" dirty="0"/>
          </a:p>
        </p:txBody>
      </p:sp>
      <p:sp>
        <p:nvSpPr>
          <p:cNvPr id="518" name="Use headers, colors, and/or backgrounds to separate or group together sections.">
            <a:extLst>
              <a:ext uri="{FF2B5EF4-FFF2-40B4-BE49-F238E27FC236}">
                <a16:creationId xmlns:a16="http://schemas.microsoft.com/office/drawing/2014/main" id="{EDBCE510-B14B-F927-A4EF-750517B76608}"/>
              </a:ext>
            </a:extLst>
          </p:cNvPr>
          <p:cNvSpPr txBox="1"/>
          <p:nvPr/>
        </p:nvSpPr>
        <p:spPr>
          <a:xfrm>
            <a:off x="226361" y="9481655"/>
            <a:ext cx="4251862"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The </a:t>
            </a:r>
            <a:r>
              <a:rPr lang="en-US" dirty="0">
                <a:latin typeface="Source Sans Pro" panose="020B0503030403020204" pitchFamily="34" charset="0"/>
                <a:ea typeface="Source Sans Pro" panose="020B0503030403020204" pitchFamily="34" charset="0"/>
              </a:rPr>
              <a:t>Fake Data Generator </a:t>
            </a:r>
            <a:r>
              <a:rPr lang="en-US" b="0" dirty="0">
                <a:latin typeface="Source Sans Pro" panose="020B0503030403020204" pitchFamily="34" charset="0"/>
                <a:ea typeface="Source Sans Pro" panose="020B0503030403020204" pitchFamily="34" charset="0"/>
              </a:rPr>
              <a:t>is used to construct examples, and those examples are used to test parsers for raw data. </a:t>
            </a:r>
          </a:p>
        </p:txBody>
      </p:sp>
      <p:sp>
        <p:nvSpPr>
          <p:cNvPr id="519" name="Use headers, colors, and/or backgrounds to separate or group together sections.">
            <a:extLst>
              <a:ext uri="{FF2B5EF4-FFF2-40B4-BE49-F238E27FC236}">
                <a16:creationId xmlns:a16="http://schemas.microsoft.com/office/drawing/2014/main" id="{B355B54F-C4D1-5F53-D8E3-0595585D3E5F}"/>
              </a:ext>
            </a:extLst>
          </p:cNvPr>
          <p:cNvSpPr txBox="1"/>
          <p:nvPr/>
        </p:nvSpPr>
        <p:spPr>
          <a:xfrm>
            <a:off x="4729523" y="7331083"/>
            <a:ext cx="4251862" cy="2764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Light"/>
              </a:rPr>
              <a:t>Codecov will deny a commit based on code test coverage. </a:t>
            </a:r>
          </a:p>
        </p:txBody>
      </p:sp>
      <p:grpSp>
        <p:nvGrpSpPr>
          <p:cNvPr id="529" name="Group 528">
            <a:extLst>
              <a:ext uri="{FF2B5EF4-FFF2-40B4-BE49-F238E27FC236}">
                <a16:creationId xmlns:a16="http://schemas.microsoft.com/office/drawing/2014/main" id="{C5F5F5D8-8D77-7184-3223-DBF2BA599262}"/>
              </a:ext>
            </a:extLst>
          </p:cNvPr>
          <p:cNvGrpSpPr/>
          <p:nvPr/>
        </p:nvGrpSpPr>
        <p:grpSpPr>
          <a:xfrm>
            <a:off x="6194824" y="6474863"/>
            <a:ext cx="192024" cy="192024"/>
            <a:chOff x="7959012" y="7822476"/>
            <a:chExt cx="192024" cy="192024"/>
          </a:xfrm>
        </p:grpSpPr>
        <p:sp>
          <p:nvSpPr>
            <p:cNvPr id="525" name="Oval 524">
              <a:extLst>
                <a:ext uri="{FF2B5EF4-FFF2-40B4-BE49-F238E27FC236}">
                  <a16:creationId xmlns:a16="http://schemas.microsoft.com/office/drawing/2014/main" id="{00748EAD-6AD6-EB53-B743-247BCF46CDB1}"/>
                </a:ext>
              </a:extLst>
            </p:cNvPr>
            <p:cNvSpPr/>
            <p:nvPr/>
          </p:nvSpPr>
          <p:spPr>
            <a:xfrm>
              <a:off x="7959012" y="7822476"/>
              <a:ext cx="192024" cy="192024"/>
            </a:xfrm>
            <a:prstGeom prst="ellipse">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26" name="Cross 525">
              <a:extLst>
                <a:ext uri="{FF2B5EF4-FFF2-40B4-BE49-F238E27FC236}">
                  <a16:creationId xmlns:a16="http://schemas.microsoft.com/office/drawing/2014/main" id="{4E579F03-408B-691F-A766-36D3F100A46F}"/>
                </a:ext>
              </a:extLst>
            </p:cNvPr>
            <p:cNvSpPr/>
            <p:nvPr/>
          </p:nvSpPr>
          <p:spPr>
            <a:xfrm rot="2700000">
              <a:off x="7984905" y="7849609"/>
              <a:ext cx="141979" cy="137931"/>
            </a:xfrm>
            <a:prstGeom prst="plus">
              <a:avLst>
                <a:gd name="adj" fmla="val 41232"/>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grpSp>
        <p:nvGrpSpPr>
          <p:cNvPr id="530" name="Group 529">
            <a:extLst>
              <a:ext uri="{FF2B5EF4-FFF2-40B4-BE49-F238E27FC236}">
                <a16:creationId xmlns:a16="http://schemas.microsoft.com/office/drawing/2014/main" id="{A547FB0F-FA3A-76DB-1A72-20793A33068B}"/>
              </a:ext>
            </a:extLst>
          </p:cNvPr>
          <p:cNvGrpSpPr/>
          <p:nvPr/>
        </p:nvGrpSpPr>
        <p:grpSpPr>
          <a:xfrm>
            <a:off x="10260219" y="8582099"/>
            <a:ext cx="192024" cy="192024"/>
            <a:chOff x="7959012" y="7822476"/>
            <a:chExt cx="192024" cy="192024"/>
          </a:xfrm>
        </p:grpSpPr>
        <p:sp>
          <p:nvSpPr>
            <p:cNvPr id="531" name="Oval 530">
              <a:extLst>
                <a:ext uri="{FF2B5EF4-FFF2-40B4-BE49-F238E27FC236}">
                  <a16:creationId xmlns:a16="http://schemas.microsoft.com/office/drawing/2014/main" id="{902348D1-DC3E-3FC0-BEA5-6FEE42E0D96D}"/>
                </a:ext>
              </a:extLst>
            </p:cNvPr>
            <p:cNvSpPr/>
            <p:nvPr/>
          </p:nvSpPr>
          <p:spPr>
            <a:xfrm>
              <a:off x="7959012" y="7822476"/>
              <a:ext cx="192024" cy="192024"/>
            </a:xfrm>
            <a:prstGeom prst="ellipse">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32" name="Cross 531">
              <a:extLst>
                <a:ext uri="{FF2B5EF4-FFF2-40B4-BE49-F238E27FC236}">
                  <a16:creationId xmlns:a16="http://schemas.microsoft.com/office/drawing/2014/main" id="{83E31A4A-B8AA-E734-E219-1B82E4E88ED7}"/>
                </a:ext>
              </a:extLst>
            </p:cNvPr>
            <p:cNvSpPr/>
            <p:nvPr/>
          </p:nvSpPr>
          <p:spPr>
            <a:xfrm rot="2700000">
              <a:off x="7984905" y="7849609"/>
              <a:ext cx="141979" cy="137931"/>
            </a:xfrm>
            <a:prstGeom prst="plus">
              <a:avLst>
                <a:gd name="adj" fmla="val 41232"/>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sp>
        <p:nvSpPr>
          <p:cNvPr id="533" name="Use headers, colors, and/or backgrounds to separate or group together sections.">
            <a:extLst>
              <a:ext uri="{FF2B5EF4-FFF2-40B4-BE49-F238E27FC236}">
                <a16:creationId xmlns:a16="http://schemas.microsoft.com/office/drawing/2014/main" id="{6F65A1DA-7000-5D02-C50A-72A181152DE4}"/>
              </a:ext>
            </a:extLst>
          </p:cNvPr>
          <p:cNvSpPr txBox="1"/>
          <p:nvPr/>
        </p:nvSpPr>
        <p:spPr>
          <a:xfrm>
            <a:off x="4728275" y="7917596"/>
            <a:ext cx="4251862" cy="442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Light"/>
              </a:rPr>
              <a:t>GitHub Actions will deny a commit if any tests from the tests folder fail. </a:t>
            </a:r>
          </a:p>
        </p:txBody>
      </p:sp>
      <p:sp>
        <p:nvSpPr>
          <p:cNvPr id="534" name="Use headers, colors, and/or backgrounds to separate or group together sections.">
            <a:extLst>
              <a:ext uri="{FF2B5EF4-FFF2-40B4-BE49-F238E27FC236}">
                <a16:creationId xmlns:a16="http://schemas.microsoft.com/office/drawing/2014/main" id="{94FE3C4B-2FCB-D859-DA6C-CCA66CBE4A47}"/>
              </a:ext>
            </a:extLst>
          </p:cNvPr>
          <p:cNvSpPr txBox="1"/>
          <p:nvPr/>
        </p:nvSpPr>
        <p:spPr>
          <a:xfrm>
            <a:off x="4715896" y="8553932"/>
            <a:ext cx="4251862" cy="6088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solidFill>
                  <a:srgbClr val="000000"/>
                </a:solidFill>
                <a:latin typeface="Source Sans Pro" panose="020B0503030403020204" pitchFamily="34" charset="0"/>
                <a:ea typeface="Source Sans Pro" panose="020B0503030403020204" pitchFamily="34" charset="0"/>
                <a:sym typeface="Source Sans Pro Light"/>
              </a:rPr>
              <a:t>The Quality Reviewer is a developer role that runs the committed code on their own machine, ensuring that users can replicate the capability or analysis. </a:t>
            </a:r>
          </a:p>
        </p:txBody>
      </p:sp>
      <p:sp>
        <p:nvSpPr>
          <p:cNvPr id="536" name="Use headers, colors, and/or backgrounds to separate or group together sections.">
            <a:extLst>
              <a:ext uri="{FF2B5EF4-FFF2-40B4-BE49-F238E27FC236}">
                <a16:creationId xmlns:a16="http://schemas.microsoft.com/office/drawing/2014/main" id="{A842A326-37E9-648B-2439-60782BE124E9}"/>
              </a:ext>
            </a:extLst>
          </p:cNvPr>
          <p:cNvSpPr txBox="1"/>
          <p:nvPr/>
        </p:nvSpPr>
        <p:spPr>
          <a:xfrm>
            <a:off x="4722403" y="9422582"/>
            <a:ext cx="4251862" cy="6088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Light"/>
              </a:rPr>
              <a:t>The Code Architect is a user role that assesses if the committed code matches the conventions of other similar files in </a:t>
            </a:r>
            <a:r>
              <a:rPr lang="en-US" b="0" dirty="0" err="1">
                <a:solidFill>
                  <a:srgbClr val="000000"/>
                </a:solidFill>
                <a:latin typeface="Source Sans Pro" panose="020B0503030403020204" pitchFamily="34" charset="0"/>
                <a:ea typeface="Source Sans Pro" panose="020B0503030403020204" pitchFamily="34" charset="0"/>
                <a:sym typeface="Source Sans Pro Light"/>
              </a:rPr>
              <a:t>Kaiaulu</a:t>
            </a:r>
            <a:r>
              <a:rPr lang="en-US" b="0" dirty="0">
                <a:solidFill>
                  <a:srgbClr val="000000"/>
                </a:solidFill>
                <a:latin typeface="Source Sans Pro" panose="020B0503030403020204" pitchFamily="34" charset="0"/>
                <a:ea typeface="Source Sans Pro" panose="020B0503030403020204" pitchFamily="34" charset="0"/>
                <a:sym typeface="Source Sans Pro Light"/>
              </a:rPr>
              <a:t>, such as function signatures, code location, and nomenclature.</a:t>
            </a:r>
          </a:p>
        </p:txBody>
      </p:sp>
      <p:sp>
        <p:nvSpPr>
          <p:cNvPr id="10" name="Line">
            <a:extLst>
              <a:ext uri="{FF2B5EF4-FFF2-40B4-BE49-F238E27FC236}">
                <a16:creationId xmlns:a16="http://schemas.microsoft.com/office/drawing/2014/main" id="{B31E86EF-896C-B924-B27F-F497F1910B1A}"/>
              </a:ext>
            </a:extLst>
          </p:cNvPr>
          <p:cNvSpPr/>
          <p:nvPr/>
        </p:nvSpPr>
        <p:spPr>
          <a:xfrm flipV="1">
            <a:off x="768686" y="3465366"/>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Tree>
    <p:extLst>
      <p:ext uri="{BB962C8B-B14F-4D97-AF65-F5344CB8AC3E}">
        <p14:creationId xmlns:p14="http://schemas.microsoft.com/office/powerpoint/2010/main" val="2591188086"/>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36D34-9A7C-8472-AA9B-43DE2AF95B55}"/>
            </a:ext>
          </a:extLst>
        </p:cNvPr>
        <p:cNvGrpSpPr/>
        <p:nvPr/>
      </p:nvGrpSpPr>
      <p:grpSpPr>
        <a:xfrm>
          <a:off x="0" y="0"/>
          <a:ext cx="0" cy="0"/>
          <a:chOff x="0" y="0"/>
          <a:chExt cx="0" cy="0"/>
        </a:xfrm>
      </p:grpSpPr>
      <p:pic>
        <p:nvPicPr>
          <p:cNvPr id="292" name="Image" descr="Image">
            <a:extLst>
              <a:ext uri="{FF2B5EF4-FFF2-40B4-BE49-F238E27FC236}">
                <a16:creationId xmlns:a16="http://schemas.microsoft.com/office/drawing/2014/main" id="{FAC8F07A-87F9-9BEB-393A-0A458D7F9C25}"/>
              </a:ext>
            </a:extLst>
          </p:cNvPr>
          <p:cNvPicPr>
            <a:picLocks noChangeAspect="1"/>
          </p:cNvPicPr>
          <p:nvPr/>
        </p:nvPicPr>
        <p:blipFill>
          <a:blip r:embed="rId3"/>
          <a:stretch>
            <a:fillRect/>
          </a:stretch>
        </p:blipFill>
        <p:spPr>
          <a:xfrm>
            <a:off x="8381839" y="-668860"/>
            <a:ext cx="5598432" cy="2990088"/>
          </a:xfrm>
          <a:prstGeom prst="rect">
            <a:avLst/>
          </a:prstGeom>
          <a:ln w="12700">
            <a:miter lim="400000"/>
          </a:ln>
        </p:spPr>
      </p:pic>
      <p:sp>
        <p:nvSpPr>
          <p:cNvPr id="312" name="Line">
            <a:extLst>
              <a:ext uri="{FF2B5EF4-FFF2-40B4-BE49-F238E27FC236}">
                <a16:creationId xmlns:a16="http://schemas.microsoft.com/office/drawing/2014/main" id="{D194F033-B843-9990-F984-3F93F2B009D4}"/>
              </a:ext>
            </a:extLst>
          </p:cNvPr>
          <p:cNvSpPr/>
          <p:nvPr/>
        </p:nvSpPr>
        <p:spPr>
          <a:xfrm flipV="1">
            <a:off x="213255" y="10296246"/>
            <a:ext cx="13462982" cy="39499"/>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3" name="YOUR LOGO…">
            <a:extLst>
              <a:ext uri="{FF2B5EF4-FFF2-40B4-BE49-F238E27FC236}">
                <a16:creationId xmlns:a16="http://schemas.microsoft.com/office/drawing/2014/main" id="{5261692A-FA45-579E-E145-0E83B9FFD03A}"/>
              </a:ext>
            </a:extLst>
          </p:cNvPr>
          <p:cNvSpPr/>
          <p:nvPr/>
        </p:nvSpPr>
        <p:spPr>
          <a:xfrm>
            <a:off x="170343" y="10207710"/>
            <a:ext cx="1757945" cy="528270"/>
          </a:xfrm>
          <a:prstGeom prst="roundRect">
            <a:avLst>
              <a:gd name="adj" fmla="val 36061"/>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p>
            <a:pPr algn="ctr">
              <a:lnSpc>
                <a:spcPct val="90000"/>
              </a:lnSpc>
              <a:spcBef>
                <a:spcPts val="0"/>
              </a:spcBef>
              <a:defRPr>
                <a:solidFill>
                  <a:srgbClr val="407AAA"/>
                </a:solidFill>
                <a:latin typeface="Helvetica Neue"/>
                <a:ea typeface="Helvetica Neue"/>
                <a:cs typeface="Helvetica Neue"/>
                <a:sym typeface="Helvetica Neue"/>
              </a:defRPr>
            </a:pPr>
            <a:r>
              <a:rPr lang="en-US" sz="2400" dirty="0"/>
              <a:t>Kaiāulu</a:t>
            </a:r>
            <a:endParaRPr sz="2400" dirty="0"/>
          </a:p>
        </p:txBody>
      </p:sp>
      <p:sp>
        <p:nvSpPr>
          <p:cNvPr id="326" name="Manipulate Variables">
            <a:extLst>
              <a:ext uri="{FF2B5EF4-FFF2-40B4-BE49-F238E27FC236}">
                <a16:creationId xmlns:a16="http://schemas.microsoft.com/office/drawing/2014/main" id="{B96B6CBE-D5FC-B3A3-C215-4598B021549F}"/>
              </a:ext>
            </a:extLst>
          </p:cNvPr>
          <p:cNvSpPr txBox="1"/>
          <p:nvPr/>
        </p:nvSpPr>
        <p:spPr>
          <a:xfrm>
            <a:off x="4556304" y="3855333"/>
            <a:ext cx="3048912"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Code Review Workflow</a:t>
            </a:r>
          </a:p>
        </p:txBody>
      </p:sp>
      <p:sp>
        <p:nvSpPr>
          <p:cNvPr id="334" name="Three Column Layout: : CHEAT SHEET">
            <a:extLst>
              <a:ext uri="{FF2B5EF4-FFF2-40B4-BE49-F238E27FC236}">
                <a16:creationId xmlns:a16="http://schemas.microsoft.com/office/drawing/2014/main" id="{9415AD5B-7756-53BB-FC9D-08EE61E01E02}"/>
              </a:ext>
            </a:extLst>
          </p:cNvPr>
          <p:cNvSpPr txBox="1">
            <a:spLocks noGrp="1"/>
          </p:cNvSpPr>
          <p:nvPr>
            <p:ph type="title"/>
          </p:nvPr>
        </p:nvSpPr>
        <p:spPr>
          <a:xfrm>
            <a:off x="275721" y="361177"/>
            <a:ext cx="10898129" cy="803346"/>
          </a:xfrm>
          <a:prstGeom prst="rect">
            <a:avLst/>
          </a:prstGeom>
        </p:spPr>
        <p:txBody>
          <a:bodyPr lIns="0" tIns="0" rIns="0" bIns="0" anchor="t"/>
          <a:lstStyle/>
          <a:p>
            <a:r>
              <a:rPr lang="en-US" dirty="0"/>
              <a:t>Unit Tests </a:t>
            </a:r>
            <a:r>
              <a:rPr dirty="0"/>
              <a:t>: : </a:t>
            </a:r>
            <a:r>
              <a:rPr sz="3300" dirty="0">
                <a:latin typeface="Source Sans Pro Semibold"/>
                <a:ea typeface="Source Sans Pro Semibold"/>
                <a:cs typeface="Source Sans Pro Semibold"/>
                <a:sym typeface="Source Sans Pro Semibold"/>
              </a:rPr>
              <a:t>CHEAT SHEET</a:t>
            </a:r>
            <a:r>
              <a:rPr dirty="0"/>
              <a:t> </a:t>
            </a:r>
          </a:p>
        </p:txBody>
      </p:sp>
      <p:sp>
        <p:nvSpPr>
          <p:cNvPr id="341" name="Use headers, colors, and/or backgrounds to separate or group together sections.">
            <a:extLst>
              <a:ext uri="{FF2B5EF4-FFF2-40B4-BE49-F238E27FC236}">
                <a16:creationId xmlns:a16="http://schemas.microsoft.com/office/drawing/2014/main" id="{B3DF4511-174E-7E10-51CB-FD8B35BE940B}"/>
              </a:ext>
            </a:extLst>
          </p:cNvPr>
          <p:cNvSpPr txBox="1"/>
          <p:nvPr/>
        </p:nvSpPr>
        <p:spPr>
          <a:xfrm>
            <a:off x="209328" y="1835513"/>
            <a:ext cx="3949153" cy="13505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Kaiaulu has multiple measures in place to ensure that its codebase remains maintainable. </a:t>
            </a:r>
          </a:p>
          <a:p>
            <a:pPr>
              <a:lnSpc>
                <a:spcPct val="90000"/>
              </a:lnSpc>
              <a:spcBef>
                <a:spcPts val="300"/>
              </a:spcBef>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Try-catch </a:t>
            </a:r>
            <a:r>
              <a:rPr lang="en-US" dirty="0">
                <a:latin typeface="Source Sans Pro" panose="020B0503030403020204" pitchFamily="34" charset="0"/>
                <a:ea typeface="Source Sans Pro" panose="020B0503030403020204" pitchFamily="34" charset="0"/>
              </a:rPr>
              <a:t>statements</a:t>
            </a:r>
            <a:r>
              <a:rPr lang="en-US" b="0" dirty="0">
                <a:latin typeface="Source Sans Pro" panose="020B0503030403020204" pitchFamily="34" charset="0"/>
                <a:ea typeface="Source Sans Pro" panose="020B0503030403020204" pitchFamily="34" charset="0"/>
              </a:rPr>
              <a:t> and tests let functions fail gracefully and ensure functions work as intended. </a:t>
            </a:r>
          </a:p>
          <a:p>
            <a:pPr>
              <a:lnSpc>
                <a:spcPct val="90000"/>
              </a:lnSpc>
              <a:spcBef>
                <a:spcPts val="300"/>
              </a:spcBef>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Codecov and GitHub Actions run tests and other checks for every commit in a Pull Request, checking whether any tests fail, docs are missing, or other conditions are not met.</a:t>
            </a:r>
            <a:endParaRPr lang="en-US" b="0" dirty="0">
              <a:solidFill>
                <a:srgbClr val="000000"/>
              </a:solidFill>
              <a:latin typeface="Source Sans Pro" panose="020B0503030403020204" pitchFamily="34" charset="0"/>
              <a:ea typeface="Source Sans Pro" panose="020B0503030403020204" pitchFamily="34" charset="0"/>
            </a:endParaRPr>
          </a:p>
        </p:txBody>
      </p:sp>
      <p:sp>
        <p:nvSpPr>
          <p:cNvPr id="382" name="Logistics">
            <a:extLst>
              <a:ext uri="{FF2B5EF4-FFF2-40B4-BE49-F238E27FC236}">
                <a16:creationId xmlns:a16="http://schemas.microsoft.com/office/drawing/2014/main" id="{08B71A1A-23F0-016C-EA47-383EA12BFFC5}"/>
              </a:ext>
            </a:extLst>
          </p:cNvPr>
          <p:cNvSpPr txBox="1"/>
          <p:nvPr/>
        </p:nvSpPr>
        <p:spPr>
          <a:xfrm>
            <a:off x="214630" y="5722887"/>
            <a:ext cx="215283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Test Framework</a:t>
            </a:r>
          </a:p>
        </p:txBody>
      </p:sp>
      <p:sp>
        <p:nvSpPr>
          <p:cNvPr id="384" name="Layout Suggestions">
            <a:extLst>
              <a:ext uri="{FF2B5EF4-FFF2-40B4-BE49-F238E27FC236}">
                <a16:creationId xmlns:a16="http://schemas.microsoft.com/office/drawing/2014/main" id="{AF51BBE2-F0CB-BD1F-B526-5E5B8819E752}"/>
              </a:ext>
            </a:extLst>
          </p:cNvPr>
          <p:cNvSpPr txBox="1"/>
          <p:nvPr/>
        </p:nvSpPr>
        <p:spPr>
          <a:xfrm>
            <a:off x="213255" y="1519045"/>
            <a:ext cx="2621281"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lnSpc>
                <a:spcPct val="80000"/>
              </a:lnSpc>
              <a:spcBef>
                <a:spcPts val="0"/>
              </a:spcBef>
              <a:defRPr sz="2500" b="0">
                <a:solidFill>
                  <a:srgbClr val="628DB5"/>
                </a:solidFill>
              </a:defRPr>
            </a:pPr>
            <a:r>
              <a:rPr lang="en-US" dirty="0"/>
              <a:t>About</a:t>
            </a:r>
            <a:endParaRPr dirty="0"/>
          </a:p>
        </p:txBody>
      </p:sp>
      <p:pic>
        <p:nvPicPr>
          <p:cNvPr id="8" name="Picture 7" descr="A picture containing text&#10;&#10;Description automatically generated">
            <a:extLst>
              <a:ext uri="{FF2B5EF4-FFF2-40B4-BE49-F238E27FC236}">
                <a16:creationId xmlns:a16="http://schemas.microsoft.com/office/drawing/2014/main" id="{745F2EA5-C374-ADEB-6EEA-9258B079C21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214310" y="122459"/>
            <a:ext cx="1443262" cy="1676046"/>
          </a:xfrm>
          <a:prstGeom prst="rect">
            <a:avLst/>
          </a:prstGeom>
        </p:spPr>
      </p:pic>
      <p:sp>
        <p:nvSpPr>
          <p:cNvPr id="28" name="TextBox 27">
            <a:extLst>
              <a:ext uri="{FF2B5EF4-FFF2-40B4-BE49-F238E27FC236}">
                <a16:creationId xmlns:a16="http://schemas.microsoft.com/office/drawing/2014/main" id="{0D1B5839-42AA-62E3-D978-6F134335404C}"/>
              </a:ext>
            </a:extLst>
          </p:cNvPr>
          <p:cNvSpPr txBox="1"/>
          <p:nvPr/>
        </p:nvSpPr>
        <p:spPr>
          <a:xfrm>
            <a:off x="6080760" y="10327008"/>
            <a:ext cx="7747698" cy="5000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1000" b="0" dirty="0">
                <a:solidFill>
                  <a:schemeClr val="tx1"/>
                </a:solidFill>
                <a:hlinkClick r:id="rId5">
                  <a:extLst>
                    <a:ext uri="{A12FA001-AC4F-418D-AE19-62706E023703}">
                      <ahyp:hlinkClr xmlns:ahyp="http://schemas.microsoft.com/office/drawing/2018/hyperlinkcolor" val="tx"/>
                    </a:ext>
                  </a:extLst>
                </a:hlinkClick>
              </a:rPr>
              <a:t>CC BY SA</a:t>
            </a:r>
            <a:r>
              <a:rPr lang="en-US" sz="1000" b="0" dirty="0">
                <a:solidFill>
                  <a:schemeClr val="tx1"/>
                </a:solidFill>
              </a:rPr>
              <a:t> Colby Fuke</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 Carlos Paradis • Kai</a:t>
            </a:r>
            <a:r>
              <a:rPr kumimoji="0" lang="haw-US" sz="1000" b="0" i="0" u="none" strike="noStrike" cap="none" spc="0" normalizeH="0" baseline="0" dirty="0">
                <a:ln>
                  <a:noFill/>
                </a:ln>
                <a:solidFill>
                  <a:schemeClr val="tx1"/>
                </a:solidFill>
                <a:effectLst/>
                <a:uFillTx/>
                <a:latin typeface="Source Sans Pro"/>
                <a:ea typeface="Source Sans Pro"/>
                <a:cs typeface="Source Sans Pro"/>
                <a:sym typeface="Source Sans Pro"/>
              </a:rPr>
              <a:t>ā</a:t>
            </a:r>
            <a:r>
              <a:rPr kumimoji="0" lang="en-US" sz="1000" b="0" i="0" u="none" strike="noStrike" cap="none" spc="0" normalizeH="0" baseline="0" dirty="0">
                <a:ln>
                  <a:noFill/>
                </a:ln>
                <a:solidFill>
                  <a:schemeClr val="tx1"/>
                </a:solidFill>
                <a:effectLst/>
                <a:uFillTx/>
                <a:latin typeface="Source Sans Pro"/>
                <a:ea typeface="Source Sans Pro"/>
                <a:cs typeface="Source Sans Pro"/>
                <a:sym typeface="Source Sans Pro"/>
              </a:rPr>
              <a:t>ulu package version 0.0.0.9700 (in development) •  Updated: 2026-04</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61" name="Group 60">
            <a:extLst>
              <a:ext uri="{FF2B5EF4-FFF2-40B4-BE49-F238E27FC236}">
                <a16:creationId xmlns:a16="http://schemas.microsoft.com/office/drawing/2014/main" id="{2229042A-0041-5A0B-373A-EA5F56414A1D}"/>
              </a:ext>
            </a:extLst>
          </p:cNvPr>
          <p:cNvGrpSpPr/>
          <p:nvPr/>
        </p:nvGrpSpPr>
        <p:grpSpPr>
          <a:xfrm>
            <a:off x="9554259" y="3866817"/>
            <a:ext cx="3848844" cy="6172184"/>
            <a:chOff x="870417" y="3616023"/>
            <a:chExt cx="3848844" cy="6172184"/>
          </a:xfrm>
        </p:grpSpPr>
        <p:sp>
          <p:nvSpPr>
            <p:cNvPr id="449" name="Rectangle 448">
              <a:extLst>
                <a:ext uri="{FF2B5EF4-FFF2-40B4-BE49-F238E27FC236}">
                  <a16:creationId xmlns:a16="http://schemas.microsoft.com/office/drawing/2014/main" id="{D5732C22-8A2D-971C-20CC-94B764EB4146}"/>
                </a:ext>
              </a:extLst>
            </p:cNvPr>
            <p:cNvSpPr/>
            <p:nvPr/>
          </p:nvSpPr>
          <p:spPr>
            <a:xfrm>
              <a:off x="870417" y="3627271"/>
              <a:ext cx="3848844" cy="6160936"/>
            </a:xfrm>
            <a:prstGeom prst="rect">
              <a:avLst/>
            </a:prstGeom>
            <a:ln w="12700"/>
          </p:spPr>
          <p:style>
            <a:lnRef idx="2">
              <a:schemeClr val="dk1"/>
            </a:lnRef>
            <a:fillRef idx="1">
              <a:schemeClr val="lt1"/>
            </a:fillRef>
            <a:effectRef idx="0">
              <a:schemeClr val="dk1"/>
            </a:effectRef>
            <a:fontRef idx="minor">
              <a:schemeClr val="dk1"/>
            </a:fontRef>
          </p:style>
          <p:txBody>
            <a:bodyPr rot="0" spcFirstLastPara="1" vert="horz" wrap="square" lIns="54570" tIns="54570" rIns="54570" bIns="5457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chemeClr val="dk1"/>
                  </a:solidFill>
                  <a:effectLst/>
                  <a:uFillTx/>
                  <a:latin typeface="+mn-lt"/>
                  <a:ea typeface="+mn-ea"/>
                  <a:cs typeface="+mn-cs"/>
                  <a:sym typeface="Source Sans Pro"/>
                </a:defRPr>
              </a:lvl9p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pic>
          <p:nvPicPr>
            <p:cNvPr id="450" name="Picture 449" descr="Account ">
              <a:extLst>
                <a:ext uri="{FF2B5EF4-FFF2-40B4-BE49-F238E27FC236}">
                  <a16:creationId xmlns:a16="http://schemas.microsoft.com/office/drawing/2014/main" id="{0B2FAB31-0C8B-0F07-700A-75FA7AA78AB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91912" y="4195042"/>
              <a:ext cx="306136" cy="306136"/>
            </a:xfrm>
            <a:prstGeom prst="rect">
              <a:avLst/>
            </a:prstGeom>
            <a:noFill/>
            <a:extLst>
              <a:ext uri="{909E8E84-426E-40DD-AFC4-6F175D3DCCD1}">
                <a14:hiddenFill xmlns:a14="http://schemas.microsoft.com/office/drawing/2010/main">
                  <a:solidFill>
                    <a:srgbClr val="FFFFFF"/>
                  </a:solidFill>
                </a14:hiddenFill>
              </a:ext>
            </a:extLst>
          </p:spPr>
        </p:pic>
        <p:sp>
          <p:nvSpPr>
            <p:cNvPr id="451" name="TextBox 1284">
              <a:extLst>
                <a:ext uri="{FF2B5EF4-FFF2-40B4-BE49-F238E27FC236}">
                  <a16:creationId xmlns:a16="http://schemas.microsoft.com/office/drawing/2014/main" id="{B132B070-1516-33A5-236D-B18426E2AD53}"/>
                </a:ext>
              </a:extLst>
            </p:cNvPr>
            <p:cNvSpPr txBox="1"/>
            <p:nvPr/>
          </p:nvSpPr>
          <p:spPr>
            <a:xfrm>
              <a:off x="991912" y="3616023"/>
              <a:ext cx="3720890" cy="261610"/>
            </a:xfrm>
            <a:prstGeom prst="rect">
              <a:avLst/>
            </a:prstGeom>
            <a:noFill/>
          </p:spPr>
          <p:txBody>
            <a:bodyPr wrap="none" rtlCol="0">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r>
                <a:rPr lang="en-US" sz="800" dirty="0"/>
                <a:t>Code          Issues          </a:t>
              </a:r>
              <a:r>
                <a:rPr lang="en-US" sz="1100" b="1" dirty="0"/>
                <a:t>Pull Requests          </a:t>
              </a:r>
              <a:r>
                <a:rPr lang="en-US" sz="800" dirty="0"/>
                <a:t>Actions          Wiki          Security  </a:t>
              </a:r>
            </a:p>
          </p:txBody>
        </p:sp>
        <p:cxnSp>
          <p:nvCxnSpPr>
            <p:cNvPr id="452" name="Straight Connector 451">
              <a:extLst>
                <a:ext uri="{FF2B5EF4-FFF2-40B4-BE49-F238E27FC236}">
                  <a16:creationId xmlns:a16="http://schemas.microsoft.com/office/drawing/2014/main" id="{895A01D3-BF74-B166-E326-8202EC938610}"/>
                </a:ext>
              </a:extLst>
            </p:cNvPr>
            <p:cNvCxnSpPr>
              <a:cxnSpLocks/>
            </p:cNvCxnSpPr>
            <p:nvPr/>
          </p:nvCxnSpPr>
          <p:spPr>
            <a:xfrm>
              <a:off x="870417" y="3877633"/>
              <a:ext cx="3842385" cy="0"/>
            </a:xfrm>
            <a:prstGeom prst="line">
              <a:avLst/>
            </a:prstGeom>
            <a:noFill/>
            <a:ln w="127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453" name="Use headers, colors, and/or backgrounds to separate or group together sections.">
              <a:extLst>
                <a:ext uri="{FF2B5EF4-FFF2-40B4-BE49-F238E27FC236}">
                  <a16:creationId xmlns:a16="http://schemas.microsoft.com/office/drawing/2014/main" id="{CAC75263-85F7-6285-1423-882D19A956A2}"/>
                </a:ext>
              </a:extLst>
            </p:cNvPr>
            <p:cNvSpPr txBox="1"/>
            <p:nvPr/>
          </p:nvSpPr>
          <p:spPr>
            <a:xfrm>
              <a:off x="1455985" y="3883746"/>
              <a:ext cx="1356960" cy="25624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lc="http://schemas.openxmlformats.org/drawingml/2006/lockedCanvas" val="1"/>
              </a:ext>
            </a:extLst>
          </p:spPr>
          <p:txBody>
            <a:bodyPr wrap="square" lIns="54570" tIns="54570" rIns="54570" bIns="5457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a:lstStyle>
            <a:p>
              <a:pPr>
                <a:lnSpc>
                  <a:spcPct val="90000"/>
                </a:lnSpc>
                <a:buSzPts val="3700"/>
              </a:pPr>
              <a:r>
                <a:rPr lang="en-US" b="0" dirty="0">
                  <a:latin typeface="Source Sans Pro" panose="020B0503030403020204" pitchFamily="34" charset="0"/>
                  <a:ea typeface="Source Sans Pro" panose="020B0503030403020204" pitchFamily="34" charset="0"/>
                  <a:cs typeface="Arial" panose="020B0604020202020204" pitchFamily="34" charset="0"/>
                </a:rPr>
                <a:t>Pull Request #330</a:t>
              </a: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sym typeface="Arial"/>
                <a:hlinkClick r:id="rId7"/>
              </a:endParaRPr>
            </a:p>
            <a:p>
              <a:pPr lvl="0">
                <a:lnSpc>
                  <a:spcPct val="90000"/>
                </a:lnSpc>
                <a:buSzPts val="3700"/>
              </a:pPr>
              <a:endParaRPr lang="en-US" b="0" u="sng" dirty="0">
                <a:solidFill>
                  <a:schemeClr val="hlink"/>
                </a:solidFill>
                <a:latin typeface="Source Sans Pro" panose="020B0503030403020204" pitchFamily="34" charset="0"/>
                <a:ea typeface="Source Sans Pro" panose="020B0503030403020204" pitchFamily="34" charset="0"/>
                <a:cs typeface="Arial" panose="020B0604020202020204" pitchFamily="34" charset="0"/>
                <a:hlinkClick r:id="rId7"/>
              </a:endParaRPr>
            </a:p>
          </p:txBody>
        </p:sp>
        <p:pic>
          <p:nvPicPr>
            <p:cNvPr id="454" name="Google Shape;214;p15">
              <a:extLst>
                <a:ext uri="{FF2B5EF4-FFF2-40B4-BE49-F238E27FC236}">
                  <a16:creationId xmlns:a16="http://schemas.microsoft.com/office/drawing/2014/main" id="{B3347952-F13C-29B8-71DB-FD6944C8FB78}"/>
                </a:ext>
              </a:extLst>
            </p:cNvPr>
            <p:cNvPicPr preferRelativeResize="0"/>
            <p:nvPr/>
          </p:nvPicPr>
          <p:blipFill>
            <a:blip r:embed="rId8">
              <a:alphaModFix/>
            </a:blip>
            <a:stretch>
              <a:fillRect/>
            </a:stretch>
          </p:blipFill>
          <p:spPr>
            <a:xfrm>
              <a:off x="914022" y="4784929"/>
              <a:ext cx="476766" cy="456900"/>
            </a:xfrm>
            <a:prstGeom prst="rect">
              <a:avLst/>
            </a:prstGeom>
            <a:noFill/>
            <a:ln>
              <a:noFill/>
            </a:ln>
          </p:spPr>
        </p:pic>
        <p:sp>
          <p:nvSpPr>
            <p:cNvPr id="455" name="Google Shape;216;p15">
              <a:extLst>
                <a:ext uri="{FF2B5EF4-FFF2-40B4-BE49-F238E27FC236}">
                  <a16:creationId xmlns:a16="http://schemas.microsoft.com/office/drawing/2014/main" id="{8D379D49-5C66-FB5A-E843-8F557F4BDF22}"/>
                </a:ext>
              </a:extLst>
            </p:cNvPr>
            <p:cNvSpPr/>
            <p:nvPr/>
          </p:nvSpPr>
          <p:spPr>
            <a:xfrm>
              <a:off x="1469668" y="4973530"/>
              <a:ext cx="3025431" cy="652091"/>
            </a:xfrm>
            <a:prstGeom prst="rect">
              <a:avLst/>
            </a:prstGeom>
            <a:solidFill>
              <a:schemeClr val="lt1"/>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sp>
          <p:nvSpPr>
            <p:cNvPr id="456" name="Google Shape;215;p15">
              <a:extLst>
                <a:ext uri="{FF2B5EF4-FFF2-40B4-BE49-F238E27FC236}">
                  <a16:creationId xmlns:a16="http://schemas.microsoft.com/office/drawing/2014/main" id="{C5AE2B27-9224-FA12-47B8-7E6F669303F0}"/>
                </a:ext>
              </a:extLst>
            </p:cNvPr>
            <p:cNvSpPr/>
            <p:nvPr/>
          </p:nvSpPr>
          <p:spPr>
            <a:xfrm>
              <a:off x="1467748" y="4759190"/>
              <a:ext cx="3025431" cy="232375"/>
            </a:xfrm>
            <a:prstGeom prst="rect">
              <a:avLst/>
            </a:prstGeom>
            <a:solidFill>
              <a:schemeClr val="lt2"/>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839" dirty="0"/>
            </a:p>
            <a:p>
              <a:pPr>
                <a:spcBef>
                  <a:spcPts val="0"/>
                </a:spcBef>
              </a:pPr>
              <a:endParaRPr sz="839" dirty="0"/>
            </a:p>
            <a:p>
              <a:pPr>
                <a:spcBef>
                  <a:spcPts val="0"/>
                </a:spcBef>
              </a:pPr>
              <a:r>
                <a:rPr lang="en" sz="839" dirty="0">
                  <a:solidFill>
                    <a:schemeClr val="tx1">
                      <a:lumMod val="50000"/>
                    </a:schemeClr>
                  </a:solidFill>
                </a:rPr>
                <a:t>Codecov </a:t>
              </a:r>
              <a:r>
                <a:rPr lang="en" sz="839" b="0" dirty="0">
                  <a:solidFill>
                    <a:schemeClr val="tx1">
                      <a:lumMod val="50000"/>
                    </a:schemeClr>
                  </a:solidFill>
                </a:rPr>
                <a:t>commented on Mar 27</a:t>
              </a:r>
              <a:endParaRPr sz="839" b="0" dirty="0">
                <a:solidFill>
                  <a:schemeClr val="tx1">
                    <a:lumMod val="50000"/>
                  </a:schemeClr>
                </a:solidFill>
              </a:endParaRPr>
            </a:p>
            <a:p>
              <a:pPr>
                <a:spcBef>
                  <a:spcPts val="0"/>
                </a:spcBef>
              </a:pPr>
              <a:endParaRPr sz="1956" dirty="0"/>
            </a:p>
          </p:txBody>
        </p:sp>
        <p:sp>
          <p:nvSpPr>
            <p:cNvPr id="457" name="Google Shape;217;p15">
              <a:extLst>
                <a:ext uri="{FF2B5EF4-FFF2-40B4-BE49-F238E27FC236}">
                  <a16:creationId xmlns:a16="http://schemas.microsoft.com/office/drawing/2014/main" id="{E57D9244-3029-ED72-3D57-1457F1AD2FAF}"/>
                </a:ext>
              </a:extLst>
            </p:cNvPr>
            <p:cNvSpPr txBox="1"/>
            <p:nvPr/>
          </p:nvSpPr>
          <p:spPr>
            <a:xfrm>
              <a:off x="1396836" y="4941265"/>
              <a:ext cx="2116583" cy="554125"/>
            </a:xfrm>
            <a:prstGeom prst="rect">
              <a:avLst/>
            </a:prstGeom>
            <a:noFill/>
            <a:ln>
              <a:noFill/>
            </a:ln>
          </p:spPr>
          <p:txBody>
            <a:bodyPr spcFirstLastPara="1" wrap="square" lIns="127722" tIns="127722" rIns="127722" bIns="127722" anchor="t" anchorCtr="0">
              <a:noAutofit/>
            </a:bodyPr>
            <a:lstStyle/>
            <a:p>
              <a:pPr>
                <a:spcBef>
                  <a:spcPts val="0"/>
                </a:spcBef>
              </a:pPr>
              <a:r>
                <a:rPr lang="en" sz="839" dirty="0">
                  <a:solidFill>
                    <a:srgbClr val="1F2328"/>
                  </a:solidFill>
                  <a:highlight>
                    <a:srgbClr val="FFFFFF"/>
                  </a:highlight>
                </a:rPr>
                <a:t>❌ Patch coverage is…</a:t>
              </a:r>
              <a:endParaRPr sz="839" dirty="0">
                <a:solidFill>
                  <a:srgbClr val="1F2328"/>
                </a:solidFill>
                <a:highlight>
                  <a:srgbClr val="FFFFFF"/>
                </a:highlight>
              </a:endParaRPr>
            </a:p>
            <a:p>
              <a:pPr>
                <a:spcBef>
                  <a:spcPts val="0"/>
                </a:spcBef>
              </a:pPr>
              <a:r>
                <a:rPr lang="en" sz="839" dirty="0">
                  <a:solidFill>
                    <a:srgbClr val="1F2328"/>
                  </a:solidFill>
                  <a:highlight>
                    <a:srgbClr val="FFFFFF"/>
                  </a:highlight>
                </a:rPr>
                <a:t>✅ Project coverage is…</a:t>
              </a:r>
              <a:endParaRPr sz="839" dirty="0">
                <a:solidFill>
                  <a:srgbClr val="1F2328"/>
                </a:solidFill>
                <a:highlight>
                  <a:srgbClr val="FFFFFF"/>
                </a:highlight>
              </a:endParaRPr>
            </a:p>
            <a:p>
              <a:pPr>
                <a:spcBef>
                  <a:spcPts val="0"/>
                </a:spcBef>
              </a:pPr>
              <a:r>
                <a:rPr lang="en" sz="839" dirty="0">
                  <a:solidFill>
                    <a:srgbClr val="1F2328"/>
                  </a:solidFill>
                  <a:highlight>
                    <a:srgbClr val="FFFFFF"/>
                  </a:highlight>
                </a:rPr>
                <a:t>⚠️ Report is…</a:t>
              </a:r>
              <a:endParaRPr sz="839" dirty="0">
                <a:solidFill>
                  <a:srgbClr val="1F2328"/>
                </a:solidFill>
                <a:highlight>
                  <a:srgbClr val="FFFFFF"/>
                </a:highlight>
              </a:endParaRPr>
            </a:p>
          </p:txBody>
        </p:sp>
        <p:pic>
          <p:nvPicPr>
            <p:cNvPr id="458" name="Google Shape;227;p15">
              <a:extLst>
                <a:ext uri="{FF2B5EF4-FFF2-40B4-BE49-F238E27FC236}">
                  <a16:creationId xmlns:a16="http://schemas.microsoft.com/office/drawing/2014/main" id="{ED824919-4D78-2D10-1FC5-52939B379CFB}"/>
                </a:ext>
              </a:extLst>
            </p:cNvPr>
            <p:cNvPicPr preferRelativeResize="0"/>
            <p:nvPr/>
          </p:nvPicPr>
          <p:blipFill>
            <a:blip r:embed="rId9">
              <a:alphaModFix/>
            </a:blip>
            <a:srcRect l="9422" t="6057" r="10362" b="6496"/>
            <a:stretch>
              <a:fillRect/>
            </a:stretch>
          </p:blipFill>
          <p:spPr>
            <a:xfrm>
              <a:off x="991912" y="5826679"/>
              <a:ext cx="382451" cy="379585"/>
            </a:xfrm>
            <a:prstGeom prst="rect">
              <a:avLst/>
            </a:prstGeom>
            <a:noFill/>
            <a:ln>
              <a:noFill/>
            </a:ln>
          </p:spPr>
        </p:pic>
        <p:pic>
          <p:nvPicPr>
            <p:cNvPr id="459" name="Google Shape;206;p15">
              <a:extLst>
                <a:ext uri="{FF2B5EF4-FFF2-40B4-BE49-F238E27FC236}">
                  <a16:creationId xmlns:a16="http://schemas.microsoft.com/office/drawing/2014/main" id="{ADB2148E-BAC0-186F-18C2-13C4894AC360}"/>
                </a:ext>
              </a:extLst>
            </p:cNvPr>
            <p:cNvPicPr preferRelativeResize="0"/>
            <p:nvPr/>
          </p:nvPicPr>
          <p:blipFill rotWithShape="1">
            <a:blip r:embed="rId10">
              <a:alphaModFix/>
            </a:blip>
            <a:srcRect r="56805" b="59527"/>
            <a:stretch/>
          </p:blipFill>
          <p:spPr>
            <a:xfrm>
              <a:off x="1474313" y="8180149"/>
              <a:ext cx="3020786" cy="737988"/>
            </a:xfrm>
            <a:prstGeom prst="rect">
              <a:avLst/>
            </a:prstGeom>
            <a:noFill/>
            <a:ln>
              <a:noFill/>
            </a:ln>
          </p:spPr>
        </p:pic>
        <p:pic>
          <p:nvPicPr>
            <p:cNvPr id="461" name="Google Shape;208;p15">
              <a:extLst>
                <a:ext uri="{FF2B5EF4-FFF2-40B4-BE49-F238E27FC236}">
                  <a16:creationId xmlns:a16="http://schemas.microsoft.com/office/drawing/2014/main" id="{8BD17268-421C-FB4D-D702-3A35AD3172FF}"/>
                </a:ext>
              </a:extLst>
            </p:cNvPr>
            <p:cNvPicPr preferRelativeResize="0"/>
            <p:nvPr/>
          </p:nvPicPr>
          <p:blipFill rotWithShape="1">
            <a:blip r:embed="rId10">
              <a:alphaModFix/>
            </a:blip>
            <a:srcRect r="51536" b="66346"/>
            <a:stretch/>
          </p:blipFill>
          <p:spPr>
            <a:xfrm>
              <a:off x="1478995" y="6325833"/>
              <a:ext cx="3018340" cy="1245849"/>
            </a:xfrm>
            <a:prstGeom prst="rect">
              <a:avLst/>
            </a:prstGeom>
            <a:noFill/>
            <a:ln>
              <a:noFill/>
            </a:ln>
          </p:spPr>
        </p:pic>
        <p:pic>
          <p:nvPicPr>
            <p:cNvPr id="462" name="Google Shape;226;p15">
              <a:extLst>
                <a:ext uri="{FF2B5EF4-FFF2-40B4-BE49-F238E27FC236}">
                  <a16:creationId xmlns:a16="http://schemas.microsoft.com/office/drawing/2014/main" id="{8845D1DF-9740-66A1-CEEB-75A0B399DD07}"/>
                </a:ext>
              </a:extLst>
            </p:cNvPr>
            <p:cNvPicPr preferRelativeResize="0"/>
            <p:nvPr/>
          </p:nvPicPr>
          <p:blipFill>
            <a:blip r:embed="rId11">
              <a:alphaModFix/>
            </a:blip>
            <a:stretch>
              <a:fillRect/>
            </a:stretch>
          </p:blipFill>
          <p:spPr>
            <a:xfrm>
              <a:off x="1520465" y="5876512"/>
              <a:ext cx="418118" cy="397419"/>
            </a:xfrm>
            <a:prstGeom prst="rect">
              <a:avLst/>
            </a:prstGeom>
            <a:noFill/>
            <a:ln>
              <a:noFill/>
            </a:ln>
          </p:spPr>
        </p:pic>
        <p:sp>
          <p:nvSpPr>
            <p:cNvPr id="463" name="Google Shape;228;p15">
              <a:extLst>
                <a:ext uri="{FF2B5EF4-FFF2-40B4-BE49-F238E27FC236}">
                  <a16:creationId xmlns:a16="http://schemas.microsoft.com/office/drawing/2014/main" id="{CB0C1970-BC28-2C4B-66F3-C30EFE582545}"/>
                </a:ext>
              </a:extLst>
            </p:cNvPr>
            <p:cNvSpPr txBox="1"/>
            <p:nvPr/>
          </p:nvSpPr>
          <p:spPr>
            <a:xfrm>
              <a:off x="1866920" y="5853986"/>
              <a:ext cx="1995583" cy="204417"/>
            </a:xfrm>
            <a:prstGeom prst="rect">
              <a:avLst/>
            </a:prstGeom>
            <a:noFill/>
            <a:ln>
              <a:noFill/>
            </a:ln>
          </p:spPr>
          <p:txBody>
            <a:bodyPr spcFirstLastPara="1" wrap="square" lIns="127722" tIns="127722" rIns="127722" bIns="127722" anchor="t" anchorCtr="0">
              <a:noAutofit/>
            </a:bodyPr>
            <a:lstStyle/>
            <a:p>
              <a:pPr>
                <a:spcBef>
                  <a:spcPts val="0"/>
                </a:spcBef>
              </a:pPr>
              <a:r>
                <a:rPr lang="en" sz="1117" dirty="0">
                  <a:solidFill>
                    <a:schemeClr val="dk1"/>
                  </a:solidFill>
                </a:rPr>
                <a:t>Changes Reviewed</a:t>
              </a:r>
              <a:endParaRPr sz="1117" dirty="0">
                <a:solidFill>
                  <a:schemeClr val="dk1"/>
                </a:solidFill>
              </a:endParaRPr>
            </a:p>
          </p:txBody>
        </p:sp>
        <p:cxnSp>
          <p:nvCxnSpPr>
            <p:cNvPr id="464" name="Google Shape;229;p15">
              <a:extLst>
                <a:ext uri="{FF2B5EF4-FFF2-40B4-BE49-F238E27FC236}">
                  <a16:creationId xmlns:a16="http://schemas.microsoft.com/office/drawing/2014/main" id="{60F60EA5-7AE5-A8A1-2264-22E0F83BA178}"/>
                </a:ext>
              </a:extLst>
            </p:cNvPr>
            <p:cNvCxnSpPr/>
            <p:nvPr/>
          </p:nvCxnSpPr>
          <p:spPr>
            <a:xfrm>
              <a:off x="1467748" y="6324819"/>
              <a:ext cx="3040125" cy="0"/>
            </a:xfrm>
            <a:prstGeom prst="straightConnector1">
              <a:avLst/>
            </a:prstGeom>
            <a:noFill/>
            <a:ln w="8700" cap="flat" cmpd="sng">
              <a:solidFill>
                <a:schemeClr val="dk2"/>
              </a:solidFill>
              <a:prstDash val="solid"/>
              <a:round/>
              <a:headEnd type="none" w="med" len="med"/>
              <a:tailEnd type="none" w="med" len="med"/>
            </a:ln>
          </p:spPr>
        </p:cxnSp>
        <p:pic>
          <p:nvPicPr>
            <p:cNvPr id="465" name="Google Shape;230;p15">
              <a:extLst>
                <a:ext uri="{FF2B5EF4-FFF2-40B4-BE49-F238E27FC236}">
                  <a16:creationId xmlns:a16="http://schemas.microsoft.com/office/drawing/2014/main" id="{83B36D5C-87F4-1EE1-443C-6936F6CBCAE0}"/>
                </a:ext>
              </a:extLst>
            </p:cNvPr>
            <p:cNvPicPr preferRelativeResize="0"/>
            <p:nvPr/>
          </p:nvPicPr>
          <p:blipFill>
            <a:blip r:embed="rId12">
              <a:alphaModFix/>
            </a:blip>
            <a:stretch>
              <a:fillRect/>
            </a:stretch>
          </p:blipFill>
          <p:spPr>
            <a:xfrm>
              <a:off x="1576377" y="6953035"/>
              <a:ext cx="233220" cy="273781"/>
            </a:xfrm>
            <a:prstGeom prst="rect">
              <a:avLst/>
            </a:prstGeom>
            <a:noFill/>
            <a:ln>
              <a:noFill/>
            </a:ln>
          </p:spPr>
        </p:pic>
        <p:pic>
          <p:nvPicPr>
            <p:cNvPr id="466" name="Google Shape;231;p15">
              <a:extLst>
                <a:ext uri="{FF2B5EF4-FFF2-40B4-BE49-F238E27FC236}">
                  <a16:creationId xmlns:a16="http://schemas.microsoft.com/office/drawing/2014/main" id="{72068F9D-240F-99B0-CFCE-7C932EE08CC1}"/>
                </a:ext>
              </a:extLst>
            </p:cNvPr>
            <p:cNvPicPr preferRelativeResize="0"/>
            <p:nvPr/>
          </p:nvPicPr>
          <p:blipFill>
            <a:blip r:embed="rId10">
              <a:alphaModFix/>
            </a:blip>
            <a:stretch>
              <a:fillRect/>
            </a:stretch>
          </p:blipFill>
          <p:spPr>
            <a:xfrm>
              <a:off x="1530785" y="6396970"/>
              <a:ext cx="288926" cy="211878"/>
            </a:xfrm>
            <a:prstGeom prst="rect">
              <a:avLst/>
            </a:prstGeom>
            <a:noFill/>
            <a:ln>
              <a:noFill/>
            </a:ln>
          </p:spPr>
        </p:pic>
        <p:pic>
          <p:nvPicPr>
            <p:cNvPr id="467" name="Google Shape;232;p15">
              <a:extLst>
                <a:ext uri="{FF2B5EF4-FFF2-40B4-BE49-F238E27FC236}">
                  <a16:creationId xmlns:a16="http://schemas.microsoft.com/office/drawing/2014/main" id="{FD0DE4EA-B2B6-0E88-37D6-412DB0499298}"/>
                </a:ext>
              </a:extLst>
            </p:cNvPr>
            <p:cNvPicPr preferRelativeResize="0"/>
            <p:nvPr/>
          </p:nvPicPr>
          <p:blipFill>
            <a:blip r:embed="rId13">
              <a:alphaModFix/>
            </a:blip>
            <a:stretch>
              <a:fillRect/>
            </a:stretch>
          </p:blipFill>
          <p:spPr>
            <a:xfrm>
              <a:off x="1523888" y="6653098"/>
              <a:ext cx="275348" cy="232624"/>
            </a:xfrm>
            <a:prstGeom prst="rect">
              <a:avLst/>
            </a:prstGeom>
            <a:noFill/>
            <a:ln>
              <a:noFill/>
            </a:ln>
          </p:spPr>
        </p:pic>
        <p:sp>
          <p:nvSpPr>
            <p:cNvPr id="469" name="Google Shape;234;p15">
              <a:extLst>
                <a:ext uri="{FF2B5EF4-FFF2-40B4-BE49-F238E27FC236}">
                  <a16:creationId xmlns:a16="http://schemas.microsoft.com/office/drawing/2014/main" id="{46A1E66C-AA02-B97A-CE89-026EAD9E0A97}"/>
                </a:ext>
              </a:extLst>
            </p:cNvPr>
            <p:cNvSpPr/>
            <p:nvPr/>
          </p:nvSpPr>
          <p:spPr>
            <a:xfrm>
              <a:off x="1629407" y="8282439"/>
              <a:ext cx="2788500" cy="232375"/>
            </a:xfrm>
            <a:prstGeom prst="rect">
              <a:avLst/>
            </a:prstGeom>
            <a:noFill/>
            <a:ln>
              <a:noFill/>
            </a:ln>
          </p:spPr>
          <p:txBody>
            <a:bodyPr spcFirstLastPara="1" wrap="square" lIns="127722" tIns="127722" rIns="127722" bIns="127722" anchor="ctr" anchorCtr="0">
              <a:noAutofit/>
            </a:bodyPr>
            <a:lstStyle/>
            <a:p>
              <a:pPr>
                <a:spcBef>
                  <a:spcPts val="0"/>
                </a:spcBef>
                <a:buClr>
                  <a:schemeClr val="dk1"/>
                </a:buClr>
                <a:buSzPts val="1006"/>
              </a:pPr>
              <a:r>
                <a:rPr lang="en" sz="839" dirty="0">
                  <a:solidFill>
                    <a:schemeClr val="dk1"/>
                  </a:solidFill>
                </a:rPr>
                <a:t>   </a:t>
              </a:r>
              <a:r>
                <a:rPr lang="en" sz="839" dirty="0">
                  <a:solidFill>
                    <a:srgbClr val="1F2328"/>
                  </a:solidFill>
                </a:rPr>
                <a:t>           test-coverage/test-coverage(4.4)</a:t>
              </a:r>
              <a:endParaRPr sz="1956" dirty="0"/>
            </a:p>
          </p:txBody>
        </p:sp>
        <p:sp>
          <p:nvSpPr>
            <p:cNvPr id="470" name="Google Shape;235;p15">
              <a:extLst>
                <a:ext uri="{FF2B5EF4-FFF2-40B4-BE49-F238E27FC236}">
                  <a16:creationId xmlns:a16="http://schemas.microsoft.com/office/drawing/2014/main" id="{94D8C3EC-CB3D-A638-6C5D-4EE107893D37}"/>
                </a:ext>
              </a:extLst>
            </p:cNvPr>
            <p:cNvSpPr/>
            <p:nvPr/>
          </p:nvSpPr>
          <p:spPr>
            <a:xfrm>
              <a:off x="1629374" y="8621717"/>
              <a:ext cx="2788500" cy="232375"/>
            </a:xfrm>
            <a:prstGeom prst="rect">
              <a:avLst/>
            </a:prstGeom>
            <a:noFill/>
            <a:ln>
              <a:noFill/>
            </a:ln>
          </p:spPr>
          <p:txBody>
            <a:bodyPr spcFirstLastPara="1" wrap="square" lIns="127722" tIns="127722" rIns="127722" bIns="127722" anchor="ctr" anchorCtr="0">
              <a:noAutofit/>
            </a:bodyPr>
            <a:lstStyle/>
            <a:p>
              <a:pPr>
                <a:spcBef>
                  <a:spcPts val="0"/>
                </a:spcBef>
              </a:pPr>
              <a:r>
                <a:rPr lang="en" sz="839"/>
                <a:t>              R-CMD-check</a:t>
              </a:r>
              <a:endParaRPr sz="839"/>
            </a:p>
          </p:txBody>
        </p:sp>
        <p:sp>
          <p:nvSpPr>
            <p:cNvPr id="471" name="Google Shape;236;p15">
              <a:extLst>
                <a:ext uri="{FF2B5EF4-FFF2-40B4-BE49-F238E27FC236}">
                  <a16:creationId xmlns:a16="http://schemas.microsoft.com/office/drawing/2014/main" id="{3D328611-66BE-605F-2369-B53DF004F0B4}"/>
                </a:ext>
              </a:extLst>
            </p:cNvPr>
            <p:cNvSpPr/>
            <p:nvPr/>
          </p:nvSpPr>
          <p:spPr>
            <a:xfrm>
              <a:off x="1830220" y="8318797"/>
              <a:ext cx="165458" cy="16270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bg2">
                    <a:lumMod val="10000"/>
                  </a:schemeClr>
                </a:solidFill>
              </a:endParaRPr>
            </a:p>
          </p:txBody>
        </p:sp>
        <p:sp>
          <p:nvSpPr>
            <p:cNvPr id="472" name="Google Shape;237;p15">
              <a:extLst>
                <a:ext uri="{FF2B5EF4-FFF2-40B4-BE49-F238E27FC236}">
                  <a16:creationId xmlns:a16="http://schemas.microsoft.com/office/drawing/2014/main" id="{FD736B9E-E03F-EA6E-98AC-2B54D00818D0}"/>
                </a:ext>
              </a:extLst>
            </p:cNvPr>
            <p:cNvSpPr txBox="1"/>
            <p:nvPr/>
          </p:nvSpPr>
          <p:spPr>
            <a:xfrm>
              <a:off x="1729524" y="8229908"/>
              <a:ext cx="416167" cy="232375"/>
            </a:xfrm>
            <a:prstGeom prst="rect">
              <a:avLst/>
            </a:prstGeom>
            <a:noFill/>
            <a:ln>
              <a:noFill/>
            </a:ln>
          </p:spPr>
          <p:txBody>
            <a:bodyPr spcFirstLastPara="1" wrap="square" lIns="127722" tIns="127722" rIns="127722" bIns="127722" anchor="t" anchorCtr="0">
              <a:noAutofit/>
            </a:bodyPr>
            <a:lstStyle/>
            <a:p>
              <a:pPr>
                <a:spcBef>
                  <a:spcPts val="0"/>
                </a:spcBef>
              </a:pPr>
              <a:r>
                <a:rPr lang="en" sz="698" dirty="0">
                  <a:solidFill>
                    <a:schemeClr val="lt1"/>
                  </a:solidFill>
                </a:rPr>
                <a:t>GH</a:t>
              </a:r>
              <a:endParaRPr sz="698" dirty="0">
                <a:solidFill>
                  <a:schemeClr val="lt1"/>
                </a:solidFill>
              </a:endParaRPr>
            </a:p>
          </p:txBody>
        </p:sp>
        <p:sp>
          <p:nvSpPr>
            <p:cNvPr id="473" name="Google Shape;238;p15">
              <a:extLst>
                <a:ext uri="{FF2B5EF4-FFF2-40B4-BE49-F238E27FC236}">
                  <a16:creationId xmlns:a16="http://schemas.microsoft.com/office/drawing/2014/main" id="{01373E37-A823-3E21-2D1A-24352AF39C2C}"/>
                </a:ext>
              </a:extLst>
            </p:cNvPr>
            <p:cNvSpPr/>
            <p:nvPr/>
          </p:nvSpPr>
          <p:spPr>
            <a:xfrm>
              <a:off x="1835613" y="8653245"/>
              <a:ext cx="165458" cy="16270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474" name="Google Shape;239;p15">
              <a:extLst>
                <a:ext uri="{FF2B5EF4-FFF2-40B4-BE49-F238E27FC236}">
                  <a16:creationId xmlns:a16="http://schemas.microsoft.com/office/drawing/2014/main" id="{930D7B43-D015-3EB1-ACBC-6A41CCC92275}"/>
                </a:ext>
              </a:extLst>
            </p:cNvPr>
            <p:cNvSpPr txBox="1"/>
            <p:nvPr/>
          </p:nvSpPr>
          <p:spPr>
            <a:xfrm>
              <a:off x="1730499" y="8555049"/>
              <a:ext cx="416167" cy="232375"/>
            </a:xfrm>
            <a:prstGeom prst="rect">
              <a:avLst/>
            </a:prstGeom>
            <a:noFill/>
            <a:ln>
              <a:noFill/>
            </a:ln>
          </p:spPr>
          <p:txBody>
            <a:bodyPr spcFirstLastPara="1" wrap="square" lIns="127722" tIns="127722" rIns="127722" bIns="127722" anchor="t" anchorCtr="0">
              <a:noAutofit/>
            </a:bodyPr>
            <a:lstStyle/>
            <a:p>
              <a:pPr>
                <a:spcBef>
                  <a:spcPts val="0"/>
                </a:spcBef>
              </a:pPr>
              <a:r>
                <a:rPr lang="en" sz="698" dirty="0">
                  <a:solidFill>
                    <a:schemeClr val="lt1"/>
                  </a:solidFill>
                </a:rPr>
                <a:t>GH</a:t>
              </a:r>
              <a:endParaRPr sz="698" dirty="0">
                <a:solidFill>
                  <a:schemeClr val="lt1"/>
                </a:solidFill>
              </a:endParaRPr>
            </a:p>
          </p:txBody>
        </p:sp>
        <p:sp>
          <p:nvSpPr>
            <p:cNvPr id="475" name="Google Shape;240;p15">
              <a:extLst>
                <a:ext uri="{FF2B5EF4-FFF2-40B4-BE49-F238E27FC236}">
                  <a16:creationId xmlns:a16="http://schemas.microsoft.com/office/drawing/2014/main" id="{D01263E1-174D-D658-97DB-8C45CD167F87}"/>
                </a:ext>
              </a:extLst>
            </p:cNvPr>
            <p:cNvSpPr txBox="1"/>
            <p:nvPr/>
          </p:nvSpPr>
          <p:spPr>
            <a:xfrm>
              <a:off x="1694050" y="6325762"/>
              <a:ext cx="970292"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a:solidFill>
                    <a:srgbClr val="999999"/>
                  </a:solidFill>
                </a:rPr>
                <a:t>1 approval</a:t>
              </a:r>
              <a:endParaRPr sz="978">
                <a:solidFill>
                  <a:srgbClr val="999999"/>
                </a:solidFill>
              </a:endParaRPr>
            </a:p>
            <a:p>
              <a:pPr>
                <a:spcBef>
                  <a:spcPts val="0"/>
                </a:spcBef>
              </a:pPr>
              <a:endParaRPr sz="978">
                <a:solidFill>
                  <a:srgbClr val="999999"/>
                </a:solidFill>
              </a:endParaRPr>
            </a:p>
            <a:p>
              <a:pPr>
                <a:spcBef>
                  <a:spcPts val="0"/>
                </a:spcBef>
              </a:pPr>
              <a:r>
                <a:rPr lang="en" sz="978">
                  <a:solidFill>
                    <a:srgbClr val="999999"/>
                  </a:solidFill>
                </a:rPr>
                <a:t> </a:t>
              </a:r>
              <a:endParaRPr sz="978">
                <a:solidFill>
                  <a:srgbClr val="999999"/>
                </a:solidFill>
              </a:endParaRPr>
            </a:p>
          </p:txBody>
        </p:sp>
        <p:sp>
          <p:nvSpPr>
            <p:cNvPr id="476" name="Google Shape;241;p15">
              <a:extLst>
                <a:ext uri="{FF2B5EF4-FFF2-40B4-BE49-F238E27FC236}">
                  <a16:creationId xmlns:a16="http://schemas.microsoft.com/office/drawing/2014/main" id="{2DB063EB-01DD-6061-2EFD-11AE3B7B9591}"/>
                </a:ext>
              </a:extLst>
            </p:cNvPr>
            <p:cNvSpPr txBox="1"/>
            <p:nvPr/>
          </p:nvSpPr>
          <p:spPr>
            <a:xfrm>
              <a:off x="1707043" y="6907723"/>
              <a:ext cx="1532667"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a:solidFill>
                    <a:srgbClr val="999999"/>
                  </a:solidFill>
                </a:rPr>
                <a:t>1 requested change</a:t>
              </a:r>
              <a:endParaRPr sz="978">
                <a:solidFill>
                  <a:srgbClr val="999999"/>
                </a:solidFill>
              </a:endParaRPr>
            </a:p>
          </p:txBody>
        </p:sp>
        <p:sp>
          <p:nvSpPr>
            <p:cNvPr id="477" name="Google Shape;242;p15">
              <a:extLst>
                <a:ext uri="{FF2B5EF4-FFF2-40B4-BE49-F238E27FC236}">
                  <a16:creationId xmlns:a16="http://schemas.microsoft.com/office/drawing/2014/main" id="{1D90797A-0004-0E78-485B-509DC1BD60AA}"/>
                </a:ext>
              </a:extLst>
            </p:cNvPr>
            <p:cNvSpPr txBox="1"/>
            <p:nvPr/>
          </p:nvSpPr>
          <p:spPr>
            <a:xfrm>
              <a:off x="1705960" y="6587163"/>
              <a:ext cx="2640000"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dirty="0">
                  <a:solidFill>
                    <a:schemeClr val="dk1"/>
                  </a:solidFill>
                </a:rPr>
                <a:t>Quality Reviewer    </a:t>
              </a:r>
              <a:r>
                <a:rPr lang="en" sz="839" dirty="0">
                  <a:solidFill>
                    <a:schemeClr val="dk1"/>
                  </a:solidFill>
                </a:rPr>
                <a:t> </a:t>
              </a:r>
              <a:r>
                <a:rPr lang="en" sz="839" dirty="0">
                  <a:solidFill>
                    <a:srgbClr val="999999"/>
                  </a:solidFill>
                </a:rPr>
                <a:t> Approved these changes</a:t>
              </a:r>
              <a:endParaRPr sz="839" dirty="0">
                <a:solidFill>
                  <a:srgbClr val="999999"/>
                </a:solidFill>
              </a:endParaRPr>
            </a:p>
            <a:p>
              <a:pPr>
                <a:spcBef>
                  <a:spcPts val="0"/>
                </a:spcBef>
              </a:pPr>
              <a:endParaRPr sz="978" dirty="0">
                <a:solidFill>
                  <a:srgbClr val="999999"/>
                </a:solidFill>
              </a:endParaRPr>
            </a:p>
            <a:p>
              <a:pPr>
                <a:spcBef>
                  <a:spcPts val="0"/>
                </a:spcBef>
              </a:pPr>
              <a:r>
                <a:rPr lang="en" sz="978" dirty="0">
                  <a:solidFill>
                    <a:srgbClr val="999999"/>
                  </a:solidFill>
                </a:rPr>
                <a:t> </a:t>
              </a:r>
              <a:endParaRPr sz="978" dirty="0">
                <a:solidFill>
                  <a:srgbClr val="999999"/>
                </a:solidFill>
              </a:endParaRPr>
            </a:p>
          </p:txBody>
        </p:sp>
        <p:pic>
          <p:nvPicPr>
            <p:cNvPr id="478" name="Google Shape;243;p15">
              <a:extLst>
                <a:ext uri="{FF2B5EF4-FFF2-40B4-BE49-F238E27FC236}">
                  <a16:creationId xmlns:a16="http://schemas.microsoft.com/office/drawing/2014/main" id="{1F64504C-2EA7-50AC-81D4-274EBEA0978F}"/>
                </a:ext>
              </a:extLst>
            </p:cNvPr>
            <p:cNvPicPr preferRelativeResize="0"/>
            <p:nvPr/>
          </p:nvPicPr>
          <p:blipFill>
            <a:blip r:embed="rId13">
              <a:alphaModFix/>
            </a:blip>
            <a:stretch>
              <a:fillRect/>
            </a:stretch>
          </p:blipFill>
          <p:spPr>
            <a:xfrm>
              <a:off x="1535831" y="7247141"/>
              <a:ext cx="275348" cy="232624"/>
            </a:xfrm>
            <a:prstGeom prst="rect">
              <a:avLst/>
            </a:prstGeom>
            <a:noFill/>
            <a:ln>
              <a:noFill/>
            </a:ln>
          </p:spPr>
        </p:pic>
        <p:sp>
          <p:nvSpPr>
            <p:cNvPr id="479" name="Google Shape;244;p15">
              <a:extLst>
                <a:ext uri="{FF2B5EF4-FFF2-40B4-BE49-F238E27FC236}">
                  <a16:creationId xmlns:a16="http://schemas.microsoft.com/office/drawing/2014/main" id="{3E4A799E-CBDD-FFF9-91B0-FE3736943F57}"/>
                </a:ext>
              </a:extLst>
            </p:cNvPr>
            <p:cNvSpPr txBox="1"/>
            <p:nvPr/>
          </p:nvSpPr>
          <p:spPr>
            <a:xfrm>
              <a:off x="1703969" y="7146562"/>
              <a:ext cx="2640000" cy="374458"/>
            </a:xfrm>
            <a:prstGeom prst="rect">
              <a:avLst/>
            </a:prstGeom>
            <a:noFill/>
            <a:ln>
              <a:noFill/>
            </a:ln>
          </p:spPr>
          <p:txBody>
            <a:bodyPr spcFirstLastPara="1" wrap="square" lIns="127722" tIns="127722" rIns="127722" bIns="127722" anchor="t" anchorCtr="0">
              <a:noAutofit/>
            </a:bodyPr>
            <a:lstStyle/>
            <a:p>
              <a:pPr>
                <a:spcBef>
                  <a:spcPts val="0"/>
                </a:spcBef>
              </a:pPr>
              <a:r>
                <a:rPr lang="en" sz="978" dirty="0">
                  <a:solidFill>
                    <a:schemeClr val="dk1"/>
                  </a:solidFill>
                </a:rPr>
                <a:t>Code Architect    </a:t>
              </a:r>
              <a:r>
                <a:rPr lang="en" sz="839" dirty="0">
                  <a:solidFill>
                    <a:schemeClr val="dk1"/>
                  </a:solidFill>
                </a:rPr>
                <a:t> </a:t>
              </a:r>
              <a:r>
                <a:rPr lang="en" sz="839" dirty="0">
                  <a:solidFill>
                    <a:srgbClr val="999999"/>
                  </a:solidFill>
                </a:rPr>
                <a:t>     Requested changes</a:t>
              </a:r>
              <a:endParaRPr sz="839" dirty="0">
                <a:solidFill>
                  <a:srgbClr val="999999"/>
                </a:solidFill>
              </a:endParaRPr>
            </a:p>
            <a:p>
              <a:pPr>
                <a:spcBef>
                  <a:spcPts val="0"/>
                </a:spcBef>
              </a:pPr>
              <a:endParaRPr sz="978" dirty="0">
                <a:solidFill>
                  <a:srgbClr val="999999"/>
                </a:solidFill>
              </a:endParaRPr>
            </a:p>
            <a:p>
              <a:pPr>
                <a:spcBef>
                  <a:spcPts val="0"/>
                </a:spcBef>
              </a:pPr>
              <a:r>
                <a:rPr lang="en" sz="978" dirty="0">
                  <a:solidFill>
                    <a:srgbClr val="999999"/>
                  </a:solidFill>
                </a:rPr>
                <a:t> </a:t>
              </a:r>
              <a:endParaRPr sz="978" dirty="0">
                <a:solidFill>
                  <a:srgbClr val="999999"/>
                </a:solidFill>
              </a:endParaRPr>
            </a:p>
          </p:txBody>
        </p:sp>
        <p:cxnSp>
          <p:nvCxnSpPr>
            <p:cNvPr id="480" name="Google Shape;245;p15">
              <a:extLst>
                <a:ext uri="{FF2B5EF4-FFF2-40B4-BE49-F238E27FC236}">
                  <a16:creationId xmlns:a16="http://schemas.microsoft.com/office/drawing/2014/main" id="{892D677F-DCED-F702-E269-F2D0EF2C48E3}"/>
                </a:ext>
              </a:extLst>
            </p:cNvPr>
            <p:cNvCxnSpPr/>
            <p:nvPr/>
          </p:nvCxnSpPr>
          <p:spPr>
            <a:xfrm>
              <a:off x="1477667" y="7575104"/>
              <a:ext cx="3040125" cy="0"/>
            </a:xfrm>
            <a:prstGeom prst="straightConnector1">
              <a:avLst/>
            </a:prstGeom>
            <a:noFill/>
            <a:ln w="8700" cap="flat" cmpd="sng">
              <a:solidFill>
                <a:schemeClr val="dk2"/>
              </a:solidFill>
              <a:prstDash val="solid"/>
              <a:round/>
              <a:headEnd type="none" w="med" len="med"/>
              <a:tailEnd type="none" w="med" len="med"/>
            </a:ln>
          </p:spPr>
        </p:cxnSp>
        <p:pic>
          <p:nvPicPr>
            <p:cNvPr id="482" name="Google Shape;246;p15">
              <a:extLst>
                <a:ext uri="{FF2B5EF4-FFF2-40B4-BE49-F238E27FC236}">
                  <a16:creationId xmlns:a16="http://schemas.microsoft.com/office/drawing/2014/main" id="{ACBD18A7-11D3-81B7-584A-3DD57788CD37}"/>
                </a:ext>
              </a:extLst>
            </p:cNvPr>
            <p:cNvPicPr preferRelativeResize="0"/>
            <p:nvPr/>
          </p:nvPicPr>
          <p:blipFill>
            <a:blip r:embed="rId10">
              <a:alphaModFix/>
            </a:blip>
            <a:stretch>
              <a:fillRect/>
            </a:stretch>
          </p:blipFill>
          <p:spPr>
            <a:xfrm>
              <a:off x="1529318" y="8636978"/>
              <a:ext cx="288926" cy="211878"/>
            </a:xfrm>
            <a:prstGeom prst="rect">
              <a:avLst/>
            </a:prstGeom>
            <a:noFill/>
            <a:ln>
              <a:noFill/>
            </a:ln>
          </p:spPr>
        </p:pic>
        <p:cxnSp>
          <p:nvCxnSpPr>
            <p:cNvPr id="484" name="Google Shape;247;p15">
              <a:extLst>
                <a:ext uri="{FF2B5EF4-FFF2-40B4-BE49-F238E27FC236}">
                  <a16:creationId xmlns:a16="http://schemas.microsoft.com/office/drawing/2014/main" id="{5F0287C2-50F4-AC02-7038-F5AF883F9305}"/>
                </a:ext>
              </a:extLst>
            </p:cNvPr>
            <p:cNvCxnSpPr/>
            <p:nvPr/>
          </p:nvCxnSpPr>
          <p:spPr>
            <a:xfrm>
              <a:off x="1458389" y="8163071"/>
              <a:ext cx="3040125" cy="0"/>
            </a:xfrm>
            <a:prstGeom prst="straightConnector1">
              <a:avLst/>
            </a:prstGeom>
            <a:noFill/>
            <a:ln w="8700" cap="flat" cmpd="sng">
              <a:solidFill>
                <a:schemeClr val="dk2"/>
              </a:solidFill>
              <a:prstDash val="solid"/>
              <a:round/>
              <a:headEnd type="none" w="med" len="med"/>
              <a:tailEnd type="none" w="med" len="med"/>
            </a:ln>
          </p:spPr>
        </p:cxnSp>
        <p:pic>
          <p:nvPicPr>
            <p:cNvPr id="485" name="Google Shape;248;p15" title="download.png">
              <a:extLst>
                <a:ext uri="{FF2B5EF4-FFF2-40B4-BE49-F238E27FC236}">
                  <a16:creationId xmlns:a16="http://schemas.microsoft.com/office/drawing/2014/main" id="{D65A2A00-9EAD-E9A1-ABDF-3C39D2E1BD54}"/>
                </a:ext>
              </a:extLst>
            </p:cNvPr>
            <p:cNvPicPr preferRelativeResize="0"/>
            <p:nvPr/>
          </p:nvPicPr>
          <p:blipFill>
            <a:blip r:embed="rId14">
              <a:alphaModFix/>
            </a:blip>
            <a:stretch>
              <a:fillRect/>
            </a:stretch>
          </p:blipFill>
          <p:spPr>
            <a:xfrm>
              <a:off x="1524726" y="8948407"/>
              <a:ext cx="344920" cy="344920"/>
            </a:xfrm>
            <a:prstGeom prst="rect">
              <a:avLst/>
            </a:prstGeom>
            <a:noFill/>
            <a:ln>
              <a:noFill/>
            </a:ln>
          </p:spPr>
        </p:pic>
        <p:sp>
          <p:nvSpPr>
            <p:cNvPr id="488" name="Google Shape;249;p15">
              <a:extLst>
                <a:ext uri="{FF2B5EF4-FFF2-40B4-BE49-F238E27FC236}">
                  <a16:creationId xmlns:a16="http://schemas.microsoft.com/office/drawing/2014/main" id="{CA6A2372-E17C-0B02-10BA-8A67A6D76E42}"/>
                </a:ext>
              </a:extLst>
            </p:cNvPr>
            <p:cNvSpPr txBox="1"/>
            <p:nvPr/>
          </p:nvSpPr>
          <p:spPr>
            <a:xfrm>
              <a:off x="1798191" y="8820046"/>
              <a:ext cx="1821875" cy="348333"/>
            </a:xfrm>
            <a:prstGeom prst="rect">
              <a:avLst/>
            </a:prstGeom>
            <a:noFill/>
            <a:ln>
              <a:noFill/>
            </a:ln>
          </p:spPr>
          <p:txBody>
            <a:bodyPr spcFirstLastPara="1" wrap="square" lIns="127722" tIns="127722" rIns="127722" bIns="127722" anchor="t" anchorCtr="0">
              <a:noAutofit/>
            </a:bodyPr>
            <a:lstStyle/>
            <a:p>
              <a:pPr>
                <a:spcBef>
                  <a:spcPts val="0"/>
                </a:spcBef>
              </a:pPr>
              <a:r>
                <a:rPr lang="en" sz="1257">
                  <a:solidFill>
                    <a:schemeClr val="dk1"/>
                  </a:solidFill>
                </a:rPr>
                <a:t>No conflicts with base branch</a:t>
              </a:r>
              <a:endParaRPr sz="1257">
                <a:solidFill>
                  <a:schemeClr val="dk1"/>
                </a:solidFill>
              </a:endParaRPr>
            </a:p>
            <a:p>
              <a:pPr>
                <a:spcBef>
                  <a:spcPts val="0"/>
                </a:spcBef>
              </a:pPr>
              <a:endParaRPr sz="1257">
                <a:solidFill>
                  <a:schemeClr val="dk1"/>
                </a:solidFill>
              </a:endParaRPr>
            </a:p>
          </p:txBody>
        </p:sp>
        <p:cxnSp>
          <p:nvCxnSpPr>
            <p:cNvPr id="489" name="Google Shape;250;p15">
              <a:extLst>
                <a:ext uri="{FF2B5EF4-FFF2-40B4-BE49-F238E27FC236}">
                  <a16:creationId xmlns:a16="http://schemas.microsoft.com/office/drawing/2014/main" id="{70BCF6BD-3DFC-C79C-819A-BB5C3978D7E4}"/>
                </a:ext>
              </a:extLst>
            </p:cNvPr>
            <p:cNvCxnSpPr/>
            <p:nvPr/>
          </p:nvCxnSpPr>
          <p:spPr>
            <a:xfrm>
              <a:off x="1474802" y="8902850"/>
              <a:ext cx="3040125" cy="0"/>
            </a:xfrm>
            <a:prstGeom prst="straightConnector1">
              <a:avLst/>
            </a:prstGeom>
            <a:noFill/>
            <a:ln w="8700" cap="flat" cmpd="sng">
              <a:solidFill>
                <a:schemeClr val="dk2"/>
              </a:solidFill>
              <a:prstDash val="solid"/>
              <a:round/>
              <a:headEnd type="none" w="med" len="med"/>
              <a:tailEnd type="none" w="med" len="med"/>
            </a:ln>
          </p:spPr>
        </p:cxnSp>
        <p:sp>
          <p:nvSpPr>
            <p:cNvPr id="492" name="Google Shape;216;p15">
              <a:extLst>
                <a:ext uri="{FF2B5EF4-FFF2-40B4-BE49-F238E27FC236}">
                  <a16:creationId xmlns:a16="http://schemas.microsoft.com/office/drawing/2014/main" id="{843082B8-B0CE-7A0F-1A48-759AF2C6E481}"/>
                </a:ext>
              </a:extLst>
            </p:cNvPr>
            <p:cNvSpPr/>
            <p:nvPr/>
          </p:nvSpPr>
          <p:spPr>
            <a:xfrm>
              <a:off x="1466614" y="5802822"/>
              <a:ext cx="3030718" cy="3579582"/>
            </a:xfrm>
            <a:prstGeom prst="rect">
              <a:avLst/>
            </a:prstGeom>
            <a:no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grpSp>
      <p:sp>
        <p:nvSpPr>
          <p:cNvPr id="62" name="Google Shape;215;p15">
            <a:extLst>
              <a:ext uri="{FF2B5EF4-FFF2-40B4-BE49-F238E27FC236}">
                <a16:creationId xmlns:a16="http://schemas.microsoft.com/office/drawing/2014/main" id="{B1DBD441-EE80-BA3A-C250-FFAEBF451BB4}"/>
              </a:ext>
            </a:extLst>
          </p:cNvPr>
          <p:cNvSpPr/>
          <p:nvPr/>
        </p:nvSpPr>
        <p:spPr>
          <a:xfrm>
            <a:off x="10152799" y="4409250"/>
            <a:ext cx="3024222" cy="232375"/>
          </a:xfrm>
          <a:prstGeom prst="rect">
            <a:avLst/>
          </a:prstGeom>
          <a:solidFill>
            <a:schemeClr val="lt2"/>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839" dirty="0"/>
          </a:p>
          <a:p>
            <a:pPr>
              <a:spcBef>
                <a:spcPts val="0"/>
              </a:spcBef>
            </a:pPr>
            <a:endParaRPr sz="839" dirty="0"/>
          </a:p>
          <a:p>
            <a:pPr>
              <a:spcBef>
                <a:spcPts val="0"/>
              </a:spcBef>
            </a:pPr>
            <a:r>
              <a:rPr lang="en" sz="839" dirty="0">
                <a:solidFill>
                  <a:schemeClr val="tx1">
                    <a:lumMod val="50000"/>
                  </a:schemeClr>
                </a:solidFill>
              </a:rPr>
              <a:t>Username </a:t>
            </a:r>
            <a:r>
              <a:rPr lang="en" sz="839" b="0" dirty="0">
                <a:solidFill>
                  <a:schemeClr val="tx1">
                    <a:lumMod val="50000"/>
                  </a:schemeClr>
                </a:solidFill>
              </a:rPr>
              <a:t>commented on Mar 15</a:t>
            </a:r>
            <a:endParaRPr sz="839" b="0" dirty="0">
              <a:solidFill>
                <a:schemeClr val="tx1">
                  <a:lumMod val="50000"/>
                </a:schemeClr>
              </a:solidFill>
            </a:endParaRPr>
          </a:p>
          <a:p>
            <a:pPr>
              <a:spcBef>
                <a:spcPts val="0"/>
              </a:spcBef>
            </a:pPr>
            <a:endParaRPr sz="1956" dirty="0"/>
          </a:p>
        </p:txBody>
      </p:sp>
      <p:sp>
        <p:nvSpPr>
          <p:cNvPr id="63" name="Google Shape;216;p15">
            <a:extLst>
              <a:ext uri="{FF2B5EF4-FFF2-40B4-BE49-F238E27FC236}">
                <a16:creationId xmlns:a16="http://schemas.microsoft.com/office/drawing/2014/main" id="{649DDA6C-DF7E-57E5-5E66-4A5554D1620F}"/>
              </a:ext>
            </a:extLst>
          </p:cNvPr>
          <p:cNvSpPr/>
          <p:nvPr/>
        </p:nvSpPr>
        <p:spPr>
          <a:xfrm>
            <a:off x="10152799" y="4641625"/>
            <a:ext cx="3024222" cy="227593"/>
          </a:xfrm>
          <a:prstGeom prst="rect">
            <a:avLst/>
          </a:prstGeom>
          <a:solidFill>
            <a:schemeClr val="lt1"/>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lgn="ctr">
              <a:spcBef>
                <a:spcPts val="0"/>
              </a:spcBef>
            </a:pPr>
            <a:endParaRPr sz="1956"/>
          </a:p>
        </p:txBody>
      </p:sp>
      <p:sp>
        <p:nvSpPr>
          <p:cNvPr id="448" name="TextBox 447">
            <a:extLst>
              <a:ext uri="{FF2B5EF4-FFF2-40B4-BE49-F238E27FC236}">
                <a16:creationId xmlns:a16="http://schemas.microsoft.com/office/drawing/2014/main" id="{A1FAE269-DA00-00C2-4981-97F1CA0B1155}"/>
              </a:ext>
            </a:extLst>
          </p:cNvPr>
          <p:cNvSpPr txBox="1"/>
          <p:nvPr/>
        </p:nvSpPr>
        <p:spPr>
          <a:xfrm>
            <a:off x="10177672" y="4576663"/>
            <a:ext cx="409004"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rPr>
              <a:t>…</a:t>
            </a:r>
          </a:p>
        </p:txBody>
      </p:sp>
      <p:sp>
        <p:nvSpPr>
          <p:cNvPr id="499" name="Use headers, colors, and/or backgrounds to separate or group together sections.">
            <a:extLst>
              <a:ext uri="{FF2B5EF4-FFF2-40B4-BE49-F238E27FC236}">
                <a16:creationId xmlns:a16="http://schemas.microsoft.com/office/drawing/2014/main" id="{1F7640FE-A16A-AD71-650D-A4CE85C81C12}"/>
              </a:ext>
            </a:extLst>
          </p:cNvPr>
          <p:cNvSpPr txBox="1"/>
          <p:nvPr/>
        </p:nvSpPr>
        <p:spPr>
          <a:xfrm>
            <a:off x="4697117" y="1826486"/>
            <a:ext cx="4251862" cy="4426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Light"/>
              </a:rPr>
              <a:t>Fake Data Generation functions are at the bottom of each R/ file. They are called in </a:t>
            </a:r>
            <a:r>
              <a:rPr lang="en-US" b="0" dirty="0" err="1">
                <a:solidFill>
                  <a:srgbClr val="000000"/>
                </a:solidFill>
                <a:latin typeface="Source Sans Pro" panose="020B0503030403020204" pitchFamily="34" charset="0"/>
                <a:ea typeface="Source Sans Pro" panose="020B0503030403020204" pitchFamily="34" charset="0"/>
                <a:sym typeface="Source Sans Pro Light"/>
              </a:rPr>
              <a:t>Example.R</a:t>
            </a:r>
            <a:r>
              <a:rPr lang="en-US" b="0" dirty="0">
                <a:solidFill>
                  <a:srgbClr val="000000"/>
                </a:solidFill>
                <a:latin typeface="Source Sans Pro" panose="020B0503030403020204" pitchFamily="34" charset="0"/>
                <a:ea typeface="Source Sans Pro" panose="020B0503030403020204" pitchFamily="34" charset="0"/>
                <a:sym typeface="Source Sans Pro Light"/>
              </a:rPr>
              <a:t> to create the fake data cases. </a:t>
            </a:r>
          </a:p>
        </p:txBody>
      </p:sp>
      <p:sp>
        <p:nvSpPr>
          <p:cNvPr id="36" name="Use headers, colors, and/or backgrounds to separate or group together sections.">
            <a:extLst>
              <a:ext uri="{FF2B5EF4-FFF2-40B4-BE49-F238E27FC236}">
                <a16:creationId xmlns:a16="http://schemas.microsoft.com/office/drawing/2014/main" id="{64DB58E5-CC98-4452-472C-556180590148}"/>
              </a:ext>
            </a:extLst>
          </p:cNvPr>
          <p:cNvSpPr txBox="1"/>
          <p:nvPr/>
        </p:nvSpPr>
        <p:spPr>
          <a:xfrm>
            <a:off x="9487615" y="1986968"/>
            <a:ext cx="4251862" cy="20538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In practice, the Code Review Workflow happens in the Pull Request. </a:t>
            </a:r>
            <a:r>
              <a:rPr lang="en-US" b="0" dirty="0" err="1">
                <a:latin typeface="Source Sans Pro" panose="020B0503030403020204" pitchFamily="34" charset="0"/>
                <a:ea typeface="Source Sans Pro" panose="020B0503030403020204" pitchFamily="34" charset="0"/>
              </a:rPr>
              <a:t>Codecov</a:t>
            </a:r>
            <a:r>
              <a:rPr lang="en-US" b="0" dirty="0">
                <a:latin typeface="Source Sans Pro" panose="020B0503030403020204" pitchFamily="34" charset="0"/>
                <a:ea typeface="Source Sans Pro" panose="020B0503030403020204" pitchFamily="34" charset="0"/>
              </a:rPr>
              <a:t> is represented by a bot comment on the pull request.</a:t>
            </a:r>
            <a:br>
              <a:rPr lang="en-US" b="0" dirty="0">
                <a:latin typeface="Source Sans Pro" panose="020B0503030403020204" pitchFamily="34" charset="0"/>
                <a:ea typeface="Source Sans Pro" panose="020B0503030403020204" pitchFamily="34" charset="0"/>
              </a:rPr>
            </a:br>
            <a:endParaRPr lang="en-US" b="0" dirty="0">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GitHub Actions (R-CMD-Check, test-coverage) respectively assess whether the docs are presented for the added API and whether the tests pass. </a:t>
            </a:r>
            <a:br>
              <a:rPr lang="en-US" b="0" dirty="0">
                <a:latin typeface="Source Sans Pro" panose="020B0503030403020204" pitchFamily="34" charset="0"/>
                <a:ea typeface="Source Sans Pro" panose="020B0503030403020204" pitchFamily="34" charset="0"/>
              </a:rPr>
            </a:br>
            <a:endParaRPr lang="en-US" b="0" dirty="0">
              <a:latin typeface="Source Sans Pro" panose="020B0503030403020204" pitchFamily="34" charset="0"/>
              <a:ea typeface="Source Sans Pro" panose="020B0503030403020204" pitchFamily="34" charset="0"/>
            </a:endParaRP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Light"/>
              </a:rPr>
              <a:t>The Quality Reviewer and Code Architect then perform full code review.</a:t>
            </a:r>
          </a:p>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endParaRPr lang="en-US" b="0" dirty="0">
              <a:latin typeface="Source Sans Pro" panose="020B0503030403020204" pitchFamily="34" charset="0"/>
              <a:ea typeface="Source Sans Pro" panose="020B0503030403020204" pitchFamily="34" charset="0"/>
            </a:endParaRPr>
          </a:p>
        </p:txBody>
      </p:sp>
      <p:sp>
        <p:nvSpPr>
          <p:cNvPr id="41" name="Manipulate Variables">
            <a:extLst>
              <a:ext uri="{FF2B5EF4-FFF2-40B4-BE49-F238E27FC236}">
                <a16:creationId xmlns:a16="http://schemas.microsoft.com/office/drawing/2014/main" id="{1AAC7D92-E94D-46FF-0ADA-FED3484CF600}"/>
              </a:ext>
            </a:extLst>
          </p:cNvPr>
          <p:cNvSpPr txBox="1"/>
          <p:nvPr/>
        </p:nvSpPr>
        <p:spPr>
          <a:xfrm>
            <a:off x="9421011" y="1557249"/>
            <a:ext cx="3004027"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Pull Request Workflow</a:t>
            </a:r>
          </a:p>
        </p:txBody>
      </p:sp>
      <p:sp>
        <p:nvSpPr>
          <p:cNvPr id="45" name="Use headers, colors, and/or backgrounds to separate or group together sections.">
            <a:extLst>
              <a:ext uri="{FF2B5EF4-FFF2-40B4-BE49-F238E27FC236}">
                <a16:creationId xmlns:a16="http://schemas.microsoft.com/office/drawing/2014/main" id="{7DE36B8E-CBFC-5989-FDDD-0E9B0EDF06A1}"/>
              </a:ext>
            </a:extLst>
          </p:cNvPr>
          <p:cNvSpPr txBox="1"/>
          <p:nvPr/>
        </p:nvSpPr>
        <p:spPr>
          <a:xfrm>
            <a:off x="4666444" y="4206322"/>
            <a:ext cx="4251862" cy="4426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Light"/>
              </a:rPr>
              <a:t>The Kaiaulu code review workflow follows a multiple step process. </a:t>
            </a:r>
          </a:p>
        </p:txBody>
      </p:sp>
      <p:sp>
        <p:nvSpPr>
          <p:cNvPr id="501" name="TextBox 500">
            <a:extLst>
              <a:ext uri="{FF2B5EF4-FFF2-40B4-BE49-F238E27FC236}">
                <a16:creationId xmlns:a16="http://schemas.microsoft.com/office/drawing/2014/main" id="{64919E5F-E0F3-4AAD-DA73-06A172DA0948}"/>
              </a:ext>
            </a:extLst>
          </p:cNvPr>
          <p:cNvSpPr txBox="1"/>
          <p:nvPr/>
        </p:nvSpPr>
        <p:spPr>
          <a:xfrm>
            <a:off x="191776" y="3672442"/>
            <a:ext cx="4184378"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bg2">
                    <a:lumMod val="10000"/>
                  </a:schemeClr>
                </a:solidFill>
              </a:rPr>
              <a:t>Try catch statements allow errors that propagate through files to be caught gracefully. </a:t>
            </a:r>
            <a:endParaRPr lang="en-US" b="0" dirty="0">
              <a:solidFill>
                <a:schemeClr val="bg2">
                  <a:lumMod val="10000"/>
                </a:schemeClr>
              </a:solidFill>
              <a:effectLst/>
              <a:latin typeface="Source Sans Pro" panose="020B0503030403020204" pitchFamily="34" charset="0"/>
              <a:ea typeface="Source Sans Pro" panose="020B0503030403020204" pitchFamily="34" charset="0"/>
            </a:endParaRPr>
          </a:p>
        </p:txBody>
      </p:sp>
      <p:sp>
        <p:nvSpPr>
          <p:cNvPr id="605" name="Manipulate Variables">
            <a:extLst>
              <a:ext uri="{FF2B5EF4-FFF2-40B4-BE49-F238E27FC236}">
                <a16:creationId xmlns:a16="http://schemas.microsoft.com/office/drawing/2014/main" id="{241C93F7-BF47-529D-53B3-2BFE61B64617}"/>
              </a:ext>
            </a:extLst>
          </p:cNvPr>
          <p:cNvSpPr txBox="1"/>
          <p:nvPr/>
        </p:nvSpPr>
        <p:spPr>
          <a:xfrm>
            <a:off x="198229" y="3332413"/>
            <a:ext cx="3754233" cy="340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US" dirty="0"/>
              <a:t>Failing Gracefully: Try Catch</a:t>
            </a:r>
          </a:p>
        </p:txBody>
      </p:sp>
      <p:sp>
        <p:nvSpPr>
          <p:cNvPr id="582" name="Freeform: Shape 581">
            <a:extLst>
              <a:ext uri="{FF2B5EF4-FFF2-40B4-BE49-F238E27FC236}">
                <a16:creationId xmlns:a16="http://schemas.microsoft.com/office/drawing/2014/main" id="{373424A1-CD0E-FCC3-00D3-8643766F39B9}"/>
              </a:ext>
            </a:extLst>
          </p:cNvPr>
          <p:cNvSpPr/>
          <p:nvPr/>
        </p:nvSpPr>
        <p:spPr>
          <a:xfrm>
            <a:off x="2091543" y="4559498"/>
            <a:ext cx="577524" cy="221931"/>
          </a:xfrm>
          <a:custGeom>
            <a:avLst/>
            <a:gdLst>
              <a:gd name="csX0" fmla="*/ 723267 w 723267"/>
              <a:gd name="csY0" fmla="*/ 309363 h 309363"/>
              <a:gd name="csX1" fmla="*/ 327968 w 723267"/>
              <a:gd name="csY1" fmla="*/ 92166 h 309363"/>
              <a:gd name="csX2" fmla="*/ 228057 w 723267"/>
              <a:gd name="csY2" fmla="*/ 233344 h 309363"/>
              <a:gd name="csX3" fmla="*/ 401815 w 723267"/>
              <a:gd name="csY3" fmla="*/ 281127 h 309363"/>
              <a:gd name="csX4" fmla="*/ 393127 w 723267"/>
              <a:gd name="csY4" fmla="*/ 155153 h 309363"/>
              <a:gd name="csX5" fmla="*/ 173758 w 723267"/>
              <a:gd name="csY5" fmla="*/ 5287 h 309363"/>
              <a:gd name="csX6" fmla="*/ 76019 w 723267"/>
              <a:gd name="csY6" fmla="*/ 40038 h 309363"/>
              <a:gd name="csX7" fmla="*/ 0 w 723267"/>
              <a:gd name="csY7" fmla="*/ 100853 h 3093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23267" h="309363">
                <a:moveTo>
                  <a:pt x="723267" y="309363"/>
                </a:moveTo>
                <a:cubicBezTo>
                  <a:pt x="566885" y="207099"/>
                  <a:pt x="410503" y="104836"/>
                  <a:pt x="327968" y="92166"/>
                </a:cubicBezTo>
                <a:cubicBezTo>
                  <a:pt x="245433" y="79496"/>
                  <a:pt x="215749" y="201850"/>
                  <a:pt x="228057" y="233344"/>
                </a:cubicBezTo>
                <a:cubicBezTo>
                  <a:pt x="240365" y="264837"/>
                  <a:pt x="374303" y="294159"/>
                  <a:pt x="401815" y="281127"/>
                </a:cubicBezTo>
                <a:cubicBezTo>
                  <a:pt x="429327" y="268095"/>
                  <a:pt x="431136" y="201126"/>
                  <a:pt x="393127" y="155153"/>
                </a:cubicBezTo>
                <a:cubicBezTo>
                  <a:pt x="355117" y="109180"/>
                  <a:pt x="226609" y="24473"/>
                  <a:pt x="173758" y="5287"/>
                </a:cubicBezTo>
                <a:cubicBezTo>
                  <a:pt x="120907" y="-13899"/>
                  <a:pt x="104979" y="24110"/>
                  <a:pt x="76019" y="40038"/>
                </a:cubicBezTo>
                <a:cubicBezTo>
                  <a:pt x="47059" y="55966"/>
                  <a:pt x="23529" y="78409"/>
                  <a:pt x="0" y="100853"/>
                </a:cubicBezTo>
              </a:path>
            </a:pathLst>
          </a:custGeom>
          <a:no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tlCol="0" anchor="ctr"/>
          <a:lstStyle/>
          <a:p>
            <a:pPr algn="ctr"/>
            <a:endParaRPr lang="en-US"/>
          </a:p>
        </p:txBody>
      </p:sp>
      <p:grpSp>
        <p:nvGrpSpPr>
          <p:cNvPr id="598" name="Group 597">
            <a:extLst>
              <a:ext uri="{FF2B5EF4-FFF2-40B4-BE49-F238E27FC236}">
                <a16:creationId xmlns:a16="http://schemas.microsoft.com/office/drawing/2014/main" id="{7CAFC7BC-CBA3-94B0-2599-FF63C8C8C4CE}"/>
              </a:ext>
            </a:extLst>
          </p:cNvPr>
          <p:cNvGrpSpPr>
            <a:grpSpLocks noChangeAspect="1"/>
          </p:cNvGrpSpPr>
          <p:nvPr/>
        </p:nvGrpSpPr>
        <p:grpSpPr>
          <a:xfrm>
            <a:off x="793232" y="4104383"/>
            <a:ext cx="2689275" cy="882365"/>
            <a:chOff x="4950934" y="1968399"/>
            <a:chExt cx="3846889" cy="1262183"/>
          </a:xfrm>
        </p:grpSpPr>
        <p:sp>
          <p:nvSpPr>
            <p:cNvPr id="607" name="Rectangle: Rounded Corners 606">
              <a:extLst>
                <a:ext uri="{FF2B5EF4-FFF2-40B4-BE49-F238E27FC236}">
                  <a16:creationId xmlns:a16="http://schemas.microsoft.com/office/drawing/2014/main" id="{E660A6C9-D556-7650-0064-96AAB0807BF2}"/>
                </a:ext>
              </a:extLst>
            </p:cNvPr>
            <p:cNvSpPr>
              <a:spLocks noChangeAspect="1"/>
            </p:cNvSpPr>
            <p:nvPr/>
          </p:nvSpPr>
          <p:spPr>
            <a:xfrm>
              <a:off x="7122430" y="2237356"/>
              <a:ext cx="209841" cy="211365"/>
            </a:xfrm>
            <a:prstGeom prst="roundRect">
              <a:avLst/>
            </a:prstGeom>
            <a:solidFill>
              <a:schemeClr val="bg1"/>
            </a:solidFill>
            <a:ln w="6350" cap="flat">
              <a:solidFill>
                <a:schemeClr val="bg2">
                  <a:lumMod val="10000"/>
                </a:schemeClr>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pic>
          <p:nvPicPr>
            <p:cNvPr id="611" name="Graphic 610" descr="Paper outline">
              <a:extLst>
                <a:ext uri="{FF2B5EF4-FFF2-40B4-BE49-F238E27FC236}">
                  <a16:creationId xmlns:a16="http://schemas.microsoft.com/office/drawing/2014/main" id="{9A8FA4F5-6BD6-9D19-B46B-69FBF0D16B1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812176" y="1986019"/>
              <a:ext cx="985647" cy="985647"/>
            </a:xfrm>
            <a:prstGeom prst="rect">
              <a:avLst/>
            </a:prstGeom>
          </p:spPr>
        </p:pic>
        <p:pic>
          <p:nvPicPr>
            <p:cNvPr id="612" name="Graphic 611" descr="Paper outline">
              <a:extLst>
                <a:ext uri="{FF2B5EF4-FFF2-40B4-BE49-F238E27FC236}">
                  <a16:creationId xmlns:a16="http://schemas.microsoft.com/office/drawing/2014/main" id="{58B7B06A-0139-0A48-6320-1F1768DEE7B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198996" y="1968399"/>
              <a:ext cx="985647" cy="985647"/>
            </a:xfrm>
            <a:prstGeom prst="rect">
              <a:avLst/>
            </a:prstGeom>
          </p:spPr>
        </p:pic>
        <p:sp>
          <p:nvSpPr>
            <p:cNvPr id="616" name="Rectangle: Rounded Corners 615">
              <a:extLst>
                <a:ext uri="{FF2B5EF4-FFF2-40B4-BE49-F238E27FC236}">
                  <a16:creationId xmlns:a16="http://schemas.microsoft.com/office/drawing/2014/main" id="{5AF9652D-EFA2-B7DF-302B-818281F83D19}"/>
                </a:ext>
              </a:extLst>
            </p:cNvPr>
            <p:cNvSpPr>
              <a:spLocks noChangeAspect="1"/>
            </p:cNvSpPr>
            <p:nvPr/>
          </p:nvSpPr>
          <p:spPr>
            <a:xfrm>
              <a:off x="5543463" y="2199522"/>
              <a:ext cx="210311" cy="210313"/>
            </a:xfrm>
            <a:prstGeom prst="roundRect">
              <a:avLst/>
            </a:prstGeom>
            <a:solidFill>
              <a:schemeClr val="bg2">
                <a:lumMod val="10000"/>
              </a:schemeClr>
            </a:solidFill>
            <a:ln w="635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sp>
          <p:nvSpPr>
            <p:cNvPr id="617" name="TextBox 616">
              <a:extLst>
                <a:ext uri="{FF2B5EF4-FFF2-40B4-BE49-F238E27FC236}">
                  <a16:creationId xmlns:a16="http://schemas.microsoft.com/office/drawing/2014/main" id="{C10C901D-6BCD-FEA6-4D29-A55D296DCA82}"/>
                </a:ext>
              </a:extLst>
            </p:cNvPr>
            <p:cNvSpPr txBox="1"/>
            <p:nvPr/>
          </p:nvSpPr>
          <p:spPr>
            <a:xfrm>
              <a:off x="5190527" y="2647353"/>
              <a:ext cx="1380450" cy="5832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Incorrect Git Log </a:t>
              </a:r>
            </a:p>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Path specified</a:t>
              </a:r>
            </a:p>
          </p:txBody>
        </p:sp>
        <p:pic>
          <p:nvPicPr>
            <p:cNvPr id="2" name="Picture 1" descr="Account ">
              <a:extLst>
                <a:ext uri="{FF2B5EF4-FFF2-40B4-BE49-F238E27FC236}">
                  <a16:creationId xmlns:a16="http://schemas.microsoft.com/office/drawing/2014/main" id="{118A31F0-D86A-271F-B966-1F0AC734D43D}"/>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50934" y="2244779"/>
              <a:ext cx="437146" cy="437146"/>
            </a:xfrm>
            <a:prstGeom prst="rect">
              <a:avLst/>
            </a:prstGeom>
            <a:noFill/>
            <a:extLst>
              <a:ext uri="{909E8E84-426E-40DD-AFC4-6F175D3DCCD1}">
                <a14:hiddenFill xmlns:a14="http://schemas.microsoft.com/office/drawing/2010/main">
                  <a:solidFill>
                    <a:srgbClr val="FFFFFF"/>
                  </a:solidFill>
                </a14:hiddenFill>
              </a:ext>
            </a:extLst>
          </p:spPr>
        </p:pic>
        <p:sp>
          <p:nvSpPr>
            <p:cNvPr id="590" name="Freeform: Shape 589">
              <a:extLst>
                <a:ext uri="{FF2B5EF4-FFF2-40B4-BE49-F238E27FC236}">
                  <a16:creationId xmlns:a16="http://schemas.microsoft.com/office/drawing/2014/main" id="{3CE9AF4F-11D4-A08E-7E27-6DA541F5A825}"/>
                </a:ext>
              </a:extLst>
            </p:cNvPr>
            <p:cNvSpPr>
              <a:spLocks noChangeAspect="1"/>
            </p:cNvSpPr>
            <p:nvPr/>
          </p:nvSpPr>
          <p:spPr>
            <a:xfrm>
              <a:off x="7350904" y="2353437"/>
              <a:ext cx="503898" cy="318580"/>
            </a:xfrm>
            <a:custGeom>
              <a:avLst/>
              <a:gdLst>
                <a:gd name="csX0" fmla="*/ 503898 w 503898"/>
                <a:gd name="csY0" fmla="*/ 314936 h 318580"/>
                <a:gd name="csX1" fmla="*/ 356204 w 503898"/>
                <a:gd name="csY1" fmla="*/ 45611 h 318580"/>
                <a:gd name="csX2" fmla="*/ 121631 w 503898"/>
                <a:gd name="csY2" fmla="*/ 108598 h 318580"/>
                <a:gd name="csX3" fmla="*/ 134663 w 503898"/>
                <a:gd name="csY3" fmla="*/ 297560 h 318580"/>
                <a:gd name="csX4" fmla="*/ 323624 w 503898"/>
                <a:gd name="csY4" fmla="*/ 293216 h 318580"/>
                <a:gd name="csX5" fmla="*/ 345344 w 503898"/>
                <a:gd name="csY5" fmla="*/ 112942 h 318580"/>
                <a:gd name="csX6" fmla="*/ 0 w 503898"/>
                <a:gd name="csY6" fmla="*/ 0 h 318580"/>
                <a:gd name="csX7" fmla="*/ 0 w 503898"/>
                <a:gd name="csY7" fmla="*/ 0 h 3185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03898" h="318580" extrusionOk="0">
                  <a:moveTo>
                    <a:pt x="503898" y="314936"/>
                  </a:moveTo>
                  <a:cubicBezTo>
                    <a:pt x="453006" y="191978"/>
                    <a:pt x="414467" y="82046"/>
                    <a:pt x="356204" y="45611"/>
                  </a:cubicBezTo>
                  <a:cubicBezTo>
                    <a:pt x="295391" y="11831"/>
                    <a:pt x="155867" y="66692"/>
                    <a:pt x="121631" y="108598"/>
                  </a:cubicBezTo>
                  <a:cubicBezTo>
                    <a:pt x="81145" y="154068"/>
                    <a:pt x="99822" y="273283"/>
                    <a:pt x="134663" y="297560"/>
                  </a:cubicBezTo>
                  <a:cubicBezTo>
                    <a:pt x="164724" y="326358"/>
                    <a:pt x="291600" y="325462"/>
                    <a:pt x="323624" y="293216"/>
                  </a:cubicBezTo>
                  <a:cubicBezTo>
                    <a:pt x="364880" y="263175"/>
                    <a:pt x="404818" y="150415"/>
                    <a:pt x="345344" y="112942"/>
                  </a:cubicBezTo>
                  <a:cubicBezTo>
                    <a:pt x="291407" y="64073"/>
                    <a:pt x="-1" y="1"/>
                    <a:pt x="0" y="0"/>
                  </a:cubicBezTo>
                  <a:lnTo>
                    <a:pt x="0" y="0"/>
                  </a:lnTo>
                </a:path>
              </a:pathLst>
            </a:custGeom>
            <a:noFill/>
            <a:ln w="12700" cap="rnd">
              <a:solidFill>
                <a:schemeClr val="bg2">
                  <a:lumMod val="10000"/>
                </a:schemeClr>
              </a:solidFill>
              <a:prstDash val="dash"/>
              <a:miter lim="400000"/>
              <a:extLst>
                <a:ext uri="{C807C97D-BFC1-408E-A445-0C87EB9F89A2}">
                  <ask:lineSketchStyleProps xmlns:ask="http://schemas.microsoft.com/office/drawing/2018/sketchyshapes" sd="1219033472">
                    <a:custGeom>
                      <a:avLst/>
                      <a:gdLst>
                        <a:gd name="csX0" fmla="*/ 503898 w 503898"/>
                        <a:gd name="csY0" fmla="*/ 314936 h 318580"/>
                        <a:gd name="csX1" fmla="*/ 356204 w 503898"/>
                        <a:gd name="csY1" fmla="*/ 45611 h 318580"/>
                        <a:gd name="csX2" fmla="*/ 121631 w 503898"/>
                        <a:gd name="csY2" fmla="*/ 108598 h 318580"/>
                        <a:gd name="csX3" fmla="*/ 134663 w 503898"/>
                        <a:gd name="csY3" fmla="*/ 297560 h 318580"/>
                        <a:gd name="csX4" fmla="*/ 323624 w 503898"/>
                        <a:gd name="csY4" fmla="*/ 293216 h 318580"/>
                        <a:gd name="csX5" fmla="*/ 345344 w 503898"/>
                        <a:gd name="csY5" fmla="*/ 112942 h 318580"/>
                        <a:gd name="csX6" fmla="*/ 0 w 503898"/>
                        <a:gd name="csY6" fmla="*/ 0 h 318580"/>
                        <a:gd name="csX7" fmla="*/ 0 w 503898"/>
                        <a:gd name="csY7" fmla="*/ 0 h 3185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03898" h="318580">
                          <a:moveTo>
                            <a:pt x="503898" y="314936"/>
                          </a:moveTo>
                          <a:cubicBezTo>
                            <a:pt x="461906" y="197468"/>
                            <a:pt x="419915" y="80001"/>
                            <a:pt x="356204" y="45611"/>
                          </a:cubicBezTo>
                          <a:cubicBezTo>
                            <a:pt x="292493" y="11221"/>
                            <a:pt x="158554" y="66607"/>
                            <a:pt x="121631" y="108598"/>
                          </a:cubicBezTo>
                          <a:cubicBezTo>
                            <a:pt x="84708" y="150589"/>
                            <a:pt x="100997" y="266790"/>
                            <a:pt x="134663" y="297560"/>
                          </a:cubicBezTo>
                          <a:cubicBezTo>
                            <a:pt x="168329" y="328330"/>
                            <a:pt x="288511" y="323986"/>
                            <a:pt x="323624" y="293216"/>
                          </a:cubicBezTo>
                          <a:cubicBezTo>
                            <a:pt x="358737" y="262446"/>
                            <a:pt x="399281" y="161811"/>
                            <a:pt x="345344" y="112942"/>
                          </a:cubicBezTo>
                          <a:cubicBezTo>
                            <a:pt x="291407" y="64073"/>
                            <a:pt x="0" y="0"/>
                            <a:pt x="0" y="0"/>
                          </a:cubicBezTo>
                          <a:lnTo>
                            <a:pt x="0" y="0"/>
                          </a:lnTo>
                        </a:path>
                      </a:pathLst>
                    </a:custGeom>
                    <ask:type>
                      <ask:lineSketchCurved/>
                    </ask:type>
                  </ask:lineSketchStyleProps>
                </a:ext>
              </a:extLst>
            </a:ln>
            <a:effectLst/>
            <a:sp3d/>
          </p:spPr>
          <p:style>
            <a:lnRef idx="0">
              <a:scrgbClr r="0" g="0" b="0"/>
            </a:lnRef>
            <a:fillRef idx="0">
              <a:scrgbClr r="0" g="0" b="0"/>
            </a:fillRef>
            <a:effectRef idx="0">
              <a:scrgbClr r="0" g="0" b="0"/>
            </a:effectRef>
            <a:fontRef idx="none"/>
          </p:style>
          <p:txBody>
            <a:bodyPr rtlCol="0" anchor="ctr"/>
            <a:lstStyle/>
            <a:p>
              <a:pPr algn="ctr"/>
              <a:endParaRPr lang="en-US"/>
            </a:p>
          </p:txBody>
        </p:sp>
        <p:sp>
          <p:nvSpPr>
            <p:cNvPr id="592" name="Freeform: Shape 591">
              <a:extLst>
                <a:ext uri="{FF2B5EF4-FFF2-40B4-BE49-F238E27FC236}">
                  <a16:creationId xmlns:a16="http://schemas.microsoft.com/office/drawing/2014/main" id="{E08C7715-88ED-0501-CA61-558D01F1B076}"/>
                </a:ext>
              </a:extLst>
            </p:cNvPr>
            <p:cNvSpPr>
              <a:spLocks noChangeAspect="1"/>
            </p:cNvSpPr>
            <p:nvPr/>
          </p:nvSpPr>
          <p:spPr>
            <a:xfrm>
              <a:off x="5773452" y="2306777"/>
              <a:ext cx="503898" cy="318580"/>
            </a:xfrm>
            <a:custGeom>
              <a:avLst/>
              <a:gdLst>
                <a:gd name="csX0" fmla="*/ 503898 w 503898"/>
                <a:gd name="csY0" fmla="*/ 314936 h 318580"/>
                <a:gd name="csX1" fmla="*/ 356204 w 503898"/>
                <a:gd name="csY1" fmla="*/ 45611 h 318580"/>
                <a:gd name="csX2" fmla="*/ 121631 w 503898"/>
                <a:gd name="csY2" fmla="*/ 108598 h 318580"/>
                <a:gd name="csX3" fmla="*/ 134663 w 503898"/>
                <a:gd name="csY3" fmla="*/ 297560 h 318580"/>
                <a:gd name="csX4" fmla="*/ 323624 w 503898"/>
                <a:gd name="csY4" fmla="*/ 293216 h 318580"/>
                <a:gd name="csX5" fmla="*/ 345344 w 503898"/>
                <a:gd name="csY5" fmla="*/ 112942 h 318580"/>
                <a:gd name="csX6" fmla="*/ 0 w 503898"/>
                <a:gd name="csY6" fmla="*/ 0 h 318580"/>
                <a:gd name="csX7" fmla="*/ 0 w 503898"/>
                <a:gd name="csY7" fmla="*/ 0 h 3185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03898" h="318580" extrusionOk="0">
                  <a:moveTo>
                    <a:pt x="503898" y="314936"/>
                  </a:moveTo>
                  <a:cubicBezTo>
                    <a:pt x="453006" y="191978"/>
                    <a:pt x="414467" y="82046"/>
                    <a:pt x="356204" y="45611"/>
                  </a:cubicBezTo>
                  <a:cubicBezTo>
                    <a:pt x="295391" y="11831"/>
                    <a:pt x="155867" y="66692"/>
                    <a:pt x="121631" y="108598"/>
                  </a:cubicBezTo>
                  <a:cubicBezTo>
                    <a:pt x="81145" y="154068"/>
                    <a:pt x="99822" y="273283"/>
                    <a:pt x="134663" y="297560"/>
                  </a:cubicBezTo>
                  <a:cubicBezTo>
                    <a:pt x="164724" y="326358"/>
                    <a:pt x="291600" y="325462"/>
                    <a:pt x="323624" y="293216"/>
                  </a:cubicBezTo>
                  <a:cubicBezTo>
                    <a:pt x="364880" y="263175"/>
                    <a:pt x="404818" y="150415"/>
                    <a:pt x="345344" y="112942"/>
                  </a:cubicBezTo>
                  <a:cubicBezTo>
                    <a:pt x="291407" y="64073"/>
                    <a:pt x="-1" y="1"/>
                    <a:pt x="0" y="0"/>
                  </a:cubicBezTo>
                  <a:lnTo>
                    <a:pt x="0" y="0"/>
                  </a:lnTo>
                </a:path>
              </a:pathLst>
            </a:custGeom>
            <a:noFill/>
            <a:ln w="12700" cap="rnd">
              <a:solidFill>
                <a:schemeClr val="bg2">
                  <a:lumMod val="10000"/>
                </a:schemeClr>
              </a:solidFill>
              <a:prstDash val="dash"/>
              <a:miter lim="400000"/>
              <a:extLst>
                <a:ext uri="{C807C97D-BFC1-408E-A445-0C87EB9F89A2}">
                  <ask:lineSketchStyleProps xmlns:ask="http://schemas.microsoft.com/office/drawing/2018/sketchyshapes" sd="1219033472">
                    <a:custGeom>
                      <a:avLst/>
                      <a:gdLst>
                        <a:gd name="csX0" fmla="*/ 503898 w 503898"/>
                        <a:gd name="csY0" fmla="*/ 314936 h 318580"/>
                        <a:gd name="csX1" fmla="*/ 356204 w 503898"/>
                        <a:gd name="csY1" fmla="*/ 45611 h 318580"/>
                        <a:gd name="csX2" fmla="*/ 121631 w 503898"/>
                        <a:gd name="csY2" fmla="*/ 108598 h 318580"/>
                        <a:gd name="csX3" fmla="*/ 134663 w 503898"/>
                        <a:gd name="csY3" fmla="*/ 297560 h 318580"/>
                        <a:gd name="csX4" fmla="*/ 323624 w 503898"/>
                        <a:gd name="csY4" fmla="*/ 293216 h 318580"/>
                        <a:gd name="csX5" fmla="*/ 345344 w 503898"/>
                        <a:gd name="csY5" fmla="*/ 112942 h 318580"/>
                        <a:gd name="csX6" fmla="*/ 0 w 503898"/>
                        <a:gd name="csY6" fmla="*/ 0 h 318580"/>
                        <a:gd name="csX7" fmla="*/ 0 w 503898"/>
                        <a:gd name="csY7" fmla="*/ 0 h 3185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03898" h="318580">
                          <a:moveTo>
                            <a:pt x="503898" y="314936"/>
                          </a:moveTo>
                          <a:cubicBezTo>
                            <a:pt x="461906" y="197468"/>
                            <a:pt x="419915" y="80001"/>
                            <a:pt x="356204" y="45611"/>
                          </a:cubicBezTo>
                          <a:cubicBezTo>
                            <a:pt x="292493" y="11221"/>
                            <a:pt x="158554" y="66607"/>
                            <a:pt x="121631" y="108598"/>
                          </a:cubicBezTo>
                          <a:cubicBezTo>
                            <a:pt x="84708" y="150589"/>
                            <a:pt x="100997" y="266790"/>
                            <a:pt x="134663" y="297560"/>
                          </a:cubicBezTo>
                          <a:cubicBezTo>
                            <a:pt x="168329" y="328330"/>
                            <a:pt x="288511" y="323986"/>
                            <a:pt x="323624" y="293216"/>
                          </a:cubicBezTo>
                          <a:cubicBezTo>
                            <a:pt x="358737" y="262446"/>
                            <a:pt x="399281" y="161811"/>
                            <a:pt x="345344" y="112942"/>
                          </a:cubicBezTo>
                          <a:cubicBezTo>
                            <a:pt x="291407" y="64073"/>
                            <a:pt x="0" y="0"/>
                            <a:pt x="0" y="0"/>
                          </a:cubicBezTo>
                          <a:lnTo>
                            <a:pt x="0" y="0"/>
                          </a:lnTo>
                        </a:path>
                      </a:pathLst>
                    </a:custGeom>
                    <ask:type>
                      <ask:lineSketchCurved/>
                    </ask:type>
                  </ask:lineSketchStyleProps>
                </a:ext>
              </a:extLst>
            </a:ln>
            <a:effectLst/>
            <a:sp3d/>
          </p:spPr>
          <p:style>
            <a:lnRef idx="0">
              <a:scrgbClr r="0" g="0" b="0"/>
            </a:lnRef>
            <a:fillRef idx="0">
              <a:scrgbClr r="0" g="0" b="0"/>
            </a:fillRef>
            <a:effectRef idx="0">
              <a:scrgbClr r="0" g="0" b="0"/>
            </a:effectRef>
            <a:fontRef idx="none"/>
          </p:style>
          <p:txBody>
            <a:bodyPr rtlCol="0" anchor="ctr"/>
            <a:lstStyle/>
            <a:p>
              <a:pPr algn="ctr"/>
              <a:endParaRPr lang="en-US"/>
            </a:p>
          </p:txBody>
        </p:sp>
      </p:grpSp>
      <p:sp>
        <p:nvSpPr>
          <p:cNvPr id="4" name="TextBox 3">
            <a:extLst>
              <a:ext uri="{FF2B5EF4-FFF2-40B4-BE49-F238E27FC236}">
                <a16:creationId xmlns:a16="http://schemas.microsoft.com/office/drawing/2014/main" id="{59DB1402-05B8-9F78-2B26-84EBEE1384A6}"/>
              </a:ext>
            </a:extLst>
          </p:cNvPr>
          <p:cNvSpPr txBox="1"/>
          <p:nvPr/>
        </p:nvSpPr>
        <p:spPr>
          <a:xfrm>
            <a:off x="198229" y="4876625"/>
            <a:ext cx="4184378" cy="689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b="0" dirty="0">
                <a:solidFill>
                  <a:schemeClr val="tx1">
                    <a:lumMod val="50000"/>
                  </a:schemeClr>
                </a:solidFill>
              </a:rPr>
              <a:t>A common example in Kaiaulu is an invalid Git Log Path specified in a parser, which eventually throws an error in an .</a:t>
            </a:r>
            <a:r>
              <a:rPr lang="en-US" b="0" dirty="0" err="1">
                <a:solidFill>
                  <a:schemeClr val="tx1">
                    <a:lumMod val="50000"/>
                  </a:schemeClr>
                </a:solidFill>
              </a:rPr>
              <a:t>Rmd</a:t>
            </a:r>
            <a:r>
              <a:rPr lang="en-US" b="0" dirty="0">
                <a:solidFill>
                  <a:schemeClr val="tx1">
                    <a:lumMod val="50000"/>
                  </a:schemeClr>
                </a:solidFill>
              </a:rPr>
              <a:t> file. </a:t>
            </a:r>
            <a:endParaRPr lang="en-US" b="0" dirty="0">
              <a:solidFill>
                <a:schemeClr val="tx1"/>
              </a:solidFill>
              <a:effectLst/>
              <a:latin typeface="Source Sans Pro" panose="020B0503030403020204" pitchFamily="34" charset="0"/>
              <a:ea typeface="Source Sans Pro" panose="020B0503030403020204" pitchFamily="34" charset="0"/>
            </a:endParaRPr>
          </a:p>
        </p:txBody>
      </p:sp>
      <p:grpSp>
        <p:nvGrpSpPr>
          <p:cNvPr id="60" name="Group 59">
            <a:extLst>
              <a:ext uri="{FF2B5EF4-FFF2-40B4-BE49-F238E27FC236}">
                <a16:creationId xmlns:a16="http://schemas.microsoft.com/office/drawing/2014/main" id="{D01E8CFA-13BE-92CF-6479-2F9A9F3DAC07}"/>
              </a:ext>
            </a:extLst>
          </p:cNvPr>
          <p:cNvGrpSpPr/>
          <p:nvPr/>
        </p:nvGrpSpPr>
        <p:grpSpPr>
          <a:xfrm>
            <a:off x="147267" y="6043688"/>
            <a:ext cx="4625034" cy="3456118"/>
            <a:chOff x="4579241" y="1386286"/>
            <a:chExt cx="4625034" cy="3456118"/>
          </a:xfrm>
        </p:grpSpPr>
        <p:sp>
          <p:nvSpPr>
            <p:cNvPr id="500" name="Google Shape;318;p17">
              <a:extLst>
                <a:ext uri="{FF2B5EF4-FFF2-40B4-BE49-F238E27FC236}">
                  <a16:creationId xmlns:a16="http://schemas.microsoft.com/office/drawing/2014/main" id="{03F01F18-FF65-463F-5A7B-1737EC1B0C47}"/>
                </a:ext>
              </a:extLst>
            </p:cNvPr>
            <p:cNvSpPr txBox="1"/>
            <p:nvPr/>
          </p:nvSpPr>
          <p:spPr>
            <a:xfrm>
              <a:off x="7569011" y="4385763"/>
              <a:ext cx="1635264"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US" sz="1400" dirty="0"/>
                <a:t>Tests/**</a:t>
              </a:r>
              <a:endParaRPr sz="1400" dirty="0"/>
            </a:p>
          </p:txBody>
        </p:sp>
        <p:pic>
          <p:nvPicPr>
            <p:cNvPr id="46" name="Graphic 45" descr="Paper outline">
              <a:extLst>
                <a:ext uri="{FF2B5EF4-FFF2-40B4-BE49-F238E27FC236}">
                  <a16:creationId xmlns:a16="http://schemas.microsoft.com/office/drawing/2014/main" id="{82637ED8-A87D-1F99-3105-6B48CD0A7EA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472828" y="3511751"/>
              <a:ext cx="1118249" cy="1118249"/>
            </a:xfrm>
            <a:prstGeom prst="rect">
              <a:avLst/>
            </a:prstGeom>
          </p:spPr>
        </p:pic>
        <p:pic>
          <p:nvPicPr>
            <p:cNvPr id="47" name="Graphic 46" descr="Paper outline">
              <a:extLst>
                <a:ext uri="{FF2B5EF4-FFF2-40B4-BE49-F238E27FC236}">
                  <a16:creationId xmlns:a16="http://schemas.microsoft.com/office/drawing/2014/main" id="{B95F889D-2FF4-447C-A6DD-906D2494269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308249" y="1729662"/>
              <a:ext cx="1731153" cy="1731153"/>
            </a:xfrm>
            <a:prstGeom prst="rect">
              <a:avLst/>
            </a:prstGeom>
          </p:spPr>
        </p:pic>
        <p:sp>
          <p:nvSpPr>
            <p:cNvPr id="48" name="TextBox 47">
              <a:extLst>
                <a:ext uri="{FF2B5EF4-FFF2-40B4-BE49-F238E27FC236}">
                  <a16:creationId xmlns:a16="http://schemas.microsoft.com/office/drawing/2014/main" id="{0C60F8AB-4583-57C0-7309-5E22D4B400E9}"/>
                </a:ext>
              </a:extLst>
            </p:cNvPr>
            <p:cNvSpPr txBox="1"/>
            <p:nvPr/>
          </p:nvSpPr>
          <p:spPr>
            <a:xfrm>
              <a:off x="6628421" y="1816169"/>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Downloaders</a:t>
              </a:r>
              <a:endParaRPr lang="en-US" sz="800" b="0" dirty="0"/>
            </a:p>
          </p:txBody>
        </p:sp>
        <p:sp>
          <p:nvSpPr>
            <p:cNvPr id="49" name="TextBox 48">
              <a:extLst>
                <a:ext uri="{FF2B5EF4-FFF2-40B4-BE49-F238E27FC236}">
                  <a16:creationId xmlns:a16="http://schemas.microsoft.com/office/drawing/2014/main" id="{41C85C9E-99AA-A876-0DE5-55E85265F287}"/>
                </a:ext>
              </a:extLst>
            </p:cNvPr>
            <p:cNvSpPr txBox="1"/>
            <p:nvPr/>
          </p:nvSpPr>
          <p:spPr>
            <a:xfrm>
              <a:off x="6632322" y="1915620"/>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51" name="TextBox 50">
              <a:extLst>
                <a:ext uri="{FF2B5EF4-FFF2-40B4-BE49-F238E27FC236}">
                  <a16:creationId xmlns:a16="http://schemas.microsoft.com/office/drawing/2014/main" id="{391104B3-01C3-3271-F89D-81702A8A5A68}"/>
                </a:ext>
              </a:extLst>
            </p:cNvPr>
            <p:cNvSpPr txBox="1"/>
            <p:nvPr/>
          </p:nvSpPr>
          <p:spPr>
            <a:xfrm>
              <a:off x="6632904" y="2330550"/>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52" name="TextBox 51">
              <a:extLst>
                <a:ext uri="{FF2B5EF4-FFF2-40B4-BE49-F238E27FC236}">
                  <a16:creationId xmlns:a16="http://schemas.microsoft.com/office/drawing/2014/main" id="{B42B7040-EE2B-C2AD-2AE5-62DD45251790}"/>
                </a:ext>
              </a:extLst>
            </p:cNvPr>
            <p:cNvSpPr txBox="1"/>
            <p:nvPr/>
          </p:nvSpPr>
          <p:spPr>
            <a:xfrm>
              <a:off x="6628421" y="2224455"/>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Parsers</a:t>
              </a:r>
              <a:endParaRPr lang="en-US" sz="800" b="0" dirty="0"/>
            </a:p>
          </p:txBody>
        </p:sp>
        <p:sp>
          <p:nvSpPr>
            <p:cNvPr id="494" name="TextBox 493">
              <a:extLst>
                <a:ext uri="{FF2B5EF4-FFF2-40B4-BE49-F238E27FC236}">
                  <a16:creationId xmlns:a16="http://schemas.microsoft.com/office/drawing/2014/main" id="{7D99F91A-096C-7213-0A41-D41B0F2C728C}"/>
                </a:ext>
              </a:extLst>
            </p:cNvPr>
            <p:cNvSpPr txBox="1"/>
            <p:nvPr/>
          </p:nvSpPr>
          <p:spPr>
            <a:xfrm>
              <a:off x="6637886" y="2739482"/>
              <a:ext cx="1607827" cy="4641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sz="600" b="0" dirty="0"/>
                <a:t>f</a:t>
              </a:r>
              <a:r>
                <a:rPr kumimoji="0" lang="en-US" sz="600" b="0" i="0" u="none" strike="noStrike" cap="none" spc="0" normalizeH="0" baseline="0" dirty="0">
                  <a:ln>
                    <a:noFill/>
                  </a:ln>
                  <a:solidFill>
                    <a:srgbClr val="4C4C4C"/>
                  </a:solidFill>
                  <a:effectLst/>
                  <a:uFillTx/>
                  <a:latin typeface="Source Sans Pro"/>
                  <a:ea typeface="Source Sans Pro"/>
                  <a:cs typeface="Source Sans Pro"/>
                  <a:sym typeface="Source Sans Pro"/>
                </a:rPr>
                <a:t>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a:p>
              <a:pPr marL="0" marR="0" indent="0" algn="l" defTabSz="584200" rtl="0" fontAlgn="auto" latinLnBrk="0" hangingPunct="0">
                <a:lnSpc>
                  <a:spcPct val="100000"/>
                </a:lnSpc>
                <a:spcBef>
                  <a:spcPts val="200"/>
                </a:spcBef>
                <a:spcAft>
                  <a:spcPts val="0"/>
                </a:spcAft>
                <a:buClrTx/>
                <a:buSzTx/>
                <a:buFontTx/>
                <a:buNone/>
                <a:tabLst/>
              </a:pPr>
              <a:r>
                <a:rPr lang="en-US" sz="600" b="0" dirty="0"/>
                <a:t>function() …</a:t>
              </a:r>
            </a:p>
          </p:txBody>
        </p:sp>
        <p:sp>
          <p:nvSpPr>
            <p:cNvPr id="496" name="TextBox 495">
              <a:extLst>
                <a:ext uri="{FF2B5EF4-FFF2-40B4-BE49-F238E27FC236}">
                  <a16:creationId xmlns:a16="http://schemas.microsoft.com/office/drawing/2014/main" id="{CF98DEAF-9A1E-16DB-76F1-2A4275BE5F41}"/>
                </a:ext>
              </a:extLst>
            </p:cNvPr>
            <p:cNvSpPr txBox="1"/>
            <p:nvPr/>
          </p:nvSpPr>
          <p:spPr>
            <a:xfrm>
              <a:off x="6632322" y="2635186"/>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b="0" i="0" u="none" strike="noStrike" cap="none" spc="0" normalizeH="0" baseline="0" dirty="0">
                  <a:ln>
                    <a:noFill/>
                  </a:ln>
                  <a:solidFill>
                    <a:srgbClr val="4C4C4C"/>
                  </a:solidFill>
                  <a:effectLst/>
                  <a:uFillTx/>
                  <a:latin typeface="Source Sans Pro"/>
                  <a:ea typeface="Source Sans Pro"/>
                  <a:cs typeface="Source Sans Pro"/>
                  <a:sym typeface="Source Sans Pro"/>
                </a:rPr>
                <a:t>Transforms</a:t>
              </a:r>
              <a:endParaRPr lang="en-US" sz="800" b="0" dirty="0"/>
            </a:p>
          </p:txBody>
        </p:sp>
        <p:pic>
          <p:nvPicPr>
            <p:cNvPr id="497" name="Graphic 496" descr="Paper outline">
              <a:extLst>
                <a:ext uri="{FF2B5EF4-FFF2-40B4-BE49-F238E27FC236}">
                  <a16:creationId xmlns:a16="http://schemas.microsoft.com/office/drawing/2014/main" id="{3D92D0A9-4A65-063D-207E-6AC4CBF7B0B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767401" y="3574257"/>
              <a:ext cx="1118249" cy="1118249"/>
            </a:xfrm>
            <a:prstGeom prst="rect">
              <a:avLst/>
            </a:prstGeom>
          </p:spPr>
        </p:pic>
        <p:sp>
          <p:nvSpPr>
            <p:cNvPr id="503" name="TextBox 502">
              <a:extLst>
                <a:ext uri="{FF2B5EF4-FFF2-40B4-BE49-F238E27FC236}">
                  <a16:creationId xmlns:a16="http://schemas.microsoft.com/office/drawing/2014/main" id="{D91B20E7-66D1-0461-EFFC-AA262B2A1904}"/>
                </a:ext>
              </a:extLst>
            </p:cNvPr>
            <p:cNvSpPr txBox="1"/>
            <p:nvPr/>
          </p:nvSpPr>
          <p:spPr>
            <a:xfrm>
              <a:off x="7988311" y="3948985"/>
              <a:ext cx="676428" cy="2897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algn="ctr"/>
              <a:r>
                <a:rPr lang="en-US" sz="1000" b="0" dirty="0"/>
                <a:t>testthat</a:t>
              </a:r>
              <a:endParaRPr kumimoji="0" lang="en-US" sz="1000" b="0" i="0" u="none" strike="noStrike" cap="none" spc="0" normalizeH="0" baseline="0" dirty="0">
                <a:ln>
                  <a:noFill/>
                </a:ln>
                <a:effectLst/>
                <a:uFillTx/>
                <a:latin typeface="Source Sans Pro"/>
                <a:ea typeface="Source Sans Pro"/>
                <a:cs typeface="Source Sans Pro"/>
                <a:sym typeface="Source Sans Pro"/>
              </a:endParaRPr>
            </a:p>
          </p:txBody>
        </p:sp>
        <p:sp>
          <p:nvSpPr>
            <p:cNvPr id="505" name="Google Shape;346;p17">
              <a:extLst>
                <a:ext uri="{FF2B5EF4-FFF2-40B4-BE49-F238E27FC236}">
                  <a16:creationId xmlns:a16="http://schemas.microsoft.com/office/drawing/2014/main" id="{832E26D1-9346-A8BF-2B66-B04E07A4B3EC}"/>
                </a:ext>
              </a:extLst>
            </p:cNvPr>
            <p:cNvSpPr/>
            <p:nvPr/>
          </p:nvSpPr>
          <p:spPr>
            <a:xfrm>
              <a:off x="8058998" y="3974643"/>
              <a:ext cx="549624" cy="255847"/>
            </a:xfrm>
            <a:prstGeom prst="rect">
              <a:avLst/>
            </a:prstGeom>
            <a:noFill/>
            <a:ln w="9525" cap="flat" cmpd="sng">
              <a:solidFill>
                <a:schemeClr val="dk2"/>
              </a:solidFill>
              <a:prstDash val="solid"/>
              <a:round/>
              <a:headEnd type="none" w="sm" len="sm"/>
              <a:tailEnd type="none" w="sm" len="sm"/>
            </a:ln>
          </p:spPr>
          <p:txBody>
            <a:bodyPr spcFirstLastPara="1" wrap="square" lIns="139677" tIns="139677" rIns="139677" bIns="139677" anchor="ctr" anchorCtr="0">
              <a:noAutofit/>
            </a:bodyPr>
            <a:lstStyle/>
            <a:p>
              <a:pPr>
                <a:spcBef>
                  <a:spcPts val="0"/>
                </a:spcBef>
              </a:pPr>
              <a:endParaRPr sz="1833"/>
            </a:p>
          </p:txBody>
        </p:sp>
        <p:sp>
          <p:nvSpPr>
            <p:cNvPr id="506" name="Google Shape;317;p17">
              <a:extLst>
                <a:ext uri="{FF2B5EF4-FFF2-40B4-BE49-F238E27FC236}">
                  <a16:creationId xmlns:a16="http://schemas.microsoft.com/office/drawing/2014/main" id="{65EB1868-5E08-0B6C-EC00-1B63569E6E38}"/>
                </a:ext>
              </a:extLst>
            </p:cNvPr>
            <p:cNvSpPr txBox="1"/>
            <p:nvPr/>
          </p:nvSpPr>
          <p:spPr>
            <a:xfrm>
              <a:off x="5374535" y="3665296"/>
              <a:ext cx="1320250" cy="541969"/>
            </a:xfrm>
            <a:prstGeom prst="rect">
              <a:avLst/>
            </a:prstGeom>
            <a:noFill/>
            <a:ln>
              <a:noFill/>
            </a:ln>
          </p:spPr>
          <p:txBody>
            <a:bodyPr spcFirstLastPara="1" wrap="square" lIns="295319" tIns="295319" rIns="295319" bIns="295319" anchor="t" anchorCtr="0">
              <a:noAutofit/>
            </a:bodyPr>
            <a:lstStyle/>
            <a:p>
              <a:pPr algn="ctr">
                <a:spcBef>
                  <a:spcPts val="0"/>
                </a:spcBef>
              </a:pPr>
              <a:r>
                <a:rPr lang="en" sz="800" b="0" dirty="0"/>
                <a:t>Example Fake Data</a:t>
              </a:r>
              <a:endParaRPr sz="800" b="0" dirty="0"/>
            </a:p>
          </p:txBody>
        </p:sp>
        <p:sp>
          <p:nvSpPr>
            <p:cNvPr id="507" name="Google Shape;306;p17">
              <a:extLst>
                <a:ext uri="{FF2B5EF4-FFF2-40B4-BE49-F238E27FC236}">
                  <a16:creationId xmlns:a16="http://schemas.microsoft.com/office/drawing/2014/main" id="{49F5A67F-AA14-BABB-4405-6BEBF8CA3ECB}"/>
                </a:ext>
              </a:extLst>
            </p:cNvPr>
            <p:cNvSpPr txBox="1"/>
            <p:nvPr/>
          </p:nvSpPr>
          <p:spPr>
            <a:xfrm>
              <a:off x="6553295" y="3060003"/>
              <a:ext cx="1136939" cy="610729"/>
            </a:xfrm>
            <a:prstGeom prst="rect">
              <a:avLst/>
            </a:prstGeom>
            <a:noFill/>
            <a:ln>
              <a:noFill/>
            </a:ln>
          </p:spPr>
          <p:txBody>
            <a:bodyPr spcFirstLastPara="1" wrap="square" lIns="295319" tIns="295319" rIns="295319" bIns="295319" anchor="t" anchorCtr="0">
              <a:noAutofit/>
            </a:bodyPr>
            <a:lstStyle/>
            <a:p>
              <a:pPr algn="ctr">
                <a:spcBef>
                  <a:spcPts val="0"/>
                </a:spcBef>
              </a:pPr>
              <a:r>
                <a:rPr lang="en" sz="1400" dirty="0">
                  <a:solidFill>
                    <a:schemeClr val="dk2"/>
                  </a:solidFill>
                </a:rPr>
                <a:t>Git.R</a:t>
              </a:r>
              <a:endParaRPr sz="1400" dirty="0">
                <a:solidFill>
                  <a:schemeClr val="dk2"/>
                </a:solidFill>
              </a:endParaRPr>
            </a:p>
          </p:txBody>
        </p:sp>
        <p:sp>
          <p:nvSpPr>
            <p:cNvPr id="513" name="Google Shape;306;p17">
              <a:extLst>
                <a:ext uri="{FF2B5EF4-FFF2-40B4-BE49-F238E27FC236}">
                  <a16:creationId xmlns:a16="http://schemas.microsoft.com/office/drawing/2014/main" id="{DF44DD4C-5BC5-52E4-EA75-250213AF4331}"/>
                </a:ext>
              </a:extLst>
            </p:cNvPr>
            <p:cNvSpPr txBox="1"/>
            <p:nvPr/>
          </p:nvSpPr>
          <p:spPr>
            <a:xfrm>
              <a:off x="4592292" y="2759838"/>
              <a:ext cx="961423" cy="212651"/>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JIRA.R</a:t>
              </a:r>
              <a:endParaRPr sz="1000" b="0" dirty="0">
                <a:solidFill>
                  <a:schemeClr val="dk2"/>
                </a:solidFill>
              </a:endParaRPr>
            </a:p>
          </p:txBody>
        </p:sp>
        <p:cxnSp>
          <p:nvCxnSpPr>
            <p:cNvPr id="514" name="Connector: Elbow 513">
              <a:extLst>
                <a:ext uri="{FF2B5EF4-FFF2-40B4-BE49-F238E27FC236}">
                  <a16:creationId xmlns:a16="http://schemas.microsoft.com/office/drawing/2014/main" id="{A1B5E119-CC49-44DB-A2DF-2AE8E468F052}"/>
                </a:ext>
              </a:extLst>
            </p:cNvPr>
            <p:cNvCxnSpPr>
              <a:cxnSpLocks/>
            </p:cNvCxnSpPr>
            <p:nvPr/>
          </p:nvCxnSpPr>
          <p:spPr>
            <a:xfrm rot="16200000" flipH="1">
              <a:off x="7061823" y="2181018"/>
              <a:ext cx="1650573" cy="1223096"/>
            </a:xfrm>
            <a:prstGeom prst="bentConnector3">
              <a:avLst>
                <a:gd name="adj1" fmla="val 864"/>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15" name="Connector: Elbow 514">
              <a:extLst>
                <a:ext uri="{FF2B5EF4-FFF2-40B4-BE49-F238E27FC236}">
                  <a16:creationId xmlns:a16="http://schemas.microsoft.com/office/drawing/2014/main" id="{DC54CBC7-3EED-7219-B1E2-60FB37A84A0E}"/>
                </a:ext>
              </a:extLst>
            </p:cNvPr>
            <p:cNvCxnSpPr>
              <a:cxnSpLocks/>
            </p:cNvCxnSpPr>
            <p:nvPr/>
          </p:nvCxnSpPr>
          <p:spPr>
            <a:xfrm>
              <a:off x="7027821" y="2361669"/>
              <a:ext cx="1301263" cy="1256183"/>
            </a:xfrm>
            <a:prstGeom prst="bentConnector3">
              <a:avLst>
                <a:gd name="adj1" fmla="val 99800"/>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17" name="Connector: Elbow 516">
              <a:extLst>
                <a:ext uri="{FF2B5EF4-FFF2-40B4-BE49-F238E27FC236}">
                  <a16:creationId xmlns:a16="http://schemas.microsoft.com/office/drawing/2014/main" id="{8B063B3A-DD2D-DB79-B198-25C6173C62D3}"/>
                </a:ext>
              </a:extLst>
            </p:cNvPr>
            <p:cNvCxnSpPr>
              <a:cxnSpLocks/>
            </p:cNvCxnSpPr>
            <p:nvPr/>
          </p:nvCxnSpPr>
          <p:spPr>
            <a:xfrm>
              <a:off x="7186626" y="2777000"/>
              <a:ext cx="973858" cy="840853"/>
            </a:xfrm>
            <a:prstGeom prst="bentConnector3">
              <a:avLst>
                <a:gd name="adj1" fmla="val 99805"/>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521" name="TextBox 520">
              <a:extLst>
                <a:ext uri="{FF2B5EF4-FFF2-40B4-BE49-F238E27FC236}">
                  <a16:creationId xmlns:a16="http://schemas.microsoft.com/office/drawing/2014/main" id="{37974DA1-7922-C744-6655-220DE105675B}"/>
                </a:ext>
              </a:extLst>
            </p:cNvPr>
            <p:cNvSpPr txBox="1"/>
            <p:nvPr/>
          </p:nvSpPr>
          <p:spPr>
            <a:xfrm>
              <a:off x="6637886" y="3048963"/>
              <a:ext cx="1159502" cy="258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US" sz="800" i="0" u="none" strike="noStrike" cap="none" spc="0" normalizeH="0" baseline="0" dirty="0">
                  <a:ln>
                    <a:noFill/>
                  </a:ln>
                  <a:solidFill>
                    <a:srgbClr val="4C4C4C"/>
                  </a:solidFill>
                  <a:effectLst/>
                  <a:uFillTx/>
                  <a:latin typeface="Source Sans Pro"/>
                  <a:ea typeface="Source Sans Pro"/>
                  <a:cs typeface="Source Sans Pro"/>
                  <a:sym typeface="Source Sans Pro"/>
                </a:rPr>
                <a:t>Fake Data Generator</a:t>
              </a:r>
              <a:endParaRPr lang="en-US" sz="800" dirty="0"/>
            </a:p>
          </p:txBody>
        </p:sp>
        <p:cxnSp>
          <p:nvCxnSpPr>
            <p:cNvPr id="522" name="Connector: Elbow 521">
              <a:extLst>
                <a:ext uri="{FF2B5EF4-FFF2-40B4-BE49-F238E27FC236}">
                  <a16:creationId xmlns:a16="http://schemas.microsoft.com/office/drawing/2014/main" id="{4B5476CF-1B4E-640A-F9CD-7F1CDF0EBF35}"/>
                </a:ext>
              </a:extLst>
            </p:cNvPr>
            <p:cNvCxnSpPr>
              <a:cxnSpLocks/>
              <a:endCxn id="46" idx="0"/>
            </p:cNvCxnSpPr>
            <p:nvPr/>
          </p:nvCxnSpPr>
          <p:spPr>
            <a:xfrm rot="10800000" flipV="1">
              <a:off x="6031953" y="3190853"/>
              <a:ext cx="650776" cy="320897"/>
            </a:xfrm>
            <a:prstGeom prst="bentConnector2">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523" name="Google Shape;445;p18">
              <a:extLst>
                <a:ext uri="{FF2B5EF4-FFF2-40B4-BE49-F238E27FC236}">
                  <a16:creationId xmlns:a16="http://schemas.microsoft.com/office/drawing/2014/main" id="{2473A369-4C4A-D4E9-F225-637B96EBBECF}"/>
                </a:ext>
              </a:extLst>
            </p:cNvPr>
            <p:cNvCxnSpPr>
              <a:cxnSpLocks/>
            </p:cNvCxnSpPr>
            <p:nvPr/>
          </p:nvCxnSpPr>
          <p:spPr>
            <a:xfrm>
              <a:off x="6430915" y="4093856"/>
              <a:ext cx="1475409" cy="0"/>
            </a:xfrm>
            <a:prstGeom prst="straightConnector1">
              <a:avLst/>
            </a:prstGeom>
            <a:noFill/>
            <a:ln w="28575" cap="flat" cmpd="sng">
              <a:solidFill>
                <a:srgbClr val="1B1311"/>
              </a:solidFill>
              <a:prstDash val="solid"/>
              <a:round/>
              <a:headEnd type="none" w="med" len="med"/>
              <a:tailEnd type="triangle" w="med" len="med"/>
            </a:ln>
          </p:spPr>
        </p:cxnSp>
        <p:pic>
          <p:nvPicPr>
            <p:cNvPr id="575" name="Graphic 574" descr="Paper outline">
              <a:extLst>
                <a:ext uri="{FF2B5EF4-FFF2-40B4-BE49-F238E27FC236}">
                  <a16:creationId xmlns:a16="http://schemas.microsoft.com/office/drawing/2014/main" id="{921B29C5-525B-AB05-4E51-31F90FA52D1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376995" y="1947050"/>
              <a:ext cx="388976" cy="388976"/>
            </a:xfrm>
            <a:prstGeom prst="rect">
              <a:avLst/>
            </a:prstGeom>
          </p:spPr>
        </p:pic>
        <p:sp>
          <p:nvSpPr>
            <p:cNvPr id="576" name="Google Shape;306;p17">
              <a:extLst>
                <a:ext uri="{FF2B5EF4-FFF2-40B4-BE49-F238E27FC236}">
                  <a16:creationId xmlns:a16="http://schemas.microsoft.com/office/drawing/2014/main" id="{5F0E6427-31E7-118F-555E-3A47235262D5}"/>
                </a:ext>
              </a:extLst>
            </p:cNvPr>
            <p:cNvSpPr txBox="1"/>
            <p:nvPr/>
          </p:nvSpPr>
          <p:spPr>
            <a:xfrm>
              <a:off x="4599760" y="3512382"/>
              <a:ext cx="928261"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src.R</a:t>
              </a:r>
              <a:endParaRPr sz="1000" b="0" dirty="0">
                <a:solidFill>
                  <a:schemeClr val="dk2"/>
                </a:solidFill>
              </a:endParaRPr>
            </a:p>
          </p:txBody>
        </p:sp>
        <p:pic>
          <p:nvPicPr>
            <p:cNvPr id="577" name="Graphic 576" descr="Paper outline">
              <a:extLst>
                <a:ext uri="{FF2B5EF4-FFF2-40B4-BE49-F238E27FC236}">
                  <a16:creationId xmlns:a16="http://schemas.microsoft.com/office/drawing/2014/main" id="{55848146-4C4D-77AE-4E04-67490A9EAC1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878516" y="1954410"/>
              <a:ext cx="388976" cy="388976"/>
            </a:xfrm>
            <a:prstGeom prst="rect">
              <a:avLst/>
            </a:prstGeom>
          </p:spPr>
        </p:pic>
        <p:pic>
          <p:nvPicPr>
            <p:cNvPr id="578" name="Graphic 577" descr="Paper outline">
              <a:extLst>
                <a:ext uri="{FF2B5EF4-FFF2-40B4-BE49-F238E27FC236}">
                  <a16:creationId xmlns:a16="http://schemas.microsoft.com/office/drawing/2014/main" id="{67C4D7BF-CD0F-3CDC-0A3E-69C8F928C5B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878516" y="2516445"/>
              <a:ext cx="388976" cy="388976"/>
            </a:xfrm>
            <a:prstGeom prst="rect">
              <a:avLst/>
            </a:prstGeom>
          </p:spPr>
        </p:pic>
        <p:pic>
          <p:nvPicPr>
            <p:cNvPr id="579" name="Graphic 578" descr="Paper outline">
              <a:extLst>
                <a:ext uri="{FF2B5EF4-FFF2-40B4-BE49-F238E27FC236}">
                  <a16:creationId xmlns:a16="http://schemas.microsoft.com/office/drawing/2014/main" id="{BAD4E5A7-752E-9B40-829E-90A1354C8AA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869403" y="3375411"/>
              <a:ext cx="388976" cy="388976"/>
            </a:xfrm>
            <a:prstGeom prst="rect">
              <a:avLst/>
            </a:prstGeom>
          </p:spPr>
        </p:pic>
        <p:sp>
          <p:nvSpPr>
            <p:cNvPr id="580" name="Google Shape;306;p17">
              <a:extLst>
                <a:ext uri="{FF2B5EF4-FFF2-40B4-BE49-F238E27FC236}">
                  <a16:creationId xmlns:a16="http://schemas.microsoft.com/office/drawing/2014/main" id="{BF1AEB91-BC76-46DD-9DE6-A5BDABD487D4}"/>
                </a:ext>
              </a:extLst>
            </p:cNvPr>
            <p:cNvSpPr txBox="1"/>
            <p:nvPr/>
          </p:nvSpPr>
          <p:spPr>
            <a:xfrm>
              <a:off x="5098334" y="2170878"/>
              <a:ext cx="940079" cy="24014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Git.R</a:t>
              </a:r>
              <a:endParaRPr sz="1000" b="0" dirty="0">
                <a:solidFill>
                  <a:schemeClr val="dk2"/>
                </a:solidFill>
              </a:endParaRPr>
            </a:p>
          </p:txBody>
        </p:sp>
        <p:sp>
          <p:nvSpPr>
            <p:cNvPr id="581" name="Google Shape;306;p17">
              <a:extLst>
                <a:ext uri="{FF2B5EF4-FFF2-40B4-BE49-F238E27FC236}">
                  <a16:creationId xmlns:a16="http://schemas.microsoft.com/office/drawing/2014/main" id="{4B1568E8-BB16-37B5-6617-5539011E1AB6}"/>
                </a:ext>
              </a:extLst>
            </p:cNvPr>
            <p:cNvSpPr txBox="1"/>
            <p:nvPr/>
          </p:nvSpPr>
          <p:spPr>
            <a:xfrm>
              <a:off x="4579241" y="2100827"/>
              <a:ext cx="987526"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000" b="0" dirty="0">
                  <a:solidFill>
                    <a:schemeClr val="dk2"/>
                  </a:solidFill>
                </a:rPr>
                <a:t>Mail.R</a:t>
              </a:r>
              <a:endParaRPr sz="1000" b="0" dirty="0">
                <a:solidFill>
                  <a:schemeClr val="dk2"/>
                </a:solidFill>
              </a:endParaRPr>
            </a:p>
          </p:txBody>
        </p:sp>
        <p:sp>
          <p:nvSpPr>
            <p:cNvPr id="585" name="Oval 584">
              <a:extLst>
                <a:ext uri="{FF2B5EF4-FFF2-40B4-BE49-F238E27FC236}">
                  <a16:creationId xmlns:a16="http://schemas.microsoft.com/office/drawing/2014/main" id="{7D296947-2AD8-062B-0C00-74084360223D}"/>
                </a:ext>
              </a:extLst>
            </p:cNvPr>
            <p:cNvSpPr/>
            <p:nvPr/>
          </p:nvSpPr>
          <p:spPr>
            <a:xfrm>
              <a:off x="5299585" y="1931604"/>
              <a:ext cx="550867" cy="525694"/>
            </a:xfrm>
            <a:prstGeom prst="ellipse">
              <a:avLst/>
            </a:prstGeom>
            <a:noFill/>
            <a:ln w="12700" cap="flat">
              <a:solidFill>
                <a:srgbClr val="4C4C4C"/>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sp>
          <p:nvSpPr>
            <p:cNvPr id="586" name="Oval 585">
              <a:extLst>
                <a:ext uri="{FF2B5EF4-FFF2-40B4-BE49-F238E27FC236}">
                  <a16:creationId xmlns:a16="http://schemas.microsoft.com/office/drawing/2014/main" id="{F9E6C114-E6C4-6357-9E5A-016161C95878}"/>
                </a:ext>
              </a:extLst>
            </p:cNvPr>
            <p:cNvSpPr/>
            <p:nvPr/>
          </p:nvSpPr>
          <p:spPr>
            <a:xfrm>
              <a:off x="6052480" y="1577156"/>
              <a:ext cx="2158097" cy="2196943"/>
            </a:xfrm>
            <a:prstGeom prst="ellipse">
              <a:avLst/>
            </a:prstGeom>
            <a:noFill/>
            <a:ln w="12700" cap="flat">
              <a:solidFill>
                <a:srgbClr val="4C4C4C"/>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cxnSp>
          <p:nvCxnSpPr>
            <p:cNvPr id="587" name="Straight Connector 586">
              <a:extLst>
                <a:ext uri="{FF2B5EF4-FFF2-40B4-BE49-F238E27FC236}">
                  <a16:creationId xmlns:a16="http://schemas.microsoft.com/office/drawing/2014/main" id="{B9B2AFC5-1C9C-446C-7DA8-3D5930E225FA}"/>
                </a:ext>
              </a:extLst>
            </p:cNvPr>
            <p:cNvCxnSpPr>
              <a:cxnSpLocks/>
              <a:endCxn id="585" idx="3"/>
            </p:cNvCxnSpPr>
            <p:nvPr/>
          </p:nvCxnSpPr>
          <p:spPr>
            <a:xfrm flipH="1" flipV="1">
              <a:off x="5380258" y="2380312"/>
              <a:ext cx="756816" cy="744979"/>
            </a:xfrm>
            <a:prstGeom prst="line">
              <a:avLst/>
            </a:prstGeom>
            <a:ln w="127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91" name="Straight Connector 590">
              <a:extLst>
                <a:ext uri="{FF2B5EF4-FFF2-40B4-BE49-F238E27FC236}">
                  <a16:creationId xmlns:a16="http://schemas.microsoft.com/office/drawing/2014/main" id="{2177D889-3122-FD24-8C95-74BF28ACB466}"/>
                </a:ext>
              </a:extLst>
            </p:cNvPr>
            <p:cNvCxnSpPr>
              <a:cxnSpLocks/>
              <a:endCxn id="585" idx="0"/>
            </p:cNvCxnSpPr>
            <p:nvPr/>
          </p:nvCxnSpPr>
          <p:spPr>
            <a:xfrm flipH="1">
              <a:off x="5575019" y="1642390"/>
              <a:ext cx="1215870" cy="289214"/>
            </a:xfrm>
            <a:prstGeom prst="line">
              <a:avLst/>
            </a:prstGeom>
            <a:ln w="1270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94" name="TextBox 593">
              <a:extLst>
                <a:ext uri="{FF2B5EF4-FFF2-40B4-BE49-F238E27FC236}">
                  <a16:creationId xmlns:a16="http://schemas.microsoft.com/office/drawing/2014/main" id="{CAB2492D-7EFB-A5DE-CF3B-02FFEB8BC82C}"/>
                </a:ext>
              </a:extLst>
            </p:cNvPr>
            <p:cNvSpPr txBox="1"/>
            <p:nvPr/>
          </p:nvSpPr>
          <p:spPr>
            <a:xfrm>
              <a:off x="4914543" y="2980917"/>
              <a:ext cx="536368" cy="5308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dirty="0"/>
                <a:t>.</a:t>
              </a: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595" name="Google Shape;312;p17">
              <a:extLst>
                <a:ext uri="{FF2B5EF4-FFF2-40B4-BE49-F238E27FC236}">
                  <a16:creationId xmlns:a16="http://schemas.microsoft.com/office/drawing/2014/main" id="{02CCCE64-AAC9-9120-7C8A-62F2B5CAF100}"/>
                </a:ext>
              </a:extLst>
            </p:cNvPr>
            <p:cNvSpPr txBox="1"/>
            <p:nvPr/>
          </p:nvSpPr>
          <p:spPr>
            <a:xfrm>
              <a:off x="4927776" y="4336877"/>
              <a:ext cx="2240541" cy="405425"/>
            </a:xfrm>
            <a:prstGeom prst="rect">
              <a:avLst/>
            </a:prstGeom>
            <a:noFill/>
            <a:ln>
              <a:noFill/>
            </a:ln>
          </p:spPr>
          <p:txBody>
            <a:bodyPr spcFirstLastPara="1" wrap="square" lIns="295319" tIns="295319" rIns="295319" bIns="295319" anchor="t" anchorCtr="0">
              <a:noAutofit/>
            </a:bodyPr>
            <a:lstStyle/>
            <a:p>
              <a:pPr algn="ctr">
                <a:spcBef>
                  <a:spcPts val="0"/>
                </a:spcBef>
              </a:pPr>
              <a:r>
                <a:rPr lang="en" sz="1400" dirty="0"/>
                <a:t>Example.R</a:t>
              </a:r>
              <a:endParaRPr sz="1400" dirty="0"/>
            </a:p>
          </p:txBody>
        </p:sp>
        <p:sp>
          <p:nvSpPr>
            <p:cNvPr id="597" name="TextBox 596">
              <a:extLst>
                <a:ext uri="{FF2B5EF4-FFF2-40B4-BE49-F238E27FC236}">
                  <a16:creationId xmlns:a16="http://schemas.microsoft.com/office/drawing/2014/main" id="{66C44D99-9880-3BEE-83B3-41C8F34B149E}"/>
                </a:ext>
              </a:extLst>
            </p:cNvPr>
            <p:cNvSpPr txBox="1"/>
            <p:nvPr/>
          </p:nvSpPr>
          <p:spPr>
            <a:xfrm>
              <a:off x="4913160" y="2879763"/>
              <a:ext cx="366168" cy="74114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lang="en-US" dirty="0"/>
                <a:t>.</a:t>
              </a:r>
            </a:p>
            <a:p>
              <a:pPr marL="0" marR="0" indent="0" algn="l" defTabSz="584200" rtl="0" fontAlgn="auto" latinLnBrk="0" hangingPunct="0">
                <a:lnSpc>
                  <a:spcPct val="100000"/>
                </a:lnSpc>
                <a:spcBef>
                  <a:spcPts val="200"/>
                </a:spcBef>
                <a:spcAft>
                  <a:spcPts val="0"/>
                </a:spcAft>
                <a:buClrTx/>
                <a:buSzTx/>
                <a:buFontTx/>
                <a:buNone/>
                <a:tabLst/>
              </a:pPr>
              <a:r>
                <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rPr>
                <a:t>.</a:t>
              </a:r>
            </a:p>
            <a:p>
              <a:pPr marL="0" marR="0" indent="0" algn="l" defTabSz="584200" rtl="0" fontAlgn="auto" latinLnBrk="0" hangingPunct="0">
                <a:lnSpc>
                  <a:spcPct val="100000"/>
                </a:lnSpc>
                <a:spcBef>
                  <a:spcPts val="200"/>
                </a:spcBef>
                <a:spcAft>
                  <a:spcPts val="0"/>
                </a:spcAft>
                <a:buClrTx/>
                <a:buSzTx/>
                <a:buFontTx/>
                <a:buNone/>
                <a:tabLst/>
              </a:pPr>
              <a:endParaRPr kumimoji="0" lang="en-US"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6" name="Rectangle 5">
              <a:extLst>
                <a:ext uri="{FF2B5EF4-FFF2-40B4-BE49-F238E27FC236}">
                  <a16:creationId xmlns:a16="http://schemas.microsoft.com/office/drawing/2014/main" id="{A3B21469-8867-C732-67CA-636523E753D7}"/>
                </a:ext>
              </a:extLst>
            </p:cNvPr>
            <p:cNvSpPr/>
            <p:nvPr/>
          </p:nvSpPr>
          <p:spPr>
            <a:xfrm>
              <a:off x="4687649" y="1449980"/>
              <a:ext cx="4067130" cy="3392424"/>
            </a:xfrm>
            <a:prstGeom prst="rect">
              <a:avLst/>
            </a:prstGeom>
            <a:noFill/>
            <a:ln w="12700" cap="flat">
              <a:solidFill>
                <a:schemeClr val="bg2">
                  <a:lumMod val="10000"/>
                </a:schemeClr>
              </a:solidFill>
              <a:prstDash val="sys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7" name="Google Shape;236;p15">
              <a:extLst>
                <a:ext uri="{FF2B5EF4-FFF2-40B4-BE49-F238E27FC236}">
                  <a16:creationId xmlns:a16="http://schemas.microsoft.com/office/drawing/2014/main" id="{EF4C859B-A1A1-1F01-923B-C150B8AE9ACD}"/>
                </a:ext>
              </a:extLst>
            </p:cNvPr>
            <p:cNvSpPr/>
            <p:nvPr/>
          </p:nvSpPr>
          <p:spPr>
            <a:xfrm>
              <a:off x="4717134" y="1477850"/>
              <a:ext cx="322763" cy="299514"/>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9" name="Google Shape;237;p15">
              <a:extLst>
                <a:ext uri="{FF2B5EF4-FFF2-40B4-BE49-F238E27FC236}">
                  <a16:creationId xmlns:a16="http://schemas.microsoft.com/office/drawing/2014/main" id="{1CFED1A8-EC9F-1DAA-FB55-DDC425FDF08D}"/>
                </a:ext>
              </a:extLst>
            </p:cNvPr>
            <p:cNvSpPr txBox="1"/>
            <p:nvPr/>
          </p:nvSpPr>
          <p:spPr>
            <a:xfrm>
              <a:off x="4649821" y="1386286"/>
              <a:ext cx="547745" cy="274024"/>
            </a:xfrm>
            <a:prstGeom prst="rect">
              <a:avLst/>
            </a:prstGeom>
            <a:noFill/>
            <a:ln>
              <a:noFill/>
            </a:ln>
          </p:spPr>
          <p:txBody>
            <a:bodyPr spcFirstLastPara="1" wrap="square" lIns="127722" tIns="127722" rIns="127722" bIns="127722" anchor="t" anchorCtr="0">
              <a:noAutofit/>
            </a:bodyPr>
            <a:lstStyle/>
            <a:p>
              <a:pPr>
                <a:spcBef>
                  <a:spcPts val="0"/>
                </a:spcBef>
              </a:pPr>
              <a:r>
                <a:rPr lang="en" sz="1400" dirty="0">
                  <a:solidFill>
                    <a:schemeClr val="lt1"/>
                  </a:solidFill>
                </a:rPr>
                <a:t>GH</a:t>
              </a:r>
              <a:endParaRPr sz="1400" dirty="0">
                <a:solidFill>
                  <a:schemeClr val="lt1"/>
                </a:solidFill>
              </a:endParaRPr>
            </a:p>
          </p:txBody>
        </p:sp>
      </p:grpSp>
      <p:sp>
        <p:nvSpPr>
          <p:cNvPr id="13" name="Use headers, colors, and/or backgrounds to separate or group together sections.">
            <a:extLst>
              <a:ext uri="{FF2B5EF4-FFF2-40B4-BE49-F238E27FC236}">
                <a16:creationId xmlns:a16="http://schemas.microsoft.com/office/drawing/2014/main" id="{3DE6AF9A-BC85-A053-4899-1EB88808CF64}"/>
              </a:ext>
            </a:extLst>
          </p:cNvPr>
          <p:cNvSpPr txBox="1"/>
          <p:nvPr/>
        </p:nvSpPr>
        <p:spPr>
          <a:xfrm>
            <a:off x="4705325" y="3231443"/>
            <a:ext cx="4251862" cy="4426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Tests for Kaiaulu are made using R’s testthat framework. Fake examples are used for parser tests, which parse fake data.</a:t>
            </a:r>
          </a:p>
        </p:txBody>
      </p:sp>
      <p:sp>
        <p:nvSpPr>
          <p:cNvPr id="14" name="Use headers, colors, and/or backgrounds to separate or group together sections.">
            <a:extLst>
              <a:ext uri="{FF2B5EF4-FFF2-40B4-BE49-F238E27FC236}">
                <a16:creationId xmlns:a16="http://schemas.microsoft.com/office/drawing/2014/main" id="{8E613189-A4D6-51F1-6CFC-0AA43F4EC99B}"/>
              </a:ext>
            </a:extLst>
          </p:cNvPr>
          <p:cNvSpPr txBox="1"/>
          <p:nvPr/>
        </p:nvSpPr>
        <p:spPr>
          <a:xfrm>
            <a:off x="4703078" y="2524315"/>
            <a:ext cx="4251862" cy="4426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Light"/>
              </a:rPr>
              <a:t>Kaiaulu’s </a:t>
            </a:r>
            <a:r>
              <a:rPr lang="en-US" b="0" dirty="0" err="1">
                <a:solidFill>
                  <a:srgbClr val="000000"/>
                </a:solidFill>
                <a:latin typeface="Source Sans Pro" panose="020B0503030403020204" pitchFamily="34" charset="0"/>
                <a:ea typeface="Source Sans Pro" panose="020B0503030403020204" pitchFamily="34" charset="0"/>
                <a:sym typeface="Source Sans Pro Light"/>
              </a:rPr>
              <a:t>Example.R</a:t>
            </a:r>
            <a:r>
              <a:rPr lang="en-US" b="0" dirty="0">
                <a:solidFill>
                  <a:srgbClr val="000000"/>
                </a:solidFill>
                <a:latin typeface="Source Sans Pro" panose="020B0503030403020204" pitchFamily="34" charset="0"/>
                <a:ea typeface="Source Sans Pro" panose="020B0503030403020204" pitchFamily="34" charset="0"/>
                <a:sym typeface="Source Sans Pro Light"/>
              </a:rPr>
              <a:t> is used to create fake data examples. These mimic real raw data unexpected cases. </a:t>
            </a:r>
          </a:p>
        </p:txBody>
      </p:sp>
      <p:pic>
        <p:nvPicPr>
          <p:cNvPr id="16" name="Picture 15" descr="The image depicts a simple, clean design featuring two intertwined, colorless circles.&#10;&#10;AI-generated content may be incorrect.">
            <a:extLst>
              <a:ext uri="{FF2B5EF4-FFF2-40B4-BE49-F238E27FC236}">
                <a16:creationId xmlns:a16="http://schemas.microsoft.com/office/drawing/2014/main" id="{B3B68DEE-EE78-4301-E11E-08CA174E7DE8}"/>
              </a:ext>
            </a:extLst>
          </p:cNvPr>
          <p:cNvPicPr>
            <a:picLocks noChangeAspect="1"/>
          </p:cNvPicPr>
          <p:nvPr/>
        </p:nvPicPr>
        <p:blipFill>
          <a:blip r:embed="rId16"/>
          <a:srcRect l="3050" r="4779"/>
          <a:stretch>
            <a:fillRect/>
          </a:stretch>
        </p:blipFill>
        <p:spPr>
          <a:xfrm>
            <a:off x="10212730" y="7933337"/>
            <a:ext cx="341640" cy="348057"/>
          </a:xfrm>
          <a:prstGeom prst="rect">
            <a:avLst/>
          </a:prstGeom>
        </p:spPr>
      </p:pic>
      <p:sp>
        <p:nvSpPr>
          <p:cNvPr id="17" name="Use headers, colors, and/or backgrounds to separate or group together sections.">
            <a:extLst>
              <a:ext uri="{FF2B5EF4-FFF2-40B4-BE49-F238E27FC236}">
                <a16:creationId xmlns:a16="http://schemas.microsoft.com/office/drawing/2014/main" id="{5CD37BDE-4D5C-0119-6FC4-CB153D7E61E1}"/>
              </a:ext>
            </a:extLst>
          </p:cNvPr>
          <p:cNvSpPr txBox="1"/>
          <p:nvPr/>
        </p:nvSpPr>
        <p:spPr>
          <a:xfrm>
            <a:off x="10553488" y="7879773"/>
            <a:ext cx="2703651" cy="29025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sz="1300" dirty="0">
                <a:latin typeface="Source Sans Pro" panose="020B0503030403020204" pitchFamily="34" charset="0"/>
                <a:ea typeface="Source Sans Pro" panose="020B0503030403020204" pitchFamily="34" charset="0"/>
              </a:rPr>
              <a:t>Some checks were not successful</a:t>
            </a:r>
          </a:p>
        </p:txBody>
      </p:sp>
      <p:sp>
        <p:nvSpPr>
          <p:cNvPr id="18" name="Google Shape;244;p15">
            <a:extLst>
              <a:ext uri="{FF2B5EF4-FFF2-40B4-BE49-F238E27FC236}">
                <a16:creationId xmlns:a16="http://schemas.microsoft.com/office/drawing/2014/main" id="{A6EDCABC-868F-1214-B99D-4B85DC9E864F}"/>
              </a:ext>
            </a:extLst>
          </p:cNvPr>
          <p:cNvSpPr txBox="1"/>
          <p:nvPr/>
        </p:nvSpPr>
        <p:spPr>
          <a:xfrm>
            <a:off x="10483111" y="7996936"/>
            <a:ext cx="2232410" cy="321094"/>
          </a:xfrm>
          <a:prstGeom prst="rect">
            <a:avLst/>
          </a:prstGeom>
          <a:noFill/>
          <a:ln>
            <a:noFill/>
          </a:ln>
        </p:spPr>
        <p:txBody>
          <a:bodyPr spcFirstLastPara="1" wrap="square" lIns="127722" tIns="127722" rIns="127722" bIns="127722" anchor="t" anchorCtr="0">
            <a:noAutofit/>
          </a:bodyPr>
          <a:lstStyle/>
          <a:p>
            <a:pPr>
              <a:spcBef>
                <a:spcPts val="0"/>
              </a:spcBef>
            </a:pPr>
            <a:r>
              <a:rPr lang="en-US" dirty="0">
                <a:solidFill>
                  <a:srgbClr val="999999"/>
                </a:solidFill>
              </a:rPr>
              <a:t>1 failing, 1 successful checks</a:t>
            </a:r>
            <a:endParaRPr dirty="0">
              <a:solidFill>
                <a:srgbClr val="999999"/>
              </a:solidFill>
            </a:endParaRPr>
          </a:p>
          <a:p>
            <a:pPr>
              <a:spcBef>
                <a:spcPts val="0"/>
              </a:spcBef>
            </a:pPr>
            <a:endParaRPr sz="978" dirty="0">
              <a:solidFill>
                <a:srgbClr val="999999"/>
              </a:solidFill>
            </a:endParaRPr>
          </a:p>
          <a:p>
            <a:pPr>
              <a:spcBef>
                <a:spcPts val="0"/>
              </a:spcBef>
            </a:pPr>
            <a:r>
              <a:rPr lang="en" sz="978" dirty="0">
                <a:solidFill>
                  <a:srgbClr val="999999"/>
                </a:solidFill>
              </a:rPr>
              <a:t> </a:t>
            </a:r>
            <a:endParaRPr sz="978" dirty="0">
              <a:solidFill>
                <a:srgbClr val="999999"/>
              </a:solidFill>
            </a:endParaRPr>
          </a:p>
        </p:txBody>
      </p:sp>
      <p:sp>
        <p:nvSpPr>
          <p:cNvPr id="15" name="FONTS">
            <a:extLst>
              <a:ext uri="{FF2B5EF4-FFF2-40B4-BE49-F238E27FC236}">
                <a16:creationId xmlns:a16="http://schemas.microsoft.com/office/drawing/2014/main" id="{66F50FDB-4E97-23C6-E82D-A9FCD7E01CD9}"/>
              </a:ext>
            </a:extLst>
          </p:cNvPr>
          <p:cNvSpPr txBox="1"/>
          <p:nvPr/>
        </p:nvSpPr>
        <p:spPr>
          <a:xfrm>
            <a:off x="4540206" y="1544753"/>
            <a:ext cx="3457951" cy="30264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r>
              <a:rPr lang="en-US" sz="1800" b="0" dirty="0"/>
              <a:t>Fake Data Generator</a:t>
            </a:r>
          </a:p>
        </p:txBody>
      </p:sp>
      <p:sp>
        <p:nvSpPr>
          <p:cNvPr id="19" name="FONTS">
            <a:extLst>
              <a:ext uri="{FF2B5EF4-FFF2-40B4-BE49-F238E27FC236}">
                <a16:creationId xmlns:a16="http://schemas.microsoft.com/office/drawing/2014/main" id="{5D391BD5-7CFE-388C-318A-912622D750DC}"/>
              </a:ext>
            </a:extLst>
          </p:cNvPr>
          <p:cNvSpPr txBox="1"/>
          <p:nvPr/>
        </p:nvSpPr>
        <p:spPr>
          <a:xfrm>
            <a:off x="4540206" y="2250885"/>
            <a:ext cx="2901855" cy="30264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r>
              <a:rPr lang="en-US" sz="1800" b="0" dirty="0"/>
              <a:t>Examples</a:t>
            </a:r>
            <a:endParaRPr sz="1800" b="0" dirty="0"/>
          </a:p>
        </p:txBody>
      </p:sp>
      <p:sp>
        <p:nvSpPr>
          <p:cNvPr id="20" name="FONTS">
            <a:extLst>
              <a:ext uri="{FF2B5EF4-FFF2-40B4-BE49-F238E27FC236}">
                <a16:creationId xmlns:a16="http://schemas.microsoft.com/office/drawing/2014/main" id="{DC9F30AC-8902-8C7D-8676-40ACD1BD3BE5}"/>
              </a:ext>
            </a:extLst>
          </p:cNvPr>
          <p:cNvSpPr txBox="1"/>
          <p:nvPr/>
        </p:nvSpPr>
        <p:spPr>
          <a:xfrm>
            <a:off x="4517488" y="2936506"/>
            <a:ext cx="1950490" cy="30264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r>
              <a:rPr lang="en-US" sz="1800" b="0" dirty="0"/>
              <a:t>Tests</a:t>
            </a:r>
            <a:endParaRPr sz="1800" b="0" dirty="0"/>
          </a:p>
        </p:txBody>
      </p:sp>
      <p:sp>
        <p:nvSpPr>
          <p:cNvPr id="498" name="FONTS">
            <a:extLst>
              <a:ext uri="{FF2B5EF4-FFF2-40B4-BE49-F238E27FC236}">
                <a16:creationId xmlns:a16="http://schemas.microsoft.com/office/drawing/2014/main" id="{1755852B-FC43-C229-16B1-86CF2272D003}"/>
              </a:ext>
            </a:extLst>
          </p:cNvPr>
          <p:cNvSpPr txBox="1"/>
          <p:nvPr/>
        </p:nvSpPr>
        <p:spPr>
          <a:xfrm>
            <a:off x="4641523" y="7660876"/>
            <a:ext cx="1570137" cy="30264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r>
              <a:rPr lang="en-US" sz="1800" b="0" dirty="0"/>
              <a:t>GitHub Actions</a:t>
            </a:r>
            <a:endParaRPr sz="1800" b="0" dirty="0"/>
          </a:p>
        </p:txBody>
      </p:sp>
      <p:sp>
        <p:nvSpPr>
          <p:cNvPr id="508" name="FONTS">
            <a:extLst>
              <a:ext uri="{FF2B5EF4-FFF2-40B4-BE49-F238E27FC236}">
                <a16:creationId xmlns:a16="http://schemas.microsoft.com/office/drawing/2014/main" id="{5BE737B0-F740-9DEE-8138-89C5355EECCF}"/>
              </a:ext>
            </a:extLst>
          </p:cNvPr>
          <p:cNvSpPr txBox="1"/>
          <p:nvPr/>
        </p:nvSpPr>
        <p:spPr>
          <a:xfrm>
            <a:off x="4651141" y="8302794"/>
            <a:ext cx="1738418" cy="30264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r>
              <a:rPr lang="en-US" sz="1800" b="0" dirty="0"/>
              <a:t>Quality Reviewer</a:t>
            </a:r>
            <a:endParaRPr sz="1800" b="0" dirty="0"/>
          </a:p>
        </p:txBody>
      </p:sp>
      <p:sp>
        <p:nvSpPr>
          <p:cNvPr id="510" name="FONTS">
            <a:extLst>
              <a:ext uri="{FF2B5EF4-FFF2-40B4-BE49-F238E27FC236}">
                <a16:creationId xmlns:a16="http://schemas.microsoft.com/office/drawing/2014/main" id="{BEC26ABF-FD5E-FC00-EFC5-78455A7014E1}"/>
              </a:ext>
            </a:extLst>
          </p:cNvPr>
          <p:cNvSpPr txBox="1"/>
          <p:nvPr/>
        </p:nvSpPr>
        <p:spPr>
          <a:xfrm>
            <a:off x="4651415" y="9165396"/>
            <a:ext cx="1738418" cy="30264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r>
              <a:rPr lang="en-US" sz="1800" b="0" dirty="0"/>
              <a:t>Code Architect</a:t>
            </a:r>
            <a:endParaRPr sz="1800" b="0" dirty="0"/>
          </a:p>
        </p:txBody>
      </p:sp>
      <p:sp>
        <p:nvSpPr>
          <p:cNvPr id="511" name="Google Shape;234;p15">
            <a:extLst>
              <a:ext uri="{FF2B5EF4-FFF2-40B4-BE49-F238E27FC236}">
                <a16:creationId xmlns:a16="http://schemas.microsoft.com/office/drawing/2014/main" id="{54D91AE6-22DE-4129-17F9-A10E9028D0B1}"/>
              </a:ext>
            </a:extLst>
          </p:cNvPr>
          <p:cNvSpPr/>
          <p:nvPr/>
        </p:nvSpPr>
        <p:spPr>
          <a:xfrm>
            <a:off x="237460" y="6121474"/>
            <a:ext cx="2788500" cy="232375"/>
          </a:xfrm>
          <a:prstGeom prst="rect">
            <a:avLst/>
          </a:prstGeom>
          <a:noFill/>
          <a:ln>
            <a:noFill/>
          </a:ln>
        </p:spPr>
        <p:txBody>
          <a:bodyPr spcFirstLastPara="1" wrap="square" lIns="127722" tIns="127722" rIns="127722" bIns="127722" anchor="ctr" anchorCtr="0">
            <a:noAutofit/>
          </a:bodyPr>
          <a:lstStyle/>
          <a:p>
            <a:pPr>
              <a:spcBef>
                <a:spcPts val="0"/>
              </a:spcBef>
              <a:buClr>
                <a:schemeClr val="dk1"/>
              </a:buClr>
              <a:buSzPts val="1006"/>
            </a:pPr>
            <a:r>
              <a:rPr lang="en" sz="839" dirty="0">
                <a:solidFill>
                  <a:schemeClr val="dk1"/>
                </a:solidFill>
              </a:rPr>
              <a:t>   </a:t>
            </a:r>
            <a:r>
              <a:rPr lang="en" sz="839" dirty="0">
                <a:solidFill>
                  <a:srgbClr val="1F2328"/>
                </a:solidFill>
              </a:rPr>
              <a:t>           test-coverage/test-coverage(4.4)</a:t>
            </a:r>
            <a:endParaRPr sz="1956" dirty="0"/>
          </a:p>
        </p:txBody>
      </p:sp>
      <p:sp>
        <p:nvSpPr>
          <p:cNvPr id="512" name="FONTS">
            <a:extLst>
              <a:ext uri="{FF2B5EF4-FFF2-40B4-BE49-F238E27FC236}">
                <a16:creationId xmlns:a16="http://schemas.microsoft.com/office/drawing/2014/main" id="{2FA1B053-5301-D2E4-029B-549C130040E8}"/>
              </a:ext>
            </a:extLst>
          </p:cNvPr>
          <p:cNvSpPr txBox="1"/>
          <p:nvPr/>
        </p:nvSpPr>
        <p:spPr>
          <a:xfrm>
            <a:off x="4639814" y="7074828"/>
            <a:ext cx="1570137" cy="30264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2700" tIns="12700" rIns="12700" bIns="12700" anchor="ctr">
            <a:spAutoFit/>
          </a:bodyPr>
          <a:lstStyle/>
          <a:p>
            <a:pPr lvl="1" indent="0"/>
            <a:r>
              <a:rPr lang="en-US" sz="1800" b="0" dirty="0"/>
              <a:t>Codecov</a:t>
            </a:r>
            <a:endParaRPr sz="1800" b="0" dirty="0"/>
          </a:p>
        </p:txBody>
      </p:sp>
      <p:sp>
        <p:nvSpPr>
          <p:cNvPr id="518" name="Use headers, colors, and/or backgrounds to separate or group together sections.">
            <a:extLst>
              <a:ext uri="{FF2B5EF4-FFF2-40B4-BE49-F238E27FC236}">
                <a16:creationId xmlns:a16="http://schemas.microsoft.com/office/drawing/2014/main" id="{D588381E-B86C-C4E8-A147-239EF946E333}"/>
              </a:ext>
            </a:extLst>
          </p:cNvPr>
          <p:cNvSpPr txBox="1"/>
          <p:nvPr/>
        </p:nvSpPr>
        <p:spPr>
          <a:xfrm>
            <a:off x="226361" y="9481655"/>
            <a:ext cx="4251862" cy="4426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latin typeface="Source Sans Pro" panose="020B0503030403020204" pitchFamily="34" charset="0"/>
                <a:ea typeface="Source Sans Pro" panose="020B0503030403020204" pitchFamily="34" charset="0"/>
              </a:rPr>
              <a:t>The </a:t>
            </a:r>
            <a:r>
              <a:rPr lang="en-US" dirty="0">
                <a:latin typeface="Source Sans Pro" panose="020B0503030403020204" pitchFamily="34" charset="0"/>
                <a:ea typeface="Source Sans Pro" panose="020B0503030403020204" pitchFamily="34" charset="0"/>
              </a:rPr>
              <a:t>Fake Data Generator </a:t>
            </a:r>
            <a:r>
              <a:rPr lang="en-US" b="0" dirty="0">
                <a:latin typeface="Source Sans Pro" panose="020B0503030403020204" pitchFamily="34" charset="0"/>
                <a:ea typeface="Source Sans Pro" panose="020B0503030403020204" pitchFamily="34" charset="0"/>
              </a:rPr>
              <a:t>is used to construct examples, and those examples are used to test parsers for raw data. </a:t>
            </a:r>
          </a:p>
        </p:txBody>
      </p:sp>
      <p:sp>
        <p:nvSpPr>
          <p:cNvPr id="519" name="Use headers, colors, and/or backgrounds to separate or group together sections.">
            <a:extLst>
              <a:ext uri="{FF2B5EF4-FFF2-40B4-BE49-F238E27FC236}">
                <a16:creationId xmlns:a16="http://schemas.microsoft.com/office/drawing/2014/main" id="{44449DDF-3B61-1B9C-7E94-4595963C7783}"/>
              </a:ext>
            </a:extLst>
          </p:cNvPr>
          <p:cNvSpPr txBox="1"/>
          <p:nvPr/>
        </p:nvSpPr>
        <p:spPr>
          <a:xfrm>
            <a:off x="4729523" y="7331083"/>
            <a:ext cx="4251862"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Light"/>
              </a:rPr>
              <a:t>Codecov will deny a commit based on code test coverage. </a:t>
            </a:r>
          </a:p>
        </p:txBody>
      </p:sp>
      <p:grpSp>
        <p:nvGrpSpPr>
          <p:cNvPr id="24" name="Group 23">
            <a:extLst>
              <a:ext uri="{FF2B5EF4-FFF2-40B4-BE49-F238E27FC236}">
                <a16:creationId xmlns:a16="http://schemas.microsoft.com/office/drawing/2014/main" id="{ECF92746-DFB0-6AC6-9F55-488149B61814}"/>
              </a:ext>
            </a:extLst>
          </p:cNvPr>
          <p:cNvGrpSpPr/>
          <p:nvPr/>
        </p:nvGrpSpPr>
        <p:grpSpPr>
          <a:xfrm>
            <a:off x="4485948" y="4746959"/>
            <a:ext cx="4998104" cy="2204924"/>
            <a:chOff x="4445694" y="4710784"/>
            <a:chExt cx="4998104" cy="2204924"/>
          </a:xfrm>
        </p:grpSpPr>
        <p:grpSp>
          <p:nvGrpSpPr>
            <p:cNvPr id="5" name="Group 4">
              <a:extLst>
                <a:ext uri="{FF2B5EF4-FFF2-40B4-BE49-F238E27FC236}">
                  <a16:creationId xmlns:a16="http://schemas.microsoft.com/office/drawing/2014/main" id="{0EBA6BFD-36CC-9DCE-1B5E-BE6E285E4194}"/>
                </a:ext>
              </a:extLst>
            </p:cNvPr>
            <p:cNvGrpSpPr>
              <a:grpSpLocks noChangeAspect="1"/>
            </p:cNvGrpSpPr>
            <p:nvPr/>
          </p:nvGrpSpPr>
          <p:grpSpPr>
            <a:xfrm>
              <a:off x="4445694" y="4710784"/>
              <a:ext cx="4998104" cy="2204924"/>
              <a:chOff x="4754545" y="7592221"/>
              <a:chExt cx="4800860" cy="2117909"/>
            </a:xfrm>
          </p:grpSpPr>
          <p:sp>
            <p:nvSpPr>
              <p:cNvPr id="491" name="Create a visual hierarchy. Help users navigate the page with titles, subtitles, and subsubtitles">
                <a:extLst>
                  <a:ext uri="{FF2B5EF4-FFF2-40B4-BE49-F238E27FC236}">
                    <a16:creationId xmlns:a16="http://schemas.microsoft.com/office/drawing/2014/main" id="{EBA1D913-E675-F0B9-1DC6-62206292681C}"/>
                  </a:ext>
                </a:extLst>
              </p:cNvPr>
              <p:cNvSpPr txBox="1"/>
              <p:nvPr/>
            </p:nvSpPr>
            <p:spPr>
              <a:xfrm>
                <a:off x="8264043" y="8100908"/>
                <a:ext cx="1200148"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a:rPr>
                  <a:t>Code Architect</a:t>
                </a:r>
                <a:endParaRPr lang="en-US" dirty="0">
                  <a:latin typeface="Source Sans Pro" panose="020B0503030403020204" pitchFamily="34" charset="0"/>
                  <a:ea typeface="Source Sans Pro" panose="020B0503030403020204" pitchFamily="34" charset="0"/>
                  <a:sym typeface="Source Sans Pro"/>
                </a:endParaRPr>
              </a:p>
            </p:txBody>
          </p:sp>
          <p:sp>
            <p:nvSpPr>
              <p:cNvPr id="342" name="Create a visual hierarchy. Help users navigate the page with titles, subtitles, and subsubtitles">
                <a:extLst>
                  <a:ext uri="{FF2B5EF4-FFF2-40B4-BE49-F238E27FC236}">
                    <a16:creationId xmlns:a16="http://schemas.microsoft.com/office/drawing/2014/main" id="{CC7B7707-D4D0-5FB5-6A05-042A9F249FFB}"/>
                  </a:ext>
                </a:extLst>
              </p:cNvPr>
              <p:cNvSpPr txBox="1"/>
              <p:nvPr/>
            </p:nvSpPr>
            <p:spPr>
              <a:xfrm>
                <a:off x="5966355" y="7592221"/>
                <a:ext cx="1603122" cy="4426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Pull Request Created + Commit Pushed</a:t>
                </a:r>
              </a:p>
            </p:txBody>
          </p:sp>
          <p:sp>
            <p:nvSpPr>
              <p:cNvPr id="504" name="Create a visual hierarchy. Help users navigate the page with titles, subtitles, and subsubtitles">
                <a:extLst>
                  <a:ext uri="{FF2B5EF4-FFF2-40B4-BE49-F238E27FC236}">
                    <a16:creationId xmlns:a16="http://schemas.microsoft.com/office/drawing/2014/main" id="{C64C3354-3281-90DE-087D-EBB1D93F7C4C}"/>
                  </a:ext>
                </a:extLst>
              </p:cNvPr>
              <p:cNvSpPr txBox="1"/>
              <p:nvPr/>
            </p:nvSpPr>
            <p:spPr>
              <a:xfrm>
                <a:off x="5986391" y="8110685"/>
                <a:ext cx="1138332"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dirty="0">
                    <a:latin typeface="Source Sans Pro" panose="020B0503030403020204" pitchFamily="34" charset="0"/>
                    <a:ea typeface="Source Sans Pro" panose="020B0503030403020204" pitchFamily="34" charset="0"/>
                  </a:rPr>
                  <a:t>GitHub Actions</a:t>
                </a:r>
                <a:endParaRPr lang="en-US" dirty="0">
                  <a:latin typeface="Source Sans Pro" panose="020B0503030403020204" pitchFamily="34" charset="0"/>
                  <a:ea typeface="Source Sans Pro" panose="020B0503030403020204" pitchFamily="34" charset="0"/>
                  <a:sym typeface="Source Sans Pro"/>
                </a:endParaRPr>
              </a:p>
            </p:txBody>
          </p:sp>
          <p:pic>
            <p:nvPicPr>
              <p:cNvPr id="50" name="Picture 49" descr="Account ">
                <a:extLst>
                  <a:ext uri="{FF2B5EF4-FFF2-40B4-BE49-F238E27FC236}">
                    <a16:creationId xmlns:a16="http://schemas.microsoft.com/office/drawing/2014/main" id="{40EB04E5-86F6-EFEB-7FC5-1FD7C2EBCF9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580018" y="8330059"/>
                <a:ext cx="306136" cy="306136"/>
              </a:xfrm>
              <a:prstGeom prst="rect">
                <a:avLst/>
              </a:prstGeom>
              <a:noFill/>
              <a:extLst>
                <a:ext uri="{909E8E84-426E-40DD-AFC4-6F175D3DCCD1}">
                  <a14:hiddenFill xmlns:a14="http://schemas.microsoft.com/office/drawing/2010/main">
                    <a:solidFill>
                      <a:srgbClr val="FFFFFF"/>
                    </a:solidFill>
                  </a14:hiddenFill>
                </a:ext>
              </a:extLst>
            </p:spPr>
          </p:pic>
          <p:pic>
            <p:nvPicPr>
              <p:cNvPr id="481" name="Google Shape;214;p15">
                <a:extLst>
                  <a:ext uri="{FF2B5EF4-FFF2-40B4-BE49-F238E27FC236}">
                    <a16:creationId xmlns:a16="http://schemas.microsoft.com/office/drawing/2014/main" id="{609FBBAB-CB3C-4232-5643-BFADC414F3F8}"/>
                  </a:ext>
                </a:extLst>
              </p:cNvPr>
              <p:cNvPicPr preferRelativeResize="0"/>
              <p:nvPr/>
            </p:nvPicPr>
            <p:blipFill>
              <a:blip r:embed="rId8">
                <a:alphaModFix/>
              </a:blip>
              <a:srcRect l="10328" r="5548" b="12675"/>
              <a:stretch>
                <a:fillRect/>
              </a:stretch>
            </p:blipFill>
            <p:spPr>
              <a:xfrm>
                <a:off x="5442555" y="8273887"/>
                <a:ext cx="401071" cy="398991"/>
              </a:xfrm>
              <a:prstGeom prst="rect">
                <a:avLst/>
              </a:prstGeom>
              <a:noFill/>
              <a:ln>
                <a:noFill/>
              </a:ln>
            </p:spPr>
          </p:pic>
          <p:grpSp>
            <p:nvGrpSpPr>
              <p:cNvPr id="520" name="Group 519">
                <a:extLst>
                  <a:ext uri="{FF2B5EF4-FFF2-40B4-BE49-F238E27FC236}">
                    <a16:creationId xmlns:a16="http://schemas.microsoft.com/office/drawing/2014/main" id="{41ECF5DB-29FD-F4C4-80C3-25283AE9A54D}"/>
                  </a:ext>
                </a:extLst>
              </p:cNvPr>
              <p:cNvGrpSpPr/>
              <p:nvPr/>
            </p:nvGrpSpPr>
            <p:grpSpPr>
              <a:xfrm>
                <a:off x="6430077" y="8245501"/>
                <a:ext cx="526129" cy="378927"/>
                <a:chOff x="9474949" y="3367098"/>
                <a:chExt cx="526129" cy="378927"/>
              </a:xfrm>
            </p:grpSpPr>
            <p:sp>
              <p:nvSpPr>
                <p:cNvPr id="486" name="Google Shape;236;p15">
                  <a:extLst>
                    <a:ext uri="{FF2B5EF4-FFF2-40B4-BE49-F238E27FC236}">
                      <a16:creationId xmlns:a16="http://schemas.microsoft.com/office/drawing/2014/main" id="{2030DE8A-4CC3-D607-AED1-BDDC44BCE3AA}"/>
                    </a:ext>
                  </a:extLst>
                </p:cNvPr>
                <p:cNvSpPr/>
                <p:nvPr/>
              </p:nvSpPr>
              <p:spPr>
                <a:xfrm>
                  <a:off x="9567136" y="3458331"/>
                  <a:ext cx="310026" cy="287694"/>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sp>
              <p:nvSpPr>
                <p:cNvPr id="483" name="Google Shape;237;p15">
                  <a:extLst>
                    <a:ext uri="{FF2B5EF4-FFF2-40B4-BE49-F238E27FC236}">
                      <a16:creationId xmlns:a16="http://schemas.microsoft.com/office/drawing/2014/main" id="{8BAC6A32-592E-EAE5-467A-B8291F8D3088}"/>
                    </a:ext>
                  </a:extLst>
                </p:cNvPr>
                <p:cNvSpPr txBox="1"/>
                <p:nvPr/>
              </p:nvSpPr>
              <p:spPr>
                <a:xfrm>
                  <a:off x="9474949" y="3367098"/>
                  <a:ext cx="526129" cy="263210"/>
                </a:xfrm>
                <a:prstGeom prst="rect">
                  <a:avLst/>
                </a:prstGeom>
                <a:noFill/>
                <a:ln>
                  <a:noFill/>
                </a:ln>
              </p:spPr>
              <p:txBody>
                <a:bodyPr spcFirstLastPara="1" wrap="square" lIns="127722" tIns="127722" rIns="127722" bIns="127722" anchor="t" anchorCtr="0">
                  <a:noAutofit/>
                </a:bodyPr>
                <a:lstStyle/>
                <a:p>
                  <a:pPr>
                    <a:spcBef>
                      <a:spcPts val="0"/>
                    </a:spcBef>
                  </a:pPr>
                  <a:r>
                    <a:rPr lang="en" sz="1400" dirty="0">
                      <a:solidFill>
                        <a:schemeClr val="lt1"/>
                      </a:solidFill>
                    </a:rPr>
                    <a:t>GH</a:t>
                  </a:r>
                  <a:endParaRPr sz="1400" dirty="0">
                    <a:solidFill>
                      <a:schemeClr val="lt1"/>
                    </a:solidFill>
                  </a:endParaRPr>
                </a:p>
              </p:txBody>
            </p:sp>
          </p:grpSp>
          <p:pic>
            <p:nvPicPr>
              <p:cNvPr id="487" name="Picture 486" descr="Account ">
                <a:extLst>
                  <a:ext uri="{FF2B5EF4-FFF2-40B4-BE49-F238E27FC236}">
                    <a16:creationId xmlns:a16="http://schemas.microsoft.com/office/drawing/2014/main" id="{2FBF6FED-F257-837C-1F66-6D4806F907A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616900" y="8321807"/>
                <a:ext cx="306136" cy="306136"/>
              </a:xfrm>
              <a:prstGeom prst="rect">
                <a:avLst/>
              </a:prstGeom>
              <a:noFill/>
              <a:extLst>
                <a:ext uri="{909E8E84-426E-40DD-AFC4-6F175D3DCCD1}">
                  <a14:hiddenFill xmlns:a14="http://schemas.microsoft.com/office/drawing/2010/main">
                    <a:solidFill>
                      <a:srgbClr val="FFFFFF"/>
                    </a:solidFill>
                  </a14:hiddenFill>
                </a:ext>
              </a:extLst>
            </p:spPr>
          </p:pic>
          <p:sp>
            <p:nvSpPr>
              <p:cNvPr id="490" name="Create a visual hierarchy. Help users navigate the page with titles, subtitles, and subsubtitles">
                <a:extLst>
                  <a:ext uri="{FF2B5EF4-FFF2-40B4-BE49-F238E27FC236}">
                    <a16:creationId xmlns:a16="http://schemas.microsoft.com/office/drawing/2014/main" id="{56CE7538-45D3-AA92-AA85-8B17FE1474FB}"/>
                  </a:ext>
                </a:extLst>
              </p:cNvPr>
              <p:cNvSpPr txBox="1"/>
              <p:nvPr/>
            </p:nvSpPr>
            <p:spPr>
              <a:xfrm>
                <a:off x="7087984" y="8108356"/>
                <a:ext cx="1241412"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rPr>
                  <a:t>Quality Reviewer</a:t>
                </a:r>
                <a:endParaRPr lang="en-US" dirty="0">
                  <a:latin typeface="Source Sans Pro" panose="020B0503030403020204" pitchFamily="34" charset="0"/>
                  <a:ea typeface="Source Sans Pro" panose="020B0503030403020204" pitchFamily="34" charset="0"/>
                  <a:sym typeface="Source Sans Pro"/>
                </a:endParaRPr>
              </a:p>
            </p:txBody>
          </p:sp>
          <p:cxnSp>
            <p:nvCxnSpPr>
              <p:cNvPr id="328" name="Google Shape;445;p18">
                <a:extLst>
                  <a:ext uri="{FF2B5EF4-FFF2-40B4-BE49-F238E27FC236}">
                    <a16:creationId xmlns:a16="http://schemas.microsoft.com/office/drawing/2014/main" id="{A156A38A-C55F-3846-F1B9-E3A56E1C5C66}"/>
                  </a:ext>
                </a:extLst>
              </p:cNvPr>
              <p:cNvCxnSpPr>
                <a:cxnSpLocks/>
              </p:cNvCxnSpPr>
              <p:nvPr/>
            </p:nvCxnSpPr>
            <p:spPr>
              <a:xfrm>
                <a:off x="5636507" y="8012731"/>
                <a:ext cx="0" cy="227228"/>
              </a:xfrm>
              <a:prstGeom prst="straightConnector1">
                <a:avLst/>
              </a:prstGeom>
              <a:noFill/>
              <a:ln w="28575" cap="flat" cmpd="sng">
                <a:solidFill>
                  <a:srgbClr val="1B1311"/>
                </a:solidFill>
                <a:prstDash val="solid"/>
                <a:round/>
                <a:headEnd type="none" w="med" len="med"/>
                <a:tailEnd type="triangle" w="med" len="med"/>
              </a:ln>
            </p:spPr>
          </p:cxnSp>
          <p:cxnSp>
            <p:nvCxnSpPr>
              <p:cNvPr id="330" name="Google Shape;445;p18">
                <a:extLst>
                  <a:ext uri="{FF2B5EF4-FFF2-40B4-BE49-F238E27FC236}">
                    <a16:creationId xmlns:a16="http://schemas.microsoft.com/office/drawing/2014/main" id="{70240BCD-8805-B9A5-49CE-A959347FBA7A}"/>
                  </a:ext>
                </a:extLst>
              </p:cNvPr>
              <p:cNvCxnSpPr>
                <a:cxnSpLocks/>
              </p:cNvCxnSpPr>
              <p:nvPr/>
            </p:nvCxnSpPr>
            <p:spPr>
              <a:xfrm>
                <a:off x="6693142" y="8692417"/>
                <a:ext cx="0" cy="219033"/>
              </a:xfrm>
              <a:prstGeom prst="straightConnector1">
                <a:avLst/>
              </a:prstGeom>
              <a:noFill/>
              <a:ln w="28575" cap="flat" cmpd="sng">
                <a:solidFill>
                  <a:srgbClr val="1B1311"/>
                </a:solidFill>
                <a:prstDash val="solid"/>
                <a:round/>
                <a:headEnd type="none" w="med" len="med"/>
                <a:tailEnd type="triangle" w="med" len="med"/>
              </a:ln>
            </p:spPr>
          </p:cxnSp>
          <p:cxnSp>
            <p:nvCxnSpPr>
              <p:cNvPr id="331" name="Google Shape;445;p18">
                <a:extLst>
                  <a:ext uri="{FF2B5EF4-FFF2-40B4-BE49-F238E27FC236}">
                    <a16:creationId xmlns:a16="http://schemas.microsoft.com/office/drawing/2014/main" id="{27018696-8371-AC7D-AEE4-09A3616171FE}"/>
                  </a:ext>
                </a:extLst>
              </p:cNvPr>
              <p:cNvCxnSpPr>
                <a:cxnSpLocks/>
              </p:cNvCxnSpPr>
              <p:nvPr/>
            </p:nvCxnSpPr>
            <p:spPr>
              <a:xfrm flipV="1">
                <a:off x="5931917" y="8470444"/>
                <a:ext cx="483203" cy="4431"/>
              </a:xfrm>
              <a:prstGeom prst="straightConnector1">
                <a:avLst/>
              </a:prstGeom>
              <a:noFill/>
              <a:ln w="28575" cap="flat" cmpd="sng">
                <a:solidFill>
                  <a:srgbClr val="1B1311"/>
                </a:solidFill>
                <a:prstDash val="solid"/>
                <a:round/>
                <a:headEnd type="none" w="med" len="med"/>
                <a:tailEnd type="triangle" w="med" len="med"/>
              </a:ln>
            </p:spPr>
          </p:cxnSp>
          <p:cxnSp>
            <p:nvCxnSpPr>
              <p:cNvPr id="524" name="Google Shape;445;p18">
                <a:extLst>
                  <a:ext uri="{FF2B5EF4-FFF2-40B4-BE49-F238E27FC236}">
                    <a16:creationId xmlns:a16="http://schemas.microsoft.com/office/drawing/2014/main" id="{419D99AC-9036-3E73-748E-1856DC4D9247}"/>
                  </a:ext>
                </a:extLst>
              </p:cNvPr>
              <p:cNvCxnSpPr>
                <a:cxnSpLocks/>
              </p:cNvCxnSpPr>
              <p:nvPr/>
            </p:nvCxnSpPr>
            <p:spPr>
              <a:xfrm flipV="1">
                <a:off x="7010362" y="8470444"/>
                <a:ext cx="460133" cy="4431"/>
              </a:xfrm>
              <a:prstGeom prst="straightConnector1">
                <a:avLst/>
              </a:prstGeom>
              <a:noFill/>
              <a:ln w="28575" cap="flat" cmpd="sng">
                <a:solidFill>
                  <a:srgbClr val="1B1311"/>
                </a:solidFill>
                <a:prstDash val="solid"/>
                <a:round/>
                <a:headEnd type="none" w="med" len="med"/>
                <a:tailEnd type="triangle" w="med" len="med"/>
              </a:ln>
            </p:spPr>
          </p:cxnSp>
          <p:cxnSp>
            <p:nvCxnSpPr>
              <p:cNvPr id="527" name="Google Shape;445;p18">
                <a:extLst>
                  <a:ext uri="{FF2B5EF4-FFF2-40B4-BE49-F238E27FC236}">
                    <a16:creationId xmlns:a16="http://schemas.microsoft.com/office/drawing/2014/main" id="{AA9B9519-AD73-E34A-7A2C-55EA450B0593}"/>
                  </a:ext>
                </a:extLst>
              </p:cNvPr>
              <p:cNvCxnSpPr>
                <a:cxnSpLocks/>
              </p:cNvCxnSpPr>
              <p:nvPr/>
            </p:nvCxnSpPr>
            <p:spPr>
              <a:xfrm>
                <a:off x="8025141" y="8481760"/>
                <a:ext cx="490920" cy="1367"/>
              </a:xfrm>
              <a:prstGeom prst="straightConnector1">
                <a:avLst/>
              </a:prstGeom>
              <a:noFill/>
              <a:ln w="28575" cap="flat" cmpd="sng">
                <a:solidFill>
                  <a:srgbClr val="1B1311"/>
                </a:solidFill>
                <a:prstDash val="solid"/>
                <a:round/>
                <a:headEnd type="none" w="med" len="med"/>
                <a:tailEnd type="triangle" w="med" len="med"/>
              </a:ln>
            </p:spPr>
          </p:cxnSp>
          <p:sp>
            <p:nvSpPr>
              <p:cNvPr id="528" name="Create a visual hierarchy. Help users navigate the page with titles, subtitles, and subsubtitles">
                <a:extLst>
                  <a:ext uri="{FF2B5EF4-FFF2-40B4-BE49-F238E27FC236}">
                    <a16:creationId xmlns:a16="http://schemas.microsoft.com/office/drawing/2014/main" id="{985A5D8F-E50F-BD82-4047-63F2350E44FD}"/>
                  </a:ext>
                </a:extLst>
              </p:cNvPr>
              <p:cNvSpPr txBox="1"/>
              <p:nvPr/>
            </p:nvSpPr>
            <p:spPr>
              <a:xfrm>
                <a:off x="4754545" y="8371927"/>
                <a:ext cx="788917"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Codecov</a:t>
                </a:r>
              </a:p>
            </p:txBody>
          </p:sp>
          <p:sp>
            <p:nvSpPr>
              <p:cNvPr id="535" name="Create a visual hierarchy. Help users navigate the page with titles, subtitles, and subsubtitles">
                <a:extLst>
                  <a:ext uri="{FF2B5EF4-FFF2-40B4-BE49-F238E27FC236}">
                    <a16:creationId xmlns:a16="http://schemas.microsoft.com/office/drawing/2014/main" id="{4D28BA18-2F0F-29F7-4217-9BD3642B0D00}"/>
                  </a:ext>
                </a:extLst>
              </p:cNvPr>
              <p:cNvSpPr txBox="1"/>
              <p:nvPr/>
            </p:nvSpPr>
            <p:spPr>
              <a:xfrm>
                <a:off x="6166694" y="9433894"/>
                <a:ext cx="1480131" cy="2654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Pull Request Denie</a:t>
                </a:r>
                <a:r>
                  <a:rPr lang="en-US" b="0" dirty="0">
                    <a:solidFill>
                      <a:srgbClr val="000000"/>
                    </a:solidFill>
                    <a:latin typeface="Source Sans Pro" panose="020B0503030403020204" pitchFamily="34" charset="0"/>
                    <a:ea typeface="Source Sans Pro" panose="020B0503030403020204" pitchFamily="34" charset="0"/>
                  </a:rPr>
                  <a:t>d</a:t>
                </a:r>
                <a:endParaRPr lang="en-US" b="0" i="0" u="none" strike="noStrike" dirty="0">
                  <a:solidFill>
                    <a:srgbClr val="000000"/>
                  </a:solidFill>
                  <a:effectLst/>
                  <a:latin typeface="Source Sans Pro" panose="020B0503030403020204" pitchFamily="34" charset="0"/>
                  <a:ea typeface="Source Sans Pro" panose="020B0503030403020204" pitchFamily="34" charset="0"/>
                </a:endParaRPr>
              </a:p>
            </p:txBody>
          </p:sp>
          <p:cxnSp>
            <p:nvCxnSpPr>
              <p:cNvPr id="544" name="Google Shape;445;p18">
                <a:extLst>
                  <a:ext uri="{FF2B5EF4-FFF2-40B4-BE49-F238E27FC236}">
                    <a16:creationId xmlns:a16="http://schemas.microsoft.com/office/drawing/2014/main" id="{262D759C-26C8-0410-F4F1-8D0587AAAE17}"/>
                  </a:ext>
                </a:extLst>
              </p:cNvPr>
              <p:cNvCxnSpPr>
                <a:cxnSpLocks/>
              </p:cNvCxnSpPr>
              <p:nvPr/>
            </p:nvCxnSpPr>
            <p:spPr>
              <a:xfrm flipH="1">
                <a:off x="5929791" y="9278751"/>
                <a:ext cx="428575" cy="0"/>
              </a:xfrm>
              <a:prstGeom prst="straightConnector1">
                <a:avLst/>
              </a:prstGeom>
              <a:noFill/>
              <a:ln w="28575" cap="flat" cmpd="sng">
                <a:solidFill>
                  <a:srgbClr val="1B1311"/>
                </a:solidFill>
                <a:prstDash val="solid"/>
                <a:round/>
                <a:headEnd type="none" w="med" len="med"/>
                <a:tailEnd type="triangle" w="med" len="med"/>
              </a:ln>
            </p:spPr>
          </p:cxnSp>
          <p:cxnSp>
            <p:nvCxnSpPr>
              <p:cNvPr id="549" name="Google Shape;445;p18">
                <a:extLst>
                  <a:ext uri="{FF2B5EF4-FFF2-40B4-BE49-F238E27FC236}">
                    <a16:creationId xmlns:a16="http://schemas.microsoft.com/office/drawing/2014/main" id="{0AF65664-4D7B-B2E7-3FCA-B761CF02B799}"/>
                  </a:ext>
                </a:extLst>
              </p:cNvPr>
              <p:cNvCxnSpPr>
                <a:cxnSpLocks/>
              </p:cNvCxnSpPr>
              <p:nvPr/>
            </p:nvCxnSpPr>
            <p:spPr>
              <a:xfrm flipH="1">
                <a:off x="7087984" y="9308489"/>
                <a:ext cx="881273" cy="0"/>
              </a:xfrm>
              <a:prstGeom prst="straightConnector1">
                <a:avLst/>
              </a:prstGeom>
              <a:noFill/>
              <a:ln w="28575" cap="flat" cmpd="sng">
                <a:solidFill>
                  <a:srgbClr val="1B1311"/>
                </a:solidFill>
                <a:prstDash val="solid"/>
                <a:round/>
                <a:headEnd type="none" w="med" len="med"/>
                <a:tailEnd type="triangle" w="med" len="med"/>
              </a:ln>
            </p:spPr>
          </p:cxnSp>
          <p:cxnSp>
            <p:nvCxnSpPr>
              <p:cNvPr id="557" name="Google Shape;445;p18">
                <a:extLst>
                  <a:ext uri="{FF2B5EF4-FFF2-40B4-BE49-F238E27FC236}">
                    <a16:creationId xmlns:a16="http://schemas.microsoft.com/office/drawing/2014/main" id="{C6C93E39-02F2-B3DA-00E9-591375946E83}"/>
                  </a:ext>
                </a:extLst>
              </p:cNvPr>
              <p:cNvCxnSpPr>
                <a:cxnSpLocks/>
              </p:cNvCxnSpPr>
              <p:nvPr/>
            </p:nvCxnSpPr>
            <p:spPr>
              <a:xfrm>
                <a:off x="8784901" y="8687064"/>
                <a:ext cx="0" cy="303476"/>
              </a:xfrm>
              <a:prstGeom prst="straightConnector1">
                <a:avLst/>
              </a:prstGeom>
              <a:noFill/>
              <a:ln w="28575" cap="flat" cmpd="sng">
                <a:solidFill>
                  <a:srgbClr val="1B1311"/>
                </a:solidFill>
                <a:prstDash val="solid"/>
                <a:round/>
                <a:headEnd type="none" w="med" len="med"/>
                <a:tailEnd type="triangle" w="med" len="med"/>
              </a:ln>
            </p:spPr>
          </p:cxnSp>
          <p:sp>
            <p:nvSpPr>
              <p:cNvPr id="560" name="Create a visual hierarchy. Help users navigate the page with titles, subtitles, and subsubtitles">
                <a:extLst>
                  <a:ext uri="{FF2B5EF4-FFF2-40B4-BE49-F238E27FC236}">
                    <a16:creationId xmlns:a16="http://schemas.microsoft.com/office/drawing/2014/main" id="{4A373F35-3A41-DBB8-E007-26269F720416}"/>
                  </a:ext>
                </a:extLst>
              </p:cNvPr>
              <p:cNvSpPr txBox="1"/>
              <p:nvPr/>
            </p:nvSpPr>
            <p:spPr>
              <a:xfrm>
                <a:off x="7916469" y="9402787"/>
                <a:ext cx="1638936" cy="2654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Pull Request Approved</a:t>
                </a:r>
              </a:p>
            </p:txBody>
          </p:sp>
          <p:cxnSp>
            <p:nvCxnSpPr>
              <p:cNvPr id="574" name="Straight Connector 573">
                <a:extLst>
                  <a:ext uri="{FF2B5EF4-FFF2-40B4-BE49-F238E27FC236}">
                    <a16:creationId xmlns:a16="http://schemas.microsoft.com/office/drawing/2014/main" id="{48DA8D06-3DD9-5253-65D6-7AD9C1D53F92}"/>
                  </a:ext>
                </a:extLst>
              </p:cNvPr>
              <p:cNvCxnSpPr>
                <a:cxnSpLocks/>
              </p:cNvCxnSpPr>
              <p:nvPr/>
            </p:nvCxnSpPr>
            <p:spPr>
              <a:xfrm flipH="1">
                <a:off x="7942180" y="8631247"/>
                <a:ext cx="698769" cy="677242"/>
              </a:xfrm>
              <a:prstGeom prst="line">
                <a:avLst/>
              </a:prstGeom>
              <a:ln w="28575" cap="flat" cmpd="sng" algn="ctr">
                <a:solidFill>
                  <a:schemeClr val="bg2">
                    <a:lumMod val="1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88" name="Create a visual hierarchy. Help users navigate the page with titles, subtitles, and subsubtitles">
                <a:extLst>
                  <a:ext uri="{FF2B5EF4-FFF2-40B4-BE49-F238E27FC236}">
                    <a16:creationId xmlns:a16="http://schemas.microsoft.com/office/drawing/2014/main" id="{FDF817C8-2681-DF96-2F38-D27FA2931C36}"/>
                  </a:ext>
                </a:extLst>
              </p:cNvPr>
              <p:cNvSpPr txBox="1"/>
              <p:nvPr/>
            </p:nvSpPr>
            <p:spPr>
              <a:xfrm>
                <a:off x="5174316" y="9433725"/>
                <a:ext cx="1184050" cy="2764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bg2">
                      <a:lumMod val="10000"/>
                    </a:schemeClr>
                  </a:buClr>
                  <a:defRPr b="0">
                    <a:solidFill>
                      <a:srgbClr val="000000"/>
                    </a:solidFill>
                    <a:latin typeface="+mn-lt"/>
                    <a:ea typeface="+mn-ea"/>
                    <a:cs typeface="+mn-cs"/>
                    <a:sym typeface="Source Sans Pro Light"/>
                  </a:defRPr>
                </a:pPr>
                <a:r>
                  <a:rPr lang="en-US" b="0" i="0" u="none" strike="noStrike" dirty="0">
                    <a:solidFill>
                      <a:srgbClr val="000000"/>
                    </a:solidFill>
                    <a:effectLst/>
                    <a:latin typeface="Source Sans Pro" panose="020B0503030403020204" pitchFamily="34" charset="0"/>
                    <a:ea typeface="Source Sans Pro" panose="020B0503030403020204" pitchFamily="34" charset="0"/>
                  </a:rPr>
                  <a:t>New Commit</a:t>
                </a:r>
              </a:p>
            </p:txBody>
          </p:sp>
          <p:cxnSp>
            <p:nvCxnSpPr>
              <p:cNvPr id="589" name="Google Shape;445;p18">
                <a:extLst>
                  <a:ext uri="{FF2B5EF4-FFF2-40B4-BE49-F238E27FC236}">
                    <a16:creationId xmlns:a16="http://schemas.microsoft.com/office/drawing/2014/main" id="{A36478A8-7C20-26B9-D271-88A6106446CB}"/>
                  </a:ext>
                </a:extLst>
              </p:cNvPr>
              <p:cNvCxnSpPr>
                <a:cxnSpLocks/>
              </p:cNvCxnSpPr>
              <p:nvPr/>
            </p:nvCxnSpPr>
            <p:spPr>
              <a:xfrm flipV="1">
                <a:off x="5632994" y="8733946"/>
                <a:ext cx="0" cy="256594"/>
              </a:xfrm>
              <a:prstGeom prst="straightConnector1">
                <a:avLst/>
              </a:prstGeom>
              <a:noFill/>
              <a:ln w="28575" cap="flat" cmpd="sng">
                <a:solidFill>
                  <a:srgbClr val="1B1311"/>
                </a:solidFill>
                <a:prstDash val="solid"/>
                <a:round/>
                <a:headEnd type="none" w="med" len="med"/>
                <a:tailEnd type="triangle" w="med" len="med"/>
              </a:ln>
            </p:spPr>
          </p:cxnSp>
          <p:cxnSp>
            <p:nvCxnSpPr>
              <p:cNvPr id="593" name="Google Shape;445;p18">
                <a:extLst>
                  <a:ext uri="{FF2B5EF4-FFF2-40B4-BE49-F238E27FC236}">
                    <a16:creationId xmlns:a16="http://schemas.microsoft.com/office/drawing/2014/main" id="{658A613F-8EDC-A4AE-3B45-5F7264B7C03C}"/>
                  </a:ext>
                </a:extLst>
              </p:cNvPr>
              <p:cNvCxnSpPr>
                <a:cxnSpLocks/>
              </p:cNvCxnSpPr>
              <p:nvPr/>
            </p:nvCxnSpPr>
            <p:spPr>
              <a:xfrm>
                <a:off x="5933583" y="8663797"/>
                <a:ext cx="435291" cy="404503"/>
              </a:xfrm>
              <a:prstGeom prst="straightConnector1">
                <a:avLst/>
              </a:prstGeom>
              <a:noFill/>
              <a:ln w="28575" cap="flat" cmpd="sng">
                <a:solidFill>
                  <a:srgbClr val="1B1311"/>
                </a:solidFill>
                <a:prstDash val="solid"/>
                <a:round/>
                <a:headEnd type="none" w="med" len="med"/>
                <a:tailEnd type="triangle" w="med" len="med"/>
              </a:ln>
            </p:spPr>
          </p:cxnSp>
          <p:cxnSp>
            <p:nvCxnSpPr>
              <p:cNvPr id="600" name="Google Shape;445;p18">
                <a:extLst>
                  <a:ext uri="{FF2B5EF4-FFF2-40B4-BE49-F238E27FC236}">
                    <a16:creationId xmlns:a16="http://schemas.microsoft.com/office/drawing/2014/main" id="{F1A0D0E3-9A2C-34BB-CEA1-12818080DA50}"/>
                  </a:ext>
                </a:extLst>
              </p:cNvPr>
              <p:cNvCxnSpPr>
                <a:cxnSpLocks/>
              </p:cNvCxnSpPr>
              <p:nvPr/>
            </p:nvCxnSpPr>
            <p:spPr>
              <a:xfrm flipH="1">
                <a:off x="7036020" y="8623262"/>
                <a:ext cx="475375" cy="453212"/>
              </a:xfrm>
              <a:prstGeom prst="straightConnector1">
                <a:avLst/>
              </a:prstGeom>
              <a:noFill/>
              <a:ln w="28575" cap="flat" cmpd="sng">
                <a:solidFill>
                  <a:srgbClr val="1B1311"/>
                </a:solidFill>
                <a:prstDash val="solid"/>
                <a:round/>
                <a:headEnd type="none" w="med" len="med"/>
                <a:tailEnd type="triangle" w="med" len="med"/>
              </a:ln>
            </p:spPr>
          </p:cxnSp>
          <p:sp>
            <p:nvSpPr>
              <p:cNvPr id="39" name="Google Shape;237;p15">
                <a:extLst>
                  <a:ext uri="{FF2B5EF4-FFF2-40B4-BE49-F238E27FC236}">
                    <a16:creationId xmlns:a16="http://schemas.microsoft.com/office/drawing/2014/main" id="{5EE4EBB0-D25B-B073-EDEC-EB3CB5CB23EA}"/>
                  </a:ext>
                </a:extLst>
              </p:cNvPr>
              <p:cNvSpPr txBox="1"/>
              <p:nvPr/>
            </p:nvSpPr>
            <p:spPr>
              <a:xfrm>
                <a:off x="5293468" y="9048567"/>
                <a:ext cx="526129" cy="263210"/>
              </a:xfrm>
              <a:prstGeom prst="rect">
                <a:avLst/>
              </a:prstGeom>
              <a:noFill/>
              <a:ln>
                <a:noFill/>
              </a:ln>
            </p:spPr>
            <p:txBody>
              <a:bodyPr spcFirstLastPara="1" wrap="square" lIns="127722" tIns="127722" rIns="127722" bIns="127722" anchor="t" anchorCtr="0">
                <a:noAutofit/>
              </a:bodyPr>
              <a:lstStyle/>
              <a:p>
                <a:pPr>
                  <a:spcBef>
                    <a:spcPts val="0"/>
                  </a:spcBef>
                </a:pPr>
                <a:endParaRPr sz="1400" dirty="0">
                  <a:solidFill>
                    <a:schemeClr val="lt1"/>
                  </a:solidFill>
                </a:endParaRPr>
              </a:p>
            </p:txBody>
          </p:sp>
          <p:pic>
            <p:nvPicPr>
              <p:cNvPr id="3" name="Google Shape;227;p15">
                <a:extLst>
                  <a:ext uri="{FF2B5EF4-FFF2-40B4-BE49-F238E27FC236}">
                    <a16:creationId xmlns:a16="http://schemas.microsoft.com/office/drawing/2014/main" id="{FFECE017-16E7-4B41-330A-DA1516A72DC1}"/>
                  </a:ext>
                </a:extLst>
              </p:cNvPr>
              <p:cNvPicPr preferRelativeResize="0">
                <a:picLocks noChangeAspect="1"/>
              </p:cNvPicPr>
              <p:nvPr/>
            </p:nvPicPr>
            <p:blipFill>
              <a:blip r:embed="rId9">
                <a:alphaModFix/>
              </a:blip>
              <a:stretch>
                <a:fillRect/>
              </a:stretch>
            </p:blipFill>
            <p:spPr>
              <a:xfrm>
                <a:off x="6498830" y="9074476"/>
                <a:ext cx="398269" cy="362602"/>
              </a:xfrm>
              <a:prstGeom prst="rect">
                <a:avLst/>
              </a:prstGeom>
              <a:noFill/>
              <a:ln>
                <a:noFill/>
              </a:ln>
            </p:spPr>
          </p:pic>
          <p:pic>
            <p:nvPicPr>
              <p:cNvPr id="33" name="Google Shape;227;p15">
                <a:extLst>
                  <a:ext uri="{FF2B5EF4-FFF2-40B4-BE49-F238E27FC236}">
                    <a16:creationId xmlns:a16="http://schemas.microsoft.com/office/drawing/2014/main" id="{82F87B28-0618-95D3-54C4-E54AE9755353}"/>
                  </a:ext>
                </a:extLst>
              </p:cNvPr>
              <p:cNvPicPr preferRelativeResize="0">
                <a:picLocks noChangeAspect="1"/>
              </p:cNvPicPr>
              <p:nvPr/>
            </p:nvPicPr>
            <p:blipFill>
              <a:blip r:embed="rId9">
                <a:alphaModFix/>
              </a:blip>
              <a:stretch>
                <a:fillRect/>
              </a:stretch>
            </p:blipFill>
            <p:spPr>
              <a:xfrm>
                <a:off x="8601660" y="9060777"/>
                <a:ext cx="398269" cy="362602"/>
              </a:xfrm>
              <a:prstGeom prst="rect">
                <a:avLst/>
              </a:prstGeom>
              <a:noFill/>
              <a:ln>
                <a:noFill/>
              </a:ln>
            </p:spPr>
          </p:pic>
          <p:sp>
            <p:nvSpPr>
              <p:cNvPr id="34" name="TextBox 33">
                <a:extLst>
                  <a:ext uri="{FF2B5EF4-FFF2-40B4-BE49-F238E27FC236}">
                    <a16:creationId xmlns:a16="http://schemas.microsoft.com/office/drawing/2014/main" id="{A0FA7002-38D3-55DD-7796-6CB5C8207F3A}"/>
                  </a:ext>
                </a:extLst>
              </p:cNvPr>
              <p:cNvSpPr txBox="1"/>
              <p:nvPr/>
            </p:nvSpPr>
            <p:spPr>
              <a:xfrm>
                <a:off x="8457812" y="9199424"/>
                <a:ext cx="189461" cy="3078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r>
                  <a:rPr lang="en-US" dirty="0"/>
                  <a:t>✅</a:t>
                </a:r>
                <a:endParaRPr kumimoji="0" lang="en-US" b="1"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grpSp>
            <p:nvGrpSpPr>
              <p:cNvPr id="502" name="Group 501">
                <a:extLst>
                  <a:ext uri="{FF2B5EF4-FFF2-40B4-BE49-F238E27FC236}">
                    <a16:creationId xmlns:a16="http://schemas.microsoft.com/office/drawing/2014/main" id="{7FB9F875-8BA9-8C0E-EC11-9637D682CB7A}"/>
                  </a:ext>
                </a:extLst>
              </p:cNvPr>
              <p:cNvGrpSpPr/>
              <p:nvPr/>
            </p:nvGrpSpPr>
            <p:grpSpPr>
              <a:xfrm>
                <a:off x="5491861" y="9109816"/>
                <a:ext cx="296516" cy="294538"/>
                <a:chOff x="5367466" y="9150431"/>
                <a:chExt cx="296516" cy="294538"/>
              </a:xfrm>
            </p:grpSpPr>
            <p:sp>
              <p:nvSpPr>
                <p:cNvPr id="53" name="Google Shape;236;p15">
                  <a:extLst>
                    <a:ext uri="{FF2B5EF4-FFF2-40B4-BE49-F238E27FC236}">
                      <a16:creationId xmlns:a16="http://schemas.microsoft.com/office/drawing/2014/main" id="{4F923E35-FA97-07E6-7B3D-9B86F6F13C30}"/>
                    </a:ext>
                  </a:extLst>
                </p:cNvPr>
                <p:cNvSpPr>
                  <a:spLocks noChangeAspect="1"/>
                </p:cNvSpPr>
                <p:nvPr/>
              </p:nvSpPr>
              <p:spPr>
                <a:xfrm>
                  <a:off x="5367466" y="9150431"/>
                  <a:ext cx="296516" cy="29453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cxnSp>
              <p:nvCxnSpPr>
                <p:cNvPr id="54" name="Straight Connector 53">
                  <a:extLst>
                    <a:ext uri="{FF2B5EF4-FFF2-40B4-BE49-F238E27FC236}">
                      <a16:creationId xmlns:a16="http://schemas.microsoft.com/office/drawing/2014/main" id="{D907C4CF-6C11-97FF-E8CC-6B8508635A2E}"/>
                    </a:ext>
                  </a:extLst>
                </p:cNvPr>
                <p:cNvCxnSpPr>
                  <a:cxnSpLocks/>
                </p:cNvCxnSpPr>
                <p:nvPr/>
              </p:nvCxnSpPr>
              <p:spPr>
                <a:xfrm flipH="1">
                  <a:off x="5438395" y="9302560"/>
                  <a:ext cx="154656" cy="0"/>
                </a:xfrm>
                <a:prstGeom prst="line">
                  <a:avLst/>
                </a:prstGeom>
                <a:ln w="12700" cap="rnd"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5" name="Oval 54">
                  <a:extLst>
                    <a:ext uri="{FF2B5EF4-FFF2-40B4-BE49-F238E27FC236}">
                      <a16:creationId xmlns:a16="http://schemas.microsoft.com/office/drawing/2014/main" id="{BD926776-88FD-5556-0D72-04EE35AD0942}"/>
                    </a:ext>
                  </a:extLst>
                </p:cNvPr>
                <p:cNvSpPr>
                  <a:spLocks noChangeAspect="1"/>
                </p:cNvSpPr>
                <p:nvPr/>
              </p:nvSpPr>
              <p:spPr>
                <a:xfrm>
                  <a:off x="5482180" y="9269602"/>
                  <a:ext cx="67087" cy="65915"/>
                </a:xfrm>
                <a:prstGeom prst="ellipse">
                  <a:avLst/>
                </a:prstGeom>
                <a:solidFill>
                  <a:schemeClr val="bg2">
                    <a:lumMod val="10000"/>
                  </a:schemeClr>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grpSp>
          <p:grpSp>
            <p:nvGrpSpPr>
              <p:cNvPr id="495" name="Group 494">
                <a:extLst>
                  <a:ext uri="{FF2B5EF4-FFF2-40B4-BE49-F238E27FC236}">
                    <a16:creationId xmlns:a16="http://schemas.microsoft.com/office/drawing/2014/main" id="{9FDDA48B-E925-5929-0779-E168EAD38540}"/>
                  </a:ext>
                </a:extLst>
              </p:cNvPr>
              <p:cNvGrpSpPr/>
              <p:nvPr/>
            </p:nvGrpSpPr>
            <p:grpSpPr>
              <a:xfrm>
                <a:off x="5653606" y="7661921"/>
                <a:ext cx="296516" cy="294538"/>
                <a:chOff x="5470343" y="7664480"/>
                <a:chExt cx="296516" cy="294538"/>
              </a:xfrm>
            </p:grpSpPr>
            <p:sp>
              <p:nvSpPr>
                <p:cNvPr id="57" name="Google Shape;236;p15">
                  <a:extLst>
                    <a:ext uri="{FF2B5EF4-FFF2-40B4-BE49-F238E27FC236}">
                      <a16:creationId xmlns:a16="http://schemas.microsoft.com/office/drawing/2014/main" id="{3A9DB6F4-C350-D2D7-A49E-302B118ABCDF}"/>
                    </a:ext>
                  </a:extLst>
                </p:cNvPr>
                <p:cNvSpPr>
                  <a:spLocks noChangeAspect="1"/>
                </p:cNvSpPr>
                <p:nvPr/>
              </p:nvSpPr>
              <p:spPr>
                <a:xfrm>
                  <a:off x="5470343" y="7664480"/>
                  <a:ext cx="296516" cy="294538"/>
                </a:xfrm>
                <a:prstGeom prst="roundRect">
                  <a:avLst>
                    <a:gd name="adj" fmla="val 16667"/>
                  </a:avLst>
                </a:prstGeom>
                <a:solidFill>
                  <a:schemeClr val="bg2">
                    <a:lumMod val="10000"/>
                  </a:schemeClr>
                </a:solidFill>
                <a:ln w="8700" cap="flat" cmpd="sng">
                  <a:solidFill>
                    <a:schemeClr val="dk2"/>
                  </a:solidFill>
                  <a:prstDash val="solid"/>
                  <a:round/>
                  <a:headEnd type="none" w="sm" len="sm"/>
                  <a:tailEnd type="none" w="sm" len="sm"/>
                </a:ln>
              </p:spPr>
              <p:txBody>
                <a:bodyPr spcFirstLastPara="1" wrap="square" lIns="127722" tIns="127722" rIns="127722" bIns="127722" anchor="ctr" anchorCtr="0">
                  <a:noAutofit/>
                </a:bodyPr>
                <a:lstStyle/>
                <a:p>
                  <a:pPr>
                    <a:spcBef>
                      <a:spcPts val="0"/>
                    </a:spcBef>
                  </a:pPr>
                  <a:endParaRPr sz="1117">
                    <a:solidFill>
                      <a:schemeClr val="lt1"/>
                    </a:solidFill>
                  </a:endParaRPr>
                </a:p>
              </p:txBody>
            </p:sp>
            <p:cxnSp>
              <p:nvCxnSpPr>
                <p:cNvPr id="58" name="Straight Connector 57">
                  <a:extLst>
                    <a:ext uri="{FF2B5EF4-FFF2-40B4-BE49-F238E27FC236}">
                      <a16:creationId xmlns:a16="http://schemas.microsoft.com/office/drawing/2014/main" id="{45F8841F-A2A7-3C64-B419-A8EA04759597}"/>
                    </a:ext>
                  </a:extLst>
                </p:cNvPr>
                <p:cNvCxnSpPr>
                  <a:cxnSpLocks/>
                </p:cNvCxnSpPr>
                <p:nvPr/>
              </p:nvCxnSpPr>
              <p:spPr>
                <a:xfrm flipH="1">
                  <a:off x="5541272" y="7816609"/>
                  <a:ext cx="154656" cy="0"/>
                </a:xfrm>
                <a:prstGeom prst="line">
                  <a:avLst/>
                </a:prstGeom>
                <a:ln w="12700" cap="rnd"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9" name="Oval 58">
                  <a:extLst>
                    <a:ext uri="{FF2B5EF4-FFF2-40B4-BE49-F238E27FC236}">
                      <a16:creationId xmlns:a16="http://schemas.microsoft.com/office/drawing/2014/main" id="{90CFA932-397C-9BA2-2A9B-1EFF7B58A602}"/>
                    </a:ext>
                  </a:extLst>
                </p:cNvPr>
                <p:cNvSpPr>
                  <a:spLocks noChangeAspect="1"/>
                </p:cNvSpPr>
                <p:nvPr/>
              </p:nvSpPr>
              <p:spPr>
                <a:xfrm>
                  <a:off x="5585057" y="7783651"/>
                  <a:ext cx="67087" cy="65915"/>
                </a:xfrm>
                <a:prstGeom prst="ellipse">
                  <a:avLst/>
                </a:prstGeom>
                <a:solidFill>
                  <a:schemeClr val="bg2">
                    <a:lumMod val="10000"/>
                  </a:schemeClr>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uFillTx/>
                    <a:latin typeface="Source Sans Pro"/>
                    <a:ea typeface="Source Sans Pro"/>
                    <a:cs typeface="Source Sans Pro"/>
                    <a:sym typeface="Source Sans Pro"/>
                  </a:endParaRPr>
                </a:p>
              </p:txBody>
            </p:sp>
          </p:grpSp>
          <p:pic>
            <p:nvPicPr>
              <p:cNvPr id="509" name="Google Shape;227;p15">
                <a:extLst>
                  <a:ext uri="{FF2B5EF4-FFF2-40B4-BE49-F238E27FC236}">
                    <a16:creationId xmlns:a16="http://schemas.microsoft.com/office/drawing/2014/main" id="{231FD46D-F062-E886-70E6-F02CBB8D7FD7}"/>
                  </a:ext>
                </a:extLst>
              </p:cNvPr>
              <p:cNvPicPr preferRelativeResize="0">
                <a:picLocks noChangeAspect="1"/>
              </p:cNvPicPr>
              <p:nvPr/>
            </p:nvPicPr>
            <p:blipFill>
              <a:blip r:embed="rId9">
                <a:alphaModFix/>
              </a:blip>
              <a:stretch>
                <a:fillRect/>
              </a:stretch>
            </p:blipFill>
            <p:spPr>
              <a:xfrm>
                <a:off x="5244821" y="7624472"/>
                <a:ext cx="398269" cy="362602"/>
              </a:xfrm>
              <a:prstGeom prst="rect">
                <a:avLst/>
              </a:prstGeom>
              <a:noFill/>
              <a:ln>
                <a:noFill/>
              </a:ln>
            </p:spPr>
          </p:pic>
        </p:grpSp>
        <p:grpSp>
          <p:nvGrpSpPr>
            <p:cNvPr id="11" name="Group 10">
              <a:extLst>
                <a:ext uri="{FF2B5EF4-FFF2-40B4-BE49-F238E27FC236}">
                  <a16:creationId xmlns:a16="http://schemas.microsoft.com/office/drawing/2014/main" id="{17429E6C-742C-0D8D-2B80-5C65A6E30D72}"/>
                </a:ext>
              </a:extLst>
            </p:cNvPr>
            <p:cNvGrpSpPr/>
            <p:nvPr/>
          </p:nvGrpSpPr>
          <p:grpSpPr>
            <a:xfrm>
              <a:off x="6194824" y="6474863"/>
              <a:ext cx="192024" cy="192024"/>
              <a:chOff x="6194824" y="6474863"/>
              <a:chExt cx="192024" cy="192024"/>
            </a:xfrm>
          </p:grpSpPr>
          <p:sp>
            <p:nvSpPr>
              <p:cNvPr id="525" name="Oval 524">
                <a:extLst>
                  <a:ext uri="{FF2B5EF4-FFF2-40B4-BE49-F238E27FC236}">
                    <a16:creationId xmlns:a16="http://schemas.microsoft.com/office/drawing/2014/main" id="{733B8019-CA21-0E4B-3810-D14F3B1264B8}"/>
                  </a:ext>
                </a:extLst>
              </p:cNvPr>
              <p:cNvSpPr/>
              <p:nvPr/>
            </p:nvSpPr>
            <p:spPr>
              <a:xfrm>
                <a:off x="6194824" y="6474863"/>
                <a:ext cx="192024" cy="192024"/>
              </a:xfrm>
              <a:prstGeom prst="ellipse">
                <a:avLst/>
              </a:prstGeom>
              <a:solidFill>
                <a:srgbClr val="C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26" name="Cross 525">
                <a:extLst>
                  <a:ext uri="{FF2B5EF4-FFF2-40B4-BE49-F238E27FC236}">
                    <a16:creationId xmlns:a16="http://schemas.microsoft.com/office/drawing/2014/main" id="{4388F43C-5229-6588-E71A-5C3978EAEA1A}"/>
                  </a:ext>
                </a:extLst>
              </p:cNvPr>
              <p:cNvSpPr/>
              <p:nvPr/>
            </p:nvSpPr>
            <p:spPr>
              <a:xfrm rot="2700000">
                <a:off x="6220717" y="6501996"/>
                <a:ext cx="141979" cy="137931"/>
              </a:xfrm>
              <a:prstGeom prst="plus">
                <a:avLst>
                  <a:gd name="adj" fmla="val 41232"/>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dirty="0">
                  <a:ln>
                    <a:noFill/>
                  </a:ln>
                  <a:solidFill>
                    <a:srgbClr val="000000"/>
                  </a:solidFill>
                  <a:effectLst/>
                  <a:uFillTx/>
                  <a:latin typeface="Source Sans Pro"/>
                  <a:ea typeface="Source Sans Pro"/>
                  <a:cs typeface="Source Sans Pro"/>
                  <a:sym typeface="Source Sans Pro"/>
                </a:endParaRPr>
              </a:p>
            </p:txBody>
          </p:sp>
        </p:grpSp>
      </p:grpSp>
      <p:grpSp>
        <p:nvGrpSpPr>
          <p:cNvPr id="25" name="Group 24">
            <a:extLst>
              <a:ext uri="{FF2B5EF4-FFF2-40B4-BE49-F238E27FC236}">
                <a16:creationId xmlns:a16="http://schemas.microsoft.com/office/drawing/2014/main" id="{14ECFD18-E01B-0408-434C-8A8F8B384484}"/>
              </a:ext>
            </a:extLst>
          </p:cNvPr>
          <p:cNvGrpSpPr/>
          <p:nvPr/>
        </p:nvGrpSpPr>
        <p:grpSpPr>
          <a:xfrm>
            <a:off x="10260219" y="8582099"/>
            <a:ext cx="192024" cy="192024"/>
            <a:chOff x="10260219" y="8582099"/>
            <a:chExt cx="192024" cy="192024"/>
          </a:xfrm>
        </p:grpSpPr>
        <p:sp>
          <p:nvSpPr>
            <p:cNvPr id="531" name="Oval 530">
              <a:extLst>
                <a:ext uri="{FF2B5EF4-FFF2-40B4-BE49-F238E27FC236}">
                  <a16:creationId xmlns:a16="http://schemas.microsoft.com/office/drawing/2014/main" id="{B5AB01FD-C72F-E8BA-FE31-060CEC83C1F3}"/>
                </a:ext>
              </a:extLst>
            </p:cNvPr>
            <p:cNvSpPr/>
            <p:nvPr/>
          </p:nvSpPr>
          <p:spPr>
            <a:xfrm>
              <a:off x="10260219" y="8582099"/>
              <a:ext cx="192024" cy="192024"/>
            </a:xfrm>
            <a:prstGeom prst="ellipse">
              <a:avLst/>
            </a:prstGeom>
            <a:solidFill>
              <a:schemeClr val="accent5"/>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sp>
          <p:nvSpPr>
            <p:cNvPr id="532" name="Cross 531">
              <a:extLst>
                <a:ext uri="{FF2B5EF4-FFF2-40B4-BE49-F238E27FC236}">
                  <a16:creationId xmlns:a16="http://schemas.microsoft.com/office/drawing/2014/main" id="{977785AC-65E5-37D2-171C-340B6A242D49}"/>
                </a:ext>
              </a:extLst>
            </p:cNvPr>
            <p:cNvSpPr/>
            <p:nvPr/>
          </p:nvSpPr>
          <p:spPr>
            <a:xfrm rot="2700000">
              <a:off x="10286112" y="8609232"/>
              <a:ext cx="141979" cy="137931"/>
            </a:xfrm>
            <a:prstGeom prst="plus">
              <a:avLst>
                <a:gd name="adj" fmla="val 41232"/>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sp>
        <p:nvSpPr>
          <p:cNvPr id="533" name="Use headers, colors, and/or backgrounds to separate or group together sections.">
            <a:extLst>
              <a:ext uri="{FF2B5EF4-FFF2-40B4-BE49-F238E27FC236}">
                <a16:creationId xmlns:a16="http://schemas.microsoft.com/office/drawing/2014/main" id="{0E5DA97B-BC77-F366-6B5F-91DB37E6B002}"/>
              </a:ext>
            </a:extLst>
          </p:cNvPr>
          <p:cNvSpPr txBox="1"/>
          <p:nvPr/>
        </p:nvSpPr>
        <p:spPr>
          <a:xfrm>
            <a:off x="4728275" y="7917596"/>
            <a:ext cx="4251862" cy="4426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Light"/>
              </a:rPr>
              <a:t>GitHub Actions will deny a commit if any tests from the tests folder fail. </a:t>
            </a:r>
          </a:p>
        </p:txBody>
      </p:sp>
      <p:sp>
        <p:nvSpPr>
          <p:cNvPr id="534" name="Use headers, colors, and/or backgrounds to separate or group together sections.">
            <a:extLst>
              <a:ext uri="{FF2B5EF4-FFF2-40B4-BE49-F238E27FC236}">
                <a16:creationId xmlns:a16="http://schemas.microsoft.com/office/drawing/2014/main" id="{92B422C8-9661-44CE-0CD4-68F0BBC6CFB4}"/>
              </a:ext>
            </a:extLst>
          </p:cNvPr>
          <p:cNvSpPr txBox="1"/>
          <p:nvPr/>
        </p:nvSpPr>
        <p:spPr>
          <a:xfrm>
            <a:off x="4715896" y="8553932"/>
            <a:ext cx="4251862" cy="6088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dirty="0">
                <a:solidFill>
                  <a:srgbClr val="000000"/>
                </a:solidFill>
                <a:latin typeface="Source Sans Pro" panose="020B0503030403020204" pitchFamily="34" charset="0"/>
                <a:ea typeface="Source Sans Pro" panose="020B0503030403020204" pitchFamily="34" charset="0"/>
                <a:sym typeface="Source Sans Pro Light"/>
              </a:rPr>
              <a:t>The Quality Reviewer is a developer role that runs the committed code on their own machine, ensuring that users can replicate the capability or analysis. </a:t>
            </a:r>
          </a:p>
        </p:txBody>
      </p:sp>
      <p:sp>
        <p:nvSpPr>
          <p:cNvPr id="536" name="Use headers, colors, and/or backgrounds to separate or group together sections.">
            <a:extLst>
              <a:ext uri="{FF2B5EF4-FFF2-40B4-BE49-F238E27FC236}">
                <a16:creationId xmlns:a16="http://schemas.microsoft.com/office/drawing/2014/main" id="{CCB6D9EC-FAD0-689F-B59D-FD249FD9A543}"/>
              </a:ext>
            </a:extLst>
          </p:cNvPr>
          <p:cNvSpPr txBox="1"/>
          <p:nvPr/>
        </p:nvSpPr>
        <p:spPr>
          <a:xfrm>
            <a:off x="4722403" y="9422582"/>
            <a:ext cx="4251862" cy="6088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4570" tIns="54570" rIns="54570" bIns="54570">
            <a:spAutoFit/>
          </a:bodyPr>
          <a:lstStyle/>
          <a:p>
            <a:pPr>
              <a:lnSpc>
                <a:spcPct val="90000"/>
              </a:lnSpc>
              <a:spcBef>
                <a:spcPts val="300"/>
              </a:spcBef>
              <a:buClr>
                <a:schemeClr val="accent4">
                  <a:hueOff val="384618"/>
                  <a:satOff val="3869"/>
                  <a:lumOff val="5802"/>
                </a:schemeClr>
              </a:buClr>
              <a:defRPr b="0">
                <a:solidFill>
                  <a:srgbClr val="000000"/>
                </a:solidFill>
                <a:latin typeface="+mn-lt"/>
                <a:ea typeface="+mn-ea"/>
                <a:cs typeface="+mn-cs"/>
                <a:sym typeface="Source Sans Pro Light"/>
              </a:defRPr>
            </a:pPr>
            <a:r>
              <a:rPr lang="en-US" b="0" dirty="0">
                <a:solidFill>
                  <a:srgbClr val="000000"/>
                </a:solidFill>
                <a:latin typeface="Source Sans Pro" panose="020B0503030403020204" pitchFamily="34" charset="0"/>
                <a:ea typeface="Source Sans Pro" panose="020B0503030403020204" pitchFamily="34" charset="0"/>
                <a:sym typeface="Source Sans Pro Light"/>
              </a:rPr>
              <a:t>The Code Architect is a user role that assesses if the committed code matches the conventions of other similar files in </a:t>
            </a:r>
            <a:r>
              <a:rPr lang="en-US" b="0" dirty="0" err="1">
                <a:solidFill>
                  <a:srgbClr val="000000"/>
                </a:solidFill>
                <a:latin typeface="Source Sans Pro" panose="020B0503030403020204" pitchFamily="34" charset="0"/>
                <a:ea typeface="Source Sans Pro" panose="020B0503030403020204" pitchFamily="34" charset="0"/>
                <a:sym typeface="Source Sans Pro Light"/>
              </a:rPr>
              <a:t>Kaiaulu</a:t>
            </a:r>
            <a:r>
              <a:rPr lang="en-US" b="0" dirty="0">
                <a:solidFill>
                  <a:srgbClr val="000000"/>
                </a:solidFill>
                <a:latin typeface="Source Sans Pro" panose="020B0503030403020204" pitchFamily="34" charset="0"/>
                <a:ea typeface="Source Sans Pro" panose="020B0503030403020204" pitchFamily="34" charset="0"/>
                <a:sym typeface="Source Sans Pro Light"/>
              </a:rPr>
              <a:t>, such as function signatures, code location, and nomenclature.</a:t>
            </a:r>
          </a:p>
        </p:txBody>
      </p:sp>
      <p:sp>
        <p:nvSpPr>
          <p:cNvPr id="10" name="Line">
            <a:extLst>
              <a:ext uri="{FF2B5EF4-FFF2-40B4-BE49-F238E27FC236}">
                <a16:creationId xmlns:a16="http://schemas.microsoft.com/office/drawing/2014/main" id="{BA156CD6-16FC-804E-72D6-B6EBD8E21B85}"/>
              </a:ext>
            </a:extLst>
          </p:cNvPr>
          <p:cNvSpPr/>
          <p:nvPr/>
        </p:nvSpPr>
        <p:spPr>
          <a:xfrm flipV="1">
            <a:off x="139781" y="3687084"/>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12" name="Line">
            <a:extLst>
              <a:ext uri="{FF2B5EF4-FFF2-40B4-BE49-F238E27FC236}">
                <a16:creationId xmlns:a16="http://schemas.microsoft.com/office/drawing/2014/main" id="{006C6EC1-7BD1-8E21-29A3-240CB47B7318}"/>
              </a:ext>
            </a:extLst>
          </p:cNvPr>
          <p:cNvSpPr/>
          <p:nvPr/>
        </p:nvSpPr>
        <p:spPr>
          <a:xfrm flipV="1">
            <a:off x="147267" y="1826486"/>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21" name="Line">
            <a:extLst>
              <a:ext uri="{FF2B5EF4-FFF2-40B4-BE49-F238E27FC236}">
                <a16:creationId xmlns:a16="http://schemas.microsoft.com/office/drawing/2014/main" id="{C5E727EB-401B-8F0E-3C64-26A500609D27}"/>
              </a:ext>
            </a:extLst>
          </p:cNvPr>
          <p:cNvSpPr/>
          <p:nvPr/>
        </p:nvSpPr>
        <p:spPr>
          <a:xfrm flipV="1">
            <a:off x="204797" y="6032688"/>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22" name="Line">
            <a:extLst>
              <a:ext uri="{FF2B5EF4-FFF2-40B4-BE49-F238E27FC236}">
                <a16:creationId xmlns:a16="http://schemas.microsoft.com/office/drawing/2014/main" id="{15152F7F-4007-7348-237F-B4D8FC07746E}"/>
              </a:ext>
            </a:extLst>
          </p:cNvPr>
          <p:cNvSpPr/>
          <p:nvPr/>
        </p:nvSpPr>
        <p:spPr>
          <a:xfrm flipV="1">
            <a:off x="4540206" y="4193708"/>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
        <p:nvSpPr>
          <p:cNvPr id="23" name="Line">
            <a:extLst>
              <a:ext uri="{FF2B5EF4-FFF2-40B4-BE49-F238E27FC236}">
                <a16:creationId xmlns:a16="http://schemas.microsoft.com/office/drawing/2014/main" id="{45A7BC58-F341-82C4-6EBC-459BF77F886D}"/>
              </a:ext>
            </a:extLst>
          </p:cNvPr>
          <p:cNvSpPr/>
          <p:nvPr/>
        </p:nvSpPr>
        <p:spPr>
          <a:xfrm flipV="1">
            <a:off x="9412620" y="1893185"/>
            <a:ext cx="3871128" cy="8185"/>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dirty="0"/>
          </a:p>
        </p:txBody>
      </p:sp>
    </p:spTree>
    <p:extLst>
      <p:ext uri="{BB962C8B-B14F-4D97-AF65-F5344CB8AC3E}">
        <p14:creationId xmlns:p14="http://schemas.microsoft.com/office/powerpoint/2010/main" val="977392919"/>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4C4C4C"/>
      </a:dk1>
      <a:lt1>
        <a:srgbClr val="FFFFFF"/>
      </a:lt1>
      <a:dk2>
        <a:srgbClr val="53585F"/>
      </a:dk2>
      <a:lt2>
        <a:srgbClr val="DCDEE0"/>
      </a:lt2>
      <a:accent1>
        <a:srgbClr val="0365C0"/>
      </a:accent1>
      <a:accent2>
        <a:srgbClr val="00882B"/>
      </a:accent2>
      <a:accent3>
        <a:srgbClr val="F7DCA7"/>
      </a:accent3>
      <a:accent4>
        <a:srgbClr val="DE6A10"/>
      </a:accent4>
      <a:accent5>
        <a:srgbClr val="C82506"/>
      </a:accent5>
      <a:accent6>
        <a:srgbClr val="773F9B"/>
      </a:accent6>
      <a:hlink>
        <a:srgbClr val="0000FF"/>
      </a:hlink>
      <a:folHlink>
        <a:srgbClr val="FF00FF"/>
      </a:folHlink>
    </a:clrScheme>
    <a:fontScheme name="White">
      <a:majorFont>
        <a:latin typeface="Source Sans Pro Light"/>
        <a:ea typeface="Source Sans Pro Light"/>
        <a:cs typeface="Source Sans Pro Light"/>
      </a:majorFont>
      <a:minorFont>
        <a:latin typeface="Source Sans Pro Light"/>
        <a:ea typeface="Source Sans Pro Light"/>
        <a:cs typeface="Source Sans Pro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8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ln w="19050" cap="flat" cmpd="sng" algn="ctr">
          <a:solidFill>
            <a:schemeClr val="dk1"/>
          </a:solidFill>
          <a:prstDash val="dash"/>
          <a:round/>
          <a:headEnd type="none" w="med" len="med"/>
          <a:tailEnd type="none" w="med" len="med"/>
        </a:ln>
      </a:spPr>
      <a:bodyPr/>
      <a:lstStyle/>
      <a:style>
        <a:lnRef idx="0">
          <a:scrgbClr r="0" g="0" b="0"/>
        </a:lnRef>
        <a:fillRef idx="0">
          <a:scrgbClr r="0" g="0" b="0"/>
        </a:fillRef>
        <a:effectRef idx="0">
          <a:scrgbClr r="0" g="0" b="0"/>
        </a:effectRef>
        <a:fontRef idx="minor">
          <a:schemeClr val="tx1"/>
        </a:fontRef>
      </a:style>
    </a:lnDef>
    <a:txDef>
      <a:spPr>
        <a:noFill/>
        <a:ln w="12700" cap="flat">
          <a:noFill/>
          <a:miter lim="400000"/>
        </a:ln>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F7DCA7"/>
      </a:accent3>
      <a:accent4>
        <a:srgbClr val="DE6A10"/>
      </a:accent4>
      <a:accent5>
        <a:srgbClr val="C82506"/>
      </a:accent5>
      <a:accent6>
        <a:srgbClr val="773F9B"/>
      </a:accent6>
      <a:hlink>
        <a:srgbClr val="0000FF"/>
      </a:hlink>
      <a:folHlink>
        <a:srgbClr val="FF00FF"/>
      </a:folHlink>
    </a:clrScheme>
    <a:fontScheme name="White">
      <a:majorFont>
        <a:latin typeface="Source Sans Pro Light"/>
        <a:ea typeface="Source Sans Pro Light"/>
        <a:cs typeface="Source Sans Pro Light"/>
      </a:majorFont>
      <a:minorFont>
        <a:latin typeface="Source Sans Pro Light"/>
        <a:ea typeface="Source Sans Pro Light"/>
        <a:cs typeface="Source Sans Pro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8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15057</TotalTime>
  <Words>6926</Words>
  <Application>Microsoft Office PowerPoint</Application>
  <PresentationFormat>Custom</PresentationFormat>
  <Paragraphs>1268</Paragraphs>
  <Slides>17</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Avenir</vt:lpstr>
      <vt:lpstr>Helvetica Light</vt:lpstr>
      <vt:lpstr>Arial</vt:lpstr>
      <vt:lpstr>Source Sans Pro</vt:lpstr>
      <vt:lpstr>Source Sans Pro Light</vt:lpstr>
      <vt:lpstr>Source Sans Pro Semibold</vt:lpstr>
      <vt:lpstr>White</vt:lpstr>
      <vt:lpstr>PowerPoint Presentation</vt:lpstr>
      <vt:lpstr>PowerPoint Presentation</vt:lpstr>
      <vt:lpstr>PowerPoint Presentation</vt:lpstr>
      <vt:lpstr>PowerPoint Presentation</vt:lpstr>
      <vt:lpstr>Unit Tests : : CHEAT SHEET </vt:lpstr>
      <vt:lpstr>Unit Tests : : CHEAT SHEET </vt:lpstr>
      <vt:lpstr>Fake Data Generator : : CHEAT SHEET </vt:lpstr>
      <vt:lpstr>Unit Tests : : CHEAT SHEET </vt:lpstr>
      <vt:lpstr>Unit Tests : : CHEAT SHEET </vt:lpstr>
      <vt:lpstr>Unit Tests : : CHEAT SHEET </vt:lpstr>
      <vt:lpstr>Unit Tests : : CHEAT SHEET </vt:lpstr>
      <vt:lpstr>Unit Tests : : CHEAT SHEET </vt:lpstr>
      <vt:lpstr>Unit Tests : : CHEAT SHEET </vt:lpstr>
      <vt:lpstr>Unit Tests : : CHEAT SHEET </vt:lpstr>
      <vt:lpstr>Unit Tests : : CHEAT SHEET </vt:lpstr>
      <vt:lpstr>Unit Tests : : CHEAT SHEET </vt:lpstr>
      <vt:lpstr>Unit Tests : : CHEAT SHEET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Four Column Layout : : CHEAT SHEET</dc:title>
  <dc:creator>Nico</dc:creator>
  <cp:lastModifiedBy>Colby F</cp:lastModifiedBy>
  <cp:revision>232</cp:revision>
  <dcterms:modified xsi:type="dcterms:W3CDTF">2026-05-09T09:16:50Z</dcterms:modified>
</cp:coreProperties>
</file>