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B_F98C8C6.xml" ContentType="application/vnd.ms-powerpoint.comments+xml"/>
  <Override PartName="/ppt/notesSlides/notesSlide5.xml" ContentType="application/vnd.openxmlformats-officedocument.presentationml.notesSlide+xml"/>
  <Override PartName="/ppt/comments/modernComment_10C_DF0BBE7B.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66" r:id="rId2"/>
    <p:sldId id="262" r:id="rId3"/>
    <p:sldId id="263" r:id="rId4"/>
    <p:sldId id="264" r:id="rId5"/>
    <p:sldId id="259" r:id="rId6"/>
    <p:sldId id="258" r:id="rId7"/>
    <p:sldId id="265" r:id="rId8"/>
    <p:sldId id="261" r:id="rId9"/>
    <p:sldId id="267" r:id="rId10"/>
    <p:sldId id="268" r:id="rId11"/>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381DA6-9065-D171-5CA0-FB9CF094C2E7}" name="Carlos P." initials="CP" userId="435ab8475c8754a4" providerId="Windows Live"/>
  <p188:author id="{229879DC-142A-035D-C338-8FFDF36050D0}" name="Gi Young Back" initials="GB" userId="S::giyoung7@hawaii.edu::45f75ba2-d105-4297-afa9-f6ac45e3d1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365C0"/>
    <a:srgbClr val="F07D61"/>
    <a:srgbClr val="C945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92"/>
    <p:restoredTop sz="95814" autoAdjust="0"/>
  </p:normalViewPr>
  <p:slideViewPr>
    <p:cSldViewPr snapToGrid="0" snapToObjects="1">
      <p:cViewPr varScale="1">
        <p:scale>
          <a:sx n="68" d="100"/>
          <a:sy n="68" d="100"/>
        </p:scale>
        <p:origin x="1350"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B_F98C8C6.xml><?xml version="1.0" encoding="utf-8"?>
<p188:cmLst xmlns:a="http://schemas.openxmlformats.org/drawingml/2006/main" xmlns:r="http://schemas.openxmlformats.org/officeDocument/2006/relationships" xmlns:p188="http://schemas.microsoft.com/office/powerpoint/2018/8/main">
  <p188:cm id="{3EC3CEE5-91AF-A34D-9F21-39704C73EB0E}" authorId="{00381DA6-9065-D171-5CA0-FB9CF094C2E7}" created="2026-04-27T12:28:36.605">
    <ac:deMkLst xmlns:ac="http://schemas.microsoft.com/office/drawing/2013/main/command">
      <pc:docMk xmlns:pc="http://schemas.microsoft.com/office/powerpoint/2013/main/command"/>
      <pc:sldMk xmlns:pc="http://schemas.microsoft.com/office/powerpoint/2013/main/command" cId="261671110" sldId="267"/>
      <ac:spMk id="348" creationId="{20DA741C-67B1-D622-2D00-4AFE48E22AE1}"/>
    </ac:deMkLst>
    <p188:txBody>
      <a:bodyPr/>
      <a:lstStyle/>
      <a:p>
        <a:r>
          <a:rPr lang="en-US"/>
          <a:t>Check size of rectangle relative to the rest to be consistent</a:t>
        </a:r>
      </a:p>
    </p188:txBody>
    <p188:extLst>
      <p:ext xmlns:p="http://schemas.openxmlformats.org/presentationml/2006/main" uri="{57CB4572-C831-44C2-8A1C-0ADB6CCDFE69}">
        <p223:reactions xmlns:p223="http://schemas.microsoft.com/office/powerpoint/2022/03/main">
          <p223:rxn type="👍">
            <p223:instance time="2026-04-29T09:53:12.811" authorId="{229879DC-142A-035D-C338-8FFDF36050D0}"/>
          </p223:rxn>
        </p223:reactions>
      </p:ext>
    </p188:extLst>
  </p188:cm>
  <p188:cm id="{8DEC5697-F78C-9846-95E8-24DF802A748B}" authorId="{00381DA6-9065-D171-5CA0-FB9CF094C2E7}" created="2026-04-27T12:28:56.833">
    <ac:deMkLst xmlns:ac="http://schemas.microsoft.com/office/drawing/2013/main/command">
      <pc:docMk xmlns:pc="http://schemas.microsoft.com/office/powerpoint/2013/main/command"/>
      <pc:sldMk xmlns:pc="http://schemas.microsoft.com/office/powerpoint/2013/main/command" cId="261671110" sldId="267"/>
      <ac:spMk id="3" creationId="{692C7A16-799B-E707-2498-7BC6BDCEF273}"/>
    </ac:deMkLst>
    <p188:txBody>
      <a:bodyPr/>
      <a:lstStyle/>
      <a:p>
        <a:r>
          <a:rPr lang="en-US"/>
          <a:t>horizontal alignment to header seems off</a:t>
        </a:r>
      </a:p>
    </p188:txBody>
    <p188:extLst>
      <p:ext xmlns:p="http://schemas.openxmlformats.org/presentationml/2006/main" uri="{57CB4572-C831-44C2-8A1C-0ADB6CCDFE69}">
        <p223:reactions xmlns:p223="http://schemas.microsoft.com/office/powerpoint/2022/03/main">
          <p223:rxn type="👍">
            <p223:instance time="2026-04-29T09:55:02.002" authorId="{229879DC-142A-035D-C338-8FFDF36050D0}"/>
          </p223:rxn>
        </p223:reactions>
      </p:ext>
    </p188:extLst>
  </p188:cm>
  <p188:cm id="{F86ED534-EB67-7C43-A6E7-FD158E646800}" authorId="{00381DA6-9065-D171-5CA0-FB9CF094C2E7}" created="2026-04-27T12:29:20.850">
    <ac:deMkLst xmlns:ac="http://schemas.microsoft.com/office/drawing/2013/main/command">
      <pc:docMk xmlns:pc="http://schemas.microsoft.com/office/powerpoint/2013/main/command"/>
      <pc:sldMk xmlns:pc="http://schemas.microsoft.com/office/powerpoint/2013/main/command" cId="261671110" sldId="267"/>
      <ac:spMk id="762" creationId="{0EFC76EC-03A1-CDEC-5ABD-3801C1DE62D9}"/>
    </ac:deMkLst>
    <p188:txBody>
      <a:bodyPr/>
      <a:lstStyle/>
      <a:p>
        <a:r>
          <a:rPr lang="en-US"/>
          <a:t>Reduce vertical size, unused empty space</a:t>
        </a:r>
      </a:p>
    </p188:txBody>
    <p188:extLst>
      <p:ext xmlns:p="http://schemas.openxmlformats.org/presentationml/2006/main" uri="{57CB4572-C831-44C2-8A1C-0ADB6CCDFE69}">
        <p223:reactions xmlns:p223="http://schemas.microsoft.com/office/powerpoint/2022/03/main">
          <p223:rxn type="👍">
            <p223:instance time="2026-04-29T09:55:52.543" authorId="{229879DC-142A-035D-C338-8FFDF36050D0}"/>
          </p223:rxn>
        </p223:reactions>
      </p:ext>
    </p188:extLst>
  </p188:cm>
  <p188:cm id="{A9882E5B-C412-E049-94BD-6FDD05D9ECCD}" authorId="{00381DA6-9065-D171-5CA0-FB9CF094C2E7}" created="2026-04-27T12:29:58.340">
    <ac:deMkLst xmlns:ac="http://schemas.microsoft.com/office/drawing/2013/main/command">
      <pc:docMk xmlns:pc="http://schemas.microsoft.com/office/powerpoint/2013/main/command"/>
      <pc:sldMk xmlns:pc="http://schemas.microsoft.com/office/powerpoint/2013/main/command" cId="261671110" sldId="267"/>
      <ac:spMk id="762" creationId="{0EFC76EC-03A1-CDEC-5ABD-3801C1DE62D9}"/>
    </ac:deMkLst>
    <p188:txBody>
      <a:bodyPr/>
      <a:lstStyle/>
      <a:p>
        <a:r>
          <a:rPr lang="en-US"/>
          <a:t>For consistency, let's add a top right rectangle and call it exec/*.R</a:t>
        </a:r>
      </a:p>
    </p188:txBody>
    <p188:extLst>
      <p:ext xmlns:p="http://schemas.openxmlformats.org/presentationml/2006/main" uri="{57CB4572-C831-44C2-8A1C-0ADB6CCDFE69}">
        <p223:reactions xmlns:p223="http://schemas.microsoft.com/office/powerpoint/2022/03/main">
          <p223:rxn type="👍">
            <p223:instance time="2026-04-29T09:59:12.391" authorId="{229879DC-142A-035D-C338-8FFDF36050D0}"/>
          </p223:rxn>
        </p223:reactions>
      </p:ext>
    </p188:extLst>
  </p188:cm>
  <p188:cm id="{ADD39351-511E-E64B-9CC1-BDCA3175FB53}" authorId="{00381DA6-9065-D171-5CA0-FB9CF094C2E7}" created="2026-04-27T12:31:19.626">
    <ac:deMkLst xmlns:ac="http://schemas.microsoft.com/office/drawing/2013/main/command">
      <pc:docMk xmlns:pc="http://schemas.microsoft.com/office/powerpoint/2013/main/command"/>
      <pc:sldMk xmlns:pc="http://schemas.microsoft.com/office/powerpoint/2013/main/command" cId="261671110" sldId="267"/>
      <ac:spMk id="744" creationId="{1ADFCEE9-F273-64BA-C4CD-B11DB71F4C73}"/>
    </ac:deMkLst>
    <p188:txBody>
      <a:bodyPr/>
      <a:lstStyle/>
      <a:p>
        <a:r>
          <a:rPr lang="en-US"/>
          <a:t>For consistency, let's add a rectangle to the top right and call it ".yml"</a:t>
        </a:r>
      </a:p>
    </p188:txBody>
    <p188:extLst>
      <p:ext xmlns:p="http://schemas.openxmlformats.org/presentationml/2006/main" uri="{57CB4572-C831-44C2-8A1C-0ADB6CCDFE69}">
        <p223:reactions xmlns:p223="http://schemas.microsoft.com/office/powerpoint/2022/03/main">
          <p223:rxn type="👍">
            <p223:instance time="2026-04-29T09:59:15.033" authorId="{229879DC-142A-035D-C338-8FFDF36050D0}"/>
          </p223:rxn>
        </p223:reactions>
      </p:ext>
    </p188:extLst>
  </p188:cm>
  <p188:cm id="{D25326B8-A1D9-2B4F-90E5-B6DB4B5EC61A}" authorId="{00381DA6-9065-D171-5CA0-FB9CF094C2E7}" created="2026-04-27T12:33:33.549">
    <ac:deMkLst xmlns:ac="http://schemas.microsoft.com/office/drawing/2013/main/command">
      <pc:docMk xmlns:pc="http://schemas.microsoft.com/office/powerpoint/2013/main/command"/>
      <pc:sldMk xmlns:pc="http://schemas.microsoft.com/office/powerpoint/2013/main/command" cId="261671110" sldId="267"/>
      <ac:spMk id="500" creationId="{938CDBA2-3449-EE8D-F2C3-A7C8F93F5D31}"/>
    </ac:deMkLst>
    <p188:txBody>
      <a:bodyPr/>
      <a:lstStyle/>
      <a:p>
        <a:r>
          <a:rPr lang="en-US"/>
          <a:t>add vertical dots to suggest other functions exist.</a:t>
        </a:r>
      </a:p>
    </p188:txBody>
    <p188:extLst>
      <p:ext xmlns:p="http://schemas.openxmlformats.org/presentationml/2006/main" uri="{57CB4572-C831-44C2-8A1C-0ADB6CCDFE69}">
        <p223:reactions xmlns:p223="http://schemas.microsoft.com/office/powerpoint/2022/03/main">
          <p223:rxn type="👍">
            <p223:instance time="2026-04-29T10:03:41.958" authorId="{229879DC-142A-035D-C338-8FFDF36050D0}"/>
          </p223:rxn>
        </p223:reactions>
      </p:ext>
    </p188:extLst>
  </p188:cm>
  <p188:cm id="{59E8AEB5-618A-ED46-9CAF-ED5C13079141}" authorId="{00381DA6-9065-D171-5CA0-FB9CF094C2E7}" created="2026-04-27T12:34:09.485">
    <ac:deMkLst xmlns:ac="http://schemas.microsoft.com/office/drawing/2013/main/command">
      <pc:docMk xmlns:pc="http://schemas.microsoft.com/office/powerpoint/2013/main/command"/>
      <pc:sldMk xmlns:pc="http://schemas.microsoft.com/office/powerpoint/2013/main/command" cId="261671110" sldId="267"/>
      <ac:spMk id="780" creationId="{4F4BDB14-223C-24E8-652E-09FA435D6DB6}"/>
    </ac:deMkLst>
    <p188:txBody>
      <a:bodyPr/>
      <a:lstStyle/>
      <a:p>
        <a:r>
          <a:rPr lang="en-US"/>
          <a:t>add vertical dots to suggest other functions exist.</a:t>
        </a:r>
      </a:p>
    </p188:txBody>
    <p188:extLst>
      <p:ext xmlns:p="http://schemas.openxmlformats.org/presentationml/2006/main" uri="{57CB4572-C831-44C2-8A1C-0ADB6CCDFE69}">
        <p223:reactions xmlns:p223="http://schemas.microsoft.com/office/powerpoint/2022/03/main">
          <p223:rxn type="👍">
            <p223:instance time="2026-04-29T10:03:43.537" authorId="{229879DC-142A-035D-C338-8FFDF36050D0}"/>
          </p223:rxn>
        </p223:reactions>
      </p:ext>
    </p188:extLst>
  </p188:cm>
  <p188:cm id="{D4003CA9-8116-7341-91BC-B1CDC4BC15BA}" authorId="{00381DA6-9065-D171-5CA0-FB9CF094C2E7}" created="2026-04-27T12:34:31.148">
    <ac:txMkLst xmlns:ac="http://schemas.microsoft.com/office/drawing/2013/main/command">
      <pc:docMk xmlns:pc="http://schemas.microsoft.com/office/powerpoint/2013/main/command"/>
      <pc:sldMk xmlns:pc="http://schemas.microsoft.com/office/powerpoint/2013/main/command" cId="261671110" sldId="267"/>
      <ac:spMk id="780" creationId="{4F4BDB14-223C-24E8-652E-09FA435D6DB6}"/>
      <ac:txMk cp="88" len="34">
        <ac:context len="187" hash="1866113793"/>
      </ac:txMk>
    </ac:txMkLst>
    <p188:pos x="2078979" y="964790"/>
    <p188:txBody>
      <a:bodyPr/>
      <a:lstStyle/>
      <a:p>
        <a:r>
          <a:rPr lang="en-US"/>
          <a:t>Use a different example other than filters. How about the parameters from depends?</a:t>
        </a:r>
      </a:p>
    </p188:txBody>
    <p188:extLst>
      <p:ext xmlns:p="http://schemas.openxmlformats.org/presentationml/2006/main" uri="{57CB4572-C831-44C2-8A1C-0ADB6CCDFE69}">
        <p223:reactions xmlns:p223="http://schemas.microsoft.com/office/powerpoint/2022/03/main">
          <p223:rxn type="👍">
            <p223:instance time="2026-04-29T10:08:45.878" authorId="{229879DC-142A-035D-C338-8FFDF36050D0}"/>
          </p223:rxn>
        </p223:reactions>
      </p:ext>
    </p188:extLst>
  </p188:cm>
  <p188:cm id="{67B20DEE-D6D1-7A43-A2CD-6DD596DF1684}" authorId="{00381DA6-9065-D171-5CA0-FB9CF094C2E7}" created="2026-04-27T12:35:08.994">
    <ac:txMkLst xmlns:ac="http://schemas.microsoft.com/office/drawing/2013/main/command">
      <pc:docMk xmlns:pc="http://schemas.microsoft.com/office/powerpoint/2013/main/command"/>
      <pc:sldMk xmlns:pc="http://schemas.microsoft.com/office/powerpoint/2013/main/command" cId="261671110" sldId="267"/>
      <ac:spMk id="500" creationId="{938CDBA2-3449-EE8D-F2C3-A7C8F93F5D31}"/>
      <ac:txMk cp="81" len="25">
        <ac:context len="159" hash="3815727577"/>
      </ac:txMk>
    </ac:txMkLst>
    <p188:pos x="1689305" y="966895"/>
    <p188:txBody>
      <a:bodyPr/>
      <a:lstStyle/>
      <a:p>
        <a:r>
          <a:rPr lang="en-US"/>
          <a:t>Let's use another example since this was a bit convoluted if it belonged on project or analysis. How about the one that gets the jira path?</a:t>
        </a:r>
      </a:p>
    </p188:txBody>
    <p188:extLst>
      <p:ext xmlns:p="http://schemas.openxmlformats.org/presentationml/2006/main" uri="{57CB4572-C831-44C2-8A1C-0ADB6CCDFE69}">
        <p223:reactions xmlns:p223="http://schemas.microsoft.com/office/powerpoint/2022/03/main">
          <p223:rxn type="👍">
            <p223:instance time="2026-04-29T10:10:43.190" authorId="{229879DC-142A-035D-C338-8FFDF36050D0}"/>
          </p223:rxn>
        </p223:reactions>
      </p:ext>
    </p188:extLst>
  </p188:cm>
</p188:cmLst>
</file>

<file path=ppt/comments/modernComment_10C_DF0BBE7B.xml><?xml version="1.0" encoding="utf-8"?>
<p188:cmLst xmlns:a="http://schemas.openxmlformats.org/drawingml/2006/main" xmlns:r="http://schemas.openxmlformats.org/officeDocument/2006/relationships" xmlns:p188="http://schemas.microsoft.com/office/powerpoint/2018/8/main">
  <p188:cm id="{A492C24B-620A-E94F-ACE6-2453EF0C192E}" authorId="{00381DA6-9065-D171-5CA0-FB9CF094C2E7}" created="2026-04-27T12:28:36.605">
    <ac:deMkLst xmlns:ac="http://schemas.microsoft.com/office/drawing/2013/main/command">
      <pc:docMk xmlns:pc="http://schemas.microsoft.com/office/powerpoint/2013/main/command"/>
      <pc:sldMk xmlns:pc="http://schemas.microsoft.com/office/powerpoint/2013/main/command" cId="3742088827" sldId="268"/>
      <ac:spMk id="348" creationId="{E2EEA11D-A2B5-C694-48BB-A881C29DEE70}"/>
    </ac:deMkLst>
    <p188:txBody>
      <a:bodyPr/>
      <a:lstStyle/>
      <a:p>
        <a:r>
          <a:rPr lang="en-US"/>
          <a:t>Check size of rectangle relative to the rest to be consistent</a:t>
        </a:r>
      </a:p>
    </p188:txBody>
    <p188:extLst>
      <p:ext xmlns:p="http://schemas.openxmlformats.org/presentationml/2006/main" uri="{57CB4572-C831-44C2-8A1C-0ADB6CCDFE69}">
        <p223:reactions xmlns:p223="http://schemas.microsoft.com/office/powerpoint/2022/03/main">
          <p223:rxn type="👍">
            <p223:instance time="2026-04-29T09:53:12.811" authorId="{229879DC-142A-035D-C338-8FFDF36050D0}"/>
          </p223:rxn>
        </p223:reactions>
      </p:ext>
    </p188:extLst>
  </p188:cm>
  <p188:cm id="{CB01989D-4ECC-EC42-B1B0-7E093F806737}" authorId="{00381DA6-9065-D171-5CA0-FB9CF094C2E7}" created="2026-04-27T12:28:56.833">
    <ac:deMkLst xmlns:ac="http://schemas.microsoft.com/office/drawing/2013/main/command">
      <pc:docMk xmlns:pc="http://schemas.microsoft.com/office/powerpoint/2013/main/command"/>
      <pc:sldMk xmlns:pc="http://schemas.microsoft.com/office/powerpoint/2013/main/command" cId="3742088827" sldId="268"/>
      <ac:spMk id="3" creationId="{31257C4A-E684-2365-E2BC-251C16D27EFA}"/>
    </ac:deMkLst>
    <p188:txBody>
      <a:bodyPr/>
      <a:lstStyle/>
      <a:p>
        <a:r>
          <a:rPr lang="en-US"/>
          <a:t>horizontal alignment to header seems off</a:t>
        </a:r>
      </a:p>
    </p188:txBody>
    <p188:extLst>
      <p:ext xmlns:p="http://schemas.openxmlformats.org/presentationml/2006/main" uri="{57CB4572-C831-44C2-8A1C-0ADB6CCDFE69}">
        <p223:reactions xmlns:p223="http://schemas.microsoft.com/office/powerpoint/2022/03/main">
          <p223:rxn type="👍">
            <p223:instance time="2026-04-29T09:55:02.002" authorId="{229879DC-142A-035D-C338-8FFDF36050D0}"/>
          </p223:rxn>
        </p223:reactions>
      </p:ext>
    </p188:extLst>
  </p188:cm>
  <p188:cm id="{2DEE56AA-4005-A042-8EA7-11D4C9199FA7}" authorId="{00381DA6-9065-D171-5CA0-FB9CF094C2E7}" created="2026-04-27T12:29:20.850">
    <ac:deMkLst xmlns:ac="http://schemas.microsoft.com/office/drawing/2013/main/command">
      <pc:docMk xmlns:pc="http://schemas.microsoft.com/office/powerpoint/2013/main/command"/>
      <pc:sldMk xmlns:pc="http://schemas.microsoft.com/office/powerpoint/2013/main/command" cId="3742088827" sldId="268"/>
      <ac:spMk id="762" creationId="{A5CCB213-A2DA-D5AB-931F-521681D809E7}"/>
    </ac:deMkLst>
    <p188:txBody>
      <a:bodyPr/>
      <a:lstStyle/>
      <a:p>
        <a:r>
          <a:rPr lang="en-US"/>
          <a:t>Reduce vertical size, unused empty space</a:t>
        </a:r>
      </a:p>
    </p188:txBody>
    <p188:extLst>
      <p:ext xmlns:p="http://schemas.openxmlformats.org/presentationml/2006/main" uri="{57CB4572-C831-44C2-8A1C-0ADB6CCDFE69}">
        <p223:reactions xmlns:p223="http://schemas.microsoft.com/office/powerpoint/2022/03/main">
          <p223:rxn type="👍">
            <p223:instance time="2026-04-29T09:55:52.543" authorId="{229879DC-142A-035D-C338-8FFDF36050D0}"/>
          </p223:rxn>
        </p223:reactions>
      </p:ext>
    </p188:extLst>
  </p188:cm>
  <p188:cm id="{04D65466-4F6F-2C47-B667-8B8A8BD649AA}" authorId="{00381DA6-9065-D171-5CA0-FB9CF094C2E7}" created="2026-04-27T12:29:58.340">
    <ac:deMkLst xmlns:ac="http://schemas.microsoft.com/office/drawing/2013/main/command">
      <pc:docMk xmlns:pc="http://schemas.microsoft.com/office/powerpoint/2013/main/command"/>
      <pc:sldMk xmlns:pc="http://schemas.microsoft.com/office/powerpoint/2013/main/command" cId="3742088827" sldId="268"/>
      <ac:spMk id="762" creationId="{A5CCB213-A2DA-D5AB-931F-521681D809E7}"/>
    </ac:deMkLst>
    <p188:txBody>
      <a:bodyPr/>
      <a:lstStyle/>
      <a:p>
        <a:r>
          <a:rPr lang="en-US"/>
          <a:t>For consistency, let's add a top right rectangle and call it exec/*.R</a:t>
        </a:r>
      </a:p>
    </p188:txBody>
    <p188:extLst>
      <p:ext xmlns:p="http://schemas.openxmlformats.org/presentationml/2006/main" uri="{57CB4572-C831-44C2-8A1C-0ADB6CCDFE69}">
        <p223:reactions xmlns:p223="http://schemas.microsoft.com/office/powerpoint/2022/03/main">
          <p223:rxn type="👍">
            <p223:instance time="2026-04-29T09:59:12.391" authorId="{229879DC-142A-035D-C338-8FFDF36050D0}"/>
          </p223:rxn>
        </p223:reactions>
      </p:ext>
    </p188:extLst>
  </p188:cm>
  <p188:cm id="{BF121C93-E252-3049-B2AD-23E215B77255}" authorId="{00381DA6-9065-D171-5CA0-FB9CF094C2E7}" created="2026-04-27T12:31:19.626">
    <ac:deMkLst xmlns:ac="http://schemas.microsoft.com/office/drawing/2013/main/command">
      <pc:docMk xmlns:pc="http://schemas.microsoft.com/office/powerpoint/2013/main/command"/>
      <pc:sldMk xmlns:pc="http://schemas.microsoft.com/office/powerpoint/2013/main/command" cId="3742088827" sldId="268"/>
      <ac:spMk id="744" creationId="{9B3158A5-C8C0-3960-ACFA-55DD296007FB}"/>
    </ac:deMkLst>
    <p188:txBody>
      <a:bodyPr/>
      <a:lstStyle/>
      <a:p>
        <a:r>
          <a:rPr lang="en-US"/>
          <a:t>For consistency, let's add a rectangle to the top right and call it ".yml"</a:t>
        </a:r>
      </a:p>
    </p188:txBody>
    <p188:extLst>
      <p:ext xmlns:p="http://schemas.openxmlformats.org/presentationml/2006/main" uri="{57CB4572-C831-44C2-8A1C-0ADB6CCDFE69}">
        <p223:reactions xmlns:p223="http://schemas.microsoft.com/office/powerpoint/2022/03/main">
          <p223:rxn type="👍">
            <p223:instance time="2026-04-29T09:59:15.033" authorId="{229879DC-142A-035D-C338-8FFDF36050D0}"/>
          </p223:rxn>
        </p223:reactions>
      </p:ext>
    </p188:extLst>
  </p188:cm>
  <p188:cm id="{C424CF85-B0AF-C64E-AC0D-AF4ABF966BC7}" authorId="{00381DA6-9065-D171-5CA0-FB9CF094C2E7}" created="2026-04-27T12:33:33.549">
    <ac:deMkLst xmlns:ac="http://schemas.microsoft.com/office/drawing/2013/main/command">
      <pc:docMk xmlns:pc="http://schemas.microsoft.com/office/powerpoint/2013/main/command"/>
      <pc:sldMk xmlns:pc="http://schemas.microsoft.com/office/powerpoint/2013/main/command" cId="3742088827" sldId="268"/>
      <ac:spMk id="500" creationId="{2F1F8A7C-8CDC-DFCE-35CE-1736BAF928DA}"/>
    </ac:deMkLst>
    <p188:txBody>
      <a:bodyPr/>
      <a:lstStyle/>
      <a:p>
        <a:r>
          <a:rPr lang="en-US"/>
          <a:t>add vertical dots to suggest other functions exist.</a:t>
        </a:r>
      </a:p>
    </p188:txBody>
    <p188:extLst>
      <p:ext xmlns:p="http://schemas.openxmlformats.org/presentationml/2006/main" uri="{57CB4572-C831-44C2-8A1C-0ADB6CCDFE69}">
        <p223:reactions xmlns:p223="http://schemas.microsoft.com/office/powerpoint/2022/03/main">
          <p223:rxn type="👍">
            <p223:instance time="2026-04-29T10:03:41.958" authorId="{229879DC-142A-035D-C338-8FFDF36050D0}"/>
          </p223:rxn>
        </p223:reactions>
      </p:ext>
    </p188:extLst>
  </p188:cm>
  <p188:cm id="{AC68277E-BD36-CC45-902E-B3F9839CD1B8}" authorId="{00381DA6-9065-D171-5CA0-FB9CF094C2E7}" created="2026-04-27T12:34:09.485">
    <ac:deMkLst xmlns:ac="http://schemas.microsoft.com/office/drawing/2013/main/command">
      <pc:docMk xmlns:pc="http://schemas.microsoft.com/office/powerpoint/2013/main/command"/>
      <pc:sldMk xmlns:pc="http://schemas.microsoft.com/office/powerpoint/2013/main/command" cId="3742088827" sldId="268"/>
      <ac:spMk id="780" creationId="{4AD26F8A-437D-C973-C5FA-A679D7CA7575}"/>
    </ac:deMkLst>
    <p188:txBody>
      <a:bodyPr/>
      <a:lstStyle/>
      <a:p>
        <a:r>
          <a:rPr lang="en-US"/>
          <a:t>add vertical dots to suggest other functions exist.</a:t>
        </a:r>
      </a:p>
    </p188:txBody>
    <p188:extLst>
      <p:ext xmlns:p="http://schemas.openxmlformats.org/presentationml/2006/main" uri="{57CB4572-C831-44C2-8A1C-0ADB6CCDFE69}">
        <p223:reactions xmlns:p223="http://schemas.microsoft.com/office/powerpoint/2022/03/main">
          <p223:rxn type="👍">
            <p223:instance time="2026-04-29T10:03:43.537" authorId="{229879DC-142A-035D-C338-8FFDF36050D0}"/>
          </p223:rxn>
        </p223:reactions>
      </p:ext>
    </p188:extLst>
  </p188:cm>
  <p188:cm id="{BB0770CF-884D-D143-ADBD-B9F518DF6E11}" authorId="{00381DA6-9065-D171-5CA0-FB9CF094C2E7}" created="2026-04-27T12:34:31.148">
    <ac:txMkLst xmlns:ac="http://schemas.microsoft.com/office/drawing/2013/main/command">
      <pc:docMk xmlns:pc="http://schemas.microsoft.com/office/powerpoint/2013/main/command"/>
      <pc:sldMk xmlns:pc="http://schemas.microsoft.com/office/powerpoint/2013/main/command" cId="3742088827" sldId="268"/>
      <ac:spMk id="780" creationId="{4AD26F8A-437D-C973-C5FA-A679D7CA7575}"/>
      <ac:txMk cp="88" len="34">
        <ac:context len="187" hash="1866113793"/>
      </ac:txMk>
    </ac:txMkLst>
    <p188:pos x="2078979" y="964790"/>
    <p188:txBody>
      <a:bodyPr/>
      <a:lstStyle/>
      <a:p>
        <a:r>
          <a:rPr lang="en-US"/>
          <a:t>Use a different example other than filters. How about the parameters from depends?</a:t>
        </a:r>
      </a:p>
    </p188:txBody>
    <p188:extLst>
      <p:ext xmlns:p="http://schemas.openxmlformats.org/presentationml/2006/main" uri="{57CB4572-C831-44C2-8A1C-0ADB6CCDFE69}">
        <p223:reactions xmlns:p223="http://schemas.microsoft.com/office/powerpoint/2022/03/main">
          <p223:rxn type="👍">
            <p223:instance time="2026-04-29T10:08:45.878" authorId="{229879DC-142A-035D-C338-8FFDF36050D0}"/>
          </p223:rxn>
        </p223:reactions>
      </p:ext>
    </p188:extLst>
  </p188:cm>
  <p188:cm id="{4841EE95-9298-3245-9ACD-8FD4A0B33BBB}" authorId="{00381DA6-9065-D171-5CA0-FB9CF094C2E7}" created="2026-04-27T12:35:08.994">
    <ac:txMkLst xmlns:ac="http://schemas.microsoft.com/office/drawing/2013/main/command">
      <pc:docMk xmlns:pc="http://schemas.microsoft.com/office/powerpoint/2013/main/command"/>
      <pc:sldMk xmlns:pc="http://schemas.microsoft.com/office/powerpoint/2013/main/command" cId="3742088827" sldId="268"/>
      <ac:spMk id="500" creationId="{2F1F8A7C-8CDC-DFCE-35CE-1736BAF928DA}"/>
      <ac:txMk cp="81" len="25">
        <ac:context len="159" hash="3815727577"/>
      </ac:txMk>
    </ac:txMkLst>
    <p188:pos x="1689305" y="966895"/>
    <p188:txBody>
      <a:bodyPr/>
      <a:lstStyle/>
      <a:p>
        <a:r>
          <a:rPr lang="en-US"/>
          <a:t>Let's use another example since this was a bit convoluted if it belonged on project or analysis. How about the one that gets the jira path?</a:t>
        </a:r>
      </a:p>
    </p188:txBody>
    <p188:extLst>
      <p:ext xmlns:p="http://schemas.openxmlformats.org/presentationml/2006/main" uri="{57CB4572-C831-44C2-8A1C-0ADB6CCDFE69}">
        <p223:reactions xmlns:p223="http://schemas.microsoft.com/office/powerpoint/2022/03/main">
          <p223:rxn type="👍">
            <p223:instance time="2026-04-29T10:10:43.190" authorId="{229879DC-142A-035D-C338-8FFDF36050D0}"/>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0279-0861-6722-4479-2725EF7B3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D8CBC-1F6B-3A91-CD6F-1E741F74A382}"/>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54F8E02D-D20B-4F08-455F-70D9CA1268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81652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6781E-DBBF-E3FE-BF1F-3EBD858CC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4C6B2-547E-9DF7-45F4-25B22ED245D3}"/>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200AE59E-0470-C0DD-D2E2-E8D03C3A620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85138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624E4-A6B2-6A47-D585-8A683E1FE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F0BD4-197E-8BE8-CAF1-A5F085ED3677}"/>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64A558AB-56A4-8B2E-48F4-774890F8D45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6814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8CB04-88CE-FF51-4917-DA582D88A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99A2D-524A-D33D-DBD3-3FA12C3EEFDD}"/>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09A07C5A-56A2-AA10-DFB3-E8CE631617C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9891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hyperlink" Target="https://creativecommons.org/licenses/by-sa/4.0/"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hyperlink" Target="https://creativecommons.org/licenses/by-sa/4.0/"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hyperlink" Target="https://creativecommons.org/licenses/by-sa/4.0/" TargetMode="Externa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B_F98C8C6.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0C_DF0BBE7B.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5C6A5A37-74D1-8989-F751-CC2F02C4A3B1}"/>
              </a:ext>
            </a:extLst>
          </p:cNvPr>
          <p:cNvPicPr>
            <a:picLocks noChangeAspect="1"/>
          </p:cNvPicPr>
          <p:nvPr/>
        </p:nvPicPr>
        <p:blipFill>
          <a:blip r:embed="rId2"/>
          <a:stretch>
            <a:fillRect/>
          </a:stretch>
        </p:blipFill>
        <p:spPr>
          <a:xfrm>
            <a:off x="1767402" y="1753175"/>
            <a:ext cx="10452422" cy="6550728"/>
          </a:xfrm>
          <a:prstGeom prst="rect">
            <a:avLst/>
          </a:prstGeom>
        </p:spPr>
      </p:pic>
    </p:spTree>
    <p:extLst>
      <p:ext uri="{BB962C8B-B14F-4D97-AF65-F5344CB8AC3E}">
        <p14:creationId xmlns:p14="http://schemas.microsoft.com/office/powerpoint/2010/main" val="321626790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C591B940-6590-1467-C6B1-EF3C39810D82}"/>
              </a:ext>
            </a:extLst>
          </p:cNvPr>
          <p:cNvPicPr>
            <a:picLocks noChangeAspect="1"/>
          </p:cNvPicPr>
          <p:nvPr/>
        </p:nvPicPr>
        <p:blipFill>
          <a:blip r:embed="rId2"/>
          <a:stretch>
            <a:fillRect/>
          </a:stretch>
        </p:blipFill>
        <p:spPr>
          <a:xfrm>
            <a:off x="1684198" y="1472780"/>
            <a:ext cx="10601922" cy="7488840"/>
          </a:xfrm>
          <a:prstGeom prst="rect">
            <a:avLst/>
          </a:prstGeom>
        </p:spPr>
      </p:pic>
    </p:spTree>
    <p:extLst>
      <p:ext uri="{BB962C8B-B14F-4D97-AF65-F5344CB8AC3E}">
        <p14:creationId xmlns:p14="http://schemas.microsoft.com/office/powerpoint/2010/main" val="410441545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E515810F-51AE-DA93-7BA4-BEB2644F05D5}"/>
              </a:ext>
            </a:extLst>
          </p:cNvPr>
          <p:cNvPicPr>
            <a:picLocks noChangeAspect="1"/>
          </p:cNvPicPr>
          <p:nvPr/>
        </p:nvPicPr>
        <p:blipFill>
          <a:blip r:embed="rId2"/>
          <a:stretch>
            <a:fillRect/>
          </a:stretch>
        </p:blipFill>
        <p:spPr>
          <a:xfrm>
            <a:off x="1503887" y="1500820"/>
            <a:ext cx="10979046" cy="7777263"/>
          </a:xfrm>
          <a:prstGeom prst="rect">
            <a:avLst/>
          </a:prstGeom>
        </p:spPr>
      </p:pic>
    </p:spTree>
    <p:extLst>
      <p:ext uri="{BB962C8B-B14F-4D97-AF65-F5344CB8AC3E}">
        <p14:creationId xmlns:p14="http://schemas.microsoft.com/office/powerpoint/2010/main" val="395763849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C7AFD81A-0D18-A82E-1EC0-F3509AC2C685}"/>
              </a:ext>
            </a:extLst>
          </p:cNvPr>
          <p:cNvPicPr>
            <a:picLocks noChangeAspect="1"/>
          </p:cNvPicPr>
          <p:nvPr/>
        </p:nvPicPr>
        <p:blipFill>
          <a:blip r:embed="rId2"/>
          <a:stretch>
            <a:fillRect/>
          </a:stretch>
        </p:blipFill>
        <p:spPr>
          <a:xfrm>
            <a:off x="502646" y="2704222"/>
            <a:ext cx="12982859" cy="4779108"/>
          </a:xfrm>
          <a:prstGeom prst="rect">
            <a:avLst/>
          </a:prstGeom>
        </p:spPr>
      </p:pic>
    </p:spTree>
    <p:extLst>
      <p:ext uri="{BB962C8B-B14F-4D97-AF65-F5344CB8AC3E}">
        <p14:creationId xmlns:p14="http://schemas.microsoft.com/office/powerpoint/2010/main" val="277462711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CD218B21-83FA-D18A-2DEB-19D5822CA90D}"/>
              </a:ext>
            </a:extLst>
          </p:cNvPr>
          <p:cNvGrpSpPr/>
          <p:nvPr/>
        </p:nvGrpSpPr>
        <p:grpSpPr>
          <a:xfrm>
            <a:off x="1788460" y="605118"/>
            <a:ext cx="10367682" cy="9535222"/>
            <a:chOff x="1788460" y="605118"/>
            <a:chExt cx="10367682" cy="9535222"/>
          </a:xfrm>
        </p:grpSpPr>
        <p:sp>
          <p:nvSpPr>
            <p:cNvPr id="2" name="Rectangle 1">
              <a:extLst>
                <a:ext uri="{FF2B5EF4-FFF2-40B4-BE49-F238E27FC236}">
                  <a16:creationId xmlns:a16="http://schemas.microsoft.com/office/drawing/2014/main" id="{3C81B8A9-E27E-0FB9-6909-8368A236CA45}"/>
                </a:ext>
              </a:extLst>
            </p:cNvPr>
            <p:cNvSpPr/>
            <p:nvPr/>
          </p:nvSpPr>
          <p:spPr>
            <a:xfrm>
              <a:off x="1788460" y="605118"/>
              <a:ext cx="10367682" cy="4020671"/>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24" name="Group 23">
              <a:extLst>
                <a:ext uri="{FF2B5EF4-FFF2-40B4-BE49-F238E27FC236}">
                  <a16:creationId xmlns:a16="http://schemas.microsoft.com/office/drawing/2014/main" id="{90FA891C-26E2-924B-9358-CD80204826C7}"/>
                </a:ext>
              </a:extLst>
            </p:cNvPr>
            <p:cNvGrpSpPr/>
            <p:nvPr/>
          </p:nvGrpSpPr>
          <p:grpSpPr>
            <a:xfrm>
              <a:off x="2066366" y="1317812"/>
              <a:ext cx="4087905" cy="2782421"/>
              <a:chOff x="2066366" y="1317812"/>
              <a:chExt cx="4087905" cy="2782421"/>
            </a:xfrm>
          </p:grpSpPr>
          <p:sp>
            <p:nvSpPr>
              <p:cNvPr id="3" name="Rectangle 2">
                <a:extLst>
                  <a:ext uri="{FF2B5EF4-FFF2-40B4-BE49-F238E27FC236}">
                    <a16:creationId xmlns:a16="http://schemas.microsoft.com/office/drawing/2014/main" id="{6E6B96E7-4753-1749-357A-25DCE82FEC63}"/>
                  </a:ext>
                </a:extLst>
              </p:cNvPr>
              <p:cNvSpPr/>
              <p:nvPr/>
            </p:nvSpPr>
            <p:spPr>
              <a:xfrm>
                <a:off x="3245225" y="1317812"/>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 name="Rectangle 3">
                <a:extLst>
                  <a:ext uri="{FF2B5EF4-FFF2-40B4-BE49-F238E27FC236}">
                    <a16:creationId xmlns:a16="http://schemas.microsoft.com/office/drawing/2014/main" id="{5BAD49F3-2987-7D14-84C2-BE4F9235482C}"/>
                  </a:ext>
                </a:extLst>
              </p:cNvPr>
              <p:cNvSpPr/>
              <p:nvPr/>
            </p:nvSpPr>
            <p:spPr>
              <a:xfrm>
                <a:off x="2066366"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 name="Rectangle 4">
                <a:extLst>
                  <a:ext uri="{FF2B5EF4-FFF2-40B4-BE49-F238E27FC236}">
                    <a16:creationId xmlns:a16="http://schemas.microsoft.com/office/drawing/2014/main" id="{F5636438-9C99-0287-DABE-7BB32A1ACB47}"/>
                  </a:ext>
                </a:extLst>
              </p:cNvPr>
              <p:cNvSpPr/>
              <p:nvPr/>
            </p:nvSpPr>
            <p:spPr>
              <a:xfrm>
                <a:off x="4437531"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6" name="Connector: Curved 15">
                <a:extLst>
                  <a:ext uri="{FF2B5EF4-FFF2-40B4-BE49-F238E27FC236}">
                    <a16:creationId xmlns:a16="http://schemas.microsoft.com/office/drawing/2014/main" id="{E993BD0B-E8DB-7B14-6955-A6E021DDB888}"/>
                  </a:ext>
                </a:extLst>
              </p:cNvPr>
              <p:cNvCxnSpPr/>
              <p:nvPr/>
            </p:nvCxnSpPr>
            <p:spPr>
              <a:xfrm rot="16200000" flipH="1">
                <a:off x="5248836" y="1901640"/>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8" name="Connector: Curved 17">
                <a:extLst>
                  <a:ext uri="{FF2B5EF4-FFF2-40B4-BE49-F238E27FC236}">
                    <a16:creationId xmlns:a16="http://schemas.microsoft.com/office/drawing/2014/main" id="{65E8D7AD-3EFC-DBC4-9F13-8D5EC6734D7A}"/>
                  </a:ext>
                </a:extLst>
              </p:cNvPr>
              <p:cNvCxnSpPr>
                <a:cxnSpLocks/>
              </p:cNvCxnSpPr>
              <p:nvPr/>
            </p:nvCxnSpPr>
            <p:spPr>
              <a:xfrm rot="10800000" flipH="1">
                <a:off x="2458571" y="1926294"/>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Connector: Curved 19">
                <a:extLst>
                  <a:ext uri="{FF2B5EF4-FFF2-40B4-BE49-F238E27FC236}">
                    <a16:creationId xmlns:a16="http://schemas.microsoft.com/office/drawing/2014/main" id="{B1C846CE-4585-0E7F-8996-7048CA6FBC7A}"/>
                  </a:ext>
                </a:extLst>
              </p:cNvPr>
              <p:cNvCxnSpPr>
                <a:cxnSpLocks/>
              </p:cNvCxnSpPr>
              <p:nvPr/>
            </p:nvCxnSpPr>
            <p:spPr>
              <a:xfrm rot="2700000" flipH="1">
                <a:off x="3827930" y="3595968"/>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2E6F06D9-3B10-F4E1-3212-2C557BBB4DBA}"/>
                  </a:ext>
                </a:extLst>
              </p:cNvPr>
              <p:cNvSpPr txBox="1"/>
              <p:nvPr/>
            </p:nvSpPr>
            <p:spPr>
              <a:xfrm>
                <a:off x="3573233" y="1490144"/>
                <a:ext cx="1015903"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1</a:t>
                </a:r>
              </a:p>
            </p:txBody>
          </p:sp>
          <p:sp>
            <p:nvSpPr>
              <p:cNvPr id="22" name="TextBox 21">
                <a:extLst>
                  <a:ext uri="{FF2B5EF4-FFF2-40B4-BE49-F238E27FC236}">
                    <a16:creationId xmlns:a16="http://schemas.microsoft.com/office/drawing/2014/main" id="{9E382064-E830-E05D-1674-1CF9CDCDE1FD}"/>
                  </a:ext>
                </a:extLst>
              </p:cNvPr>
              <p:cNvSpPr txBox="1"/>
              <p:nvPr/>
            </p:nvSpPr>
            <p:spPr>
              <a:xfrm>
                <a:off x="4787949" y="2908809"/>
                <a:ext cx="1015903"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2</a:t>
                </a:r>
              </a:p>
            </p:txBody>
          </p:sp>
          <p:sp>
            <p:nvSpPr>
              <p:cNvPr id="23" name="TextBox 22">
                <a:extLst>
                  <a:ext uri="{FF2B5EF4-FFF2-40B4-BE49-F238E27FC236}">
                    <a16:creationId xmlns:a16="http://schemas.microsoft.com/office/drawing/2014/main" id="{9A5F3110-96EE-0427-8814-B15D1F987279}"/>
                  </a:ext>
                </a:extLst>
              </p:cNvPr>
              <p:cNvSpPr txBox="1"/>
              <p:nvPr/>
            </p:nvSpPr>
            <p:spPr>
              <a:xfrm>
                <a:off x="2416784" y="2908810"/>
                <a:ext cx="1015903"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3</a:t>
                </a:r>
              </a:p>
            </p:txBody>
          </p:sp>
        </p:grpSp>
        <p:grpSp>
          <p:nvGrpSpPr>
            <p:cNvPr id="25" name="Group 24">
              <a:extLst>
                <a:ext uri="{FF2B5EF4-FFF2-40B4-BE49-F238E27FC236}">
                  <a16:creationId xmlns:a16="http://schemas.microsoft.com/office/drawing/2014/main" id="{CE4DA3D7-95D4-9662-D3E7-3E3F717AC8DF}"/>
                </a:ext>
              </a:extLst>
            </p:cNvPr>
            <p:cNvGrpSpPr/>
            <p:nvPr/>
          </p:nvGrpSpPr>
          <p:grpSpPr>
            <a:xfrm>
              <a:off x="7789631" y="1306368"/>
              <a:ext cx="4087905" cy="2782421"/>
              <a:chOff x="2066366" y="1317812"/>
              <a:chExt cx="4087905" cy="2782421"/>
            </a:xfrm>
          </p:grpSpPr>
          <p:sp>
            <p:nvSpPr>
              <p:cNvPr id="26" name="Rectangle 25">
                <a:extLst>
                  <a:ext uri="{FF2B5EF4-FFF2-40B4-BE49-F238E27FC236}">
                    <a16:creationId xmlns:a16="http://schemas.microsoft.com/office/drawing/2014/main" id="{172DEEA8-B263-7D47-D690-CE8073EABA1C}"/>
                  </a:ext>
                </a:extLst>
              </p:cNvPr>
              <p:cNvSpPr/>
              <p:nvPr/>
            </p:nvSpPr>
            <p:spPr>
              <a:xfrm>
                <a:off x="3245225" y="1317812"/>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B9B14C40-4057-2666-E63C-0E1FA4032B15}"/>
                  </a:ext>
                </a:extLst>
              </p:cNvPr>
              <p:cNvSpPr/>
              <p:nvPr/>
            </p:nvSpPr>
            <p:spPr>
              <a:xfrm>
                <a:off x="2066366"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 name="Rectangle 27">
                <a:extLst>
                  <a:ext uri="{FF2B5EF4-FFF2-40B4-BE49-F238E27FC236}">
                    <a16:creationId xmlns:a16="http://schemas.microsoft.com/office/drawing/2014/main" id="{3263B9C9-BD0D-6CBB-31DD-771244CA389C}"/>
                  </a:ext>
                </a:extLst>
              </p:cNvPr>
              <p:cNvSpPr/>
              <p:nvPr/>
            </p:nvSpPr>
            <p:spPr>
              <a:xfrm>
                <a:off x="4437531"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9" name="Connector: Curved 28">
                <a:extLst>
                  <a:ext uri="{FF2B5EF4-FFF2-40B4-BE49-F238E27FC236}">
                    <a16:creationId xmlns:a16="http://schemas.microsoft.com/office/drawing/2014/main" id="{64A93475-53AD-429F-45E4-75000C25F1A2}"/>
                  </a:ext>
                </a:extLst>
              </p:cNvPr>
              <p:cNvCxnSpPr/>
              <p:nvPr/>
            </p:nvCxnSpPr>
            <p:spPr>
              <a:xfrm rot="16200000" flipH="1">
                <a:off x="5248836" y="1901640"/>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 name="Connector: Curved 29">
                <a:extLst>
                  <a:ext uri="{FF2B5EF4-FFF2-40B4-BE49-F238E27FC236}">
                    <a16:creationId xmlns:a16="http://schemas.microsoft.com/office/drawing/2014/main" id="{507DE53F-7876-03D7-D9A8-C3D28E061693}"/>
                  </a:ext>
                </a:extLst>
              </p:cNvPr>
              <p:cNvCxnSpPr>
                <a:cxnSpLocks/>
              </p:cNvCxnSpPr>
              <p:nvPr/>
            </p:nvCxnSpPr>
            <p:spPr>
              <a:xfrm rot="10800000" flipH="1">
                <a:off x="2458571" y="1926294"/>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Connector: Curved 30">
                <a:extLst>
                  <a:ext uri="{FF2B5EF4-FFF2-40B4-BE49-F238E27FC236}">
                    <a16:creationId xmlns:a16="http://schemas.microsoft.com/office/drawing/2014/main" id="{2CFB15E9-475E-EC9B-D860-DD1C4FBD7F84}"/>
                  </a:ext>
                </a:extLst>
              </p:cNvPr>
              <p:cNvCxnSpPr>
                <a:cxnSpLocks/>
              </p:cNvCxnSpPr>
              <p:nvPr/>
            </p:nvCxnSpPr>
            <p:spPr>
              <a:xfrm rot="2700000" flipH="1">
                <a:off x="3827930" y="3595968"/>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2" name="TextBox 31">
                <a:extLst>
                  <a:ext uri="{FF2B5EF4-FFF2-40B4-BE49-F238E27FC236}">
                    <a16:creationId xmlns:a16="http://schemas.microsoft.com/office/drawing/2014/main" id="{83DA2D5B-C2E8-02CB-95DC-1C9900B8C20F}"/>
                  </a:ext>
                </a:extLst>
              </p:cNvPr>
              <p:cNvSpPr txBox="1"/>
              <p:nvPr/>
            </p:nvSpPr>
            <p:spPr>
              <a:xfrm>
                <a:off x="3573233" y="1490144"/>
                <a:ext cx="1131319"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Analysis A</a:t>
                </a:r>
              </a:p>
            </p:txBody>
          </p:sp>
          <p:sp>
            <p:nvSpPr>
              <p:cNvPr id="33" name="TextBox 32">
                <a:extLst>
                  <a:ext uri="{FF2B5EF4-FFF2-40B4-BE49-F238E27FC236}">
                    <a16:creationId xmlns:a16="http://schemas.microsoft.com/office/drawing/2014/main" id="{CE68E8C3-2C79-BF17-DA23-1DE91744AFC8}"/>
                  </a:ext>
                </a:extLst>
              </p:cNvPr>
              <p:cNvSpPr txBox="1"/>
              <p:nvPr/>
            </p:nvSpPr>
            <p:spPr>
              <a:xfrm>
                <a:off x="4787949" y="2908809"/>
                <a:ext cx="1015903"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2</a:t>
                </a:r>
              </a:p>
            </p:txBody>
          </p:sp>
          <p:sp>
            <p:nvSpPr>
              <p:cNvPr id="34" name="TextBox 33">
                <a:extLst>
                  <a:ext uri="{FF2B5EF4-FFF2-40B4-BE49-F238E27FC236}">
                    <a16:creationId xmlns:a16="http://schemas.microsoft.com/office/drawing/2014/main" id="{1C8D20F9-AED9-8208-27CF-E36C0A065850}"/>
                  </a:ext>
                </a:extLst>
              </p:cNvPr>
              <p:cNvSpPr txBox="1"/>
              <p:nvPr/>
            </p:nvSpPr>
            <p:spPr>
              <a:xfrm>
                <a:off x="2416784" y="2908810"/>
                <a:ext cx="1015903"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3</a:t>
                </a:r>
              </a:p>
            </p:txBody>
          </p:sp>
        </p:grpSp>
        <p:cxnSp>
          <p:nvCxnSpPr>
            <p:cNvPr id="36" name="Straight Connector 35">
              <a:extLst>
                <a:ext uri="{FF2B5EF4-FFF2-40B4-BE49-F238E27FC236}">
                  <a16:creationId xmlns:a16="http://schemas.microsoft.com/office/drawing/2014/main" id="{E9E12073-477F-400E-1F30-3CDE2824AB41}"/>
                </a:ext>
              </a:extLst>
            </p:cNvPr>
            <p:cNvCxnSpPr/>
            <p:nvPr/>
          </p:nvCxnSpPr>
          <p:spPr>
            <a:xfrm>
              <a:off x="6990976" y="2118796"/>
              <a:ext cx="0" cy="7785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 name="Straight Connector 36">
              <a:extLst>
                <a:ext uri="{FF2B5EF4-FFF2-40B4-BE49-F238E27FC236}">
                  <a16:creationId xmlns:a16="http://schemas.microsoft.com/office/drawing/2014/main" id="{BB7B2753-84D5-C8CC-A814-44BAB5EFD05C}"/>
                </a:ext>
              </a:extLst>
            </p:cNvPr>
            <p:cNvCxnSpPr>
              <a:cxnSpLocks/>
            </p:cNvCxnSpPr>
            <p:nvPr/>
          </p:nvCxnSpPr>
          <p:spPr>
            <a:xfrm rot="5400000">
              <a:off x="6990976" y="2140091"/>
              <a:ext cx="0" cy="7785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8" name="Rectangle 37">
              <a:extLst>
                <a:ext uri="{FF2B5EF4-FFF2-40B4-BE49-F238E27FC236}">
                  <a16:creationId xmlns:a16="http://schemas.microsoft.com/office/drawing/2014/main" id="{789ED6C0-9017-A30E-2AEE-0C7A79A13523}"/>
                </a:ext>
              </a:extLst>
            </p:cNvPr>
            <p:cNvSpPr/>
            <p:nvPr/>
          </p:nvSpPr>
          <p:spPr>
            <a:xfrm>
              <a:off x="1788460" y="6119669"/>
              <a:ext cx="4015392" cy="4020671"/>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9" name="TextBox 38">
              <a:extLst>
                <a:ext uri="{FF2B5EF4-FFF2-40B4-BE49-F238E27FC236}">
                  <a16:creationId xmlns:a16="http://schemas.microsoft.com/office/drawing/2014/main" id="{3C86E71E-96E9-5508-D6BC-0A085EFB8F66}"/>
                </a:ext>
              </a:extLst>
            </p:cNvPr>
            <p:cNvSpPr txBox="1"/>
            <p:nvPr/>
          </p:nvSpPr>
          <p:spPr>
            <a:xfrm>
              <a:off x="2066366" y="6332852"/>
              <a:ext cx="1402226"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dirty="0"/>
                <a:t>Introduction</a:t>
              </a:r>
              <a:endPar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41" name="Straight Connector 40">
              <a:extLst>
                <a:ext uri="{FF2B5EF4-FFF2-40B4-BE49-F238E27FC236}">
                  <a16:creationId xmlns:a16="http://schemas.microsoft.com/office/drawing/2014/main" id="{55DA69F7-3743-BE3B-6A0F-0126BCEA09F5}"/>
                </a:ext>
              </a:extLst>
            </p:cNvPr>
            <p:cNvCxnSpPr/>
            <p:nvPr/>
          </p:nvCxnSpPr>
          <p:spPr>
            <a:xfrm>
              <a:off x="1949824" y="6884894"/>
              <a:ext cx="2510341" cy="0"/>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7" name="Group 46">
              <a:extLst>
                <a:ext uri="{FF2B5EF4-FFF2-40B4-BE49-F238E27FC236}">
                  <a16:creationId xmlns:a16="http://schemas.microsoft.com/office/drawing/2014/main" id="{005998FB-BA78-8322-186C-433D1D0C2DCA}"/>
                </a:ext>
              </a:extLst>
            </p:cNvPr>
            <p:cNvGrpSpPr/>
            <p:nvPr/>
          </p:nvGrpSpPr>
          <p:grpSpPr>
            <a:xfrm>
              <a:off x="2633012" y="7024320"/>
              <a:ext cx="101223" cy="600630"/>
              <a:chOff x="2633012" y="7024320"/>
              <a:chExt cx="101223" cy="600630"/>
            </a:xfrm>
          </p:grpSpPr>
          <p:sp>
            <p:nvSpPr>
              <p:cNvPr id="42" name="Oval 41">
                <a:extLst>
                  <a:ext uri="{FF2B5EF4-FFF2-40B4-BE49-F238E27FC236}">
                    <a16:creationId xmlns:a16="http://schemas.microsoft.com/office/drawing/2014/main" id="{3AAFDDE9-62A6-BE0A-8ED5-ACB3E47FFF81}"/>
                  </a:ext>
                </a:extLst>
              </p:cNvPr>
              <p:cNvSpPr/>
              <p:nvPr/>
            </p:nvSpPr>
            <p:spPr>
              <a:xfrm>
                <a:off x="2635625" y="7024320"/>
                <a:ext cx="98610" cy="98610"/>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 name="Oval 42">
                <a:extLst>
                  <a:ext uri="{FF2B5EF4-FFF2-40B4-BE49-F238E27FC236}">
                    <a16:creationId xmlns:a16="http://schemas.microsoft.com/office/drawing/2014/main" id="{12F05B86-C5EE-38FE-7404-547DAE3CC67E}"/>
                  </a:ext>
                </a:extLst>
              </p:cNvPr>
              <p:cNvSpPr/>
              <p:nvPr/>
            </p:nvSpPr>
            <p:spPr>
              <a:xfrm>
                <a:off x="2633012" y="7275330"/>
                <a:ext cx="98610" cy="98610"/>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4" name="Oval 43">
                <a:extLst>
                  <a:ext uri="{FF2B5EF4-FFF2-40B4-BE49-F238E27FC236}">
                    <a16:creationId xmlns:a16="http://schemas.microsoft.com/office/drawing/2014/main" id="{7EEB8786-2739-7E24-9520-03309AD27816}"/>
                  </a:ext>
                </a:extLst>
              </p:cNvPr>
              <p:cNvSpPr/>
              <p:nvPr/>
            </p:nvSpPr>
            <p:spPr>
              <a:xfrm>
                <a:off x="2635625" y="7526340"/>
                <a:ext cx="98610" cy="98610"/>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45" name="TextBox 44">
              <a:extLst>
                <a:ext uri="{FF2B5EF4-FFF2-40B4-BE49-F238E27FC236}">
                  <a16:creationId xmlns:a16="http://schemas.microsoft.com/office/drawing/2014/main" id="{63BC8EEA-E95B-180C-F43C-FABE3CA3056D}"/>
                </a:ext>
              </a:extLst>
            </p:cNvPr>
            <p:cNvSpPr txBox="1"/>
            <p:nvPr/>
          </p:nvSpPr>
          <p:spPr>
            <a:xfrm>
              <a:off x="1931899" y="7694027"/>
              <a:ext cx="2413722"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Configurations</a:t>
              </a:r>
            </a:p>
          </p:txBody>
        </p:sp>
        <p:sp>
          <p:nvSpPr>
            <p:cNvPr id="46" name="Rectangle 45">
              <a:extLst>
                <a:ext uri="{FF2B5EF4-FFF2-40B4-BE49-F238E27FC236}">
                  <a16:creationId xmlns:a16="http://schemas.microsoft.com/office/drawing/2014/main" id="{8FE22E3D-7E02-32F9-57A7-43DE1A8B8A10}"/>
                </a:ext>
              </a:extLst>
            </p:cNvPr>
            <p:cNvSpPr/>
            <p:nvPr/>
          </p:nvSpPr>
          <p:spPr>
            <a:xfrm>
              <a:off x="2021565" y="8183072"/>
              <a:ext cx="2671459" cy="1081471"/>
            </a:xfrm>
            <a:prstGeom prst="rect">
              <a:avLst/>
            </a:prstGeom>
            <a:ln>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48" name="Group 47">
              <a:extLst>
                <a:ext uri="{FF2B5EF4-FFF2-40B4-BE49-F238E27FC236}">
                  <a16:creationId xmlns:a16="http://schemas.microsoft.com/office/drawing/2014/main" id="{D3FCC99A-B3EE-7E37-CD07-129D30ED56BA}"/>
                </a:ext>
              </a:extLst>
            </p:cNvPr>
            <p:cNvGrpSpPr/>
            <p:nvPr/>
          </p:nvGrpSpPr>
          <p:grpSpPr>
            <a:xfrm>
              <a:off x="2582400" y="9434613"/>
              <a:ext cx="101223" cy="600630"/>
              <a:chOff x="2633012" y="7024320"/>
              <a:chExt cx="101223" cy="600630"/>
            </a:xfrm>
          </p:grpSpPr>
          <p:sp>
            <p:nvSpPr>
              <p:cNvPr id="49" name="Oval 48">
                <a:extLst>
                  <a:ext uri="{FF2B5EF4-FFF2-40B4-BE49-F238E27FC236}">
                    <a16:creationId xmlns:a16="http://schemas.microsoft.com/office/drawing/2014/main" id="{07FDCE19-6169-1EFF-6C3B-3DCC3A71B00D}"/>
                  </a:ext>
                </a:extLst>
              </p:cNvPr>
              <p:cNvSpPr/>
              <p:nvPr/>
            </p:nvSpPr>
            <p:spPr>
              <a:xfrm>
                <a:off x="2635625" y="7024320"/>
                <a:ext cx="98610" cy="98610"/>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Oval 49">
                <a:extLst>
                  <a:ext uri="{FF2B5EF4-FFF2-40B4-BE49-F238E27FC236}">
                    <a16:creationId xmlns:a16="http://schemas.microsoft.com/office/drawing/2014/main" id="{9C0E8B45-0700-EBE7-4F89-44FD053BB507}"/>
                  </a:ext>
                </a:extLst>
              </p:cNvPr>
              <p:cNvSpPr/>
              <p:nvPr/>
            </p:nvSpPr>
            <p:spPr>
              <a:xfrm>
                <a:off x="2633012" y="7275330"/>
                <a:ext cx="98610" cy="98610"/>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Oval 50">
                <a:extLst>
                  <a:ext uri="{FF2B5EF4-FFF2-40B4-BE49-F238E27FC236}">
                    <a16:creationId xmlns:a16="http://schemas.microsoft.com/office/drawing/2014/main" id="{06ED6A96-0A19-A24F-DA19-E8F508026AB7}"/>
                  </a:ext>
                </a:extLst>
              </p:cNvPr>
              <p:cNvSpPr/>
              <p:nvPr/>
            </p:nvSpPr>
            <p:spPr>
              <a:xfrm>
                <a:off x="2635625" y="7526340"/>
                <a:ext cx="98610" cy="98610"/>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56" name="Connector: Elbow 55">
              <a:extLst>
                <a:ext uri="{FF2B5EF4-FFF2-40B4-BE49-F238E27FC236}">
                  <a16:creationId xmlns:a16="http://schemas.microsoft.com/office/drawing/2014/main" id="{D893259B-BB02-8534-07B0-A8F68B60344C}"/>
                </a:ext>
              </a:extLst>
            </p:cNvPr>
            <p:cNvCxnSpPr>
              <a:endCxn id="46" idx="3"/>
            </p:cNvCxnSpPr>
            <p:nvPr/>
          </p:nvCxnSpPr>
          <p:spPr>
            <a:xfrm rot="5400000">
              <a:off x="3444115" y="5874698"/>
              <a:ext cx="4098019" cy="1600200"/>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7" name="Rectangle 56">
              <a:extLst>
                <a:ext uri="{FF2B5EF4-FFF2-40B4-BE49-F238E27FC236}">
                  <a16:creationId xmlns:a16="http://schemas.microsoft.com/office/drawing/2014/main" id="{442B961A-39DB-3415-6918-11D614CD143C}"/>
                </a:ext>
              </a:extLst>
            </p:cNvPr>
            <p:cNvSpPr/>
            <p:nvPr/>
          </p:nvSpPr>
          <p:spPr>
            <a:xfrm>
              <a:off x="8457501" y="7032192"/>
              <a:ext cx="3664249" cy="2577700"/>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8" name="TextBox 57">
              <a:extLst>
                <a:ext uri="{FF2B5EF4-FFF2-40B4-BE49-F238E27FC236}">
                  <a16:creationId xmlns:a16="http://schemas.microsoft.com/office/drawing/2014/main" id="{369BE513-7D02-0BDD-2816-0C84C6BBF508}"/>
                </a:ext>
              </a:extLst>
            </p:cNvPr>
            <p:cNvSpPr txBox="1"/>
            <p:nvPr/>
          </p:nvSpPr>
          <p:spPr>
            <a:xfrm>
              <a:off x="8571406" y="8715223"/>
              <a:ext cx="3436437" cy="7155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8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8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 project1.yml</a:t>
              </a:r>
            </a:p>
            <a:p>
              <a:pPr marL="0" marR="0" indent="0" algn="l" defTabSz="584200" rtl="0" fontAlgn="auto" latinLnBrk="0" hangingPunct="0">
                <a:lnSpc>
                  <a:spcPct val="100000"/>
                </a:lnSpc>
                <a:spcBef>
                  <a:spcPts val="200"/>
                </a:spcBef>
                <a:spcAft>
                  <a:spcPts val="0"/>
                </a:spcAft>
                <a:buClrTx/>
                <a:buSzTx/>
                <a:buFontTx/>
                <a:buNone/>
                <a:tabLst/>
              </a:pPr>
              <a:r>
                <a:rPr lang="en-US" sz="1800" dirty="0" err="1"/>
                <a:t>analysisB.yml</a:t>
              </a:r>
              <a:endPar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 name="TextBox 58">
              <a:extLst>
                <a:ext uri="{FF2B5EF4-FFF2-40B4-BE49-F238E27FC236}">
                  <a16:creationId xmlns:a16="http://schemas.microsoft.com/office/drawing/2014/main" id="{25D0779A-D8DC-0E77-EF81-8F445F6303ED}"/>
                </a:ext>
              </a:extLst>
            </p:cNvPr>
            <p:cNvSpPr txBox="1"/>
            <p:nvPr/>
          </p:nvSpPr>
          <p:spPr>
            <a:xfrm rot="5400000">
              <a:off x="5396968" y="6539278"/>
              <a:ext cx="2258230"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dirty="0"/>
                <a:t>Project 1 + Analysis B</a:t>
              </a:r>
              <a:endPar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61" name="Straight Arrow Connector 60">
              <a:extLst>
                <a:ext uri="{FF2B5EF4-FFF2-40B4-BE49-F238E27FC236}">
                  <a16:creationId xmlns:a16="http://schemas.microsoft.com/office/drawing/2014/main" id="{671D9329-53C8-A848-2E18-DDF1F320194F}"/>
                </a:ext>
              </a:extLst>
            </p:cNvPr>
            <p:cNvCxnSpPr>
              <a:cxnSpLocks/>
            </p:cNvCxnSpPr>
            <p:nvPr/>
          </p:nvCxnSpPr>
          <p:spPr>
            <a:xfrm>
              <a:off x="10160796" y="4625788"/>
              <a:ext cx="0" cy="239853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62" name="TextBox 61">
              <a:extLst>
                <a:ext uri="{FF2B5EF4-FFF2-40B4-BE49-F238E27FC236}">
                  <a16:creationId xmlns:a16="http://schemas.microsoft.com/office/drawing/2014/main" id="{F584706D-A177-31F8-CE34-B5238E06B0E8}"/>
                </a:ext>
              </a:extLst>
            </p:cNvPr>
            <p:cNvSpPr txBox="1"/>
            <p:nvPr/>
          </p:nvSpPr>
          <p:spPr>
            <a:xfrm rot="5400000">
              <a:off x="9260181" y="5625574"/>
              <a:ext cx="2258230"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800" dirty="0"/>
                <a:t>Project 1 + Analysis B</a:t>
              </a:r>
              <a:endPar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7" name="TextBox 66">
              <a:extLst>
                <a:ext uri="{FF2B5EF4-FFF2-40B4-BE49-F238E27FC236}">
                  <a16:creationId xmlns:a16="http://schemas.microsoft.com/office/drawing/2014/main" id="{A04E6011-9008-6C8F-FA5E-A7B227F88F90}"/>
                </a:ext>
              </a:extLst>
            </p:cNvPr>
            <p:cNvSpPr txBox="1"/>
            <p:nvPr/>
          </p:nvSpPr>
          <p:spPr>
            <a:xfrm>
              <a:off x="2219564" y="1180389"/>
              <a:ext cx="392334"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68" name="TextBox 67">
              <a:extLst>
                <a:ext uri="{FF2B5EF4-FFF2-40B4-BE49-F238E27FC236}">
                  <a16:creationId xmlns:a16="http://schemas.microsoft.com/office/drawing/2014/main" id="{3581BF29-66E9-7253-749E-526CF8E70F3A}"/>
                </a:ext>
              </a:extLst>
            </p:cNvPr>
            <p:cNvSpPr txBox="1"/>
            <p:nvPr/>
          </p:nvSpPr>
          <p:spPr>
            <a:xfrm>
              <a:off x="7608358" y="1157028"/>
              <a:ext cx="392334"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69" name="TextBox 68">
              <a:extLst>
                <a:ext uri="{FF2B5EF4-FFF2-40B4-BE49-F238E27FC236}">
                  <a16:creationId xmlns:a16="http://schemas.microsoft.com/office/drawing/2014/main" id="{4FDA9E05-6544-F17D-9BAE-C9F1CC9FF100}"/>
                </a:ext>
              </a:extLst>
            </p:cNvPr>
            <p:cNvSpPr txBox="1"/>
            <p:nvPr/>
          </p:nvSpPr>
          <p:spPr>
            <a:xfrm>
              <a:off x="1788460" y="5625357"/>
              <a:ext cx="392334"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70" name="TextBox 69">
              <a:extLst>
                <a:ext uri="{FF2B5EF4-FFF2-40B4-BE49-F238E27FC236}">
                  <a16:creationId xmlns:a16="http://schemas.microsoft.com/office/drawing/2014/main" id="{F2F9757F-A23A-4FDE-CD70-AE5A792A23A9}"/>
                </a:ext>
              </a:extLst>
            </p:cNvPr>
            <p:cNvSpPr txBox="1"/>
            <p:nvPr/>
          </p:nvSpPr>
          <p:spPr>
            <a:xfrm>
              <a:off x="8413920" y="6557232"/>
              <a:ext cx="392334" cy="4128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8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grpSp>
    </p:spTree>
    <p:extLst>
      <p:ext uri="{BB962C8B-B14F-4D97-AF65-F5344CB8AC3E}">
        <p14:creationId xmlns:p14="http://schemas.microsoft.com/office/powerpoint/2010/main" val="271796942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p:cNvSpPr txBox="1"/>
          <p:nvPr/>
        </p:nvSpPr>
        <p:spPr>
          <a:xfrm>
            <a:off x="9588427" y="1460558"/>
            <a:ext cx="13946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Config API</a:t>
            </a:r>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normAutofit/>
          </a:bodyPr>
          <a:lstStyle/>
          <a:p>
            <a:r>
              <a:rPr lang="en-US" dirty="0"/>
              <a:t>Configurations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p:cNvSpPr txBox="1"/>
          <p:nvPr/>
        </p:nvSpPr>
        <p:spPr>
          <a:xfrm>
            <a:off x="143526" y="1855171"/>
            <a:ext cx="3949153" cy="16829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err="1">
                <a:solidFill>
                  <a:srgbClr val="000000"/>
                </a:solidFill>
                <a:effectLst/>
                <a:latin typeface="Source Sans Pro" panose="020B0503030403020204" pitchFamily="34" charset="0"/>
                <a:ea typeface="Source Sans Pro" panose="020B0503030403020204" pitchFamily="34" charset="0"/>
              </a:rPr>
              <a:t>Kaiaulu</a:t>
            </a:r>
            <a:r>
              <a:rPr lang="en-US" b="0" i="0" u="none" strike="noStrike" dirty="0">
                <a:solidFill>
                  <a:srgbClr val="000000"/>
                </a:solidFill>
                <a:effectLst/>
                <a:latin typeface="Source Sans Pro" panose="020B0503030403020204" pitchFamily="34" charset="0"/>
                <a:ea typeface="Source Sans Pro" panose="020B0503030403020204" pitchFamily="34" charset="0"/>
              </a:rPr>
              <a:t> uses configuration files to store data parameters that are used to run analyses. Instead of having these values in notebooks or scripts, these configuration files lets users reuse same workflows across different projects and analyses.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By splitting the configurations into project and analysis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yml</a:t>
            </a:r>
            <a:r>
              <a:rPr lang="en-US" b="0" i="0" u="none" strike="noStrike" dirty="0">
                <a:solidFill>
                  <a:srgbClr val="000000"/>
                </a:solidFill>
                <a:effectLst/>
                <a:latin typeface="Source Sans Pro" panose="020B0503030403020204" pitchFamily="34" charset="0"/>
                <a:ea typeface="Source Sans Pro" panose="020B0503030403020204" pitchFamily="34" charset="0"/>
              </a:rPr>
              <a:t> files, it reduces the duplication and allows users to mix and match different project and analysis configs.</a:t>
            </a:r>
          </a:p>
        </p:txBody>
      </p:sp>
      <p:sp>
        <p:nvSpPr>
          <p:cNvPr id="342" name="Create a visual hierarchy. Help users navigate the page with titles, subtitles, and subsubtitles"/>
          <p:cNvSpPr txBox="1"/>
          <p:nvPr/>
        </p:nvSpPr>
        <p:spPr>
          <a:xfrm>
            <a:off x="9584561" y="1828842"/>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err="1">
                <a:latin typeface="Source Sans Pro" panose="020B0503030403020204" pitchFamily="34" charset="0"/>
                <a:ea typeface="Source Sans Pro" panose="020B0503030403020204" pitchFamily="34" charset="0"/>
                <a:sym typeface="Source Sans Pro"/>
              </a:rPr>
              <a:t>Kaiaulu</a:t>
            </a:r>
            <a:r>
              <a:rPr lang="en-US" dirty="0">
                <a:latin typeface="Source Sans Pro" panose="020B0503030403020204" pitchFamily="34" charset="0"/>
                <a:ea typeface="Source Sans Pro" panose="020B0503030403020204" pitchFamily="34" charset="0"/>
                <a:sym typeface="Source Sans Pro"/>
              </a:rPr>
              <a:t> uses get functions to extract values from configuration files. </a:t>
            </a:r>
            <a:r>
              <a:rPr lang="en-US" dirty="0">
                <a:latin typeface="Source Sans Pro" panose="020B0503030403020204" pitchFamily="34" charset="0"/>
                <a:ea typeface="Source Sans Pro" panose="020B0503030403020204" pitchFamily="34" charset="0"/>
              </a:rPr>
              <a:t>These functions allow notebooks and executables to access parameters in (1) and (2).</a:t>
            </a:r>
            <a:endParaRPr lang="en-US" dirty="0">
              <a:latin typeface="Source Sans Pro" panose="020B0503030403020204" pitchFamily="34" charset="0"/>
              <a:ea typeface="Source Sans Pro" panose="020B0503030403020204" pitchFamily="34" charset="0"/>
              <a:sym typeface="Source Sans Pro"/>
            </a:endParaRPr>
          </a:p>
        </p:txBody>
      </p:sp>
      <p:sp>
        <p:nvSpPr>
          <p:cNvPr id="384" name="Layout Suggestions"/>
          <p:cNvSpPr txBox="1"/>
          <p:nvPr/>
        </p:nvSpPr>
        <p:spPr>
          <a:xfrm>
            <a:off x="146304"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198E25CE-0FCD-0F14-DE41-E9F889215D13}"/>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Gi Young Back</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1" name="Line">
            <a:extLst>
              <a:ext uri="{FF2B5EF4-FFF2-40B4-BE49-F238E27FC236}">
                <a16:creationId xmlns:a16="http://schemas.microsoft.com/office/drawing/2014/main" id="{3E1227C5-190B-40AA-17E8-5AFF1E3B99DA}"/>
              </a:ext>
            </a:extLst>
          </p:cNvPr>
          <p:cNvSpPr/>
          <p:nvPr/>
        </p:nvSpPr>
        <p:spPr>
          <a:xfrm flipV="1">
            <a:off x="84898" y="3665791"/>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5" name="Line">
            <a:extLst>
              <a:ext uri="{FF2B5EF4-FFF2-40B4-BE49-F238E27FC236}">
                <a16:creationId xmlns:a16="http://schemas.microsoft.com/office/drawing/2014/main" id="{FA2B2D45-EC3B-5790-3E0A-049345E53CB4}"/>
              </a:ext>
            </a:extLst>
          </p:cNvPr>
          <p:cNvSpPr/>
          <p:nvPr/>
        </p:nvSpPr>
        <p:spPr>
          <a:xfrm flipV="1">
            <a:off x="9531593" y="7842111"/>
            <a:ext cx="417880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740" name="Basics">
            <a:extLst>
              <a:ext uri="{FF2B5EF4-FFF2-40B4-BE49-F238E27FC236}">
                <a16:creationId xmlns:a16="http://schemas.microsoft.com/office/drawing/2014/main" id="{CF0E3645-419D-4185-66EA-D926C10FB3C8}"/>
              </a:ext>
            </a:extLst>
          </p:cNvPr>
          <p:cNvSpPr txBox="1"/>
          <p:nvPr/>
        </p:nvSpPr>
        <p:spPr>
          <a:xfrm>
            <a:off x="155448" y="3942456"/>
            <a:ext cx="30280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none" lIns="12700" tIns="12700" rIns="12700" bIns="127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lvl="1" indent="0">
              <a:lnSpc>
                <a:spcPct val="80000"/>
              </a:lnSpc>
              <a:spcBef>
                <a:spcPts val="0"/>
              </a:spcBef>
              <a:defRPr sz="2500" b="0">
                <a:solidFill>
                  <a:srgbClr val="628DB5"/>
                </a:solidFill>
              </a:defRPr>
            </a:pPr>
            <a:r>
              <a:rPr lang="en-US" dirty="0"/>
              <a:t>Project Configurations</a:t>
            </a:r>
            <a:endParaRPr dirty="0"/>
          </a:p>
        </p:txBody>
      </p:sp>
      <p:sp>
        <p:nvSpPr>
          <p:cNvPr id="7" name="Manipulate Variables">
            <a:extLst>
              <a:ext uri="{FF2B5EF4-FFF2-40B4-BE49-F238E27FC236}">
                <a16:creationId xmlns:a16="http://schemas.microsoft.com/office/drawing/2014/main" id="{646087B9-465B-460B-BE29-C771207E33A9}"/>
              </a:ext>
            </a:extLst>
          </p:cNvPr>
          <p:cNvSpPr txBox="1"/>
          <p:nvPr/>
        </p:nvSpPr>
        <p:spPr>
          <a:xfrm>
            <a:off x="9611008" y="8011110"/>
            <a:ext cx="248144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Temporal Analysis</a:t>
            </a:r>
          </a:p>
        </p:txBody>
      </p:sp>
      <p:sp>
        <p:nvSpPr>
          <p:cNvPr id="12" name="TextBox 11">
            <a:extLst>
              <a:ext uri="{FF2B5EF4-FFF2-40B4-BE49-F238E27FC236}">
                <a16:creationId xmlns:a16="http://schemas.microsoft.com/office/drawing/2014/main" id="{1A51A45E-FE96-5FB0-6390-ACFE44EAD1FC}"/>
              </a:ext>
            </a:extLst>
          </p:cNvPr>
          <p:cNvSpPr txBox="1"/>
          <p:nvPr/>
        </p:nvSpPr>
        <p:spPr>
          <a:xfrm>
            <a:off x="9566402" y="8351154"/>
            <a:ext cx="3968070" cy="12438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latin typeface="Source Sans Pro" panose="020B0503030403020204" pitchFamily="34" charset="0"/>
                <a:ea typeface="Source Sans Pro" panose="020B0503030403020204" pitchFamily="34" charset="0"/>
              </a:rPr>
              <a:t>Temporal parameters in (2) allows users to analyze a project over time. Instead of analyzing a dataset at one time or frame, now users can select a specific time frame. This allows users to compare data from different time stamps and observe changes and activity of code structure over time.</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5" name="Manipulate Variables">
            <a:extLst>
              <a:ext uri="{FF2B5EF4-FFF2-40B4-BE49-F238E27FC236}">
                <a16:creationId xmlns:a16="http://schemas.microsoft.com/office/drawing/2014/main" id="{9092E61A-D77F-B608-5616-10691B670FF6}"/>
              </a:ext>
            </a:extLst>
          </p:cNvPr>
          <p:cNvSpPr txBox="1"/>
          <p:nvPr/>
        </p:nvSpPr>
        <p:spPr>
          <a:xfrm>
            <a:off x="4819606" y="1426182"/>
            <a:ext cx="426719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Interchangeable Configurations</a:t>
            </a:r>
          </a:p>
        </p:txBody>
      </p:sp>
      <p:sp>
        <p:nvSpPr>
          <p:cNvPr id="36" name="Line">
            <a:extLst>
              <a:ext uri="{FF2B5EF4-FFF2-40B4-BE49-F238E27FC236}">
                <a16:creationId xmlns:a16="http://schemas.microsoft.com/office/drawing/2014/main" id="{84AE21EE-02A7-115E-6526-F5B4483BC001}"/>
              </a:ext>
            </a:extLst>
          </p:cNvPr>
          <p:cNvSpPr/>
          <p:nvPr/>
        </p:nvSpPr>
        <p:spPr>
          <a:xfrm flipV="1">
            <a:off x="9580868" y="10058400"/>
            <a:ext cx="417880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738" name="Group 737">
            <a:extLst>
              <a:ext uri="{FF2B5EF4-FFF2-40B4-BE49-F238E27FC236}">
                <a16:creationId xmlns:a16="http://schemas.microsoft.com/office/drawing/2014/main" id="{79F64E7C-63C7-B53C-BB91-8FD3ABE0048D}"/>
              </a:ext>
            </a:extLst>
          </p:cNvPr>
          <p:cNvGrpSpPr/>
          <p:nvPr/>
        </p:nvGrpSpPr>
        <p:grpSpPr>
          <a:xfrm>
            <a:off x="4878114" y="2012501"/>
            <a:ext cx="4352393" cy="4012102"/>
            <a:chOff x="1788460" y="605118"/>
            <a:chExt cx="10483343" cy="9663703"/>
          </a:xfrm>
        </p:grpSpPr>
        <p:sp>
          <p:nvSpPr>
            <p:cNvPr id="744" name="Rectangle 743">
              <a:extLst>
                <a:ext uri="{FF2B5EF4-FFF2-40B4-BE49-F238E27FC236}">
                  <a16:creationId xmlns:a16="http://schemas.microsoft.com/office/drawing/2014/main" id="{60B640AB-F551-CA7B-85F4-1DF978E38A0D}"/>
                </a:ext>
              </a:extLst>
            </p:cNvPr>
            <p:cNvSpPr/>
            <p:nvPr/>
          </p:nvSpPr>
          <p:spPr>
            <a:xfrm>
              <a:off x="1788460" y="605118"/>
              <a:ext cx="10367682" cy="4020671"/>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46" name="Group 745">
              <a:extLst>
                <a:ext uri="{FF2B5EF4-FFF2-40B4-BE49-F238E27FC236}">
                  <a16:creationId xmlns:a16="http://schemas.microsoft.com/office/drawing/2014/main" id="{4D62F0ED-F5A6-9901-7D4B-9DD0BBC04B71}"/>
                </a:ext>
              </a:extLst>
            </p:cNvPr>
            <p:cNvGrpSpPr/>
            <p:nvPr/>
          </p:nvGrpSpPr>
          <p:grpSpPr>
            <a:xfrm>
              <a:off x="2066366" y="1290575"/>
              <a:ext cx="4087905" cy="2809658"/>
              <a:chOff x="2066366" y="1290575"/>
              <a:chExt cx="4087905" cy="2809658"/>
            </a:xfrm>
          </p:grpSpPr>
          <p:sp>
            <p:nvSpPr>
              <p:cNvPr id="340" name="Rectangle 339">
                <a:extLst>
                  <a:ext uri="{FF2B5EF4-FFF2-40B4-BE49-F238E27FC236}">
                    <a16:creationId xmlns:a16="http://schemas.microsoft.com/office/drawing/2014/main" id="{5B335D0A-0C79-9C66-A944-ACE034BE89E2}"/>
                  </a:ext>
                </a:extLst>
              </p:cNvPr>
              <p:cNvSpPr/>
              <p:nvPr/>
            </p:nvSpPr>
            <p:spPr>
              <a:xfrm>
                <a:off x="3245225" y="1317812"/>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Rectangle 342">
                <a:extLst>
                  <a:ext uri="{FF2B5EF4-FFF2-40B4-BE49-F238E27FC236}">
                    <a16:creationId xmlns:a16="http://schemas.microsoft.com/office/drawing/2014/main" id="{C9F2922B-9462-7F30-D970-07E9935D20B8}"/>
                  </a:ext>
                </a:extLst>
              </p:cNvPr>
              <p:cNvSpPr/>
              <p:nvPr/>
            </p:nvSpPr>
            <p:spPr>
              <a:xfrm>
                <a:off x="2066366"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Rectangle 343">
                <a:extLst>
                  <a:ext uri="{FF2B5EF4-FFF2-40B4-BE49-F238E27FC236}">
                    <a16:creationId xmlns:a16="http://schemas.microsoft.com/office/drawing/2014/main" id="{212CDC17-2A7A-8695-062A-F92F5406D34E}"/>
                  </a:ext>
                </a:extLst>
              </p:cNvPr>
              <p:cNvSpPr/>
              <p:nvPr/>
            </p:nvSpPr>
            <p:spPr>
              <a:xfrm>
                <a:off x="4437531"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5" name="Connector: Curved 344">
                <a:extLst>
                  <a:ext uri="{FF2B5EF4-FFF2-40B4-BE49-F238E27FC236}">
                    <a16:creationId xmlns:a16="http://schemas.microsoft.com/office/drawing/2014/main" id="{A32A2D76-B0AB-CA64-65C0-284E9DA88849}"/>
                  </a:ext>
                </a:extLst>
              </p:cNvPr>
              <p:cNvCxnSpPr/>
              <p:nvPr/>
            </p:nvCxnSpPr>
            <p:spPr>
              <a:xfrm rot="16200000" flipH="1">
                <a:off x="5248836" y="1901640"/>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6" name="Connector: Curved 345">
                <a:extLst>
                  <a:ext uri="{FF2B5EF4-FFF2-40B4-BE49-F238E27FC236}">
                    <a16:creationId xmlns:a16="http://schemas.microsoft.com/office/drawing/2014/main" id="{6997C08A-B16A-E628-550B-E3789AC226BD}"/>
                  </a:ext>
                </a:extLst>
              </p:cNvPr>
              <p:cNvCxnSpPr>
                <a:cxnSpLocks/>
              </p:cNvCxnSpPr>
              <p:nvPr/>
            </p:nvCxnSpPr>
            <p:spPr>
              <a:xfrm rot="10800000" flipH="1">
                <a:off x="2458571" y="1926294"/>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7" name="Connector: Curved 346">
                <a:extLst>
                  <a:ext uri="{FF2B5EF4-FFF2-40B4-BE49-F238E27FC236}">
                    <a16:creationId xmlns:a16="http://schemas.microsoft.com/office/drawing/2014/main" id="{478370E3-DBA7-8C26-E90E-E4B2C20A7A18}"/>
                  </a:ext>
                </a:extLst>
              </p:cNvPr>
              <p:cNvCxnSpPr>
                <a:cxnSpLocks/>
              </p:cNvCxnSpPr>
              <p:nvPr/>
            </p:nvCxnSpPr>
            <p:spPr>
              <a:xfrm rot="2700000" flipH="1">
                <a:off x="3827930" y="3595968"/>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8" name="TextBox 347">
                <a:extLst>
                  <a:ext uri="{FF2B5EF4-FFF2-40B4-BE49-F238E27FC236}">
                    <a16:creationId xmlns:a16="http://schemas.microsoft.com/office/drawing/2014/main" id="{247E2CC3-88EC-630E-B8FD-451AF69C87FD}"/>
                  </a:ext>
                </a:extLst>
              </p:cNvPr>
              <p:cNvSpPr txBox="1"/>
              <p:nvPr/>
            </p:nvSpPr>
            <p:spPr>
              <a:xfrm>
                <a:off x="3367469" y="1290575"/>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project1</a:t>
                </a:r>
              </a:p>
            </p:txBody>
          </p:sp>
          <p:sp>
            <p:nvSpPr>
              <p:cNvPr id="349" name="TextBox 348">
                <a:extLst>
                  <a:ext uri="{FF2B5EF4-FFF2-40B4-BE49-F238E27FC236}">
                    <a16:creationId xmlns:a16="http://schemas.microsoft.com/office/drawing/2014/main" id="{EB808A39-0863-7E40-3D95-0722EA916F48}"/>
                  </a:ext>
                </a:extLst>
              </p:cNvPr>
              <p:cNvSpPr txBox="1"/>
              <p:nvPr/>
            </p:nvSpPr>
            <p:spPr>
              <a:xfrm>
                <a:off x="4572822"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project2</a:t>
                </a:r>
              </a:p>
            </p:txBody>
          </p:sp>
          <p:sp>
            <p:nvSpPr>
              <p:cNvPr id="350" name="TextBox 349">
                <a:extLst>
                  <a:ext uri="{FF2B5EF4-FFF2-40B4-BE49-F238E27FC236}">
                    <a16:creationId xmlns:a16="http://schemas.microsoft.com/office/drawing/2014/main" id="{04043DF1-17CF-4C6F-C8CA-EB780C6AA2D5}"/>
                  </a:ext>
                </a:extLst>
              </p:cNvPr>
              <p:cNvSpPr txBox="1"/>
              <p:nvPr/>
            </p:nvSpPr>
            <p:spPr>
              <a:xfrm>
                <a:off x="2158708" y="2679442"/>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project3</a:t>
                </a:r>
              </a:p>
            </p:txBody>
          </p:sp>
        </p:grpSp>
        <p:grpSp>
          <p:nvGrpSpPr>
            <p:cNvPr id="747" name="Group 746">
              <a:extLst>
                <a:ext uri="{FF2B5EF4-FFF2-40B4-BE49-F238E27FC236}">
                  <a16:creationId xmlns:a16="http://schemas.microsoft.com/office/drawing/2014/main" id="{CF2ADF7F-962A-8A45-6D43-A906D87BE4D4}"/>
                </a:ext>
              </a:extLst>
            </p:cNvPr>
            <p:cNvGrpSpPr/>
            <p:nvPr/>
          </p:nvGrpSpPr>
          <p:grpSpPr>
            <a:xfrm>
              <a:off x="7788723" y="1306368"/>
              <a:ext cx="4088813" cy="2782421"/>
              <a:chOff x="2065458" y="1317812"/>
              <a:chExt cx="4088813" cy="2782421"/>
            </a:xfrm>
          </p:grpSpPr>
          <p:sp>
            <p:nvSpPr>
              <p:cNvPr id="330" name="Rectangle 329">
                <a:extLst>
                  <a:ext uri="{FF2B5EF4-FFF2-40B4-BE49-F238E27FC236}">
                    <a16:creationId xmlns:a16="http://schemas.microsoft.com/office/drawing/2014/main" id="{10AD165D-D7C7-6AFB-32A1-47AEFD3A3D7D}"/>
                  </a:ext>
                </a:extLst>
              </p:cNvPr>
              <p:cNvSpPr/>
              <p:nvPr/>
            </p:nvSpPr>
            <p:spPr>
              <a:xfrm>
                <a:off x="3245225" y="1317812"/>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1" name="Rectangle 330">
                <a:extLst>
                  <a:ext uri="{FF2B5EF4-FFF2-40B4-BE49-F238E27FC236}">
                    <a16:creationId xmlns:a16="http://schemas.microsoft.com/office/drawing/2014/main" id="{F2ED2429-DEC7-A8FF-98C0-5427E42A33A0}"/>
                  </a:ext>
                </a:extLst>
              </p:cNvPr>
              <p:cNvSpPr/>
              <p:nvPr/>
            </p:nvSpPr>
            <p:spPr>
              <a:xfrm>
                <a:off x="2066366"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3E955AEA-9C41-A47B-9260-65A5735485D1}"/>
                  </a:ext>
                </a:extLst>
              </p:cNvPr>
              <p:cNvSpPr/>
              <p:nvPr/>
            </p:nvSpPr>
            <p:spPr>
              <a:xfrm>
                <a:off x="4437531" y="2736478"/>
                <a:ext cx="1716740" cy="75751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3" name="Connector: Curved 332">
                <a:extLst>
                  <a:ext uri="{FF2B5EF4-FFF2-40B4-BE49-F238E27FC236}">
                    <a16:creationId xmlns:a16="http://schemas.microsoft.com/office/drawing/2014/main" id="{E30C3692-A039-EE13-2011-54B1880978F1}"/>
                  </a:ext>
                </a:extLst>
              </p:cNvPr>
              <p:cNvCxnSpPr/>
              <p:nvPr/>
            </p:nvCxnSpPr>
            <p:spPr>
              <a:xfrm rot="16200000" flipH="1">
                <a:off x="5248836" y="1901640"/>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5" name="Connector: Curved 334">
                <a:extLst>
                  <a:ext uri="{FF2B5EF4-FFF2-40B4-BE49-F238E27FC236}">
                    <a16:creationId xmlns:a16="http://schemas.microsoft.com/office/drawing/2014/main" id="{013F22C0-3E6E-7720-9FAF-91F70214DF84}"/>
                  </a:ext>
                </a:extLst>
              </p:cNvPr>
              <p:cNvCxnSpPr>
                <a:cxnSpLocks/>
              </p:cNvCxnSpPr>
              <p:nvPr/>
            </p:nvCxnSpPr>
            <p:spPr>
              <a:xfrm rot="10800000" flipH="1">
                <a:off x="2458571" y="1926294"/>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6" name="Connector: Curved 335">
                <a:extLst>
                  <a:ext uri="{FF2B5EF4-FFF2-40B4-BE49-F238E27FC236}">
                    <a16:creationId xmlns:a16="http://schemas.microsoft.com/office/drawing/2014/main" id="{91F863DA-57A3-0DDD-D0A7-8818CFEA2416}"/>
                  </a:ext>
                </a:extLst>
              </p:cNvPr>
              <p:cNvCxnSpPr>
                <a:cxnSpLocks/>
              </p:cNvCxnSpPr>
              <p:nvPr/>
            </p:nvCxnSpPr>
            <p:spPr>
              <a:xfrm rot="2700000" flipH="1">
                <a:off x="3827930" y="3595968"/>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BA7EEC6B-105C-CC24-54B6-44342D99643A}"/>
                  </a:ext>
                </a:extLst>
              </p:cNvPr>
              <p:cNvSpPr txBox="1"/>
              <p:nvPr/>
            </p:nvSpPr>
            <p:spPr>
              <a:xfrm>
                <a:off x="3245226" y="1329258"/>
                <a:ext cx="167473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t>analysisA</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38" name="TextBox 337">
                <a:extLst>
                  <a:ext uri="{FF2B5EF4-FFF2-40B4-BE49-F238E27FC236}">
                    <a16:creationId xmlns:a16="http://schemas.microsoft.com/office/drawing/2014/main" id="{228B6655-8876-B8E8-BEE0-78AC5F955E95}"/>
                  </a:ext>
                </a:extLst>
              </p:cNvPr>
              <p:cNvSpPr txBox="1"/>
              <p:nvPr/>
            </p:nvSpPr>
            <p:spPr>
              <a:xfrm>
                <a:off x="4410270" y="2754859"/>
                <a:ext cx="168631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t>analysisB</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F86BE994-EB6F-96CA-0689-E707DD1D1B12}"/>
                  </a:ext>
                </a:extLst>
              </p:cNvPr>
              <p:cNvSpPr txBox="1"/>
              <p:nvPr/>
            </p:nvSpPr>
            <p:spPr>
              <a:xfrm>
                <a:off x="2065458" y="2754859"/>
                <a:ext cx="1686315"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analysisB</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cxnSp>
          <p:nvCxnSpPr>
            <p:cNvPr id="748" name="Straight Connector 747">
              <a:extLst>
                <a:ext uri="{FF2B5EF4-FFF2-40B4-BE49-F238E27FC236}">
                  <a16:creationId xmlns:a16="http://schemas.microsoft.com/office/drawing/2014/main" id="{0E957AE1-5749-8830-847D-1618B08622DC}"/>
                </a:ext>
              </a:extLst>
            </p:cNvPr>
            <p:cNvCxnSpPr/>
            <p:nvPr/>
          </p:nvCxnSpPr>
          <p:spPr>
            <a:xfrm>
              <a:off x="6990976" y="2118796"/>
              <a:ext cx="0" cy="7785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53" name="Straight Connector 752">
              <a:extLst>
                <a:ext uri="{FF2B5EF4-FFF2-40B4-BE49-F238E27FC236}">
                  <a16:creationId xmlns:a16="http://schemas.microsoft.com/office/drawing/2014/main" id="{B1D9BC96-0D7F-E561-6B26-BA06E79D125D}"/>
                </a:ext>
              </a:extLst>
            </p:cNvPr>
            <p:cNvCxnSpPr>
              <a:cxnSpLocks/>
            </p:cNvCxnSpPr>
            <p:nvPr/>
          </p:nvCxnSpPr>
          <p:spPr>
            <a:xfrm rot="5400000">
              <a:off x="6990976" y="2140091"/>
              <a:ext cx="0" cy="7785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54" name="Rectangle 753">
              <a:extLst>
                <a:ext uri="{FF2B5EF4-FFF2-40B4-BE49-F238E27FC236}">
                  <a16:creationId xmlns:a16="http://schemas.microsoft.com/office/drawing/2014/main" id="{629557DC-56FF-D11B-A60D-3733C9A78E46}"/>
                </a:ext>
              </a:extLst>
            </p:cNvPr>
            <p:cNvSpPr/>
            <p:nvPr/>
          </p:nvSpPr>
          <p:spPr>
            <a:xfrm>
              <a:off x="1788460" y="6119669"/>
              <a:ext cx="4015391" cy="4020670"/>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55" name="TextBox 754">
              <a:extLst>
                <a:ext uri="{FF2B5EF4-FFF2-40B4-BE49-F238E27FC236}">
                  <a16:creationId xmlns:a16="http://schemas.microsoft.com/office/drawing/2014/main" id="{59096CB3-C238-587D-F8AF-87D5789E3F7D}"/>
                </a:ext>
              </a:extLst>
            </p:cNvPr>
            <p:cNvSpPr txBox="1"/>
            <p:nvPr/>
          </p:nvSpPr>
          <p:spPr>
            <a:xfrm>
              <a:off x="2066366" y="6171804"/>
              <a:ext cx="216508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Introduction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56" name="Straight Connector 755">
              <a:extLst>
                <a:ext uri="{FF2B5EF4-FFF2-40B4-BE49-F238E27FC236}">
                  <a16:creationId xmlns:a16="http://schemas.microsoft.com/office/drawing/2014/main" id="{E9D7272E-B421-57D5-E1EE-4E5C9D6D4F7A}"/>
                </a:ext>
              </a:extLst>
            </p:cNvPr>
            <p:cNvCxnSpPr/>
            <p:nvPr/>
          </p:nvCxnSpPr>
          <p:spPr>
            <a:xfrm>
              <a:off x="1949824" y="6884894"/>
              <a:ext cx="2510341" cy="0"/>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757" name="Group 756">
              <a:extLst>
                <a:ext uri="{FF2B5EF4-FFF2-40B4-BE49-F238E27FC236}">
                  <a16:creationId xmlns:a16="http://schemas.microsoft.com/office/drawing/2014/main" id="{CC69B513-E909-674F-54BF-34B9D6069605}"/>
                </a:ext>
              </a:extLst>
            </p:cNvPr>
            <p:cNvGrpSpPr/>
            <p:nvPr/>
          </p:nvGrpSpPr>
          <p:grpSpPr>
            <a:xfrm>
              <a:off x="2633012" y="7024318"/>
              <a:ext cx="68687" cy="568096"/>
              <a:chOff x="2633012" y="7024318"/>
              <a:chExt cx="68687" cy="568096"/>
            </a:xfrm>
          </p:grpSpPr>
          <p:sp>
            <p:nvSpPr>
              <p:cNvPr id="327" name="Oval 326">
                <a:extLst>
                  <a:ext uri="{FF2B5EF4-FFF2-40B4-BE49-F238E27FC236}">
                    <a16:creationId xmlns:a16="http://schemas.microsoft.com/office/drawing/2014/main" id="{C56E245E-9B07-5BFF-17AF-9D72F9702F42}"/>
                  </a:ext>
                </a:extLst>
              </p:cNvPr>
              <p:cNvSpPr/>
              <p:nvPr/>
            </p:nvSpPr>
            <p:spPr>
              <a:xfrm>
                <a:off x="2635623" y="7024318"/>
                <a:ext cx="66074" cy="6607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70E530EE-7BC3-8A96-F566-F87F5E3AD156}"/>
                  </a:ext>
                </a:extLst>
              </p:cNvPr>
              <p:cNvSpPr/>
              <p:nvPr/>
            </p:nvSpPr>
            <p:spPr>
              <a:xfrm>
                <a:off x="2633012" y="7275329"/>
                <a:ext cx="66074" cy="6607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6273E021-20CA-1AB4-ED7D-AF11FFBD6B68}"/>
                  </a:ext>
                </a:extLst>
              </p:cNvPr>
              <p:cNvSpPr/>
              <p:nvPr/>
            </p:nvSpPr>
            <p:spPr>
              <a:xfrm>
                <a:off x="2635625" y="7526340"/>
                <a:ext cx="66074" cy="6607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758" name="TextBox 757">
              <a:extLst>
                <a:ext uri="{FF2B5EF4-FFF2-40B4-BE49-F238E27FC236}">
                  <a16:creationId xmlns:a16="http://schemas.microsoft.com/office/drawing/2014/main" id="{3ACCCE55-E5CD-F51A-59BE-8D0ECDBDB217}"/>
                </a:ext>
              </a:extLst>
            </p:cNvPr>
            <p:cNvSpPr txBox="1"/>
            <p:nvPr/>
          </p:nvSpPr>
          <p:spPr>
            <a:xfrm>
              <a:off x="1931899" y="7532978"/>
              <a:ext cx="3651593"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Project Configurations</a:t>
              </a:r>
            </a:p>
          </p:txBody>
        </p:sp>
        <p:sp>
          <p:nvSpPr>
            <p:cNvPr id="759" name="Rectangle 758">
              <a:extLst>
                <a:ext uri="{FF2B5EF4-FFF2-40B4-BE49-F238E27FC236}">
                  <a16:creationId xmlns:a16="http://schemas.microsoft.com/office/drawing/2014/main" id="{AA470F4E-8016-4F75-B6AE-29031EAC0BE4}"/>
                </a:ext>
              </a:extLst>
            </p:cNvPr>
            <p:cNvSpPr/>
            <p:nvPr/>
          </p:nvSpPr>
          <p:spPr>
            <a:xfrm>
              <a:off x="2021565" y="8183072"/>
              <a:ext cx="2671459" cy="1081471"/>
            </a:xfrm>
            <a:prstGeom prst="rect">
              <a:avLst/>
            </a:prstGeom>
            <a:ln>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60" name="Group 759">
              <a:extLst>
                <a:ext uri="{FF2B5EF4-FFF2-40B4-BE49-F238E27FC236}">
                  <a16:creationId xmlns:a16="http://schemas.microsoft.com/office/drawing/2014/main" id="{3CEB5B28-B647-8689-ED72-E9E693B96E4C}"/>
                </a:ext>
              </a:extLst>
            </p:cNvPr>
            <p:cNvGrpSpPr/>
            <p:nvPr/>
          </p:nvGrpSpPr>
          <p:grpSpPr>
            <a:xfrm>
              <a:off x="2582400" y="9434613"/>
              <a:ext cx="68687" cy="568094"/>
              <a:chOff x="2633012" y="7024320"/>
              <a:chExt cx="68687" cy="568094"/>
            </a:xfrm>
          </p:grpSpPr>
          <p:sp>
            <p:nvSpPr>
              <p:cNvPr id="323" name="Oval 322">
                <a:extLst>
                  <a:ext uri="{FF2B5EF4-FFF2-40B4-BE49-F238E27FC236}">
                    <a16:creationId xmlns:a16="http://schemas.microsoft.com/office/drawing/2014/main" id="{ED95B6F9-B4D5-07BE-FD37-16791A54FA73}"/>
                  </a:ext>
                </a:extLst>
              </p:cNvPr>
              <p:cNvSpPr/>
              <p:nvPr/>
            </p:nvSpPr>
            <p:spPr>
              <a:xfrm>
                <a:off x="2635625" y="7024320"/>
                <a:ext cx="66074" cy="6607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Oval 323">
                <a:extLst>
                  <a:ext uri="{FF2B5EF4-FFF2-40B4-BE49-F238E27FC236}">
                    <a16:creationId xmlns:a16="http://schemas.microsoft.com/office/drawing/2014/main" id="{13375175-C25E-4AD3-CE39-7069B0295D38}"/>
                  </a:ext>
                </a:extLst>
              </p:cNvPr>
              <p:cNvSpPr/>
              <p:nvPr/>
            </p:nvSpPr>
            <p:spPr>
              <a:xfrm>
                <a:off x="2633012" y="7275329"/>
                <a:ext cx="66074" cy="6607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Oval 324">
                <a:extLst>
                  <a:ext uri="{FF2B5EF4-FFF2-40B4-BE49-F238E27FC236}">
                    <a16:creationId xmlns:a16="http://schemas.microsoft.com/office/drawing/2014/main" id="{64E8CEDB-884A-7C76-866F-96BA5C9A5F9A}"/>
                  </a:ext>
                </a:extLst>
              </p:cNvPr>
              <p:cNvSpPr/>
              <p:nvPr/>
            </p:nvSpPr>
            <p:spPr>
              <a:xfrm>
                <a:off x="2635625" y="7526340"/>
                <a:ext cx="66074" cy="6607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761" name="Connector: Elbow 760">
              <a:extLst>
                <a:ext uri="{FF2B5EF4-FFF2-40B4-BE49-F238E27FC236}">
                  <a16:creationId xmlns:a16="http://schemas.microsoft.com/office/drawing/2014/main" id="{0038ADEA-EA5A-0282-2C34-D78F5A9F2BD1}"/>
                </a:ext>
              </a:extLst>
            </p:cNvPr>
            <p:cNvCxnSpPr>
              <a:endCxn id="759" idx="3"/>
            </p:cNvCxnSpPr>
            <p:nvPr/>
          </p:nvCxnSpPr>
          <p:spPr>
            <a:xfrm rot="5400000">
              <a:off x="3444115" y="5874698"/>
              <a:ext cx="4098019" cy="1600200"/>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2" name="Rectangle 761">
              <a:extLst>
                <a:ext uri="{FF2B5EF4-FFF2-40B4-BE49-F238E27FC236}">
                  <a16:creationId xmlns:a16="http://schemas.microsoft.com/office/drawing/2014/main" id="{AB22095C-8700-9CE7-DC91-C828FE175D62}"/>
                </a:ext>
              </a:extLst>
            </p:cNvPr>
            <p:cNvSpPr/>
            <p:nvPr/>
          </p:nvSpPr>
          <p:spPr>
            <a:xfrm>
              <a:off x="8488055" y="7691120"/>
              <a:ext cx="3664250" cy="2577701"/>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63" name="TextBox 762">
              <a:extLst>
                <a:ext uri="{FF2B5EF4-FFF2-40B4-BE49-F238E27FC236}">
                  <a16:creationId xmlns:a16="http://schemas.microsoft.com/office/drawing/2014/main" id="{5C7CB56C-430B-5F67-D010-82CE82D9E016}"/>
                </a:ext>
              </a:extLst>
            </p:cNvPr>
            <p:cNvSpPr txBox="1"/>
            <p:nvPr/>
          </p:nvSpPr>
          <p:spPr>
            <a:xfrm>
              <a:off x="8607555" y="8473535"/>
              <a:ext cx="3664248" cy="16121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project1.yml</a:t>
              </a:r>
            </a:p>
            <a:p>
              <a:pPr marL="0" marR="0" indent="0" algn="l" defTabSz="584200" rtl="0" fontAlgn="auto" latinLnBrk="0" hangingPunct="0">
                <a:lnSpc>
                  <a:spcPct val="100000"/>
                </a:lnSpc>
                <a:spcBef>
                  <a:spcPts val="200"/>
                </a:spcBef>
                <a:spcAft>
                  <a:spcPts val="0"/>
                </a:spcAft>
                <a:buClrTx/>
                <a:buSzTx/>
                <a:buFontTx/>
                <a:buNone/>
                <a:tabLst/>
              </a:pPr>
              <a:r>
                <a:rPr lang="en-US" sz="1100" dirty="0" err="1"/>
                <a:t>analysisB.yml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764" name="TextBox 763">
              <a:extLst>
                <a:ext uri="{FF2B5EF4-FFF2-40B4-BE49-F238E27FC236}">
                  <a16:creationId xmlns:a16="http://schemas.microsoft.com/office/drawing/2014/main" id="{B2D8E250-B7AB-097C-BCBC-B31812B66EE1}"/>
                </a:ext>
              </a:extLst>
            </p:cNvPr>
            <p:cNvSpPr txBox="1"/>
            <p:nvPr/>
          </p:nvSpPr>
          <p:spPr>
            <a:xfrm rot="5400000">
              <a:off x="4224881" y="6855809"/>
              <a:ext cx="4866100" cy="69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t>project1.yml + </a:t>
              </a:r>
              <a:r>
                <a:rPr lang="en-US" sz="1000" dirty="0" err="1"/>
                <a:t>analysisB.yml</a:t>
              </a:r>
              <a:endPar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65" name="Straight Arrow Connector 764">
              <a:extLst>
                <a:ext uri="{FF2B5EF4-FFF2-40B4-BE49-F238E27FC236}">
                  <a16:creationId xmlns:a16="http://schemas.microsoft.com/office/drawing/2014/main" id="{DFD75684-3BE7-D6FA-1496-E2D9483D4702}"/>
                </a:ext>
              </a:extLst>
            </p:cNvPr>
            <p:cNvCxnSpPr>
              <a:cxnSpLocks/>
            </p:cNvCxnSpPr>
            <p:nvPr/>
          </p:nvCxnSpPr>
          <p:spPr>
            <a:xfrm flipH="1">
              <a:off x="10133536" y="4625788"/>
              <a:ext cx="27259" cy="290719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7" name="TextBox 766">
              <a:extLst>
                <a:ext uri="{FF2B5EF4-FFF2-40B4-BE49-F238E27FC236}">
                  <a16:creationId xmlns:a16="http://schemas.microsoft.com/office/drawing/2014/main" id="{DC61FDD5-7F94-7BB8-3269-6B5842E9B8CA}"/>
                </a:ext>
              </a:extLst>
            </p:cNvPr>
            <p:cNvSpPr txBox="1"/>
            <p:nvPr/>
          </p:nvSpPr>
          <p:spPr>
            <a:xfrm>
              <a:off x="2219563" y="1000809"/>
              <a:ext cx="717191" cy="7720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322" name="TextBox 321">
              <a:extLst>
                <a:ext uri="{FF2B5EF4-FFF2-40B4-BE49-F238E27FC236}">
                  <a16:creationId xmlns:a16="http://schemas.microsoft.com/office/drawing/2014/main" id="{A5B086AC-BCA5-4A92-1D9D-20327C25FA3E}"/>
                </a:ext>
              </a:extLst>
            </p:cNvPr>
            <p:cNvSpPr txBox="1"/>
            <p:nvPr/>
          </p:nvSpPr>
          <p:spPr>
            <a:xfrm>
              <a:off x="8413920" y="6814217"/>
              <a:ext cx="674718"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grpSp>
      <p:sp>
        <p:nvSpPr>
          <p:cNvPr id="351" name="TextBox 350">
            <a:extLst>
              <a:ext uri="{FF2B5EF4-FFF2-40B4-BE49-F238E27FC236}">
                <a16:creationId xmlns:a16="http://schemas.microsoft.com/office/drawing/2014/main" id="{60F79B9D-6051-489C-5AC0-86F1428DC9A6}"/>
              </a:ext>
            </a:extLst>
          </p:cNvPr>
          <p:cNvSpPr txBox="1"/>
          <p:nvPr/>
        </p:nvSpPr>
        <p:spPr>
          <a:xfrm>
            <a:off x="7307918" y="2156031"/>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352" name="TextBox 351">
            <a:extLst>
              <a:ext uri="{FF2B5EF4-FFF2-40B4-BE49-F238E27FC236}">
                <a16:creationId xmlns:a16="http://schemas.microsoft.com/office/drawing/2014/main" id="{5808838B-A7CC-FD31-1CDF-308B920D2A7F}"/>
              </a:ext>
            </a:extLst>
          </p:cNvPr>
          <p:cNvSpPr txBox="1"/>
          <p:nvPr/>
        </p:nvSpPr>
        <p:spPr>
          <a:xfrm>
            <a:off x="4808526" y="3990263"/>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355" name="Use headers, colors, and/or backgrounds to separate or group together sections.">
            <a:extLst>
              <a:ext uri="{FF2B5EF4-FFF2-40B4-BE49-F238E27FC236}">
                <a16:creationId xmlns:a16="http://schemas.microsoft.com/office/drawing/2014/main" id="{53F5F79C-4FCD-BFA9-3F0D-7D10A34CF9AE}"/>
              </a:ext>
            </a:extLst>
          </p:cNvPr>
          <p:cNvSpPr txBox="1"/>
          <p:nvPr/>
        </p:nvSpPr>
        <p:spPr>
          <a:xfrm>
            <a:off x="173122" y="4417367"/>
            <a:ext cx="3949153"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project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yml</a:t>
            </a:r>
            <a:r>
              <a:rPr lang="en-US" b="0" i="0" u="none" strike="noStrike" dirty="0">
                <a:solidFill>
                  <a:srgbClr val="000000"/>
                </a:solidFill>
                <a:effectLst/>
                <a:latin typeface="Source Sans Pro" panose="020B0503030403020204" pitchFamily="34" charset="0"/>
                <a:ea typeface="Source Sans Pro" panose="020B0503030403020204" pitchFamily="34" charset="0"/>
              </a:rPr>
              <a:t> files define immutable data such as version control, issue trackers, and mailing lists.</a:t>
            </a:r>
          </a:p>
        </p:txBody>
      </p:sp>
      <p:sp>
        <p:nvSpPr>
          <p:cNvPr id="356" name="Use headers, colors, and/or backgrounds to separate or group together sections.">
            <a:extLst>
              <a:ext uri="{FF2B5EF4-FFF2-40B4-BE49-F238E27FC236}">
                <a16:creationId xmlns:a16="http://schemas.microsoft.com/office/drawing/2014/main" id="{D3E2EBB1-BEF5-72A8-FA7B-5DF0666DFE58}"/>
              </a:ext>
            </a:extLst>
          </p:cNvPr>
          <p:cNvSpPr txBox="1"/>
          <p:nvPr/>
        </p:nvSpPr>
        <p:spPr>
          <a:xfrm>
            <a:off x="170343" y="6293935"/>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are specific to a project and remain consistent across different analyses.</a:t>
            </a:r>
          </a:p>
        </p:txBody>
      </p:sp>
      <p:grpSp>
        <p:nvGrpSpPr>
          <p:cNvPr id="439" name="Group 438">
            <a:extLst>
              <a:ext uri="{FF2B5EF4-FFF2-40B4-BE49-F238E27FC236}">
                <a16:creationId xmlns:a16="http://schemas.microsoft.com/office/drawing/2014/main" id="{B626017D-51CE-ECD9-AFFB-2A9399CE7464}"/>
              </a:ext>
            </a:extLst>
          </p:cNvPr>
          <p:cNvGrpSpPr/>
          <p:nvPr/>
        </p:nvGrpSpPr>
        <p:grpSpPr>
          <a:xfrm>
            <a:off x="373334" y="5158122"/>
            <a:ext cx="3650937" cy="879781"/>
            <a:chOff x="331715" y="5171778"/>
            <a:chExt cx="3650937" cy="879781"/>
          </a:xfrm>
        </p:grpSpPr>
        <p:grpSp>
          <p:nvGrpSpPr>
            <p:cNvPr id="396" name="Group 395">
              <a:extLst>
                <a:ext uri="{FF2B5EF4-FFF2-40B4-BE49-F238E27FC236}">
                  <a16:creationId xmlns:a16="http://schemas.microsoft.com/office/drawing/2014/main" id="{E91A6375-13DA-A67D-BDCF-AF6EDECD287C}"/>
                </a:ext>
              </a:extLst>
            </p:cNvPr>
            <p:cNvGrpSpPr/>
            <p:nvPr/>
          </p:nvGrpSpPr>
          <p:grpSpPr>
            <a:xfrm>
              <a:off x="331715" y="5188687"/>
              <a:ext cx="1441090" cy="862872"/>
              <a:chOff x="4056577" y="4033088"/>
              <a:chExt cx="493900" cy="295729"/>
            </a:xfrm>
          </p:grpSpPr>
          <p:sp>
            <p:nvSpPr>
              <p:cNvPr id="397" name="Google Shape;375;p18">
                <a:extLst>
                  <a:ext uri="{FF2B5EF4-FFF2-40B4-BE49-F238E27FC236}">
                    <a16:creationId xmlns:a16="http://schemas.microsoft.com/office/drawing/2014/main" id="{9E80BFF3-2860-3CF8-599B-21A52CADABFE}"/>
                  </a:ext>
                </a:extLst>
              </p:cNvPr>
              <p:cNvSpPr txBox="1"/>
              <p:nvPr/>
            </p:nvSpPr>
            <p:spPr>
              <a:xfrm>
                <a:off x="4106777" y="4033088"/>
                <a:ext cx="443700"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GitHub</a:t>
                </a:r>
                <a:endParaRPr dirty="0">
                  <a:solidFill>
                    <a:schemeClr val="dk2"/>
                  </a:solidFill>
                  <a:latin typeface="Source Sans 3"/>
                  <a:ea typeface="Source Sans 3"/>
                  <a:cs typeface="Source Sans 3"/>
                  <a:sym typeface="Source Sans 3"/>
                </a:endParaRPr>
              </a:p>
            </p:txBody>
          </p:sp>
          <p:grpSp>
            <p:nvGrpSpPr>
              <p:cNvPr id="398" name="Google Shape;359;p18">
                <a:extLst>
                  <a:ext uri="{FF2B5EF4-FFF2-40B4-BE49-F238E27FC236}">
                    <a16:creationId xmlns:a16="http://schemas.microsoft.com/office/drawing/2014/main" id="{D06571A5-6ABD-7616-4A73-DC8BF6A83D19}"/>
                  </a:ext>
                </a:extLst>
              </p:cNvPr>
              <p:cNvGrpSpPr/>
              <p:nvPr/>
            </p:nvGrpSpPr>
            <p:grpSpPr>
              <a:xfrm>
                <a:off x="4056577" y="4139517"/>
                <a:ext cx="307200" cy="189300"/>
                <a:chOff x="3007175" y="1757600"/>
                <a:chExt cx="307200" cy="189300"/>
              </a:xfrm>
            </p:grpSpPr>
            <p:sp>
              <p:nvSpPr>
                <p:cNvPr id="399" name="Google Shape;360;p18">
                  <a:extLst>
                    <a:ext uri="{FF2B5EF4-FFF2-40B4-BE49-F238E27FC236}">
                      <a16:creationId xmlns:a16="http://schemas.microsoft.com/office/drawing/2014/main" id="{0E946CA0-B112-4464-9C9B-5D172AEC2617}"/>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1;p18">
                  <a:extLst>
                    <a:ext uri="{FF2B5EF4-FFF2-40B4-BE49-F238E27FC236}">
                      <a16:creationId xmlns:a16="http://schemas.microsoft.com/office/drawing/2014/main" id="{CC120874-B4BE-4313-D09E-0D0550A3CCD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2;p18">
                  <a:extLst>
                    <a:ext uri="{FF2B5EF4-FFF2-40B4-BE49-F238E27FC236}">
                      <a16:creationId xmlns:a16="http://schemas.microsoft.com/office/drawing/2014/main" id="{C63FE549-1513-E4D2-392C-4662D969EBFD}"/>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363;p18">
                  <a:extLst>
                    <a:ext uri="{FF2B5EF4-FFF2-40B4-BE49-F238E27FC236}">
                      <a16:creationId xmlns:a16="http://schemas.microsoft.com/office/drawing/2014/main" id="{295514ED-1E18-429B-C9DA-16269942C944}"/>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3" name="Google Shape;364;p18">
                  <a:extLst>
                    <a:ext uri="{FF2B5EF4-FFF2-40B4-BE49-F238E27FC236}">
                      <a16:creationId xmlns:a16="http://schemas.microsoft.com/office/drawing/2014/main" id="{F3CBE700-B378-C95A-B9DD-034947E4545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5;p18">
                  <a:extLst>
                    <a:ext uri="{FF2B5EF4-FFF2-40B4-BE49-F238E27FC236}">
                      <a16:creationId xmlns:a16="http://schemas.microsoft.com/office/drawing/2014/main" id="{5348D3BF-FBA7-CADE-1960-75A20869B08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366;p18">
                  <a:extLst>
                    <a:ext uri="{FF2B5EF4-FFF2-40B4-BE49-F238E27FC236}">
                      <a16:creationId xmlns:a16="http://schemas.microsoft.com/office/drawing/2014/main" id="{192A11B8-DA4C-CEB2-2B96-2BC35B0F10B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14" name="Group 413">
              <a:extLst>
                <a:ext uri="{FF2B5EF4-FFF2-40B4-BE49-F238E27FC236}">
                  <a16:creationId xmlns:a16="http://schemas.microsoft.com/office/drawing/2014/main" id="{064D5BB6-C786-A3AE-6AEC-2C2858864D6D}"/>
                </a:ext>
              </a:extLst>
            </p:cNvPr>
            <p:cNvGrpSpPr/>
            <p:nvPr/>
          </p:nvGrpSpPr>
          <p:grpSpPr>
            <a:xfrm>
              <a:off x="1477632" y="5178865"/>
              <a:ext cx="896341" cy="862872"/>
              <a:chOff x="4056577" y="4033088"/>
              <a:chExt cx="307200" cy="295729"/>
            </a:xfrm>
          </p:grpSpPr>
          <p:sp>
            <p:nvSpPr>
              <p:cNvPr id="415" name="Google Shape;375;p18">
                <a:extLst>
                  <a:ext uri="{FF2B5EF4-FFF2-40B4-BE49-F238E27FC236}">
                    <a16:creationId xmlns:a16="http://schemas.microsoft.com/office/drawing/2014/main" id="{7C68E304-FEB7-9BB3-C4A4-44C8474E1F88}"/>
                  </a:ext>
                </a:extLst>
              </p:cNvPr>
              <p:cNvSpPr txBox="1"/>
              <p:nvPr/>
            </p:nvSpPr>
            <p:spPr>
              <a:xfrm>
                <a:off x="4144430" y="4033088"/>
                <a:ext cx="150347"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Jira</a:t>
                </a:r>
                <a:endParaRPr dirty="0">
                  <a:solidFill>
                    <a:schemeClr val="dk2"/>
                  </a:solidFill>
                  <a:latin typeface="Source Sans 3"/>
                  <a:ea typeface="Source Sans 3"/>
                  <a:cs typeface="Source Sans 3"/>
                  <a:sym typeface="Source Sans 3"/>
                </a:endParaRPr>
              </a:p>
            </p:txBody>
          </p:sp>
          <p:grpSp>
            <p:nvGrpSpPr>
              <p:cNvPr id="416" name="Google Shape;359;p18">
                <a:extLst>
                  <a:ext uri="{FF2B5EF4-FFF2-40B4-BE49-F238E27FC236}">
                    <a16:creationId xmlns:a16="http://schemas.microsoft.com/office/drawing/2014/main" id="{F20EDC70-FF99-088F-B9FC-DCB49D7E525A}"/>
                  </a:ext>
                </a:extLst>
              </p:cNvPr>
              <p:cNvGrpSpPr/>
              <p:nvPr/>
            </p:nvGrpSpPr>
            <p:grpSpPr>
              <a:xfrm>
                <a:off x="4056577" y="4139517"/>
                <a:ext cx="307200" cy="189300"/>
                <a:chOff x="3007175" y="1757600"/>
                <a:chExt cx="307200" cy="189300"/>
              </a:xfrm>
            </p:grpSpPr>
            <p:sp>
              <p:nvSpPr>
                <p:cNvPr id="417" name="Google Shape;360;p18">
                  <a:extLst>
                    <a:ext uri="{FF2B5EF4-FFF2-40B4-BE49-F238E27FC236}">
                      <a16:creationId xmlns:a16="http://schemas.microsoft.com/office/drawing/2014/main" id="{F64A0681-7AE8-22EE-657A-595616C82B77}"/>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361;p18">
                  <a:extLst>
                    <a:ext uri="{FF2B5EF4-FFF2-40B4-BE49-F238E27FC236}">
                      <a16:creationId xmlns:a16="http://schemas.microsoft.com/office/drawing/2014/main" id="{A99C5623-6C0A-3BD6-A77B-03A60440F45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362;p18">
                  <a:extLst>
                    <a:ext uri="{FF2B5EF4-FFF2-40B4-BE49-F238E27FC236}">
                      <a16:creationId xmlns:a16="http://schemas.microsoft.com/office/drawing/2014/main" id="{5F47F9C4-4DBD-FA35-4885-C83724B3C1C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363;p18">
                  <a:extLst>
                    <a:ext uri="{FF2B5EF4-FFF2-40B4-BE49-F238E27FC236}">
                      <a16:creationId xmlns:a16="http://schemas.microsoft.com/office/drawing/2014/main" id="{1382CF10-D82A-63D6-F57D-B223C21AC872}"/>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1" name="Google Shape;364;p18">
                  <a:extLst>
                    <a:ext uri="{FF2B5EF4-FFF2-40B4-BE49-F238E27FC236}">
                      <a16:creationId xmlns:a16="http://schemas.microsoft.com/office/drawing/2014/main" id="{04D767A9-988A-E1E8-B5BD-CC6F9708413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365;p18">
                  <a:extLst>
                    <a:ext uri="{FF2B5EF4-FFF2-40B4-BE49-F238E27FC236}">
                      <a16:creationId xmlns:a16="http://schemas.microsoft.com/office/drawing/2014/main" id="{BF2269CD-E70D-E535-DC24-6ADDF1FF9B5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366;p18">
                  <a:extLst>
                    <a:ext uri="{FF2B5EF4-FFF2-40B4-BE49-F238E27FC236}">
                      <a16:creationId xmlns:a16="http://schemas.microsoft.com/office/drawing/2014/main" id="{E0E375EE-4DFB-859B-C167-5AED8EE60D51}"/>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24" name="Google Shape;377;p18">
              <a:extLst>
                <a:ext uri="{FF2B5EF4-FFF2-40B4-BE49-F238E27FC236}">
                  <a16:creationId xmlns:a16="http://schemas.microsoft.com/office/drawing/2014/main" id="{158091A1-A992-A44F-32D0-60AD6A48AE76}"/>
                </a:ext>
              </a:extLst>
            </p:cNvPr>
            <p:cNvGrpSpPr/>
            <p:nvPr/>
          </p:nvGrpSpPr>
          <p:grpSpPr>
            <a:xfrm>
              <a:off x="2794403" y="5473577"/>
              <a:ext cx="588585" cy="570766"/>
              <a:chOff x="3021975" y="2389850"/>
              <a:chExt cx="307200" cy="297900"/>
            </a:xfrm>
          </p:grpSpPr>
          <p:sp>
            <p:nvSpPr>
              <p:cNvPr id="425" name="Google Shape;378;p18">
                <a:extLst>
                  <a:ext uri="{FF2B5EF4-FFF2-40B4-BE49-F238E27FC236}">
                    <a16:creationId xmlns:a16="http://schemas.microsoft.com/office/drawing/2014/main" id="{331075D9-F09C-54A4-F06C-69D15A22C019}"/>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6" name="Google Shape;379;p18">
                <a:extLst>
                  <a:ext uri="{FF2B5EF4-FFF2-40B4-BE49-F238E27FC236}">
                    <a16:creationId xmlns:a16="http://schemas.microsoft.com/office/drawing/2014/main" id="{D67DB1C7-4153-93A6-B709-950ACE587542}"/>
                  </a:ext>
                </a:extLst>
              </p:cNvPr>
              <p:cNvGrpSpPr/>
              <p:nvPr/>
            </p:nvGrpSpPr>
            <p:grpSpPr>
              <a:xfrm>
                <a:off x="3021975" y="2389850"/>
                <a:ext cx="307200" cy="295800"/>
                <a:chOff x="3021975" y="2389850"/>
                <a:chExt cx="307200" cy="295800"/>
              </a:xfrm>
            </p:grpSpPr>
            <p:sp>
              <p:nvSpPr>
                <p:cNvPr id="427" name="Google Shape;380;p18">
                  <a:extLst>
                    <a:ext uri="{FF2B5EF4-FFF2-40B4-BE49-F238E27FC236}">
                      <a16:creationId xmlns:a16="http://schemas.microsoft.com/office/drawing/2014/main" id="{13DC02F9-C69B-5F11-3145-A57893B0AB1C}"/>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381;p18">
                  <a:extLst>
                    <a:ext uri="{FF2B5EF4-FFF2-40B4-BE49-F238E27FC236}">
                      <a16:creationId xmlns:a16="http://schemas.microsoft.com/office/drawing/2014/main" id="{D91AB70F-4781-69C4-5652-0166A685A92A}"/>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9" name="Google Shape;382;p18">
                  <a:extLst>
                    <a:ext uri="{FF2B5EF4-FFF2-40B4-BE49-F238E27FC236}">
                      <a16:creationId xmlns:a16="http://schemas.microsoft.com/office/drawing/2014/main" id="{AAF4AC9F-CF23-8817-C13B-23A8FD1F2B60}"/>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383;p18">
                  <a:extLst>
                    <a:ext uri="{FF2B5EF4-FFF2-40B4-BE49-F238E27FC236}">
                      <a16:creationId xmlns:a16="http://schemas.microsoft.com/office/drawing/2014/main" id="{73E9F581-41AC-2E64-9083-B6B4E7A2D09F}"/>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1" name="Google Shape;384;p18">
                  <a:extLst>
                    <a:ext uri="{FF2B5EF4-FFF2-40B4-BE49-F238E27FC236}">
                      <a16:creationId xmlns:a16="http://schemas.microsoft.com/office/drawing/2014/main" id="{37E6CD24-DA65-F4F1-EE56-1606C8AF8559}"/>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2" name="Google Shape;385;p18">
                  <a:extLst>
                    <a:ext uri="{FF2B5EF4-FFF2-40B4-BE49-F238E27FC236}">
                      <a16:creationId xmlns:a16="http://schemas.microsoft.com/office/drawing/2014/main" id="{51732094-C4B3-4BC4-2710-1FBE6930C30C}"/>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386;p18">
                  <a:extLst>
                    <a:ext uri="{FF2B5EF4-FFF2-40B4-BE49-F238E27FC236}">
                      <a16:creationId xmlns:a16="http://schemas.microsoft.com/office/drawing/2014/main" id="{D5EAA9B2-ADA6-2EBC-D6FB-4FE6E044226C}"/>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7;p18">
                  <a:extLst>
                    <a:ext uri="{FF2B5EF4-FFF2-40B4-BE49-F238E27FC236}">
                      <a16:creationId xmlns:a16="http://schemas.microsoft.com/office/drawing/2014/main" id="{1FF40EE5-D303-4FCF-44DA-97C59E455797}"/>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35" name="Google Shape;375;p18">
              <a:extLst>
                <a:ext uri="{FF2B5EF4-FFF2-40B4-BE49-F238E27FC236}">
                  <a16:creationId xmlns:a16="http://schemas.microsoft.com/office/drawing/2014/main" id="{BC92B6FA-E886-B65F-BB8E-C7F2F792D4FB}"/>
                </a:ext>
              </a:extLst>
            </p:cNvPr>
            <p:cNvSpPr txBox="1"/>
            <p:nvPr/>
          </p:nvSpPr>
          <p:spPr>
            <a:xfrm>
              <a:off x="2688034" y="5171778"/>
              <a:ext cx="1294618" cy="343049"/>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Mailing List</a:t>
              </a:r>
              <a:endParaRPr dirty="0">
                <a:solidFill>
                  <a:schemeClr val="dk2"/>
                </a:solidFill>
                <a:latin typeface="Source Sans 3"/>
                <a:ea typeface="Source Sans 3"/>
                <a:cs typeface="Source Sans 3"/>
                <a:sym typeface="Source Sans 3"/>
              </a:endParaRPr>
            </a:p>
          </p:txBody>
        </p:sp>
      </p:grpSp>
      <p:sp>
        <p:nvSpPr>
          <p:cNvPr id="437" name="Line">
            <a:extLst>
              <a:ext uri="{FF2B5EF4-FFF2-40B4-BE49-F238E27FC236}">
                <a16:creationId xmlns:a16="http://schemas.microsoft.com/office/drawing/2014/main" id="{A4D5BFAD-5E56-58AE-C943-C3ACC5FEB28E}"/>
              </a:ext>
            </a:extLst>
          </p:cNvPr>
          <p:cNvSpPr/>
          <p:nvPr/>
        </p:nvSpPr>
        <p:spPr>
          <a:xfrm flipV="1">
            <a:off x="170343" y="6961229"/>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82" name="Logistics"/>
          <p:cNvSpPr txBox="1"/>
          <p:nvPr/>
        </p:nvSpPr>
        <p:spPr>
          <a:xfrm>
            <a:off x="199939" y="7137651"/>
            <a:ext cx="316112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Analysis Configurations</a:t>
            </a:r>
          </a:p>
        </p:txBody>
      </p:sp>
      <p:sp>
        <p:nvSpPr>
          <p:cNvPr id="441" name="Use headers, colors, and/or backgrounds to separate or group together sections.">
            <a:extLst>
              <a:ext uri="{FF2B5EF4-FFF2-40B4-BE49-F238E27FC236}">
                <a16:creationId xmlns:a16="http://schemas.microsoft.com/office/drawing/2014/main" id="{77F13F8D-AC74-126C-FDAC-890383B533ED}"/>
              </a:ext>
            </a:extLst>
          </p:cNvPr>
          <p:cNvSpPr txBox="1"/>
          <p:nvPr/>
        </p:nvSpPr>
        <p:spPr>
          <a:xfrm>
            <a:off x="143525" y="7620809"/>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analysis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yml</a:t>
            </a:r>
            <a:r>
              <a:rPr lang="en-US" b="0" i="0" u="none" strike="noStrike" dirty="0">
                <a:solidFill>
                  <a:srgbClr val="000000"/>
                </a:solidFill>
                <a:effectLst/>
                <a:latin typeface="Source Sans Pro" panose="020B0503030403020204" pitchFamily="34" charset="0"/>
                <a:ea typeface="Source Sans Pro" panose="020B0503030403020204" pitchFamily="34" charset="0"/>
              </a:rPr>
              <a:t> files define mutable data, such as filters and tool parameters (e.g. depends,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uctags</a:t>
            </a:r>
            <a:r>
              <a:rPr lang="en-US" b="0" i="0" u="none" strike="noStrike" dirty="0">
                <a:solidFill>
                  <a:srgbClr val="000000"/>
                </a:solidFill>
                <a:effectLst/>
                <a:latin typeface="Source Sans Pro" panose="020B0503030403020204" pitchFamily="34" charset="0"/>
                <a:ea typeface="Source Sans Pro" panose="020B0503030403020204" pitchFamily="34" charset="0"/>
              </a:rPr>
              <a:t>).</a:t>
            </a:r>
          </a:p>
        </p:txBody>
      </p:sp>
      <p:pic>
        <p:nvPicPr>
          <p:cNvPr id="447" name="Graphic 446" descr="Pie chart outline">
            <a:extLst>
              <a:ext uri="{FF2B5EF4-FFF2-40B4-BE49-F238E27FC236}">
                <a16:creationId xmlns:a16="http://schemas.microsoft.com/office/drawing/2014/main" id="{74EA73B7-5E62-A813-7112-01337EED61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3903" y="8167283"/>
            <a:ext cx="914400" cy="914400"/>
          </a:xfrm>
          <a:prstGeom prst="rect">
            <a:avLst/>
          </a:prstGeom>
        </p:spPr>
      </p:pic>
      <p:pic>
        <p:nvPicPr>
          <p:cNvPr id="769" name="Graphic 768" descr="Bar chart outline">
            <a:extLst>
              <a:ext uri="{FF2B5EF4-FFF2-40B4-BE49-F238E27FC236}">
                <a16:creationId xmlns:a16="http://schemas.microsoft.com/office/drawing/2014/main" id="{CDABCBFB-46BA-124A-A813-E1BFC10F2D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84673" y="8167283"/>
            <a:ext cx="914400" cy="914400"/>
          </a:xfrm>
          <a:prstGeom prst="rect">
            <a:avLst/>
          </a:prstGeom>
        </p:spPr>
      </p:pic>
      <p:sp>
        <p:nvSpPr>
          <p:cNvPr id="770" name="Use headers, colors, and/or backgrounds to separate or group together sections.">
            <a:extLst>
              <a:ext uri="{FF2B5EF4-FFF2-40B4-BE49-F238E27FC236}">
                <a16:creationId xmlns:a16="http://schemas.microsoft.com/office/drawing/2014/main" id="{8E755C98-FF52-BCA7-5637-6CB70001CCC7}"/>
              </a:ext>
            </a:extLst>
          </p:cNvPr>
          <p:cNvSpPr txBox="1"/>
          <p:nvPr/>
        </p:nvSpPr>
        <p:spPr>
          <a:xfrm>
            <a:off x="146774" y="9332063"/>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can be reused across different projects and define how data is analyzed.</a:t>
            </a:r>
          </a:p>
        </p:txBody>
      </p:sp>
      <p:sp>
        <p:nvSpPr>
          <p:cNvPr id="773" name="Use headers, colors, and/or backgrounds to separate or group together sections.">
            <a:extLst>
              <a:ext uri="{FF2B5EF4-FFF2-40B4-BE49-F238E27FC236}">
                <a16:creationId xmlns:a16="http://schemas.microsoft.com/office/drawing/2014/main" id="{02CDCA9D-BE29-E33B-29A4-8D3BB50C1D5E}"/>
              </a:ext>
            </a:extLst>
          </p:cNvPr>
          <p:cNvSpPr txBox="1"/>
          <p:nvPr/>
        </p:nvSpPr>
        <p:spPr>
          <a:xfrm>
            <a:off x="4907657" y="6394349"/>
            <a:ext cx="4159162" cy="34218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Project configuration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(1) can be combined with any </a:t>
            </a:r>
            <a:r>
              <a:rPr lang="en-US" b="0" dirty="0" err="1">
                <a:solidFill>
                  <a:srgbClr val="000000"/>
                </a:solidFill>
                <a:latin typeface="Source Sans Pro" panose="020B0503030403020204" pitchFamily="34" charset="0"/>
                <a:ea typeface="Source Sans Pro" panose="020B0503030403020204" pitchFamily="34" charset="0"/>
              </a:rPr>
              <a:t>any</a:t>
            </a:r>
            <a:r>
              <a:rPr lang="en-US" b="0" dirty="0">
                <a:solidFill>
                  <a:srgbClr val="000000"/>
                </a:solidFill>
                <a:latin typeface="Source Sans Pro" panose="020B0503030403020204" pitchFamily="34" charset="0"/>
                <a:ea typeface="Source Sans Pro" panose="020B0503030403020204" pitchFamily="34" charset="0"/>
              </a:rPr>
              <a:t> analysis configuration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(2). This allows users to run the same analysis on multiple project or run different analyses on the same project. It reduces duplication of immutable sections of the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and make both project and analysis configurations interchangeable.</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notebooks (3), configuration files can be found near the beginning of the file. The notebook parses (1) and (2) and gets the values of the parameters with get functions. This allows users to modify parameters in the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instead of the notebooks.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executables (4), both (1) and (2) are passed directly as arguments through the command line. The script runs the selected configuration without modification. Although using executables make (1) and (2) fixed during execution, the pros to using it versus notebooks is that it can run on server side and doesn’t require knowledge of R. </a:t>
            </a:r>
          </a:p>
        </p:txBody>
      </p:sp>
      <p:grpSp>
        <p:nvGrpSpPr>
          <p:cNvPr id="777" name="Group 776">
            <a:extLst>
              <a:ext uri="{FF2B5EF4-FFF2-40B4-BE49-F238E27FC236}">
                <a16:creationId xmlns:a16="http://schemas.microsoft.com/office/drawing/2014/main" id="{E18BF888-AB8A-BD9F-62EF-4F59656296B5}"/>
              </a:ext>
            </a:extLst>
          </p:cNvPr>
          <p:cNvGrpSpPr/>
          <p:nvPr/>
        </p:nvGrpSpPr>
        <p:grpSpPr>
          <a:xfrm>
            <a:off x="9601060" y="2500544"/>
            <a:ext cx="4177348" cy="2391275"/>
            <a:chOff x="9601060" y="2500544"/>
            <a:chExt cx="4177348" cy="2391275"/>
          </a:xfrm>
        </p:grpSpPr>
        <p:sp>
          <p:nvSpPr>
            <p:cNvPr id="46" name="Logistics">
              <a:extLst>
                <a:ext uri="{FF2B5EF4-FFF2-40B4-BE49-F238E27FC236}">
                  <a16:creationId xmlns:a16="http://schemas.microsoft.com/office/drawing/2014/main" id="{CFC6975B-CE08-215E-9051-A8F0A3BA40BC}"/>
                </a:ext>
              </a:extLst>
            </p:cNvPr>
            <p:cNvSpPr txBox="1"/>
            <p:nvPr/>
          </p:nvSpPr>
          <p:spPr>
            <a:xfrm>
              <a:off x="9606269" y="2500544"/>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Project</a:t>
              </a:r>
            </a:p>
          </p:txBody>
        </p:sp>
        <p:sp>
          <p:nvSpPr>
            <p:cNvPr id="500" name="TextBox 499">
              <a:extLst>
                <a:ext uri="{FF2B5EF4-FFF2-40B4-BE49-F238E27FC236}">
                  <a16:creationId xmlns:a16="http://schemas.microsoft.com/office/drawing/2014/main" id="{7868D5CB-AE5E-6D08-E1DE-C8B367CCB875}"/>
                </a:ext>
              </a:extLst>
            </p:cNvPr>
            <p:cNvSpPr txBox="1"/>
            <p:nvPr/>
          </p:nvSpPr>
          <p:spPr>
            <a:xfrm>
              <a:off x="9601060" y="3022157"/>
              <a:ext cx="4177348" cy="1869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get_git_repo_path</a:t>
              </a:r>
              <a:r>
                <a:rPr lang="en-US" sz="1300" dirty="0"/>
                <a:t>()</a:t>
              </a:r>
            </a:p>
            <a:p>
              <a:r>
                <a:rPr lang="en-US" b="0" dirty="0"/>
                <a:t>Returns the local path  of the project’s Git repository. </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get_git_branches</a:t>
              </a:r>
              <a:r>
                <a:rPr lang="en-US" sz="1300" dirty="0"/>
                <a:t>()</a:t>
              </a:r>
            </a:p>
            <a:p>
              <a:r>
                <a:rPr lang="en-US" b="0" dirty="0"/>
                <a:t>Retrieves the branches specified in the config.</a:t>
              </a:r>
            </a:p>
            <a:p>
              <a:endParaRPr lang="en-US" sz="1400" dirty="0"/>
            </a:p>
            <a:p>
              <a:pPr marL="0" marR="0" indent="0" algn="l" defTabSz="584200" rtl="0" fontAlgn="auto" latinLnBrk="0" hangingPunct="0">
                <a:lnSpc>
                  <a:spcPct val="100000"/>
                </a:lnSpc>
                <a:spcBef>
                  <a:spcPts val="200"/>
                </a:spcBef>
                <a:spcAft>
                  <a:spcPts val="0"/>
                </a:spcAft>
                <a:buClrTx/>
                <a:buSzTx/>
                <a:buFontTx/>
                <a:buNone/>
                <a:tabLst/>
              </a:pPr>
              <a:r>
                <a:rPr lang="en-US" sz="1300" dirty="0"/>
                <a:t>3. </a:t>
              </a:r>
              <a:r>
                <a:rPr lang="en-US" sz="1300" dirty="0" err="1"/>
                <a:t>get_jira_project_key_name</a:t>
              </a:r>
              <a:r>
                <a:rPr lang="en-US" sz="1300" dirty="0"/>
                <a:t>()</a:t>
              </a:r>
            </a:p>
            <a:p>
              <a:pPr marL="0" marR="0" indent="0" algn="l" defTabSz="584200" rtl="0" fontAlgn="auto" latinLnBrk="0" hangingPunct="0">
                <a:lnSpc>
                  <a:spcPct val="100000"/>
                </a:lnSpc>
                <a:spcBef>
                  <a:spcPts val="200"/>
                </a:spcBef>
                <a:spcAft>
                  <a:spcPts val="0"/>
                </a:spcAft>
                <a:buClrTx/>
                <a:buSzTx/>
                <a:buFontTx/>
                <a:buNone/>
                <a:tabLst/>
              </a:pPr>
              <a:r>
                <a:rPr lang="en-US" b="0" dirty="0"/>
                <a:t>Identifies the project key used to query issues in Jira.</a:t>
              </a:r>
            </a:p>
          </p:txBody>
        </p:sp>
        <p:sp>
          <p:nvSpPr>
            <p:cNvPr id="776" name="Create a visual hierarchy. Help users navigate the page with titles, subtitles, and subsubtitles">
              <a:extLst>
                <a:ext uri="{FF2B5EF4-FFF2-40B4-BE49-F238E27FC236}">
                  <a16:creationId xmlns:a16="http://schemas.microsoft.com/office/drawing/2014/main" id="{867FC65A-BF33-D87F-350A-5A1149CB43E0}"/>
                </a:ext>
              </a:extLst>
            </p:cNvPr>
            <p:cNvSpPr txBox="1"/>
            <p:nvPr/>
          </p:nvSpPr>
          <p:spPr>
            <a:xfrm>
              <a:off x="9628667" y="2812291"/>
              <a:ext cx="4001355"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Here are some common APIs found in (1).</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grpSp>
        <p:nvGrpSpPr>
          <p:cNvPr id="778" name="Group 777">
            <a:extLst>
              <a:ext uri="{FF2B5EF4-FFF2-40B4-BE49-F238E27FC236}">
                <a16:creationId xmlns:a16="http://schemas.microsoft.com/office/drawing/2014/main" id="{D8AFACC7-96E7-611C-5DD6-D7EF77B0137B}"/>
              </a:ext>
            </a:extLst>
          </p:cNvPr>
          <p:cNvGrpSpPr/>
          <p:nvPr/>
        </p:nvGrpSpPr>
        <p:grpSpPr>
          <a:xfrm>
            <a:off x="9592713" y="5040911"/>
            <a:ext cx="4177348" cy="2632202"/>
            <a:chOff x="9601060" y="2500544"/>
            <a:chExt cx="4177348" cy="2632202"/>
          </a:xfrm>
        </p:grpSpPr>
        <p:sp>
          <p:nvSpPr>
            <p:cNvPr id="779" name="Logistics">
              <a:extLst>
                <a:ext uri="{FF2B5EF4-FFF2-40B4-BE49-F238E27FC236}">
                  <a16:creationId xmlns:a16="http://schemas.microsoft.com/office/drawing/2014/main" id="{647B49CD-DC0D-011F-C55A-B95F8B182F17}"/>
                </a:ext>
              </a:extLst>
            </p:cNvPr>
            <p:cNvSpPr txBox="1"/>
            <p:nvPr/>
          </p:nvSpPr>
          <p:spPr>
            <a:xfrm>
              <a:off x="9606269" y="2500544"/>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Analysis</a:t>
              </a:r>
            </a:p>
          </p:txBody>
        </p:sp>
        <p:sp>
          <p:nvSpPr>
            <p:cNvPr id="780" name="TextBox 779">
              <a:extLst>
                <a:ext uri="{FF2B5EF4-FFF2-40B4-BE49-F238E27FC236}">
                  <a16:creationId xmlns:a16="http://schemas.microsoft.com/office/drawing/2014/main" id="{B50DF6F5-2C3E-ED2B-B715-3C96CF0FA777}"/>
                </a:ext>
              </a:extLst>
            </p:cNvPr>
            <p:cNvSpPr txBox="1"/>
            <p:nvPr/>
          </p:nvSpPr>
          <p:spPr>
            <a:xfrm>
              <a:off x="9601060" y="3078418"/>
              <a:ext cx="4177348" cy="2054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get_file_extension</a:t>
              </a:r>
              <a:r>
                <a:rPr lang="en-US" sz="1300" dirty="0"/>
                <a:t>()</a:t>
              </a:r>
            </a:p>
            <a:p>
              <a:r>
                <a:rPr lang="en-US" b="0" dirty="0"/>
                <a:t>Returns file types (e.g. c, java) used to filter source files.</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get_substring_filepath</a:t>
              </a:r>
              <a:r>
                <a:rPr lang="en-US" sz="1300" dirty="0"/>
                <a:t>()</a:t>
              </a:r>
            </a:p>
            <a:p>
              <a:r>
                <a:rPr lang="en-US" b="0" dirty="0"/>
                <a:t>Returns keywords used to exclude certain file paths.</a:t>
              </a:r>
            </a:p>
            <a:p>
              <a:endParaRPr lang="en-US" sz="1400" dirty="0"/>
            </a:p>
            <a:p>
              <a:pPr marL="0" marR="0" indent="0" algn="l" defTabSz="584200" rtl="0" fontAlgn="auto" latinLnBrk="0" hangingPunct="0">
                <a:lnSpc>
                  <a:spcPct val="100000"/>
                </a:lnSpc>
                <a:spcBef>
                  <a:spcPts val="200"/>
                </a:spcBef>
                <a:spcAft>
                  <a:spcPts val="0"/>
                </a:spcAft>
                <a:buClrTx/>
                <a:buSzTx/>
                <a:buFontTx/>
                <a:buNone/>
                <a:tabLst/>
              </a:pPr>
              <a:r>
                <a:rPr lang="en-US" sz="1300" dirty="0"/>
                <a:t>3. </a:t>
              </a:r>
              <a:r>
                <a:rPr lang="en-US" sz="1300" dirty="0" err="1"/>
                <a:t>get_dependencies_type</a:t>
              </a:r>
              <a:r>
                <a:rPr lang="en-US" sz="1300" dirty="0"/>
                <a:t>()</a:t>
              </a:r>
            </a:p>
            <a:p>
              <a:pPr marL="0" marR="0" indent="0" algn="l" defTabSz="584200" rtl="0" fontAlgn="auto" latinLnBrk="0" hangingPunct="0">
                <a:lnSpc>
                  <a:spcPct val="100000"/>
                </a:lnSpc>
                <a:spcBef>
                  <a:spcPts val="200"/>
                </a:spcBef>
                <a:spcAft>
                  <a:spcPts val="0"/>
                </a:spcAft>
                <a:buClrTx/>
                <a:buSzTx/>
                <a:buFontTx/>
                <a:buNone/>
                <a:tabLst/>
              </a:pPr>
              <a:r>
                <a:rPr lang="en-US" b="0" dirty="0"/>
                <a:t>Specifies which types of dependencies (e.g. imports, function calls).</a:t>
              </a:r>
            </a:p>
          </p:txBody>
        </p:sp>
        <p:sp>
          <p:nvSpPr>
            <p:cNvPr id="781" name="Create a visual hierarchy. Help users navigate the page with titles, subtitles, and subsubtitles">
              <a:extLst>
                <a:ext uri="{FF2B5EF4-FFF2-40B4-BE49-F238E27FC236}">
                  <a16:creationId xmlns:a16="http://schemas.microsoft.com/office/drawing/2014/main" id="{369DE520-8B0A-06AD-A71B-0BE1967A01AC}"/>
                </a:ext>
              </a:extLst>
            </p:cNvPr>
            <p:cNvSpPr txBox="1"/>
            <p:nvPr/>
          </p:nvSpPr>
          <p:spPr>
            <a:xfrm>
              <a:off x="9628667" y="2812291"/>
              <a:ext cx="4001355"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Here are some common APIs found in (2).</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sp>
        <p:nvSpPr>
          <p:cNvPr id="782" name="Rectangle 781">
            <a:extLst>
              <a:ext uri="{FF2B5EF4-FFF2-40B4-BE49-F238E27FC236}">
                <a16:creationId xmlns:a16="http://schemas.microsoft.com/office/drawing/2014/main" id="{6CC2B7D0-AA7D-7FD1-37C9-F265ABD5B76D}"/>
              </a:ext>
            </a:extLst>
          </p:cNvPr>
          <p:cNvSpPr/>
          <p:nvPr/>
        </p:nvSpPr>
        <p:spPr>
          <a:xfrm>
            <a:off x="4883621" y="2012501"/>
            <a:ext cx="422051" cy="190715"/>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3" name="TextBox 782">
            <a:extLst>
              <a:ext uri="{FF2B5EF4-FFF2-40B4-BE49-F238E27FC236}">
                <a16:creationId xmlns:a16="http://schemas.microsoft.com/office/drawing/2014/main" id="{0932DA16-9632-41ED-2156-18AEB3BF3D86}"/>
              </a:ext>
            </a:extLst>
          </p:cNvPr>
          <p:cNvSpPr txBox="1"/>
          <p:nvPr/>
        </p:nvSpPr>
        <p:spPr>
          <a:xfrm>
            <a:off x="4883621" y="1933330"/>
            <a:ext cx="3859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784" name="TextBox 783">
            <a:extLst>
              <a:ext uri="{FF2B5EF4-FFF2-40B4-BE49-F238E27FC236}">
                <a16:creationId xmlns:a16="http://schemas.microsoft.com/office/drawing/2014/main" id="{8C1AA67A-105F-3AC1-8E71-CC2DF37F0020}"/>
              </a:ext>
            </a:extLst>
          </p:cNvPr>
          <p:cNvSpPr txBox="1"/>
          <p:nvPr/>
        </p:nvSpPr>
        <p:spPr>
          <a:xfrm rot="5400000">
            <a:off x="7861599" y="4323529"/>
            <a:ext cx="1453851"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t>project1.yml + </a:t>
            </a:r>
            <a:r>
              <a:rPr lang="en-US" sz="1000" dirty="0" err="1"/>
              <a:t>analysisB.yml</a:t>
            </a:r>
            <a:endPar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130875114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27155-A6A8-79AC-4CC5-71DB7FC159D7}"/>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6F415306-75C8-16A3-9483-191B6D926532}"/>
              </a:ext>
            </a:extLst>
          </p:cNvPr>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312" name="Line">
            <a:extLst>
              <a:ext uri="{FF2B5EF4-FFF2-40B4-BE49-F238E27FC236}">
                <a16:creationId xmlns:a16="http://schemas.microsoft.com/office/drawing/2014/main" id="{55C0DA11-EA13-ECCD-E8FC-C2244D7A2DC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91725415-BA7B-2A00-6C6D-B63974809433}"/>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5F1E95BA-02A6-1B69-23C2-62F52E292433}"/>
              </a:ext>
            </a:extLst>
          </p:cNvPr>
          <p:cNvSpPr txBox="1"/>
          <p:nvPr/>
        </p:nvSpPr>
        <p:spPr>
          <a:xfrm>
            <a:off x="9576575" y="1412171"/>
            <a:ext cx="139461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Config API</a:t>
            </a:r>
          </a:p>
        </p:txBody>
      </p:sp>
      <p:sp>
        <p:nvSpPr>
          <p:cNvPr id="334" name="Three Column Layout: : CHEAT SHEET">
            <a:extLst>
              <a:ext uri="{FF2B5EF4-FFF2-40B4-BE49-F238E27FC236}">
                <a16:creationId xmlns:a16="http://schemas.microsoft.com/office/drawing/2014/main" id="{6C5E9C8A-7E2E-BE6B-856B-9AD62F565458}"/>
              </a:ext>
            </a:extLst>
          </p:cNvPr>
          <p:cNvSpPr txBox="1">
            <a:spLocks noGrp="1"/>
          </p:cNvSpPr>
          <p:nvPr>
            <p:ph type="title"/>
          </p:nvPr>
        </p:nvSpPr>
        <p:spPr>
          <a:xfrm>
            <a:off x="275721" y="361177"/>
            <a:ext cx="10898129" cy="803346"/>
          </a:xfrm>
          <a:prstGeom prst="rect">
            <a:avLst/>
          </a:prstGeom>
        </p:spPr>
        <p:txBody>
          <a:bodyPr lIns="0" tIns="0" rIns="0" bIns="0" anchor="t">
            <a:normAutofit/>
          </a:bodyPr>
          <a:lstStyle/>
          <a:p>
            <a:r>
              <a:rPr lang="en-US" dirty="0"/>
              <a:t>Configurations (.</a:t>
            </a:r>
            <a:r>
              <a:rPr lang="en-US" dirty="0" err="1"/>
              <a:t>yml</a:t>
            </a:r>
            <a:r>
              <a:rPr lang="en-US" dirty="0"/>
              <a: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E0AD8A13-A657-B84E-3C08-93B7630A94E8}"/>
              </a:ext>
            </a:extLst>
          </p:cNvPr>
          <p:cNvSpPr txBox="1"/>
          <p:nvPr/>
        </p:nvSpPr>
        <p:spPr>
          <a:xfrm>
            <a:off x="143526" y="1855171"/>
            <a:ext cx="3949153" cy="18491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err="1">
                <a:solidFill>
                  <a:srgbClr val="000000"/>
                </a:solidFill>
                <a:effectLst/>
                <a:latin typeface="Source Sans Pro" panose="020B0503030403020204" pitchFamily="34" charset="0"/>
                <a:ea typeface="Source Sans Pro" panose="020B0503030403020204" pitchFamily="34" charset="0"/>
              </a:rPr>
              <a:t>Kaiaulu</a:t>
            </a:r>
            <a:r>
              <a:rPr lang="en-US" b="0" i="0" u="none" strike="noStrike" dirty="0">
                <a:solidFill>
                  <a:srgbClr val="000000"/>
                </a:solidFill>
                <a:effectLst/>
                <a:latin typeface="Source Sans Pro" panose="020B0503030403020204" pitchFamily="34" charset="0"/>
                <a:ea typeface="Source Sans Pro" panose="020B0503030403020204" pitchFamily="34" charset="0"/>
              </a:rPr>
              <a:t> uses configuration files to store data parameters that are used to run analyses. Instead of having these values in notebooks or scripts, these configuration files lets users reuse same workflows across different projects and analyses.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By splitting the configurations into </a:t>
            </a:r>
            <a:r>
              <a:rPr lang="en-US" b="0" dirty="0">
                <a:solidFill>
                  <a:schemeClr val="accent2"/>
                </a:solidFill>
                <a:latin typeface="Source Sans Pro" panose="020B0503030403020204" pitchFamily="34" charset="0"/>
                <a:ea typeface="Source Sans Pro" panose="020B0503030403020204" pitchFamily="34" charset="0"/>
                <a:sym typeface="Source Sans Pro Light"/>
              </a:rPr>
              <a:t>project (1)</a:t>
            </a:r>
            <a:r>
              <a:rPr lang="en-US" b="0" dirty="0">
                <a:solidFill>
                  <a:srgbClr val="000000"/>
                </a:solidFill>
                <a:latin typeface="Source Sans Pro" panose="020B0503030403020204" pitchFamily="34" charset="0"/>
                <a:ea typeface="Source Sans Pro" panose="020B0503030403020204" pitchFamily="34" charset="0"/>
                <a:sym typeface="Source Sans Pro Light"/>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and </a:t>
            </a:r>
            <a:r>
              <a:rPr lang="en-US" b="0" dirty="0">
                <a:solidFill>
                  <a:schemeClr val="accent5"/>
                </a:solidFill>
                <a:latin typeface="Source Sans Pro" panose="020B0503030403020204" pitchFamily="34" charset="0"/>
                <a:ea typeface="Source Sans Pro" panose="020B0503030403020204" pitchFamily="34" charset="0"/>
                <a:sym typeface="Source Sans Pro Light"/>
              </a:rPr>
              <a:t>analysis (2)</a:t>
            </a:r>
            <a:r>
              <a:rPr lang="en-US" b="0" dirty="0">
                <a:solidFill>
                  <a:srgbClr val="000000"/>
                </a:solidFill>
                <a:latin typeface="Source Sans Pro" panose="020B0503030403020204" pitchFamily="34" charset="0"/>
                <a:ea typeface="Source Sans Pro" panose="020B0503030403020204" pitchFamily="34" charset="0"/>
                <a:sym typeface="Source Sans Pro Light"/>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yml</a:t>
            </a:r>
            <a:r>
              <a:rPr lang="en-US" b="0" i="0" u="none" strike="noStrike" dirty="0">
                <a:solidFill>
                  <a:srgbClr val="000000"/>
                </a:solidFill>
                <a:effectLst/>
                <a:latin typeface="Source Sans Pro" panose="020B0503030403020204" pitchFamily="34" charset="0"/>
                <a:ea typeface="Source Sans Pro" panose="020B0503030403020204" pitchFamily="34" charset="0"/>
              </a:rPr>
              <a:t> files, it reduces the duplication of data parameters and allows users to mix and match different project and analysis configs.</a:t>
            </a:r>
          </a:p>
        </p:txBody>
      </p:sp>
      <p:sp>
        <p:nvSpPr>
          <p:cNvPr id="342" name="Create a visual hierarchy. Help users navigate the page with titles, subtitles, and subsubtitles">
            <a:extLst>
              <a:ext uri="{FF2B5EF4-FFF2-40B4-BE49-F238E27FC236}">
                <a16:creationId xmlns:a16="http://schemas.microsoft.com/office/drawing/2014/main" id="{5B0661A2-3FF1-440B-C146-A69C5476D9BF}"/>
              </a:ext>
            </a:extLst>
          </p:cNvPr>
          <p:cNvSpPr txBox="1"/>
          <p:nvPr/>
        </p:nvSpPr>
        <p:spPr>
          <a:xfrm>
            <a:off x="9584561" y="1793256"/>
            <a:ext cx="4001355"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err="1">
                <a:latin typeface="Source Sans Pro" panose="020B0503030403020204" pitchFamily="34" charset="0"/>
                <a:ea typeface="Source Sans Pro" panose="020B0503030403020204" pitchFamily="34" charset="0"/>
                <a:sym typeface="Source Sans Pro"/>
              </a:rPr>
              <a:t>Kaiaulu</a:t>
            </a:r>
            <a:r>
              <a:rPr lang="en-US" dirty="0">
                <a:latin typeface="Source Sans Pro" panose="020B0503030403020204" pitchFamily="34" charset="0"/>
                <a:ea typeface="Source Sans Pro" panose="020B0503030403020204" pitchFamily="34" charset="0"/>
                <a:sym typeface="Source Sans Pro"/>
              </a:rPr>
              <a:t> uses get functions to extract values from configuration files. </a:t>
            </a:r>
            <a:r>
              <a:rPr lang="en-US" dirty="0">
                <a:latin typeface="Source Sans Pro" panose="020B0503030403020204" pitchFamily="34" charset="0"/>
                <a:ea typeface="Source Sans Pro" panose="020B0503030403020204" pitchFamily="34" charset="0"/>
              </a:rPr>
              <a:t>These functions allow notebooks and executables to access parameters in</a:t>
            </a:r>
            <a:r>
              <a:rPr lang="en-US" b="0" dirty="0">
                <a:solidFill>
                  <a:schemeClr val="accent2"/>
                </a:solidFill>
                <a:latin typeface="Source Sans Pro" panose="020B0503030403020204" pitchFamily="34" charset="0"/>
                <a:ea typeface="Source Sans Pro" panose="020B0503030403020204" pitchFamily="34" charset="0"/>
                <a:sym typeface="Source Sans Pro Light"/>
              </a:rPr>
              <a:t> project (1)</a:t>
            </a:r>
            <a:r>
              <a:rPr lang="en-US" b="0" dirty="0">
                <a:solidFill>
                  <a:srgbClr val="000000"/>
                </a:solidFill>
                <a:latin typeface="Source Sans Pro" panose="020B0503030403020204" pitchFamily="34" charset="0"/>
                <a:ea typeface="Source Sans Pro" panose="020B0503030403020204" pitchFamily="34" charset="0"/>
                <a:sym typeface="Source Sans Pro Light"/>
              </a:rPr>
              <a:t> and </a:t>
            </a:r>
            <a:r>
              <a:rPr lang="en-US" b="0" dirty="0">
                <a:solidFill>
                  <a:schemeClr val="accent5"/>
                </a:solidFill>
                <a:latin typeface="Source Sans Pro" panose="020B0503030403020204" pitchFamily="34" charset="0"/>
                <a:ea typeface="Source Sans Pro" panose="020B0503030403020204" pitchFamily="34" charset="0"/>
                <a:sym typeface="Source Sans Pro Light"/>
              </a:rPr>
              <a:t>analysis (2)</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a:t>
            </a:r>
            <a:endParaRPr lang="en-US" dirty="0">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814D3E72-4EE7-3657-57B8-AFA02039AE31}"/>
              </a:ext>
            </a:extLst>
          </p:cNvPr>
          <p:cNvSpPr txBox="1"/>
          <p:nvPr/>
        </p:nvSpPr>
        <p:spPr>
          <a:xfrm>
            <a:off x="146304" y="1453227"/>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B725A344-F230-5D68-839D-91A6C54B54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8681E1F0-9A20-C350-4142-9CD35D6B722E}"/>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Gi Young (Michelle) Back</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740" name="Basics">
            <a:extLst>
              <a:ext uri="{FF2B5EF4-FFF2-40B4-BE49-F238E27FC236}">
                <a16:creationId xmlns:a16="http://schemas.microsoft.com/office/drawing/2014/main" id="{0C1A8345-4CF1-DF95-878F-E29C01F14DD0}"/>
              </a:ext>
            </a:extLst>
          </p:cNvPr>
          <p:cNvSpPr txBox="1"/>
          <p:nvPr/>
        </p:nvSpPr>
        <p:spPr>
          <a:xfrm>
            <a:off x="155448" y="3942456"/>
            <a:ext cx="2006960" cy="340029"/>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lvl="1" indent="0">
              <a:lnSpc>
                <a:spcPct val="80000"/>
              </a:lnSpc>
              <a:spcBef>
                <a:spcPts val="0"/>
              </a:spcBef>
              <a:defRPr sz="2500" b="0">
                <a:solidFill>
                  <a:srgbClr val="628DB5"/>
                </a:solidFill>
              </a:defRPr>
            </a:pPr>
            <a:r>
              <a:rPr lang="en-US" dirty="0"/>
              <a:t>Configurations</a:t>
            </a:r>
            <a:endParaRPr dirty="0"/>
          </a:p>
        </p:txBody>
      </p:sp>
      <p:sp>
        <p:nvSpPr>
          <p:cNvPr id="7" name="Manipulate Variables">
            <a:extLst>
              <a:ext uri="{FF2B5EF4-FFF2-40B4-BE49-F238E27FC236}">
                <a16:creationId xmlns:a16="http://schemas.microsoft.com/office/drawing/2014/main" id="{EBFC7E51-110A-C1E6-9A76-8709AF0DFBDF}"/>
              </a:ext>
            </a:extLst>
          </p:cNvPr>
          <p:cNvSpPr txBox="1"/>
          <p:nvPr/>
        </p:nvSpPr>
        <p:spPr>
          <a:xfrm>
            <a:off x="9611008" y="7839453"/>
            <a:ext cx="248144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Temporal Analysis</a:t>
            </a:r>
          </a:p>
        </p:txBody>
      </p:sp>
      <p:sp>
        <p:nvSpPr>
          <p:cNvPr id="12" name="TextBox 11">
            <a:extLst>
              <a:ext uri="{FF2B5EF4-FFF2-40B4-BE49-F238E27FC236}">
                <a16:creationId xmlns:a16="http://schemas.microsoft.com/office/drawing/2014/main" id="{ECC34219-C78F-2E5D-0FA2-E3D1F3FF5600}"/>
              </a:ext>
            </a:extLst>
          </p:cNvPr>
          <p:cNvSpPr txBox="1"/>
          <p:nvPr/>
        </p:nvSpPr>
        <p:spPr>
          <a:xfrm>
            <a:off x="9585197" y="8191972"/>
            <a:ext cx="3968070"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Temporal parameters in </a:t>
            </a:r>
            <a:r>
              <a:rPr lang="en-US" b="0" dirty="0" err="1">
                <a:solidFill>
                  <a:schemeClr val="accent5"/>
                </a:solidFill>
                <a:sym typeface="Source Sans Pro Light"/>
              </a:rPr>
              <a:t>analysis.yml</a:t>
            </a:r>
            <a:r>
              <a:rPr lang="en-US" b="0" dirty="0">
                <a:solidFill>
                  <a:schemeClr val="accent5"/>
                </a:solidFill>
                <a:sym typeface="Source Sans Pro Light"/>
              </a:rPr>
              <a:t> files (2)</a:t>
            </a:r>
            <a:r>
              <a:rPr lang="en-US" b="0" dirty="0"/>
              <a:t> allow users to analyze a project over time. This allows users to compare data from different timestamps and observe changes and activity in code structure over time.</a:t>
            </a:r>
            <a:endParaRPr kumimoji="0" lang="en-US" b="0" i="0" u="none" strike="noStrike" cap="none" spc="0" normalizeH="0" baseline="0" dirty="0">
              <a:ln>
                <a:noFill/>
              </a:ln>
              <a:solidFill>
                <a:srgbClr val="4C4C4C"/>
              </a:solidFill>
              <a:effectLst/>
              <a:uFillTx/>
              <a:sym typeface="Source Sans Pro"/>
            </a:endParaRPr>
          </a:p>
        </p:txBody>
      </p:sp>
      <p:sp>
        <p:nvSpPr>
          <p:cNvPr id="5" name="Manipulate Variables">
            <a:extLst>
              <a:ext uri="{FF2B5EF4-FFF2-40B4-BE49-F238E27FC236}">
                <a16:creationId xmlns:a16="http://schemas.microsoft.com/office/drawing/2014/main" id="{F42F3516-988E-B843-3F44-49807D54A4BB}"/>
              </a:ext>
            </a:extLst>
          </p:cNvPr>
          <p:cNvSpPr txBox="1"/>
          <p:nvPr/>
        </p:nvSpPr>
        <p:spPr>
          <a:xfrm>
            <a:off x="4819606" y="1426182"/>
            <a:ext cx="426719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Interchangeable Configurations</a:t>
            </a:r>
          </a:p>
        </p:txBody>
      </p:sp>
      <p:sp>
        <p:nvSpPr>
          <p:cNvPr id="36" name="Line">
            <a:extLst>
              <a:ext uri="{FF2B5EF4-FFF2-40B4-BE49-F238E27FC236}">
                <a16:creationId xmlns:a16="http://schemas.microsoft.com/office/drawing/2014/main" id="{CC397EF8-CC22-3CB0-9CBD-4BD096EF2899}"/>
              </a:ext>
            </a:extLst>
          </p:cNvPr>
          <p:cNvSpPr/>
          <p:nvPr/>
        </p:nvSpPr>
        <p:spPr>
          <a:xfrm flipV="1">
            <a:off x="9580868" y="10058400"/>
            <a:ext cx="417880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5" name="Use headers, colors, and/or backgrounds to separate or group together sections.">
            <a:extLst>
              <a:ext uri="{FF2B5EF4-FFF2-40B4-BE49-F238E27FC236}">
                <a16:creationId xmlns:a16="http://schemas.microsoft.com/office/drawing/2014/main" id="{D7E57904-DA0A-FEF7-C3B8-68E2D2D09212}"/>
              </a:ext>
            </a:extLst>
          </p:cNvPr>
          <p:cNvSpPr txBox="1"/>
          <p:nvPr/>
        </p:nvSpPr>
        <p:spPr>
          <a:xfrm>
            <a:off x="173122" y="4417367"/>
            <a:ext cx="3949153"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a:t>
            </a:r>
            <a:r>
              <a:rPr lang="en-US" b="0" i="0" u="none" strike="noStrike" dirty="0">
                <a:solidFill>
                  <a:schemeClr val="accent2"/>
                </a:solidFill>
                <a:effectLst/>
                <a:latin typeface="Source Sans Pro" panose="020B0503030403020204" pitchFamily="34" charset="0"/>
                <a:ea typeface="Source Sans Pro" panose="020B0503030403020204" pitchFamily="34" charset="0"/>
                <a:sym typeface="Source Sans Pro Light"/>
              </a:rPr>
              <a:t>p</a:t>
            </a:r>
            <a:r>
              <a:rPr lang="en-US" b="0" dirty="0">
                <a:solidFill>
                  <a:schemeClr val="accent2"/>
                </a:solidFill>
                <a:latin typeface="Source Sans Pro" panose="020B0503030403020204" pitchFamily="34" charset="0"/>
                <a:ea typeface="Source Sans Pro" panose="020B0503030403020204" pitchFamily="34" charset="0"/>
                <a:sym typeface="Source Sans Pro Light"/>
              </a:rPr>
              <a:t>roject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files (1) </a:t>
            </a:r>
            <a:r>
              <a:rPr lang="en-US" b="0" i="0" u="none" strike="noStrike" dirty="0">
                <a:solidFill>
                  <a:srgbClr val="000000"/>
                </a:solidFill>
                <a:effectLst/>
                <a:latin typeface="Source Sans Pro" panose="020B0503030403020204" pitchFamily="34" charset="0"/>
                <a:ea typeface="Source Sans Pro" panose="020B0503030403020204" pitchFamily="34" charset="0"/>
              </a:rPr>
              <a:t>define immutable data such as version control, issue trackers, and mailing lists.</a:t>
            </a:r>
          </a:p>
        </p:txBody>
      </p:sp>
      <p:sp>
        <p:nvSpPr>
          <p:cNvPr id="356" name="Use headers, colors, and/or backgrounds to separate or group together sections.">
            <a:extLst>
              <a:ext uri="{FF2B5EF4-FFF2-40B4-BE49-F238E27FC236}">
                <a16:creationId xmlns:a16="http://schemas.microsoft.com/office/drawing/2014/main" id="{B9D42A97-938D-D391-D199-0F71E8DA4FEE}"/>
              </a:ext>
            </a:extLst>
          </p:cNvPr>
          <p:cNvSpPr txBox="1"/>
          <p:nvPr/>
        </p:nvSpPr>
        <p:spPr>
          <a:xfrm>
            <a:off x="170343" y="6293935"/>
            <a:ext cx="3949153"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are specific to a project and remain consistent across different analyses.</a:t>
            </a:r>
          </a:p>
        </p:txBody>
      </p:sp>
      <p:grpSp>
        <p:nvGrpSpPr>
          <p:cNvPr id="396" name="Group 395">
            <a:extLst>
              <a:ext uri="{FF2B5EF4-FFF2-40B4-BE49-F238E27FC236}">
                <a16:creationId xmlns:a16="http://schemas.microsoft.com/office/drawing/2014/main" id="{564793E4-FB0C-AB1E-CFE8-F6B4F9C9834C}"/>
              </a:ext>
            </a:extLst>
          </p:cNvPr>
          <p:cNvGrpSpPr/>
          <p:nvPr/>
        </p:nvGrpSpPr>
        <p:grpSpPr>
          <a:xfrm>
            <a:off x="373334" y="5175031"/>
            <a:ext cx="1441090" cy="862872"/>
            <a:chOff x="4056577" y="4033088"/>
            <a:chExt cx="493900" cy="295729"/>
          </a:xfrm>
        </p:grpSpPr>
        <p:sp>
          <p:nvSpPr>
            <p:cNvPr id="397" name="Google Shape;375;p18">
              <a:extLst>
                <a:ext uri="{FF2B5EF4-FFF2-40B4-BE49-F238E27FC236}">
                  <a16:creationId xmlns:a16="http://schemas.microsoft.com/office/drawing/2014/main" id="{C75B40EB-42BA-B320-D199-7F4564F1D654}"/>
                </a:ext>
              </a:extLst>
            </p:cNvPr>
            <p:cNvSpPr txBox="1"/>
            <p:nvPr/>
          </p:nvSpPr>
          <p:spPr>
            <a:xfrm>
              <a:off x="4106777" y="4033088"/>
              <a:ext cx="443700"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GitHub</a:t>
              </a:r>
              <a:endParaRPr dirty="0">
                <a:solidFill>
                  <a:schemeClr val="dk2"/>
                </a:solidFill>
                <a:latin typeface="Source Sans 3"/>
                <a:ea typeface="Source Sans 3"/>
                <a:cs typeface="Source Sans 3"/>
                <a:sym typeface="Source Sans 3"/>
              </a:endParaRPr>
            </a:p>
          </p:txBody>
        </p:sp>
        <p:grpSp>
          <p:nvGrpSpPr>
            <p:cNvPr id="398" name="Google Shape;359;p18">
              <a:extLst>
                <a:ext uri="{FF2B5EF4-FFF2-40B4-BE49-F238E27FC236}">
                  <a16:creationId xmlns:a16="http://schemas.microsoft.com/office/drawing/2014/main" id="{AEAC00F9-BDDE-A713-C309-E43433AAEEBD}"/>
                </a:ext>
              </a:extLst>
            </p:cNvPr>
            <p:cNvGrpSpPr/>
            <p:nvPr/>
          </p:nvGrpSpPr>
          <p:grpSpPr>
            <a:xfrm>
              <a:off x="4056577" y="4139517"/>
              <a:ext cx="307200" cy="189300"/>
              <a:chOff x="3007175" y="1757600"/>
              <a:chExt cx="307200" cy="189300"/>
            </a:xfrm>
          </p:grpSpPr>
          <p:sp>
            <p:nvSpPr>
              <p:cNvPr id="399" name="Google Shape;360;p18">
                <a:extLst>
                  <a:ext uri="{FF2B5EF4-FFF2-40B4-BE49-F238E27FC236}">
                    <a16:creationId xmlns:a16="http://schemas.microsoft.com/office/drawing/2014/main" id="{E6797C66-F937-A894-94A8-C6670E2AF273}"/>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1;p18">
                <a:extLst>
                  <a:ext uri="{FF2B5EF4-FFF2-40B4-BE49-F238E27FC236}">
                    <a16:creationId xmlns:a16="http://schemas.microsoft.com/office/drawing/2014/main" id="{3C29B66C-F03A-6CF8-08DA-C6D40922BD0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2;p18">
                <a:extLst>
                  <a:ext uri="{FF2B5EF4-FFF2-40B4-BE49-F238E27FC236}">
                    <a16:creationId xmlns:a16="http://schemas.microsoft.com/office/drawing/2014/main" id="{F2C13248-5517-4F3A-1404-DAED9A55A87C}"/>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363;p18">
                <a:extLst>
                  <a:ext uri="{FF2B5EF4-FFF2-40B4-BE49-F238E27FC236}">
                    <a16:creationId xmlns:a16="http://schemas.microsoft.com/office/drawing/2014/main" id="{37B76AD1-C7F4-3F31-6A32-05C6DB772DB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3" name="Google Shape;364;p18">
                <a:extLst>
                  <a:ext uri="{FF2B5EF4-FFF2-40B4-BE49-F238E27FC236}">
                    <a16:creationId xmlns:a16="http://schemas.microsoft.com/office/drawing/2014/main" id="{99F0ED91-75B6-4FA8-673F-E94A4AAFF3B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5;p18">
                <a:extLst>
                  <a:ext uri="{FF2B5EF4-FFF2-40B4-BE49-F238E27FC236}">
                    <a16:creationId xmlns:a16="http://schemas.microsoft.com/office/drawing/2014/main" id="{DDC60F38-C16F-B5A4-4568-4FED8ABBEFD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366;p18">
                <a:extLst>
                  <a:ext uri="{FF2B5EF4-FFF2-40B4-BE49-F238E27FC236}">
                    <a16:creationId xmlns:a16="http://schemas.microsoft.com/office/drawing/2014/main" id="{7FFEA386-C1FD-5519-462D-0F2D31CBA16C}"/>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14" name="Group 413">
            <a:extLst>
              <a:ext uri="{FF2B5EF4-FFF2-40B4-BE49-F238E27FC236}">
                <a16:creationId xmlns:a16="http://schemas.microsoft.com/office/drawing/2014/main" id="{DEF72E5C-1026-3EE8-28BE-7D9D5D504F2E}"/>
              </a:ext>
            </a:extLst>
          </p:cNvPr>
          <p:cNvGrpSpPr/>
          <p:nvPr/>
        </p:nvGrpSpPr>
        <p:grpSpPr>
          <a:xfrm>
            <a:off x="1519251" y="5165209"/>
            <a:ext cx="896341" cy="862872"/>
            <a:chOff x="4056577" y="4033088"/>
            <a:chExt cx="307200" cy="295729"/>
          </a:xfrm>
        </p:grpSpPr>
        <p:sp>
          <p:nvSpPr>
            <p:cNvPr id="415" name="Google Shape;375;p18">
              <a:extLst>
                <a:ext uri="{FF2B5EF4-FFF2-40B4-BE49-F238E27FC236}">
                  <a16:creationId xmlns:a16="http://schemas.microsoft.com/office/drawing/2014/main" id="{83AFA0FF-9387-888F-6716-7893940D915D}"/>
                </a:ext>
              </a:extLst>
            </p:cNvPr>
            <p:cNvSpPr txBox="1"/>
            <p:nvPr/>
          </p:nvSpPr>
          <p:spPr>
            <a:xfrm>
              <a:off x="4144430" y="4033088"/>
              <a:ext cx="150347"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Jira</a:t>
              </a:r>
              <a:endParaRPr dirty="0">
                <a:solidFill>
                  <a:schemeClr val="dk2"/>
                </a:solidFill>
                <a:latin typeface="Source Sans 3"/>
                <a:ea typeface="Source Sans 3"/>
                <a:cs typeface="Source Sans 3"/>
                <a:sym typeface="Source Sans 3"/>
              </a:endParaRPr>
            </a:p>
          </p:txBody>
        </p:sp>
        <p:grpSp>
          <p:nvGrpSpPr>
            <p:cNvPr id="416" name="Google Shape;359;p18">
              <a:extLst>
                <a:ext uri="{FF2B5EF4-FFF2-40B4-BE49-F238E27FC236}">
                  <a16:creationId xmlns:a16="http://schemas.microsoft.com/office/drawing/2014/main" id="{272A8866-06F5-8432-57F6-7F51E0D56DB2}"/>
                </a:ext>
              </a:extLst>
            </p:cNvPr>
            <p:cNvGrpSpPr/>
            <p:nvPr/>
          </p:nvGrpSpPr>
          <p:grpSpPr>
            <a:xfrm>
              <a:off x="4056577" y="4139517"/>
              <a:ext cx="307200" cy="189300"/>
              <a:chOff x="3007175" y="1757600"/>
              <a:chExt cx="307200" cy="189300"/>
            </a:xfrm>
          </p:grpSpPr>
          <p:sp>
            <p:nvSpPr>
              <p:cNvPr id="417" name="Google Shape;360;p18">
                <a:extLst>
                  <a:ext uri="{FF2B5EF4-FFF2-40B4-BE49-F238E27FC236}">
                    <a16:creationId xmlns:a16="http://schemas.microsoft.com/office/drawing/2014/main" id="{407629D5-1A4E-60A4-D774-7D2A6FB0C150}"/>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361;p18">
                <a:extLst>
                  <a:ext uri="{FF2B5EF4-FFF2-40B4-BE49-F238E27FC236}">
                    <a16:creationId xmlns:a16="http://schemas.microsoft.com/office/drawing/2014/main" id="{E70F2235-A0AC-2998-0B12-68E058B10EE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362;p18">
                <a:extLst>
                  <a:ext uri="{FF2B5EF4-FFF2-40B4-BE49-F238E27FC236}">
                    <a16:creationId xmlns:a16="http://schemas.microsoft.com/office/drawing/2014/main" id="{E8BF0A12-5106-7A48-3517-06464FFCF646}"/>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363;p18">
                <a:extLst>
                  <a:ext uri="{FF2B5EF4-FFF2-40B4-BE49-F238E27FC236}">
                    <a16:creationId xmlns:a16="http://schemas.microsoft.com/office/drawing/2014/main" id="{25756D64-843B-8ED1-B14F-4EAC63D283A2}"/>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1" name="Google Shape;364;p18">
                <a:extLst>
                  <a:ext uri="{FF2B5EF4-FFF2-40B4-BE49-F238E27FC236}">
                    <a16:creationId xmlns:a16="http://schemas.microsoft.com/office/drawing/2014/main" id="{A8F25938-A4B9-0F71-47C8-8F9795ADC716}"/>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365;p18">
                <a:extLst>
                  <a:ext uri="{FF2B5EF4-FFF2-40B4-BE49-F238E27FC236}">
                    <a16:creationId xmlns:a16="http://schemas.microsoft.com/office/drawing/2014/main" id="{D200E9FF-885E-4232-FF49-CF6221DC9A4B}"/>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366;p18">
                <a:extLst>
                  <a:ext uri="{FF2B5EF4-FFF2-40B4-BE49-F238E27FC236}">
                    <a16:creationId xmlns:a16="http://schemas.microsoft.com/office/drawing/2014/main" id="{F5C1E618-5569-F0F7-A9B0-ADAAB1A5F6B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24" name="Google Shape;377;p18">
            <a:extLst>
              <a:ext uri="{FF2B5EF4-FFF2-40B4-BE49-F238E27FC236}">
                <a16:creationId xmlns:a16="http://schemas.microsoft.com/office/drawing/2014/main" id="{F574DD30-D693-24E8-42C8-3662733E3A6E}"/>
              </a:ext>
            </a:extLst>
          </p:cNvPr>
          <p:cNvGrpSpPr/>
          <p:nvPr/>
        </p:nvGrpSpPr>
        <p:grpSpPr>
          <a:xfrm>
            <a:off x="2836022" y="5459921"/>
            <a:ext cx="588585" cy="570766"/>
            <a:chOff x="3021975" y="2389850"/>
            <a:chExt cx="307200" cy="297900"/>
          </a:xfrm>
        </p:grpSpPr>
        <p:sp>
          <p:nvSpPr>
            <p:cNvPr id="425" name="Google Shape;378;p18">
              <a:extLst>
                <a:ext uri="{FF2B5EF4-FFF2-40B4-BE49-F238E27FC236}">
                  <a16:creationId xmlns:a16="http://schemas.microsoft.com/office/drawing/2014/main" id="{B92060A4-CD2B-B258-C66E-D0FEA2724F1D}"/>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6" name="Google Shape;379;p18">
              <a:extLst>
                <a:ext uri="{FF2B5EF4-FFF2-40B4-BE49-F238E27FC236}">
                  <a16:creationId xmlns:a16="http://schemas.microsoft.com/office/drawing/2014/main" id="{5F46FAC1-E119-6828-9A63-55EB6D359263}"/>
                </a:ext>
              </a:extLst>
            </p:cNvPr>
            <p:cNvGrpSpPr/>
            <p:nvPr/>
          </p:nvGrpSpPr>
          <p:grpSpPr>
            <a:xfrm>
              <a:off x="3021975" y="2389850"/>
              <a:ext cx="307200" cy="295800"/>
              <a:chOff x="3021975" y="2389850"/>
              <a:chExt cx="307200" cy="295800"/>
            </a:xfrm>
          </p:grpSpPr>
          <p:sp>
            <p:nvSpPr>
              <p:cNvPr id="427" name="Google Shape;380;p18">
                <a:extLst>
                  <a:ext uri="{FF2B5EF4-FFF2-40B4-BE49-F238E27FC236}">
                    <a16:creationId xmlns:a16="http://schemas.microsoft.com/office/drawing/2014/main" id="{322B7331-D758-3290-D06F-BB76100AAB76}"/>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381;p18">
                <a:extLst>
                  <a:ext uri="{FF2B5EF4-FFF2-40B4-BE49-F238E27FC236}">
                    <a16:creationId xmlns:a16="http://schemas.microsoft.com/office/drawing/2014/main" id="{A0FB684D-D262-E2EC-726F-097FD9EEE4B6}"/>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9" name="Google Shape;382;p18">
                <a:extLst>
                  <a:ext uri="{FF2B5EF4-FFF2-40B4-BE49-F238E27FC236}">
                    <a16:creationId xmlns:a16="http://schemas.microsoft.com/office/drawing/2014/main" id="{2BB496A8-2BAE-F99C-BB7E-22555436AD1C}"/>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383;p18">
                <a:extLst>
                  <a:ext uri="{FF2B5EF4-FFF2-40B4-BE49-F238E27FC236}">
                    <a16:creationId xmlns:a16="http://schemas.microsoft.com/office/drawing/2014/main" id="{50481C7D-1141-F819-97C0-051AD6B22C8C}"/>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1" name="Google Shape;384;p18">
                <a:extLst>
                  <a:ext uri="{FF2B5EF4-FFF2-40B4-BE49-F238E27FC236}">
                    <a16:creationId xmlns:a16="http://schemas.microsoft.com/office/drawing/2014/main" id="{54DD580D-ECC0-3F4E-4459-6F594151D1D1}"/>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2" name="Google Shape;385;p18">
                <a:extLst>
                  <a:ext uri="{FF2B5EF4-FFF2-40B4-BE49-F238E27FC236}">
                    <a16:creationId xmlns:a16="http://schemas.microsoft.com/office/drawing/2014/main" id="{83113ABC-6C78-BEF4-B91A-D1C79F418ACE}"/>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386;p18">
                <a:extLst>
                  <a:ext uri="{FF2B5EF4-FFF2-40B4-BE49-F238E27FC236}">
                    <a16:creationId xmlns:a16="http://schemas.microsoft.com/office/drawing/2014/main" id="{EE5FC7C8-A985-360D-017F-5C818C4537E9}"/>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7;p18">
                <a:extLst>
                  <a:ext uri="{FF2B5EF4-FFF2-40B4-BE49-F238E27FC236}">
                    <a16:creationId xmlns:a16="http://schemas.microsoft.com/office/drawing/2014/main" id="{DDD75763-309F-270C-4448-7B30B50836A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35" name="Google Shape;375;p18">
            <a:extLst>
              <a:ext uri="{FF2B5EF4-FFF2-40B4-BE49-F238E27FC236}">
                <a16:creationId xmlns:a16="http://schemas.microsoft.com/office/drawing/2014/main" id="{F76DF179-5B58-62F7-00E0-65121CCA3015}"/>
              </a:ext>
            </a:extLst>
          </p:cNvPr>
          <p:cNvSpPr txBox="1"/>
          <p:nvPr/>
        </p:nvSpPr>
        <p:spPr>
          <a:xfrm>
            <a:off x="2729653" y="5158122"/>
            <a:ext cx="1294618" cy="343049"/>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Mailing List</a:t>
            </a:r>
            <a:endParaRPr dirty="0">
              <a:solidFill>
                <a:schemeClr val="dk2"/>
              </a:solidFill>
              <a:latin typeface="Source Sans 3"/>
              <a:ea typeface="Source Sans 3"/>
              <a:cs typeface="Source Sans 3"/>
              <a:sym typeface="Source Sans 3"/>
            </a:endParaRPr>
          </a:p>
        </p:txBody>
      </p:sp>
      <p:sp>
        <p:nvSpPr>
          <p:cNvPr id="382" name="Logistics">
            <a:extLst>
              <a:ext uri="{FF2B5EF4-FFF2-40B4-BE49-F238E27FC236}">
                <a16:creationId xmlns:a16="http://schemas.microsoft.com/office/drawing/2014/main" id="{DA687DDA-1C01-2885-3836-CB5F4FB79CEA}"/>
              </a:ext>
            </a:extLst>
          </p:cNvPr>
          <p:cNvSpPr txBox="1"/>
          <p:nvPr/>
        </p:nvSpPr>
        <p:spPr>
          <a:xfrm>
            <a:off x="199939" y="7137651"/>
            <a:ext cx="316112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Analysis Configurations</a:t>
            </a:r>
          </a:p>
        </p:txBody>
      </p:sp>
      <p:sp>
        <p:nvSpPr>
          <p:cNvPr id="441" name="Use headers, colors, and/or backgrounds to separate or group together sections.">
            <a:extLst>
              <a:ext uri="{FF2B5EF4-FFF2-40B4-BE49-F238E27FC236}">
                <a16:creationId xmlns:a16="http://schemas.microsoft.com/office/drawing/2014/main" id="{E0C84CA4-B66C-9320-AFA3-B743F508D25A}"/>
              </a:ext>
            </a:extLst>
          </p:cNvPr>
          <p:cNvSpPr txBox="1"/>
          <p:nvPr/>
        </p:nvSpPr>
        <p:spPr>
          <a:xfrm>
            <a:off x="143525" y="7620809"/>
            <a:ext cx="3949153"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rPr>
              <a:t>Users can define in the </a:t>
            </a:r>
            <a:r>
              <a:rPr lang="en-US" b="0" dirty="0">
                <a:solidFill>
                  <a:schemeClr val="accent5"/>
                </a:solidFill>
                <a:sym typeface="Source Sans Pro Light"/>
              </a:rPr>
              <a:t>analysis .</a:t>
            </a:r>
            <a:r>
              <a:rPr lang="en-US" b="0" dirty="0" err="1">
                <a:solidFill>
                  <a:schemeClr val="accent5"/>
                </a:solidFill>
                <a:sym typeface="Source Sans Pro Light"/>
              </a:rPr>
              <a:t>yml</a:t>
            </a:r>
            <a:r>
              <a:rPr lang="en-US" b="0" dirty="0">
                <a:solidFill>
                  <a:schemeClr val="accent5"/>
                </a:solidFill>
                <a:sym typeface="Source Sans Pro Light"/>
              </a:rPr>
              <a:t> configuration files (2)</a:t>
            </a:r>
            <a:r>
              <a:rPr lang="en-US" b="0" dirty="0">
                <a:solidFill>
                  <a:schemeClr val="accent5"/>
                </a:solidFill>
              </a:rPr>
              <a:t> </a:t>
            </a:r>
            <a:r>
              <a:rPr lang="en-US" b="0" dirty="0">
                <a:solidFill>
                  <a:srgbClr val="000000"/>
                </a:solidFill>
              </a:rPr>
              <a:t>filter heuristics and</a:t>
            </a:r>
            <a:r>
              <a:rPr lang="en-US" b="0" i="0" u="none" strike="noStrike" dirty="0">
                <a:solidFill>
                  <a:srgbClr val="000000"/>
                </a:solidFill>
                <a:effectLst/>
              </a:rPr>
              <a:t> tool parameters (e.g. depends, </a:t>
            </a:r>
            <a:r>
              <a:rPr lang="en-US" b="0" i="0" u="none" strike="noStrike" dirty="0" err="1">
                <a:solidFill>
                  <a:srgbClr val="000000"/>
                </a:solidFill>
                <a:effectLst/>
              </a:rPr>
              <a:t>uctags</a:t>
            </a:r>
            <a:r>
              <a:rPr lang="en-US" b="0" i="0" u="none" strike="noStrike" dirty="0">
                <a:solidFill>
                  <a:srgbClr val="000000"/>
                </a:solidFill>
                <a:effectLst/>
              </a:rPr>
              <a:t>).</a:t>
            </a:r>
          </a:p>
        </p:txBody>
      </p:sp>
      <p:sp>
        <p:nvSpPr>
          <p:cNvPr id="770" name="Use headers, colors, and/or backgrounds to separate or group together sections.">
            <a:extLst>
              <a:ext uri="{FF2B5EF4-FFF2-40B4-BE49-F238E27FC236}">
                <a16:creationId xmlns:a16="http://schemas.microsoft.com/office/drawing/2014/main" id="{368446EF-9BDB-3798-BDC1-3241F93CEC58}"/>
              </a:ext>
            </a:extLst>
          </p:cNvPr>
          <p:cNvSpPr txBox="1"/>
          <p:nvPr/>
        </p:nvSpPr>
        <p:spPr>
          <a:xfrm>
            <a:off x="173122" y="9732412"/>
            <a:ext cx="3949153"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can be reused across different projects and define how data is analyzed.</a:t>
            </a:r>
          </a:p>
        </p:txBody>
      </p:sp>
      <p:sp>
        <p:nvSpPr>
          <p:cNvPr id="773" name="Use headers, colors, and/or backgrounds to separate or group together sections.">
            <a:extLst>
              <a:ext uri="{FF2B5EF4-FFF2-40B4-BE49-F238E27FC236}">
                <a16:creationId xmlns:a16="http://schemas.microsoft.com/office/drawing/2014/main" id="{88A18B60-6725-1C1D-3D27-160BF5F85427}"/>
              </a:ext>
            </a:extLst>
          </p:cNvPr>
          <p:cNvSpPr txBox="1"/>
          <p:nvPr/>
        </p:nvSpPr>
        <p:spPr>
          <a:xfrm>
            <a:off x="4957637" y="7420990"/>
            <a:ext cx="4159162" cy="2347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rPr>
              <a:t>In the notebooks (3), configuration files can be found near the beginning of the file. The notebook parses </a:t>
            </a:r>
            <a:r>
              <a:rPr lang="en-US" b="0" dirty="0">
                <a:solidFill>
                  <a:schemeClr val="accent2"/>
                </a:solidFill>
              </a:rPr>
              <a:t>project (1) </a:t>
            </a:r>
            <a:r>
              <a:rPr lang="en-US" b="0" dirty="0">
                <a:solidFill>
                  <a:srgbClr val="000000"/>
                </a:solidFill>
              </a:rPr>
              <a:t>and </a:t>
            </a:r>
            <a:r>
              <a:rPr lang="en-US" b="0" dirty="0">
                <a:solidFill>
                  <a:schemeClr val="accent5"/>
                </a:solidFill>
              </a:rPr>
              <a:t>analysis (2)</a:t>
            </a:r>
            <a:r>
              <a:rPr lang="en-US" b="0" dirty="0">
                <a:solidFill>
                  <a:srgbClr val="000000"/>
                </a:solidFill>
              </a:rPr>
              <a:t> files and gets the values of the parameters with get functions. This allows users to modify parameters in the .</a:t>
            </a:r>
            <a:r>
              <a:rPr lang="en-US" b="0" dirty="0" err="1">
                <a:solidFill>
                  <a:srgbClr val="000000"/>
                </a:solidFill>
              </a:rPr>
              <a:t>yml</a:t>
            </a:r>
            <a:r>
              <a:rPr lang="en-US" b="0" dirty="0">
                <a:solidFill>
                  <a:srgbClr val="000000"/>
                </a:solidFill>
              </a:rPr>
              <a:t> files instead of the notebooks.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rPr>
              <a:t>In the executables (4), both </a:t>
            </a:r>
            <a:r>
              <a:rPr lang="en-US" b="0" dirty="0">
                <a:solidFill>
                  <a:schemeClr val="accent2"/>
                </a:solidFill>
                <a:sym typeface="Source Sans Pro Light"/>
              </a:rPr>
              <a:t>project (1) </a:t>
            </a:r>
            <a:r>
              <a:rPr lang="en-US" b="0" dirty="0">
                <a:solidFill>
                  <a:srgbClr val="000000"/>
                </a:solidFill>
              </a:rPr>
              <a:t>and </a:t>
            </a:r>
            <a:r>
              <a:rPr lang="en-US" b="0" dirty="0">
                <a:solidFill>
                  <a:schemeClr val="accent5"/>
                </a:solidFill>
                <a:sym typeface="Source Sans Pro Light"/>
              </a:rPr>
              <a:t>analysis (2)</a:t>
            </a:r>
            <a:r>
              <a:rPr lang="en-US" b="0" dirty="0">
                <a:solidFill>
                  <a:srgbClr val="000000"/>
                </a:solidFill>
              </a:rPr>
              <a:t> files are passed directly as arguments through the command line. The script runs the selected configuration without modification. Although using executables makes </a:t>
            </a:r>
            <a:r>
              <a:rPr lang="en-US" b="0" dirty="0">
                <a:solidFill>
                  <a:schemeClr val="accent2"/>
                </a:solidFill>
                <a:sym typeface="Source Sans Pro Light"/>
              </a:rPr>
              <a:t>project (1)</a:t>
            </a:r>
            <a:r>
              <a:rPr lang="en-US" b="0" dirty="0">
                <a:solidFill>
                  <a:srgbClr val="000000"/>
                </a:solidFill>
              </a:rPr>
              <a:t> and </a:t>
            </a:r>
            <a:r>
              <a:rPr lang="en-US" b="0" dirty="0">
                <a:solidFill>
                  <a:schemeClr val="accent5"/>
                </a:solidFill>
                <a:sym typeface="Source Sans Pro Light"/>
              </a:rPr>
              <a:t>analysis (2)</a:t>
            </a:r>
            <a:r>
              <a:rPr lang="en-US" b="0" dirty="0">
                <a:solidFill>
                  <a:srgbClr val="000000"/>
                </a:solidFill>
              </a:rPr>
              <a:t> files fixed during execution, the advantages of using executables versus notebooks are that they can run on server side and </a:t>
            </a:r>
            <a:r>
              <a:rPr lang="en-US" b="0">
                <a:solidFill>
                  <a:srgbClr val="000000"/>
                </a:solidFill>
              </a:rPr>
              <a:t>do not</a:t>
            </a:r>
            <a:r>
              <a:rPr lang="en-US" b="0" dirty="0">
                <a:solidFill>
                  <a:srgbClr val="000000"/>
                </a:solidFill>
              </a:rPr>
              <a:t> require knowledge of R. </a:t>
            </a:r>
          </a:p>
        </p:txBody>
      </p:sp>
      <p:grpSp>
        <p:nvGrpSpPr>
          <p:cNvPr id="777" name="Group 776">
            <a:extLst>
              <a:ext uri="{FF2B5EF4-FFF2-40B4-BE49-F238E27FC236}">
                <a16:creationId xmlns:a16="http://schemas.microsoft.com/office/drawing/2014/main" id="{CFA3B59D-471E-A061-5D47-5D331B2CAB72}"/>
              </a:ext>
            </a:extLst>
          </p:cNvPr>
          <p:cNvGrpSpPr/>
          <p:nvPr/>
        </p:nvGrpSpPr>
        <p:grpSpPr>
          <a:xfrm>
            <a:off x="9588427" y="2619752"/>
            <a:ext cx="4177348" cy="2344290"/>
            <a:chOff x="9601060" y="2500544"/>
            <a:chExt cx="4177348" cy="2344290"/>
          </a:xfrm>
        </p:grpSpPr>
        <p:sp>
          <p:nvSpPr>
            <p:cNvPr id="46" name="Logistics">
              <a:extLst>
                <a:ext uri="{FF2B5EF4-FFF2-40B4-BE49-F238E27FC236}">
                  <a16:creationId xmlns:a16="http://schemas.microsoft.com/office/drawing/2014/main" id="{88604CC9-B799-B308-EA30-BBB2C7DD933A}"/>
                </a:ext>
              </a:extLst>
            </p:cNvPr>
            <p:cNvSpPr txBox="1"/>
            <p:nvPr/>
          </p:nvSpPr>
          <p:spPr>
            <a:xfrm>
              <a:off x="9606269" y="2500544"/>
              <a:ext cx="405396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Project</a:t>
              </a:r>
            </a:p>
          </p:txBody>
        </p:sp>
        <p:sp>
          <p:nvSpPr>
            <p:cNvPr id="500" name="TextBox 499">
              <a:extLst>
                <a:ext uri="{FF2B5EF4-FFF2-40B4-BE49-F238E27FC236}">
                  <a16:creationId xmlns:a16="http://schemas.microsoft.com/office/drawing/2014/main" id="{6F150C3C-30BB-BFB7-1624-9C87C56F727F}"/>
                </a:ext>
              </a:extLst>
            </p:cNvPr>
            <p:cNvSpPr txBox="1"/>
            <p:nvPr/>
          </p:nvSpPr>
          <p:spPr>
            <a:xfrm>
              <a:off x="9601060" y="2975172"/>
              <a:ext cx="4177348" cy="1869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get_git_repo_path</a:t>
              </a:r>
              <a:r>
                <a:rPr lang="en-US" sz="1300" dirty="0"/>
                <a:t>()</a:t>
              </a:r>
            </a:p>
            <a:p>
              <a:r>
                <a:rPr lang="en-US" b="0" dirty="0"/>
                <a:t>Returns the local path  of the project’s Git repository. </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get_git_branches</a:t>
              </a:r>
              <a:r>
                <a:rPr lang="en-US" sz="1300" dirty="0"/>
                <a:t>()</a:t>
              </a:r>
            </a:p>
            <a:p>
              <a:r>
                <a:rPr lang="en-US" b="0" dirty="0"/>
                <a:t>Retrieves the branches specified in the config.</a:t>
              </a:r>
            </a:p>
            <a:p>
              <a:endParaRPr lang="en-US" sz="1400" dirty="0"/>
            </a:p>
            <a:p>
              <a:pPr marL="0" marR="0" indent="0" algn="l" defTabSz="584200" rtl="0" fontAlgn="auto" latinLnBrk="0" hangingPunct="0">
                <a:lnSpc>
                  <a:spcPct val="100000"/>
                </a:lnSpc>
                <a:spcBef>
                  <a:spcPts val="200"/>
                </a:spcBef>
                <a:spcAft>
                  <a:spcPts val="0"/>
                </a:spcAft>
                <a:buClrTx/>
                <a:buSzTx/>
                <a:buFontTx/>
                <a:buNone/>
                <a:tabLst/>
              </a:pPr>
              <a:r>
                <a:rPr lang="en-US" sz="1300" dirty="0"/>
                <a:t>3. </a:t>
              </a:r>
              <a:r>
                <a:rPr lang="en-US" sz="1300" dirty="0" err="1"/>
                <a:t>get_jira_project_key_name</a:t>
              </a:r>
              <a:r>
                <a:rPr lang="en-US" sz="1300" dirty="0"/>
                <a:t>()</a:t>
              </a:r>
            </a:p>
            <a:p>
              <a:pPr marL="0" marR="0" indent="0" algn="l" defTabSz="584200" rtl="0" fontAlgn="auto" latinLnBrk="0" hangingPunct="0">
                <a:lnSpc>
                  <a:spcPct val="100000"/>
                </a:lnSpc>
                <a:spcBef>
                  <a:spcPts val="200"/>
                </a:spcBef>
                <a:spcAft>
                  <a:spcPts val="0"/>
                </a:spcAft>
                <a:buClrTx/>
                <a:buSzTx/>
                <a:buFontTx/>
                <a:buNone/>
                <a:tabLst/>
              </a:pPr>
              <a:r>
                <a:rPr lang="en-US" b="0" dirty="0"/>
                <a:t>Identifies the project key used to query issues in Jira.</a:t>
              </a:r>
            </a:p>
          </p:txBody>
        </p:sp>
        <p:sp>
          <p:nvSpPr>
            <p:cNvPr id="776" name="Create a visual hierarchy. Help users navigate the page with titles, subtitles, and subsubtitles">
              <a:extLst>
                <a:ext uri="{FF2B5EF4-FFF2-40B4-BE49-F238E27FC236}">
                  <a16:creationId xmlns:a16="http://schemas.microsoft.com/office/drawing/2014/main" id="{CF90ABA9-868D-3886-06EA-21E63D112AA1}"/>
                </a:ext>
              </a:extLst>
            </p:cNvPr>
            <p:cNvSpPr txBox="1"/>
            <p:nvPr/>
          </p:nvSpPr>
          <p:spPr>
            <a:xfrm>
              <a:off x="9610555" y="2823844"/>
              <a:ext cx="4001355"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Here are some common APIs found in </a:t>
              </a:r>
              <a:r>
                <a:rPr lang="en-US" b="0" dirty="0">
                  <a:solidFill>
                    <a:schemeClr val="accent2"/>
                  </a:solidFill>
                  <a:latin typeface="Source Sans Pro" panose="020B0503030403020204" pitchFamily="34" charset="0"/>
                  <a:ea typeface="Source Sans Pro" panose="020B0503030403020204" pitchFamily="34" charset="0"/>
                  <a:sym typeface="Source Sans Pro Light"/>
                </a:rPr>
                <a:t>project (1)</a:t>
              </a:r>
              <a:r>
                <a:rPr lang="en-US" b="0" dirty="0">
                  <a:solidFill>
                    <a:srgbClr val="000000"/>
                  </a:solidFill>
                  <a:latin typeface="Source Sans Pro" panose="020B0503030403020204" pitchFamily="34" charset="0"/>
                  <a:ea typeface="Source Sans Pro" panose="020B0503030403020204" pitchFamily="34" charset="0"/>
                  <a:sym typeface="Source Sans Pro Light"/>
                </a:rPr>
                <a:t> </a:t>
              </a:r>
              <a:r>
                <a:rPr lang="en-US" dirty="0">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grpSp>
        <p:nvGrpSpPr>
          <p:cNvPr id="778" name="Group 777">
            <a:extLst>
              <a:ext uri="{FF2B5EF4-FFF2-40B4-BE49-F238E27FC236}">
                <a16:creationId xmlns:a16="http://schemas.microsoft.com/office/drawing/2014/main" id="{1066AB52-C690-9AF5-83F8-4038AD9AC5FB}"/>
              </a:ext>
            </a:extLst>
          </p:cNvPr>
          <p:cNvGrpSpPr/>
          <p:nvPr/>
        </p:nvGrpSpPr>
        <p:grpSpPr>
          <a:xfrm>
            <a:off x="9592713" y="5040911"/>
            <a:ext cx="4177348" cy="2556317"/>
            <a:chOff x="9601060" y="2500544"/>
            <a:chExt cx="4177348" cy="2556317"/>
          </a:xfrm>
        </p:grpSpPr>
        <p:sp>
          <p:nvSpPr>
            <p:cNvPr id="779" name="Logistics">
              <a:extLst>
                <a:ext uri="{FF2B5EF4-FFF2-40B4-BE49-F238E27FC236}">
                  <a16:creationId xmlns:a16="http://schemas.microsoft.com/office/drawing/2014/main" id="{3BD1CBB7-AE27-42BB-41B3-8CA3EF78FCDE}"/>
                </a:ext>
              </a:extLst>
            </p:cNvPr>
            <p:cNvSpPr txBox="1"/>
            <p:nvPr/>
          </p:nvSpPr>
          <p:spPr>
            <a:xfrm>
              <a:off x="9606269" y="2500544"/>
              <a:ext cx="405396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Analysis</a:t>
              </a:r>
            </a:p>
          </p:txBody>
        </p:sp>
        <p:sp>
          <p:nvSpPr>
            <p:cNvPr id="780" name="TextBox 779">
              <a:extLst>
                <a:ext uri="{FF2B5EF4-FFF2-40B4-BE49-F238E27FC236}">
                  <a16:creationId xmlns:a16="http://schemas.microsoft.com/office/drawing/2014/main" id="{0CCE45C2-1C1B-9516-53A1-98CABB192CA3}"/>
                </a:ext>
              </a:extLst>
            </p:cNvPr>
            <p:cNvSpPr txBox="1"/>
            <p:nvPr/>
          </p:nvSpPr>
          <p:spPr>
            <a:xfrm>
              <a:off x="9601060" y="3002533"/>
              <a:ext cx="4177348" cy="2054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get_file_extension</a:t>
              </a:r>
              <a:r>
                <a:rPr lang="en-US" sz="1300" dirty="0"/>
                <a:t>()</a:t>
              </a:r>
            </a:p>
            <a:p>
              <a:r>
                <a:rPr lang="en-US" b="0" dirty="0"/>
                <a:t>Returns file types (e.g. c, java) used to filter source files.</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get_substring_filepath</a:t>
              </a:r>
              <a:r>
                <a:rPr lang="en-US" sz="1300" dirty="0"/>
                <a:t>()</a:t>
              </a:r>
            </a:p>
            <a:p>
              <a:r>
                <a:rPr lang="en-US" b="0" dirty="0"/>
                <a:t>Returns keywords used to exclude certain file paths.</a:t>
              </a:r>
            </a:p>
            <a:p>
              <a:endParaRPr lang="en-US" sz="1400" dirty="0"/>
            </a:p>
            <a:p>
              <a:pPr marL="0" marR="0" indent="0" algn="l" defTabSz="584200" rtl="0" fontAlgn="auto" latinLnBrk="0" hangingPunct="0">
                <a:lnSpc>
                  <a:spcPct val="100000"/>
                </a:lnSpc>
                <a:spcBef>
                  <a:spcPts val="200"/>
                </a:spcBef>
                <a:spcAft>
                  <a:spcPts val="0"/>
                </a:spcAft>
                <a:buClrTx/>
                <a:buSzTx/>
                <a:buFontTx/>
                <a:buNone/>
                <a:tabLst/>
              </a:pPr>
              <a:r>
                <a:rPr lang="en-US" sz="1300" dirty="0"/>
                <a:t>3. </a:t>
              </a:r>
              <a:r>
                <a:rPr lang="en-US" sz="1300" dirty="0" err="1"/>
                <a:t>get_dependencies_type</a:t>
              </a:r>
              <a:r>
                <a:rPr lang="en-US" sz="1300" dirty="0"/>
                <a:t>()</a:t>
              </a:r>
            </a:p>
            <a:p>
              <a:pPr marL="0" marR="0" indent="0" algn="l" defTabSz="584200" rtl="0" fontAlgn="auto" latinLnBrk="0" hangingPunct="0">
                <a:lnSpc>
                  <a:spcPct val="100000"/>
                </a:lnSpc>
                <a:spcBef>
                  <a:spcPts val="200"/>
                </a:spcBef>
                <a:spcAft>
                  <a:spcPts val="0"/>
                </a:spcAft>
                <a:buClrTx/>
                <a:buSzTx/>
                <a:buFontTx/>
                <a:buNone/>
                <a:tabLst/>
              </a:pPr>
              <a:r>
                <a:rPr lang="en-US" b="0" dirty="0"/>
                <a:t>Specifies which types of dependencies (e.g. imports, function calls).</a:t>
              </a:r>
            </a:p>
          </p:txBody>
        </p:sp>
        <p:sp>
          <p:nvSpPr>
            <p:cNvPr id="781" name="Create a visual hierarchy. Help users navigate the page with titles, subtitles, and subsubtitles">
              <a:extLst>
                <a:ext uri="{FF2B5EF4-FFF2-40B4-BE49-F238E27FC236}">
                  <a16:creationId xmlns:a16="http://schemas.microsoft.com/office/drawing/2014/main" id="{80AA6B83-130A-9FFE-91E1-78E85A223DE1}"/>
                </a:ext>
              </a:extLst>
            </p:cNvPr>
            <p:cNvSpPr txBox="1"/>
            <p:nvPr/>
          </p:nvSpPr>
          <p:spPr>
            <a:xfrm>
              <a:off x="9628667" y="2812291"/>
              <a:ext cx="4001355"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Here are some common APIs found in </a:t>
              </a:r>
              <a:r>
                <a:rPr lang="en-US" b="0" dirty="0">
                  <a:solidFill>
                    <a:schemeClr val="accent5"/>
                  </a:solidFill>
                  <a:latin typeface="Source Sans Pro" panose="020B0503030403020204" pitchFamily="34" charset="0"/>
                  <a:ea typeface="Source Sans Pro" panose="020B0503030403020204" pitchFamily="34" charset="0"/>
                  <a:sym typeface="Source Sans Pro Light"/>
                </a:rPr>
                <a:t>analysis (2)</a:t>
              </a:r>
              <a:r>
                <a:rPr lang="en-US" dirty="0">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sp>
        <p:nvSpPr>
          <p:cNvPr id="3" name="Use headers, colors, and/or backgrounds to separate or group together sections.">
            <a:extLst>
              <a:ext uri="{FF2B5EF4-FFF2-40B4-BE49-F238E27FC236}">
                <a16:creationId xmlns:a16="http://schemas.microsoft.com/office/drawing/2014/main" id="{E37ECFC5-F698-CDCF-1F22-A30F4046123F}"/>
              </a:ext>
            </a:extLst>
          </p:cNvPr>
          <p:cNvSpPr txBox="1"/>
          <p:nvPr/>
        </p:nvSpPr>
        <p:spPr>
          <a:xfrm>
            <a:off x="4933269" y="1861350"/>
            <a:ext cx="4159162" cy="1107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t">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accent2"/>
                </a:solidFill>
                <a:latin typeface="Source Sans Pro" panose="020B0503030403020204" pitchFamily="34" charset="0"/>
                <a:ea typeface="Source Sans Pro" panose="020B0503030403020204" pitchFamily="34" charset="0"/>
                <a:sym typeface="Source Sans Pro Light"/>
              </a:rPr>
              <a:t>Project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files (1) </a:t>
            </a:r>
            <a:r>
              <a:rPr lang="en-US" b="0" dirty="0">
                <a:solidFill>
                  <a:srgbClr val="000000"/>
                </a:solidFill>
                <a:latin typeface="Source Sans Pro" panose="020B0503030403020204" pitchFamily="34" charset="0"/>
                <a:ea typeface="Source Sans Pro" panose="020B0503030403020204" pitchFamily="34" charset="0"/>
                <a:sym typeface="Source Sans Pro Light"/>
              </a:rPr>
              <a:t>can be combined with any </a:t>
            </a:r>
            <a:r>
              <a:rPr lang="en-US" b="0" dirty="0">
                <a:solidFill>
                  <a:schemeClr val="accent5"/>
                </a:solidFill>
                <a:latin typeface="Source Sans Pro" panose="020B0503030403020204" pitchFamily="34" charset="0"/>
                <a:ea typeface="Source Sans Pro" panose="020B0503030403020204" pitchFamily="34" charset="0"/>
                <a:sym typeface="Source Sans Pro Light"/>
              </a:rPr>
              <a:t>analysis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files (2). </a:t>
            </a:r>
            <a:r>
              <a:rPr lang="en-US" b="0" dirty="0">
                <a:solidFill>
                  <a:srgbClr val="000000"/>
                </a:solidFill>
                <a:latin typeface="Source Sans Pro" panose="020B0503030403020204" pitchFamily="34" charset="0"/>
                <a:ea typeface="Source Sans Pro" panose="020B0503030403020204" pitchFamily="34" charset="0"/>
                <a:sym typeface="Source Sans Pro Light"/>
              </a:rPr>
              <a:t>This allows users to run the same analysis on multiple projects or run different analyses on the same project. It reduces duplication of immutable sections of the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yml</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 and makes both project and analysis configurations interchangeable.</a:t>
            </a:r>
            <a:endParaRPr lang="en-US" b="0" dirty="0">
              <a:solidFill>
                <a:srgbClr val="000000"/>
              </a:solidFill>
              <a:latin typeface="Source Sans Pro" panose="020B0503030403020204" pitchFamily="34" charset="0"/>
              <a:ea typeface="Source Sans Pro" panose="020B0503030403020204" pitchFamily="34" charset="0"/>
            </a:endParaRPr>
          </a:p>
        </p:txBody>
      </p:sp>
      <p:grpSp>
        <p:nvGrpSpPr>
          <p:cNvPr id="33" name="Group 32">
            <a:extLst>
              <a:ext uri="{FF2B5EF4-FFF2-40B4-BE49-F238E27FC236}">
                <a16:creationId xmlns:a16="http://schemas.microsoft.com/office/drawing/2014/main" id="{6169359A-71FC-0F82-7932-BA06B20732DD}"/>
              </a:ext>
            </a:extLst>
          </p:cNvPr>
          <p:cNvGrpSpPr/>
          <p:nvPr/>
        </p:nvGrpSpPr>
        <p:grpSpPr>
          <a:xfrm>
            <a:off x="4819295" y="3142989"/>
            <a:ext cx="4421981" cy="4012102"/>
            <a:chOff x="4819295" y="3142989"/>
            <a:chExt cx="4421981" cy="4012102"/>
          </a:xfrm>
        </p:grpSpPr>
        <p:sp>
          <p:nvSpPr>
            <p:cNvPr id="744" name="Rectangle 743">
              <a:extLst>
                <a:ext uri="{FF2B5EF4-FFF2-40B4-BE49-F238E27FC236}">
                  <a16:creationId xmlns:a16="http://schemas.microsoft.com/office/drawing/2014/main" id="{7E41005A-F751-642D-B237-C1174B63FD94}"/>
                </a:ext>
              </a:extLst>
            </p:cNvPr>
            <p:cNvSpPr/>
            <p:nvPr/>
          </p:nvSpPr>
          <p:spPr>
            <a:xfrm>
              <a:off x="4888883" y="3142989"/>
              <a:ext cx="4304374" cy="1669271"/>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46" name="Group 745">
              <a:extLst>
                <a:ext uri="{FF2B5EF4-FFF2-40B4-BE49-F238E27FC236}">
                  <a16:creationId xmlns:a16="http://schemas.microsoft.com/office/drawing/2014/main" id="{E8243CD3-2D3E-A095-37AF-60582D5228BB}"/>
                </a:ext>
              </a:extLst>
            </p:cNvPr>
            <p:cNvGrpSpPr/>
            <p:nvPr/>
          </p:nvGrpSpPr>
          <p:grpSpPr>
            <a:xfrm>
              <a:off x="5004262" y="3427572"/>
              <a:ext cx="1697185" cy="1166492"/>
              <a:chOff x="2066366" y="1290575"/>
              <a:chExt cx="4087905" cy="2809658"/>
            </a:xfrm>
          </p:grpSpPr>
          <p:sp>
            <p:nvSpPr>
              <p:cNvPr id="340" name="Rectangle 339">
                <a:extLst>
                  <a:ext uri="{FF2B5EF4-FFF2-40B4-BE49-F238E27FC236}">
                    <a16:creationId xmlns:a16="http://schemas.microsoft.com/office/drawing/2014/main" id="{5A6A90AC-F71B-0D9C-FFDC-FF4955CC391C}"/>
                  </a:ext>
                </a:extLst>
              </p:cNvPr>
              <p:cNvSpPr/>
              <p:nvPr/>
            </p:nvSpPr>
            <p:spPr>
              <a:xfrm>
                <a:off x="3245225" y="1317812"/>
                <a:ext cx="1716740" cy="757519"/>
              </a:xfrm>
              <a:prstGeom prst="rect">
                <a:avLst/>
              </a:prstGeom>
              <a:ln>
                <a:solidFill>
                  <a:schemeClr val="accent2"/>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Rectangle 342">
                <a:extLst>
                  <a:ext uri="{FF2B5EF4-FFF2-40B4-BE49-F238E27FC236}">
                    <a16:creationId xmlns:a16="http://schemas.microsoft.com/office/drawing/2014/main" id="{A5588690-1B99-92ED-EC59-7D7CA62F6C7F}"/>
                  </a:ext>
                </a:extLst>
              </p:cNvPr>
              <p:cNvSpPr/>
              <p:nvPr/>
            </p:nvSpPr>
            <p:spPr>
              <a:xfrm>
                <a:off x="2066366" y="2736478"/>
                <a:ext cx="1716740" cy="757519"/>
              </a:xfrm>
              <a:prstGeom prst="rect">
                <a:avLst/>
              </a:prstGeom>
              <a:ln>
                <a:solidFill>
                  <a:schemeClr val="accent2"/>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Rectangle 343">
                <a:extLst>
                  <a:ext uri="{FF2B5EF4-FFF2-40B4-BE49-F238E27FC236}">
                    <a16:creationId xmlns:a16="http://schemas.microsoft.com/office/drawing/2014/main" id="{7DAFD82A-B3E4-8DE9-FBF0-8809686D0138}"/>
                  </a:ext>
                </a:extLst>
              </p:cNvPr>
              <p:cNvSpPr/>
              <p:nvPr/>
            </p:nvSpPr>
            <p:spPr>
              <a:xfrm>
                <a:off x="4437531" y="2736478"/>
                <a:ext cx="1716740" cy="757519"/>
              </a:xfrm>
              <a:prstGeom prst="rect">
                <a:avLst/>
              </a:prstGeom>
              <a:ln>
                <a:solidFill>
                  <a:schemeClr val="accent2"/>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5" name="Connector: Curved 344">
                <a:extLst>
                  <a:ext uri="{FF2B5EF4-FFF2-40B4-BE49-F238E27FC236}">
                    <a16:creationId xmlns:a16="http://schemas.microsoft.com/office/drawing/2014/main" id="{7BC90EB7-8F0D-D82A-0C85-B0346DA73A52}"/>
                  </a:ext>
                </a:extLst>
              </p:cNvPr>
              <p:cNvCxnSpPr/>
              <p:nvPr/>
            </p:nvCxnSpPr>
            <p:spPr>
              <a:xfrm rot="16200000" flipH="1">
                <a:off x="5248836" y="1901640"/>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6" name="Connector: Curved 345">
                <a:extLst>
                  <a:ext uri="{FF2B5EF4-FFF2-40B4-BE49-F238E27FC236}">
                    <a16:creationId xmlns:a16="http://schemas.microsoft.com/office/drawing/2014/main" id="{DC6D2EA0-4AB3-C59D-D050-4C3A5B25F761}"/>
                  </a:ext>
                </a:extLst>
              </p:cNvPr>
              <p:cNvCxnSpPr>
                <a:cxnSpLocks/>
              </p:cNvCxnSpPr>
              <p:nvPr/>
            </p:nvCxnSpPr>
            <p:spPr>
              <a:xfrm rot="10800000" flipH="1">
                <a:off x="2458571" y="1926294"/>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7" name="Connector: Curved 346">
                <a:extLst>
                  <a:ext uri="{FF2B5EF4-FFF2-40B4-BE49-F238E27FC236}">
                    <a16:creationId xmlns:a16="http://schemas.microsoft.com/office/drawing/2014/main" id="{D0E0C10D-7B74-B939-6A29-1389A9DB7535}"/>
                  </a:ext>
                </a:extLst>
              </p:cNvPr>
              <p:cNvCxnSpPr>
                <a:cxnSpLocks/>
              </p:cNvCxnSpPr>
              <p:nvPr/>
            </p:nvCxnSpPr>
            <p:spPr>
              <a:xfrm rot="2700000" flipH="1">
                <a:off x="3827930" y="3595968"/>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8" name="TextBox 347">
                <a:extLst>
                  <a:ext uri="{FF2B5EF4-FFF2-40B4-BE49-F238E27FC236}">
                    <a16:creationId xmlns:a16="http://schemas.microsoft.com/office/drawing/2014/main" id="{495D1B2A-676D-7E06-5B27-5A0FF8493830}"/>
                  </a:ext>
                </a:extLst>
              </p:cNvPr>
              <p:cNvSpPr txBox="1"/>
              <p:nvPr/>
            </p:nvSpPr>
            <p:spPr>
              <a:xfrm>
                <a:off x="3367469" y="1290575"/>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project1</a:t>
                </a:r>
              </a:p>
            </p:txBody>
          </p:sp>
          <p:sp>
            <p:nvSpPr>
              <p:cNvPr id="349" name="TextBox 348">
                <a:extLst>
                  <a:ext uri="{FF2B5EF4-FFF2-40B4-BE49-F238E27FC236}">
                    <a16:creationId xmlns:a16="http://schemas.microsoft.com/office/drawing/2014/main" id="{DF42D7AF-AB78-DBE5-D783-489AEE5D4A97}"/>
                  </a:ext>
                </a:extLst>
              </p:cNvPr>
              <p:cNvSpPr txBox="1"/>
              <p:nvPr/>
            </p:nvSpPr>
            <p:spPr>
              <a:xfrm>
                <a:off x="4572822"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project2</a:t>
                </a:r>
              </a:p>
            </p:txBody>
          </p:sp>
          <p:sp>
            <p:nvSpPr>
              <p:cNvPr id="350" name="TextBox 349">
                <a:extLst>
                  <a:ext uri="{FF2B5EF4-FFF2-40B4-BE49-F238E27FC236}">
                    <a16:creationId xmlns:a16="http://schemas.microsoft.com/office/drawing/2014/main" id="{0169507E-3896-ABE7-6296-C7922AA9E414}"/>
                  </a:ext>
                </a:extLst>
              </p:cNvPr>
              <p:cNvSpPr txBox="1"/>
              <p:nvPr/>
            </p:nvSpPr>
            <p:spPr>
              <a:xfrm>
                <a:off x="2158708" y="2679442"/>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project3</a:t>
                </a:r>
              </a:p>
            </p:txBody>
          </p:sp>
        </p:grpSp>
        <p:grpSp>
          <p:nvGrpSpPr>
            <p:cNvPr id="747" name="Group 746">
              <a:extLst>
                <a:ext uri="{FF2B5EF4-FFF2-40B4-BE49-F238E27FC236}">
                  <a16:creationId xmlns:a16="http://schemas.microsoft.com/office/drawing/2014/main" id="{7FFD9A38-9BA7-B7CE-B0F7-B3E69D653EBA}"/>
                </a:ext>
              </a:extLst>
            </p:cNvPr>
            <p:cNvGrpSpPr/>
            <p:nvPr/>
          </p:nvGrpSpPr>
          <p:grpSpPr>
            <a:xfrm>
              <a:off x="7380026" y="3434129"/>
              <a:ext cx="1697562" cy="1155184"/>
              <a:chOff x="2065458" y="1317812"/>
              <a:chExt cx="4088813" cy="2782421"/>
            </a:xfrm>
          </p:grpSpPr>
          <p:sp>
            <p:nvSpPr>
              <p:cNvPr id="330" name="Rectangle 329">
                <a:extLst>
                  <a:ext uri="{FF2B5EF4-FFF2-40B4-BE49-F238E27FC236}">
                    <a16:creationId xmlns:a16="http://schemas.microsoft.com/office/drawing/2014/main" id="{72F573CC-D780-981A-F9C9-AAADA0CC6ADE}"/>
                  </a:ext>
                </a:extLst>
              </p:cNvPr>
              <p:cNvSpPr/>
              <p:nvPr/>
            </p:nvSpPr>
            <p:spPr>
              <a:xfrm>
                <a:off x="3245225" y="1317812"/>
                <a:ext cx="1716740" cy="757519"/>
              </a:xfrm>
              <a:prstGeom prst="rect">
                <a:avLst/>
              </a:prstGeom>
              <a:ln>
                <a:solidFill>
                  <a:schemeClr val="accent5"/>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1" name="Rectangle 330">
                <a:extLst>
                  <a:ext uri="{FF2B5EF4-FFF2-40B4-BE49-F238E27FC236}">
                    <a16:creationId xmlns:a16="http://schemas.microsoft.com/office/drawing/2014/main" id="{C1315413-6DC3-3BE2-ABE3-61892D9B8C72}"/>
                  </a:ext>
                </a:extLst>
              </p:cNvPr>
              <p:cNvSpPr/>
              <p:nvPr/>
            </p:nvSpPr>
            <p:spPr>
              <a:xfrm>
                <a:off x="2066366" y="2736478"/>
                <a:ext cx="1716740" cy="757519"/>
              </a:xfrm>
              <a:prstGeom prst="rect">
                <a:avLst/>
              </a:prstGeom>
              <a:ln>
                <a:solidFill>
                  <a:schemeClr val="accent5"/>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D71E178F-EC7B-740C-AD2E-F0991DF24CB4}"/>
                  </a:ext>
                </a:extLst>
              </p:cNvPr>
              <p:cNvSpPr/>
              <p:nvPr/>
            </p:nvSpPr>
            <p:spPr>
              <a:xfrm>
                <a:off x="4437531" y="2736478"/>
                <a:ext cx="1716740" cy="757519"/>
              </a:xfrm>
              <a:prstGeom prst="rect">
                <a:avLst/>
              </a:prstGeom>
              <a:ln>
                <a:solidFill>
                  <a:schemeClr val="accent5"/>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3" name="Connector: Curved 332">
                <a:extLst>
                  <a:ext uri="{FF2B5EF4-FFF2-40B4-BE49-F238E27FC236}">
                    <a16:creationId xmlns:a16="http://schemas.microsoft.com/office/drawing/2014/main" id="{CD6F2008-A9BF-E6DA-E9D9-92F9DA6C3F48}"/>
                  </a:ext>
                </a:extLst>
              </p:cNvPr>
              <p:cNvCxnSpPr/>
              <p:nvPr/>
            </p:nvCxnSpPr>
            <p:spPr>
              <a:xfrm rot="16200000" flipH="1">
                <a:off x="5248836" y="1901640"/>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5" name="Connector: Curved 334">
                <a:extLst>
                  <a:ext uri="{FF2B5EF4-FFF2-40B4-BE49-F238E27FC236}">
                    <a16:creationId xmlns:a16="http://schemas.microsoft.com/office/drawing/2014/main" id="{57E996FA-99B1-A99C-BC11-78BC2EEE6BF5}"/>
                  </a:ext>
                </a:extLst>
              </p:cNvPr>
              <p:cNvCxnSpPr>
                <a:cxnSpLocks/>
              </p:cNvCxnSpPr>
              <p:nvPr/>
            </p:nvCxnSpPr>
            <p:spPr>
              <a:xfrm rot="10800000" flipH="1">
                <a:off x="2458571" y="1926294"/>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6" name="Connector: Curved 335">
                <a:extLst>
                  <a:ext uri="{FF2B5EF4-FFF2-40B4-BE49-F238E27FC236}">
                    <a16:creationId xmlns:a16="http://schemas.microsoft.com/office/drawing/2014/main" id="{1B2AE49A-B122-0CC5-4A56-5C36DCBB2B35}"/>
                  </a:ext>
                </a:extLst>
              </p:cNvPr>
              <p:cNvCxnSpPr>
                <a:cxnSpLocks/>
              </p:cNvCxnSpPr>
              <p:nvPr/>
            </p:nvCxnSpPr>
            <p:spPr>
              <a:xfrm rot="2700000" flipH="1">
                <a:off x="3827930" y="3595968"/>
                <a:ext cx="551330" cy="457200"/>
              </a:xfrm>
              <a:prstGeom prst="curvedConnector3">
                <a:avLst>
                  <a:gd name="adj1" fmla="val -121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BE1741A7-EE89-2837-9D28-0E02FC134942}"/>
                  </a:ext>
                </a:extLst>
              </p:cNvPr>
              <p:cNvSpPr txBox="1"/>
              <p:nvPr/>
            </p:nvSpPr>
            <p:spPr>
              <a:xfrm>
                <a:off x="3245226" y="1329258"/>
                <a:ext cx="167473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5"/>
                    </a:solidFill>
                  </a:rPr>
                  <a:t>analysisA</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338" name="TextBox 337">
                <a:extLst>
                  <a:ext uri="{FF2B5EF4-FFF2-40B4-BE49-F238E27FC236}">
                    <a16:creationId xmlns:a16="http://schemas.microsoft.com/office/drawing/2014/main" id="{3DD7AEBD-2525-600B-01C2-D11CD3564073}"/>
                  </a:ext>
                </a:extLst>
              </p:cNvPr>
              <p:cNvSpPr txBox="1"/>
              <p:nvPr/>
            </p:nvSpPr>
            <p:spPr>
              <a:xfrm>
                <a:off x="4410270" y="2754859"/>
                <a:ext cx="168631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5"/>
                    </a:solidFill>
                  </a:rPr>
                  <a:t>analysisB</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3BDA2E92-7EAB-BF53-2CD9-15B97328BDB7}"/>
                  </a:ext>
                </a:extLst>
              </p:cNvPr>
              <p:cNvSpPr txBox="1"/>
              <p:nvPr/>
            </p:nvSpPr>
            <p:spPr>
              <a:xfrm>
                <a:off x="2065458" y="2754859"/>
                <a:ext cx="167859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err="1">
                    <a:ln>
                      <a:noFill/>
                    </a:ln>
                    <a:solidFill>
                      <a:schemeClr val="accent5"/>
                    </a:solidFill>
                    <a:effectLst/>
                    <a:uFillTx/>
                    <a:latin typeface="Source Sans Pro"/>
                    <a:ea typeface="Source Sans Pro"/>
                    <a:cs typeface="Source Sans Pro"/>
                    <a:sym typeface="Source Sans Pro"/>
                  </a:rPr>
                  <a:t>analysisC</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grpSp>
        <p:cxnSp>
          <p:nvCxnSpPr>
            <p:cNvPr id="748" name="Straight Connector 747">
              <a:extLst>
                <a:ext uri="{FF2B5EF4-FFF2-40B4-BE49-F238E27FC236}">
                  <a16:creationId xmlns:a16="http://schemas.microsoft.com/office/drawing/2014/main" id="{8FAE14B9-4E27-B9AA-E744-3F8CDE2509DF}"/>
                </a:ext>
              </a:extLst>
            </p:cNvPr>
            <p:cNvCxnSpPr/>
            <p:nvPr/>
          </p:nvCxnSpPr>
          <p:spPr>
            <a:xfrm>
              <a:off x="7048823" y="3771426"/>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53" name="Straight Connector 752">
              <a:extLst>
                <a:ext uri="{FF2B5EF4-FFF2-40B4-BE49-F238E27FC236}">
                  <a16:creationId xmlns:a16="http://schemas.microsoft.com/office/drawing/2014/main" id="{1F20FBF6-75DC-0008-9D2B-8A655363E80F}"/>
                </a:ext>
              </a:extLst>
            </p:cNvPr>
            <p:cNvCxnSpPr>
              <a:cxnSpLocks/>
            </p:cNvCxnSpPr>
            <p:nvPr/>
          </p:nvCxnSpPr>
          <p:spPr>
            <a:xfrm rot="5400000">
              <a:off x="7048823" y="3780267"/>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62" name="Rectangle 761">
              <a:extLst>
                <a:ext uri="{FF2B5EF4-FFF2-40B4-BE49-F238E27FC236}">
                  <a16:creationId xmlns:a16="http://schemas.microsoft.com/office/drawing/2014/main" id="{69F2D411-CE7B-FD23-187B-74AE240F3435}"/>
                </a:ext>
              </a:extLst>
            </p:cNvPr>
            <p:cNvSpPr/>
            <p:nvPr/>
          </p:nvSpPr>
          <p:spPr>
            <a:xfrm>
              <a:off x="7670369" y="6084901"/>
              <a:ext cx="1521295" cy="1070190"/>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63" name="TextBox 762">
              <a:extLst>
                <a:ext uri="{FF2B5EF4-FFF2-40B4-BE49-F238E27FC236}">
                  <a16:creationId xmlns:a16="http://schemas.microsoft.com/office/drawing/2014/main" id="{8EA5697D-BF68-54A5-F341-E93B992F698A}"/>
                </a:ext>
              </a:extLst>
            </p:cNvPr>
            <p:cNvSpPr txBox="1"/>
            <p:nvPr/>
          </p:nvSpPr>
          <p:spPr>
            <a:xfrm>
              <a:off x="7719982" y="6409738"/>
              <a:ext cx="1521294"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a:t>
              </a: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project1.yml</a:t>
              </a:r>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5"/>
                  </a:solidFill>
                </a:rPr>
                <a:t>analysisB.yml</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764" name="TextBox 763">
              <a:extLst>
                <a:ext uri="{FF2B5EF4-FFF2-40B4-BE49-F238E27FC236}">
                  <a16:creationId xmlns:a16="http://schemas.microsoft.com/office/drawing/2014/main" id="{3C1BA14D-B285-2BFF-5F57-BAE0E9BA0578}"/>
                </a:ext>
              </a:extLst>
            </p:cNvPr>
            <p:cNvSpPr txBox="1"/>
            <p:nvPr/>
          </p:nvSpPr>
          <p:spPr>
            <a:xfrm rot="5400000">
              <a:off x="5900417" y="5738103"/>
              <a:ext cx="20202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2"/>
                  </a:solidFill>
                </a:rPr>
                <a:t>project1.yml </a:t>
              </a:r>
              <a:r>
                <a:rPr lang="en-US" sz="1000" dirty="0"/>
                <a:t>+ </a:t>
              </a:r>
              <a:r>
                <a:rPr lang="en-US" sz="1000" dirty="0" err="1">
                  <a:solidFill>
                    <a:schemeClr val="accent5"/>
                  </a:solidFill>
                </a:rPr>
                <a:t>analysisB.yml</a:t>
              </a:r>
              <a:endParaRPr kumimoji="0" lang="en-US" sz="10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cxnSp>
          <p:nvCxnSpPr>
            <p:cNvPr id="765" name="Straight Arrow Connector 764">
              <a:extLst>
                <a:ext uri="{FF2B5EF4-FFF2-40B4-BE49-F238E27FC236}">
                  <a16:creationId xmlns:a16="http://schemas.microsoft.com/office/drawing/2014/main" id="{5656259F-138A-4BC6-851C-4F25AC2842A5}"/>
                </a:ext>
              </a:extLst>
            </p:cNvPr>
            <p:cNvCxnSpPr>
              <a:cxnSpLocks/>
            </p:cNvCxnSpPr>
            <p:nvPr/>
          </p:nvCxnSpPr>
          <p:spPr>
            <a:xfrm flipH="1">
              <a:off x="8353527" y="4812260"/>
              <a:ext cx="11317" cy="120698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7" name="TextBox 766">
              <a:extLst>
                <a:ext uri="{FF2B5EF4-FFF2-40B4-BE49-F238E27FC236}">
                  <a16:creationId xmlns:a16="http://schemas.microsoft.com/office/drawing/2014/main" id="{61399B19-DEF5-DCB7-9893-6049F5FC33A4}"/>
                </a:ext>
              </a:extLst>
            </p:cNvPr>
            <p:cNvSpPr txBox="1"/>
            <p:nvPr/>
          </p:nvSpPr>
          <p:spPr>
            <a:xfrm>
              <a:off x="5067865" y="330726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322" name="TextBox 321">
              <a:extLst>
                <a:ext uri="{FF2B5EF4-FFF2-40B4-BE49-F238E27FC236}">
                  <a16:creationId xmlns:a16="http://schemas.microsoft.com/office/drawing/2014/main" id="{B6B5B01C-359A-7ABF-E176-C4EBCD56DCCA}"/>
                </a:ext>
              </a:extLst>
            </p:cNvPr>
            <p:cNvSpPr txBox="1"/>
            <p:nvPr/>
          </p:nvSpPr>
          <p:spPr>
            <a:xfrm>
              <a:off x="7639590" y="5720835"/>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sp>
          <p:nvSpPr>
            <p:cNvPr id="351" name="TextBox 350">
              <a:extLst>
                <a:ext uri="{FF2B5EF4-FFF2-40B4-BE49-F238E27FC236}">
                  <a16:creationId xmlns:a16="http://schemas.microsoft.com/office/drawing/2014/main" id="{1D06D0E7-8466-1E6C-9958-802D294C08AE}"/>
                </a:ext>
              </a:extLst>
            </p:cNvPr>
            <p:cNvSpPr txBox="1"/>
            <p:nvPr/>
          </p:nvSpPr>
          <p:spPr>
            <a:xfrm>
              <a:off x="7318687" y="32865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352" name="TextBox 351">
              <a:extLst>
                <a:ext uri="{FF2B5EF4-FFF2-40B4-BE49-F238E27FC236}">
                  <a16:creationId xmlns:a16="http://schemas.microsoft.com/office/drawing/2014/main" id="{B002B0B9-759E-E977-E465-26C418742D1C}"/>
                </a:ext>
              </a:extLst>
            </p:cNvPr>
            <p:cNvSpPr txBox="1"/>
            <p:nvPr/>
          </p:nvSpPr>
          <p:spPr>
            <a:xfrm>
              <a:off x="4819295" y="512075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784" name="TextBox 783">
              <a:extLst>
                <a:ext uri="{FF2B5EF4-FFF2-40B4-BE49-F238E27FC236}">
                  <a16:creationId xmlns:a16="http://schemas.microsoft.com/office/drawing/2014/main" id="{3AFE82E1-3501-789A-77E9-0660B1C5C85E}"/>
                </a:ext>
              </a:extLst>
            </p:cNvPr>
            <p:cNvSpPr txBox="1"/>
            <p:nvPr/>
          </p:nvSpPr>
          <p:spPr>
            <a:xfrm rot="5400000">
              <a:off x="7872368" y="5454017"/>
              <a:ext cx="1453851"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2"/>
                  </a:solidFill>
                </a:rPr>
                <a:t>project1.yml </a:t>
              </a:r>
              <a:r>
                <a:rPr lang="en-US" sz="1000" dirty="0"/>
                <a:t>+ </a:t>
              </a:r>
              <a:r>
                <a:rPr lang="en-US" sz="1000" dirty="0" err="1">
                  <a:solidFill>
                    <a:schemeClr val="accent5"/>
                  </a:solidFill>
                </a:rPr>
                <a:t>analysisB.yml</a:t>
              </a:r>
              <a:endParaRPr kumimoji="0" lang="en-US" sz="10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grpSp>
          <p:nvGrpSpPr>
            <p:cNvPr id="15" name="Group 14">
              <a:extLst>
                <a:ext uri="{FF2B5EF4-FFF2-40B4-BE49-F238E27FC236}">
                  <a16:creationId xmlns:a16="http://schemas.microsoft.com/office/drawing/2014/main" id="{68BFC9F1-A00B-33AE-AD84-26F9C3354C28}"/>
                </a:ext>
              </a:extLst>
            </p:cNvPr>
            <p:cNvGrpSpPr/>
            <p:nvPr/>
          </p:nvGrpSpPr>
          <p:grpSpPr>
            <a:xfrm>
              <a:off x="4888883" y="5357821"/>
              <a:ext cx="1673503" cy="1743928"/>
              <a:chOff x="4888883" y="5357821"/>
              <a:chExt cx="1673503" cy="1743928"/>
            </a:xfrm>
          </p:grpSpPr>
          <p:sp>
            <p:nvSpPr>
              <p:cNvPr id="754" name="Rectangle 753">
                <a:extLst>
                  <a:ext uri="{FF2B5EF4-FFF2-40B4-BE49-F238E27FC236}">
                    <a16:creationId xmlns:a16="http://schemas.microsoft.com/office/drawing/2014/main" id="{2E5CBF2C-8CD1-1154-590B-A2FD886235BF}"/>
                  </a:ext>
                </a:extLst>
              </p:cNvPr>
              <p:cNvSpPr/>
              <p:nvPr/>
            </p:nvSpPr>
            <p:spPr>
              <a:xfrm>
                <a:off x="4888883" y="5432478"/>
                <a:ext cx="1667079" cy="1669271"/>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55" name="TextBox 754">
                <a:extLst>
                  <a:ext uri="{FF2B5EF4-FFF2-40B4-BE49-F238E27FC236}">
                    <a16:creationId xmlns:a16="http://schemas.microsoft.com/office/drawing/2014/main" id="{DC8C433E-21D5-C6CA-5955-BBFA413FA933}"/>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Introduction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56" name="Straight Connector 755">
                <a:extLst>
                  <a:ext uri="{FF2B5EF4-FFF2-40B4-BE49-F238E27FC236}">
                    <a16:creationId xmlns:a16="http://schemas.microsoft.com/office/drawing/2014/main" id="{6DD7DEC5-0609-BCDA-96F6-F857B7A73012}"/>
                  </a:ext>
                </a:extLst>
              </p:cNvPr>
              <p:cNvCxnSpPr/>
              <p:nvPr/>
            </p:nvCxnSpPr>
            <p:spPr>
              <a:xfrm>
                <a:off x="4955877" y="5750178"/>
                <a:ext cx="1042224" cy="0"/>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27" name="Oval 326">
                <a:extLst>
                  <a:ext uri="{FF2B5EF4-FFF2-40B4-BE49-F238E27FC236}">
                    <a16:creationId xmlns:a16="http://schemas.microsoft.com/office/drawing/2014/main" id="{F80DD4D7-0A52-B64C-AF0F-A12DD0C486DF}"/>
                  </a:ext>
                </a:extLst>
              </p:cNvPr>
              <p:cNvSpPr/>
              <p:nvPr/>
            </p:nvSpPr>
            <p:spPr>
              <a:xfrm>
                <a:off x="5240602" y="5808063"/>
                <a:ext cx="27432" cy="27432"/>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A03A9CF3-C43C-B4F0-B0EF-21C6867B8E7B}"/>
                  </a:ext>
                </a:extLst>
              </p:cNvPr>
              <p:cNvSpPr/>
              <p:nvPr/>
            </p:nvSpPr>
            <p:spPr>
              <a:xfrm>
                <a:off x="5239518" y="5912276"/>
                <a:ext cx="27432" cy="27432"/>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75EE843E-B2ED-CEEB-5486-BD60ABC347B3}"/>
                  </a:ext>
                </a:extLst>
              </p:cNvPr>
              <p:cNvSpPr/>
              <p:nvPr/>
            </p:nvSpPr>
            <p:spPr>
              <a:xfrm>
                <a:off x="5240603" y="6016489"/>
                <a:ext cx="27432" cy="27432"/>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58" name="TextBox 757">
                <a:extLst>
                  <a:ext uri="{FF2B5EF4-FFF2-40B4-BE49-F238E27FC236}">
                    <a16:creationId xmlns:a16="http://schemas.microsoft.com/office/drawing/2014/main" id="{82547793-A888-33BC-A1D9-88B489C85720}"/>
                  </a:ext>
                </a:extLst>
              </p:cNvPr>
              <p:cNvSpPr txBox="1"/>
              <p:nvPr/>
            </p:nvSpPr>
            <p:spPr>
              <a:xfrm>
                <a:off x="4948435" y="6019245"/>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a:t>Configuration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759" name="Rectangle 758">
                <a:extLst>
                  <a:ext uri="{FF2B5EF4-FFF2-40B4-BE49-F238E27FC236}">
                    <a16:creationId xmlns:a16="http://schemas.microsoft.com/office/drawing/2014/main" id="{90D131EF-1906-084C-A176-298762B75B7D}"/>
                  </a:ext>
                </a:extLst>
              </p:cNvPr>
              <p:cNvSpPr/>
              <p:nvPr/>
            </p:nvSpPr>
            <p:spPr>
              <a:xfrm>
                <a:off x="4985662" y="6289146"/>
                <a:ext cx="1109116" cy="448997"/>
              </a:xfrm>
              <a:prstGeom prst="rect">
                <a:avLst/>
              </a:prstGeom>
              <a:ln>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3" name="Oval 322">
                <a:extLst>
                  <a:ext uri="{FF2B5EF4-FFF2-40B4-BE49-F238E27FC236}">
                    <a16:creationId xmlns:a16="http://schemas.microsoft.com/office/drawing/2014/main" id="{A7BF3821-7B68-4E4E-0B89-7360B55EF7DD}"/>
                  </a:ext>
                </a:extLst>
              </p:cNvPr>
              <p:cNvSpPr/>
              <p:nvPr/>
            </p:nvSpPr>
            <p:spPr>
              <a:xfrm>
                <a:off x="5219590" y="6808751"/>
                <a:ext cx="27432" cy="27432"/>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Oval 323">
                <a:extLst>
                  <a:ext uri="{FF2B5EF4-FFF2-40B4-BE49-F238E27FC236}">
                    <a16:creationId xmlns:a16="http://schemas.microsoft.com/office/drawing/2014/main" id="{A284F637-C5E4-3451-4EB3-0F95B548F2B6}"/>
                  </a:ext>
                </a:extLst>
              </p:cNvPr>
              <p:cNvSpPr/>
              <p:nvPr/>
            </p:nvSpPr>
            <p:spPr>
              <a:xfrm>
                <a:off x="5218505" y="6912963"/>
                <a:ext cx="27432" cy="27432"/>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Oval 324">
                <a:extLst>
                  <a:ext uri="{FF2B5EF4-FFF2-40B4-BE49-F238E27FC236}">
                    <a16:creationId xmlns:a16="http://schemas.microsoft.com/office/drawing/2014/main" id="{EB91DC58-2F70-3996-2789-6875AA0CBB77}"/>
                  </a:ext>
                </a:extLst>
              </p:cNvPr>
              <p:cNvSpPr/>
              <p:nvPr/>
            </p:nvSpPr>
            <p:spPr>
              <a:xfrm>
                <a:off x="5219590" y="7017176"/>
                <a:ext cx="27432" cy="27432"/>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2" name="Rectangle 781">
                <a:extLst>
                  <a:ext uri="{FF2B5EF4-FFF2-40B4-BE49-F238E27FC236}">
                    <a16:creationId xmlns:a16="http://schemas.microsoft.com/office/drawing/2014/main" id="{83CD8551-AFE6-6061-C58F-F29403169326}"/>
                  </a:ext>
                </a:extLst>
              </p:cNvPr>
              <p:cNvSpPr/>
              <p:nvPr/>
            </p:nvSpPr>
            <p:spPr>
              <a:xfrm>
                <a:off x="6123564" y="5436992"/>
                <a:ext cx="422051" cy="190715"/>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3" name="TextBox 782">
                <a:extLst>
                  <a:ext uri="{FF2B5EF4-FFF2-40B4-BE49-F238E27FC236}">
                    <a16:creationId xmlns:a16="http://schemas.microsoft.com/office/drawing/2014/main" id="{8CAE6EEB-7D06-359A-27B1-C6BE2E9D7922}"/>
                  </a:ext>
                </a:extLst>
              </p:cNvPr>
              <p:cNvSpPr txBox="1"/>
              <p:nvPr/>
            </p:nvSpPr>
            <p:spPr>
              <a:xfrm>
                <a:off x="6123564" y="5357821"/>
                <a:ext cx="4388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Rmd</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TextBox 5">
                <a:extLst>
                  <a:ext uri="{FF2B5EF4-FFF2-40B4-BE49-F238E27FC236}">
                    <a16:creationId xmlns:a16="http://schemas.microsoft.com/office/drawing/2014/main" id="{69CB2DEE-80E9-9C28-FF62-4FB9A59C8323}"/>
                  </a:ext>
                </a:extLst>
              </p:cNvPr>
              <p:cNvSpPr txBox="1"/>
              <p:nvPr/>
            </p:nvSpPr>
            <p:spPr>
              <a:xfrm>
                <a:off x="5050888" y="6291845"/>
                <a:ext cx="987111" cy="40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800" dirty="0"/>
                  <a:t>g</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et(</a:t>
                </a:r>
                <a:r>
                  <a:rPr lang="en-US" sz="800" dirty="0">
                    <a:solidFill>
                      <a:schemeClr val="accent2"/>
                    </a:solidFill>
                  </a:rPr>
                  <a:t>project1.yml</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r>
                  <a:rPr lang="en-US" sz="800" dirty="0"/>
                  <a:t>get (</a:t>
                </a:r>
                <a:r>
                  <a:rPr lang="en-US" sz="800" dirty="0" err="1">
                    <a:solidFill>
                      <a:schemeClr val="accent5"/>
                    </a:solidFill>
                  </a:rPr>
                  <a:t>analysisB.yml</a:t>
                </a:r>
                <a:r>
                  <a:rPr lang="en-US" sz="800" dirty="0"/>
                  <a: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cxnSp>
          <p:nvCxnSpPr>
            <p:cNvPr id="761" name="Connector: Elbow 760">
              <a:extLst>
                <a:ext uri="{FF2B5EF4-FFF2-40B4-BE49-F238E27FC236}">
                  <a16:creationId xmlns:a16="http://schemas.microsoft.com/office/drawing/2014/main" id="{40B3185F-67B6-6119-E66F-7EBE51E1AAEF}"/>
                </a:ext>
              </a:extLst>
            </p:cNvPr>
            <p:cNvCxnSpPr>
              <a:cxnSpLocks/>
            </p:cNvCxnSpPr>
            <p:nvPr/>
          </p:nvCxnSpPr>
          <p:spPr>
            <a:xfrm rot="5400000">
              <a:off x="5586507" y="5335816"/>
              <a:ext cx="1701384" cy="664359"/>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sp>
        <p:nvSpPr>
          <p:cNvPr id="9" name="Line">
            <a:extLst>
              <a:ext uri="{FF2B5EF4-FFF2-40B4-BE49-F238E27FC236}">
                <a16:creationId xmlns:a16="http://schemas.microsoft.com/office/drawing/2014/main" id="{E8243CAE-30BF-EBA7-4A1C-55FCC9B92D60}"/>
              </a:ext>
            </a:extLst>
          </p:cNvPr>
          <p:cNvSpPr/>
          <p:nvPr/>
        </p:nvSpPr>
        <p:spPr>
          <a:xfrm>
            <a:off x="143525" y="3762506"/>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0" name="Line">
            <a:extLst>
              <a:ext uri="{FF2B5EF4-FFF2-40B4-BE49-F238E27FC236}">
                <a16:creationId xmlns:a16="http://schemas.microsoft.com/office/drawing/2014/main" id="{2A879AE9-54A7-7931-1344-CEB7FC7FA478}"/>
              </a:ext>
            </a:extLst>
          </p:cNvPr>
          <p:cNvSpPr/>
          <p:nvPr/>
        </p:nvSpPr>
        <p:spPr>
          <a:xfrm>
            <a:off x="155448" y="6894018"/>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51" name="Group 50">
            <a:extLst>
              <a:ext uri="{FF2B5EF4-FFF2-40B4-BE49-F238E27FC236}">
                <a16:creationId xmlns:a16="http://schemas.microsoft.com/office/drawing/2014/main" id="{37882A5D-6998-2D58-C838-495C4ADF42D4}"/>
              </a:ext>
            </a:extLst>
          </p:cNvPr>
          <p:cNvGrpSpPr/>
          <p:nvPr/>
        </p:nvGrpSpPr>
        <p:grpSpPr>
          <a:xfrm>
            <a:off x="258236" y="8594860"/>
            <a:ext cx="964670" cy="594479"/>
            <a:chOff x="373334" y="8322821"/>
            <a:chExt cx="964670" cy="594479"/>
          </a:xfrm>
        </p:grpSpPr>
        <p:grpSp>
          <p:nvGrpSpPr>
            <p:cNvPr id="37" name="Google Shape;359;p18">
              <a:extLst>
                <a:ext uri="{FF2B5EF4-FFF2-40B4-BE49-F238E27FC236}">
                  <a16:creationId xmlns:a16="http://schemas.microsoft.com/office/drawing/2014/main" id="{E6CAC4F8-B85E-550D-EAE1-0C0134345D9D}"/>
                </a:ext>
              </a:extLst>
            </p:cNvPr>
            <p:cNvGrpSpPr/>
            <p:nvPr/>
          </p:nvGrpSpPr>
          <p:grpSpPr>
            <a:xfrm>
              <a:off x="373334" y="8364964"/>
              <a:ext cx="896341" cy="552336"/>
              <a:chOff x="3007175" y="1757600"/>
              <a:chExt cx="307200" cy="189300"/>
            </a:xfrm>
          </p:grpSpPr>
          <p:sp>
            <p:nvSpPr>
              <p:cNvPr id="38" name="Google Shape;360;p18">
                <a:extLst>
                  <a:ext uri="{FF2B5EF4-FFF2-40B4-BE49-F238E27FC236}">
                    <a16:creationId xmlns:a16="http://schemas.microsoft.com/office/drawing/2014/main" id="{F932A216-C36C-5D42-585E-D54740E4116D}"/>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 name="Google Shape;364;p18">
                <a:extLst>
                  <a:ext uri="{FF2B5EF4-FFF2-40B4-BE49-F238E27FC236}">
                    <a16:creationId xmlns:a16="http://schemas.microsoft.com/office/drawing/2014/main" id="{C098C105-C37C-482A-B386-5DDAB3059578}"/>
                  </a:ext>
                </a:extLst>
              </p:cNvPr>
              <p:cNvCxnSpPr>
                <a:cxnSpLocks/>
              </p:cNvCxnSpPr>
              <p:nvPr/>
            </p:nvCxnSpPr>
            <p:spPr>
              <a:xfrm>
                <a:off x="3042981" y="1800281"/>
                <a:ext cx="146367"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5" name="Google Shape;360;p18">
              <a:extLst>
                <a:ext uri="{FF2B5EF4-FFF2-40B4-BE49-F238E27FC236}">
                  <a16:creationId xmlns:a16="http://schemas.microsoft.com/office/drawing/2014/main" id="{3F91D018-8954-1161-9253-249DAE3AEB20}"/>
                </a:ext>
              </a:extLst>
            </p:cNvPr>
            <p:cNvSpPr/>
            <p:nvPr/>
          </p:nvSpPr>
          <p:spPr>
            <a:xfrm>
              <a:off x="477807" y="8613965"/>
              <a:ext cx="493743" cy="209988"/>
            </a:xfrm>
            <a:prstGeom prst="rect">
              <a:avLst/>
            </a:prstGeom>
            <a:noFill/>
            <a:ln w="9525" cap="flat" cmpd="sng">
              <a:solidFill>
                <a:schemeClr val="dk2"/>
              </a:solidFill>
              <a:prstDash val="sys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 name="Google Shape;360;p18">
              <a:extLst>
                <a:ext uri="{FF2B5EF4-FFF2-40B4-BE49-F238E27FC236}">
                  <a16:creationId xmlns:a16="http://schemas.microsoft.com/office/drawing/2014/main" id="{2630A24A-888B-8CA7-39D8-AE2F877806FC}"/>
                </a:ext>
              </a:extLst>
            </p:cNvPr>
            <p:cNvSpPr/>
            <p:nvPr/>
          </p:nvSpPr>
          <p:spPr>
            <a:xfrm>
              <a:off x="1041533" y="8374368"/>
              <a:ext cx="220891" cy="11513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Use headers, colors, and/or backgrounds to separate or group together sections.">
              <a:extLst>
                <a:ext uri="{FF2B5EF4-FFF2-40B4-BE49-F238E27FC236}">
                  <a16:creationId xmlns:a16="http://schemas.microsoft.com/office/drawing/2014/main" id="{0832D947-677E-F95C-F2C8-8E6DC577C2EA}"/>
                </a:ext>
              </a:extLst>
            </p:cNvPr>
            <p:cNvSpPr txBox="1"/>
            <p:nvPr/>
          </p:nvSpPr>
          <p:spPr>
            <a:xfrm>
              <a:off x="1015243" y="8322821"/>
              <a:ext cx="322761" cy="193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600" b="0" dirty="0">
                  <a:solidFill>
                    <a:srgbClr val="000000"/>
                  </a:solidFill>
                  <a:latin typeface="Source Sans Pro" panose="020B0503030403020204" pitchFamily="34" charset="0"/>
                  <a:ea typeface="Source Sans Pro" panose="020B0503030403020204" pitchFamily="34" charset="0"/>
                </a:rPr>
                <a:t>.</a:t>
              </a:r>
              <a:r>
                <a:rPr lang="en-US" sz="600" b="0" i="0" u="none" strike="noStrike" dirty="0" err="1">
                  <a:solidFill>
                    <a:srgbClr val="000000"/>
                  </a:solidFill>
                  <a:effectLst/>
                  <a:latin typeface="Source Sans Pro" panose="020B0503030403020204" pitchFamily="34" charset="0"/>
                  <a:ea typeface="Source Sans Pro" panose="020B0503030403020204" pitchFamily="34" charset="0"/>
                </a:rPr>
                <a:t>Rmd</a:t>
              </a:r>
              <a:endParaRPr lang="en-US" sz="600" b="0" i="0" u="none" strike="noStrike" dirty="0">
                <a:solidFill>
                  <a:srgbClr val="000000"/>
                </a:solidFill>
                <a:effectLst/>
                <a:latin typeface="Source Sans Pro" panose="020B0503030403020204" pitchFamily="34" charset="0"/>
                <a:ea typeface="Source Sans Pro" panose="020B0503030403020204" pitchFamily="34" charset="0"/>
              </a:endParaRPr>
            </a:p>
          </p:txBody>
        </p:sp>
      </p:grpSp>
      <p:grpSp>
        <p:nvGrpSpPr>
          <p:cNvPr id="453" name="Group 452">
            <a:extLst>
              <a:ext uri="{FF2B5EF4-FFF2-40B4-BE49-F238E27FC236}">
                <a16:creationId xmlns:a16="http://schemas.microsoft.com/office/drawing/2014/main" id="{C0C5CF83-A0D0-63DC-7887-CDC5A7120300}"/>
              </a:ext>
            </a:extLst>
          </p:cNvPr>
          <p:cNvGrpSpPr/>
          <p:nvPr/>
        </p:nvGrpSpPr>
        <p:grpSpPr>
          <a:xfrm>
            <a:off x="3042752" y="9107599"/>
            <a:ext cx="454677" cy="518380"/>
            <a:chOff x="3012598" y="8405060"/>
            <a:chExt cx="454677" cy="518380"/>
          </a:xfrm>
        </p:grpSpPr>
        <p:sp>
          <p:nvSpPr>
            <p:cNvPr id="454" name="Oval 453">
              <a:extLst>
                <a:ext uri="{FF2B5EF4-FFF2-40B4-BE49-F238E27FC236}">
                  <a16:creationId xmlns:a16="http://schemas.microsoft.com/office/drawing/2014/main" id="{5A60CA52-8388-F3F6-8FAA-9DFB5DDE56A3}"/>
                </a:ext>
              </a:extLst>
            </p:cNvPr>
            <p:cNvSpPr/>
            <p:nvPr/>
          </p:nvSpPr>
          <p:spPr>
            <a:xfrm>
              <a:off x="3017271" y="8405060"/>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Oval 454">
              <a:extLst>
                <a:ext uri="{FF2B5EF4-FFF2-40B4-BE49-F238E27FC236}">
                  <a16:creationId xmlns:a16="http://schemas.microsoft.com/office/drawing/2014/main" id="{C61230AA-B31E-9F7C-6E29-6573E4BE5B78}"/>
                </a:ext>
              </a:extLst>
            </p:cNvPr>
            <p:cNvSpPr/>
            <p:nvPr/>
          </p:nvSpPr>
          <p:spPr>
            <a:xfrm>
              <a:off x="3012598" y="8787923"/>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6" name="Oval 455">
              <a:extLst>
                <a:ext uri="{FF2B5EF4-FFF2-40B4-BE49-F238E27FC236}">
                  <a16:creationId xmlns:a16="http://schemas.microsoft.com/office/drawing/2014/main" id="{1A0EE69B-A4B0-6C4C-3714-FAC223F13769}"/>
                </a:ext>
              </a:extLst>
            </p:cNvPr>
            <p:cNvSpPr/>
            <p:nvPr/>
          </p:nvSpPr>
          <p:spPr>
            <a:xfrm>
              <a:off x="3316893" y="8568992"/>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59" name="Straight Connector 458">
              <a:extLst>
                <a:ext uri="{FF2B5EF4-FFF2-40B4-BE49-F238E27FC236}">
                  <a16:creationId xmlns:a16="http://schemas.microsoft.com/office/drawing/2014/main" id="{C828378A-5209-6070-6EF2-9E82B4DD2CB6}"/>
                </a:ext>
              </a:extLst>
            </p:cNvPr>
            <p:cNvCxnSpPr>
              <a:cxnSpLocks/>
              <a:stCxn id="454" idx="5"/>
              <a:endCxn id="456" idx="3"/>
            </p:cNvCxnSpPr>
            <p:nvPr/>
          </p:nvCxnSpPr>
          <p:spPr>
            <a:xfrm>
              <a:off x="3145630" y="8520731"/>
              <a:ext cx="193286" cy="16393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0" name="Straight Connector 459">
              <a:extLst>
                <a:ext uri="{FF2B5EF4-FFF2-40B4-BE49-F238E27FC236}">
                  <a16:creationId xmlns:a16="http://schemas.microsoft.com/office/drawing/2014/main" id="{5B93B101-6859-6748-1199-64DC1CA2D86F}"/>
                </a:ext>
              </a:extLst>
            </p:cNvPr>
            <p:cNvCxnSpPr>
              <a:cxnSpLocks/>
              <a:stCxn id="455" idx="7"/>
              <a:endCxn id="456" idx="3"/>
            </p:cNvCxnSpPr>
            <p:nvPr/>
          </p:nvCxnSpPr>
          <p:spPr>
            <a:xfrm flipV="1">
              <a:off x="3140957" y="8684663"/>
              <a:ext cx="197959" cy="1231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507" name="TextBox 506">
            <a:extLst>
              <a:ext uri="{FF2B5EF4-FFF2-40B4-BE49-F238E27FC236}">
                <a16:creationId xmlns:a16="http://schemas.microsoft.com/office/drawing/2014/main" id="{A67EC3D9-3DBD-C7F2-E234-68BDA46C1717}"/>
              </a:ext>
            </a:extLst>
          </p:cNvPr>
          <p:cNvSpPr txBox="1"/>
          <p:nvPr/>
        </p:nvSpPr>
        <p:spPr>
          <a:xfrm rot="20795230">
            <a:off x="1150865" y="8374068"/>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chemeClr val="accent2"/>
                </a:solidFill>
              </a:rPr>
              <a:t>project1.yml </a:t>
            </a:r>
            <a:r>
              <a:rPr lang="en-US" sz="900" dirty="0"/>
              <a:t>+ </a:t>
            </a:r>
            <a:r>
              <a:rPr lang="en-US" sz="900" dirty="0" err="1">
                <a:solidFill>
                  <a:schemeClr val="accent5"/>
                </a:solidFill>
              </a:rPr>
              <a:t>analysisA.yml</a:t>
            </a:r>
            <a:endParaRPr kumimoji="0" lang="en-US" sz="9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508" name="TextBox 507">
            <a:extLst>
              <a:ext uri="{FF2B5EF4-FFF2-40B4-BE49-F238E27FC236}">
                <a16:creationId xmlns:a16="http://schemas.microsoft.com/office/drawing/2014/main" id="{61C55B3A-61E1-E4D8-61E0-48D4EB7B2379}"/>
              </a:ext>
            </a:extLst>
          </p:cNvPr>
          <p:cNvSpPr txBox="1"/>
          <p:nvPr/>
        </p:nvSpPr>
        <p:spPr>
          <a:xfrm rot="742370">
            <a:off x="1149201" y="9269413"/>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chemeClr val="accent2"/>
                </a:solidFill>
              </a:rPr>
              <a:t>project1.yml </a:t>
            </a:r>
            <a:r>
              <a:rPr lang="en-US" sz="900" dirty="0"/>
              <a:t>+ </a:t>
            </a:r>
            <a:r>
              <a:rPr lang="en-US" sz="900" dirty="0" err="1">
                <a:solidFill>
                  <a:schemeClr val="accent5"/>
                </a:solidFill>
              </a:rPr>
              <a:t>analysisB.yml</a:t>
            </a:r>
            <a:endParaRPr kumimoji="0" lang="en-US" sz="9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cxnSp>
        <p:nvCxnSpPr>
          <p:cNvPr id="510" name="Straight Arrow Connector 509">
            <a:extLst>
              <a:ext uri="{FF2B5EF4-FFF2-40B4-BE49-F238E27FC236}">
                <a16:creationId xmlns:a16="http://schemas.microsoft.com/office/drawing/2014/main" id="{18DE76A0-CE5C-F0FC-EA9D-C569CADC0DBD}"/>
              </a:ext>
            </a:extLst>
          </p:cNvPr>
          <p:cNvCxnSpPr>
            <a:stCxn id="45" idx="3"/>
          </p:cNvCxnSpPr>
          <p:nvPr/>
        </p:nvCxnSpPr>
        <p:spPr>
          <a:xfrm flipV="1">
            <a:off x="856452" y="8515566"/>
            <a:ext cx="1873201" cy="475432"/>
          </a:xfrm>
          <a:prstGeom prst="straightConnector1">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56" name="Straight Arrow Connector 255">
            <a:extLst>
              <a:ext uri="{FF2B5EF4-FFF2-40B4-BE49-F238E27FC236}">
                <a16:creationId xmlns:a16="http://schemas.microsoft.com/office/drawing/2014/main" id="{B9484639-C495-44B2-4614-98B3CAF0A76C}"/>
              </a:ext>
            </a:extLst>
          </p:cNvPr>
          <p:cNvCxnSpPr>
            <a:cxnSpLocks/>
            <a:stCxn id="45" idx="3"/>
          </p:cNvCxnSpPr>
          <p:nvPr/>
        </p:nvCxnSpPr>
        <p:spPr>
          <a:xfrm>
            <a:off x="856452" y="8990998"/>
            <a:ext cx="1911133" cy="445267"/>
          </a:xfrm>
          <a:prstGeom prst="straightConnector1">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57" name="Line">
            <a:extLst>
              <a:ext uri="{FF2B5EF4-FFF2-40B4-BE49-F238E27FC236}">
                <a16:creationId xmlns:a16="http://schemas.microsoft.com/office/drawing/2014/main" id="{BC4B1A48-D169-DB29-A66A-19AC1513BE36}"/>
              </a:ext>
            </a:extLst>
          </p:cNvPr>
          <p:cNvSpPr/>
          <p:nvPr/>
        </p:nvSpPr>
        <p:spPr>
          <a:xfrm>
            <a:off x="9585197" y="7693822"/>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272" name="Group 271">
            <a:extLst>
              <a:ext uri="{FF2B5EF4-FFF2-40B4-BE49-F238E27FC236}">
                <a16:creationId xmlns:a16="http://schemas.microsoft.com/office/drawing/2014/main" id="{FFDF5387-790C-5FEE-65F7-989B0F14B44B}"/>
              </a:ext>
            </a:extLst>
          </p:cNvPr>
          <p:cNvGrpSpPr/>
          <p:nvPr/>
        </p:nvGrpSpPr>
        <p:grpSpPr>
          <a:xfrm>
            <a:off x="2833800" y="8283908"/>
            <a:ext cx="883368" cy="555353"/>
            <a:chOff x="2847879" y="8375813"/>
            <a:chExt cx="883368" cy="555353"/>
          </a:xfrm>
        </p:grpSpPr>
        <p:sp>
          <p:nvSpPr>
            <p:cNvPr id="273" name="Oval 272">
              <a:extLst>
                <a:ext uri="{FF2B5EF4-FFF2-40B4-BE49-F238E27FC236}">
                  <a16:creationId xmlns:a16="http://schemas.microsoft.com/office/drawing/2014/main" id="{DC3A2DA4-9017-682C-0B32-FEA5E23463CF}"/>
                </a:ext>
              </a:extLst>
            </p:cNvPr>
            <p:cNvSpPr/>
            <p:nvPr/>
          </p:nvSpPr>
          <p:spPr>
            <a:xfrm>
              <a:off x="2847879" y="8727890"/>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4" name="Oval 273">
              <a:extLst>
                <a:ext uri="{FF2B5EF4-FFF2-40B4-BE49-F238E27FC236}">
                  <a16:creationId xmlns:a16="http://schemas.microsoft.com/office/drawing/2014/main" id="{AF8022DA-37D1-7593-FE9A-259145F453B6}"/>
                </a:ext>
              </a:extLst>
            </p:cNvPr>
            <p:cNvSpPr/>
            <p:nvPr/>
          </p:nvSpPr>
          <p:spPr>
            <a:xfrm>
              <a:off x="3278436" y="8795649"/>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5" name="Oval 274">
              <a:extLst>
                <a:ext uri="{FF2B5EF4-FFF2-40B4-BE49-F238E27FC236}">
                  <a16:creationId xmlns:a16="http://schemas.microsoft.com/office/drawing/2014/main" id="{ADCBAAE7-38D3-2E5D-972A-0ACB5182F435}"/>
                </a:ext>
              </a:extLst>
            </p:cNvPr>
            <p:cNvSpPr/>
            <p:nvPr/>
          </p:nvSpPr>
          <p:spPr>
            <a:xfrm>
              <a:off x="3173314" y="8416186"/>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6" name="Oval 275">
              <a:extLst>
                <a:ext uri="{FF2B5EF4-FFF2-40B4-BE49-F238E27FC236}">
                  <a16:creationId xmlns:a16="http://schemas.microsoft.com/office/drawing/2014/main" id="{8E6F03DD-4355-2701-8404-605FF46B079C}"/>
                </a:ext>
              </a:extLst>
            </p:cNvPr>
            <p:cNvSpPr/>
            <p:nvPr/>
          </p:nvSpPr>
          <p:spPr>
            <a:xfrm>
              <a:off x="3580865" y="8375813"/>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7" name="Oval 276">
              <a:extLst>
                <a:ext uri="{FF2B5EF4-FFF2-40B4-BE49-F238E27FC236}">
                  <a16:creationId xmlns:a16="http://schemas.microsoft.com/office/drawing/2014/main" id="{0F532B41-606C-05EA-3D80-56776121681D}"/>
                </a:ext>
              </a:extLst>
            </p:cNvPr>
            <p:cNvSpPr/>
            <p:nvPr/>
          </p:nvSpPr>
          <p:spPr>
            <a:xfrm>
              <a:off x="3460024" y="8623561"/>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8" name="Straight Connector 277">
              <a:extLst>
                <a:ext uri="{FF2B5EF4-FFF2-40B4-BE49-F238E27FC236}">
                  <a16:creationId xmlns:a16="http://schemas.microsoft.com/office/drawing/2014/main" id="{2CC8F7D5-013C-8DC5-E087-90109560283E}"/>
                </a:ext>
              </a:extLst>
            </p:cNvPr>
            <p:cNvCxnSpPr>
              <a:cxnSpLocks/>
              <a:stCxn id="273" idx="7"/>
              <a:endCxn id="275"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Connector 278">
              <a:extLst>
                <a:ext uri="{FF2B5EF4-FFF2-40B4-BE49-F238E27FC236}">
                  <a16:creationId xmlns:a16="http://schemas.microsoft.com/office/drawing/2014/main" id="{A4643F7A-6BA6-26A0-7A8A-F38225ED2AA3}"/>
                </a:ext>
              </a:extLst>
            </p:cNvPr>
            <p:cNvCxnSpPr>
              <a:cxnSpLocks/>
              <a:stCxn id="274" idx="0"/>
              <a:endCxn id="275"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Connector 279">
              <a:extLst>
                <a:ext uri="{FF2B5EF4-FFF2-40B4-BE49-F238E27FC236}">
                  <a16:creationId xmlns:a16="http://schemas.microsoft.com/office/drawing/2014/main" id="{C140FE4F-2B53-9626-3FAF-D1DDB0EA18A1}"/>
                </a:ext>
              </a:extLst>
            </p:cNvPr>
            <p:cNvCxnSpPr>
              <a:cxnSpLocks/>
              <a:stCxn id="276" idx="2"/>
              <a:endCxn id="275" idx="6"/>
            </p:cNvCxnSpPr>
            <p:nvPr/>
          </p:nvCxnSpPr>
          <p:spPr>
            <a:xfrm flipH="1">
              <a:off x="3323696" y="8443572"/>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Connector 280">
              <a:extLst>
                <a:ext uri="{FF2B5EF4-FFF2-40B4-BE49-F238E27FC236}">
                  <a16:creationId xmlns:a16="http://schemas.microsoft.com/office/drawing/2014/main" id="{16212D05-1517-DA83-3969-2BC80544EBA6}"/>
                </a:ext>
              </a:extLst>
            </p:cNvPr>
            <p:cNvCxnSpPr>
              <a:cxnSpLocks/>
              <a:stCxn id="277" idx="0"/>
              <a:endCxn id="276" idx="4"/>
            </p:cNvCxnSpPr>
            <p:nvPr/>
          </p:nvCxnSpPr>
          <p:spPr>
            <a:xfrm flipV="1">
              <a:off x="3535215" y="8511330"/>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302" name="Group 301">
            <a:extLst>
              <a:ext uri="{FF2B5EF4-FFF2-40B4-BE49-F238E27FC236}">
                <a16:creationId xmlns:a16="http://schemas.microsoft.com/office/drawing/2014/main" id="{AC113F76-38AD-2762-6757-2EE692713BB0}"/>
              </a:ext>
            </a:extLst>
          </p:cNvPr>
          <p:cNvGrpSpPr/>
          <p:nvPr/>
        </p:nvGrpSpPr>
        <p:grpSpPr>
          <a:xfrm>
            <a:off x="9420381" y="9343385"/>
            <a:ext cx="4349680" cy="618490"/>
            <a:chOff x="9620320" y="9374712"/>
            <a:chExt cx="4349680" cy="618490"/>
          </a:xfrm>
        </p:grpSpPr>
        <p:grpSp>
          <p:nvGrpSpPr>
            <p:cNvPr id="451" name="Group 450">
              <a:extLst>
                <a:ext uri="{FF2B5EF4-FFF2-40B4-BE49-F238E27FC236}">
                  <a16:creationId xmlns:a16="http://schemas.microsoft.com/office/drawing/2014/main" id="{A6495B88-76AA-102E-156B-A15583EDC461}"/>
                </a:ext>
              </a:extLst>
            </p:cNvPr>
            <p:cNvGrpSpPr/>
            <p:nvPr/>
          </p:nvGrpSpPr>
          <p:grpSpPr>
            <a:xfrm>
              <a:off x="10851732" y="9409908"/>
              <a:ext cx="580939" cy="514980"/>
              <a:chOff x="2847879" y="8416186"/>
              <a:chExt cx="580939" cy="514980"/>
            </a:xfrm>
          </p:grpSpPr>
          <p:sp>
            <p:nvSpPr>
              <p:cNvPr id="57" name="Oval 56">
                <a:extLst>
                  <a:ext uri="{FF2B5EF4-FFF2-40B4-BE49-F238E27FC236}">
                    <a16:creationId xmlns:a16="http://schemas.microsoft.com/office/drawing/2014/main" id="{CB62BA5C-E4C5-B5CC-1CB6-861ED29550B2}"/>
                  </a:ext>
                </a:extLst>
              </p:cNvPr>
              <p:cNvSpPr/>
              <p:nvPr/>
            </p:nvSpPr>
            <p:spPr>
              <a:xfrm>
                <a:off x="2847879" y="8727890"/>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Oval 57">
                <a:extLst>
                  <a:ext uri="{FF2B5EF4-FFF2-40B4-BE49-F238E27FC236}">
                    <a16:creationId xmlns:a16="http://schemas.microsoft.com/office/drawing/2014/main" id="{956F7299-4E8D-B38D-6D39-8B71BF2EF0F8}"/>
                  </a:ext>
                </a:extLst>
              </p:cNvPr>
              <p:cNvSpPr/>
              <p:nvPr/>
            </p:nvSpPr>
            <p:spPr>
              <a:xfrm>
                <a:off x="3278436" y="8795649"/>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 name="Oval 58">
                <a:extLst>
                  <a:ext uri="{FF2B5EF4-FFF2-40B4-BE49-F238E27FC236}">
                    <a16:creationId xmlns:a16="http://schemas.microsoft.com/office/drawing/2014/main" id="{05305B49-3953-DCA2-3106-FD2E1DEE74E5}"/>
                  </a:ext>
                </a:extLst>
              </p:cNvPr>
              <p:cNvSpPr/>
              <p:nvPr/>
            </p:nvSpPr>
            <p:spPr>
              <a:xfrm>
                <a:off x="3173314" y="8416186"/>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2" name="Straight Connector 61">
                <a:extLst>
                  <a:ext uri="{FF2B5EF4-FFF2-40B4-BE49-F238E27FC236}">
                    <a16:creationId xmlns:a16="http://schemas.microsoft.com/office/drawing/2014/main" id="{464D948E-FC8B-86EF-0746-7BF970750CE4}"/>
                  </a:ext>
                </a:extLst>
              </p:cNvPr>
              <p:cNvCxnSpPr>
                <a:cxnSpLocks/>
                <a:stCxn id="57" idx="7"/>
                <a:endCxn id="59"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 name="Straight Connector 62">
                <a:extLst>
                  <a:ext uri="{FF2B5EF4-FFF2-40B4-BE49-F238E27FC236}">
                    <a16:creationId xmlns:a16="http://schemas.microsoft.com/office/drawing/2014/main" id="{03D884FD-BD6A-A32D-21AA-EB1D56FCF9C0}"/>
                  </a:ext>
                </a:extLst>
              </p:cNvPr>
              <p:cNvCxnSpPr>
                <a:cxnSpLocks/>
                <a:stCxn id="58" idx="0"/>
                <a:endCxn id="59"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283" name="Group 282">
              <a:extLst>
                <a:ext uri="{FF2B5EF4-FFF2-40B4-BE49-F238E27FC236}">
                  <a16:creationId xmlns:a16="http://schemas.microsoft.com/office/drawing/2014/main" id="{CA27C5FE-BD2E-8ECC-BFC6-103EC1E04400}"/>
                </a:ext>
              </a:extLst>
            </p:cNvPr>
            <p:cNvGrpSpPr/>
            <p:nvPr/>
          </p:nvGrpSpPr>
          <p:grpSpPr>
            <a:xfrm>
              <a:off x="9620320" y="9409908"/>
              <a:ext cx="533555" cy="533555"/>
              <a:chOff x="9685383" y="9409908"/>
              <a:chExt cx="533555" cy="533555"/>
            </a:xfrm>
          </p:grpSpPr>
          <p:sp>
            <p:nvSpPr>
              <p:cNvPr id="260" name="Oval 259">
                <a:extLst>
                  <a:ext uri="{FF2B5EF4-FFF2-40B4-BE49-F238E27FC236}">
                    <a16:creationId xmlns:a16="http://schemas.microsoft.com/office/drawing/2014/main" id="{CD7FBE15-9426-F2C9-6DEE-171462DA0A28}"/>
                  </a:ext>
                </a:extLst>
              </p:cNvPr>
              <p:cNvSpPr/>
              <p:nvPr/>
            </p:nvSpPr>
            <p:spPr>
              <a:xfrm>
                <a:off x="9685383" y="9409908"/>
                <a:ext cx="533555" cy="533555"/>
              </a:xfrm>
              <a:prstGeom prst="ellipse">
                <a:avLst/>
              </a:prstGeom>
              <a:ln w="1905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62" name="Straight Arrow Connector 261">
                <a:extLst>
                  <a:ext uri="{FF2B5EF4-FFF2-40B4-BE49-F238E27FC236}">
                    <a16:creationId xmlns:a16="http://schemas.microsoft.com/office/drawing/2014/main" id="{10B75754-B91E-9BF6-CC85-00AFE14E1F93}"/>
                  </a:ext>
                </a:extLst>
              </p:cNvPr>
              <p:cNvCxnSpPr>
                <a:cxnSpLocks/>
              </p:cNvCxnSpPr>
              <p:nvPr/>
            </p:nvCxnSpPr>
            <p:spPr>
              <a:xfrm flipV="1">
                <a:off x="9940728" y="9429211"/>
                <a:ext cx="1" cy="26677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9" name="Straight Arrow Connector 268">
                <a:extLst>
                  <a:ext uri="{FF2B5EF4-FFF2-40B4-BE49-F238E27FC236}">
                    <a16:creationId xmlns:a16="http://schemas.microsoft.com/office/drawing/2014/main" id="{37A219B2-4BDC-71A5-9FDF-3044B329CCF3}"/>
                  </a:ext>
                </a:extLst>
              </p:cNvPr>
              <p:cNvCxnSpPr>
                <a:cxnSpLocks/>
              </p:cNvCxnSpPr>
              <p:nvPr/>
            </p:nvCxnSpPr>
            <p:spPr>
              <a:xfrm rot="7200000" flipV="1">
                <a:off x="10056245" y="9616104"/>
                <a:ext cx="1" cy="26677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cxnSp>
          <p:nvCxnSpPr>
            <p:cNvPr id="271" name="Straight Arrow Connector 270">
              <a:extLst>
                <a:ext uri="{FF2B5EF4-FFF2-40B4-BE49-F238E27FC236}">
                  <a16:creationId xmlns:a16="http://schemas.microsoft.com/office/drawing/2014/main" id="{43A80F44-1096-1BBB-C1EC-5D7324193873}"/>
                </a:ext>
              </a:extLst>
            </p:cNvPr>
            <p:cNvCxnSpPr/>
            <p:nvPr/>
          </p:nvCxnSpPr>
          <p:spPr>
            <a:xfrm>
              <a:off x="10273881" y="9676685"/>
              <a:ext cx="507582"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284" name="Group 283">
              <a:extLst>
                <a:ext uri="{FF2B5EF4-FFF2-40B4-BE49-F238E27FC236}">
                  <a16:creationId xmlns:a16="http://schemas.microsoft.com/office/drawing/2014/main" id="{18FE2AD2-DBDA-3187-C3F2-B76FE136D397}"/>
                </a:ext>
              </a:extLst>
            </p:cNvPr>
            <p:cNvGrpSpPr/>
            <p:nvPr/>
          </p:nvGrpSpPr>
          <p:grpSpPr>
            <a:xfrm>
              <a:off x="12049996" y="9374712"/>
              <a:ext cx="533555" cy="533555"/>
              <a:chOff x="9685383" y="9409908"/>
              <a:chExt cx="533555" cy="533555"/>
            </a:xfrm>
          </p:grpSpPr>
          <p:sp>
            <p:nvSpPr>
              <p:cNvPr id="285" name="Oval 284">
                <a:extLst>
                  <a:ext uri="{FF2B5EF4-FFF2-40B4-BE49-F238E27FC236}">
                    <a16:creationId xmlns:a16="http://schemas.microsoft.com/office/drawing/2014/main" id="{6FD1832E-2801-F1FC-DACA-DCC027D046BD}"/>
                  </a:ext>
                </a:extLst>
              </p:cNvPr>
              <p:cNvSpPr/>
              <p:nvPr/>
            </p:nvSpPr>
            <p:spPr>
              <a:xfrm>
                <a:off x="9685383" y="9409908"/>
                <a:ext cx="533555" cy="533555"/>
              </a:xfrm>
              <a:prstGeom prst="ellipse">
                <a:avLst/>
              </a:prstGeom>
              <a:ln w="1905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86" name="Straight Arrow Connector 285">
                <a:extLst>
                  <a:ext uri="{FF2B5EF4-FFF2-40B4-BE49-F238E27FC236}">
                    <a16:creationId xmlns:a16="http://schemas.microsoft.com/office/drawing/2014/main" id="{EC3973D3-BCE6-0A40-D481-3A960676CF27}"/>
                  </a:ext>
                </a:extLst>
              </p:cNvPr>
              <p:cNvCxnSpPr>
                <a:cxnSpLocks/>
              </p:cNvCxnSpPr>
              <p:nvPr/>
            </p:nvCxnSpPr>
            <p:spPr>
              <a:xfrm flipV="1">
                <a:off x="9940728" y="9429211"/>
                <a:ext cx="1" cy="26677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7" name="Straight Arrow Connector 286">
                <a:extLst>
                  <a:ext uri="{FF2B5EF4-FFF2-40B4-BE49-F238E27FC236}">
                    <a16:creationId xmlns:a16="http://schemas.microsoft.com/office/drawing/2014/main" id="{0D9CAE8D-7968-9CDE-B9C5-EA118B42218B}"/>
                  </a:ext>
                </a:extLst>
              </p:cNvPr>
              <p:cNvCxnSpPr>
                <a:cxnSpLocks/>
              </p:cNvCxnSpPr>
              <p:nvPr/>
            </p:nvCxnSpPr>
            <p:spPr>
              <a:xfrm rot="7200000" flipV="1">
                <a:off x="10056245" y="9616104"/>
                <a:ext cx="1" cy="26677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cxnSp>
          <p:nvCxnSpPr>
            <p:cNvPr id="289" name="Straight Arrow Connector 288">
              <a:extLst>
                <a:ext uri="{FF2B5EF4-FFF2-40B4-BE49-F238E27FC236}">
                  <a16:creationId xmlns:a16="http://schemas.microsoft.com/office/drawing/2014/main" id="{40BD3EB3-3E84-016E-8AD1-C716031DA618}"/>
                </a:ext>
              </a:extLst>
            </p:cNvPr>
            <p:cNvCxnSpPr/>
            <p:nvPr/>
          </p:nvCxnSpPr>
          <p:spPr>
            <a:xfrm>
              <a:off x="11432671" y="9652630"/>
              <a:ext cx="507582"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0" name="Straight Arrow Connector 289">
              <a:extLst>
                <a:ext uri="{FF2B5EF4-FFF2-40B4-BE49-F238E27FC236}">
                  <a16:creationId xmlns:a16="http://schemas.microsoft.com/office/drawing/2014/main" id="{0DED513D-FF49-088E-9593-560D3D7BE255}"/>
                </a:ext>
              </a:extLst>
            </p:cNvPr>
            <p:cNvCxnSpPr/>
            <p:nvPr/>
          </p:nvCxnSpPr>
          <p:spPr>
            <a:xfrm>
              <a:off x="12682150" y="9647601"/>
              <a:ext cx="507582"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291" name="Group 290">
              <a:extLst>
                <a:ext uri="{FF2B5EF4-FFF2-40B4-BE49-F238E27FC236}">
                  <a16:creationId xmlns:a16="http://schemas.microsoft.com/office/drawing/2014/main" id="{5F04AFC3-7C34-3CEC-6F9C-91B265878225}"/>
                </a:ext>
              </a:extLst>
            </p:cNvPr>
            <p:cNvGrpSpPr/>
            <p:nvPr/>
          </p:nvGrpSpPr>
          <p:grpSpPr>
            <a:xfrm>
              <a:off x="13086632" y="9437849"/>
              <a:ext cx="883368" cy="555353"/>
              <a:chOff x="2847879" y="8375813"/>
              <a:chExt cx="883368" cy="555353"/>
            </a:xfrm>
          </p:grpSpPr>
          <p:sp>
            <p:nvSpPr>
              <p:cNvPr id="293" name="Oval 292">
                <a:extLst>
                  <a:ext uri="{FF2B5EF4-FFF2-40B4-BE49-F238E27FC236}">
                    <a16:creationId xmlns:a16="http://schemas.microsoft.com/office/drawing/2014/main" id="{ABAC4C91-5C52-37DC-FA08-EC2E46BB8344}"/>
                  </a:ext>
                </a:extLst>
              </p:cNvPr>
              <p:cNvSpPr/>
              <p:nvPr/>
            </p:nvSpPr>
            <p:spPr>
              <a:xfrm>
                <a:off x="2847879" y="8727890"/>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Oval 293">
                <a:extLst>
                  <a:ext uri="{FF2B5EF4-FFF2-40B4-BE49-F238E27FC236}">
                    <a16:creationId xmlns:a16="http://schemas.microsoft.com/office/drawing/2014/main" id="{92B3E01C-CD15-221A-7766-56957D645E26}"/>
                  </a:ext>
                </a:extLst>
              </p:cNvPr>
              <p:cNvSpPr/>
              <p:nvPr/>
            </p:nvSpPr>
            <p:spPr>
              <a:xfrm>
                <a:off x="3278436" y="8795649"/>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Oval 294">
                <a:extLst>
                  <a:ext uri="{FF2B5EF4-FFF2-40B4-BE49-F238E27FC236}">
                    <a16:creationId xmlns:a16="http://schemas.microsoft.com/office/drawing/2014/main" id="{D31004E4-64B8-283C-2B6B-9A889677E873}"/>
                  </a:ext>
                </a:extLst>
              </p:cNvPr>
              <p:cNvSpPr/>
              <p:nvPr/>
            </p:nvSpPr>
            <p:spPr>
              <a:xfrm>
                <a:off x="3173314" y="8416186"/>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6" name="Oval 295">
                <a:extLst>
                  <a:ext uri="{FF2B5EF4-FFF2-40B4-BE49-F238E27FC236}">
                    <a16:creationId xmlns:a16="http://schemas.microsoft.com/office/drawing/2014/main" id="{D69E1310-74D2-5159-795D-42F3D1F17FC3}"/>
                  </a:ext>
                </a:extLst>
              </p:cNvPr>
              <p:cNvSpPr/>
              <p:nvPr/>
            </p:nvSpPr>
            <p:spPr>
              <a:xfrm>
                <a:off x="3580865" y="8375813"/>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7" name="Oval 296">
                <a:extLst>
                  <a:ext uri="{FF2B5EF4-FFF2-40B4-BE49-F238E27FC236}">
                    <a16:creationId xmlns:a16="http://schemas.microsoft.com/office/drawing/2014/main" id="{36BFA959-9867-A349-8AD8-376F4D756456}"/>
                  </a:ext>
                </a:extLst>
              </p:cNvPr>
              <p:cNvSpPr/>
              <p:nvPr/>
            </p:nvSpPr>
            <p:spPr>
              <a:xfrm>
                <a:off x="3460024" y="8623561"/>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98" name="Straight Connector 297">
                <a:extLst>
                  <a:ext uri="{FF2B5EF4-FFF2-40B4-BE49-F238E27FC236}">
                    <a16:creationId xmlns:a16="http://schemas.microsoft.com/office/drawing/2014/main" id="{EAC8FE84-4905-503B-6664-525AE24A9E4A}"/>
                  </a:ext>
                </a:extLst>
              </p:cNvPr>
              <p:cNvCxnSpPr>
                <a:cxnSpLocks/>
                <a:stCxn id="293" idx="7"/>
                <a:endCxn id="295"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9" name="Straight Connector 298">
                <a:extLst>
                  <a:ext uri="{FF2B5EF4-FFF2-40B4-BE49-F238E27FC236}">
                    <a16:creationId xmlns:a16="http://schemas.microsoft.com/office/drawing/2014/main" id="{6AF00AD2-E0D8-C608-EC01-782ABC282497}"/>
                  </a:ext>
                </a:extLst>
              </p:cNvPr>
              <p:cNvCxnSpPr>
                <a:cxnSpLocks/>
                <a:stCxn id="294" idx="0"/>
                <a:endCxn id="295"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0" name="Straight Connector 299">
                <a:extLst>
                  <a:ext uri="{FF2B5EF4-FFF2-40B4-BE49-F238E27FC236}">
                    <a16:creationId xmlns:a16="http://schemas.microsoft.com/office/drawing/2014/main" id="{53BB39C0-5E8C-2FDC-990A-D88CABC7C9FE}"/>
                  </a:ext>
                </a:extLst>
              </p:cNvPr>
              <p:cNvCxnSpPr>
                <a:cxnSpLocks/>
                <a:stCxn id="296" idx="2"/>
                <a:endCxn id="295" idx="6"/>
              </p:cNvCxnSpPr>
              <p:nvPr/>
            </p:nvCxnSpPr>
            <p:spPr>
              <a:xfrm flipH="1">
                <a:off x="3323696" y="8443572"/>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1" name="Straight Connector 300">
                <a:extLst>
                  <a:ext uri="{FF2B5EF4-FFF2-40B4-BE49-F238E27FC236}">
                    <a16:creationId xmlns:a16="http://schemas.microsoft.com/office/drawing/2014/main" id="{7FB631B3-B1F7-15DB-2561-9BFBE476AF74}"/>
                  </a:ext>
                </a:extLst>
              </p:cNvPr>
              <p:cNvCxnSpPr>
                <a:cxnSpLocks/>
                <a:stCxn id="297" idx="0"/>
                <a:endCxn id="296" idx="4"/>
              </p:cNvCxnSpPr>
              <p:nvPr/>
            </p:nvCxnSpPr>
            <p:spPr>
              <a:xfrm flipV="1">
                <a:off x="3535215" y="8511330"/>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sp>
        <p:nvSpPr>
          <p:cNvPr id="303" name="TextBox 302">
            <a:extLst>
              <a:ext uri="{FF2B5EF4-FFF2-40B4-BE49-F238E27FC236}">
                <a16:creationId xmlns:a16="http://schemas.microsoft.com/office/drawing/2014/main" id="{42EFD73B-FC0F-5C30-E2D1-127A9A81D55E}"/>
              </a:ext>
            </a:extLst>
          </p:cNvPr>
          <p:cNvSpPr txBox="1"/>
          <p:nvPr/>
        </p:nvSpPr>
        <p:spPr>
          <a:xfrm>
            <a:off x="10019425" y="9358184"/>
            <a:ext cx="6023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t>Jan- Mar</a:t>
            </a:r>
            <a:endPar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04" name="TextBox 303">
            <a:extLst>
              <a:ext uri="{FF2B5EF4-FFF2-40B4-BE49-F238E27FC236}">
                <a16:creationId xmlns:a16="http://schemas.microsoft.com/office/drawing/2014/main" id="{8901E1AB-EE4D-F55C-D57E-3AAE233ADC13}"/>
              </a:ext>
            </a:extLst>
          </p:cNvPr>
          <p:cNvSpPr txBox="1"/>
          <p:nvPr/>
        </p:nvSpPr>
        <p:spPr>
          <a:xfrm>
            <a:off x="12456479" y="9320665"/>
            <a:ext cx="56385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rPr>
              <a:t>Apr-Jun</a:t>
            </a:r>
          </a:p>
        </p:txBody>
      </p:sp>
    </p:spTree>
    <p:extLst>
      <p:ext uri="{BB962C8B-B14F-4D97-AF65-F5344CB8AC3E}">
        <p14:creationId xmlns:p14="http://schemas.microsoft.com/office/powerpoint/2010/main" val="11185011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29A5-6B7A-55C5-17FF-56B3DFDF83F6}"/>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068455FB-2B8E-629E-035E-0AF63FF234EF}"/>
              </a:ext>
            </a:extLst>
          </p:cNvPr>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312" name="Line">
            <a:extLst>
              <a:ext uri="{FF2B5EF4-FFF2-40B4-BE49-F238E27FC236}">
                <a16:creationId xmlns:a16="http://schemas.microsoft.com/office/drawing/2014/main" id="{BA5CCA6B-F195-2CCA-92E7-D226105E71D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3918A581-2DC0-D23A-37E5-E9E79A5B928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882E4E4D-D4E9-BA7B-3D8F-8247186CA6B2}"/>
              </a:ext>
            </a:extLst>
          </p:cNvPr>
          <p:cNvSpPr txBox="1"/>
          <p:nvPr/>
        </p:nvSpPr>
        <p:spPr>
          <a:xfrm>
            <a:off x="9576575" y="1412171"/>
            <a:ext cx="13946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Config API</a:t>
            </a:r>
          </a:p>
        </p:txBody>
      </p:sp>
      <p:sp>
        <p:nvSpPr>
          <p:cNvPr id="334" name="Three Column Layout: : CHEAT SHEET">
            <a:extLst>
              <a:ext uri="{FF2B5EF4-FFF2-40B4-BE49-F238E27FC236}">
                <a16:creationId xmlns:a16="http://schemas.microsoft.com/office/drawing/2014/main" id="{6228F5EF-5700-80E4-6E29-C383FBE5A1E0}"/>
              </a:ext>
            </a:extLst>
          </p:cNvPr>
          <p:cNvSpPr txBox="1">
            <a:spLocks noGrp="1"/>
          </p:cNvSpPr>
          <p:nvPr>
            <p:ph type="title"/>
          </p:nvPr>
        </p:nvSpPr>
        <p:spPr>
          <a:xfrm>
            <a:off x="275721" y="361177"/>
            <a:ext cx="10898129" cy="803346"/>
          </a:xfrm>
          <a:prstGeom prst="rect">
            <a:avLst/>
          </a:prstGeom>
        </p:spPr>
        <p:txBody>
          <a:bodyPr lIns="0" tIns="0" rIns="0" bIns="0" anchor="t">
            <a:normAutofit/>
          </a:bodyPr>
          <a:lstStyle/>
          <a:p>
            <a:r>
              <a:rPr lang="en-US" dirty="0"/>
              <a:t>Configurations (.</a:t>
            </a:r>
            <a:r>
              <a:rPr lang="en-US" dirty="0" err="1"/>
              <a:t>yml</a:t>
            </a:r>
            <a:r>
              <a:rPr lang="en-US" dirty="0"/>
              <a: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36500CB0-8AAE-C59E-8F34-9BCAE9DBD6AD}"/>
              </a:ext>
            </a:extLst>
          </p:cNvPr>
          <p:cNvSpPr txBox="1"/>
          <p:nvPr/>
        </p:nvSpPr>
        <p:spPr>
          <a:xfrm>
            <a:off x="143526" y="1855171"/>
            <a:ext cx="3949153" cy="18491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err="1">
                <a:solidFill>
                  <a:srgbClr val="000000"/>
                </a:solidFill>
                <a:effectLst/>
                <a:latin typeface="Source Sans Pro" panose="020B0503030403020204" pitchFamily="34" charset="0"/>
                <a:ea typeface="Source Sans Pro" panose="020B0503030403020204" pitchFamily="34" charset="0"/>
              </a:rPr>
              <a:t>Kaiaulu</a:t>
            </a:r>
            <a:r>
              <a:rPr lang="en-US" b="0" i="0" u="none" strike="noStrike" dirty="0">
                <a:solidFill>
                  <a:srgbClr val="000000"/>
                </a:solidFill>
                <a:effectLst/>
                <a:latin typeface="Source Sans Pro" panose="020B0503030403020204" pitchFamily="34" charset="0"/>
                <a:ea typeface="Source Sans Pro" panose="020B0503030403020204" pitchFamily="34" charset="0"/>
              </a:rPr>
              <a:t> uses configuration files to store data parameters that are used to run analyses. Instead of having these values in notebooks or scripts, these configuration files let users reuse the same workflows across different projects and analyses.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By splitting the configurations into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(1)</a:t>
            </a:r>
            <a:r>
              <a:rPr lang="en-US" b="0" dirty="0">
                <a:solidFill>
                  <a:srgbClr val="000000"/>
                </a:solidFill>
                <a:latin typeface="Source Sans Pro" panose="020B0503030403020204" pitchFamily="34" charset="0"/>
                <a:ea typeface="Source Sans Pro" panose="020B0503030403020204" pitchFamily="34" charset="0"/>
                <a:sym typeface="Source Sans Pro Light"/>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and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(2)</a:t>
            </a:r>
            <a:r>
              <a:rPr lang="en-US" b="0" i="0" u="none" strike="noStrike" dirty="0">
                <a:solidFill>
                  <a:srgbClr val="000000"/>
                </a:solidFill>
                <a:effectLst/>
                <a:latin typeface="Source Sans Pro" panose="020B0503030403020204" pitchFamily="34" charset="0"/>
                <a:ea typeface="Source Sans Pro" panose="020B0503030403020204" pitchFamily="34" charset="0"/>
              </a:rPr>
              <a:t> files, it reduces the duplication of data parameters and allows users to mix and match different project and analysis configs.</a:t>
            </a:r>
          </a:p>
        </p:txBody>
      </p:sp>
      <p:sp>
        <p:nvSpPr>
          <p:cNvPr id="342" name="Create a visual hierarchy. Help users navigate the page with titles, subtitles, and subsubtitles">
            <a:extLst>
              <a:ext uri="{FF2B5EF4-FFF2-40B4-BE49-F238E27FC236}">
                <a16:creationId xmlns:a16="http://schemas.microsoft.com/office/drawing/2014/main" id="{042D0A3C-0432-F98A-E7F4-D93D8FD4DA21}"/>
              </a:ext>
            </a:extLst>
          </p:cNvPr>
          <p:cNvSpPr txBox="1"/>
          <p:nvPr/>
        </p:nvSpPr>
        <p:spPr>
          <a:xfrm>
            <a:off x="9584561" y="1793256"/>
            <a:ext cx="4001355"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err="1">
                <a:latin typeface="Source Sans Pro" panose="020B0503030403020204" pitchFamily="34" charset="0"/>
                <a:ea typeface="Source Sans Pro" panose="020B0503030403020204" pitchFamily="34" charset="0"/>
                <a:sym typeface="Source Sans Pro"/>
              </a:rPr>
              <a:t>Kaiaulu</a:t>
            </a:r>
            <a:r>
              <a:rPr lang="en-US" dirty="0">
                <a:latin typeface="Source Sans Pro" panose="020B0503030403020204" pitchFamily="34" charset="0"/>
                <a:ea typeface="Source Sans Pro" panose="020B0503030403020204" pitchFamily="34" charset="0"/>
                <a:sym typeface="Source Sans Pro"/>
              </a:rPr>
              <a:t> uses get functions to extract values from configuration files. </a:t>
            </a:r>
            <a:r>
              <a:rPr lang="en-US" dirty="0">
                <a:latin typeface="Source Sans Pro" panose="020B0503030403020204" pitchFamily="34" charset="0"/>
                <a:ea typeface="Source Sans Pro" panose="020B0503030403020204" pitchFamily="34" charset="0"/>
              </a:rPr>
              <a:t>These functions allow notebooks and executables to access parameters in</a:t>
            </a:r>
            <a:r>
              <a:rPr lang="en-US" b="0" dirty="0">
                <a:solidFill>
                  <a:schemeClr val="accent2"/>
                </a:solidFill>
                <a:latin typeface="Source Sans Pro" panose="020B0503030403020204" pitchFamily="34" charset="0"/>
                <a:ea typeface="Source Sans Pro" panose="020B0503030403020204" pitchFamily="34" charset="0"/>
                <a:sym typeface="Source Sans Pro Light"/>
              </a:rPr>
              <a:t>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(1)</a:t>
            </a:r>
            <a:r>
              <a:rPr lang="en-US" b="0" dirty="0">
                <a:solidFill>
                  <a:srgbClr val="000000"/>
                </a:solidFill>
                <a:latin typeface="Source Sans Pro" panose="020B0503030403020204" pitchFamily="34" charset="0"/>
                <a:ea typeface="Source Sans Pro" panose="020B0503030403020204" pitchFamily="34" charset="0"/>
                <a:sym typeface="Source Sans Pro Light"/>
              </a:rPr>
              <a:t> and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(2)</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a:t>
            </a:r>
            <a:endParaRPr lang="en-US" dirty="0">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9B155F9F-5D05-0560-7AB2-0B6606567253}"/>
              </a:ext>
            </a:extLst>
          </p:cNvPr>
          <p:cNvSpPr txBox="1"/>
          <p:nvPr/>
        </p:nvSpPr>
        <p:spPr>
          <a:xfrm>
            <a:off x="146304"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BCC7BF69-8D75-423D-A421-B86DFD1CD2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8AEE722B-7604-ABBB-0BC2-42E79936C09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Gi Young (Michelle) Back</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740" name="Basics">
            <a:extLst>
              <a:ext uri="{FF2B5EF4-FFF2-40B4-BE49-F238E27FC236}">
                <a16:creationId xmlns:a16="http://schemas.microsoft.com/office/drawing/2014/main" id="{DD1A5563-052C-7D8F-2B7D-3A18EC308048}"/>
              </a:ext>
            </a:extLst>
          </p:cNvPr>
          <p:cNvSpPr txBox="1"/>
          <p:nvPr/>
        </p:nvSpPr>
        <p:spPr>
          <a:xfrm>
            <a:off x="155448" y="3942456"/>
            <a:ext cx="200696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none" lIns="12700" tIns="12700" rIns="12700" bIns="127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lvl="1" indent="0">
              <a:lnSpc>
                <a:spcPct val="80000"/>
              </a:lnSpc>
              <a:spcBef>
                <a:spcPts val="0"/>
              </a:spcBef>
              <a:defRPr sz="2500" b="0">
                <a:solidFill>
                  <a:srgbClr val="628DB5"/>
                </a:solidFill>
              </a:defRPr>
            </a:pPr>
            <a:r>
              <a:rPr lang="en-US" dirty="0"/>
              <a:t>Configurations</a:t>
            </a:r>
            <a:endParaRPr dirty="0"/>
          </a:p>
        </p:txBody>
      </p:sp>
      <p:sp>
        <p:nvSpPr>
          <p:cNvPr id="7" name="Manipulate Variables">
            <a:extLst>
              <a:ext uri="{FF2B5EF4-FFF2-40B4-BE49-F238E27FC236}">
                <a16:creationId xmlns:a16="http://schemas.microsoft.com/office/drawing/2014/main" id="{9F3EEB55-2311-4A07-5CE9-DB2863FCAFF7}"/>
              </a:ext>
            </a:extLst>
          </p:cNvPr>
          <p:cNvSpPr txBox="1"/>
          <p:nvPr/>
        </p:nvSpPr>
        <p:spPr>
          <a:xfrm>
            <a:off x="9584561" y="7070079"/>
            <a:ext cx="248144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Temporal Analysis</a:t>
            </a:r>
          </a:p>
        </p:txBody>
      </p:sp>
      <p:sp>
        <p:nvSpPr>
          <p:cNvPr id="12" name="TextBox 11">
            <a:extLst>
              <a:ext uri="{FF2B5EF4-FFF2-40B4-BE49-F238E27FC236}">
                <a16:creationId xmlns:a16="http://schemas.microsoft.com/office/drawing/2014/main" id="{CEF8FD92-25EC-CE3B-8EE5-2D05E897E9BA}"/>
              </a:ext>
            </a:extLst>
          </p:cNvPr>
          <p:cNvSpPr txBox="1"/>
          <p:nvPr/>
        </p:nvSpPr>
        <p:spPr>
          <a:xfrm>
            <a:off x="9576575" y="7385580"/>
            <a:ext cx="3968070"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Temporal parameters in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files (2)</a:t>
            </a:r>
            <a:r>
              <a:rPr lang="en-US" b="0" dirty="0">
                <a:latin typeface="Source Sans Pro" panose="020B0503030403020204" pitchFamily="34" charset="0"/>
                <a:ea typeface="Source Sans Pro" panose="020B0503030403020204" pitchFamily="34" charset="0"/>
              </a:rPr>
              <a:t> allow users to analyze a project over time. This allows users to compare data from different timestamps and observe changes and activity in code structure over time.</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5" name="Manipulate Variables">
            <a:extLst>
              <a:ext uri="{FF2B5EF4-FFF2-40B4-BE49-F238E27FC236}">
                <a16:creationId xmlns:a16="http://schemas.microsoft.com/office/drawing/2014/main" id="{D6CDD448-C5D4-84F8-0009-1F1B03D13774}"/>
              </a:ext>
            </a:extLst>
          </p:cNvPr>
          <p:cNvSpPr txBox="1"/>
          <p:nvPr/>
        </p:nvSpPr>
        <p:spPr>
          <a:xfrm>
            <a:off x="4819606" y="1426182"/>
            <a:ext cx="426719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Interchangeable Configurations</a:t>
            </a:r>
          </a:p>
        </p:txBody>
      </p:sp>
      <p:sp>
        <p:nvSpPr>
          <p:cNvPr id="36" name="Line">
            <a:extLst>
              <a:ext uri="{FF2B5EF4-FFF2-40B4-BE49-F238E27FC236}">
                <a16:creationId xmlns:a16="http://schemas.microsoft.com/office/drawing/2014/main" id="{002FDFA3-4D8A-522D-D344-B39713A2DBDE}"/>
              </a:ext>
            </a:extLst>
          </p:cNvPr>
          <p:cNvSpPr/>
          <p:nvPr/>
        </p:nvSpPr>
        <p:spPr>
          <a:xfrm flipV="1">
            <a:off x="9580868" y="10058400"/>
            <a:ext cx="417880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5" name="Use headers, colors, and/or backgrounds to separate or group together sections.">
            <a:extLst>
              <a:ext uri="{FF2B5EF4-FFF2-40B4-BE49-F238E27FC236}">
                <a16:creationId xmlns:a16="http://schemas.microsoft.com/office/drawing/2014/main" id="{0059A851-C6F1-362F-119E-4D7439852A35}"/>
              </a:ext>
            </a:extLst>
          </p:cNvPr>
          <p:cNvSpPr txBox="1"/>
          <p:nvPr/>
        </p:nvSpPr>
        <p:spPr>
          <a:xfrm>
            <a:off x="173122" y="4417367"/>
            <a:ext cx="3949153"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a:t>
            </a:r>
            <a:r>
              <a:rPr lang="en-US" b="0" i="0" u="none" strike="noStrike" dirty="0" err="1">
                <a:solidFill>
                  <a:schemeClr val="accent2"/>
                </a:solidFill>
                <a:effectLst/>
                <a:latin typeface="Source Sans Pro" panose="020B0503030403020204" pitchFamily="34" charset="0"/>
                <a:ea typeface="Source Sans Pro" panose="020B0503030403020204" pitchFamily="34" charset="0"/>
                <a:sym typeface="Source Sans Pro Light"/>
              </a:rPr>
              <a:t>p</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files (1) </a:t>
            </a:r>
            <a:r>
              <a:rPr lang="en-US" b="0" i="0" u="none" strike="noStrike" dirty="0">
                <a:solidFill>
                  <a:srgbClr val="000000"/>
                </a:solidFill>
                <a:effectLst/>
                <a:latin typeface="Source Sans Pro" panose="020B0503030403020204" pitchFamily="34" charset="0"/>
                <a:ea typeface="Source Sans Pro" panose="020B0503030403020204" pitchFamily="34" charset="0"/>
              </a:rPr>
              <a:t>define immutable data such as version control, issue trackers, and mailing lists.</a:t>
            </a:r>
          </a:p>
        </p:txBody>
      </p:sp>
      <p:sp>
        <p:nvSpPr>
          <p:cNvPr id="356" name="Use headers, colors, and/or backgrounds to separate or group together sections.">
            <a:extLst>
              <a:ext uri="{FF2B5EF4-FFF2-40B4-BE49-F238E27FC236}">
                <a16:creationId xmlns:a16="http://schemas.microsoft.com/office/drawing/2014/main" id="{39EE5ACB-3925-47E4-806F-8C578FC6F1F7}"/>
              </a:ext>
            </a:extLst>
          </p:cNvPr>
          <p:cNvSpPr txBox="1"/>
          <p:nvPr/>
        </p:nvSpPr>
        <p:spPr>
          <a:xfrm>
            <a:off x="170343" y="6293935"/>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are specific to a project and remain consistent across different analyses.</a:t>
            </a:r>
          </a:p>
        </p:txBody>
      </p:sp>
      <p:grpSp>
        <p:nvGrpSpPr>
          <p:cNvPr id="396" name="Group 395">
            <a:extLst>
              <a:ext uri="{FF2B5EF4-FFF2-40B4-BE49-F238E27FC236}">
                <a16:creationId xmlns:a16="http://schemas.microsoft.com/office/drawing/2014/main" id="{1A6CC404-8C63-C16D-3A9E-46DE222EE3B9}"/>
              </a:ext>
            </a:extLst>
          </p:cNvPr>
          <p:cNvGrpSpPr/>
          <p:nvPr/>
        </p:nvGrpSpPr>
        <p:grpSpPr>
          <a:xfrm>
            <a:off x="373334" y="5175031"/>
            <a:ext cx="1441090" cy="862872"/>
            <a:chOff x="4056577" y="4033088"/>
            <a:chExt cx="493900" cy="295729"/>
          </a:xfrm>
        </p:grpSpPr>
        <p:sp>
          <p:nvSpPr>
            <p:cNvPr id="397" name="Google Shape;375;p18">
              <a:extLst>
                <a:ext uri="{FF2B5EF4-FFF2-40B4-BE49-F238E27FC236}">
                  <a16:creationId xmlns:a16="http://schemas.microsoft.com/office/drawing/2014/main" id="{EBE897EB-8E34-B338-93AE-D50D0C332C6A}"/>
                </a:ext>
              </a:extLst>
            </p:cNvPr>
            <p:cNvSpPr txBox="1"/>
            <p:nvPr/>
          </p:nvSpPr>
          <p:spPr>
            <a:xfrm>
              <a:off x="4106777" y="4033088"/>
              <a:ext cx="443700"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GitHub</a:t>
              </a:r>
              <a:endParaRPr dirty="0">
                <a:solidFill>
                  <a:schemeClr val="dk2"/>
                </a:solidFill>
                <a:latin typeface="Source Sans 3"/>
                <a:ea typeface="Source Sans 3"/>
                <a:cs typeface="Source Sans 3"/>
                <a:sym typeface="Source Sans 3"/>
              </a:endParaRPr>
            </a:p>
          </p:txBody>
        </p:sp>
        <p:grpSp>
          <p:nvGrpSpPr>
            <p:cNvPr id="398" name="Google Shape;359;p18">
              <a:extLst>
                <a:ext uri="{FF2B5EF4-FFF2-40B4-BE49-F238E27FC236}">
                  <a16:creationId xmlns:a16="http://schemas.microsoft.com/office/drawing/2014/main" id="{E45D6B4A-311E-0399-0978-55381A3AD798}"/>
                </a:ext>
              </a:extLst>
            </p:cNvPr>
            <p:cNvGrpSpPr/>
            <p:nvPr/>
          </p:nvGrpSpPr>
          <p:grpSpPr>
            <a:xfrm>
              <a:off x="4056577" y="4139517"/>
              <a:ext cx="307200" cy="189300"/>
              <a:chOff x="3007175" y="1757600"/>
              <a:chExt cx="307200" cy="189300"/>
            </a:xfrm>
          </p:grpSpPr>
          <p:sp>
            <p:nvSpPr>
              <p:cNvPr id="399" name="Google Shape;360;p18">
                <a:extLst>
                  <a:ext uri="{FF2B5EF4-FFF2-40B4-BE49-F238E27FC236}">
                    <a16:creationId xmlns:a16="http://schemas.microsoft.com/office/drawing/2014/main" id="{403A9E03-0E8E-1840-1168-4714548D9027}"/>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1;p18">
                <a:extLst>
                  <a:ext uri="{FF2B5EF4-FFF2-40B4-BE49-F238E27FC236}">
                    <a16:creationId xmlns:a16="http://schemas.microsoft.com/office/drawing/2014/main" id="{0653253A-74D9-CA81-E74A-AE4A966E136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2;p18">
                <a:extLst>
                  <a:ext uri="{FF2B5EF4-FFF2-40B4-BE49-F238E27FC236}">
                    <a16:creationId xmlns:a16="http://schemas.microsoft.com/office/drawing/2014/main" id="{3C67F1A4-CBA3-6D2A-869E-493FAA97BF5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363;p18">
                <a:extLst>
                  <a:ext uri="{FF2B5EF4-FFF2-40B4-BE49-F238E27FC236}">
                    <a16:creationId xmlns:a16="http://schemas.microsoft.com/office/drawing/2014/main" id="{6C307CA5-ACE9-EA55-FA33-6784875AB68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3" name="Google Shape;364;p18">
                <a:extLst>
                  <a:ext uri="{FF2B5EF4-FFF2-40B4-BE49-F238E27FC236}">
                    <a16:creationId xmlns:a16="http://schemas.microsoft.com/office/drawing/2014/main" id="{0846D586-C343-F70E-0C40-2A890A51F14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5;p18">
                <a:extLst>
                  <a:ext uri="{FF2B5EF4-FFF2-40B4-BE49-F238E27FC236}">
                    <a16:creationId xmlns:a16="http://schemas.microsoft.com/office/drawing/2014/main" id="{EEC91B7B-CF05-8A0B-BEF6-75EF7F309C8C}"/>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366;p18">
                <a:extLst>
                  <a:ext uri="{FF2B5EF4-FFF2-40B4-BE49-F238E27FC236}">
                    <a16:creationId xmlns:a16="http://schemas.microsoft.com/office/drawing/2014/main" id="{DE04F24E-B2C0-F04A-C701-19E0D613F4C6}"/>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14" name="Group 413">
            <a:extLst>
              <a:ext uri="{FF2B5EF4-FFF2-40B4-BE49-F238E27FC236}">
                <a16:creationId xmlns:a16="http://schemas.microsoft.com/office/drawing/2014/main" id="{B75E33B4-6736-A216-5C79-1F6A3206D3F9}"/>
              </a:ext>
            </a:extLst>
          </p:cNvPr>
          <p:cNvGrpSpPr/>
          <p:nvPr/>
        </p:nvGrpSpPr>
        <p:grpSpPr>
          <a:xfrm>
            <a:off x="1519251" y="5165209"/>
            <a:ext cx="896341" cy="862872"/>
            <a:chOff x="4056577" y="4033088"/>
            <a:chExt cx="307200" cy="295729"/>
          </a:xfrm>
        </p:grpSpPr>
        <p:sp>
          <p:nvSpPr>
            <p:cNvPr id="415" name="Google Shape;375;p18">
              <a:extLst>
                <a:ext uri="{FF2B5EF4-FFF2-40B4-BE49-F238E27FC236}">
                  <a16:creationId xmlns:a16="http://schemas.microsoft.com/office/drawing/2014/main" id="{699F071F-87F7-F4DE-46E1-CB054566C29C}"/>
                </a:ext>
              </a:extLst>
            </p:cNvPr>
            <p:cNvSpPr txBox="1"/>
            <p:nvPr/>
          </p:nvSpPr>
          <p:spPr>
            <a:xfrm>
              <a:off x="4144430" y="4033088"/>
              <a:ext cx="150347"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Jira</a:t>
              </a:r>
              <a:endParaRPr dirty="0">
                <a:solidFill>
                  <a:schemeClr val="dk2"/>
                </a:solidFill>
                <a:latin typeface="Source Sans 3"/>
                <a:ea typeface="Source Sans 3"/>
                <a:cs typeface="Source Sans 3"/>
                <a:sym typeface="Source Sans 3"/>
              </a:endParaRPr>
            </a:p>
          </p:txBody>
        </p:sp>
        <p:grpSp>
          <p:nvGrpSpPr>
            <p:cNvPr id="416" name="Google Shape;359;p18">
              <a:extLst>
                <a:ext uri="{FF2B5EF4-FFF2-40B4-BE49-F238E27FC236}">
                  <a16:creationId xmlns:a16="http://schemas.microsoft.com/office/drawing/2014/main" id="{5DEE1795-8F7E-30FE-DEB8-9D0442A0A838}"/>
                </a:ext>
              </a:extLst>
            </p:cNvPr>
            <p:cNvGrpSpPr/>
            <p:nvPr/>
          </p:nvGrpSpPr>
          <p:grpSpPr>
            <a:xfrm>
              <a:off x="4056577" y="4139517"/>
              <a:ext cx="307200" cy="189300"/>
              <a:chOff x="3007175" y="1757600"/>
              <a:chExt cx="307200" cy="189300"/>
            </a:xfrm>
          </p:grpSpPr>
          <p:sp>
            <p:nvSpPr>
              <p:cNvPr id="417" name="Google Shape;360;p18">
                <a:extLst>
                  <a:ext uri="{FF2B5EF4-FFF2-40B4-BE49-F238E27FC236}">
                    <a16:creationId xmlns:a16="http://schemas.microsoft.com/office/drawing/2014/main" id="{C15EF474-A7A7-C780-57D2-23A9F2D9C792}"/>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361;p18">
                <a:extLst>
                  <a:ext uri="{FF2B5EF4-FFF2-40B4-BE49-F238E27FC236}">
                    <a16:creationId xmlns:a16="http://schemas.microsoft.com/office/drawing/2014/main" id="{B587D35F-CEF3-E2B1-3420-2224F9D6E80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362;p18">
                <a:extLst>
                  <a:ext uri="{FF2B5EF4-FFF2-40B4-BE49-F238E27FC236}">
                    <a16:creationId xmlns:a16="http://schemas.microsoft.com/office/drawing/2014/main" id="{24106A88-286C-2C84-E782-F5C31BEC4F7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363;p18">
                <a:extLst>
                  <a:ext uri="{FF2B5EF4-FFF2-40B4-BE49-F238E27FC236}">
                    <a16:creationId xmlns:a16="http://schemas.microsoft.com/office/drawing/2014/main" id="{87814B0E-AEE8-3BD9-335C-947722E25CDD}"/>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1" name="Google Shape;364;p18">
                <a:extLst>
                  <a:ext uri="{FF2B5EF4-FFF2-40B4-BE49-F238E27FC236}">
                    <a16:creationId xmlns:a16="http://schemas.microsoft.com/office/drawing/2014/main" id="{397DBFA4-8C59-D576-8316-FE6B4EA48C3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365;p18">
                <a:extLst>
                  <a:ext uri="{FF2B5EF4-FFF2-40B4-BE49-F238E27FC236}">
                    <a16:creationId xmlns:a16="http://schemas.microsoft.com/office/drawing/2014/main" id="{A76F8966-268C-4FDA-9093-EED4980C3A6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366;p18">
                <a:extLst>
                  <a:ext uri="{FF2B5EF4-FFF2-40B4-BE49-F238E27FC236}">
                    <a16:creationId xmlns:a16="http://schemas.microsoft.com/office/drawing/2014/main" id="{19FF9022-8BC3-E847-0F61-E0591FD2DEC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24" name="Google Shape;377;p18">
            <a:extLst>
              <a:ext uri="{FF2B5EF4-FFF2-40B4-BE49-F238E27FC236}">
                <a16:creationId xmlns:a16="http://schemas.microsoft.com/office/drawing/2014/main" id="{7EC6ACB9-F90F-A409-C53A-F21BB9C2C728}"/>
              </a:ext>
            </a:extLst>
          </p:cNvPr>
          <p:cNvGrpSpPr/>
          <p:nvPr/>
        </p:nvGrpSpPr>
        <p:grpSpPr>
          <a:xfrm>
            <a:off x="2836022" y="5459921"/>
            <a:ext cx="588585" cy="570766"/>
            <a:chOff x="3021975" y="2389850"/>
            <a:chExt cx="307200" cy="297900"/>
          </a:xfrm>
        </p:grpSpPr>
        <p:sp>
          <p:nvSpPr>
            <p:cNvPr id="425" name="Google Shape;378;p18">
              <a:extLst>
                <a:ext uri="{FF2B5EF4-FFF2-40B4-BE49-F238E27FC236}">
                  <a16:creationId xmlns:a16="http://schemas.microsoft.com/office/drawing/2014/main" id="{A099C6DF-08D9-F9CD-A312-E1EFC2042502}"/>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6" name="Google Shape;379;p18">
              <a:extLst>
                <a:ext uri="{FF2B5EF4-FFF2-40B4-BE49-F238E27FC236}">
                  <a16:creationId xmlns:a16="http://schemas.microsoft.com/office/drawing/2014/main" id="{CDA37A1E-D56D-2FB4-09F5-0F05D2FEF6D4}"/>
                </a:ext>
              </a:extLst>
            </p:cNvPr>
            <p:cNvGrpSpPr/>
            <p:nvPr/>
          </p:nvGrpSpPr>
          <p:grpSpPr>
            <a:xfrm>
              <a:off x="3021975" y="2389850"/>
              <a:ext cx="307200" cy="295800"/>
              <a:chOff x="3021975" y="2389850"/>
              <a:chExt cx="307200" cy="295800"/>
            </a:xfrm>
          </p:grpSpPr>
          <p:sp>
            <p:nvSpPr>
              <p:cNvPr id="427" name="Google Shape;380;p18">
                <a:extLst>
                  <a:ext uri="{FF2B5EF4-FFF2-40B4-BE49-F238E27FC236}">
                    <a16:creationId xmlns:a16="http://schemas.microsoft.com/office/drawing/2014/main" id="{A70CFD0D-F387-EC63-DED9-24E7A9873D9F}"/>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381;p18">
                <a:extLst>
                  <a:ext uri="{FF2B5EF4-FFF2-40B4-BE49-F238E27FC236}">
                    <a16:creationId xmlns:a16="http://schemas.microsoft.com/office/drawing/2014/main" id="{E374E964-AB08-171A-3CE4-DC915066697F}"/>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9" name="Google Shape;382;p18">
                <a:extLst>
                  <a:ext uri="{FF2B5EF4-FFF2-40B4-BE49-F238E27FC236}">
                    <a16:creationId xmlns:a16="http://schemas.microsoft.com/office/drawing/2014/main" id="{FAABE73B-0DCF-4537-B08E-50A8C72B142A}"/>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383;p18">
                <a:extLst>
                  <a:ext uri="{FF2B5EF4-FFF2-40B4-BE49-F238E27FC236}">
                    <a16:creationId xmlns:a16="http://schemas.microsoft.com/office/drawing/2014/main" id="{C4F219FA-A22F-3296-03A8-F64F998B0D9C}"/>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1" name="Google Shape;384;p18">
                <a:extLst>
                  <a:ext uri="{FF2B5EF4-FFF2-40B4-BE49-F238E27FC236}">
                    <a16:creationId xmlns:a16="http://schemas.microsoft.com/office/drawing/2014/main" id="{952C68EF-D73C-C616-4433-7CDF8964F864}"/>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2" name="Google Shape;385;p18">
                <a:extLst>
                  <a:ext uri="{FF2B5EF4-FFF2-40B4-BE49-F238E27FC236}">
                    <a16:creationId xmlns:a16="http://schemas.microsoft.com/office/drawing/2014/main" id="{DE368D78-E57F-5818-0DBD-EAED2B55FCF2}"/>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386;p18">
                <a:extLst>
                  <a:ext uri="{FF2B5EF4-FFF2-40B4-BE49-F238E27FC236}">
                    <a16:creationId xmlns:a16="http://schemas.microsoft.com/office/drawing/2014/main" id="{0511088A-9848-A6DD-A3E7-D3FCCE08DB49}"/>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7;p18">
                <a:extLst>
                  <a:ext uri="{FF2B5EF4-FFF2-40B4-BE49-F238E27FC236}">
                    <a16:creationId xmlns:a16="http://schemas.microsoft.com/office/drawing/2014/main" id="{1E342787-8440-A754-9238-5270336EFE4C}"/>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35" name="Google Shape;375;p18">
            <a:extLst>
              <a:ext uri="{FF2B5EF4-FFF2-40B4-BE49-F238E27FC236}">
                <a16:creationId xmlns:a16="http://schemas.microsoft.com/office/drawing/2014/main" id="{EBDF4ADF-D44E-28C2-AECB-E8361A67096A}"/>
              </a:ext>
            </a:extLst>
          </p:cNvPr>
          <p:cNvSpPr txBox="1"/>
          <p:nvPr/>
        </p:nvSpPr>
        <p:spPr>
          <a:xfrm>
            <a:off x="2729653" y="5158122"/>
            <a:ext cx="1294618" cy="343049"/>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Mailing List</a:t>
            </a:r>
            <a:endParaRPr dirty="0">
              <a:solidFill>
                <a:schemeClr val="dk2"/>
              </a:solidFill>
              <a:latin typeface="Source Sans 3"/>
              <a:ea typeface="Source Sans 3"/>
              <a:cs typeface="Source Sans 3"/>
              <a:sym typeface="Source Sans 3"/>
            </a:endParaRPr>
          </a:p>
        </p:txBody>
      </p:sp>
      <p:sp>
        <p:nvSpPr>
          <p:cNvPr id="382" name="Logistics">
            <a:extLst>
              <a:ext uri="{FF2B5EF4-FFF2-40B4-BE49-F238E27FC236}">
                <a16:creationId xmlns:a16="http://schemas.microsoft.com/office/drawing/2014/main" id="{22C6C018-CA4D-20C9-9424-2143BF557DB6}"/>
              </a:ext>
            </a:extLst>
          </p:cNvPr>
          <p:cNvSpPr txBox="1"/>
          <p:nvPr/>
        </p:nvSpPr>
        <p:spPr>
          <a:xfrm>
            <a:off x="199939" y="7137651"/>
            <a:ext cx="316112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Analysis Configurations</a:t>
            </a:r>
          </a:p>
        </p:txBody>
      </p:sp>
      <p:sp>
        <p:nvSpPr>
          <p:cNvPr id="441" name="Use headers, colors, and/or backgrounds to separate or group together sections.">
            <a:extLst>
              <a:ext uri="{FF2B5EF4-FFF2-40B4-BE49-F238E27FC236}">
                <a16:creationId xmlns:a16="http://schemas.microsoft.com/office/drawing/2014/main" id="{6204DA43-948A-1A78-EF21-2A59CCC492DB}"/>
              </a:ext>
            </a:extLst>
          </p:cNvPr>
          <p:cNvSpPr txBox="1"/>
          <p:nvPr/>
        </p:nvSpPr>
        <p:spPr>
          <a:xfrm>
            <a:off x="143525" y="7620809"/>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Users can define in the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configuration files (2)</a:t>
            </a:r>
            <a:r>
              <a:rPr lang="en-US" b="0" dirty="0">
                <a:solidFill>
                  <a:srgbClr val="000000"/>
                </a:solidFill>
                <a:latin typeface="Source Sans Pro" panose="020B0503030403020204" pitchFamily="34" charset="0"/>
                <a:ea typeface="Source Sans Pro" panose="020B0503030403020204" pitchFamily="34" charset="0"/>
                <a:sym typeface="Source Sans Pro Light"/>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filters heuristics and tool parameters (e.g. depends,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uctags</a:t>
            </a:r>
            <a:r>
              <a:rPr lang="en-US" b="0" i="0" u="none" strike="noStrike" dirty="0">
                <a:solidFill>
                  <a:srgbClr val="000000"/>
                </a:solidFill>
                <a:effectLst/>
                <a:latin typeface="Source Sans Pro" panose="020B0503030403020204" pitchFamily="34" charset="0"/>
                <a:ea typeface="Source Sans Pro" panose="020B0503030403020204" pitchFamily="34" charset="0"/>
              </a:rPr>
              <a:t>).</a:t>
            </a:r>
          </a:p>
        </p:txBody>
      </p:sp>
      <p:sp>
        <p:nvSpPr>
          <p:cNvPr id="770" name="Use headers, colors, and/or backgrounds to separate or group together sections.">
            <a:extLst>
              <a:ext uri="{FF2B5EF4-FFF2-40B4-BE49-F238E27FC236}">
                <a16:creationId xmlns:a16="http://schemas.microsoft.com/office/drawing/2014/main" id="{FD11D589-500B-3E67-F678-8B269E205BDC}"/>
              </a:ext>
            </a:extLst>
          </p:cNvPr>
          <p:cNvSpPr txBox="1"/>
          <p:nvPr/>
        </p:nvSpPr>
        <p:spPr>
          <a:xfrm>
            <a:off x="173122" y="9732412"/>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can be reused across different projects and define how data is analyzed.</a:t>
            </a:r>
          </a:p>
        </p:txBody>
      </p:sp>
      <p:sp>
        <p:nvSpPr>
          <p:cNvPr id="773" name="Use headers, colors, and/or backgrounds to separate or group together sections.">
            <a:extLst>
              <a:ext uri="{FF2B5EF4-FFF2-40B4-BE49-F238E27FC236}">
                <a16:creationId xmlns:a16="http://schemas.microsoft.com/office/drawing/2014/main" id="{032F312D-D7B4-E3B6-4FEB-F99D1365EA35}"/>
              </a:ext>
            </a:extLst>
          </p:cNvPr>
          <p:cNvSpPr txBox="1"/>
          <p:nvPr/>
        </p:nvSpPr>
        <p:spPr>
          <a:xfrm>
            <a:off x="4957637" y="7420990"/>
            <a:ext cx="4159162" cy="2347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notebooks (3), configuration files can be found near the beginning of the file. The notebook parses </a:t>
            </a:r>
            <a:r>
              <a:rPr lang="en-US" b="0" dirty="0" err="1">
                <a:solidFill>
                  <a:schemeClr val="accent2"/>
                </a:solidFill>
                <a:latin typeface="Source Sans Pro" panose="020B0503030403020204" pitchFamily="34" charset="0"/>
                <a:ea typeface="Source Sans Pro" panose="020B0503030403020204" pitchFamily="34" charset="0"/>
              </a:rPr>
              <a:t>project.yml</a:t>
            </a:r>
            <a:r>
              <a:rPr lang="en-US" b="0" dirty="0">
                <a:solidFill>
                  <a:schemeClr val="accent2"/>
                </a:solidFill>
                <a:latin typeface="Source Sans Pro" panose="020B0503030403020204" pitchFamily="34" charset="0"/>
                <a:ea typeface="Source Sans Pro" panose="020B0503030403020204" pitchFamily="34" charset="0"/>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5"/>
                </a:solidFill>
                <a:latin typeface="Source Sans Pro" panose="020B0503030403020204" pitchFamily="34" charset="0"/>
                <a:ea typeface="Source Sans Pro" panose="020B0503030403020204" pitchFamily="34" charset="0"/>
              </a:rPr>
              <a:t>analysis.yml</a:t>
            </a:r>
            <a:r>
              <a:rPr lang="en-US" b="0" dirty="0">
                <a:solidFill>
                  <a:schemeClr val="accent5"/>
                </a:solidFill>
                <a:latin typeface="Source Sans Pro" panose="020B0503030403020204" pitchFamily="34" charset="0"/>
                <a:ea typeface="Source Sans Pro" panose="020B0503030403020204" pitchFamily="34" charset="0"/>
              </a:rPr>
              <a:t> (2)</a:t>
            </a:r>
            <a:r>
              <a:rPr lang="en-US" b="0" dirty="0">
                <a:solidFill>
                  <a:srgbClr val="000000"/>
                </a:solidFill>
                <a:latin typeface="Source Sans Pro" panose="020B0503030403020204" pitchFamily="34" charset="0"/>
                <a:ea typeface="Source Sans Pro" panose="020B0503030403020204" pitchFamily="34" charset="0"/>
              </a:rPr>
              <a:t> files and gets the values of the parameters with get functions. This allows users to modify parameters in the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instead of the notebooks.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executables (4), both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(2)</a:t>
            </a:r>
            <a:r>
              <a:rPr lang="en-US" b="0" dirty="0">
                <a:solidFill>
                  <a:srgbClr val="000000"/>
                </a:solidFill>
                <a:latin typeface="Source Sans Pro" panose="020B0503030403020204" pitchFamily="34" charset="0"/>
                <a:ea typeface="Source Sans Pro" panose="020B0503030403020204" pitchFamily="34" charset="0"/>
              </a:rPr>
              <a:t> files are passed directly as arguments through the command line. The script runs the selected configuration without modification. Although using executables makes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(1)</a:t>
            </a:r>
            <a:r>
              <a:rPr lang="en-US" b="0" dirty="0">
                <a:solidFill>
                  <a:srgbClr val="000000"/>
                </a:solidFill>
                <a:latin typeface="Source Sans Pro" panose="020B0503030403020204" pitchFamily="34" charset="0"/>
                <a:ea typeface="Source Sans Pro" panose="020B0503030403020204" pitchFamily="34" charset="0"/>
              </a:rPr>
              <a:t> and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(2)</a:t>
            </a:r>
            <a:r>
              <a:rPr lang="en-US" b="0" dirty="0">
                <a:solidFill>
                  <a:srgbClr val="000000"/>
                </a:solidFill>
                <a:latin typeface="Source Sans Pro" panose="020B0503030403020204" pitchFamily="34" charset="0"/>
                <a:ea typeface="Source Sans Pro" panose="020B0503030403020204" pitchFamily="34" charset="0"/>
              </a:rPr>
              <a:t> files fixed during execution, the advantages of using executables versus notebooks are that they can run on server side and do not require knowledge of R. </a:t>
            </a:r>
          </a:p>
        </p:txBody>
      </p:sp>
      <p:grpSp>
        <p:nvGrpSpPr>
          <p:cNvPr id="777" name="Group 776">
            <a:extLst>
              <a:ext uri="{FF2B5EF4-FFF2-40B4-BE49-F238E27FC236}">
                <a16:creationId xmlns:a16="http://schemas.microsoft.com/office/drawing/2014/main" id="{B9A47A76-FA60-284C-6970-452545A576E3}"/>
              </a:ext>
            </a:extLst>
          </p:cNvPr>
          <p:cNvGrpSpPr/>
          <p:nvPr/>
        </p:nvGrpSpPr>
        <p:grpSpPr>
          <a:xfrm>
            <a:off x="9576575" y="2734491"/>
            <a:ext cx="4181634" cy="1951655"/>
            <a:chOff x="9606269" y="2500544"/>
            <a:chExt cx="4181634" cy="1951655"/>
          </a:xfrm>
        </p:grpSpPr>
        <p:sp>
          <p:nvSpPr>
            <p:cNvPr id="46" name="Logistics">
              <a:extLst>
                <a:ext uri="{FF2B5EF4-FFF2-40B4-BE49-F238E27FC236}">
                  <a16:creationId xmlns:a16="http://schemas.microsoft.com/office/drawing/2014/main" id="{31760523-A12C-4DE9-927E-50DAA49335E1}"/>
                </a:ext>
              </a:extLst>
            </p:cNvPr>
            <p:cNvSpPr txBox="1"/>
            <p:nvPr/>
          </p:nvSpPr>
          <p:spPr>
            <a:xfrm>
              <a:off x="9606269" y="2500544"/>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Project</a:t>
              </a:r>
            </a:p>
          </p:txBody>
        </p:sp>
        <p:sp>
          <p:nvSpPr>
            <p:cNvPr id="500" name="TextBox 499">
              <a:extLst>
                <a:ext uri="{FF2B5EF4-FFF2-40B4-BE49-F238E27FC236}">
                  <a16:creationId xmlns:a16="http://schemas.microsoft.com/office/drawing/2014/main" id="{C66EAABB-1FFC-8EC7-24DB-584F1F53B7FA}"/>
                </a:ext>
              </a:extLst>
            </p:cNvPr>
            <p:cNvSpPr txBox="1"/>
            <p:nvPr/>
          </p:nvSpPr>
          <p:spPr>
            <a:xfrm>
              <a:off x="9610555" y="3259646"/>
              <a:ext cx="4177348" cy="1192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get_git_repo_path</a:t>
              </a:r>
              <a:r>
                <a:rPr lang="en-US" sz="1300" dirty="0"/>
                <a:t>()</a:t>
              </a:r>
            </a:p>
            <a:p>
              <a:r>
                <a:rPr lang="en-US" b="0" dirty="0"/>
                <a:t>Returns the local path  of the project’s Git repository. </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get_git_branches</a:t>
              </a:r>
              <a:r>
                <a:rPr lang="en-US" sz="1300" dirty="0"/>
                <a:t>()</a:t>
              </a:r>
            </a:p>
            <a:p>
              <a:r>
                <a:rPr lang="en-US" b="0" dirty="0"/>
                <a:t>Retrieves the branches specified in the config.</a:t>
              </a:r>
            </a:p>
          </p:txBody>
        </p:sp>
        <p:sp>
          <p:nvSpPr>
            <p:cNvPr id="776" name="Create a visual hierarchy. Help users navigate the page with titles, subtitles, and subsubtitles">
              <a:extLst>
                <a:ext uri="{FF2B5EF4-FFF2-40B4-BE49-F238E27FC236}">
                  <a16:creationId xmlns:a16="http://schemas.microsoft.com/office/drawing/2014/main" id="{F08C68AD-4895-4DFE-F1D3-F0616FE0D3A0}"/>
                </a:ext>
              </a:extLst>
            </p:cNvPr>
            <p:cNvSpPr txBox="1"/>
            <p:nvPr/>
          </p:nvSpPr>
          <p:spPr>
            <a:xfrm>
              <a:off x="9610555" y="2823844"/>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The following </a:t>
              </a:r>
              <a:r>
                <a:rPr lang="en-US" dirty="0">
                  <a:latin typeface="Source Sans Pro" panose="020B0503030403020204" pitchFamily="34" charset="0"/>
                  <a:ea typeface="Source Sans Pro" panose="020B0503030403020204" pitchFamily="34" charset="0"/>
                </a:rPr>
                <a:t>APIs are used to retrieve parameters from the </a:t>
              </a:r>
              <a:r>
                <a:rPr lang="en-US" b="0" dirty="0" err="1">
                  <a:solidFill>
                    <a:schemeClr val="accent2"/>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configurations (1)</a:t>
              </a:r>
              <a:r>
                <a:rPr lang="en-US" dirty="0">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grpSp>
        <p:nvGrpSpPr>
          <p:cNvPr id="778" name="Group 777">
            <a:extLst>
              <a:ext uri="{FF2B5EF4-FFF2-40B4-BE49-F238E27FC236}">
                <a16:creationId xmlns:a16="http://schemas.microsoft.com/office/drawing/2014/main" id="{852CC340-7B7D-0D94-6FF2-AE0327552D1E}"/>
              </a:ext>
            </a:extLst>
          </p:cNvPr>
          <p:cNvGrpSpPr/>
          <p:nvPr/>
        </p:nvGrpSpPr>
        <p:grpSpPr>
          <a:xfrm>
            <a:off x="9585197" y="4803885"/>
            <a:ext cx="4177348" cy="1943624"/>
            <a:chOff x="9606269" y="2500544"/>
            <a:chExt cx="4177348" cy="1943624"/>
          </a:xfrm>
        </p:grpSpPr>
        <p:sp>
          <p:nvSpPr>
            <p:cNvPr id="779" name="Logistics">
              <a:extLst>
                <a:ext uri="{FF2B5EF4-FFF2-40B4-BE49-F238E27FC236}">
                  <a16:creationId xmlns:a16="http://schemas.microsoft.com/office/drawing/2014/main" id="{590FC2C6-4333-CDD1-BCCD-C8679366C32A}"/>
                </a:ext>
              </a:extLst>
            </p:cNvPr>
            <p:cNvSpPr txBox="1"/>
            <p:nvPr/>
          </p:nvSpPr>
          <p:spPr>
            <a:xfrm>
              <a:off x="9606269" y="2500544"/>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Analysis</a:t>
              </a:r>
            </a:p>
          </p:txBody>
        </p:sp>
        <p:sp>
          <p:nvSpPr>
            <p:cNvPr id="780" name="TextBox 779">
              <a:extLst>
                <a:ext uri="{FF2B5EF4-FFF2-40B4-BE49-F238E27FC236}">
                  <a16:creationId xmlns:a16="http://schemas.microsoft.com/office/drawing/2014/main" id="{44B623B8-7543-7728-0792-1FFFAF5227FA}"/>
                </a:ext>
              </a:extLst>
            </p:cNvPr>
            <p:cNvSpPr txBox="1"/>
            <p:nvPr/>
          </p:nvSpPr>
          <p:spPr>
            <a:xfrm>
              <a:off x="9606269" y="3251615"/>
              <a:ext cx="4177348" cy="1192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get_file_extension</a:t>
              </a:r>
              <a:r>
                <a:rPr lang="en-US" sz="1300" dirty="0"/>
                <a:t>()</a:t>
              </a:r>
            </a:p>
            <a:p>
              <a:r>
                <a:rPr lang="en-US" b="0" dirty="0"/>
                <a:t>Returns file types (e.g. c, java) used to filter source files.</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get_substring_filepath</a:t>
              </a:r>
              <a:r>
                <a:rPr lang="en-US" sz="1300" dirty="0"/>
                <a:t>()</a:t>
              </a:r>
            </a:p>
            <a:p>
              <a:r>
                <a:rPr lang="en-US" b="0" dirty="0"/>
                <a:t>Returns keywords used to exclude certain file paths.</a:t>
              </a:r>
            </a:p>
          </p:txBody>
        </p:sp>
        <p:sp>
          <p:nvSpPr>
            <p:cNvPr id="781" name="Create a visual hierarchy. Help users navigate the page with titles, subtitles, and subsubtitles">
              <a:extLst>
                <a:ext uri="{FF2B5EF4-FFF2-40B4-BE49-F238E27FC236}">
                  <a16:creationId xmlns:a16="http://schemas.microsoft.com/office/drawing/2014/main" id="{ACA12142-4FF7-D4E8-C544-9039108121E1}"/>
                </a:ext>
              </a:extLst>
            </p:cNvPr>
            <p:cNvSpPr txBox="1"/>
            <p:nvPr/>
          </p:nvSpPr>
          <p:spPr>
            <a:xfrm>
              <a:off x="9628667" y="2812291"/>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The following </a:t>
              </a:r>
              <a:r>
                <a:rPr lang="en-US" b="0" dirty="0">
                  <a:solidFill>
                    <a:srgbClr val="000000"/>
                  </a:solidFill>
                  <a:latin typeface="Source Sans Pro" panose="020B0503030403020204" pitchFamily="34" charset="0"/>
                  <a:ea typeface="Source Sans Pro" panose="020B0503030403020204" pitchFamily="34" charset="0"/>
                  <a:sym typeface="Source Sans Pro Light"/>
                </a:rPr>
                <a:t>APIs are used to retrieve parameters from the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configurations (2)</a:t>
              </a:r>
              <a:r>
                <a:rPr lang="en-US" dirty="0">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sp>
        <p:nvSpPr>
          <p:cNvPr id="3" name="Use headers, colors, and/or backgrounds to separate or group together sections.">
            <a:extLst>
              <a:ext uri="{FF2B5EF4-FFF2-40B4-BE49-F238E27FC236}">
                <a16:creationId xmlns:a16="http://schemas.microsoft.com/office/drawing/2014/main" id="{B9AC3E2F-E7B2-FEBA-DE11-0E97360CB5E0}"/>
              </a:ext>
            </a:extLst>
          </p:cNvPr>
          <p:cNvSpPr txBox="1"/>
          <p:nvPr/>
        </p:nvSpPr>
        <p:spPr>
          <a:xfrm>
            <a:off x="4933269" y="1861350"/>
            <a:ext cx="4159162" cy="1107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accent2"/>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2"/>
                </a:solidFill>
                <a:latin typeface="Source Sans Pro" panose="020B0503030403020204" pitchFamily="34" charset="0"/>
                <a:ea typeface="Source Sans Pro" panose="020B0503030403020204" pitchFamily="34" charset="0"/>
                <a:sym typeface="Source Sans Pro Light"/>
              </a:rPr>
              <a:t> files (1) </a:t>
            </a:r>
            <a:r>
              <a:rPr lang="en-US" b="0" dirty="0">
                <a:solidFill>
                  <a:srgbClr val="000000"/>
                </a:solidFill>
                <a:latin typeface="Source Sans Pro" panose="020B0503030403020204" pitchFamily="34" charset="0"/>
                <a:ea typeface="Source Sans Pro" panose="020B0503030403020204" pitchFamily="34" charset="0"/>
                <a:sym typeface="Source Sans Pro Light"/>
              </a:rPr>
              <a:t>can be combined with any </a:t>
            </a:r>
            <a:r>
              <a:rPr lang="en-US" b="0" dirty="0" err="1">
                <a:solidFill>
                  <a:schemeClr val="accent5"/>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5"/>
                </a:solidFill>
                <a:latin typeface="Source Sans Pro" panose="020B0503030403020204" pitchFamily="34" charset="0"/>
                <a:ea typeface="Source Sans Pro" panose="020B0503030403020204" pitchFamily="34" charset="0"/>
                <a:sym typeface="Source Sans Pro Light"/>
              </a:rPr>
              <a:t> files (2). </a:t>
            </a:r>
            <a:r>
              <a:rPr lang="en-US" b="0" dirty="0">
                <a:solidFill>
                  <a:srgbClr val="000000"/>
                </a:solidFill>
                <a:latin typeface="Source Sans Pro" panose="020B0503030403020204" pitchFamily="34" charset="0"/>
                <a:ea typeface="Source Sans Pro" panose="020B0503030403020204" pitchFamily="34" charset="0"/>
                <a:sym typeface="Source Sans Pro Light"/>
              </a:rPr>
              <a:t>This allows users to run the same analysis on multiple projects or run different analyses on the same project. It reduces duplication of immutable sections of the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yml</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 and makes both project and analysis configurations interchangeable.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744" name="Rectangle 743">
            <a:extLst>
              <a:ext uri="{FF2B5EF4-FFF2-40B4-BE49-F238E27FC236}">
                <a16:creationId xmlns:a16="http://schemas.microsoft.com/office/drawing/2014/main" id="{6FA3214C-E911-F431-AF5C-5122EBAF8ECE}"/>
              </a:ext>
            </a:extLst>
          </p:cNvPr>
          <p:cNvSpPr/>
          <p:nvPr/>
        </p:nvSpPr>
        <p:spPr>
          <a:xfrm>
            <a:off x="4888883" y="3142989"/>
            <a:ext cx="4304374"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46" name="Group 745">
            <a:extLst>
              <a:ext uri="{FF2B5EF4-FFF2-40B4-BE49-F238E27FC236}">
                <a16:creationId xmlns:a16="http://schemas.microsoft.com/office/drawing/2014/main" id="{AA55CDDB-06CF-D393-0B44-EC7BB6FB54BA}"/>
              </a:ext>
            </a:extLst>
          </p:cNvPr>
          <p:cNvGrpSpPr/>
          <p:nvPr/>
        </p:nvGrpSpPr>
        <p:grpSpPr>
          <a:xfrm>
            <a:off x="5004262" y="3427572"/>
            <a:ext cx="1697185" cy="1166492"/>
            <a:chOff x="2066366" y="1290575"/>
            <a:chExt cx="4087905" cy="2809658"/>
          </a:xfrm>
        </p:grpSpPr>
        <p:sp>
          <p:nvSpPr>
            <p:cNvPr id="340" name="Rectangle 339">
              <a:extLst>
                <a:ext uri="{FF2B5EF4-FFF2-40B4-BE49-F238E27FC236}">
                  <a16:creationId xmlns:a16="http://schemas.microsoft.com/office/drawing/2014/main" id="{5CC3C34B-0803-EC20-007D-B31669F7BE2E}"/>
                </a:ext>
              </a:extLst>
            </p:cNvPr>
            <p:cNvSpPr/>
            <p:nvPr/>
          </p:nvSpPr>
          <p:spPr>
            <a:xfrm>
              <a:off x="3245226" y="1385931"/>
              <a:ext cx="1716740" cy="621282"/>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Rectangle 342">
              <a:extLst>
                <a:ext uri="{FF2B5EF4-FFF2-40B4-BE49-F238E27FC236}">
                  <a16:creationId xmlns:a16="http://schemas.microsoft.com/office/drawing/2014/main" id="{776AF532-60C2-B4CC-620B-214AE4A84FD9}"/>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Rectangle 343">
              <a:extLst>
                <a:ext uri="{FF2B5EF4-FFF2-40B4-BE49-F238E27FC236}">
                  <a16:creationId xmlns:a16="http://schemas.microsoft.com/office/drawing/2014/main" id="{D842FEA2-3DC1-C47F-E632-246DD20CE798}"/>
                </a:ext>
              </a:extLst>
            </p:cNvPr>
            <p:cNvSpPr/>
            <p:nvPr/>
          </p:nvSpPr>
          <p:spPr>
            <a:xfrm>
              <a:off x="4437531"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345" name="Connector: Curved 344">
              <a:extLst>
                <a:ext uri="{FF2B5EF4-FFF2-40B4-BE49-F238E27FC236}">
                  <a16:creationId xmlns:a16="http://schemas.microsoft.com/office/drawing/2014/main" id="{00C47544-B46D-6847-BAC8-CADA3F9BFC82}"/>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6" name="Connector: Curved 345">
              <a:extLst>
                <a:ext uri="{FF2B5EF4-FFF2-40B4-BE49-F238E27FC236}">
                  <a16:creationId xmlns:a16="http://schemas.microsoft.com/office/drawing/2014/main" id="{2C6AAD7C-5353-D025-B722-71E1FB7F9914}"/>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7" name="Connector: Curved 346">
              <a:extLst>
                <a:ext uri="{FF2B5EF4-FFF2-40B4-BE49-F238E27FC236}">
                  <a16:creationId xmlns:a16="http://schemas.microsoft.com/office/drawing/2014/main" id="{01D80087-CEAB-0B2E-EA98-8C938CFFF6CE}"/>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8" name="TextBox 347">
              <a:extLst>
                <a:ext uri="{FF2B5EF4-FFF2-40B4-BE49-F238E27FC236}">
                  <a16:creationId xmlns:a16="http://schemas.microsoft.com/office/drawing/2014/main" id="{BA195356-EC35-3FD5-43E3-A4977165079D}"/>
                </a:ext>
              </a:extLst>
            </p:cNvPr>
            <p:cNvSpPr txBox="1"/>
            <p:nvPr/>
          </p:nvSpPr>
          <p:spPr>
            <a:xfrm>
              <a:off x="3367469" y="1290575"/>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project1</a:t>
              </a:r>
            </a:p>
          </p:txBody>
        </p:sp>
        <p:sp>
          <p:nvSpPr>
            <p:cNvPr id="349" name="TextBox 348">
              <a:extLst>
                <a:ext uri="{FF2B5EF4-FFF2-40B4-BE49-F238E27FC236}">
                  <a16:creationId xmlns:a16="http://schemas.microsoft.com/office/drawing/2014/main" id="{F6C1EB44-2446-C2AD-17B1-438D7B51EF3F}"/>
                </a:ext>
              </a:extLst>
            </p:cNvPr>
            <p:cNvSpPr txBox="1"/>
            <p:nvPr/>
          </p:nvSpPr>
          <p:spPr>
            <a:xfrm>
              <a:off x="4572822"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project2</a:t>
              </a:r>
            </a:p>
          </p:txBody>
        </p:sp>
        <p:sp>
          <p:nvSpPr>
            <p:cNvPr id="350" name="TextBox 349">
              <a:extLst>
                <a:ext uri="{FF2B5EF4-FFF2-40B4-BE49-F238E27FC236}">
                  <a16:creationId xmlns:a16="http://schemas.microsoft.com/office/drawing/2014/main" id="{8920560A-AE2D-82BD-086F-306DD48AE930}"/>
                </a:ext>
              </a:extLst>
            </p:cNvPr>
            <p:cNvSpPr txBox="1"/>
            <p:nvPr/>
          </p:nvSpPr>
          <p:spPr>
            <a:xfrm>
              <a:off x="2152757" y="2725035"/>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project3</a:t>
              </a:r>
            </a:p>
          </p:txBody>
        </p:sp>
      </p:grpSp>
      <p:grpSp>
        <p:nvGrpSpPr>
          <p:cNvPr id="747" name="Group 746">
            <a:extLst>
              <a:ext uri="{FF2B5EF4-FFF2-40B4-BE49-F238E27FC236}">
                <a16:creationId xmlns:a16="http://schemas.microsoft.com/office/drawing/2014/main" id="{CB6CC670-1503-4528-8619-99892A7E9EB3}"/>
              </a:ext>
            </a:extLst>
          </p:cNvPr>
          <p:cNvGrpSpPr/>
          <p:nvPr/>
        </p:nvGrpSpPr>
        <p:grpSpPr>
          <a:xfrm>
            <a:off x="7380026" y="3428080"/>
            <a:ext cx="1697562" cy="1161233"/>
            <a:chOff x="2065458" y="1303242"/>
            <a:chExt cx="4088813" cy="2796991"/>
          </a:xfrm>
        </p:grpSpPr>
        <p:sp>
          <p:nvSpPr>
            <p:cNvPr id="330" name="Rectangle 329">
              <a:extLst>
                <a:ext uri="{FF2B5EF4-FFF2-40B4-BE49-F238E27FC236}">
                  <a16:creationId xmlns:a16="http://schemas.microsoft.com/office/drawing/2014/main" id="{B2FD052B-1A37-6494-03B8-CD7218520625}"/>
                </a:ext>
              </a:extLst>
            </p:cNvPr>
            <p:cNvSpPr/>
            <p:nvPr/>
          </p:nvSpPr>
          <p:spPr>
            <a:xfrm>
              <a:off x="3245225" y="1317812"/>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1" name="Rectangle 330">
              <a:extLst>
                <a:ext uri="{FF2B5EF4-FFF2-40B4-BE49-F238E27FC236}">
                  <a16:creationId xmlns:a16="http://schemas.microsoft.com/office/drawing/2014/main" id="{7F943D56-034E-75C8-AAE0-3B4032FE4434}"/>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E2B323CA-1EC9-7893-19E9-BBEBE8B33A46}"/>
                </a:ext>
              </a:extLst>
            </p:cNvPr>
            <p:cNvSpPr/>
            <p:nvPr/>
          </p:nvSpPr>
          <p:spPr>
            <a:xfrm>
              <a:off x="4437531" y="2736479"/>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3" name="Connector: Curved 332">
              <a:extLst>
                <a:ext uri="{FF2B5EF4-FFF2-40B4-BE49-F238E27FC236}">
                  <a16:creationId xmlns:a16="http://schemas.microsoft.com/office/drawing/2014/main" id="{72A9EB29-6542-7A2F-EE90-A49C647F290A}"/>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5" name="Connector: Curved 334">
              <a:extLst>
                <a:ext uri="{FF2B5EF4-FFF2-40B4-BE49-F238E27FC236}">
                  <a16:creationId xmlns:a16="http://schemas.microsoft.com/office/drawing/2014/main" id="{20070CB7-8757-1340-0986-364BBABE81B2}"/>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6" name="Connector: Curved 335">
              <a:extLst>
                <a:ext uri="{FF2B5EF4-FFF2-40B4-BE49-F238E27FC236}">
                  <a16:creationId xmlns:a16="http://schemas.microsoft.com/office/drawing/2014/main" id="{ED7DDCE8-F196-2AA0-C101-3D8676B32234}"/>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612084A9-63A5-6EC3-2837-34BEB9F01043}"/>
                </a:ext>
              </a:extLst>
            </p:cNvPr>
            <p:cNvSpPr txBox="1"/>
            <p:nvPr/>
          </p:nvSpPr>
          <p:spPr>
            <a:xfrm>
              <a:off x="3287235" y="1303242"/>
              <a:ext cx="1674731"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5"/>
                  </a:solidFill>
                </a:rPr>
                <a:t>analysisA</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338" name="TextBox 337">
              <a:extLst>
                <a:ext uri="{FF2B5EF4-FFF2-40B4-BE49-F238E27FC236}">
                  <a16:creationId xmlns:a16="http://schemas.microsoft.com/office/drawing/2014/main" id="{ABCBCEBC-38B4-BB4E-620E-61FAAAA182D2}"/>
                </a:ext>
              </a:extLst>
            </p:cNvPr>
            <p:cNvSpPr txBox="1"/>
            <p:nvPr/>
          </p:nvSpPr>
          <p:spPr>
            <a:xfrm>
              <a:off x="4410270" y="2754859"/>
              <a:ext cx="168631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5"/>
                  </a:solidFill>
                </a:rPr>
                <a:t>analysisB</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42E3CB89-CE4B-8582-4F65-5705311963C1}"/>
                </a:ext>
              </a:extLst>
            </p:cNvPr>
            <p:cNvSpPr txBox="1"/>
            <p:nvPr/>
          </p:nvSpPr>
          <p:spPr>
            <a:xfrm>
              <a:off x="2065458" y="2754859"/>
              <a:ext cx="167859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err="1">
                  <a:ln>
                    <a:noFill/>
                  </a:ln>
                  <a:solidFill>
                    <a:schemeClr val="accent5"/>
                  </a:solidFill>
                  <a:effectLst/>
                  <a:uFillTx/>
                  <a:latin typeface="Source Sans Pro"/>
                  <a:ea typeface="Source Sans Pro"/>
                  <a:cs typeface="Source Sans Pro"/>
                  <a:sym typeface="Source Sans Pro"/>
                </a:rPr>
                <a:t>analysisC</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grpSp>
      <p:cxnSp>
        <p:nvCxnSpPr>
          <p:cNvPr id="748" name="Straight Connector 747">
            <a:extLst>
              <a:ext uri="{FF2B5EF4-FFF2-40B4-BE49-F238E27FC236}">
                <a16:creationId xmlns:a16="http://schemas.microsoft.com/office/drawing/2014/main" id="{1C098EC0-F092-E8BA-0470-FA1ED4F29706}"/>
              </a:ext>
            </a:extLst>
          </p:cNvPr>
          <p:cNvCxnSpPr/>
          <p:nvPr/>
        </p:nvCxnSpPr>
        <p:spPr>
          <a:xfrm>
            <a:off x="7048823" y="3771426"/>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53" name="Straight Connector 752">
            <a:extLst>
              <a:ext uri="{FF2B5EF4-FFF2-40B4-BE49-F238E27FC236}">
                <a16:creationId xmlns:a16="http://schemas.microsoft.com/office/drawing/2014/main" id="{2550139A-F354-F96E-876D-B1055FCB1E7D}"/>
              </a:ext>
            </a:extLst>
          </p:cNvPr>
          <p:cNvCxnSpPr>
            <a:cxnSpLocks/>
          </p:cNvCxnSpPr>
          <p:nvPr/>
        </p:nvCxnSpPr>
        <p:spPr>
          <a:xfrm rot="5400000">
            <a:off x="7048823" y="3780267"/>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62" name="Rectangle 761">
            <a:extLst>
              <a:ext uri="{FF2B5EF4-FFF2-40B4-BE49-F238E27FC236}">
                <a16:creationId xmlns:a16="http://schemas.microsoft.com/office/drawing/2014/main" id="{D712F68C-92F7-2641-5D8E-DD12D2A0B63D}"/>
              </a:ext>
            </a:extLst>
          </p:cNvPr>
          <p:cNvSpPr/>
          <p:nvPr/>
        </p:nvSpPr>
        <p:spPr>
          <a:xfrm>
            <a:off x="7670369" y="6084901"/>
            <a:ext cx="1521295" cy="1070190"/>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63" name="TextBox 762">
            <a:extLst>
              <a:ext uri="{FF2B5EF4-FFF2-40B4-BE49-F238E27FC236}">
                <a16:creationId xmlns:a16="http://schemas.microsoft.com/office/drawing/2014/main" id="{8F085159-8F3A-0259-E47D-59BD3A621FBC}"/>
              </a:ext>
            </a:extLst>
          </p:cNvPr>
          <p:cNvSpPr txBox="1"/>
          <p:nvPr/>
        </p:nvSpPr>
        <p:spPr>
          <a:xfrm>
            <a:off x="7719982" y="6409738"/>
            <a:ext cx="1521294"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a:t>
            </a:r>
            <a:r>
              <a:rPr kumimoji="0" lang="en-US" sz="1100" b="1" i="0" u="none" strike="noStrike" cap="none" spc="0" normalizeH="0" baseline="0" dirty="0">
                <a:ln>
                  <a:noFill/>
                </a:ln>
                <a:solidFill>
                  <a:schemeClr val="accent2"/>
                </a:solidFill>
                <a:effectLst/>
                <a:uFillTx/>
                <a:latin typeface="Source Sans Pro"/>
                <a:ea typeface="Source Sans Pro"/>
                <a:cs typeface="Source Sans Pro"/>
                <a:sym typeface="Source Sans Pro"/>
              </a:rPr>
              <a:t>project1.yml</a:t>
            </a:r>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5"/>
                </a:solidFill>
              </a:rPr>
              <a:t>analysisB.yml</a:t>
            </a:r>
            <a:endParaRPr kumimoji="0" lang="en-US" sz="11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764" name="TextBox 763">
            <a:extLst>
              <a:ext uri="{FF2B5EF4-FFF2-40B4-BE49-F238E27FC236}">
                <a16:creationId xmlns:a16="http://schemas.microsoft.com/office/drawing/2014/main" id="{1896839F-749A-86AA-B0F7-97B5D14E5956}"/>
              </a:ext>
            </a:extLst>
          </p:cNvPr>
          <p:cNvSpPr txBox="1"/>
          <p:nvPr/>
        </p:nvSpPr>
        <p:spPr>
          <a:xfrm rot="5400000">
            <a:off x="5900417" y="5738103"/>
            <a:ext cx="20202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2"/>
                </a:solidFill>
              </a:rPr>
              <a:t>project1.yml </a:t>
            </a:r>
            <a:r>
              <a:rPr lang="en-US" sz="1000" dirty="0"/>
              <a:t>+ </a:t>
            </a:r>
            <a:r>
              <a:rPr lang="en-US" sz="1000" dirty="0" err="1">
                <a:solidFill>
                  <a:schemeClr val="accent5"/>
                </a:solidFill>
              </a:rPr>
              <a:t>analysisB.yml</a:t>
            </a:r>
            <a:endParaRPr kumimoji="0" lang="en-US" sz="10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cxnSp>
        <p:nvCxnSpPr>
          <p:cNvPr id="765" name="Straight Arrow Connector 764">
            <a:extLst>
              <a:ext uri="{FF2B5EF4-FFF2-40B4-BE49-F238E27FC236}">
                <a16:creationId xmlns:a16="http://schemas.microsoft.com/office/drawing/2014/main" id="{AC00E0F8-0CC7-727C-C31D-47E728331099}"/>
              </a:ext>
            </a:extLst>
          </p:cNvPr>
          <p:cNvCxnSpPr>
            <a:cxnSpLocks/>
          </p:cNvCxnSpPr>
          <p:nvPr/>
        </p:nvCxnSpPr>
        <p:spPr>
          <a:xfrm flipH="1">
            <a:off x="8353527" y="4812260"/>
            <a:ext cx="11317" cy="1206985"/>
          </a:xfrm>
          <a:prstGeom prst="straightConnector1">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7" name="TextBox 766">
            <a:extLst>
              <a:ext uri="{FF2B5EF4-FFF2-40B4-BE49-F238E27FC236}">
                <a16:creationId xmlns:a16="http://schemas.microsoft.com/office/drawing/2014/main" id="{FAF040BE-7DA9-A98D-7004-84B2E8BCD4F7}"/>
              </a:ext>
            </a:extLst>
          </p:cNvPr>
          <p:cNvSpPr txBox="1"/>
          <p:nvPr/>
        </p:nvSpPr>
        <p:spPr>
          <a:xfrm>
            <a:off x="5067865" y="330726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322" name="TextBox 321">
            <a:extLst>
              <a:ext uri="{FF2B5EF4-FFF2-40B4-BE49-F238E27FC236}">
                <a16:creationId xmlns:a16="http://schemas.microsoft.com/office/drawing/2014/main" id="{04CAC5FF-DA78-CCFD-FC5B-7E83E762B7B9}"/>
              </a:ext>
            </a:extLst>
          </p:cNvPr>
          <p:cNvSpPr txBox="1"/>
          <p:nvPr/>
        </p:nvSpPr>
        <p:spPr>
          <a:xfrm>
            <a:off x="7639590" y="5720835"/>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sp>
        <p:nvSpPr>
          <p:cNvPr id="351" name="TextBox 350">
            <a:extLst>
              <a:ext uri="{FF2B5EF4-FFF2-40B4-BE49-F238E27FC236}">
                <a16:creationId xmlns:a16="http://schemas.microsoft.com/office/drawing/2014/main" id="{64D320A3-3FD7-9DAD-3CB3-ECCF0A75D3B3}"/>
              </a:ext>
            </a:extLst>
          </p:cNvPr>
          <p:cNvSpPr txBox="1"/>
          <p:nvPr/>
        </p:nvSpPr>
        <p:spPr>
          <a:xfrm>
            <a:off x="7318687" y="32865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352" name="TextBox 351">
            <a:extLst>
              <a:ext uri="{FF2B5EF4-FFF2-40B4-BE49-F238E27FC236}">
                <a16:creationId xmlns:a16="http://schemas.microsoft.com/office/drawing/2014/main" id="{A24998E1-FBB9-3939-A1C4-D2BAC15D0F6F}"/>
              </a:ext>
            </a:extLst>
          </p:cNvPr>
          <p:cNvSpPr txBox="1"/>
          <p:nvPr/>
        </p:nvSpPr>
        <p:spPr>
          <a:xfrm>
            <a:off x="4819295" y="512075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784" name="TextBox 783">
            <a:extLst>
              <a:ext uri="{FF2B5EF4-FFF2-40B4-BE49-F238E27FC236}">
                <a16:creationId xmlns:a16="http://schemas.microsoft.com/office/drawing/2014/main" id="{AE459D39-A10F-3753-1A59-FE94A0FF235A}"/>
              </a:ext>
            </a:extLst>
          </p:cNvPr>
          <p:cNvSpPr txBox="1"/>
          <p:nvPr/>
        </p:nvSpPr>
        <p:spPr>
          <a:xfrm rot="5400000">
            <a:off x="7872368" y="5454017"/>
            <a:ext cx="1453851"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2"/>
                </a:solidFill>
              </a:rPr>
              <a:t>project1.yml </a:t>
            </a:r>
            <a:r>
              <a:rPr lang="en-US" sz="1000" dirty="0"/>
              <a:t>+ </a:t>
            </a:r>
            <a:r>
              <a:rPr lang="en-US" sz="1000" dirty="0" err="1">
                <a:solidFill>
                  <a:schemeClr val="accent5"/>
                </a:solidFill>
              </a:rPr>
              <a:t>analysisB.yml</a:t>
            </a:r>
            <a:endParaRPr kumimoji="0" lang="en-US" sz="10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9" name="Line">
            <a:extLst>
              <a:ext uri="{FF2B5EF4-FFF2-40B4-BE49-F238E27FC236}">
                <a16:creationId xmlns:a16="http://schemas.microsoft.com/office/drawing/2014/main" id="{11EC4101-227E-9658-E520-7C94CB938C19}"/>
              </a:ext>
            </a:extLst>
          </p:cNvPr>
          <p:cNvSpPr/>
          <p:nvPr/>
        </p:nvSpPr>
        <p:spPr>
          <a:xfrm>
            <a:off x="143525" y="3762506"/>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0" name="Line">
            <a:extLst>
              <a:ext uri="{FF2B5EF4-FFF2-40B4-BE49-F238E27FC236}">
                <a16:creationId xmlns:a16="http://schemas.microsoft.com/office/drawing/2014/main" id="{16FAD7DD-7EB7-E3C7-7EB5-9775926AF76D}"/>
              </a:ext>
            </a:extLst>
          </p:cNvPr>
          <p:cNvSpPr/>
          <p:nvPr/>
        </p:nvSpPr>
        <p:spPr>
          <a:xfrm>
            <a:off x="155448" y="6894018"/>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51" name="Group 50">
            <a:extLst>
              <a:ext uri="{FF2B5EF4-FFF2-40B4-BE49-F238E27FC236}">
                <a16:creationId xmlns:a16="http://schemas.microsoft.com/office/drawing/2014/main" id="{34019258-006C-796F-2FD5-A8A698B2683E}"/>
              </a:ext>
            </a:extLst>
          </p:cNvPr>
          <p:cNvGrpSpPr/>
          <p:nvPr/>
        </p:nvGrpSpPr>
        <p:grpSpPr>
          <a:xfrm>
            <a:off x="258236" y="8594860"/>
            <a:ext cx="964670" cy="594479"/>
            <a:chOff x="373334" y="8322821"/>
            <a:chExt cx="964670" cy="594479"/>
          </a:xfrm>
        </p:grpSpPr>
        <p:grpSp>
          <p:nvGrpSpPr>
            <p:cNvPr id="37" name="Google Shape;359;p18">
              <a:extLst>
                <a:ext uri="{FF2B5EF4-FFF2-40B4-BE49-F238E27FC236}">
                  <a16:creationId xmlns:a16="http://schemas.microsoft.com/office/drawing/2014/main" id="{0B98566C-2EC0-FED3-2295-BAEA4FE07BFD}"/>
                </a:ext>
              </a:extLst>
            </p:cNvPr>
            <p:cNvGrpSpPr/>
            <p:nvPr/>
          </p:nvGrpSpPr>
          <p:grpSpPr>
            <a:xfrm>
              <a:off x="373334" y="8364964"/>
              <a:ext cx="896341" cy="552336"/>
              <a:chOff x="3007175" y="1757600"/>
              <a:chExt cx="307200" cy="189300"/>
            </a:xfrm>
          </p:grpSpPr>
          <p:sp>
            <p:nvSpPr>
              <p:cNvPr id="38" name="Google Shape;360;p18">
                <a:extLst>
                  <a:ext uri="{FF2B5EF4-FFF2-40B4-BE49-F238E27FC236}">
                    <a16:creationId xmlns:a16="http://schemas.microsoft.com/office/drawing/2014/main" id="{3AB17A94-326D-EE75-F9AA-D9853E95B7A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 name="Google Shape;364;p18">
                <a:extLst>
                  <a:ext uri="{FF2B5EF4-FFF2-40B4-BE49-F238E27FC236}">
                    <a16:creationId xmlns:a16="http://schemas.microsoft.com/office/drawing/2014/main" id="{AF608954-A939-415C-B404-02366CE9208B}"/>
                  </a:ext>
                </a:extLst>
              </p:cNvPr>
              <p:cNvCxnSpPr>
                <a:cxnSpLocks/>
              </p:cNvCxnSpPr>
              <p:nvPr/>
            </p:nvCxnSpPr>
            <p:spPr>
              <a:xfrm>
                <a:off x="3042981" y="1800281"/>
                <a:ext cx="146367"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5" name="Google Shape;360;p18">
              <a:extLst>
                <a:ext uri="{FF2B5EF4-FFF2-40B4-BE49-F238E27FC236}">
                  <a16:creationId xmlns:a16="http://schemas.microsoft.com/office/drawing/2014/main" id="{3A79C9D6-2353-D68A-EA3A-FE7A83E8C9AA}"/>
                </a:ext>
              </a:extLst>
            </p:cNvPr>
            <p:cNvSpPr/>
            <p:nvPr/>
          </p:nvSpPr>
          <p:spPr>
            <a:xfrm>
              <a:off x="477807" y="8613965"/>
              <a:ext cx="493743" cy="209988"/>
            </a:xfrm>
            <a:prstGeom prst="rect">
              <a:avLst/>
            </a:prstGeom>
            <a:noFill/>
            <a:ln w="9525" cap="flat" cmpd="sng">
              <a:solidFill>
                <a:schemeClr val="dk2"/>
              </a:solidFill>
              <a:prstDash val="sys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 name="Google Shape;360;p18">
              <a:extLst>
                <a:ext uri="{FF2B5EF4-FFF2-40B4-BE49-F238E27FC236}">
                  <a16:creationId xmlns:a16="http://schemas.microsoft.com/office/drawing/2014/main" id="{841D8C2D-D9A2-BB66-8F0F-B90A9834AA09}"/>
                </a:ext>
              </a:extLst>
            </p:cNvPr>
            <p:cNvSpPr/>
            <p:nvPr/>
          </p:nvSpPr>
          <p:spPr>
            <a:xfrm>
              <a:off x="1041533" y="8374368"/>
              <a:ext cx="220891" cy="11513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Use headers, colors, and/or backgrounds to separate or group together sections.">
              <a:extLst>
                <a:ext uri="{FF2B5EF4-FFF2-40B4-BE49-F238E27FC236}">
                  <a16:creationId xmlns:a16="http://schemas.microsoft.com/office/drawing/2014/main" id="{61CF73B6-5A57-8A5B-F521-A417D30A5F24}"/>
                </a:ext>
              </a:extLst>
            </p:cNvPr>
            <p:cNvSpPr txBox="1"/>
            <p:nvPr/>
          </p:nvSpPr>
          <p:spPr>
            <a:xfrm>
              <a:off x="1015243" y="8322821"/>
              <a:ext cx="322761" cy="193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600" b="0" dirty="0">
                  <a:solidFill>
                    <a:srgbClr val="000000"/>
                  </a:solidFill>
                  <a:latin typeface="Source Sans Pro" panose="020B0503030403020204" pitchFamily="34" charset="0"/>
                  <a:ea typeface="Source Sans Pro" panose="020B0503030403020204" pitchFamily="34" charset="0"/>
                </a:rPr>
                <a:t>.</a:t>
              </a:r>
              <a:r>
                <a:rPr lang="en-US" sz="600" b="0" i="0" u="none" strike="noStrike" dirty="0" err="1">
                  <a:solidFill>
                    <a:srgbClr val="000000"/>
                  </a:solidFill>
                  <a:effectLst/>
                  <a:latin typeface="Source Sans Pro" panose="020B0503030403020204" pitchFamily="34" charset="0"/>
                  <a:ea typeface="Source Sans Pro" panose="020B0503030403020204" pitchFamily="34" charset="0"/>
                </a:rPr>
                <a:t>Rmd</a:t>
              </a:r>
              <a:endParaRPr lang="en-US" sz="600" b="0" i="0" u="none" strike="noStrike" dirty="0">
                <a:solidFill>
                  <a:srgbClr val="000000"/>
                </a:solidFill>
                <a:effectLst/>
                <a:latin typeface="Source Sans Pro" panose="020B0503030403020204" pitchFamily="34" charset="0"/>
                <a:ea typeface="Source Sans Pro" panose="020B0503030403020204" pitchFamily="34" charset="0"/>
              </a:endParaRPr>
            </a:p>
          </p:txBody>
        </p:sp>
      </p:grpSp>
      <p:grpSp>
        <p:nvGrpSpPr>
          <p:cNvPr id="453" name="Group 452">
            <a:extLst>
              <a:ext uri="{FF2B5EF4-FFF2-40B4-BE49-F238E27FC236}">
                <a16:creationId xmlns:a16="http://schemas.microsoft.com/office/drawing/2014/main" id="{114543AE-E2E4-EF65-BB1D-E920BEF75D11}"/>
              </a:ext>
            </a:extLst>
          </p:cNvPr>
          <p:cNvGrpSpPr/>
          <p:nvPr/>
        </p:nvGrpSpPr>
        <p:grpSpPr>
          <a:xfrm>
            <a:off x="3168463" y="9104597"/>
            <a:ext cx="454677" cy="518380"/>
            <a:chOff x="3012598" y="8405060"/>
            <a:chExt cx="454677" cy="518380"/>
          </a:xfrm>
        </p:grpSpPr>
        <p:sp>
          <p:nvSpPr>
            <p:cNvPr id="454" name="Oval 453">
              <a:extLst>
                <a:ext uri="{FF2B5EF4-FFF2-40B4-BE49-F238E27FC236}">
                  <a16:creationId xmlns:a16="http://schemas.microsoft.com/office/drawing/2014/main" id="{600E38AD-B38A-31F1-5541-8CE315A9F36D}"/>
                </a:ext>
              </a:extLst>
            </p:cNvPr>
            <p:cNvSpPr/>
            <p:nvPr/>
          </p:nvSpPr>
          <p:spPr>
            <a:xfrm>
              <a:off x="3017271" y="8405060"/>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Oval 454">
              <a:extLst>
                <a:ext uri="{FF2B5EF4-FFF2-40B4-BE49-F238E27FC236}">
                  <a16:creationId xmlns:a16="http://schemas.microsoft.com/office/drawing/2014/main" id="{988F3B70-91E4-243E-2613-69C33C971B5F}"/>
                </a:ext>
              </a:extLst>
            </p:cNvPr>
            <p:cNvSpPr/>
            <p:nvPr/>
          </p:nvSpPr>
          <p:spPr>
            <a:xfrm>
              <a:off x="3012598" y="8787923"/>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6" name="Oval 455">
              <a:extLst>
                <a:ext uri="{FF2B5EF4-FFF2-40B4-BE49-F238E27FC236}">
                  <a16:creationId xmlns:a16="http://schemas.microsoft.com/office/drawing/2014/main" id="{1A812850-DA3E-8326-2940-4C747F453C47}"/>
                </a:ext>
              </a:extLst>
            </p:cNvPr>
            <p:cNvSpPr/>
            <p:nvPr/>
          </p:nvSpPr>
          <p:spPr>
            <a:xfrm>
              <a:off x="3316893" y="8568992"/>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59" name="Straight Connector 458">
              <a:extLst>
                <a:ext uri="{FF2B5EF4-FFF2-40B4-BE49-F238E27FC236}">
                  <a16:creationId xmlns:a16="http://schemas.microsoft.com/office/drawing/2014/main" id="{33B44181-5A3C-F728-7353-68C656886679}"/>
                </a:ext>
              </a:extLst>
            </p:cNvPr>
            <p:cNvCxnSpPr>
              <a:cxnSpLocks/>
              <a:stCxn id="454" idx="5"/>
              <a:endCxn id="456" idx="3"/>
            </p:cNvCxnSpPr>
            <p:nvPr/>
          </p:nvCxnSpPr>
          <p:spPr>
            <a:xfrm>
              <a:off x="3145630" y="8520731"/>
              <a:ext cx="193286" cy="16393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0" name="Straight Connector 459">
              <a:extLst>
                <a:ext uri="{FF2B5EF4-FFF2-40B4-BE49-F238E27FC236}">
                  <a16:creationId xmlns:a16="http://schemas.microsoft.com/office/drawing/2014/main" id="{ED66F80F-C4C9-CE76-967C-DB3D7123B577}"/>
                </a:ext>
              </a:extLst>
            </p:cNvPr>
            <p:cNvCxnSpPr>
              <a:cxnSpLocks/>
              <a:stCxn id="455" idx="7"/>
              <a:endCxn id="456" idx="3"/>
            </p:cNvCxnSpPr>
            <p:nvPr/>
          </p:nvCxnSpPr>
          <p:spPr>
            <a:xfrm flipV="1">
              <a:off x="3140957" y="8684663"/>
              <a:ext cx="197959" cy="1231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507" name="TextBox 506">
            <a:extLst>
              <a:ext uri="{FF2B5EF4-FFF2-40B4-BE49-F238E27FC236}">
                <a16:creationId xmlns:a16="http://schemas.microsoft.com/office/drawing/2014/main" id="{757AF419-1CBC-BC5C-43C8-43958C037EB5}"/>
              </a:ext>
            </a:extLst>
          </p:cNvPr>
          <p:cNvSpPr txBox="1"/>
          <p:nvPr/>
        </p:nvSpPr>
        <p:spPr>
          <a:xfrm>
            <a:off x="1239919" y="8221059"/>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chemeClr val="accent2"/>
                </a:solidFill>
              </a:rPr>
              <a:t>project1.yml </a:t>
            </a:r>
            <a:r>
              <a:rPr lang="en-US" sz="900" dirty="0"/>
              <a:t>+ </a:t>
            </a:r>
            <a:r>
              <a:rPr lang="en-US" sz="900" dirty="0" err="1">
                <a:solidFill>
                  <a:schemeClr val="accent5"/>
                </a:solidFill>
              </a:rPr>
              <a:t>analysisA.yml</a:t>
            </a:r>
            <a:endParaRPr kumimoji="0" lang="en-US" sz="9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508" name="TextBox 507">
            <a:extLst>
              <a:ext uri="{FF2B5EF4-FFF2-40B4-BE49-F238E27FC236}">
                <a16:creationId xmlns:a16="http://schemas.microsoft.com/office/drawing/2014/main" id="{70DE0AC1-0496-4903-93A7-2EE35AFFD7DC}"/>
              </a:ext>
            </a:extLst>
          </p:cNvPr>
          <p:cNvSpPr txBox="1"/>
          <p:nvPr/>
        </p:nvSpPr>
        <p:spPr>
          <a:xfrm>
            <a:off x="1261172" y="9336054"/>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chemeClr val="accent2"/>
                </a:solidFill>
              </a:rPr>
              <a:t>project1.yml </a:t>
            </a:r>
            <a:r>
              <a:rPr lang="en-US" sz="900" dirty="0"/>
              <a:t>+ </a:t>
            </a:r>
            <a:r>
              <a:rPr lang="en-US" sz="900" dirty="0" err="1">
                <a:solidFill>
                  <a:schemeClr val="accent5"/>
                </a:solidFill>
              </a:rPr>
              <a:t>analysisB.yml</a:t>
            </a:r>
            <a:endParaRPr kumimoji="0" lang="en-US" sz="900" b="1" i="0" u="none" strike="noStrike" cap="none" spc="0" normalizeH="0" baseline="0" dirty="0">
              <a:ln>
                <a:noFill/>
              </a:ln>
              <a:solidFill>
                <a:schemeClr val="accent5"/>
              </a:solidFill>
              <a:effectLst/>
              <a:uFillTx/>
              <a:latin typeface="Source Sans Pro"/>
              <a:ea typeface="Source Sans Pro"/>
              <a:cs typeface="Source Sans Pro"/>
              <a:sym typeface="Source Sans Pro"/>
            </a:endParaRPr>
          </a:p>
        </p:txBody>
      </p:sp>
      <p:sp>
        <p:nvSpPr>
          <p:cNvPr id="257" name="Line">
            <a:extLst>
              <a:ext uri="{FF2B5EF4-FFF2-40B4-BE49-F238E27FC236}">
                <a16:creationId xmlns:a16="http://schemas.microsoft.com/office/drawing/2014/main" id="{A7C12C5B-2669-1C79-1B97-D570FB4043A0}"/>
              </a:ext>
            </a:extLst>
          </p:cNvPr>
          <p:cNvSpPr/>
          <p:nvPr/>
        </p:nvSpPr>
        <p:spPr>
          <a:xfrm>
            <a:off x="9535544" y="6875054"/>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272" name="Group 271">
            <a:extLst>
              <a:ext uri="{FF2B5EF4-FFF2-40B4-BE49-F238E27FC236}">
                <a16:creationId xmlns:a16="http://schemas.microsoft.com/office/drawing/2014/main" id="{B2CC37AE-BFE7-4A91-079F-9DE5AB9C3DF2}"/>
              </a:ext>
            </a:extLst>
          </p:cNvPr>
          <p:cNvGrpSpPr/>
          <p:nvPr/>
        </p:nvGrpSpPr>
        <p:grpSpPr>
          <a:xfrm>
            <a:off x="2919985" y="8370103"/>
            <a:ext cx="883368" cy="555353"/>
            <a:chOff x="2847879" y="8375813"/>
            <a:chExt cx="883368" cy="555353"/>
          </a:xfrm>
        </p:grpSpPr>
        <p:sp>
          <p:nvSpPr>
            <p:cNvPr id="273" name="Oval 272">
              <a:extLst>
                <a:ext uri="{FF2B5EF4-FFF2-40B4-BE49-F238E27FC236}">
                  <a16:creationId xmlns:a16="http://schemas.microsoft.com/office/drawing/2014/main" id="{D843B2DE-ADD8-F4D9-C159-182C5512B5A7}"/>
                </a:ext>
              </a:extLst>
            </p:cNvPr>
            <p:cNvSpPr/>
            <p:nvPr/>
          </p:nvSpPr>
          <p:spPr>
            <a:xfrm>
              <a:off x="2847879" y="8727890"/>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4" name="Oval 273">
              <a:extLst>
                <a:ext uri="{FF2B5EF4-FFF2-40B4-BE49-F238E27FC236}">
                  <a16:creationId xmlns:a16="http://schemas.microsoft.com/office/drawing/2014/main" id="{AFEA98A0-5B9E-D2B5-B356-1F54A42F00E3}"/>
                </a:ext>
              </a:extLst>
            </p:cNvPr>
            <p:cNvSpPr/>
            <p:nvPr/>
          </p:nvSpPr>
          <p:spPr>
            <a:xfrm>
              <a:off x="3278436" y="8795649"/>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5" name="Oval 274">
              <a:extLst>
                <a:ext uri="{FF2B5EF4-FFF2-40B4-BE49-F238E27FC236}">
                  <a16:creationId xmlns:a16="http://schemas.microsoft.com/office/drawing/2014/main" id="{27A4BCB8-502D-D008-2466-A2DE88836DB3}"/>
                </a:ext>
              </a:extLst>
            </p:cNvPr>
            <p:cNvSpPr/>
            <p:nvPr/>
          </p:nvSpPr>
          <p:spPr>
            <a:xfrm>
              <a:off x="3173314" y="8416186"/>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6" name="Oval 275">
              <a:extLst>
                <a:ext uri="{FF2B5EF4-FFF2-40B4-BE49-F238E27FC236}">
                  <a16:creationId xmlns:a16="http://schemas.microsoft.com/office/drawing/2014/main" id="{1A6EF849-E560-CBCC-928D-1984C89CD6E3}"/>
                </a:ext>
              </a:extLst>
            </p:cNvPr>
            <p:cNvSpPr/>
            <p:nvPr/>
          </p:nvSpPr>
          <p:spPr>
            <a:xfrm>
              <a:off x="3580865" y="8375813"/>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7" name="Oval 276">
              <a:extLst>
                <a:ext uri="{FF2B5EF4-FFF2-40B4-BE49-F238E27FC236}">
                  <a16:creationId xmlns:a16="http://schemas.microsoft.com/office/drawing/2014/main" id="{DB72D730-34C6-17DB-1F9F-DF54C8F34A2C}"/>
                </a:ext>
              </a:extLst>
            </p:cNvPr>
            <p:cNvSpPr/>
            <p:nvPr/>
          </p:nvSpPr>
          <p:spPr>
            <a:xfrm>
              <a:off x="3460024" y="8623561"/>
              <a:ext cx="150382" cy="135517"/>
            </a:xfrm>
            <a:prstGeom prst="ellipse">
              <a:avLst/>
            </a:prstGeom>
            <a:blipFill rotWithShape="1">
              <a:blip r:embed="rId6"/>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8" name="Straight Connector 277">
              <a:extLst>
                <a:ext uri="{FF2B5EF4-FFF2-40B4-BE49-F238E27FC236}">
                  <a16:creationId xmlns:a16="http://schemas.microsoft.com/office/drawing/2014/main" id="{2DC3A9F0-B54A-62C4-EFA4-8CE561C41598}"/>
                </a:ext>
              </a:extLst>
            </p:cNvPr>
            <p:cNvCxnSpPr>
              <a:cxnSpLocks/>
              <a:stCxn id="273" idx="7"/>
              <a:endCxn id="275"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Connector 278">
              <a:extLst>
                <a:ext uri="{FF2B5EF4-FFF2-40B4-BE49-F238E27FC236}">
                  <a16:creationId xmlns:a16="http://schemas.microsoft.com/office/drawing/2014/main" id="{17A871E1-16EE-81B1-D0E5-154B8C0965D6}"/>
                </a:ext>
              </a:extLst>
            </p:cNvPr>
            <p:cNvCxnSpPr>
              <a:cxnSpLocks/>
              <a:stCxn id="274" idx="0"/>
              <a:endCxn id="275"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Connector 279">
              <a:extLst>
                <a:ext uri="{FF2B5EF4-FFF2-40B4-BE49-F238E27FC236}">
                  <a16:creationId xmlns:a16="http://schemas.microsoft.com/office/drawing/2014/main" id="{9BDFBC78-FE15-82F7-8F35-7544FABB0F6E}"/>
                </a:ext>
              </a:extLst>
            </p:cNvPr>
            <p:cNvCxnSpPr>
              <a:cxnSpLocks/>
              <a:stCxn id="276" idx="2"/>
              <a:endCxn id="275" idx="6"/>
            </p:cNvCxnSpPr>
            <p:nvPr/>
          </p:nvCxnSpPr>
          <p:spPr>
            <a:xfrm flipH="1">
              <a:off x="3323696" y="8443572"/>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Connector 280">
              <a:extLst>
                <a:ext uri="{FF2B5EF4-FFF2-40B4-BE49-F238E27FC236}">
                  <a16:creationId xmlns:a16="http://schemas.microsoft.com/office/drawing/2014/main" id="{1822BE47-EB72-150D-3747-8A19DA583297}"/>
                </a:ext>
              </a:extLst>
            </p:cNvPr>
            <p:cNvCxnSpPr>
              <a:cxnSpLocks/>
              <a:stCxn id="277" idx="0"/>
              <a:endCxn id="276" idx="4"/>
            </p:cNvCxnSpPr>
            <p:nvPr/>
          </p:nvCxnSpPr>
          <p:spPr>
            <a:xfrm flipV="1">
              <a:off x="3535215" y="8511330"/>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cxnSp>
        <p:nvCxnSpPr>
          <p:cNvPr id="306" name="Connector: Elbow 305">
            <a:extLst>
              <a:ext uri="{FF2B5EF4-FFF2-40B4-BE49-F238E27FC236}">
                <a16:creationId xmlns:a16="http://schemas.microsoft.com/office/drawing/2014/main" id="{276E5022-F833-986E-CC02-706B63A8DA4D}"/>
              </a:ext>
            </a:extLst>
          </p:cNvPr>
          <p:cNvCxnSpPr>
            <a:stCxn id="45" idx="0"/>
          </p:cNvCxnSpPr>
          <p:nvPr/>
        </p:nvCxnSpPr>
        <p:spPr>
          <a:xfrm rot="5400000" flipH="1" flipV="1">
            <a:off x="1617671" y="7477686"/>
            <a:ext cx="400229" cy="2416409"/>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FFFBD87D-868E-08D6-A15D-949FD136AD3A}"/>
              </a:ext>
            </a:extLst>
          </p:cNvPr>
          <p:cNvCxnSpPr>
            <a:cxnSpLocks/>
            <a:stCxn id="45" idx="2"/>
          </p:cNvCxnSpPr>
          <p:nvPr/>
        </p:nvCxnSpPr>
        <p:spPr>
          <a:xfrm rot="16200000" flipH="1">
            <a:off x="1672379" y="8033194"/>
            <a:ext cx="266698" cy="2392294"/>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17" name="Group 16">
            <a:extLst>
              <a:ext uri="{FF2B5EF4-FFF2-40B4-BE49-F238E27FC236}">
                <a16:creationId xmlns:a16="http://schemas.microsoft.com/office/drawing/2014/main" id="{77518479-6AD9-EC33-A881-80A547FD88B5}"/>
              </a:ext>
            </a:extLst>
          </p:cNvPr>
          <p:cNvGrpSpPr/>
          <p:nvPr/>
        </p:nvGrpSpPr>
        <p:grpSpPr>
          <a:xfrm>
            <a:off x="4888883" y="5367513"/>
            <a:ext cx="1667079" cy="1734236"/>
            <a:chOff x="4888883" y="5367513"/>
            <a:chExt cx="1667079" cy="1734236"/>
          </a:xfrm>
        </p:grpSpPr>
        <p:sp>
          <p:nvSpPr>
            <p:cNvPr id="754" name="Rectangle 753">
              <a:extLst>
                <a:ext uri="{FF2B5EF4-FFF2-40B4-BE49-F238E27FC236}">
                  <a16:creationId xmlns:a16="http://schemas.microsoft.com/office/drawing/2014/main" id="{BFD594D3-EC82-3765-09CB-8F961E5FD024}"/>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55" name="TextBox 754">
              <a:extLst>
                <a:ext uri="{FF2B5EF4-FFF2-40B4-BE49-F238E27FC236}">
                  <a16:creationId xmlns:a16="http://schemas.microsoft.com/office/drawing/2014/main" id="{BBD5FF7A-C2D5-55E0-AD80-CD78FB00D61D}"/>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Introduction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56" name="Straight Connector 755">
              <a:extLst>
                <a:ext uri="{FF2B5EF4-FFF2-40B4-BE49-F238E27FC236}">
                  <a16:creationId xmlns:a16="http://schemas.microsoft.com/office/drawing/2014/main" id="{F8A28E4F-4647-BBF9-EAD8-E5455C648917}"/>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 name="Group 1">
              <a:extLst>
                <a:ext uri="{FF2B5EF4-FFF2-40B4-BE49-F238E27FC236}">
                  <a16:creationId xmlns:a16="http://schemas.microsoft.com/office/drawing/2014/main" id="{CACCAC65-5449-D097-EF2E-CEC0E30D1FDC}"/>
                </a:ext>
              </a:extLst>
            </p:cNvPr>
            <p:cNvGrpSpPr/>
            <p:nvPr/>
          </p:nvGrpSpPr>
          <p:grpSpPr>
            <a:xfrm>
              <a:off x="5428649" y="5853301"/>
              <a:ext cx="10229" cy="217570"/>
              <a:chOff x="5239518" y="5808063"/>
              <a:chExt cx="10229" cy="217570"/>
            </a:xfrm>
          </p:grpSpPr>
          <p:sp>
            <p:nvSpPr>
              <p:cNvPr id="327" name="Oval 326">
                <a:extLst>
                  <a:ext uri="{FF2B5EF4-FFF2-40B4-BE49-F238E27FC236}">
                    <a16:creationId xmlns:a16="http://schemas.microsoft.com/office/drawing/2014/main" id="{CFA4174B-07E0-FC5B-E54E-03DFEC7E98B1}"/>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E21DF73E-C1AA-27F2-CE40-0BA05070823C}"/>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F7988BCA-A270-6C6B-9DB4-573CDC064F83}"/>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758" name="TextBox 757">
              <a:extLst>
                <a:ext uri="{FF2B5EF4-FFF2-40B4-BE49-F238E27FC236}">
                  <a16:creationId xmlns:a16="http://schemas.microsoft.com/office/drawing/2014/main" id="{61C31192-2358-8350-A06E-A2D3097566BA}"/>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Configuration</a:t>
              </a:r>
            </a:p>
          </p:txBody>
        </p:sp>
        <p:sp>
          <p:nvSpPr>
            <p:cNvPr id="759" name="Rectangle 758">
              <a:extLst>
                <a:ext uri="{FF2B5EF4-FFF2-40B4-BE49-F238E27FC236}">
                  <a16:creationId xmlns:a16="http://schemas.microsoft.com/office/drawing/2014/main" id="{EF82670F-41D2-4D20-5489-4B2A7711F42E}"/>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82" name="Rectangle 781">
              <a:extLst>
                <a:ext uri="{FF2B5EF4-FFF2-40B4-BE49-F238E27FC236}">
                  <a16:creationId xmlns:a16="http://schemas.microsoft.com/office/drawing/2014/main" id="{705008FA-F7A4-F069-DC6C-ED7DD59B2A9F}"/>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3" name="TextBox 782">
              <a:extLst>
                <a:ext uri="{FF2B5EF4-FFF2-40B4-BE49-F238E27FC236}">
                  <a16:creationId xmlns:a16="http://schemas.microsoft.com/office/drawing/2014/main" id="{FCFDAF9D-2217-24E8-1A84-214130863FF5}"/>
                </a:ext>
              </a:extLst>
            </p:cNvPr>
            <p:cNvSpPr txBox="1"/>
            <p:nvPr/>
          </p:nvSpPr>
          <p:spPr>
            <a:xfrm>
              <a:off x="6105019" y="5367513"/>
              <a:ext cx="4388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Rmd</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TextBox 5">
              <a:extLst>
                <a:ext uri="{FF2B5EF4-FFF2-40B4-BE49-F238E27FC236}">
                  <a16:creationId xmlns:a16="http://schemas.microsoft.com/office/drawing/2014/main" id="{E742219E-B0DF-1FE4-9494-EF7D251BF338}"/>
                </a:ext>
              </a:extLst>
            </p:cNvPr>
            <p:cNvSpPr txBox="1"/>
            <p:nvPr/>
          </p:nvSpPr>
          <p:spPr>
            <a:xfrm>
              <a:off x="5050888" y="6291845"/>
              <a:ext cx="987111" cy="40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800" dirty="0"/>
                <a:t>g</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et(</a:t>
              </a:r>
              <a:r>
                <a:rPr lang="en-US" sz="800" dirty="0">
                  <a:solidFill>
                    <a:schemeClr val="accent2"/>
                  </a:solidFill>
                </a:rPr>
                <a:t>project1.yml</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r>
                <a:rPr lang="en-US" sz="800" dirty="0"/>
                <a:t>get (</a:t>
              </a:r>
              <a:r>
                <a:rPr lang="en-US" sz="800" dirty="0" err="1">
                  <a:solidFill>
                    <a:schemeClr val="accent5"/>
                  </a:solidFill>
                </a:rPr>
                <a:t>analysisB.yml</a:t>
              </a:r>
              <a:r>
                <a:rPr lang="en-US" sz="800" dirty="0"/>
                <a: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 name="Group 3">
              <a:extLst>
                <a:ext uri="{FF2B5EF4-FFF2-40B4-BE49-F238E27FC236}">
                  <a16:creationId xmlns:a16="http://schemas.microsoft.com/office/drawing/2014/main" id="{08B63CA4-2799-3093-4B81-5268DFB7839B}"/>
                </a:ext>
              </a:extLst>
            </p:cNvPr>
            <p:cNvGrpSpPr/>
            <p:nvPr/>
          </p:nvGrpSpPr>
          <p:grpSpPr>
            <a:xfrm>
              <a:off x="5419505" y="6817298"/>
              <a:ext cx="10229" cy="217570"/>
              <a:chOff x="5239518" y="5808063"/>
              <a:chExt cx="10229" cy="217570"/>
            </a:xfrm>
          </p:grpSpPr>
          <p:sp>
            <p:nvSpPr>
              <p:cNvPr id="11" name="Oval 10">
                <a:extLst>
                  <a:ext uri="{FF2B5EF4-FFF2-40B4-BE49-F238E27FC236}">
                    <a16:creationId xmlns:a16="http://schemas.microsoft.com/office/drawing/2014/main" id="{47A95810-A239-D097-E138-3D7BE610B92E}"/>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 name="Oval 12">
                <a:extLst>
                  <a:ext uri="{FF2B5EF4-FFF2-40B4-BE49-F238E27FC236}">
                    <a16:creationId xmlns:a16="http://schemas.microsoft.com/office/drawing/2014/main" id="{957EC897-F0A4-D5B9-3BA1-B039ABB510F5}"/>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 name="Oval 13">
                <a:extLst>
                  <a:ext uri="{FF2B5EF4-FFF2-40B4-BE49-F238E27FC236}">
                    <a16:creationId xmlns:a16="http://schemas.microsoft.com/office/drawing/2014/main" id="{2F17A7FD-2BF2-B22E-60A0-A6C728104A79}"/>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grpSp>
        <p:nvGrpSpPr>
          <p:cNvPr id="18" name="Group 17">
            <a:extLst>
              <a:ext uri="{FF2B5EF4-FFF2-40B4-BE49-F238E27FC236}">
                <a16:creationId xmlns:a16="http://schemas.microsoft.com/office/drawing/2014/main" id="{14CECFB8-2C63-C52C-F9C2-315B8C6EEABE}"/>
              </a:ext>
            </a:extLst>
          </p:cNvPr>
          <p:cNvGrpSpPr/>
          <p:nvPr/>
        </p:nvGrpSpPr>
        <p:grpSpPr>
          <a:xfrm>
            <a:off x="9946173" y="8376141"/>
            <a:ext cx="1433010" cy="1503258"/>
            <a:chOff x="4888883" y="5317055"/>
            <a:chExt cx="1667079" cy="1784694"/>
          </a:xfrm>
        </p:grpSpPr>
        <p:sp>
          <p:nvSpPr>
            <p:cNvPr id="19" name="Rectangle 18">
              <a:extLst>
                <a:ext uri="{FF2B5EF4-FFF2-40B4-BE49-F238E27FC236}">
                  <a16:creationId xmlns:a16="http://schemas.microsoft.com/office/drawing/2014/main" id="{5B6F64F2-FB8E-DF68-E130-1D182F063398}"/>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0" name="TextBox 19">
              <a:extLst>
                <a:ext uri="{FF2B5EF4-FFF2-40B4-BE49-F238E27FC236}">
                  <a16:creationId xmlns:a16="http://schemas.microsoft.com/office/drawing/2014/main" id="{65EC722B-FBF1-DF4B-8207-33654C771295}"/>
                </a:ext>
              </a:extLst>
            </p:cNvPr>
            <p:cNvSpPr txBox="1"/>
            <p:nvPr/>
          </p:nvSpPr>
          <p:spPr>
            <a:xfrm>
              <a:off x="4955877" y="5425561"/>
              <a:ext cx="730550"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project:</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1" name="Straight Connector 20">
              <a:extLst>
                <a:ext uri="{FF2B5EF4-FFF2-40B4-BE49-F238E27FC236}">
                  <a16:creationId xmlns:a16="http://schemas.microsoft.com/office/drawing/2014/main" id="{67313CA6-BB49-6E64-5AE1-B7C5CA678C37}"/>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2" name="Group 21">
              <a:extLst>
                <a:ext uri="{FF2B5EF4-FFF2-40B4-BE49-F238E27FC236}">
                  <a16:creationId xmlns:a16="http://schemas.microsoft.com/office/drawing/2014/main" id="{EF6BB2F4-6DE4-B903-752E-F999CAE52EAE}"/>
                </a:ext>
              </a:extLst>
            </p:cNvPr>
            <p:cNvGrpSpPr/>
            <p:nvPr/>
          </p:nvGrpSpPr>
          <p:grpSpPr>
            <a:xfrm>
              <a:off x="5428649" y="5853301"/>
              <a:ext cx="10229" cy="217570"/>
              <a:chOff x="5239518" y="5808063"/>
              <a:chExt cx="10229" cy="217570"/>
            </a:xfrm>
          </p:grpSpPr>
          <p:sp>
            <p:nvSpPr>
              <p:cNvPr id="33" name="Oval 32">
                <a:extLst>
                  <a:ext uri="{FF2B5EF4-FFF2-40B4-BE49-F238E27FC236}">
                    <a16:creationId xmlns:a16="http://schemas.microsoft.com/office/drawing/2014/main" id="{2BB71F5D-79F0-CB21-0050-9B9251F76706}"/>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 name="Oval 33">
                <a:extLst>
                  <a:ext uri="{FF2B5EF4-FFF2-40B4-BE49-F238E27FC236}">
                    <a16:creationId xmlns:a16="http://schemas.microsoft.com/office/drawing/2014/main" id="{3532B858-9118-1BD6-5FC4-39C7AFAD9B47}"/>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5" name="Oval 34">
                <a:extLst>
                  <a:ext uri="{FF2B5EF4-FFF2-40B4-BE49-F238E27FC236}">
                    <a16:creationId xmlns:a16="http://schemas.microsoft.com/office/drawing/2014/main" id="{47408ADC-7110-6CEC-0CA4-7C8B0254E07B}"/>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24" name="Rectangle 23">
              <a:extLst>
                <a:ext uri="{FF2B5EF4-FFF2-40B4-BE49-F238E27FC236}">
                  <a16:creationId xmlns:a16="http://schemas.microsoft.com/office/drawing/2014/main" id="{9BE377D3-6258-38D7-941C-086F272E1145}"/>
                </a:ext>
              </a:extLst>
            </p:cNvPr>
            <p:cNvSpPr/>
            <p:nvPr/>
          </p:nvSpPr>
          <p:spPr>
            <a:xfrm>
              <a:off x="4985662" y="6197875"/>
              <a:ext cx="1331427" cy="628674"/>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5" name="Rectangle 24">
              <a:extLst>
                <a:ext uri="{FF2B5EF4-FFF2-40B4-BE49-F238E27FC236}">
                  <a16:creationId xmlns:a16="http://schemas.microsoft.com/office/drawing/2014/main" id="{1AD59B19-750D-83B5-277F-C6BE1C394C15}"/>
                </a:ext>
              </a:extLst>
            </p:cNvPr>
            <p:cNvSpPr/>
            <p:nvPr/>
          </p:nvSpPr>
          <p:spPr>
            <a:xfrm>
              <a:off x="6133911"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6" name="TextBox 25">
              <a:extLst>
                <a:ext uri="{FF2B5EF4-FFF2-40B4-BE49-F238E27FC236}">
                  <a16:creationId xmlns:a16="http://schemas.microsoft.com/office/drawing/2014/main" id="{FA5D8E2C-37D0-8D72-FDF5-A6E4D30D0D4E}"/>
                </a:ext>
              </a:extLst>
            </p:cNvPr>
            <p:cNvSpPr txBox="1"/>
            <p:nvPr/>
          </p:nvSpPr>
          <p:spPr>
            <a:xfrm>
              <a:off x="6107003" y="5317055"/>
              <a:ext cx="448959"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39" name="TextBox 38">
            <a:extLst>
              <a:ext uri="{FF2B5EF4-FFF2-40B4-BE49-F238E27FC236}">
                <a16:creationId xmlns:a16="http://schemas.microsoft.com/office/drawing/2014/main" id="{EDC9FBAA-9FCF-4AE9-37EA-A434A0A406B1}"/>
              </a:ext>
            </a:extLst>
          </p:cNvPr>
          <p:cNvSpPr txBox="1"/>
          <p:nvPr/>
        </p:nvSpPr>
        <p:spPr>
          <a:xfrm>
            <a:off x="10003761" y="9076811"/>
            <a:ext cx="1120499" cy="694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time:</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r>
              <a:rPr lang="en-US" sz="1100" dirty="0" err="1"/>
              <a:t>start_commit</a:t>
            </a:r>
            <a:r>
              <a:rPr lang="en-US" sz="1100" dirty="0"/>
              <a:t>:</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Oval 39">
            <a:extLst>
              <a:ext uri="{FF2B5EF4-FFF2-40B4-BE49-F238E27FC236}">
                <a16:creationId xmlns:a16="http://schemas.microsoft.com/office/drawing/2014/main" id="{1EBF1857-856E-F518-B7F1-76E3FF528480}"/>
              </a:ext>
            </a:extLst>
          </p:cNvPr>
          <p:cNvSpPr/>
          <p:nvPr/>
        </p:nvSpPr>
        <p:spPr>
          <a:xfrm>
            <a:off x="11877674" y="8151111"/>
            <a:ext cx="1704542" cy="1704542"/>
          </a:xfrm>
          <a:prstGeom prst="ellipse">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761" name="Connector: Elbow 760">
            <a:extLst>
              <a:ext uri="{FF2B5EF4-FFF2-40B4-BE49-F238E27FC236}">
                <a16:creationId xmlns:a16="http://schemas.microsoft.com/office/drawing/2014/main" id="{CCA8176D-71D4-D7B1-FCBE-E16F395BCA95}"/>
              </a:ext>
            </a:extLst>
          </p:cNvPr>
          <p:cNvCxnSpPr>
            <a:cxnSpLocks/>
          </p:cNvCxnSpPr>
          <p:nvPr/>
        </p:nvCxnSpPr>
        <p:spPr>
          <a:xfrm rot="5400000">
            <a:off x="5586507" y="5335816"/>
            <a:ext cx="1701384" cy="664359"/>
          </a:xfrm>
          <a:prstGeom prst="bentConnector2">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BB5143B3-4ACE-1891-C70D-DAB53450AE36}"/>
              </a:ext>
            </a:extLst>
          </p:cNvPr>
          <p:cNvCxnSpPr/>
          <p:nvPr/>
        </p:nvCxnSpPr>
        <p:spPr>
          <a:xfrm>
            <a:off x="12066010" y="8681272"/>
            <a:ext cx="1326140" cy="4618"/>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72B510E9-B108-CADB-720E-61EB2AA77E94}"/>
              </a:ext>
            </a:extLst>
          </p:cNvPr>
          <p:cNvCxnSpPr/>
          <p:nvPr/>
        </p:nvCxnSpPr>
        <p:spPr>
          <a:xfrm>
            <a:off x="12066010" y="8594860"/>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AE41FEE3-4831-A1D1-D966-935A23FA3D4E}"/>
              </a:ext>
            </a:extLst>
          </p:cNvPr>
          <p:cNvCxnSpPr/>
          <p:nvPr/>
        </p:nvCxnSpPr>
        <p:spPr>
          <a:xfrm>
            <a:off x="13392150" y="8594860"/>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 name="Google Shape;247;p18">
            <a:extLst>
              <a:ext uri="{FF2B5EF4-FFF2-40B4-BE49-F238E27FC236}">
                <a16:creationId xmlns:a16="http://schemas.microsoft.com/office/drawing/2014/main" id="{BFD60204-C832-078C-88BC-34BAA4BC0705}"/>
              </a:ext>
            </a:extLst>
          </p:cNvPr>
          <p:cNvSpPr txBox="1"/>
          <p:nvPr/>
        </p:nvSpPr>
        <p:spPr>
          <a:xfrm>
            <a:off x="12701365" y="8286620"/>
            <a:ext cx="843280" cy="466748"/>
          </a:xfrm>
          <a:prstGeom prst="rect">
            <a:avLst/>
          </a:prstGeom>
          <a:noFill/>
          <a:ln>
            <a:noFill/>
          </a:ln>
        </p:spPr>
        <p:txBody>
          <a:bodyPr spcFirstLastPara="1" wrap="square" lIns="139677" tIns="139677" rIns="139677" bIns="139677"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cxnSp>
        <p:nvCxnSpPr>
          <p:cNvPr id="55" name="Google Shape;249;p18">
            <a:extLst>
              <a:ext uri="{FF2B5EF4-FFF2-40B4-BE49-F238E27FC236}">
                <a16:creationId xmlns:a16="http://schemas.microsoft.com/office/drawing/2014/main" id="{CE39114D-3A17-58C2-10B5-AF6EF529C9A0}"/>
              </a:ext>
            </a:extLst>
          </p:cNvPr>
          <p:cNvCxnSpPr>
            <a:cxnSpLocks/>
          </p:cNvCxnSpPr>
          <p:nvPr/>
        </p:nvCxnSpPr>
        <p:spPr>
          <a:xfrm>
            <a:off x="12000096" y="9101933"/>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0" name="Google Shape;249;p18">
            <a:extLst>
              <a:ext uri="{FF2B5EF4-FFF2-40B4-BE49-F238E27FC236}">
                <a16:creationId xmlns:a16="http://schemas.microsoft.com/office/drawing/2014/main" id="{2151AA77-B4B8-7FAF-C8EE-FEC2B854738C}"/>
              </a:ext>
            </a:extLst>
          </p:cNvPr>
          <p:cNvCxnSpPr>
            <a:cxnSpLocks/>
          </p:cNvCxnSpPr>
          <p:nvPr/>
        </p:nvCxnSpPr>
        <p:spPr>
          <a:xfrm>
            <a:off x="12507513" y="9336758"/>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1" name="Google Shape;249;p18">
            <a:extLst>
              <a:ext uri="{FF2B5EF4-FFF2-40B4-BE49-F238E27FC236}">
                <a16:creationId xmlns:a16="http://schemas.microsoft.com/office/drawing/2014/main" id="{461AF523-6167-5D2A-0F4B-99BBFD601A14}"/>
              </a:ext>
            </a:extLst>
          </p:cNvPr>
          <p:cNvCxnSpPr>
            <a:cxnSpLocks/>
          </p:cNvCxnSpPr>
          <p:nvPr/>
        </p:nvCxnSpPr>
        <p:spPr>
          <a:xfrm>
            <a:off x="12963722" y="9507306"/>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449" name="Straight Connector 448">
            <a:extLst>
              <a:ext uri="{FF2B5EF4-FFF2-40B4-BE49-F238E27FC236}">
                <a16:creationId xmlns:a16="http://schemas.microsoft.com/office/drawing/2014/main" id="{0BF81E1B-A0FC-A8A3-5B56-0595F5D19559}"/>
              </a:ext>
            </a:extLst>
          </p:cNvPr>
          <p:cNvCxnSpPr/>
          <p:nvPr/>
        </p:nvCxnSpPr>
        <p:spPr>
          <a:xfrm flipV="1">
            <a:off x="10899650" y="8545993"/>
            <a:ext cx="1100446" cy="5720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2" name="Straight Connector 451">
            <a:extLst>
              <a:ext uri="{FF2B5EF4-FFF2-40B4-BE49-F238E27FC236}">
                <a16:creationId xmlns:a16="http://schemas.microsoft.com/office/drawing/2014/main" id="{FF089EF8-163E-BBF7-3148-7D68C81994F3}"/>
              </a:ext>
            </a:extLst>
          </p:cNvPr>
          <p:cNvCxnSpPr>
            <a:endCxn id="40" idx="3"/>
          </p:cNvCxnSpPr>
          <p:nvPr/>
        </p:nvCxnSpPr>
        <p:spPr>
          <a:xfrm flipV="1">
            <a:off x="11016391" y="9606029"/>
            <a:ext cx="1110907" cy="415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70" name="Group 469">
            <a:extLst>
              <a:ext uri="{FF2B5EF4-FFF2-40B4-BE49-F238E27FC236}">
                <a16:creationId xmlns:a16="http://schemas.microsoft.com/office/drawing/2014/main" id="{7A3DEDD9-7B6D-6998-8FE4-6494EE480C9D}"/>
              </a:ext>
            </a:extLst>
          </p:cNvPr>
          <p:cNvGrpSpPr/>
          <p:nvPr/>
        </p:nvGrpSpPr>
        <p:grpSpPr>
          <a:xfrm>
            <a:off x="11969353" y="8877669"/>
            <a:ext cx="384572" cy="105342"/>
            <a:chOff x="11969353" y="8877669"/>
            <a:chExt cx="384572" cy="105342"/>
          </a:xfrm>
        </p:grpSpPr>
        <p:sp>
          <p:nvSpPr>
            <p:cNvPr id="457" name="Oval 456">
              <a:extLst>
                <a:ext uri="{FF2B5EF4-FFF2-40B4-BE49-F238E27FC236}">
                  <a16:creationId xmlns:a16="http://schemas.microsoft.com/office/drawing/2014/main" id="{BEFB8D67-4722-2AFD-A1E8-DF480B367859}"/>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69E00CA9-A801-6D0B-7517-EC5AC34820D2}"/>
                </a:ext>
              </a:extLst>
            </p:cNvPr>
            <p:cNvCxnSpPr>
              <a:cxnSpLocks/>
              <a:stCxn id="45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9" name="Straight Connector 468">
              <a:extLst>
                <a:ext uri="{FF2B5EF4-FFF2-40B4-BE49-F238E27FC236}">
                  <a16:creationId xmlns:a16="http://schemas.microsoft.com/office/drawing/2014/main" id="{268AAD46-C2D5-3AFE-25FE-38A8C166EE93}"/>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2" name="Group 471">
            <a:extLst>
              <a:ext uri="{FF2B5EF4-FFF2-40B4-BE49-F238E27FC236}">
                <a16:creationId xmlns:a16="http://schemas.microsoft.com/office/drawing/2014/main" id="{5A0C8A28-B583-A5C8-325E-33036A84228D}"/>
              </a:ext>
            </a:extLst>
          </p:cNvPr>
          <p:cNvGrpSpPr/>
          <p:nvPr/>
        </p:nvGrpSpPr>
        <p:grpSpPr>
          <a:xfrm>
            <a:off x="12511413" y="8782855"/>
            <a:ext cx="384572" cy="105342"/>
            <a:chOff x="11969353" y="8877669"/>
            <a:chExt cx="384572" cy="105342"/>
          </a:xfrm>
        </p:grpSpPr>
        <p:sp>
          <p:nvSpPr>
            <p:cNvPr id="473" name="Oval 472">
              <a:extLst>
                <a:ext uri="{FF2B5EF4-FFF2-40B4-BE49-F238E27FC236}">
                  <a16:creationId xmlns:a16="http://schemas.microsoft.com/office/drawing/2014/main" id="{BE3C3324-858C-78C4-9798-2C85C12B9FC5}"/>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4" name="Straight Connector 473">
              <a:extLst>
                <a:ext uri="{FF2B5EF4-FFF2-40B4-BE49-F238E27FC236}">
                  <a16:creationId xmlns:a16="http://schemas.microsoft.com/office/drawing/2014/main" id="{8334C3E8-F8A7-B3FE-37B1-6C633D1136D9}"/>
                </a:ext>
              </a:extLst>
            </p:cNvPr>
            <p:cNvCxnSpPr>
              <a:cxnSpLocks/>
              <a:stCxn id="473"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5DCF4022-7BAC-5F8B-F6C7-94676D8C48F5}"/>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6" name="Group 475">
            <a:extLst>
              <a:ext uri="{FF2B5EF4-FFF2-40B4-BE49-F238E27FC236}">
                <a16:creationId xmlns:a16="http://schemas.microsoft.com/office/drawing/2014/main" id="{33F77D12-AB4B-7836-379D-0E0824E2FE09}"/>
              </a:ext>
            </a:extLst>
          </p:cNvPr>
          <p:cNvGrpSpPr/>
          <p:nvPr/>
        </p:nvGrpSpPr>
        <p:grpSpPr>
          <a:xfrm>
            <a:off x="12511413" y="8972498"/>
            <a:ext cx="384572" cy="105342"/>
            <a:chOff x="11969353" y="8877669"/>
            <a:chExt cx="384572" cy="105342"/>
          </a:xfrm>
        </p:grpSpPr>
        <p:sp>
          <p:nvSpPr>
            <p:cNvPr id="477" name="Oval 476">
              <a:extLst>
                <a:ext uri="{FF2B5EF4-FFF2-40B4-BE49-F238E27FC236}">
                  <a16:creationId xmlns:a16="http://schemas.microsoft.com/office/drawing/2014/main" id="{E47864EF-21E1-6C58-DE99-113E93AFB5EF}"/>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8" name="Straight Connector 477">
              <a:extLst>
                <a:ext uri="{FF2B5EF4-FFF2-40B4-BE49-F238E27FC236}">
                  <a16:creationId xmlns:a16="http://schemas.microsoft.com/office/drawing/2014/main" id="{E52F99E4-0FAA-A400-1850-EC363F103D34}"/>
                </a:ext>
              </a:extLst>
            </p:cNvPr>
            <p:cNvCxnSpPr>
              <a:cxnSpLocks/>
              <a:stCxn id="47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9" name="Straight Connector 478">
              <a:extLst>
                <a:ext uri="{FF2B5EF4-FFF2-40B4-BE49-F238E27FC236}">
                  <a16:creationId xmlns:a16="http://schemas.microsoft.com/office/drawing/2014/main" id="{CC6FF742-CBAE-680F-5849-D070079EDB82}"/>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0" name="Group 479">
            <a:extLst>
              <a:ext uri="{FF2B5EF4-FFF2-40B4-BE49-F238E27FC236}">
                <a16:creationId xmlns:a16="http://schemas.microsoft.com/office/drawing/2014/main" id="{1FA62B2D-1B50-2949-5BE3-84D2A7AC2736}"/>
              </a:ext>
            </a:extLst>
          </p:cNvPr>
          <p:cNvGrpSpPr/>
          <p:nvPr/>
        </p:nvGrpSpPr>
        <p:grpSpPr>
          <a:xfrm>
            <a:off x="12511413" y="9170802"/>
            <a:ext cx="384572" cy="105342"/>
            <a:chOff x="11969353" y="8877669"/>
            <a:chExt cx="384572" cy="105342"/>
          </a:xfrm>
        </p:grpSpPr>
        <p:sp>
          <p:nvSpPr>
            <p:cNvPr id="481" name="Oval 480">
              <a:extLst>
                <a:ext uri="{FF2B5EF4-FFF2-40B4-BE49-F238E27FC236}">
                  <a16:creationId xmlns:a16="http://schemas.microsoft.com/office/drawing/2014/main" id="{CFB9288D-76C2-9BA1-908D-8F729997076D}"/>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2" name="Straight Connector 481">
              <a:extLst>
                <a:ext uri="{FF2B5EF4-FFF2-40B4-BE49-F238E27FC236}">
                  <a16:creationId xmlns:a16="http://schemas.microsoft.com/office/drawing/2014/main" id="{E9430ECA-FCDC-40D8-C032-0B78C873BEF0}"/>
                </a:ext>
              </a:extLst>
            </p:cNvPr>
            <p:cNvCxnSpPr>
              <a:cxnSpLocks/>
              <a:stCxn id="481"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8ACC00E8-D5F3-C03D-2533-923AA867F43D}"/>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4" name="Group 483">
            <a:extLst>
              <a:ext uri="{FF2B5EF4-FFF2-40B4-BE49-F238E27FC236}">
                <a16:creationId xmlns:a16="http://schemas.microsoft.com/office/drawing/2014/main" id="{70E5AC2F-911B-ADE5-45A4-6DC755E3C913}"/>
              </a:ext>
            </a:extLst>
          </p:cNvPr>
          <p:cNvGrpSpPr/>
          <p:nvPr/>
        </p:nvGrpSpPr>
        <p:grpSpPr>
          <a:xfrm>
            <a:off x="13066792" y="9249234"/>
            <a:ext cx="384572" cy="105342"/>
            <a:chOff x="11969353" y="8877669"/>
            <a:chExt cx="384572" cy="105342"/>
          </a:xfrm>
        </p:grpSpPr>
        <p:sp>
          <p:nvSpPr>
            <p:cNvPr id="485" name="Oval 484">
              <a:extLst>
                <a:ext uri="{FF2B5EF4-FFF2-40B4-BE49-F238E27FC236}">
                  <a16:creationId xmlns:a16="http://schemas.microsoft.com/office/drawing/2014/main" id="{E03A0FD3-395C-8A63-A7D3-7C631EB22B04}"/>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6" name="Straight Connector 485">
              <a:extLst>
                <a:ext uri="{FF2B5EF4-FFF2-40B4-BE49-F238E27FC236}">
                  <a16:creationId xmlns:a16="http://schemas.microsoft.com/office/drawing/2014/main" id="{236D2827-DB4F-FEB8-0633-64626E0E7498}"/>
                </a:ext>
              </a:extLst>
            </p:cNvPr>
            <p:cNvCxnSpPr>
              <a:cxnSpLocks/>
              <a:stCxn id="485"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7" name="Straight Connector 486">
              <a:extLst>
                <a:ext uri="{FF2B5EF4-FFF2-40B4-BE49-F238E27FC236}">
                  <a16:creationId xmlns:a16="http://schemas.microsoft.com/office/drawing/2014/main" id="{3CE9DADA-086D-C05C-003A-ACAE1FA26230}"/>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8" name="Group 487">
            <a:extLst>
              <a:ext uri="{FF2B5EF4-FFF2-40B4-BE49-F238E27FC236}">
                <a16:creationId xmlns:a16="http://schemas.microsoft.com/office/drawing/2014/main" id="{860D0D2D-D501-CD04-959A-C007FFA80A6A}"/>
              </a:ext>
            </a:extLst>
          </p:cNvPr>
          <p:cNvGrpSpPr/>
          <p:nvPr/>
        </p:nvGrpSpPr>
        <p:grpSpPr>
          <a:xfrm>
            <a:off x="13061170" y="8925497"/>
            <a:ext cx="384572" cy="105342"/>
            <a:chOff x="11969353" y="8877669"/>
            <a:chExt cx="384572" cy="105342"/>
          </a:xfrm>
        </p:grpSpPr>
        <p:sp>
          <p:nvSpPr>
            <p:cNvPr id="489" name="Oval 488">
              <a:extLst>
                <a:ext uri="{FF2B5EF4-FFF2-40B4-BE49-F238E27FC236}">
                  <a16:creationId xmlns:a16="http://schemas.microsoft.com/office/drawing/2014/main" id="{415BE99B-E120-04AC-4B67-5BBA20E4F334}"/>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90" name="Straight Connector 489">
              <a:extLst>
                <a:ext uri="{FF2B5EF4-FFF2-40B4-BE49-F238E27FC236}">
                  <a16:creationId xmlns:a16="http://schemas.microsoft.com/office/drawing/2014/main" id="{B5630524-3F7A-D2FD-108C-B0625E0A378C}"/>
                </a:ext>
              </a:extLst>
            </p:cNvPr>
            <p:cNvCxnSpPr>
              <a:cxnSpLocks/>
              <a:stCxn id="489"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1" name="Straight Connector 490">
              <a:extLst>
                <a:ext uri="{FF2B5EF4-FFF2-40B4-BE49-F238E27FC236}">
                  <a16:creationId xmlns:a16="http://schemas.microsoft.com/office/drawing/2014/main" id="{C40FA8E6-70A4-3B94-A404-30AF9FD8DCAE}"/>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158307624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C7843-A5A2-EEC3-67EA-983BC81C0F5C}"/>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96F0F738-5415-112F-AF24-00BED5880857}"/>
              </a:ext>
            </a:extLst>
          </p:cNvPr>
          <p:cNvPicPr>
            <a:picLocks noChangeAspect="1"/>
          </p:cNvPicPr>
          <p:nvPr/>
        </p:nvPicPr>
        <p:blipFill>
          <a:blip r:embed="rId4"/>
          <a:stretch>
            <a:fillRect/>
          </a:stretch>
        </p:blipFill>
        <p:spPr>
          <a:xfrm>
            <a:off x="8371568" y="-682083"/>
            <a:ext cx="5598432" cy="2990088"/>
          </a:xfrm>
          <a:prstGeom prst="rect">
            <a:avLst/>
          </a:prstGeom>
          <a:ln w="12700">
            <a:miter lim="400000"/>
          </a:ln>
        </p:spPr>
      </p:pic>
      <p:sp>
        <p:nvSpPr>
          <p:cNvPr id="312" name="Line">
            <a:extLst>
              <a:ext uri="{FF2B5EF4-FFF2-40B4-BE49-F238E27FC236}">
                <a16:creationId xmlns:a16="http://schemas.microsoft.com/office/drawing/2014/main" id="{32B48222-2172-439C-ADCA-E038639A0D2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3280A767-0BAD-5EC3-D9FA-CE1589F42C11}"/>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37F1D613-C69C-6F7D-8E3B-BD3DC98B4898}"/>
              </a:ext>
            </a:extLst>
          </p:cNvPr>
          <p:cNvSpPr txBox="1"/>
          <p:nvPr/>
        </p:nvSpPr>
        <p:spPr>
          <a:xfrm>
            <a:off x="9576575" y="1412171"/>
            <a:ext cx="13946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Config API</a:t>
            </a:r>
          </a:p>
        </p:txBody>
      </p:sp>
      <p:sp>
        <p:nvSpPr>
          <p:cNvPr id="334" name="Three Column Layout: : CHEAT SHEET">
            <a:extLst>
              <a:ext uri="{FF2B5EF4-FFF2-40B4-BE49-F238E27FC236}">
                <a16:creationId xmlns:a16="http://schemas.microsoft.com/office/drawing/2014/main" id="{D7BF7E36-0B9F-BD63-FCCA-19908A792360}"/>
              </a:ext>
            </a:extLst>
          </p:cNvPr>
          <p:cNvSpPr txBox="1">
            <a:spLocks noGrp="1"/>
          </p:cNvSpPr>
          <p:nvPr>
            <p:ph type="title"/>
          </p:nvPr>
        </p:nvSpPr>
        <p:spPr>
          <a:xfrm>
            <a:off x="275721" y="361177"/>
            <a:ext cx="10898129" cy="803346"/>
          </a:xfrm>
          <a:prstGeom prst="rect">
            <a:avLst/>
          </a:prstGeom>
        </p:spPr>
        <p:txBody>
          <a:bodyPr lIns="0" tIns="0" rIns="0" bIns="0" anchor="t">
            <a:normAutofit/>
          </a:bodyPr>
          <a:lstStyle/>
          <a:p>
            <a:r>
              <a:rPr lang="en-US" dirty="0"/>
              <a:t>Configurations (.</a:t>
            </a:r>
            <a:r>
              <a:rPr lang="en-US" dirty="0" err="1"/>
              <a:t>yml</a:t>
            </a:r>
            <a:r>
              <a:rPr lang="en-US" dirty="0"/>
              <a: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155C44F6-8EDB-E468-E042-5199E059D6FC}"/>
              </a:ext>
            </a:extLst>
          </p:cNvPr>
          <p:cNvSpPr txBox="1"/>
          <p:nvPr/>
        </p:nvSpPr>
        <p:spPr>
          <a:xfrm>
            <a:off x="143526" y="1855171"/>
            <a:ext cx="3949153" cy="18491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err="1">
                <a:solidFill>
                  <a:srgbClr val="000000"/>
                </a:solidFill>
                <a:effectLst/>
                <a:latin typeface="Source Sans Pro" panose="020B0503030403020204" pitchFamily="34" charset="0"/>
                <a:ea typeface="Source Sans Pro" panose="020B0503030403020204" pitchFamily="34" charset="0"/>
              </a:rPr>
              <a:t>Kaiaulu</a:t>
            </a:r>
            <a:r>
              <a:rPr lang="en-US" b="0" i="0" u="none" strike="noStrike" dirty="0">
                <a:solidFill>
                  <a:srgbClr val="000000"/>
                </a:solidFill>
                <a:effectLst/>
                <a:latin typeface="Source Sans Pro" panose="020B0503030403020204" pitchFamily="34" charset="0"/>
                <a:ea typeface="Source Sans Pro" panose="020B0503030403020204" pitchFamily="34" charset="0"/>
              </a:rPr>
              <a:t> uses configuration files to store data parameters that are used to run analyses. Instead of having these values in notebooks or scripts, these configuration files let users reuse the same workflows across different projects and analyses.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By splitting the configurations into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i="0" u="none" strike="noStrike" dirty="0">
                <a:solidFill>
                  <a:srgbClr val="000000"/>
                </a:solidFill>
                <a:effectLst/>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rgbClr val="F07D61"/>
                </a:solidFill>
                <a:latin typeface="Source Sans Pro" panose="020B0503030403020204" pitchFamily="34" charset="0"/>
                <a:ea typeface="Source Sans Pro" panose="020B0503030403020204" pitchFamily="34" charset="0"/>
                <a:sym typeface="Source Sans Pro Light"/>
              </a:rPr>
              <a:t>)</a:t>
            </a:r>
            <a:r>
              <a:rPr lang="en-US" b="0" i="0" u="none" strike="noStrike" dirty="0">
                <a:solidFill>
                  <a:srgbClr val="F07D61"/>
                </a:solidFill>
                <a:effectLst/>
                <a:latin typeface="Source Sans Pro" panose="020B0503030403020204" pitchFamily="34" charset="0"/>
                <a:ea typeface="Source Sans Pro" panose="020B0503030403020204" pitchFamily="34" charset="0"/>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files, it reduces the duplication of data parameters and allows users to mix and match different project and analysis configs.</a:t>
            </a:r>
          </a:p>
        </p:txBody>
      </p:sp>
      <p:sp>
        <p:nvSpPr>
          <p:cNvPr id="342" name="Create a visual hierarchy. Help users navigate the page with titles, subtitles, and subsubtitles">
            <a:extLst>
              <a:ext uri="{FF2B5EF4-FFF2-40B4-BE49-F238E27FC236}">
                <a16:creationId xmlns:a16="http://schemas.microsoft.com/office/drawing/2014/main" id="{7FBA6027-EC91-D4F4-4845-28D78F3A80B6}"/>
              </a:ext>
            </a:extLst>
          </p:cNvPr>
          <p:cNvSpPr txBox="1"/>
          <p:nvPr/>
        </p:nvSpPr>
        <p:spPr>
          <a:xfrm>
            <a:off x="9584561" y="1793256"/>
            <a:ext cx="4001355"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err="1">
                <a:latin typeface="Source Sans Pro" panose="020B0503030403020204" pitchFamily="34" charset="0"/>
                <a:ea typeface="Source Sans Pro" panose="020B0503030403020204" pitchFamily="34" charset="0"/>
                <a:sym typeface="Source Sans Pro"/>
              </a:rPr>
              <a:t>Kaiaulu</a:t>
            </a:r>
            <a:r>
              <a:rPr lang="en-US" dirty="0">
                <a:latin typeface="Source Sans Pro" panose="020B0503030403020204" pitchFamily="34" charset="0"/>
                <a:ea typeface="Source Sans Pro" panose="020B0503030403020204" pitchFamily="34" charset="0"/>
                <a:sym typeface="Source Sans Pro"/>
              </a:rPr>
              <a:t> uses get functions to extract values from configuration files. </a:t>
            </a:r>
            <a:r>
              <a:rPr lang="en-US" dirty="0">
                <a:latin typeface="Source Sans Pro" panose="020B0503030403020204" pitchFamily="34" charset="0"/>
                <a:ea typeface="Source Sans Pro" panose="020B0503030403020204" pitchFamily="34" charset="0"/>
              </a:rPr>
              <a:t>These functions allow notebooks and executables to access parameters in</a:t>
            </a:r>
            <a:r>
              <a:rPr lang="en-US" b="0" dirty="0">
                <a:solidFill>
                  <a:schemeClr val="accent2"/>
                </a:solidFill>
                <a:latin typeface="Source Sans Pro" panose="020B0503030403020204" pitchFamily="34" charset="0"/>
                <a:ea typeface="Source Sans Pro" panose="020B0503030403020204" pitchFamily="34" charset="0"/>
                <a:sym typeface="Source Sans Pro Light"/>
              </a:rPr>
              <a:t>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sym typeface="Source Sans Pro Light"/>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5"/>
                </a:solidFill>
                <a:latin typeface="Source Sans Pro" panose="020B0503030403020204" pitchFamily="34" charset="0"/>
                <a:ea typeface="Source Sans Pro" panose="020B0503030403020204" pitchFamily="34" charset="0"/>
                <a:sym typeface="Source Sans Pro Light"/>
              </a:rPr>
              <a:t>)</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a:t>
            </a:r>
            <a:endParaRPr lang="en-US" dirty="0">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7D0A389B-D07B-7AE5-E2BC-ECA9CB5B632A}"/>
              </a:ext>
            </a:extLst>
          </p:cNvPr>
          <p:cNvSpPr txBox="1"/>
          <p:nvPr/>
        </p:nvSpPr>
        <p:spPr>
          <a:xfrm>
            <a:off x="146304"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D131BD3A-F552-7AE0-41EE-E8635353FBE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0AF9A742-11EC-E176-28BC-9AA30A70B948}"/>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Gi Young (Michelle) Back</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740" name="Basics">
            <a:extLst>
              <a:ext uri="{FF2B5EF4-FFF2-40B4-BE49-F238E27FC236}">
                <a16:creationId xmlns:a16="http://schemas.microsoft.com/office/drawing/2014/main" id="{CC2DA15D-8404-1DC4-A9F7-6D6FE8D4F1DF}"/>
              </a:ext>
            </a:extLst>
          </p:cNvPr>
          <p:cNvSpPr txBox="1"/>
          <p:nvPr/>
        </p:nvSpPr>
        <p:spPr>
          <a:xfrm>
            <a:off x="155448" y="3942456"/>
            <a:ext cx="28934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none" lIns="12700" tIns="12700" rIns="12700" bIns="127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lvl="1" indent="0">
              <a:lnSpc>
                <a:spcPct val="80000"/>
              </a:lnSpc>
              <a:spcBef>
                <a:spcPts val="0"/>
              </a:spcBef>
              <a:defRPr sz="2500" b="0">
                <a:solidFill>
                  <a:srgbClr val="628DB5"/>
                </a:solidFill>
              </a:defRPr>
            </a:pPr>
            <a:r>
              <a:rPr lang="en-US" dirty="0"/>
              <a:t>Project Configuration</a:t>
            </a:r>
            <a:endParaRPr dirty="0"/>
          </a:p>
        </p:txBody>
      </p:sp>
      <p:sp>
        <p:nvSpPr>
          <p:cNvPr id="7" name="Manipulate Variables">
            <a:extLst>
              <a:ext uri="{FF2B5EF4-FFF2-40B4-BE49-F238E27FC236}">
                <a16:creationId xmlns:a16="http://schemas.microsoft.com/office/drawing/2014/main" id="{769C0C8D-6F76-8977-00BB-EFED29043164}"/>
              </a:ext>
            </a:extLst>
          </p:cNvPr>
          <p:cNvSpPr txBox="1"/>
          <p:nvPr/>
        </p:nvSpPr>
        <p:spPr>
          <a:xfrm>
            <a:off x="9584561" y="7070079"/>
            <a:ext cx="248144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Temporal Analysis</a:t>
            </a:r>
          </a:p>
        </p:txBody>
      </p:sp>
      <p:sp>
        <p:nvSpPr>
          <p:cNvPr id="12" name="TextBox 11">
            <a:extLst>
              <a:ext uri="{FF2B5EF4-FFF2-40B4-BE49-F238E27FC236}">
                <a16:creationId xmlns:a16="http://schemas.microsoft.com/office/drawing/2014/main" id="{1EE928DC-6427-F722-16EC-0D88F4181AE7}"/>
              </a:ext>
            </a:extLst>
          </p:cNvPr>
          <p:cNvSpPr txBox="1"/>
          <p:nvPr/>
        </p:nvSpPr>
        <p:spPr>
          <a:xfrm>
            <a:off x="9576575" y="7385580"/>
            <a:ext cx="3968070"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Temporal parameters in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files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latin typeface="Source Sans Pro" panose="020B0503030403020204" pitchFamily="34" charset="0"/>
                <a:ea typeface="Source Sans Pro" panose="020B0503030403020204" pitchFamily="34" charset="0"/>
              </a:rPr>
              <a:t>allow users to analyze a project over time. This allows users to compare data from different timestamps and observe changes and activity in code structure over time.</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5" name="Manipulate Variables">
            <a:extLst>
              <a:ext uri="{FF2B5EF4-FFF2-40B4-BE49-F238E27FC236}">
                <a16:creationId xmlns:a16="http://schemas.microsoft.com/office/drawing/2014/main" id="{C6E75924-C25C-61E3-FD63-901ADEC76DCD}"/>
              </a:ext>
            </a:extLst>
          </p:cNvPr>
          <p:cNvSpPr txBox="1"/>
          <p:nvPr/>
        </p:nvSpPr>
        <p:spPr>
          <a:xfrm>
            <a:off x="4819606" y="1426182"/>
            <a:ext cx="426719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Interchangeable Configurations</a:t>
            </a:r>
          </a:p>
        </p:txBody>
      </p:sp>
      <p:sp>
        <p:nvSpPr>
          <p:cNvPr id="36" name="Line">
            <a:extLst>
              <a:ext uri="{FF2B5EF4-FFF2-40B4-BE49-F238E27FC236}">
                <a16:creationId xmlns:a16="http://schemas.microsoft.com/office/drawing/2014/main" id="{349D27A3-78C8-A277-3775-73ED9435964A}"/>
              </a:ext>
            </a:extLst>
          </p:cNvPr>
          <p:cNvSpPr/>
          <p:nvPr/>
        </p:nvSpPr>
        <p:spPr>
          <a:xfrm flipV="1">
            <a:off x="9580868" y="10058400"/>
            <a:ext cx="417880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5" name="Use headers, colors, and/or backgrounds to separate or group together sections.">
            <a:extLst>
              <a:ext uri="{FF2B5EF4-FFF2-40B4-BE49-F238E27FC236}">
                <a16:creationId xmlns:a16="http://schemas.microsoft.com/office/drawing/2014/main" id="{5D52DA74-59C1-D61F-26B7-0655131176DD}"/>
              </a:ext>
            </a:extLst>
          </p:cNvPr>
          <p:cNvSpPr txBox="1"/>
          <p:nvPr/>
        </p:nvSpPr>
        <p:spPr>
          <a:xfrm>
            <a:off x="173122" y="4417367"/>
            <a:ext cx="3949153"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a:t>
            </a:r>
            <a:r>
              <a:rPr lang="en-US" b="0" i="0" u="none" strike="noStrike" dirty="0" err="1">
                <a:solidFill>
                  <a:schemeClr val="accent1"/>
                </a:solidFill>
                <a:effectLst/>
                <a:latin typeface="Source Sans Pro" panose="020B0503030403020204" pitchFamily="34" charset="0"/>
                <a:ea typeface="Source Sans Pro" panose="020B0503030403020204" pitchFamily="34" charset="0"/>
                <a:sym typeface="Source Sans Pro Light"/>
              </a:rPr>
              <a:t>p</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files (1) </a:t>
            </a:r>
            <a:r>
              <a:rPr lang="en-US" b="0" i="0" u="none" strike="noStrike" dirty="0">
                <a:solidFill>
                  <a:srgbClr val="000000"/>
                </a:solidFill>
                <a:effectLst/>
                <a:latin typeface="Source Sans Pro" panose="020B0503030403020204" pitchFamily="34" charset="0"/>
                <a:ea typeface="Source Sans Pro" panose="020B0503030403020204" pitchFamily="34" charset="0"/>
              </a:rPr>
              <a:t>define project-related data such as version control, issue trackers, and mailing lists.</a:t>
            </a:r>
          </a:p>
        </p:txBody>
      </p:sp>
      <p:sp>
        <p:nvSpPr>
          <p:cNvPr id="356" name="Use headers, colors, and/or backgrounds to separate or group together sections.">
            <a:extLst>
              <a:ext uri="{FF2B5EF4-FFF2-40B4-BE49-F238E27FC236}">
                <a16:creationId xmlns:a16="http://schemas.microsoft.com/office/drawing/2014/main" id="{2A4B830C-5B03-3DB5-2378-E14F0D1908A4}"/>
              </a:ext>
            </a:extLst>
          </p:cNvPr>
          <p:cNvSpPr txBox="1"/>
          <p:nvPr/>
        </p:nvSpPr>
        <p:spPr>
          <a:xfrm>
            <a:off x="170343" y="6293935"/>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are specific to a project and remain consistent across different analyses.</a:t>
            </a:r>
          </a:p>
        </p:txBody>
      </p:sp>
      <p:grpSp>
        <p:nvGrpSpPr>
          <p:cNvPr id="396" name="Group 395">
            <a:extLst>
              <a:ext uri="{FF2B5EF4-FFF2-40B4-BE49-F238E27FC236}">
                <a16:creationId xmlns:a16="http://schemas.microsoft.com/office/drawing/2014/main" id="{7F46887C-F586-24B7-5147-F66AC4985AAE}"/>
              </a:ext>
            </a:extLst>
          </p:cNvPr>
          <p:cNvGrpSpPr/>
          <p:nvPr/>
        </p:nvGrpSpPr>
        <p:grpSpPr>
          <a:xfrm>
            <a:off x="373334" y="5175031"/>
            <a:ext cx="1441090" cy="862872"/>
            <a:chOff x="4056577" y="4033088"/>
            <a:chExt cx="493900" cy="295729"/>
          </a:xfrm>
        </p:grpSpPr>
        <p:sp>
          <p:nvSpPr>
            <p:cNvPr id="397" name="Google Shape;375;p18">
              <a:extLst>
                <a:ext uri="{FF2B5EF4-FFF2-40B4-BE49-F238E27FC236}">
                  <a16:creationId xmlns:a16="http://schemas.microsoft.com/office/drawing/2014/main" id="{A064D148-4905-B951-D125-745ECE9FD39A}"/>
                </a:ext>
              </a:extLst>
            </p:cNvPr>
            <p:cNvSpPr txBox="1"/>
            <p:nvPr/>
          </p:nvSpPr>
          <p:spPr>
            <a:xfrm>
              <a:off x="4106777" y="4033088"/>
              <a:ext cx="443700"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GitHub</a:t>
              </a:r>
              <a:endParaRPr dirty="0">
                <a:solidFill>
                  <a:schemeClr val="dk2"/>
                </a:solidFill>
                <a:latin typeface="Source Sans 3"/>
                <a:ea typeface="Source Sans 3"/>
                <a:cs typeface="Source Sans 3"/>
                <a:sym typeface="Source Sans 3"/>
              </a:endParaRPr>
            </a:p>
          </p:txBody>
        </p:sp>
        <p:grpSp>
          <p:nvGrpSpPr>
            <p:cNvPr id="398" name="Google Shape;359;p18">
              <a:extLst>
                <a:ext uri="{FF2B5EF4-FFF2-40B4-BE49-F238E27FC236}">
                  <a16:creationId xmlns:a16="http://schemas.microsoft.com/office/drawing/2014/main" id="{5A52E6F7-8F77-A40B-18E2-827AC9B60458}"/>
                </a:ext>
              </a:extLst>
            </p:cNvPr>
            <p:cNvGrpSpPr/>
            <p:nvPr/>
          </p:nvGrpSpPr>
          <p:grpSpPr>
            <a:xfrm>
              <a:off x="4056577" y="4139517"/>
              <a:ext cx="307200" cy="189300"/>
              <a:chOff x="3007175" y="1757600"/>
              <a:chExt cx="307200" cy="189300"/>
            </a:xfrm>
          </p:grpSpPr>
          <p:sp>
            <p:nvSpPr>
              <p:cNvPr id="399" name="Google Shape;360;p18">
                <a:extLst>
                  <a:ext uri="{FF2B5EF4-FFF2-40B4-BE49-F238E27FC236}">
                    <a16:creationId xmlns:a16="http://schemas.microsoft.com/office/drawing/2014/main" id="{CD30A556-4F4E-59C2-8481-0446C8B2B60D}"/>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1;p18">
                <a:extLst>
                  <a:ext uri="{FF2B5EF4-FFF2-40B4-BE49-F238E27FC236}">
                    <a16:creationId xmlns:a16="http://schemas.microsoft.com/office/drawing/2014/main" id="{822046B7-C40A-690E-B25F-326874B7F65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2;p18">
                <a:extLst>
                  <a:ext uri="{FF2B5EF4-FFF2-40B4-BE49-F238E27FC236}">
                    <a16:creationId xmlns:a16="http://schemas.microsoft.com/office/drawing/2014/main" id="{B3DC0494-D62C-35AE-6B39-37AEFBB86959}"/>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363;p18">
                <a:extLst>
                  <a:ext uri="{FF2B5EF4-FFF2-40B4-BE49-F238E27FC236}">
                    <a16:creationId xmlns:a16="http://schemas.microsoft.com/office/drawing/2014/main" id="{91A0B525-AEE4-7E25-8F0F-6ACDB4B55D10}"/>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3" name="Google Shape;364;p18">
                <a:extLst>
                  <a:ext uri="{FF2B5EF4-FFF2-40B4-BE49-F238E27FC236}">
                    <a16:creationId xmlns:a16="http://schemas.microsoft.com/office/drawing/2014/main" id="{3179212F-0E20-FE25-7B1B-53C5773CFB56}"/>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5;p18">
                <a:extLst>
                  <a:ext uri="{FF2B5EF4-FFF2-40B4-BE49-F238E27FC236}">
                    <a16:creationId xmlns:a16="http://schemas.microsoft.com/office/drawing/2014/main" id="{FBBB54BC-F647-F50E-9F16-DFE237FB087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366;p18">
                <a:extLst>
                  <a:ext uri="{FF2B5EF4-FFF2-40B4-BE49-F238E27FC236}">
                    <a16:creationId xmlns:a16="http://schemas.microsoft.com/office/drawing/2014/main" id="{3E481A76-8317-9581-7479-DB81BED12145}"/>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14" name="Group 413">
            <a:extLst>
              <a:ext uri="{FF2B5EF4-FFF2-40B4-BE49-F238E27FC236}">
                <a16:creationId xmlns:a16="http://schemas.microsoft.com/office/drawing/2014/main" id="{6FF1A249-A258-106F-B30F-99661E9DF54C}"/>
              </a:ext>
            </a:extLst>
          </p:cNvPr>
          <p:cNvGrpSpPr/>
          <p:nvPr/>
        </p:nvGrpSpPr>
        <p:grpSpPr>
          <a:xfrm>
            <a:off x="1519251" y="5165209"/>
            <a:ext cx="896341" cy="862872"/>
            <a:chOff x="4056577" y="4033088"/>
            <a:chExt cx="307200" cy="295729"/>
          </a:xfrm>
        </p:grpSpPr>
        <p:sp>
          <p:nvSpPr>
            <p:cNvPr id="415" name="Google Shape;375;p18">
              <a:extLst>
                <a:ext uri="{FF2B5EF4-FFF2-40B4-BE49-F238E27FC236}">
                  <a16:creationId xmlns:a16="http://schemas.microsoft.com/office/drawing/2014/main" id="{D28BB453-12AC-932A-4ED8-482F045F5948}"/>
                </a:ext>
              </a:extLst>
            </p:cNvPr>
            <p:cNvSpPr txBox="1"/>
            <p:nvPr/>
          </p:nvSpPr>
          <p:spPr>
            <a:xfrm>
              <a:off x="4144430" y="4033088"/>
              <a:ext cx="150347"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Jira</a:t>
              </a:r>
              <a:endParaRPr dirty="0">
                <a:solidFill>
                  <a:schemeClr val="dk2"/>
                </a:solidFill>
                <a:latin typeface="Source Sans 3"/>
                <a:ea typeface="Source Sans 3"/>
                <a:cs typeface="Source Sans 3"/>
                <a:sym typeface="Source Sans 3"/>
              </a:endParaRPr>
            </a:p>
          </p:txBody>
        </p:sp>
        <p:grpSp>
          <p:nvGrpSpPr>
            <p:cNvPr id="416" name="Google Shape;359;p18">
              <a:extLst>
                <a:ext uri="{FF2B5EF4-FFF2-40B4-BE49-F238E27FC236}">
                  <a16:creationId xmlns:a16="http://schemas.microsoft.com/office/drawing/2014/main" id="{EC558DAD-B18C-4E2F-8603-A48C978AE60E}"/>
                </a:ext>
              </a:extLst>
            </p:cNvPr>
            <p:cNvGrpSpPr/>
            <p:nvPr/>
          </p:nvGrpSpPr>
          <p:grpSpPr>
            <a:xfrm>
              <a:off x="4056577" y="4139517"/>
              <a:ext cx="307200" cy="189300"/>
              <a:chOff x="3007175" y="1757600"/>
              <a:chExt cx="307200" cy="189300"/>
            </a:xfrm>
          </p:grpSpPr>
          <p:sp>
            <p:nvSpPr>
              <p:cNvPr id="417" name="Google Shape;360;p18">
                <a:extLst>
                  <a:ext uri="{FF2B5EF4-FFF2-40B4-BE49-F238E27FC236}">
                    <a16:creationId xmlns:a16="http://schemas.microsoft.com/office/drawing/2014/main" id="{6F74E0BB-C50A-86D1-43FA-AF829B31DF0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361;p18">
                <a:extLst>
                  <a:ext uri="{FF2B5EF4-FFF2-40B4-BE49-F238E27FC236}">
                    <a16:creationId xmlns:a16="http://schemas.microsoft.com/office/drawing/2014/main" id="{BE99614D-0C12-7E17-4579-3DF4A3A5659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362;p18">
                <a:extLst>
                  <a:ext uri="{FF2B5EF4-FFF2-40B4-BE49-F238E27FC236}">
                    <a16:creationId xmlns:a16="http://schemas.microsoft.com/office/drawing/2014/main" id="{683F5638-F931-2D7B-62A9-56C81502E5C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363;p18">
                <a:extLst>
                  <a:ext uri="{FF2B5EF4-FFF2-40B4-BE49-F238E27FC236}">
                    <a16:creationId xmlns:a16="http://schemas.microsoft.com/office/drawing/2014/main" id="{BED3045B-DC57-6243-966E-EE51B4A82CA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1" name="Google Shape;364;p18">
                <a:extLst>
                  <a:ext uri="{FF2B5EF4-FFF2-40B4-BE49-F238E27FC236}">
                    <a16:creationId xmlns:a16="http://schemas.microsoft.com/office/drawing/2014/main" id="{CDF40858-F1BB-C40C-9D73-E065C0B4E8C3}"/>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365;p18">
                <a:extLst>
                  <a:ext uri="{FF2B5EF4-FFF2-40B4-BE49-F238E27FC236}">
                    <a16:creationId xmlns:a16="http://schemas.microsoft.com/office/drawing/2014/main" id="{FF0CEB8A-9706-8A70-B7CA-EFC58476E217}"/>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366;p18">
                <a:extLst>
                  <a:ext uri="{FF2B5EF4-FFF2-40B4-BE49-F238E27FC236}">
                    <a16:creationId xmlns:a16="http://schemas.microsoft.com/office/drawing/2014/main" id="{09AE9FC2-A1D3-8D5E-864F-9CEDFA6C8D27}"/>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24" name="Google Shape;377;p18">
            <a:extLst>
              <a:ext uri="{FF2B5EF4-FFF2-40B4-BE49-F238E27FC236}">
                <a16:creationId xmlns:a16="http://schemas.microsoft.com/office/drawing/2014/main" id="{3F1A736A-0CFC-FE40-663D-8F4C968A2D16}"/>
              </a:ext>
            </a:extLst>
          </p:cNvPr>
          <p:cNvGrpSpPr/>
          <p:nvPr/>
        </p:nvGrpSpPr>
        <p:grpSpPr>
          <a:xfrm>
            <a:off x="2836022" y="5459921"/>
            <a:ext cx="588585" cy="570766"/>
            <a:chOff x="3021975" y="2389850"/>
            <a:chExt cx="307200" cy="297900"/>
          </a:xfrm>
        </p:grpSpPr>
        <p:sp>
          <p:nvSpPr>
            <p:cNvPr id="425" name="Google Shape;378;p18">
              <a:extLst>
                <a:ext uri="{FF2B5EF4-FFF2-40B4-BE49-F238E27FC236}">
                  <a16:creationId xmlns:a16="http://schemas.microsoft.com/office/drawing/2014/main" id="{C6FAA712-59DA-8C41-9C03-D15017152DAD}"/>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6" name="Google Shape;379;p18">
              <a:extLst>
                <a:ext uri="{FF2B5EF4-FFF2-40B4-BE49-F238E27FC236}">
                  <a16:creationId xmlns:a16="http://schemas.microsoft.com/office/drawing/2014/main" id="{BFB99880-CD68-6970-8860-8B23E23E92A9}"/>
                </a:ext>
              </a:extLst>
            </p:cNvPr>
            <p:cNvGrpSpPr/>
            <p:nvPr/>
          </p:nvGrpSpPr>
          <p:grpSpPr>
            <a:xfrm>
              <a:off x="3021975" y="2389850"/>
              <a:ext cx="307200" cy="295800"/>
              <a:chOff x="3021975" y="2389850"/>
              <a:chExt cx="307200" cy="295800"/>
            </a:xfrm>
          </p:grpSpPr>
          <p:sp>
            <p:nvSpPr>
              <p:cNvPr id="427" name="Google Shape;380;p18">
                <a:extLst>
                  <a:ext uri="{FF2B5EF4-FFF2-40B4-BE49-F238E27FC236}">
                    <a16:creationId xmlns:a16="http://schemas.microsoft.com/office/drawing/2014/main" id="{F05FF8E9-6CCC-44CA-DF42-E1890FDEAA3B}"/>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381;p18">
                <a:extLst>
                  <a:ext uri="{FF2B5EF4-FFF2-40B4-BE49-F238E27FC236}">
                    <a16:creationId xmlns:a16="http://schemas.microsoft.com/office/drawing/2014/main" id="{BA09FF1B-B77D-A7CB-AA8E-AB0C5BCE78A7}"/>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9" name="Google Shape;382;p18">
                <a:extLst>
                  <a:ext uri="{FF2B5EF4-FFF2-40B4-BE49-F238E27FC236}">
                    <a16:creationId xmlns:a16="http://schemas.microsoft.com/office/drawing/2014/main" id="{496E4F37-5238-9663-7FF4-85F5B249577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383;p18">
                <a:extLst>
                  <a:ext uri="{FF2B5EF4-FFF2-40B4-BE49-F238E27FC236}">
                    <a16:creationId xmlns:a16="http://schemas.microsoft.com/office/drawing/2014/main" id="{A5DDFAA0-0D10-F5CF-03E4-CA724D9B0909}"/>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1" name="Google Shape;384;p18">
                <a:extLst>
                  <a:ext uri="{FF2B5EF4-FFF2-40B4-BE49-F238E27FC236}">
                    <a16:creationId xmlns:a16="http://schemas.microsoft.com/office/drawing/2014/main" id="{55E781AA-2562-3838-9DA6-555DDAF2C58E}"/>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2" name="Google Shape;385;p18">
                <a:extLst>
                  <a:ext uri="{FF2B5EF4-FFF2-40B4-BE49-F238E27FC236}">
                    <a16:creationId xmlns:a16="http://schemas.microsoft.com/office/drawing/2014/main" id="{C11D1138-4785-0B6E-FE50-151530E9C089}"/>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386;p18">
                <a:extLst>
                  <a:ext uri="{FF2B5EF4-FFF2-40B4-BE49-F238E27FC236}">
                    <a16:creationId xmlns:a16="http://schemas.microsoft.com/office/drawing/2014/main" id="{9269C632-7637-DC2A-6786-1FA36C4498AA}"/>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7;p18">
                <a:extLst>
                  <a:ext uri="{FF2B5EF4-FFF2-40B4-BE49-F238E27FC236}">
                    <a16:creationId xmlns:a16="http://schemas.microsoft.com/office/drawing/2014/main" id="{7E393EC3-D09F-A271-F643-62E734FD606E}"/>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35" name="Google Shape;375;p18">
            <a:extLst>
              <a:ext uri="{FF2B5EF4-FFF2-40B4-BE49-F238E27FC236}">
                <a16:creationId xmlns:a16="http://schemas.microsoft.com/office/drawing/2014/main" id="{4AD980AC-62D2-60AD-0000-4084C905294B}"/>
              </a:ext>
            </a:extLst>
          </p:cNvPr>
          <p:cNvSpPr txBox="1"/>
          <p:nvPr/>
        </p:nvSpPr>
        <p:spPr>
          <a:xfrm>
            <a:off x="2729653" y="5158122"/>
            <a:ext cx="1294618" cy="343049"/>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Mailing List</a:t>
            </a:r>
            <a:endParaRPr dirty="0">
              <a:solidFill>
                <a:schemeClr val="dk2"/>
              </a:solidFill>
              <a:latin typeface="Source Sans 3"/>
              <a:ea typeface="Source Sans 3"/>
              <a:cs typeface="Source Sans 3"/>
              <a:sym typeface="Source Sans 3"/>
            </a:endParaRPr>
          </a:p>
        </p:txBody>
      </p:sp>
      <p:sp>
        <p:nvSpPr>
          <p:cNvPr id="382" name="Logistics">
            <a:extLst>
              <a:ext uri="{FF2B5EF4-FFF2-40B4-BE49-F238E27FC236}">
                <a16:creationId xmlns:a16="http://schemas.microsoft.com/office/drawing/2014/main" id="{8C50833A-3795-0162-FDB3-B12701E4989D}"/>
              </a:ext>
            </a:extLst>
          </p:cNvPr>
          <p:cNvSpPr txBox="1"/>
          <p:nvPr/>
        </p:nvSpPr>
        <p:spPr>
          <a:xfrm>
            <a:off x="199939" y="7137651"/>
            <a:ext cx="302647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Analysis Configuration</a:t>
            </a:r>
          </a:p>
        </p:txBody>
      </p:sp>
      <p:sp>
        <p:nvSpPr>
          <p:cNvPr id="441" name="Use headers, colors, and/or backgrounds to separate or group together sections.">
            <a:extLst>
              <a:ext uri="{FF2B5EF4-FFF2-40B4-BE49-F238E27FC236}">
                <a16:creationId xmlns:a16="http://schemas.microsoft.com/office/drawing/2014/main" id="{35D2A002-5765-8194-B3EA-C76FCB4127E3}"/>
              </a:ext>
            </a:extLst>
          </p:cNvPr>
          <p:cNvSpPr txBox="1"/>
          <p:nvPr/>
        </p:nvSpPr>
        <p:spPr>
          <a:xfrm>
            <a:off x="143525" y="7620809"/>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Users can define in the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a:t>
            </a:r>
            <a:r>
              <a:rPr lang="en-US" b="0" dirty="0">
                <a:solidFill>
                  <a:srgbClr val="000000"/>
                </a:solidFill>
                <a:latin typeface="Source Sans Pro" panose="020B0503030403020204" pitchFamily="34" charset="0"/>
                <a:ea typeface="Source Sans Pro" panose="020B0503030403020204" pitchFamily="34" charset="0"/>
                <a:sym typeface="Source Sans Pro Light"/>
              </a:rPr>
              <a:t>configuration files</a:t>
            </a:r>
            <a:r>
              <a:rPr lang="en-US" b="0" dirty="0">
                <a:solidFill>
                  <a:schemeClr val="accent5"/>
                </a:solidFill>
                <a:latin typeface="Source Sans Pro" panose="020B0503030403020204" pitchFamily="34" charset="0"/>
                <a:ea typeface="Source Sans Pro" panose="020B0503030403020204" pitchFamily="34" charset="0"/>
                <a:sym typeface="Source Sans Pro Light"/>
              </a:rPr>
              <a:t> (</a:t>
            </a:r>
            <a:r>
              <a:rPr lang="en-US" b="0" dirty="0">
                <a:solidFill>
                  <a:schemeClr val="accent4"/>
                </a:solidFill>
                <a:latin typeface="Source Sans Pro" panose="020B0503030403020204" pitchFamily="34" charset="0"/>
                <a:ea typeface="Source Sans Pro" panose="020B0503030403020204" pitchFamily="34" charset="0"/>
                <a:sym typeface="Source Sans Pro Light"/>
              </a:rPr>
              <a:t>2) </a:t>
            </a:r>
            <a:r>
              <a:rPr lang="en-US" b="0" i="0" u="none" strike="noStrike" dirty="0">
                <a:solidFill>
                  <a:srgbClr val="000000"/>
                </a:solidFill>
                <a:effectLst/>
                <a:latin typeface="Source Sans Pro" panose="020B0503030403020204" pitchFamily="34" charset="0"/>
                <a:ea typeface="Source Sans Pro" panose="020B0503030403020204" pitchFamily="34" charset="0"/>
              </a:rPr>
              <a:t>filters heuristics and tool parameters (e.g. depends,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uctags</a:t>
            </a:r>
            <a:r>
              <a:rPr lang="en-US" b="0" i="0" u="none" strike="noStrike" dirty="0">
                <a:solidFill>
                  <a:srgbClr val="000000"/>
                </a:solidFill>
                <a:effectLst/>
                <a:latin typeface="Source Sans Pro" panose="020B0503030403020204" pitchFamily="34" charset="0"/>
                <a:ea typeface="Source Sans Pro" panose="020B0503030403020204" pitchFamily="34" charset="0"/>
              </a:rPr>
              <a:t>).</a:t>
            </a:r>
          </a:p>
        </p:txBody>
      </p:sp>
      <p:sp>
        <p:nvSpPr>
          <p:cNvPr id="770" name="Use headers, colors, and/or backgrounds to separate or group together sections.">
            <a:extLst>
              <a:ext uri="{FF2B5EF4-FFF2-40B4-BE49-F238E27FC236}">
                <a16:creationId xmlns:a16="http://schemas.microsoft.com/office/drawing/2014/main" id="{9D5982CB-0921-06D2-8764-A1E5A7D277AB}"/>
              </a:ext>
            </a:extLst>
          </p:cNvPr>
          <p:cNvSpPr txBox="1"/>
          <p:nvPr/>
        </p:nvSpPr>
        <p:spPr>
          <a:xfrm>
            <a:off x="173122" y="9732412"/>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can be reused across different projects and define how data is analyzed.</a:t>
            </a:r>
          </a:p>
        </p:txBody>
      </p:sp>
      <p:sp>
        <p:nvSpPr>
          <p:cNvPr id="773" name="Use headers, colors, and/or backgrounds to separate or group together sections.">
            <a:extLst>
              <a:ext uri="{FF2B5EF4-FFF2-40B4-BE49-F238E27FC236}">
                <a16:creationId xmlns:a16="http://schemas.microsoft.com/office/drawing/2014/main" id="{E39F8908-2651-2AE4-76C9-50F831762F17}"/>
              </a:ext>
            </a:extLst>
          </p:cNvPr>
          <p:cNvSpPr txBox="1"/>
          <p:nvPr/>
        </p:nvSpPr>
        <p:spPr>
          <a:xfrm>
            <a:off x="4823961" y="7410108"/>
            <a:ext cx="4159162" cy="2347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notebooks (3), configuration files can be found near the beginning of the file. The notebook parses </a:t>
            </a:r>
            <a:r>
              <a:rPr lang="en-US" b="0" dirty="0" err="1">
                <a:solidFill>
                  <a:schemeClr val="accent1"/>
                </a:solidFill>
                <a:latin typeface="Source Sans Pro" panose="020B0503030403020204" pitchFamily="34" charset="0"/>
                <a:ea typeface="Source Sans Pro" panose="020B0503030403020204" pitchFamily="34" charset="0"/>
              </a:rPr>
              <a:t>project.yml</a:t>
            </a:r>
            <a:r>
              <a:rPr lang="en-US" b="0" dirty="0">
                <a:solidFill>
                  <a:schemeClr val="accent1"/>
                </a:solidFill>
                <a:latin typeface="Source Sans Pro" panose="020B0503030403020204" pitchFamily="34" charset="0"/>
                <a:ea typeface="Source Sans Pro" panose="020B0503030403020204" pitchFamily="34" charset="0"/>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rPr>
              <a:t>analysis.yml</a:t>
            </a:r>
            <a:r>
              <a:rPr lang="en-US" b="0" dirty="0">
                <a:solidFill>
                  <a:schemeClr val="accent4"/>
                </a:solidFill>
                <a:latin typeface="Source Sans Pro" panose="020B0503030403020204" pitchFamily="34" charset="0"/>
                <a:ea typeface="Source Sans Pro" panose="020B0503030403020204" pitchFamily="34" charset="0"/>
              </a:rPr>
              <a:t> (2</a:t>
            </a:r>
            <a:r>
              <a:rPr lang="en-US" b="0" dirty="0">
                <a:solidFill>
                  <a:schemeClr val="accent5"/>
                </a:solidFill>
                <a:latin typeface="Source Sans Pro" panose="020B0503030403020204" pitchFamily="34" charset="0"/>
                <a:ea typeface="Source Sans Pro" panose="020B0503030403020204" pitchFamily="34" charset="0"/>
              </a:rPr>
              <a:t>)</a:t>
            </a:r>
            <a:r>
              <a:rPr lang="en-US" b="0" dirty="0">
                <a:solidFill>
                  <a:srgbClr val="000000"/>
                </a:solidFill>
                <a:latin typeface="Source Sans Pro" panose="020B0503030403020204" pitchFamily="34" charset="0"/>
                <a:ea typeface="Source Sans Pro" panose="020B0503030403020204" pitchFamily="34" charset="0"/>
              </a:rPr>
              <a:t> files and gets the values of the parameters with get functions. This allows users to modify parameters in the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instead of the notebooks.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executables (4), both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files are passed directly as arguments through the command line. The script runs the selected configuration without modification. Although using executables makes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a:t>
            </a:r>
            <a:r>
              <a:rPr lang="en-US" b="0" dirty="0">
                <a:solidFill>
                  <a:schemeClr val="accent1"/>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files fixed during execution, the advantages of using executables versus notebooks are that they can run on server side and do not require knowledge of R. </a:t>
            </a:r>
          </a:p>
        </p:txBody>
      </p:sp>
      <p:grpSp>
        <p:nvGrpSpPr>
          <p:cNvPr id="777" name="Group 776">
            <a:extLst>
              <a:ext uri="{FF2B5EF4-FFF2-40B4-BE49-F238E27FC236}">
                <a16:creationId xmlns:a16="http://schemas.microsoft.com/office/drawing/2014/main" id="{BCA2B711-521D-4A87-6238-1E1720155F86}"/>
              </a:ext>
            </a:extLst>
          </p:cNvPr>
          <p:cNvGrpSpPr/>
          <p:nvPr/>
        </p:nvGrpSpPr>
        <p:grpSpPr>
          <a:xfrm>
            <a:off x="9576575" y="2640340"/>
            <a:ext cx="4181634" cy="1741783"/>
            <a:chOff x="9606269" y="2500544"/>
            <a:chExt cx="4181634" cy="1741783"/>
          </a:xfrm>
        </p:grpSpPr>
        <p:sp>
          <p:nvSpPr>
            <p:cNvPr id="46" name="Logistics">
              <a:extLst>
                <a:ext uri="{FF2B5EF4-FFF2-40B4-BE49-F238E27FC236}">
                  <a16:creationId xmlns:a16="http://schemas.microsoft.com/office/drawing/2014/main" id="{840E0B7A-C39F-563E-2333-FE95FF507C3F}"/>
                </a:ext>
              </a:extLst>
            </p:cNvPr>
            <p:cNvSpPr txBox="1"/>
            <p:nvPr/>
          </p:nvSpPr>
          <p:spPr>
            <a:xfrm>
              <a:off x="9606269" y="2500544"/>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Project</a:t>
              </a:r>
            </a:p>
          </p:txBody>
        </p:sp>
        <p:sp>
          <p:nvSpPr>
            <p:cNvPr id="500" name="TextBox 499">
              <a:extLst>
                <a:ext uri="{FF2B5EF4-FFF2-40B4-BE49-F238E27FC236}">
                  <a16:creationId xmlns:a16="http://schemas.microsoft.com/office/drawing/2014/main" id="{938CDBA2-3449-EE8D-F2C3-A7C8F93F5D31}"/>
                </a:ext>
              </a:extLst>
            </p:cNvPr>
            <p:cNvSpPr txBox="1"/>
            <p:nvPr/>
          </p:nvSpPr>
          <p:spPr>
            <a:xfrm>
              <a:off x="9610555" y="3260088"/>
              <a:ext cx="4177348" cy="9822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get_git_repo_path</a:t>
              </a:r>
              <a:r>
                <a:rPr lang="en-US" sz="1300" dirty="0"/>
                <a:t>()</a:t>
              </a:r>
            </a:p>
            <a:p>
              <a:r>
                <a:rPr lang="en-US" b="0" dirty="0"/>
                <a:t>Returns the local path  of the project’s Git repository. </a:t>
              </a:r>
              <a:endParaRPr lang="en-US" dirty="0"/>
            </a:p>
            <a:p>
              <a:r>
                <a:rPr lang="en-US" sz="1300" dirty="0"/>
                <a:t>2. </a:t>
              </a:r>
              <a:r>
                <a:rPr lang="en-US" sz="1300" dirty="0" err="1"/>
                <a:t>get_jira_issues_path</a:t>
              </a:r>
              <a:r>
                <a:rPr lang="en-US" sz="1300" dirty="0"/>
                <a:t>()</a:t>
              </a:r>
            </a:p>
            <a:p>
              <a:r>
                <a:rPr lang="en-US" b="0" dirty="0"/>
                <a:t>Retrieves the local path to stored JIRA issue data.</a:t>
              </a:r>
            </a:p>
          </p:txBody>
        </p:sp>
        <p:sp>
          <p:nvSpPr>
            <p:cNvPr id="776" name="Create a visual hierarchy. Help users navigate the page with titles, subtitles, and subsubtitles">
              <a:extLst>
                <a:ext uri="{FF2B5EF4-FFF2-40B4-BE49-F238E27FC236}">
                  <a16:creationId xmlns:a16="http://schemas.microsoft.com/office/drawing/2014/main" id="{C32F2CAC-17E4-20D2-B2D4-250AB7A2C5B4}"/>
                </a:ext>
              </a:extLst>
            </p:cNvPr>
            <p:cNvSpPr txBox="1"/>
            <p:nvPr/>
          </p:nvSpPr>
          <p:spPr>
            <a:xfrm>
              <a:off x="9610555" y="2823844"/>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The following </a:t>
              </a:r>
              <a:r>
                <a:rPr lang="en-US" dirty="0">
                  <a:latin typeface="Source Sans Pro" panose="020B0503030403020204" pitchFamily="34" charset="0"/>
                  <a:ea typeface="Source Sans Pro" panose="020B0503030403020204" pitchFamily="34" charset="0"/>
                </a:rPr>
                <a:t>APIs are used to retrieve parameters from the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configurations (1)</a:t>
              </a:r>
              <a:r>
                <a:rPr lang="en-US" dirty="0">
                  <a:solidFill>
                    <a:schemeClr val="accent1"/>
                  </a:solidFill>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grpSp>
        <p:nvGrpSpPr>
          <p:cNvPr id="778" name="Group 777">
            <a:extLst>
              <a:ext uri="{FF2B5EF4-FFF2-40B4-BE49-F238E27FC236}">
                <a16:creationId xmlns:a16="http://schemas.microsoft.com/office/drawing/2014/main" id="{587DC312-04D2-E443-91C2-E0F48B31B13F}"/>
              </a:ext>
            </a:extLst>
          </p:cNvPr>
          <p:cNvGrpSpPr/>
          <p:nvPr/>
        </p:nvGrpSpPr>
        <p:grpSpPr>
          <a:xfrm>
            <a:off x="9584561" y="4622638"/>
            <a:ext cx="4177348" cy="1943624"/>
            <a:chOff x="9606269" y="2500544"/>
            <a:chExt cx="4177348" cy="1943624"/>
          </a:xfrm>
        </p:grpSpPr>
        <p:sp>
          <p:nvSpPr>
            <p:cNvPr id="779" name="Logistics">
              <a:extLst>
                <a:ext uri="{FF2B5EF4-FFF2-40B4-BE49-F238E27FC236}">
                  <a16:creationId xmlns:a16="http://schemas.microsoft.com/office/drawing/2014/main" id="{5C34BC5A-F6B2-CC89-B825-E0573CB1447E}"/>
                </a:ext>
              </a:extLst>
            </p:cNvPr>
            <p:cNvSpPr txBox="1"/>
            <p:nvPr/>
          </p:nvSpPr>
          <p:spPr>
            <a:xfrm>
              <a:off x="9606269" y="2500544"/>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Analysis</a:t>
              </a:r>
            </a:p>
          </p:txBody>
        </p:sp>
        <p:sp>
          <p:nvSpPr>
            <p:cNvPr id="780" name="TextBox 779">
              <a:extLst>
                <a:ext uri="{FF2B5EF4-FFF2-40B4-BE49-F238E27FC236}">
                  <a16:creationId xmlns:a16="http://schemas.microsoft.com/office/drawing/2014/main" id="{4F4BDB14-223C-24E8-652E-09FA435D6DB6}"/>
                </a:ext>
              </a:extLst>
            </p:cNvPr>
            <p:cNvSpPr txBox="1"/>
            <p:nvPr/>
          </p:nvSpPr>
          <p:spPr>
            <a:xfrm>
              <a:off x="9606269" y="3251615"/>
              <a:ext cx="4177348" cy="1192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get_file_extension</a:t>
              </a:r>
              <a:r>
                <a:rPr lang="en-US" sz="1300" dirty="0"/>
                <a:t>()</a:t>
              </a:r>
            </a:p>
            <a:p>
              <a:r>
                <a:rPr lang="en-US" b="0" dirty="0"/>
                <a:t>Returns file types (e.g. c, java) used to filter source files.</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get_depends_keep_dependencies</a:t>
              </a:r>
              <a:r>
                <a:rPr lang="en-US" sz="1300" dirty="0"/>
                <a:t>()</a:t>
              </a:r>
            </a:p>
            <a:p>
              <a:r>
                <a:rPr lang="en-US" b="0" dirty="0"/>
                <a:t>Retrieves dependency types specified in analysis configuration.</a:t>
              </a:r>
            </a:p>
          </p:txBody>
        </p:sp>
        <p:sp>
          <p:nvSpPr>
            <p:cNvPr id="781" name="Create a visual hierarchy. Help users navigate the page with titles, subtitles, and subsubtitles">
              <a:extLst>
                <a:ext uri="{FF2B5EF4-FFF2-40B4-BE49-F238E27FC236}">
                  <a16:creationId xmlns:a16="http://schemas.microsoft.com/office/drawing/2014/main" id="{96945A56-E60A-5535-E0E0-77930E83B243}"/>
                </a:ext>
              </a:extLst>
            </p:cNvPr>
            <p:cNvSpPr txBox="1"/>
            <p:nvPr/>
          </p:nvSpPr>
          <p:spPr>
            <a:xfrm>
              <a:off x="9628667" y="2812291"/>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The following </a:t>
              </a:r>
              <a:r>
                <a:rPr lang="en-US" b="0" dirty="0">
                  <a:solidFill>
                    <a:srgbClr val="000000"/>
                  </a:solidFill>
                  <a:latin typeface="Source Sans Pro" panose="020B0503030403020204" pitchFamily="34" charset="0"/>
                  <a:ea typeface="Source Sans Pro" panose="020B0503030403020204" pitchFamily="34" charset="0"/>
                  <a:sym typeface="Source Sans Pro Light"/>
                </a:rPr>
                <a:t>APIs are used to retrieve parameters from the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configurations (2)</a:t>
              </a:r>
              <a:r>
                <a:rPr lang="en-US" dirty="0">
                  <a:solidFill>
                    <a:schemeClr val="accent4"/>
                  </a:solidFill>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grpSp>
      <p:sp>
        <p:nvSpPr>
          <p:cNvPr id="3" name="Use headers, colors, and/or backgrounds to separate or group together sections.">
            <a:extLst>
              <a:ext uri="{FF2B5EF4-FFF2-40B4-BE49-F238E27FC236}">
                <a16:creationId xmlns:a16="http://schemas.microsoft.com/office/drawing/2014/main" id="{692C7A16-799B-E707-2498-7BC6BDCEF273}"/>
              </a:ext>
            </a:extLst>
          </p:cNvPr>
          <p:cNvSpPr txBox="1"/>
          <p:nvPr/>
        </p:nvSpPr>
        <p:spPr>
          <a:xfrm>
            <a:off x="4823961" y="1858831"/>
            <a:ext cx="4159162"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files (1) </a:t>
            </a:r>
            <a:r>
              <a:rPr lang="en-US" b="0" dirty="0">
                <a:solidFill>
                  <a:srgbClr val="000000"/>
                </a:solidFill>
                <a:latin typeface="Source Sans Pro" panose="020B0503030403020204" pitchFamily="34" charset="0"/>
                <a:ea typeface="Source Sans Pro" panose="020B0503030403020204" pitchFamily="34" charset="0"/>
                <a:sym typeface="Source Sans Pro Light"/>
              </a:rPr>
              <a:t>are combined with any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files </a:t>
            </a:r>
            <a:r>
              <a:rPr lang="en-US" b="0" dirty="0">
                <a:solidFill>
                  <a:schemeClr val="accent5"/>
                </a:solidFill>
                <a:latin typeface="Source Sans Pro" panose="020B0503030403020204" pitchFamily="34" charset="0"/>
                <a:ea typeface="Source Sans Pro" panose="020B0503030403020204" pitchFamily="34" charset="0"/>
                <a:sym typeface="Source Sans Pro Light"/>
              </a:rPr>
              <a:t>(2). </a:t>
            </a:r>
            <a:r>
              <a:rPr lang="en-US" b="0" dirty="0">
                <a:solidFill>
                  <a:srgbClr val="000000"/>
                </a:solidFill>
                <a:latin typeface="Source Sans Pro" panose="020B0503030403020204" pitchFamily="34" charset="0"/>
                <a:ea typeface="Source Sans Pro" panose="020B0503030403020204" pitchFamily="34" charset="0"/>
                <a:sym typeface="Source Sans Pro Light"/>
              </a:rPr>
              <a:t>This allows users to run the same analysis on multiple projects or run different analyses on the same project, reducing duplication of configuration sections. The combined configuration can be used both in notebooks and scripts.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744" name="Rectangle 743">
            <a:extLst>
              <a:ext uri="{FF2B5EF4-FFF2-40B4-BE49-F238E27FC236}">
                <a16:creationId xmlns:a16="http://schemas.microsoft.com/office/drawing/2014/main" id="{1ADFCEE9-F273-64BA-C4CD-B11DB71F4C73}"/>
              </a:ext>
            </a:extLst>
          </p:cNvPr>
          <p:cNvSpPr/>
          <p:nvPr/>
        </p:nvSpPr>
        <p:spPr>
          <a:xfrm>
            <a:off x="4888883" y="3142989"/>
            <a:ext cx="4304374"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46" name="Group 745">
            <a:extLst>
              <a:ext uri="{FF2B5EF4-FFF2-40B4-BE49-F238E27FC236}">
                <a16:creationId xmlns:a16="http://schemas.microsoft.com/office/drawing/2014/main" id="{C5F55ECC-0DDE-B754-8EF0-2F85BFF192DD}"/>
              </a:ext>
            </a:extLst>
          </p:cNvPr>
          <p:cNvGrpSpPr/>
          <p:nvPr/>
        </p:nvGrpSpPr>
        <p:grpSpPr>
          <a:xfrm>
            <a:off x="5004262" y="3455902"/>
            <a:ext cx="1697185" cy="1138162"/>
            <a:chOff x="2066366" y="1358812"/>
            <a:chExt cx="4087905" cy="2741421"/>
          </a:xfrm>
        </p:grpSpPr>
        <p:sp>
          <p:nvSpPr>
            <p:cNvPr id="340" name="Rectangle 339">
              <a:extLst>
                <a:ext uri="{FF2B5EF4-FFF2-40B4-BE49-F238E27FC236}">
                  <a16:creationId xmlns:a16="http://schemas.microsoft.com/office/drawing/2014/main" id="{DFB25D09-35D7-A639-9FC2-17CA0EE9694A}"/>
                </a:ext>
              </a:extLst>
            </p:cNvPr>
            <p:cNvSpPr/>
            <p:nvPr/>
          </p:nvSpPr>
          <p:spPr>
            <a:xfrm>
              <a:off x="3245226" y="1385928"/>
              <a:ext cx="1716740" cy="748836"/>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3" name="Rectangle 342">
              <a:extLst>
                <a:ext uri="{FF2B5EF4-FFF2-40B4-BE49-F238E27FC236}">
                  <a16:creationId xmlns:a16="http://schemas.microsoft.com/office/drawing/2014/main" id="{0D9289B2-EF1E-C68C-6AFC-0FAF5CF0445E}"/>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Rectangle 343">
              <a:extLst>
                <a:ext uri="{FF2B5EF4-FFF2-40B4-BE49-F238E27FC236}">
                  <a16:creationId xmlns:a16="http://schemas.microsoft.com/office/drawing/2014/main" id="{5DAC92F4-5807-094D-B2E5-C0F89351C20E}"/>
                </a:ext>
              </a:extLst>
            </p:cNvPr>
            <p:cNvSpPr/>
            <p:nvPr/>
          </p:nvSpPr>
          <p:spPr>
            <a:xfrm>
              <a:off x="4437531"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345" name="Connector: Curved 344">
              <a:extLst>
                <a:ext uri="{FF2B5EF4-FFF2-40B4-BE49-F238E27FC236}">
                  <a16:creationId xmlns:a16="http://schemas.microsoft.com/office/drawing/2014/main" id="{B80DF5FE-A3D0-CCCC-03C3-3BE468122E65}"/>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6" name="Connector: Curved 345">
              <a:extLst>
                <a:ext uri="{FF2B5EF4-FFF2-40B4-BE49-F238E27FC236}">
                  <a16:creationId xmlns:a16="http://schemas.microsoft.com/office/drawing/2014/main" id="{4CD4337F-BBF9-3A16-41CD-931FA4AFA0D8}"/>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7" name="Connector: Curved 346">
              <a:extLst>
                <a:ext uri="{FF2B5EF4-FFF2-40B4-BE49-F238E27FC236}">
                  <a16:creationId xmlns:a16="http://schemas.microsoft.com/office/drawing/2014/main" id="{2E617A0A-FD26-B4EE-2B36-AB0461D2312D}"/>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8" name="TextBox 347">
              <a:extLst>
                <a:ext uri="{FF2B5EF4-FFF2-40B4-BE49-F238E27FC236}">
                  <a16:creationId xmlns:a16="http://schemas.microsoft.com/office/drawing/2014/main" id="{20DA741C-67B1-D622-2D00-4AFE48E22AE1}"/>
                </a:ext>
              </a:extLst>
            </p:cNvPr>
            <p:cNvSpPr txBox="1"/>
            <p:nvPr/>
          </p:nvSpPr>
          <p:spPr>
            <a:xfrm>
              <a:off x="3358162" y="1358812"/>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project1</a:t>
              </a:r>
            </a:p>
          </p:txBody>
        </p:sp>
        <p:sp>
          <p:nvSpPr>
            <p:cNvPr id="349" name="TextBox 348">
              <a:extLst>
                <a:ext uri="{FF2B5EF4-FFF2-40B4-BE49-F238E27FC236}">
                  <a16:creationId xmlns:a16="http://schemas.microsoft.com/office/drawing/2014/main" id="{647D3ADB-DF19-28EE-D28E-A0B429891D9A}"/>
                </a:ext>
              </a:extLst>
            </p:cNvPr>
            <p:cNvSpPr txBox="1"/>
            <p:nvPr/>
          </p:nvSpPr>
          <p:spPr>
            <a:xfrm>
              <a:off x="4515898"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project2</a:t>
              </a:r>
            </a:p>
          </p:txBody>
        </p:sp>
        <p:sp>
          <p:nvSpPr>
            <p:cNvPr id="350" name="TextBox 349">
              <a:extLst>
                <a:ext uri="{FF2B5EF4-FFF2-40B4-BE49-F238E27FC236}">
                  <a16:creationId xmlns:a16="http://schemas.microsoft.com/office/drawing/2014/main" id="{1F8783DE-8D2A-3AFF-F908-0257CE830D2F}"/>
                </a:ext>
              </a:extLst>
            </p:cNvPr>
            <p:cNvSpPr txBox="1"/>
            <p:nvPr/>
          </p:nvSpPr>
          <p:spPr>
            <a:xfrm>
              <a:off x="2165860"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project3</a:t>
              </a:r>
            </a:p>
          </p:txBody>
        </p:sp>
      </p:grpSp>
      <p:grpSp>
        <p:nvGrpSpPr>
          <p:cNvPr id="747" name="Group 746">
            <a:extLst>
              <a:ext uri="{FF2B5EF4-FFF2-40B4-BE49-F238E27FC236}">
                <a16:creationId xmlns:a16="http://schemas.microsoft.com/office/drawing/2014/main" id="{00202227-1743-814F-C28B-B46B75B93DF1}"/>
              </a:ext>
            </a:extLst>
          </p:cNvPr>
          <p:cNvGrpSpPr/>
          <p:nvPr/>
        </p:nvGrpSpPr>
        <p:grpSpPr>
          <a:xfrm>
            <a:off x="7380403" y="3428080"/>
            <a:ext cx="1706397" cy="1161233"/>
            <a:chOff x="2066366" y="1303242"/>
            <a:chExt cx="4110093" cy="2796991"/>
          </a:xfrm>
        </p:grpSpPr>
        <p:sp>
          <p:nvSpPr>
            <p:cNvPr id="330" name="Rectangle 329">
              <a:extLst>
                <a:ext uri="{FF2B5EF4-FFF2-40B4-BE49-F238E27FC236}">
                  <a16:creationId xmlns:a16="http://schemas.microsoft.com/office/drawing/2014/main" id="{8A6897D7-F538-6796-8D44-5E9654DAF9B7}"/>
                </a:ext>
              </a:extLst>
            </p:cNvPr>
            <p:cNvSpPr/>
            <p:nvPr/>
          </p:nvSpPr>
          <p:spPr>
            <a:xfrm>
              <a:off x="3245225" y="1317812"/>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1" name="Rectangle 330">
              <a:extLst>
                <a:ext uri="{FF2B5EF4-FFF2-40B4-BE49-F238E27FC236}">
                  <a16:creationId xmlns:a16="http://schemas.microsoft.com/office/drawing/2014/main" id="{A41A5C8E-CCE9-8EF1-C9BA-32973DEC7B57}"/>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1EFDA0F8-D5ED-8326-5083-D49001ACC3B0}"/>
                </a:ext>
              </a:extLst>
            </p:cNvPr>
            <p:cNvSpPr/>
            <p:nvPr/>
          </p:nvSpPr>
          <p:spPr>
            <a:xfrm>
              <a:off x="4437531" y="2736479"/>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3" name="Connector: Curved 332">
              <a:extLst>
                <a:ext uri="{FF2B5EF4-FFF2-40B4-BE49-F238E27FC236}">
                  <a16:creationId xmlns:a16="http://schemas.microsoft.com/office/drawing/2014/main" id="{650071B4-D19B-C824-6EE3-D612B3470CA3}"/>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5" name="Connector: Curved 334">
              <a:extLst>
                <a:ext uri="{FF2B5EF4-FFF2-40B4-BE49-F238E27FC236}">
                  <a16:creationId xmlns:a16="http://schemas.microsoft.com/office/drawing/2014/main" id="{329B2900-EDED-D178-A6BA-5446FCBA0C34}"/>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6" name="Connector: Curved 335">
              <a:extLst>
                <a:ext uri="{FF2B5EF4-FFF2-40B4-BE49-F238E27FC236}">
                  <a16:creationId xmlns:a16="http://schemas.microsoft.com/office/drawing/2014/main" id="{E4946F49-CA07-00C9-C315-188711BB97CF}"/>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88A53C79-0D05-ADE1-6540-6EDFD7E62BD2}"/>
                </a:ext>
              </a:extLst>
            </p:cNvPr>
            <p:cNvSpPr txBox="1"/>
            <p:nvPr/>
          </p:nvSpPr>
          <p:spPr>
            <a:xfrm>
              <a:off x="3287235" y="1303242"/>
              <a:ext cx="1674731"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analysisA</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338" name="TextBox 337">
              <a:extLst>
                <a:ext uri="{FF2B5EF4-FFF2-40B4-BE49-F238E27FC236}">
                  <a16:creationId xmlns:a16="http://schemas.microsoft.com/office/drawing/2014/main" id="{AABE658B-40E2-9D9E-0CC9-1263EECEA441}"/>
                </a:ext>
              </a:extLst>
            </p:cNvPr>
            <p:cNvSpPr txBox="1"/>
            <p:nvPr/>
          </p:nvSpPr>
          <p:spPr>
            <a:xfrm>
              <a:off x="4490145" y="2721834"/>
              <a:ext cx="168631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analysisB</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8574F6E4-6BAF-D20A-01BF-4DCC81DA7C8C}"/>
                </a:ext>
              </a:extLst>
            </p:cNvPr>
            <p:cNvSpPr txBox="1"/>
            <p:nvPr/>
          </p:nvSpPr>
          <p:spPr>
            <a:xfrm>
              <a:off x="2093191" y="2703454"/>
              <a:ext cx="167859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err="1">
                  <a:ln>
                    <a:noFill/>
                  </a:ln>
                  <a:solidFill>
                    <a:schemeClr val="accent4"/>
                  </a:solidFill>
                  <a:effectLst/>
                  <a:uFillTx/>
                  <a:latin typeface="Source Sans Pro"/>
                  <a:ea typeface="Source Sans Pro"/>
                  <a:cs typeface="Source Sans Pro"/>
                  <a:sym typeface="Source Sans Pro"/>
                </a:rPr>
                <a:t>analysisC</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cxnSp>
        <p:nvCxnSpPr>
          <p:cNvPr id="748" name="Straight Connector 747">
            <a:extLst>
              <a:ext uri="{FF2B5EF4-FFF2-40B4-BE49-F238E27FC236}">
                <a16:creationId xmlns:a16="http://schemas.microsoft.com/office/drawing/2014/main" id="{D3C16489-FB42-9FBE-D84B-29714CC7FC85}"/>
              </a:ext>
            </a:extLst>
          </p:cNvPr>
          <p:cNvCxnSpPr/>
          <p:nvPr/>
        </p:nvCxnSpPr>
        <p:spPr>
          <a:xfrm>
            <a:off x="7048823" y="3771426"/>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53" name="Straight Connector 752">
            <a:extLst>
              <a:ext uri="{FF2B5EF4-FFF2-40B4-BE49-F238E27FC236}">
                <a16:creationId xmlns:a16="http://schemas.microsoft.com/office/drawing/2014/main" id="{717EA27F-2A5E-CC71-D48D-C343E6BF311C}"/>
              </a:ext>
            </a:extLst>
          </p:cNvPr>
          <p:cNvCxnSpPr>
            <a:cxnSpLocks/>
          </p:cNvCxnSpPr>
          <p:nvPr/>
        </p:nvCxnSpPr>
        <p:spPr>
          <a:xfrm rot="5400000">
            <a:off x="7048823" y="3780267"/>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62" name="Rectangle 761">
            <a:extLst>
              <a:ext uri="{FF2B5EF4-FFF2-40B4-BE49-F238E27FC236}">
                <a16:creationId xmlns:a16="http://schemas.microsoft.com/office/drawing/2014/main" id="{0EFC76EC-03A1-CDEC-5ABD-3801C1DE62D9}"/>
              </a:ext>
            </a:extLst>
          </p:cNvPr>
          <p:cNvSpPr/>
          <p:nvPr/>
        </p:nvSpPr>
        <p:spPr>
          <a:xfrm>
            <a:off x="7670369" y="6084901"/>
            <a:ext cx="1521295" cy="914400"/>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63" name="TextBox 762">
            <a:extLst>
              <a:ext uri="{FF2B5EF4-FFF2-40B4-BE49-F238E27FC236}">
                <a16:creationId xmlns:a16="http://schemas.microsoft.com/office/drawing/2014/main" id="{8C64DCF1-0EDC-703C-543B-3E187E353554}"/>
              </a:ext>
            </a:extLst>
          </p:cNvPr>
          <p:cNvSpPr txBox="1"/>
          <p:nvPr/>
        </p:nvSpPr>
        <p:spPr>
          <a:xfrm>
            <a:off x="7760791" y="6280406"/>
            <a:ext cx="1521294"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a:t>
            </a: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project1.yml</a:t>
            </a:r>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analysisB.yml</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764" name="TextBox 763">
            <a:extLst>
              <a:ext uri="{FF2B5EF4-FFF2-40B4-BE49-F238E27FC236}">
                <a16:creationId xmlns:a16="http://schemas.microsoft.com/office/drawing/2014/main" id="{E5852CA7-CE3E-08B2-2083-F06BBF812A01}"/>
              </a:ext>
            </a:extLst>
          </p:cNvPr>
          <p:cNvSpPr txBox="1"/>
          <p:nvPr/>
        </p:nvSpPr>
        <p:spPr>
          <a:xfrm rot="5400000">
            <a:off x="5900417" y="5738103"/>
            <a:ext cx="20202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1"/>
                </a:solidFill>
              </a:rPr>
              <a:t>project1.yml </a:t>
            </a:r>
            <a:r>
              <a:rPr lang="en-US" sz="1000" dirty="0"/>
              <a:t>+ </a:t>
            </a:r>
            <a:r>
              <a:rPr lang="en-US" sz="1000" dirty="0" err="1">
                <a:solidFill>
                  <a:schemeClr val="accent4"/>
                </a:solidFill>
              </a:rPr>
              <a:t>analysisB.yml</a:t>
            </a:r>
            <a:endParaRPr kumimoji="0" lang="en-US" sz="10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cxnSp>
        <p:nvCxnSpPr>
          <p:cNvPr id="765" name="Straight Arrow Connector 764">
            <a:extLst>
              <a:ext uri="{FF2B5EF4-FFF2-40B4-BE49-F238E27FC236}">
                <a16:creationId xmlns:a16="http://schemas.microsoft.com/office/drawing/2014/main" id="{0254F7DC-2D68-A45A-1D5A-B3BAFE1F9EB2}"/>
              </a:ext>
            </a:extLst>
          </p:cNvPr>
          <p:cNvCxnSpPr>
            <a:cxnSpLocks/>
          </p:cNvCxnSpPr>
          <p:nvPr/>
        </p:nvCxnSpPr>
        <p:spPr>
          <a:xfrm flipH="1">
            <a:off x="8353527" y="4850630"/>
            <a:ext cx="11317" cy="1206985"/>
          </a:xfrm>
          <a:prstGeom prst="straightConnector1">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7" name="TextBox 766">
            <a:extLst>
              <a:ext uri="{FF2B5EF4-FFF2-40B4-BE49-F238E27FC236}">
                <a16:creationId xmlns:a16="http://schemas.microsoft.com/office/drawing/2014/main" id="{6D977425-D776-B612-862D-FE8C3E7401A8}"/>
              </a:ext>
            </a:extLst>
          </p:cNvPr>
          <p:cNvSpPr txBox="1"/>
          <p:nvPr/>
        </p:nvSpPr>
        <p:spPr>
          <a:xfrm>
            <a:off x="5067865" y="330726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322" name="TextBox 321">
            <a:extLst>
              <a:ext uri="{FF2B5EF4-FFF2-40B4-BE49-F238E27FC236}">
                <a16:creationId xmlns:a16="http://schemas.microsoft.com/office/drawing/2014/main" id="{FDB1B024-A5CA-E419-739A-237CA21B9672}"/>
              </a:ext>
            </a:extLst>
          </p:cNvPr>
          <p:cNvSpPr txBox="1"/>
          <p:nvPr/>
        </p:nvSpPr>
        <p:spPr>
          <a:xfrm>
            <a:off x="7639590" y="5720835"/>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sp>
        <p:nvSpPr>
          <p:cNvPr id="351" name="TextBox 350">
            <a:extLst>
              <a:ext uri="{FF2B5EF4-FFF2-40B4-BE49-F238E27FC236}">
                <a16:creationId xmlns:a16="http://schemas.microsoft.com/office/drawing/2014/main" id="{25C0A421-02C3-B00D-31BD-4F1E052080E4}"/>
              </a:ext>
            </a:extLst>
          </p:cNvPr>
          <p:cNvSpPr txBox="1"/>
          <p:nvPr/>
        </p:nvSpPr>
        <p:spPr>
          <a:xfrm>
            <a:off x="7318687" y="32865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352" name="TextBox 351">
            <a:extLst>
              <a:ext uri="{FF2B5EF4-FFF2-40B4-BE49-F238E27FC236}">
                <a16:creationId xmlns:a16="http://schemas.microsoft.com/office/drawing/2014/main" id="{E62AD70A-57FC-A4BA-E18B-249030911708}"/>
              </a:ext>
            </a:extLst>
          </p:cNvPr>
          <p:cNvSpPr txBox="1"/>
          <p:nvPr/>
        </p:nvSpPr>
        <p:spPr>
          <a:xfrm>
            <a:off x="4819295" y="512075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784" name="TextBox 783">
            <a:extLst>
              <a:ext uri="{FF2B5EF4-FFF2-40B4-BE49-F238E27FC236}">
                <a16:creationId xmlns:a16="http://schemas.microsoft.com/office/drawing/2014/main" id="{55038B3E-649F-925D-7745-31A6A48C6EC4}"/>
              </a:ext>
            </a:extLst>
          </p:cNvPr>
          <p:cNvSpPr txBox="1"/>
          <p:nvPr/>
        </p:nvSpPr>
        <p:spPr>
          <a:xfrm rot="5400000">
            <a:off x="7872368" y="5454017"/>
            <a:ext cx="1453851"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1"/>
                </a:solidFill>
              </a:rPr>
              <a:t>project1.yml </a:t>
            </a:r>
            <a:r>
              <a:rPr lang="en-US" sz="1000" dirty="0"/>
              <a:t>+ </a:t>
            </a:r>
            <a:r>
              <a:rPr lang="en-US" sz="1000" dirty="0" err="1">
                <a:solidFill>
                  <a:schemeClr val="accent4"/>
                </a:solidFill>
              </a:rPr>
              <a:t>analysisB.yml</a:t>
            </a:r>
            <a:endParaRPr kumimoji="0" lang="en-US" sz="10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9" name="Line">
            <a:extLst>
              <a:ext uri="{FF2B5EF4-FFF2-40B4-BE49-F238E27FC236}">
                <a16:creationId xmlns:a16="http://schemas.microsoft.com/office/drawing/2014/main" id="{9DE8EDAD-179E-F447-2326-A44B82041CB5}"/>
              </a:ext>
            </a:extLst>
          </p:cNvPr>
          <p:cNvSpPr/>
          <p:nvPr/>
        </p:nvSpPr>
        <p:spPr>
          <a:xfrm>
            <a:off x="143525" y="3762506"/>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0" name="Line">
            <a:extLst>
              <a:ext uri="{FF2B5EF4-FFF2-40B4-BE49-F238E27FC236}">
                <a16:creationId xmlns:a16="http://schemas.microsoft.com/office/drawing/2014/main" id="{88DD6ECA-7D71-527E-6C5B-E774B1E7753C}"/>
              </a:ext>
            </a:extLst>
          </p:cNvPr>
          <p:cNvSpPr/>
          <p:nvPr/>
        </p:nvSpPr>
        <p:spPr>
          <a:xfrm>
            <a:off x="155448" y="6894018"/>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51" name="Group 50">
            <a:extLst>
              <a:ext uri="{FF2B5EF4-FFF2-40B4-BE49-F238E27FC236}">
                <a16:creationId xmlns:a16="http://schemas.microsoft.com/office/drawing/2014/main" id="{ADE324D8-2123-CB5C-974A-E0537433FE18}"/>
              </a:ext>
            </a:extLst>
          </p:cNvPr>
          <p:cNvGrpSpPr/>
          <p:nvPr/>
        </p:nvGrpSpPr>
        <p:grpSpPr>
          <a:xfrm>
            <a:off x="258236" y="8605681"/>
            <a:ext cx="964670" cy="583658"/>
            <a:chOff x="373334" y="8333642"/>
            <a:chExt cx="964670" cy="583658"/>
          </a:xfrm>
        </p:grpSpPr>
        <p:grpSp>
          <p:nvGrpSpPr>
            <p:cNvPr id="37" name="Google Shape;359;p18">
              <a:extLst>
                <a:ext uri="{FF2B5EF4-FFF2-40B4-BE49-F238E27FC236}">
                  <a16:creationId xmlns:a16="http://schemas.microsoft.com/office/drawing/2014/main" id="{9953F10D-509A-8497-C067-883B8281B8A7}"/>
                </a:ext>
              </a:extLst>
            </p:cNvPr>
            <p:cNvGrpSpPr/>
            <p:nvPr/>
          </p:nvGrpSpPr>
          <p:grpSpPr>
            <a:xfrm>
              <a:off x="373334" y="8364964"/>
              <a:ext cx="896341" cy="552336"/>
              <a:chOff x="3007175" y="1757600"/>
              <a:chExt cx="307200" cy="189300"/>
            </a:xfrm>
          </p:grpSpPr>
          <p:sp>
            <p:nvSpPr>
              <p:cNvPr id="38" name="Google Shape;360;p18">
                <a:extLst>
                  <a:ext uri="{FF2B5EF4-FFF2-40B4-BE49-F238E27FC236}">
                    <a16:creationId xmlns:a16="http://schemas.microsoft.com/office/drawing/2014/main" id="{95AEA1C5-FDB0-0C89-3AED-B21EE15462E6}"/>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 name="Google Shape;364;p18">
                <a:extLst>
                  <a:ext uri="{FF2B5EF4-FFF2-40B4-BE49-F238E27FC236}">
                    <a16:creationId xmlns:a16="http://schemas.microsoft.com/office/drawing/2014/main" id="{A9D87160-12DE-EF02-E78A-C9DB5BE7BFB4}"/>
                  </a:ext>
                </a:extLst>
              </p:cNvPr>
              <p:cNvCxnSpPr>
                <a:cxnSpLocks/>
              </p:cNvCxnSpPr>
              <p:nvPr/>
            </p:nvCxnSpPr>
            <p:spPr>
              <a:xfrm>
                <a:off x="3042981" y="1800281"/>
                <a:ext cx="146367"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5" name="Google Shape;360;p18">
              <a:extLst>
                <a:ext uri="{FF2B5EF4-FFF2-40B4-BE49-F238E27FC236}">
                  <a16:creationId xmlns:a16="http://schemas.microsoft.com/office/drawing/2014/main" id="{B9A7FE73-E4F6-49ED-6FF5-4114DDDC61C4}"/>
                </a:ext>
              </a:extLst>
            </p:cNvPr>
            <p:cNvSpPr/>
            <p:nvPr/>
          </p:nvSpPr>
          <p:spPr>
            <a:xfrm>
              <a:off x="477807" y="8613965"/>
              <a:ext cx="493743" cy="209988"/>
            </a:xfrm>
            <a:prstGeom prst="rect">
              <a:avLst/>
            </a:prstGeom>
            <a:noFill/>
            <a:ln w="9525" cap="flat" cmpd="sng">
              <a:solidFill>
                <a:schemeClr val="dk2"/>
              </a:solidFill>
              <a:prstDash val="sys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 name="Google Shape;360;p18">
              <a:extLst>
                <a:ext uri="{FF2B5EF4-FFF2-40B4-BE49-F238E27FC236}">
                  <a16:creationId xmlns:a16="http://schemas.microsoft.com/office/drawing/2014/main" id="{FA2DE450-9F47-F4A3-70AA-4CCCA084ED75}"/>
                </a:ext>
              </a:extLst>
            </p:cNvPr>
            <p:cNvSpPr/>
            <p:nvPr/>
          </p:nvSpPr>
          <p:spPr>
            <a:xfrm>
              <a:off x="1041533" y="8374368"/>
              <a:ext cx="220891" cy="11513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Use headers, colors, and/or backgrounds to separate or group together sections.">
              <a:extLst>
                <a:ext uri="{FF2B5EF4-FFF2-40B4-BE49-F238E27FC236}">
                  <a16:creationId xmlns:a16="http://schemas.microsoft.com/office/drawing/2014/main" id="{D2A20194-84C7-2905-76AC-895DCD59BA15}"/>
                </a:ext>
              </a:extLst>
            </p:cNvPr>
            <p:cNvSpPr txBox="1"/>
            <p:nvPr/>
          </p:nvSpPr>
          <p:spPr>
            <a:xfrm>
              <a:off x="1015243" y="8333642"/>
              <a:ext cx="322761" cy="193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600" b="0" dirty="0">
                  <a:solidFill>
                    <a:srgbClr val="000000"/>
                  </a:solidFill>
                  <a:latin typeface="Source Sans Pro" panose="020B0503030403020204" pitchFamily="34" charset="0"/>
                  <a:ea typeface="Source Sans Pro" panose="020B0503030403020204" pitchFamily="34" charset="0"/>
                </a:rPr>
                <a:t>.</a:t>
              </a:r>
              <a:r>
                <a:rPr lang="en-US" sz="600" b="0" i="0" u="none" strike="noStrike" dirty="0" err="1">
                  <a:solidFill>
                    <a:srgbClr val="000000"/>
                  </a:solidFill>
                  <a:effectLst/>
                  <a:latin typeface="Source Sans Pro" panose="020B0503030403020204" pitchFamily="34" charset="0"/>
                  <a:ea typeface="Source Sans Pro" panose="020B0503030403020204" pitchFamily="34" charset="0"/>
                </a:rPr>
                <a:t>Rmd</a:t>
              </a:r>
              <a:endParaRPr lang="en-US" sz="600" b="0" i="0" u="none" strike="noStrike" dirty="0">
                <a:solidFill>
                  <a:srgbClr val="000000"/>
                </a:solidFill>
                <a:effectLst/>
                <a:latin typeface="Source Sans Pro" panose="020B0503030403020204" pitchFamily="34" charset="0"/>
                <a:ea typeface="Source Sans Pro" panose="020B0503030403020204" pitchFamily="34" charset="0"/>
              </a:endParaRPr>
            </a:p>
          </p:txBody>
        </p:sp>
      </p:grpSp>
      <p:grpSp>
        <p:nvGrpSpPr>
          <p:cNvPr id="453" name="Group 452">
            <a:extLst>
              <a:ext uri="{FF2B5EF4-FFF2-40B4-BE49-F238E27FC236}">
                <a16:creationId xmlns:a16="http://schemas.microsoft.com/office/drawing/2014/main" id="{8F2D9BE4-CB83-EDCD-0FFD-9CAE4F88226D}"/>
              </a:ext>
            </a:extLst>
          </p:cNvPr>
          <p:cNvGrpSpPr/>
          <p:nvPr/>
        </p:nvGrpSpPr>
        <p:grpSpPr>
          <a:xfrm>
            <a:off x="3168463" y="9104597"/>
            <a:ext cx="454677" cy="518380"/>
            <a:chOff x="3012598" y="8405060"/>
            <a:chExt cx="454677" cy="518380"/>
          </a:xfrm>
        </p:grpSpPr>
        <p:sp>
          <p:nvSpPr>
            <p:cNvPr id="454" name="Oval 453">
              <a:extLst>
                <a:ext uri="{FF2B5EF4-FFF2-40B4-BE49-F238E27FC236}">
                  <a16:creationId xmlns:a16="http://schemas.microsoft.com/office/drawing/2014/main" id="{2E59918D-DCEA-2A92-E751-C8D6D1F4D0C1}"/>
                </a:ext>
              </a:extLst>
            </p:cNvPr>
            <p:cNvSpPr/>
            <p:nvPr/>
          </p:nvSpPr>
          <p:spPr>
            <a:xfrm>
              <a:off x="3017271" y="8405060"/>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Oval 454">
              <a:extLst>
                <a:ext uri="{FF2B5EF4-FFF2-40B4-BE49-F238E27FC236}">
                  <a16:creationId xmlns:a16="http://schemas.microsoft.com/office/drawing/2014/main" id="{CE040771-F870-8437-0209-ED506A045CE5}"/>
                </a:ext>
              </a:extLst>
            </p:cNvPr>
            <p:cNvSpPr/>
            <p:nvPr/>
          </p:nvSpPr>
          <p:spPr>
            <a:xfrm>
              <a:off x="3012598" y="8787923"/>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6" name="Oval 455">
              <a:extLst>
                <a:ext uri="{FF2B5EF4-FFF2-40B4-BE49-F238E27FC236}">
                  <a16:creationId xmlns:a16="http://schemas.microsoft.com/office/drawing/2014/main" id="{5964AE3F-F48D-D1D4-BF46-7DA3EE1623F0}"/>
                </a:ext>
              </a:extLst>
            </p:cNvPr>
            <p:cNvSpPr/>
            <p:nvPr/>
          </p:nvSpPr>
          <p:spPr>
            <a:xfrm>
              <a:off x="3316893" y="8568992"/>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59" name="Straight Connector 458">
              <a:extLst>
                <a:ext uri="{FF2B5EF4-FFF2-40B4-BE49-F238E27FC236}">
                  <a16:creationId xmlns:a16="http://schemas.microsoft.com/office/drawing/2014/main" id="{FEFDB361-485C-F421-3F25-FD4D14FC6DD1}"/>
                </a:ext>
              </a:extLst>
            </p:cNvPr>
            <p:cNvCxnSpPr>
              <a:cxnSpLocks/>
              <a:stCxn id="454" idx="5"/>
              <a:endCxn id="456" idx="3"/>
            </p:cNvCxnSpPr>
            <p:nvPr/>
          </p:nvCxnSpPr>
          <p:spPr>
            <a:xfrm>
              <a:off x="3145630" y="8520731"/>
              <a:ext cx="193286" cy="16393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0" name="Straight Connector 459">
              <a:extLst>
                <a:ext uri="{FF2B5EF4-FFF2-40B4-BE49-F238E27FC236}">
                  <a16:creationId xmlns:a16="http://schemas.microsoft.com/office/drawing/2014/main" id="{1065D194-BE6B-3551-1CCC-F075AC945BEF}"/>
                </a:ext>
              </a:extLst>
            </p:cNvPr>
            <p:cNvCxnSpPr>
              <a:cxnSpLocks/>
              <a:stCxn id="455" idx="7"/>
              <a:endCxn id="456" idx="3"/>
            </p:cNvCxnSpPr>
            <p:nvPr/>
          </p:nvCxnSpPr>
          <p:spPr>
            <a:xfrm flipV="1">
              <a:off x="3140957" y="8684663"/>
              <a:ext cx="197959" cy="1231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507" name="TextBox 506">
            <a:extLst>
              <a:ext uri="{FF2B5EF4-FFF2-40B4-BE49-F238E27FC236}">
                <a16:creationId xmlns:a16="http://schemas.microsoft.com/office/drawing/2014/main" id="{41E46C32-28E2-85D6-0AFC-4381B01B21E1}"/>
              </a:ext>
            </a:extLst>
          </p:cNvPr>
          <p:cNvSpPr txBox="1"/>
          <p:nvPr/>
        </p:nvSpPr>
        <p:spPr>
          <a:xfrm>
            <a:off x="1239919" y="8221059"/>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0365C0"/>
                </a:solidFill>
              </a:rPr>
              <a:t>project1.yml </a:t>
            </a:r>
            <a:r>
              <a:rPr lang="en-US" sz="900" dirty="0"/>
              <a:t>+ </a:t>
            </a:r>
            <a:r>
              <a:rPr lang="en-US" sz="900" dirty="0" err="1">
                <a:solidFill>
                  <a:schemeClr val="accent4"/>
                </a:solidFill>
              </a:rPr>
              <a:t>analysisA.yml</a:t>
            </a:r>
            <a:endParaRPr kumimoji="0" lang="en-US" sz="9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508" name="TextBox 507">
            <a:extLst>
              <a:ext uri="{FF2B5EF4-FFF2-40B4-BE49-F238E27FC236}">
                <a16:creationId xmlns:a16="http://schemas.microsoft.com/office/drawing/2014/main" id="{36FC1A02-F647-C92B-3970-2351A5302E75}"/>
              </a:ext>
            </a:extLst>
          </p:cNvPr>
          <p:cNvSpPr txBox="1"/>
          <p:nvPr/>
        </p:nvSpPr>
        <p:spPr>
          <a:xfrm>
            <a:off x="1261172" y="9336054"/>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0365C0"/>
                </a:solidFill>
              </a:rPr>
              <a:t>project1.yml </a:t>
            </a:r>
            <a:r>
              <a:rPr lang="en-US" sz="900" dirty="0"/>
              <a:t>+ </a:t>
            </a:r>
            <a:r>
              <a:rPr lang="en-US" sz="900" dirty="0" err="1">
                <a:solidFill>
                  <a:schemeClr val="accent4"/>
                </a:solidFill>
              </a:rPr>
              <a:t>analysisB.yml</a:t>
            </a:r>
            <a:endParaRPr kumimoji="0" lang="en-US" sz="9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257" name="Line">
            <a:extLst>
              <a:ext uri="{FF2B5EF4-FFF2-40B4-BE49-F238E27FC236}">
                <a16:creationId xmlns:a16="http://schemas.microsoft.com/office/drawing/2014/main" id="{ECFE91CF-5561-C23D-B66B-4DDDFC5760B8}"/>
              </a:ext>
            </a:extLst>
          </p:cNvPr>
          <p:cNvSpPr/>
          <p:nvPr/>
        </p:nvSpPr>
        <p:spPr>
          <a:xfrm>
            <a:off x="9535544" y="6875054"/>
            <a:ext cx="4170149" cy="9585"/>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272" name="Group 271">
            <a:extLst>
              <a:ext uri="{FF2B5EF4-FFF2-40B4-BE49-F238E27FC236}">
                <a16:creationId xmlns:a16="http://schemas.microsoft.com/office/drawing/2014/main" id="{78A47A14-1E72-AFB8-3CF4-C9375D115B87}"/>
              </a:ext>
            </a:extLst>
          </p:cNvPr>
          <p:cNvGrpSpPr/>
          <p:nvPr/>
        </p:nvGrpSpPr>
        <p:grpSpPr>
          <a:xfrm>
            <a:off x="2919985" y="8370103"/>
            <a:ext cx="883368" cy="555353"/>
            <a:chOff x="2847879" y="8375813"/>
            <a:chExt cx="883368" cy="555353"/>
          </a:xfrm>
        </p:grpSpPr>
        <p:sp>
          <p:nvSpPr>
            <p:cNvPr id="273" name="Oval 272">
              <a:extLst>
                <a:ext uri="{FF2B5EF4-FFF2-40B4-BE49-F238E27FC236}">
                  <a16:creationId xmlns:a16="http://schemas.microsoft.com/office/drawing/2014/main" id="{4D0782E5-0300-3D0C-7928-CF5166559AF6}"/>
                </a:ext>
              </a:extLst>
            </p:cNvPr>
            <p:cNvSpPr/>
            <p:nvPr/>
          </p:nvSpPr>
          <p:spPr>
            <a:xfrm>
              <a:off x="2847879" y="8727890"/>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4" name="Oval 273">
              <a:extLst>
                <a:ext uri="{FF2B5EF4-FFF2-40B4-BE49-F238E27FC236}">
                  <a16:creationId xmlns:a16="http://schemas.microsoft.com/office/drawing/2014/main" id="{756644B9-BF98-6F8B-5838-7F7E4EBAED3B}"/>
                </a:ext>
              </a:extLst>
            </p:cNvPr>
            <p:cNvSpPr/>
            <p:nvPr/>
          </p:nvSpPr>
          <p:spPr>
            <a:xfrm>
              <a:off x="3278436" y="8795649"/>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5" name="Oval 274">
              <a:extLst>
                <a:ext uri="{FF2B5EF4-FFF2-40B4-BE49-F238E27FC236}">
                  <a16:creationId xmlns:a16="http://schemas.microsoft.com/office/drawing/2014/main" id="{CFB3A223-5E1F-EDFB-69AA-3362FBBAE80F}"/>
                </a:ext>
              </a:extLst>
            </p:cNvPr>
            <p:cNvSpPr/>
            <p:nvPr/>
          </p:nvSpPr>
          <p:spPr>
            <a:xfrm>
              <a:off x="3173314" y="8416186"/>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6" name="Oval 275">
              <a:extLst>
                <a:ext uri="{FF2B5EF4-FFF2-40B4-BE49-F238E27FC236}">
                  <a16:creationId xmlns:a16="http://schemas.microsoft.com/office/drawing/2014/main" id="{B3F95747-92AB-0781-C471-3D00E45A85C4}"/>
                </a:ext>
              </a:extLst>
            </p:cNvPr>
            <p:cNvSpPr/>
            <p:nvPr/>
          </p:nvSpPr>
          <p:spPr>
            <a:xfrm>
              <a:off x="3580865" y="8375813"/>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7" name="Oval 276">
              <a:extLst>
                <a:ext uri="{FF2B5EF4-FFF2-40B4-BE49-F238E27FC236}">
                  <a16:creationId xmlns:a16="http://schemas.microsoft.com/office/drawing/2014/main" id="{9D69AEC5-EBC0-0114-E7CD-331612E50D12}"/>
                </a:ext>
              </a:extLst>
            </p:cNvPr>
            <p:cNvSpPr/>
            <p:nvPr/>
          </p:nvSpPr>
          <p:spPr>
            <a:xfrm>
              <a:off x="3460024" y="8623561"/>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8" name="Straight Connector 277">
              <a:extLst>
                <a:ext uri="{FF2B5EF4-FFF2-40B4-BE49-F238E27FC236}">
                  <a16:creationId xmlns:a16="http://schemas.microsoft.com/office/drawing/2014/main" id="{0FD1FCE3-3CE5-3A0D-2373-B8DAA03F9E9F}"/>
                </a:ext>
              </a:extLst>
            </p:cNvPr>
            <p:cNvCxnSpPr>
              <a:cxnSpLocks/>
              <a:stCxn id="273" idx="7"/>
              <a:endCxn id="275"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Connector 278">
              <a:extLst>
                <a:ext uri="{FF2B5EF4-FFF2-40B4-BE49-F238E27FC236}">
                  <a16:creationId xmlns:a16="http://schemas.microsoft.com/office/drawing/2014/main" id="{7CDB8602-2BDF-2289-81C3-60878C0BF113}"/>
                </a:ext>
              </a:extLst>
            </p:cNvPr>
            <p:cNvCxnSpPr>
              <a:cxnSpLocks/>
              <a:stCxn id="274" idx="0"/>
              <a:endCxn id="275"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Connector 279">
              <a:extLst>
                <a:ext uri="{FF2B5EF4-FFF2-40B4-BE49-F238E27FC236}">
                  <a16:creationId xmlns:a16="http://schemas.microsoft.com/office/drawing/2014/main" id="{D41B0E48-6DAA-0F7C-F8A6-CCDFC9B8E2FE}"/>
                </a:ext>
              </a:extLst>
            </p:cNvPr>
            <p:cNvCxnSpPr>
              <a:cxnSpLocks/>
              <a:stCxn id="276" idx="2"/>
              <a:endCxn id="275" idx="6"/>
            </p:cNvCxnSpPr>
            <p:nvPr/>
          </p:nvCxnSpPr>
          <p:spPr>
            <a:xfrm flipH="1">
              <a:off x="3323696" y="8443572"/>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Connector 280">
              <a:extLst>
                <a:ext uri="{FF2B5EF4-FFF2-40B4-BE49-F238E27FC236}">
                  <a16:creationId xmlns:a16="http://schemas.microsoft.com/office/drawing/2014/main" id="{8DD4A6B9-0CCD-AE46-CA67-BE2129C09377}"/>
                </a:ext>
              </a:extLst>
            </p:cNvPr>
            <p:cNvCxnSpPr>
              <a:cxnSpLocks/>
              <a:stCxn id="277" idx="0"/>
              <a:endCxn id="276" idx="4"/>
            </p:cNvCxnSpPr>
            <p:nvPr/>
          </p:nvCxnSpPr>
          <p:spPr>
            <a:xfrm flipV="1">
              <a:off x="3535215" y="8511330"/>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cxnSp>
        <p:nvCxnSpPr>
          <p:cNvPr id="306" name="Connector: Elbow 305">
            <a:extLst>
              <a:ext uri="{FF2B5EF4-FFF2-40B4-BE49-F238E27FC236}">
                <a16:creationId xmlns:a16="http://schemas.microsoft.com/office/drawing/2014/main" id="{77A78A69-E4B5-6822-E99F-D273500EDB10}"/>
              </a:ext>
            </a:extLst>
          </p:cNvPr>
          <p:cNvCxnSpPr>
            <a:stCxn id="45" idx="0"/>
          </p:cNvCxnSpPr>
          <p:nvPr/>
        </p:nvCxnSpPr>
        <p:spPr>
          <a:xfrm rot="5400000" flipH="1" flipV="1">
            <a:off x="1617671" y="7477686"/>
            <a:ext cx="400229" cy="2416409"/>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7E652FCF-C0FC-CCFA-B27F-3A9B37BE835D}"/>
              </a:ext>
            </a:extLst>
          </p:cNvPr>
          <p:cNvCxnSpPr>
            <a:cxnSpLocks/>
            <a:stCxn id="45" idx="2"/>
          </p:cNvCxnSpPr>
          <p:nvPr/>
        </p:nvCxnSpPr>
        <p:spPr>
          <a:xfrm rot="16200000" flipH="1">
            <a:off x="1672379" y="8033194"/>
            <a:ext cx="266698" cy="2392294"/>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54" name="Rectangle 753">
            <a:extLst>
              <a:ext uri="{FF2B5EF4-FFF2-40B4-BE49-F238E27FC236}">
                <a16:creationId xmlns:a16="http://schemas.microsoft.com/office/drawing/2014/main" id="{29F55FD4-5060-DF38-B5DE-82AD6B36DD3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55" name="TextBox 754">
            <a:extLst>
              <a:ext uri="{FF2B5EF4-FFF2-40B4-BE49-F238E27FC236}">
                <a16:creationId xmlns:a16="http://schemas.microsoft.com/office/drawing/2014/main" id="{A3A98B7F-735F-1639-14E9-036AC686AFD3}"/>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Introduction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56" name="Straight Connector 755">
            <a:extLst>
              <a:ext uri="{FF2B5EF4-FFF2-40B4-BE49-F238E27FC236}">
                <a16:creationId xmlns:a16="http://schemas.microsoft.com/office/drawing/2014/main" id="{3C557827-675C-51EF-A431-1EF7B20FC353}"/>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 name="Group 1">
            <a:extLst>
              <a:ext uri="{FF2B5EF4-FFF2-40B4-BE49-F238E27FC236}">
                <a16:creationId xmlns:a16="http://schemas.microsoft.com/office/drawing/2014/main" id="{AF7E681E-CA90-26AA-5377-92CEBC335BDF}"/>
              </a:ext>
            </a:extLst>
          </p:cNvPr>
          <p:cNvGrpSpPr/>
          <p:nvPr/>
        </p:nvGrpSpPr>
        <p:grpSpPr>
          <a:xfrm>
            <a:off x="5428649" y="5853301"/>
            <a:ext cx="10229" cy="217570"/>
            <a:chOff x="5239518" y="5808063"/>
            <a:chExt cx="10229" cy="217570"/>
          </a:xfrm>
        </p:grpSpPr>
        <p:sp>
          <p:nvSpPr>
            <p:cNvPr id="327" name="Oval 326">
              <a:extLst>
                <a:ext uri="{FF2B5EF4-FFF2-40B4-BE49-F238E27FC236}">
                  <a16:creationId xmlns:a16="http://schemas.microsoft.com/office/drawing/2014/main" id="{0877A008-4B81-920C-7CE3-6FB1870A07AF}"/>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8FC95AC8-2FCA-3DEB-A053-3DDAFEE2DA02}"/>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FDD44F44-295F-37B3-47D7-8DDA304DCB23}"/>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758" name="TextBox 757">
            <a:extLst>
              <a:ext uri="{FF2B5EF4-FFF2-40B4-BE49-F238E27FC236}">
                <a16:creationId xmlns:a16="http://schemas.microsoft.com/office/drawing/2014/main" id="{1B5B65EF-9E31-B2EE-7BBC-07229BEFCB46}"/>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Configuration</a:t>
            </a:r>
          </a:p>
        </p:txBody>
      </p:sp>
      <p:sp>
        <p:nvSpPr>
          <p:cNvPr id="759" name="Rectangle 758">
            <a:extLst>
              <a:ext uri="{FF2B5EF4-FFF2-40B4-BE49-F238E27FC236}">
                <a16:creationId xmlns:a16="http://schemas.microsoft.com/office/drawing/2014/main" id="{3DF92A5C-2133-FCAB-ABE9-D215BEE43013}"/>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15" name="Group 14">
            <a:extLst>
              <a:ext uri="{FF2B5EF4-FFF2-40B4-BE49-F238E27FC236}">
                <a16:creationId xmlns:a16="http://schemas.microsoft.com/office/drawing/2014/main" id="{08545AC7-A5C8-640D-753D-032228864342}"/>
              </a:ext>
            </a:extLst>
          </p:cNvPr>
          <p:cNvGrpSpPr/>
          <p:nvPr/>
        </p:nvGrpSpPr>
        <p:grpSpPr>
          <a:xfrm>
            <a:off x="6114802" y="5367513"/>
            <a:ext cx="440596" cy="305131"/>
            <a:chOff x="6105019" y="5367513"/>
            <a:chExt cx="440596" cy="305131"/>
          </a:xfrm>
        </p:grpSpPr>
        <p:sp>
          <p:nvSpPr>
            <p:cNvPr id="782" name="Rectangle 781">
              <a:extLst>
                <a:ext uri="{FF2B5EF4-FFF2-40B4-BE49-F238E27FC236}">
                  <a16:creationId xmlns:a16="http://schemas.microsoft.com/office/drawing/2014/main" id="{C831788F-E35A-2B39-D71A-8060D01558B9}"/>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3" name="TextBox 782">
              <a:extLst>
                <a:ext uri="{FF2B5EF4-FFF2-40B4-BE49-F238E27FC236}">
                  <a16:creationId xmlns:a16="http://schemas.microsoft.com/office/drawing/2014/main" id="{3D92CD31-7EA6-664D-166F-09C51F93E804}"/>
                </a:ext>
              </a:extLst>
            </p:cNvPr>
            <p:cNvSpPr txBox="1"/>
            <p:nvPr/>
          </p:nvSpPr>
          <p:spPr>
            <a:xfrm>
              <a:off x="6105019" y="5367513"/>
              <a:ext cx="4388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Rmd</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6" name="TextBox 5">
            <a:extLst>
              <a:ext uri="{FF2B5EF4-FFF2-40B4-BE49-F238E27FC236}">
                <a16:creationId xmlns:a16="http://schemas.microsoft.com/office/drawing/2014/main" id="{2AA1493F-8D1A-C6C6-CC51-B2F5ABC28549}"/>
              </a:ext>
            </a:extLst>
          </p:cNvPr>
          <p:cNvSpPr txBox="1"/>
          <p:nvPr/>
        </p:nvSpPr>
        <p:spPr>
          <a:xfrm>
            <a:off x="5050888" y="6291845"/>
            <a:ext cx="987111" cy="40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800" dirty="0"/>
              <a:t>g</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et(</a:t>
            </a:r>
            <a:r>
              <a:rPr lang="en-US" sz="800" dirty="0">
                <a:solidFill>
                  <a:schemeClr val="accent1"/>
                </a:solidFill>
              </a:rPr>
              <a:t>project1.yml</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r>
              <a:rPr lang="en-US" sz="800" dirty="0"/>
              <a:t>get (</a:t>
            </a:r>
            <a:r>
              <a:rPr lang="en-US" sz="800" dirty="0" err="1">
                <a:solidFill>
                  <a:schemeClr val="accent4"/>
                </a:solidFill>
              </a:rPr>
              <a:t>analysisB.yml</a:t>
            </a:r>
            <a:r>
              <a:rPr lang="en-US" sz="800" dirty="0"/>
              <a: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 name="Group 3">
            <a:extLst>
              <a:ext uri="{FF2B5EF4-FFF2-40B4-BE49-F238E27FC236}">
                <a16:creationId xmlns:a16="http://schemas.microsoft.com/office/drawing/2014/main" id="{7567C23D-552A-78CF-A9C4-B412C014D48C}"/>
              </a:ext>
            </a:extLst>
          </p:cNvPr>
          <p:cNvGrpSpPr/>
          <p:nvPr/>
        </p:nvGrpSpPr>
        <p:grpSpPr>
          <a:xfrm>
            <a:off x="5419505" y="6817298"/>
            <a:ext cx="10229" cy="217570"/>
            <a:chOff x="5239518" y="5808063"/>
            <a:chExt cx="10229" cy="217570"/>
          </a:xfrm>
        </p:grpSpPr>
        <p:sp>
          <p:nvSpPr>
            <p:cNvPr id="11" name="Oval 10">
              <a:extLst>
                <a:ext uri="{FF2B5EF4-FFF2-40B4-BE49-F238E27FC236}">
                  <a16:creationId xmlns:a16="http://schemas.microsoft.com/office/drawing/2014/main" id="{B4C7D0A4-5CE6-1BCB-A2BE-C4B8BADF6033}"/>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 name="Oval 12">
              <a:extLst>
                <a:ext uri="{FF2B5EF4-FFF2-40B4-BE49-F238E27FC236}">
                  <a16:creationId xmlns:a16="http://schemas.microsoft.com/office/drawing/2014/main" id="{84CE17DC-E729-EF5D-18B7-6F133971F460}"/>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 name="Oval 13">
              <a:extLst>
                <a:ext uri="{FF2B5EF4-FFF2-40B4-BE49-F238E27FC236}">
                  <a16:creationId xmlns:a16="http://schemas.microsoft.com/office/drawing/2014/main" id="{897002AC-FF40-063E-6212-6A3510BA0DD8}"/>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18" name="Group 17">
            <a:extLst>
              <a:ext uri="{FF2B5EF4-FFF2-40B4-BE49-F238E27FC236}">
                <a16:creationId xmlns:a16="http://schemas.microsoft.com/office/drawing/2014/main" id="{894B125D-BB9C-B6E4-C42F-24ADF217E573}"/>
              </a:ext>
            </a:extLst>
          </p:cNvPr>
          <p:cNvGrpSpPr/>
          <p:nvPr/>
        </p:nvGrpSpPr>
        <p:grpSpPr>
          <a:xfrm>
            <a:off x="9946173" y="8376141"/>
            <a:ext cx="1433010" cy="1503258"/>
            <a:chOff x="4888883" y="5317055"/>
            <a:chExt cx="1667079" cy="1784694"/>
          </a:xfrm>
        </p:grpSpPr>
        <p:sp>
          <p:nvSpPr>
            <p:cNvPr id="19" name="Rectangle 18">
              <a:extLst>
                <a:ext uri="{FF2B5EF4-FFF2-40B4-BE49-F238E27FC236}">
                  <a16:creationId xmlns:a16="http://schemas.microsoft.com/office/drawing/2014/main" id="{FEEED889-F75D-5DFA-C2BD-D49216A88FC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0" name="TextBox 19">
              <a:extLst>
                <a:ext uri="{FF2B5EF4-FFF2-40B4-BE49-F238E27FC236}">
                  <a16:creationId xmlns:a16="http://schemas.microsoft.com/office/drawing/2014/main" id="{5005BAF2-65A5-4BE9-8B8E-1D97AB867051}"/>
                </a:ext>
              </a:extLst>
            </p:cNvPr>
            <p:cNvSpPr txBox="1"/>
            <p:nvPr/>
          </p:nvSpPr>
          <p:spPr>
            <a:xfrm>
              <a:off x="4955877" y="5425561"/>
              <a:ext cx="730550"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project:</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1" name="Straight Connector 20">
              <a:extLst>
                <a:ext uri="{FF2B5EF4-FFF2-40B4-BE49-F238E27FC236}">
                  <a16:creationId xmlns:a16="http://schemas.microsoft.com/office/drawing/2014/main" id="{D7CDA7F1-1E51-200B-5161-7A7E48B9A54F}"/>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2" name="Group 21">
              <a:extLst>
                <a:ext uri="{FF2B5EF4-FFF2-40B4-BE49-F238E27FC236}">
                  <a16:creationId xmlns:a16="http://schemas.microsoft.com/office/drawing/2014/main" id="{2789E13B-E6EE-3078-1CBC-EE0A62BD2557}"/>
                </a:ext>
              </a:extLst>
            </p:cNvPr>
            <p:cNvGrpSpPr/>
            <p:nvPr/>
          </p:nvGrpSpPr>
          <p:grpSpPr>
            <a:xfrm>
              <a:off x="5428649" y="5853301"/>
              <a:ext cx="10229" cy="217570"/>
              <a:chOff x="5239518" y="5808063"/>
              <a:chExt cx="10229" cy="217570"/>
            </a:xfrm>
          </p:grpSpPr>
          <p:sp>
            <p:nvSpPr>
              <p:cNvPr id="33" name="Oval 32">
                <a:extLst>
                  <a:ext uri="{FF2B5EF4-FFF2-40B4-BE49-F238E27FC236}">
                    <a16:creationId xmlns:a16="http://schemas.microsoft.com/office/drawing/2014/main" id="{E7CADA09-7340-29EF-AF6C-5A50C9B455EB}"/>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 name="Oval 33">
                <a:extLst>
                  <a:ext uri="{FF2B5EF4-FFF2-40B4-BE49-F238E27FC236}">
                    <a16:creationId xmlns:a16="http://schemas.microsoft.com/office/drawing/2014/main" id="{1C63B135-4E02-B880-28AA-60EB88B4D21E}"/>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5" name="Oval 34">
                <a:extLst>
                  <a:ext uri="{FF2B5EF4-FFF2-40B4-BE49-F238E27FC236}">
                    <a16:creationId xmlns:a16="http://schemas.microsoft.com/office/drawing/2014/main" id="{2CB8DF67-9BE2-CA23-6FC0-22F0127E2D99}"/>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24" name="Rectangle 23">
              <a:extLst>
                <a:ext uri="{FF2B5EF4-FFF2-40B4-BE49-F238E27FC236}">
                  <a16:creationId xmlns:a16="http://schemas.microsoft.com/office/drawing/2014/main" id="{28DF8AA1-28BF-3A07-AB40-6CA31D6DDD05}"/>
                </a:ext>
              </a:extLst>
            </p:cNvPr>
            <p:cNvSpPr/>
            <p:nvPr/>
          </p:nvSpPr>
          <p:spPr>
            <a:xfrm>
              <a:off x="4985662" y="6197875"/>
              <a:ext cx="1331427" cy="628674"/>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5" name="Rectangle 24">
              <a:extLst>
                <a:ext uri="{FF2B5EF4-FFF2-40B4-BE49-F238E27FC236}">
                  <a16:creationId xmlns:a16="http://schemas.microsoft.com/office/drawing/2014/main" id="{134B2B7F-E533-A899-9918-4077D2B16A92}"/>
                </a:ext>
              </a:extLst>
            </p:cNvPr>
            <p:cNvSpPr/>
            <p:nvPr/>
          </p:nvSpPr>
          <p:spPr>
            <a:xfrm>
              <a:off x="6133911"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6" name="TextBox 25">
              <a:extLst>
                <a:ext uri="{FF2B5EF4-FFF2-40B4-BE49-F238E27FC236}">
                  <a16:creationId xmlns:a16="http://schemas.microsoft.com/office/drawing/2014/main" id="{01B907CC-B383-E082-BD63-727A2501E7B8}"/>
                </a:ext>
              </a:extLst>
            </p:cNvPr>
            <p:cNvSpPr txBox="1"/>
            <p:nvPr/>
          </p:nvSpPr>
          <p:spPr>
            <a:xfrm>
              <a:off x="6107003" y="5317055"/>
              <a:ext cx="448959"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39" name="TextBox 38">
            <a:extLst>
              <a:ext uri="{FF2B5EF4-FFF2-40B4-BE49-F238E27FC236}">
                <a16:creationId xmlns:a16="http://schemas.microsoft.com/office/drawing/2014/main" id="{4BE927F0-3810-4A3E-BDD9-8C82AAB2357D}"/>
              </a:ext>
            </a:extLst>
          </p:cNvPr>
          <p:cNvSpPr txBox="1"/>
          <p:nvPr/>
        </p:nvSpPr>
        <p:spPr>
          <a:xfrm>
            <a:off x="10003761" y="9076811"/>
            <a:ext cx="1120499" cy="694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time:</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r>
              <a:rPr lang="en-US" sz="1100" dirty="0" err="1"/>
              <a:t>start_commit</a:t>
            </a:r>
            <a:r>
              <a:rPr lang="en-US" sz="1100" dirty="0"/>
              <a:t>:</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Oval 39">
            <a:extLst>
              <a:ext uri="{FF2B5EF4-FFF2-40B4-BE49-F238E27FC236}">
                <a16:creationId xmlns:a16="http://schemas.microsoft.com/office/drawing/2014/main" id="{465F4012-2E4D-23DF-AFE8-BAAEC6F3CD8A}"/>
              </a:ext>
            </a:extLst>
          </p:cNvPr>
          <p:cNvSpPr/>
          <p:nvPr/>
        </p:nvSpPr>
        <p:spPr>
          <a:xfrm>
            <a:off x="11877674" y="8151111"/>
            <a:ext cx="1704542" cy="1704542"/>
          </a:xfrm>
          <a:prstGeom prst="ellipse">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761" name="Connector: Elbow 760">
            <a:extLst>
              <a:ext uri="{FF2B5EF4-FFF2-40B4-BE49-F238E27FC236}">
                <a16:creationId xmlns:a16="http://schemas.microsoft.com/office/drawing/2014/main" id="{5E54545D-0F85-2654-372A-EE3F75EDB6D9}"/>
              </a:ext>
            </a:extLst>
          </p:cNvPr>
          <p:cNvCxnSpPr>
            <a:cxnSpLocks/>
          </p:cNvCxnSpPr>
          <p:nvPr/>
        </p:nvCxnSpPr>
        <p:spPr>
          <a:xfrm rot="5400000">
            <a:off x="5586507" y="5335816"/>
            <a:ext cx="1701384" cy="664359"/>
          </a:xfrm>
          <a:prstGeom prst="bentConnector2">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3" name="Straight Connector 42">
            <a:extLst>
              <a:ext uri="{FF2B5EF4-FFF2-40B4-BE49-F238E27FC236}">
                <a16:creationId xmlns:a16="http://schemas.microsoft.com/office/drawing/2014/main" id="{6515B449-C134-8F70-5400-617CF932C095}"/>
              </a:ext>
            </a:extLst>
          </p:cNvPr>
          <p:cNvCxnSpPr/>
          <p:nvPr/>
        </p:nvCxnSpPr>
        <p:spPr>
          <a:xfrm>
            <a:off x="12066010" y="8681272"/>
            <a:ext cx="1326140" cy="4618"/>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979CC5F8-F168-213A-C339-0DF079AADFC7}"/>
              </a:ext>
            </a:extLst>
          </p:cNvPr>
          <p:cNvCxnSpPr/>
          <p:nvPr/>
        </p:nvCxnSpPr>
        <p:spPr>
          <a:xfrm>
            <a:off x="12066010" y="8594860"/>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2C635FA7-20F8-F2EF-E352-2E88EB12418F}"/>
              </a:ext>
            </a:extLst>
          </p:cNvPr>
          <p:cNvCxnSpPr/>
          <p:nvPr/>
        </p:nvCxnSpPr>
        <p:spPr>
          <a:xfrm>
            <a:off x="13392150" y="8594860"/>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 name="Google Shape;247;p18">
            <a:extLst>
              <a:ext uri="{FF2B5EF4-FFF2-40B4-BE49-F238E27FC236}">
                <a16:creationId xmlns:a16="http://schemas.microsoft.com/office/drawing/2014/main" id="{75277576-D258-6E37-16FA-6E8986DDE199}"/>
              </a:ext>
            </a:extLst>
          </p:cNvPr>
          <p:cNvSpPr txBox="1"/>
          <p:nvPr/>
        </p:nvSpPr>
        <p:spPr>
          <a:xfrm>
            <a:off x="12701365" y="8286620"/>
            <a:ext cx="843280" cy="466748"/>
          </a:xfrm>
          <a:prstGeom prst="rect">
            <a:avLst/>
          </a:prstGeom>
          <a:noFill/>
          <a:ln>
            <a:noFill/>
          </a:ln>
        </p:spPr>
        <p:txBody>
          <a:bodyPr spcFirstLastPara="1" wrap="square" lIns="139677" tIns="139677" rIns="139677" bIns="139677"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cxnSp>
        <p:nvCxnSpPr>
          <p:cNvPr id="55" name="Google Shape;249;p18">
            <a:extLst>
              <a:ext uri="{FF2B5EF4-FFF2-40B4-BE49-F238E27FC236}">
                <a16:creationId xmlns:a16="http://schemas.microsoft.com/office/drawing/2014/main" id="{4C002C4E-D73A-3245-7CA7-911444FDDEC7}"/>
              </a:ext>
            </a:extLst>
          </p:cNvPr>
          <p:cNvCxnSpPr>
            <a:cxnSpLocks/>
          </p:cNvCxnSpPr>
          <p:nvPr/>
        </p:nvCxnSpPr>
        <p:spPr>
          <a:xfrm>
            <a:off x="12000096" y="9101933"/>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0" name="Google Shape;249;p18">
            <a:extLst>
              <a:ext uri="{FF2B5EF4-FFF2-40B4-BE49-F238E27FC236}">
                <a16:creationId xmlns:a16="http://schemas.microsoft.com/office/drawing/2014/main" id="{D4A9CFAD-8CF9-29EA-F814-50B516E9FA0C}"/>
              </a:ext>
            </a:extLst>
          </p:cNvPr>
          <p:cNvCxnSpPr>
            <a:cxnSpLocks/>
          </p:cNvCxnSpPr>
          <p:nvPr/>
        </p:nvCxnSpPr>
        <p:spPr>
          <a:xfrm>
            <a:off x="12507513" y="9336758"/>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1" name="Google Shape;249;p18">
            <a:extLst>
              <a:ext uri="{FF2B5EF4-FFF2-40B4-BE49-F238E27FC236}">
                <a16:creationId xmlns:a16="http://schemas.microsoft.com/office/drawing/2014/main" id="{E66B8682-C3F6-E31F-8DDA-D79C92F41AA6}"/>
              </a:ext>
            </a:extLst>
          </p:cNvPr>
          <p:cNvCxnSpPr>
            <a:cxnSpLocks/>
          </p:cNvCxnSpPr>
          <p:nvPr/>
        </p:nvCxnSpPr>
        <p:spPr>
          <a:xfrm>
            <a:off x="12963722" y="9507306"/>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449" name="Straight Connector 448">
            <a:extLst>
              <a:ext uri="{FF2B5EF4-FFF2-40B4-BE49-F238E27FC236}">
                <a16:creationId xmlns:a16="http://schemas.microsoft.com/office/drawing/2014/main" id="{AB0A6939-90E5-C7E4-3779-4B027476ECB4}"/>
              </a:ext>
            </a:extLst>
          </p:cNvPr>
          <p:cNvCxnSpPr/>
          <p:nvPr/>
        </p:nvCxnSpPr>
        <p:spPr>
          <a:xfrm flipV="1">
            <a:off x="10899650" y="8545993"/>
            <a:ext cx="1100446" cy="5720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2" name="Straight Connector 451">
            <a:extLst>
              <a:ext uri="{FF2B5EF4-FFF2-40B4-BE49-F238E27FC236}">
                <a16:creationId xmlns:a16="http://schemas.microsoft.com/office/drawing/2014/main" id="{F3B2F41B-A02D-A7A9-4874-38CE7082B315}"/>
              </a:ext>
            </a:extLst>
          </p:cNvPr>
          <p:cNvCxnSpPr>
            <a:endCxn id="40" idx="3"/>
          </p:cNvCxnSpPr>
          <p:nvPr/>
        </p:nvCxnSpPr>
        <p:spPr>
          <a:xfrm flipV="1">
            <a:off x="11016391" y="9606029"/>
            <a:ext cx="1110907" cy="415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70" name="Group 469">
            <a:extLst>
              <a:ext uri="{FF2B5EF4-FFF2-40B4-BE49-F238E27FC236}">
                <a16:creationId xmlns:a16="http://schemas.microsoft.com/office/drawing/2014/main" id="{21314640-B662-D426-D27A-A2FA727377AF}"/>
              </a:ext>
            </a:extLst>
          </p:cNvPr>
          <p:cNvGrpSpPr/>
          <p:nvPr/>
        </p:nvGrpSpPr>
        <p:grpSpPr>
          <a:xfrm>
            <a:off x="11969353" y="8877669"/>
            <a:ext cx="384572" cy="105342"/>
            <a:chOff x="11969353" y="8877669"/>
            <a:chExt cx="384572" cy="105342"/>
          </a:xfrm>
        </p:grpSpPr>
        <p:sp>
          <p:nvSpPr>
            <p:cNvPr id="457" name="Oval 456">
              <a:extLst>
                <a:ext uri="{FF2B5EF4-FFF2-40B4-BE49-F238E27FC236}">
                  <a16:creationId xmlns:a16="http://schemas.microsoft.com/office/drawing/2014/main" id="{C7589B1E-BB34-46C9-E339-246C23203D8C}"/>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9D888E42-3A74-AB29-DACD-C478C26793C3}"/>
                </a:ext>
              </a:extLst>
            </p:cNvPr>
            <p:cNvCxnSpPr>
              <a:cxnSpLocks/>
              <a:stCxn id="45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9" name="Straight Connector 468">
              <a:extLst>
                <a:ext uri="{FF2B5EF4-FFF2-40B4-BE49-F238E27FC236}">
                  <a16:creationId xmlns:a16="http://schemas.microsoft.com/office/drawing/2014/main" id="{0F7C3F43-CF65-87D0-6D14-684BE126B98C}"/>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2" name="Group 471">
            <a:extLst>
              <a:ext uri="{FF2B5EF4-FFF2-40B4-BE49-F238E27FC236}">
                <a16:creationId xmlns:a16="http://schemas.microsoft.com/office/drawing/2014/main" id="{CF1E0C53-6AA5-BAB5-97A4-40779AB714E1}"/>
              </a:ext>
            </a:extLst>
          </p:cNvPr>
          <p:cNvGrpSpPr/>
          <p:nvPr/>
        </p:nvGrpSpPr>
        <p:grpSpPr>
          <a:xfrm>
            <a:off x="12511413" y="8782855"/>
            <a:ext cx="384572" cy="105342"/>
            <a:chOff x="11969353" y="8877669"/>
            <a:chExt cx="384572" cy="105342"/>
          </a:xfrm>
        </p:grpSpPr>
        <p:sp>
          <p:nvSpPr>
            <p:cNvPr id="473" name="Oval 472">
              <a:extLst>
                <a:ext uri="{FF2B5EF4-FFF2-40B4-BE49-F238E27FC236}">
                  <a16:creationId xmlns:a16="http://schemas.microsoft.com/office/drawing/2014/main" id="{ECDC70C0-0565-15DD-BC6D-6AD2DAB983D0}"/>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4" name="Straight Connector 473">
              <a:extLst>
                <a:ext uri="{FF2B5EF4-FFF2-40B4-BE49-F238E27FC236}">
                  <a16:creationId xmlns:a16="http://schemas.microsoft.com/office/drawing/2014/main" id="{8CD70C08-D41B-EBDA-636C-7B51370F4AEB}"/>
                </a:ext>
              </a:extLst>
            </p:cNvPr>
            <p:cNvCxnSpPr>
              <a:cxnSpLocks/>
              <a:stCxn id="473"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EDB196D1-370C-8AAA-16E6-290CAB20E8F9}"/>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6" name="Group 475">
            <a:extLst>
              <a:ext uri="{FF2B5EF4-FFF2-40B4-BE49-F238E27FC236}">
                <a16:creationId xmlns:a16="http://schemas.microsoft.com/office/drawing/2014/main" id="{4AB3B06D-EB95-D4A4-0638-E1FD25CF5A4A}"/>
              </a:ext>
            </a:extLst>
          </p:cNvPr>
          <p:cNvGrpSpPr/>
          <p:nvPr/>
        </p:nvGrpSpPr>
        <p:grpSpPr>
          <a:xfrm>
            <a:off x="12511413" y="8972498"/>
            <a:ext cx="384572" cy="105342"/>
            <a:chOff x="11969353" y="8877669"/>
            <a:chExt cx="384572" cy="105342"/>
          </a:xfrm>
        </p:grpSpPr>
        <p:sp>
          <p:nvSpPr>
            <p:cNvPr id="477" name="Oval 476">
              <a:extLst>
                <a:ext uri="{FF2B5EF4-FFF2-40B4-BE49-F238E27FC236}">
                  <a16:creationId xmlns:a16="http://schemas.microsoft.com/office/drawing/2014/main" id="{A3C28699-3372-0BEE-73CB-48B4B64778D9}"/>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8" name="Straight Connector 477">
              <a:extLst>
                <a:ext uri="{FF2B5EF4-FFF2-40B4-BE49-F238E27FC236}">
                  <a16:creationId xmlns:a16="http://schemas.microsoft.com/office/drawing/2014/main" id="{36A3CFFC-DE22-4FBA-B72F-1CBD7749787D}"/>
                </a:ext>
              </a:extLst>
            </p:cNvPr>
            <p:cNvCxnSpPr>
              <a:cxnSpLocks/>
              <a:stCxn id="47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9" name="Straight Connector 478">
              <a:extLst>
                <a:ext uri="{FF2B5EF4-FFF2-40B4-BE49-F238E27FC236}">
                  <a16:creationId xmlns:a16="http://schemas.microsoft.com/office/drawing/2014/main" id="{640DE0ED-27A6-71B5-8351-9B67D15AB21D}"/>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0" name="Group 479">
            <a:extLst>
              <a:ext uri="{FF2B5EF4-FFF2-40B4-BE49-F238E27FC236}">
                <a16:creationId xmlns:a16="http://schemas.microsoft.com/office/drawing/2014/main" id="{47BAF00D-C85A-4C2E-8511-E6D90A7CD9C4}"/>
              </a:ext>
            </a:extLst>
          </p:cNvPr>
          <p:cNvGrpSpPr/>
          <p:nvPr/>
        </p:nvGrpSpPr>
        <p:grpSpPr>
          <a:xfrm>
            <a:off x="12511413" y="9170802"/>
            <a:ext cx="384572" cy="105342"/>
            <a:chOff x="11969353" y="8877669"/>
            <a:chExt cx="384572" cy="105342"/>
          </a:xfrm>
        </p:grpSpPr>
        <p:sp>
          <p:nvSpPr>
            <p:cNvPr id="481" name="Oval 480">
              <a:extLst>
                <a:ext uri="{FF2B5EF4-FFF2-40B4-BE49-F238E27FC236}">
                  <a16:creationId xmlns:a16="http://schemas.microsoft.com/office/drawing/2014/main" id="{46B9986C-3C8E-609D-B02D-0C39C6E4692E}"/>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2" name="Straight Connector 481">
              <a:extLst>
                <a:ext uri="{FF2B5EF4-FFF2-40B4-BE49-F238E27FC236}">
                  <a16:creationId xmlns:a16="http://schemas.microsoft.com/office/drawing/2014/main" id="{08C37BFA-F68F-49EF-86C1-92BC074D020D}"/>
                </a:ext>
              </a:extLst>
            </p:cNvPr>
            <p:cNvCxnSpPr>
              <a:cxnSpLocks/>
              <a:stCxn id="481"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2847BB82-AB9C-C59A-A6F6-9D899A96DD65}"/>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4" name="Group 483">
            <a:extLst>
              <a:ext uri="{FF2B5EF4-FFF2-40B4-BE49-F238E27FC236}">
                <a16:creationId xmlns:a16="http://schemas.microsoft.com/office/drawing/2014/main" id="{B640F7EF-8553-0B0D-4115-251AE73BD7AB}"/>
              </a:ext>
            </a:extLst>
          </p:cNvPr>
          <p:cNvGrpSpPr/>
          <p:nvPr/>
        </p:nvGrpSpPr>
        <p:grpSpPr>
          <a:xfrm>
            <a:off x="13066792" y="9249234"/>
            <a:ext cx="384572" cy="105342"/>
            <a:chOff x="11969353" y="8877669"/>
            <a:chExt cx="384572" cy="105342"/>
          </a:xfrm>
        </p:grpSpPr>
        <p:sp>
          <p:nvSpPr>
            <p:cNvPr id="485" name="Oval 484">
              <a:extLst>
                <a:ext uri="{FF2B5EF4-FFF2-40B4-BE49-F238E27FC236}">
                  <a16:creationId xmlns:a16="http://schemas.microsoft.com/office/drawing/2014/main" id="{7001F853-EB8B-6DD5-7F02-50843FC71924}"/>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6" name="Straight Connector 485">
              <a:extLst>
                <a:ext uri="{FF2B5EF4-FFF2-40B4-BE49-F238E27FC236}">
                  <a16:creationId xmlns:a16="http://schemas.microsoft.com/office/drawing/2014/main" id="{2239AC73-D400-8B26-6F49-61E5E6997CB8}"/>
                </a:ext>
              </a:extLst>
            </p:cNvPr>
            <p:cNvCxnSpPr>
              <a:cxnSpLocks/>
              <a:stCxn id="485"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7" name="Straight Connector 486">
              <a:extLst>
                <a:ext uri="{FF2B5EF4-FFF2-40B4-BE49-F238E27FC236}">
                  <a16:creationId xmlns:a16="http://schemas.microsoft.com/office/drawing/2014/main" id="{615816C3-2195-F91C-A867-8782E23C8532}"/>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8" name="Group 487">
            <a:extLst>
              <a:ext uri="{FF2B5EF4-FFF2-40B4-BE49-F238E27FC236}">
                <a16:creationId xmlns:a16="http://schemas.microsoft.com/office/drawing/2014/main" id="{2F653534-5F99-D88A-EAF0-24EB5696925C}"/>
              </a:ext>
            </a:extLst>
          </p:cNvPr>
          <p:cNvGrpSpPr/>
          <p:nvPr/>
        </p:nvGrpSpPr>
        <p:grpSpPr>
          <a:xfrm>
            <a:off x="13061170" y="9074177"/>
            <a:ext cx="384572" cy="105342"/>
            <a:chOff x="11969353" y="8877669"/>
            <a:chExt cx="384572" cy="105342"/>
          </a:xfrm>
        </p:grpSpPr>
        <p:sp>
          <p:nvSpPr>
            <p:cNvPr id="489" name="Oval 488">
              <a:extLst>
                <a:ext uri="{FF2B5EF4-FFF2-40B4-BE49-F238E27FC236}">
                  <a16:creationId xmlns:a16="http://schemas.microsoft.com/office/drawing/2014/main" id="{3C8A9252-78A6-6BF6-BB2E-3BAF783EEF04}"/>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90" name="Straight Connector 489">
              <a:extLst>
                <a:ext uri="{FF2B5EF4-FFF2-40B4-BE49-F238E27FC236}">
                  <a16:creationId xmlns:a16="http://schemas.microsoft.com/office/drawing/2014/main" id="{38EA10FE-C766-938F-6918-031857059723}"/>
                </a:ext>
              </a:extLst>
            </p:cNvPr>
            <p:cNvCxnSpPr>
              <a:cxnSpLocks/>
              <a:stCxn id="489"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1" name="Straight Connector 490">
              <a:extLst>
                <a:ext uri="{FF2B5EF4-FFF2-40B4-BE49-F238E27FC236}">
                  <a16:creationId xmlns:a16="http://schemas.microsoft.com/office/drawing/2014/main" id="{90C69AE5-ADBF-F63A-5A26-B113E4E8715D}"/>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16" name="Group 15">
            <a:extLst>
              <a:ext uri="{FF2B5EF4-FFF2-40B4-BE49-F238E27FC236}">
                <a16:creationId xmlns:a16="http://schemas.microsoft.com/office/drawing/2014/main" id="{E7F10730-B036-51C1-E399-0AF6D9B9CBD2}"/>
              </a:ext>
            </a:extLst>
          </p:cNvPr>
          <p:cNvGrpSpPr/>
          <p:nvPr/>
        </p:nvGrpSpPr>
        <p:grpSpPr>
          <a:xfrm>
            <a:off x="8582576" y="6009558"/>
            <a:ext cx="635991" cy="305131"/>
            <a:chOff x="5934934" y="5364285"/>
            <a:chExt cx="635991" cy="305131"/>
          </a:xfrm>
        </p:grpSpPr>
        <p:sp>
          <p:nvSpPr>
            <p:cNvPr id="23" name="Rectangle 22">
              <a:extLst>
                <a:ext uri="{FF2B5EF4-FFF2-40B4-BE49-F238E27FC236}">
                  <a16:creationId xmlns:a16="http://schemas.microsoft.com/office/drawing/2014/main" id="{FEE15E29-DD8C-9104-AB74-CB9F55303773}"/>
                </a:ext>
              </a:extLst>
            </p:cNvPr>
            <p:cNvSpPr/>
            <p:nvPr/>
          </p:nvSpPr>
          <p:spPr>
            <a:xfrm>
              <a:off x="5975075" y="5444418"/>
              <a:ext cx="568947"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CC7CEC3B-B3AC-1540-12BE-D104271A3D73}"/>
                </a:ext>
              </a:extLst>
            </p:cNvPr>
            <p:cNvSpPr txBox="1"/>
            <p:nvPr/>
          </p:nvSpPr>
          <p:spPr>
            <a:xfrm>
              <a:off x="5934934" y="5364285"/>
              <a:ext cx="635991"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exec/*.R</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grpSp>
        <p:nvGrpSpPr>
          <p:cNvPr id="30" name="Group 29">
            <a:extLst>
              <a:ext uri="{FF2B5EF4-FFF2-40B4-BE49-F238E27FC236}">
                <a16:creationId xmlns:a16="http://schemas.microsoft.com/office/drawing/2014/main" id="{5349D0E8-8158-6315-5DC8-42C109787C18}"/>
              </a:ext>
            </a:extLst>
          </p:cNvPr>
          <p:cNvGrpSpPr/>
          <p:nvPr/>
        </p:nvGrpSpPr>
        <p:grpSpPr>
          <a:xfrm>
            <a:off x="8771206" y="3066586"/>
            <a:ext cx="422051" cy="305131"/>
            <a:chOff x="6123564" y="5360212"/>
            <a:chExt cx="422051" cy="305131"/>
          </a:xfrm>
        </p:grpSpPr>
        <p:sp>
          <p:nvSpPr>
            <p:cNvPr id="31" name="Rectangle 30">
              <a:extLst>
                <a:ext uri="{FF2B5EF4-FFF2-40B4-BE49-F238E27FC236}">
                  <a16:creationId xmlns:a16="http://schemas.microsoft.com/office/drawing/2014/main" id="{89F1E77A-0E40-1DDA-0586-D57917C51302}"/>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TextBox 31">
              <a:extLst>
                <a:ext uri="{FF2B5EF4-FFF2-40B4-BE49-F238E27FC236}">
                  <a16:creationId xmlns:a16="http://schemas.microsoft.com/office/drawing/2014/main" id="{2316F26A-602F-481D-FE7F-633B3DD6FC59}"/>
                </a:ext>
              </a:extLst>
            </p:cNvPr>
            <p:cNvSpPr txBox="1"/>
            <p:nvPr/>
          </p:nvSpPr>
          <p:spPr>
            <a:xfrm>
              <a:off x="6138426" y="5360212"/>
              <a:ext cx="3859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lang="en-US" sz="1100" dirty="0" err="1"/>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62" name="TextBox 61">
            <a:extLst>
              <a:ext uri="{FF2B5EF4-FFF2-40B4-BE49-F238E27FC236}">
                <a16:creationId xmlns:a16="http://schemas.microsoft.com/office/drawing/2014/main" id="{18515D47-40CF-DB52-F68D-FE11368C0364}"/>
              </a:ext>
            </a:extLst>
          </p:cNvPr>
          <p:cNvSpPr txBox="1"/>
          <p:nvPr/>
        </p:nvSpPr>
        <p:spPr>
          <a:xfrm rot="5400000">
            <a:off x="10147777" y="4291902"/>
            <a:ext cx="34424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dirty="0"/>
              <a:t>. . .</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3" name="TextBox 62">
            <a:extLst>
              <a:ext uri="{FF2B5EF4-FFF2-40B4-BE49-F238E27FC236}">
                <a16:creationId xmlns:a16="http://schemas.microsoft.com/office/drawing/2014/main" id="{F5032CBF-4828-8C4D-6C06-F614757B4CFC}"/>
              </a:ext>
            </a:extLst>
          </p:cNvPr>
          <p:cNvSpPr txBox="1"/>
          <p:nvPr/>
        </p:nvSpPr>
        <p:spPr>
          <a:xfrm rot="5400000">
            <a:off x="10101758" y="6499376"/>
            <a:ext cx="34424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dirty="0"/>
              <a:t>. . .</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261671110"/>
      </p:ext>
    </p:extLst>
  </p:cSld>
  <p:clrMapOvr>
    <a:masterClrMapping/>
  </p:clrMapOvr>
  <p:transition spd="med"/>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4A447-9733-F0DF-7FBD-F9E8C7888A57}"/>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5A9A25A-52AF-3403-744C-E40EF8C7689E}"/>
              </a:ext>
            </a:extLst>
          </p:cNvPr>
          <p:cNvPicPr>
            <a:picLocks noChangeAspect="1"/>
          </p:cNvPicPr>
          <p:nvPr/>
        </p:nvPicPr>
        <p:blipFill>
          <a:blip r:embed="rId4"/>
          <a:stretch>
            <a:fillRect/>
          </a:stretch>
        </p:blipFill>
        <p:spPr>
          <a:xfrm>
            <a:off x="8371568" y="-682083"/>
            <a:ext cx="5598432" cy="2990088"/>
          </a:xfrm>
          <a:prstGeom prst="rect">
            <a:avLst/>
          </a:prstGeom>
          <a:ln w="12700">
            <a:miter lim="400000"/>
          </a:ln>
        </p:spPr>
      </p:pic>
      <p:sp>
        <p:nvSpPr>
          <p:cNvPr id="312" name="Line">
            <a:extLst>
              <a:ext uri="{FF2B5EF4-FFF2-40B4-BE49-F238E27FC236}">
                <a16:creationId xmlns:a16="http://schemas.microsoft.com/office/drawing/2014/main" id="{E4202349-B614-B9D5-928B-CD1A5FCA39F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810DDE6A-D199-1048-9A70-EBF83EE56F3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56B5E8CA-A552-1E9E-395A-1D1A18D84697}"/>
              </a:ext>
            </a:extLst>
          </p:cNvPr>
          <p:cNvSpPr txBox="1"/>
          <p:nvPr/>
        </p:nvSpPr>
        <p:spPr>
          <a:xfrm>
            <a:off x="9576575" y="1453896"/>
            <a:ext cx="13946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Config API</a:t>
            </a:r>
          </a:p>
        </p:txBody>
      </p:sp>
      <p:sp>
        <p:nvSpPr>
          <p:cNvPr id="334" name="Three Column Layout: : CHEAT SHEET">
            <a:extLst>
              <a:ext uri="{FF2B5EF4-FFF2-40B4-BE49-F238E27FC236}">
                <a16:creationId xmlns:a16="http://schemas.microsoft.com/office/drawing/2014/main" id="{A5F7592A-356E-B068-C3B0-2539D0BD4B15}"/>
              </a:ext>
            </a:extLst>
          </p:cNvPr>
          <p:cNvSpPr txBox="1">
            <a:spLocks noGrp="1"/>
          </p:cNvSpPr>
          <p:nvPr>
            <p:ph type="title"/>
          </p:nvPr>
        </p:nvSpPr>
        <p:spPr>
          <a:xfrm>
            <a:off x="275721" y="361177"/>
            <a:ext cx="10898129" cy="803346"/>
          </a:xfrm>
          <a:prstGeom prst="rect">
            <a:avLst/>
          </a:prstGeom>
        </p:spPr>
        <p:txBody>
          <a:bodyPr lIns="0" tIns="0" rIns="0" bIns="0" anchor="t">
            <a:normAutofit/>
          </a:bodyPr>
          <a:lstStyle/>
          <a:p>
            <a:r>
              <a:rPr lang="en-US" dirty="0"/>
              <a:t>Configurations (.</a:t>
            </a:r>
            <a:r>
              <a:rPr lang="en-US" dirty="0" err="1"/>
              <a:t>yml</a:t>
            </a:r>
            <a:r>
              <a:rPr lang="en-US" dirty="0"/>
              <a: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34D0499D-486C-D323-75A9-9D4827924431}"/>
              </a:ext>
            </a:extLst>
          </p:cNvPr>
          <p:cNvSpPr txBox="1"/>
          <p:nvPr/>
        </p:nvSpPr>
        <p:spPr>
          <a:xfrm>
            <a:off x="143526" y="1970497"/>
            <a:ext cx="3949153" cy="18491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err="1">
                <a:solidFill>
                  <a:srgbClr val="000000"/>
                </a:solidFill>
                <a:effectLst/>
                <a:latin typeface="Source Sans Pro" panose="020B0503030403020204" pitchFamily="34" charset="0"/>
                <a:ea typeface="Source Sans Pro" panose="020B0503030403020204" pitchFamily="34" charset="0"/>
              </a:rPr>
              <a:t>Kaiaulu</a:t>
            </a:r>
            <a:r>
              <a:rPr lang="en-US" b="0" i="0" u="none" strike="noStrike" dirty="0">
                <a:solidFill>
                  <a:srgbClr val="000000"/>
                </a:solidFill>
                <a:effectLst/>
                <a:latin typeface="Source Sans Pro" panose="020B0503030403020204" pitchFamily="34" charset="0"/>
                <a:ea typeface="Source Sans Pro" panose="020B0503030403020204" pitchFamily="34" charset="0"/>
              </a:rPr>
              <a:t> uses configuration files to store data parameters that are used to run analyses. Instead of having these values in notebooks or scripts, these configuration files let users reuse the same workflows across different projects and analyses.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By splitting the configurations into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i="0" u="none" strike="noStrike" dirty="0">
                <a:solidFill>
                  <a:srgbClr val="000000"/>
                </a:solidFill>
                <a:effectLst/>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rgbClr val="F07D61"/>
                </a:solidFill>
                <a:latin typeface="Source Sans Pro" panose="020B0503030403020204" pitchFamily="34" charset="0"/>
                <a:ea typeface="Source Sans Pro" panose="020B0503030403020204" pitchFamily="34" charset="0"/>
                <a:sym typeface="Source Sans Pro Light"/>
              </a:rPr>
              <a:t>)</a:t>
            </a:r>
            <a:r>
              <a:rPr lang="en-US" b="0" i="0" u="none" strike="noStrike" dirty="0">
                <a:solidFill>
                  <a:srgbClr val="F07D61"/>
                </a:solidFill>
                <a:effectLst/>
                <a:latin typeface="Source Sans Pro" panose="020B0503030403020204" pitchFamily="34" charset="0"/>
                <a:ea typeface="Source Sans Pro" panose="020B0503030403020204" pitchFamily="34" charset="0"/>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files, it reduces the duplication of data parameters and allows users to mix and match different project and analysis configs.</a:t>
            </a:r>
          </a:p>
        </p:txBody>
      </p:sp>
      <p:sp>
        <p:nvSpPr>
          <p:cNvPr id="384" name="Layout Suggestions">
            <a:extLst>
              <a:ext uri="{FF2B5EF4-FFF2-40B4-BE49-F238E27FC236}">
                <a16:creationId xmlns:a16="http://schemas.microsoft.com/office/drawing/2014/main" id="{B5CBD93E-33D4-70DC-2210-31A4F642549F}"/>
              </a:ext>
            </a:extLst>
          </p:cNvPr>
          <p:cNvSpPr txBox="1"/>
          <p:nvPr/>
        </p:nvSpPr>
        <p:spPr>
          <a:xfrm>
            <a:off x="146304"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2D6B2DD5-CC83-ECDC-9854-6EC9E7776F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B86C2891-FF76-E435-9763-C5F358BA92F4}"/>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Gi Young (Michelle) Back</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 name="Manipulate Variables">
            <a:extLst>
              <a:ext uri="{FF2B5EF4-FFF2-40B4-BE49-F238E27FC236}">
                <a16:creationId xmlns:a16="http://schemas.microsoft.com/office/drawing/2014/main" id="{EB628F8B-3A0E-EBDA-C7A3-454C1FEFE50B}"/>
              </a:ext>
            </a:extLst>
          </p:cNvPr>
          <p:cNvSpPr txBox="1"/>
          <p:nvPr/>
        </p:nvSpPr>
        <p:spPr>
          <a:xfrm>
            <a:off x="4819606" y="1453896"/>
            <a:ext cx="426719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Interchangeable Configurations</a:t>
            </a:r>
          </a:p>
        </p:txBody>
      </p:sp>
      <p:sp>
        <p:nvSpPr>
          <p:cNvPr id="382" name="Logistics">
            <a:extLst>
              <a:ext uri="{FF2B5EF4-FFF2-40B4-BE49-F238E27FC236}">
                <a16:creationId xmlns:a16="http://schemas.microsoft.com/office/drawing/2014/main" id="{83ECAB76-9A6C-A2AA-E4B2-DE6A62CFD8D6}"/>
              </a:ext>
            </a:extLst>
          </p:cNvPr>
          <p:cNvSpPr txBox="1"/>
          <p:nvPr/>
        </p:nvSpPr>
        <p:spPr>
          <a:xfrm>
            <a:off x="146304" y="7137651"/>
            <a:ext cx="302647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Analysis Configuration</a:t>
            </a:r>
          </a:p>
        </p:txBody>
      </p:sp>
      <p:sp>
        <p:nvSpPr>
          <p:cNvPr id="441" name="Use headers, colors, and/or backgrounds to separate or group together sections.">
            <a:extLst>
              <a:ext uri="{FF2B5EF4-FFF2-40B4-BE49-F238E27FC236}">
                <a16:creationId xmlns:a16="http://schemas.microsoft.com/office/drawing/2014/main" id="{A0F30D73-5EAE-A14D-EBD7-8666512BCAAB}"/>
              </a:ext>
            </a:extLst>
          </p:cNvPr>
          <p:cNvSpPr txBox="1"/>
          <p:nvPr/>
        </p:nvSpPr>
        <p:spPr>
          <a:xfrm>
            <a:off x="143525" y="7620809"/>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Users can define in the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 </a:t>
            </a:r>
            <a:r>
              <a:rPr lang="en-US" b="0" dirty="0">
                <a:solidFill>
                  <a:srgbClr val="000000"/>
                </a:solidFill>
                <a:latin typeface="Source Sans Pro" panose="020B0503030403020204" pitchFamily="34" charset="0"/>
                <a:ea typeface="Source Sans Pro" panose="020B0503030403020204" pitchFamily="34" charset="0"/>
                <a:sym typeface="Source Sans Pro Light"/>
              </a:rPr>
              <a:t>configuration files</a:t>
            </a:r>
            <a:r>
              <a:rPr lang="en-US" b="0" dirty="0">
                <a:solidFill>
                  <a:schemeClr val="accent5"/>
                </a:solidFill>
                <a:latin typeface="Source Sans Pro" panose="020B0503030403020204" pitchFamily="34" charset="0"/>
                <a:ea typeface="Source Sans Pro" panose="020B0503030403020204" pitchFamily="34" charset="0"/>
                <a:sym typeface="Source Sans Pro Light"/>
              </a:rPr>
              <a:t> </a:t>
            </a:r>
            <a:r>
              <a:rPr lang="en-US" b="0" i="0" u="none" strike="noStrike" dirty="0">
                <a:solidFill>
                  <a:srgbClr val="000000"/>
                </a:solidFill>
                <a:effectLst/>
                <a:latin typeface="Source Sans Pro" panose="020B0503030403020204" pitchFamily="34" charset="0"/>
                <a:ea typeface="Source Sans Pro" panose="020B0503030403020204" pitchFamily="34" charset="0"/>
              </a:rPr>
              <a:t>filters heuristics and tool parameters (e.g. depends, </a:t>
            </a:r>
            <a:r>
              <a:rPr lang="en-US" b="0" i="0" u="none" strike="noStrike" dirty="0" err="1">
                <a:solidFill>
                  <a:srgbClr val="000000"/>
                </a:solidFill>
                <a:effectLst/>
                <a:latin typeface="Source Sans Pro" panose="020B0503030403020204" pitchFamily="34" charset="0"/>
                <a:ea typeface="Source Sans Pro" panose="020B0503030403020204" pitchFamily="34" charset="0"/>
              </a:rPr>
              <a:t>uctags</a:t>
            </a:r>
            <a:r>
              <a:rPr lang="en-US" b="0" i="0" u="none" strike="noStrike" dirty="0">
                <a:solidFill>
                  <a:srgbClr val="000000"/>
                </a:solidFill>
                <a:effectLst/>
                <a:latin typeface="Source Sans Pro" panose="020B0503030403020204" pitchFamily="34" charset="0"/>
                <a:ea typeface="Source Sans Pro" panose="020B0503030403020204" pitchFamily="34" charset="0"/>
              </a:rPr>
              <a:t>).</a:t>
            </a:r>
          </a:p>
        </p:txBody>
      </p:sp>
      <p:sp>
        <p:nvSpPr>
          <p:cNvPr id="770" name="Use headers, colors, and/or backgrounds to separate or group together sections.">
            <a:extLst>
              <a:ext uri="{FF2B5EF4-FFF2-40B4-BE49-F238E27FC236}">
                <a16:creationId xmlns:a16="http://schemas.microsoft.com/office/drawing/2014/main" id="{94B369A0-7400-EBA9-FB19-92B9BA7C99E7}"/>
              </a:ext>
            </a:extLst>
          </p:cNvPr>
          <p:cNvSpPr txBox="1"/>
          <p:nvPr/>
        </p:nvSpPr>
        <p:spPr>
          <a:xfrm>
            <a:off x="146304" y="9732412"/>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can be reused across different projects and define how data is analyzed.</a:t>
            </a:r>
          </a:p>
        </p:txBody>
      </p:sp>
      <p:sp>
        <p:nvSpPr>
          <p:cNvPr id="773" name="Use headers, colors, and/or backgrounds to separate or group together sections.">
            <a:extLst>
              <a:ext uri="{FF2B5EF4-FFF2-40B4-BE49-F238E27FC236}">
                <a16:creationId xmlns:a16="http://schemas.microsoft.com/office/drawing/2014/main" id="{7D945C34-5C9C-D37D-9DE5-2F2BFD243898}"/>
              </a:ext>
            </a:extLst>
          </p:cNvPr>
          <p:cNvSpPr txBox="1"/>
          <p:nvPr/>
        </p:nvSpPr>
        <p:spPr>
          <a:xfrm>
            <a:off x="4823961" y="7410108"/>
            <a:ext cx="4159162" cy="2347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notebooks (3), configuration files can be found near the beginning of the file. The notebook parses </a:t>
            </a:r>
            <a:r>
              <a:rPr lang="en-US" b="0" dirty="0" err="1">
                <a:solidFill>
                  <a:schemeClr val="accent1"/>
                </a:solidFill>
                <a:latin typeface="Source Sans Pro" panose="020B0503030403020204" pitchFamily="34" charset="0"/>
                <a:ea typeface="Source Sans Pro" panose="020B0503030403020204" pitchFamily="34" charset="0"/>
              </a:rPr>
              <a:t>project.yml</a:t>
            </a:r>
            <a:r>
              <a:rPr lang="en-US" b="0" dirty="0">
                <a:solidFill>
                  <a:schemeClr val="accent1"/>
                </a:solidFill>
                <a:latin typeface="Source Sans Pro" panose="020B0503030403020204" pitchFamily="34" charset="0"/>
                <a:ea typeface="Source Sans Pro" panose="020B0503030403020204" pitchFamily="34" charset="0"/>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rPr>
              <a:t>analysis.yml</a:t>
            </a:r>
            <a:r>
              <a:rPr lang="en-US" b="0" dirty="0">
                <a:solidFill>
                  <a:schemeClr val="accent4"/>
                </a:solidFill>
                <a:latin typeface="Source Sans Pro" panose="020B0503030403020204" pitchFamily="34" charset="0"/>
                <a:ea typeface="Source Sans Pro" panose="020B0503030403020204" pitchFamily="34" charset="0"/>
              </a:rPr>
              <a:t> (2</a:t>
            </a:r>
            <a:r>
              <a:rPr lang="en-US" b="0" dirty="0">
                <a:solidFill>
                  <a:schemeClr val="accent5"/>
                </a:solidFill>
                <a:latin typeface="Source Sans Pro" panose="020B0503030403020204" pitchFamily="34" charset="0"/>
                <a:ea typeface="Source Sans Pro" panose="020B0503030403020204" pitchFamily="34" charset="0"/>
              </a:rPr>
              <a:t>)</a:t>
            </a:r>
            <a:r>
              <a:rPr lang="en-US" b="0" dirty="0">
                <a:solidFill>
                  <a:srgbClr val="000000"/>
                </a:solidFill>
                <a:latin typeface="Source Sans Pro" panose="020B0503030403020204" pitchFamily="34" charset="0"/>
                <a:ea typeface="Source Sans Pro" panose="020B0503030403020204" pitchFamily="34" charset="0"/>
              </a:rPr>
              <a:t> files and gets the values of the parameters with get functions. This allows users to modify parameters in the .</a:t>
            </a:r>
            <a:r>
              <a:rPr lang="en-US" b="0" dirty="0" err="1">
                <a:solidFill>
                  <a:srgbClr val="000000"/>
                </a:solidFill>
                <a:latin typeface="Source Sans Pro" panose="020B0503030403020204" pitchFamily="34" charset="0"/>
                <a:ea typeface="Source Sans Pro" panose="020B0503030403020204" pitchFamily="34" charset="0"/>
              </a:rPr>
              <a:t>yml</a:t>
            </a:r>
            <a:r>
              <a:rPr lang="en-US" b="0" dirty="0">
                <a:solidFill>
                  <a:srgbClr val="000000"/>
                </a:solidFill>
                <a:latin typeface="Source Sans Pro" panose="020B0503030403020204" pitchFamily="34" charset="0"/>
                <a:ea typeface="Source Sans Pro" panose="020B0503030403020204" pitchFamily="34" charset="0"/>
              </a:rPr>
              <a:t> files instead of the notebooks.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the executables (4), both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files are passed directly as arguments through the command line. The script runs the selected configuration without modification. Although using executables makes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a:t>
            </a:r>
            <a:r>
              <a:rPr lang="en-US" b="0" dirty="0">
                <a:solidFill>
                  <a:schemeClr val="accent1"/>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solidFill>
                  <a:srgbClr val="000000"/>
                </a:solidFill>
                <a:latin typeface="Source Sans Pro" panose="020B0503030403020204" pitchFamily="34" charset="0"/>
                <a:ea typeface="Source Sans Pro" panose="020B0503030403020204" pitchFamily="34" charset="0"/>
              </a:rPr>
              <a:t>files fixed during execution, the advantages of using executables versus notebooks are that they can run on server side and do not require knowledge of R. </a:t>
            </a:r>
          </a:p>
        </p:txBody>
      </p:sp>
      <p:sp>
        <p:nvSpPr>
          <p:cNvPr id="3" name="Use headers, colors, and/or backgrounds to separate or group together sections.">
            <a:extLst>
              <a:ext uri="{FF2B5EF4-FFF2-40B4-BE49-F238E27FC236}">
                <a16:creationId xmlns:a16="http://schemas.microsoft.com/office/drawing/2014/main" id="{31257C4A-E684-2365-E2BC-251C16D27EFA}"/>
              </a:ext>
            </a:extLst>
          </p:cNvPr>
          <p:cNvSpPr txBox="1"/>
          <p:nvPr/>
        </p:nvSpPr>
        <p:spPr>
          <a:xfrm>
            <a:off x="4823961" y="1975104"/>
            <a:ext cx="4159162"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files (1) </a:t>
            </a:r>
            <a:r>
              <a:rPr lang="en-US" b="0" dirty="0">
                <a:solidFill>
                  <a:srgbClr val="000000"/>
                </a:solidFill>
                <a:latin typeface="Source Sans Pro" panose="020B0503030403020204" pitchFamily="34" charset="0"/>
                <a:ea typeface="Source Sans Pro" panose="020B0503030403020204" pitchFamily="34" charset="0"/>
                <a:sym typeface="Source Sans Pro Light"/>
              </a:rPr>
              <a:t>are combined with any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files (2)</a:t>
            </a:r>
            <a:r>
              <a:rPr lang="en-US" b="0" dirty="0">
                <a:solidFill>
                  <a:srgbClr val="000000"/>
                </a:solidFill>
                <a:latin typeface="Source Sans Pro" panose="020B0503030403020204" pitchFamily="34" charset="0"/>
                <a:ea typeface="Source Sans Pro" panose="020B0503030403020204" pitchFamily="34" charset="0"/>
                <a:sym typeface="Source Sans Pro Light"/>
              </a:rPr>
              <a:t>. This allows users to run the same analysis on multiple projects or run different analyses on the same project, reducing duplication of configuration sections. The combined configuration can be used both in notebooks and scripts.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744" name="Rectangle 743">
            <a:extLst>
              <a:ext uri="{FF2B5EF4-FFF2-40B4-BE49-F238E27FC236}">
                <a16:creationId xmlns:a16="http://schemas.microsoft.com/office/drawing/2014/main" id="{9B3158A5-C8C0-3960-ACFA-55DD296007FB}"/>
              </a:ext>
            </a:extLst>
          </p:cNvPr>
          <p:cNvSpPr/>
          <p:nvPr/>
        </p:nvSpPr>
        <p:spPr>
          <a:xfrm>
            <a:off x="4888883" y="3142989"/>
            <a:ext cx="4304374"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746" name="Group 745">
            <a:extLst>
              <a:ext uri="{FF2B5EF4-FFF2-40B4-BE49-F238E27FC236}">
                <a16:creationId xmlns:a16="http://schemas.microsoft.com/office/drawing/2014/main" id="{89B6EEE1-018C-FC38-24B7-792CD3F900A2}"/>
              </a:ext>
            </a:extLst>
          </p:cNvPr>
          <p:cNvGrpSpPr/>
          <p:nvPr/>
        </p:nvGrpSpPr>
        <p:grpSpPr>
          <a:xfrm>
            <a:off x="5004262" y="3455902"/>
            <a:ext cx="1697185" cy="1138162"/>
            <a:chOff x="2066366" y="1358812"/>
            <a:chExt cx="4087905" cy="2741421"/>
          </a:xfrm>
        </p:grpSpPr>
        <p:sp>
          <p:nvSpPr>
            <p:cNvPr id="340" name="Rectangle 339">
              <a:extLst>
                <a:ext uri="{FF2B5EF4-FFF2-40B4-BE49-F238E27FC236}">
                  <a16:creationId xmlns:a16="http://schemas.microsoft.com/office/drawing/2014/main" id="{E602EE5A-8206-9074-2926-DA1FD542450C}"/>
                </a:ext>
              </a:extLst>
            </p:cNvPr>
            <p:cNvSpPr/>
            <p:nvPr/>
          </p:nvSpPr>
          <p:spPr>
            <a:xfrm>
              <a:off x="3245226" y="1385928"/>
              <a:ext cx="1716740" cy="748836"/>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3" name="Rectangle 342">
              <a:extLst>
                <a:ext uri="{FF2B5EF4-FFF2-40B4-BE49-F238E27FC236}">
                  <a16:creationId xmlns:a16="http://schemas.microsoft.com/office/drawing/2014/main" id="{F70B8215-0FD2-0EDE-0E3E-E509EDDE30BC}"/>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Rectangle 343">
              <a:extLst>
                <a:ext uri="{FF2B5EF4-FFF2-40B4-BE49-F238E27FC236}">
                  <a16:creationId xmlns:a16="http://schemas.microsoft.com/office/drawing/2014/main" id="{3AC9D4C3-6512-44C4-5D74-3F2470A812A2}"/>
                </a:ext>
              </a:extLst>
            </p:cNvPr>
            <p:cNvSpPr/>
            <p:nvPr/>
          </p:nvSpPr>
          <p:spPr>
            <a:xfrm>
              <a:off x="4437531"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345" name="Connector: Curved 344">
              <a:extLst>
                <a:ext uri="{FF2B5EF4-FFF2-40B4-BE49-F238E27FC236}">
                  <a16:creationId xmlns:a16="http://schemas.microsoft.com/office/drawing/2014/main" id="{E373C75E-D92C-F544-B6D3-EFA96A09AAA5}"/>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6" name="Connector: Curved 345">
              <a:extLst>
                <a:ext uri="{FF2B5EF4-FFF2-40B4-BE49-F238E27FC236}">
                  <a16:creationId xmlns:a16="http://schemas.microsoft.com/office/drawing/2014/main" id="{86A3A7B8-7721-5025-02CE-E333FADD70E4}"/>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7" name="Connector: Curved 346">
              <a:extLst>
                <a:ext uri="{FF2B5EF4-FFF2-40B4-BE49-F238E27FC236}">
                  <a16:creationId xmlns:a16="http://schemas.microsoft.com/office/drawing/2014/main" id="{CEE97725-C260-6436-FCFB-8C84B5D51560}"/>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48" name="TextBox 347">
              <a:extLst>
                <a:ext uri="{FF2B5EF4-FFF2-40B4-BE49-F238E27FC236}">
                  <a16:creationId xmlns:a16="http://schemas.microsoft.com/office/drawing/2014/main" id="{E2EEA11D-A2B5-C694-48BB-A881C29DEE70}"/>
                </a:ext>
              </a:extLst>
            </p:cNvPr>
            <p:cNvSpPr txBox="1"/>
            <p:nvPr/>
          </p:nvSpPr>
          <p:spPr>
            <a:xfrm>
              <a:off x="3358162" y="1358812"/>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project1</a:t>
              </a:r>
            </a:p>
          </p:txBody>
        </p:sp>
        <p:sp>
          <p:nvSpPr>
            <p:cNvPr id="349" name="TextBox 348">
              <a:extLst>
                <a:ext uri="{FF2B5EF4-FFF2-40B4-BE49-F238E27FC236}">
                  <a16:creationId xmlns:a16="http://schemas.microsoft.com/office/drawing/2014/main" id="{835469BE-5762-264A-E38A-2F27DB563014}"/>
                </a:ext>
              </a:extLst>
            </p:cNvPr>
            <p:cNvSpPr txBox="1"/>
            <p:nvPr/>
          </p:nvSpPr>
          <p:spPr>
            <a:xfrm>
              <a:off x="4515898"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project2</a:t>
              </a:r>
            </a:p>
          </p:txBody>
        </p:sp>
        <p:sp>
          <p:nvSpPr>
            <p:cNvPr id="350" name="TextBox 349">
              <a:extLst>
                <a:ext uri="{FF2B5EF4-FFF2-40B4-BE49-F238E27FC236}">
                  <a16:creationId xmlns:a16="http://schemas.microsoft.com/office/drawing/2014/main" id="{88DB1894-95FA-122B-F84D-3DE224A9F68F}"/>
                </a:ext>
              </a:extLst>
            </p:cNvPr>
            <p:cNvSpPr txBox="1"/>
            <p:nvPr/>
          </p:nvSpPr>
          <p:spPr>
            <a:xfrm>
              <a:off x="2165860" y="2711961"/>
              <a:ext cx="1520289"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project3</a:t>
              </a:r>
            </a:p>
          </p:txBody>
        </p:sp>
      </p:grpSp>
      <p:grpSp>
        <p:nvGrpSpPr>
          <p:cNvPr id="747" name="Group 746">
            <a:extLst>
              <a:ext uri="{FF2B5EF4-FFF2-40B4-BE49-F238E27FC236}">
                <a16:creationId xmlns:a16="http://schemas.microsoft.com/office/drawing/2014/main" id="{E10507AE-00EA-1C63-4E58-235334F4B94B}"/>
              </a:ext>
            </a:extLst>
          </p:cNvPr>
          <p:cNvGrpSpPr/>
          <p:nvPr/>
        </p:nvGrpSpPr>
        <p:grpSpPr>
          <a:xfrm>
            <a:off x="7380403" y="3428080"/>
            <a:ext cx="1706397" cy="1161233"/>
            <a:chOff x="2066366" y="1303242"/>
            <a:chExt cx="4110093" cy="2796991"/>
          </a:xfrm>
        </p:grpSpPr>
        <p:sp>
          <p:nvSpPr>
            <p:cNvPr id="330" name="Rectangle 329">
              <a:extLst>
                <a:ext uri="{FF2B5EF4-FFF2-40B4-BE49-F238E27FC236}">
                  <a16:creationId xmlns:a16="http://schemas.microsoft.com/office/drawing/2014/main" id="{F625E1E5-3D8B-1EA1-D22C-04DBB203BBF4}"/>
                </a:ext>
              </a:extLst>
            </p:cNvPr>
            <p:cNvSpPr/>
            <p:nvPr/>
          </p:nvSpPr>
          <p:spPr>
            <a:xfrm>
              <a:off x="3245225" y="1317812"/>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1" name="Rectangle 330">
              <a:extLst>
                <a:ext uri="{FF2B5EF4-FFF2-40B4-BE49-F238E27FC236}">
                  <a16:creationId xmlns:a16="http://schemas.microsoft.com/office/drawing/2014/main" id="{011F07CE-DD26-4FA8-4419-3882B510BFD5}"/>
                </a:ext>
              </a:extLst>
            </p:cNvPr>
            <p:cNvSpPr/>
            <p:nvPr/>
          </p:nvSpPr>
          <p:spPr>
            <a:xfrm>
              <a:off x="2066366" y="2736478"/>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C5D94FAD-BD91-78C8-C41C-4B3A221EF4AA}"/>
                </a:ext>
              </a:extLst>
            </p:cNvPr>
            <p:cNvSpPr/>
            <p:nvPr/>
          </p:nvSpPr>
          <p:spPr>
            <a:xfrm>
              <a:off x="4437531" y="2736479"/>
              <a:ext cx="1716740" cy="757519"/>
            </a:xfrm>
            <a:prstGeom prst="rect">
              <a:avLst/>
            </a:prstGeom>
            <a:ln w="22225">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3" name="Connector: Curved 332">
              <a:extLst>
                <a:ext uri="{FF2B5EF4-FFF2-40B4-BE49-F238E27FC236}">
                  <a16:creationId xmlns:a16="http://schemas.microsoft.com/office/drawing/2014/main" id="{9EB60F85-5FD3-683A-D852-00C49BDE9F04}"/>
                </a:ext>
              </a:extLst>
            </p:cNvPr>
            <p:cNvCxnSpPr/>
            <p:nvPr/>
          </p:nvCxnSpPr>
          <p:spPr>
            <a:xfrm rot="16200000" flipH="1">
              <a:off x="5248836" y="1901640"/>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5" name="Connector: Curved 334">
              <a:extLst>
                <a:ext uri="{FF2B5EF4-FFF2-40B4-BE49-F238E27FC236}">
                  <a16:creationId xmlns:a16="http://schemas.microsoft.com/office/drawing/2014/main" id="{CE1C19A1-231A-57A8-1CB4-409C530AFE80}"/>
                </a:ext>
              </a:extLst>
            </p:cNvPr>
            <p:cNvCxnSpPr>
              <a:cxnSpLocks/>
            </p:cNvCxnSpPr>
            <p:nvPr/>
          </p:nvCxnSpPr>
          <p:spPr>
            <a:xfrm rot="10800000" flipH="1">
              <a:off x="2458571" y="1926294"/>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6" name="Connector: Curved 335">
              <a:extLst>
                <a:ext uri="{FF2B5EF4-FFF2-40B4-BE49-F238E27FC236}">
                  <a16:creationId xmlns:a16="http://schemas.microsoft.com/office/drawing/2014/main" id="{92D7BB3B-6E3A-B8FC-E1A3-9C2FC8F9E9AE}"/>
                </a:ext>
              </a:extLst>
            </p:cNvPr>
            <p:cNvCxnSpPr>
              <a:cxnSpLocks/>
            </p:cNvCxnSpPr>
            <p:nvPr/>
          </p:nvCxnSpPr>
          <p:spPr>
            <a:xfrm rot="2700000" flipH="1">
              <a:off x="3827930" y="3595968"/>
              <a:ext cx="551330" cy="457200"/>
            </a:xfrm>
            <a:prstGeom prst="curvedConnector3">
              <a:avLst>
                <a:gd name="adj1" fmla="val -1219"/>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37" name="TextBox 336">
              <a:extLst>
                <a:ext uri="{FF2B5EF4-FFF2-40B4-BE49-F238E27FC236}">
                  <a16:creationId xmlns:a16="http://schemas.microsoft.com/office/drawing/2014/main" id="{214ADF31-789A-FEC1-1E02-45840991A1E4}"/>
                </a:ext>
              </a:extLst>
            </p:cNvPr>
            <p:cNvSpPr txBox="1"/>
            <p:nvPr/>
          </p:nvSpPr>
          <p:spPr>
            <a:xfrm>
              <a:off x="3287235" y="1303242"/>
              <a:ext cx="1674731"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analysisA</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338" name="TextBox 337">
              <a:extLst>
                <a:ext uri="{FF2B5EF4-FFF2-40B4-BE49-F238E27FC236}">
                  <a16:creationId xmlns:a16="http://schemas.microsoft.com/office/drawing/2014/main" id="{B92BB6DA-C049-58F0-7CBF-66C03A1705C4}"/>
                </a:ext>
              </a:extLst>
            </p:cNvPr>
            <p:cNvSpPr txBox="1"/>
            <p:nvPr/>
          </p:nvSpPr>
          <p:spPr>
            <a:xfrm>
              <a:off x="4490145" y="2721834"/>
              <a:ext cx="1686314"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analysisB</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A181F184-14F7-E7FE-408A-B2E7C5568B81}"/>
                </a:ext>
              </a:extLst>
            </p:cNvPr>
            <p:cNvSpPr txBox="1"/>
            <p:nvPr/>
          </p:nvSpPr>
          <p:spPr>
            <a:xfrm>
              <a:off x="2093191" y="2703454"/>
              <a:ext cx="1678592" cy="7349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err="1">
                  <a:ln>
                    <a:noFill/>
                  </a:ln>
                  <a:solidFill>
                    <a:schemeClr val="accent4"/>
                  </a:solidFill>
                  <a:effectLst/>
                  <a:uFillTx/>
                  <a:latin typeface="Source Sans Pro"/>
                  <a:ea typeface="Source Sans Pro"/>
                  <a:cs typeface="Source Sans Pro"/>
                  <a:sym typeface="Source Sans Pro"/>
                </a:rPr>
                <a:t>analysisC</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cxnSp>
        <p:nvCxnSpPr>
          <p:cNvPr id="748" name="Straight Connector 747">
            <a:extLst>
              <a:ext uri="{FF2B5EF4-FFF2-40B4-BE49-F238E27FC236}">
                <a16:creationId xmlns:a16="http://schemas.microsoft.com/office/drawing/2014/main" id="{12209888-512B-3D37-B719-1BA5CB4B0949}"/>
              </a:ext>
            </a:extLst>
          </p:cNvPr>
          <p:cNvCxnSpPr/>
          <p:nvPr/>
        </p:nvCxnSpPr>
        <p:spPr>
          <a:xfrm>
            <a:off x="7048823" y="3771426"/>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53" name="Straight Connector 752">
            <a:extLst>
              <a:ext uri="{FF2B5EF4-FFF2-40B4-BE49-F238E27FC236}">
                <a16:creationId xmlns:a16="http://schemas.microsoft.com/office/drawing/2014/main" id="{F2DE6B91-022F-343B-2A7B-A3C7E3A30F7D}"/>
              </a:ext>
            </a:extLst>
          </p:cNvPr>
          <p:cNvCxnSpPr>
            <a:cxnSpLocks/>
          </p:cNvCxnSpPr>
          <p:nvPr/>
        </p:nvCxnSpPr>
        <p:spPr>
          <a:xfrm rot="5400000">
            <a:off x="7048823" y="3780267"/>
            <a:ext cx="0" cy="32324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62" name="Rectangle 761">
            <a:extLst>
              <a:ext uri="{FF2B5EF4-FFF2-40B4-BE49-F238E27FC236}">
                <a16:creationId xmlns:a16="http://schemas.microsoft.com/office/drawing/2014/main" id="{A5CCB213-A2DA-D5AB-931F-521681D809E7}"/>
              </a:ext>
            </a:extLst>
          </p:cNvPr>
          <p:cNvSpPr/>
          <p:nvPr/>
        </p:nvSpPr>
        <p:spPr>
          <a:xfrm>
            <a:off x="7670369" y="6084901"/>
            <a:ext cx="1521295" cy="914400"/>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63" name="TextBox 762">
            <a:extLst>
              <a:ext uri="{FF2B5EF4-FFF2-40B4-BE49-F238E27FC236}">
                <a16:creationId xmlns:a16="http://schemas.microsoft.com/office/drawing/2014/main" id="{DF5D3B46-F51A-4387-3EDC-3BB42439ABC8}"/>
              </a:ext>
            </a:extLst>
          </p:cNvPr>
          <p:cNvSpPr txBox="1"/>
          <p:nvPr/>
        </p:nvSpPr>
        <p:spPr>
          <a:xfrm>
            <a:off x="7760791" y="6280406"/>
            <a:ext cx="1521294" cy="6693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&gt; </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Rscript</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exec/</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git.R</a:t>
            </a: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 </a:t>
            </a:r>
            <a:r>
              <a:rPr kumimoji="0" lang="en-US" sz="1100" b="1" i="0" u="none" strike="noStrike" cap="none" spc="0" normalizeH="0" baseline="0" dirty="0">
                <a:ln>
                  <a:noFill/>
                </a:ln>
                <a:solidFill>
                  <a:schemeClr val="accent1"/>
                </a:solidFill>
                <a:effectLst/>
                <a:uFillTx/>
                <a:latin typeface="Source Sans Pro"/>
                <a:ea typeface="Source Sans Pro"/>
                <a:cs typeface="Source Sans Pro"/>
                <a:sym typeface="Source Sans Pro"/>
              </a:rPr>
              <a:t>project1.yml</a:t>
            </a:r>
          </a:p>
          <a:p>
            <a:pPr marL="0" marR="0" indent="0" algn="l" defTabSz="584200" rtl="0" fontAlgn="auto" latinLnBrk="0" hangingPunct="0">
              <a:lnSpc>
                <a:spcPct val="100000"/>
              </a:lnSpc>
              <a:spcBef>
                <a:spcPts val="200"/>
              </a:spcBef>
              <a:spcAft>
                <a:spcPts val="0"/>
              </a:spcAft>
              <a:buClrTx/>
              <a:buSzTx/>
              <a:buFontTx/>
              <a:buNone/>
              <a:tabLst/>
            </a:pPr>
            <a:r>
              <a:rPr lang="en-US" sz="1100" dirty="0" err="1">
                <a:solidFill>
                  <a:schemeClr val="accent4"/>
                </a:solidFill>
              </a:rPr>
              <a:t>analysisB.yml</a:t>
            </a:r>
            <a:endParaRPr kumimoji="0" lang="en-US" sz="11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764" name="TextBox 763">
            <a:extLst>
              <a:ext uri="{FF2B5EF4-FFF2-40B4-BE49-F238E27FC236}">
                <a16:creationId xmlns:a16="http://schemas.microsoft.com/office/drawing/2014/main" id="{7FDBFA87-5232-7FB5-B3BD-746E252F1B02}"/>
              </a:ext>
            </a:extLst>
          </p:cNvPr>
          <p:cNvSpPr txBox="1"/>
          <p:nvPr/>
        </p:nvSpPr>
        <p:spPr>
          <a:xfrm rot="5400000">
            <a:off x="5900417" y="5738103"/>
            <a:ext cx="20202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1"/>
                </a:solidFill>
              </a:rPr>
              <a:t>project1.yml </a:t>
            </a:r>
            <a:r>
              <a:rPr lang="en-US" sz="1000" dirty="0"/>
              <a:t>+ </a:t>
            </a:r>
            <a:r>
              <a:rPr lang="en-US" sz="1000" dirty="0" err="1">
                <a:solidFill>
                  <a:schemeClr val="accent4"/>
                </a:solidFill>
              </a:rPr>
              <a:t>analysisB.yml</a:t>
            </a:r>
            <a:endParaRPr kumimoji="0" lang="en-US" sz="10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cxnSp>
        <p:nvCxnSpPr>
          <p:cNvPr id="765" name="Straight Arrow Connector 764">
            <a:extLst>
              <a:ext uri="{FF2B5EF4-FFF2-40B4-BE49-F238E27FC236}">
                <a16:creationId xmlns:a16="http://schemas.microsoft.com/office/drawing/2014/main" id="{4B66B5A9-ED42-8041-1680-C61FD163DDFD}"/>
              </a:ext>
            </a:extLst>
          </p:cNvPr>
          <p:cNvCxnSpPr>
            <a:cxnSpLocks/>
          </p:cNvCxnSpPr>
          <p:nvPr/>
        </p:nvCxnSpPr>
        <p:spPr>
          <a:xfrm flipH="1">
            <a:off x="8353527" y="4850630"/>
            <a:ext cx="11317" cy="1206985"/>
          </a:xfrm>
          <a:prstGeom prst="straightConnector1">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67" name="TextBox 766">
            <a:extLst>
              <a:ext uri="{FF2B5EF4-FFF2-40B4-BE49-F238E27FC236}">
                <a16:creationId xmlns:a16="http://schemas.microsoft.com/office/drawing/2014/main" id="{098B02A7-97AC-86F3-1AD2-9D4A2D6B9854}"/>
              </a:ext>
            </a:extLst>
          </p:cNvPr>
          <p:cNvSpPr txBox="1"/>
          <p:nvPr/>
        </p:nvSpPr>
        <p:spPr>
          <a:xfrm>
            <a:off x="5067865" y="330726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(1)</a:t>
            </a:r>
          </a:p>
        </p:txBody>
      </p:sp>
      <p:sp>
        <p:nvSpPr>
          <p:cNvPr id="322" name="TextBox 321">
            <a:extLst>
              <a:ext uri="{FF2B5EF4-FFF2-40B4-BE49-F238E27FC236}">
                <a16:creationId xmlns:a16="http://schemas.microsoft.com/office/drawing/2014/main" id="{1647B78A-07D9-CBE2-2366-24B41CA0DAF8}"/>
              </a:ext>
            </a:extLst>
          </p:cNvPr>
          <p:cNvSpPr txBox="1"/>
          <p:nvPr/>
        </p:nvSpPr>
        <p:spPr>
          <a:xfrm>
            <a:off x="7639590" y="5720835"/>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(4)</a:t>
            </a:r>
          </a:p>
        </p:txBody>
      </p:sp>
      <p:sp>
        <p:nvSpPr>
          <p:cNvPr id="351" name="TextBox 350">
            <a:extLst>
              <a:ext uri="{FF2B5EF4-FFF2-40B4-BE49-F238E27FC236}">
                <a16:creationId xmlns:a16="http://schemas.microsoft.com/office/drawing/2014/main" id="{B4136D1A-40A8-258F-C1DC-140410F8865F}"/>
              </a:ext>
            </a:extLst>
          </p:cNvPr>
          <p:cNvSpPr txBox="1"/>
          <p:nvPr/>
        </p:nvSpPr>
        <p:spPr>
          <a:xfrm>
            <a:off x="7318687" y="3286519"/>
            <a:ext cx="297758"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(2)</a:t>
            </a:r>
          </a:p>
        </p:txBody>
      </p:sp>
      <p:sp>
        <p:nvSpPr>
          <p:cNvPr id="352" name="TextBox 351">
            <a:extLst>
              <a:ext uri="{FF2B5EF4-FFF2-40B4-BE49-F238E27FC236}">
                <a16:creationId xmlns:a16="http://schemas.microsoft.com/office/drawing/2014/main" id="{108FA6D4-2044-55A8-08D4-3EFA5E076E14}"/>
              </a:ext>
            </a:extLst>
          </p:cNvPr>
          <p:cNvSpPr txBox="1"/>
          <p:nvPr/>
        </p:nvSpPr>
        <p:spPr>
          <a:xfrm>
            <a:off x="4819295" y="5120751"/>
            <a:ext cx="280124"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(3)</a:t>
            </a:r>
          </a:p>
        </p:txBody>
      </p:sp>
      <p:sp>
        <p:nvSpPr>
          <p:cNvPr id="784" name="TextBox 783">
            <a:extLst>
              <a:ext uri="{FF2B5EF4-FFF2-40B4-BE49-F238E27FC236}">
                <a16:creationId xmlns:a16="http://schemas.microsoft.com/office/drawing/2014/main" id="{02810255-4D29-85B0-F8B6-998DAE7BB24D}"/>
              </a:ext>
            </a:extLst>
          </p:cNvPr>
          <p:cNvSpPr txBox="1"/>
          <p:nvPr/>
        </p:nvSpPr>
        <p:spPr>
          <a:xfrm rot="5400000">
            <a:off x="7872368" y="5454017"/>
            <a:ext cx="1453851"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solidFill>
                  <a:schemeClr val="accent1"/>
                </a:solidFill>
              </a:rPr>
              <a:t>project1.yml </a:t>
            </a:r>
            <a:r>
              <a:rPr lang="en-US" sz="1000" dirty="0"/>
              <a:t>+ </a:t>
            </a:r>
            <a:r>
              <a:rPr lang="en-US" sz="1000" dirty="0" err="1">
                <a:solidFill>
                  <a:schemeClr val="accent4"/>
                </a:solidFill>
              </a:rPr>
              <a:t>analysisB.yml</a:t>
            </a:r>
            <a:endParaRPr kumimoji="0" lang="en-US" sz="10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nvGrpSpPr>
          <p:cNvPr id="51" name="Group 50">
            <a:extLst>
              <a:ext uri="{FF2B5EF4-FFF2-40B4-BE49-F238E27FC236}">
                <a16:creationId xmlns:a16="http://schemas.microsoft.com/office/drawing/2014/main" id="{5FC19CC4-E6EA-BDE2-59AC-95CF1DAD4A7B}"/>
              </a:ext>
            </a:extLst>
          </p:cNvPr>
          <p:cNvGrpSpPr/>
          <p:nvPr/>
        </p:nvGrpSpPr>
        <p:grpSpPr>
          <a:xfrm>
            <a:off x="258236" y="8605681"/>
            <a:ext cx="964670" cy="583658"/>
            <a:chOff x="373334" y="8333642"/>
            <a:chExt cx="964670" cy="583658"/>
          </a:xfrm>
        </p:grpSpPr>
        <p:grpSp>
          <p:nvGrpSpPr>
            <p:cNvPr id="37" name="Google Shape;359;p18">
              <a:extLst>
                <a:ext uri="{FF2B5EF4-FFF2-40B4-BE49-F238E27FC236}">
                  <a16:creationId xmlns:a16="http://schemas.microsoft.com/office/drawing/2014/main" id="{0943C4FF-D770-63C3-F855-2F13218C4903}"/>
                </a:ext>
              </a:extLst>
            </p:cNvPr>
            <p:cNvGrpSpPr/>
            <p:nvPr/>
          </p:nvGrpSpPr>
          <p:grpSpPr>
            <a:xfrm>
              <a:off x="373334" y="8364964"/>
              <a:ext cx="896341" cy="552336"/>
              <a:chOff x="3007175" y="1757600"/>
              <a:chExt cx="307200" cy="189300"/>
            </a:xfrm>
          </p:grpSpPr>
          <p:sp>
            <p:nvSpPr>
              <p:cNvPr id="38" name="Google Shape;360;p18">
                <a:extLst>
                  <a:ext uri="{FF2B5EF4-FFF2-40B4-BE49-F238E27FC236}">
                    <a16:creationId xmlns:a16="http://schemas.microsoft.com/office/drawing/2014/main" id="{C0B5B9DF-DB23-5047-8FB6-D58DBBDA2484}"/>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 name="Google Shape;364;p18">
                <a:extLst>
                  <a:ext uri="{FF2B5EF4-FFF2-40B4-BE49-F238E27FC236}">
                    <a16:creationId xmlns:a16="http://schemas.microsoft.com/office/drawing/2014/main" id="{563AD2F0-3E20-3064-159E-89245376AA9B}"/>
                  </a:ext>
                </a:extLst>
              </p:cNvPr>
              <p:cNvCxnSpPr>
                <a:cxnSpLocks/>
              </p:cNvCxnSpPr>
              <p:nvPr/>
            </p:nvCxnSpPr>
            <p:spPr>
              <a:xfrm>
                <a:off x="3042981" y="1800281"/>
                <a:ext cx="146367" cy="0"/>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5" name="Google Shape;360;p18">
              <a:extLst>
                <a:ext uri="{FF2B5EF4-FFF2-40B4-BE49-F238E27FC236}">
                  <a16:creationId xmlns:a16="http://schemas.microsoft.com/office/drawing/2014/main" id="{C5A792AF-C434-237A-7E40-063AB5AA791B}"/>
                </a:ext>
              </a:extLst>
            </p:cNvPr>
            <p:cNvSpPr/>
            <p:nvPr/>
          </p:nvSpPr>
          <p:spPr>
            <a:xfrm>
              <a:off x="477807" y="8613965"/>
              <a:ext cx="493743" cy="209988"/>
            </a:xfrm>
            <a:prstGeom prst="rect">
              <a:avLst/>
            </a:prstGeom>
            <a:noFill/>
            <a:ln w="9525" cap="flat" cmpd="sng">
              <a:solidFill>
                <a:schemeClr val="dk2"/>
              </a:solidFill>
              <a:prstDash val="sys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 name="Google Shape;360;p18">
              <a:extLst>
                <a:ext uri="{FF2B5EF4-FFF2-40B4-BE49-F238E27FC236}">
                  <a16:creationId xmlns:a16="http://schemas.microsoft.com/office/drawing/2014/main" id="{D77AFD11-5273-E82B-00FD-9AD15044E5AC}"/>
                </a:ext>
              </a:extLst>
            </p:cNvPr>
            <p:cNvSpPr/>
            <p:nvPr/>
          </p:nvSpPr>
          <p:spPr>
            <a:xfrm>
              <a:off x="1041533" y="8374368"/>
              <a:ext cx="220891" cy="11513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Use headers, colors, and/or backgrounds to separate or group together sections.">
              <a:extLst>
                <a:ext uri="{FF2B5EF4-FFF2-40B4-BE49-F238E27FC236}">
                  <a16:creationId xmlns:a16="http://schemas.microsoft.com/office/drawing/2014/main" id="{B213FB4B-DAB5-BDCC-46C5-722EFC8B94C1}"/>
                </a:ext>
              </a:extLst>
            </p:cNvPr>
            <p:cNvSpPr txBox="1"/>
            <p:nvPr/>
          </p:nvSpPr>
          <p:spPr>
            <a:xfrm>
              <a:off x="1015243" y="8333642"/>
              <a:ext cx="322761" cy="193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600" b="0" dirty="0">
                  <a:solidFill>
                    <a:srgbClr val="000000"/>
                  </a:solidFill>
                  <a:latin typeface="Source Sans Pro" panose="020B0503030403020204" pitchFamily="34" charset="0"/>
                  <a:ea typeface="Source Sans Pro" panose="020B0503030403020204" pitchFamily="34" charset="0"/>
                </a:rPr>
                <a:t>.</a:t>
              </a:r>
              <a:r>
                <a:rPr lang="en-US" sz="600" b="0" i="0" u="none" strike="noStrike" dirty="0" err="1">
                  <a:solidFill>
                    <a:srgbClr val="000000"/>
                  </a:solidFill>
                  <a:effectLst/>
                  <a:latin typeface="Source Sans Pro" panose="020B0503030403020204" pitchFamily="34" charset="0"/>
                  <a:ea typeface="Source Sans Pro" panose="020B0503030403020204" pitchFamily="34" charset="0"/>
                </a:rPr>
                <a:t>Rmd</a:t>
              </a:r>
              <a:endParaRPr lang="en-US" sz="600" b="0" i="0" u="none" strike="noStrike" dirty="0">
                <a:solidFill>
                  <a:srgbClr val="000000"/>
                </a:solidFill>
                <a:effectLst/>
                <a:latin typeface="Source Sans Pro" panose="020B0503030403020204" pitchFamily="34" charset="0"/>
                <a:ea typeface="Source Sans Pro" panose="020B0503030403020204" pitchFamily="34" charset="0"/>
              </a:endParaRPr>
            </a:p>
          </p:txBody>
        </p:sp>
      </p:grpSp>
      <p:grpSp>
        <p:nvGrpSpPr>
          <p:cNvPr id="453" name="Group 452">
            <a:extLst>
              <a:ext uri="{FF2B5EF4-FFF2-40B4-BE49-F238E27FC236}">
                <a16:creationId xmlns:a16="http://schemas.microsoft.com/office/drawing/2014/main" id="{44EFC067-1028-AB5D-4F7D-DAF65D734670}"/>
              </a:ext>
            </a:extLst>
          </p:cNvPr>
          <p:cNvGrpSpPr/>
          <p:nvPr/>
        </p:nvGrpSpPr>
        <p:grpSpPr>
          <a:xfrm>
            <a:off x="3168463" y="9104597"/>
            <a:ext cx="454677" cy="518380"/>
            <a:chOff x="3012598" y="8405060"/>
            <a:chExt cx="454677" cy="518380"/>
          </a:xfrm>
        </p:grpSpPr>
        <p:sp>
          <p:nvSpPr>
            <p:cNvPr id="454" name="Oval 453">
              <a:extLst>
                <a:ext uri="{FF2B5EF4-FFF2-40B4-BE49-F238E27FC236}">
                  <a16:creationId xmlns:a16="http://schemas.microsoft.com/office/drawing/2014/main" id="{DFB182D6-C447-AB33-B054-4EE04346F5F3}"/>
                </a:ext>
              </a:extLst>
            </p:cNvPr>
            <p:cNvSpPr/>
            <p:nvPr/>
          </p:nvSpPr>
          <p:spPr>
            <a:xfrm>
              <a:off x="3017271" y="8405060"/>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Oval 454">
              <a:extLst>
                <a:ext uri="{FF2B5EF4-FFF2-40B4-BE49-F238E27FC236}">
                  <a16:creationId xmlns:a16="http://schemas.microsoft.com/office/drawing/2014/main" id="{052A7BC3-EC89-EFE3-BBE8-EA212E32A665}"/>
                </a:ext>
              </a:extLst>
            </p:cNvPr>
            <p:cNvSpPr/>
            <p:nvPr/>
          </p:nvSpPr>
          <p:spPr>
            <a:xfrm>
              <a:off x="3012598" y="8787923"/>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6" name="Oval 455">
              <a:extLst>
                <a:ext uri="{FF2B5EF4-FFF2-40B4-BE49-F238E27FC236}">
                  <a16:creationId xmlns:a16="http://schemas.microsoft.com/office/drawing/2014/main" id="{94910CCB-022F-DC97-BC16-EE91EF947AC3}"/>
                </a:ext>
              </a:extLst>
            </p:cNvPr>
            <p:cNvSpPr/>
            <p:nvPr/>
          </p:nvSpPr>
          <p:spPr>
            <a:xfrm>
              <a:off x="3316893" y="8568992"/>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59" name="Straight Connector 458">
              <a:extLst>
                <a:ext uri="{FF2B5EF4-FFF2-40B4-BE49-F238E27FC236}">
                  <a16:creationId xmlns:a16="http://schemas.microsoft.com/office/drawing/2014/main" id="{1A9DC0AF-E793-8151-12C0-1B84F5352AF9}"/>
                </a:ext>
              </a:extLst>
            </p:cNvPr>
            <p:cNvCxnSpPr>
              <a:cxnSpLocks/>
              <a:stCxn id="454" idx="5"/>
              <a:endCxn id="456" idx="3"/>
            </p:cNvCxnSpPr>
            <p:nvPr/>
          </p:nvCxnSpPr>
          <p:spPr>
            <a:xfrm>
              <a:off x="3145630" y="8520731"/>
              <a:ext cx="193286" cy="16393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0" name="Straight Connector 459">
              <a:extLst>
                <a:ext uri="{FF2B5EF4-FFF2-40B4-BE49-F238E27FC236}">
                  <a16:creationId xmlns:a16="http://schemas.microsoft.com/office/drawing/2014/main" id="{A12193EF-28BB-82E3-AC86-1AF01F9D75D0}"/>
                </a:ext>
              </a:extLst>
            </p:cNvPr>
            <p:cNvCxnSpPr>
              <a:cxnSpLocks/>
              <a:stCxn id="455" idx="7"/>
              <a:endCxn id="456" idx="3"/>
            </p:cNvCxnSpPr>
            <p:nvPr/>
          </p:nvCxnSpPr>
          <p:spPr>
            <a:xfrm flipV="1">
              <a:off x="3140957" y="8684663"/>
              <a:ext cx="197959" cy="1231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507" name="TextBox 506">
            <a:extLst>
              <a:ext uri="{FF2B5EF4-FFF2-40B4-BE49-F238E27FC236}">
                <a16:creationId xmlns:a16="http://schemas.microsoft.com/office/drawing/2014/main" id="{F39800CC-A7BB-BDB7-8153-2FA8B169DE3F}"/>
              </a:ext>
            </a:extLst>
          </p:cNvPr>
          <p:cNvSpPr txBox="1"/>
          <p:nvPr/>
        </p:nvSpPr>
        <p:spPr>
          <a:xfrm>
            <a:off x="1239919" y="8221059"/>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0365C0"/>
                </a:solidFill>
              </a:rPr>
              <a:t>project1.yml </a:t>
            </a:r>
            <a:r>
              <a:rPr lang="en-US" sz="900" dirty="0"/>
              <a:t>+ </a:t>
            </a:r>
            <a:r>
              <a:rPr lang="en-US" sz="900" dirty="0" err="1">
                <a:solidFill>
                  <a:schemeClr val="accent4"/>
                </a:solidFill>
              </a:rPr>
              <a:t>analysisA.yml</a:t>
            </a:r>
            <a:endParaRPr kumimoji="0" lang="en-US" sz="9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sp>
        <p:nvSpPr>
          <p:cNvPr id="508" name="TextBox 507">
            <a:extLst>
              <a:ext uri="{FF2B5EF4-FFF2-40B4-BE49-F238E27FC236}">
                <a16:creationId xmlns:a16="http://schemas.microsoft.com/office/drawing/2014/main" id="{75D2919D-4252-340D-995B-E3F6A6C5C277}"/>
              </a:ext>
            </a:extLst>
          </p:cNvPr>
          <p:cNvSpPr txBox="1"/>
          <p:nvPr/>
        </p:nvSpPr>
        <p:spPr>
          <a:xfrm>
            <a:off x="1261172" y="9336054"/>
            <a:ext cx="2020270" cy="274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0365C0"/>
                </a:solidFill>
              </a:rPr>
              <a:t>project1.yml </a:t>
            </a:r>
            <a:r>
              <a:rPr lang="en-US" sz="900" dirty="0"/>
              <a:t>+ </a:t>
            </a:r>
            <a:r>
              <a:rPr lang="en-US" sz="900" dirty="0" err="1">
                <a:solidFill>
                  <a:schemeClr val="accent4"/>
                </a:solidFill>
              </a:rPr>
              <a:t>analysisB.yml</a:t>
            </a:r>
            <a:endParaRPr kumimoji="0" lang="en-US" sz="900" b="1" i="0" u="none" strike="noStrike" cap="none" spc="0" normalizeH="0" baseline="0" dirty="0">
              <a:ln>
                <a:noFill/>
              </a:ln>
              <a:solidFill>
                <a:schemeClr val="accent4"/>
              </a:solidFill>
              <a:effectLst/>
              <a:uFillTx/>
              <a:latin typeface="Source Sans Pro"/>
              <a:ea typeface="Source Sans Pro"/>
              <a:cs typeface="Source Sans Pro"/>
              <a:sym typeface="Source Sans Pro"/>
            </a:endParaRPr>
          </a:p>
        </p:txBody>
      </p:sp>
      <p:grpSp>
        <p:nvGrpSpPr>
          <p:cNvPr id="272" name="Group 271">
            <a:extLst>
              <a:ext uri="{FF2B5EF4-FFF2-40B4-BE49-F238E27FC236}">
                <a16:creationId xmlns:a16="http://schemas.microsoft.com/office/drawing/2014/main" id="{20A47B80-459B-35B1-D707-EB8FAB4B412C}"/>
              </a:ext>
            </a:extLst>
          </p:cNvPr>
          <p:cNvGrpSpPr/>
          <p:nvPr/>
        </p:nvGrpSpPr>
        <p:grpSpPr>
          <a:xfrm>
            <a:off x="2919985" y="8370103"/>
            <a:ext cx="883368" cy="555353"/>
            <a:chOff x="2847879" y="8375813"/>
            <a:chExt cx="883368" cy="555353"/>
          </a:xfrm>
        </p:grpSpPr>
        <p:sp>
          <p:nvSpPr>
            <p:cNvPr id="273" name="Oval 272">
              <a:extLst>
                <a:ext uri="{FF2B5EF4-FFF2-40B4-BE49-F238E27FC236}">
                  <a16:creationId xmlns:a16="http://schemas.microsoft.com/office/drawing/2014/main" id="{5D6E4BCC-6485-113D-37A4-00AC482EE5C9}"/>
                </a:ext>
              </a:extLst>
            </p:cNvPr>
            <p:cNvSpPr/>
            <p:nvPr/>
          </p:nvSpPr>
          <p:spPr>
            <a:xfrm>
              <a:off x="2847879" y="8727890"/>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4" name="Oval 273">
              <a:extLst>
                <a:ext uri="{FF2B5EF4-FFF2-40B4-BE49-F238E27FC236}">
                  <a16:creationId xmlns:a16="http://schemas.microsoft.com/office/drawing/2014/main" id="{BED3AE82-7C78-A773-7BBA-8F72CF23B0FE}"/>
                </a:ext>
              </a:extLst>
            </p:cNvPr>
            <p:cNvSpPr/>
            <p:nvPr/>
          </p:nvSpPr>
          <p:spPr>
            <a:xfrm>
              <a:off x="3278436" y="8795649"/>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5" name="Oval 274">
              <a:extLst>
                <a:ext uri="{FF2B5EF4-FFF2-40B4-BE49-F238E27FC236}">
                  <a16:creationId xmlns:a16="http://schemas.microsoft.com/office/drawing/2014/main" id="{B3EC4C99-371F-1C07-C6B7-998CD19D07A0}"/>
                </a:ext>
              </a:extLst>
            </p:cNvPr>
            <p:cNvSpPr/>
            <p:nvPr/>
          </p:nvSpPr>
          <p:spPr>
            <a:xfrm>
              <a:off x="3173314" y="8416186"/>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6" name="Oval 275">
              <a:extLst>
                <a:ext uri="{FF2B5EF4-FFF2-40B4-BE49-F238E27FC236}">
                  <a16:creationId xmlns:a16="http://schemas.microsoft.com/office/drawing/2014/main" id="{6D1998BD-9BFD-99C4-226D-D22D72FFCE73}"/>
                </a:ext>
              </a:extLst>
            </p:cNvPr>
            <p:cNvSpPr/>
            <p:nvPr/>
          </p:nvSpPr>
          <p:spPr>
            <a:xfrm>
              <a:off x="3580865" y="8375813"/>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7" name="Oval 276">
              <a:extLst>
                <a:ext uri="{FF2B5EF4-FFF2-40B4-BE49-F238E27FC236}">
                  <a16:creationId xmlns:a16="http://schemas.microsoft.com/office/drawing/2014/main" id="{F1A0DD9A-8635-7452-010D-129CF482E628}"/>
                </a:ext>
              </a:extLst>
            </p:cNvPr>
            <p:cNvSpPr/>
            <p:nvPr/>
          </p:nvSpPr>
          <p:spPr>
            <a:xfrm>
              <a:off x="3460024" y="8623561"/>
              <a:ext cx="150382" cy="135517"/>
            </a:xfrm>
            <a:prstGeom prst="ellipse">
              <a:avLst/>
            </a:prstGeom>
            <a:solidFill>
              <a:schemeClr val="tx1">
                <a:lumMod val="50000"/>
              </a:schemeClr>
            </a:solidFill>
            <a:ln w="12700" cap="flat">
              <a:solidFill>
                <a:srgbClr val="0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8" name="Straight Connector 277">
              <a:extLst>
                <a:ext uri="{FF2B5EF4-FFF2-40B4-BE49-F238E27FC236}">
                  <a16:creationId xmlns:a16="http://schemas.microsoft.com/office/drawing/2014/main" id="{937DCC13-AA4A-5E55-C22C-E52A4F8583B5}"/>
                </a:ext>
              </a:extLst>
            </p:cNvPr>
            <p:cNvCxnSpPr>
              <a:cxnSpLocks/>
              <a:stCxn id="273" idx="7"/>
              <a:endCxn id="275" idx="3"/>
            </p:cNvCxnSpPr>
            <p:nvPr/>
          </p:nvCxnSpPr>
          <p:spPr>
            <a:xfrm flipV="1">
              <a:off x="2976238" y="8531857"/>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Connector 278">
              <a:extLst>
                <a:ext uri="{FF2B5EF4-FFF2-40B4-BE49-F238E27FC236}">
                  <a16:creationId xmlns:a16="http://schemas.microsoft.com/office/drawing/2014/main" id="{2DAD31A8-7ACC-0ABD-178A-7C9CCBE99C8D}"/>
                </a:ext>
              </a:extLst>
            </p:cNvPr>
            <p:cNvCxnSpPr>
              <a:cxnSpLocks/>
              <a:stCxn id="274" idx="0"/>
              <a:endCxn id="275" idx="4"/>
            </p:cNvCxnSpPr>
            <p:nvPr/>
          </p:nvCxnSpPr>
          <p:spPr>
            <a:xfrm flipH="1" flipV="1">
              <a:off x="3248505" y="8551703"/>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Connector 279">
              <a:extLst>
                <a:ext uri="{FF2B5EF4-FFF2-40B4-BE49-F238E27FC236}">
                  <a16:creationId xmlns:a16="http://schemas.microsoft.com/office/drawing/2014/main" id="{C8DA3178-367B-4B44-DCB5-CB09178C4FD2}"/>
                </a:ext>
              </a:extLst>
            </p:cNvPr>
            <p:cNvCxnSpPr>
              <a:cxnSpLocks/>
              <a:stCxn id="276" idx="2"/>
              <a:endCxn id="275" idx="6"/>
            </p:cNvCxnSpPr>
            <p:nvPr/>
          </p:nvCxnSpPr>
          <p:spPr>
            <a:xfrm flipH="1">
              <a:off x="3323696" y="8443572"/>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Connector 280">
              <a:extLst>
                <a:ext uri="{FF2B5EF4-FFF2-40B4-BE49-F238E27FC236}">
                  <a16:creationId xmlns:a16="http://schemas.microsoft.com/office/drawing/2014/main" id="{142BCDB3-64F6-9C0A-C63A-B8FE28BCC9E4}"/>
                </a:ext>
              </a:extLst>
            </p:cNvPr>
            <p:cNvCxnSpPr>
              <a:cxnSpLocks/>
              <a:stCxn id="277" idx="0"/>
              <a:endCxn id="276" idx="4"/>
            </p:cNvCxnSpPr>
            <p:nvPr/>
          </p:nvCxnSpPr>
          <p:spPr>
            <a:xfrm flipV="1">
              <a:off x="3535215" y="8511330"/>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cxnSp>
        <p:nvCxnSpPr>
          <p:cNvPr id="306" name="Connector: Elbow 305">
            <a:extLst>
              <a:ext uri="{FF2B5EF4-FFF2-40B4-BE49-F238E27FC236}">
                <a16:creationId xmlns:a16="http://schemas.microsoft.com/office/drawing/2014/main" id="{9FFE3408-98A9-ABD6-1A8C-5049517BCA89}"/>
              </a:ext>
            </a:extLst>
          </p:cNvPr>
          <p:cNvCxnSpPr>
            <a:stCxn id="45" idx="0"/>
          </p:cNvCxnSpPr>
          <p:nvPr/>
        </p:nvCxnSpPr>
        <p:spPr>
          <a:xfrm rot="5400000" flipH="1" flipV="1">
            <a:off x="1617671" y="7477686"/>
            <a:ext cx="400229" cy="2416409"/>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08" name="Connector: Elbow 307">
            <a:extLst>
              <a:ext uri="{FF2B5EF4-FFF2-40B4-BE49-F238E27FC236}">
                <a16:creationId xmlns:a16="http://schemas.microsoft.com/office/drawing/2014/main" id="{6782C6F6-305B-CEFF-6C02-E491AB822A88}"/>
              </a:ext>
            </a:extLst>
          </p:cNvPr>
          <p:cNvCxnSpPr>
            <a:cxnSpLocks/>
            <a:stCxn id="45" idx="2"/>
          </p:cNvCxnSpPr>
          <p:nvPr/>
        </p:nvCxnSpPr>
        <p:spPr>
          <a:xfrm rot="16200000" flipH="1">
            <a:off x="1672379" y="8033194"/>
            <a:ext cx="266698" cy="2392294"/>
          </a:xfrm>
          <a:prstGeom prst="bentConnector2">
            <a:avLst/>
          </a:prstGeom>
          <a:noFill/>
          <a:ln w="127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54" name="Rectangle 753">
            <a:extLst>
              <a:ext uri="{FF2B5EF4-FFF2-40B4-BE49-F238E27FC236}">
                <a16:creationId xmlns:a16="http://schemas.microsoft.com/office/drawing/2014/main" id="{2C2CB05A-62A5-7C07-B875-37BB6C4A293F}"/>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755" name="TextBox 754">
            <a:extLst>
              <a:ext uri="{FF2B5EF4-FFF2-40B4-BE49-F238E27FC236}">
                <a16:creationId xmlns:a16="http://schemas.microsoft.com/office/drawing/2014/main" id="{77723FA1-C410-9CD4-5772-B2FB875FEDDF}"/>
              </a:ext>
            </a:extLst>
          </p:cNvPr>
          <p:cNvSpPr txBox="1"/>
          <p:nvPr/>
        </p:nvSpPr>
        <p:spPr>
          <a:xfrm>
            <a:off x="5004262" y="5454123"/>
            <a:ext cx="898883"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Introduction</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756" name="Straight Connector 755">
            <a:extLst>
              <a:ext uri="{FF2B5EF4-FFF2-40B4-BE49-F238E27FC236}">
                <a16:creationId xmlns:a16="http://schemas.microsoft.com/office/drawing/2014/main" id="{6954E3FD-89E4-3ADA-94DE-6F579DD3AC70}"/>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 name="Group 1">
            <a:extLst>
              <a:ext uri="{FF2B5EF4-FFF2-40B4-BE49-F238E27FC236}">
                <a16:creationId xmlns:a16="http://schemas.microsoft.com/office/drawing/2014/main" id="{B2395398-B53A-5716-0B47-F440D7ABE86E}"/>
              </a:ext>
            </a:extLst>
          </p:cNvPr>
          <p:cNvGrpSpPr/>
          <p:nvPr/>
        </p:nvGrpSpPr>
        <p:grpSpPr>
          <a:xfrm>
            <a:off x="5428649" y="5853301"/>
            <a:ext cx="10229" cy="217570"/>
            <a:chOff x="5239518" y="5808063"/>
            <a:chExt cx="10229" cy="217570"/>
          </a:xfrm>
        </p:grpSpPr>
        <p:sp>
          <p:nvSpPr>
            <p:cNvPr id="327" name="Oval 326">
              <a:extLst>
                <a:ext uri="{FF2B5EF4-FFF2-40B4-BE49-F238E27FC236}">
                  <a16:creationId xmlns:a16="http://schemas.microsoft.com/office/drawing/2014/main" id="{5C474DA5-22A4-FD7F-DB40-85DED77070B5}"/>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1B83AB55-F67A-7B58-D989-987796FADB6F}"/>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7CE0ECCE-2553-E5EA-2F06-47678C6612D3}"/>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758" name="TextBox 757">
            <a:extLst>
              <a:ext uri="{FF2B5EF4-FFF2-40B4-BE49-F238E27FC236}">
                <a16:creationId xmlns:a16="http://schemas.microsoft.com/office/drawing/2014/main" id="{24F278AC-81C3-6D02-4543-61584B8A2A3F}"/>
              </a:ext>
            </a:extLst>
          </p:cNvPr>
          <p:cNvSpPr txBox="1"/>
          <p:nvPr/>
        </p:nvSpPr>
        <p:spPr>
          <a:xfrm>
            <a:off x="4988388" y="6009558"/>
            <a:ext cx="974225"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Configuration</a:t>
            </a:r>
          </a:p>
        </p:txBody>
      </p:sp>
      <p:sp>
        <p:nvSpPr>
          <p:cNvPr id="759" name="Rectangle 758">
            <a:extLst>
              <a:ext uri="{FF2B5EF4-FFF2-40B4-BE49-F238E27FC236}">
                <a16:creationId xmlns:a16="http://schemas.microsoft.com/office/drawing/2014/main" id="{F695007F-68D1-8D2E-CB07-C498134D64BA}"/>
              </a:ext>
            </a:extLst>
          </p:cNvPr>
          <p:cNvSpPr/>
          <p:nvPr/>
        </p:nvSpPr>
        <p:spPr>
          <a:xfrm>
            <a:off x="4985662" y="6289146"/>
            <a:ext cx="1109116" cy="448997"/>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nvGrpSpPr>
          <p:cNvPr id="15" name="Group 14">
            <a:extLst>
              <a:ext uri="{FF2B5EF4-FFF2-40B4-BE49-F238E27FC236}">
                <a16:creationId xmlns:a16="http://schemas.microsoft.com/office/drawing/2014/main" id="{53F308AB-9D3A-2069-5DA4-4594ABADD71F}"/>
              </a:ext>
            </a:extLst>
          </p:cNvPr>
          <p:cNvGrpSpPr/>
          <p:nvPr/>
        </p:nvGrpSpPr>
        <p:grpSpPr>
          <a:xfrm>
            <a:off x="6114802" y="5367513"/>
            <a:ext cx="440596" cy="305131"/>
            <a:chOff x="6105019" y="5367513"/>
            <a:chExt cx="440596" cy="305131"/>
          </a:xfrm>
        </p:grpSpPr>
        <p:sp>
          <p:nvSpPr>
            <p:cNvPr id="782" name="Rectangle 781">
              <a:extLst>
                <a:ext uri="{FF2B5EF4-FFF2-40B4-BE49-F238E27FC236}">
                  <a16:creationId xmlns:a16="http://schemas.microsoft.com/office/drawing/2014/main" id="{A461C73D-778D-A549-F5A9-989DF56C8F45}"/>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3" name="TextBox 782">
              <a:extLst>
                <a:ext uri="{FF2B5EF4-FFF2-40B4-BE49-F238E27FC236}">
                  <a16:creationId xmlns:a16="http://schemas.microsoft.com/office/drawing/2014/main" id="{3A31293D-B3DF-6783-B7EF-019DDF564C50}"/>
                </a:ext>
              </a:extLst>
            </p:cNvPr>
            <p:cNvSpPr txBox="1"/>
            <p:nvPr/>
          </p:nvSpPr>
          <p:spPr>
            <a:xfrm>
              <a:off x="6105019" y="5367513"/>
              <a:ext cx="4388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Rmd</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6" name="TextBox 5">
            <a:extLst>
              <a:ext uri="{FF2B5EF4-FFF2-40B4-BE49-F238E27FC236}">
                <a16:creationId xmlns:a16="http://schemas.microsoft.com/office/drawing/2014/main" id="{0EC76585-B2C7-F59D-3DB6-43FC688B82BE}"/>
              </a:ext>
            </a:extLst>
          </p:cNvPr>
          <p:cNvSpPr txBox="1"/>
          <p:nvPr/>
        </p:nvSpPr>
        <p:spPr>
          <a:xfrm>
            <a:off x="5050888" y="6291845"/>
            <a:ext cx="987111" cy="40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800" dirty="0"/>
              <a:t>g</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et(</a:t>
            </a:r>
            <a:r>
              <a:rPr lang="en-US" sz="800" dirty="0">
                <a:solidFill>
                  <a:schemeClr val="accent1"/>
                </a:solidFill>
              </a:rPr>
              <a:t>project1.yml</a:t>
            </a: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r>
              <a:rPr lang="en-US" sz="800" dirty="0"/>
              <a:t>get (</a:t>
            </a:r>
            <a:r>
              <a:rPr lang="en-US" sz="800" dirty="0" err="1">
                <a:solidFill>
                  <a:schemeClr val="accent4"/>
                </a:solidFill>
              </a:rPr>
              <a:t>analysisB.yml</a:t>
            </a:r>
            <a:r>
              <a:rPr lang="en-US" sz="800" dirty="0"/>
              <a: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 name="Group 3">
            <a:extLst>
              <a:ext uri="{FF2B5EF4-FFF2-40B4-BE49-F238E27FC236}">
                <a16:creationId xmlns:a16="http://schemas.microsoft.com/office/drawing/2014/main" id="{907BB7D8-321F-A2DE-1DF7-EAB100370367}"/>
              </a:ext>
            </a:extLst>
          </p:cNvPr>
          <p:cNvGrpSpPr/>
          <p:nvPr/>
        </p:nvGrpSpPr>
        <p:grpSpPr>
          <a:xfrm>
            <a:off x="5419505" y="6817298"/>
            <a:ext cx="10229" cy="217570"/>
            <a:chOff x="5239518" y="5808063"/>
            <a:chExt cx="10229" cy="217570"/>
          </a:xfrm>
        </p:grpSpPr>
        <p:sp>
          <p:nvSpPr>
            <p:cNvPr id="11" name="Oval 10">
              <a:extLst>
                <a:ext uri="{FF2B5EF4-FFF2-40B4-BE49-F238E27FC236}">
                  <a16:creationId xmlns:a16="http://schemas.microsoft.com/office/drawing/2014/main" id="{E0BFA792-BC24-9AC9-4B1C-969217D6CCC2}"/>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 name="Oval 12">
              <a:extLst>
                <a:ext uri="{FF2B5EF4-FFF2-40B4-BE49-F238E27FC236}">
                  <a16:creationId xmlns:a16="http://schemas.microsoft.com/office/drawing/2014/main" id="{40730ACA-D53D-1A52-495F-CA00A11244DF}"/>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 name="Oval 13">
              <a:extLst>
                <a:ext uri="{FF2B5EF4-FFF2-40B4-BE49-F238E27FC236}">
                  <a16:creationId xmlns:a16="http://schemas.microsoft.com/office/drawing/2014/main" id="{6BBAA29F-58B8-1DC2-5986-03D618C8B714}"/>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761" name="Connector: Elbow 760">
            <a:extLst>
              <a:ext uri="{FF2B5EF4-FFF2-40B4-BE49-F238E27FC236}">
                <a16:creationId xmlns:a16="http://schemas.microsoft.com/office/drawing/2014/main" id="{C9CBCC5C-1061-49E1-8E7B-FB3530E3BC17}"/>
              </a:ext>
            </a:extLst>
          </p:cNvPr>
          <p:cNvCxnSpPr>
            <a:cxnSpLocks/>
          </p:cNvCxnSpPr>
          <p:nvPr/>
        </p:nvCxnSpPr>
        <p:spPr>
          <a:xfrm rot="5400000">
            <a:off x="5586507" y="5335816"/>
            <a:ext cx="1701384" cy="664359"/>
          </a:xfrm>
          <a:prstGeom prst="bentConnector2">
            <a:avLst/>
          </a:prstGeom>
          <a:noFill/>
          <a:ln w="2222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16" name="Group 15">
            <a:extLst>
              <a:ext uri="{FF2B5EF4-FFF2-40B4-BE49-F238E27FC236}">
                <a16:creationId xmlns:a16="http://schemas.microsoft.com/office/drawing/2014/main" id="{6321178A-1CDC-F620-88B2-85D8E139718F}"/>
              </a:ext>
            </a:extLst>
          </p:cNvPr>
          <p:cNvGrpSpPr/>
          <p:nvPr/>
        </p:nvGrpSpPr>
        <p:grpSpPr>
          <a:xfrm>
            <a:off x="8582576" y="6009558"/>
            <a:ext cx="635991" cy="305131"/>
            <a:chOff x="5934934" y="5364285"/>
            <a:chExt cx="635991" cy="305131"/>
          </a:xfrm>
        </p:grpSpPr>
        <p:sp>
          <p:nvSpPr>
            <p:cNvPr id="23" name="Rectangle 22">
              <a:extLst>
                <a:ext uri="{FF2B5EF4-FFF2-40B4-BE49-F238E27FC236}">
                  <a16:creationId xmlns:a16="http://schemas.microsoft.com/office/drawing/2014/main" id="{59392E39-F461-EADB-3CD7-F0748FC6AC1F}"/>
                </a:ext>
              </a:extLst>
            </p:cNvPr>
            <p:cNvSpPr/>
            <p:nvPr/>
          </p:nvSpPr>
          <p:spPr>
            <a:xfrm>
              <a:off x="5975075" y="5444418"/>
              <a:ext cx="568947"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2608E326-CE3B-011A-1C71-A4A554358B35}"/>
                </a:ext>
              </a:extLst>
            </p:cNvPr>
            <p:cNvSpPr txBox="1"/>
            <p:nvPr/>
          </p:nvSpPr>
          <p:spPr>
            <a:xfrm>
              <a:off x="5934934" y="5364285"/>
              <a:ext cx="635991"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exec/*.R</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grpSp>
        <p:nvGrpSpPr>
          <p:cNvPr id="30" name="Group 29">
            <a:extLst>
              <a:ext uri="{FF2B5EF4-FFF2-40B4-BE49-F238E27FC236}">
                <a16:creationId xmlns:a16="http://schemas.microsoft.com/office/drawing/2014/main" id="{D0084B93-046A-70EB-6ADA-B3330B49D519}"/>
              </a:ext>
            </a:extLst>
          </p:cNvPr>
          <p:cNvGrpSpPr/>
          <p:nvPr/>
        </p:nvGrpSpPr>
        <p:grpSpPr>
          <a:xfrm>
            <a:off x="8771206" y="3066586"/>
            <a:ext cx="422051" cy="305131"/>
            <a:chOff x="6123564" y="5360212"/>
            <a:chExt cx="422051" cy="305131"/>
          </a:xfrm>
        </p:grpSpPr>
        <p:sp>
          <p:nvSpPr>
            <p:cNvPr id="31" name="Rectangle 30">
              <a:extLst>
                <a:ext uri="{FF2B5EF4-FFF2-40B4-BE49-F238E27FC236}">
                  <a16:creationId xmlns:a16="http://schemas.microsoft.com/office/drawing/2014/main" id="{8D938EFC-8409-988F-0411-26F4657C7123}"/>
                </a:ext>
              </a:extLst>
            </p:cNvPr>
            <p:cNvSpPr/>
            <p:nvPr/>
          </p:nvSpPr>
          <p:spPr>
            <a:xfrm>
              <a:off x="6123564"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TextBox 31">
              <a:extLst>
                <a:ext uri="{FF2B5EF4-FFF2-40B4-BE49-F238E27FC236}">
                  <a16:creationId xmlns:a16="http://schemas.microsoft.com/office/drawing/2014/main" id="{00533DF7-629D-4BCE-B1A8-D12A2FB19D49}"/>
                </a:ext>
              </a:extLst>
            </p:cNvPr>
            <p:cNvSpPr txBox="1"/>
            <p:nvPr/>
          </p:nvSpPr>
          <p:spPr>
            <a:xfrm>
              <a:off x="6138426" y="5360212"/>
              <a:ext cx="385922" cy="3051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lang="en-US" sz="1100" dirty="0" err="1"/>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342" name="Create a visual hierarchy. Help users navigate the page with titles, subtitles, and subsubtitles">
            <a:extLst>
              <a:ext uri="{FF2B5EF4-FFF2-40B4-BE49-F238E27FC236}">
                <a16:creationId xmlns:a16="http://schemas.microsoft.com/office/drawing/2014/main" id="{9B7226A1-42DC-AA92-04E0-51947A78D4E7}"/>
              </a:ext>
            </a:extLst>
          </p:cNvPr>
          <p:cNvSpPr txBox="1"/>
          <p:nvPr/>
        </p:nvSpPr>
        <p:spPr>
          <a:xfrm>
            <a:off x="9584561" y="1975104"/>
            <a:ext cx="4001355"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err="1">
                <a:latin typeface="Source Sans Pro" panose="020B0503030403020204" pitchFamily="34" charset="0"/>
                <a:ea typeface="Source Sans Pro" panose="020B0503030403020204" pitchFamily="34" charset="0"/>
                <a:sym typeface="Source Sans Pro"/>
              </a:rPr>
              <a:t>Kaiaulu</a:t>
            </a:r>
            <a:r>
              <a:rPr lang="en-US" dirty="0">
                <a:latin typeface="Source Sans Pro" panose="020B0503030403020204" pitchFamily="34" charset="0"/>
                <a:ea typeface="Source Sans Pro" panose="020B0503030403020204" pitchFamily="34" charset="0"/>
                <a:sym typeface="Source Sans Pro"/>
              </a:rPr>
              <a:t> uses get functions to extract values from configuration files. </a:t>
            </a:r>
            <a:r>
              <a:rPr lang="en-US" dirty="0">
                <a:latin typeface="Source Sans Pro" panose="020B0503030403020204" pitchFamily="34" charset="0"/>
                <a:ea typeface="Source Sans Pro" panose="020B0503030403020204" pitchFamily="34" charset="0"/>
              </a:rPr>
              <a:t>These functions allow notebooks and executables to access parameters in</a:t>
            </a:r>
            <a:r>
              <a:rPr lang="en-US" b="0" dirty="0">
                <a:solidFill>
                  <a:schemeClr val="accent2"/>
                </a:solidFill>
                <a:latin typeface="Source Sans Pro" panose="020B0503030403020204" pitchFamily="34" charset="0"/>
                <a:ea typeface="Source Sans Pro" panose="020B0503030403020204" pitchFamily="34" charset="0"/>
                <a:sym typeface="Source Sans Pro Light"/>
              </a:rPr>
              <a:t>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(1) </a:t>
            </a:r>
            <a:r>
              <a:rPr lang="en-US" b="0" dirty="0">
                <a:solidFill>
                  <a:srgbClr val="000000"/>
                </a:solidFill>
                <a:latin typeface="Source Sans Pro" panose="020B0503030403020204" pitchFamily="34" charset="0"/>
                <a:ea typeface="Source Sans Pro" panose="020B0503030403020204" pitchFamily="34" charset="0"/>
                <a:sym typeface="Source Sans Pro Light"/>
              </a:rPr>
              <a:t>and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(2</a:t>
            </a:r>
            <a:r>
              <a:rPr lang="en-US" b="0" dirty="0">
                <a:solidFill>
                  <a:schemeClr val="accent5"/>
                </a:solidFill>
                <a:latin typeface="Source Sans Pro" panose="020B0503030403020204" pitchFamily="34" charset="0"/>
                <a:ea typeface="Source Sans Pro" panose="020B0503030403020204" pitchFamily="34" charset="0"/>
                <a:sym typeface="Source Sans Pro Light"/>
              </a:rPr>
              <a:t>)</a:t>
            </a:r>
            <a:r>
              <a:rPr lang="en-US" b="0" dirty="0">
                <a:solidFill>
                  <a:srgbClr val="000000"/>
                </a:solidFill>
                <a:latin typeface="Source Sans Pro" panose="020B0503030403020204" pitchFamily="34" charset="0"/>
                <a:ea typeface="Source Sans Pro" panose="020B0503030403020204" pitchFamily="34" charset="0"/>
                <a:sym typeface="Source Sans Pro Light"/>
              </a:rPr>
              <a:t> files.</a:t>
            </a:r>
            <a:endParaRPr lang="en-US" dirty="0">
              <a:latin typeface="Source Sans Pro" panose="020B0503030403020204" pitchFamily="34" charset="0"/>
              <a:ea typeface="Source Sans Pro" panose="020B0503030403020204" pitchFamily="34" charset="0"/>
              <a:sym typeface="Source Sans Pro"/>
            </a:endParaRPr>
          </a:p>
        </p:txBody>
      </p:sp>
      <p:grpSp>
        <p:nvGrpSpPr>
          <p:cNvPr id="458" name="Group 457">
            <a:extLst>
              <a:ext uri="{FF2B5EF4-FFF2-40B4-BE49-F238E27FC236}">
                <a16:creationId xmlns:a16="http://schemas.microsoft.com/office/drawing/2014/main" id="{4A00928B-8B97-426F-0685-04701F3040F2}"/>
              </a:ext>
            </a:extLst>
          </p:cNvPr>
          <p:cNvGrpSpPr/>
          <p:nvPr/>
        </p:nvGrpSpPr>
        <p:grpSpPr>
          <a:xfrm>
            <a:off x="9573283" y="7232304"/>
            <a:ext cx="4005641" cy="2884696"/>
            <a:chOff x="9576574" y="7041585"/>
            <a:chExt cx="4005641" cy="2884696"/>
          </a:xfrm>
        </p:grpSpPr>
        <p:grpSp>
          <p:nvGrpSpPr>
            <p:cNvPr id="18" name="Group 17">
              <a:extLst>
                <a:ext uri="{FF2B5EF4-FFF2-40B4-BE49-F238E27FC236}">
                  <a16:creationId xmlns:a16="http://schemas.microsoft.com/office/drawing/2014/main" id="{B3C8C87A-16E2-CEC9-EA30-B0C1F2B74AAB}"/>
                </a:ext>
              </a:extLst>
            </p:cNvPr>
            <p:cNvGrpSpPr/>
            <p:nvPr/>
          </p:nvGrpSpPr>
          <p:grpSpPr>
            <a:xfrm>
              <a:off x="9946172" y="8361502"/>
              <a:ext cx="1433010" cy="1503258"/>
              <a:chOff x="4888883" y="5317055"/>
              <a:chExt cx="1667079" cy="1784694"/>
            </a:xfrm>
          </p:grpSpPr>
          <p:sp>
            <p:nvSpPr>
              <p:cNvPr id="19" name="Rectangle 18">
                <a:extLst>
                  <a:ext uri="{FF2B5EF4-FFF2-40B4-BE49-F238E27FC236}">
                    <a16:creationId xmlns:a16="http://schemas.microsoft.com/office/drawing/2014/main" id="{9CDDC352-738A-7E90-8D78-0DE579D8D629}"/>
                  </a:ext>
                </a:extLst>
              </p:cNvPr>
              <p:cNvSpPr/>
              <p:nvPr/>
            </p:nvSpPr>
            <p:spPr>
              <a:xfrm>
                <a:off x="4888883" y="5432478"/>
                <a:ext cx="1667079" cy="1669271"/>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0" name="TextBox 19">
                <a:extLst>
                  <a:ext uri="{FF2B5EF4-FFF2-40B4-BE49-F238E27FC236}">
                    <a16:creationId xmlns:a16="http://schemas.microsoft.com/office/drawing/2014/main" id="{0BB691C3-77BB-5473-2D7B-D1A3A2776E91}"/>
                  </a:ext>
                </a:extLst>
              </p:cNvPr>
              <p:cNvSpPr txBox="1"/>
              <p:nvPr/>
            </p:nvSpPr>
            <p:spPr>
              <a:xfrm>
                <a:off x="4955877" y="5425561"/>
                <a:ext cx="730550"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project:</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1" name="Straight Connector 20">
                <a:extLst>
                  <a:ext uri="{FF2B5EF4-FFF2-40B4-BE49-F238E27FC236}">
                    <a16:creationId xmlns:a16="http://schemas.microsoft.com/office/drawing/2014/main" id="{D573B801-4171-C584-1A62-52161EECE7F5}"/>
                  </a:ext>
                </a:extLst>
              </p:cNvPr>
              <p:cNvCxnSpPr/>
              <p:nvPr/>
            </p:nvCxnSpPr>
            <p:spPr>
              <a:xfrm>
                <a:off x="4955877" y="5750178"/>
                <a:ext cx="1042224" cy="0"/>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22" name="Group 21">
                <a:extLst>
                  <a:ext uri="{FF2B5EF4-FFF2-40B4-BE49-F238E27FC236}">
                    <a16:creationId xmlns:a16="http://schemas.microsoft.com/office/drawing/2014/main" id="{CD24DF2C-BDC6-EB48-2111-FB948C5572BE}"/>
                  </a:ext>
                </a:extLst>
              </p:cNvPr>
              <p:cNvGrpSpPr/>
              <p:nvPr/>
            </p:nvGrpSpPr>
            <p:grpSpPr>
              <a:xfrm>
                <a:off x="5428649" y="5853301"/>
                <a:ext cx="10229" cy="217570"/>
                <a:chOff x="5239518" y="5808063"/>
                <a:chExt cx="10229" cy="217570"/>
              </a:xfrm>
            </p:grpSpPr>
            <p:sp>
              <p:nvSpPr>
                <p:cNvPr id="33" name="Oval 32">
                  <a:extLst>
                    <a:ext uri="{FF2B5EF4-FFF2-40B4-BE49-F238E27FC236}">
                      <a16:creationId xmlns:a16="http://schemas.microsoft.com/office/drawing/2014/main" id="{DD75A6E9-F419-CB68-9266-2F42DA2E1DE9}"/>
                    </a:ext>
                  </a:extLst>
                </p:cNvPr>
                <p:cNvSpPr/>
                <p:nvPr/>
              </p:nvSpPr>
              <p:spPr>
                <a:xfrm>
                  <a:off x="5240602" y="5808063"/>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4" name="Oval 33">
                  <a:extLst>
                    <a:ext uri="{FF2B5EF4-FFF2-40B4-BE49-F238E27FC236}">
                      <a16:creationId xmlns:a16="http://schemas.microsoft.com/office/drawing/2014/main" id="{6EE4159C-901A-8368-01C2-6648D2CD8B4D}"/>
                    </a:ext>
                  </a:extLst>
                </p:cNvPr>
                <p:cNvSpPr/>
                <p:nvPr/>
              </p:nvSpPr>
              <p:spPr>
                <a:xfrm>
                  <a:off x="5239518" y="5912276"/>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5" name="Oval 34">
                  <a:extLst>
                    <a:ext uri="{FF2B5EF4-FFF2-40B4-BE49-F238E27FC236}">
                      <a16:creationId xmlns:a16="http://schemas.microsoft.com/office/drawing/2014/main" id="{2F1C9646-1E69-2CB8-F3FC-A512FD118CFE}"/>
                    </a:ext>
                  </a:extLst>
                </p:cNvPr>
                <p:cNvSpPr/>
                <p:nvPr/>
              </p:nvSpPr>
              <p:spPr>
                <a:xfrm>
                  <a:off x="5240603" y="6016489"/>
                  <a:ext cx="9144" cy="9144"/>
                </a:xfrm>
                <a:prstGeom prst="ellipse">
                  <a:avLst/>
                </a:prstGeom>
                <a:solidFill>
                  <a:schemeClr val="bg2">
                    <a:lumMod val="10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24" name="Rectangle 23">
                <a:extLst>
                  <a:ext uri="{FF2B5EF4-FFF2-40B4-BE49-F238E27FC236}">
                    <a16:creationId xmlns:a16="http://schemas.microsoft.com/office/drawing/2014/main" id="{64C15EEA-F793-5FE0-13D8-D6C21B10A4C9}"/>
                  </a:ext>
                </a:extLst>
              </p:cNvPr>
              <p:cNvSpPr/>
              <p:nvPr/>
            </p:nvSpPr>
            <p:spPr>
              <a:xfrm>
                <a:off x="4985662" y="6197875"/>
                <a:ext cx="1331427" cy="628674"/>
              </a:xfrm>
              <a:prstGeom prst="rect">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5" name="Rectangle 24">
                <a:extLst>
                  <a:ext uri="{FF2B5EF4-FFF2-40B4-BE49-F238E27FC236}">
                    <a16:creationId xmlns:a16="http://schemas.microsoft.com/office/drawing/2014/main" id="{C25EA163-0F8F-BA71-CA7B-5DD3EC5885B5}"/>
                  </a:ext>
                </a:extLst>
              </p:cNvPr>
              <p:cNvSpPr/>
              <p:nvPr/>
            </p:nvSpPr>
            <p:spPr>
              <a:xfrm>
                <a:off x="6133911" y="5436992"/>
                <a:ext cx="422051" cy="190715"/>
              </a:xfrm>
              <a:prstGeom prst="rect">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6" name="TextBox 25">
                <a:extLst>
                  <a:ext uri="{FF2B5EF4-FFF2-40B4-BE49-F238E27FC236}">
                    <a16:creationId xmlns:a16="http://schemas.microsoft.com/office/drawing/2014/main" id="{CFDE54D3-BEA9-A202-E197-7C2DD4E66472}"/>
                  </a:ext>
                </a:extLst>
              </p:cNvPr>
              <p:cNvSpPr txBox="1"/>
              <p:nvPr/>
            </p:nvSpPr>
            <p:spPr>
              <a:xfrm>
                <a:off x="6107003" y="5317055"/>
                <a:ext cx="448959" cy="362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rPr>
                  <a:t>.</a:t>
                </a:r>
                <a:r>
                  <a:rPr kumimoji="0" lang="en-US" sz="1100" b="1"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grpSp>
          <p:nvGrpSpPr>
            <p:cNvPr id="53" name="Group 52">
              <a:extLst>
                <a:ext uri="{FF2B5EF4-FFF2-40B4-BE49-F238E27FC236}">
                  <a16:creationId xmlns:a16="http://schemas.microsoft.com/office/drawing/2014/main" id="{2F0AB0DC-38A7-A37F-77CE-2E045DC3C5BD}"/>
                </a:ext>
              </a:extLst>
            </p:cNvPr>
            <p:cNvGrpSpPr/>
            <p:nvPr/>
          </p:nvGrpSpPr>
          <p:grpSpPr>
            <a:xfrm>
              <a:off x="9576574" y="7041585"/>
              <a:ext cx="4005641" cy="2884696"/>
              <a:chOff x="9576574" y="6956318"/>
              <a:chExt cx="4005641" cy="2884696"/>
            </a:xfrm>
          </p:grpSpPr>
          <p:sp>
            <p:nvSpPr>
              <p:cNvPr id="12" name="TextBox 11">
                <a:extLst>
                  <a:ext uri="{FF2B5EF4-FFF2-40B4-BE49-F238E27FC236}">
                    <a16:creationId xmlns:a16="http://schemas.microsoft.com/office/drawing/2014/main" id="{6EE6285D-C510-1AC4-C24A-1BD0A2E7B862}"/>
                  </a:ext>
                </a:extLst>
              </p:cNvPr>
              <p:cNvSpPr txBox="1"/>
              <p:nvPr/>
            </p:nvSpPr>
            <p:spPr>
              <a:xfrm>
                <a:off x="9576574" y="7370941"/>
                <a:ext cx="3968070"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Temporal parameters in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files (2)</a:t>
                </a:r>
                <a:r>
                  <a:rPr lang="en-US" b="0" dirty="0">
                    <a:solidFill>
                      <a:schemeClr val="accent4"/>
                    </a:solidFill>
                    <a:latin typeface="Source Sans Pro" panose="020B0503030403020204" pitchFamily="34" charset="0"/>
                    <a:ea typeface="Source Sans Pro" panose="020B0503030403020204" pitchFamily="34" charset="0"/>
                  </a:rPr>
                  <a:t> </a:t>
                </a:r>
                <a:r>
                  <a:rPr lang="en-US" b="0" dirty="0">
                    <a:latin typeface="Source Sans Pro" panose="020B0503030403020204" pitchFamily="34" charset="0"/>
                    <a:ea typeface="Source Sans Pro" panose="020B0503030403020204" pitchFamily="34" charset="0"/>
                  </a:rPr>
                  <a:t>allow users to analyze a project over time. This allows users to compare data from different timestamps and observe changes and activity in code structure over time.</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39" name="TextBox 38">
                <a:extLst>
                  <a:ext uri="{FF2B5EF4-FFF2-40B4-BE49-F238E27FC236}">
                    <a16:creationId xmlns:a16="http://schemas.microsoft.com/office/drawing/2014/main" id="{C91DCC45-09F1-A72C-1648-1C320778C03D}"/>
                  </a:ext>
                </a:extLst>
              </p:cNvPr>
              <p:cNvSpPr txBox="1"/>
              <p:nvPr/>
            </p:nvSpPr>
            <p:spPr>
              <a:xfrm>
                <a:off x="10003760" y="9062172"/>
                <a:ext cx="1120499" cy="694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100" dirty="0"/>
                  <a:t> time:</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r>
                  <a:rPr lang="en-US" sz="1100" dirty="0" err="1"/>
                  <a:t>start_commit</a:t>
                </a:r>
                <a:r>
                  <a:rPr lang="en-US" sz="1100" dirty="0"/>
                  <a:t>:</a:t>
                </a:r>
              </a:p>
              <a:p>
                <a:pPr marL="0" marR="0" indent="0" algn="l" defTabSz="584200" rtl="0" fontAlgn="auto" latinLnBrk="0" hangingPunct="0">
                  <a:lnSpc>
                    <a:spcPct val="100000"/>
                  </a:lnSpc>
                  <a:spcBef>
                    <a:spcPts val="200"/>
                  </a:spcBef>
                  <a:spcAft>
                    <a:spcPts val="0"/>
                  </a:spcAft>
                  <a:buClrTx/>
                  <a:buSzTx/>
                  <a:buFontTx/>
                  <a:buNone/>
                  <a:tabLst/>
                </a:pPr>
                <a:r>
                  <a:rPr lang="en-US" sz="1100" dirty="0"/>
                  <a:t>    </a:t>
                </a:r>
                <a:endParaRPr kumimoji="0" lang="en-US" sz="11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Oval 39">
                <a:extLst>
                  <a:ext uri="{FF2B5EF4-FFF2-40B4-BE49-F238E27FC236}">
                    <a16:creationId xmlns:a16="http://schemas.microsoft.com/office/drawing/2014/main" id="{CDC35081-7F43-DF92-02D2-867E1A6AA39E}"/>
                  </a:ext>
                </a:extLst>
              </p:cNvPr>
              <p:cNvSpPr/>
              <p:nvPr/>
            </p:nvSpPr>
            <p:spPr>
              <a:xfrm>
                <a:off x="11877673" y="8136472"/>
                <a:ext cx="1704542" cy="1704542"/>
              </a:xfrm>
              <a:prstGeom prst="ellipse">
                <a:avLst/>
              </a:prstGeom>
              <a:ln w="22225">
                <a:prstDash val="sysDash"/>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3" name="Straight Connector 42">
                <a:extLst>
                  <a:ext uri="{FF2B5EF4-FFF2-40B4-BE49-F238E27FC236}">
                    <a16:creationId xmlns:a16="http://schemas.microsoft.com/office/drawing/2014/main" id="{D7FB11C0-A7AC-5FBC-9F0A-7E50E7EB84EF}"/>
                  </a:ext>
                </a:extLst>
              </p:cNvPr>
              <p:cNvCxnSpPr/>
              <p:nvPr/>
            </p:nvCxnSpPr>
            <p:spPr>
              <a:xfrm>
                <a:off x="12066009" y="8666633"/>
                <a:ext cx="1326140" cy="4618"/>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FE616941-BC81-6224-C6AB-F24125FC740A}"/>
                  </a:ext>
                </a:extLst>
              </p:cNvPr>
              <p:cNvCxnSpPr/>
              <p:nvPr/>
            </p:nvCxnSpPr>
            <p:spPr>
              <a:xfrm>
                <a:off x="12066009" y="8580221"/>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A248BEA6-7AD7-D530-264F-FCCF8ACCB0A0}"/>
                  </a:ext>
                </a:extLst>
              </p:cNvPr>
              <p:cNvCxnSpPr/>
              <p:nvPr/>
            </p:nvCxnSpPr>
            <p:spPr>
              <a:xfrm>
                <a:off x="13392149" y="8580221"/>
                <a:ext cx="0" cy="177807"/>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 name="Google Shape;247;p18">
                <a:extLst>
                  <a:ext uri="{FF2B5EF4-FFF2-40B4-BE49-F238E27FC236}">
                    <a16:creationId xmlns:a16="http://schemas.microsoft.com/office/drawing/2014/main" id="{925292E7-AA6D-2CCA-0484-4CC51D7A67AF}"/>
                  </a:ext>
                </a:extLst>
              </p:cNvPr>
              <p:cNvSpPr txBox="1"/>
              <p:nvPr/>
            </p:nvSpPr>
            <p:spPr>
              <a:xfrm>
                <a:off x="12701364" y="8271981"/>
                <a:ext cx="843280" cy="466748"/>
              </a:xfrm>
              <a:prstGeom prst="rect">
                <a:avLst/>
              </a:prstGeom>
              <a:noFill/>
              <a:ln>
                <a:noFill/>
              </a:ln>
            </p:spPr>
            <p:txBody>
              <a:bodyPr spcFirstLastPara="1" wrap="square" lIns="139677" tIns="139677" rIns="139677" bIns="139677"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427" b="0" i="0" u="none" strike="noStrike" cap="none">
                    <a:solidFill>
                      <a:srgbClr val="000000"/>
                    </a:solidFill>
                    <a:latin typeface="Arial"/>
                    <a:ea typeface="Arial"/>
                    <a:cs typeface="Arial"/>
                    <a:sym typeface="Arial"/>
                  </a:defRPr>
                </a:lvl9pPr>
              </a:lstStyle>
              <a:p>
                <a:r>
                  <a:rPr lang="en" sz="1200" dirty="0">
                    <a:solidFill>
                      <a:schemeClr val="dk1"/>
                    </a:solidFill>
                    <a:latin typeface="Source Sans 3"/>
                    <a:ea typeface="Source Sans 3"/>
                    <a:cs typeface="Source Sans 3"/>
                    <a:sym typeface="Source Sans 3"/>
                  </a:rPr>
                  <a:t>Timeline</a:t>
                </a:r>
                <a:endParaRPr sz="1200" dirty="0">
                  <a:solidFill>
                    <a:schemeClr val="dk1"/>
                  </a:solidFill>
                  <a:latin typeface="Source Sans 3"/>
                  <a:ea typeface="Source Sans 3"/>
                  <a:cs typeface="Source Sans 3"/>
                  <a:sym typeface="Source Sans 3"/>
                </a:endParaRPr>
              </a:p>
            </p:txBody>
          </p:sp>
          <p:cxnSp>
            <p:nvCxnSpPr>
              <p:cNvPr id="55" name="Google Shape;249;p18">
                <a:extLst>
                  <a:ext uri="{FF2B5EF4-FFF2-40B4-BE49-F238E27FC236}">
                    <a16:creationId xmlns:a16="http://schemas.microsoft.com/office/drawing/2014/main" id="{AEDC988D-F48B-2A4E-9CBA-870B46C54F9B}"/>
                  </a:ext>
                </a:extLst>
              </p:cNvPr>
              <p:cNvCxnSpPr>
                <a:cxnSpLocks/>
              </p:cNvCxnSpPr>
              <p:nvPr/>
            </p:nvCxnSpPr>
            <p:spPr>
              <a:xfrm>
                <a:off x="12000095" y="9087294"/>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0" name="Google Shape;249;p18">
                <a:extLst>
                  <a:ext uri="{FF2B5EF4-FFF2-40B4-BE49-F238E27FC236}">
                    <a16:creationId xmlns:a16="http://schemas.microsoft.com/office/drawing/2014/main" id="{2C96F0BE-06C8-0207-A540-41C2C39D347D}"/>
                  </a:ext>
                </a:extLst>
              </p:cNvPr>
              <p:cNvCxnSpPr>
                <a:cxnSpLocks/>
              </p:cNvCxnSpPr>
              <p:nvPr/>
            </p:nvCxnSpPr>
            <p:spPr>
              <a:xfrm>
                <a:off x="12507512" y="9322119"/>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61" name="Google Shape;249;p18">
                <a:extLst>
                  <a:ext uri="{FF2B5EF4-FFF2-40B4-BE49-F238E27FC236}">
                    <a16:creationId xmlns:a16="http://schemas.microsoft.com/office/drawing/2014/main" id="{B20C8B62-E911-17B0-0043-E5E14EB2E067}"/>
                  </a:ext>
                </a:extLst>
              </p:cNvPr>
              <p:cNvCxnSpPr>
                <a:cxnSpLocks/>
              </p:cNvCxnSpPr>
              <p:nvPr/>
            </p:nvCxnSpPr>
            <p:spPr>
              <a:xfrm>
                <a:off x="12963721" y="9492667"/>
                <a:ext cx="428428" cy="2275"/>
              </a:xfrm>
              <a:prstGeom prst="straightConnector1">
                <a:avLst/>
              </a:prstGeom>
              <a:noFill/>
              <a:ln w="9525" cap="flat" cmpd="sng">
                <a:solidFill>
                  <a:schemeClr val="dk1"/>
                </a:solidFill>
                <a:prstDash val="solid"/>
                <a:round/>
                <a:headEnd type="none" w="med" len="med"/>
                <a:tailEnd type="triangle" w="med" len="med"/>
              </a:ln>
            </p:spPr>
          </p:cxnSp>
          <p:cxnSp>
            <p:nvCxnSpPr>
              <p:cNvPr id="449" name="Straight Connector 448">
                <a:extLst>
                  <a:ext uri="{FF2B5EF4-FFF2-40B4-BE49-F238E27FC236}">
                    <a16:creationId xmlns:a16="http://schemas.microsoft.com/office/drawing/2014/main" id="{AD73D52E-38B7-9E04-61A2-E69971537A46}"/>
                  </a:ext>
                </a:extLst>
              </p:cNvPr>
              <p:cNvCxnSpPr/>
              <p:nvPr/>
            </p:nvCxnSpPr>
            <p:spPr>
              <a:xfrm flipV="1">
                <a:off x="10899649" y="8531354"/>
                <a:ext cx="1100446" cy="5720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2" name="Straight Connector 451">
                <a:extLst>
                  <a:ext uri="{FF2B5EF4-FFF2-40B4-BE49-F238E27FC236}">
                    <a16:creationId xmlns:a16="http://schemas.microsoft.com/office/drawing/2014/main" id="{CF9A508B-F58C-6E17-BBF5-411E4F053F84}"/>
                  </a:ext>
                </a:extLst>
              </p:cNvPr>
              <p:cNvCxnSpPr>
                <a:endCxn id="40" idx="3"/>
              </p:cNvCxnSpPr>
              <p:nvPr/>
            </p:nvCxnSpPr>
            <p:spPr>
              <a:xfrm flipV="1">
                <a:off x="11016390" y="9591390"/>
                <a:ext cx="1110907" cy="41568"/>
              </a:xfrm>
              <a:prstGeom prst="line">
                <a:avLst/>
              </a:prstGeom>
              <a:noFill/>
              <a:ln w="22225"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70" name="Group 469">
                <a:extLst>
                  <a:ext uri="{FF2B5EF4-FFF2-40B4-BE49-F238E27FC236}">
                    <a16:creationId xmlns:a16="http://schemas.microsoft.com/office/drawing/2014/main" id="{0643A323-25A3-9686-AC41-5D30A03B281E}"/>
                  </a:ext>
                </a:extLst>
              </p:cNvPr>
              <p:cNvGrpSpPr/>
              <p:nvPr/>
            </p:nvGrpSpPr>
            <p:grpSpPr>
              <a:xfrm>
                <a:off x="11969352" y="8863030"/>
                <a:ext cx="384572" cy="105342"/>
                <a:chOff x="11969353" y="8877669"/>
                <a:chExt cx="384572" cy="105342"/>
              </a:xfrm>
            </p:grpSpPr>
            <p:sp>
              <p:nvSpPr>
                <p:cNvPr id="457" name="Oval 456">
                  <a:extLst>
                    <a:ext uri="{FF2B5EF4-FFF2-40B4-BE49-F238E27FC236}">
                      <a16:creationId xmlns:a16="http://schemas.microsoft.com/office/drawing/2014/main" id="{49E3FB7D-380C-6F57-54F6-EBEB699BEE85}"/>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05849F61-A65B-0CCD-B7EB-130104B5E107}"/>
                    </a:ext>
                  </a:extLst>
                </p:cNvPr>
                <p:cNvCxnSpPr>
                  <a:cxnSpLocks/>
                  <a:stCxn id="45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9" name="Straight Connector 468">
                  <a:extLst>
                    <a:ext uri="{FF2B5EF4-FFF2-40B4-BE49-F238E27FC236}">
                      <a16:creationId xmlns:a16="http://schemas.microsoft.com/office/drawing/2014/main" id="{7D296278-D8E0-9170-D154-A81EB84EA3E7}"/>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2" name="Group 471">
                <a:extLst>
                  <a:ext uri="{FF2B5EF4-FFF2-40B4-BE49-F238E27FC236}">
                    <a16:creationId xmlns:a16="http://schemas.microsoft.com/office/drawing/2014/main" id="{EBE00137-1C55-C132-E638-ACD3C450B9B5}"/>
                  </a:ext>
                </a:extLst>
              </p:cNvPr>
              <p:cNvGrpSpPr/>
              <p:nvPr/>
            </p:nvGrpSpPr>
            <p:grpSpPr>
              <a:xfrm>
                <a:off x="12511412" y="8768216"/>
                <a:ext cx="384572" cy="105342"/>
                <a:chOff x="11969353" y="8877669"/>
                <a:chExt cx="384572" cy="105342"/>
              </a:xfrm>
            </p:grpSpPr>
            <p:sp>
              <p:nvSpPr>
                <p:cNvPr id="473" name="Oval 472">
                  <a:extLst>
                    <a:ext uri="{FF2B5EF4-FFF2-40B4-BE49-F238E27FC236}">
                      <a16:creationId xmlns:a16="http://schemas.microsoft.com/office/drawing/2014/main" id="{37508F44-63BF-FA7C-8062-397BBC5DBDAF}"/>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4" name="Straight Connector 473">
                  <a:extLst>
                    <a:ext uri="{FF2B5EF4-FFF2-40B4-BE49-F238E27FC236}">
                      <a16:creationId xmlns:a16="http://schemas.microsoft.com/office/drawing/2014/main" id="{12C38DF7-18EE-BAAF-609C-E98B4146850A}"/>
                    </a:ext>
                  </a:extLst>
                </p:cNvPr>
                <p:cNvCxnSpPr>
                  <a:cxnSpLocks/>
                  <a:stCxn id="473"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4B5CA2F8-E274-2B7E-DF8F-F7138E32140F}"/>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76" name="Group 475">
                <a:extLst>
                  <a:ext uri="{FF2B5EF4-FFF2-40B4-BE49-F238E27FC236}">
                    <a16:creationId xmlns:a16="http://schemas.microsoft.com/office/drawing/2014/main" id="{BAAA50C6-E87A-0962-ABDE-A7D315BB7E7F}"/>
                  </a:ext>
                </a:extLst>
              </p:cNvPr>
              <p:cNvGrpSpPr/>
              <p:nvPr/>
            </p:nvGrpSpPr>
            <p:grpSpPr>
              <a:xfrm>
                <a:off x="12511412" y="8957859"/>
                <a:ext cx="384572" cy="105342"/>
                <a:chOff x="11969353" y="8877669"/>
                <a:chExt cx="384572" cy="105342"/>
              </a:xfrm>
            </p:grpSpPr>
            <p:sp>
              <p:nvSpPr>
                <p:cNvPr id="477" name="Oval 476">
                  <a:extLst>
                    <a:ext uri="{FF2B5EF4-FFF2-40B4-BE49-F238E27FC236}">
                      <a16:creationId xmlns:a16="http://schemas.microsoft.com/office/drawing/2014/main" id="{26BB3850-2443-3A8B-044A-C52B9F778116}"/>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8" name="Straight Connector 477">
                  <a:extLst>
                    <a:ext uri="{FF2B5EF4-FFF2-40B4-BE49-F238E27FC236}">
                      <a16:creationId xmlns:a16="http://schemas.microsoft.com/office/drawing/2014/main" id="{9BD77538-E309-3C59-4CAD-C7D9BE8B7682}"/>
                    </a:ext>
                  </a:extLst>
                </p:cNvPr>
                <p:cNvCxnSpPr>
                  <a:cxnSpLocks/>
                  <a:stCxn id="477"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9" name="Straight Connector 478">
                  <a:extLst>
                    <a:ext uri="{FF2B5EF4-FFF2-40B4-BE49-F238E27FC236}">
                      <a16:creationId xmlns:a16="http://schemas.microsoft.com/office/drawing/2014/main" id="{3F5815F6-0E3E-1B5B-65C2-8BE1456BBFAA}"/>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0" name="Group 479">
                <a:extLst>
                  <a:ext uri="{FF2B5EF4-FFF2-40B4-BE49-F238E27FC236}">
                    <a16:creationId xmlns:a16="http://schemas.microsoft.com/office/drawing/2014/main" id="{232903BD-C513-31EF-6ECA-6BFC77189553}"/>
                  </a:ext>
                </a:extLst>
              </p:cNvPr>
              <p:cNvGrpSpPr/>
              <p:nvPr/>
            </p:nvGrpSpPr>
            <p:grpSpPr>
              <a:xfrm>
                <a:off x="12511412" y="9156163"/>
                <a:ext cx="384572" cy="105342"/>
                <a:chOff x="11969353" y="8877669"/>
                <a:chExt cx="384572" cy="105342"/>
              </a:xfrm>
            </p:grpSpPr>
            <p:sp>
              <p:nvSpPr>
                <p:cNvPr id="481" name="Oval 480">
                  <a:extLst>
                    <a:ext uri="{FF2B5EF4-FFF2-40B4-BE49-F238E27FC236}">
                      <a16:creationId xmlns:a16="http://schemas.microsoft.com/office/drawing/2014/main" id="{B80B2EB9-7845-16D0-35D1-A2377DE0E8D9}"/>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2" name="Straight Connector 481">
                  <a:extLst>
                    <a:ext uri="{FF2B5EF4-FFF2-40B4-BE49-F238E27FC236}">
                      <a16:creationId xmlns:a16="http://schemas.microsoft.com/office/drawing/2014/main" id="{9B662249-1BB6-EDCA-7808-FAEA6039E653}"/>
                    </a:ext>
                  </a:extLst>
                </p:cNvPr>
                <p:cNvCxnSpPr>
                  <a:cxnSpLocks/>
                  <a:stCxn id="481"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29070D0C-E793-9B7D-CE63-1E0B79AC81BA}"/>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4" name="Group 483">
                <a:extLst>
                  <a:ext uri="{FF2B5EF4-FFF2-40B4-BE49-F238E27FC236}">
                    <a16:creationId xmlns:a16="http://schemas.microsoft.com/office/drawing/2014/main" id="{AC4EB225-6E78-8BA5-B67E-27AA6D7E4E8E}"/>
                  </a:ext>
                </a:extLst>
              </p:cNvPr>
              <p:cNvGrpSpPr/>
              <p:nvPr/>
            </p:nvGrpSpPr>
            <p:grpSpPr>
              <a:xfrm>
                <a:off x="13066791" y="9234595"/>
                <a:ext cx="384572" cy="105342"/>
                <a:chOff x="11969353" y="8877669"/>
                <a:chExt cx="384572" cy="105342"/>
              </a:xfrm>
            </p:grpSpPr>
            <p:sp>
              <p:nvSpPr>
                <p:cNvPr id="485" name="Oval 484">
                  <a:extLst>
                    <a:ext uri="{FF2B5EF4-FFF2-40B4-BE49-F238E27FC236}">
                      <a16:creationId xmlns:a16="http://schemas.microsoft.com/office/drawing/2014/main" id="{3BA98C3B-2779-8F2F-0771-BE38689AAF85}"/>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6" name="Straight Connector 485">
                  <a:extLst>
                    <a:ext uri="{FF2B5EF4-FFF2-40B4-BE49-F238E27FC236}">
                      <a16:creationId xmlns:a16="http://schemas.microsoft.com/office/drawing/2014/main" id="{A6BB95A4-EED8-4836-4B60-DD6FF40631F8}"/>
                    </a:ext>
                  </a:extLst>
                </p:cNvPr>
                <p:cNvCxnSpPr>
                  <a:cxnSpLocks/>
                  <a:stCxn id="485"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7" name="Straight Connector 486">
                  <a:extLst>
                    <a:ext uri="{FF2B5EF4-FFF2-40B4-BE49-F238E27FC236}">
                      <a16:creationId xmlns:a16="http://schemas.microsoft.com/office/drawing/2014/main" id="{6B7E365C-35B2-DF02-B457-3073F01FAA76}"/>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grpSp>
            <p:nvGrpSpPr>
              <p:cNvPr id="488" name="Group 487">
                <a:extLst>
                  <a:ext uri="{FF2B5EF4-FFF2-40B4-BE49-F238E27FC236}">
                    <a16:creationId xmlns:a16="http://schemas.microsoft.com/office/drawing/2014/main" id="{3C18F674-9E2D-F7BD-14F3-5C156132473B}"/>
                  </a:ext>
                </a:extLst>
              </p:cNvPr>
              <p:cNvGrpSpPr/>
              <p:nvPr/>
            </p:nvGrpSpPr>
            <p:grpSpPr>
              <a:xfrm>
                <a:off x="13061169" y="9059538"/>
                <a:ext cx="384572" cy="105342"/>
                <a:chOff x="11969353" y="8877669"/>
                <a:chExt cx="384572" cy="105342"/>
              </a:xfrm>
            </p:grpSpPr>
            <p:sp>
              <p:nvSpPr>
                <p:cNvPr id="489" name="Oval 488">
                  <a:extLst>
                    <a:ext uri="{FF2B5EF4-FFF2-40B4-BE49-F238E27FC236}">
                      <a16:creationId xmlns:a16="http://schemas.microsoft.com/office/drawing/2014/main" id="{4D563FE4-C9EF-E26F-3C5D-4AE30FFD156C}"/>
                    </a:ext>
                  </a:extLst>
                </p:cNvPr>
                <p:cNvSpPr/>
                <p:nvPr/>
              </p:nvSpPr>
              <p:spPr>
                <a:xfrm>
                  <a:off x="12108968" y="8877669"/>
                  <a:ext cx="105342" cy="105342"/>
                </a:xfrm>
                <a:prstGeom prst="ellipse">
                  <a:avLst/>
                </a:prstGeom>
                <a:ln w="22225"/>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90" name="Straight Connector 489">
                  <a:extLst>
                    <a:ext uri="{FF2B5EF4-FFF2-40B4-BE49-F238E27FC236}">
                      <a16:creationId xmlns:a16="http://schemas.microsoft.com/office/drawing/2014/main" id="{627EF654-641B-540A-7D21-66DC1AE67B29}"/>
                    </a:ext>
                  </a:extLst>
                </p:cNvPr>
                <p:cNvCxnSpPr>
                  <a:cxnSpLocks/>
                  <a:stCxn id="489" idx="6"/>
                </p:cNvCxnSpPr>
                <p:nvPr/>
              </p:nvCxnSpPr>
              <p:spPr>
                <a:xfrm>
                  <a:off x="12214310" y="8930340"/>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1" name="Straight Connector 490">
                  <a:extLst>
                    <a:ext uri="{FF2B5EF4-FFF2-40B4-BE49-F238E27FC236}">
                      <a16:creationId xmlns:a16="http://schemas.microsoft.com/office/drawing/2014/main" id="{2437CDE9-C89D-86F0-9E1E-E37D458B1EEC}"/>
                    </a:ext>
                  </a:extLst>
                </p:cNvPr>
                <p:cNvCxnSpPr>
                  <a:cxnSpLocks/>
                </p:cNvCxnSpPr>
                <p:nvPr/>
              </p:nvCxnSpPr>
              <p:spPr>
                <a:xfrm>
                  <a:off x="11969353" y="8933688"/>
                  <a:ext cx="139615" cy="0"/>
                </a:xfrm>
                <a:prstGeom prst="line">
                  <a:avLst/>
                </a:prstGeom>
                <a:noFill/>
                <a:ln w="222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7" name="Manipulate Variables">
                <a:extLst>
                  <a:ext uri="{FF2B5EF4-FFF2-40B4-BE49-F238E27FC236}">
                    <a16:creationId xmlns:a16="http://schemas.microsoft.com/office/drawing/2014/main" id="{513D8C49-E845-AC4D-0AA3-41B2450AD852}"/>
                  </a:ext>
                </a:extLst>
              </p:cNvPr>
              <p:cNvSpPr txBox="1"/>
              <p:nvPr/>
            </p:nvSpPr>
            <p:spPr>
              <a:xfrm>
                <a:off x="9584560" y="6956318"/>
                <a:ext cx="248144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Temporal Analysis</a:t>
                </a:r>
              </a:p>
            </p:txBody>
          </p:sp>
        </p:grpSp>
      </p:grpSp>
      <p:grpSp>
        <p:nvGrpSpPr>
          <p:cNvPr id="54" name="Group 53">
            <a:extLst>
              <a:ext uri="{FF2B5EF4-FFF2-40B4-BE49-F238E27FC236}">
                <a16:creationId xmlns:a16="http://schemas.microsoft.com/office/drawing/2014/main" id="{3F81A0C3-5939-E587-01C9-D02C8F90D96C}"/>
              </a:ext>
            </a:extLst>
          </p:cNvPr>
          <p:cNvGrpSpPr/>
          <p:nvPr/>
        </p:nvGrpSpPr>
        <p:grpSpPr>
          <a:xfrm>
            <a:off x="9576575" y="2877171"/>
            <a:ext cx="4185334" cy="4206807"/>
            <a:chOff x="9576575" y="2725055"/>
            <a:chExt cx="4185334" cy="4206807"/>
          </a:xfrm>
        </p:grpSpPr>
        <p:sp>
          <p:nvSpPr>
            <p:cNvPr id="46" name="Logistics">
              <a:extLst>
                <a:ext uri="{FF2B5EF4-FFF2-40B4-BE49-F238E27FC236}">
                  <a16:creationId xmlns:a16="http://schemas.microsoft.com/office/drawing/2014/main" id="{9EF14BE4-9613-B9B3-25B1-A843B2880F2B}"/>
                </a:ext>
              </a:extLst>
            </p:cNvPr>
            <p:cNvSpPr txBox="1"/>
            <p:nvPr/>
          </p:nvSpPr>
          <p:spPr>
            <a:xfrm>
              <a:off x="9576575" y="2725055"/>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Project</a:t>
              </a:r>
            </a:p>
          </p:txBody>
        </p:sp>
        <p:sp>
          <p:nvSpPr>
            <p:cNvPr id="500" name="TextBox 499">
              <a:extLst>
                <a:ext uri="{FF2B5EF4-FFF2-40B4-BE49-F238E27FC236}">
                  <a16:creationId xmlns:a16="http://schemas.microsoft.com/office/drawing/2014/main" id="{2F1F8A7C-8CDC-DFCE-35CE-1736BAF928DA}"/>
                </a:ext>
              </a:extLst>
            </p:cNvPr>
            <p:cNvSpPr txBox="1"/>
            <p:nvPr/>
          </p:nvSpPr>
          <p:spPr>
            <a:xfrm>
              <a:off x="9580861" y="3484599"/>
              <a:ext cx="4177348" cy="9822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get_git_repo_path</a:t>
              </a:r>
              <a:r>
                <a:rPr lang="en-US" sz="1300" dirty="0"/>
                <a:t>()</a:t>
              </a:r>
            </a:p>
            <a:p>
              <a:r>
                <a:rPr lang="en-US" b="0" dirty="0"/>
                <a:t>Returns the local path  of the project’s Git repository. </a:t>
              </a:r>
              <a:endParaRPr lang="en-US" dirty="0"/>
            </a:p>
            <a:p>
              <a:r>
                <a:rPr lang="en-US" sz="1300" dirty="0"/>
                <a:t>2. </a:t>
              </a:r>
              <a:r>
                <a:rPr lang="en-US" sz="1300" dirty="0" err="1"/>
                <a:t>get_jira_issues_path</a:t>
              </a:r>
              <a:r>
                <a:rPr lang="en-US" sz="1300" dirty="0"/>
                <a:t>()</a:t>
              </a:r>
            </a:p>
            <a:p>
              <a:r>
                <a:rPr lang="en-US" b="0" dirty="0"/>
                <a:t>Retrieves the local path to stored JIRA issue data.</a:t>
              </a:r>
            </a:p>
          </p:txBody>
        </p:sp>
        <p:sp>
          <p:nvSpPr>
            <p:cNvPr id="779" name="Logistics">
              <a:extLst>
                <a:ext uri="{FF2B5EF4-FFF2-40B4-BE49-F238E27FC236}">
                  <a16:creationId xmlns:a16="http://schemas.microsoft.com/office/drawing/2014/main" id="{3A31D8A0-5676-BA6B-D1BD-14258C563A5A}"/>
                </a:ext>
              </a:extLst>
            </p:cNvPr>
            <p:cNvSpPr txBox="1"/>
            <p:nvPr/>
          </p:nvSpPr>
          <p:spPr>
            <a:xfrm>
              <a:off x="9584561" y="4707353"/>
              <a:ext cx="405396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Analysis</a:t>
              </a:r>
            </a:p>
          </p:txBody>
        </p:sp>
        <p:sp>
          <p:nvSpPr>
            <p:cNvPr id="780" name="TextBox 779">
              <a:extLst>
                <a:ext uri="{FF2B5EF4-FFF2-40B4-BE49-F238E27FC236}">
                  <a16:creationId xmlns:a16="http://schemas.microsoft.com/office/drawing/2014/main" id="{4AD26F8A-437D-C973-C5FA-A679D7CA7575}"/>
                </a:ext>
              </a:extLst>
            </p:cNvPr>
            <p:cNvSpPr txBox="1"/>
            <p:nvPr/>
          </p:nvSpPr>
          <p:spPr>
            <a:xfrm>
              <a:off x="9584561" y="5458424"/>
              <a:ext cx="4177348" cy="1192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300" dirty="0"/>
                <a:t>1. </a:t>
              </a:r>
              <a:r>
                <a:rPr lang="en-US" sz="1300" dirty="0" err="1"/>
                <a:t>get_file_extension</a:t>
              </a:r>
              <a:r>
                <a:rPr lang="en-US" sz="1300" dirty="0"/>
                <a:t>()</a:t>
              </a:r>
            </a:p>
            <a:p>
              <a:r>
                <a:rPr lang="en-US" b="0" dirty="0"/>
                <a:t>Returns file types (e.g. c, java) used to filter source files.</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sz="1300" dirty="0"/>
                <a:t>2. </a:t>
              </a:r>
              <a:r>
                <a:rPr lang="en-US" sz="1300" dirty="0" err="1"/>
                <a:t>get_depends_keep_dependencies</a:t>
              </a:r>
              <a:r>
                <a:rPr lang="en-US" sz="1300" dirty="0"/>
                <a:t>()</a:t>
              </a:r>
            </a:p>
            <a:p>
              <a:r>
                <a:rPr lang="en-US" b="0" dirty="0"/>
                <a:t>Retrieves dependency types specified in analysis configuration.</a:t>
              </a:r>
            </a:p>
          </p:txBody>
        </p:sp>
        <p:sp>
          <p:nvSpPr>
            <p:cNvPr id="776" name="Create a visual hierarchy. Help users navigate the page with titles, subtitles, and subsubtitles">
              <a:extLst>
                <a:ext uri="{FF2B5EF4-FFF2-40B4-BE49-F238E27FC236}">
                  <a16:creationId xmlns:a16="http://schemas.microsoft.com/office/drawing/2014/main" id="{D8AF5E90-ED25-5CE0-2379-567A8578CF56}"/>
                </a:ext>
              </a:extLst>
            </p:cNvPr>
            <p:cNvSpPr txBox="1"/>
            <p:nvPr/>
          </p:nvSpPr>
          <p:spPr>
            <a:xfrm>
              <a:off x="9580861" y="3048355"/>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The following </a:t>
              </a:r>
              <a:r>
                <a:rPr lang="en-US" dirty="0">
                  <a:latin typeface="Source Sans Pro" panose="020B0503030403020204" pitchFamily="34" charset="0"/>
                  <a:ea typeface="Source Sans Pro" panose="020B0503030403020204" pitchFamily="34" charset="0"/>
                </a:rPr>
                <a:t>APIs are used to retrieve parameters from the </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project.yml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configurations (1)</a:t>
              </a:r>
              <a:r>
                <a:rPr lang="en-US" dirty="0">
                  <a:solidFill>
                    <a:schemeClr val="accent1"/>
                  </a:solidFill>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sp>
          <p:nvSpPr>
            <p:cNvPr id="781" name="Create a visual hierarchy. Help users navigate the page with titles, subtitles, and subsubtitles">
              <a:extLst>
                <a:ext uri="{FF2B5EF4-FFF2-40B4-BE49-F238E27FC236}">
                  <a16:creationId xmlns:a16="http://schemas.microsoft.com/office/drawing/2014/main" id="{3154D0AF-0CD2-25D3-EB73-B2508CB823C2}"/>
                </a:ext>
              </a:extLst>
            </p:cNvPr>
            <p:cNvSpPr txBox="1"/>
            <p:nvPr/>
          </p:nvSpPr>
          <p:spPr>
            <a:xfrm>
              <a:off x="9606959" y="5019100"/>
              <a:ext cx="4001355" cy="647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The following </a:t>
              </a:r>
              <a:r>
                <a:rPr lang="en-US" b="0" dirty="0">
                  <a:solidFill>
                    <a:srgbClr val="000000"/>
                  </a:solidFill>
                  <a:latin typeface="Source Sans Pro" panose="020B0503030403020204" pitchFamily="34" charset="0"/>
                  <a:ea typeface="Source Sans Pro" panose="020B0503030403020204" pitchFamily="34" charset="0"/>
                  <a:sym typeface="Source Sans Pro Light"/>
                </a:rPr>
                <a:t>APIs are used to retrieve parameters from the </a:t>
              </a:r>
              <a:r>
                <a:rPr lang="en-US" b="0" dirty="0" err="1">
                  <a:solidFill>
                    <a:schemeClr val="accent4"/>
                  </a:solidFill>
                  <a:latin typeface="Source Sans Pro" panose="020B0503030403020204" pitchFamily="34" charset="0"/>
                  <a:ea typeface="Source Sans Pro" panose="020B0503030403020204" pitchFamily="34" charset="0"/>
                  <a:sym typeface="Source Sans Pro Light"/>
                </a:rPr>
                <a:t>analysis.yml</a:t>
              </a:r>
              <a:r>
                <a:rPr lang="en-US" b="0" dirty="0">
                  <a:solidFill>
                    <a:schemeClr val="accent4"/>
                  </a:solidFill>
                  <a:latin typeface="Source Sans Pro" panose="020B0503030403020204" pitchFamily="34" charset="0"/>
                  <a:ea typeface="Source Sans Pro" panose="020B0503030403020204" pitchFamily="34" charset="0"/>
                  <a:sym typeface="Source Sans Pro Light"/>
                </a:rPr>
                <a:t> configurations (2)</a:t>
              </a:r>
              <a:r>
                <a:rPr lang="en-US" dirty="0">
                  <a:solidFill>
                    <a:schemeClr val="accent4"/>
                  </a:solidFill>
                  <a:latin typeface="Source Sans Pro" panose="020B0503030403020204" pitchFamily="34" charset="0"/>
                  <a:ea typeface="Source Sans Pro" panose="020B0503030403020204" pitchFamily="34" charset="0"/>
                  <a:sym typeface="Source Sans Pro"/>
                </a:rPr>
                <a:t>.</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sp>
          <p:nvSpPr>
            <p:cNvPr id="62" name="TextBox 61">
              <a:extLst>
                <a:ext uri="{FF2B5EF4-FFF2-40B4-BE49-F238E27FC236}">
                  <a16:creationId xmlns:a16="http://schemas.microsoft.com/office/drawing/2014/main" id="{D67AC2FA-77EA-90F5-94F3-3393F2885E4A}"/>
                </a:ext>
              </a:extLst>
            </p:cNvPr>
            <p:cNvSpPr txBox="1"/>
            <p:nvPr/>
          </p:nvSpPr>
          <p:spPr>
            <a:xfrm rot="5400000">
              <a:off x="10147777" y="4376617"/>
              <a:ext cx="34424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dirty="0"/>
                <a:t>. . .</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3" name="TextBox 62">
              <a:extLst>
                <a:ext uri="{FF2B5EF4-FFF2-40B4-BE49-F238E27FC236}">
                  <a16:creationId xmlns:a16="http://schemas.microsoft.com/office/drawing/2014/main" id="{35CE5796-8C23-3C3E-C00A-B5982C25123F}"/>
                </a:ext>
              </a:extLst>
            </p:cNvPr>
            <p:cNvSpPr txBox="1"/>
            <p:nvPr/>
          </p:nvSpPr>
          <p:spPr>
            <a:xfrm rot="5400000">
              <a:off x="10101758" y="6584091"/>
              <a:ext cx="344244"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400" dirty="0"/>
                <a:t>. . .</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740" name="Basics">
            <a:extLst>
              <a:ext uri="{FF2B5EF4-FFF2-40B4-BE49-F238E27FC236}">
                <a16:creationId xmlns:a16="http://schemas.microsoft.com/office/drawing/2014/main" id="{7E6D386B-C696-9E01-C1CE-72520013A55A}"/>
              </a:ext>
            </a:extLst>
          </p:cNvPr>
          <p:cNvSpPr txBox="1"/>
          <p:nvPr/>
        </p:nvSpPr>
        <p:spPr>
          <a:xfrm>
            <a:off x="146304" y="4083369"/>
            <a:ext cx="28934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wrap="none" lIns="12700" tIns="12700" rIns="12700" bIns="127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lvl="1" indent="0">
              <a:lnSpc>
                <a:spcPct val="80000"/>
              </a:lnSpc>
              <a:spcBef>
                <a:spcPts val="0"/>
              </a:spcBef>
              <a:defRPr sz="2500" b="0">
                <a:solidFill>
                  <a:srgbClr val="628DB5"/>
                </a:solidFill>
              </a:defRPr>
            </a:pPr>
            <a:r>
              <a:rPr lang="en-US" dirty="0"/>
              <a:t>Project Configuration</a:t>
            </a:r>
            <a:endParaRPr dirty="0"/>
          </a:p>
        </p:txBody>
      </p:sp>
      <p:sp>
        <p:nvSpPr>
          <p:cNvPr id="355" name="Use headers, colors, and/or backgrounds to separate or group together sections.">
            <a:extLst>
              <a:ext uri="{FF2B5EF4-FFF2-40B4-BE49-F238E27FC236}">
                <a16:creationId xmlns:a16="http://schemas.microsoft.com/office/drawing/2014/main" id="{AAB5BB4C-E9B5-D844-E304-8C372C5F3ABF}"/>
              </a:ext>
            </a:extLst>
          </p:cNvPr>
          <p:cNvSpPr txBox="1"/>
          <p:nvPr/>
        </p:nvSpPr>
        <p:spPr>
          <a:xfrm>
            <a:off x="146304" y="4558280"/>
            <a:ext cx="3949153"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In the configuration, </a:t>
            </a:r>
            <a:r>
              <a:rPr lang="en-US" b="0" i="0" u="none" strike="noStrike" dirty="0" err="1">
                <a:solidFill>
                  <a:schemeClr val="accent1"/>
                </a:solidFill>
                <a:effectLst/>
                <a:latin typeface="Source Sans Pro" panose="020B0503030403020204" pitchFamily="34" charset="0"/>
                <a:ea typeface="Source Sans Pro" panose="020B0503030403020204" pitchFamily="34" charset="0"/>
                <a:sym typeface="Source Sans Pro Light"/>
              </a:rPr>
              <a:t>p</a:t>
            </a:r>
            <a:r>
              <a:rPr lang="en-US" b="0" dirty="0" err="1">
                <a:solidFill>
                  <a:schemeClr val="accent1"/>
                </a:solidFill>
                <a:latin typeface="Source Sans Pro" panose="020B0503030403020204" pitchFamily="34" charset="0"/>
                <a:ea typeface="Source Sans Pro" panose="020B0503030403020204" pitchFamily="34" charset="0"/>
                <a:sym typeface="Source Sans Pro Light"/>
              </a:rPr>
              <a:t>roject.yml</a:t>
            </a:r>
            <a:r>
              <a:rPr lang="en-US" b="0" dirty="0">
                <a:solidFill>
                  <a:schemeClr val="accent1"/>
                </a:solidFill>
                <a:latin typeface="Source Sans Pro" panose="020B0503030403020204" pitchFamily="34" charset="0"/>
                <a:ea typeface="Source Sans Pro" panose="020B0503030403020204" pitchFamily="34" charset="0"/>
                <a:sym typeface="Source Sans Pro Light"/>
              </a:rPr>
              <a:t> files (1) </a:t>
            </a:r>
            <a:r>
              <a:rPr lang="en-US" b="0" i="0" u="none" strike="noStrike" dirty="0">
                <a:solidFill>
                  <a:srgbClr val="000000"/>
                </a:solidFill>
                <a:effectLst/>
                <a:latin typeface="Source Sans Pro" panose="020B0503030403020204" pitchFamily="34" charset="0"/>
                <a:ea typeface="Source Sans Pro" panose="020B0503030403020204" pitchFamily="34" charset="0"/>
              </a:rPr>
              <a:t>define project-related data such as version control, issue trackers, and mailing lists.</a:t>
            </a:r>
          </a:p>
        </p:txBody>
      </p:sp>
      <p:sp>
        <p:nvSpPr>
          <p:cNvPr id="356" name="Use headers, colors, and/or backgrounds to separate or group together sections.">
            <a:extLst>
              <a:ext uri="{FF2B5EF4-FFF2-40B4-BE49-F238E27FC236}">
                <a16:creationId xmlns:a16="http://schemas.microsoft.com/office/drawing/2014/main" id="{3215E3CF-6B61-3D2B-F7BE-A4395176AE00}"/>
              </a:ext>
            </a:extLst>
          </p:cNvPr>
          <p:cNvSpPr txBox="1"/>
          <p:nvPr/>
        </p:nvSpPr>
        <p:spPr>
          <a:xfrm>
            <a:off x="170343" y="6434848"/>
            <a:ext cx="3949153"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These files are specific to a project and remain consistent across different analyses.</a:t>
            </a:r>
          </a:p>
        </p:txBody>
      </p:sp>
      <p:grpSp>
        <p:nvGrpSpPr>
          <p:cNvPr id="396" name="Group 395">
            <a:extLst>
              <a:ext uri="{FF2B5EF4-FFF2-40B4-BE49-F238E27FC236}">
                <a16:creationId xmlns:a16="http://schemas.microsoft.com/office/drawing/2014/main" id="{324846A9-33D6-FF85-98C9-4FC14636E187}"/>
              </a:ext>
            </a:extLst>
          </p:cNvPr>
          <p:cNvGrpSpPr/>
          <p:nvPr/>
        </p:nvGrpSpPr>
        <p:grpSpPr>
          <a:xfrm>
            <a:off x="373334" y="5315944"/>
            <a:ext cx="1441090" cy="862872"/>
            <a:chOff x="4056577" y="4033088"/>
            <a:chExt cx="493900" cy="295729"/>
          </a:xfrm>
        </p:grpSpPr>
        <p:sp>
          <p:nvSpPr>
            <p:cNvPr id="397" name="Google Shape;375;p18">
              <a:extLst>
                <a:ext uri="{FF2B5EF4-FFF2-40B4-BE49-F238E27FC236}">
                  <a16:creationId xmlns:a16="http://schemas.microsoft.com/office/drawing/2014/main" id="{23C46ED7-A7E7-30AE-2D27-828B3540B936}"/>
                </a:ext>
              </a:extLst>
            </p:cNvPr>
            <p:cNvSpPr txBox="1"/>
            <p:nvPr/>
          </p:nvSpPr>
          <p:spPr>
            <a:xfrm>
              <a:off x="4106777" y="4033088"/>
              <a:ext cx="443700"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GitHub</a:t>
              </a:r>
              <a:endParaRPr dirty="0">
                <a:solidFill>
                  <a:schemeClr val="dk2"/>
                </a:solidFill>
                <a:latin typeface="Source Sans 3"/>
                <a:ea typeface="Source Sans 3"/>
                <a:cs typeface="Source Sans 3"/>
                <a:sym typeface="Source Sans 3"/>
              </a:endParaRPr>
            </a:p>
          </p:txBody>
        </p:sp>
        <p:grpSp>
          <p:nvGrpSpPr>
            <p:cNvPr id="398" name="Google Shape;359;p18">
              <a:extLst>
                <a:ext uri="{FF2B5EF4-FFF2-40B4-BE49-F238E27FC236}">
                  <a16:creationId xmlns:a16="http://schemas.microsoft.com/office/drawing/2014/main" id="{8283CDFA-FA05-849A-2942-C1CFA00C931D}"/>
                </a:ext>
              </a:extLst>
            </p:cNvPr>
            <p:cNvGrpSpPr/>
            <p:nvPr/>
          </p:nvGrpSpPr>
          <p:grpSpPr>
            <a:xfrm>
              <a:off x="4056577" y="4139517"/>
              <a:ext cx="307200" cy="189300"/>
              <a:chOff x="3007175" y="1757600"/>
              <a:chExt cx="307200" cy="189300"/>
            </a:xfrm>
          </p:grpSpPr>
          <p:sp>
            <p:nvSpPr>
              <p:cNvPr id="399" name="Google Shape;360;p18">
                <a:extLst>
                  <a:ext uri="{FF2B5EF4-FFF2-40B4-BE49-F238E27FC236}">
                    <a16:creationId xmlns:a16="http://schemas.microsoft.com/office/drawing/2014/main" id="{212A6963-42EF-8BDD-5DF8-4B8E1E4C672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1;p18">
                <a:extLst>
                  <a:ext uri="{FF2B5EF4-FFF2-40B4-BE49-F238E27FC236}">
                    <a16:creationId xmlns:a16="http://schemas.microsoft.com/office/drawing/2014/main" id="{31050F5C-B32B-082C-A700-1AB00232918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2;p18">
                <a:extLst>
                  <a:ext uri="{FF2B5EF4-FFF2-40B4-BE49-F238E27FC236}">
                    <a16:creationId xmlns:a16="http://schemas.microsoft.com/office/drawing/2014/main" id="{22E6F646-D3CA-98F4-1BD5-CBE2FC80F6AD}"/>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363;p18">
                <a:extLst>
                  <a:ext uri="{FF2B5EF4-FFF2-40B4-BE49-F238E27FC236}">
                    <a16:creationId xmlns:a16="http://schemas.microsoft.com/office/drawing/2014/main" id="{F6B670BD-FC01-1B23-311E-480B2A0F65EA}"/>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3" name="Google Shape;364;p18">
                <a:extLst>
                  <a:ext uri="{FF2B5EF4-FFF2-40B4-BE49-F238E27FC236}">
                    <a16:creationId xmlns:a16="http://schemas.microsoft.com/office/drawing/2014/main" id="{719B60FE-C81B-CAC0-7B2F-02119B7499BE}"/>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5;p18">
                <a:extLst>
                  <a:ext uri="{FF2B5EF4-FFF2-40B4-BE49-F238E27FC236}">
                    <a16:creationId xmlns:a16="http://schemas.microsoft.com/office/drawing/2014/main" id="{905ACAEF-FCCE-2F3D-32C2-C943DF94FC9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366;p18">
                <a:extLst>
                  <a:ext uri="{FF2B5EF4-FFF2-40B4-BE49-F238E27FC236}">
                    <a16:creationId xmlns:a16="http://schemas.microsoft.com/office/drawing/2014/main" id="{818C7AB6-10F2-65BC-2F6B-4F9FFDA548A7}"/>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14" name="Group 413">
            <a:extLst>
              <a:ext uri="{FF2B5EF4-FFF2-40B4-BE49-F238E27FC236}">
                <a16:creationId xmlns:a16="http://schemas.microsoft.com/office/drawing/2014/main" id="{FF58CB01-45F3-20A5-A5AA-A50D39F21807}"/>
              </a:ext>
            </a:extLst>
          </p:cNvPr>
          <p:cNvGrpSpPr/>
          <p:nvPr/>
        </p:nvGrpSpPr>
        <p:grpSpPr>
          <a:xfrm>
            <a:off x="1519251" y="5306122"/>
            <a:ext cx="896341" cy="862872"/>
            <a:chOff x="4056577" y="4033088"/>
            <a:chExt cx="307200" cy="295729"/>
          </a:xfrm>
        </p:grpSpPr>
        <p:sp>
          <p:nvSpPr>
            <p:cNvPr id="415" name="Google Shape;375;p18">
              <a:extLst>
                <a:ext uri="{FF2B5EF4-FFF2-40B4-BE49-F238E27FC236}">
                  <a16:creationId xmlns:a16="http://schemas.microsoft.com/office/drawing/2014/main" id="{47A9BD63-741B-83C7-9BE2-6633900D3535}"/>
                </a:ext>
              </a:extLst>
            </p:cNvPr>
            <p:cNvSpPr txBox="1"/>
            <p:nvPr/>
          </p:nvSpPr>
          <p:spPr>
            <a:xfrm>
              <a:off x="4144430" y="4033088"/>
              <a:ext cx="150347" cy="11757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Jira</a:t>
              </a:r>
              <a:endParaRPr dirty="0">
                <a:solidFill>
                  <a:schemeClr val="dk2"/>
                </a:solidFill>
                <a:latin typeface="Source Sans 3"/>
                <a:ea typeface="Source Sans 3"/>
                <a:cs typeface="Source Sans 3"/>
                <a:sym typeface="Source Sans 3"/>
              </a:endParaRPr>
            </a:p>
          </p:txBody>
        </p:sp>
        <p:grpSp>
          <p:nvGrpSpPr>
            <p:cNvPr id="416" name="Google Shape;359;p18">
              <a:extLst>
                <a:ext uri="{FF2B5EF4-FFF2-40B4-BE49-F238E27FC236}">
                  <a16:creationId xmlns:a16="http://schemas.microsoft.com/office/drawing/2014/main" id="{1A5CC65C-1AB5-A468-EC4E-EB423120A576}"/>
                </a:ext>
              </a:extLst>
            </p:cNvPr>
            <p:cNvGrpSpPr/>
            <p:nvPr/>
          </p:nvGrpSpPr>
          <p:grpSpPr>
            <a:xfrm>
              <a:off x="4056577" y="4139517"/>
              <a:ext cx="307200" cy="189300"/>
              <a:chOff x="3007175" y="1757600"/>
              <a:chExt cx="307200" cy="189300"/>
            </a:xfrm>
          </p:grpSpPr>
          <p:sp>
            <p:nvSpPr>
              <p:cNvPr id="417" name="Google Shape;360;p18">
                <a:extLst>
                  <a:ext uri="{FF2B5EF4-FFF2-40B4-BE49-F238E27FC236}">
                    <a16:creationId xmlns:a16="http://schemas.microsoft.com/office/drawing/2014/main" id="{3DE5F0BA-612B-D942-C3F6-F728B7DDD93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361;p18">
                <a:extLst>
                  <a:ext uri="{FF2B5EF4-FFF2-40B4-BE49-F238E27FC236}">
                    <a16:creationId xmlns:a16="http://schemas.microsoft.com/office/drawing/2014/main" id="{ED7370AB-5C86-1B6A-A7AB-7C65531EE9D2}"/>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362;p18">
                <a:extLst>
                  <a:ext uri="{FF2B5EF4-FFF2-40B4-BE49-F238E27FC236}">
                    <a16:creationId xmlns:a16="http://schemas.microsoft.com/office/drawing/2014/main" id="{5BE9F07C-FA51-6EB2-F178-3C226D0CDE7F}"/>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363;p18">
                <a:extLst>
                  <a:ext uri="{FF2B5EF4-FFF2-40B4-BE49-F238E27FC236}">
                    <a16:creationId xmlns:a16="http://schemas.microsoft.com/office/drawing/2014/main" id="{83116978-8C61-5662-85B2-8BE84A280C8F}"/>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1" name="Google Shape;364;p18">
                <a:extLst>
                  <a:ext uri="{FF2B5EF4-FFF2-40B4-BE49-F238E27FC236}">
                    <a16:creationId xmlns:a16="http://schemas.microsoft.com/office/drawing/2014/main" id="{6761BCD6-840F-80F5-F536-FF8945E02DE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365;p18">
                <a:extLst>
                  <a:ext uri="{FF2B5EF4-FFF2-40B4-BE49-F238E27FC236}">
                    <a16:creationId xmlns:a16="http://schemas.microsoft.com/office/drawing/2014/main" id="{736AEB4C-E2BE-C4DA-3EA6-5AD0367FAE74}"/>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366;p18">
                <a:extLst>
                  <a:ext uri="{FF2B5EF4-FFF2-40B4-BE49-F238E27FC236}">
                    <a16:creationId xmlns:a16="http://schemas.microsoft.com/office/drawing/2014/main" id="{4C5E8839-82E6-2B3F-9FED-08B69119E74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grpSp>
        <p:nvGrpSpPr>
          <p:cNvPr id="424" name="Google Shape;377;p18">
            <a:extLst>
              <a:ext uri="{FF2B5EF4-FFF2-40B4-BE49-F238E27FC236}">
                <a16:creationId xmlns:a16="http://schemas.microsoft.com/office/drawing/2014/main" id="{41DAFB0E-3051-900C-035B-05B9EACBA68A}"/>
              </a:ext>
            </a:extLst>
          </p:cNvPr>
          <p:cNvGrpSpPr/>
          <p:nvPr/>
        </p:nvGrpSpPr>
        <p:grpSpPr>
          <a:xfrm>
            <a:off x="2836022" y="5600834"/>
            <a:ext cx="588585" cy="570766"/>
            <a:chOff x="3021975" y="2389850"/>
            <a:chExt cx="307200" cy="297900"/>
          </a:xfrm>
        </p:grpSpPr>
        <p:sp>
          <p:nvSpPr>
            <p:cNvPr id="425" name="Google Shape;378;p18">
              <a:extLst>
                <a:ext uri="{FF2B5EF4-FFF2-40B4-BE49-F238E27FC236}">
                  <a16:creationId xmlns:a16="http://schemas.microsoft.com/office/drawing/2014/main" id="{BFAE1E72-F8D4-B626-CE98-6F58F2414E52}"/>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6" name="Google Shape;379;p18">
              <a:extLst>
                <a:ext uri="{FF2B5EF4-FFF2-40B4-BE49-F238E27FC236}">
                  <a16:creationId xmlns:a16="http://schemas.microsoft.com/office/drawing/2014/main" id="{2B6BAED8-94C3-A39C-A664-7F5A3BECBC36}"/>
                </a:ext>
              </a:extLst>
            </p:cNvPr>
            <p:cNvGrpSpPr/>
            <p:nvPr/>
          </p:nvGrpSpPr>
          <p:grpSpPr>
            <a:xfrm>
              <a:off x="3021975" y="2389850"/>
              <a:ext cx="307200" cy="295800"/>
              <a:chOff x="3021975" y="2389850"/>
              <a:chExt cx="307200" cy="295800"/>
            </a:xfrm>
          </p:grpSpPr>
          <p:sp>
            <p:nvSpPr>
              <p:cNvPr id="427" name="Google Shape;380;p18">
                <a:extLst>
                  <a:ext uri="{FF2B5EF4-FFF2-40B4-BE49-F238E27FC236}">
                    <a16:creationId xmlns:a16="http://schemas.microsoft.com/office/drawing/2014/main" id="{AFD925EE-3860-83A3-EA03-559E0F62FB7C}"/>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381;p18">
                <a:extLst>
                  <a:ext uri="{FF2B5EF4-FFF2-40B4-BE49-F238E27FC236}">
                    <a16:creationId xmlns:a16="http://schemas.microsoft.com/office/drawing/2014/main" id="{CA90A684-EA08-1C50-2787-C65927D7FEB7}"/>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29" name="Google Shape;382;p18">
                <a:extLst>
                  <a:ext uri="{FF2B5EF4-FFF2-40B4-BE49-F238E27FC236}">
                    <a16:creationId xmlns:a16="http://schemas.microsoft.com/office/drawing/2014/main" id="{26CDA0BE-6603-7D96-5393-6E7DFB179552}"/>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383;p18">
                <a:extLst>
                  <a:ext uri="{FF2B5EF4-FFF2-40B4-BE49-F238E27FC236}">
                    <a16:creationId xmlns:a16="http://schemas.microsoft.com/office/drawing/2014/main" id="{ED3F1E79-961F-A459-B453-7BC44E276E0E}"/>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1" name="Google Shape;384;p18">
                <a:extLst>
                  <a:ext uri="{FF2B5EF4-FFF2-40B4-BE49-F238E27FC236}">
                    <a16:creationId xmlns:a16="http://schemas.microsoft.com/office/drawing/2014/main" id="{13CD21C2-F1C5-3CBE-2256-D5AE364F72DC}"/>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2" name="Google Shape;385;p18">
                <a:extLst>
                  <a:ext uri="{FF2B5EF4-FFF2-40B4-BE49-F238E27FC236}">
                    <a16:creationId xmlns:a16="http://schemas.microsoft.com/office/drawing/2014/main" id="{2928A5B5-9134-F741-2335-2CC99F25D955}"/>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386;p18">
                <a:extLst>
                  <a:ext uri="{FF2B5EF4-FFF2-40B4-BE49-F238E27FC236}">
                    <a16:creationId xmlns:a16="http://schemas.microsoft.com/office/drawing/2014/main" id="{47058FBC-EC60-8DC6-2E07-34453979D815}"/>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7;p18">
                <a:extLst>
                  <a:ext uri="{FF2B5EF4-FFF2-40B4-BE49-F238E27FC236}">
                    <a16:creationId xmlns:a16="http://schemas.microsoft.com/office/drawing/2014/main" id="{A2EB3197-84B8-8650-3AA6-477D8027CAFF}"/>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35" name="Google Shape;375;p18">
            <a:extLst>
              <a:ext uri="{FF2B5EF4-FFF2-40B4-BE49-F238E27FC236}">
                <a16:creationId xmlns:a16="http://schemas.microsoft.com/office/drawing/2014/main" id="{9BFB14D7-FFB5-33F5-25B3-FCFD5775865A}"/>
              </a:ext>
            </a:extLst>
          </p:cNvPr>
          <p:cNvSpPr txBox="1"/>
          <p:nvPr/>
        </p:nvSpPr>
        <p:spPr>
          <a:xfrm>
            <a:off x="2729653" y="5299035"/>
            <a:ext cx="1294618" cy="343049"/>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dirty="0">
                <a:solidFill>
                  <a:schemeClr val="dk2"/>
                </a:solidFill>
                <a:latin typeface="Source Sans 3"/>
                <a:ea typeface="Source Sans 3"/>
                <a:cs typeface="Source Sans 3"/>
                <a:sym typeface="Source Sans 3"/>
              </a:rPr>
              <a:t>Mailing List</a:t>
            </a:r>
            <a:endParaRPr dirty="0">
              <a:solidFill>
                <a:schemeClr val="dk2"/>
              </a:solidFill>
              <a:latin typeface="Source Sans 3"/>
              <a:ea typeface="Source Sans 3"/>
              <a:cs typeface="Source Sans 3"/>
              <a:sym typeface="Source Sans 3"/>
            </a:endParaRPr>
          </a:p>
        </p:txBody>
      </p:sp>
      <p:sp>
        <p:nvSpPr>
          <p:cNvPr id="56" name="Line">
            <a:extLst>
              <a:ext uri="{FF2B5EF4-FFF2-40B4-BE49-F238E27FC236}">
                <a16:creationId xmlns:a16="http://schemas.microsoft.com/office/drawing/2014/main" id="{85840169-2AE3-F947-6E34-93CA69460844}"/>
              </a:ext>
            </a:extLst>
          </p:cNvPr>
          <p:cNvSpPr/>
          <p:nvPr/>
        </p:nvSpPr>
        <p:spPr>
          <a:xfrm flipV="1">
            <a:off x="146304" y="183794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7" name="Line">
            <a:extLst>
              <a:ext uri="{FF2B5EF4-FFF2-40B4-BE49-F238E27FC236}">
                <a16:creationId xmlns:a16="http://schemas.microsoft.com/office/drawing/2014/main" id="{0E7C3D83-DC98-8B2F-74C0-4EC25312A1D6}"/>
              </a:ext>
            </a:extLst>
          </p:cNvPr>
          <p:cNvSpPr/>
          <p:nvPr/>
        </p:nvSpPr>
        <p:spPr>
          <a:xfrm flipV="1">
            <a:off x="146304" y="4480560"/>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8" name="Line">
            <a:extLst>
              <a:ext uri="{FF2B5EF4-FFF2-40B4-BE49-F238E27FC236}">
                <a16:creationId xmlns:a16="http://schemas.microsoft.com/office/drawing/2014/main" id="{E75EB94D-216E-3ADA-8E87-07342A73D87E}"/>
              </a:ext>
            </a:extLst>
          </p:cNvPr>
          <p:cNvSpPr/>
          <p:nvPr/>
        </p:nvSpPr>
        <p:spPr>
          <a:xfrm flipV="1">
            <a:off x="146304" y="7516368"/>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8" name="Line">
            <a:extLst>
              <a:ext uri="{FF2B5EF4-FFF2-40B4-BE49-F238E27FC236}">
                <a16:creationId xmlns:a16="http://schemas.microsoft.com/office/drawing/2014/main" id="{427A3F3B-8684-F1CD-69EB-172D0859E985}"/>
              </a:ext>
            </a:extLst>
          </p:cNvPr>
          <p:cNvSpPr/>
          <p:nvPr/>
        </p:nvSpPr>
        <p:spPr>
          <a:xfrm flipV="1">
            <a:off x="4828032" y="183794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0" name="Line">
            <a:extLst>
              <a:ext uri="{FF2B5EF4-FFF2-40B4-BE49-F238E27FC236}">
                <a16:creationId xmlns:a16="http://schemas.microsoft.com/office/drawing/2014/main" id="{730CCF1C-A0C1-D673-D110-80CB451BB831}"/>
              </a:ext>
            </a:extLst>
          </p:cNvPr>
          <p:cNvSpPr/>
          <p:nvPr/>
        </p:nvSpPr>
        <p:spPr>
          <a:xfrm flipV="1">
            <a:off x="9573768" y="183794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62" name="Line">
            <a:extLst>
              <a:ext uri="{FF2B5EF4-FFF2-40B4-BE49-F238E27FC236}">
                <a16:creationId xmlns:a16="http://schemas.microsoft.com/office/drawing/2014/main" id="{89F75E64-C8E6-8D06-F038-7EAD505B6BBE}"/>
              </a:ext>
            </a:extLst>
          </p:cNvPr>
          <p:cNvSpPr/>
          <p:nvPr/>
        </p:nvSpPr>
        <p:spPr>
          <a:xfrm flipV="1">
            <a:off x="9573768" y="7616952"/>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3742088827"/>
      </p:ext>
    </p:extLst>
  </p:cSld>
  <p:clrMapOvr>
    <a:masterClrMapping/>
  </p:clrMapOvr>
  <p:transition spd="med"/>
  <p:extLst>
    <p:ext uri="{6950BFC3-D8DA-4A85-94F7-54DA5524770B}">
      <p188:commentRel xmlns:p188="http://schemas.microsoft.com/office/powerpoint/2018/8/main" r:id="rId3"/>
    </p:ext>
  </p:extLst>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23259</TotalTime>
  <Words>3542</Words>
  <Application>Microsoft Office PowerPoint</Application>
  <PresentationFormat>Custom</PresentationFormat>
  <Paragraphs>355</Paragraphs>
  <Slides>10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Avenir</vt:lpstr>
      <vt:lpstr>Helvetica Light</vt:lpstr>
      <vt:lpstr>Source Sans 3</vt:lpstr>
      <vt:lpstr>Source Sans Pro</vt:lpstr>
      <vt:lpstr>Source Sans Pro Light</vt:lpstr>
      <vt:lpstr>Source Sans Pro Semibold</vt:lpstr>
      <vt:lpstr>White</vt:lpstr>
      <vt:lpstr>PowerPoint Presentation</vt:lpstr>
      <vt:lpstr>PowerPoint Presentation</vt:lpstr>
      <vt:lpstr>PowerPoint Presentation</vt:lpstr>
      <vt:lpstr>PowerPoint Presentation</vt:lpstr>
      <vt:lpstr>PowerPoint Presentation</vt:lpstr>
      <vt:lpstr>Configurations : : CHEAT SHEET </vt:lpstr>
      <vt:lpstr>Configurations (.yml) : : CHEAT SHEET </vt:lpstr>
      <vt:lpstr>Configurations (.yml) : : CHEAT SHEET </vt:lpstr>
      <vt:lpstr>Configurations (.yml) : : CHEAT SHEET </vt:lpstr>
      <vt:lpstr>Configurations (.yml) :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lastModifiedBy>Gi Young Back</cp:lastModifiedBy>
  <cp:revision>199</cp:revision>
  <dcterms:modified xsi:type="dcterms:W3CDTF">2026-05-09T08:29:43Z</dcterms:modified>
</cp:coreProperties>
</file>